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691" y="2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05CDF-5F74-4D6C-9D17-6BF9FBF4CD87}" type="datetimeFigureOut">
              <a:rPr lang="bg-BG" smtClean="0"/>
              <a:pPr/>
              <a:t>11.2.2020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A7EB7-7A83-4A91-B3F4-98820B53228C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20290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9CD77-58C4-499A-8243-EEDB97433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07126C-AA76-4CFD-A52C-4AA6298E22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C0316C2-C090-4472-A172-3DAFA13C1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6B7F8-E328-4757-AB04-6131C41797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751D1E9-5540-4A34-B113-084806200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409E4-3C56-4D03-8384-E0230E20FE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CFDB505-BFA4-4DAA-8350-66FC5D761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054BD42-3F57-4080-9EBE-A750FCA5B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eaLnBrk="1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02DBD01-A3D5-46F4-AE0E-829BC007F3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9025-7001-4C9A-BA94-AB777B1FA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D6F22-C242-445A-A00B-08E4006B7B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F9792FB3-9137-4C32-8B03-9CD8FD49C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8" r:id="rId2"/>
    <p:sldLayoutId id="2147483684" r:id="rId3"/>
    <p:sldLayoutId id="2147483679" r:id="rId4"/>
    <p:sldLayoutId id="2147483685" r:id="rId5"/>
    <p:sldLayoutId id="2147483680" r:id="rId6"/>
    <p:sldLayoutId id="2147483686" r:id="rId7"/>
    <p:sldLayoutId id="2147483687" r:id="rId8"/>
    <p:sldLayoutId id="2147483688" r:id="rId9"/>
    <p:sldLayoutId id="2147483681" r:id="rId10"/>
    <p:sldLayoutId id="2147483682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404813"/>
            <a:ext cx="7772400" cy="4572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bg-BG" sz="3600" dirty="0">
                <a:solidFill>
                  <a:schemeClr val="tx2">
                    <a:satMod val="130000"/>
                  </a:schemeClr>
                </a:solidFill>
              </a:rPr>
              <a:t>			Списък </a:t>
            </a:r>
            <a:r>
              <a:rPr lang="en-US" sz="3600" dirty="0">
                <a:solidFill>
                  <a:schemeClr val="tx2">
                    <a:satMod val="130000"/>
                  </a:schemeClr>
                </a:solidFill>
              </a:rPr>
              <a:t>(List)</a:t>
            </a:r>
            <a:r>
              <a:rPr lang="bg-BG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900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9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900" dirty="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400" dirty="0">
                <a:solidFill>
                  <a:schemeClr val="tx2">
                    <a:satMod val="130000"/>
                  </a:schemeClr>
                </a:solidFill>
              </a:rPr>
              <a:t>Списъкът е подредена последователност от еднотипни елементи без определена дисциплина за тяхно включване и изключване. Стекът, опашката и декът могат да се разглеждат като частен случай на структурата списък. Най-простият случай на структурата е този, когато всеки елемент на списъка съдържа указател към следващия елемент: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1042988" y="4149725"/>
            <a:ext cx="7772400" cy="2133600"/>
            <a:chOff x="1161" y="2884"/>
            <a:chExt cx="6660" cy="1440"/>
          </a:xfrm>
        </p:grpSpPr>
        <p:sp>
          <p:nvSpPr>
            <p:cNvPr id="8196" name="Line 4"/>
            <p:cNvSpPr>
              <a:spLocks noChangeShapeType="1"/>
            </p:cNvSpPr>
            <p:nvPr/>
          </p:nvSpPr>
          <p:spPr bwMode="auto">
            <a:xfrm>
              <a:off x="2187" y="3064"/>
              <a:ext cx="16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197" name="Line 5"/>
            <p:cNvSpPr>
              <a:spLocks noChangeShapeType="1"/>
            </p:cNvSpPr>
            <p:nvPr/>
          </p:nvSpPr>
          <p:spPr bwMode="auto">
            <a:xfrm>
              <a:off x="2359" y="3064"/>
              <a:ext cx="1" cy="3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8198" name="Group 6"/>
            <p:cNvGrpSpPr>
              <a:grpSpLocks/>
            </p:cNvGrpSpPr>
            <p:nvPr/>
          </p:nvGrpSpPr>
          <p:grpSpPr bwMode="auto">
            <a:xfrm>
              <a:off x="1701" y="3424"/>
              <a:ext cx="1177" cy="407"/>
              <a:chOff x="1701" y="3482"/>
              <a:chExt cx="1177" cy="407"/>
            </a:xfrm>
          </p:grpSpPr>
          <p:sp>
            <p:nvSpPr>
              <p:cNvPr id="8224" name="Line 7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8225" name="Rectangle 8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8199" name="Line 9"/>
            <p:cNvSpPr>
              <a:spLocks noChangeShapeType="1"/>
            </p:cNvSpPr>
            <p:nvPr/>
          </p:nvSpPr>
          <p:spPr bwMode="auto">
            <a:xfrm>
              <a:off x="2681" y="3614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00" name="Line 10"/>
            <p:cNvSpPr>
              <a:spLocks noChangeShapeType="1"/>
            </p:cNvSpPr>
            <p:nvPr/>
          </p:nvSpPr>
          <p:spPr bwMode="auto">
            <a:xfrm flipV="1">
              <a:off x="3091" y="3164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01" name="Line 11"/>
            <p:cNvSpPr>
              <a:spLocks noChangeShapeType="1"/>
            </p:cNvSpPr>
            <p:nvPr/>
          </p:nvSpPr>
          <p:spPr bwMode="auto">
            <a:xfrm>
              <a:off x="3081" y="3163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02" name="Line 12"/>
            <p:cNvSpPr>
              <a:spLocks noChangeShapeType="1"/>
            </p:cNvSpPr>
            <p:nvPr/>
          </p:nvSpPr>
          <p:spPr bwMode="auto">
            <a:xfrm>
              <a:off x="3877" y="3173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03" name="Line 13"/>
            <p:cNvSpPr>
              <a:spLocks noChangeShapeType="1"/>
            </p:cNvSpPr>
            <p:nvPr/>
          </p:nvSpPr>
          <p:spPr bwMode="auto">
            <a:xfrm>
              <a:off x="7273" y="3584"/>
              <a:ext cx="1" cy="32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04" name="Line 14"/>
            <p:cNvSpPr>
              <a:spLocks noChangeShapeType="1"/>
            </p:cNvSpPr>
            <p:nvPr/>
          </p:nvSpPr>
          <p:spPr bwMode="auto">
            <a:xfrm>
              <a:off x="4801" y="3144"/>
              <a:ext cx="2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8205" name="Group 15"/>
            <p:cNvGrpSpPr>
              <a:grpSpLocks/>
            </p:cNvGrpSpPr>
            <p:nvPr/>
          </p:nvGrpSpPr>
          <p:grpSpPr bwMode="auto">
            <a:xfrm>
              <a:off x="7217" y="3919"/>
              <a:ext cx="117" cy="79"/>
              <a:chOff x="0" y="0"/>
              <a:chExt cx="20000" cy="19987"/>
            </a:xfrm>
          </p:grpSpPr>
          <p:sp>
            <p:nvSpPr>
              <p:cNvPr id="8221" name="Line 16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8222" name="Line 17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8223" name="Line 18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8206" name="Text Box 19"/>
            <p:cNvSpPr txBox="1">
              <a:spLocks noChangeArrowheads="1"/>
            </p:cNvSpPr>
            <p:nvPr/>
          </p:nvSpPr>
          <p:spPr bwMode="auto">
            <a:xfrm>
              <a:off x="1161" y="288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bg-BG" sz="2000" b="1">
                <a:latin typeface="Courier New" pitchFamily="49" charset="0"/>
              </a:endParaRPr>
            </a:p>
          </p:txBody>
        </p:sp>
        <p:sp>
          <p:nvSpPr>
            <p:cNvPr id="8207" name="Text Box 20"/>
            <p:cNvSpPr txBox="1">
              <a:spLocks noChangeArrowheads="1"/>
            </p:cNvSpPr>
            <p:nvPr/>
          </p:nvSpPr>
          <p:spPr bwMode="auto">
            <a:xfrm>
              <a:off x="6741" y="396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NULL</a:t>
              </a:r>
              <a:endParaRPr lang="bg-BG" sz="2000" b="1">
                <a:latin typeface="Courier New" pitchFamily="49" charset="0"/>
              </a:endParaRPr>
            </a:p>
          </p:txBody>
        </p:sp>
        <p:grpSp>
          <p:nvGrpSpPr>
            <p:cNvPr id="8208" name="Group 21"/>
            <p:cNvGrpSpPr>
              <a:grpSpLocks/>
            </p:cNvGrpSpPr>
            <p:nvPr/>
          </p:nvGrpSpPr>
          <p:grpSpPr bwMode="auto">
            <a:xfrm>
              <a:off x="3404" y="3424"/>
              <a:ext cx="1177" cy="407"/>
              <a:chOff x="1701" y="3482"/>
              <a:chExt cx="1177" cy="407"/>
            </a:xfrm>
          </p:grpSpPr>
          <p:sp>
            <p:nvSpPr>
              <p:cNvPr id="8219" name="Line 22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8220" name="Rectangle 23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8209" name="Line 24"/>
            <p:cNvSpPr>
              <a:spLocks noChangeShapeType="1"/>
            </p:cNvSpPr>
            <p:nvPr/>
          </p:nvSpPr>
          <p:spPr bwMode="auto">
            <a:xfrm>
              <a:off x="4401" y="3600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10" name="Line 25"/>
            <p:cNvSpPr>
              <a:spLocks noChangeShapeType="1"/>
            </p:cNvSpPr>
            <p:nvPr/>
          </p:nvSpPr>
          <p:spPr bwMode="auto">
            <a:xfrm flipV="1">
              <a:off x="4811" y="3150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11" name="Line 26"/>
            <p:cNvSpPr>
              <a:spLocks noChangeShapeType="1"/>
            </p:cNvSpPr>
            <p:nvPr/>
          </p:nvSpPr>
          <p:spPr bwMode="auto">
            <a:xfrm flipV="1">
              <a:off x="5584" y="3177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12" name="Line 27"/>
            <p:cNvSpPr>
              <a:spLocks noChangeShapeType="1"/>
            </p:cNvSpPr>
            <p:nvPr/>
          </p:nvSpPr>
          <p:spPr bwMode="auto">
            <a:xfrm>
              <a:off x="5574" y="3176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13" name="Line 28"/>
            <p:cNvSpPr>
              <a:spLocks noChangeShapeType="1"/>
            </p:cNvSpPr>
            <p:nvPr/>
          </p:nvSpPr>
          <p:spPr bwMode="auto">
            <a:xfrm>
              <a:off x="6380" y="3184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8214" name="Group 29"/>
            <p:cNvGrpSpPr>
              <a:grpSpLocks/>
            </p:cNvGrpSpPr>
            <p:nvPr/>
          </p:nvGrpSpPr>
          <p:grpSpPr bwMode="auto">
            <a:xfrm>
              <a:off x="5877" y="3417"/>
              <a:ext cx="1177" cy="407"/>
              <a:chOff x="1701" y="3482"/>
              <a:chExt cx="1177" cy="407"/>
            </a:xfrm>
          </p:grpSpPr>
          <p:sp>
            <p:nvSpPr>
              <p:cNvPr id="8217" name="Line 30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8218" name="Rectangle 31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8215" name="Line 32"/>
            <p:cNvSpPr>
              <a:spLocks noChangeShapeType="1"/>
            </p:cNvSpPr>
            <p:nvPr/>
          </p:nvSpPr>
          <p:spPr bwMode="auto">
            <a:xfrm>
              <a:off x="6874" y="3593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8216" name="Text Box 33"/>
            <p:cNvSpPr txBox="1">
              <a:spLocks noChangeArrowheads="1"/>
            </p:cNvSpPr>
            <p:nvPr/>
          </p:nvSpPr>
          <p:spPr bwMode="auto">
            <a:xfrm>
              <a:off x="4911" y="338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...</a:t>
              </a:r>
            </a:p>
          </p:txBody>
        </p: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92150"/>
            <a:ext cx="7772400" cy="5334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800">
                <a:solidFill>
                  <a:schemeClr val="tx1"/>
                </a:solidFill>
              </a:rPr>
              <a:t>	</a:t>
            </a:r>
            <a:r>
              <a:rPr lang="bg-BG" sz="2800" b="1">
                <a:solidFill>
                  <a:schemeClr val="tx1"/>
                </a:solidFill>
              </a:rPr>
              <a:t>Основните операции със структурата са:</a:t>
            </a:r>
            <a:r>
              <a:rPr lang="bg-BG" sz="2800">
                <a:solidFill>
                  <a:schemeClr val="tx1"/>
                </a:solidFill>
              </a:rPr>
              <a:t/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 - </a:t>
            </a:r>
            <a:r>
              <a:rPr lang="bg-BG" sz="2400" b="1">
                <a:solidFill>
                  <a:schemeClr val="tx1"/>
                </a:solidFill>
              </a:rPr>
              <a:t>Инициализиране</a:t>
            </a:r>
            <a:r>
              <a:rPr lang="bg-BG" sz="2400">
                <a:solidFill>
                  <a:schemeClr val="tx1"/>
                </a:solidFill>
              </a:rPr>
              <a:t> на списъка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INIT</a:t>
            </a:r>
            <a:r>
              <a:rPr lang="bg-BG" sz="2400">
                <a:solidFill>
                  <a:schemeClr val="tx1"/>
                </a:solidFill>
              </a:rPr>
              <a:t>).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- </a:t>
            </a:r>
            <a:r>
              <a:rPr lang="bg-BG" sz="2400" b="1">
                <a:solidFill>
                  <a:schemeClr val="tx1"/>
                </a:solidFill>
              </a:rPr>
              <a:t>Включване</a:t>
            </a:r>
            <a:r>
              <a:rPr lang="bg-BG" sz="2400">
                <a:solidFill>
                  <a:schemeClr val="tx1"/>
                </a:solidFill>
              </a:rPr>
              <a:t> на елемент на списъка. 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Поради липсата на дисциплина, операцията е възможна в няколко варианта: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2.1.	</a:t>
            </a:r>
            <a:r>
              <a:rPr lang="bg-BG" sz="2400">
                <a:solidFill>
                  <a:schemeClr val="tx1"/>
                </a:solidFill>
              </a:rPr>
              <a:t>включване в началото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ADD_1</a:t>
            </a:r>
            <a:r>
              <a:rPr lang="bg-BG" sz="2400">
                <a:solidFill>
                  <a:schemeClr val="tx1"/>
                </a:solidFill>
              </a:rPr>
              <a:t>);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2.2.	</a:t>
            </a:r>
            <a:r>
              <a:rPr lang="bg-BG" sz="2400">
                <a:solidFill>
                  <a:schemeClr val="tx1"/>
                </a:solidFill>
              </a:rPr>
              <a:t>включване по средата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ADD_2</a:t>
            </a:r>
            <a:r>
              <a:rPr lang="bg-BG" sz="2400">
                <a:solidFill>
                  <a:schemeClr val="tx1"/>
                </a:solidFill>
              </a:rPr>
              <a:t>);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2.3.	</a:t>
            </a:r>
            <a:r>
              <a:rPr lang="bg-BG" sz="2400">
                <a:solidFill>
                  <a:schemeClr val="tx1"/>
                </a:solidFill>
              </a:rPr>
              <a:t>включване в края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ADD_3</a:t>
            </a:r>
            <a:r>
              <a:rPr lang="bg-BG" sz="2400">
                <a:solidFill>
                  <a:schemeClr val="tx1"/>
                </a:solidFill>
              </a:rPr>
              <a:t>)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- </a:t>
            </a:r>
            <a:r>
              <a:rPr lang="bg-BG" sz="2400" b="1">
                <a:solidFill>
                  <a:schemeClr val="tx1"/>
                </a:solidFill>
              </a:rPr>
              <a:t>Изключване/изтриване</a:t>
            </a:r>
            <a:r>
              <a:rPr lang="bg-BG" sz="2400">
                <a:solidFill>
                  <a:schemeClr val="tx1"/>
                </a:solidFill>
              </a:rPr>
              <a:t> на елемент (аналогично на предходната операция):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3.1.	</a:t>
            </a:r>
            <a:r>
              <a:rPr lang="bg-BG" sz="2400">
                <a:solidFill>
                  <a:schemeClr val="tx1"/>
                </a:solidFill>
              </a:rPr>
              <a:t>изтриване на първия елемент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DEL_1</a:t>
            </a:r>
            <a:r>
              <a:rPr lang="bg-BG" sz="2400">
                <a:solidFill>
                  <a:schemeClr val="tx1"/>
                </a:solidFill>
              </a:rPr>
              <a:t>);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3.2.	</a:t>
            </a:r>
            <a:r>
              <a:rPr lang="bg-BG" sz="2400">
                <a:solidFill>
                  <a:schemeClr val="tx1"/>
                </a:solidFill>
              </a:rPr>
              <a:t>изтриване на междинен елемент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DEL_2</a:t>
            </a:r>
            <a:r>
              <a:rPr lang="bg-BG" sz="2400">
                <a:solidFill>
                  <a:schemeClr val="tx1"/>
                </a:solidFill>
              </a:rPr>
              <a:t>);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cs typeface="Times New Roman" charset="0"/>
              </a:rPr>
              <a:t>3.3.	</a:t>
            </a:r>
            <a:r>
              <a:rPr lang="bg-BG" sz="2400">
                <a:solidFill>
                  <a:schemeClr val="tx1"/>
                </a:solidFill>
              </a:rPr>
              <a:t>изтриване на последния елемент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DEL_3</a:t>
            </a:r>
            <a:r>
              <a:rPr lang="bg-BG" sz="2400">
                <a:solidFill>
                  <a:schemeClr val="tx1"/>
                </a:solidFill>
              </a:rPr>
              <a:t>);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Към изброените операции могат да се добавят и следните: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- </a:t>
            </a:r>
            <a:r>
              <a:rPr lang="bg-BG" sz="2400" b="1">
                <a:solidFill>
                  <a:schemeClr val="tx1"/>
                </a:solidFill>
              </a:rPr>
              <a:t>Проверка</a:t>
            </a:r>
            <a:r>
              <a:rPr lang="bg-BG" sz="2400">
                <a:solidFill>
                  <a:schemeClr val="tx1"/>
                </a:solidFill>
              </a:rPr>
              <a:t> за празен списък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EMPTY</a:t>
            </a:r>
            <a:r>
              <a:rPr lang="bg-BG" sz="2400">
                <a:solidFill>
                  <a:schemeClr val="tx1"/>
                </a:solidFill>
              </a:rPr>
              <a:t>).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 - </a:t>
            </a:r>
            <a:r>
              <a:rPr lang="bg-BG" sz="2400" b="1">
                <a:solidFill>
                  <a:schemeClr val="tx1"/>
                </a:solidFill>
              </a:rPr>
              <a:t>Търсене</a:t>
            </a:r>
            <a:r>
              <a:rPr lang="bg-BG" sz="2400">
                <a:solidFill>
                  <a:schemeClr val="tx1"/>
                </a:solidFill>
              </a:rPr>
              <a:t> на елемент (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SEARCH</a:t>
            </a:r>
            <a:r>
              <a:rPr lang="bg-BG" sz="2400">
                <a:solidFill>
                  <a:schemeClr val="tx1"/>
                </a:solidFill>
              </a:rPr>
              <a:t>);</a:t>
            </a:r>
            <a:endParaRPr lang="bg-BG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777162" cy="5867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>
                <a:solidFill>
                  <a:schemeClr val="tx1"/>
                </a:solidFill>
              </a:rPr>
              <a:t/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/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/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/>
            </a:r>
            <a:br>
              <a:rPr lang="en-US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>Примерно описание на структурата списък:</a:t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struct elem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   		{int key; elem *next;} *start;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8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800">
                <a:solidFill>
                  <a:schemeClr val="tx1"/>
                </a:solidFill>
              </a:rPr>
              <a:t>Инициализация на списък:</a:t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void init()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{ start=NULL;}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8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800">
                <a:solidFill>
                  <a:schemeClr val="tx1"/>
                </a:solidFill>
              </a:rPr>
              <a:t>Включване на елемент в началото на списък:</a:t>
            </a: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 sz="800">
                <a:solidFill>
                  <a:schemeClr val="tx1"/>
                </a:solidFill>
              </a:rPr>
              <a:t/>
            </a:r>
            <a:br>
              <a:rPr lang="bg-BG" sz="8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void add1(int n)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  start=new elem;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  start-&gt;key=n;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  <a:latin typeface="Courier New" pitchFamily="49" charset="0"/>
              </a:rPr>
              <a:t>  start-&gt;next=p;</a:t>
            </a:r>
            <a:br>
              <a:rPr lang="bg-BG" sz="24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4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>
                <a:solidFill>
                  <a:schemeClr val="tx1"/>
                </a:solidFill>
              </a:rPr>
              <a:t/>
            </a:r>
            <a:br>
              <a:rPr lang="en-AU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243" name="Group 45"/>
          <p:cNvGrpSpPr>
            <a:grpSpLocks/>
          </p:cNvGrpSpPr>
          <p:nvPr/>
        </p:nvGrpSpPr>
        <p:grpSpPr bwMode="auto">
          <a:xfrm>
            <a:off x="4003675" y="4953000"/>
            <a:ext cx="5140325" cy="1655763"/>
            <a:chOff x="3851920" y="4149080"/>
            <a:chExt cx="5139680" cy="1673870"/>
          </a:xfrm>
        </p:grpSpPr>
        <p:sp>
          <p:nvSpPr>
            <p:cNvPr id="10249" name="Line 4"/>
            <p:cNvSpPr>
              <a:spLocks noChangeShapeType="1"/>
            </p:cNvSpPr>
            <p:nvPr/>
          </p:nvSpPr>
          <p:spPr bwMode="auto">
            <a:xfrm>
              <a:off x="8667337" y="4743401"/>
              <a:ext cx="764" cy="5381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0250" name="Group 5"/>
            <p:cNvGrpSpPr>
              <a:grpSpLocks/>
            </p:cNvGrpSpPr>
            <p:nvPr/>
          </p:nvGrpSpPr>
          <p:grpSpPr bwMode="auto">
            <a:xfrm>
              <a:off x="8621476" y="5301403"/>
              <a:ext cx="79493" cy="82545"/>
              <a:chOff x="0" y="0"/>
              <a:chExt cx="20000" cy="19987"/>
            </a:xfrm>
          </p:grpSpPr>
          <p:sp>
            <p:nvSpPr>
              <p:cNvPr id="10281" name="Line 6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82" name="Line 7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83" name="Line 8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0251" name="Group 9"/>
            <p:cNvGrpSpPr>
              <a:grpSpLocks/>
            </p:cNvGrpSpPr>
            <p:nvPr/>
          </p:nvGrpSpPr>
          <p:grpSpPr bwMode="auto">
            <a:xfrm>
              <a:off x="3851920" y="4545294"/>
              <a:ext cx="825500" cy="396214"/>
              <a:chOff x="1161" y="8104"/>
              <a:chExt cx="1080" cy="360"/>
            </a:xfrm>
          </p:grpSpPr>
          <p:sp>
            <p:nvSpPr>
              <p:cNvPr id="10279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80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0252" name="Text Box 12"/>
            <p:cNvSpPr txBox="1">
              <a:spLocks noChangeArrowheads="1"/>
            </p:cNvSpPr>
            <p:nvPr/>
          </p:nvSpPr>
          <p:spPr bwMode="auto">
            <a:xfrm>
              <a:off x="3851920" y="4149080"/>
              <a:ext cx="787282" cy="513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500" b="1">
                  <a:latin typeface="Courier New" pitchFamily="49" charset="0"/>
                </a:rPr>
                <a:t>start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0253" name="Text Box 13"/>
            <p:cNvSpPr txBox="1">
              <a:spLocks noChangeArrowheads="1"/>
            </p:cNvSpPr>
            <p:nvPr/>
          </p:nvSpPr>
          <p:spPr bwMode="auto">
            <a:xfrm>
              <a:off x="3989503" y="4501270"/>
              <a:ext cx="412750" cy="594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>
                  <a:latin typeface="Courier New" pitchFamily="49" charset="0"/>
                </a:rPr>
                <a:t>n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4537544" y="4743401"/>
              <a:ext cx="2751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 flipV="1">
              <a:off x="4815003" y="4149080"/>
              <a:ext cx="0" cy="5943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>
              <a:off x="4815003" y="4149080"/>
              <a:ext cx="6879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0257" name="Group 17"/>
            <p:cNvGrpSpPr>
              <a:grpSpLocks/>
            </p:cNvGrpSpPr>
            <p:nvPr/>
          </p:nvGrpSpPr>
          <p:grpSpPr bwMode="auto">
            <a:xfrm>
              <a:off x="5227753" y="4545294"/>
              <a:ext cx="825500" cy="396214"/>
              <a:chOff x="1161" y="8104"/>
              <a:chExt cx="1080" cy="360"/>
            </a:xfrm>
          </p:grpSpPr>
          <p:sp>
            <p:nvSpPr>
              <p:cNvPr id="10277" name="Rectangle 18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78" name="Rectangle 19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0258" name="Line 20"/>
            <p:cNvSpPr>
              <a:spLocks noChangeShapeType="1"/>
            </p:cNvSpPr>
            <p:nvPr/>
          </p:nvSpPr>
          <p:spPr bwMode="auto">
            <a:xfrm>
              <a:off x="5502920" y="4149080"/>
              <a:ext cx="0" cy="396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59" name="Text Box 21"/>
            <p:cNvSpPr txBox="1">
              <a:spLocks noChangeArrowheads="1"/>
            </p:cNvSpPr>
            <p:nvPr/>
          </p:nvSpPr>
          <p:spPr bwMode="auto">
            <a:xfrm>
              <a:off x="5189536" y="4850159"/>
              <a:ext cx="886648" cy="594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bg-BG" sz="1000">
                <a:latin typeface="Courier New" pitchFamily="49" charset="0"/>
              </a:endParaRPr>
            </a:p>
            <a:p>
              <a:r>
                <a:rPr lang="en-US" sz="1300" b="1">
                  <a:latin typeface="Courier New" pitchFamily="49" charset="0"/>
                </a:rPr>
                <a:t>p=start</a:t>
              </a:r>
              <a:endParaRPr lang="en-US" sz="1000">
                <a:latin typeface="Courier New" pitchFamily="49" charset="0"/>
              </a:endParaRPr>
            </a:p>
          </p:txBody>
        </p:sp>
        <p:grpSp>
          <p:nvGrpSpPr>
            <p:cNvPr id="10260" name="Group 22"/>
            <p:cNvGrpSpPr>
              <a:grpSpLocks/>
            </p:cNvGrpSpPr>
            <p:nvPr/>
          </p:nvGrpSpPr>
          <p:grpSpPr bwMode="auto">
            <a:xfrm>
              <a:off x="6603587" y="4545294"/>
              <a:ext cx="825500" cy="396214"/>
              <a:chOff x="1161" y="8104"/>
              <a:chExt cx="1080" cy="360"/>
            </a:xfrm>
          </p:grpSpPr>
          <p:sp>
            <p:nvSpPr>
              <p:cNvPr id="10275" name="Rectangle 23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76" name="Rectangle 24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0261" name="Group 25"/>
            <p:cNvGrpSpPr>
              <a:grpSpLocks/>
            </p:cNvGrpSpPr>
            <p:nvPr/>
          </p:nvGrpSpPr>
          <p:grpSpPr bwMode="auto">
            <a:xfrm>
              <a:off x="7979420" y="4545294"/>
              <a:ext cx="825500" cy="396214"/>
              <a:chOff x="1161" y="8104"/>
              <a:chExt cx="1080" cy="360"/>
            </a:xfrm>
          </p:grpSpPr>
          <p:sp>
            <p:nvSpPr>
              <p:cNvPr id="10273" name="Rectangle 26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0274" name="Rectangle 27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0262" name="Line 28"/>
            <p:cNvSpPr>
              <a:spLocks noChangeShapeType="1"/>
            </p:cNvSpPr>
            <p:nvPr/>
          </p:nvSpPr>
          <p:spPr bwMode="auto">
            <a:xfrm>
              <a:off x="5913377" y="4743401"/>
              <a:ext cx="2751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3" name="Line 29"/>
            <p:cNvSpPr>
              <a:spLocks noChangeShapeType="1"/>
            </p:cNvSpPr>
            <p:nvPr/>
          </p:nvSpPr>
          <p:spPr bwMode="auto">
            <a:xfrm flipV="1">
              <a:off x="6190837" y="4149080"/>
              <a:ext cx="0" cy="5943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4" name="Line 30"/>
            <p:cNvSpPr>
              <a:spLocks noChangeShapeType="1"/>
            </p:cNvSpPr>
            <p:nvPr/>
          </p:nvSpPr>
          <p:spPr bwMode="auto">
            <a:xfrm>
              <a:off x="6190837" y="4149080"/>
              <a:ext cx="6879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5" name="Line 31"/>
            <p:cNvSpPr>
              <a:spLocks noChangeShapeType="1"/>
            </p:cNvSpPr>
            <p:nvPr/>
          </p:nvSpPr>
          <p:spPr bwMode="auto">
            <a:xfrm>
              <a:off x="6878753" y="4149080"/>
              <a:ext cx="0" cy="396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6" name="Line 32"/>
            <p:cNvSpPr>
              <a:spLocks noChangeShapeType="1"/>
            </p:cNvSpPr>
            <p:nvPr/>
          </p:nvSpPr>
          <p:spPr bwMode="auto">
            <a:xfrm>
              <a:off x="7289210" y="4743401"/>
              <a:ext cx="2751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7" name="Line 33"/>
            <p:cNvSpPr>
              <a:spLocks noChangeShapeType="1"/>
            </p:cNvSpPr>
            <p:nvPr/>
          </p:nvSpPr>
          <p:spPr bwMode="auto">
            <a:xfrm flipV="1">
              <a:off x="7566670" y="4149080"/>
              <a:ext cx="0" cy="59432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8" name="Line 34"/>
            <p:cNvSpPr>
              <a:spLocks noChangeShapeType="1"/>
            </p:cNvSpPr>
            <p:nvPr/>
          </p:nvSpPr>
          <p:spPr bwMode="auto">
            <a:xfrm>
              <a:off x="7979420" y="4149080"/>
              <a:ext cx="2751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69" name="Line 35"/>
            <p:cNvSpPr>
              <a:spLocks noChangeShapeType="1"/>
            </p:cNvSpPr>
            <p:nvPr/>
          </p:nvSpPr>
          <p:spPr bwMode="auto">
            <a:xfrm>
              <a:off x="8254587" y="4149080"/>
              <a:ext cx="0" cy="396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70" name="Line 36"/>
            <p:cNvSpPr>
              <a:spLocks noChangeShapeType="1"/>
            </p:cNvSpPr>
            <p:nvPr/>
          </p:nvSpPr>
          <p:spPr bwMode="auto">
            <a:xfrm>
              <a:off x="7688966" y="4149080"/>
              <a:ext cx="25988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71" name="Line 37"/>
            <p:cNvSpPr>
              <a:spLocks noChangeShapeType="1"/>
            </p:cNvSpPr>
            <p:nvPr/>
          </p:nvSpPr>
          <p:spPr bwMode="auto">
            <a:xfrm>
              <a:off x="7559026" y="4149080"/>
              <a:ext cx="9172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0272" name="Text Box 38"/>
            <p:cNvSpPr txBox="1">
              <a:spLocks noChangeArrowheads="1"/>
            </p:cNvSpPr>
            <p:nvPr/>
          </p:nvSpPr>
          <p:spPr bwMode="auto">
            <a:xfrm>
              <a:off x="8153400" y="5486400"/>
              <a:ext cx="8382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NULL</a:t>
              </a:r>
              <a:endParaRPr lang="en-US"/>
            </a:p>
          </p:txBody>
        </p:sp>
      </p:grpSp>
      <p:sp>
        <p:nvSpPr>
          <p:cNvPr id="10244" name="Text Box 39"/>
          <p:cNvSpPr txBox="1">
            <a:spLocks noChangeArrowheads="1"/>
          </p:cNvSpPr>
          <p:nvPr/>
        </p:nvSpPr>
        <p:spPr bwMode="auto">
          <a:xfrm>
            <a:off x="5791200" y="27432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NULL</a:t>
            </a:r>
            <a:endParaRPr lang="en-US"/>
          </a:p>
        </p:txBody>
      </p:sp>
      <p:sp>
        <p:nvSpPr>
          <p:cNvPr id="10245" name="Line 41"/>
          <p:cNvSpPr>
            <a:spLocks noChangeShapeType="1"/>
          </p:cNvSpPr>
          <p:nvPr/>
        </p:nvSpPr>
        <p:spPr bwMode="auto">
          <a:xfrm>
            <a:off x="5715000" y="2438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0246" name="Line 42"/>
          <p:cNvSpPr>
            <a:spLocks noChangeShapeType="1"/>
          </p:cNvSpPr>
          <p:nvPr/>
        </p:nvSpPr>
        <p:spPr bwMode="auto">
          <a:xfrm>
            <a:off x="6172200" y="2438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0247" name="Text Box 43"/>
          <p:cNvSpPr txBox="1">
            <a:spLocks noChangeArrowheads="1"/>
          </p:cNvSpPr>
          <p:nvPr/>
        </p:nvSpPr>
        <p:spPr bwMode="auto">
          <a:xfrm>
            <a:off x="5029200" y="2209800"/>
            <a:ext cx="68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start</a:t>
            </a:r>
            <a:endParaRPr lang="en-US"/>
          </a:p>
        </p:txBody>
      </p:sp>
      <p:sp>
        <p:nvSpPr>
          <p:cNvPr id="10248" name="Line 44"/>
          <p:cNvSpPr>
            <a:spLocks noChangeShapeType="1"/>
          </p:cNvSpPr>
          <p:nvPr/>
        </p:nvSpPr>
        <p:spPr bwMode="auto">
          <a:xfrm>
            <a:off x="6019800" y="2743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188913"/>
            <a:ext cx="7848600" cy="6096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/>
            </a:r>
            <a:br>
              <a:rPr lang="en-US" sz="2400">
                <a:solidFill>
                  <a:schemeClr val="tx1"/>
                </a:solidFill>
              </a:rPr>
            </a:br>
            <a:r>
              <a:rPr lang="en-US" sz="2400">
                <a:solidFill>
                  <a:schemeClr val="tx1"/>
                </a:solidFill>
              </a:rPr>
              <a:t>	</a:t>
            </a:r>
            <a:r>
              <a:rPr lang="bg-BG" sz="2000">
                <a:solidFill>
                  <a:schemeClr val="tx1"/>
                </a:solidFill>
              </a:rPr>
              <a:t>Включване на елемент в средата на списък преди друг, чиято стойност е </a:t>
            </a:r>
            <a:r>
              <a:rPr lang="bg-BG" sz="2000" b="1">
                <a:solidFill>
                  <a:schemeClr val="tx1"/>
                </a:solidFill>
              </a:rPr>
              <a:t>k</a:t>
            </a:r>
            <a:r>
              <a:rPr lang="bg-BG" sz="2000">
                <a:solidFill>
                  <a:schemeClr val="tx1"/>
                </a:solidFill>
              </a:rPr>
              <a:t>. Тук се предполага, че елементът </a:t>
            </a:r>
            <a:r>
              <a:rPr lang="bg-BG" sz="2000" b="1">
                <a:solidFill>
                  <a:schemeClr val="tx1"/>
                </a:solidFill>
              </a:rPr>
              <a:t>k</a:t>
            </a:r>
            <a:r>
              <a:rPr lang="bg-BG" sz="2000">
                <a:solidFill>
                  <a:schemeClr val="tx1"/>
                </a:solidFill>
              </a:rPr>
              <a:t> съществува:</a:t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3200">
                <a:solidFill>
                  <a:schemeClr val="tx1"/>
                </a:solidFill>
              </a:rPr>
              <a:t/>
            </a:r>
            <a:br>
              <a:rPr lang="bg-BG" sz="3200">
                <a:solidFill>
                  <a:schemeClr val="tx1"/>
                </a:solidFill>
              </a:rPr>
            </a:br>
            <a:r>
              <a:rPr lang="bg-BG" sz="3200">
                <a:solidFill>
                  <a:schemeClr val="tx1"/>
                </a:solidFill>
              </a:rPr>
              <a:t/>
            </a:r>
            <a:br>
              <a:rPr lang="bg-BG" sz="3200">
                <a:solidFill>
                  <a:schemeClr val="tx1"/>
                </a:solidFill>
              </a:rPr>
            </a:br>
            <a:r>
              <a:rPr lang="bg-BG" sz="3200">
                <a:solidFill>
                  <a:schemeClr val="tx1"/>
                </a:solidFill>
              </a:rPr>
              <a:t/>
            </a:r>
            <a:br>
              <a:rPr lang="bg-BG" sz="3200">
                <a:solidFill>
                  <a:schemeClr val="tx1"/>
                </a:solidFill>
              </a:rPr>
            </a:br>
            <a:r>
              <a:rPr lang="bg-BG" sz="3200">
                <a:solidFill>
                  <a:schemeClr val="tx1"/>
                </a:solidFill>
              </a:rPr>
              <a:t/>
            </a:r>
            <a:br>
              <a:rPr lang="bg-BG" sz="3200">
                <a:solidFill>
                  <a:schemeClr val="tx1"/>
                </a:solidFill>
              </a:rPr>
            </a:br>
            <a:r>
              <a:rPr lang="en-US" sz="3200" smtClean="0">
                <a:solidFill>
                  <a:schemeClr val="tx1"/>
                </a:solidFill>
              </a:rPr>
              <a:t/>
            </a:r>
            <a:br>
              <a:rPr lang="en-US" sz="3200" smtClean="0">
                <a:solidFill>
                  <a:schemeClr val="tx1"/>
                </a:solidFill>
              </a:rPr>
            </a:b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void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add2(int n, int k)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n – е добавяната стойност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*q;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while (p-&gt;key!=k)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търсене на елемент със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 p=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p-&gt;next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;	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стойност k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q=new (elem);		//създаване на нов елемент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q-&gt;next=p-&gt;next;	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q-&gt;key=p-&gt;key;		//прехвърляне на ключовата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p-&gt;next=q;	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стойност в *q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p-&gt;key=n;			//запис на n в p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3200">
                <a:solidFill>
                  <a:schemeClr val="tx1"/>
                </a:solidFill>
              </a:rPr>
              <a:t/>
            </a:r>
            <a:br>
              <a:rPr lang="en-US" sz="3200">
                <a:solidFill>
                  <a:schemeClr val="tx1"/>
                </a:solidFill>
              </a:rPr>
            </a:br>
            <a:r>
              <a:rPr lang="en-US" sz="3200">
                <a:solidFill>
                  <a:schemeClr val="tx1"/>
                </a:solidFill>
              </a:rPr>
              <a:t/>
            </a:r>
            <a:br>
              <a:rPr lang="en-US" sz="3200">
                <a:solidFill>
                  <a:schemeClr val="tx1"/>
                </a:solidFill>
              </a:rPr>
            </a:br>
            <a:endParaRPr lang="en-US" sz="3200">
              <a:solidFill>
                <a:schemeClr val="tx1"/>
              </a:solidFill>
            </a:endParaRPr>
          </a:p>
        </p:txBody>
      </p:sp>
      <p:grpSp>
        <p:nvGrpSpPr>
          <p:cNvPr id="11267" name="Group 52"/>
          <p:cNvGrpSpPr>
            <a:grpSpLocks/>
          </p:cNvGrpSpPr>
          <p:nvPr/>
        </p:nvGrpSpPr>
        <p:grpSpPr bwMode="auto">
          <a:xfrm>
            <a:off x="1374775" y="1268413"/>
            <a:ext cx="6772275" cy="1600200"/>
            <a:chOff x="1374062" y="1268760"/>
            <a:chExt cx="6772442" cy="1600200"/>
          </a:xfrm>
        </p:grpSpPr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374062" y="2042190"/>
              <a:ext cx="504092" cy="464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n</a:t>
              </a:r>
              <a:endParaRPr lang="bg-BG" sz="1600" b="1">
                <a:latin typeface="Courier New" pitchFamily="49" charset="0"/>
              </a:endParaRPr>
            </a:p>
          </p:txBody>
        </p:sp>
        <p:sp>
          <p:nvSpPr>
            <p:cNvPr id="11269" name="Line 5"/>
            <p:cNvSpPr>
              <a:spLocks noChangeShapeType="1"/>
            </p:cNvSpPr>
            <p:nvPr/>
          </p:nvSpPr>
          <p:spPr bwMode="auto">
            <a:xfrm>
              <a:off x="7759231" y="1888192"/>
              <a:ext cx="934" cy="42069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1270" name="Group 6"/>
            <p:cNvGrpSpPr>
              <a:grpSpLocks/>
            </p:cNvGrpSpPr>
            <p:nvPr/>
          </p:nvGrpSpPr>
          <p:grpSpPr bwMode="auto">
            <a:xfrm>
              <a:off x="7703221" y="2324376"/>
              <a:ext cx="97084" cy="64524"/>
              <a:chOff x="0" y="0"/>
              <a:chExt cx="20000" cy="19987"/>
            </a:xfrm>
          </p:grpSpPr>
          <p:sp>
            <p:nvSpPr>
              <p:cNvPr id="11312" name="Line 7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13" name="Line 8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14" name="Line 9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1271" name="Line 10"/>
            <p:cNvSpPr>
              <a:spLocks noChangeShapeType="1"/>
            </p:cNvSpPr>
            <p:nvPr/>
          </p:nvSpPr>
          <p:spPr bwMode="auto">
            <a:xfrm>
              <a:off x="3343756" y="1888192"/>
              <a:ext cx="0" cy="6194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72" name="Line 11"/>
            <p:cNvSpPr>
              <a:spLocks noChangeShapeType="1"/>
            </p:cNvSpPr>
            <p:nvPr/>
          </p:nvSpPr>
          <p:spPr bwMode="auto">
            <a:xfrm>
              <a:off x="3091710" y="1888192"/>
              <a:ext cx="264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73" name="Line 12"/>
            <p:cNvSpPr>
              <a:spLocks noChangeShapeType="1"/>
            </p:cNvSpPr>
            <p:nvPr/>
          </p:nvSpPr>
          <p:spPr bwMode="auto">
            <a:xfrm>
              <a:off x="3222400" y="1291128"/>
              <a:ext cx="401407" cy="271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74" name="Line 13"/>
            <p:cNvSpPr>
              <a:spLocks noChangeShapeType="1"/>
            </p:cNvSpPr>
            <p:nvPr/>
          </p:nvSpPr>
          <p:spPr bwMode="auto">
            <a:xfrm flipH="1">
              <a:off x="3251339" y="1268760"/>
              <a:ext cx="372468" cy="2942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1275" name="Group 14"/>
            <p:cNvGrpSpPr>
              <a:grpSpLocks/>
            </p:cNvGrpSpPr>
            <p:nvPr/>
          </p:nvGrpSpPr>
          <p:grpSpPr bwMode="auto">
            <a:xfrm>
              <a:off x="1878154" y="1733334"/>
              <a:ext cx="1008185" cy="309716"/>
              <a:chOff x="1161" y="8104"/>
              <a:chExt cx="1080" cy="360"/>
            </a:xfrm>
          </p:grpSpPr>
          <p:sp>
            <p:nvSpPr>
              <p:cNvPr id="11310" name="Rectangle 15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11" name="Rectangle 16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1276" name="Text Box 17"/>
            <p:cNvSpPr txBox="1">
              <a:spLocks noChangeArrowheads="1"/>
            </p:cNvSpPr>
            <p:nvPr/>
          </p:nvSpPr>
          <p:spPr bwMode="auto">
            <a:xfrm>
              <a:off x="2092860" y="1389205"/>
              <a:ext cx="504092" cy="464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p</a:t>
              </a:r>
            </a:p>
          </p:txBody>
        </p:sp>
        <p:sp>
          <p:nvSpPr>
            <p:cNvPr id="11277" name="Text Box 18"/>
            <p:cNvSpPr txBox="1">
              <a:spLocks noChangeArrowheads="1"/>
            </p:cNvSpPr>
            <p:nvPr/>
          </p:nvSpPr>
          <p:spPr bwMode="auto">
            <a:xfrm>
              <a:off x="2046185" y="1698921"/>
              <a:ext cx="504092" cy="464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k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1278" name="Text Box 19"/>
            <p:cNvSpPr txBox="1">
              <a:spLocks noChangeArrowheads="1"/>
            </p:cNvSpPr>
            <p:nvPr/>
          </p:nvSpPr>
          <p:spPr bwMode="auto">
            <a:xfrm>
              <a:off x="3315751" y="2154892"/>
              <a:ext cx="504092" cy="464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q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1279" name="Line 20"/>
            <p:cNvSpPr>
              <a:spLocks noChangeShapeType="1"/>
            </p:cNvSpPr>
            <p:nvPr/>
          </p:nvSpPr>
          <p:spPr bwMode="auto">
            <a:xfrm>
              <a:off x="2715508" y="1888192"/>
              <a:ext cx="3360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80" name="Line 21"/>
            <p:cNvSpPr>
              <a:spLocks noChangeShapeType="1"/>
            </p:cNvSpPr>
            <p:nvPr/>
          </p:nvSpPr>
          <p:spPr bwMode="auto">
            <a:xfrm flipV="1">
              <a:off x="3054370" y="1423618"/>
              <a:ext cx="0" cy="464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81" name="Line 22"/>
            <p:cNvSpPr>
              <a:spLocks noChangeShapeType="1"/>
            </p:cNvSpPr>
            <p:nvPr/>
          </p:nvSpPr>
          <p:spPr bwMode="auto">
            <a:xfrm>
              <a:off x="3054370" y="1423618"/>
              <a:ext cx="8401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1282" name="Group 23"/>
            <p:cNvGrpSpPr>
              <a:grpSpLocks/>
            </p:cNvGrpSpPr>
            <p:nvPr/>
          </p:nvGrpSpPr>
          <p:grpSpPr bwMode="auto">
            <a:xfrm>
              <a:off x="3558462" y="1733334"/>
              <a:ext cx="1008185" cy="309716"/>
              <a:chOff x="1161" y="8104"/>
              <a:chExt cx="1080" cy="360"/>
            </a:xfrm>
          </p:grpSpPr>
          <p:sp>
            <p:nvSpPr>
              <p:cNvPr id="11308" name="Rectangle 24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09" name="Rectangle 25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1283" name="Line 26"/>
            <p:cNvSpPr>
              <a:spLocks noChangeShapeType="1"/>
            </p:cNvSpPr>
            <p:nvPr/>
          </p:nvSpPr>
          <p:spPr bwMode="auto">
            <a:xfrm>
              <a:off x="3894524" y="1423618"/>
              <a:ext cx="0" cy="309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84" name="Line 27"/>
            <p:cNvSpPr>
              <a:spLocks noChangeShapeType="1"/>
            </p:cNvSpPr>
            <p:nvPr/>
          </p:nvSpPr>
          <p:spPr bwMode="auto">
            <a:xfrm flipV="1">
              <a:off x="1542093" y="2197908"/>
              <a:ext cx="336062" cy="309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85" name="Line 28"/>
            <p:cNvSpPr>
              <a:spLocks noChangeShapeType="1"/>
            </p:cNvSpPr>
            <p:nvPr/>
          </p:nvSpPr>
          <p:spPr bwMode="auto">
            <a:xfrm>
              <a:off x="2382247" y="2197908"/>
              <a:ext cx="336062" cy="309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1286" name="Group 29"/>
            <p:cNvGrpSpPr>
              <a:grpSpLocks/>
            </p:cNvGrpSpPr>
            <p:nvPr/>
          </p:nvGrpSpPr>
          <p:grpSpPr bwMode="auto">
            <a:xfrm>
              <a:off x="5238770" y="1733334"/>
              <a:ext cx="1008185" cy="309716"/>
              <a:chOff x="1161" y="8104"/>
              <a:chExt cx="1080" cy="360"/>
            </a:xfrm>
          </p:grpSpPr>
          <p:sp>
            <p:nvSpPr>
              <p:cNvPr id="11306" name="Rectangle 3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07" name="Rectangle 3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1287" name="Group 32"/>
            <p:cNvGrpSpPr>
              <a:grpSpLocks/>
            </p:cNvGrpSpPr>
            <p:nvPr/>
          </p:nvGrpSpPr>
          <p:grpSpPr bwMode="auto">
            <a:xfrm>
              <a:off x="6919077" y="1733334"/>
              <a:ext cx="1008185" cy="309716"/>
              <a:chOff x="1161" y="8104"/>
              <a:chExt cx="1080" cy="360"/>
            </a:xfrm>
          </p:grpSpPr>
          <p:sp>
            <p:nvSpPr>
              <p:cNvPr id="11304" name="Rectangle 33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05" name="Rectangle 34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1288" name="Group 35"/>
            <p:cNvGrpSpPr>
              <a:grpSpLocks/>
            </p:cNvGrpSpPr>
            <p:nvPr/>
          </p:nvGrpSpPr>
          <p:grpSpPr bwMode="auto">
            <a:xfrm>
              <a:off x="3054370" y="2507625"/>
              <a:ext cx="1008185" cy="309716"/>
              <a:chOff x="1161" y="8104"/>
              <a:chExt cx="1080" cy="360"/>
            </a:xfrm>
          </p:grpSpPr>
          <p:sp>
            <p:nvSpPr>
              <p:cNvPr id="11302" name="Rectangle 36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1303" name="Rectangle 37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1289" name="Text Box 38"/>
            <p:cNvSpPr txBox="1">
              <a:spLocks noChangeArrowheads="1"/>
            </p:cNvSpPr>
            <p:nvPr/>
          </p:nvSpPr>
          <p:spPr bwMode="auto">
            <a:xfrm>
              <a:off x="4062554" y="2404386"/>
              <a:ext cx="1353581" cy="464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q -&gt; next</a:t>
              </a:r>
              <a:endParaRPr lang="en-US" sz="1600">
                <a:latin typeface="Courier New" pitchFamily="49" charset="0"/>
              </a:endParaRPr>
            </a:p>
          </p:txBody>
        </p:sp>
        <p:sp>
          <p:nvSpPr>
            <p:cNvPr id="11290" name="Line 39"/>
            <p:cNvSpPr>
              <a:spLocks noChangeShapeType="1"/>
            </p:cNvSpPr>
            <p:nvPr/>
          </p:nvSpPr>
          <p:spPr bwMode="auto">
            <a:xfrm flipV="1">
              <a:off x="3894524" y="2043050"/>
              <a:ext cx="0" cy="6194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1" name="Line 40"/>
            <p:cNvSpPr>
              <a:spLocks noChangeShapeType="1"/>
            </p:cNvSpPr>
            <p:nvPr/>
          </p:nvSpPr>
          <p:spPr bwMode="auto">
            <a:xfrm>
              <a:off x="4395815" y="1888192"/>
              <a:ext cx="3360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2" name="Line 41"/>
            <p:cNvSpPr>
              <a:spLocks noChangeShapeType="1"/>
            </p:cNvSpPr>
            <p:nvPr/>
          </p:nvSpPr>
          <p:spPr bwMode="auto">
            <a:xfrm flipV="1">
              <a:off x="4734677" y="1423618"/>
              <a:ext cx="0" cy="464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3" name="Line 42"/>
            <p:cNvSpPr>
              <a:spLocks noChangeShapeType="1"/>
            </p:cNvSpPr>
            <p:nvPr/>
          </p:nvSpPr>
          <p:spPr bwMode="auto">
            <a:xfrm>
              <a:off x="4734677" y="1423618"/>
              <a:ext cx="8401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4" name="Line 43"/>
            <p:cNvSpPr>
              <a:spLocks noChangeShapeType="1"/>
            </p:cNvSpPr>
            <p:nvPr/>
          </p:nvSpPr>
          <p:spPr bwMode="auto">
            <a:xfrm>
              <a:off x="5574831" y="1423618"/>
              <a:ext cx="0" cy="309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5" name="Line 44"/>
            <p:cNvSpPr>
              <a:spLocks noChangeShapeType="1"/>
            </p:cNvSpPr>
            <p:nvPr/>
          </p:nvSpPr>
          <p:spPr bwMode="auto">
            <a:xfrm>
              <a:off x="6076123" y="1888192"/>
              <a:ext cx="3360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6" name="Line 45"/>
            <p:cNvSpPr>
              <a:spLocks noChangeShapeType="1"/>
            </p:cNvSpPr>
            <p:nvPr/>
          </p:nvSpPr>
          <p:spPr bwMode="auto">
            <a:xfrm flipV="1">
              <a:off x="6414985" y="1423618"/>
              <a:ext cx="0" cy="4645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7" name="Line 46"/>
            <p:cNvSpPr>
              <a:spLocks noChangeShapeType="1"/>
            </p:cNvSpPr>
            <p:nvPr/>
          </p:nvSpPr>
          <p:spPr bwMode="auto">
            <a:xfrm>
              <a:off x="6919077" y="1423618"/>
              <a:ext cx="3360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8" name="Line 47"/>
            <p:cNvSpPr>
              <a:spLocks noChangeShapeType="1"/>
            </p:cNvSpPr>
            <p:nvPr/>
          </p:nvSpPr>
          <p:spPr bwMode="auto">
            <a:xfrm>
              <a:off x="7255139" y="1423618"/>
              <a:ext cx="0" cy="309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299" name="Line 48"/>
            <p:cNvSpPr>
              <a:spLocks noChangeShapeType="1"/>
            </p:cNvSpPr>
            <p:nvPr/>
          </p:nvSpPr>
          <p:spPr bwMode="auto">
            <a:xfrm>
              <a:off x="6564346" y="1423618"/>
              <a:ext cx="3173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300" name="Line 49"/>
            <p:cNvSpPr>
              <a:spLocks noChangeShapeType="1"/>
            </p:cNvSpPr>
            <p:nvPr/>
          </p:nvSpPr>
          <p:spPr bwMode="auto">
            <a:xfrm>
              <a:off x="6405650" y="1423618"/>
              <a:ext cx="1120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1301" name="Text Box 50"/>
            <p:cNvSpPr txBox="1">
              <a:spLocks noChangeArrowheads="1"/>
            </p:cNvSpPr>
            <p:nvPr/>
          </p:nvSpPr>
          <p:spPr bwMode="auto">
            <a:xfrm>
              <a:off x="7308304" y="2348880"/>
              <a:ext cx="8382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NULL</a:t>
              </a:r>
              <a:endParaRPr lang="en-US" b="1"/>
            </a:p>
          </p:txBody>
        </p:sp>
      </p:grp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764704"/>
            <a:ext cx="7504112" cy="57912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	</a:t>
            </a:r>
            <a:r>
              <a:rPr lang="bg-BG" sz="2000" dirty="0">
                <a:solidFill>
                  <a:schemeClr val="tx1"/>
                </a:solidFill>
              </a:rPr>
              <a:t>Включване на елемент в средата на списъка след друг, чиято стойност е </a:t>
            </a:r>
            <a:r>
              <a:rPr lang="bg-BG" sz="2000" b="1" dirty="0">
                <a:solidFill>
                  <a:schemeClr val="tx1"/>
                </a:solidFill>
              </a:rPr>
              <a:t>k (</a:t>
            </a:r>
            <a:r>
              <a:rPr lang="bg-BG" sz="2000" dirty="0">
                <a:solidFill>
                  <a:schemeClr val="tx1"/>
                </a:solidFill>
              </a:rPr>
              <a:t>предполага се, че елементът </a:t>
            </a:r>
            <a:r>
              <a:rPr lang="bg-BG" sz="2000" b="1" dirty="0">
                <a:solidFill>
                  <a:schemeClr val="tx1"/>
                </a:solidFill>
              </a:rPr>
              <a:t>k</a:t>
            </a:r>
            <a:r>
              <a:rPr lang="bg-BG" sz="2000" dirty="0">
                <a:solidFill>
                  <a:schemeClr val="tx1"/>
                </a:solidFill>
              </a:rPr>
              <a:t> съществува):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add3(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n,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k) //n – е добавяната стойност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*q;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!=k)	//търсене на елемент със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p=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-&gt;next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		//стойност k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	//създаване на нов елемент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=n;	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задаване на ключова стойност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//вмъкване на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=q;		//новосъздадения елемент</a:t>
            </a: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AU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91" name="Text Box 43"/>
          <p:cNvSpPr txBox="1">
            <a:spLocks noChangeArrowheads="1"/>
          </p:cNvSpPr>
          <p:nvPr/>
        </p:nvSpPr>
        <p:spPr bwMode="auto">
          <a:xfrm>
            <a:off x="3400947" y="2780250"/>
            <a:ext cx="7064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2000" b="1" dirty="0">
                <a:latin typeface="Courier New" pitchFamily="49" charset="0"/>
              </a:rPr>
              <a:t>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763713" y="1052513"/>
            <a:ext cx="6192837" cy="2146300"/>
            <a:chOff x="1763713" y="1052513"/>
            <a:chExt cx="6192837" cy="2146300"/>
          </a:xfrm>
        </p:grpSpPr>
        <p:sp>
          <p:nvSpPr>
            <p:cNvPr id="12293" name="Line 4"/>
            <p:cNvSpPr>
              <a:spLocks noChangeShapeType="1"/>
            </p:cNvSpPr>
            <p:nvPr/>
          </p:nvSpPr>
          <p:spPr bwMode="auto">
            <a:xfrm>
              <a:off x="2208534" y="1268771"/>
              <a:ext cx="19701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4" name="Line 5"/>
            <p:cNvSpPr>
              <a:spLocks noChangeShapeType="1"/>
            </p:cNvSpPr>
            <p:nvPr/>
          </p:nvSpPr>
          <p:spPr bwMode="auto">
            <a:xfrm>
              <a:off x="2396869" y="1268771"/>
              <a:ext cx="1239" cy="3894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5" name="Line 6"/>
            <p:cNvSpPr>
              <a:spLocks noChangeShapeType="1"/>
            </p:cNvSpPr>
            <p:nvPr/>
          </p:nvSpPr>
          <p:spPr bwMode="auto">
            <a:xfrm>
              <a:off x="3101891" y="1943123"/>
              <a:ext cx="1239" cy="3976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6" name="Line 7"/>
            <p:cNvSpPr>
              <a:spLocks noChangeShapeType="1"/>
            </p:cNvSpPr>
            <p:nvPr/>
          </p:nvSpPr>
          <p:spPr bwMode="auto">
            <a:xfrm>
              <a:off x="3101891" y="2361687"/>
              <a:ext cx="47084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7" name="Line 8"/>
            <p:cNvSpPr>
              <a:spLocks noChangeShapeType="1"/>
            </p:cNvSpPr>
            <p:nvPr/>
          </p:nvSpPr>
          <p:spPr bwMode="auto">
            <a:xfrm>
              <a:off x="4217040" y="2989531"/>
              <a:ext cx="444821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8" name="Line 9"/>
            <p:cNvSpPr>
              <a:spLocks noChangeShapeType="1"/>
            </p:cNvSpPr>
            <p:nvPr/>
          </p:nvSpPr>
          <p:spPr bwMode="auto">
            <a:xfrm>
              <a:off x="3820542" y="1052513"/>
              <a:ext cx="562531" cy="3674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299" name="Line 10"/>
            <p:cNvSpPr>
              <a:spLocks noChangeShapeType="1"/>
            </p:cNvSpPr>
            <p:nvPr/>
          </p:nvSpPr>
          <p:spPr bwMode="auto">
            <a:xfrm flipH="1">
              <a:off x="3846563" y="1057164"/>
              <a:ext cx="521642" cy="397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00" name="Line 11"/>
            <p:cNvSpPr>
              <a:spLocks noChangeShapeType="1"/>
            </p:cNvSpPr>
            <p:nvPr/>
          </p:nvSpPr>
          <p:spPr bwMode="auto">
            <a:xfrm>
              <a:off x="7562487" y="1873363"/>
              <a:ext cx="1239" cy="5685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2301" name="Group 12"/>
            <p:cNvGrpSpPr>
              <a:grpSpLocks/>
            </p:cNvGrpSpPr>
            <p:nvPr/>
          </p:nvGrpSpPr>
          <p:grpSpPr bwMode="auto">
            <a:xfrm>
              <a:off x="7450972" y="2451213"/>
              <a:ext cx="221790" cy="87201"/>
              <a:chOff x="0" y="0"/>
              <a:chExt cx="20000" cy="19987"/>
            </a:xfrm>
          </p:grpSpPr>
          <p:sp>
            <p:nvSpPr>
              <p:cNvPr id="12331" name="Line 1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32" name="Line 14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33" name="Line 15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2302" name="Group 16"/>
            <p:cNvGrpSpPr>
              <a:grpSpLocks/>
            </p:cNvGrpSpPr>
            <p:nvPr/>
          </p:nvGrpSpPr>
          <p:grpSpPr bwMode="auto">
            <a:xfrm>
              <a:off x="3101891" y="2780250"/>
              <a:ext cx="1412522" cy="418563"/>
              <a:chOff x="1161" y="8104"/>
              <a:chExt cx="1080" cy="360"/>
            </a:xfrm>
          </p:grpSpPr>
          <p:sp>
            <p:nvSpPr>
              <p:cNvPr id="12329" name="Rectangle 1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30" name="Rectangle 1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2303" name="Text Box 19"/>
            <p:cNvSpPr txBox="1">
              <a:spLocks noChangeArrowheads="1"/>
            </p:cNvSpPr>
            <p:nvPr/>
          </p:nvSpPr>
          <p:spPr bwMode="auto">
            <a:xfrm>
              <a:off x="4588757" y="1989630"/>
              <a:ext cx="1412522" cy="627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q-&gt;next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2304" name="Text Box 20"/>
            <p:cNvSpPr txBox="1">
              <a:spLocks noChangeArrowheads="1"/>
            </p:cNvSpPr>
            <p:nvPr/>
          </p:nvSpPr>
          <p:spPr bwMode="auto">
            <a:xfrm>
              <a:off x="2307039" y="1689864"/>
              <a:ext cx="706261" cy="627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k</a:t>
              </a:r>
            </a:p>
          </p:txBody>
        </p:sp>
        <p:grpSp>
          <p:nvGrpSpPr>
            <p:cNvPr id="12305" name="Group 21"/>
            <p:cNvGrpSpPr>
              <a:grpSpLocks/>
            </p:cNvGrpSpPr>
            <p:nvPr/>
          </p:nvGrpSpPr>
          <p:grpSpPr bwMode="auto">
            <a:xfrm>
              <a:off x="1983025" y="1664080"/>
              <a:ext cx="1412522" cy="418563"/>
              <a:chOff x="1161" y="8104"/>
              <a:chExt cx="1080" cy="360"/>
            </a:xfrm>
          </p:grpSpPr>
          <p:sp>
            <p:nvSpPr>
              <p:cNvPr id="12327" name="Rectangle 22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28" name="Rectangle 23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2306" name="Line 24"/>
            <p:cNvSpPr>
              <a:spLocks noChangeShapeType="1"/>
            </p:cNvSpPr>
            <p:nvPr/>
          </p:nvSpPr>
          <p:spPr bwMode="auto">
            <a:xfrm>
              <a:off x="3547951" y="2361687"/>
              <a:ext cx="1239" cy="418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07" name="Text Box 25"/>
            <p:cNvSpPr txBox="1">
              <a:spLocks noChangeArrowheads="1"/>
            </p:cNvSpPr>
            <p:nvPr/>
          </p:nvSpPr>
          <p:spPr bwMode="auto">
            <a:xfrm>
              <a:off x="4539195" y="1175756"/>
              <a:ext cx="1647942" cy="627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p-&gt;next</a:t>
              </a:r>
              <a:endParaRPr lang="en-US" sz="1000">
                <a:latin typeface="Courier New" pitchFamily="49" charset="0"/>
              </a:endParaRPr>
            </a:p>
          </p:txBody>
        </p:sp>
        <p:grpSp>
          <p:nvGrpSpPr>
            <p:cNvPr id="12308" name="Group 26"/>
            <p:cNvGrpSpPr>
              <a:grpSpLocks/>
            </p:cNvGrpSpPr>
            <p:nvPr/>
          </p:nvGrpSpPr>
          <p:grpSpPr bwMode="auto">
            <a:xfrm>
              <a:off x="4217040" y="1664080"/>
              <a:ext cx="1412522" cy="418563"/>
              <a:chOff x="1161" y="8104"/>
              <a:chExt cx="1080" cy="360"/>
            </a:xfrm>
          </p:grpSpPr>
          <p:sp>
            <p:nvSpPr>
              <p:cNvPr id="12325" name="Rectangle 2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26" name="Rectangle 2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2309" name="Group 29"/>
            <p:cNvGrpSpPr>
              <a:grpSpLocks/>
            </p:cNvGrpSpPr>
            <p:nvPr/>
          </p:nvGrpSpPr>
          <p:grpSpPr bwMode="auto">
            <a:xfrm>
              <a:off x="6447338" y="1664080"/>
              <a:ext cx="1412522" cy="418563"/>
              <a:chOff x="1161" y="8104"/>
              <a:chExt cx="1080" cy="360"/>
            </a:xfrm>
          </p:grpSpPr>
          <p:sp>
            <p:nvSpPr>
              <p:cNvPr id="12323" name="Rectangle 3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324" name="Rectangle 3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2310" name="Line 32"/>
            <p:cNvSpPr>
              <a:spLocks noChangeShapeType="1"/>
            </p:cNvSpPr>
            <p:nvPr/>
          </p:nvSpPr>
          <p:spPr bwMode="auto">
            <a:xfrm>
              <a:off x="3098174" y="1873363"/>
              <a:ext cx="47084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1" name="Line 33"/>
            <p:cNvSpPr>
              <a:spLocks noChangeShapeType="1"/>
            </p:cNvSpPr>
            <p:nvPr/>
          </p:nvSpPr>
          <p:spPr bwMode="auto">
            <a:xfrm flipV="1">
              <a:off x="3560341" y="1245517"/>
              <a:ext cx="1239" cy="6278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2" name="Line 34"/>
            <p:cNvSpPr>
              <a:spLocks noChangeShapeType="1"/>
            </p:cNvSpPr>
            <p:nvPr/>
          </p:nvSpPr>
          <p:spPr bwMode="auto">
            <a:xfrm>
              <a:off x="3547951" y="1245517"/>
              <a:ext cx="1089128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3" name="Line 35"/>
            <p:cNvSpPr>
              <a:spLocks noChangeShapeType="1"/>
            </p:cNvSpPr>
            <p:nvPr/>
          </p:nvSpPr>
          <p:spPr bwMode="auto">
            <a:xfrm>
              <a:off x="4625928" y="1245517"/>
              <a:ext cx="1239" cy="418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4" name="Line 36"/>
            <p:cNvSpPr>
              <a:spLocks noChangeShapeType="1"/>
            </p:cNvSpPr>
            <p:nvPr/>
          </p:nvSpPr>
          <p:spPr bwMode="auto">
            <a:xfrm>
              <a:off x="5328472" y="1873363"/>
              <a:ext cx="47084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5" name="Line 37"/>
            <p:cNvSpPr>
              <a:spLocks noChangeShapeType="1"/>
            </p:cNvSpPr>
            <p:nvPr/>
          </p:nvSpPr>
          <p:spPr bwMode="auto">
            <a:xfrm flipV="1">
              <a:off x="5778249" y="1245517"/>
              <a:ext cx="1239" cy="6278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6" name="Line 38"/>
            <p:cNvSpPr>
              <a:spLocks noChangeShapeType="1"/>
            </p:cNvSpPr>
            <p:nvPr/>
          </p:nvSpPr>
          <p:spPr bwMode="auto">
            <a:xfrm>
              <a:off x="6447338" y="1245517"/>
              <a:ext cx="47084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7" name="Line 39"/>
            <p:cNvSpPr>
              <a:spLocks noChangeShapeType="1"/>
            </p:cNvSpPr>
            <p:nvPr/>
          </p:nvSpPr>
          <p:spPr bwMode="auto">
            <a:xfrm>
              <a:off x="6905788" y="1245517"/>
              <a:ext cx="1239" cy="4185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8" name="Line 40"/>
            <p:cNvSpPr>
              <a:spLocks noChangeShapeType="1"/>
            </p:cNvSpPr>
            <p:nvPr/>
          </p:nvSpPr>
          <p:spPr bwMode="auto">
            <a:xfrm>
              <a:off x="5976497" y="1245517"/>
              <a:ext cx="444821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19" name="Line 41"/>
            <p:cNvSpPr>
              <a:spLocks noChangeShapeType="1"/>
            </p:cNvSpPr>
            <p:nvPr/>
          </p:nvSpPr>
          <p:spPr bwMode="auto">
            <a:xfrm>
              <a:off x="5765858" y="1245517"/>
              <a:ext cx="157360" cy="11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20" name="Text Box 42"/>
            <p:cNvSpPr txBox="1">
              <a:spLocks noChangeArrowheads="1"/>
            </p:cNvSpPr>
            <p:nvPr/>
          </p:nvSpPr>
          <p:spPr bwMode="auto">
            <a:xfrm>
              <a:off x="1763713" y="1105996"/>
              <a:ext cx="706261" cy="6278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2321" name="Line 44"/>
            <p:cNvSpPr>
              <a:spLocks noChangeShapeType="1"/>
            </p:cNvSpPr>
            <p:nvPr/>
          </p:nvSpPr>
          <p:spPr bwMode="auto">
            <a:xfrm flipV="1">
              <a:off x="4663100" y="2082644"/>
              <a:ext cx="1239" cy="9033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322" name="Text Box 45"/>
            <p:cNvSpPr txBox="1">
              <a:spLocks noChangeArrowheads="1"/>
            </p:cNvSpPr>
            <p:nvPr/>
          </p:nvSpPr>
          <p:spPr bwMode="auto">
            <a:xfrm>
              <a:off x="7069985" y="2521666"/>
              <a:ext cx="886565" cy="4029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</a:p>
          </p:txBody>
        </p:sp>
      </p:grpSp>
      <p:sp>
        <p:nvSpPr>
          <p:cNvPr id="46" name="Slide Number Placeholder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2060575"/>
            <a:ext cx="8012112" cy="5105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>	Включване на елемент в края на списък (ако не е известна ключовата стойност на последния елемент в списъка):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void add4(int n)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*p=start, *q;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q=new elem;	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създаване на новия елемент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q-&gt;key=n;	       //задаване на ключовата му стойност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q-&gt;next=NULL;   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елементът ще е последен в списъка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while (p-&gt;next)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търсене на края на списъка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p=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p-&gt;next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p-&gt;next=q;     //свързване на елемента *q със списъка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en-US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13315" name="Group 50"/>
          <p:cNvGrpSpPr>
            <a:grpSpLocks/>
          </p:cNvGrpSpPr>
          <p:nvPr/>
        </p:nvGrpSpPr>
        <p:grpSpPr bwMode="auto">
          <a:xfrm>
            <a:off x="1763713" y="1727200"/>
            <a:ext cx="6337300" cy="1862138"/>
            <a:chOff x="1434652" y="1676399"/>
            <a:chExt cx="6337748" cy="1862919"/>
          </a:xfrm>
        </p:grpSpPr>
        <p:sp>
          <p:nvSpPr>
            <p:cNvPr id="13316" name="Line 4"/>
            <p:cNvSpPr>
              <a:spLocks noChangeShapeType="1"/>
            </p:cNvSpPr>
            <p:nvPr/>
          </p:nvSpPr>
          <p:spPr bwMode="auto">
            <a:xfrm>
              <a:off x="1448718" y="1733022"/>
              <a:ext cx="140577" cy="12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17" name="Line 5"/>
            <p:cNvSpPr>
              <a:spLocks noChangeShapeType="1"/>
            </p:cNvSpPr>
            <p:nvPr/>
          </p:nvSpPr>
          <p:spPr bwMode="auto">
            <a:xfrm>
              <a:off x="1590202" y="1733022"/>
              <a:ext cx="931" cy="4313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18" name="Line 6"/>
            <p:cNvSpPr>
              <a:spLocks noChangeShapeType="1"/>
            </p:cNvSpPr>
            <p:nvPr/>
          </p:nvSpPr>
          <p:spPr bwMode="auto">
            <a:xfrm>
              <a:off x="7082792" y="2373101"/>
              <a:ext cx="931" cy="6295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3319" name="Group 7"/>
            <p:cNvGrpSpPr>
              <a:grpSpLocks/>
            </p:cNvGrpSpPr>
            <p:nvPr/>
          </p:nvGrpSpPr>
          <p:grpSpPr bwMode="auto">
            <a:xfrm>
              <a:off x="7026410" y="2997180"/>
              <a:ext cx="96821" cy="96562"/>
              <a:chOff x="0" y="0"/>
              <a:chExt cx="20000" cy="19987"/>
            </a:xfrm>
          </p:grpSpPr>
          <p:sp>
            <p:nvSpPr>
              <p:cNvPr id="13358" name="Line 8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59" name="Line 9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60" name="Line 10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3320" name="Group 11"/>
            <p:cNvGrpSpPr>
              <a:grpSpLocks/>
            </p:cNvGrpSpPr>
            <p:nvPr/>
          </p:nvGrpSpPr>
          <p:grpSpPr bwMode="auto">
            <a:xfrm>
              <a:off x="6233547" y="2168768"/>
              <a:ext cx="1005453" cy="463502"/>
              <a:chOff x="1161" y="8104"/>
              <a:chExt cx="1080" cy="360"/>
            </a:xfrm>
          </p:grpSpPr>
          <p:sp>
            <p:nvSpPr>
              <p:cNvPr id="13356" name="Rectangle 12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57" name="Rectangle 13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3321" name="Group 14"/>
            <p:cNvGrpSpPr>
              <a:grpSpLocks/>
            </p:cNvGrpSpPr>
            <p:nvPr/>
          </p:nvGrpSpPr>
          <p:grpSpPr bwMode="auto">
            <a:xfrm>
              <a:off x="1434652" y="2151535"/>
              <a:ext cx="1005453" cy="463502"/>
              <a:chOff x="1161" y="8104"/>
              <a:chExt cx="1080" cy="360"/>
            </a:xfrm>
          </p:grpSpPr>
          <p:sp>
            <p:nvSpPr>
              <p:cNvPr id="13354" name="Rectangle 15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55" name="Rectangle 16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3322" name="Text Box 17"/>
            <p:cNvSpPr txBox="1">
              <a:spLocks noChangeArrowheads="1"/>
            </p:cNvSpPr>
            <p:nvPr/>
          </p:nvSpPr>
          <p:spPr bwMode="auto">
            <a:xfrm>
              <a:off x="6341189" y="1688708"/>
              <a:ext cx="502726" cy="695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 b="1">
                  <a:latin typeface="Courier New" pitchFamily="49" charset="0"/>
                </a:rPr>
                <a:t>q</a:t>
              </a:r>
              <a:endParaRPr lang="bg-BG" sz="1000">
                <a:latin typeface="Courier New" pitchFamily="49" charset="0"/>
              </a:endParaRPr>
            </a:p>
          </p:txBody>
        </p:sp>
        <p:grpSp>
          <p:nvGrpSpPr>
            <p:cNvPr id="13323" name="Group 18"/>
            <p:cNvGrpSpPr>
              <a:grpSpLocks/>
            </p:cNvGrpSpPr>
            <p:nvPr/>
          </p:nvGrpSpPr>
          <p:grpSpPr bwMode="auto">
            <a:xfrm>
              <a:off x="3091249" y="2151535"/>
              <a:ext cx="1005453" cy="463502"/>
              <a:chOff x="1161" y="8104"/>
              <a:chExt cx="1080" cy="360"/>
            </a:xfrm>
          </p:grpSpPr>
          <p:sp>
            <p:nvSpPr>
              <p:cNvPr id="13352" name="Rectangle 19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53" name="Rectangle 20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3324" name="Group 21"/>
            <p:cNvGrpSpPr>
              <a:grpSpLocks/>
            </p:cNvGrpSpPr>
            <p:nvPr/>
          </p:nvGrpSpPr>
          <p:grpSpPr bwMode="auto">
            <a:xfrm>
              <a:off x="4745090" y="2151535"/>
              <a:ext cx="1005453" cy="463502"/>
              <a:chOff x="1161" y="8104"/>
              <a:chExt cx="1080" cy="360"/>
            </a:xfrm>
          </p:grpSpPr>
          <p:sp>
            <p:nvSpPr>
              <p:cNvPr id="13350" name="Rectangle 22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51" name="Rectangle 23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3325" name="Line 24"/>
            <p:cNvSpPr>
              <a:spLocks noChangeShapeType="1"/>
            </p:cNvSpPr>
            <p:nvPr/>
          </p:nvSpPr>
          <p:spPr bwMode="auto">
            <a:xfrm>
              <a:off x="2270338" y="2373102"/>
              <a:ext cx="33515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6" name="Line 25"/>
            <p:cNvSpPr>
              <a:spLocks noChangeShapeType="1"/>
            </p:cNvSpPr>
            <p:nvPr/>
          </p:nvSpPr>
          <p:spPr bwMode="auto">
            <a:xfrm flipV="1">
              <a:off x="2608245" y="1708402"/>
              <a:ext cx="0" cy="6952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7" name="Line 26"/>
            <p:cNvSpPr>
              <a:spLocks noChangeShapeType="1"/>
            </p:cNvSpPr>
            <p:nvPr/>
          </p:nvSpPr>
          <p:spPr bwMode="auto">
            <a:xfrm>
              <a:off x="2597289" y="1708404"/>
              <a:ext cx="83787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8" name="Line 27"/>
            <p:cNvSpPr>
              <a:spLocks noChangeShapeType="1"/>
            </p:cNvSpPr>
            <p:nvPr/>
          </p:nvSpPr>
          <p:spPr bwMode="auto">
            <a:xfrm>
              <a:off x="3435166" y="1708403"/>
              <a:ext cx="0" cy="463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29" name="Line 28"/>
            <p:cNvSpPr>
              <a:spLocks noChangeShapeType="1"/>
            </p:cNvSpPr>
            <p:nvPr/>
          </p:nvSpPr>
          <p:spPr bwMode="auto">
            <a:xfrm>
              <a:off x="3924179" y="2373102"/>
              <a:ext cx="33515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0" name="Line 29"/>
            <p:cNvSpPr>
              <a:spLocks noChangeShapeType="1"/>
            </p:cNvSpPr>
            <p:nvPr/>
          </p:nvSpPr>
          <p:spPr bwMode="auto">
            <a:xfrm flipV="1">
              <a:off x="4262086" y="1708402"/>
              <a:ext cx="0" cy="6952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1" name="Line 30"/>
            <p:cNvSpPr>
              <a:spLocks noChangeShapeType="1"/>
            </p:cNvSpPr>
            <p:nvPr/>
          </p:nvSpPr>
          <p:spPr bwMode="auto">
            <a:xfrm>
              <a:off x="4753855" y="1708404"/>
              <a:ext cx="33515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2" name="Line 31"/>
            <p:cNvSpPr>
              <a:spLocks noChangeShapeType="1"/>
            </p:cNvSpPr>
            <p:nvPr/>
          </p:nvSpPr>
          <p:spPr bwMode="auto">
            <a:xfrm>
              <a:off x="5089007" y="1708403"/>
              <a:ext cx="0" cy="463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3" name="Line 32"/>
            <p:cNvSpPr>
              <a:spLocks noChangeShapeType="1"/>
            </p:cNvSpPr>
            <p:nvPr/>
          </p:nvSpPr>
          <p:spPr bwMode="auto">
            <a:xfrm>
              <a:off x="4404955" y="1708404"/>
              <a:ext cx="31653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4" name="Line 33"/>
            <p:cNvSpPr>
              <a:spLocks noChangeShapeType="1"/>
            </p:cNvSpPr>
            <p:nvPr/>
          </p:nvSpPr>
          <p:spPr bwMode="auto">
            <a:xfrm>
              <a:off x="4251437" y="1708404"/>
              <a:ext cx="1117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5" name="Text Box 34"/>
            <p:cNvSpPr txBox="1">
              <a:spLocks noChangeArrowheads="1"/>
            </p:cNvSpPr>
            <p:nvPr/>
          </p:nvSpPr>
          <p:spPr bwMode="auto">
            <a:xfrm>
              <a:off x="1547664" y="1725636"/>
              <a:ext cx="1005453" cy="695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3336" name="Text Box 35"/>
            <p:cNvSpPr txBox="1">
              <a:spLocks noChangeArrowheads="1"/>
            </p:cNvSpPr>
            <p:nvPr/>
          </p:nvSpPr>
          <p:spPr bwMode="auto">
            <a:xfrm>
              <a:off x="6387129" y="2107222"/>
              <a:ext cx="502726" cy="695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</a:p>
          </p:txBody>
        </p:sp>
        <p:sp>
          <p:nvSpPr>
            <p:cNvPr id="13337" name="Line 36"/>
            <p:cNvSpPr>
              <a:spLocks noChangeShapeType="1"/>
            </p:cNvSpPr>
            <p:nvPr/>
          </p:nvSpPr>
          <p:spPr bwMode="auto">
            <a:xfrm>
              <a:off x="5578020" y="2390335"/>
              <a:ext cx="33515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8" name="Line 37"/>
            <p:cNvSpPr>
              <a:spLocks noChangeShapeType="1"/>
            </p:cNvSpPr>
            <p:nvPr/>
          </p:nvSpPr>
          <p:spPr bwMode="auto">
            <a:xfrm flipV="1">
              <a:off x="5915927" y="1725635"/>
              <a:ext cx="0" cy="6952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39" name="Line 38"/>
            <p:cNvSpPr>
              <a:spLocks noChangeShapeType="1"/>
            </p:cNvSpPr>
            <p:nvPr/>
          </p:nvSpPr>
          <p:spPr bwMode="auto">
            <a:xfrm>
              <a:off x="5904971" y="1725637"/>
              <a:ext cx="83787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40" name="Line 39"/>
            <p:cNvSpPr>
              <a:spLocks noChangeShapeType="1"/>
            </p:cNvSpPr>
            <p:nvPr/>
          </p:nvSpPr>
          <p:spPr bwMode="auto">
            <a:xfrm>
              <a:off x="6742848" y="1725636"/>
              <a:ext cx="0" cy="463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41" name="Line 40"/>
            <p:cNvSpPr>
              <a:spLocks noChangeShapeType="1"/>
            </p:cNvSpPr>
            <p:nvPr/>
          </p:nvSpPr>
          <p:spPr bwMode="auto">
            <a:xfrm>
              <a:off x="5544720" y="2390334"/>
              <a:ext cx="931" cy="6295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3342" name="Group 41"/>
            <p:cNvGrpSpPr>
              <a:grpSpLocks/>
            </p:cNvGrpSpPr>
            <p:nvPr/>
          </p:nvGrpSpPr>
          <p:grpSpPr bwMode="auto">
            <a:xfrm>
              <a:off x="5488338" y="3014413"/>
              <a:ext cx="96821" cy="96562"/>
              <a:chOff x="0" y="0"/>
              <a:chExt cx="20000" cy="19987"/>
            </a:xfrm>
          </p:grpSpPr>
          <p:sp>
            <p:nvSpPr>
              <p:cNvPr id="13347" name="Line 42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48" name="Line 43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349" name="Line 44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3343" name="Line 45"/>
            <p:cNvSpPr>
              <a:spLocks noChangeShapeType="1"/>
            </p:cNvSpPr>
            <p:nvPr/>
          </p:nvSpPr>
          <p:spPr bwMode="auto">
            <a:xfrm flipV="1">
              <a:off x="5247817" y="2611900"/>
              <a:ext cx="502726" cy="6952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44" name="Line 46"/>
            <p:cNvSpPr>
              <a:spLocks noChangeShapeType="1"/>
            </p:cNvSpPr>
            <p:nvPr/>
          </p:nvSpPr>
          <p:spPr bwMode="auto">
            <a:xfrm>
              <a:off x="5245626" y="2611901"/>
              <a:ext cx="670301" cy="6952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345" name="Text Box 47"/>
            <p:cNvSpPr txBox="1">
              <a:spLocks noChangeArrowheads="1"/>
            </p:cNvSpPr>
            <p:nvPr/>
          </p:nvSpPr>
          <p:spPr bwMode="auto">
            <a:xfrm>
              <a:off x="5045681" y="1676399"/>
              <a:ext cx="502726" cy="695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  <a:endParaRPr lang="en-US" sz="2000">
                <a:latin typeface="Courier New" pitchFamily="49" charset="0"/>
              </a:endParaRPr>
            </a:p>
          </p:txBody>
        </p:sp>
        <p:sp>
          <p:nvSpPr>
            <p:cNvPr id="13346" name="Text Box 48"/>
            <p:cNvSpPr txBox="1">
              <a:spLocks noChangeArrowheads="1"/>
            </p:cNvSpPr>
            <p:nvPr/>
          </p:nvSpPr>
          <p:spPr bwMode="auto">
            <a:xfrm>
              <a:off x="6691465" y="3124200"/>
              <a:ext cx="1080935" cy="415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  <a:endParaRPr lang="en-US"/>
            </a:p>
          </p:txBody>
        </p:sp>
      </p:grp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125538"/>
            <a:ext cx="8294687" cy="5943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>
                <a:solidFill>
                  <a:schemeClr val="tx1"/>
                </a:solidFill>
              </a:rPr>
              <a:t>	</a:t>
            </a:r>
            <a:r>
              <a:rPr lang="bg-BG" sz="2400">
                <a:solidFill>
                  <a:schemeClr val="tx1"/>
                </a:solidFill>
              </a:rPr>
              <a:t>Изключване на първи елемент от списък: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int del1(int &amp;n)	//Ключовата стойност на изтрития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			//елемент се връща в главната функция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if (start)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проверка, дали списъкът не е празен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n=start-&gt;key;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start=start-&gt;next;//задаване на нов начален адрес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delete p;		//изтриване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return 1;	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else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return 0;		//списъкът е празен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4339" name="Group 38"/>
          <p:cNvGrpSpPr>
            <a:grpSpLocks/>
          </p:cNvGrpSpPr>
          <p:nvPr/>
        </p:nvGrpSpPr>
        <p:grpSpPr bwMode="auto">
          <a:xfrm>
            <a:off x="1752600" y="1066800"/>
            <a:ext cx="6324600" cy="1616075"/>
            <a:chOff x="1752600" y="1066800"/>
            <a:chExt cx="6324600" cy="1616075"/>
          </a:xfrm>
        </p:grpSpPr>
        <p:sp>
          <p:nvSpPr>
            <p:cNvPr id="14340" name="Line 4"/>
            <p:cNvSpPr>
              <a:spLocks noChangeShapeType="1"/>
            </p:cNvSpPr>
            <p:nvPr/>
          </p:nvSpPr>
          <p:spPr bwMode="auto">
            <a:xfrm>
              <a:off x="1953324" y="1127130"/>
              <a:ext cx="165625" cy="13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41" name="Line 5"/>
            <p:cNvSpPr>
              <a:spLocks noChangeShapeType="1"/>
            </p:cNvSpPr>
            <p:nvPr/>
          </p:nvSpPr>
          <p:spPr bwMode="auto">
            <a:xfrm>
              <a:off x="2120046" y="1127130"/>
              <a:ext cx="1097" cy="4393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4342" name="Group 6"/>
            <p:cNvGrpSpPr>
              <a:grpSpLocks/>
            </p:cNvGrpSpPr>
            <p:nvPr/>
          </p:nvGrpSpPr>
          <p:grpSpPr bwMode="auto">
            <a:xfrm>
              <a:off x="1950034" y="1573051"/>
              <a:ext cx="1184602" cy="472151"/>
              <a:chOff x="1161" y="8104"/>
              <a:chExt cx="1080" cy="360"/>
            </a:xfrm>
          </p:grpSpPr>
          <p:sp>
            <p:nvSpPr>
              <p:cNvPr id="14371" name="Rectangle 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372" name="Rectangle 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4343" name="Group 9"/>
            <p:cNvGrpSpPr>
              <a:grpSpLocks/>
            </p:cNvGrpSpPr>
            <p:nvPr/>
          </p:nvGrpSpPr>
          <p:grpSpPr bwMode="auto">
            <a:xfrm>
              <a:off x="3927661" y="1573051"/>
              <a:ext cx="1184602" cy="472151"/>
              <a:chOff x="1161" y="8104"/>
              <a:chExt cx="1080" cy="360"/>
            </a:xfrm>
          </p:grpSpPr>
          <p:sp>
            <p:nvSpPr>
              <p:cNvPr id="14369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370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4344" name="Group 12"/>
            <p:cNvGrpSpPr>
              <a:grpSpLocks/>
            </p:cNvGrpSpPr>
            <p:nvPr/>
          </p:nvGrpSpPr>
          <p:grpSpPr bwMode="auto">
            <a:xfrm>
              <a:off x="5901998" y="1573051"/>
              <a:ext cx="1184602" cy="472151"/>
              <a:chOff x="1161" y="8104"/>
              <a:chExt cx="1080" cy="360"/>
            </a:xfrm>
          </p:grpSpPr>
          <p:sp>
            <p:nvSpPr>
              <p:cNvPr id="14367" name="Rectangle 13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368" name="Rectangle 14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4345" name="Line 15"/>
            <p:cNvSpPr>
              <a:spLocks noChangeShapeType="1"/>
            </p:cNvSpPr>
            <p:nvPr/>
          </p:nvSpPr>
          <p:spPr bwMode="auto">
            <a:xfrm>
              <a:off x="2937202" y="1809127"/>
              <a:ext cx="3948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46" name="Line 16"/>
            <p:cNvSpPr>
              <a:spLocks noChangeShapeType="1"/>
            </p:cNvSpPr>
            <p:nvPr/>
          </p:nvSpPr>
          <p:spPr bwMode="auto">
            <a:xfrm flipV="1">
              <a:off x="3335360" y="1100900"/>
              <a:ext cx="0" cy="708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47" name="Line 17"/>
            <p:cNvSpPr>
              <a:spLocks noChangeShapeType="1"/>
            </p:cNvSpPr>
            <p:nvPr/>
          </p:nvSpPr>
          <p:spPr bwMode="auto">
            <a:xfrm>
              <a:off x="3335360" y="1100900"/>
              <a:ext cx="98716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48" name="Line 18"/>
            <p:cNvSpPr>
              <a:spLocks noChangeShapeType="1"/>
            </p:cNvSpPr>
            <p:nvPr/>
          </p:nvSpPr>
          <p:spPr bwMode="auto">
            <a:xfrm>
              <a:off x="4322528" y="1100900"/>
              <a:ext cx="0" cy="4721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49" name="Line 19"/>
            <p:cNvSpPr>
              <a:spLocks noChangeShapeType="1"/>
            </p:cNvSpPr>
            <p:nvPr/>
          </p:nvSpPr>
          <p:spPr bwMode="auto">
            <a:xfrm>
              <a:off x="4911539" y="1809127"/>
              <a:ext cx="3948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0" name="Line 20"/>
            <p:cNvSpPr>
              <a:spLocks noChangeShapeType="1"/>
            </p:cNvSpPr>
            <p:nvPr/>
          </p:nvSpPr>
          <p:spPr bwMode="auto">
            <a:xfrm flipV="1">
              <a:off x="5309697" y="1100900"/>
              <a:ext cx="0" cy="708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1" name="Line 21"/>
            <p:cNvSpPr>
              <a:spLocks noChangeShapeType="1"/>
            </p:cNvSpPr>
            <p:nvPr/>
          </p:nvSpPr>
          <p:spPr bwMode="auto">
            <a:xfrm>
              <a:off x="5901998" y="1100900"/>
              <a:ext cx="39486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2" name="Line 22"/>
            <p:cNvSpPr>
              <a:spLocks noChangeShapeType="1"/>
            </p:cNvSpPr>
            <p:nvPr/>
          </p:nvSpPr>
          <p:spPr bwMode="auto">
            <a:xfrm>
              <a:off x="6296865" y="1100900"/>
              <a:ext cx="0" cy="4721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3" name="Line 23"/>
            <p:cNvSpPr>
              <a:spLocks noChangeShapeType="1"/>
            </p:cNvSpPr>
            <p:nvPr/>
          </p:nvSpPr>
          <p:spPr bwMode="auto">
            <a:xfrm>
              <a:off x="5485193" y="1100900"/>
              <a:ext cx="37293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4" name="Line 24"/>
            <p:cNvSpPr>
              <a:spLocks noChangeShapeType="1"/>
            </p:cNvSpPr>
            <p:nvPr/>
          </p:nvSpPr>
          <p:spPr bwMode="auto">
            <a:xfrm>
              <a:off x="5298728" y="1100900"/>
              <a:ext cx="13162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55" name="Text Box 25"/>
            <p:cNvSpPr txBox="1">
              <a:spLocks noChangeArrowheads="1"/>
            </p:cNvSpPr>
            <p:nvPr/>
          </p:nvSpPr>
          <p:spPr bwMode="auto">
            <a:xfrm>
              <a:off x="2081656" y="1132377"/>
              <a:ext cx="1385326" cy="708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p=start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4356" name="Text Box 26"/>
            <p:cNvSpPr txBox="1">
              <a:spLocks noChangeArrowheads="1"/>
            </p:cNvSpPr>
            <p:nvPr/>
          </p:nvSpPr>
          <p:spPr bwMode="auto">
            <a:xfrm>
              <a:off x="2180373" y="1499606"/>
              <a:ext cx="592301" cy="708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</a:p>
          </p:txBody>
        </p:sp>
        <p:sp>
          <p:nvSpPr>
            <p:cNvPr id="14357" name="Line 27"/>
            <p:cNvSpPr>
              <a:spLocks noChangeShapeType="1"/>
            </p:cNvSpPr>
            <p:nvPr/>
          </p:nvSpPr>
          <p:spPr bwMode="auto">
            <a:xfrm>
              <a:off x="6840905" y="1827488"/>
              <a:ext cx="1097" cy="6413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4358" name="Group 28"/>
            <p:cNvGrpSpPr>
              <a:grpSpLocks/>
            </p:cNvGrpSpPr>
            <p:nvPr/>
          </p:nvGrpSpPr>
          <p:grpSpPr bwMode="auto">
            <a:xfrm>
              <a:off x="6786062" y="2492435"/>
              <a:ext cx="114073" cy="98365"/>
              <a:chOff x="0" y="0"/>
              <a:chExt cx="20000" cy="19987"/>
            </a:xfrm>
          </p:grpSpPr>
          <p:sp>
            <p:nvSpPr>
              <p:cNvPr id="14364" name="Line 29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365" name="Line 30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366" name="Line 31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4359" name="Line 32"/>
            <p:cNvSpPr>
              <a:spLocks noChangeShapeType="1"/>
            </p:cNvSpPr>
            <p:nvPr/>
          </p:nvSpPr>
          <p:spPr bwMode="auto">
            <a:xfrm flipV="1">
              <a:off x="1752600" y="1119261"/>
              <a:ext cx="1184602" cy="1416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60" name="Line 33"/>
            <p:cNvSpPr>
              <a:spLocks noChangeShapeType="1"/>
            </p:cNvSpPr>
            <p:nvPr/>
          </p:nvSpPr>
          <p:spPr bwMode="auto">
            <a:xfrm>
              <a:off x="1950034" y="1119261"/>
              <a:ext cx="1184602" cy="1416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361" name="Text Box 34"/>
            <p:cNvSpPr txBox="1">
              <a:spLocks noChangeArrowheads="1"/>
            </p:cNvSpPr>
            <p:nvPr/>
          </p:nvSpPr>
          <p:spPr bwMode="auto">
            <a:xfrm>
              <a:off x="6252991" y="1066800"/>
              <a:ext cx="592301" cy="708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14362" name="Text Box 35"/>
            <p:cNvSpPr txBox="1">
              <a:spLocks noChangeArrowheads="1"/>
            </p:cNvSpPr>
            <p:nvPr/>
          </p:nvSpPr>
          <p:spPr bwMode="auto">
            <a:xfrm>
              <a:off x="4319238" y="1119261"/>
              <a:ext cx="1184602" cy="708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4363" name="Text Box 36"/>
            <p:cNvSpPr txBox="1">
              <a:spLocks noChangeArrowheads="1"/>
            </p:cNvSpPr>
            <p:nvPr/>
          </p:nvSpPr>
          <p:spPr bwMode="auto">
            <a:xfrm>
              <a:off x="6934200" y="2286000"/>
              <a:ext cx="1143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  <a:endParaRPr lang="en-US"/>
            </a:p>
          </p:txBody>
        </p:sp>
      </p:grp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765175"/>
            <a:ext cx="7654925" cy="5867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Изключване на елемент в средата на списък преди друг, чиято ключова стойност е </a:t>
            </a:r>
            <a:r>
              <a:rPr lang="bg-BG" sz="2400" b="1" dirty="0">
                <a:solidFill>
                  <a:schemeClr val="tx1"/>
                </a:solidFill>
              </a:rPr>
              <a:t>k </a:t>
            </a:r>
            <a:r>
              <a:rPr lang="bg-BG" sz="2400" dirty="0">
                <a:solidFill>
                  <a:schemeClr val="tx1"/>
                </a:solidFill>
              </a:rPr>
              <a:t>(известно е, че елементът съществува):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/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 smtClean="0">
                <a:solidFill>
                  <a:schemeClr val="tx1"/>
                </a:solidFill>
              </a:rPr>
              <a:t/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bg-BG" sz="1600" dirty="0" err="1" smtClean="0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del2(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&amp;n,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k)    //Ключовата стойност на изтрития елемент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{			  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се връща в главната функция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*q;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!=k)	  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търсене на елемента със  стойност k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{				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q=p;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p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}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n=q-&gt;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		//на практика се изтрива елемента *р 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q-&gt;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	//но ключовата му стойност k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q-&gt;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	//се прехвърля в предходния елемент, като 				//старата му стойност се изтрива от списъка 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p;	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1600" dirty="0">
                <a:solidFill>
                  <a:schemeClr val="tx1"/>
                </a:solidFill>
                <a:latin typeface="Courier New" pitchFamily="49" charset="0"/>
              </a:rPr>
              <a:t>}			</a:t>
            </a: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363" name="Group 52"/>
          <p:cNvGrpSpPr>
            <a:grpSpLocks/>
          </p:cNvGrpSpPr>
          <p:nvPr/>
        </p:nvGrpSpPr>
        <p:grpSpPr bwMode="auto">
          <a:xfrm>
            <a:off x="1752600" y="1557338"/>
            <a:ext cx="7010400" cy="1600200"/>
            <a:chOff x="1752600" y="1371600"/>
            <a:chExt cx="7010400" cy="1600200"/>
          </a:xfrm>
        </p:grpSpPr>
        <p:sp>
          <p:nvSpPr>
            <p:cNvPr id="15364" name="Line 4"/>
            <p:cNvSpPr>
              <a:spLocks noChangeShapeType="1"/>
            </p:cNvSpPr>
            <p:nvPr/>
          </p:nvSpPr>
          <p:spPr bwMode="auto">
            <a:xfrm>
              <a:off x="6401570" y="1571625"/>
              <a:ext cx="154966" cy="111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65" name="Line 5"/>
            <p:cNvSpPr>
              <a:spLocks noChangeShapeType="1"/>
            </p:cNvSpPr>
            <p:nvPr/>
          </p:nvSpPr>
          <p:spPr bwMode="auto">
            <a:xfrm>
              <a:off x="5476907" y="1571625"/>
              <a:ext cx="1026" cy="3722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5366" name="Group 6"/>
            <p:cNvGrpSpPr>
              <a:grpSpLocks/>
            </p:cNvGrpSpPr>
            <p:nvPr/>
          </p:nvGrpSpPr>
          <p:grpSpPr bwMode="auto">
            <a:xfrm>
              <a:off x="6740236" y="1971675"/>
              <a:ext cx="1108364" cy="400050"/>
              <a:chOff x="1161" y="8104"/>
              <a:chExt cx="1080" cy="360"/>
            </a:xfrm>
          </p:grpSpPr>
          <p:sp>
            <p:nvSpPr>
              <p:cNvPr id="15409" name="Rectangle 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10" name="Rectangle 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5367" name="Group 9"/>
            <p:cNvGrpSpPr>
              <a:grpSpLocks/>
            </p:cNvGrpSpPr>
            <p:nvPr/>
          </p:nvGrpSpPr>
          <p:grpSpPr bwMode="auto">
            <a:xfrm>
              <a:off x="5108479" y="1971675"/>
              <a:ext cx="1108364" cy="400050"/>
              <a:chOff x="1161" y="8104"/>
              <a:chExt cx="1080" cy="360"/>
            </a:xfrm>
          </p:grpSpPr>
          <p:sp>
            <p:nvSpPr>
              <p:cNvPr id="15407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08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5368" name="Text Box 12"/>
            <p:cNvSpPr txBox="1">
              <a:spLocks noChangeArrowheads="1"/>
            </p:cNvSpPr>
            <p:nvPr/>
          </p:nvSpPr>
          <p:spPr bwMode="auto">
            <a:xfrm>
              <a:off x="2152842" y="1538288"/>
              <a:ext cx="554182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 b="1">
                  <a:latin typeface="Courier New" pitchFamily="49" charset="0"/>
                </a:rPr>
                <a:t>q</a:t>
              </a:r>
              <a:endParaRPr lang="en-US" sz="2000" b="1">
                <a:latin typeface="Courier New" pitchFamily="49" charset="0"/>
              </a:endParaRPr>
            </a:p>
          </p:txBody>
        </p:sp>
        <p:grpSp>
          <p:nvGrpSpPr>
            <p:cNvPr id="15369" name="Group 13"/>
            <p:cNvGrpSpPr>
              <a:grpSpLocks/>
            </p:cNvGrpSpPr>
            <p:nvPr/>
          </p:nvGrpSpPr>
          <p:grpSpPr bwMode="auto">
            <a:xfrm>
              <a:off x="1968115" y="1956118"/>
              <a:ext cx="1108364" cy="400050"/>
              <a:chOff x="1161" y="8104"/>
              <a:chExt cx="1080" cy="360"/>
            </a:xfrm>
          </p:grpSpPr>
          <p:sp>
            <p:nvSpPr>
              <p:cNvPr id="15405" name="Rectangle 14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06" name="Rectangle 15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5370" name="Group 16"/>
            <p:cNvGrpSpPr>
              <a:grpSpLocks/>
            </p:cNvGrpSpPr>
            <p:nvPr/>
          </p:nvGrpSpPr>
          <p:grpSpPr bwMode="auto">
            <a:xfrm>
              <a:off x="3630661" y="1956118"/>
              <a:ext cx="1108364" cy="400050"/>
              <a:chOff x="1161" y="8104"/>
              <a:chExt cx="1080" cy="360"/>
            </a:xfrm>
          </p:grpSpPr>
          <p:sp>
            <p:nvSpPr>
              <p:cNvPr id="15403" name="Rectangle 1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04" name="Rectangle 1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5371" name="Line 19"/>
            <p:cNvSpPr>
              <a:spLocks noChangeShapeType="1"/>
            </p:cNvSpPr>
            <p:nvPr/>
          </p:nvSpPr>
          <p:spPr bwMode="auto">
            <a:xfrm flipV="1">
              <a:off x="6401570" y="1556068"/>
              <a:ext cx="0" cy="600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2" name="Line 20"/>
            <p:cNvSpPr>
              <a:spLocks noChangeShapeType="1"/>
            </p:cNvSpPr>
            <p:nvPr/>
          </p:nvSpPr>
          <p:spPr bwMode="auto">
            <a:xfrm>
              <a:off x="3261206" y="1571625"/>
              <a:ext cx="554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3" name="Line 21"/>
            <p:cNvSpPr>
              <a:spLocks noChangeShapeType="1"/>
            </p:cNvSpPr>
            <p:nvPr/>
          </p:nvSpPr>
          <p:spPr bwMode="auto">
            <a:xfrm>
              <a:off x="2152842" y="1556068"/>
              <a:ext cx="0" cy="400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4" name="Line 22"/>
            <p:cNvSpPr>
              <a:spLocks noChangeShapeType="1"/>
            </p:cNvSpPr>
            <p:nvPr/>
          </p:nvSpPr>
          <p:spPr bwMode="auto">
            <a:xfrm>
              <a:off x="2891752" y="2156143"/>
              <a:ext cx="3694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5" name="Line 23"/>
            <p:cNvSpPr>
              <a:spLocks noChangeShapeType="1"/>
            </p:cNvSpPr>
            <p:nvPr/>
          </p:nvSpPr>
          <p:spPr bwMode="auto">
            <a:xfrm flipV="1">
              <a:off x="3261206" y="1556068"/>
              <a:ext cx="0" cy="600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6" name="Line 24"/>
            <p:cNvSpPr>
              <a:spLocks noChangeShapeType="1"/>
            </p:cNvSpPr>
            <p:nvPr/>
          </p:nvSpPr>
          <p:spPr bwMode="auto">
            <a:xfrm>
              <a:off x="1968115" y="1556068"/>
              <a:ext cx="174465" cy="155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7" name="Line 25"/>
            <p:cNvSpPr>
              <a:spLocks noChangeShapeType="1"/>
            </p:cNvSpPr>
            <p:nvPr/>
          </p:nvSpPr>
          <p:spPr bwMode="auto">
            <a:xfrm>
              <a:off x="3815388" y="1556068"/>
              <a:ext cx="0" cy="400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8" name="Line 26"/>
            <p:cNvSpPr>
              <a:spLocks noChangeShapeType="1"/>
            </p:cNvSpPr>
            <p:nvPr/>
          </p:nvSpPr>
          <p:spPr bwMode="auto">
            <a:xfrm>
              <a:off x="1752600" y="1571625"/>
              <a:ext cx="19499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79" name="Text Box 27"/>
            <p:cNvSpPr txBox="1">
              <a:spLocks noChangeArrowheads="1"/>
            </p:cNvSpPr>
            <p:nvPr/>
          </p:nvSpPr>
          <p:spPr bwMode="auto">
            <a:xfrm>
              <a:off x="2152842" y="1916113"/>
              <a:ext cx="554182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  <a:endParaRPr lang="bg-BG" sz="2000" b="1">
                <a:latin typeface="Courier New" pitchFamily="49" charset="0"/>
              </a:endParaRPr>
            </a:p>
          </p:txBody>
        </p:sp>
        <p:sp>
          <p:nvSpPr>
            <p:cNvPr id="15380" name="Line 28"/>
            <p:cNvSpPr>
              <a:spLocks noChangeShapeType="1"/>
            </p:cNvSpPr>
            <p:nvPr/>
          </p:nvSpPr>
          <p:spPr bwMode="auto">
            <a:xfrm>
              <a:off x="4554297" y="2171700"/>
              <a:ext cx="3694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81" name="Line 29"/>
            <p:cNvSpPr>
              <a:spLocks noChangeShapeType="1"/>
            </p:cNvSpPr>
            <p:nvPr/>
          </p:nvSpPr>
          <p:spPr bwMode="auto">
            <a:xfrm flipV="1">
              <a:off x="4923752" y="1571625"/>
              <a:ext cx="0" cy="600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82" name="Line 30"/>
            <p:cNvSpPr>
              <a:spLocks noChangeShapeType="1"/>
            </p:cNvSpPr>
            <p:nvPr/>
          </p:nvSpPr>
          <p:spPr bwMode="auto">
            <a:xfrm>
              <a:off x="7140479" y="1571625"/>
              <a:ext cx="0" cy="400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83" name="Line 31"/>
            <p:cNvSpPr>
              <a:spLocks noChangeShapeType="1"/>
            </p:cNvSpPr>
            <p:nvPr/>
          </p:nvSpPr>
          <p:spPr bwMode="auto">
            <a:xfrm>
              <a:off x="7666952" y="2171700"/>
              <a:ext cx="1026" cy="5434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5384" name="Group 32"/>
            <p:cNvGrpSpPr>
              <a:grpSpLocks/>
            </p:cNvGrpSpPr>
            <p:nvPr/>
          </p:nvGrpSpPr>
          <p:grpSpPr bwMode="auto">
            <a:xfrm>
              <a:off x="7612560" y="2735104"/>
              <a:ext cx="106731" cy="83344"/>
              <a:chOff x="0" y="0"/>
              <a:chExt cx="20000" cy="19987"/>
            </a:xfrm>
          </p:grpSpPr>
          <p:sp>
            <p:nvSpPr>
              <p:cNvPr id="15400" name="Line 3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01" name="Line 34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402" name="Line 35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5385" name="Line 36"/>
            <p:cNvSpPr>
              <a:spLocks noChangeShapeType="1"/>
            </p:cNvSpPr>
            <p:nvPr/>
          </p:nvSpPr>
          <p:spPr bwMode="auto">
            <a:xfrm flipV="1">
              <a:off x="3599873" y="1571625"/>
              <a:ext cx="923636" cy="1400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86" name="Line 37"/>
            <p:cNvSpPr>
              <a:spLocks noChangeShapeType="1"/>
            </p:cNvSpPr>
            <p:nvPr/>
          </p:nvSpPr>
          <p:spPr bwMode="auto">
            <a:xfrm>
              <a:off x="3415145" y="1771650"/>
              <a:ext cx="1293091" cy="1000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87" name="Text Box 38"/>
            <p:cNvSpPr txBox="1">
              <a:spLocks noChangeArrowheads="1"/>
            </p:cNvSpPr>
            <p:nvPr/>
          </p:nvSpPr>
          <p:spPr bwMode="auto">
            <a:xfrm>
              <a:off x="3815388" y="1527175"/>
              <a:ext cx="554182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5388" name="Text Box 39"/>
            <p:cNvSpPr txBox="1">
              <a:spLocks noChangeArrowheads="1"/>
            </p:cNvSpPr>
            <p:nvPr/>
          </p:nvSpPr>
          <p:spPr bwMode="auto">
            <a:xfrm>
              <a:off x="3815388" y="1916113"/>
              <a:ext cx="554182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k</a:t>
              </a:r>
              <a:endParaRPr lang="bg-BG" sz="1000" b="1">
                <a:latin typeface="Courier New" pitchFamily="49" charset="0"/>
              </a:endParaRPr>
            </a:p>
          </p:txBody>
        </p:sp>
        <p:sp>
          <p:nvSpPr>
            <p:cNvPr id="15389" name="Line 40"/>
            <p:cNvSpPr>
              <a:spLocks noChangeShapeType="1"/>
            </p:cNvSpPr>
            <p:nvPr/>
          </p:nvSpPr>
          <p:spPr bwMode="auto">
            <a:xfrm>
              <a:off x="6966014" y="1571625"/>
              <a:ext cx="1744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0" name="Line 41"/>
            <p:cNvSpPr>
              <a:spLocks noChangeShapeType="1"/>
            </p:cNvSpPr>
            <p:nvPr/>
          </p:nvSpPr>
          <p:spPr bwMode="auto">
            <a:xfrm>
              <a:off x="6586297" y="1571625"/>
              <a:ext cx="35919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1" name="Text Box 42"/>
            <p:cNvSpPr txBox="1">
              <a:spLocks noChangeArrowheads="1"/>
            </p:cNvSpPr>
            <p:nvPr/>
          </p:nvSpPr>
          <p:spPr bwMode="auto">
            <a:xfrm>
              <a:off x="3261206" y="2371725"/>
              <a:ext cx="554182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k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5392" name="Line 43"/>
            <p:cNvSpPr>
              <a:spLocks noChangeShapeType="1"/>
            </p:cNvSpPr>
            <p:nvPr/>
          </p:nvSpPr>
          <p:spPr bwMode="auto">
            <a:xfrm flipH="1" flipV="1">
              <a:off x="2522297" y="2171700"/>
              <a:ext cx="741988" cy="4033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3" name="Line 44"/>
            <p:cNvSpPr>
              <a:spLocks noChangeShapeType="1"/>
            </p:cNvSpPr>
            <p:nvPr/>
          </p:nvSpPr>
          <p:spPr bwMode="auto">
            <a:xfrm>
              <a:off x="6032115" y="2171700"/>
              <a:ext cx="3694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4" name="Line 45"/>
            <p:cNvSpPr>
              <a:spLocks noChangeShapeType="1"/>
            </p:cNvSpPr>
            <p:nvPr/>
          </p:nvSpPr>
          <p:spPr bwMode="auto">
            <a:xfrm>
              <a:off x="4923752" y="1571625"/>
              <a:ext cx="554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5" name="Line 46"/>
            <p:cNvSpPr>
              <a:spLocks noChangeShapeType="1"/>
            </p:cNvSpPr>
            <p:nvPr/>
          </p:nvSpPr>
          <p:spPr bwMode="auto">
            <a:xfrm flipV="1">
              <a:off x="2860964" y="1371600"/>
              <a:ext cx="0" cy="8001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6" name="Line 47"/>
            <p:cNvSpPr>
              <a:spLocks noChangeShapeType="1"/>
            </p:cNvSpPr>
            <p:nvPr/>
          </p:nvSpPr>
          <p:spPr bwMode="auto">
            <a:xfrm>
              <a:off x="2860964" y="1371600"/>
              <a:ext cx="27709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7" name="Line 48"/>
            <p:cNvSpPr>
              <a:spLocks noChangeShapeType="1"/>
            </p:cNvSpPr>
            <p:nvPr/>
          </p:nvSpPr>
          <p:spPr bwMode="auto">
            <a:xfrm>
              <a:off x="5631873" y="1371600"/>
              <a:ext cx="0" cy="6000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398" name="Text Box 49"/>
            <p:cNvSpPr txBox="1">
              <a:spLocks noChangeArrowheads="1"/>
            </p:cNvSpPr>
            <p:nvPr/>
          </p:nvSpPr>
          <p:spPr bwMode="auto">
            <a:xfrm>
              <a:off x="5077691" y="2371725"/>
              <a:ext cx="1293091" cy="600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p-&gt;next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5399" name="Text Box 50"/>
            <p:cNvSpPr txBox="1">
              <a:spLocks noChangeArrowheads="1"/>
            </p:cNvSpPr>
            <p:nvPr/>
          </p:nvSpPr>
          <p:spPr bwMode="auto">
            <a:xfrm>
              <a:off x="7772400" y="2514600"/>
              <a:ext cx="990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  <a:endParaRPr lang="en-US"/>
            </a:p>
          </p:txBody>
        </p:sp>
      </p:grp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0450" y="228600"/>
            <a:ext cx="7904163" cy="6440488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>
                <a:solidFill>
                  <a:schemeClr val="tx1"/>
                </a:solidFill>
              </a:rPr>
              <a:t>	</a:t>
            </a:r>
            <a:r>
              <a:rPr lang="bg-BG" sz="2800">
                <a:solidFill>
                  <a:schemeClr val="tx1"/>
                </a:solidFill>
              </a:rPr>
              <a:t>Изключване на елемент с ключова стойност </a:t>
            </a:r>
            <a:r>
              <a:rPr lang="bg-BG" sz="2800" b="1">
                <a:solidFill>
                  <a:schemeClr val="tx1"/>
                </a:solidFill>
              </a:rPr>
              <a:t>n</a:t>
            </a:r>
            <a:r>
              <a:rPr lang="bg-BG" sz="2800">
                <a:solidFill>
                  <a:schemeClr val="tx1"/>
                </a:solidFill>
              </a:rPr>
              <a:t> в средата на списък (известно е, че елементът съществува):</a:t>
            </a: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>
                <a:solidFill>
                  <a:schemeClr val="tx1"/>
                </a:solidFill>
              </a:rPr>
              <a:t/>
            </a:r>
            <a:br>
              <a:rPr lang="bg-BG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en-US" sz="2000" smtClean="0">
                <a:solidFill>
                  <a:schemeClr val="tx1"/>
                </a:solidFill>
              </a:rPr>
              <a:t/>
            </a:r>
            <a:br>
              <a:rPr lang="en-US" sz="2000" smtClean="0">
                <a:solidFill>
                  <a:schemeClr val="tx1"/>
                </a:solidFill>
              </a:rPr>
            </a:br>
            <a:r>
              <a:rPr lang="en-US" sz="2000" smtClean="0">
                <a:solidFill>
                  <a:schemeClr val="tx1"/>
                </a:solidFill>
              </a:rPr>
              <a:t/>
            </a:r>
            <a:br>
              <a:rPr lang="en-US" sz="2000" smtClean="0">
                <a:solidFill>
                  <a:schemeClr val="tx1"/>
                </a:solidFill>
              </a:rPr>
            </a:br>
            <a:r>
              <a:rPr lang="bg-BG" sz="1800" smtClean="0">
                <a:solidFill>
                  <a:schemeClr val="tx1"/>
                </a:solidFill>
                <a:latin typeface="Courier New" pitchFamily="49" charset="0"/>
              </a:rPr>
              <a:t>void </a:t>
            </a: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del3(int &amp;n)	//Ключовата стойност на изтрития елемент 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{			//се връща в главната функция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elem *q;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while (p-&gt;key!=n)	//търсене на елемента със стойност n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{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q=p;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 p=p-&gt;next;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    }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n=p-&gt;key;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q-&gt;next=p-&gt;next;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  delete p;		//изтриване на елемента *p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1800">
                <a:solidFill>
                  <a:schemeClr val="tx1"/>
                </a:solidFill>
                <a:latin typeface="Courier New" pitchFamily="49" charset="0"/>
              </a:rPr>
            </a:br>
            <a:endParaRPr lang="bg-BG" sz="180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16387" name="Group 49"/>
          <p:cNvGrpSpPr>
            <a:grpSpLocks/>
          </p:cNvGrpSpPr>
          <p:nvPr/>
        </p:nvGrpSpPr>
        <p:grpSpPr bwMode="auto">
          <a:xfrm>
            <a:off x="2181225" y="1360488"/>
            <a:ext cx="6400800" cy="1828800"/>
            <a:chOff x="2438400" y="1219200"/>
            <a:chExt cx="6400800" cy="1828800"/>
          </a:xfrm>
        </p:grpSpPr>
        <p:sp>
          <p:nvSpPr>
            <p:cNvPr id="16388" name="Line 4"/>
            <p:cNvSpPr>
              <a:spLocks noChangeShapeType="1"/>
            </p:cNvSpPr>
            <p:nvPr/>
          </p:nvSpPr>
          <p:spPr bwMode="auto">
            <a:xfrm>
              <a:off x="7319818" y="1447800"/>
              <a:ext cx="162714" cy="12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389" name="Line 5"/>
            <p:cNvSpPr>
              <a:spLocks noChangeShapeType="1"/>
            </p:cNvSpPr>
            <p:nvPr/>
          </p:nvSpPr>
          <p:spPr bwMode="auto">
            <a:xfrm>
              <a:off x="6348922" y="1447800"/>
              <a:ext cx="1078" cy="4254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6390" name="Group 6"/>
            <p:cNvGrpSpPr>
              <a:grpSpLocks/>
            </p:cNvGrpSpPr>
            <p:nvPr/>
          </p:nvGrpSpPr>
          <p:grpSpPr bwMode="auto">
            <a:xfrm>
              <a:off x="7675418" y="1905000"/>
              <a:ext cx="1163782" cy="457200"/>
              <a:chOff x="1161" y="8104"/>
              <a:chExt cx="1080" cy="360"/>
            </a:xfrm>
          </p:grpSpPr>
          <p:sp>
            <p:nvSpPr>
              <p:cNvPr id="16430" name="Rectangle 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31" name="Rectangle 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6391" name="Group 9"/>
            <p:cNvGrpSpPr>
              <a:grpSpLocks/>
            </p:cNvGrpSpPr>
            <p:nvPr/>
          </p:nvGrpSpPr>
          <p:grpSpPr bwMode="auto">
            <a:xfrm>
              <a:off x="5962073" y="1905000"/>
              <a:ext cx="1163782" cy="457200"/>
              <a:chOff x="1161" y="8104"/>
              <a:chExt cx="1080" cy="360"/>
            </a:xfrm>
          </p:grpSpPr>
          <p:sp>
            <p:nvSpPr>
              <p:cNvPr id="16428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9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6392" name="Text Box 12"/>
            <p:cNvSpPr txBox="1">
              <a:spLocks noChangeArrowheads="1"/>
            </p:cNvSpPr>
            <p:nvPr/>
          </p:nvSpPr>
          <p:spPr bwMode="auto">
            <a:xfrm>
              <a:off x="2858655" y="1409700"/>
              <a:ext cx="581891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 b="1">
                  <a:latin typeface="Courier New" pitchFamily="49" charset="0"/>
                </a:rPr>
                <a:t>q</a:t>
              </a:r>
              <a:endParaRPr lang="bg-BG" sz="1000">
                <a:latin typeface="Courier New" pitchFamily="49" charset="0"/>
              </a:endParaRPr>
            </a:p>
          </p:txBody>
        </p:sp>
        <p:grpSp>
          <p:nvGrpSpPr>
            <p:cNvPr id="16393" name="Group 13"/>
            <p:cNvGrpSpPr>
              <a:grpSpLocks/>
            </p:cNvGrpSpPr>
            <p:nvPr/>
          </p:nvGrpSpPr>
          <p:grpSpPr bwMode="auto">
            <a:xfrm>
              <a:off x="2664691" y="1887220"/>
              <a:ext cx="1163782" cy="457200"/>
              <a:chOff x="1161" y="8104"/>
              <a:chExt cx="1080" cy="360"/>
            </a:xfrm>
          </p:grpSpPr>
          <p:sp>
            <p:nvSpPr>
              <p:cNvPr id="16426" name="Rectangle 14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7" name="Rectangle 15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6394" name="Group 16"/>
            <p:cNvGrpSpPr>
              <a:grpSpLocks/>
            </p:cNvGrpSpPr>
            <p:nvPr/>
          </p:nvGrpSpPr>
          <p:grpSpPr bwMode="auto">
            <a:xfrm>
              <a:off x="4410364" y="1887220"/>
              <a:ext cx="1163782" cy="457200"/>
              <a:chOff x="1161" y="8104"/>
              <a:chExt cx="1080" cy="360"/>
            </a:xfrm>
          </p:grpSpPr>
          <p:sp>
            <p:nvSpPr>
              <p:cNvPr id="16424" name="Rectangle 1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5" name="Rectangle 1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6395" name="Line 19"/>
            <p:cNvSpPr>
              <a:spLocks noChangeShapeType="1"/>
            </p:cNvSpPr>
            <p:nvPr/>
          </p:nvSpPr>
          <p:spPr bwMode="auto">
            <a:xfrm flipV="1">
              <a:off x="7319818" y="1430020"/>
              <a:ext cx="0" cy="685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396" name="Line 20"/>
            <p:cNvSpPr>
              <a:spLocks noChangeShapeType="1"/>
            </p:cNvSpPr>
            <p:nvPr/>
          </p:nvSpPr>
          <p:spPr bwMode="auto">
            <a:xfrm>
              <a:off x="4022436" y="1447800"/>
              <a:ext cx="5818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397" name="Line 21"/>
            <p:cNvSpPr>
              <a:spLocks noChangeShapeType="1"/>
            </p:cNvSpPr>
            <p:nvPr/>
          </p:nvSpPr>
          <p:spPr bwMode="auto">
            <a:xfrm>
              <a:off x="2858655" y="143002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398" name="Line 22"/>
            <p:cNvSpPr>
              <a:spLocks noChangeShapeType="1"/>
            </p:cNvSpPr>
            <p:nvPr/>
          </p:nvSpPr>
          <p:spPr bwMode="auto">
            <a:xfrm>
              <a:off x="3634509" y="2115820"/>
              <a:ext cx="387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399" name="Line 23"/>
            <p:cNvSpPr>
              <a:spLocks noChangeShapeType="1"/>
            </p:cNvSpPr>
            <p:nvPr/>
          </p:nvSpPr>
          <p:spPr bwMode="auto">
            <a:xfrm flipV="1">
              <a:off x="4022436" y="1430020"/>
              <a:ext cx="0" cy="685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0" name="Line 24"/>
            <p:cNvSpPr>
              <a:spLocks noChangeShapeType="1"/>
            </p:cNvSpPr>
            <p:nvPr/>
          </p:nvSpPr>
          <p:spPr bwMode="auto">
            <a:xfrm>
              <a:off x="2664691" y="1430020"/>
              <a:ext cx="183188" cy="177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1" name="Line 25"/>
            <p:cNvSpPr>
              <a:spLocks noChangeShapeType="1"/>
            </p:cNvSpPr>
            <p:nvPr/>
          </p:nvSpPr>
          <p:spPr bwMode="auto">
            <a:xfrm>
              <a:off x="4604327" y="143002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2" name="Line 26"/>
            <p:cNvSpPr>
              <a:spLocks noChangeShapeType="1"/>
            </p:cNvSpPr>
            <p:nvPr/>
          </p:nvSpPr>
          <p:spPr bwMode="auto">
            <a:xfrm>
              <a:off x="2438400" y="1447800"/>
              <a:ext cx="2047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3" name="Line 27"/>
            <p:cNvSpPr>
              <a:spLocks noChangeShapeType="1"/>
            </p:cNvSpPr>
            <p:nvPr/>
          </p:nvSpPr>
          <p:spPr bwMode="auto">
            <a:xfrm>
              <a:off x="5380182" y="2133600"/>
              <a:ext cx="387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4" name="Line 28"/>
            <p:cNvSpPr>
              <a:spLocks noChangeShapeType="1"/>
            </p:cNvSpPr>
            <p:nvPr/>
          </p:nvSpPr>
          <p:spPr bwMode="auto">
            <a:xfrm flipV="1">
              <a:off x="5768109" y="1447800"/>
              <a:ext cx="0" cy="685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5" name="Line 29"/>
            <p:cNvSpPr>
              <a:spLocks noChangeShapeType="1"/>
            </p:cNvSpPr>
            <p:nvPr/>
          </p:nvSpPr>
          <p:spPr bwMode="auto">
            <a:xfrm>
              <a:off x="8095673" y="144780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6" name="Line 30"/>
            <p:cNvSpPr>
              <a:spLocks noChangeShapeType="1"/>
            </p:cNvSpPr>
            <p:nvPr/>
          </p:nvSpPr>
          <p:spPr bwMode="auto">
            <a:xfrm>
              <a:off x="8648469" y="2133600"/>
              <a:ext cx="1078" cy="6210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6407" name="Group 31"/>
            <p:cNvGrpSpPr>
              <a:grpSpLocks/>
            </p:cNvGrpSpPr>
            <p:nvPr/>
          </p:nvGrpSpPr>
          <p:grpSpPr bwMode="auto">
            <a:xfrm>
              <a:off x="8591358" y="2777490"/>
              <a:ext cx="112068" cy="95250"/>
              <a:chOff x="0" y="0"/>
              <a:chExt cx="20000" cy="19987"/>
            </a:xfrm>
          </p:grpSpPr>
          <p:sp>
            <p:nvSpPr>
              <p:cNvPr id="16421" name="Line 32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2" name="Line 33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423" name="Line 34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6408" name="Line 35"/>
            <p:cNvSpPr>
              <a:spLocks noChangeShapeType="1"/>
            </p:cNvSpPr>
            <p:nvPr/>
          </p:nvSpPr>
          <p:spPr bwMode="auto">
            <a:xfrm flipV="1">
              <a:off x="4378036" y="1447800"/>
              <a:ext cx="969818" cy="1600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09" name="Line 36"/>
            <p:cNvSpPr>
              <a:spLocks noChangeShapeType="1"/>
            </p:cNvSpPr>
            <p:nvPr/>
          </p:nvSpPr>
          <p:spPr bwMode="auto">
            <a:xfrm>
              <a:off x="4184073" y="1676400"/>
              <a:ext cx="1357745" cy="1143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0" name="Text Box 37"/>
            <p:cNvSpPr txBox="1">
              <a:spLocks noChangeArrowheads="1"/>
            </p:cNvSpPr>
            <p:nvPr/>
          </p:nvSpPr>
          <p:spPr bwMode="auto">
            <a:xfrm>
              <a:off x="4604327" y="1397000"/>
              <a:ext cx="581891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</a:p>
          </p:txBody>
        </p:sp>
        <p:sp>
          <p:nvSpPr>
            <p:cNvPr id="16411" name="Text Box 38"/>
            <p:cNvSpPr txBox="1">
              <a:spLocks noChangeArrowheads="1"/>
            </p:cNvSpPr>
            <p:nvPr/>
          </p:nvSpPr>
          <p:spPr bwMode="auto">
            <a:xfrm>
              <a:off x="4604327" y="1841500"/>
              <a:ext cx="581891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  <a:endParaRPr lang="bg-BG" sz="1000" b="1">
                <a:latin typeface="Courier New" pitchFamily="49" charset="0"/>
              </a:endParaRPr>
            </a:p>
          </p:txBody>
        </p:sp>
        <p:sp>
          <p:nvSpPr>
            <p:cNvPr id="16412" name="Line 39"/>
            <p:cNvSpPr>
              <a:spLocks noChangeShapeType="1"/>
            </p:cNvSpPr>
            <p:nvPr/>
          </p:nvSpPr>
          <p:spPr bwMode="auto">
            <a:xfrm>
              <a:off x="7912485" y="1447800"/>
              <a:ext cx="1831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3" name="Line 40"/>
            <p:cNvSpPr>
              <a:spLocks noChangeShapeType="1"/>
            </p:cNvSpPr>
            <p:nvPr/>
          </p:nvSpPr>
          <p:spPr bwMode="auto">
            <a:xfrm>
              <a:off x="7513782" y="1447800"/>
              <a:ext cx="3771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4" name="Line 41"/>
            <p:cNvSpPr>
              <a:spLocks noChangeShapeType="1"/>
            </p:cNvSpPr>
            <p:nvPr/>
          </p:nvSpPr>
          <p:spPr bwMode="auto">
            <a:xfrm>
              <a:off x="6931891" y="2133600"/>
              <a:ext cx="3879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5" name="Line 42"/>
            <p:cNvSpPr>
              <a:spLocks noChangeShapeType="1"/>
            </p:cNvSpPr>
            <p:nvPr/>
          </p:nvSpPr>
          <p:spPr bwMode="auto">
            <a:xfrm>
              <a:off x="5768109" y="1447800"/>
              <a:ext cx="5818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6" name="Line 43"/>
            <p:cNvSpPr>
              <a:spLocks noChangeShapeType="1"/>
            </p:cNvSpPr>
            <p:nvPr/>
          </p:nvSpPr>
          <p:spPr bwMode="auto">
            <a:xfrm flipV="1">
              <a:off x="3602182" y="1219200"/>
              <a:ext cx="0" cy="914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7" name="Line 44"/>
            <p:cNvSpPr>
              <a:spLocks noChangeShapeType="1"/>
            </p:cNvSpPr>
            <p:nvPr/>
          </p:nvSpPr>
          <p:spPr bwMode="auto">
            <a:xfrm>
              <a:off x="3602182" y="1219200"/>
              <a:ext cx="29094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8" name="Line 45"/>
            <p:cNvSpPr>
              <a:spLocks noChangeShapeType="1"/>
            </p:cNvSpPr>
            <p:nvPr/>
          </p:nvSpPr>
          <p:spPr bwMode="auto">
            <a:xfrm>
              <a:off x="6511636" y="1219200"/>
              <a:ext cx="0" cy="685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419" name="Text Box 46"/>
            <p:cNvSpPr txBox="1">
              <a:spLocks noChangeArrowheads="1"/>
            </p:cNvSpPr>
            <p:nvPr/>
          </p:nvSpPr>
          <p:spPr bwMode="auto">
            <a:xfrm>
              <a:off x="5929745" y="2362200"/>
              <a:ext cx="1357745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p-&gt;next</a:t>
              </a:r>
            </a:p>
          </p:txBody>
        </p:sp>
        <p:sp>
          <p:nvSpPr>
            <p:cNvPr id="16420" name="Text Box 47"/>
            <p:cNvSpPr txBox="1">
              <a:spLocks noChangeArrowheads="1"/>
            </p:cNvSpPr>
            <p:nvPr/>
          </p:nvSpPr>
          <p:spPr bwMode="auto">
            <a:xfrm>
              <a:off x="7848600" y="2438400"/>
              <a:ext cx="838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NULL</a:t>
              </a:r>
              <a:endParaRPr lang="en-US"/>
            </a:p>
          </p:txBody>
        </p:sp>
      </p:grp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314325"/>
            <a:ext cx="7935912" cy="644525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>
                <a:solidFill>
                  <a:schemeClr val="tx1"/>
                </a:solidFill>
              </a:rPr>
              <a:t>	</a:t>
            </a:r>
            <a:br>
              <a:rPr lang="en-US" sz="2800">
                <a:solidFill>
                  <a:schemeClr val="tx1"/>
                </a:solidFill>
              </a:rPr>
            </a:br>
            <a:r>
              <a:rPr lang="en-US" sz="2800">
                <a:solidFill>
                  <a:schemeClr val="tx1"/>
                </a:solidFill>
              </a:rPr>
              <a:t>	</a:t>
            </a:r>
            <a:r>
              <a:rPr lang="bg-BG" sz="2800">
                <a:solidFill>
                  <a:schemeClr val="tx1"/>
                </a:solidFill>
              </a:rPr>
              <a:t>Изключване на елемент в средата на списък след друг, чиято ключова стойност е </a:t>
            </a:r>
            <a:r>
              <a:rPr lang="bg-BG" sz="2800" b="1">
                <a:solidFill>
                  <a:schemeClr val="tx1"/>
                </a:solidFill>
              </a:rPr>
              <a:t>k (</a:t>
            </a:r>
            <a:r>
              <a:rPr lang="bg-BG" sz="2800">
                <a:solidFill>
                  <a:schemeClr val="tx1"/>
                </a:solidFill>
              </a:rPr>
              <a:t>известно е, че елементът съществува):</a:t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/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/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/>
            </a:r>
            <a:br>
              <a:rPr lang="bg-BG" sz="2800">
                <a:solidFill>
                  <a:schemeClr val="tx1"/>
                </a:solidFill>
              </a:rPr>
            </a:br>
            <a:r>
              <a:rPr lang="bg-BG" sz="2800">
                <a:solidFill>
                  <a:schemeClr val="tx1"/>
                </a:solidFill>
              </a:rPr>
              <a:t/>
            </a:r>
            <a:br>
              <a:rPr lang="bg-BG" sz="2800">
                <a:solidFill>
                  <a:schemeClr val="tx1"/>
                </a:solidFill>
              </a:rPr>
            </a:br>
            <a:r>
              <a:rPr lang="en-US" sz="2800" smtClean="0">
                <a:solidFill>
                  <a:schemeClr val="tx1"/>
                </a:solidFill>
              </a:rPr>
              <a:t/>
            </a:r>
            <a:br>
              <a:rPr lang="en-US" sz="2800" smtClean="0">
                <a:solidFill>
                  <a:schemeClr val="tx1"/>
                </a:solidFill>
              </a:rPr>
            </a:b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void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del4(int &amp;n, int k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)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Ключовата стойност на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				//изтрития елемент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се 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		//връща в главната функция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*q;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while (p-&gt;key!=k)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търсене на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елемент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p=</a:t>
            </a:r>
            <a:r>
              <a:rPr lang="en-US" sz="2000">
                <a:solidFill>
                  <a:schemeClr val="tx1"/>
                </a:solidFill>
                <a:latin typeface="Courier New" pitchFamily="49" charset="0"/>
              </a:rPr>
              <a:t>p-&gt;next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;	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със стойност n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q=p-&gt;next;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n=q-&gt;key;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p-&gt;next=q-&gt;next;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пренасочване на връзката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delete q;			//изтриване на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елемент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a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endParaRPr lang="en-US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17411" name="Group 51"/>
          <p:cNvGrpSpPr>
            <a:grpSpLocks/>
          </p:cNvGrpSpPr>
          <p:nvPr/>
        </p:nvGrpSpPr>
        <p:grpSpPr bwMode="auto">
          <a:xfrm>
            <a:off x="1763713" y="1622425"/>
            <a:ext cx="6629400" cy="1463675"/>
            <a:chOff x="1905000" y="1524000"/>
            <a:chExt cx="6629400" cy="1463675"/>
          </a:xfrm>
        </p:grpSpPr>
        <p:sp>
          <p:nvSpPr>
            <p:cNvPr id="17412" name="Line 4"/>
            <p:cNvSpPr>
              <a:spLocks noChangeShapeType="1"/>
            </p:cNvSpPr>
            <p:nvPr/>
          </p:nvSpPr>
          <p:spPr bwMode="auto">
            <a:xfrm>
              <a:off x="6030961" y="1704975"/>
              <a:ext cx="137532" cy="10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13" name="Line 5"/>
            <p:cNvSpPr>
              <a:spLocks noChangeShapeType="1"/>
            </p:cNvSpPr>
            <p:nvPr/>
          </p:nvSpPr>
          <p:spPr bwMode="auto">
            <a:xfrm>
              <a:off x="5210323" y="1704975"/>
              <a:ext cx="911" cy="3368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14" name="Group 6"/>
            <p:cNvGrpSpPr>
              <a:grpSpLocks/>
            </p:cNvGrpSpPr>
            <p:nvPr/>
          </p:nvGrpSpPr>
          <p:grpSpPr bwMode="auto">
            <a:xfrm>
              <a:off x="6331527" y="2066925"/>
              <a:ext cx="983673" cy="361950"/>
              <a:chOff x="1161" y="8104"/>
              <a:chExt cx="1080" cy="360"/>
            </a:xfrm>
          </p:grpSpPr>
          <p:sp>
            <p:nvSpPr>
              <p:cNvPr id="17456" name="Rectangle 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57" name="Rectangle 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15" name="Group 9"/>
            <p:cNvGrpSpPr>
              <a:grpSpLocks/>
            </p:cNvGrpSpPr>
            <p:nvPr/>
          </p:nvGrpSpPr>
          <p:grpSpPr bwMode="auto">
            <a:xfrm>
              <a:off x="4883342" y="2066925"/>
              <a:ext cx="983673" cy="361950"/>
              <a:chOff x="1161" y="8104"/>
              <a:chExt cx="1080" cy="360"/>
            </a:xfrm>
          </p:grpSpPr>
          <p:sp>
            <p:nvSpPr>
              <p:cNvPr id="17454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55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16" name="Text Box 12"/>
            <p:cNvSpPr txBox="1">
              <a:spLocks noChangeArrowheads="1"/>
            </p:cNvSpPr>
            <p:nvPr/>
          </p:nvSpPr>
          <p:spPr bwMode="auto">
            <a:xfrm>
              <a:off x="2260215" y="1674813"/>
              <a:ext cx="491836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</a:p>
          </p:txBody>
        </p:sp>
        <p:grpSp>
          <p:nvGrpSpPr>
            <p:cNvPr id="17417" name="Group 13"/>
            <p:cNvGrpSpPr>
              <a:grpSpLocks/>
            </p:cNvGrpSpPr>
            <p:nvPr/>
          </p:nvGrpSpPr>
          <p:grpSpPr bwMode="auto">
            <a:xfrm>
              <a:off x="2096270" y="2052849"/>
              <a:ext cx="983673" cy="361950"/>
              <a:chOff x="1161" y="8104"/>
              <a:chExt cx="1080" cy="360"/>
            </a:xfrm>
          </p:grpSpPr>
          <p:sp>
            <p:nvSpPr>
              <p:cNvPr id="17452" name="Rectangle 14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53" name="Rectangle 15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7418" name="Group 16"/>
            <p:cNvGrpSpPr>
              <a:grpSpLocks/>
            </p:cNvGrpSpPr>
            <p:nvPr/>
          </p:nvGrpSpPr>
          <p:grpSpPr bwMode="auto">
            <a:xfrm>
              <a:off x="3571779" y="2052849"/>
              <a:ext cx="983673" cy="361950"/>
              <a:chOff x="1161" y="8104"/>
              <a:chExt cx="1080" cy="360"/>
            </a:xfrm>
          </p:grpSpPr>
          <p:sp>
            <p:nvSpPr>
              <p:cNvPr id="17450" name="Rectangle 1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51" name="Rectangle 1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19" name="Line 19"/>
            <p:cNvSpPr>
              <a:spLocks noChangeShapeType="1"/>
            </p:cNvSpPr>
            <p:nvPr/>
          </p:nvSpPr>
          <p:spPr bwMode="auto">
            <a:xfrm flipV="1">
              <a:off x="6030961" y="1690899"/>
              <a:ext cx="0" cy="542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0" name="Line 20"/>
            <p:cNvSpPr>
              <a:spLocks noChangeShapeType="1"/>
            </p:cNvSpPr>
            <p:nvPr/>
          </p:nvSpPr>
          <p:spPr bwMode="auto">
            <a:xfrm>
              <a:off x="3243888" y="1704975"/>
              <a:ext cx="4918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1" name="Line 21"/>
            <p:cNvSpPr>
              <a:spLocks noChangeShapeType="1"/>
            </p:cNvSpPr>
            <p:nvPr/>
          </p:nvSpPr>
          <p:spPr bwMode="auto">
            <a:xfrm>
              <a:off x="2260215" y="1690899"/>
              <a:ext cx="0" cy="361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2" name="Line 22"/>
            <p:cNvSpPr>
              <a:spLocks noChangeShapeType="1"/>
            </p:cNvSpPr>
            <p:nvPr/>
          </p:nvSpPr>
          <p:spPr bwMode="auto">
            <a:xfrm>
              <a:off x="2915997" y="2233824"/>
              <a:ext cx="3278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3" name="Line 23"/>
            <p:cNvSpPr>
              <a:spLocks noChangeShapeType="1"/>
            </p:cNvSpPr>
            <p:nvPr/>
          </p:nvSpPr>
          <p:spPr bwMode="auto">
            <a:xfrm flipV="1">
              <a:off x="3243888" y="1690899"/>
              <a:ext cx="0" cy="542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4" name="Line 24"/>
            <p:cNvSpPr>
              <a:spLocks noChangeShapeType="1"/>
            </p:cNvSpPr>
            <p:nvPr/>
          </p:nvSpPr>
          <p:spPr bwMode="auto">
            <a:xfrm>
              <a:off x="2096270" y="1690899"/>
              <a:ext cx="154837" cy="140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5" name="Line 25"/>
            <p:cNvSpPr>
              <a:spLocks noChangeShapeType="1"/>
            </p:cNvSpPr>
            <p:nvPr/>
          </p:nvSpPr>
          <p:spPr bwMode="auto">
            <a:xfrm>
              <a:off x="3735724" y="1690899"/>
              <a:ext cx="0" cy="361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6" name="Line 26"/>
            <p:cNvSpPr>
              <a:spLocks noChangeShapeType="1"/>
            </p:cNvSpPr>
            <p:nvPr/>
          </p:nvSpPr>
          <p:spPr bwMode="auto">
            <a:xfrm>
              <a:off x="1905000" y="1704975"/>
              <a:ext cx="1730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7" name="Line 27"/>
            <p:cNvSpPr>
              <a:spLocks noChangeShapeType="1"/>
            </p:cNvSpPr>
            <p:nvPr/>
          </p:nvSpPr>
          <p:spPr bwMode="auto">
            <a:xfrm>
              <a:off x="4391506" y="2247900"/>
              <a:ext cx="3278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8" name="Line 28"/>
            <p:cNvSpPr>
              <a:spLocks noChangeShapeType="1"/>
            </p:cNvSpPr>
            <p:nvPr/>
          </p:nvSpPr>
          <p:spPr bwMode="auto">
            <a:xfrm flipV="1">
              <a:off x="4719397" y="1704975"/>
              <a:ext cx="0" cy="542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29" name="Line 29"/>
            <p:cNvSpPr>
              <a:spLocks noChangeShapeType="1"/>
            </p:cNvSpPr>
            <p:nvPr/>
          </p:nvSpPr>
          <p:spPr bwMode="auto">
            <a:xfrm>
              <a:off x="6686742" y="1704975"/>
              <a:ext cx="0" cy="3619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0" name="Line 30"/>
            <p:cNvSpPr>
              <a:spLocks noChangeShapeType="1"/>
            </p:cNvSpPr>
            <p:nvPr/>
          </p:nvSpPr>
          <p:spPr bwMode="auto">
            <a:xfrm>
              <a:off x="7153987" y="2247900"/>
              <a:ext cx="911" cy="4916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7431" name="Group 31"/>
            <p:cNvGrpSpPr>
              <a:grpSpLocks/>
            </p:cNvGrpSpPr>
            <p:nvPr/>
          </p:nvGrpSpPr>
          <p:grpSpPr bwMode="auto">
            <a:xfrm>
              <a:off x="7105714" y="2757646"/>
              <a:ext cx="94724" cy="75406"/>
              <a:chOff x="0" y="0"/>
              <a:chExt cx="20000" cy="19987"/>
            </a:xfrm>
          </p:grpSpPr>
          <p:sp>
            <p:nvSpPr>
              <p:cNvPr id="17447" name="Line 32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48" name="Line 33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449" name="Line 34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7432" name="Line 35"/>
            <p:cNvSpPr>
              <a:spLocks noChangeShapeType="1"/>
            </p:cNvSpPr>
            <p:nvPr/>
          </p:nvSpPr>
          <p:spPr bwMode="auto">
            <a:xfrm flipV="1">
              <a:off x="3544455" y="1704975"/>
              <a:ext cx="819727" cy="1266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3" name="Line 36"/>
            <p:cNvSpPr>
              <a:spLocks noChangeShapeType="1"/>
            </p:cNvSpPr>
            <p:nvPr/>
          </p:nvSpPr>
          <p:spPr bwMode="auto">
            <a:xfrm>
              <a:off x="3380509" y="1885950"/>
              <a:ext cx="1147618" cy="904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4" name="Text Box 37"/>
            <p:cNvSpPr txBox="1">
              <a:spLocks noChangeArrowheads="1"/>
            </p:cNvSpPr>
            <p:nvPr/>
          </p:nvSpPr>
          <p:spPr bwMode="auto">
            <a:xfrm>
              <a:off x="3735724" y="1664758"/>
              <a:ext cx="491836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q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7435" name="Text Box 38"/>
            <p:cNvSpPr txBox="1">
              <a:spLocks noChangeArrowheads="1"/>
            </p:cNvSpPr>
            <p:nvPr/>
          </p:nvSpPr>
          <p:spPr bwMode="auto">
            <a:xfrm>
              <a:off x="3735724" y="2016654"/>
              <a:ext cx="491836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bg-BG" sz="2000" b="1"/>
            </a:p>
          </p:txBody>
        </p:sp>
        <p:sp>
          <p:nvSpPr>
            <p:cNvPr id="17436" name="Line 39"/>
            <p:cNvSpPr>
              <a:spLocks noChangeShapeType="1"/>
            </p:cNvSpPr>
            <p:nvPr/>
          </p:nvSpPr>
          <p:spPr bwMode="auto">
            <a:xfrm>
              <a:off x="6531905" y="1704975"/>
              <a:ext cx="1548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7" name="Line 40"/>
            <p:cNvSpPr>
              <a:spLocks noChangeShapeType="1"/>
            </p:cNvSpPr>
            <p:nvPr/>
          </p:nvSpPr>
          <p:spPr bwMode="auto">
            <a:xfrm>
              <a:off x="6194906" y="1704975"/>
              <a:ext cx="31878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8" name="Line 41"/>
            <p:cNvSpPr>
              <a:spLocks noChangeShapeType="1"/>
            </p:cNvSpPr>
            <p:nvPr/>
          </p:nvSpPr>
          <p:spPr bwMode="auto">
            <a:xfrm>
              <a:off x="5703070" y="2247900"/>
              <a:ext cx="3278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39" name="Line 42"/>
            <p:cNvSpPr>
              <a:spLocks noChangeShapeType="1"/>
            </p:cNvSpPr>
            <p:nvPr/>
          </p:nvSpPr>
          <p:spPr bwMode="auto">
            <a:xfrm>
              <a:off x="4719397" y="1704975"/>
              <a:ext cx="4918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0" name="Line 43"/>
            <p:cNvSpPr>
              <a:spLocks noChangeShapeType="1"/>
            </p:cNvSpPr>
            <p:nvPr/>
          </p:nvSpPr>
          <p:spPr bwMode="auto">
            <a:xfrm flipV="1">
              <a:off x="2888673" y="1524000"/>
              <a:ext cx="0" cy="723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1" name="Line 44"/>
            <p:cNvSpPr>
              <a:spLocks noChangeShapeType="1"/>
            </p:cNvSpPr>
            <p:nvPr/>
          </p:nvSpPr>
          <p:spPr bwMode="auto">
            <a:xfrm>
              <a:off x="2888673" y="1524000"/>
              <a:ext cx="24591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2" name="Line 45"/>
            <p:cNvSpPr>
              <a:spLocks noChangeShapeType="1"/>
            </p:cNvSpPr>
            <p:nvPr/>
          </p:nvSpPr>
          <p:spPr bwMode="auto">
            <a:xfrm>
              <a:off x="5347855" y="1524000"/>
              <a:ext cx="0" cy="542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7443" name="Text Box 46"/>
            <p:cNvSpPr txBox="1">
              <a:spLocks noChangeArrowheads="1"/>
            </p:cNvSpPr>
            <p:nvPr/>
          </p:nvSpPr>
          <p:spPr bwMode="auto">
            <a:xfrm>
              <a:off x="4856018" y="2428875"/>
              <a:ext cx="1147618" cy="542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>
                  <a:latin typeface="Courier New" pitchFamily="49" charset="0"/>
                </a:rPr>
                <a:t>q-&gt;next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17444" name="Text Box 47"/>
            <p:cNvSpPr txBox="1">
              <a:spLocks noChangeArrowheads="1"/>
            </p:cNvSpPr>
            <p:nvPr/>
          </p:nvSpPr>
          <p:spPr bwMode="auto">
            <a:xfrm>
              <a:off x="2286000" y="2006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k</a:t>
              </a:r>
              <a:endParaRPr lang="en-US"/>
            </a:p>
          </p:txBody>
        </p:sp>
        <p:sp>
          <p:nvSpPr>
            <p:cNvPr id="17445" name="Text Box 48"/>
            <p:cNvSpPr txBox="1">
              <a:spLocks noChangeArrowheads="1"/>
            </p:cNvSpPr>
            <p:nvPr/>
          </p:nvSpPr>
          <p:spPr bwMode="auto">
            <a:xfrm>
              <a:off x="3759200" y="2006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n</a:t>
              </a:r>
              <a:endParaRPr lang="en-US"/>
            </a:p>
          </p:txBody>
        </p:sp>
        <p:sp>
          <p:nvSpPr>
            <p:cNvPr id="17446" name="Text Box 49"/>
            <p:cNvSpPr txBox="1">
              <a:spLocks noChangeArrowheads="1"/>
            </p:cNvSpPr>
            <p:nvPr/>
          </p:nvSpPr>
          <p:spPr bwMode="auto">
            <a:xfrm>
              <a:off x="7315200" y="2590800"/>
              <a:ext cx="1219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  <a:endParaRPr lang="en-US"/>
            </a:p>
          </p:txBody>
        </p:sp>
      </p:grpSp>
      <p:sp>
        <p:nvSpPr>
          <p:cNvPr id="50" name="Slide Number Placeholder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2205038"/>
            <a:ext cx="7904162" cy="4351337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Изключване на последен елемент в списък, който не е празен: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400">
                <a:solidFill>
                  <a:schemeClr val="tx1"/>
                </a:solidFill>
              </a:rPr>
              <a:t/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int del5(int &amp;n) 		//Ключовата стойност на 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			//изтрития елемент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			  	//се връща в главната функция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*p=start, *q;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while (p-&gt;next)		//търсене на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последния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				//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елемент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q=p;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p=p-&gt;next;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n=p-&gt;key;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q-&gt;next=NULL;		//създаване на новия край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delete p;			//изтриване на елемента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435" name="Group 50"/>
          <p:cNvGrpSpPr>
            <a:grpSpLocks/>
          </p:cNvGrpSpPr>
          <p:nvPr/>
        </p:nvGrpSpPr>
        <p:grpSpPr bwMode="auto">
          <a:xfrm>
            <a:off x="1908175" y="1241425"/>
            <a:ext cx="6286500" cy="1616075"/>
            <a:chOff x="1905000" y="1066800"/>
            <a:chExt cx="6286500" cy="1616075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3062698" y="1112520"/>
              <a:ext cx="142124" cy="11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>
              <a:off x="5264208" y="1113692"/>
              <a:ext cx="941" cy="39272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8438" name="Group 6"/>
            <p:cNvGrpSpPr>
              <a:grpSpLocks/>
            </p:cNvGrpSpPr>
            <p:nvPr/>
          </p:nvGrpSpPr>
          <p:grpSpPr bwMode="auto">
            <a:xfrm>
              <a:off x="6281665" y="1535723"/>
              <a:ext cx="1016516" cy="422031"/>
              <a:chOff x="1161" y="8104"/>
              <a:chExt cx="1080" cy="360"/>
            </a:xfrm>
          </p:grpSpPr>
          <p:sp>
            <p:nvSpPr>
              <p:cNvPr id="18479" name="Rectangle 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80" name="Rectangle 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8439" name="Group 9"/>
            <p:cNvGrpSpPr>
              <a:grpSpLocks/>
            </p:cNvGrpSpPr>
            <p:nvPr/>
          </p:nvGrpSpPr>
          <p:grpSpPr bwMode="auto">
            <a:xfrm>
              <a:off x="4926311" y="1535723"/>
              <a:ext cx="1016516" cy="422031"/>
              <a:chOff x="1161" y="8104"/>
              <a:chExt cx="1080" cy="360"/>
            </a:xfrm>
          </p:grpSpPr>
          <p:sp>
            <p:nvSpPr>
              <p:cNvPr id="18477" name="Rectangle 10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78" name="Rectangle 11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8440" name="Text Box 12"/>
            <p:cNvSpPr txBox="1">
              <a:spLocks noChangeArrowheads="1"/>
            </p:cNvSpPr>
            <p:nvPr/>
          </p:nvSpPr>
          <p:spPr bwMode="auto">
            <a:xfrm>
              <a:off x="6620504" y="1078523"/>
              <a:ext cx="508258" cy="633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</a:t>
              </a:r>
              <a:endParaRPr lang="en-US" sz="1000">
                <a:latin typeface="Courier New" pitchFamily="49" charset="0"/>
              </a:endParaRPr>
            </a:p>
          </p:txBody>
        </p:sp>
        <p:grpSp>
          <p:nvGrpSpPr>
            <p:cNvPr id="18441" name="Group 13"/>
            <p:cNvGrpSpPr>
              <a:grpSpLocks/>
            </p:cNvGrpSpPr>
            <p:nvPr/>
          </p:nvGrpSpPr>
          <p:grpSpPr bwMode="auto">
            <a:xfrm>
              <a:off x="1905000" y="1519311"/>
              <a:ext cx="1016516" cy="422031"/>
              <a:chOff x="1161" y="8104"/>
              <a:chExt cx="1080" cy="360"/>
            </a:xfrm>
          </p:grpSpPr>
          <p:sp>
            <p:nvSpPr>
              <p:cNvPr id="18475" name="Rectangle 14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76" name="Rectangle 15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8442" name="Group 16"/>
            <p:cNvGrpSpPr>
              <a:grpSpLocks/>
            </p:cNvGrpSpPr>
            <p:nvPr/>
          </p:nvGrpSpPr>
          <p:grpSpPr bwMode="auto">
            <a:xfrm>
              <a:off x="3570956" y="1519311"/>
              <a:ext cx="1016516" cy="422031"/>
              <a:chOff x="1161" y="8104"/>
              <a:chExt cx="1080" cy="360"/>
            </a:xfrm>
          </p:grpSpPr>
          <p:sp>
            <p:nvSpPr>
              <p:cNvPr id="18473" name="Rectangle 17"/>
              <p:cNvSpPr>
                <a:spLocks noChangeArrowheads="1"/>
              </p:cNvSpPr>
              <p:nvPr/>
            </p:nvSpPr>
            <p:spPr bwMode="auto">
              <a:xfrm>
                <a:off x="1161" y="810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74" name="Rectangle 18"/>
              <p:cNvSpPr>
                <a:spLocks noChangeArrowheads="1"/>
              </p:cNvSpPr>
              <p:nvPr/>
            </p:nvSpPr>
            <p:spPr bwMode="auto">
              <a:xfrm>
                <a:off x="1881" y="8104"/>
                <a:ext cx="36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8443" name="Line 19"/>
            <p:cNvSpPr>
              <a:spLocks noChangeShapeType="1"/>
            </p:cNvSpPr>
            <p:nvPr/>
          </p:nvSpPr>
          <p:spPr bwMode="auto">
            <a:xfrm flipV="1">
              <a:off x="6112246" y="1097280"/>
              <a:ext cx="0" cy="633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4" name="Line 20"/>
            <p:cNvSpPr>
              <a:spLocks noChangeShapeType="1"/>
            </p:cNvSpPr>
            <p:nvPr/>
          </p:nvSpPr>
          <p:spPr bwMode="auto">
            <a:xfrm>
              <a:off x="2074419" y="1097280"/>
              <a:ext cx="0" cy="4220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5" name="Line 21"/>
            <p:cNvSpPr>
              <a:spLocks noChangeShapeType="1"/>
            </p:cNvSpPr>
            <p:nvPr/>
          </p:nvSpPr>
          <p:spPr bwMode="auto">
            <a:xfrm>
              <a:off x="2723860" y="1730326"/>
              <a:ext cx="3388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6" name="Line 22"/>
            <p:cNvSpPr>
              <a:spLocks noChangeShapeType="1"/>
            </p:cNvSpPr>
            <p:nvPr/>
          </p:nvSpPr>
          <p:spPr bwMode="auto">
            <a:xfrm flipV="1">
              <a:off x="3062698" y="1097280"/>
              <a:ext cx="0" cy="633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7" name="Line 23"/>
            <p:cNvSpPr>
              <a:spLocks noChangeShapeType="1"/>
            </p:cNvSpPr>
            <p:nvPr/>
          </p:nvSpPr>
          <p:spPr bwMode="auto">
            <a:xfrm>
              <a:off x="1905000" y="1097280"/>
              <a:ext cx="160007" cy="164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8" name="Line 24"/>
            <p:cNvSpPr>
              <a:spLocks noChangeShapeType="1"/>
            </p:cNvSpPr>
            <p:nvPr/>
          </p:nvSpPr>
          <p:spPr bwMode="auto">
            <a:xfrm>
              <a:off x="3740376" y="1097280"/>
              <a:ext cx="0" cy="4220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49" name="Line 25"/>
            <p:cNvSpPr>
              <a:spLocks noChangeShapeType="1"/>
            </p:cNvSpPr>
            <p:nvPr/>
          </p:nvSpPr>
          <p:spPr bwMode="auto">
            <a:xfrm>
              <a:off x="4418053" y="1746738"/>
              <a:ext cx="3388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0" name="Line 26"/>
            <p:cNvSpPr>
              <a:spLocks noChangeShapeType="1"/>
            </p:cNvSpPr>
            <p:nvPr/>
          </p:nvSpPr>
          <p:spPr bwMode="auto">
            <a:xfrm flipV="1">
              <a:off x="4756891" y="1113692"/>
              <a:ext cx="0" cy="633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1" name="Line 27"/>
            <p:cNvSpPr>
              <a:spLocks noChangeShapeType="1"/>
            </p:cNvSpPr>
            <p:nvPr/>
          </p:nvSpPr>
          <p:spPr bwMode="auto">
            <a:xfrm>
              <a:off x="6620504" y="1113692"/>
              <a:ext cx="0" cy="4220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2" name="Line 28"/>
            <p:cNvSpPr>
              <a:spLocks noChangeShapeType="1"/>
            </p:cNvSpPr>
            <p:nvPr/>
          </p:nvSpPr>
          <p:spPr bwMode="auto">
            <a:xfrm>
              <a:off x="7131585" y="1746738"/>
              <a:ext cx="941" cy="5732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8453" name="Group 29"/>
            <p:cNvGrpSpPr>
              <a:grpSpLocks/>
            </p:cNvGrpSpPr>
            <p:nvPr/>
          </p:nvGrpSpPr>
          <p:grpSpPr bwMode="auto">
            <a:xfrm>
              <a:off x="7081701" y="2341098"/>
              <a:ext cx="97887" cy="87923"/>
              <a:chOff x="0" y="0"/>
              <a:chExt cx="20000" cy="19987"/>
            </a:xfrm>
          </p:grpSpPr>
          <p:sp>
            <p:nvSpPr>
              <p:cNvPr id="18470" name="Line 30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71" name="Line 31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72" name="Line 32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8454" name="Line 33"/>
            <p:cNvSpPr>
              <a:spLocks noChangeShapeType="1"/>
            </p:cNvSpPr>
            <p:nvPr/>
          </p:nvSpPr>
          <p:spPr bwMode="auto">
            <a:xfrm flipV="1">
              <a:off x="6281665" y="1113692"/>
              <a:ext cx="847096" cy="14771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5" name="Line 34"/>
            <p:cNvSpPr>
              <a:spLocks noChangeShapeType="1"/>
            </p:cNvSpPr>
            <p:nvPr/>
          </p:nvSpPr>
          <p:spPr bwMode="auto">
            <a:xfrm>
              <a:off x="6281665" y="1324708"/>
              <a:ext cx="1185935" cy="10550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6" name="Text Box 35"/>
            <p:cNvSpPr txBox="1">
              <a:spLocks noChangeArrowheads="1"/>
            </p:cNvSpPr>
            <p:nvPr/>
          </p:nvSpPr>
          <p:spPr bwMode="auto">
            <a:xfrm>
              <a:off x="5265149" y="1066800"/>
              <a:ext cx="508258" cy="633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q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18457" name="Text Box 36"/>
            <p:cNvSpPr txBox="1">
              <a:spLocks noChangeArrowheads="1"/>
            </p:cNvSpPr>
            <p:nvPr/>
          </p:nvSpPr>
          <p:spPr bwMode="auto">
            <a:xfrm>
              <a:off x="6479321" y="1500554"/>
              <a:ext cx="508258" cy="633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  <a:endParaRPr lang="bg-BG" sz="2000" b="1">
                <a:latin typeface="Courier New" pitchFamily="49" charset="0"/>
              </a:endParaRPr>
            </a:p>
          </p:txBody>
        </p:sp>
        <p:sp>
          <p:nvSpPr>
            <p:cNvPr id="18458" name="Line 37"/>
            <p:cNvSpPr>
              <a:spLocks noChangeShapeType="1"/>
            </p:cNvSpPr>
            <p:nvPr/>
          </p:nvSpPr>
          <p:spPr bwMode="auto">
            <a:xfrm>
              <a:off x="3580369" y="1112520"/>
              <a:ext cx="16000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59" name="Line 38"/>
            <p:cNvSpPr>
              <a:spLocks noChangeShapeType="1"/>
            </p:cNvSpPr>
            <p:nvPr/>
          </p:nvSpPr>
          <p:spPr bwMode="auto">
            <a:xfrm>
              <a:off x="3232118" y="1112520"/>
              <a:ext cx="32942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60" name="Line 39"/>
            <p:cNvSpPr>
              <a:spLocks noChangeShapeType="1"/>
            </p:cNvSpPr>
            <p:nvPr/>
          </p:nvSpPr>
          <p:spPr bwMode="auto">
            <a:xfrm>
              <a:off x="5773407" y="1746738"/>
              <a:ext cx="33883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61" name="Line 40"/>
            <p:cNvSpPr>
              <a:spLocks noChangeShapeType="1"/>
            </p:cNvSpPr>
            <p:nvPr/>
          </p:nvSpPr>
          <p:spPr bwMode="auto">
            <a:xfrm>
              <a:off x="4756891" y="1113692"/>
              <a:ext cx="5082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62" name="Line 41"/>
            <p:cNvSpPr>
              <a:spLocks noChangeShapeType="1"/>
            </p:cNvSpPr>
            <p:nvPr/>
          </p:nvSpPr>
          <p:spPr bwMode="auto">
            <a:xfrm>
              <a:off x="6112246" y="1113692"/>
              <a:ext cx="5082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8463" name="Line 42"/>
            <p:cNvSpPr>
              <a:spLocks noChangeShapeType="1"/>
            </p:cNvSpPr>
            <p:nvPr/>
          </p:nvSpPr>
          <p:spPr bwMode="auto">
            <a:xfrm>
              <a:off x="5725405" y="1746738"/>
              <a:ext cx="941" cy="5732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8464" name="Group 43"/>
            <p:cNvGrpSpPr>
              <a:grpSpLocks/>
            </p:cNvGrpSpPr>
            <p:nvPr/>
          </p:nvGrpSpPr>
          <p:grpSpPr bwMode="auto">
            <a:xfrm>
              <a:off x="5675520" y="2341098"/>
              <a:ext cx="97887" cy="87923"/>
              <a:chOff x="0" y="0"/>
              <a:chExt cx="20000" cy="19987"/>
            </a:xfrm>
          </p:grpSpPr>
          <p:sp>
            <p:nvSpPr>
              <p:cNvPr id="18467" name="Line 44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68" name="Line 45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469" name="Line 46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8465" name="Text Box 47"/>
            <p:cNvSpPr txBox="1">
              <a:spLocks noChangeArrowheads="1"/>
            </p:cNvSpPr>
            <p:nvPr/>
          </p:nvSpPr>
          <p:spPr bwMode="auto">
            <a:xfrm>
              <a:off x="2046183" y="1113692"/>
              <a:ext cx="847096" cy="4220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700" b="1">
                  <a:latin typeface="Courier New" pitchFamily="49" charset="0"/>
                </a:rPr>
                <a:t>s</a:t>
              </a:r>
              <a:r>
                <a:rPr lang="en-US" sz="1700" b="1">
                  <a:latin typeface="Courier New" pitchFamily="49" charset="0"/>
                </a:rPr>
                <a:t>tart</a:t>
              </a:r>
              <a:endParaRPr lang="bg-BG" sz="1700" b="1">
                <a:latin typeface="Courier New" pitchFamily="49" charset="0"/>
              </a:endParaRPr>
            </a:p>
          </p:txBody>
        </p:sp>
        <p:sp>
          <p:nvSpPr>
            <p:cNvPr id="18466" name="Text Box 48"/>
            <p:cNvSpPr txBox="1">
              <a:spLocks noChangeArrowheads="1"/>
            </p:cNvSpPr>
            <p:nvPr/>
          </p:nvSpPr>
          <p:spPr bwMode="auto">
            <a:xfrm>
              <a:off x="7124700" y="2286000"/>
              <a:ext cx="1066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</a:p>
          </p:txBody>
        </p:sp>
      </p:grp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90600"/>
            <a:ext cx="7920037" cy="5867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Търсене на елемент - итеративен вариант: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</a:rPr>
              <a:t/>
            </a:r>
            <a:br>
              <a:rPr lang="bg-BG" sz="2000">
                <a:solidFill>
                  <a:schemeClr val="tx1"/>
                </a:solidFill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int search_iter(int n)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elem *p=start;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 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if (start)	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проверка за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непразен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списък</a:t>
            </a:r>
            <a:r>
              <a:rPr lang="bg-BG" sz="20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/>
            </a:r>
            <a:br>
              <a:rPr lang="bg-BG" sz="20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{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 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while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((p-&gt;key!=n)&amp;&amp;(p-&gt;next))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 p=p-&gt;next;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  if (p-&gt;key==n)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return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1;		//търсеният елемент е намерен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  else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	 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return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0;		//елементът не е намерен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}</a:t>
            </a:r>
            <a:br>
              <a:rPr lang="bg-BG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return 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0;		</a:t>
            </a:r>
            <a:r>
              <a:rPr lang="en-US" sz="200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20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2000">
                <a:solidFill>
                  <a:schemeClr val="tx1"/>
                </a:solidFill>
                <a:latin typeface="Courier New" pitchFamily="49" charset="0"/>
              </a:rPr>
              <a:t>списъкът е празен</a:t>
            </a: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AU" sz="20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>
                <a:solidFill>
                  <a:schemeClr val="tx1"/>
                </a:solidFill>
                <a:latin typeface="Courier New" pitchFamily="49" charset="0"/>
              </a:rPr>
            </a:br>
            <a:endParaRPr lang="en-US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1042988" y="908050"/>
            <a:ext cx="7883525" cy="2162175"/>
            <a:chOff x="1161" y="2884"/>
            <a:chExt cx="6755" cy="1459"/>
          </a:xfrm>
        </p:grpSpPr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2187" y="3064"/>
              <a:ext cx="16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64" name="Line 5"/>
            <p:cNvSpPr>
              <a:spLocks noChangeShapeType="1"/>
            </p:cNvSpPr>
            <p:nvPr/>
          </p:nvSpPr>
          <p:spPr bwMode="auto">
            <a:xfrm>
              <a:off x="2359" y="3064"/>
              <a:ext cx="1" cy="3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9465" name="Group 6"/>
            <p:cNvGrpSpPr>
              <a:grpSpLocks/>
            </p:cNvGrpSpPr>
            <p:nvPr/>
          </p:nvGrpSpPr>
          <p:grpSpPr bwMode="auto">
            <a:xfrm>
              <a:off x="1701" y="3424"/>
              <a:ext cx="1177" cy="407"/>
              <a:chOff x="1701" y="3482"/>
              <a:chExt cx="1177" cy="407"/>
            </a:xfrm>
          </p:grpSpPr>
          <p:sp>
            <p:nvSpPr>
              <p:cNvPr id="19491" name="Line 7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492" name="Rectangle 8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9466" name="Line 9"/>
            <p:cNvSpPr>
              <a:spLocks noChangeShapeType="1"/>
            </p:cNvSpPr>
            <p:nvPr/>
          </p:nvSpPr>
          <p:spPr bwMode="auto">
            <a:xfrm>
              <a:off x="2681" y="3614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67" name="Line 10"/>
            <p:cNvSpPr>
              <a:spLocks noChangeShapeType="1"/>
            </p:cNvSpPr>
            <p:nvPr/>
          </p:nvSpPr>
          <p:spPr bwMode="auto">
            <a:xfrm flipV="1">
              <a:off x="3091" y="3164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68" name="Line 11"/>
            <p:cNvSpPr>
              <a:spLocks noChangeShapeType="1"/>
            </p:cNvSpPr>
            <p:nvPr/>
          </p:nvSpPr>
          <p:spPr bwMode="auto">
            <a:xfrm>
              <a:off x="3081" y="3163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69" name="Line 12"/>
            <p:cNvSpPr>
              <a:spLocks noChangeShapeType="1"/>
            </p:cNvSpPr>
            <p:nvPr/>
          </p:nvSpPr>
          <p:spPr bwMode="auto">
            <a:xfrm>
              <a:off x="3877" y="3173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70" name="Line 13"/>
            <p:cNvSpPr>
              <a:spLocks noChangeShapeType="1"/>
            </p:cNvSpPr>
            <p:nvPr/>
          </p:nvSpPr>
          <p:spPr bwMode="auto">
            <a:xfrm>
              <a:off x="7273" y="3584"/>
              <a:ext cx="1" cy="32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71" name="Line 14"/>
            <p:cNvSpPr>
              <a:spLocks noChangeShapeType="1"/>
            </p:cNvSpPr>
            <p:nvPr/>
          </p:nvSpPr>
          <p:spPr bwMode="auto">
            <a:xfrm>
              <a:off x="4801" y="3144"/>
              <a:ext cx="2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9472" name="Group 15"/>
            <p:cNvGrpSpPr>
              <a:grpSpLocks/>
            </p:cNvGrpSpPr>
            <p:nvPr/>
          </p:nvGrpSpPr>
          <p:grpSpPr bwMode="auto">
            <a:xfrm>
              <a:off x="7217" y="3919"/>
              <a:ext cx="117" cy="79"/>
              <a:chOff x="0" y="0"/>
              <a:chExt cx="20000" cy="19987"/>
            </a:xfrm>
          </p:grpSpPr>
          <p:sp>
            <p:nvSpPr>
              <p:cNvPr id="19488" name="Line 16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489" name="Line 17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490" name="Line 18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9473" name="Text Box 19"/>
            <p:cNvSpPr txBox="1">
              <a:spLocks noChangeArrowheads="1"/>
            </p:cNvSpPr>
            <p:nvPr/>
          </p:nvSpPr>
          <p:spPr bwMode="auto">
            <a:xfrm>
              <a:off x="1161" y="288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bg-BG" sz="2000" b="1">
                <a:latin typeface="Courier New" pitchFamily="49" charset="0"/>
              </a:endParaRPr>
            </a:p>
          </p:txBody>
        </p:sp>
        <p:sp>
          <p:nvSpPr>
            <p:cNvPr id="19474" name="Text Box 20"/>
            <p:cNvSpPr txBox="1">
              <a:spLocks noChangeArrowheads="1"/>
            </p:cNvSpPr>
            <p:nvPr/>
          </p:nvSpPr>
          <p:spPr bwMode="auto">
            <a:xfrm>
              <a:off x="6867" y="3983"/>
              <a:ext cx="1049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NULL</a:t>
              </a:r>
              <a:endParaRPr lang="bg-BG" sz="2000" b="1">
                <a:latin typeface="Courier New" pitchFamily="49" charset="0"/>
              </a:endParaRPr>
            </a:p>
          </p:txBody>
        </p:sp>
        <p:grpSp>
          <p:nvGrpSpPr>
            <p:cNvPr id="19475" name="Group 21"/>
            <p:cNvGrpSpPr>
              <a:grpSpLocks/>
            </p:cNvGrpSpPr>
            <p:nvPr/>
          </p:nvGrpSpPr>
          <p:grpSpPr bwMode="auto">
            <a:xfrm>
              <a:off x="3404" y="3424"/>
              <a:ext cx="1177" cy="407"/>
              <a:chOff x="1701" y="3482"/>
              <a:chExt cx="1177" cy="407"/>
            </a:xfrm>
          </p:grpSpPr>
          <p:sp>
            <p:nvSpPr>
              <p:cNvPr id="19486" name="Line 22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487" name="Rectangle 23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9476" name="Line 24"/>
            <p:cNvSpPr>
              <a:spLocks noChangeShapeType="1"/>
            </p:cNvSpPr>
            <p:nvPr/>
          </p:nvSpPr>
          <p:spPr bwMode="auto">
            <a:xfrm>
              <a:off x="4401" y="3600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77" name="Line 25"/>
            <p:cNvSpPr>
              <a:spLocks noChangeShapeType="1"/>
            </p:cNvSpPr>
            <p:nvPr/>
          </p:nvSpPr>
          <p:spPr bwMode="auto">
            <a:xfrm flipV="1">
              <a:off x="4811" y="3150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78" name="Line 26"/>
            <p:cNvSpPr>
              <a:spLocks noChangeShapeType="1"/>
            </p:cNvSpPr>
            <p:nvPr/>
          </p:nvSpPr>
          <p:spPr bwMode="auto">
            <a:xfrm flipV="1">
              <a:off x="5584" y="3177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79" name="Line 27"/>
            <p:cNvSpPr>
              <a:spLocks noChangeShapeType="1"/>
            </p:cNvSpPr>
            <p:nvPr/>
          </p:nvSpPr>
          <p:spPr bwMode="auto">
            <a:xfrm>
              <a:off x="5574" y="3176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80" name="Line 28"/>
            <p:cNvSpPr>
              <a:spLocks noChangeShapeType="1"/>
            </p:cNvSpPr>
            <p:nvPr/>
          </p:nvSpPr>
          <p:spPr bwMode="auto">
            <a:xfrm>
              <a:off x="6380" y="3184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19481" name="Group 29"/>
            <p:cNvGrpSpPr>
              <a:grpSpLocks/>
            </p:cNvGrpSpPr>
            <p:nvPr/>
          </p:nvGrpSpPr>
          <p:grpSpPr bwMode="auto">
            <a:xfrm>
              <a:off x="5877" y="3417"/>
              <a:ext cx="1177" cy="407"/>
              <a:chOff x="1701" y="3482"/>
              <a:chExt cx="1177" cy="407"/>
            </a:xfrm>
          </p:grpSpPr>
          <p:sp>
            <p:nvSpPr>
              <p:cNvPr id="19484" name="Line 30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485" name="Rectangle 31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19482" name="Line 32"/>
            <p:cNvSpPr>
              <a:spLocks noChangeShapeType="1"/>
            </p:cNvSpPr>
            <p:nvPr/>
          </p:nvSpPr>
          <p:spPr bwMode="auto">
            <a:xfrm>
              <a:off x="6874" y="3593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9483" name="Text Box 33"/>
            <p:cNvSpPr txBox="1">
              <a:spLocks noChangeArrowheads="1"/>
            </p:cNvSpPr>
            <p:nvPr/>
          </p:nvSpPr>
          <p:spPr bwMode="auto">
            <a:xfrm>
              <a:off x="4911" y="338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2000" b="1">
                  <a:latin typeface="Courier New" pitchFamily="49" charset="0"/>
                </a:rPr>
                <a:t>...</a:t>
              </a:r>
            </a:p>
          </p:txBody>
        </p:sp>
      </p:grpSp>
      <p:sp>
        <p:nvSpPr>
          <p:cNvPr id="19460" name="Line 34"/>
          <p:cNvSpPr>
            <a:spLocks noChangeShapeType="1"/>
          </p:cNvSpPr>
          <p:nvPr/>
        </p:nvSpPr>
        <p:spPr bwMode="auto">
          <a:xfrm>
            <a:off x="1524000" y="1371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9461" name="Line 35"/>
          <p:cNvSpPr>
            <a:spLocks noChangeShapeType="1"/>
          </p:cNvSpPr>
          <p:nvPr/>
        </p:nvSpPr>
        <p:spPr bwMode="auto">
          <a:xfrm>
            <a:off x="1828800" y="137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bg-BG"/>
          </a:p>
        </p:txBody>
      </p:sp>
      <p:sp>
        <p:nvSpPr>
          <p:cNvPr id="19462" name="Text Box 36"/>
          <p:cNvSpPr txBox="1">
            <a:spLocks noChangeArrowheads="1"/>
          </p:cNvSpPr>
          <p:nvPr/>
        </p:nvSpPr>
        <p:spPr bwMode="auto">
          <a:xfrm>
            <a:off x="1244600" y="1168400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p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077913"/>
            <a:ext cx="7835900" cy="6019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>
                <a:solidFill>
                  <a:schemeClr val="tx1"/>
                </a:solidFill>
              </a:rPr>
              <a:t>Търсене на елемент в подреден списък - рекурсивен вариант</a:t>
            </a:r>
            <a:br>
              <a:rPr lang="bg-BG" sz="2400">
                <a:solidFill>
                  <a:schemeClr val="tx1"/>
                </a:solidFill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int search_recurs(struct elem *p, int n) 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{				//търсене и включване на елемент, 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elem *q;			//ако той не е в списъка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if (start==NULL)		//проверка за празен списък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{				//добавяне на първия елемент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  start=new elem;	  start-&gt;key=n;	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  start-&gt;next=NULL;  return 0;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}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  else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{ if ((p-&gt;key&lt;n)&amp;&amp;(p-&gt;next==NULL))	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{				//добавяне в края на списъка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q=new elem;   q-&gt;key=n;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q-&gt;next=NULL; p-&gt;next=q; return 0;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}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else	  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{ if (p-&gt;key==n) return 1; 	//елементът е открит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    else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      if (p-&gt;key&lt;n)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search_recurs(p-&gt;next, n);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else		</a:t>
            </a:r>
            <a:r>
              <a:rPr lang="en-US" sz="150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150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открито е мястото за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{			//добавяне на елемента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 q=new elem; q-&gt;next=p-&gt;next;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 q-&gt;key=p-&gt;key; p-&gt;key=n;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 p-&gt;next=q; return 0;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	    }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	   }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500">
                <a:solidFill>
                  <a:schemeClr val="tx1"/>
                </a:solidFill>
                <a:latin typeface="Courier New" pitchFamily="49" charset="0"/>
              </a:rPr>
              <a:t>     }</a:t>
            </a:r>
            <a:br>
              <a:rPr lang="bg-BG" sz="150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15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}</a:t>
            </a:r>
            <a:r>
              <a:rPr lang="bg-BG" sz="15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/>
            </a:r>
            <a:br>
              <a:rPr lang="bg-BG" sz="150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en-US">
                <a:solidFill>
                  <a:schemeClr val="tx1"/>
                </a:solidFill>
              </a:rPr>
              <a:t/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765175"/>
            <a:ext cx="7772400" cy="5867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3200" dirty="0">
                <a:solidFill>
                  <a:schemeClr val="tx1"/>
                </a:solidFill>
              </a:rPr>
              <a:t>   Двойно-свързан или </a:t>
            </a:r>
            <a:r>
              <a:rPr lang="bg-BG" sz="3200" dirty="0" err="1">
                <a:solidFill>
                  <a:schemeClr val="tx1"/>
                </a:solidFill>
              </a:rPr>
              <a:t>двусвързан</a:t>
            </a:r>
            <a:r>
              <a:rPr lang="bg-BG" sz="3200" dirty="0">
                <a:solidFill>
                  <a:schemeClr val="tx1"/>
                </a:solidFill>
              </a:rPr>
              <a:t> списък</a:t>
            </a: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Всеки елемент от тази структура съдържа по два указателя - към предходния и към следващия елемент</a:t>
            </a:r>
            <a:r>
              <a:rPr lang="bg-BG" sz="2000" dirty="0">
                <a:solidFill>
                  <a:schemeClr val="tx1"/>
                </a:solidFill>
              </a:rPr>
              <a:t>: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>	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Примерно описание на структурата: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struct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{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;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;} *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1507" name="Group 56"/>
          <p:cNvGrpSpPr>
            <a:grpSpLocks/>
          </p:cNvGrpSpPr>
          <p:nvPr/>
        </p:nvGrpSpPr>
        <p:grpSpPr bwMode="auto">
          <a:xfrm>
            <a:off x="1063625" y="2514600"/>
            <a:ext cx="7727950" cy="1738313"/>
            <a:chOff x="762000" y="2514600"/>
            <a:chExt cx="7727950" cy="1738313"/>
          </a:xfrm>
        </p:grpSpPr>
        <p:grpSp>
          <p:nvGrpSpPr>
            <p:cNvPr id="21508" name="Group 4"/>
            <p:cNvGrpSpPr>
              <a:grpSpLocks/>
            </p:cNvGrpSpPr>
            <p:nvPr/>
          </p:nvGrpSpPr>
          <p:grpSpPr bwMode="auto">
            <a:xfrm>
              <a:off x="1436281" y="2998694"/>
              <a:ext cx="1508302" cy="484094"/>
              <a:chOff x="1269" y="5224"/>
              <a:chExt cx="1224" cy="360"/>
            </a:xfrm>
          </p:grpSpPr>
          <p:sp>
            <p:nvSpPr>
              <p:cNvPr id="21556" name="Rectangle 5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7" name="Rectangle 6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8" name="Rectangle 7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1509" name="Group 8"/>
            <p:cNvGrpSpPr>
              <a:grpSpLocks/>
            </p:cNvGrpSpPr>
            <p:nvPr/>
          </p:nvGrpSpPr>
          <p:grpSpPr bwMode="auto">
            <a:xfrm>
              <a:off x="3521287" y="2998694"/>
              <a:ext cx="1508302" cy="484094"/>
              <a:chOff x="1269" y="5224"/>
              <a:chExt cx="1224" cy="360"/>
            </a:xfrm>
          </p:grpSpPr>
          <p:sp>
            <p:nvSpPr>
              <p:cNvPr id="21553" name="Rectangle 9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4" name="Rectangle 10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5" name="Rectangle 11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1510" name="Group 12"/>
            <p:cNvGrpSpPr>
              <a:grpSpLocks/>
            </p:cNvGrpSpPr>
            <p:nvPr/>
          </p:nvGrpSpPr>
          <p:grpSpPr bwMode="auto">
            <a:xfrm>
              <a:off x="6449167" y="2998694"/>
              <a:ext cx="1508302" cy="484094"/>
              <a:chOff x="1269" y="5224"/>
              <a:chExt cx="1224" cy="360"/>
            </a:xfrm>
          </p:grpSpPr>
          <p:sp>
            <p:nvSpPr>
              <p:cNvPr id="21550" name="Rectangle 13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1" name="Rectangle 14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52" name="Rectangle 15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1511" name="Line 16"/>
            <p:cNvSpPr>
              <a:spLocks noChangeShapeType="1"/>
            </p:cNvSpPr>
            <p:nvPr/>
          </p:nvSpPr>
          <p:spPr bwMode="auto">
            <a:xfrm>
              <a:off x="1303195" y="2518634"/>
              <a:ext cx="8872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2" name="Line 17"/>
            <p:cNvSpPr>
              <a:spLocks noChangeShapeType="1"/>
            </p:cNvSpPr>
            <p:nvPr/>
          </p:nvSpPr>
          <p:spPr bwMode="auto">
            <a:xfrm>
              <a:off x="2190432" y="2518634"/>
              <a:ext cx="0" cy="4840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3" name="Line 18"/>
            <p:cNvSpPr>
              <a:spLocks noChangeShapeType="1"/>
            </p:cNvSpPr>
            <p:nvPr/>
          </p:nvSpPr>
          <p:spPr bwMode="auto">
            <a:xfrm>
              <a:off x="2855859" y="3240741"/>
              <a:ext cx="2218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4" name="Line 19"/>
            <p:cNvSpPr>
              <a:spLocks noChangeShapeType="1"/>
            </p:cNvSpPr>
            <p:nvPr/>
          </p:nvSpPr>
          <p:spPr bwMode="auto">
            <a:xfrm flipV="1">
              <a:off x="3077668" y="2514600"/>
              <a:ext cx="0" cy="726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5" name="Line 20"/>
            <p:cNvSpPr>
              <a:spLocks noChangeShapeType="1"/>
            </p:cNvSpPr>
            <p:nvPr/>
          </p:nvSpPr>
          <p:spPr bwMode="auto">
            <a:xfrm>
              <a:off x="3077668" y="2514600"/>
              <a:ext cx="110904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6" name="Line 21"/>
            <p:cNvSpPr>
              <a:spLocks noChangeShapeType="1"/>
            </p:cNvSpPr>
            <p:nvPr/>
          </p:nvSpPr>
          <p:spPr bwMode="auto">
            <a:xfrm>
              <a:off x="4186714" y="2514600"/>
              <a:ext cx="0" cy="4840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7" name="Line 22"/>
            <p:cNvSpPr>
              <a:spLocks noChangeShapeType="1"/>
            </p:cNvSpPr>
            <p:nvPr/>
          </p:nvSpPr>
          <p:spPr bwMode="auto">
            <a:xfrm>
              <a:off x="4926078" y="3240741"/>
              <a:ext cx="2218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8" name="Line 23"/>
            <p:cNvSpPr>
              <a:spLocks noChangeShapeType="1"/>
            </p:cNvSpPr>
            <p:nvPr/>
          </p:nvSpPr>
          <p:spPr bwMode="auto">
            <a:xfrm flipV="1">
              <a:off x="5147887" y="2514600"/>
              <a:ext cx="0" cy="726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19" name="Line 24"/>
            <p:cNvSpPr>
              <a:spLocks noChangeShapeType="1"/>
            </p:cNvSpPr>
            <p:nvPr/>
          </p:nvSpPr>
          <p:spPr bwMode="auto">
            <a:xfrm>
              <a:off x="7292041" y="2514600"/>
              <a:ext cx="0" cy="4840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0" name="Line 25"/>
            <p:cNvSpPr>
              <a:spLocks noChangeShapeType="1"/>
            </p:cNvSpPr>
            <p:nvPr/>
          </p:nvSpPr>
          <p:spPr bwMode="auto">
            <a:xfrm>
              <a:off x="6404805" y="2518634"/>
              <a:ext cx="8872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1" name="Line 26"/>
            <p:cNvSpPr>
              <a:spLocks noChangeShapeType="1"/>
            </p:cNvSpPr>
            <p:nvPr/>
          </p:nvSpPr>
          <p:spPr bwMode="auto">
            <a:xfrm>
              <a:off x="5147887" y="2518634"/>
              <a:ext cx="8872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2" name="Line 27"/>
            <p:cNvSpPr>
              <a:spLocks noChangeShapeType="1"/>
            </p:cNvSpPr>
            <p:nvPr/>
          </p:nvSpPr>
          <p:spPr bwMode="auto">
            <a:xfrm>
              <a:off x="5985832" y="2518634"/>
              <a:ext cx="44361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3" name="Line 28"/>
            <p:cNvSpPr>
              <a:spLocks noChangeShapeType="1"/>
            </p:cNvSpPr>
            <p:nvPr/>
          </p:nvSpPr>
          <p:spPr bwMode="auto">
            <a:xfrm>
              <a:off x="7735660" y="3240741"/>
              <a:ext cx="361056" cy="13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4" name="Line 29"/>
            <p:cNvSpPr>
              <a:spLocks noChangeShapeType="1"/>
            </p:cNvSpPr>
            <p:nvPr/>
          </p:nvSpPr>
          <p:spPr bwMode="auto">
            <a:xfrm>
              <a:off x="8095483" y="3231328"/>
              <a:ext cx="1232" cy="4679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1525" name="Group 30"/>
            <p:cNvGrpSpPr>
              <a:grpSpLocks/>
            </p:cNvGrpSpPr>
            <p:nvPr/>
          </p:nvGrpSpPr>
          <p:grpSpPr bwMode="auto">
            <a:xfrm>
              <a:off x="8014153" y="3692562"/>
              <a:ext cx="139247" cy="104887"/>
              <a:chOff x="0" y="0"/>
              <a:chExt cx="20000" cy="19975"/>
            </a:xfrm>
          </p:grpSpPr>
          <p:sp>
            <p:nvSpPr>
              <p:cNvPr id="21547" name="Line 31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48" name="Line 32"/>
              <p:cNvSpPr>
                <a:spLocks noChangeShapeType="1"/>
              </p:cNvSpPr>
              <p:nvPr/>
            </p:nvSpPr>
            <p:spPr bwMode="auto">
              <a:xfrm>
                <a:off x="3961" y="19740"/>
                <a:ext cx="12078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49" name="Line 33"/>
              <p:cNvSpPr>
                <a:spLocks noChangeShapeType="1"/>
              </p:cNvSpPr>
              <p:nvPr/>
            </p:nvSpPr>
            <p:spPr bwMode="auto">
              <a:xfrm>
                <a:off x="1981" y="9870"/>
                <a:ext cx="16038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1526" name="Group 34"/>
            <p:cNvGrpSpPr>
              <a:grpSpLocks/>
            </p:cNvGrpSpPr>
            <p:nvPr/>
          </p:nvGrpSpPr>
          <p:grpSpPr bwMode="auto">
            <a:xfrm>
              <a:off x="1192291" y="3691218"/>
              <a:ext cx="139247" cy="104887"/>
              <a:chOff x="0" y="0"/>
              <a:chExt cx="20000" cy="20485"/>
            </a:xfrm>
          </p:grpSpPr>
          <p:sp>
            <p:nvSpPr>
              <p:cNvPr id="21544" name="Line 35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4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45" name="Line 36"/>
              <p:cNvSpPr>
                <a:spLocks noChangeShapeType="1"/>
              </p:cNvSpPr>
              <p:nvPr/>
            </p:nvSpPr>
            <p:spPr bwMode="auto">
              <a:xfrm>
                <a:off x="3961" y="20244"/>
                <a:ext cx="12078" cy="24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1546" name="Line 37"/>
              <p:cNvSpPr>
                <a:spLocks noChangeShapeType="1"/>
              </p:cNvSpPr>
              <p:nvPr/>
            </p:nvSpPr>
            <p:spPr bwMode="auto">
              <a:xfrm>
                <a:off x="1981" y="10122"/>
                <a:ext cx="16038" cy="24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1527" name="Line 38"/>
            <p:cNvSpPr>
              <a:spLocks noChangeShapeType="1"/>
            </p:cNvSpPr>
            <p:nvPr/>
          </p:nvSpPr>
          <p:spPr bwMode="auto">
            <a:xfrm flipH="1">
              <a:off x="1261298" y="3240741"/>
              <a:ext cx="332714" cy="13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8" name="Line 39"/>
            <p:cNvSpPr>
              <a:spLocks noChangeShapeType="1"/>
            </p:cNvSpPr>
            <p:nvPr/>
          </p:nvSpPr>
          <p:spPr bwMode="auto">
            <a:xfrm>
              <a:off x="1261298" y="3217881"/>
              <a:ext cx="1232" cy="4666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29" name="Line 40"/>
            <p:cNvSpPr>
              <a:spLocks noChangeShapeType="1"/>
            </p:cNvSpPr>
            <p:nvPr/>
          </p:nvSpPr>
          <p:spPr bwMode="auto">
            <a:xfrm>
              <a:off x="3398059" y="3240741"/>
              <a:ext cx="2218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0" name="Line 41"/>
            <p:cNvSpPr>
              <a:spLocks noChangeShapeType="1"/>
            </p:cNvSpPr>
            <p:nvPr/>
          </p:nvSpPr>
          <p:spPr bwMode="auto">
            <a:xfrm>
              <a:off x="6343191" y="3240741"/>
              <a:ext cx="2218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1" name="Line 42"/>
            <p:cNvSpPr>
              <a:spLocks noChangeShapeType="1"/>
            </p:cNvSpPr>
            <p:nvPr/>
          </p:nvSpPr>
          <p:spPr bwMode="auto">
            <a:xfrm flipV="1">
              <a:off x="3385737" y="3227294"/>
              <a:ext cx="0" cy="726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2" name="Line 43"/>
            <p:cNvSpPr>
              <a:spLocks noChangeShapeType="1"/>
            </p:cNvSpPr>
            <p:nvPr/>
          </p:nvSpPr>
          <p:spPr bwMode="auto">
            <a:xfrm flipV="1">
              <a:off x="6355514" y="3240741"/>
              <a:ext cx="0" cy="726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3" name="Line 44"/>
            <p:cNvSpPr>
              <a:spLocks noChangeShapeType="1"/>
            </p:cNvSpPr>
            <p:nvPr/>
          </p:nvSpPr>
          <p:spPr bwMode="auto">
            <a:xfrm>
              <a:off x="2178109" y="3957469"/>
              <a:ext cx="12150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4" name="Line 45"/>
            <p:cNvSpPr>
              <a:spLocks noChangeShapeType="1"/>
            </p:cNvSpPr>
            <p:nvPr/>
          </p:nvSpPr>
          <p:spPr bwMode="auto">
            <a:xfrm flipV="1">
              <a:off x="2190432" y="3482788"/>
              <a:ext cx="0" cy="4840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5" name="Line 46"/>
            <p:cNvSpPr>
              <a:spLocks noChangeShapeType="1"/>
            </p:cNvSpPr>
            <p:nvPr/>
          </p:nvSpPr>
          <p:spPr bwMode="auto">
            <a:xfrm>
              <a:off x="5480600" y="3966882"/>
              <a:ext cx="8872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6" name="Line 47"/>
            <p:cNvSpPr>
              <a:spLocks noChangeShapeType="1"/>
            </p:cNvSpPr>
            <p:nvPr/>
          </p:nvSpPr>
          <p:spPr bwMode="auto">
            <a:xfrm>
              <a:off x="4186714" y="3966882"/>
              <a:ext cx="8872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7" name="Line 48"/>
            <p:cNvSpPr>
              <a:spLocks noChangeShapeType="1"/>
            </p:cNvSpPr>
            <p:nvPr/>
          </p:nvSpPr>
          <p:spPr bwMode="auto">
            <a:xfrm>
              <a:off x="5061628" y="3966882"/>
              <a:ext cx="44361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8" name="Line 49"/>
            <p:cNvSpPr>
              <a:spLocks noChangeShapeType="1"/>
            </p:cNvSpPr>
            <p:nvPr/>
          </p:nvSpPr>
          <p:spPr bwMode="auto">
            <a:xfrm flipV="1">
              <a:off x="4186714" y="3482788"/>
              <a:ext cx="0" cy="4840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539" name="Text Box 50"/>
            <p:cNvSpPr txBox="1">
              <a:spLocks noChangeArrowheads="1"/>
            </p:cNvSpPr>
            <p:nvPr/>
          </p:nvSpPr>
          <p:spPr bwMode="auto">
            <a:xfrm>
              <a:off x="1143000" y="2554941"/>
              <a:ext cx="1109046" cy="484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21540" name="Text Box 51"/>
            <p:cNvSpPr txBox="1">
              <a:spLocks noChangeArrowheads="1"/>
            </p:cNvSpPr>
            <p:nvPr/>
          </p:nvSpPr>
          <p:spPr bwMode="auto">
            <a:xfrm>
              <a:off x="3262509" y="3375212"/>
              <a:ext cx="1109046" cy="726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 err="1" smtClean="0">
                  <a:latin typeface="Courier New" pitchFamily="49" charset="0"/>
                </a:rPr>
                <a:t>prev</a:t>
              </a:r>
              <a:endParaRPr lang="en-US" sz="1000" dirty="0">
                <a:latin typeface="Courier New" pitchFamily="49" charset="0"/>
              </a:endParaRPr>
            </a:p>
          </p:txBody>
        </p:sp>
        <p:sp>
          <p:nvSpPr>
            <p:cNvPr id="21541" name="Text Box 52"/>
            <p:cNvSpPr txBox="1">
              <a:spLocks noChangeArrowheads="1"/>
            </p:cNvSpPr>
            <p:nvPr/>
          </p:nvSpPr>
          <p:spPr bwMode="auto">
            <a:xfrm>
              <a:off x="4482459" y="3388659"/>
              <a:ext cx="1109046" cy="726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next</a:t>
              </a:r>
            </a:p>
          </p:txBody>
        </p:sp>
        <p:sp>
          <p:nvSpPr>
            <p:cNvPr id="21542" name="Text Box 53"/>
            <p:cNvSpPr txBox="1">
              <a:spLocks noChangeArrowheads="1"/>
            </p:cNvSpPr>
            <p:nvPr/>
          </p:nvSpPr>
          <p:spPr bwMode="auto">
            <a:xfrm>
              <a:off x="762000" y="3886200"/>
              <a:ext cx="9906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NULL</a:t>
              </a:r>
              <a:endParaRPr lang="en-US"/>
            </a:p>
          </p:txBody>
        </p:sp>
        <p:sp>
          <p:nvSpPr>
            <p:cNvPr id="21543" name="Rectangle 54"/>
            <p:cNvSpPr>
              <a:spLocks noChangeArrowheads="1"/>
            </p:cNvSpPr>
            <p:nvPr/>
          </p:nvSpPr>
          <p:spPr bwMode="auto">
            <a:xfrm>
              <a:off x="7696200" y="3886200"/>
              <a:ext cx="7937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NULL</a:t>
              </a:r>
            </a:p>
          </p:txBody>
        </p:sp>
      </p:grp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1075"/>
            <a:ext cx="7848600" cy="5715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tx1"/>
                </a:solidFill>
              </a:rPr>
              <a:t>   </a:t>
            </a:r>
            <a:r>
              <a:rPr lang="bg-BG" sz="2400" dirty="0">
                <a:solidFill>
                  <a:schemeClr val="tx1"/>
                </a:solidFill>
              </a:rPr>
              <a:t>Включване на елемент в началото на </a:t>
            </a:r>
            <a:r>
              <a:rPr lang="bg-BG" sz="2400" dirty="0" err="1">
                <a:solidFill>
                  <a:schemeClr val="tx1"/>
                </a:solidFill>
              </a:rPr>
              <a:t>двусвързан</a:t>
            </a:r>
            <a:r>
              <a:rPr lang="bg-BG" sz="2400" dirty="0">
                <a:solidFill>
                  <a:schemeClr val="tx1"/>
                </a:solidFill>
              </a:rPr>
              <a:t> списък:</a:t>
            </a: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add1(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n) 	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//добавяне 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в началото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	//създаване на новия елемент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=n;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=NULL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//пренасочване 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на указателите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0"/>
              </a:rPr>
            </a:b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22531" name="Group 64"/>
          <p:cNvGrpSpPr>
            <a:grpSpLocks/>
          </p:cNvGrpSpPr>
          <p:nvPr/>
        </p:nvGrpSpPr>
        <p:grpSpPr bwMode="auto">
          <a:xfrm>
            <a:off x="1268413" y="1585913"/>
            <a:ext cx="7729537" cy="1890712"/>
            <a:chOff x="762000" y="1524000"/>
            <a:chExt cx="7924800" cy="1890713"/>
          </a:xfrm>
        </p:grpSpPr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7856071" y="2184128"/>
              <a:ext cx="1074" cy="5977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2533" name="Group 5"/>
            <p:cNvGrpSpPr>
              <a:grpSpLocks/>
            </p:cNvGrpSpPr>
            <p:nvPr/>
          </p:nvGrpSpPr>
          <p:grpSpPr bwMode="auto">
            <a:xfrm>
              <a:off x="7813116" y="2803916"/>
              <a:ext cx="111684" cy="91684"/>
              <a:chOff x="0" y="0"/>
              <a:chExt cx="20000" cy="19987"/>
            </a:xfrm>
          </p:grpSpPr>
          <p:sp>
            <p:nvSpPr>
              <p:cNvPr id="22588" name="Line 6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9" name="Line 7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90" name="Line 8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2534" name="Text Box 9"/>
            <p:cNvSpPr txBox="1">
              <a:spLocks noChangeArrowheads="1"/>
            </p:cNvSpPr>
            <p:nvPr/>
          </p:nvSpPr>
          <p:spPr bwMode="auto">
            <a:xfrm>
              <a:off x="955299" y="1524000"/>
              <a:ext cx="1095361" cy="660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22535" name="Text Box 10"/>
            <p:cNvSpPr txBox="1">
              <a:spLocks noChangeArrowheads="1"/>
            </p:cNvSpPr>
            <p:nvPr/>
          </p:nvSpPr>
          <p:spPr bwMode="auto">
            <a:xfrm>
              <a:off x="1213031" y="1915187"/>
              <a:ext cx="579897" cy="660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22536" name="Line 11"/>
            <p:cNvSpPr>
              <a:spLocks noChangeShapeType="1"/>
            </p:cNvSpPr>
            <p:nvPr/>
          </p:nvSpPr>
          <p:spPr bwMode="auto">
            <a:xfrm>
              <a:off x="1832661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37" name="Line 12"/>
            <p:cNvSpPr>
              <a:spLocks noChangeShapeType="1"/>
            </p:cNvSpPr>
            <p:nvPr/>
          </p:nvSpPr>
          <p:spPr bwMode="auto">
            <a:xfrm flipV="1">
              <a:off x="2222481" y="1524000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>
              <a:off x="2222481" y="1524000"/>
              <a:ext cx="96649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39" name="Line 14"/>
            <p:cNvSpPr>
              <a:spLocks noChangeShapeType="1"/>
            </p:cNvSpPr>
            <p:nvPr/>
          </p:nvSpPr>
          <p:spPr bwMode="auto">
            <a:xfrm>
              <a:off x="3188976" y="1524000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0" name="Text Box 15"/>
            <p:cNvSpPr txBox="1">
              <a:spLocks noChangeArrowheads="1"/>
            </p:cNvSpPr>
            <p:nvPr/>
          </p:nvSpPr>
          <p:spPr bwMode="auto">
            <a:xfrm>
              <a:off x="3124543" y="1524000"/>
              <a:ext cx="1353093" cy="660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p=start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22541" name="Line 16"/>
            <p:cNvSpPr>
              <a:spLocks noChangeShapeType="1"/>
            </p:cNvSpPr>
            <p:nvPr/>
          </p:nvSpPr>
          <p:spPr bwMode="auto">
            <a:xfrm>
              <a:off x="3797867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2" name="Line 17"/>
            <p:cNvSpPr>
              <a:spLocks noChangeShapeType="1"/>
            </p:cNvSpPr>
            <p:nvPr/>
          </p:nvSpPr>
          <p:spPr bwMode="auto">
            <a:xfrm flipV="1">
              <a:off x="4187687" y="1524000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3" name="Line 18"/>
            <p:cNvSpPr>
              <a:spLocks noChangeShapeType="1"/>
            </p:cNvSpPr>
            <p:nvPr/>
          </p:nvSpPr>
          <p:spPr bwMode="auto">
            <a:xfrm>
              <a:off x="4187687" y="1524000"/>
              <a:ext cx="96649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4" name="Line 19"/>
            <p:cNvSpPr>
              <a:spLocks noChangeShapeType="1"/>
            </p:cNvSpPr>
            <p:nvPr/>
          </p:nvSpPr>
          <p:spPr bwMode="auto">
            <a:xfrm>
              <a:off x="5154182" y="1524000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5" name="Line 20"/>
            <p:cNvSpPr>
              <a:spLocks noChangeShapeType="1"/>
            </p:cNvSpPr>
            <p:nvPr/>
          </p:nvSpPr>
          <p:spPr bwMode="auto">
            <a:xfrm>
              <a:off x="5720118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6" name="Line 21"/>
            <p:cNvSpPr>
              <a:spLocks noChangeShapeType="1"/>
            </p:cNvSpPr>
            <p:nvPr/>
          </p:nvSpPr>
          <p:spPr bwMode="auto">
            <a:xfrm flipV="1">
              <a:off x="6109938" y="1524000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7" name="Line 22"/>
            <p:cNvSpPr>
              <a:spLocks noChangeShapeType="1"/>
            </p:cNvSpPr>
            <p:nvPr/>
          </p:nvSpPr>
          <p:spPr bwMode="auto">
            <a:xfrm>
              <a:off x="6689834" y="1524000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8" name="Line 23"/>
            <p:cNvSpPr>
              <a:spLocks noChangeShapeType="1"/>
            </p:cNvSpPr>
            <p:nvPr/>
          </p:nvSpPr>
          <p:spPr bwMode="auto">
            <a:xfrm>
              <a:off x="7076432" y="1524000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49" name="Line 24"/>
            <p:cNvSpPr>
              <a:spLocks noChangeShapeType="1"/>
            </p:cNvSpPr>
            <p:nvPr/>
          </p:nvSpPr>
          <p:spPr bwMode="auto">
            <a:xfrm>
              <a:off x="6335453" y="1524000"/>
              <a:ext cx="3039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50" name="Line 25"/>
            <p:cNvSpPr>
              <a:spLocks noChangeShapeType="1"/>
            </p:cNvSpPr>
            <p:nvPr/>
          </p:nvSpPr>
          <p:spPr bwMode="auto">
            <a:xfrm>
              <a:off x="6099199" y="1524000"/>
              <a:ext cx="1825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2551" name="Group 26"/>
            <p:cNvGrpSpPr>
              <a:grpSpLocks/>
            </p:cNvGrpSpPr>
            <p:nvPr/>
          </p:nvGrpSpPr>
          <p:grpSpPr bwMode="auto">
            <a:xfrm>
              <a:off x="2874328" y="1967753"/>
              <a:ext cx="966495" cy="440086"/>
              <a:chOff x="2961" y="9904"/>
              <a:chExt cx="900" cy="360"/>
            </a:xfrm>
          </p:grpSpPr>
          <p:sp>
            <p:nvSpPr>
              <p:cNvPr id="22585" name="Rectangle 27"/>
              <p:cNvSpPr>
                <a:spLocks noChangeArrowheads="1"/>
              </p:cNvSpPr>
              <p:nvPr/>
            </p:nvSpPr>
            <p:spPr bwMode="auto">
              <a:xfrm>
                <a:off x="3141" y="990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6" name="Rectangle 28"/>
              <p:cNvSpPr>
                <a:spLocks noChangeArrowheads="1"/>
              </p:cNvSpPr>
              <p:nvPr/>
            </p:nvSpPr>
            <p:spPr bwMode="auto">
              <a:xfrm>
                <a:off x="368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7" name="Rectangle 29"/>
              <p:cNvSpPr>
                <a:spLocks noChangeArrowheads="1"/>
              </p:cNvSpPr>
              <p:nvPr/>
            </p:nvSpPr>
            <p:spPr bwMode="auto">
              <a:xfrm>
                <a:off x="296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2552" name="Group 30"/>
            <p:cNvGrpSpPr>
              <a:grpSpLocks/>
            </p:cNvGrpSpPr>
            <p:nvPr/>
          </p:nvGrpSpPr>
          <p:grpSpPr bwMode="auto">
            <a:xfrm>
              <a:off x="4810539" y="1967753"/>
              <a:ext cx="966495" cy="440086"/>
              <a:chOff x="2961" y="9904"/>
              <a:chExt cx="900" cy="360"/>
            </a:xfrm>
          </p:grpSpPr>
          <p:sp>
            <p:nvSpPr>
              <p:cNvPr id="22582" name="Rectangle 31"/>
              <p:cNvSpPr>
                <a:spLocks noChangeArrowheads="1"/>
              </p:cNvSpPr>
              <p:nvPr/>
            </p:nvSpPr>
            <p:spPr bwMode="auto">
              <a:xfrm>
                <a:off x="3141" y="990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3" name="Rectangle 32"/>
              <p:cNvSpPr>
                <a:spLocks noChangeArrowheads="1"/>
              </p:cNvSpPr>
              <p:nvPr/>
            </p:nvSpPr>
            <p:spPr bwMode="auto">
              <a:xfrm>
                <a:off x="368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4" name="Rectangle 33"/>
              <p:cNvSpPr>
                <a:spLocks noChangeArrowheads="1"/>
              </p:cNvSpPr>
              <p:nvPr/>
            </p:nvSpPr>
            <p:spPr bwMode="auto">
              <a:xfrm>
                <a:off x="296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2553" name="Group 34"/>
            <p:cNvGrpSpPr>
              <a:grpSpLocks/>
            </p:cNvGrpSpPr>
            <p:nvPr/>
          </p:nvGrpSpPr>
          <p:grpSpPr bwMode="auto">
            <a:xfrm>
              <a:off x="6743529" y="1964086"/>
              <a:ext cx="966495" cy="440086"/>
              <a:chOff x="2961" y="9904"/>
              <a:chExt cx="900" cy="360"/>
            </a:xfrm>
          </p:grpSpPr>
          <p:sp>
            <p:nvSpPr>
              <p:cNvPr id="22579" name="Rectangle 35"/>
              <p:cNvSpPr>
                <a:spLocks noChangeArrowheads="1"/>
              </p:cNvSpPr>
              <p:nvPr/>
            </p:nvSpPr>
            <p:spPr bwMode="auto">
              <a:xfrm>
                <a:off x="3141" y="990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0" name="Rectangle 36"/>
              <p:cNvSpPr>
                <a:spLocks noChangeArrowheads="1"/>
              </p:cNvSpPr>
              <p:nvPr/>
            </p:nvSpPr>
            <p:spPr bwMode="auto">
              <a:xfrm>
                <a:off x="368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81" name="Rectangle 37"/>
              <p:cNvSpPr>
                <a:spLocks noChangeArrowheads="1"/>
              </p:cNvSpPr>
              <p:nvPr/>
            </p:nvSpPr>
            <p:spPr bwMode="auto">
              <a:xfrm>
                <a:off x="2961" y="990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2554" name="Line 38"/>
            <p:cNvSpPr>
              <a:spLocks noChangeShapeType="1"/>
            </p:cNvSpPr>
            <p:nvPr/>
          </p:nvSpPr>
          <p:spPr bwMode="auto">
            <a:xfrm>
              <a:off x="7667068" y="2184128"/>
              <a:ext cx="19329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55" name="Line 39"/>
            <p:cNvSpPr>
              <a:spLocks noChangeShapeType="1"/>
            </p:cNvSpPr>
            <p:nvPr/>
          </p:nvSpPr>
          <p:spPr bwMode="auto">
            <a:xfrm>
              <a:off x="815694" y="2184128"/>
              <a:ext cx="1074" cy="5977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2556" name="Group 40"/>
            <p:cNvGrpSpPr>
              <a:grpSpLocks/>
            </p:cNvGrpSpPr>
            <p:nvPr/>
          </p:nvGrpSpPr>
          <p:grpSpPr bwMode="auto">
            <a:xfrm>
              <a:off x="762000" y="2795358"/>
              <a:ext cx="111684" cy="91684"/>
              <a:chOff x="0" y="0"/>
              <a:chExt cx="20000" cy="19987"/>
            </a:xfrm>
          </p:grpSpPr>
          <p:sp>
            <p:nvSpPr>
              <p:cNvPr id="22576" name="Line 41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77" name="Line 42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578" name="Line 43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2557" name="Line 44"/>
            <p:cNvSpPr>
              <a:spLocks noChangeShapeType="1"/>
            </p:cNvSpPr>
            <p:nvPr/>
          </p:nvSpPr>
          <p:spPr bwMode="auto">
            <a:xfrm>
              <a:off x="804955" y="2184128"/>
              <a:ext cx="19329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58" name="Rectangle 45"/>
            <p:cNvSpPr>
              <a:spLocks noChangeArrowheads="1"/>
            </p:cNvSpPr>
            <p:nvPr/>
          </p:nvSpPr>
          <p:spPr bwMode="auto">
            <a:xfrm>
              <a:off x="1137859" y="1964086"/>
              <a:ext cx="579897" cy="44008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59" name="Rectangle 46"/>
            <p:cNvSpPr>
              <a:spLocks noChangeArrowheads="1"/>
            </p:cNvSpPr>
            <p:nvPr/>
          </p:nvSpPr>
          <p:spPr bwMode="auto">
            <a:xfrm>
              <a:off x="1717756" y="1964086"/>
              <a:ext cx="193299" cy="44008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0" name="Rectangle 47"/>
            <p:cNvSpPr>
              <a:spLocks noChangeArrowheads="1"/>
            </p:cNvSpPr>
            <p:nvPr/>
          </p:nvSpPr>
          <p:spPr bwMode="auto">
            <a:xfrm>
              <a:off x="944560" y="1964086"/>
              <a:ext cx="193299" cy="440086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1" name="Line 48"/>
            <p:cNvSpPr>
              <a:spLocks noChangeShapeType="1"/>
            </p:cNvSpPr>
            <p:nvPr/>
          </p:nvSpPr>
          <p:spPr bwMode="auto">
            <a:xfrm flipH="1">
              <a:off x="2533907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2" name="Line 49"/>
            <p:cNvSpPr>
              <a:spLocks noChangeShapeType="1"/>
            </p:cNvSpPr>
            <p:nvPr/>
          </p:nvSpPr>
          <p:spPr bwMode="auto">
            <a:xfrm flipV="1">
              <a:off x="2533907" y="2184128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3" name="Line 50"/>
            <p:cNvSpPr>
              <a:spLocks noChangeShapeType="1"/>
            </p:cNvSpPr>
            <p:nvPr/>
          </p:nvSpPr>
          <p:spPr bwMode="auto">
            <a:xfrm>
              <a:off x="1567412" y="2844257"/>
              <a:ext cx="96649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4" name="Line 51"/>
            <p:cNvSpPr>
              <a:spLocks noChangeShapeType="1"/>
            </p:cNvSpPr>
            <p:nvPr/>
          </p:nvSpPr>
          <p:spPr bwMode="auto">
            <a:xfrm>
              <a:off x="1524457" y="2404171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5" name="Line 52"/>
            <p:cNvSpPr>
              <a:spLocks noChangeShapeType="1"/>
            </p:cNvSpPr>
            <p:nvPr/>
          </p:nvSpPr>
          <p:spPr bwMode="auto">
            <a:xfrm>
              <a:off x="4463675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6" name="Line 53"/>
            <p:cNvSpPr>
              <a:spLocks noChangeShapeType="1"/>
            </p:cNvSpPr>
            <p:nvPr/>
          </p:nvSpPr>
          <p:spPr bwMode="auto">
            <a:xfrm flipV="1">
              <a:off x="4456158" y="2171904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7" name="Line 54"/>
            <p:cNvSpPr>
              <a:spLocks noChangeShapeType="1"/>
            </p:cNvSpPr>
            <p:nvPr/>
          </p:nvSpPr>
          <p:spPr bwMode="auto">
            <a:xfrm>
              <a:off x="3500402" y="2844257"/>
              <a:ext cx="96649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8" name="Line 55"/>
            <p:cNvSpPr>
              <a:spLocks noChangeShapeType="1"/>
            </p:cNvSpPr>
            <p:nvPr/>
          </p:nvSpPr>
          <p:spPr bwMode="auto">
            <a:xfrm>
              <a:off x="3500402" y="2404171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69" name="Line 56"/>
            <p:cNvSpPr>
              <a:spLocks noChangeShapeType="1"/>
            </p:cNvSpPr>
            <p:nvPr/>
          </p:nvSpPr>
          <p:spPr bwMode="auto">
            <a:xfrm>
              <a:off x="6356931" y="2184128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0" name="Line 57"/>
            <p:cNvSpPr>
              <a:spLocks noChangeShapeType="1"/>
            </p:cNvSpPr>
            <p:nvPr/>
          </p:nvSpPr>
          <p:spPr bwMode="auto">
            <a:xfrm flipV="1">
              <a:off x="6367670" y="2184128"/>
              <a:ext cx="0" cy="6601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1" name="Line 58"/>
            <p:cNvSpPr>
              <a:spLocks noChangeShapeType="1"/>
            </p:cNvSpPr>
            <p:nvPr/>
          </p:nvSpPr>
          <p:spPr bwMode="auto">
            <a:xfrm>
              <a:off x="5390436" y="2844257"/>
              <a:ext cx="3865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2" name="Line 59"/>
            <p:cNvSpPr>
              <a:spLocks noChangeShapeType="1"/>
            </p:cNvSpPr>
            <p:nvPr/>
          </p:nvSpPr>
          <p:spPr bwMode="auto">
            <a:xfrm>
              <a:off x="5390436" y="2404171"/>
              <a:ext cx="0" cy="4400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3" name="Line 60"/>
            <p:cNvSpPr>
              <a:spLocks noChangeShapeType="1"/>
            </p:cNvSpPr>
            <p:nvPr/>
          </p:nvSpPr>
          <p:spPr bwMode="auto">
            <a:xfrm>
              <a:off x="5827506" y="2844257"/>
              <a:ext cx="30390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4" name="Line 61"/>
            <p:cNvSpPr>
              <a:spLocks noChangeShapeType="1"/>
            </p:cNvSpPr>
            <p:nvPr/>
          </p:nvSpPr>
          <p:spPr bwMode="auto">
            <a:xfrm>
              <a:off x="6185109" y="2844257"/>
              <a:ext cx="1825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575" name="Text Box 62"/>
            <p:cNvSpPr txBox="1">
              <a:spLocks noChangeArrowheads="1"/>
            </p:cNvSpPr>
            <p:nvPr/>
          </p:nvSpPr>
          <p:spPr bwMode="auto">
            <a:xfrm>
              <a:off x="7391400" y="3048000"/>
              <a:ext cx="12954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NULL</a:t>
              </a:r>
              <a:endParaRPr lang="en-US"/>
            </a:p>
          </p:txBody>
        </p:sp>
      </p:grpSp>
      <p:sp>
        <p:nvSpPr>
          <p:cNvPr id="63" name="Slide Number Placeholder 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2565400"/>
            <a:ext cx="7646988" cy="4176713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Включване на междинен елемент със стойност </a:t>
            </a:r>
            <a:r>
              <a:rPr lang="bg-BG" sz="2400" b="1" dirty="0">
                <a:solidFill>
                  <a:schemeClr val="tx1"/>
                </a:solidFill>
              </a:rPr>
              <a:t>n</a:t>
            </a:r>
            <a:r>
              <a:rPr lang="bg-BG" sz="2400" dirty="0">
                <a:solidFill>
                  <a:schemeClr val="tx1"/>
                </a:solidFill>
              </a:rPr>
              <a:t> в </a:t>
            </a:r>
            <a:r>
              <a:rPr lang="bg-BG" sz="2400" dirty="0" err="1">
                <a:solidFill>
                  <a:schemeClr val="tx1"/>
                </a:solidFill>
              </a:rPr>
              <a:t>двусвързания</a:t>
            </a:r>
            <a:r>
              <a:rPr lang="bg-BG" sz="2400" dirty="0">
                <a:solidFill>
                  <a:schemeClr val="tx1"/>
                </a:solidFill>
              </a:rPr>
              <a:t> списък преди друг елемент с ключова стойност </a:t>
            </a:r>
            <a:r>
              <a:rPr lang="bg-BG" sz="2400" b="1" dirty="0">
                <a:solidFill>
                  <a:schemeClr val="tx1"/>
                </a:solidFill>
              </a:rPr>
              <a:t>k</a:t>
            </a:r>
            <a:r>
              <a:rPr lang="bg-BG" sz="2400" dirty="0">
                <a:solidFill>
                  <a:schemeClr val="tx1"/>
                </a:solidFill>
              </a:rPr>
              <a:t>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add2(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n,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k)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*q;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!=k)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търсене на k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 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);		//създаване на нов елемент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 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пренасочване на връзките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=p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 p-&gt;next-&gt;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</a:rPr>
              <a:t>prev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=q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	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=q;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  p-&gt;key=n; </a:t>
            </a:r>
            <a:br>
              <a:rPr lang="en-AU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581152" y="1231594"/>
            <a:ext cx="6892923" cy="1765606"/>
            <a:chOff x="1581152" y="1231594"/>
            <a:chExt cx="6892923" cy="1765606"/>
          </a:xfrm>
        </p:grpSpPr>
        <p:sp>
          <p:nvSpPr>
            <p:cNvPr id="23556" name="Line 19"/>
            <p:cNvSpPr>
              <a:spLocks noChangeShapeType="1"/>
            </p:cNvSpPr>
            <p:nvPr/>
          </p:nvSpPr>
          <p:spPr bwMode="auto">
            <a:xfrm flipV="1">
              <a:off x="1963213" y="1940404"/>
              <a:ext cx="33731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58" name="Line 4"/>
            <p:cNvSpPr>
              <a:spLocks noChangeShapeType="1"/>
            </p:cNvSpPr>
            <p:nvPr/>
          </p:nvSpPr>
          <p:spPr bwMode="auto">
            <a:xfrm>
              <a:off x="7810710" y="1769997"/>
              <a:ext cx="937" cy="34889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3559" name="Group 5"/>
            <p:cNvGrpSpPr>
              <a:grpSpLocks/>
            </p:cNvGrpSpPr>
            <p:nvPr/>
          </p:nvGrpSpPr>
          <p:grpSpPr bwMode="auto">
            <a:xfrm>
              <a:off x="7754492" y="2131736"/>
              <a:ext cx="97446" cy="53511"/>
              <a:chOff x="0" y="0"/>
              <a:chExt cx="20000" cy="19987"/>
            </a:xfrm>
          </p:grpSpPr>
          <p:sp>
            <p:nvSpPr>
              <p:cNvPr id="23633" name="Line 6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34" name="Line 7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35" name="Line 8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3560" name="Line 9"/>
            <p:cNvSpPr>
              <a:spLocks noChangeShapeType="1"/>
            </p:cNvSpPr>
            <p:nvPr/>
          </p:nvSpPr>
          <p:spPr bwMode="auto">
            <a:xfrm>
              <a:off x="2788534" y="1827076"/>
              <a:ext cx="26516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1" name="Line 10"/>
            <p:cNvSpPr>
              <a:spLocks noChangeShapeType="1"/>
            </p:cNvSpPr>
            <p:nvPr/>
          </p:nvSpPr>
          <p:spPr bwMode="auto">
            <a:xfrm>
              <a:off x="3257020" y="1274834"/>
              <a:ext cx="402898" cy="225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2" name="Line 11"/>
            <p:cNvSpPr>
              <a:spLocks noChangeShapeType="1"/>
            </p:cNvSpPr>
            <p:nvPr/>
          </p:nvSpPr>
          <p:spPr bwMode="auto">
            <a:xfrm flipH="1">
              <a:off x="3257957" y="1268413"/>
              <a:ext cx="373852" cy="2440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3" name="Text Box 12"/>
            <p:cNvSpPr txBox="1">
              <a:spLocks noChangeArrowheads="1"/>
            </p:cNvSpPr>
            <p:nvPr/>
          </p:nvSpPr>
          <p:spPr bwMode="auto">
            <a:xfrm>
              <a:off x="2141267" y="1286703"/>
              <a:ext cx="505966" cy="385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p</a:t>
              </a:r>
              <a:endParaRPr lang="en-US" sz="1000" dirty="0">
                <a:latin typeface="Courier New" pitchFamily="49" charset="0"/>
              </a:endParaRPr>
            </a:p>
          </p:txBody>
        </p:sp>
        <p:sp>
          <p:nvSpPr>
            <p:cNvPr id="23564" name="Text Box 13"/>
            <p:cNvSpPr txBox="1">
              <a:spLocks noChangeArrowheads="1"/>
            </p:cNvSpPr>
            <p:nvPr/>
          </p:nvSpPr>
          <p:spPr bwMode="auto">
            <a:xfrm>
              <a:off x="2273198" y="1613029"/>
              <a:ext cx="505966" cy="385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>
                  <a:latin typeface="Courier New" pitchFamily="49" charset="0"/>
                </a:rPr>
                <a:t>k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23565" name="Text Box 14"/>
            <p:cNvSpPr txBox="1">
              <a:spLocks noChangeArrowheads="1"/>
            </p:cNvSpPr>
            <p:nvPr/>
          </p:nvSpPr>
          <p:spPr bwMode="auto">
            <a:xfrm>
              <a:off x="3013408" y="2155281"/>
              <a:ext cx="505966" cy="385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q</a:t>
              </a:r>
            </a:p>
          </p:txBody>
        </p:sp>
        <p:sp>
          <p:nvSpPr>
            <p:cNvPr id="23566" name="Line 15"/>
            <p:cNvSpPr>
              <a:spLocks noChangeShapeType="1"/>
            </p:cNvSpPr>
            <p:nvPr/>
          </p:nvSpPr>
          <p:spPr bwMode="auto">
            <a:xfrm>
              <a:off x="2748244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7" name="Line 16"/>
            <p:cNvSpPr>
              <a:spLocks noChangeShapeType="1"/>
            </p:cNvSpPr>
            <p:nvPr/>
          </p:nvSpPr>
          <p:spPr bwMode="auto">
            <a:xfrm flipV="1">
              <a:off x="3088365" y="1384712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8" name="Line 17"/>
            <p:cNvSpPr>
              <a:spLocks noChangeShapeType="1"/>
            </p:cNvSpPr>
            <p:nvPr/>
          </p:nvSpPr>
          <p:spPr bwMode="auto">
            <a:xfrm>
              <a:off x="3088365" y="1384712"/>
              <a:ext cx="8432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69" name="Line 18"/>
            <p:cNvSpPr>
              <a:spLocks noChangeShapeType="1"/>
            </p:cNvSpPr>
            <p:nvPr/>
          </p:nvSpPr>
          <p:spPr bwMode="auto">
            <a:xfrm>
              <a:off x="3931641" y="1384712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0" name="Line 20"/>
            <p:cNvSpPr>
              <a:spLocks noChangeShapeType="1"/>
            </p:cNvSpPr>
            <p:nvPr/>
          </p:nvSpPr>
          <p:spPr bwMode="auto">
            <a:xfrm>
              <a:off x="2522679" y="1928390"/>
              <a:ext cx="484170" cy="5469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1" name="Text Box 21"/>
            <p:cNvSpPr txBox="1">
              <a:spLocks noChangeArrowheads="1"/>
            </p:cNvSpPr>
            <p:nvPr/>
          </p:nvSpPr>
          <p:spPr bwMode="auto">
            <a:xfrm>
              <a:off x="3069625" y="2611915"/>
              <a:ext cx="1180586" cy="385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q-&gt;next</a:t>
              </a:r>
              <a:endParaRPr lang="en-US" sz="1000">
                <a:latin typeface="Courier New" pitchFamily="49" charset="0"/>
              </a:endParaRPr>
            </a:p>
          </p:txBody>
        </p:sp>
        <p:sp>
          <p:nvSpPr>
            <p:cNvPr id="23572" name="Line 22"/>
            <p:cNvSpPr>
              <a:spLocks noChangeShapeType="1"/>
            </p:cNvSpPr>
            <p:nvPr/>
          </p:nvSpPr>
          <p:spPr bwMode="auto">
            <a:xfrm flipV="1">
              <a:off x="3931641" y="1898425"/>
              <a:ext cx="0" cy="642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3" name="Line 23"/>
            <p:cNvSpPr>
              <a:spLocks noChangeShapeType="1"/>
            </p:cNvSpPr>
            <p:nvPr/>
          </p:nvSpPr>
          <p:spPr bwMode="auto">
            <a:xfrm>
              <a:off x="4434796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4" name="Line 24"/>
            <p:cNvSpPr>
              <a:spLocks noChangeShapeType="1"/>
            </p:cNvSpPr>
            <p:nvPr/>
          </p:nvSpPr>
          <p:spPr bwMode="auto">
            <a:xfrm flipV="1">
              <a:off x="4774917" y="1384712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5" name="Line 25"/>
            <p:cNvSpPr>
              <a:spLocks noChangeShapeType="1"/>
            </p:cNvSpPr>
            <p:nvPr/>
          </p:nvSpPr>
          <p:spPr bwMode="auto">
            <a:xfrm>
              <a:off x="4774917" y="1384712"/>
              <a:ext cx="8432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6" name="Line 26"/>
            <p:cNvSpPr>
              <a:spLocks noChangeShapeType="1"/>
            </p:cNvSpPr>
            <p:nvPr/>
          </p:nvSpPr>
          <p:spPr bwMode="auto">
            <a:xfrm>
              <a:off x="5618193" y="1384712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7" name="Line 27"/>
            <p:cNvSpPr>
              <a:spLocks noChangeShapeType="1"/>
            </p:cNvSpPr>
            <p:nvPr/>
          </p:nvSpPr>
          <p:spPr bwMode="auto">
            <a:xfrm>
              <a:off x="6121347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8" name="Line 28"/>
            <p:cNvSpPr>
              <a:spLocks noChangeShapeType="1"/>
            </p:cNvSpPr>
            <p:nvPr/>
          </p:nvSpPr>
          <p:spPr bwMode="auto">
            <a:xfrm flipV="1">
              <a:off x="6461469" y="1384712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79" name="Line 29"/>
            <p:cNvSpPr>
              <a:spLocks noChangeShapeType="1"/>
            </p:cNvSpPr>
            <p:nvPr/>
          </p:nvSpPr>
          <p:spPr bwMode="auto">
            <a:xfrm>
              <a:off x="6967434" y="1384712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80" name="Line 30"/>
            <p:cNvSpPr>
              <a:spLocks noChangeShapeType="1"/>
            </p:cNvSpPr>
            <p:nvPr/>
          </p:nvSpPr>
          <p:spPr bwMode="auto">
            <a:xfrm>
              <a:off x="7304745" y="1384712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81" name="Line 31"/>
            <p:cNvSpPr>
              <a:spLocks noChangeShapeType="1"/>
            </p:cNvSpPr>
            <p:nvPr/>
          </p:nvSpPr>
          <p:spPr bwMode="auto">
            <a:xfrm>
              <a:off x="6611384" y="1384712"/>
              <a:ext cx="3185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82" name="Line 32"/>
            <p:cNvSpPr>
              <a:spLocks noChangeShapeType="1"/>
            </p:cNvSpPr>
            <p:nvPr/>
          </p:nvSpPr>
          <p:spPr bwMode="auto">
            <a:xfrm>
              <a:off x="6452099" y="1384712"/>
              <a:ext cx="1124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3583" name="Group 33"/>
            <p:cNvGrpSpPr>
              <a:grpSpLocks/>
            </p:cNvGrpSpPr>
            <p:nvPr/>
          </p:nvGrpSpPr>
          <p:grpSpPr bwMode="auto">
            <a:xfrm>
              <a:off x="2001476" y="1639428"/>
              <a:ext cx="843276" cy="256856"/>
              <a:chOff x="1161" y="4684"/>
              <a:chExt cx="900" cy="360"/>
            </a:xfrm>
          </p:grpSpPr>
          <p:sp>
            <p:nvSpPr>
              <p:cNvPr id="23630" name="Rectangle 34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31" name="Rectangle 35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32" name="Rectangle 36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3584" name="Text Box 37"/>
            <p:cNvSpPr txBox="1">
              <a:spLocks noChangeArrowheads="1"/>
            </p:cNvSpPr>
            <p:nvPr/>
          </p:nvSpPr>
          <p:spPr bwMode="auto">
            <a:xfrm>
              <a:off x="1692275" y="2133877"/>
              <a:ext cx="505966" cy="385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n</a:t>
              </a:r>
              <a:endParaRPr lang="bg-BG" sz="1000" b="1" dirty="0">
                <a:latin typeface="Courier New" pitchFamily="49" charset="0"/>
              </a:endParaRPr>
            </a:p>
          </p:txBody>
        </p:sp>
        <p:grpSp>
          <p:nvGrpSpPr>
            <p:cNvPr id="23585" name="Group 38"/>
            <p:cNvGrpSpPr>
              <a:grpSpLocks/>
            </p:cNvGrpSpPr>
            <p:nvPr/>
          </p:nvGrpSpPr>
          <p:grpSpPr bwMode="auto">
            <a:xfrm>
              <a:off x="3669288" y="1641568"/>
              <a:ext cx="843276" cy="256856"/>
              <a:chOff x="1161" y="4684"/>
              <a:chExt cx="900" cy="360"/>
            </a:xfrm>
          </p:grpSpPr>
          <p:sp>
            <p:nvSpPr>
              <p:cNvPr id="23627" name="Rectangle 39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8" name="Rectangle 40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9" name="Rectangle 41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3586" name="Group 42"/>
            <p:cNvGrpSpPr>
              <a:grpSpLocks/>
            </p:cNvGrpSpPr>
            <p:nvPr/>
          </p:nvGrpSpPr>
          <p:grpSpPr bwMode="auto">
            <a:xfrm>
              <a:off x="5355840" y="1641568"/>
              <a:ext cx="843276" cy="256856"/>
              <a:chOff x="1161" y="4684"/>
              <a:chExt cx="900" cy="360"/>
            </a:xfrm>
          </p:grpSpPr>
          <p:sp>
            <p:nvSpPr>
              <p:cNvPr id="23624" name="Rectangle 43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5" name="Rectangle 44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6" name="Rectangle 45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3587" name="Group 46"/>
            <p:cNvGrpSpPr>
              <a:grpSpLocks/>
            </p:cNvGrpSpPr>
            <p:nvPr/>
          </p:nvGrpSpPr>
          <p:grpSpPr bwMode="auto">
            <a:xfrm>
              <a:off x="7051762" y="1641568"/>
              <a:ext cx="843276" cy="256856"/>
              <a:chOff x="1161" y="4684"/>
              <a:chExt cx="900" cy="360"/>
            </a:xfrm>
          </p:grpSpPr>
          <p:sp>
            <p:nvSpPr>
              <p:cNvPr id="23621" name="Rectangle 47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2" name="Rectangle 48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3" name="Rectangle 49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3588" name="Group 50"/>
            <p:cNvGrpSpPr>
              <a:grpSpLocks/>
            </p:cNvGrpSpPr>
            <p:nvPr/>
          </p:nvGrpSpPr>
          <p:grpSpPr bwMode="auto">
            <a:xfrm>
              <a:off x="2647987" y="2412138"/>
              <a:ext cx="843276" cy="256856"/>
              <a:chOff x="1161" y="4684"/>
              <a:chExt cx="900" cy="360"/>
            </a:xfrm>
          </p:grpSpPr>
          <p:sp>
            <p:nvSpPr>
              <p:cNvPr id="23618" name="Rectangle 51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19" name="Rectangle 52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620" name="Rectangle 53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3591" name="Line 59"/>
            <p:cNvSpPr>
              <a:spLocks noChangeShapeType="1"/>
            </p:cNvSpPr>
            <p:nvPr/>
          </p:nvSpPr>
          <p:spPr bwMode="auto">
            <a:xfrm>
              <a:off x="5112227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2" name="Line 60"/>
            <p:cNvSpPr>
              <a:spLocks noChangeShapeType="1"/>
            </p:cNvSpPr>
            <p:nvPr/>
          </p:nvSpPr>
          <p:spPr bwMode="auto">
            <a:xfrm flipV="1">
              <a:off x="5112227" y="1769997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3" name="Line 61"/>
            <p:cNvSpPr>
              <a:spLocks noChangeShapeType="1"/>
            </p:cNvSpPr>
            <p:nvPr/>
          </p:nvSpPr>
          <p:spPr bwMode="auto">
            <a:xfrm>
              <a:off x="4268951" y="2155281"/>
              <a:ext cx="8432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4" name="Line 62"/>
            <p:cNvSpPr>
              <a:spLocks noChangeShapeType="1"/>
            </p:cNvSpPr>
            <p:nvPr/>
          </p:nvSpPr>
          <p:spPr bwMode="auto">
            <a:xfrm>
              <a:off x="4266140" y="1898425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5" name="Line 63"/>
            <p:cNvSpPr>
              <a:spLocks noChangeShapeType="1"/>
            </p:cNvSpPr>
            <p:nvPr/>
          </p:nvSpPr>
          <p:spPr bwMode="auto">
            <a:xfrm>
              <a:off x="6798779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6" name="Line 64"/>
            <p:cNvSpPr>
              <a:spLocks noChangeShapeType="1"/>
            </p:cNvSpPr>
            <p:nvPr/>
          </p:nvSpPr>
          <p:spPr bwMode="auto">
            <a:xfrm flipV="1">
              <a:off x="6798779" y="1769997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7" name="Line 65"/>
            <p:cNvSpPr>
              <a:spLocks noChangeShapeType="1"/>
            </p:cNvSpPr>
            <p:nvPr/>
          </p:nvSpPr>
          <p:spPr bwMode="auto">
            <a:xfrm>
              <a:off x="5955503" y="2155281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8" name="Line 66"/>
            <p:cNvSpPr>
              <a:spLocks noChangeShapeType="1"/>
            </p:cNvSpPr>
            <p:nvPr/>
          </p:nvSpPr>
          <p:spPr bwMode="auto">
            <a:xfrm>
              <a:off x="5955503" y="1898425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599" name="Line 67"/>
            <p:cNvSpPr>
              <a:spLocks noChangeShapeType="1"/>
            </p:cNvSpPr>
            <p:nvPr/>
          </p:nvSpPr>
          <p:spPr bwMode="auto">
            <a:xfrm>
              <a:off x="6330292" y="2155281"/>
              <a:ext cx="31857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0" name="Line 68"/>
            <p:cNvSpPr>
              <a:spLocks noChangeShapeType="1"/>
            </p:cNvSpPr>
            <p:nvPr/>
          </p:nvSpPr>
          <p:spPr bwMode="auto">
            <a:xfrm>
              <a:off x="6686343" y="2155281"/>
              <a:ext cx="1124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1" name="Line 69"/>
            <p:cNvSpPr>
              <a:spLocks noChangeShapeType="1"/>
            </p:cNvSpPr>
            <p:nvPr/>
          </p:nvSpPr>
          <p:spPr bwMode="auto">
            <a:xfrm>
              <a:off x="3428487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2" name="Line 70"/>
            <p:cNvSpPr>
              <a:spLocks noChangeShapeType="1"/>
            </p:cNvSpPr>
            <p:nvPr/>
          </p:nvSpPr>
          <p:spPr bwMode="auto">
            <a:xfrm flipV="1">
              <a:off x="3428487" y="1769997"/>
              <a:ext cx="0" cy="3852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3" name="Line 71"/>
            <p:cNvSpPr>
              <a:spLocks noChangeShapeType="1"/>
            </p:cNvSpPr>
            <p:nvPr/>
          </p:nvSpPr>
          <p:spPr bwMode="auto">
            <a:xfrm>
              <a:off x="2585211" y="2155281"/>
              <a:ext cx="84327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4" name="Line 72"/>
            <p:cNvSpPr>
              <a:spLocks noChangeShapeType="1"/>
            </p:cNvSpPr>
            <p:nvPr/>
          </p:nvSpPr>
          <p:spPr bwMode="auto">
            <a:xfrm>
              <a:off x="2582400" y="1898425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5" name="Line 73"/>
            <p:cNvSpPr>
              <a:spLocks noChangeShapeType="1"/>
            </p:cNvSpPr>
            <p:nvPr/>
          </p:nvSpPr>
          <p:spPr bwMode="auto">
            <a:xfrm>
              <a:off x="3088365" y="2925851"/>
              <a:ext cx="6746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6" name="Line 74"/>
            <p:cNvSpPr>
              <a:spLocks noChangeShapeType="1"/>
            </p:cNvSpPr>
            <p:nvPr/>
          </p:nvSpPr>
          <p:spPr bwMode="auto">
            <a:xfrm flipV="1">
              <a:off x="3762986" y="1769997"/>
              <a:ext cx="0" cy="11558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7" name="Line 75"/>
            <p:cNvSpPr>
              <a:spLocks noChangeShapeType="1"/>
            </p:cNvSpPr>
            <p:nvPr/>
          </p:nvSpPr>
          <p:spPr bwMode="auto">
            <a:xfrm flipV="1">
              <a:off x="3088365" y="2668994"/>
              <a:ext cx="0" cy="2547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8" name="Line 76"/>
            <p:cNvSpPr>
              <a:spLocks noChangeShapeType="1"/>
            </p:cNvSpPr>
            <p:nvPr/>
          </p:nvSpPr>
          <p:spPr bwMode="auto">
            <a:xfrm flipH="1">
              <a:off x="2385636" y="2540566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09" name="Line 77"/>
            <p:cNvSpPr>
              <a:spLocks noChangeShapeType="1"/>
            </p:cNvSpPr>
            <p:nvPr/>
          </p:nvSpPr>
          <p:spPr bwMode="auto">
            <a:xfrm flipV="1">
              <a:off x="2385636" y="1898425"/>
              <a:ext cx="0" cy="642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10" name="Line 78"/>
            <p:cNvSpPr>
              <a:spLocks noChangeShapeType="1"/>
            </p:cNvSpPr>
            <p:nvPr/>
          </p:nvSpPr>
          <p:spPr bwMode="auto">
            <a:xfrm>
              <a:off x="3425676" y="2540566"/>
              <a:ext cx="5059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11" name="Line 79"/>
            <p:cNvSpPr>
              <a:spLocks noChangeShapeType="1"/>
            </p:cNvSpPr>
            <p:nvPr/>
          </p:nvSpPr>
          <p:spPr bwMode="auto">
            <a:xfrm>
              <a:off x="3043133" y="1827076"/>
              <a:ext cx="0" cy="5864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12" name="Line 80"/>
            <p:cNvSpPr>
              <a:spLocks noChangeShapeType="1"/>
            </p:cNvSpPr>
            <p:nvPr/>
          </p:nvSpPr>
          <p:spPr bwMode="auto">
            <a:xfrm>
              <a:off x="3257020" y="1898425"/>
              <a:ext cx="337310" cy="2568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13" name="Line 81"/>
            <p:cNvSpPr>
              <a:spLocks noChangeShapeType="1"/>
            </p:cNvSpPr>
            <p:nvPr/>
          </p:nvSpPr>
          <p:spPr bwMode="auto">
            <a:xfrm flipH="1">
              <a:off x="3257020" y="1898425"/>
              <a:ext cx="337310" cy="2568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614" name="Text Box 82"/>
            <p:cNvSpPr txBox="1">
              <a:spLocks noChangeArrowheads="1"/>
            </p:cNvSpPr>
            <p:nvPr/>
          </p:nvSpPr>
          <p:spPr bwMode="auto">
            <a:xfrm>
              <a:off x="7331081" y="2276872"/>
              <a:ext cx="1142994" cy="3970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NULL</a:t>
              </a:r>
              <a:endParaRPr lang="en-US"/>
            </a:p>
          </p:txBody>
        </p:sp>
        <p:sp>
          <p:nvSpPr>
            <p:cNvPr id="96" name="Line 18"/>
            <p:cNvSpPr>
              <a:spLocks noChangeShapeType="1"/>
            </p:cNvSpPr>
            <p:nvPr/>
          </p:nvSpPr>
          <p:spPr bwMode="auto">
            <a:xfrm>
              <a:off x="2423114" y="1371869"/>
              <a:ext cx="0" cy="2568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97" name="Line 25"/>
            <p:cNvSpPr>
              <a:spLocks noChangeShapeType="1"/>
            </p:cNvSpPr>
            <p:nvPr/>
          </p:nvSpPr>
          <p:spPr bwMode="auto">
            <a:xfrm flipV="1">
              <a:off x="1963213" y="1384712"/>
              <a:ext cx="472125" cy="57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98" name="Line 59"/>
            <p:cNvSpPr>
              <a:spLocks noChangeShapeType="1"/>
            </p:cNvSpPr>
            <p:nvPr/>
          </p:nvSpPr>
          <p:spPr bwMode="auto">
            <a:xfrm>
              <a:off x="1748493" y="1769997"/>
              <a:ext cx="33731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81152" y="1231594"/>
              <a:ext cx="3359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000" dirty="0" smtClean="0"/>
                <a:t>…</a:t>
              </a:r>
            </a:p>
            <a:p>
              <a:endParaRPr lang="bg-BG" sz="1000" dirty="0"/>
            </a:p>
            <a:p>
              <a:r>
                <a:rPr lang="bg-BG" sz="1000" dirty="0" smtClean="0"/>
                <a:t>…</a:t>
              </a:r>
              <a:endParaRPr lang="ru-RU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862887" cy="5940425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AU" sz="2800" dirty="0">
                <a:solidFill>
                  <a:schemeClr val="tx1"/>
                </a:solidFill>
              </a:rPr>
              <a:t>	</a:t>
            </a:r>
            <a:r>
              <a:rPr lang="bg-BG" sz="2000" dirty="0">
                <a:solidFill>
                  <a:schemeClr val="tx1"/>
                </a:solidFill>
              </a:rPr>
              <a:t>Включване на междинен елемент със стойност </a:t>
            </a:r>
            <a:r>
              <a:rPr lang="bg-BG" sz="2000" b="1" dirty="0">
                <a:solidFill>
                  <a:schemeClr val="tx1"/>
                </a:solidFill>
              </a:rPr>
              <a:t>n</a:t>
            </a:r>
            <a:r>
              <a:rPr lang="bg-BG" sz="2000" dirty="0">
                <a:solidFill>
                  <a:schemeClr val="tx1"/>
                </a:solidFill>
              </a:rPr>
              <a:t> в </a:t>
            </a:r>
            <a:r>
              <a:rPr lang="bg-BG" sz="2000" dirty="0" err="1">
                <a:solidFill>
                  <a:schemeClr val="tx1"/>
                </a:solidFill>
              </a:rPr>
              <a:t>двусвързания</a:t>
            </a:r>
            <a:r>
              <a:rPr lang="bg-BG" sz="2000" dirty="0">
                <a:solidFill>
                  <a:schemeClr val="tx1"/>
                </a:solidFill>
              </a:rPr>
              <a:t> списък след друг елемент с ключова стойност </a:t>
            </a:r>
            <a:r>
              <a:rPr lang="bg-BG" sz="2000" b="1" dirty="0">
                <a:solidFill>
                  <a:schemeClr val="tx1"/>
                </a:solidFill>
              </a:rPr>
              <a:t>k</a:t>
            </a:r>
            <a:r>
              <a:rPr lang="bg-BG" sz="2000" dirty="0">
                <a:solidFill>
                  <a:schemeClr val="tx1"/>
                </a:solidFill>
              </a:rPr>
              <a:t>:</a:t>
            </a: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800" dirty="0">
                <a:solidFill>
                  <a:schemeClr val="tx1"/>
                </a:solidFill>
              </a:rPr>
              <a:t/>
            </a:r>
            <a:br>
              <a:rPr lang="bg-BG" sz="28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add3(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n,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k)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 *q;</a:t>
            </a:r>
            <a:br>
              <a:rPr lang="bg-BG" sz="20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!=k)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   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q=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 		//създаване на нов елемент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=n;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q-&gt;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    p-&gt;next-&gt;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</a:rPr>
              <a:t>prev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=q;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пренасочване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=q;		//на връзките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q-&gt;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=p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24629" name="Text Box 71"/>
          <p:cNvSpPr txBox="1">
            <a:spLocks noChangeArrowheads="1"/>
          </p:cNvSpPr>
          <p:nvPr/>
        </p:nvSpPr>
        <p:spPr bwMode="auto">
          <a:xfrm>
            <a:off x="7453368" y="2263423"/>
            <a:ext cx="1282645" cy="36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NULL</a:t>
            </a:r>
            <a:endParaRPr lang="en-US"/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2000951" y="1196625"/>
            <a:ext cx="5965516" cy="1850084"/>
            <a:chOff x="2000951" y="1196625"/>
            <a:chExt cx="5965516" cy="1850084"/>
          </a:xfrm>
        </p:grpSpPr>
        <p:sp>
          <p:nvSpPr>
            <p:cNvPr id="24580" name="Line 4"/>
            <p:cNvSpPr>
              <a:spLocks noChangeShapeType="1"/>
            </p:cNvSpPr>
            <p:nvPr/>
          </p:nvSpPr>
          <p:spPr bwMode="auto">
            <a:xfrm>
              <a:off x="2752581" y="1350580"/>
              <a:ext cx="189627" cy="81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2934024" y="1350581"/>
              <a:ext cx="1256" cy="2711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3613241" y="1829563"/>
              <a:ext cx="0" cy="276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3" name="Line 7"/>
            <p:cNvSpPr>
              <a:spLocks noChangeShapeType="1"/>
            </p:cNvSpPr>
            <p:nvPr/>
          </p:nvSpPr>
          <p:spPr bwMode="auto">
            <a:xfrm>
              <a:off x="3613241" y="2126863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4687574" y="2572813"/>
              <a:ext cx="4269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4305589" y="1196975"/>
              <a:ext cx="539998" cy="2557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6" name="Line 10"/>
            <p:cNvSpPr>
              <a:spLocks noChangeShapeType="1"/>
            </p:cNvSpPr>
            <p:nvPr/>
          </p:nvSpPr>
          <p:spPr bwMode="auto">
            <a:xfrm flipH="1">
              <a:off x="4330657" y="1200278"/>
              <a:ext cx="501067" cy="27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87" name="Line 11"/>
            <p:cNvSpPr>
              <a:spLocks noChangeShapeType="1"/>
            </p:cNvSpPr>
            <p:nvPr/>
          </p:nvSpPr>
          <p:spPr bwMode="auto">
            <a:xfrm>
              <a:off x="7803141" y="1780014"/>
              <a:ext cx="1256" cy="3957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4588" name="Group 12"/>
            <p:cNvGrpSpPr>
              <a:grpSpLocks/>
            </p:cNvGrpSpPr>
            <p:nvPr/>
          </p:nvGrpSpPr>
          <p:grpSpPr bwMode="auto">
            <a:xfrm>
              <a:off x="7755392" y="2198711"/>
              <a:ext cx="130604" cy="60702"/>
              <a:chOff x="0" y="0"/>
              <a:chExt cx="20000" cy="19987"/>
            </a:xfrm>
          </p:grpSpPr>
          <p:sp>
            <p:nvSpPr>
              <p:cNvPr id="24646" name="Line 1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7" name="Line 14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8" name="Line 15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4589" name="Text Box 16"/>
            <p:cNvSpPr txBox="1">
              <a:spLocks noChangeArrowheads="1"/>
            </p:cNvSpPr>
            <p:nvPr/>
          </p:nvSpPr>
          <p:spPr bwMode="auto">
            <a:xfrm>
              <a:off x="2932831" y="1598330"/>
              <a:ext cx="678136" cy="437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k</a:t>
              </a:r>
            </a:p>
          </p:txBody>
        </p:sp>
        <p:sp>
          <p:nvSpPr>
            <p:cNvPr id="24590" name="Line 17"/>
            <p:cNvSpPr>
              <a:spLocks noChangeShapeType="1"/>
            </p:cNvSpPr>
            <p:nvPr/>
          </p:nvSpPr>
          <p:spPr bwMode="auto">
            <a:xfrm>
              <a:off x="4042974" y="2126863"/>
              <a:ext cx="0" cy="2913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>
              <a:off x="3609660" y="1780014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2" name="Line 19"/>
            <p:cNvSpPr>
              <a:spLocks noChangeShapeType="1"/>
            </p:cNvSpPr>
            <p:nvPr/>
          </p:nvSpPr>
          <p:spPr bwMode="auto">
            <a:xfrm flipV="1">
              <a:off x="4042974" y="1334063"/>
              <a:ext cx="0" cy="4370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3" name="Line 20"/>
            <p:cNvSpPr>
              <a:spLocks noChangeShapeType="1"/>
            </p:cNvSpPr>
            <p:nvPr/>
          </p:nvSpPr>
          <p:spPr bwMode="auto">
            <a:xfrm>
              <a:off x="4042973" y="1334064"/>
              <a:ext cx="11302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4" name="Line 21"/>
            <p:cNvSpPr>
              <a:spLocks noChangeShapeType="1"/>
            </p:cNvSpPr>
            <p:nvPr/>
          </p:nvSpPr>
          <p:spPr bwMode="auto">
            <a:xfrm>
              <a:off x="5151492" y="1334064"/>
              <a:ext cx="0" cy="2913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5" name="Line 22"/>
            <p:cNvSpPr>
              <a:spLocks noChangeShapeType="1"/>
            </p:cNvSpPr>
            <p:nvPr/>
          </p:nvSpPr>
          <p:spPr bwMode="auto">
            <a:xfrm>
              <a:off x="5801057" y="1780014"/>
              <a:ext cx="3722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6" name="Line 23"/>
            <p:cNvSpPr>
              <a:spLocks noChangeShapeType="1"/>
            </p:cNvSpPr>
            <p:nvPr/>
          </p:nvSpPr>
          <p:spPr bwMode="auto">
            <a:xfrm flipV="1">
              <a:off x="6174549" y="1334063"/>
              <a:ext cx="0" cy="4370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7" name="Line 24"/>
            <p:cNvSpPr>
              <a:spLocks noChangeShapeType="1"/>
            </p:cNvSpPr>
            <p:nvPr/>
          </p:nvSpPr>
          <p:spPr bwMode="auto">
            <a:xfrm>
              <a:off x="6836241" y="1334064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8" name="Line 25"/>
            <p:cNvSpPr>
              <a:spLocks noChangeShapeType="1"/>
            </p:cNvSpPr>
            <p:nvPr/>
          </p:nvSpPr>
          <p:spPr bwMode="auto">
            <a:xfrm>
              <a:off x="7265974" y="1334064"/>
              <a:ext cx="0" cy="2913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599" name="Line 26"/>
            <p:cNvSpPr>
              <a:spLocks noChangeShapeType="1"/>
            </p:cNvSpPr>
            <p:nvPr/>
          </p:nvSpPr>
          <p:spPr bwMode="auto">
            <a:xfrm>
              <a:off x="6382634" y="1334064"/>
              <a:ext cx="4269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00" name="Line 27"/>
            <p:cNvSpPr>
              <a:spLocks noChangeShapeType="1"/>
            </p:cNvSpPr>
            <p:nvPr/>
          </p:nvSpPr>
          <p:spPr bwMode="auto">
            <a:xfrm>
              <a:off x="6179704" y="1334064"/>
              <a:ext cx="15069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01" name="Text Box 28"/>
            <p:cNvSpPr txBox="1">
              <a:spLocks noChangeArrowheads="1"/>
            </p:cNvSpPr>
            <p:nvPr/>
          </p:nvSpPr>
          <p:spPr bwMode="auto">
            <a:xfrm>
              <a:off x="2973472" y="1258551"/>
              <a:ext cx="678136" cy="437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p</a:t>
              </a:r>
            </a:p>
          </p:txBody>
        </p:sp>
        <p:sp>
          <p:nvSpPr>
            <p:cNvPr id="24602" name="Text Box 29"/>
            <p:cNvSpPr txBox="1">
              <a:spLocks noChangeArrowheads="1"/>
            </p:cNvSpPr>
            <p:nvPr/>
          </p:nvSpPr>
          <p:spPr bwMode="auto">
            <a:xfrm>
              <a:off x="3995227" y="2391130"/>
              <a:ext cx="678136" cy="437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n</a:t>
              </a:r>
            </a:p>
          </p:txBody>
        </p:sp>
        <p:sp>
          <p:nvSpPr>
            <p:cNvPr id="24603" name="Line 30"/>
            <p:cNvSpPr>
              <a:spLocks noChangeShapeType="1"/>
            </p:cNvSpPr>
            <p:nvPr/>
          </p:nvSpPr>
          <p:spPr bwMode="auto">
            <a:xfrm flipV="1">
              <a:off x="5117308" y="1912147"/>
              <a:ext cx="0" cy="642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4604" name="Group 31"/>
            <p:cNvGrpSpPr>
              <a:grpSpLocks/>
            </p:cNvGrpSpPr>
            <p:nvPr/>
          </p:nvGrpSpPr>
          <p:grpSpPr bwMode="auto">
            <a:xfrm>
              <a:off x="2634404" y="1614847"/>
              <a:ext cx="1130227" cy="291369"/>
              <a:chOff x="1161" y="4684"/>
              <a:chExt cx="900" cy="360"/>
            </a:xfrm>
          </p:grpSpPr>
          <p:sp>
            <p:nvSpPr>
              <p:cNvPr id="24643" name="Rectangle 32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4" name="Rectangle 33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5" name="Rectangle 34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4605" name="Group 35"/>
            <p:cNvGrpSpPr>
              <a:grpSpLocks/>
            </p:cNvGrpSpPr>
            <p:nvPr/>
          </p:nvGrpSpPr>
          <p:grpSpPr bwMode="auto">
            <a:xfrm>
              <a:off x="3696800" y="2415905"/>
              <a:ext cx="1130227" cy="291369"/>
              <a:chOff x="1161" y="4684"/>
              <a:chExt cx="900" cy="360"/>
            </a:xfrm>
          </p:grpSpPr>
          <p:sp>
            <p:nvSpPr>
              <p:cNvPr id="24640" name="Rectangle 36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1" name="Rectangle 37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42" name="Rectangle 38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4606" name="Group 39"/>
            <p:cNvGrpSpPr>
              <a:grpSpLocks/>
            </p:cNvGrpSpPr>
            <p:nvPr/>
          </p:nvGrpSpPr>
          <p:grpSpPr bwMode="auto">
            <a:xfrm>
              <a:off x="4783070" y="1614847"/>
              <a:ext cx="1130227" cy="291369"/>
              <a:chOff x="1161" y="4684"/>
              <a:chExt cx="900" cy="360"/>
            </a:xfrm>
          </p:grpSpPr>
          <p:sp>
            <p:nvSpPr>
              <p:cNvPr id="24637" name="Rectangle 40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38" name="Rectangle 41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39" name="Rectangle 42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4607" name="Group 43"/>
            <p:cNvGrpSpPr>
              <a:grpSpLocks/>
            </p:cNvGrpSpPr>
            <p:nvPr/>
          </p:nvGrpSpPr>
          <p:grpSpPr bwMode="auto">
            <a:xfrm>
              <a:off x="6836240" y="1614847"/>
              <a:ext cx="1130227" cy="291369"/>
              <a:chOff x="1161" y="4684"/>
              <a:chExt cx="900" cy="360"/>
            </a:xfrm>
          </p:grpSpPr>
          <p:sp>
            <p:nvSpPr>
              <p:cNvPr id="24634" name="Rectangle 44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35" name="Rectangle 45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636" name="Rectangle 46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4608" name="Text Box 47"/>
            <p:cNvSpPr txBox="1">
              <a:spLocks noChangeArrowheads="1"/>
            </p:cNvSpPr>
            <p:nvPr/>
          </p:nvSpPr>
          <p:spPr bwMode="auto">
            <a:xfrm>
              <a:off x="3975424" y="2609656"/>
              <a:ext cx="678136" cy="4370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 dirty="0">
                  <a:latin typeface="Courier New" pitchFamily="49" charset="0"/>
                </a:rPr>
                <a:t>q</a:t>
              </a:r>
            </a:p>
          </p:txBody>
        </p:sp>
        <p:sp>
          <p:nvSpPr>
            <p:cNvPr id="24611" name="Line 53"/>
            <p:cNvSpPr>
              <a:spLocks noChangeShapeType="1"/>
            </p:cNvSpPr>
            <p:nvPr/>
          </p:nvSpPr>
          <p:spPr bwMode="auto">
            <a:xfrm>
              <a:off x="6513942" y="1763497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2" name="Line 54"/>
            <p:cNvSpPr>
              <a:spLocks noChangeShapeType="1"/>
            </p:cNvSpPr>
            <p:nvPr/>
          </p:nvSpPr>
          <p:spPr bwMode="auto">
            <a:xfrm flipV="1">
              <a:off x="6513942" y="1763784"/>
              <a:ext cx="0" cy="4370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3" name="Line 55"/>
            <p:cNvSpPr>
              <a:spLocks noChangeShapeType="1"/>
            </p:cNvSpPr>
            <p:nvPr/>
          </p:nvSpPr>
          <p:spPr bwMode="auto">
            <a:xfrm>
              <a:off x="5427671" y="2209447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4" name="Line 56"/>
            <p:cNvSpPr>
              <a:spLocks noChangeShapeType="1"/>
            </p:cNvSpPr>
            <p:nvPr/>
          </p:nvSpPr>
          <p:spPr bwMode="auto">
            <a:xfrm>
              <a:off x="5439608" y="1912147"/>
              <a:ext cx="0" cy="2913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5" name="Line 57"/>
            <p:cNvSpPr>
              <a:spLocks noChangeShapeType="1"/>
            </p:cNvSpPr>
            <p:nvPr/>
          </p:nvSpPr>
          <p:spPr bwMode="auto">
            <a:xfrm>
              <a:off x="5917089" y="2209447"/>
              <a:ext cx="4269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6" name="Line 58"/>
            <p:cNvSpPr>
              <a:spLocks noChangeShapeType="1"/>
            </p:cNvSpPr>
            <p:nvPr/>
          </p:nvSpPr>
          <p:spPr bwMode="auto">
            <a:xfrm flipV="1">
              <a:off x="6386215" y="2198711"/>
              <a:ext cx="127727" cy="18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7" name="Line 59"/>
            <p:cNvSpPr>
              <a:spLocks noChangeShapeType="1"/>
            </p:cNvSpPr>
            <p:nvPr/>
          </p:nvSpPr>
          <p:spPr bwMode="auto">
            <a:xfrm>
              <a:off x="2347916" y="1350580"/>
              <a:ext cx="4269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8" name="Line 60"/>
            <p:cNvSpPr>
              <a:spLocks noChangeShapeType="1"/>
            </p:cNvSpPr>
            <p:nvPr/>
          </p:nvSpPr>
          <p:spPr bwMode="auto">
            <a:xfrm flipH="1">
              <a:off x="2944766" y="2581072"/>
              <a:ext cx="87906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19" name="Line 61"/>
            <p:cNvSpPr>
              <a:spLocks noChangeShapeType="1"/>
            </p:cNvSpPr>
            <p:nvPr/>
          </p:nvSpPr>
          <p:spPr bwMode="auto">
            <a:xfrm flipV="1">
              <a:off x="2968641" y="1912147"/>
              <a:ext cx="0" cy="6563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0" name="Line 62"/>
            <p:cNvSpPr>
              <a:spLocks noChangeShapeType="1"/>
            </p:cNvSpPr>
            <p:nvPr/>
          </p:nvSpPr>
          <p:spPr bwMode="auto">
            <a:xfrm>
              <a:off x="4472708" y="1763497"/>
              <a:ext cx="45209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1" name="Line 63"/>
            <p:cNvSpPr>
              <a:spLocks noChangeShapeType="1"/>
            </p:cNvSpPr>
            <p:nvPr/>
          </p:nvSpPr>
          <p:spPr bwMode="auto">
            <a:xfrm flipV="1">
              <a:off x="4472708" y="1763496"/>
              <a:ext cx="0" cy="4370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2" name="Line 64"/>
            <p:cNvSpPr>
              <a:spLocks noChangeShapeType="1"/>
            </p:cNvSpPr>
            <p:nvPr/>
          </p:nvSpPr>
          <p:spPr bwMode="auto">
            <a:xfrm>
              <a:off x="3410311" y="2209447"/>
              <a:ext cx="113022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3" name="Line 65"/>
            <p:cNvSpPr>
              <a:spLocks noChangeShapeType="1"/>
            </p:cNvSpPr>
            <p:nvPr/>
          </p:nvSpPr>
          <p:spPr bwMode="auto">
            <a:xfrm>
              <a:off x="3398375" y="1920405"/>
              <a:ext cx="0" cy="2913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4" name="Line 66"/>
            <p:cNvSpPr>
              <a:spLocks noChangeShapeType="1"/>
            </p:cNvSpPr>
            <p:nvPr/>
          </p:nvSpPr>
          <p:spPr bwMode="auto">
            <a:xfrm>
              <a:off x="4198156" y="1857642"/>
              <a:ext cx="539998" cy="2557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5" name="Line 67"/>
            <p:cNvSpPr>
              <a:spLocks noChangeShapeType="1"/>
            </p:cNvSpPr>
            <p:nvPr/>
          </p:nvSpPr>
          <p:spPr bwMode="auto">
            <a:xfrm flipH="1">
              <a:off x="4223223" y="1860945"/>
              <a:ext cx="501067" cy="27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6" name="Line 68"/>
            <p:cNvSpPr>
              <a:spLocks noChangeShapeType="1"/>
            </p:cNvSpPr>
            <p:nvPr/>
          </p:nvSpPr>
          <p:spPr bwMode="auto">
            <a:xfrm>
              <a:off x="4902442" y="1763497"/>
              <a:ext cx="0" cy="11654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7" name="Line 69"/>
            <p:cNvSpPr>
              <a:spLocks noChangeShapeType="1"/>
            </p:cNvSpPr>
            <p:nvPr/>
          </p:nvSpPr>
          <p:spPr bwMode="auto">
            <a:xfrm flipH="1">
              <a:off x="4257841" y="2952697"/>
              <a:ext cx="6781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628" name="Line 70"/>
            <p:cNvSpPr>
              <a:spLocks noChangeShapeType="1"/>
            </p:cNvSpPr>
            <p:nvPr/>
          </p:nvSpPr>
          <p:spPr bwMode="auto">
            <a:xfrm flipV="1">
              <a:off x="4257842" y="2696688"/>
              <a:ext cx="0" cy="2476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74" name="Line 22"/>
            <p:cNvSpPr>
              <a:spLocks noChangeShapeType="1"/>
            </p:cNvSpPr>
            <p:nvPr/>
          </p:nvSpPr>
          <p:spPr bwMode="auto">
            <a:xfrm>
              <a:off x="2347916" y="1780014"/>
              <a:ext cx="3722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2000951" y="1196625"/>
              <a:ext cx="2878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1000" dirty="0" smtClean="0"/>
                <a:t>…</a:t>
              </a:r>
            </a:p>
            <a:p>
              <a:endParaRPr lang="bg-BG" sz="1000" dirty="0"/>
            </a:p>
            <a:p>
              <a:endParaRPr lang="bg-BG" sz="1000" dirty="0" smtClean="0"/>
            </a:p>
            <a:p>
              <a:r>
                <a:rPr lang="bg-BG" sz="1000" dirty="0" smtClean="0"/>
                <a:t>…</a:t>
              </a:r>
              <a:endParaRPr lang="ru-RU" sz="10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1371600"/>
            <a:ext cx="7796212" cy="5486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Включване на последен елемент със стойност </a:t>
            </a:r>
            <a:r>
              <a:rPr lang="bg-BG" sz="2400" b="1" dirty="0">
                <a:solidFill>
                  <a:schemeClr val="tx1"/>
                </a:solidFill>
              </a:rPr>
              <a:t>n</a:t>
            </a:r>
            <a:r>
              <a:rPr lang="bg-BG" sz="2400" dirty="0">
                <a:solidFill>
                  <a:schemeClr val="tx1"/>
                </a:solidFill>
              </a:rPr>
              <a:t> в </a:t>
            </a:r>
            <a:r>
              <a:rPr lang="bg-BG" sz="2400" dirty="0" err="1">
                <a:solidFill>
                  <a:schemeClr val="tx1"/>
                </a:solidFill>
              </a:rPr>
              <a:t>двусвързания</a:t>
            </a:r>
            <a:r>
              <a:rPr lang="bg-BG" sz="2400" dirty="0">
                <a:solidFill>
                  <a:schemeClr val="tx1"/>
                </a:solidFill>
              </a:rPr>
              <a:t> списък с начален указател </a:t>
            </a:r>
            <a:r>
              <a:rPr lang="bg-BG" sz="2400" b="1" dirty="0" err="1">
                <a:solidFill>
                  <a:schemeClr val="tx1"/>
                </a:solidFill>
              </a:rPr>
              <a:t>start</a:t>
            </a:r>
            <a:r>
              <a:rPr lang="bg-BG" sz="2400" dirty="0">
                <a:solidFill>
                  <a:schemeClr val="tx1"/>
                </a:solidFill>
              </a:rPr>
              <a:t>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add4(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n)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{</a:t>
            </a:r>
            <a:br>
              <a:rPr lang="bg-BG" sz="18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, *q;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q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new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;			//създаване на нов елемент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=n;		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q-&gt;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=NULL;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if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)			//проверка за непразен списък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{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  p=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p-&gt;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=q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en-US" sz="1800" dirty="0" smtClean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}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 </a:t>
            </a:r>
            <a:r>
              <a:rPr lang="bg-BG" sz="1800" dirty="0" err="1">
                <a:solidFill>
                  <a:schemeClr val="tx1"/>
                </a:solidFill>
                <a:latin typeface="Courier New" pitchFamily="49" charset="0"/>
              </a:rPr>
              <a:t>else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  </a:t>
            </a:r>
            <a:r>
              <a:rPr lang="en-US" sz="1800" dirty="0" smtClean="0">
                <a:solidFill>
                  <a:schemeClr val="tx1"/>
                </a:solidFill>
                <a:latin typeface="Courier New" pitchFamily="49" charset="0"/>
              </a:rPr>
              <a:t>	</a:t>
            </a:r>
            <a:r>
              <a:rPr lang="bg-BG" sz="1800" dirty="0" err="1" smtClean="0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=q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;		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//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елементът е единствен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q-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18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18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1800" dirty="0" smtClean="0">
                <a:solidFill>
                  <a:schemeClr val="tx1"/>
                </a:solidFill>
                <a:latin typeface="Courier New" pitchFamily="49" charset="0"/>
              </a:rPr>
              <a:t>=p</a:t>
            </a: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8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18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5603" name="Group 157"/>
          <p:cNvGrpSpPr>
            <a:grpSpLocks/>
          </p:cNvGrpSpPr>
          <p:nvPr/>
        </p:nvGrpSpPr>
        <p:grpSpPr bwMode="auto">
          <a:xfrm>
            <a:off x="1762125" y="1217613"/>
            <a:ext cx="6705600" cy="1619250"/>
            <a:chOff x="2109" y="3192"/>
            <a:chExt cx="8138" cy="1710"/>
          </a:xfrm>
        </p:grpSpPr>
        <p:sp>
          <p:nvSpPr>
            <p:cNvPr id="25604" name="Text Box 158"/>
            <p:cNvSpPr txBox="1">
              <a:spLocks noChangeArrowheads="1"/>
            </p:cNvSpPr>
            <p:nvPr/>
          </p:nvSpPr>
          <p:spPr bwMode="auto">
            <a:xfrm>
              <a:off x="9234" y="3990"/>
              <a:ext cx="513" cy="4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/>
                <a:t>n</a:t>
              </a:r>
              <a:endParaRPr lang="en-US" sz="1600"/>
            </a:p>
          </p:txBody>
        </p:sp>
        <p:sp>
          <p:nvSpPr>
            <p:cNvPr id="25605" name="Text Box 159"/>
            <p:cNvSpPr txBox="1">
              <a:spLocks noChangeArrowheads="1"/>
            </p:cNvSpPr>
            <p:nvPr/>
          </p:nvSpPr>
          <p:spPr bwMode="auto">
            <a:xfrm>
              <a:off x="2166" y="3192"/>
              <a:ext cx="1254" cy="5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Start</a:t>
              </a:r>
            </a:p>
          </p:txBody>
        </p:sp>
        <p:grpSp>
          <p:nvGrpSpPr>
            <p:cNvPr id="25606" name="Group 160"/>
            <p:cNvGrpSpPr>
              <a:grpSpLocks/>
            </p:cNvGrpSpPr>
            <p:nvPr/>
          </p:nvGrpSpPr>
          <p:grpSpPr bwMode="auto">
            <a:xfrm>
              <a:off x="2516" y="3960"/>
              <a:ext cx="1224" cy="360"/>
              <a:chOff x="1269" y="5224"/>
              <a:chExt cx="1224" cy="360"/>
            </a:xfrm>
          </p:grpSpPr>
          <p:sp>
            <p:nvSpPr>
              <p:cNvPr id="25678" name="Rectangle 161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79" name="Rectangle 162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80" name="Rectangle 163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5607" name="Group 164"/>
            <p:cNvGrpSpPr>
              <a:grpSpLocks/>
            </p:cNvGrpSpPr>
            <p:nvPr/>
          </p:nvGrpSpPr>
          <p:grpSpPr bwMode="auto">
            <a:xfrm>
              <a:off x="4208" y="3960"/>
              <a:ext cx="1224" cy="360"/>
              <a:chOff x="1269" y="5224"/>
              <a:chExt cx="1224" cy="360"/>
            </a:xfrm>
          </p:grpSpPr>
          <p:sp>
            <p:nvSpPr>
              <p:cNvPr id="25675" name="Rectangle 165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76" name="Rectangle 166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77" name="Rectangle 167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5608" name="Line 168"/>
            <p:cNvSpPr>
              <a:spLocks noChangeShapeType="1"/>
            </p:cNvSpPr>
            <p:nvPr/>
          </p:nvSpPr>
          <p:spPr bwMode="auto">
            <a:xfrm>
              <a:off x="2109" y="3591"/>
              <a:ext cx="102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09" name="Line 169"/>
            <p:cNvSpPr>
              <a:spLocks noChangeShapeType="1"/>
            </p:cNvSpPr>
            <p:nvPr/>
          </p:nvSpPr>
          <p:spPr bwMode="auto">
            <a:xfrm>
              <a:off x="3133" y="3600"/>
              <a:ext cx="0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10" name="Line 170"/>
            <p:cNvSpPr>
              <a:spLocks noChangeShapeType="1"/>
            </p:cNvSpPr>
            <p:nvPr/>
          </p:nvSpPr>
          <p:spPr bwMode="auto">
            <a:xfrm>
              <a:off x="5348" y="4140"/>
              <a:ext cx="18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11" name="Line 171"/>
            <p:cNvSpPr>
              <a:spLocks noChangeShapeType="1"/>
            </p:cNvSpPr>
            <p:nvPr/>
          </p:nvSpPr>
          <p:spPr bwMode="auto">
            <a:xfrm flipV="1">
              <a:off x="5528" y="3600"/>
              <a:ext cx="0" cy="5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12" name="Line 172"/>
            <p:cNvSpPr>
              <a:spLocks noChangeShapeType="1"/>
            </p:cNvSpPr>
            <p:nvPr/>
          </p:nvSpPr>
          <p:spPr bwMode="auto">
            <a:xfrm>
              <a:off x="5528" y="3603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13" name="Line 173"/>
            <p:cNvSpPr>
              <a:spLocks noChangeShapeType="1"/>
            </p:cNvSpPr>
            <p:nvPr/>
          </p:nvSpPr>
          <p:spPr bwMode="auto">
            <a:xfrm>
              <a:off x="6208" y="3603"/>
              <a:ext cx="3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5614" name="Group 174"/>
            <p:cNvGrpSpPr>
              <a:grpSpLocks/>
            </p:cNvGrpSpPr>
            <p:nvPr/>
          </p:nvGrpSpPr>
          <p:grpSpPr bwMode="auto">
            <a:xfrm>
              <a:off x="2335" y="4113"/>
              <a:ext cx="326" cy="430"/>
              <a:chOff x="4144" y="5311"/>
              <a:chExt cx="326" cy="430"/>
            </a:xfrm>
          </p:grpSpPr>
          <p:grpSp>
            <p:nvGrpSpPr>
              <p:cNvPr id="25669" name="Group 175"/>
              <p:cNvGrpSpPr>
                <a:grpSpLocks/>
              </p:cNvGrpSpPr>
              <p:nvPr/>
            </p:nvGrpSpPr>
            <p:grpSpPr bwMode="auto">
              <a:xfrm>
                <a:off x="4144" y="5663"/>
                <a:ext cx="113" cy="78"/>
                <a:chOff x="0" y="0"/>
                <a:chExt cx="20000" cy="20485"/>
              </a:xfrm>
            </p:grpSpPr>
            <p:sp>
              <p:nvSpPr>
                <p:cNvPr id="25672" name="Line 176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73" name="Line 177"/>
                <p:cNvSpPr>
                  <a:spLocks noChangeShapeType="1"/>
                </p:cNvSpPr>
                <p:nvPr/>
              </p:nvSpPr>
              <p:spPr bwMode="auto">
                <a:xfrm>
                  <a:off x="3961" y="20244"/>
                  <a:ext cx="1207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74" name="Line 178"/>
                <p:cNvSpPr>
                  <a:spLocks noChangeShapeType="1"/>
                </p:cNvSpPr>
                <p:nvPr/>
              </p:nvSpPr>
              <p:spPr bwMode="auto">
                <a:xfrm>
                  <a:off x="1981" y="10122"/>
                  <a:ext cx="1603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5670" name="Line 179"/>
              <p:cNvSpPr>
                <a:spLocks noChangeShapeType="1"/>
              </p:cNvSpPr>
              <p:nvPr/>
            </p:nvSpPr>
            <p:spPr bwMode="auto">
              <a:xfrm flipH="1">
                <a:off x="4200" y="5328"/>
                <a:ext cx="2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71" name="Line 180"/>
              <p:cNvSpPr>
                <a:spLocks noChangeShapeType="1"/>
              </p:cNvSpPr>
              <p:nvPr/>
            </p:nvSpPr>
            <p:spPr bwMode="auto">
              <a:xfrm>
                <a:off x="4200" y="5311"/>
                <a:ext cx="1" cy="3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5615" name="Group 181"/>
            <p:cNvGrpSpPr>
              <a:grpSpLocks/>
            </p:cNvGrpSpPr>
            <p:nvPr/>
          </p:nvGrpSpPr>
          <p:grpSpPr bwMode="auto">
            <a:xfrm>
              <a:off x="3668" y="3600"/>
              <a:ext cx="1080" cy="540"/>
              <a:chOff x="5494" y="4788"/>
              <a:chExt cx="1080" cy="540"/>
            </a:xfrm>
          </p:grpSpPr>
          <p:sp>
            <p:nvSpPr>
              <p:cNvPr id="25664" name="Line 182"/>
              <p:cNvSpPr>
                <a:spLocks noChangeShapeType="1"/>
              </p:cNvSpPr>
              <p:nvPr/>
            </p:nvSpPr>
            <p:spPr bwMode="auto">
              <a:xfrm>
                <a:off x="549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65" name="Line 183"/>
              <p:cNvSpPr>
                <a:spLocks noChangeShapeType="1"/>
              </p:cNvSpPr>
              <p:nvPr/>
            </p:nvSpPr>
            <p:spPr bwMode="auto">
              <a:xfrm flipV="1">
                <a:off x="5674" y="4788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66" name="Line 184"/>
              <p:cNvSpPr>
                <a:spLocks noChangeShapeType="1"/>
              </p:cNvSpPr>
              <p:nvPr/>
            </p:nvSpPr>
            <p:spPr bwMode="auto">
              <a:xfrm>
                <a:off x="5674" y="4788"/>
                <a:ext cx="9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67" name="Line 185"/>
              <p:cNvSpPr>
                <a:spLocks noChangeShapeType="1"/>
              </p:cNvSpPr>
              <p:nvPr/>
            </p:nvSpPr>
            <p:spPr bwMode="auto">
              <a:xfrm>
                <a:off x="6574" y="4788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68" name="Line 186"/>
              <p:cNvSpPr>
                <a:spLocks noChangeShapeType="1"/>
              </p:cNvSpPr>
              <p:nvPr/>
            </p:nvSpPr>
            <p:spPr bwMode="auto">
              <a:xfrm>
                <a:off x="593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5616" name="Line 187"/>
            <p:cNvSpPr>
              <a:spLocks noChangeShapeType="1"/>
            </p:cNvSpPr>
            <p:nvPr/>
          </p:nvSpPr>
          <p:spPr bwMode="auto">
            <a:xfrm flipV="1">
              <a:off x="4098" y="4130"/>
              <a:ext cx="0" cy="5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5617" name="Group 188"/>
            <p:cNvGrpSpPr>
              <a:grpSpLocks/>
            </p:cNvGrpSpPr>
            <p:nvPr/>
          </p:nvGrpSpPr>
          <p:grpSpPr bwMode="auto">
            <a:xfrm>
              <a:off x="6498" y="3600"/>
              <a:ext cx="1469" cy="1080"/>
              <a:chOff x="6498" y="3087"/>
              <a:chExt cx="1469" cy="1080"/>
            </a:xfrm>
          </p:grpSpPr>
          <p:sp>
            <p:nvSpPr>
              <p:cNvPr id="25649" name="Line 189"/>
              <p:cNvSpPr>
                <a:spLocks noChangeShapeType="1"/>
              </p:cNvSpPr>
              <p:nvPr/>
            </p:nvSpPr>
            <p:spPr bwMode="auto">
              <a:xfrm>
                <a:off x="7268" y="3087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50" name="Line 190"/>
              <p:cNvSpPr>
                <a:spLocks noChangeShapeType="1"/>
              </p:cNvSpPr>
              <p:nvPr/>
            </p:nvSpPr>
            <p:spPr bwMode="auto">
              <a:xfrm>
                <a:off x="6548" y="3090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51" name="Line 191"/>
              <p:cNvSpPr>
                <a:spLocks noChangeShapeType="1"/>
              </p:cNvSpPr>
              <p:nvPr/>
            </p:nvSpPr>
            <p:spPr bwMode="auto">
              <a:xfrm>
                <a:off x="7628" y="3627"/>
                <a:ext cx="29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52" name="Line 192"/>
              <p:cNvSpPr>
                <a:spLocks noChangeShapeType="1"/>
              </p:cNvSpPr>
              <p:nvPr/>
            </p:nvSpPr>
            <p:spPr bwMode="auto">
              <a:xfrm>
                <a:off x="7920" y="3620"/>
                <a:ext cx="1" cy="3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25653" name="Group 193"/>
              <p:cNvGrpSpPr>
                <a:grpSpLocks/>
              </p:cNvGrpSpPr>
              <p:nvPr/>
            </p:nvGrpSpPr>
            <p:grpSpPr bwMode="auto">
              <a:xfrm>
                <a:off x="7854" y="3963"/>
                <a:ext cx="113" cy="78"/>
                <a:chOff x="0" y="0"/>
                <a:chExt cx="20000" cy="19975"/>
              </a:xfrm>
            </p:grpSpPr>
            <p:sp>
              <p:nvSpPr>
                <p:cNvPr id="25661" name="Line 194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62" name="Line 195"/>
                <p:cNvSpPr>
                  <a:spLocks noChangeShapeType="1"/>
                </p:cNvSpPr>
                <p:nvPr/>
              </p:nvSpPr>
              <p:spPr bwMode="auto">
                <a:xfrm>
                  <a:off x="3961" y="19740"/>
                  <a:ext cx="1207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63" name="Line 196"/>
                <p:cNvSpPr>
                  <a:spLocks noChangeShapeType="1"/>
                </p:cNvSpPr>
                <p:nvPr/>
              </p:nvSpPr>
              <p:spPr bwMode="auto">
                <a:xfrm>
                  <a:off x="1981" y="9870"/>
                  <a:ext cx="1603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5654" name="Group 197"/>
              <p:cNvGrpSpPr>
                <a:grpSpLocks/>
              </p:cNvGrpSpPr>
              <p:nvPr/>
            </p:nvGrpSpPr>
            <p:grpSpPr bwMode="auto">
              <a:xfrm>
                <a:off x="6498" y="3447"/>
                <a:ext cx="1310" cy="360"/>
                <a:chOff x="7184" y="5148"/>
                <a:chExt cx="1310" cy="360"/>
              </a:xfrm>
            </p:grpSpPr>
            <p:grpSp>
              <p:nvGrpSpPr>
                <p:cNvPr id="25656" name="Group 198"/>
                <p:cNvGrpSpPr>
                  <a:grpSpLocks/>
                </p:cNvGrpSpPr>
                <p:nvPr/>
              </p:nvGrpSpPr>
              <p:grpSpPr bwMode="auto">
                <a:xfrm>
                  <a:off x="7270" y="5148"/>
                  <a:ext cx="1224" cy="360"/>
                  <a:chOff x="1269" y="5224"/>
                  <a:chExt cx="1224" cy="360"/>
                </a:xfrm>
              </p:grpSpPr>
              <p:sp>
                <p:nvSpPr>
                  <p:cNvPr id="25658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1269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5659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2241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5660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1521" y="5224"/>
                    <a:ext cx="720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</p:grpSp>
            <p:sp>
              <p:nvSpPr>
                <p:cNvPr id="25657" name="Line 202"/>
                <p:cNvSpPr>
                  <a:spLocks noChangeShapeType="1"/>
                </p:cNvSpPr>
                <p:nvPr/>
              </p:nvSpPr>
              <p:spPr bwMode="auto">
                <a:xfrm>
                  <a:off x="7184" y="5328"/>
                  <a:ext cx="18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5655" name="Line 203"/>
              <p:cNvSpPr>
                <a:spLocks noChangeShapeType="1"/>
              </p:cNvSpPr>
              <p:nvPr/>
            </p:nvSpPr>
            <p:spPr bwMode="auto">
              <a:xfrm flipV="1">
                <a:off x="6508" y="3627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5618" name="Line 204"/>
            <p:cNvSpPr>
              <a:spLocks noChangeShapeType="1"/>
            </p:cNvSpPr>
            <p:nvPr/>
          </p:nvSpPr>
          <p:spPr bwMode="auto">
            <a:xfrm>
              <a:off x="3118" y="4673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19" name="Line 205"/>
            <p:cNvSpPr>
              <a:spLocks noChangeShapeType="1"/>
            </p:cNvSpPr>
            <p:nvPr/>
          </p:nvSpPr>
          <p:spPr bwMode="auto">
            <a:xfrm flipV="1">
              <a:off x="3128" y="4320"/>
              <a:ext cx="0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0" name="Line 206"/>
            <p:cNvSpPr>
              <a:spLocks noChangeShapeType="1"/>
            </p:cNvSpPr>
            <p:nvPr/>
          </p:nvSpPr>
          <p:spPr bwMode="auto">
            <a:xfrm>
              <a:off x="5798" y="4680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1" name="Line 207"/>
            <p:cNvSpPr>
              <a:spLocks noChangeShapeType="1"/>
            </p:cNvSpPr>
            <p:nvPr/>
          </p:nvSpPr>
          <p:spPr bwMode="auto">
            <a:xfrm>
              <a:off x="4748" y="4680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2" name="Line 208"/>
            <p:cNvSpPr>
              <a:spLocks noChangeShapeType="1"/>
            </p:cNvSpPr>
            <p:nvPr/>
          </p:nvSpPr>
          <p:spPr bwMode="auto">
            <a:xfrm>
              <a:off x="5458" y="4680"/>
              <a:ext cx="3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3" name="Line 209"/>
            <p:cNvSpPr>
              <a:spLocks noChangeShapeType="1"/>
            </p:cNvSpPr>
            <p:nvPr/>
          </p:nvSpPr>
          <p:spPr bwMode="auto">
            <a:xfrm flipV="1">
              <a:off x="4748" y="4320"/>
              <a:ext cx="0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4" name="Text Box 210"/>
            <p:cNvSpPr txBox="1">
              <a:spLocks noChangeArrowheads="1"/>
            </p:cNvSpPr>
            <p:nvPr/>
          </p:nvSpPr>
          <p:spPr bwMode="auto">
            <a:xfrm>
              <a:off x="3998" y="4240"/>
              <a:ext cx="90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1" dirty="0" err="1" smtClean="0">
                  <a:latin typeface="Courier New" pitchFamily="49" charset="0"/>
                </a:rPr>
                <a:t>prev</a:t>
              </a:r>
              <a:endParaRPr lang="en-US" sz="1200" b="1" dirty="0">
                <a:latin typeface="Courier New" pitchFamily="49" charset="0"/>
              </a:endParaRPr>
            </a:p>
          </p:txBody>
        </p:sp>
        <p:sp>
          <p:nvSpPr>
            <p:cNvPr id="25625" name="Text Box 211"/>
            <p:cNvSpPr txBox="1">
              <a:spLocks noChangeArrowheads="1"/>
            </p:cNvSpPr>
            <p:nvPr/>
          </p:nvSpPr>
          <p:spPr bwMode="auto">
            <a:xfrm>
              <a:off x="4988" y="4250"/>
              <a:ext cx="90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200" b="1">
                  <a:latin typeface="Courier New" pitchFamily="49" charset="0"/>
                </a:rPr>
                <a:t>next</a:t>
              </a:r>
              <a:endParaRPr lang="bg-BG" sz="1200" b="1">
                <a:latin typeface="Courier New" pitchFamily="49" charset="0"/>
              </a:endParaRPr>
            </a:p>
          </p:txBody>
        </p:sp>
        <p:grpSp>
          <p:nvGrpSpPr>
            <p:cNvPr id="25626" name="Group 212"/>
            <p:cNvGrpSpPr>
              <a:grpSpLocks/>
            </p:cNvGrpSpPr>
            <p:nvPr/>
          </p:nvGrpSpPr>
          <p:grpSpPr bwMode="auto">
            <a:xfrm>
              <a:off x="8778" y="3648"/>
              <a:ext cx="1469" cy="1197"/>
              <a:chOff x="6498" y="3087"/>
              <a:chExt cx="1469" cy="1080"/>
            </a:xfrm>
          </p:grpSpPr>
          <p:sp>
            <p:nvSpPr>
              <p:cNvPr id="25634" name="Line 213"/>
              <p:cNvSpPr>
                <a:spLocks noChangeShapeType="1"/>
              </p:cNvSpPr>
              <p:nvPr/>
            </p:nvSpPr>
            <p:spPr bwMode="auto">
              <a:xfrm>
                <a:off x="7268" y="3087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35" name="Line 214"/>
              <p:cNvSpPr>
                <a:spLocks noChangeShapeType="1"/>
              </p:cNvSpPr>
              <p:nvPr/>
            </p:nvSpPr>
            <p:spPr bwMode="auto">
              <a:xfrm>
                <a:off x="6548" y="3090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36" name="Line 215"/>
              <p:cNvSpPr>
                <a:spLocks noChangeShapeType="1"/>
              </p:cNvSpPr>
              <p:nvPr/>
            </p:nvSpPr>
            <p:spPr bwMode="auto">
              <a:xfrm>
                <a:off x="7628" y="3627"/>
                <a:ext cx="29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637" name="Line 216"/>
              <p:cNvSpPr>
                <a:spLocks noChangeShapeType="1"/>
              </p:cNvSpPr>
              <p:nvPr/>
            </p:nvSpPr>
            <p:spPr bwMode="auto">
              <a:xfrm>
                <a:off x="7920" y="3620"/>
                <a:ext cx="1" cy="3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25638" name="Group 217"/>
              <p:cNvGrpSpPr>
                <a:grpSpLocks/>
              </p:cNvGrpSpPr>
              <p:nvPr/>
            </p:nvGrpSpPr>
            <p:grpSpPr bwMode="auto">
              <a:xfrm>
                <a:off x="7854" y="3963"/>
                <a:ext cx="113" cy="78"/>
                <a:chOff x="0" y="0"/>
                <a:chExt cx="20000" cy="19975"/>
              </a:xfrm>
            </p:grpSpPr>
            <p:sp>
              <p:nvSpPr>
                <p:cNvPr id="25646" name="Line 218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47" name="Line 219"/>
                <p:cNvSpPr>
                  <a:spLocks noChangeShapeType="1"/>
                </p:cNvSpPr>
                <p:nvPr/>
              </p:nvSpPr>
              <p:spPr bwMode="auto">
                <a:xfrm>
                  <a:off x="3961" y="19740"/>
                  <a:ext cx="1207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5648" name="Line 220"/>
                <p:cNvSpPr>
                  <a:spLocks noChangeShapeType="1"/>
                </p:cNvSpPr>
                <p:nvPr/>
              </p:nvSpPr>
              <p:spPr bwMode="auto">
                <a:xfrm>
                  <a:off x="1981" y="9870"/>
                  <a:ext cx="1603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5639" name="Group 221"/>
              <p:cNvGrpSpPr>
                <a:grpSpLocks/>
              </p:cNvGrpSpPr>
              <p:nvPr/>
            </p:nvGrpSpPr>
            <p:grpSpPr bwMode="auto">
              <a:xfrm>
                <a:off x="6498" y="3447"/>
                <a:ext cx="1310" cy="360"/>
                <a:chOff x="7184" y="5148"/>
                <a:chExt cx="1310" cy="360"/>
              </a:xfrm>
            </p:grpSpPr>
            <p:grpSp>
              <p:nvGrpSpPr>
                <p:cNvPr id="25641" name="Group 222"/>
                <p:cNvGrpSpPr>
                  <a:grpSpLocks/>
                </p:cNvGrpSpPr>
                <p:nvPr/>
              </p:nvGrpSpPr>
              <p:grpSpPr bwMode="auto">
                <a:xfrm>
                  <a:off x="7270" y="5148"/>
                  <a:ext cx="1224" cy="360"/>
                  <a:chOff x="1269" y="5224"/>
                  <a:chExt cx="1224" cy="360"/>
                </a:xfrm>
              </p:grpSpPr>
              <p:sp>
                <p:nvSpPr>
                  <p:cNvPr id="25643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269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5644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2241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5645" name="Rectangle 225"/>
                  <p:cNvSpPr>
                    <a:spLocks noChangeArrowheads="1"/>
                  </p:cNvSpPr>
                  <p:nvPr/>
                </p:nvSpPr>
                <p:spPr bwMode="auto">
                  <a:xfrm>
                    <a:off x="1521" y="5224"/>
                    <a:ext cx="720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</p:grpSp>
            <p:sp>
              <p:nvSpPr>
                <p:cNvPr id="25642" name="Line 226"/>
                <p:cNvSpPr>
                  <a:spLocks noChangeShapeType="1"/>
                </p:cNvSpPr>
                <p:nvPr/>
              </p:nvSpPr>
              <p:spPr bwMode="auto">
                <a:xfrm>
                  <a:off x="7184" y="5328"/>
                  <a:ext cx="18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5640" name="Line 227"/>
              <p:cNvSpPr>
                <a:spLocks noChangeShapeType="1"/>
              </p:cNvSpPr>
              <p:nvPr/>
            </p:nvSpPr>
            <p:spPr bwMode="auto">
              <a:xfrm flipV="1">
                <a:off x="6508" y="3627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5627" name="Line 228"/>
            <p:cNvSpPr>
              <a:spLocks noChangeShapeType="1"/>
            </p:cNvSpPr>
            <p:nvPr/>
          </p:nvSpPr>
          <p:spPr bwMode="auto">
            <a:xfrm flipH="1">
              <a:off x="7695" y="3990"/>
              <a:ext cx="342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8" name="Line 229"/>
            <p:cNvSpPr>
              <a:spLocks noChangeShapeType="1"/>
            </p:cNvSpPr>
            <p:nvPr/>
          </p:nvSpPr>
          <p:spPr bwMode="auto">
            <a:xfrm>
              <a:off x="7638" y="4218"/>
              <a:ext cx="0" cy="6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29" name="Line 230"/>
            <p:cNvSpPr>
              <a:spLocks noChangeShapeType="1"/>
            </p:cNvSpPr>
            <p:nvPr/>
          </p:nvSpPr>
          <p:spPr bwMode="auto">
            <a:xfrm>
              <a:off x="7638" y="4845"/>
              <a:ext cx="79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30" name="Line 231"/>
            <p:cNvSpPr>
              <a:spLocks noChangeShapeType="1"/>
            </p:cNvSpPr>
            <p:nvPr/>
          </p:nvSpPr>
          <p:spPr bwMode="auto">
            <a:xfrm flipV="1">
              <a:off x="8493" y="3648"/>
              <a:ext cx="0" cy="11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31" name="Line 232"/>
            <p:cNvSpPr>
              <a:spLocks noChangeShapeType="1"/>
            </p:cNvSpPr>
            <p:nvPr/>
          </p:nvSpPr>
          <p:spPr bwMode="auto">
            <a:xfrm>
              <a:off x="8493" y="3655"/>
              <a:ext cx="34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32" name="Line 233"/>
            <p:cNvSpPr>
              <a:spLocks noChangeShapeType="1"/>
            </p:cNvSpPr>
            <p:nvPr/>
          </p:nvSpPr>
          <p:spPr bwMode="auto">
            <a:xfrm flipH="1">
              <a:off x="7410" y="4902"/>
              <a:ext cx="136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633" name="Line 234"/>
            <p:cNvSpPr>
              <a:spLocks noChangeShapeType="1"/>
            </p:cNvSpPr>
            <p:nvPr/>
          </p:nvSpPr>
          <p:spPr bwMode="auto">
            <a:xfrm flipV="1">
              <a:off x="7410" y="4332"/>
              <a:ext cx="0" cy="5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81" name="Slide Number Placeholder 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260350"/>
            <a:ext cx="8012112" cy="6324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Изключване на първия елемент от </a:t>
            </a:r>
            <a:r>
              <a:rPr lang="bg-BG" sz="2400" dirty="0" err="1">
                <a:solidFill>
                  <a:schemeClr val="tx1"/>
                </a:solidFill>
              </a:rPr>
              <a:t>двусвързан</a:t>
            </a:r>
            <a:r>
              <a:rPr lang="bg-BG" sz="2400" dirty="0">
                <a:solidFill>
                  <a:schemeClr val="tx1"/>
                </a:solidFill>
              </a:rPr>
              <a:t> списък (предполага се, че елементът е в списъка и списъкът не е празен):</a:t>
            </a: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del1(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&amp;n)	    //стойността на изтрития елемент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		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    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е достъпна в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main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()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n=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    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пренасочване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=NULL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    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на връзките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p;		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    //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изключване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bg-BG" dirty="0">
                <a:solidFill>
                  <a:schemeClr val="tx1"/>
                </a:solidFill>
                <a:latin typeface="Courier New" pitchFamily="49" charset="0"/>
              </a:rPr>
              <a:t/>
            </a:r>
            <a:br>
              <a:rPr lang="bg-BG" dirty="0">
                <a:solidFill>
                  <a:schemeClr val="tx1"/>
                </a:solidFill>
                <a:latin typeface="Courier New" pitchFamily="49" charset="0"/>
              </a:rPr>
            </a:br>
            <a:endParaRPr lang="bg-BG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26627" name="Group 79"/>
          <p:cNvGrpSpPr>
            <a:grpSpLocks/>
          </p:cNvGrpSpPr>
          <p:nvPr/>
        </p:nvGrpSpPr>
        <p:grpSpPr bwMode="auto">
          <a:xfrm>
            <a:off x="1763713" y="1557338"/>
            <a:ext cx="6934200" cy="2133600"/>
            <a:chOff x="1763688" y="1556792"/>
            <a:chExt cx="6934200" cy="2133600"/>
          </a:xfrm>
        </p:grpSpPr>
        <p:grpSp>
          <p:nvGrpSpPr>
            <p:cNvPr id="26628" name="Group 4"/>
            <p:cNvGrpSpPr>
              <a:grpSpLocks/>
            </p:cNvGrpSpPr>
            <p:nvPr/>
          </p:nvGrpSpPr>
          <p:grpSpPr bwMode="auto">
            <a:xfrm>
              <a:off x="3778793" y="2614518"/>
              <a:ext cx="1104563" cy="466644"/>
              <a:chOff x="1269" y="5224"/>
              <a:chExt cx="1224" cy="360"/>
            </a:xfrm>
          </p:grpSpPr>
          <p:sp>
            <p:nvSpPr>
              <p:cNvPr id="26699" name="Rectangle 5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700" name="Rectangle 6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701" name="Rectangle 7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6629" name="Group 8"/>
            <p:cNvGrpSpPr>
              <a:grpSpLocks/>
            </p:cNvGrpSpPr>
            <p:nvPr/>
          </p:nvGrpSpPr>
          <p:grpSpPr bwMode="auto">
            <a:xfrm>
              <a:off x="5305689" y="2614518"/>
              <a:ext cx="1104563" cy="466644"/>
              <a:chOff x="1269" y="5224"/>
              <a:chExt cx="1224" cy="360"/>
            </a:xfrm>
          </p:grpSpPr>
          <p:sp>
            <p:nvSpPr>
              <p:cNvPr id="26696" name="Rectangle 9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97" name="Rectangle 10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98" name="Rectangle 11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6630" name="Line 12"/>
            <p:cNvSpPr>
              <a:spLocks noChangeShapeType="1"/>
            </p:cNvSpPr>
            <p:nvPr/>
          </p:nvSpPr>
          <p:spPr bwMode="auto">
            <a:xfrm>
              <a:off x="3411508" y="2136208"/>
              <a:ext cx="92588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1" name="Line 13"/>
            <p:cNvSpPr>
              <a:spLocks noChangeShapeType="1"/>
            </p:cNvSpPr>
            <p:nvPr/>
          </p:nvSpPr>
          <p:spPr bwMode="auto">
            <a:xfrm>
              <a:off x="4335587" y="2147874"/>
              <a:ext cx="0" cy="4666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2" name="Line 14"/>
            <p:cNvSpPr>
              <a:spLocks noChangeShapeType="1"/>
            </p:cNvSpPr>
            <p:nvPr/>
          </p:nvSpPr>
          <p:spPr bwMode="auto">
            <a:xfrm>
              <a:off x="6334448" y="2847840"/>
              <a:ext cx="1624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3" name="Line 15"/>
            <p:cNvSpPr>
              <a:spLocks noChangeShapeType="1"/>
            </p:cNvSpPr>
            <p:nvPr/>
          </p:nvSpPr>
          <p:spPr bwMode="auto">
            <a:xfrm flipV="1">
              <a:off x="6496884" y="2147874"/>
              <a:ext cx="0" cy="6999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4" name="Line 16"/>
            <p:cNvSpPr>
              <a:spLocks noChangeShapeType="1"/>
            </p:cNvSpPr>
            <p:nvPr/>
          </p:nvSpPr>
          <p:spPr bwMode="auto">
            <a:xfrm>
              <a:off x="8067096" y="2147874"/>
              <a:ext cx="0" cy="4666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5" name="Line 17"/>
            <p:cNvSpPr>
              <a:spLocks noChangeShapeType="1"/>
            </p:cNvSpPr>
            <p:nvPr/>
          </p:nvSpPr>
          <p:spPr bwMode="auto">
            <a:xfrm>
              <a:off x="7417353" y="2151763"/>
              <a:ext cx="6497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6" name="Line 18"/>
            <p:cNvSpPr>
              <a:spLocks noChangeShapeType="1"/>
            </p:cNvSpPr>
            <p:nvPr/>
          </p:nvSpPr>
          <p:spPr bwMode="auto">
            <a:xfrm>
              <a:off x="6496884" y="2151763"/>
              <a:ext cx="6497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7" name="Line 19"/>
            <p:cNvSpPr>
              <a:spLocks noChangeShapeType="1"/>
            </p:cNvSpPr>
            <p:nvPr/>
          </p:nvSpPr>
          <p:spPr bwMode="auto">
            <a:xfrm>
              <a:off x="7110530" y="2151763"/>
              <a:ext cx="32487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8" name="Line 20"/>
            <p:cNvSpPr>
              <a:spLocks noChangeShapeType="1"/>
            </p:cNvSpPr>
            <p:nvPr/>
          </p:nvSpPr>
          <p:spPr bwMode="auto">
            <a:xfrm>
              <a:off x="8391967" y="2847840"/>
              <a:ext cx="264409" cy="12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39" name="Line 21"/>
            <p:cNvSpPr>
              <a:spLocks noChangeShapeType="1"/>
            </p:cNvSpPr>
            <p:nvPr/>
          </p:nvSpPr>
          <p:spPr bwMode="auto">
            <a:xfrm>
              <a:off x="8655474" y="2838767"/>
              <a:ext cx="902" cy="4510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6640" name="Group 22"/>
            <p:cNvGrpSpPr>
              <a:grpSpLocks/>
            </p:cNvGrpSpPr>
            <p:nvPr/>
          </p:nvGrpSpPr>
          <p:grpSpPr bwMode="auto">
            <a:xfrm>
              <a:off x="8595914" y="3283375"/>
              <a:ext cx="101974" cy="101106"/>
              <a:chOff x="0" y="0"/>
              <a:chExt cx="20000" cy="19975"/>
            </a:xfrm>
          </p:grpSpPr>
          <p:sp>
            <p:nvSpPr>
              <p:cNvPr id="26693" name="Line 23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94" name="Line 24"/>
              <p:cNvSpPr>
                <a:spLocks noChangeShapeType="1"/>
              </p:cNvSpPr>
              <p:nvPr/>
            </p:nvSpPr>
            <p:spPr bwMode="auto">
              <a:xfrm>
                <a:off x="3961" y="19740"/>
                <a:ext cx="12078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95" name="Line 25"/>
              <p:cNvSpPr>
                <a:spLocks noChangeShapeType="1"/>
              </p:cNvSpPr>
              <p:nvPr/>
            </p:nvSpPr>
            <p:spPr bwMode="auto">
              <a:xfrm>
                <a:off x="1981" y="9870"/>
                <a:ext cx="16038" cy="23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6641" name="Group 26"/>
            <p:cNvGrpSpPr>
              <a:grpSpLocks/>
            </p:cNvGrpSpPr>
            <p:nvPr/>
          </p:nvGrpSpPr>
          <p:grpSpPr bwMode="auto">
            <a:xfrm>
              <a:off x="3615455" y="2812842"/>
              <a:ext cx="294189" cy="557380"/>
              <a:chOff x="4144" y="5311"/>
              <a:chExt cx="326" cy="430"/>
            </a:xfrm>
          </p:grpSpPr>
          <p:grpSp>
            <p:nvGrpSpPr>
              <p:cNvPr id="26687" name="Group 27"/>
              <p:cNvGrpSpPr>
                <a:grpSpLocks/>
              </p:cNvGrpSpPr>
              <p:nvPr/>
            </p:nvGrpSpPr>
            <p:grpSpPr bwMode="auto">
              <a:xfrm>
                <a:off x="4144" y="5663"/>
                <a:ext cx="113" cy="78"/>
                <a:chOff x="0" y="0"/>
                <a:chExt cx="20000" cy="20485"/>
              </a:xfrm>
            </p:grpSpPr>
            <p:sp>
              <p:nvSpPr>
                <p:cNvPr id="26690" name="Line 28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91" name="Line 29"/>
                <p:cNvSpPr>
                  <a:spLocks noChangeShapeType="1"/>
                </p:cNvSpPr>
                <p:nvPr/>
              </p:nvSpPr>
              <p:spPr bwMode="auto">
                <a:xfrm>
                  <a:off x="3961" y="20244"/>
                  <a:ext cx="1207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92" name="Line 30"/>
                <p:cNvSpPr>
                  <a:spLocks noChangeShapeType="1"/>
                </p:cNvSpPr>
                <p:nvPr/>
              </p:nvSpPr>
              <p:spPr bwMode="auto">
                <a:xfrm>
                  <a:off x="1981" y="10122"/>
                  <a:ext cx="1603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6688" name="Line 31"/>
              <p:cNvSpPr>
                <a:spLocks noChangeShapeType="1"/>
              </p:cNvSpPr>
              <p:nvPr/>
            </p:nvSpPr>
            <p:spPr bwMode="auto">
              <a:xfrm flipH="1">
                <a:off x="4200" y="5328"/>
                <a:ext cx="2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89" name="Line 32"/>
              <p:cNvSpPr>
                <a:spLocks noChangeShapeType="1"/>
              </p:cNvSpPr>
              <p:nvPr/>
            </p:nvSpPr>
            <p:spPr bwMode="auto">
              <a:xfrm>
                <a:off x="4200" y="5311"/>
                <a:ext cx="1" cy="3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6642" name="Group 33"/>
            <p:cNvGrpSpPr>
              <a:grpSpLocks/>
            </p:cNvGrpSpPr>
            <p:nvPr/>
          </p:nvGrpSpPr>
          <p:grpSpPr bwMode="auto">
            <a:xfrm>
              <a:off x="4818382" y="2147874"/>
              <a:ext cx="974614" cy="699966"/>
              <a:chOff x="5494" y="4788"/>
              <a:chExt cx="1080" cy="540"/>
            </a:xfrm>
          </p:grpSpPr>
          <p:sp>
            <p:nvSpPr>
              <p:cNvPr id="26682" name="Line 34"/>
              <p:cNvSpPr>
                <a:spLocks noChangeShapeType="1"/>
              </p:cNvSpPr>
              <p:nvPr/>
            </p:nvSpPr>
            <p:spPr bwMode="auto">
              <a:xfrm>
                <a:off x="549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83" name="Line 35"/>
              <p:cNvSpPr>
                <a:spLocks noChangeShapeType="1"/>
              </p:cNvSpPr>
              <p:nvPr/>
            </p:nvSpPr>
            <p:spPr bwMode="auto">
              <a:xfrm flipV="1">
                <a:off x="5674" y="4788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84" name="Line 36"/>
              <p:cNvSpPr>
                <a:spLocks noChangeShapeType="1"/>
              </p:cNvSpPr>
              <p:nvPr/>
            </p:nvSpPr>
            <p:spPr bwMode="auto">
              <a:xfrm>
                <a:off x="5674" y="4788"/>
                <a:ext cx="9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85" name="Line 37"/>
              <p:cNvSpPr>
                <a:spLocks noChangeShapeType="1"/>
              </p:cNvSpPr>
              <p:nvPr/>
            </p:nvSpPr>
            <p:spPr bwMode="auto">
              <a:xfrm>
                <a:off x="6574" y="4788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86" name="Line 38"/>
              <p:cNvSpPr>
                <a:spLocks noChangeShapeType="1"/>
              </p:cNvSpPr>
              <p:nvPr/>
            </p:nvSpPr>
            <p:spPr bwMode="auto">
              <a:xfrm>
                <a:off x="593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6643" name="Group 39"/>
            <p:cNvGrpSpPr>
              <a:grpSpLocks/>
            </p:cNvGrpSpPr>
            <p:nvPr/>
          </p:nvGrpSpPr>
          <p:grpSpPr bwMode="auto">
            <a:xfrm>
              <a:off x="7372232" y="2614518"/>
              <a:ext cx="1182171" cy="466644"/>
              <a:chOff x="7184" y="5148"/>
              <a:chExt cx="1310" cy="360"/>
            </a:xfrm>
          </p:grpSpPr>
          <p:grpSp>
            <p:nvGrpSpPr>
              <p:cNvPr id="26677" name="Group 40"/>
              <p:cNvGrpSpPr>
                <a:grpSpLocks/>
              </p:cNvGrpSpPr>
              <p:nvPr/>
            </p:nvGrpSpPr>
            <p:grpSpPr bwMode="auto">
              <a:xfrm>
                <a:off x="7270" y="5148"/>
                <a:ext cx="1224" cy="360"/>
                <a:chOff x="1269" y="5224"/>
                <a:chExt cx="1224" cy="360"/>
              </a:xfrm>
            </p:grpSpPr>
            <p:sp>
              <p:nvSpPr>
                <p:cNvPr id="26679" name="Rectangle 41"/>
                <p:cNvSpPr>
                  <a:spLocks noChangeArrowheads="1"/>
                </p:cNvSpPr>
                <p:nvPr/>
              </p:nvSpPr>
              <p:spPr bwMode="auto">
                <a:xfrm>
                  <a:off x="1269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80" name="Rectangle 42"/>
                <p:cNvSpPr>
                  <a:spLocks noChangeArrowheads="1"/>
                </p:cNvSpPr>
                <p:nvPr/>
              </p:nvSpPr>
              <p:spPr bwMode="auto">
                <a:xfrm>
                  <a:off x="2241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81" name="Rectangle 43"/>
                <p:cNvSpPr>
                  <a:spLocks noChangeArrowheads="1"/>
                </p:cNvSpPr>
                <p:nvPr/>
              </p:nvSpPr>
              <p:spPr bwMode="auto">
                <a:xfrm>
                  <a:off x="1521" y="5224"/>
                  <a:ext cx="720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6678" name="Line 44"/>
              <p:cNvSpPr>
                <a:spLocks noChangeShapeType="1"/>
              </p:cNvSpPr>
              <p:nvPr/>
            </p:nvSpPr>
            <p:spPr bwMode="auto">
              <a:xfrm>
                <a:off x="718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6644" name="Line 45"/>
            <p:cNvSpPr>
              <a:spLocks noChangeShapeType="1"/>
            </p:cNvSpPr>
            <p:nvPr/>
          </p:nvSpPr>
          <p:spPr bwMode="auto">
            <a:xfrm flipV="1">
              <a:off x="5206423" y="2834878"/>
              <a:ext cx="0" cy="6999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5" name="Line 46"/>
            <p:cNvSpPr>
              <a:spLocks noChangeShapeType="1"/>
            </p:cNvSpPr>
            <p:nvPr/>
          </p:nvSpPr>
          <p:spPr bwMode="auto">
            <a:xfrm flipV="1">
              <a:off x="7381256" y="2847840"/>
              <a:ext cx="0" cy="69996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6" name="Line 47"/>
            <p:cNvSpPr>
              <a:spLocks noChangeShapeType="1"/>
            </p:cNvSpPr>
            <p:nvPr/>
          </p:nvSpPr>
          <p:spPr bwMode="auto">
            <a:xfrm>
              <a:off x="4322050" y="3538733"/>
              <a:ext cx="88978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7" name="Line 48"/>
            <p:cNvSpPr>
              <a:spLocks noChangeShapeType="1"/>
            </p:cNvSpPr>
            <p:nvPr/>
          </p:nvSpPr>
          <p:spPr bwMode="auto">
            <a:xfrm flipV="1">
              <a:off x="4331075" y="3081162"/>
              <a:ext cx="0" cy="4666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8" name="Line 49"/>
            <p:cNvSpPr>
              <a:spLocks noChangeShapeType="1"/>
            </p:cNvSpPr>
            <p:nvPr/>
          </p:nvSpPr>
          <p:spPr bwMode="auto">
            <a:xfrm>
              <a:off x="6740538" y="3547806"/>
              <a:ext cx="6497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49" name="Line 50"/>
            <p:cNvSpPr>
              <a:spLocks noChangeShapeType="1"/>
            </p:cNvSpPr>
            <p:nvPr/>
          </p:nvSpPr>
          <p:spPr bwMode="auto">
            <a:xfrm>
              <a:off x="5792996" y="3547806"/>
              <a:ext cx="6497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50" name="Line 51"/>
            <p:cNvSpPr>
              <a:spLocks noChangeShapeType="1"/>
            </p:cNvSpPr>
            <p:nvPr/>
          </p:nvSpPr>
          <p:spPr bwMode="auto">
            <a:xfrm>
              <a:off x="6433715" y="3547806"/>
              <a:ext cx="32487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51" name="Line 52"/>
            <p:cNvSpPr>
              <a:spLocks noChangeShapeType="1"/>
            </p:cNvSpPr>
            <p:nvPr/>
          </p:nvSpPr>
          <p:spPr bwMode="auto">
            <a:xfrm flipV="1">
              <a:off x="5792996" y="3081162"/>
              <a:ext cx="0" cy="4666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52" name="Text Box 53"/>
            <p:cNvSpPr txBox="1">
              <a:spLocks noChangeArrowheads="1"/>
            </p:cNvSpPr>
            <p:nvPr/>
          </p:nvSpPr>
          <p:spPr bwMode="auto">
            <a:xfrm>
              <a:off x="3821207" y="1556792"/>
              <a:ext cx="812179" cy="4666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>
                  <a:latin typeface="Courier New" pitchFamily="49" charset="0"/>
                </a:rPr>
                <a:t>Start</a:t>
              </a:r>
            </a:p>
          </p:txBody>
        </p:sp>
        <p:sp>
          <p:nvSpPr>
            <p:cNvPr id="26653" name="Text Box 54"/>
            <p:cNvSpPr txBox="1">
              <a:spLocks noChangeArrowheads="1"/>
            </p:cNvSpPr>
            <p:nvPr/>
          </p:nvSpPr>
          <p:spPr bwMode="auto">
            <a:xfrm>
              <a:off x="5116181" y="2977464"/>
              <a:ext cx="812179" cy="699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 dirty="0" err="1" smtClean="0">
                  <a:latin typeface="Courier New" pitchFamily="49" charset="0"/>
                </a:rPr>
                <a:t>prev</a:t>
              </a:r>
              <a:endParaRPr lang="en-US" sz="1000" dirty="0">
                <a:latin typeface="Courier New" pitchFamily="49" charset="0"/>
              </a:endParaRPr>
            </a:p>
          </p:txBody>
        </p:sp>
        <p:sp>
          <p:nvSpPr>
            <p:cNvPr id="26654" name="Text Box 55"/>
            <p:cNvSpPr txBox="1">
              <a:spLocks noChangeArrowheads="1"/>
            </p:cNvSpPr>
            <p:nvPr/>
          </p:nvSpPr>
          <p:spPr bwMode="auto">
            <a:xfrm>
              <a:off x="6009577" y="2990426"/>
              <a:ext cx="812179" cy="699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next</a:t>
              </a:r>
            </a:p>
          </p:txBody>
        </p:sp>
        <p:grpSp>
          <p:nvGrpSpPr>
            <p:cNvPr id="26655" name="Group 56"/>
            <p:cNvGrpSpPr>
              <a:grpSpLocks/>
            </p:cNvGrpSpPr>
            <p:nvPr/>
          </p:nvGrpSpPr>
          <p:grpSpPr bwMode="auto">
            <a:xfrm>
              <a:off x="2121949" y="2630073"/>
              <a:ext cx="1104563" cy="466644"/>
              <a:chOff x="1269" y="5224"/>
              <a:chExt cx="1224" cy="360"/>
            </a:xfrm>
          </p:grpSpPr>
          <p:sp>
            <p:nvSpPr>
              <p:cNvPr id="26674" name="Rectangle 57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75" name="Rectangle 58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76" name="Rectangle 59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6656" name="Line 60"/>
            <p:cNvSpPr>
              <a:spLocks noChangeShapeType="1"/>
            </p:cNvSpPr>
            <p:nvPr/>
          </p:nvSpPr>
          <p:spPr bwMode="auto">
            <a:xfrm flipV="1">
              <a:off x="2638134" y="2258054"/>
              <a:ext cx="1805" cy="3810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57" name="Line 61"/>
            <p:cNvSpPr>
              <a:spLocks noChangeShapeType="1"/>
            </p:cNvSpPr>
            <p:nvPr/>
          </p:nvSpPr>
          <p:spPr bwMode="auto">
            <a:xfrm>
              <a:off x="1969440" y="2230833"/>
              <a:ext cx="6686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6658" name="Group 62"/>
            <p:cNvGrpSpPr>
              <a:grpSpLocks/>
            </p:cNvGrpSpPr>
            <p:nvPr/>
          </p:nvGrpSpPr>
          <p:grpSpPr bwMode="auto">
            <a:xfrm>
              <a:off x="1918002" y="2812842"/>
              <a:ext cx="294189" cy="557380"/>
              <a:chOff x="4144" y="5311"/>
              <a:chExt cx="326" cy="430"/>
            </a:xfrm>
          </p:grpSpPr>
          <p:grpSp>
            <p:nvGrpSpPr>
              <p:cNvPr id="26668" name="Group 63"/>
              <p:cNvGrpSpPr>
                <a:grpSpLocks/>
              </p:cNvGrpSpPr>
              <p:nvPr/>
            </p:nvGrpSpPr>
            <p:grpSpPr bwMode="auto">
              <a:xfrm>
                <a:off x="4144" y="5663"/>
                <a:ext cx="113" cy="78"/>
                <a:chOff x="0" y="0"/>
                <a:chExt cx="20000" cy="20485"/>
              </a:xfrm>
            </p:grpSpPr>
            <p:sp>
              <p:nvSpPr>
                <p:cNvPr id="26671" name="Line 64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72" name="Line 65"/>
                <p:cNvSpPr>
                  <a:spLocks noChangeShapeType="1"/>
                </p:cNvSpPr>
                <p:nvPr/>
              </p:nvSpPr>
              <p:spPr bwMode="auto">
                <a:xfrm>
                  <a:off x="3961" y="20244"/>
                  <a:ext cx="1207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6673" name="Line 66"/>
                <p:cNvSpPr>
                  <a:spLocks noChangeShapeType="1"/>
                </p:cNvSpPr>
                <p:nvPr/>
              </p:nvSpPr>
              <p:spPr bwMode="auto">
                <a:xfrm>
                  <a:off x="1981" y="10122"/>
                  <a:ext cx="1603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6669" name="Line 67"/>
              <p:cNvSpPr>
                <a:spLocks noChangeShapeType="1"/>
              </p:cNvSpPr>
              <p:nvPr/>
            </p:nvSpPr>
            <p:spPr bwMode="auto">
              <a:xfrm flipH="1">
                <a:off x="4200" y="5328"/>
                <a:ext cx="2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670" name="Line 68"/>
              <p:cNvSpPr>
                <a:spLocks noChangeShapeType="1"/>
              </p:cNvSpPr>
              <p:nvPr/>
            </p:nvSpPr>
            <p:spPr bwMode="auto">
              <a:xfrm>
                <a:off x="4200" y="5311"/>
                <a:ext cx="1" cy="3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6659" name="Line 69"/>
            <p:cNvSpPr>
              <a:spLocks noChangeShapeType="1"/>
            </p:cNvSpPr>
            <p:nvPr/>
          </p:nvSpPr>
          <p:spPr bwMode="auto">
            <a:xfrm>
              <a:off x="3101075" y="2847840"/>
              <a:ext cx="310433" cy="12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0" name="Text Box 70"/>
            <p:cNvSpPr txBox="1">
              <a:spLocks noChangeArrowheads="1"/>
            </p:cNvSpPr>
            <p:nvPr/>
          </p:nvSpPr>
          <p:spPr bwMode="auto">
            <a:xfrm>
              <a:off x="1763688" y="1682527"/>
              <a:ext cx="874446" cy="443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Start</a:t>
              </a:r>
              <a:endParaRPr lang="en-AU" sz="1000"/>
            </a:p>
          </p:txBody>
        </p:sp>
        <p:sp>
          <p:nvSpPr>
            <p:cNvPr id="26661" name="Line 71"/>
            <p:cNvSpPr>
              <a:spLocks noChangeShapeType="1"/>
            </p:cNvSpPr>
            <p:nvPr/>
          </p:nvSpPr>
          <p:spPr bwMode="auto">
            <a:xfrm>
              <a:off x="3960180" y="2814138"/>
              <a:ext cx="0" cy="6649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2" name="Line 72"/>
            <p:cNvSpPr>
              <a:spLocks noChangeShapeType="1"/>
            </p:cNvSpPr>
            <p:nvPr/>
          </p:nvSpPr>
          <p:spPr bwMode="auto">
            <a:xfrm>
              <a:off x="2674230" y="3497253"/>
              <a:ext cx="12859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3" name="Line 73"/>
            <p:cNvSpPr>
              <a:spLocks noChangeShapeType="1"/>
            </p:cNvSpPr>
            <p:nvPr/>
          </p:nvSpPr>
          <p:spPr bwMode="auto">
            <a:xfrm flipV="1">
              <a:off x="2683255" y="3109679"/>
              <a:ext cx="0" cy="3694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4" name="Line 74"/>
            <p:cNvSpPr>
              <a:spLocks noChangeShapeType="1"/>
            </p:cNvSpPr>
            <p:nvPr/>
          </p:nvSpPr>
          <p:spPr bwMode="auto">
            <a:xfrm flipV="1">
              <a:off x="3411508" y="2110284"/>
              <a:ext cx="0" cy="7388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5" name="Line 75"/>
            <p:cNvSpPr>
              <a:spLocks noChangeShapeType="1"/>
            </p:cNvSpPr>
            <p:nvPr/>
          </p:nvSpPr>
          <p:spPr bwMode="auto">
            <a:xfrm flipH="1">
              <a:off x="2022683" y="1962513"/>
              <a:ext cx="1337387" cy="1699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6" name="Line 76"/>
            <p:cNvSpPr>
              <a:spLocks noChangeShapeType="1"/>
            </p:cNvSpPr>
            <p:nvPr/>
          </p:nvSpPr>
          <p:spPr bwMode="auto">
            <a:xfrm>
              <a:off x="2125559" y="2036398"/>
              <a:ext cx="1183073" cy="16254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667" name="Text Box 77"/>
            <p:cNvSpPr txBox="1">
              <a:spLocks noChangeArrowheads="1"/>
            </p:cNvSpPr>
            <p:nvPr/>
          </p:nvSpPr>
          <p:spPr bwMode="auto">
            <a:xfrm>
              <a:off x="2411760" y="2636912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n</a:t>
              </a:r>
              <a:endParaRPr lang="en-US"/>
            </a:p>
          </p:txBody>
        </p:sp>
      </p:grp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2513" y="1989138"/>
            <a:ext cx="8091487" cy="4724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Изключване на междинен елемент със стойност </a:t>
            </a:r>
            <a:r>
              <a:rPr lang="bg-BG" sz="2400" b="1" dirty="0">
                <a:solidFill>
                  <a:schemeClr val="tx1"/>
                </a:solidFill>
              </a:rPr>
              <a:t>n</a:t>
            </a:r>
            <a:r>
              <a:rPr lang="bg-BG" sz="2400" dirty="0">
                <a:solidFill>
                  <a:schemeClr val="tx1"/>
                </a:solidFill>
              </a:rPr>
              <a:t> от </a:t>
            </a:r>
            <a:r>
              <a:rPr lang="bg-BG" sz="2400" dirty="0" err="1">
                <a:solidFill>
                  <a:schemeClr val="tx1"/>
                </a:solidFill>
              </a:rPr>
              <a:t>двусвързан</a:t>
            </a:r>
            <a:r>
              <a:rPr lang="bg-BG" sz="2400" dirty="0">
                <a:solidFill>
                  <a:schemeClr val="tx1"/>
                </a:solidFill>
              </a:rPr>
              <a:t> списък (предполага се, че елементът е в списъка):</a:t>
            </a:r>
            <a:r>
              <a:rPr lang="bg-BG" dirty="0">
                <a:solidFill>
                  <a:schemeClr val="tx1"/>
                </a:solidFill>
              </a:rPr>
              <a:t/>
            </a:r>
            <a:br>
              <a:rPr lang="bg-BG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del2(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n) 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{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!=n)		//търсене на елемента n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  p=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=p-&gt;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;	//пренасочване на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next-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=p-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20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2000" dirty="0" smtClean="0">
                <a:solidFill>
                  <a:schemeClr val="tx1"/>
                </a:solidFill>
                <a:latin typeface="Courier New" pitchFamily="49" charset="0"/>
              </a:rPr>
              <a:t>;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	//връзките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20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2000" dirty="0">
                <a:solidFill>
                  <a:schemeClr val="tx1"/>
                </a:solidFill>
                <a:latin typeface="Courier New" pitchFamily="49" charset="0"/>
              </a:rPr>
              <a:t> p;				//изтриване</a:t>
            </a:r>
            <a:br>
              <a:rPr lang="bg-BG" sz="20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AU" sz="20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1256956" y="1412875"/>
            <a:ext cx="7582244" cy="2286000"/>
            <a:chOff x="1256956" y="1412875"/>
            <a:chExt cx="7582244" cy="2286000"/>
          </a:xfrm>
        </p:grpSpPr>
        <p:sp>
          <p:nvSpPr>
            <p:cNvPr id="27652" name="Line 4"/>
            <p:cNvSpPr>
              <a:spLocks noChangeShapeType="1"/>
            </p:cNvSpPr>
            <p:nvPr/>
          </p:nvSpPr>
          <p:spPr bwMode="auto">
            <a:xfrm>
              <a:off x="6382130" y="1683052"/>
              <a:ext cx="340824" cy="15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3" name="Line 5"/>
            <p:cNvSpPr>
              <a:spLocks noChangeShapeType="1"/>
            </p:cNvSpPr>
            <p:nvPr/>
          </p:nvSpPr>
          <p:spPr bwMode="auto">
            <a:xfrm>
              <a:off x="5458318" y="1683052"/>
              <a:ext cx="1281" cy="5358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 flipV="1">
              <a:off x="6394943" y="1662038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2563875" y="1683052"/>
              <a:ext cx="10891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6" name="Line 8"/>
            <p:cNvSpPr>
              <a:spLocks noChangeShapeType="1"/>
            </p:cNvSpPr>
            <p:nvPr/>
          </p:nvSpPr>
          <p:spPr bwMode="auto">
            <a:xfrm>
              <a:off x="1590092" y="1662038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7" name="Line 9"/>
            <p:cNvSpPr>
              <a:spLocks noChangeShapeType="1"/>
            </p:cNvSpPr>
            <p:nvPr/>
          </p:nvSpPr>
          <p:spPr bwMode="auto">
            <a:xfrm>
              <a:off x="2281990" y="2472570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58" name="Line 10"/>
            <p:cNvSpPr>
              <a:spLocks noChangeShapeType="1"/>
            </p:cNvSpPr>
            <p:nvPr/>
          </p:nvSpPr>
          <p:spPr bwMode="auto">
            <a:xfrm flipV="1">
              <a:off x="2563875" y="1662038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0" name="Line 12"/>
            <p:cNvSpPr>
              <a:spLocks noChangeShapeType="1"/>
            </p:cNvSpPr>
            <p:nvPr/>
          </p:nvSpPr>
          <p:spPr bwMode="auto">
            <a:xfrm>
              <a:off x="3665788" y="1662038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1" name="Line 13"/>
            <p:cNvSpPr>
              <a:spLocks noChangeShapeType="1"/>
            </p:cNvSpPr>
            <p:nvPr/>
          </p:nvSpPr>
          <p:spPr bwMode="auto">
            <a:xfrm>
              <a:off x="1331640" y="1646730"/>
              <a:ext cx="24344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4267996" y="2478574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 flipV="1">
              <a:off x="4562693" y="1683052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7471229" y="1683052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8166973" y="2493584"/>
              <a:ext cx="1281" cy="7339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7666" name="Group 18"/>
            <p:cNvGrpSpPr>
              <a:grpSpLocks/>
            </p:cNvGrpSpPr>
            <p:nvPr/>
          </p:nvGrpSpPr>
          <p:grpSpPr bwMode="auto">
            <a:xfrm>
              <a:off x="8111876" y="3254583"/>
              <a:ext cx="133254" cy="112574"/>
              <a:chOff x="0" y="0"/>
              <a:chExt cx="20000" cy="19987"/>
            </a:xfrm>
          </p:grpSpPr>
          <p:sp>
            <p:nvSpPr>
              <p:cNvPr id="27712" name="Line 19"/>
              <p:cNvSpPr>
                <a:spLocks noChangeShapeType="1"/>
              </p:cNvSpPr>
              <p:nvPr/>
            </p:nvSpPr>
            <p:spPr bwMode="auto">
              <a:xfrm>
                <a:off x="0" y="0"/>
                <a:ext cx="20000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13" name="Line 20"/>
              <p:cNvSpPr>
                <a:spLocks noChangeShapeType="1"/>
              </p:cNvSpPr>
              <p:nvPr/>
            </p:nvSpPr>
            <p:spPr bwMode="auto">
              <a:xfrm>
                <a:off x="3902" y="19734"/>
                <a:ext cx="12147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14" name="Line 21"/>
              <p:cNvSpPr>
                <a:spLocks noChangeShapeType="1"/>
              </p:cNvSpPr>
              <p:nvPr/>
            </p:nvSpPr>
            <p:spPr bwMode="auto">
              <a:xfrm>
                <a:off x="2049" y="9867"/>
                <a:ext cx="16049" cy="2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7667" name="Line 22"/>
            <p:cNvSpPr>
              <a:spLocks noChangeShapeType="1"/>
            </p:cNvSpPr>
            <p:nvPr/>
          </p:nvSpPr>
          <p:spPr bwMode="auto">
            <a:xfrm flipV="1">
              <a:off x="3204522" y="1683052"/>
              <a:ext cx="1153165" cy="18912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8" name="Line 23"/>
            <p:cNvSpPr>
              <a:spLocks noChangeShapeType="1"/>
            </p:cNvSpPr>
            <p:nvPr/>
          </p:nvSpPr>
          <p:spPr bwMode="auto">
            <a:xfrm>
              <a:off x="2973888" y="1953230"/>
              <a:ext cx="1614430" cy="13508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69" name="Text Box 24"/>
            <p:cNvSpPr txBox="1">
              <a:spLocks noChangeArrowheads="1"/>
            </p:cNvSpPr>
            <p:nvPr/>
          </p:nvSpPr>
          <p:spPr bwMode="auto">
            <a:xfrm>
              <a:off x="3576097" y="1683052"/>
              <a:ext cx="691898" cy="810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800" b="1">
                  <a:latin typeface="Courier New" pitchFamily="49" charset="0"/>
                </a:rPr>
                <a:t>p</a:t>
              </a:r>
              <a:endParaRPr lang="bg-BG" sz="1000">
                <a:latin typeface="Courier New" pitchFamily="49" charset="0"/>
              </a:endParaRPr>
            </a:p>
          </p:txBody>
        </p:sp>
        <p:sp>
          <p:nvSpPr>
            <p:cNvPr id="27670" name="Text Box 25"/>
            <p:cNvSpPr txBox="1">
              <a:spLocks noChangeArrowheads="1"/>
            </p:cNvSpPr>
            <p:nvPr/>
          </p:nvSpPr>
          <p:spPr bwMode="auto">
            <a:xfrm>
              <a:off x="3473594" y="2148358"/>
              <a:ext cx="691898" cy="8105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n</a:t>
              </a:r>
              <a:endParaRPr lang="en-US" sz="1000" b="1">
                <a:latin typeface="Courier New" pitchFamily="49" charset="0"/>
              </a:endParaRPr>
            </a:p>
          </p:txBody>
        </p:sp>
        <p:sp>
          <p:nvSpPr>
            <p:cNvPr id="27671" name="Line 26"/>
            <p:cNvSpPr>
              <a:spLocks noChangeShapeType="1"/>
            </p:cNvSpPr>
            <p:nvPr/>
          </p:nvSpPr>
          <p:spPr bwMode="auto">
            <a:xfrm>
              <a:off x="7253410" y="1683052"/>
              <a:ext cx="2178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2" name="Line 27"/>
            <p:cNvSpPr>
              <a:spLocks noChangeShapeType="1"/>
            </p:cNvSpPr>
            <p:nvPr/>
          </p:nvSpPr>
          <p:spPr bwMode="auto">
            <a:xfrm>
              <a:off x="6779331" y="1683052"/>
              <a:ext cx="4484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3" name="Line 28"/>
            <p:cNvSpPr>
              <a:spLocks noChangeShapeType="1"/>
            </p:cNvSpPr>
            <p:nvPr/>
          </p:nvSpPr>
          <p:spPr bwMode="auto">
            <a:xfrm>
              <a:off x="6100246" y="2463564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4" name="Line 29"/>
            <p:cNvSpPr>
              <a:spLocks noChangeShapeType="1"/>
            </p:cNvSpPr>
            <p:nvPr/>
          </p:nvSpPr>
          <p:spPr bwMode="auto">
            <a:xfrm>
              <a:off x="4551161" y="1683052"/>
              <a:ext cx="9084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5" name="Line 30"/>
            <p:cNvSpPr>
              <a:spLocks noChangeShapeType="1"/>
            </p:cNvSpPr>
            <p:nvPr/>
          </p:nvSpPr>
          <p:spPr bwMode="auto">
            <a:xfrm flipV="1">
              <a:off x="2281990" y="1412875"/>
              <a:ext cx="0" cy="10807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6" name="Line 31"/>
            <p:cNvSpPr>
              <a:spLocks noChangeShapeType="1"/>
            </p:cNvSpPr>
            <p:nvPr/>
          </p:nvSpPr>
          <p:spPr bwMode="auto">
            <a:xfrm>
              <a:off x="2281990" y="1412875"/>
              <a:ext cx="34594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77" name="Line 32"/>
            <p:cNvSpPr>
              <a:spLocks noChangeShapeType="1"/>
            </p:cNvSpPr>
            <p:nvPr/>
          </p:nvSpPr>
          <p:spPr bwMode="auto">
            <a:xfrm>
              <a:off x="5741483" y="1412875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7678" name="Group 33"/>
            <p:cNvGrpSpPr>
              <a:grpSpLocks/>
            </p:cNvGrpSpPr>
            <p:nvPr/>
          </p:nvGrpSpPr>
          <p:grpSpPr bwMode="auto">
            <a:xfrm>
              <a:off x="5049585" y="2223407"/>
              <a:ext cx="1153165" cy="540355"/>
              <a:chOff x="1161" y="4684"/>
              <a:chExt cx="900" cy="360"/>
            </a:xfrm>
          </p:grpSpPr>
          <p:sp>
            <p:nvSpPr>
              <p:cNvPr id="27709" name="Rectangle 34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10" name="Rectangle 35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11" name="Rectangle 36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7679" name="Group 37"/>
            <p:cNvGrpSpPr>
              <a:grpSpLocks/>
            </p:cNvGrpSpPr>
            <p:nvPr/>
          </p:nvGrpSpPr>
          <p:grpSpPr bwMode="auto">
            <a:xfrm>
              <a:off x="7125280" y="2223407"/>
              <a:ext cx="1153165" cy="540355"/>
              <a:chOff x="1161" y="4684"/>
              <a:chExt cx="900" cy="360"/>
            </a:xfrm>
          </p:grpSpPr>
          <p:sp>
            <p:nvSpPr>
              <p:cNvPr id="27706" name="Rectangle 38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7" name="Rectangle 39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8" name="Rectangle 40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7680" name="Group 41"/>
            <p:cNvGrpSpPr>
              <a:grpSpLocks/>
            </p:cNvGrpSpPr>
            <p:nvPr/>
          </p:nvGrpSpPr>
          <p:grpSpPr bwMode="auto">
            <a:xfrm>
              <a:off x="1256956" y="2223407"/>
              <a:ext cx="1153165" cy="540355"/>
              <a:chOff x="1161" y="4684"/>
              <a:chExt cx="900" cy="360"/>
            </a:xfrm>
          </p:grpSpPr>
          <p:sp>
            <p:nvSpPr>
              <p:cNvPr id="27703" name="Rectangle 42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4" name="Rectangle 43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5" name="Rectangle 44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7681" name="Group 45"/>
            <p:cNvGrpSpPr>
              <a:grpSpLocks/>
            </p:cNvGrpSpPr>
            <p:nvPr/>
          </p:nvGrpSpPr>
          <p:grpSpPr bwMode="auto">
            <a:xfrm>
              <a:off x="3204522" y="2223407"/>
              <a:ext cx="1153165" cy="540355"/>
              <a:chOff x="1161" y="4684"/>
              <a:chExt cx="900" cy="360"/>
            </a:xfrm>
          </p:grpSpPr>
          <p:sp>
            <p:nvSpPr>
              <p:cNvPr id="27700" name="Rectangle 46"/>
              <p:cNvSpPr>
                <a:spLocks noChangeArrowheads="1"/>
              </p:cNvSpPr>
              <p:nvPr/>
            </p:nvSpPr>
            <p:spPr bwMode="auto">
              <a:xfrm>
                <a:off x="1341" y="4684"/>
                <a:ext cx="54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1" name="Rectangle 47"/>
              <p:cNvSpPr>
                <a:spLocks noChangeArrowheads="1"/>
              </p:cNvSpPr>
              <p:nvPr/>
            </p:nvSpPr>
            <p:spPr bwMode="auto">
              <a:xfrm>
                <a:off x="188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702" name="Rectangle 48"/>
              <p:cNvSpPr>
                <a:spLocks noChangeArrowheads="1"/>
              </p:cNvSpPr>
              <p:nvPr/>
            </p:nvSpPr>
            <p:spPr bwMode="auto">
              <a:xfrm>
                <a:off x="1161" y="4684"/>
                <a:ext cx="18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7682" name="Line 49"/>
            <p:cNvSpPr>
              <a:spLocks noChangeShapeType="1"/>
            </p:cNvSpPr>
            <p:nvPr/>
          </p:nvSpPr>
          <p:spPr bwMode="auto">
            <a:xfrm>
              <a:off x="2051357" y="3304116"/>
              <a:ext cx="9225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3" name="Line 50"/>
            <p:cNvSpPr>
              <a:spLocks noChangeShapeType="1"/>
            </p:cNvSpPr>
            <p:nvPr/>
          </p:nvSpPr>
          <p:spPr bwMode="auto">
            <a:xfrm>
              <a:off x="2962357" y="2493584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4" name="Line 51"/>
            <p:cNvSpPr>
              <a:spLocks noChangeShapeType="1"/>
            </p:cNvSpPr>
            <p:nvPr/>
          </p:nvSpPr>
          <p:spPr bwMode="auto">
            <a:xfrm flipV="1">
              <a:off x="2973888" y="2493584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5" name="Line 52"/>
            <p:cNvSpPr>
              <a:spLocks noChangeShapeType="1"/>
            </p:cNvSpPr>
            <p:nvPr/>
          </p:nvSpPr>
          <p:spPr bwMode="auto">
            <a:xfrm>
              <a:off x="2051357" y="2759258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6" name="Line 53"/>
            <p:cNvSpPr>
              <a:spLocks noChangeShapeType="1"/>
            </p:cNvSpPr>
            <p:nvPr/>
          </p:nvSpPr>
          <p:spPr bwMode="auto">
            <a:xfrm>
              <a:off x="3891295" y="3304116"/>
              <a:ext cx="9225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7" name="Line 54"/>
            <p:cNvSpPr>
              <a:spLocks noChangeShapeType="1"/>
            </p:cNvSpPr>
            <p:nvPr/>
          </p:nvSpPr>
          <p:spPr bwMode="auto">
            <a:xfrm>
              <a:off x="4802295" y="2493584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8" name="Line 55"/>
            <p:cNvSpPr>
              <a:spLocks noChangeShapeType="1"/>
            </p:cNvSpPr>
            <p:nvPr/>
          </p:nvSpPr>
          <p:spPr bwMode="auto">
            <a:xfrm flipV="1">
              <a:off x="4813827" y="2493584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89" name="Line 56"/>
            <p:cNvSpPr>
              <a:spLocks noChangeShapeType="1"/>
            </p:cNvSpPr>
            <p:nvPr/>
          </p:nvSpPr>
          <p:spPr bwMode="auto">
            <a:xfrm>
              <a:off x="3891295" y="2759258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0" name="Line 57"/>
            <p:cNvSpPr>
              <a:spLocks noChangeShapeType="1"/>
            </p:cNvSpPr>
            <p:nvPr/>
          </p:nvSpPr>
          <p:spPr bwMode="auto">
            <a:xfrm>
              <a:off x="5164901" y="2613663"/>
              <a:ext cx="0" cy="10807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1" name="Line 58"/>
            <p:cNvSpPr>
              <a:spLocks noChangeShapeType="1"/>
            </p:cNvSpPr>
            <p:nvPr/>
          </p:nvSpPr>
          <p:spPr bwMode="auto">
            <a:xfrm flipH="1">
              <a:off x="1705408" y="3694372"/>
              <a:ext cx="34594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2" name="Line 59"/>
            <p:cNvSpPr>
              <a:spLocks noChangeShapeType="1"/>
            </p:cNvSpPr>
            <p:nvPr/>
          </p:nvSpPr>
          <p:spPr bwMode="auto">
            <a:xfrm flipV="1">
              <a:off x="1705408" y="2729239"/>
              <a:ext cx="0" cy="9696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3" name="Line 60"/>
            <p:cNvSpPr>
              <a:spLocks noChangeShapeType="1"/>
            </p:cNvSpPr>
            <p:nvPr/>
          </p:nvSpPr>
          <p:spPr bwMode="auto">
            <a:xfrm>
              <a:off x="6573042" y="3289106"/>
              <a:ext cx="340824" cy="150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4" name="Line 61"/>
            <p:cNvSpPr>
              <a:spLocks noChangeShapeType="1"/>
            </p:cNvSpPr>
            <p:nvPr/>
          </p:nvSpPr>
          <p:spPr bwMode="auto">
            <a:xfrm flipV="1">
              <a:off x="6920274" y="2493584"/>
              <a:ext cx="0" cy="8105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5" name="Line 62"/>
            <p:cNvSpPr>
              <a:spLocks noChangeShapeType="1"/>
            </p:cNvSpPr>
            <p:nvPr/>
          </p:nvSpPr>
          <p:spPr bwMode="auto">
            <a:xfrm>
              <a:off x="5818361" y="2759258"/>
              <a:ext cx="0" cy="5403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med"/>
              <a:tailEnd type="non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6" name="Line 63"/>
            <p:cNvSpPr>
              <a:spLocks noChangeShapeType="1"/>
            </p:cNvSpPr>
            <p:nvPr/>
          </p:nvSpPr>
          <p:spPr bwMode="auto">
            <a:xfrm>
              <a:off x="5831174" y="3289106"/>
              <a:ext cx="2178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7" name="Line 64"/>
            <p:cNvSpPr>
              <a:spLocks noChangeShapeType="1"/>
            </p:cNvSpPr>
            <p:nvPr/>
          </p:nvSpPr>
          <p:spPr bwMode="auto">
            <a:xfrm>
              <a:off x="6100246" y="3289106"/>
              <a:ext cx="4484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8" name="Line 65"/>
            <p:cNvSpPr>
              <a:spLocks noChangeShapeType="1"/>
            </p:cNvSpPr>
            <p:nvPr/>
          </p:nvSpPr>
          <p:spPr bwMode="auto">
            <a:xfrm>
              <a:off x="6924117" y="2493584"/>
              <a:ext cx="29085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699" name="Text Box 66"/>
            <p:cNvSpPr txBox="1">
              <a:spLocks noChangeArrowheads="1"/>
            </p:cNvSpPr>
            <p:nvPr/>
          </p:nvSpPr>
          <p:spPr bwMode="auto">
            <a:xfrm>
              <a:off x="7848651" y="3276699"/>
              <a:ext cx="990549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/>
                <a:t>NULL</a:t>
              </a:r>
              <a:endParaRPr lang="en-US"/>
            </a:p>
          </p:txBody>
        </p:sp>
      </p:grpSp>
      <p:sp>
        <p:nvSpPr>
          <p:cNvPr id="67" name="Slide Number Placeholder 6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92150"/>
            <a:ext cx="7718425" cy="5943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	</a:t>
            </a:r>
            <a:r>
              <a:rPr lang="bg-BG" sz="2000" dirty="0">
                <a:solidFill>
                  <a:schemeClr val="tx1"/>
                </a:solidFill>
              </a:rPr>
              <a:t>Изключване на последен елемент от </a:t>
            </a:r>
            <a:r>
              <a:rPr lang="bg-BG" sz="2000" dirty="0" err="1">
                <a:solidFill>
                  <a:schemeClr val="tx1"/>
                </a:solidFill>
              </a:rPr>
              <a:t>двусвързан</a:t>
            </a:r>
            <a:r>
              <a:rPr lang="bg-BG" sz="2000" dirty="0">
                <a:solidFill>
                  <a:schemeClr val="tx1"/>
                </a:solidFill>
              </a:rPr>
              <a:t> списък (предполага се, че елементът е в списъка):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void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del3(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int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&amp;n)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  <a:t>{</a:t>
            </a:r>
            <a:br>
              <a:rPr lang="bg-BG" sz="1600" dirty="0">
                <a:solidFill>
                  <a:schemeClr val="tx2">
                    <a:satMod val="130000"/>
                  </a:schemeClr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elem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*p=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start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while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(p-&gt;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)		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         //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търсене на последния елемент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    p=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p-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n=p-&gt;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key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p-&gt;</a:t>
            </a:r>
            <a:r>
              <a:rPr lang="bg-BG" sz="1600" dirty="0" err="1" smtClean="0">
                <a:solidFill>
                  <a:schemeClr val="tx1"/>
                </a:solidFill>
                <a:latin typeface="Courier New" pitchFamily="49" charset="0"/>
              </a:rPr>
              <a:t>pre</a:t>
            </a:r>
            <a:r>
              <a:rPr lang="en-US" sz="1600" dirty="0" smtClean="0">
                <a:solidFill>
                  <a:schemeClr val="tx1"/>
                </a:solidFill>
                <a:latin typeface="Courier New" pitchFamily="49" charset="0"/>
              </a:rPr>
              <a:t>v</a:t>
            </a:r>
            <a:r>
              <a:rPr lang="bg-BG" sz="1600" dirty="0" smtClean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&gt;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next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=NULL;		//пренасочване на връзката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bg-BG" sz="1600" dirty="0" err="1">
                <a:solidFill>
                  <a:schemeClr val="tx1"/>
                </a:solidFill>
                <a:latin typeface="Courier New" pitchFamily="49" charset="0"/>
              </a:rPr>
              <a:t>delete</a:t>
            </a: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 p;			//изтриване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bg-BG" sz="1600" dirty="0">
                <a:solidFill>
                  <a:schemeClr val="tx1"/>
                </a:solidFill>
                <a:latin typeface="Courier New" pitchFamily="49" charset="0"/>
              </a:rPr>
              <a:t>}</a:t>
            </a:r>
            <a:br>
              <a:rPr lang="bg-BG" sz="1600" dirty="0">
                <a:solidFill>
                  <a:schemeClr val="tx1"/>
                </a:solidFill>
                <a:latin typeface="Courier New" pitchFamily="49" charset="0"/>
              </a:rPr>
            </a:br>
            <a:endParaRPr lang="bg-BG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28675" name="Group 85"/>
          <p:cNvGrpSpPr>
            <a:grpSpLocks/>
          </p:cNvGrpSpPr>
          <p:nvPr/>
        </p:nvGrpSpPr>
        <p:grpSpPr bwMode="auto">
          <a:xfrm>
            <a:off x="1116013" y="1484313"/>
            <a:ext cx="7543800" cy="2133600"/>
            <a:chOff x="1115616" y="1484784"/>
            <a:chExt cx="7543800" cy="2133600"/>
          </a:xfrm>
        </p:grpSpPr>
        <p:sp>
          <p:nvSpPr>
            <p:cNvPr id="28676" name="Text Box 4"/>
            <p:cNvSpPr txBox="1">
              <a:spLocks noChangeArrowheads="1"/>
            </p:cNvSpPr>
            <p:nvPr/>
          </p:nvSpPr>
          <p:spPr bwMode="auto">
            <a:xfrm>
              <a:off x="7720381" y="2418234"/>
              <a:ext cx="475543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/>
                <a:t>n</a:t>
              </a:r>
              <a:endParaRPr lang="en-US" sz="1600"/>
            </a:p>
          </p:txBody>
        </p:sp>
        <p:sp>
          <p:nvSpPr>
            <p:cNvPr id="28677" name="Text Box 5"/>
            <p:cNvSpPr txBox="1">
              <a:spLocks noChangeArrowheads="1"/>
            </p:cNvSpPr>
            <p:nvPr/>
          </p:nvSpPr>
          <p:spPr bwMode="auto">
            <a:xfrm>
              <a:off x="1168454" y="1484784"/>
              <a:ext cx="1162439" cy="621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Start</a:t>
              </a:r>
            </a:p>
          </p:txBody>
        </p:sp>
        <p:grpSp>
          <p:nvGrpSpPr>
            <p:cNvPr id="28678" name="Group 6"/>
            <p:cNvGrpSpPr>
              <a:grpSpLocks/>
            </p:cNvGrpSpPr>
            <p:nvPr/>
          </p:nvGrpSpPr>
          <p:grpSpPr bwMode="auto">
            <a:xfrm>
              <a:off x="1492899" y="2383142"/>
              <a:ext cx="1134629" cy="421105"/>
              <a:chOff x="1269" y="5224"/>
              <a:chExt cx="1224" cy="360"/>
            </a:xfrm>
          </p:grpSpPr>
          <p:sp>
            <p:nvSpPr>
              <p:cNvPr id="28753" name="Rectangle 7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54" name="Rectangle 8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55" name="Rectangle 9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8679" name="Group 10"/>
            <p:cNvGrpSpPr>
              <a:grpSpLocks/>
            </p:cNvGrpSpPr>
            <p:nvPr/>
          </p:nvGrpSpPr>
          <p:grpSpPr bwMode="auto">
            <a:xfrm>
              <a:off x="3061357" y="2383142"/>
              <a:ext cx="1134629" cy="421105"/>
              <a:chOff x="1269" y="5224"/>
              <a:chExt cx="1224" cy="360"/>
            </a:xfrm>
          </p:grpSpPr>
          <p:sp>
            <p:nvSpPr>
              <p:cNvPr id="28750" name="Rectangle 11"/>
              <p:cNvSpPr>
                <a:spLocks noChangeArrowheads="1"/>
              </p:cNvSpPr>
              <p:nvPr/>
            </p:nvSpPr>
            <p:spPr bwMode="auto">
              <a:xfrm>
                <a:off x="1269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51" name="Rectangle 12"/>
              <p:cNvSpPr>
                <a:spLocks noChangeArrowheads="1"/>
              </p:cNvSpPr>
              <p:nvPr/>
            </p:nvSpPr>
            <p:spPr bwMode="auto">
              <a:xfrm>
                <a:off x="2241" y="5224"/>
                <a:ext cx="252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52" name="Rectangle 13"/>
              <p:cNvSpPr>
                <a:spLocks noChangeArrowheads="1"/>
              </p:cNvSpPr>
              <p:nvPr/>
            </p:nvSpPr>
            <p:spPr bwMode="auto">
              <a:xfrm>
                <a:off x="1521" y="5224"/>
                <a:ext cx="720" cy="36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8680" name="Line 14"/>
            <p:cNvSpPr>
              <a:spLocks noChangeShapeType="1"/>
            </p:cNvSpPr>
            <p:nvPr/>
          </p:nvSpPr>
          <p:spPr bwMode="auto">
            <a:xfrm>
              <a:off x="1115616" y="1951509"/>
              <a:ext cx="9510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81" name="Line 15"/>
            <p:cNvSpPr>
              <a:spLocks noChangeShapeType="1"/>
            </p:cNvSpPr>
            <p:nvPr/>
          </p:nvSpPr>
          <p:spPr bwMode="auto">
            <a:xfrm>
              <a:off x="2064848" y="1962037"/>
              <a:ext cx="0" cy="421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82" name="Line 16"/>
            <p:cNvSpPr>
              <a:spLocks noChangeShapeType="1"/>
            </p:cNvSpPr>
            <p:nvPr/>
          </p:nvSpPr>
          <p:spPr bwMode="auto">
            <a:xfrm>
              <a:off x="4118119" y="2593695"/>
              <a:ext cx="16685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83" name="Line 17"/>
            <p:cNvSpPr>
              <a:spLocks noChangeShapeType="1"/>
            </p:cNvSpPr>
            <p:nvPr/>
          </p:nvSpPr>
          <p:spPr bwMode="auto">
            <a:xfrm flipV="1">
              <a:off x="4284976" y="1962037"/>
              <a:ext cx="0" cy="6316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84" name="Line 18"/>
            <p:cNvSpPr>
              <a:spLocks noChangeShapeType="1"/>
            </p:cNvSpPr>
            <p:nvPr/>
          </p:nvSpPr>
          <p:spPr bwMode="auto">
            <a:xfrm>
              <a:off x="4284976" y="1965546"/>
              <a:ext cx="6674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85" name="Line 19"/>
            <p:cNvSpPr>
              <a:spLocks noChangeShapeType="1"/>
            </p:cNvSpPr>
            <p:nvPr/>
          </p:nvSpPr>
          <p:spPr bwMode="auto">
            <a:xfrm>
              <a:off x="4915326" y="1965546"/>
              <a:ext cx="3337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8686" name="Group 20"/>
            <p:cNvGrpSpPr>
              <a:grpSpLocks/>
            </p:cNvGrpSpPr>
            <p:nvPr/>
          </p:nvGrpSpPr>
          <p:grpSpPr bwMode="auto">
            <a:xfrm>
              <a:off x="1325115" y="2562112"/>
              <a:ext cx="302197" cy="502987"/>
              <a:chOff x="4144" y="5311"/>
              <a:chExt cx="326" cy="430"/>
            </a:xfrm>
          </p:grpSpPr>
          <p:grpSp>
            <p:nvGrpSpPr>
              <p:cNvPr id="28744" name="Group 21"/>
              <p:cNvGrpSpPr>
                <a:grpSpLocks/>
              </p:cNvGrpSpPr>
              <p:nvPr/>
            </p:nvGrpSpPr>
            <p:grpSpPr bwMode="auto">
              <a:xfrm>
                <a:off x="4144" y="5663"/>
                <a:ext cx="113" cy="78"/>
                <a:chOff x="0" y="0"/>
                <a:chExt cx="20000" cy="20485"/>
              </a:xfrm>
            </p:grpSpPr>
            <p:sp>
              <p:nvSpPr>
                <p:cNvPr id="28747" name="Line 22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48" name="Line 23"/>
                <p:cNvSpPr>
                  <a:spLocks noChangeShapeType="1"/>
                </p:cNvSpPr>
                <p:nvPr/>
              </p:nvSpPr>
              <p:spPr bwMode="auto">
                <a:xfrm>
                  <a:off x="3961" y="20244"/>
                  <a:ext cx="1207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49" name="Line 24"/>
                <p:cNvSpPr>
                  <a:spLocks noChangeShapeType="1"/>
                </p:cNvSpPr>
                <p:nvPr/>
              </p:nvSpPr>
              <p:spPr bwMode="auto">
                <a:xfrm>
                  <a:off x="1981" y="10122"/>
                  <a:ext cx="16038" cy="24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8745" name="Line 25"/>
              <p:cNvSpPr>
                <a:spLocks noChangeShapeType="1"/>
              </p:cNvSpPr>
              <p:nvPr/>
            </p:nvSpPr>
            <p:spPr bwMode="auto">
              <a:xfrm flipH="1">
                <a:off x="4200" y="5328"/>
                <a:ext cx="27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46" name="Line 26"/>
              <p:cNvSpPr>
                <a:spLocks noChangeShapeType="1"/>
              </p:cNvSpPr>
              <p:nvPr/>
            </p:nvSpPr>
            <p:spPr bwMode="auto">
              <a:xfrm>
                <a:off x="4200" y="5311"/>
                <a:ext cx="1" cy="34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28687" name="Group 27"/>
            <p:cNvGrpSpPr>
              <a:grpSpLocks/>
            </p:cNvGrpSpPr>
            <p:nvPr/>
          </p:nvGrpSpPr>
          <p:grpSpPr bwMode="auto">
            <a:xfrm>
              <a:off x="2560785" y="1962037"/>
              <a:ext cx="1001143" cy="631658"/>
              <a:chOff x="5494" y="4788"/>
              <a:chExt cx="1080" cy="540"/>
            </a:xfrm>
          </p:grpSpPr>
          <p:sp>
            <p:nvSpPr>
              <p:cNvPr id="28739" name="Line 28"/>
              <p:cNvSpPr>
                <a:spLocks noChangeShapeType="1"/>
              </p:cNvSpPr>
              <p:nvPr/>
            </p:nvSpPr>
            <p:spPr bwMode="auto">
              <a:xfrm>
                <a:off x="549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40" name="Line 29"/>
              <p:cNvSpPr>
                <a:spLocks noChangeShapeType="1"/>
              </p:cNvSpPr>
              <p:nvPr/>
            </p:nvSpPr>
            <p:spPr bwMode="auto">
              <a:xfrm flipV="1">
                <a:off x="5674" y="4788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41" name="Line 30"/>
              <p:cNvSpPr>
                <a:spLocks noChangeShapeType="1"/>
              </p:cNvSpPr>
              <p:nvPr/>
            </p:nvSpPr>
            <p:spPr bwMode="auto">
              <a:xfrm>
                <a:off x="5674" y="4788"/>
                <a:ext cx="9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42" name="Line 31"/>
              <p:cNvSpPr>
                <a:spLocks noChangeShapeType="1"/>
              </p:cNvSpPr>
              <p:nvPr/>
            </p:nvSpPr>
            <p:spPr bwMode="auto">
              <a:xfrm>
                <a:off x="6574" y="4788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43" name="Line 32"/>
              <p:cNvSpPr>
                <a:spLocks noChangeShapeType="1"/>
              </p:cNvSpPr>
              <p:nvPr/>
            </p:nvSpPr>
            <p:spPr bwMode="auto">
              <a:xfrm>
                <a:off x="5934" y="5328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8688" name="Line 33"/>
            <p:cNvSpPr>
              <a:spLocks noChangeShapeType="1"/>
            </p:cNvSpPr>
            <p:nvPr/>
          </p:nvSpPr>
          <p:spPr bwMode="auto">
            <a:xfrm flipV="1">
              <a:off x="2959388" y="2581997"/>
              <a:ext cx="0" cy="63165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8689" name="Group 34"/>
            <p:cNvGrpSpPr>
              <a:grpSpLocks/>
            </p:cNvGrpSpPr>
            <p:nvPr/>
          </p:nvGrpSpPr>
          <p:grpSpPr bwMode="auto">
            <a:xfrm>
              <a:off x="5184151" y="1962037"/>
              <a:ext cx="1361740" cy="1263316"/>
              <a:chOff x="6498" y="3087"/>
              <a:chExt cx="1469" cy="1080"/>
            </a:xfrm>
          </p:grpSpPr>
          <p:sp>
            <p:nvSpPr>
              <p:cNvPr id="28724" name="Line 35"/>
              <p:cNvSpPr>
                <a:spLocks noChangeShapeType="1"/>
              </p:cNvSpPr>
              <p:nvPr/>
            </p:nvSpPr>
            <p:spPr bwMode="auto">
              <a:xfrm>
                <a:off x="7268" y="3087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25" name="Line 36"/>
              <p:cNvSpPr>
                <a:spLocks noChangeShapeType="1"/>
              </p:cNvSpPr>
              <p:nvPr/>
            </p:nvSpPr>
            <p:spPr bwMode="auto">
              <a:xfrm>
                <a:off x="6548" y="3090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26" name="Line 37"/>
              <p:cNvSpPr>
                <a:spLocks noChangeShapeType="1"/>
              </p:cNvSpPr>
              <p:nvPr/>
            </p:nvSpPr>
            <p:spPr bwMode="auto">
              <a:xfrm>
                <a:off x="7628" y="3627"/>
                <a:ext cx="29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27" name="Line 38"/>
              <p:cNvSpPr>
                <a:spLocks noChangeShapeType="1"/>
              </p:cNvSpPr>
              <p:nvPr/>
            </p:nvSpPr>
            <p:spPr bwMode="auto">
              <a:xfrm>
                <a:off x="7920" y="3620"/>
                <a:ext cx="1" cy="3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28728" name="Group 39"/>
              <p:cNvGrpSpPr>
                <a:grpSpLocks/>
              </p:cNvGrpSpPr>
              <p:nvPr/>
            </p:nvGrpSpPr>
            <p:grpSpPr bwMode="auto">
              <a:xfrm>
                <a:off x="7854" y="3963"/>
                <a:ext cx="113" cy="78"/>
                <a:chOff x="0" y="0"/>
                <a:chExt cx="20000" cy="19975"/>
              </a:xfrm>
            </p:grpSpPr>
            <p:sp>
              <p:nvSpPr>
                <p:cNvPr id="28736" name="Line 40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37" name="Line 41"/>
                <p:cNvSpPr>
                  <a:spLocks noChangeShapeType="1"/>
                </p:cNvSpPr>
                <p:nvPr/>
              </p:nvSpPr>
              <p:spPr bwMode="auto">
                <a:xfrm>
                  <a:off x="3961" y="19740"/>
                  <a:ext cx="1207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38" name="Line 42"/>
                <p:cNvSpPr>
                  <a:spLocks noChangeShapeType="1"/>
                </p:cNvSpPr>
                <p:nvPr/>
              </p:nvSpPr>
              <p:spPr bwMode="auto">
                <a:xfrm>
                  <a:off x="1981" y="9870"/>
                  <a:ext cx="1603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8729" name="Group 43"/>
              <p:cNvGrpSpPr>
                <a:grpSpLocks/>
              </p:cNvGrpSpPr>
              <p:nvPr/>
            </p:nvGrpSpPr>
            <p:grpSpPr bwMode="auto">
              <a:xfrm>
                <a:off x="6498" y="3447"/>
                <a:ext cx="1310" cy="360"/>
                <a:chOff x="7184" y="5148"/>
                <a:chExt cx="1310" cy="360"/>
              </a:xfrm>
            </p:grpSpPr>
            <p:grpSp>
              <p:nvGrpSpPr>
                <p:cNvPr id="28731" name="Group 44"/>
                <p:cNvGrpSpPr>
                  <a:grpSpLocks/>
                </p:cNvGrpSpPr>
                <p:nvPr/>
              </p:nvGrpSpPr>
              <p:grpSpPr bwMode="auto">
                <a:xfrm>
                  <a:off x="7270" y="5148"/>
                  <a:ext cx="1224" cy="360"/>
                  <a:chOff x="1269" y="5224"/>
                  <a:chExt cx="1224" cy="360"/>
                </a:xfrm>
              </p:grpSpPr>
              <p:sp>
                <p:nvSpPr>
                  <p:cNvPr id="2873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269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873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2241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873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521" y="5224"/>
                    <a:ext cx="720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</p:grpSp>
            <p:sp>
              <p:nvSpPr>
                <p:cNvPr id="28732" name="Line 48"/>
                <p:cNvSpPr>
                  <a:spLocks noChangeShapeType="1"/>
                </p:cNvSpPr>
                <p:nvPr/>
              </p:nvSpPr>
              <p:spPr bwMode="auto">
                <a:xfrm>
                  <a:off x="7184" y="5328"/>
                  <a:ext cx="18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8730" name="Line 49"/>
              <p:cNvSpPr>
                <a:spLocks noChangeShapeType="1"/>
              </p:cNvSpPr>
              <p:nvPr/>
            </p:nvSpPr>
            <p:spPr bwMode="auto">
              <a:xfrm flipV="1">
                <a:off x="6508" y="3627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8690" name="Line 50"/>
            <p:cNvSpPr>
              <a:spLocks noChangeShapeType="1"/>
            </p:cNvSpPr>
            <p:nvPr/>
          </p:nvSpPr>
          <p:spPr bwMode="auto">
            <a:xfrm>
              <a:off x="2050943" y="3217164"/>
              <a:ext cx="91400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1" name="Line 51"/>
            <p:cNvSpPr>
              <a:spLocks noChangeShapeType="1"/>
            </p:cNvSpPr>
            <p:nvPr/>
          </p:nvSpPr>
          <p:spPr bwMode="auto">
            <a:xfrm flipV="1">
              <a:off x="2060213" y="2804247"/>
              <a:ext cx="0" cy="421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2" name="Line 52"/>
            <p:cNvSpPr>
              <a:spLocks noChangeShapeType="1"/>
            </p:cNvSpPr>
            <p:nvPr/>
          </p:nvSpPr>
          <p:spPr bwMode="auto">
            <a:xfrm>
              <a:off x="4535262" y="3225352"/>
              <a:ext cx="6674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3" name="Line 53"/>
            <p:cNvSpPr>
              <a:spLocks noChangeShapeType="1"/>
            </p:cNvSpPr>
            <p:nvPr/>
          </p:nvSpPr>
          <p:spPr bwMode="auto">
            <a:xfrm>
              <a:off x="3561928" y="3225352"/>
              <a:ext cx="6674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4" name="Line 54"/>
            <p:cNvSpPr>
              <a:spLocks noChangeShapeType="1"/>
            </p:cNvSpPr>
            <p:nvPr/>
          </p:nvSpPr>
          <p:spPr bwMode="auto">
            <a:xfrm>
              <a:off x="4220087" y="3225352"/>
              <a:ext cx="33371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5" name="Line 55"/>
            <p:cNvSpPr>
              <a:spLocks noChangeShapeType="1"/>
            </p:cNvSpPr>
            <p:nvPr/>
          </p:nvSpPr>
          <p:spPr bwMode="auto">
            <a:xfrm flipV="1">
              <a:off x="3561928" y="2804247"/>
              <a:ext cx="0" cy="4211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696" name="Text Box 56"/>
            <p:cNvSpPr txBox="1">
              <a:spLocks noChangeArrowheads="1"/>
            </p:cNvSpPr>
            <p:nvPr/>
          </p:nvSpPr>
          <p:spPr bwMode="auto">
            <a:xfrm>
              <a:off x="2866690" y="2710668"/>
              <a:ext cx="834286" cy="631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 dirty="0" err="1" smtClean="0">
                  <a:latin typeface="Courier New" pitchFamily="49" charset="0"/>
                </a:rPr>
                <a:t>prev</a:t>
              </a:r>
              <a:endParaRPr lang="en-US" sz="1600" b="1" dirty="0">
                <a:latin typeface="Courier New" pitchFamily="49" charset="0"/>
              </a:endParaRPr>
            </a:p>
          </p:txBody>
        </p:sp>
        <p:sp>
          <p:nvSpPr>
            <p:cNvPr id="28697" name="Text Box 57"/>
            <p:cNvSpPr txBox="1">
              <a:spLocks noChangeArrowheads="1"/>
            </p:cNvSpPr>
            <p:nvPr/>
          </p:nvSpPr>
          <p:spPr bwMode="auto">
            <a:xfrm>
              <a:off x="3784404" y="2722366"/>
              <a:ext cx="834286" cy="631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>
                  <a:latin typeface="Courier New" pitchFamily="49" charset="0"/>
                </a:rPr>
                <a:t>next</a:t>
              </a:r>
              <a:endParaRPr lang="bg-BG" sz="1200" b="1">
                <a:latin typeface="Courier New" pitchFamily="49" charset="0"/>
              </a:endParaRPr>
            </a:p>
          </p:txBody>
        </p:sp>
        <p:grpSp>
          <p:nvGrpSpPr>
            <p:cNvPr id="28698" name="Group 58"/>
            <p:cNvGrpSpPr>
              <a:grpSpLocks/>
            </p:cNvGrpSpPr>
            <p:nvPr/>
          </p:nvGrpSpPr>
          <p:grpSpPr bwMode="auto">
            <a:xfrm>
              <a:off x="7297676" y="2018184"/>
              <a:ext cx="1361740" cy="1400175"/>
              <a:chOff x="6498" y="3087"/>
              <a:chExt cx="1469" cy="1080"/>
            </a:xfrm>
          </p:grpSpPr>
          <p:sp>
            <p:nvSpPr>
              <p:cNvPr id="28709" name="Line 59"/>
              <p:cNvSpPr>
                <a:spLocks noChangeShapeType="1"/>
              </p:cNvSpPr>
              <p:nvPr/>
            </p:nvSpPr>
            <p:spPr bwMode="auto">
              <a:xfrm>
                <a:off x="7268" y="3087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10" name="Line 60"/>
              <p:cNvSpPr>
                <a:spLocks noChangeShapeType="1"/>
              </p:cNvSpPr>
              <p:nvPr/>
            </p:nvSpPr>
            <p:spPr bwMode="auto">
              <a:xfrm>
                <a:off x="6548" y="3090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11" name="Line 61"/>
              <p:cNvSpPr>
                <a:spLocks noChangeShapeType="1"/>
              </p:cNvSpPr>
              <p:nvPr/>
            </p:nvSpPr>
            <p:spPr bwMode="auto">
              <a:xfrm>
                <a:off x="7628" y="3627"/>
                <a:ext cx="29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712" name="Line 62"/>
              <p:cNvSpPr>
                <a:spLocks noChangeShapeType="1"/>
              </p:cNvSpPr>
              <p:nvPr/>
            </p:nvSpPr>
            <p:spPr bwMode="auto">
              <a:xfrm>
                <a:off x="7920" y="3620"/>
                <a:ext cx="1" cy="3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 type="none" w="sm" len="sm"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grpSp>
            <p:nvGrpSpPr>
              <p:cNvPr id="28713" name="Group 63"/>
              <p:cNvGrpSpPr>
                <a:grpSpLocks/>
              </p:cNvGrpSpPr>
              <p:nvPr/>
            </p:nvGrpSpPr>
            <p:grpSpPr bwMode="auto">
              <a:xfrm>
                <a:off x="7854" y="3963"/>
                <a:ext cx="113" cy="78"/>
                <a:chOff x="0" y="0"/>
                <a:chExt cx="20000" cy="19975"/>
              </a:xfrm>
            </p:grpSpPr>
            <p:sp>
              <p:nvSpPr>
                <p:cNvPr id="28721" name="Line 64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20000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22" name="Line 65"/>
                <p:cNvSpPr>
                  <a:spLocks noChangeShapeType="1"/>
                </p:cNvSpPr>
                <p:nvPr/>
              </p:nvSpPr>
              <p:spPr bwMode="auto">
                <a:xfrm>
                  <a:off x="3961" y="19740"/>
                  <a:ext cx="1207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8723" name="Line 66"/>
                <p:cNvSpPr>
                  <a:spLocks noChangeShapeType="1"/>
                </p:cNvSpPr>
                <p:nvPr/>
              </p:nvSpPr>
              <p:spPr bwMode="auto">
                <a:xfrm>
                  <a:off x="1981" y="9870"/>
                  <a:ext cx="16038" cy="23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8714" name="Group 67"/>
              <p:cNvGrpSpPr>
                <a:grpSpLocks/>
              </p:cNvGrpSpPr>
              <p:nvPr/>
            </p:nvGrpSpPr>
            <p:grpSpPr bwMode="auto">
              <a:xfrm>
                <a:off x="6498" y="3447"/>
                <a:ext cx="1310" cy="360"/>
                <a:chOff x="7184" y="5148"/>
                <a:chExt cx="1310" cy="360"/>
              </a:xfrm>
            </p:grpSpPr>
            <p:grpSp>
              <p:nvGrpSpPr>
                <p:cNvPr id="28716" name="Group 68"/>
                <p:cNvGrpSpPr>
                  <a:grpSpLocks/>
                </p:cNvGrpSpPr>
                <p:nvPr/>
              </p:nvGrpSpPr>
              <p:grpSpPr bwMode="auto">
                <a:xfrm>
                  <a:off x="7270" y="5148"/>
                  <a:ext cx="1224" cy="360"/>
                  <a:chOff x="1269" y="5224"/>
                  <a:chExt cx="1224" cy="360"/>
                </a:xfrm>
              </p:grpSpPr>
              <p:sp>
                <p:nvSpPr>
                  <p:cNvPr id="28718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1269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8719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2241" y="5224"/>
                    <a:ext cx="252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  <p:sp>
                <p:nvSpPr>
                  <p:cNvPr id="28720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1521" y="5224"/>
                    <a:ext cx="720" cy="360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bg-BG"/>
                  </a:p>
                </p:txBody>
              </p:sp>
            </p:grpSp>
            <p:sp>
              <p:nvSpPr>
                <p:cNvPr id="28717" name="Line 72"/>
                <p:cNvSpPr>
                  <a:spLocks noChangeShapeType="1"/>
                </p:cNvSpPr>
                <p:nvPr/>
              </p:nvSpPr>
              <p:spPr bwMode="auto">
                <a:xfrm>
                  <a:off x="7184" y="5328"/>
                  <a:ext cx="18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8715" name="Line 73"/>
              <p:cNvSpPr>
                <a:spLocks noChangeShapeType="1"/>
              </p:cNvSpPr>
              <p:nvPr/>
            </p:nvSpPr>
            <p:spPr bwMode="auto">
              <a:xfrm flipV="1">
                <a:off x="6508" y="3627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8699" name="Line 74"/>
            <p:cNvSpPr>
              <a:spLocks noChangeShapeType="1"/>
            </p:cNvSpPr>
            <p:nvPr/>
          </p:nvSpPr>
          <p:spPr bwMode="auto">
            <a:xfrm>
              <a:off x="6240913" y="2684934"/>
              <a:ext cx="0" cy="733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0" name="Line 75"/>
            <p:cNvSpPr>
              <a:spLocks noChangeShapeType="1"/>
            </p:cNvSpPr>
            <p:nvPr/>
          </p:nvSpPr>
          <p:spPr bwMode="auto">
            <a:xfrm>
              <a:off x="6240913" y="3418359"/>
              <a:ext cx="7397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1" name="Line 76"/>
            <p:cNvSpPr>
              <a:spLocks noChangeShapeType="1"/>
            </p:cNvSpPr>
            <p:nvPr/>
          </p:nvSpPr>
          <p:spPr bwMode="auto">
            <a:xfrm flipV="1">
              <a:off x="7033485" y="2018184"/>
              <a:ext cx="0" cy="1400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2" name="Line 77"/>
            <p:cNvSpPr>
              <a:spLocks noChangeShapeType="1"/>
            </p:cNvSpPr>
            <p:nvPr/>
          </p:nvSpPr>
          <p:spPr bwMode="auto">
            <a:xfrm>
              <a:off x="7033485" y="2026372"/>
              <a:ext cx="3170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3" name="Line 78"/>
            <p:cNvSpPr>
              <a:spLocks noChangeShapeType="1"/>
            </p:cNvSpPr>
            <p:nvPr/>
          </p:nvSpPr>
          <p:spPr bwMode="auto">
            <a:xfrm flipH="1">
              <a:off x="6029561" y="3485034"/>
              <a:ext cx="12681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4" name="Line 79"/>
            <p:cNvSpPr>
              <a:spLocks noChangeShapeType="1"/>
            </p:cNvSpPr>
            <p:nvPr/>
          </p:nvSpPr>
          <p:spPr bwMode="auto">
            <a:xfrm flipV="1">
              <a:off x="6029561" y="2818284"/>
              <a:ext cx="0" cy="6667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5" name="Line 80"/>
            <p:cNvSpPr>
              <a:spLocks noChangeShapeType="1"/>
            </p:cNvSpPr>
            <p:nvPr/>
          </p:nvSpPr>
          <p:spPr bwMode="auto">
            <a:xfrm flipH="1">
              <a:off x="7403352" y="1618134"/>
              <a:ext cx="1109600" cy="2000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6" name="Line 81"/>
            <p:cNvSpPr>
              <a:spLocks noChangeShapeType="1"/>
            </p:cNvSpPr>
            <p:nvPr/>
          </p:nvSpPr>
          <p:spPr bwMode="auto">
            <a:xfrm>
              <a:off x="7456190" y="1618134"/>
              <a:ext cx="1003924" cy="19335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707" name="Line 82"/>
            <p:cNvSpPr>
              <a:spLocks noChangeShapeType="1"/>
            </p:cNvSpPr>
            <p:nvPr/>
          </p:nvSpPr>
          <p:spPr bwMode="auto">
            <a:xfrm>
              <a:off x="7848600" y="20574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8708" name="Text Box 83"/>
            <p:cNvSpPr txBox="1">
              <a:spLocks noChangeArrowheads="1"/>
            </p:cNvSpPr>
            <p:nvPr/>
          </p:nvSpPr>
          <p:spPr bwMode="auto">
            <a:xfrm>
              <a:off x="7696200" y="16002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p</a:t>
              </a:r>
              <a:endParaRPr lang="en-US"/>
            </a:p>
          </p:txBody>
        </p:sp>
      </p:grpSp>
      <p:sp>
        <p:nvSpPr>
          <p:cNvPr id="84" name="Slide Number Placeholder 8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-387350"/>
            <a:ext cx="7848600" cy="3048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		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		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Кръгови (циклични) списъци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- единично свързани </a:t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4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- двойно-свързани</a:t>
            </a:r>
            <a:endParaRPr lang="en-US" sz="2400">
              <a:solidFill>
                <a:schemeClr val="tx2">
                  <a:satMod val="130000"/>
                </a:schemeClr>
              </a:solidFill>
            </a:endParaRP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1835150" y="1989138"/>
            <a:ext cx="6477000" cy="1295400"/>
            <a:chOff x="1051" y="5944"/>
            <a:chExt cx="5880" cy="940"/>
          </a:xfrm>
        </p:grpSpPr>
        <p:sp>
          <p:nvSpPr>
            <p:cNvPr id="29746" name="Line 4"/>
            <p:cNvSpPr>
              <a:spLocks noChangeShapeType="1"/>
            </p:cNvSpPr>
            <p:nvPr/>
          </p:nvSpPr>
          <p:spPr bwMode="auto">
            <a:xfrm>
              <a:off x="1881" y="5974"/>
              <a:ext cx="1" cy="3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9747" name="Group 5"/>
            <p:cNvGrpSpPr>
              <a:grpSpLocks/>
            </p:cNvGrpSpPr>
            <p:nvPr/>
          </p:nvGrpSpPr>
          <p:grpSpPr bwMode="auto">
            <a:xfrm>
              <a:off x="1341" y="6327"/>
              <a:ext cx="1177" cy="407"/>
              <a:chOff x="1701" y="3482"/>
              <a:chExt cx="1177" cy="407"/>
            </a:xfrm>
          </p:grpSpPr>
          <p:sp>
            <p:nvSpPr>
              <p:cNvPr id="29771" name="Line 6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72" name="Rectangle 7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9748" name="Line 8"/>
            <p:cNvSpPr>
              <a:spLocks noChangeShapeType="1"/>
            </p:cNvSpPr>
            <p:nvPr/>
          </p:nvSpPr>
          <p:spPr bwMode="auto">
            <a:xfrm>
              <a:off x="2321" y="6500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49" name="Line 9"/>
            <p:cNvSpPr>
              <a:spLocks noChangeShapeType="1"/>
            </p:cNvSpPr>
            <p:nvPr/>
          </p:nvSpPr>
          <p:spPr bwMode="auto">
            <a:xfrm flipV="1">
              <a:off x="2731" y="6044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0" name="Line 10"/>
            <p:cNvSpPr>
              <a:spLocks noChangeShapeType="1"/>
            </p:cNvSpPr>
            <p:nvPr/>
          </p:nvSpPr>
          <p:spPr bwMode="auto">
            <a:xfrm>
              <a:off x="2721" y="6043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1" name="Line 11"/>
            <p:cNvSpPr>
              <a:spLocks noChangeShapeType="1"/>
            </p:cNvSpPr>
            <p:nvPr/>
          </p:nvSpPr>
          <p:spPr bwMode="auto">
            <a:xfrm>
              <a:off x="3517" y="6053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2" name="Line 12"/>
            <p:cNvSpPr>
              <a:spLocks noChangeShapeType="1"/>
            </p:cNvSpPr>
            <p:nvPr/>
          </p:nvSpPr>
          <p:spPr bwMode="auto">
            <a:xfrm>
              <a:off x="4441" y="6024"/>
              <a:ext cx="2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3" name="Text Box 13"/>
            <p:cNvSpPr txBox="1">
              <a:spLocks noChangeArrowheads="1"/>
            </p:cNvSpPr>
            <p:nvPr/>
          </p:nvSpPr>
          <p:spPr bwMode="auto">
            <a:xfrm>
              <a:off x="1051" y="5944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2000" b="1">
                  <a:latin typeface="Courier New" pitchFamily="49" charset="0"/>
                </a:rPr>
                <a:t>start</a:t>
              </a:r>
              <a:endParaRPr lang="bg-BG" sz="2000" b="1">
                <a:latin typeface="Courier New" pitchFamily="49" charset="0"/>
              </a:endParaRPr>
            </a:p>
          </p:txBody>
        </p:sp>
        <p:grpSp>
          <p:nvGrpSpPr>
            <p:cNvPr id="29754" name="Group 14"/>
            <p:cNvGrpSpPr>
              <a:grpSpLocks/>
            </p:cNvGrpSpPr>
            <p:nvPr/>
          </p:nvGrpSpPr>
          <p:grpSpPr bwMode="auto">
            <a:xfrm>
              <a:off x="3044" y="6327"/>
              <a:ext cx="1177" cy="407"/>
              <a:chOff x="1701" y="3482"/>
              <a:chExt cx="1177" cy="407"/>
            </a:xfrm>
          </p:grpSpPr>
          <p:sp>
            <p:nvSpPr>
              <p:cNvPr id="29769" name="Line 15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70" name="Rectangle 16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9755" name="Line 17"/>
            <p:cNvSpPr>
              <a:spLocks noChangeShapeType="1"/>
            </p:cNvSpPr>
            <p:nvPr/>
          </p:nvSpPr>
          <p:spPr bwMode="auto">
            <a:xfrm>
              <a:off x="4051" y="6486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6" name="Line 18"/>
            <p:cNvSpPr>
              <a:spLocks noChangeShapeType="1"/>
            </p:cNvSpPr>
            <p:nvPr/>
          </p:nvSpPr>
          <p:spPr bwMode="auto">
            <a:xfrm flipV="1">
              <a:off x="4451" y="6030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7" name="Line 19"/>
            <p:cNvSpPr>
              <a:spLocks noChangeShapeType="1"/>
            </p:cNvSpPr>
            <p:nvPr/>
          </p:nvSpPr>
          <p:spPr bwMode="auto">
            <a:xfrm flipV="1">
              <a:off x="5224" y="6057"/>
              <a:ext cx="1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8" name="Line 20"/>
            <p:cNvSpPr>
              <a:spLocks noChangeShapeType="1"/>
            </p:cNvSpPr>
            <p:nvPr/>
          </p:nvSpPr>
          <p:spPr bwMode="auto">
            <a:xfrm>
              <a:off x="5214" y="6056"/>
              <a:ext cx="81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59" name="Line 21"/>
            <p:cNvSpPr>
              <a:spLocks noChangeShapeType="1"/>
            </p:cNvSpPr>
            <p:nvPr/>
          </p:nvSpPr>
          <p:spPr bwMode="auto">
            <a:xfrm>
              <a:off x="6020" y="6064"/>
              <a:ext cx="1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bg-BG"/>
            </a:p>
          </p:txBody>
        </p:sp>
        <p:grpSp>
          <p:nvGrpSpPr>
            <p:cNvPr id="29760" name="Group 22"/>
            <p:cNvGrpSpPr>
              <a:grpSpLocks/>
            </p:cNvGrpSpPr>
            <p:nvPr/>
          </p:nvGrpSpPr>
          <p:grpSpPr bwMode="auto">
            <a:xfrm>
              <a:off x="5517" y="6320"/>
              <a:ext cx="1177" cy="407"/>
              <a:chOff x="1701" y="3482"/>
              <a:chExt cx="1177" cy="407"/>
            </a:xfrm>
          </p:grpSpPr>
          <p:sp>
            <p:nvSpPr>
              <p:cNvPr id="29767" name="Line 23"/>
              <p:cNvSpPr>
                <a:spLocks noChangeShapeType="1"/>
              </p:cNvSpPr>
              <p:nvPr/>
            </p:nvSpPr>
            <p:spPr bwMode="auto">
              <a:xfrm>
                <a:off x="2513" y="3490"/>
                <a:ext cx="1" cy="39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68" name="Rectangle 24"/>
              <p:cNvSpPr>
                <a:spLocks noChangeArrowheads="1"/>
              </p:cNvSpPr>
              <p:nvPr/>
            </p:nvSpPr>
            <p:spPr bwMode="auto">
              <a:xfrm>
                <a:off x="1701" y="3482"/>
                <a:ext cx="1177" cy="407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9761" name="Line 25"/>
            <p:cNvSpPr>
              <a:spLocks noChangeShapeType="1"/>
            </p:cNvSpPr>
            <p:nvPr/>
          </p:nvSpPr>
          <p:spPr bwMode="auto">
            <a:xfrm>
              <a:off x="6514" y="6519"/>
              <a:ext cx="40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62" name="Text Box 26"/>
            <p:cNvSpPr txBox="1">
              <a:spLocks noChangeArrowheads="1"/>
            </p:cNvSpPr>
            <p:nvPr/>
          </p:nvSpPr>
          <p:spPr bwMode="auto">
            <a:xfrm>
              <a:off x="4551" y="6287"/>
              <a:ext cx="108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bg-BG" sz="100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9763" name="Line 27"/>
            <p:cNvSpPr>
              <a:spLocks noChangeShapeType="1"/>
            </p:cNvSpPr>
            <p:nvPr/>
          </p:nvSpPr>
          <p:spPr bwMode="auto">
            <a:xfrm>
              <a:off x="1161" y="5984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64" name="Line 28"/>
            <p:cNvSpPr>
              <a:spLocks noChangeShapeType="1"/>
            </p:cNvSpPr>
            <p:nvPr/>
          </p:nvSpPr>
          <p:spPr bwMode="auto">
            <a:xfrm>
              <a:off x="1161" y="5984"/>
              <a:ext cx="0" cy="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65" name="Line 29"/>
            <p:cNvSpPr>
              <a:spLocks noChangeShapeType="1"/>
            </p:cNvSpPr>
            <p:nvPr/>
          </p:nvSpPr>
          <p:spPr bwMode="auto">
            <a:xfrm>
              <a:off x="1171" y="6874"/>
              <a:ext cx="576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766" name="Line 30"/>
            <p:cNvSpPr>
              <a:spLocks noChangeShapeType="1"/>
            </p:cNvSpPr>
            <p:nvPr/>
          </p:nvSpPr>
          <p:spPr bwMode="auto">
            <a:xfrm>
              <a:off x="6921" y="6510"/>
              <a:ext cx="0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1447800" y="4149725"/>
            <a:ext cx="7242175" cy="2057400"/>
            <a:chOff x="1447800" y="4149725"/>
            <a:chExt cx="7242175" cy="2057400"/>
          </a:xfrm>
        </p:grpSpPr>
        <p:grpSp>
          <p:nvGrpSpPr>
            <p:cNvPr id="29700" name="Group 31"/>
            <p:cNvGrpSpPr>
              <a:grpSpLocks/>
            </p:cNvGrpSpPr>
            <p:nvPr/>
          </p:nvGrpSpPr>
          <p:grpSpPr bwMode="auto">
            <a:xfrm>
              <a:off x="1908175" y="4149725"/>
              <a:ext cx="6781800" cy="2057400"/>
              <a:chOff x="1181" y="7454"/>
              <a:chExt cx="5774" cy="1450"/>
            </a:xfrm>
          </p:grpSpPr>
          <p:grpSp>
            <p:nvGrpSpPr>
              <p:cNvPr id="29705" name="Group 32"/>
              <p:cNvGrpSpPr>
                <a:grpSpLocks/>
              </p:cNvGrpSpPr>
              <p:nvPr/>
            </p:nvGrpSpPr>
            <p:grpSpPr bwMode="auto">
              <a:xfrm>
                <a:off x="1470" y="7814"/>
                <a:ext cx="1224" cy="360"/>
                <a:chOff x="1269" y="5224"/>
                <a:chExt cx="1224" cy="360"/>
              </a:xfrm>
            </p:grpSpPr>
            <p:sp>
              <p:nvSpPr>
                <p:cNvPr id="29743" name="Rectangle 33"/>
                <p:cNvSpPr>
                  <a:spLocks noChangeArrowheads="1"/>
                </p:cNvSpPr>
                <p:nvPr/>
              </p:nvSpPr>
              <p:spPr bwMode="auto">
                <a:xfrm>
                  <a:off x="1269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44" name="Rectangle 34"/>
                <p:cNvSpPr>
                  <a:spLocks noChangeArrowheads="1"/>
                </p:cNvSpPr>
                <p:nvPr/>
              </p:nvSpPr>
              <p:spPr bwMode="auto">
                <a:xfrm>
                  <a:off x="2241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45" name="Rectangle 35"/>
                <p:cNvSpPr>
                  <a:spLocks noChangeArrowheads="1"/>
                </p:cNvSpPr>
                <p:nvPr/>
              </p:nvSpPr>
              <p:spPr bwMode="auto">
                <a:xfrm>
                  <a:off x="1521" y="5224"/>
                  <a:ext cx="720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9706" name="Group 36"/>
              <p:cNvGrpSpPr>
                <a:grpSpLocks/>
              </p:cNvGrpSpPr>
              <p:nvPr/>
            </p:nvGrpSpPr>
            <p:grpSpPr bwMode="auto">
              <a:xfrm>
                <a:off x="3162" y="7814"/>
                <a:ext cx="1224" cy="360"/>
                <a:chOff x="1269" y="5224"/>
                <a:chExt cx="1224" cy="360"/>
              </a:xfrm>
            </p:grpSpPr>
            <p:sp>
              <p:nvSpPr>
                <p:cNvPr id="29740" name="Rectangle 37"/>
                <p:cNvSpPr>
                  <a:spLocks noChangeArrowheads="1"/>
                </p:cNvSpPr>
                <p:nvPr/>
              </p:nvSpPr>
              <p:spPr bwMode="auto">
                <a:xfrm>
                  <a:off x="1269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41" name="Rectangle 38"/>
                <p:cNvSpPr>
                  <a:spLocks noChangeArrowheads="1"/>
                </p:cNvSpPr>
                <p:nvPr/>
              </p:nvSpPr>
              <p:spPr bwMode="auto">
                <a:xfrm>
                  <a:off x="2241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42" name="Rectangle 39"/>
                <p:cNvSpPr>
                  <a:spLocks noChangeArrowheads="1"/>
                </p:cNvSpPr>
                <p:nvPr/>
              </p:nvSpPr>
              <p:spPr bwMode="auto">
                <a:xfrm>
                  <a:off x="1521" y="5224"/>
                  <a:ext cx="720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grpSp>
            <p:nvGrpSpPr>
              <p:cNvPr id="29707" name="Group 40"/>
              <p:cNvGrpSpPr>
                <a:grpSpLocks/>
              </p:cNvGrpSpPr>
              <p:nvPr/>
            </p:nvGrpSpPr>
            <p:grpSpPr bwMode="auto">
              <a:xfrm>
                <a:off x="5538" y="7814"/>
                <a:ext cx="1224" cy="360"/>
                <a:chOff x="1269" y="5224"/>
                <a:chExt cx="1224" cy="360"/>
              </a:xfrm>
            </p:grpSpPr>
            <p:sp>
              <p:nvSpPr>
                <p:cNvPr id="29737" name="Rectangle 41"/>
                <p:cNvSpPr>
                  <a:spLocks noChangeArrowheads="1"/>
                </p:cNvSpPr>
                <p:nvPr/>
              </p:nvSpPr>
              <p:spPr bwMode="auto">
                <a:xfrm>
                  <a:off x="1269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38" name="Rectangle 42"/>
                <p:cNvSpPr>
                  <a:spLocks noChangeArrowheads="1"/>
                </p:cNvSpPr>
                <p:nvPr/>
              </p:nvSpPr>
              <p:spPr bwMode="auto">
                <a:xfrm>
                  <a:off x="2241" y="5224"/>
                  <a:ext cx="252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  <p:sp>
              <p:nvSpPr>
                <p:cNvPr id="29739" name="Rectangle 43"/>
                <p:cNvSpPr>
                  <a:spLocks noChangeArrowheads="1"/>
                </p:cNvSpPr>
                <p:nvPr/>
              </p:nvSpPr>
              <p:spPr bwMode="auto">
                <a:xfrm>
                  <a:off x="1521" y="5224"/>
                  <a:ext cx="720" cy="360"/>
                </a:xfrm>
                <a:prstGeom prst="rect">
                  <a:avLst/>
                </a:prstGeom>
                <a:noFill/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bg-BG"/>
                </a:p>
              </p:txBody>
            </p:sp>
          </p:grpSp>
          <p:sp>
            <p:nvSpPr>
              <p:cNvPr id="29708" name="Line 44"/>
              <p:cNvSpPr>
                <a:spLocks noChangeShapeType="1"/>
              </p:cNvSpPr>
              <p:nvPr/>
            </p:nvSpPr>
            <p:spPr bwMode="auto">
              <a:xfrm>
                <a:off x="2072" y="7457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09" name="Line 45"/>
              <p:cNvSpPr>
                <a:spLocks noChangeShapeType="1"/>
              </p:cNvSpPr>
              <p:nvPr/>
            </p:nvSpPr>
            <p:spPr bwMode="auto">
              <a:xfrm>
                <a:off x="2622" y="7994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0" name="Line 46"/>
              <p:cNvSpPr>
                <a:spLocks noChangeShapeType="1"/>
              </p:cNvSpPr>
              <p:nvPr/>
            </p:nvSpPr>
            <p:spPr bwMode="auto">
              <a:xfrm flipV="1">
                <a:off x="2802" y="7454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1" name="Line 47"/>
              <p:cNvSpPr>
                <a:spLocks noChangeShapeType="1"/>
              </p:cNvSpPr>
              <p:nvPr/>
            </p:nvSpPr>
            <p:spPr bwMode="auto">
              <a:xfrm>
                <a:off x="2802" y="7454"/>
                <a:ext cx="9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2" name="Line 48"/>
              <p:cNvSpPr>
                <a:spLocks noChangeShapeType="1"/>
              </p:cNvSpPr>
              <p:nvPr/>
            </p:nvSpPr>
            <p:spPr bwMode="auto">
              <a:xfrm>
                <a:off x="3702" y="7454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3" name="Line 49"/>
              <p:cNvSpPr>
                <a:spLocks noChangeShapeType="1"/>
              </p:cNvSpPr>
              <p:nvPr/>
            </p:nvSpPr>
            <p:spPr bwMode="auto">
              <a:xfrm>
                <a:off x="4302" y="7994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4" name="Line 50"/>
              <p:cNvSpPr>
                <a:spLocks noChangeShapeType="1"/>
              </p:cNvSpPr>
              <p:nvPr/>
            </p:nvSpPr>
            <p:spPr bwMode="auto">
              <a:xfrm flipV="1">
                <a:off x="4482" y="7454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5" name="Line 51"/>
              <p:cNvSpPr>
                <a:spLocks noChangeShapeType="1"/>
              </p:cNvSpPr>
              <p:nvPr/>
            </p:nvSpPr>
            <p:spPr bwMode="auto">
              <a:xfrm>
                <a:off x="6222" y="7454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6" name="Line 52"/>
              <p:cNvSpPr>
                <a:spLocks noChangeShapeType="1"/>
              </p:cNvSpPr>
              <p:nvPr/>
            </p:nvSpPr>
            <p:spPr bwMode="auto">
              <a:xfrm>
                <a:off x="5502" y="7457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7" name="Line 53"/>
              <p:cNvSpPr>
                <a:spLocks noChangeShapeType="1"/>
              </p:cNvSpPr>
              <p:nvPr/>
            </p:nvSpPr>
            <p:spPr bwMode="auto">
              <a:xfrm>
                <a:off x="4482" y="7457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8" name="Line 54"/>
              <p:cNvSpPr>
                <a:spLocks noChangeShapeType="1"/>
              </p:cNvSpPr>
              <p:nvPr/>
            </p:nvSpPr>
            <p:spPr bwMode="auto">
              <a:xfrm>
                <a:off x="5162" y="7457"/>
                <a:ext cx="36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19" name="Line 55"/>
              <p:cNvSpPr>
                <a:spLocks noChangeShapeType="1"/>
              </p:cNvSpPr>
              <p:nvPr/>
            </p:nvSpPr>
            <p:spPr bwMode="auto">
              <a:xfrm>
                <a:off x="6662" y="8004"/>
                <a:ext cx="293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0" name="Line 56"/>
              <p:cNvSpPr>
                <a:spLocks noChangeShapeType="1"/>
              </p:cNvSpPr>
              <p:nvPr/>
            </p:nvSpPr>
            <p:spPr bwMode="auto">
              <a:xfrm>
                <a:off x="3062" y="7994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1" name="Line 57"/>
              <p:cNvSpPr>
                <a:spLocks noChangeShapeType="1"/>
              </p:cNvSpPr>
              <p:nvPr/>
            </p:nvSpPr>
            <p:spPr bwMode="auto">
              <a:xfrm>
                <a:off x="5452" y="7994"/>
                <a:ext cx="18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2" name="Line 58"/>
              <p:cNvSpPr>
                <a:spLocks noChangeShapeType="1"/>
              </p:cNvSpPr>
              <p:nvPr/>
            </p:nvSpPr>
            <p:spPr bwMode="auto">
              <a:xfrm flipV="1">
                <a:off x="3052" y="7984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3" name="Line 59"/>
              <p:cNvSpPr>
                <a:spLocks noChangeShapeType="1"/>
              </p:cNvSpPr>
              <p:nvPr/>
            </p:nvSpPr>
            <p:spPr bwMode="auto">
              <a:xfrm flipV="1">
                <a:off x="5462" y="7994"/>
                <a:ext cx="0" cy="5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4" name="Line 60"/>
              <p:cNvSpPr>
                <a:spLocks noChangeShapeType="1"/>
              </p:cNvSpPr>
              <p:nvPr/>
            </p:nvSpPr>
            <p:spPr bwMode="auto">
              <a:xfrm>
                <a:off x="2072" y="8527"/>
                <a:ext cx="98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5" name="Line 61"/>
              <p:cNvSpPr>
                <a:spLocks noChangeShapeType="1"/>
              </p:cNvSpPr>
              <p:nvPr/>
            </p:nvSpPr>
            <p:spPr bwMode="auto">
              <a:xfrm flipV="1">
                <a:off x="2082" y="8174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6" name="Line 62"/>
              <p:cNvSpPr>
                <a:spLocks noChangeShapeType="1"/>
              </p:cNvSpPr>
              <p:nvPr/>
            </p:nvSpPr>
            <p:spPr bwMode="auto">
              <a:xfrm>
                <a:off x="4752" y="8534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7" name="Line 63"/>
              <p:cNvSpPr>
                <a:spLocks noChangeShapeType="1"/>
              </p:cNvSpPr>
              <p:nvPr/>
            </p:nvSpPr>
            <p:spPr bwMode="auto">
              <a:xfrm>
                <a:off x="3702" y="8534"/>
                <a:ext cx="72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8" name="Line 64"/>
              <p:cNvSpPr>
                <a:spLocks noChangeShapeType="1"/>
              </p:cNvSpPr>
              <p:nvPr/>
            </p:nvSpPr>
            <p:spPr bwMode="auto">
              <a:xfrm>
                <a:off x="4412" y="8534"/>
                <a:ext cx="36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29" name="Line 65"/>
              <p:cNvSpPr>
                <a:spLocks noChangeShapeType="1"/>
              </p:cNvSpPr>
              <p:nvPr/>
            </p:nvSpPr>
            <p:spPr bwMode="auto">
              <a:xfrm flipV="1">
                <a:off x="3702" y="8174"/>
                <a:ext cx="0" cy="3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30" name="Text Box 66"/>
              <p:cNvSpPr txBox="1">
                <a:spLocks noChangeArrowheads="1"/>
              </p:cNvSpPr>
              <p:nvPr/>
            </p:nvSpPr>
            <p:spPr bwMode="auto">
              <a:xfrm>
                <a:off x="1232" y="7484"/>
                <a:ext cx="900" cy="3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2000" b="1">
                    <a:latin typeface="Courier New" pitchFamily="49" charset="0"/>
                  </a:rPr>
                  <a:t>start</a:t>
                </a:r>
                <a:endParaRPr lang="en-US" sz="1000">
                  <a:latin typeface="Courier New" pitchFamily="49" charset="0"/>
                </a:endParaRPr>
              </a:p>
            </p:txBody>
          </p:sp>
          <p:sp>
            <p:nvSpPr>
              <p:cNvPr id="29731" name="Text Box 67"/>
              <p:cNvSpPr txBox="1">
                <a:spLocks noChangeArrowheads="1"/>
              </p:cNvSpPr>
              <p:nvPr/>
            </p:nvSpPr>
            <p:spPr bwMode="auto">
              <a:xfrm>
                <a:off x="2952" y="8094"/>
                <a:ext cx="900" cy="5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2000" b="1" dirty="0" err="1" smtClean="0">
                    <a:latin typeface="Courier New" pitchFamily="49" charset="0"/>
                  </a:rPr>
                  <a:t>prev</a:t>
                </a:r>
                <a:endParaRPr lang="en-US" sz="1000" dirty="0">
                  <a:latin typeface="Courier New" pitchFamily="49" charset="0"/>
                </a:endParaRPr>
              </a:p>
            </p:txBody>
          </p:sp>
          <p:sp>
            <p:nvSpPr>
              <p:cNvPr id="29732" name="Text Box 68"/>
              <p:cNvSpPr txBox="1">
                <a:spLocks noChangeArrowheads="1"/>
              </p:cNvSpPr>
              <p:nvPr/>
            </p:nvSpPr>
            <p:spPr bwMode="auto">
              <a:xfrm>
                <a:off x="3942" y="8104"/>
                <a:ext cx="900" cy="5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2000" b="1">
                    <a:latin typeface="Courier New" pitchFamily="49" charset="0"/>
                  </a:rPr>
                  <a:t>next</a:t>
                </a:r>
                <a:endParaRPr lang="en-US" sz="1000">
                  <a:latin typeface="Courier New" pitchFamily="49" charset="0"/>
                </a:endParaRPr>
              </a:p>
            </p:txBody>
          </p:sp>
          <p:sp>
            <p:nvSpPr>
              <p:cNvPr id="29733" name="Line 69"/>
              <p:cNvSpPr>
                <a:spLocks noChangeShapeType="1"/>
              </p:cNvSpPr>
              <p:nvPr/>
            </p:nvSpPr>
            <p:spPr bwMode="auto">
              <a:xfrm>
                <a:off x="6941" y="8004"/>
                <a:ext cx="0" cy="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34" name="Line 70"/>
              <p:cNvSpPr>
                <a:spLocks noChangeShapeType="1"/>
              </p:cNvSpPr>
              <p:nvPr/>
            </p:nvSpPr>
            <p:spPr bwMode="auto">
              <a:xfrm flipH="1">
                <a:off x="1181" y="8894"/>
                <a:ext cx="576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35" name="Line 71"/>
              <p:cNvSpPr>
                <a:spLocks noChangeShapeType="1"/>
              </p:cNvSpPr>
              <p:nvPr/>
            </p:nvSpPr>
            <p:spPr bwMode="auto">
              <a:xfrm flipV="1">
                <a:off x="1191" y="7454"/>
                <a:ext cx="0" cy="14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736" name="Line 72"/>
              <p:cNvSpPr>
                <a:spLocks noChangeShapeType="1"/>
              </p:cNvSpPr>
              <p:nvPr/>
            </p:nvSpPr>
            <p:spPr bwMode="auto">
              <a:xfrm>
                <a:off x="1181" y="7464"/>
                <a:ext cx="90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9701" name="Line 73"/>
            <p:cNvSpPr>
              <a:spLocks noChangeShapeType="1"/>
            </p:cNvSpPr>
            <p:nvPr/>
          </p:nvSpPr>
          <p:spPr bwMode="auto">
            <a:xfrm flipV="1">
              <a:off x="1447800" y="4941168"/>
              <a:ext cx="819944" cy="118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9702" name="Line 75"/>
            <p:cNvSpPr>
              <a:spLocks noChangeShapeType="1"/>
            </p:cNvSpPr>
            <p:nvPr/>
          </p:nvSpPr>
          <p:spPr bwMode="auto">
            <a:xfrm>
              <a:off x="1447800" y="4953000"/>
              <a:ext cx="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9703" name="Line 76"/>
            <p:cNvSpPr>
              <a:spLocks noChangeShapeType="1"/>
            </p:cNvSpPr>
            <p:nvPr/>
          </p:nvSpPr>
          <p:spPr bwMode="auto">
            <a:xfrm>
              <a:off x="1447800" y="6019800"/>
              <a:ext cx="636456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9704" name="Line 77"/>
            <p:cNvSpPr>
              <a:spLocks noChangeShapeType="1"/>
            </p:cNvSpPr>
            <p:nvPr/>
          </p:nvSpPr>
          <p:spPr bwMode="auto">
            <a:xfrm flipV="1">
              <a:off x="7812360" y="5157192"/>
              <a:ext cx="0" cy="8640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77" name="Slide Number Placeholder 7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7727950" cy="5943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bg-BG" sz="2800" b="1">
                <a:solidFill>
                  <a:schemeClr val="tx2">
                    <a:satMod val="130000"/>
                  </a:schemeClr>
                </a:solidFill>
              </a:rPr>
              <a:t>Пример за работа с единично-свързан кръгов списък: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bg-BG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	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Моделиране на играта “Броеница”:</a:t>
            </a: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 N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деца застават в кръг и получават номера от 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 до </a:t>
            </a:r>
            <a:r>
              <a:rPr lang="en-US" sz="2400">
                <a:solidFill>
                  <a:schemeClr val="tx2">
                    <a:satMod val="130000"/>
                  </a:schemeClr>
                </a:solidFill>
              </a:rPr>
              <a:t>N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. Като се започне от дете 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bg-BG" sz="2400">
                <a:solidFill>
                  <a:schemeClr val="tx2">
                    <a:satMod val="130000"/>
                  </a:schemeClr>
                </a:solidFill>
              </a:rPr>
              <a:t>, по часовниковата стрелка се отброяват М деца. Дете с номер М излиза от кръга, след което започва ново броене от следващото дете. Продължава, докато остане само едно дете, чийто номер трябва да се определи.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 </a:t>
            </a:r>
            <a:br>
              <a:rPr lang="bg-BG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#include &lt;</a:t>
            </a:r>
            <a:r>
              <a:rPr lang="en-US" sz="2600" smtClean="0">
                <a:solidFill>
                  <a:schemeClr val="tx2">
                    <a:satMod val="130000"/>
                  </a:schemeClr>
                </a:solidFill>
              </a:rPr>
              <a:t>iostream</a:t>
            </a:r>
            <a:r>
              <a:rPr lang="bg-BG" sz="2600" smtClean="0">
                <a:solidFill>
                  <a:schemeClr val="tx2">
                    <a:satMod val="130000"/>
                  </a:schemeClr>
                </a:solidFill>
              </a:rPr>
              <a:t>&gt;</a:t>
            </a:r>
            <a:br>
              <a:rPr lang="bg-BG" sz="260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 smtClean="0">
                <a:solidFill>
                  <a:schemeClr val="tx2">
                    <a:satMod val="130000"/>
                  </a:schemeClr>
                </a:solidFill>
              </a:rPr>
              <a:t>using namespace std;</a:t>
            </a: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struct elem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   { int key; elem *next;} *start=NULL;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void add</a:t>
            </a:r>
            <a:r>
              <a:rPr lang="bg-BG" sz="26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(int n)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  elem *p=start;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  start=new elem;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  start-&gt;key=n;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  start-&gt;next=p;</a:t>
            </a:r>
            <a:br>
              <a:rPr lang="en-US" sz="26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600">
                <a:solidFill>
                  <a:schemeClr val="tx2">
                    <a:satMod val="130000"/>
                  </a:schemeClr>
                </a:solidFill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3375"/>
            <a:ext cx="5846762" cy="6096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void main()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{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int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i,n,m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&lt;&lt;”</a:t>
            </a:r>
            <a:r>
              <a:rPr lang="bg-BG" sz="2800" dirty="0">
                <a:solidFill>
                  <a:schemeClr val="tx2">
                    <a:satMod val="130000"/>
                  </a:schemeClr>
                </a:solidFill>
              </a:rPr>
              <a:t>Въведете броя на децата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n: ";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cin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&gt;&gt;n;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for (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=n;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&gt;0;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--)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   add(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);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elem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*p=start;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while (p-&gt;next!=NULL)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    p=p-&gt;next;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p-&gt;next=start;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cout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&lt;&lt;"\n </a:t>
            </a:r>
            <a:r>
              <a:rPr lang="bg-BG" sz="2800" dirty="0">
                <a:solidFill>
                  <a:schemeClr val="tx2">
                    <a:satMod val="130000"/>
                  </a:schemeClr>
                </a:solidFill>
              </a:rPr>
              <a:t>Въведете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m: ";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cin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&gt;&gt;m;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bg-BG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smtClean="0">
                <a:solidFill>
                  <a:schemeClr val="tx2">
                    <a:satMod val="130000"/>
                  </a:schemeClr>
                </a:solidFill>
              </a:rPr>
              <a:t> p=start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 </a:t>
            </a:r>
            <a:r>
              <a:rPr lang="en-US" sz="2800" dirty="0" err="1">
                <a:solidFill>
                  <a:schemeClr val="tx2">
                    <a:satMod val="130000"/>
                  </a:schemeClr>
                </a:solidFill>
              </a:rPr>
              <a:t>elem</a:t>
            </a:r>
            <a:r>
              <a:rPr lang="en-US" sz="2800" dirty="0">
                <a:solidFill>
                  <a:schemeClr val="tx2">
                    <a:satMod val="130000"/>
                  </a:schemeClr>
                </a:solidFill>
              </a:rPr>
              <a:t> *q;</a:t>
            </a:r>
            <a:br>
              <a:rPr lang="en-US" sz="2800" dirty="0">
                <a:solidFill>
                  <a:schemeClr val="tx2">
                    <a:satMod val="130000"/>
                  </a:schemeClr>
                </a:solidFill>
              </a:rPr>
            </a:br>
            <a:endParaRPr lang="en-US" sz="28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476250"/>
            <a:ext cx="6837363" cy="57912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do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{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for (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i=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smtClean="0">
                <a:solidFill>
                  <a:schemeClr val="tx2">
                    <a:satMod val="130000"/>
                  </a:schemeClr>
                </a:solidFill>
              </a:rPr>
              <a:t>; </a:t>
            </a: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i&lt;m; i++)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  {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	q=p;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	p=p-&gt;next;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  }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q-&gt;next=p-&gt;next;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cout&lt;&lt;"\n 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номер за изтриване </a:t>
            </a: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"&lt;&lt;p-&gt;key;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delete(p);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  p=q-&gt;next;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}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 while (p!=p-&gt;next);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 </a:t>
            </a: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cout&lt;&lt;"\n</a:t>
            </a:r>
            <a:r>
              <a:rPr lang="bg-BG" sz="2800">
                <a:solidFill>
                  <a:schemeClr val="tx2">
                    <a:satMod val="130000"/>
                  </a:schemeClr>
                </a:solidFill>
              </a:rPr>
              <a:t>Остава дете с номер</a:t>
            </a: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 "&lt;&lt;p-&gt;key;</a:t>
            </a:r>
            <a:br>
              <a:rPr lang="en-US" sz="280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800">
                <a:solidFill>
                  <a:schemeClr val="tx2">
                    <a:satMod val="130000"/>
                  </a:schemeClr>
                </a:solidFill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F409E4-3C56-4D03-8384-E0230E20FE4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1823</TotalTime>
  <Words>198</Words>
  <Application>Microsoft Office PowerPoint</Application>
  <PresentationFormat>On-screen Show (4:3)</PresentationFormat>
  <Paragraphs>157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Solstice</vt:lpstr>
      <vt:lpstr>   Списък (List)   Списъкът е подредена последователност от еднотипни елементи без определена дисциплина за тяхно включване и изключване. Стекът, опашката и декът могат да се разглеждат като частен случай на структурата списък. Най-простият случай на структурата е този, когато всеки елемент на списъка съдържа указател към следващия елемент: </vt:lpstr>
      <vt:lpstr> Основните операции със структурата са:  - Инициализиране на списъка (INIT).  - Включване на елемент на списъка.   Поради липсата на дисциплина, операцията е възможна в няколко варианта:  2.1. включване в началото (ADD_1);  2.2. включване по средата (ADD_2);  2.3. включване в края (ADD_3)  - Изключване/изтриване на елемент (аналогично на предходната операция):  3.1. изтриване на първия елемент (DEL_1);  3.2. изтриване на междинен елемент (DEL_2);  3.3. изтриване на последния елемент (DEL_3);  Към изброените операции могат да се добавят и следните:  - Проверка за празен списък (EMPTY).  - Търсене на елемент (SEARCH);</vt:lpstr>
      <vt:lpstr>    Примерно описание на структурата списък:  struct elem      {int key; elem *next;} *start;  Инициализация на списък: void init() { start=NULL;}  Включване на елемент в началото на списък:  void add1(int n) {   elem *p=start;   start=new elem;   start-&gt;key=n;   start-&gt;next=p; }    </vt:lpstr>
      <vt:lpstr>      Включване на елемент в средата на списък преди друг, чиято стойност е k. Тук се предполага, че елементът k съществува:      void add2(int n, int k)    //n – е добавяната стойност {   elem *q;   elem *p=start;   while (p-&gt;key!=k)        //търсене на елемент със         p=p-&gt;next;  //стойност k   q=new (elem);  //създаване на нов елемент   q-&gt;next=p-&gt;next;    q-&gt;key=p-&gt;key;  //прехвърляне на ключовата    p-&gt;next=q;         //стойност в *q   p-&gt;key=n;   //запис на n в p }   </vt:lpstr>
      <vt:lpstr>   Включване на елемент в средата на списъка след друг, чиято стойност е k (предполага се, че елементът k съществува):         void add3(int n, int k) //n – е добавяната стойност {   elem *q;   elem *p=start;   while (p-&gt;key!=k) //търсене на елемент със         p=p-&gt;next;   //стойност k   q=new elem;  //създаване на нов елемент   q-&gt;key=n;  //задаване на ключова стойност   q-&gt;next=p-&gt;next; //вмъкване на    p-&gt;next=q;  //новосъздадения елемент }  </vt:lpstr>
      <vt:lpstr>        Включване на елемент в края на списък (ако не е известна ключовата стойност на последния елемент в списъка):        void add4(int n) {   elem *p=start, *q;   q=new elem;        //създаване на новия елемент   q-&gt;key=n;        //задаване на ключовата му стойност   q-&gt;next=NULL;     //елементът ще е последен в списъка   while (p-&gt;next) //търсене на края на списъка     p=p-&gt;next;   p-&gt;next=q;     //свързване на елемента *q със списъка }             </vt:lpstr>
      <vt:lpstr> Изключване на първи елемент от списък:       int del1(int &amp;n) //Ключовата стойност на изтрития {   //елемент се връща в главната функция   elem *p=start;   if (start)       //проверка, дали списъкът не е празен     {       n=start-&gt;key;       start=start-&gt;next;//задаване на нов начален адрес       delete p;  //изтриване       return 1;      }       else   return 0;  //списъкът е празен }  </vt:lpstr>
      <vt:lpstr> Изключване на елемент в средата на списък преди друг, чиято ключова стойност е k (известно е, че елементът съществува):       void del2(int &amp;n, int k)    //Ключовата стойност на изтрития елемент {     //се връща в главната функция   elem *q;   elem *p=start;   while (p-&gt;key!=k)   //търсене на елемента със  стойност k       {            q=p;        p=p-&gt;next;       }     n=q-&gt;key;  //на практика се изтрива елемента *р      q-&gt;next=p-&gt;next; //но ключовата му стойност k     q-&gt;key=p-&gt;key; //се прехвърля в предходния елемент, като     //старата му стойност се изтрива от списъка      delete p;  }    </vt:lpstr>
      <vt:lpstr> Изключване на елемент с ключова стойност n в средата на списък (известно е, че елементът съществува):      void del3(int &amp;n) //Ключовата стойност на изтрития елемент   {   //се връща в главната функция   elem *q;   elem *p=start;   while (p-&gt;key!=n) //търсене на елемента със стойност n       {        q=p;        p=p-&gt;next;       }   n=p-&gt;key;   q-&gt;next=p-&gt;next;   delete p;  //изтриване на елемента *p } </vt:lpstr>
      <vt:lpstr>   Изключване на елемент в средата на списък след друг, чиято ключова стойност е k (известно е, че елементът съществува):      void del4(int &amp;n, int k)   //Ключовата стойност на  {    //изтрития елемент се        //връща в главната функция   elem *q;   elem *p=start;   while (p-&gt;key!=k)        //търсене на елемент       p=p-&gt;next;  //със стойност n   q=p-&gt;next;   n=q-&gt;key;   p-&gt;next=q-&gt;next;  //пренасочване на връзката   delete q;   //изтриване на елементa } </vt:lpstr>
      <vt:lpstr>Изключване на последен елемент в списък, който не е празен:      int del5(int &amp;n)   //Ключовата стойност на      //изтрития елемент {      //се връща в главната функция   elem *p=start, *q;   while (p-&gt;next)  //търсене на последния     //елемент      {       q=p;       p=p-&gt;next;      }   n=p-&gt;key;   q-&gt;next=NULL;  //създаване на новия край   delete p;   //изтриване на елемента }  </vt:lpstr>
      <vt:lpstr>Търсене на елемент - итеративен вариант:        int search_iter(int n) {   elem *p=start;   if (start)   //проверка за непразен списък     {        while ((p-&gt;key!=n)&amp;&amp;(p-&gt;next))    p=p-&gt;next;       if (p-&gt;key==n)    return 1;  //търсеният елемент е намерен     else    return 0;  //елементът не е намерен     }     return 0;   //списъкът е празен } </vt:lpstr>
      <vt:lpstr>Търсене на елемент в подреден списък - рекурсивен вариант int search_recurs(struct elem *p, int n)  {    //търсене и включване на елемент,   elem *q;   //ако той не е в списъка   if (start==NULL)  //проверка за празен списък      {    //добавяне на първия елемент        start=new elem;   start-&gt;key=n;         start-&gt;next=NULL;  return 0;      }        else      { if ((p-&gt;key&lt;n)&amp;&amp;(p-&gt;next==NULL))   {    //добавяне в края на списъка    q=new elem;   q-&gt;key=n;    q-&gt;next=NULL; p-&gt;next=q; return 0;  }   else       { if (p-&gt;key==n) return 1;  //елементът е открит        else          if (p-&gt;key&lt;n)     search_recurs(p-&gt;next, n);       else   //открито е мястото за       {   //добавяне на елемента        q=new elem; q-&gt;next=p-&gt;next;        q-&gt;key=p-&gt;key; p-&gt;key=n;        p-&gt;next=q; return 0;       }     }      } }  </vt:lpstr>
      <vt:lpstr>   Двойно-свързан или двусвързан списък   Всеки елемент от тази структура съдържа по два указателя - към предходния и към следващия елемент:          Примерно описание на структурата:  struct elem    { int key; elem *prev; elem *next;} *start;    </vt:lpstr>
      <vt:lpstr>   Включване на елемент в началото на двусвързан списък:           void add1(int n)   //добавяне в началото {   elem *p=start;   start=new elem;  //създаване на новия елемент   start-&gt;key=n;   start-&gt;next=p;   start-&gt;prev=NULL;  //пренасочване на указателите   p-&gt;prev=start;  } </vt:lpstr>
      <vt:lpstr> Включване на междинен елемент със стойност n в двусвързания списък преди друг елемент с ключова стойност k:      void add2(int n, int k) {   elem *q;   elem *p=start;   while (p-&gt;key!=k)  //търсене на k        p=p-&gt;next;   q=new (elem);  //създаване на нов елемент   q-&gt;key=p-&gt;key;   q-&gt;next=p-&gt;next;   //пренасочване на връзките    q-&gt;prev=p; p-&gt;next-&gt;prev=q;     p-&gt;next=q;   p-&gt;key=n;  }       </vt:lpstr>
      <vt:lpstr> Включване на междинен елемент със стойност n в двусвързания списък след друг елемент с ключова стойност k:      void add3(int n, int k) {   elem *q;   elem *p=start;   while (p-&gt;key!=k)        p=p-&gt;next;     q=new elem;   //създаване на нов елемент     q-&gt;key=n;     q-&gt;next=p-&gt;next;      p-&gt;next-&gt;prev=q;  //пренасочване      p-&gt;next=q;  //на връзките     q-&gt;prev=p; }</vt:lpstr>
      <vt:lpstr> Включване на последен елемент със стойност n в двусвързания списък с начален указател start:      void add4(int n) {   elem *p=start, *q;   q=new elem;   //създаване на нов елемент   q-&gt;key=n;     q-&gt;next=NULL;   if (start)   //проверка за непразен списък    {while (p-&gt;next)       p=p-&gt;next;     p-&gt;next=q;     }      else      start=q;  //елементът е единствен   q-&gt;prev=p; }     </vt:lpstr>
      <vt:lpstr>    Изключване на първия елемент от двусвързан списък (предполага се, че елементът е в списъка и списъкът не е празен):     void del1(int &amp;n)     //стойността на изтрития елемент {       //е достъпна в main()   elem *p=start;   n=start-&gt;key;   start=start-&gt;next;     //пренасочване   start-&gt;prev=NULL;     //на връзките   delete p;      //изключване } </vt:lpstr>
      <vt:lpstr> Изключване на междинен елемент със стойност n от двусвързан списък (предполага се, че елементът е в списъка):         void del2(int n)  {   elem *p=start;   while (p-&gt;key!=n)  //търсене на елемента n     p=p-&gt;next;   p-&gt;prev-&gt;next=p-&gt;next; //пренасочване на   p-&gt;next-&gt;prev=p-&gt;prev; //връзките   delete p;    //изтриване }   </vt:lpstr>
      <vt:lpstr> Изключване на последен елемент от двусвързан списък (предполага се, че елементът е в списъка):           void del3(int &amp;n) {   elem *p=start;   while (p-&gt;next)           //търсене на последния елемент       p=p-&gt;next;   n=p-&gt;key;   p-&gt;prev-&gt;next=NULL;  //пренасочване на връзката   delete p;   //изтриване } </vt:lpstr>
      <vt:lpstr>          Кръгови (циклични) списъци  - единично свързани       - двойно-свързани</vt:lpstr>
      <vt:lpstr>Пример за работа с единично-свързан кръгов списък:  Моделиране на играта “Броеница”: N деца застават в кръг и получават номера от 1 до N. Като се започне от дете 1, по часовниковата стрелка се отброяват М деца. Дете с номер М излиза от кръга, след което започва ново броене от следващото дете. Продължава, докато остане само едно дете, чийто номер трябва да се определи.  #include &lt;iostream&gt; using namespace std; struct elem    { int key; elem *next;} *start=NULL; void add (int n) {   elem *p=start;   start=new elem;   start-&gt;key=n;   start-&gt;next=p; }</vt:lpstr>
      <vt:lpstr>void main() {   int i,n,m;   cout&lt;&lt;”Въведете броя на децата n: ";   cin&gt;&gt;n;   for (i=n; i&gt;0; i--)      add(i);   elem *p=start;   while (p-&gt;next!=NULL)       p=p-&gt;next;   p-&gt;next=start;   cout&lt;&lt;"\n Въведете m: ";   cin&gt;&gt;m;    p=start;   elem *q; </vt:lpstr>
      <vt:lpstr>do   {     for (i=1; i&lt;m; i++)       {  q=p;  p=p-&gt;next;       }     q-&gt;next=p-&gt;next;     cout&lt;&lt;"\n номер за изтриване  "&lt;&lt;p-&gt;key;     delete(p);     p=q-&gt;next;   }   while (p!=p-&gt;next);   cout&lt;&lt;"\nОстава дете с номер "&lt;&lt;p-&gt;key; }</vt:lpstr>
    </vt:vector>
  </TitlesOfParts>
  <Company>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TU - Varna</dc:creator>
  <cp:lastModifiedBy>Елена Рачева</cp:lastModifiedBy>
  <cp:revision>239</cp:revision>
  <dcterms:created xsi:type="dcterms:W3CDTF">2003-08-28T08:49:01Z</dcterms:created>
  <dcterms:modified xsi:type="dcterms:W3CDTF">2020-02-11T09:10:32Z</dcterms:modified>
</cp:coreProperties>
</file>
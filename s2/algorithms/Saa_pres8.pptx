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notesMasterIdLst>
    <p:notesMasterId r:id="rId128"/>
  </p:notesMasterIdLst>
  <p:sldIdLst>
    <p:sldId id="256" r:id="rId2"/>
    <p:sldId id="257" r:id="rId3"/>
    <p:sldId id="258" r:id="rId4"/>
    <p:sldId id="259" r:id="rId5"/>
    <p:sldId id="260" r:id="rId6"/>
    <p:sldId id="261" r:id="rId7"/>
    <p:sldId id="262" r:id="rId8"/>
    <p:sldId id="263" r:id="rId9"/>
    <p:sldId id="289" r:id="rId10"/>
    <p:sldId id="291" r:id="rId11"/>
    <p:sldId id="292" r:id="rId12"/>
    <p:sldId id="290" r:id="rId13"/>
    <p:sldId id="293" r:id="rId14"/>
    <p:sldId id="294" r:id="rId15"/>
    <p:sldId id="295" r:id="rId16"/>
    <p:sldId id="296" r:id="rId17"/>
    <p:sldId id="297" r:id="rId18"/>
    <p:sldId id="298" r:id="rId19"/>
    <p:sldId id="299" r:id="rId20"/>
    <p:sldId id="350" r:id="rId21"/>
    <p:sldId id="351" r:id="rId22"/>
    <p:sldId id="352" r:id="rId23"/>
    <p:sldId id="266" r:id="rId24"/>
    <p:sldId id="300" r:id="rId25"/>
    <p:sldId id="301" r:id="rId26"/>
    <p:sldId id="302" r:id="rId27"/>
    <p:sldId id="303" r:id="rId28"/>
    <p:sldId id="304" r:id="rId29"/>
    <p:sldId id="305" r:id="rId30"/>
    <p:sldId id="306" r:id="rId31"/>
    <p:sldId id="307" r:id="rId32"/>
    <p:sldId id="308" r:id="rId33"/>
    <p:sldId id="309" r:id="rId34"/>
    <p:sldId id="310" r:id="rId35"/>
    <p:sldId id="311" r:id="rId36"/>
    <p:sldId id="312" r:id="rId37"/>
    <p:sldId id="313" r:id="rId38"/>
    <p:sldId id="270" r:id="rId39"/>
    <p:sldId id="314" r:id="rId40"/>
    <p:sldId id="315" r:id="rId41"/>
    <p:sldId id="316" r:id="rId42"/>
    <p:sldId id="317" r:id="rId43"/>
    <p:sldId id="318" r:id="rId44"/>
    <p:sldId id="319" r:id="rId45"/>
    <p:sldId id="358" r:id="rId46"/>
    <p:sldId id="364" r:id="rId47"/>
    <p:sldId id="366" r:id="rId48"/>
    <p:sldId id="367" r:id="rId49"/>
    <p:sldId id="368" r:id="rId50"/>
    <p:sldId id="370" r:id="rId51"/>
    <p:sldId id="371" r:id="rId52"/>
    <p:sldId id="372" r:id="rId53"/>
    <p:sldId id="373" r:id="rId54"/>
    <p:sldId id="374" r:id="rId55"/>
    <p:sldId id="375" r:id="rId56"/>
    <p:sldId id="376" r:id="rId57"/>
    <p:sldId id="377" r:id="rId58"/>
    <p:sldId id="378" r:id="rId59"/>
    <p:sldId id="379" r:id="rId60"/>
    <p:sldId id="380" r:id="rId61"/>
    <p:sldId id="381" r:id="rId62"/>
    <p:sldId id="382" r:id="rId63"/>
    <p:sldId id="383" r:id="rId64"/>
    <p:sldId id="384" r:id="rId65"/>
    <p:sldId id="385" r:id="rId66"/>
    <p:sldId id="386" r:id="rId67"/>
    <p:sldId id="387" r:id="rId68"/>
    <p:sldId id="388" r:id="rId69"/>
    <p:sldId id="389" r:id="rId70"/>
    <p:sldId id="390" r:id="rId71"/>
    <p:sldId id="391" r:id="rId72"/>
    <p:sldId id="392" r:id="rId73"/>
    <p:sldId id="393" r:id="rId74"/>
    <p:sldId id="394" r:id="rId75"/>
    <p:sldId id="395" r:id="rId76"/>
    <p:sldId id="396" r:id="rId77"/>
    <p:sldId id="397" r:id="rId78"/>
    <p:sldId id="398" r:id="rId79"/>
    <p:sldId id="399" r:id="rId80"/>
    <p:sldId id="353" r:id="rId81"/>
    <p:sldId id="354" r:id="rId82"/>
    <p:sldId id="356" r:id="rId83"/>
    <p:sldId id="355" r:id="rId84"/>
    <p:sldId id="357" r:id="rId85"/>
    <p:sldId id="320" r:id="rId86"/>
    <p:sldId id="359" r:id="rId87"/>
    <p:sldId id="360" r:id="rId88"/>
    <p:sldId id="271" r:id="rId89"/>
    <p:sldId id="323" r:id="rId90"/>
    <p:sldId id="273" r:id="rId91"/>
    <p:sldId id="321" r:id="rId92"/>
    <p:sldId id="322" r:id="rId93"/>
    <p:sldId id="324" r:id="rId94"/>
    <p:sldId id="325" r:id="rId95"/>
    <p:sldId id="328" r:id="rId96"/>
    <p:sldId id="327" r:id="rId97"/>
    <p:sldId id="329" r:id="rId98"/>
    <p:sldId id="330" r:id="rId99"/>
    <p:sldId id="331" r:id="rId100"/>
    <p:sldId id="332" r:id="rId101"/>
    <p:sldId id="333" r:id="rId102"/>
    <p:sldId id="334" r:id="rId103"/>
    <p:sldId id="278" r:id="rId104"/>
    <p:sldId id="279" r:id="rId105"/>
    <p:sldId id="280" r:id="rId106"/>
    <p:sldId id="335" r:id="rId107"/>
    <p:sldId id="363" r:id="rId108"/>
    <p:sldId id="337" r:id="rId109"/>
    <p:sldId id="338" r:id="rId110"/>
    <p:sldId id="339" r:id="rId111"/>
    <p:sldId id="340" r:id="rId112"/>
    <p:sldId id="341" r:id="rId113"/>
    <p:sldId id="342" r:id="rId114"/>
    <p:sldId id="343" r:id="rId115"/>
    <p:sldId id="344" r:id="rId116"/>
    <p:sldId id="345" r:id="rId117"/>
    <p:sldId id="346" r:id="rId118"/>
    <p:sldId id="347" r:id="rId119"/>
    <p:sldId id="361" r:id="rId120"/>
    <p:sldId id="348" r:id="rId121"/>
    <p:sldId id="349" r:id="rId122"/>
    <p:sldId id="285" r:id="rId123"/>
    <p:sldId id="286" r:id="rId124"/>
    <p:sldId id="287" r:id="rId125"/>
    <p:sldId id="288" r:id="rId126"/>
    <p:sldId id="362" r:id="rId127"/>
  </p:sldIdLst>
  <p:sldSz cx="9144000" cy="6858000" type="screen4x3"/>
  <p:notesSz cx="6858000" cy="9144000"/>
  <p:defaultTextStyle>
    <a:defPPr>
      <a:defRPr lang="en-US"/>
    </a:defPPr>
    <a:lvl1pPr algn="ctr" rtl="0" eaLnBrk="0" fontAlgn="base" hangingPunct="0">
      <a:spcBef>
        <a:spcPct val="0"/>
      </a:spcBef>
      <a:spcAft>
        <a:spcPct val="0"/>
      </a:spcAft>
      <a:defRPr sz="2400" kern="1200">
        <a:solidFill>
          <a:schemeClr val="tx1"/>
        </a:solidFill>
        <a:latin typeface="Times New Roman" charset="0"/>
        <a:ea typeface="+mn-ea"/>
        <a:cs typeface="+mn-cs"/>
      </a:defRPr>
    </a:lvl1pPr>
    <a:lvl2pPr marL="457200" algn="ctr" rtl="0" eaLnBrk="0" fontAlgn="base" hangingPunct="0">
      <a:spcBef>
        <a:spcPct val="0"/>
      </a:spcBef>
      <a:spcAft>
        <a:spcPct val="0"/>
      </a:spcAft>
      <a:defRPr sz="2400" kern="1200">
        <a:solidFill>
          <a:schemeClr val="tx1"/>
        </a:solidFill>
        <a:latin typeface="Times New Roman" charset="0"/>
        <a:ea typeface="+mn-ea"/>
        <a:cs typeface="+mn-cs"/>
      </a:defRPr>
    </a:lvl2pPr>
    <a:lvl3pPr marL="914400" algn="ctr" rtl="0" eaLnBrk="0" fontAlgn="base" hangingPunct="0">
      <a:spcBef>
        <a:spcPct val="0"/>
      </a:spcBef>
      <a:spcAft>
        <a:spcPct val="0"/>
      </a:spcAft>
      <a:defRPr sz="2400" kern="1200">
        <a:solidFill>
          <a:schemeClr val="tx1"/>
        </a:solidFill>
        <a:latin typeface="Times New Roman" charset="0"/>
        <a:ea typeface="+mn-ea"/>
        <a:cs typeface="+mn-cs"/>
      </a:defRPr>
    </a:lvl3pPr>
    <a:lvl4pPr marL="1371600" algn="ctr" rtl="0" eaLnBrk="0" fontAlgn="base" hangingPunct="0">
      <a:spcBef>
        <a:spcPct val="0"/>
      </a:spcBef>
      <a:spcAft>
        <a:spcPct val="0"/>
      </a:spcAft>
      <a:defRPr sz="2400" kern="1200">
        <a:solidFill>
          <a:schemeClr val="tx1"/>
        </a:solidFill>
        <a:latin typeface="Times New Roman" charset="0"/>
        <a:ea typeface="+mn-ea"/>
        <a:cs typeface="+mn-cs"/>
      </a:defRPr>
    </a:lvl4pPr>
    <a:lvl5pPr marL="1828800" algn="ctr" rtl="0" eaLnBrk="0" fontAlgn="base" hangingPunct="0">
      <a:spcBef>
        <a:spcPct val="0"/>
      </a:spcBef>
      <a:spcAft>
        <a:spcPct val="0"/>
      </a:spcAft>
      <a:defRPr sz="2400" kern="1200">
        <a:solidFill>
          <a:schemeClr val="tx1"/>
        </a:solidFill>
        <a:latin typeface="Times New Roman" charset="0"/>
        <a:ea typeface="+mn-ea"/>
        <a:cs typeface="+mn-cs"/>
      </a:defRPr>
    </a:lvl5pPr>
    <a:lvl6pPr marL="2286000" algn="l" defTabSz="914400" rtl="0" eaLnBrk="1" latinLnBrk="0" hangingPunct="1">
      <a:defRPr sz="2400" kern="1200">
        <a:solidFill>
          <a:schemeClr val="tx1"/>
        </a:solidFill>
        <a:latin typeface="Times New Roman" charset="0"/>
        <a:ea typeface="+mn-ea"/>
        <a:cs typeface="+mn-cs"/>
      </a:defRPr>
    </a:lvl6pPr>
    <a:lvl7pPr marL="2743200" algn="l" defTabSz="914400" rtl="0" eaLnBrk="1" latinLnBrk="0" hangingPunct="1">
      <a:defRPr sz="2400" kern="1200">
        <a:solidFill>
          <a:schemeClr val="tx1"/>
        </a:solidFill>
        <a:latin typeface="Times New Roman" charset="0"/>
        <a:ea typeface="+mn-ea"/>
        <a:cs typeface="+mn-cs"/>
      </a:defRPr>
    </a:lvl7pPr>
    <a:lvl8pPr marL="3200400" algn="l" defTabSz="914400" rtl="0" eaLnBrk="1" latinLnBrk="0" hangingPunct="1">
      <a:defRPr sz="2400" kern="1200">
        <a:solidFill>
          <a:schemeClr val="tx1"/>
        </a:solidFill>
        <a:latin typeface="Times New Roman" charset="0"/>
        <a:ea typeface="+mn-ea"/>
        <a:cs typeface="+mn-cs"/>
      </a:defRPr>
    </a:lvl8pPr>
    <a:lvl9pPr marL="3657600" algn="l" defTabSz="914400" rtl="0" eaLnBrk="1" latinLnBrk="0" hangingPunct="1">
      <a:defRPr sz="2400" kern="1200">
        <a:solidFill>
          <a:schemeClr val="tx1"/>
        </a:solidFill>
        <a:latin typeface="Times New Roman"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p:scale>
          <a:sx n="75" d="100"/>
          <a:sy n="75" d="100"/>
        </p:scale>
        <p:origin x="-1709" y="-3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bg-BG"/>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6082018D-36AB-4F87-8769-AD343BC1E7BB}" type="datetimeFigureOut">
              <a:rPr lang="bg-BG"/>
              <a:pPr>
                <a:defRPr/>
              </a:pPr>
              <a:t>11.2.2020 г.</a:t>
            </a:fld>
            <a:endParaRPr lang="bg-B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bg-BG"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bg-BG"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bg-BG"/>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0914D6E2-9795-494C-BC11-6521ABF213B8}" type="slidenum">
              <a:rPr lang="bg-BG"/>
              <a:pPr>
                <a:defRPr/>
              </a:pPr>
              <a:t>‹#›</a:t>
            </a:fld>
            <a:endParaRPr lang="bg-BG"/>
          </a:p>
        </p:txBody>
      </p:sp>
    </p:spTree>
    <p:extLst>
      <p:ext uri="{BB962C8B-B14F-4D97-AF65-F5344CB8AC3E}">
        <p14:creationId xmlns:p14="http://schemas.microsoft.com/office/powerpoint/2010/main" val="35802035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Oval 3"/>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eaLnBrk="1" hangingPunct="1">
              <a:defRPr/>
            </a:pPr>
            <a:endParaRPr lang="en-US"/>
          </a:p>
        </p:txBody>
      </p:sp>
      <p:sp>
        <p:nvSpPr>
          <p:cNvPr id="5" name="Oval 4"/>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eaLnBrk="1" hangingPunct="1">
              <a:defRPr/>
            </a:pPr>
            <a:endParaRPr lang="en-US"/>
          </a:p>
        </p:txBody>
      </p:sp>
      <p:sp>
        <p:nvSpPr>
          <p:cNvPr id="14" name="Title 13"/>
          <p:cNvSpPr>
            <a:spLocks noGrp="1"/>
          </p:cNvSpPr>
          <p:nvPr>
            <p:ph type="ctrTitle"/>
          </p:nvPr>
        </p:nvSpPr>
        <p:spPr>
          <a:xfrm>
            <a:off x="1432560" y="359898"/>
            <a:ext cx="7406640" cy="1472184"/>
          </a:xfrm>
        </p:spPr>
        <p:txBody>
          <a:bodyPr anchor="b"/>
          <a:lstStyle>
            <a:lvl1pPr algn="l">
              <a:defRPr/>
            </a:lvl1pPr>
            <a:extLst/>
          </a:lstStyle>
          <a:p>
            <a:r>
              <a:rPr lang="en-US" smtClean="0"/>
              <a:t>Click to edit Master title style</a:t>
            </a:r>
            <a:endParaRPr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6" name="Date Placeholder 6"/>
          <p:cNvSpPr>
            <a:spLocks noGrp="1"/>
          </p:cNvSpPr>
          <p:nvPr>
            <p:ph type="dt" sz="half" idx="10"/>
          </p:nvPr>
        </p:nvSpPr>
        <p:spPr/>
        <p:txBody>
          <a:bodyPr/>
          <a:lstStyle>
            <a:lvl1pPr>
              <a:defRPr/>
            </a:lvl1pPr>
            <a:extLst/>
          </a:lstStyle>
          <a:p>
            <a:pPr>
              <a:defRPr/>
            </a:pPr>
            <a:endParaRPr lang="en-US"/>
          </a:p>
        </p:txBody>
      </p:sp>
      <p:sp>
        <p:nvSpPr>
          <p:cNvPr id="7" name="Footer Placeholder 19"/>
          <p:cNvSpPr>
            <a:spLocks noGrp="1"/>
          </p:cNvSpPr>
          <p:nvPr>
            <p:ph type="ftr" sz="quarter" idx="11"/>
          </p:nvPr>
        </p:nvSpPr>
        <p:spPr/>
        <p:txBody>
          <a:bodyPr/>
          <a:lstStyle>
            <a:lvl1pPr>
              <a:defRPr/>
            </a:lvl1pPr>
            <a:extLst/>
          </a:lstStyle>
          <a:p>
            <a:pPr>
              <a:defRPr/>
            </a:pPr>
            <a:endParaRPr lang="en-US"/>
          </a:p>
        </p:txBody>
      </p:sp>
      <p:sp>
        <p:nvSpPr>
          <p:cNvPr id="8" name="Slide Number Placeholder 9"/>
          <p:cNvSpPr>
            <a:spLocks noGrp="1"/>
          </p:cNvSpPr>
          <p:nvPr>
            <p:ph type="sldNum" sz="quarter" idx="12"/>
          </p:nvPr>
        </p:nvSpPr>
        <p:spPr/>
        <p:txBody>
          <a:bodyPr/>
          <a:lstStyle>
            <a:lvl1pPr>
              <a:defRPr/>
            </a:lvl1pPr>
            <a:extLst/>
          </a:lstStyle>
          <a:p>
            <a:pPr>
              <a:defRPr/>
            </a:pPr>
            <a:fld id="{7761A46E-BA7E-4600-8055-E98FBBFFB15A}"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Content Placeholder 2"/>
          <p:cNvSpPr>
            <a:spLocks noGrp="1"/>
          </p:cNvSpPr>
          <p:nvPr>
            <p:ph idx="1"/>
          </p:nvPr>
        </p:nvSpPr>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B83E7D08-1FAE-48AD-ADC7-21D806B058B4}"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eaLnBrk="1" hangingPunct="1">
              <a:defRPr/>
            </a:pPr>
            <a:endParaRPr lang="en-US"/>
          </a:p>
        </p:txBody>
      </p:sp>
      <p:sp>
        <p:nvSpPr>
          <p:cNvPr id="5" name="Rectangle 4"/>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eaLnBrk="1" hangingPunct="1">
              <a:defRPr/>
            </a:pPr>
            <a:endParaRPr lang="en-US"/>
          </a:p>
        </p:txBody>
      </p:sp>
      <p:sp>
        <p:nvSpPr>
          <p:cNvPr id="6" name="Oval 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eaLnBrk="1" hangingPunct="1">
              <a:defRPr/>
            </a:pPr>
            <a:endParaRPr lang="en-US"/>
          </a:p>
        </p:txBody>
      </p:sp>
      <p:sp>
        <p:nvSpPr>
          <p:cNvPr id="7" name="Oval 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eaLnBrk="1" hangingPunct="1">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smtClean="0"/>
              <a:t>Click to edit Master title style</a:t>
            </a:r>
            <a:endParaRPr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8" name="Date Placeholder 3"/>
          <p:cNvSpPr>
            <a:spLocks noGrp="1"/>
          </p:cNvSpPr>
          <p:nvPr>
            <p:ph type="dt" sz="half" idx="10"/>
          </p:nvPr>
        </p:nvSpPr>
        <p:spPr/>
        <p:txBody>
          <a:bodyPr/>
          <a:lstStyle>
            <a:lvl1pPr>
              <a:defRPr/>
            </a:lvl1pPr>
            <a:extLst/>
          </a:lstStyle>
          <a:p>
            <a:pPr>
              <a:defRPr/>
            </a:pPr>
            <a:endParaRPr lang="en-US"/>
          </a:p>
        </p:txBody>
      </p:sp>
      <p:sp>
        <p:nvSpPr>
          <p:cNvPr id="9" name="Footer Placeholder 4"/>
          <p:cNvSpPr>
            <a:spLocks noGrp="1"/>
          </p:cNvSpPr>
          <p:nvPr>
            <p:ph type="ftr" sz="quarter" idx="11"/>
          </p:nvPr>
        </p:nvSpPr>
        <p:spPr/>
        <p:txBody>
          <a:bodyPr/>
          <a:lstStyle>
            <a:lvl1pPr>
              <a:defRPr/>
            </a:lvl1pPr>
            <a:extLst/>
          </a:lstStyle>
          <a:p>
            <a:pPr>
              <a:defRPr/>
            </a:pPr>
            <a:endParaRPr lang="en-US"/>
          </a:p>
        </p:txBody>
      </p:sp>
      <p:sp>
        <p:nvSpPr>
          <p:cNvPr id="10" name="Slide Number Placeholder 5"/>
          <p:cNvSpPr>
            <a:spLocks noGrp="1"/>
          </p:cNvSpPr>
          <p:nvPr>
            <p:ph type="sldNum" sz="quarter" idx="12"/>
          </p:nvPr>
        </p:nvSpPr>
        <p:spPr/>
        <p:txBody>
          <a:bodyPr/>
          <a:lstStyle>
            <a:lvl1pPr>
              <a:defRPr/>
            </a:lvl1pPr>
            <a:extLst/>
          </a:lstStyle>
          <a:p>
            <a:pPr>
              <a:defRPr/>
            </a:pPr>
            <a:fld id="{E0D45728-4B99-4789-A431-A24B9B7165E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lang="en-US" smtClean="0"/>
              <a:t>Click to edit Master title style</a:t>
            </a:r>
            <a:endParaRPr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3"/>
          <p:cNvSpPr>
            <a:spLocks noGrp="1"/>
          </p:cNvSpPr>
          <p:nvPr>
            <p:ph type="dt" sz="half" idx="10"/>
          </p:nvPr>
        </p:nvSpPr>
        <p:spPr/>
        <p:txBody>
          <a:bodyPr/>
          <a:lstStyle>
            <a:lvl1pPr>
              <a:defRPr/>
            </a:lvl1pPr>
          </a:lstStyle>
          <a:p>
            <a:pPr>
              <a:defRPr/>
            </a:pPr>
            <a:endParaRPr lang="en-US"/>
          </a:p>
        </p:txBody>
      </p:sp>
      <p:sp>
        <p:nvSpPr>
          <p:cNvPr id="6" name="Footer Placeholder 9"/>
          <p:cNvSpPr>
            <a:spLocks noGrp="1"/>
          </p:cNvSpPr>
          <p:nvPr>
            <p:ph type="ftr" sz="quarter" idx="11"/>
          </p:nvPr>
        </p:nvSpPr>
        <p:spPr/>
        <p:txBody>
          <a:bodyPr/>
          <a:lstStyle>
            <a:lvl1pPr>
              <a:defRPr/>
            </a:lvl1pPr>
          </a:lstStyle>
          <a:p>
            <a:pPr>
              <a:defRPr/>
            </a:pPr>
            <a:endParaRPr lang="en-US"/>
          </a:p>
        </p:txBody>
      </p:sp>
      <p:sp>
        <p:nvSpPr>
          <p:cNvPr id="7" name="Slide Number Placeholder 21"/>
          <p:cNvSpPr>
            <a:spLocks noGrp="1"/>
          </p:cNvSpPr>
          <p:nvPr>
            <p:ph type="sldNum" sz="quarter" idx="12"/>
          </p:nvPr>
        </p:nvSpPr>
        <p:spPr/>
        <p:txBody>
          <a:bodyPr/>
          <a:lstStyle>
            <a:lvl1pPr>
              <a:defRPr/>
            </a:lvl1pPr>
          </a:lstStyle>
          <a:p>
            <a:pPr>
              <a:defRPr/>
            </a:pPr>
            <a:fld id="{3F34D2EE-3117-4608-8FAF-4CFF0AF3490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smtClean="0"/>
              <a:t>Click to edit Master title style</a:t>
            </a:r>
            <a:endParaRPr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extLst/>
          </a:lstStyle>
          <a:p>
            <a:pPr>
              <a:defRPr/>
            </a:pPr>
            <a:fld id="{FD1E0384-DAC9-40FF-88F9-F33ADA31B24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lang="en-US" smtClean="0"/>
              <a:t>Click to edit Master title style</a:t>
            </a:r>
            <a:endParaRPr lang="en-US"/>
          </a:p>
        </p:txBody>
      </p:sp>
      <p:sp>
        <p:nvSpPr>
          <p:cNvPr id="3" name="Date Placeholder 23"/>
          <p:cNvSpPr>
            <a:spLocks noGrp="1"/>
          </p:cNvSpPr>
          <p:nvPr>
            <p:ph type="dt" sz="half" idx="10"/>
          </p:nvPr>
        </p:nvSpPr>
        <p:spPr/>
        <p:txBody>
          <a:bodyPr/>
          <a:lstStyle>
            <a:lvl1pPr>
              <a:defRPr/>
            </a:lvl1pPr>
          </a:lstStyle>
          <a:p>
            <a:pPr>
              <a:defRPr/>
            </a:pPr>
            <a:endParaRPr lang="en-US"/>
          </a:p>
        </p:txBody>
      </p:sp>
      <p:sp>
        <p:nvSpPr>
          <p:cNvPr id="4" name="Footer Placeholder 9"/>
          <p:cNvSpPr>
            <a:spLocks noGrp="1"/>
          </p:cNvSpPr>
          <p:nvPr>
            <p:ph type="ftr" sz="quarter" idx="11"/>
          </p:nvPr>
        </p:nvSpPr>
        <p:spPr/>
        <p:txBody>
          <a:bodyPr/>
          <a:lstStyle>
            <a:lvl1pPr>
              <a:defRPr/>
            </a:lvl1pPr>
          </a:lstStyle>
          <a:p>
            <a:pPr>
              <a:defRPr/>
            </a:pPr>
            <a:endParaRPr lang="en-US"/>
          </a:p>
        </p:txBody>
      </p:sp>
      <p:sp>
        <p:nvSpPr>
          <p:cNvPr id="5" name="Slide Number Placeholder 21"/>
          <p:cNvSpPr>
            <a:spLocks noGrp="1"/>
          </p:cNvSpPr>
          <p:nvPr>
            <p:ph type="sldNum" sz="quarter" idx="12"/>
          </p:nvPr>
        </p:nvSpPr>
        <p:spPr/>
        <p:txBody>
          <a:bodyPr/>
          <a:lstStyle>
            <a:lvl1pPr>
              <a:defRPr/>
            </a:lvl1pPr>
          </a:lstStyle>
          <a:p>
            <a:pPr>
              <a:defRPr/>
            </a:pPr>
            <a:fld id="{B7284EC1-C5F9-4279-97D0-7C576E4C1C88}"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eaLnBrk="1" hangingPunct="1">
              <a:defRPr/>
            </a:pPr>
            <a:endParaRPr lang="en-US"/>
          </a:p>
        </p:txBody>
      </p:sp>
      <p:sp>
        <p:nvSpPr>
          <p:cNvPr id="3" name="Rectangle 2"/>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eaLnBrk="1" hangingPunct="1">
              <a:defRPr/>
            </a:pPr>
            <a:endParaRPr lang="en-US"/>
          </a:p>
        </p:txBody>
      </p:sp>
      <p:sp>
        <p:nvSpPr>
          <p:cNvPr id="4" name="Date Placeholder 1"/>
          <p:cNvSpPr>
            <a:spLocks noGrp="1"/>
          </p:cNvSpPr>
          <p:nvPr>
            <p:ph type="dt" sz="half" idx="10"/>
          </p:nvPr>
        </p:nvSpPr>
        <p:spPr/>
        <p:txBody>
          <a:bodyPr/>
          <a:lstStyle>
            <a:lvl1pPr>
              <a:defRPr/>
            </a:lvl1pPr>
            <a:extLst/>
          </a:lstStyle>
          <a:p>
            <a:pPr>
              <a:defRPr/>
            </a:pPr>
            <a:endParaRPr lang="en-US"/>
          </a:p>
        </p:txBody>
      </p:sp>
      <p:sp>
        <p:nvSpPr>
          <p:cNvPr id="5" name="Footer Placeholder 2"/>
          <p:cNvSpPr>
            <a:spLocks noGrp="1"/>
          </p:cNvSpPr>
          <p:nvPr>
            <p:ph type="ftr" sz="quarter" idx="11"/>
          </p:nvPr>
        </p:nvSpPr>
        <p:spPr/>
        <p:txBody>
          <a:bodyPr/>
          <a:lstStyle>
            <a:lvl1pPr>
              <a:defRPr/>
            </a:lvl1pPr>
            <a:extLst/>
          </a:lstStyle>
          <a:p>
            <a:pPr>
              <a:defRPr/>
            </a:pPr>
            <a:endParaRPr lang="en-US"/>
          </a:p>
        </p:txBody>
      </p:sp>
      <p:sp>
        <p:nvSpPr>
          <p:cNvPr id="6" name="Slide Number Placeholder 3"/>
          <p:cNvSpPr>
            <a:spLocks noGrp="1"/>
          </p:cNvSpPr>
          <p:nvPr>
            <p:ph type="sldNum" sz="quarter" idx="12"/>
          </p:nvPr>
        </p:nvSpPr>
        <p:spPr/>
        <p:txBody>
          <a:bodyPr/>
          <a:lstStyle>
            <a:lvl1pPr>
              <a:defRPr/>
            </a:lvl1pPr>
            <a:extLst/>
          </a:lstStyle>
          <a:p>
            <a:pPr>
              <a:defRPr/>
            </a:pPr>
            <a:fld id="{0E7BA6CB-5811-419E-B26A-8A6297A68D8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smtClean="0"/>
              <a:t>Click to edit Master title style</a:t>
            </a:r>
            <a:endParaRPr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E4E8EB26-EE72-4776-80B1-094C8F7082C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extLst/>
          </a:lstStyle>
          <a:p>
            <a:pPr indent="-283464" algn="l" eaLnBrk="1" hangingPunct="1">
              <a:lnSpc>
                <a:spcPts val="3000"/>
              </a:lnSpc>
              <a:spcBef>
                <a:spcPts val="600"/>
              </a:spcBef>
              <a:buClr>
                <a:schemeClr val="accent1"/>
              </a:buClr>
              <a:buSzPct val="80000"/>
              <a:buFont typeface="Wingdings 2"/>
              <a:buNone/>
              <a:defRPr/>
            </a:pPr>
            <a:endParaRPr lang="en-US" sz="3200">
              <a:latin typeface="+mn-lt"/>
            </a:endParaRPr>
          </a:p>
        </p:txBody>
      </p:sp>
      <p:sp>
        <p:nvSpPr>
          <p:cNvPr id="6" name="Flowchart: Process 5"/>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eaLnBrk="1" hangingPunct="1">
              <a:defRPr/>
            </a:pPr>
            <a:endParaRPr lang="en-US"/>
          </a:p>
        </p:txBody>
      </p:sp>
      <p:sp>
        <p:nvSpPr>
          <p:cNvPr id="7" name="Flowchart: Process 6"/>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eaLnBrk="1" hangingPunct="1">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smtClean="0"/>
              <a:t>Click to edit Master title style</a:t>
            </a:r>
            <a:endParaRPr lang="en-US"/>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extLst/>
          </a:lstStyle>
          <a:p>
            <a:pPr>
              <a:defRPr/>
            </a:pPr>
            <a:endParaRPr lang="en-US"/>
          </a:p>
        </p:txBody>
      </p:sp>
      <p:sp>
        <p:nvSpPr>
          <p:cNvPr id="9" name="Footer Placeholder 5"/>
          <p:cNvSpPr>
            <a:spLocks noGrp="1"/>
          </p:cNvSpPr>
          <p:nvPr>
            <p:ph type="ftr" sz="quarter" idx="11"/>
          </p:nvPr>
        </p:nvSpPr>
        <p:spPr/>
        <p:txBody>
          <a:bodyPr/>
          <a:lstStyle>
            <a:lvl1pPr>
              <a:defRPr/>
            </a:lvl1pPr>
            <a:extLst/>
          </a:lstStyle>
          <a:p>
            <a:pPr>
              <a:defRPr/>
            </a:pPr>
            <a:endParaRPr lang="en-US"/>
          </a:p>
        </p:txBody>
      </p:sp>
      <p:sp>
        <p:nvSpPr>
          <p:cNvPr id="10" name="Slide Number Placeholder 6"/>
          <p:cNvSpPr>
            <a:spLocks noGrp="1"/>
          </p:cNvSpPr>
          <p:nvPr>
            <p:ph type="sldNum" sz="quarter" idx="12"/>
          </p:nvPr>
        </p:nvSpPr>
        <p:spPr/>
        <p:txBody>
          <a:bodyPr/>
          <a:lstStyle>
            <a:lvl1pPr>
              <a:defRPr/>
            </a:lvl1pPr>
            <a:extLst/>
          </a:lstStyle>
          <a:p>
            <a:pPr>
              <a:defRPr/>
            </a:pPr>
            <a:fld id="{D3E4A285-EA1D-4D2E-B996-9C74CD68374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078F4BEF-ED8D-4841-A339-7CE9A3070D2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86DFBCD7-F62C-4B18-AFE4-B2256CFCE87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eaLnBrk="1" hangingPunct="1">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eaLnBrk="1" hangingPunct="1">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eaLnBrk="1" hangingPunct="1">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eaLnBrk="1" hangingPunct="1">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extLst/>
          </a:lstStyle>
          <a:p>
            <a:r>
              <a:rPr lang="en-US" smtClean="0"/>
              <a:t>Click to edit Master title style</a:t>
            </a:r>
            <a:endParaRPr lang="en-US"/>
          </a:p>
        </p:txBody>
      </p:sp>
      <p:sp>
        <p:nvSpPr>
          <p:cNvPr id="6153" name="Text Placeholder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pPr>
              <a:defRPr/>
            </a:pPr>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pPr>
              <a:defRPr/>
            </a:pPr>
            <a:endParaRPr lang="en-US"/>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a:defRPr/>
            </a:pPr>
            <a:fld id="{7E4C4AE7-B537-4B08-B030-E926C4CB0A90}" type="slidenum">
              <a:rPr lang="en-US"/>
              <a:pPr>
                <a:defRPr/>
              </a:pPr>
              <a:t>‹#›</a:t>
            </a:fld>
            <a:endParaRPr lang="en-US"/>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eaLnBrk="1" hangingPunct="1">
              <a:defRPr/>
            </a:pPr>
            <a:endParaRPr lang="en-US"/>
          </a:p>
        </p:txBody>
      </p:sp>
    </p:spTree>
  </p:cSld>
  <p:clrMap bg1="lt1" tx1="dk1" bg2="lt2" tx2="dk2" accent1="accent1" accent2="accent2" accent3="accent3" accent4="accent4" accent5="accent5" accent6="accent6" hlink="hlink" folHlink="folHlink"/>
  <p:sldLayoutIdLst>
    <p:sldLayoutId id="2147483700" r:id="rId1"/>
    <p:sldLayoutId id="2147483695" r:id="rId2"/>
    <p:sldLayoutId id="2147483701" r:id="rId3"/>
    <p:sldLayoutId id="2147483696" r:id="rId4"/>
    <p:sldLayoutId id="2147483702" r:id="rId5"/>
    <p:sldLayoutId id="2147483697" r:id="rId6"/>
    <p:sldLayoutId id="2147483703" r:id="rId7"/>
    <p:sldLayoutId id="2147483704" r:id="rId8"/>
    <p:sldLayoutId id="2147483705" r:id="rId9"/>
    <p:sldLayoutId id="2147483698" r:id="rId10"/>
    <p:sldLayoutId id="2147483699" r:id="rId11"/>
  </p:sldLayoutIdLst>
  <p:hf hdr="0" ftr="0" dt="0"/>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embeddings/Microsoft_Word_97_-_2003_Document1.doc"/></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Microsoft_Word_97_-_2003_Document2.doc"/></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3.vml"/><Relationship Id="rId5" Type="http://schemas.openxmlformats.org/officeDocument/2006/relationships/image" Target="../media/image4.emf"/><Relationship Id="rId4" Type="http://schemas.openxmlformats.org/officeDocument/2006/relationships/oleObject" Target="../embeddings/Microsoft_Word_97_-_2003_Document3.doc"/></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vmlDrawing" Target="../drawings/vmlDrawing4.vml"/><Relationship Id="rId4" Type="http://schemas.openxmlformats.org/officeDocument/2006/relationships/image" Target="../media/image5.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5.vml"/><Relationship Id="rId5" Type="http://schemas.openxmlformats.org/officeDocument/2006/relationships/image" Target="../media/image7.wmf"/><Relationship Id="rId4" Type="http://schemas.openxmlformats.org/officeDocument/2006/relationships/oleObject" Target="../embeddings/Microsoft_Word_97_-_2003_Document4.doc"/></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8.wmf"/></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1116013" y="404813"/>
            <a:ext cx="7805737" cy="6119812"/>
          </a:xfrm>
        </p:spPr>
        <p:txBody>
          <a:bodyPr>
            <a:normAutofit fontScale="90000"/>
          </a:bodyPr>
          <a:lstStyle/>
          <a:p>
            <a:pPr eaLnBrk="1" fontAlgn="auto" hangingPunct="1">
              <a:spcAft>
                <a:spcPts val="0"/>
              </a:spcAft>
              <a:defRPr/>
            </a:pPr>
            <a:r>
              <a:rPr lang="en-US" sz="2000" b="1" dirty="0">
                <a:solidFill>
                  <a:schemeClr val="tx1"/>
                </a:solidFill>
              </a:rPr>
              <a:t>	           </a:t>
            </a:r>
            <a:r>
              <a:rPr lang="bg-BG" sz="2000" b="1" u="sng" dirty="0">
                <a:solidFill>
                  <a:schemeClr val="tx1"/>
                </a:solidFill>
              </a:rPr>
              <a:t>АЛГОРИТМИ  ЗА  СОРТИРАНЕ</a:t>
            </a:r>
            <a:r>
              <a:rPr lang="bg-BG" sz="2000" dirty="0">
                <a:solidFill>
                  <a:schemeClr val="tx1"/>
                </a:solidFill>
                <a:latin typeface="Arial" charset="0"/>
              </a:rPr>
              <a:t/>
            </a:r>
            <a:br>
              <a:rPr lang="bg-BG" sz="2000" dirty="0">
                <a:solidFill>
                  <a:schemeClr val="tx1"/>
                </a:solidFill>
                <a:latin typeface="Arial" charset="0"/>
              </a:rPr>
            </a:br>
            <a:r>
              <a:rPr lang="bg-BG" sz="2000" b="1" dirty="0">
                <a:solidFill>
                  <a:schemeClr val="tx1"/>
                </a:solidFill>
              </a:rPr>
              <a:t/>
            </a:r>
            <a:br>
              <a:rPr lang="bg-BG" sz="2000" b="1" dirty="0">
                <a:solidFill>
                  <a:schemeClr val="tx1"/>
                </a:solidFill>
              </a:rPr>
            </a:br>
            <a:r>
              <a:rPr lang="bg-BG" sz="2000" dirty="0">
                <a:solidFill>
                  <a:schemeClr val="tx1"/>
                </a:solidFill>
              </a:rPr>
              <a:t>	</a:t>
            </a:r>
            <a:r>
              <a:rPr lang="bg-BG" sz="2000" i="1" dirty="0">
                <a:solidFill>
                  <a:schemeClr val="tx1"/>
                </a:solidFill>
              </a:rPr>
              <a:t>Сортирането </a:t>
            </a:r>
            <a:r>
              <a:rPr lang="bg-BG" sz="2000" dirty="0">
                <a:solidFill>
                  <a:schemeClr val="tx1"/>
                </a:solidFill>
              </a:rPr>
              <a:t>е </a:t>
            </a:r>
            <a:r>
              <a:rPr lang="bg-BG" sz="2000" dirty="0">
                <a:solidFill>
                  <a:schemeClr val="tx1"/>
                </a:solidFill>
              </a:rPr>
              <a:t>п</a:t>
            </a:r>
            <a:r>
              <a:rPr lang="bg-BG" sz="2000" dirty="0" smtClean="0">
                <a:solidFill>
                  <a:schemeClr val="tx1"/>
                </a:solidFill>
              </a:rPr>
              <a:t>роцес </a:t>
            </a:r>
            <a:r>
              <a:rPr lang="bg-BG" sz="2000" dirty="0">
                <a:solidFill>
                  <a:schemeClr val="tx1"/>
                </a:solidFill>
              </a:rPr>
              <a:t>на подреждане на множество елементи по определен ключ или ключове. Сортирането може да се класифицира като </a:t>
            </a:r>
            <a:r>
              <a:rPr lang="bg-BG" sz="2000" i="1" dirty="0">
                <a:solidFill>
                  <a:schemeClr val="tx1"/>
                </a:solidFill>
              </a:rPr>
              <a:t>вътрешно</a:t>
            </a:r>
            <a:r>
              <a:rPr lang="bg-BG" sz="2000" dirty="0">
                <a:solidFill>
                  <a:schemeClr val="tx1"/>
                </a:solidFill>
              </a:rPr>
              <a:t>, когато подрежданите елементи се намират в оперативната памет, и като</a:t>
            </a:r>
            <a:r>
              <a:rPr lang="bg-BG" sz="2000" i="1" dirty="0">
                <a:solidFill>
                  <a:schemeClr val="tx1"/>
                </a:solidFill>
              </a:rPr>
              <a:t> външно</a:t>
            </a:r>
            <a:r>
              <a:rPr lang="bg-BG" sz="2000" dirty="0">
                <a:solidFill>
                  <a:schemeClr val="tx1"/>
                </a:solidFill>
              </a:rPr>
              <a:t>, когато всички елементи или част от тях се намират във външни файлове.</a:t>
            </a:r>
            <a:r>
              <a:rPr lang="bg-BG" sz="1000" dirty="0">
                <a:solidFill>
                  <a:schemeClr val="tx1"/>
                </a:solidFill>
              </a:rPr>
              <a:t/>
            </a:r>
            <a:br>
              <a:rPr lang="bg-BG" sz="1000" dirty="0">
                <a:solidFill>
                  <a:schemeClr val="tx1"/>
                </a:solidFill>
              </a:rPr>
            </a:br>
            <a:r>
              <a:rPr lang="bg-BG" sz="1000" dirty="0">
                <a:solidFill>
                  <a:schemeClr val="tx1"/>
                </a:solidFill>
              </a:rPr>
              <a:t/>
            </a:r>
            <a:br>
              <a:rPr lang="bg-BG" sz="1000" dirty="0">
                <a:solidFill>
                  <a:schemeClr val="tx1"/>
                </a:solidFill>
              </a:rPr>
            </a:br>
            <a:r>
              <a:rPr lang="bg-BG" sz="2000" dirty="0">
                <a:solidFill>
                  <a:schemeClr val="tx1"/>
                </a:solidFill>
              </a:rPr>
              <a:t>               </a:t>
            </a:r>
            <a:r>
              <a:rPr lang="bg-BG" sz="2000" b="1" dirty="0">
                <a:solidFill>
                  <a:schemeClr val="tx1"/>
                </a:solidFill>
              </a:rPr>
              <a:t>ВЪТРЕШНО СОРТИРАНЕ</a:t>
            </a:r>
            <a:r>
              <a:rPr lang="bg-BG" sz="2000" dirty="0">
                <a:solidFill>
                  <a:schemeClr val="tx1"/>
                </a:solidFill>
              </a:rPr>
              <a:t/>
            </a:r>
            <a:br>
              <a:rPr lang="bg-BG" sz="2000" dirty="0">
                <a:solidFill>
                  <a:schemeClr val="tx1"/>
                </a:solidFill>
              </a:rPr>
            </a:br>
            <a:r>
              <a:rPr lang="bg-BG" sz="2000" dirty="0">
                <a:solidFill>
                  <a:schemeClr val="tx1"/>
                </a:solidFill>
              </a:rPr>
              <a:t>  	Подрежданите елементи представляват записи с една или повече ключови стойности. Записите са организирани в масив, който се намира в ОП. За улеснение в изложението долу елементите са целочислени стойности, представляващи ключ, по който се извършва подреждането: </a:t>
            </a:r>
            <a:br>
              <a:rPr lang="bg-BG" sz="2000" dirty="0">
                <a:solidFill>
                  <a:schemeClr val="tx1"/>
                </a:solidFill>
              </a:rPr>
            </a:br>
            <a:r>
              <a:rPr lang="bg-BG" sz="2000" dirty="0">
                <a:solidFill>
                  <a:schemeClr val="tx1"/>
                </a:solidFill>
              </a:rPr>
              <a:t/>
            </a:r>
            <a:br>
              <a:rPr lang="bg-BG" sz="2000" dirty="0">
                <a:solidFill>
                  <a:schemeClr val="tx1"/>
                </a:solidFill>
              </a:rPr>
            </a:br>
            <a:r>
              <a:rPr lang="bg-BG" sz="2000" dirty="0">
                <a:solidFill>
                  <a:schemeClr val="tx1"/>
                </a:solidFill>
              </a:rPr>
              <a:t> 		</a:t>
            </a:r>
            <a:r>
              <a:rPr lang="bg-BG" sz="2000" b="1" dirty="0">
                <a:solidFill>
                  <a:schemeClr val="tx1"/>
                </a:solidFill>
              </a:rPr>
              <a:t>A[1], </a:t>
            </a:r>
            <a:r>
              <a:rPr lang="bg-BG" sz="2000" dirty="0">
                <a:solidFill>
                  <a:schemeClr val="tx1"/>
                </a:solidFill>
              </a:rPr>
              <a:t> </a:t>
            </a:r>
            <a:r>
              <a:rPr lang="bg-BG" sz="2000" b="1" dirty="0">
                <a:solidFill>
                  <a:schemeClr val="tx1"/>
                </a:solidFill>
              </a:rPr>
              <a:t>A[2], …,  A[i],  A[j], …, A[k], …, A[n]</a:t>
            </a:r>
            <a:br>
              <a:rPr lang="bg-BG" sz="2000" b="1" dirty="0">
                <a:solidFill>
                  <a:schemeClr val="tx1"/>
                </a:solidFill>
              </a:rPr>
            </a:br>
            <a:r>
              <a:rPr lang="bg-BG" sz="2000" dirty="0">
                <a:solidFill>
                  <a:schemeClr val="tx1"/>
                </a:solidFill>
              </a:rPr>
              <a:t>	</a:t>
            </a:r>
            <a:br>
              <a:rPr lang="bg-BG" sz="2000" dirty="0">
                <a:solidFill>
                  <a:schemeClr val="tx1"/>
                </a:solidFill>
              </a:rPr>
            </a:br>
            <a:r>
              <a:rPr lang="bg-BG" sz="2000" dirty="0">
                <a:solidFill>
                  <a:schemeClr val="tx1"/>
                </a:solidFill>
              </a:rPr>
              <a:t> Възможно е при сортирането два елемента да имат еднакви ключови стойности, т. е. да съществуват такива индекси </a:t>
            </a:r>
            <a:r>
              <a:rPr lang="bg-BG" sz="2000" b="1" dirty="0">
                <a:solidFill>
                  <a:schemeClr val="tx1"/>
                </a:solidFill>
              </a:rPr>
              <a:t>i</a:t>
            </a:r>
            <a:r>
              <a:rPr lang="bg-BG" sz="2000" dirty="0">
                <a:solidFill>
                  <a:schemeClr val="tx1"/>
                </a:solidFill>
              </a:rPr>
              <a:t> и </a:t>
            </a:r>
            <a:r>
              <a:rPr lang="bg-BG" sz="2000" b="1" dirty="0">
                <a:solidFill>
                  <a:schemeClr val="tx1"/>
                </a:solidFill>
              </a:rPr>
              <a:t>k</a:t>
            </a:r>
            <a:r>
              <a:rPr lang="bg-BG" sz="2000" dirty="0">
                <a:solidFill>
                  <a:schemeClr val="tx1"/>
                </a:solidFill>
              </a:rPr>
              <a:t>, за които </a:t>
            </a:r>
            <a:r>
              <a:rPr lang="bg-BG" sz="2000" b="1" dirty="0">
                <a:solidFill>
                  <a:schemeClr val="tx1"/>
                </a:solidFill>
              </a:rPr>
              <a:t>A[i]=A[k]</a:t>
            </a:r>
            <a:r>
              <a:rPr lang="bg-BG" sz="2000" dirty="0">
                <a:solidFill>
                  <a:schemeClr val="tx1"/>
                </a:solidFill>
              </a:rPr>
              <a:t> при </a:t>
            </a:r>
            <a:r>
              <a:rPr lang="bg-BG" sz="2000" b="1" dirty="0">
                <a:solidFill>
                  <a:schemeClr val="tx1"/>
                </a:solidFill>
              </a:rPr>
              <a:t>i &lt; &gt; k</a:t>
            </a:r>
            <a:r>
              <a:rPr lang="bg-BG" sz="2000" dirty="0">
                <a:solidFill>
                  <a:schemeClr val="tx1"/>
                </a:solidFill>
              </a:rPr>
              <a:t>. Метод за сортирането се нарича</a:t>
            </a:r>
            <a:r>
              <a:rPr lang="bg-BG" sz="2000" i="1" dirty="0">
                <a:solidFill>
                  <a:schemeClr val="tx1"/>
                </a:solidFill>
              </a:rPr>
              <a:t> устойчив</a:t>
            </a:r>
            <a:r>
              <a:rPr lang="bg-BG" sz="2000" dirty="0">
                <a:solidFill>
                  <a:schemeClr val="tx1"/>
                </a:solidFill>
              </a:rPr>
              <a:t>, ако той не размества такива </a:t>
            </a:r>
            <a:r>
              <a:rPr lang="bg-BG" sz="2000" b="1" dirty="0">
                <a:solidFill>
                  <a:schemeClr val="tx1"/>
                </a:solidFill>
              </a:rPr>
              <a:t>A[i]</a:t>
            </a:r>
            <a:r>
              <a:rPr lang="bg-BG" sz="2000" dirty="0">
                <a:solidFill>
                  <a:schemeClr val="tx1"/>
                </a:solidFill>
              </a:rPr>
              <a:t> и </a:t>
            </a:r>
            <a:r>
              <a:rPr lang="bg-BG" sz="2000" b="1" dirty="0">
                <a:solidFill>
                  <a:schemeClr val="tx1"/>
                </a:solidFill>
              </a:rPr>
              <a:t>A[k]</a:t>
            </a:r>
            <a:r>
              <a:rPr lang="bg-BG" sz="2000" dirty="0">
                <a:solidFill>
                  <a:schemeClr val="tx1"/>
                </a:solidFill>
              </a:rPr>
              <a:t>, в противен случай методът е </a:t>
            </a:r>
            <a:r>
              <a:rPr lang="bg-BG" sz="2000" i="1" dirty="0">
                <a:solidFill>
                  <a:schemeClr val="tx1"/>
                </a:solidFill>
              </a:rPr>
              <a:t>неустойчив</a:t>
            </a:r>
            <a:r>
              <a:rPr lang="bg-BG" sz="2000" dirty="0">
                <a:solidFill>
                  <a:schemeClr val="tx1"/>
                </a:solidFill>
              </a:rPr>
              <a:t>.</a:t>
            </a:r>
          </a:p>
        </p:txBody>
      </p:sp>
      <p:sp>
        <p:nvSpPr>
          <p:cNvPr id="5" name="Slide Number Placeholder 4"/>
          <p:cNvSpPr>
            <a:spLocks noGrp="1"/>
          </p:cNvSpPr>
          <p:nvPr>
            <p:ph type="sldNum" sz="quarter" idx="12"/>
          </p:nvPr>
        </p:nvSpPr>
        <p:spPr/>
        <p:txBody>
          <a:bodyPr/>
          <a:lstStyle/>
          <a:p>
            <a:pPr>
              <a:defRPr/>
            </a:pPr>
            <a:fld id="{367F1846-CE62-4AA5-A15D-54B23375D36A}" type="slidenum">
              <a:rPr lang="en-US"/>
              <a:pPr>
                <a:defRPr/>
              </a:pPr>
              <a:t>1</a:t>
            </a:fld>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66800" y="404813"/>
            <a:ext cx="7897813" cy="6192837"/>
          </a:xfrm>
        </p:spPr>
        <p:txBody>
          <a:bodyPr/>
          <a:lstStyle/>
          <a:p>
            <a:pPr eaLnBrk="1" fontAlgn="auto" hangingPunct="1">
              <a:lnSpc>
                <a:spcPct val="110000"/>
              </a:lnSpc>
              <a:spcAft>
                <a:spcPts val="0"/>
              </a:spcAft>
              <a:defRPr/>
            </a:pPr>
            <a:r>
              <a:rPr lang="en-US" sz="2000" dirty="0">
                <a:solidFill>
                  <a:schemeClr val="tx1"/>
                </a:solidFill>
              </a:rPr>
              <a:t>	</a:t>
            </a:r>
            <a:r>
              <a:rPr lang="bg-BG" sz="2200">
                <a:solidFill>
                  <a:schemeClr val="tx1"/>
                </a:solidFill>
              </a:rPr>
              <a:t>Известни са следните</a:t>
            </a:r>
            <a:r>
              <a:rPr lang="bg-BG" sz="2200" i="1">
                <a:solidFill>
                  <a:schemeClr val="tx1"/>
                </a:solidFill>
              </a:rPr>
              <a:t> групи методи</a:t>
            </a:r>
            <a:r>
              <a:rPr lang="bg-BG" sz="2200">
                <a:solidFill>
                  <a:schemeClr val="tx1"/>
                </a:solidFill>
              </a:rPr>
              <a:t> за сортиране:</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		- Сортиране чрез вмъкване</a:t>
            </a:r>
            <a:br>
              <a:rPr lang="bg-BG" sz="2200">
                <a:solidFill>
                  <a:schemeClr val="tx1"/>
                </a:solidFill>
              </a:rPr>
            </a:br>
            <a:r>
              <a:rPr lang="bg-BG" sz="2200">
                <a:solidFill>
                  <a:schemeClr val="tx1"/>
                </a:solidFill>
              </a:rPr>
              <a:t>		- Сортиране чрез размяна</a:t>
            </a:r>
            <a:br>
              <a:rPr lang="bg-BG" sz="2200">
                <a:solidFill>
                  <a:schemeClr val="tx1"/>
                </a:solidFill>
              </a:rPr>
            </a:br>
            <a:r>
              <a:rPr lang="bg-BG" sz="2200">
                <a:solidFill>
                  <a:schemeClr val="tx1"/>
                </a:solidFill>
              </a:rPr>
              <a:t>		- Сортиране чрез избор</a:t>
            </a:r>
            <a:br>
              <a:rPr lang="bg-BG" sz="2200">
                <a:solidFill>
                  <a:schemeClr val="tx1"/>
                </a:solidFill>
              </a:rPr>
            </a:br>
            <a:r>
              <a:rPr lang="bg-BG" sz="2200">
                <a:solidFill>
                  <a:schemeClr val="tx1"/>
                </a:solidFill>
              </a:rPr>
              <a:t>		- Сортиране чрез сливане</a:t>
            </a:r>
            <a:br>
              <a:rPr lang="bg-BG" sz="2200">
                <a:solidFill>
                  <a:schemeClr val="tx1"/>
                </a:solidFill>
              </a:rPr>
            </a:br>
            <a:r>
              <a:rPr lang="bg-BG" sz="2200">
                <a:solidFill>
                  <a:schemeClr val="tx1"/>
                </a:solidFill>
              </a:rPr>
              <a:t>		- Сортиране чрез разпределение</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	Ще разгледаме няколко алгоритъма от изброените групи методи и тяхна реализация. За оценка на ефективност на един алгоритъм за сортиране се използват следните означения: </a:t>
            </a:r>
            <a:r>
              <a:rPr lang="bg-BG" sz="2200" b="1">
                <a:solidFill>
                  <a:schemeClr val="tx1"/>
                </a:solidFill>
              </a:rPr>
              <a:t>С</a:t>
            </a:r>
            <a:r>
              <a:rPr lang="bg-BG" sz="2200">
                <a:solidFill>
                  <a:schemeClr val="tx1"/>
                </a:solidFill>
              </a:rPr>
              <a:t> - брой на сравненията на ключовете и </a:t>
            </a:r>
            <a:r>
              <a:rPr lang="bg-BG" sz="2200" b="1">
                <a:solidFill>
                  <a:schemeClr val="tx1"/>
                </a:solidFill>
              </a:rPr>
              <a:t>М</a:t>
            </a:r>
            <a:r>
              <a:rPr lang="bg-BG" sz="2200">
                <a:solidFill>
                  <a:schemeClr val="tx1"/>
                </a:solidFill>
              </a:rPr>
              <a:t> - брой на разместванията на елементите. Те се явяват функция на </a:t>
            </a:r>
            <a:r>
              <a:rPr lang="bg-BG" sz="2200" b="1">
                <a:solidFill>
                  <a:schemeClr val="tx1"/>
                </a:solidFill>
              </a:rPr>
              <a:t>n</a:t>
            </a:r>
            <a:r>
              <a:rPr lang="bg-BG" sz="2200">
                <a:solidFill>
                  <a:schemeClr val="tx1"/>
                </a:solidFill>
              </a:rPr>
              <a:t> - брой на елементите, които се подреждат. Простите и очевидните методи имат сложност </a:t>
            </a:r>
            <a:r>
              <a:rPr lang="bg-BG" sz="2200" b="1">
                <a:solidFill>
                  <a:schemeClr val="tx1"/>
                </a:solidFill>
              </a:rPr>
              <a:t>O(n</a:t>
            </a:r>
            <a:r>
              <a:rPr lang="bg-BG" sz="2200" b="1" baseline="30000">
                <a:solidFill>
                  <a:schemeClr val="tx1"/>
                </a:solidFill>
              </a:rPr>
              <a:t>2</a:t>
            </a:r>
            <a:r>
              <a:rPr lang="bg-BG" sz="2200" b="1">
                <a:solidFill>
                  <a:schemeClr val="tx1"/>
                </a:solidFill>
              </a:rPr>
              <a:t>)</a:t>
            </a:r>
            <a:r>
              <a:rPr lang="bg-BG" sz="2200">
                <a:solidFill>
                  <a:schemeClr val="tx1"/>
                </a:solidFill>
              </a:rPr>
              <a:t>, по-ефективните </a:t>
            </a:r>
            <a:r>
              <a:rPr lang="bg-BG" sz="2200" smtClean="0">
                <a:solidFill>
                  <a:schemeClr val="tx1"/>
                </a:solidFill>
              </a:rPr>
              <a:t>– </a:t>
            </a:r>
            <a:r>
              <a:rPr lang="en-US" sz="2200" dirty="0" smtClean="0">
                <a:solidFill>
                  <a:schemeClr val="tx1"/>
                </a:solidFill>
              </a:rPr>
              <a:t/>
            </a:r>
            <a:br>
              <a:rPr lang="en-US" sz="2200" dirty="0" smtClean="0">
                <a:solidFill>
                  <a:schemeClr val="tx1"/>
                </a:solidFill>
              </a:rPr>
            </a:br>
            <a:r>
              <a:rPr lang="bg-BG" sz="2200" b="1" smtClean="0">
                <a:solidFill>
                  <a:schemeClr val="tx1"/>
                </a:solidFill>
              </a:rPr>
              <a:t>O(n </a:t>
            </a:r>
            <a:r>
              <a:rPr lang="bg-BG" sz="2200" b="1">
                <a:solidFill>
                  <a:schemeClr val="tx1"/>
                </a:solidFill>
              </a:rPr>
              <a:t>* Log(n</a:t>
            </a:r>
            <a:r>
              <a:rPr lang="bg-BG" sz="2200" b="1" smtClean="0">
                <a:solidFill>
                  <a:schemeClr val="tx1"/>
                </a:solidFill>
              </a:rPr>
              <a:t>))</a:t>
            </a:r>
            <a:r>
              <a:rPr lang="bg-BG" sz="2200" smtClean="0">
                <a:solidFill>
                  <a:schemeClr val="tx1"/>
                </a:solidFill>
              </a:rPr>
              <a:t>.</a:t>
            </a:r>
            <a:endParaRPr lang="bg-BG" b="1">
              <a:solidFill>
                <a:schemeClr val="tx1"/>
              </a:solidFill>
            </a:endParaRPr>
          </a:p>
        </p:txBody>
      </p:sp>
      <p:sp>
        <p:nvSpPr>
          <p:cNvPr id="5" name="Slide Number Placeholder 4"/>
          <p:cNvSpPr>
            <a:spLocks noGrp="1"/>
          </p:cNvSpPr>
          <p:nvPr>
            <p:ph type="sldNum" sz="quarter" idx="12"/>
          </p:nvPr>
        </p:nvSpPr>
        <p:spPr/>
        <p:txBody>
          <a:bodyPr/>
          <a:lstStyle/>
          <a:p>
            <a:pPr>
              <a:defRPr/>
            </a:pPr>
            <a:fld id="{1B56DF10-4902-4D03-BB09-4BF8936F1D0B}" type="slidenum">
              <a:rPr lang="en-US"/>
              <a:pPr>
                <a:defRPr/>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71550" y="765175"/>
            <a:ext cx="7991475" cy="5791200"/>
          </a:xfrm>
        </p:spPr>
        <p:txBody>
          <a:bodyPr>
            <a:normAutofit fontScale="90000"/>
          </a:bodyPr>
          <a:lstStyle/>
          <a:p>
            <a:pPr eaLnBrk="1" fontAlgn="auto" hangingPunct="1">
              <a:spcAft>
                <a:spcPts val="0"/>
              </a:spcAft>
              <a:defRPr/>
            </a:pPr>
            <a:r>
              <a:rPr lang="en-US" sz="2000" i="1" dirty="0">
                <a:solidFill>
                  <a:schemeClr val="tx1"/>
                </a:solidFill>
              </a:rPr>
              <a:t>      </a:t>
            </a:r>
            <a:r>
              <a:rPr lang="bg-BG" sz="2000" i="1">
                <a:solidFill>
                  <a:schemeClr val="tx1"/>
                </a:solidFill>
              </a:rPr>
              <a:t/>
            </a:r>
            <a:br>
              <a:rPr lang="bg-BG" sz="2000" i="1">
                <a:solidFill>
                  <a:schemeClr val="tx1"/>
                </a:solidFill>
              </a:rPr>
            </a:br>
            <a:r>
              <a:rPr lang="bg-BG" sz="2000" i="1">
                <a:solidFill>
                  <a:schemeClr val="tx1"/>
                </a:solidFill>
              </a:rPr>
              <a:t>  </a:t>
            </a:r>
            <a:r>
              <a:rPr lang="bg-BG" sz="2400" b="1">
                <a:solidFill>
                  <a:schemeClr val="tx1"/>
                </a:solidFill>
              </a:rPr>
              <a:t>Сортиране чрез вмъкване</a:t>
            </a:r>
            <a:r>
              <a:rPr lang="bg-BG" sz="2000" b="1">
                <a:solidFill>
                  <a:schemeClr val="tx1"/>
                </a:solidFill>
              </a:rPr>
              <a:t/>
            </a:r>
            <a:br>
              <a:rPr lang="bg-BG" sz="2000" b="1">
                <a:solidFill>
                  <a:schemeClr val="tx1"/>
                </a:solidFill>
              </a:rPr>
            </a:br>
            <a:r>
              <a:rPr lang="bg-BG" sz="2000" b="1">
                <a:solidFill>
                  <a:schemeClr val="tx1"/>
                </a:solidFill>
              </a:rPr>
              <a:t/>
            </a:r>
            <a:br>
              <a:rPr lang="bg-BG" sz="2000" b="1">
                <a:solidFill>
                  <a:schemeClr val="tx1"/>
                </a:solidFill>
              </a:rPr>
            </a:br>
            <a:r>
              <a:rPr lang="bg-BG" sz="2000" b="1">
                <a:solidFill>
                  <a:schemeClr val="tx1"/>
                </a:solidFill>
              </a:rPr>
              <a:t>	</a:t>
            </a:r>
            <a:r>
              <a:rPr lang="bg-BG" sz="2000">
                <a:solidFill>
                  <a:schemeClr val="tx1"/>
                </a:solidFill>
              </a:rPr>
              <a:t>Към тази група се отнасят методите: сортиране чрез просто вмъкване, сортиране чрез двоично вмъкване, сортиране по метода на Шел, сортиране чрез вмъкване в списък, сортиране чрез изчисляване на адреса и др.</a:t>
            </a:r>
            <a:r>
              <a:rPr lang="bg-BG" sz="1000">
                <a:solidFill>
                  <a:schemeClr val="tx2">
                    <a:satMod val="130000"/>
                  </a:schemeClr>
                </a:solidFill>
              </a:rPr>
              <a:t/>
            </a:r>
            <a:br>
              <a:rPr lang="bg-BG" sz="1000">
                <a:solidFill>
                  <a:schemeClr val="tx2">
                    <a:satMod val="130000"/>
                  </a:schemeClr>
                </a:solidFill>
              </a:rPr>
            </a:br>
            <a:r>
              <a:rPr lang="bg-BG" sz="1000" i="1">
                <a:solidFill>
                  <a:schemeClr val="tx1"/>
                </a:solidFill>
              </a:rPr>
              <a:t> </a:t>
            </a:r>
            <a:br>
              <a:rPr lang="bg-BG" sz="1000" i="1">
                <a:solidFill>
                  <a:schemeClr val="tx1"/>
                </a:solidFill>
              </a:rPr>
            </a:br>
            <a:r>
              <a:rPr lang="bg-BG" sz="1000" i="1">
                <a:solidFill>
                  <a:schemeClr val="tx1"/>
                </a:solidFill>
              </a:rPr>
              <a:t>     </a:t>
            </a:r>
            <a:r>
              <a:rPr lang="bg-BG" sz="2000" i="1">
                <a:solidFill>
                  <a:schemeClr val="tx1"/>
                </a:solidFill>
              </a:rPr>
              <a:t>1.</a:t>
            </a:r>
            <a:r>
              <a:rPr lang="bg-BG" sz="1000" i="1">
                <a:solidFill>
                  <a:schemeClr val="tx1"/>
                </a:solidFill>
              </a:rPr>
              <a:t> </a:t>
            </a:r>
            <a:r>
              <a:rPr lang="bg-BG" sz="2000" i="1">
                <a:solidFill>
                  <a:schemeClr val="tx1"/>
                </a:solidFill>
              </a:rPr>
              <a:t>Сортиране чрез просто вмъкване (Straight insertion sort)</a:t>
            </a:r>
            <a:br>
              <a:rPr lang="bg-BG" sz="2000" i="1">
                <a:solidFill>
                  <a:schemeClr val="tx1"/>
                </a:solidFill>
              </a:rPr>
            </a:br>
            <a:r>
              <a:rPr lang="bg-BG" sz="1000" i="1">
                <a:solidFill>
                  <a:schemeClr val="tx1"/>
                </a:solidFill>
              </a:rPr>
              <a:t/>
            </a:r>
            <a:br>
              <a:rPr lang="bg-BG" sz="1000" i="1">
                <a:solidFill>
                  <a:schemeClr val="tx1"/>
                </a:solidFill>
              </a:rPr>
            </a:br>
            <a:r>
              <a:rPr lang="bg-BG" sz="2400" i="1">
                <a:solidFill>
                  <a:schemeClr val="tx1"/>
                </a:solidFill>
              </a:rPr>
              <a:t>	</a:t>
            </a:r>
            <a:r>
              <a:rPr lang="bg-BG" sz="2000">
                <a:solidFill>
                  <a:schemeClr val="tx1"/>
                </a:solidFill>
              </a:rPr>
              <a:t>Идеята на метода е много проста: масивът от подрежданите елементи се дели на две части, първата част съдържа елементите от </a:t>
            </a:r>
            <a:r>
              <a:rPr lang="bg-BG" sz="2000" b="1">
                <a:solidFill>
                  <a:schemeClr val="tx1"/>
                </a:solidFill>
              </a:rPr>
              <a:t>А[1]</a:t>
            </a:r>
            <a:r>
              <a:rPr lang="bg-BG" sz="2000">
                <a:solidFill>
                  <a:schemeClr val="tx1"/>
                </a:solidFill>
              </a:rPr>
              <a:t> до </a:t>
            </a:r>
            <a:r>
              <a:rPr lang="bg-BG" sz="2000" b="1">
                <a:solidFill>
                  <a:schemeClr val="tx1"/>
                </a:solidFill>
              </a:rPr>
              <a:t>A[i-1]</a:t>
            </a:r>
            <a:r>
              <a:rPr lang="bg-BG" sz="2000">
                <a:solidFill>
                  <a:schemeClr val="tx1"/>
                </a:solidFill>
              </a:rPr>
              <a:t> и вече е подредена, втората част - само елемента </a:t>
            </a:r>
            <a:r>
              <a:rPr lang="bg-BG" sz="2000" b="1">
                <a:solidFill>
                  <a:schemeClr val="tx1"/>
                </a:solidFill>
              </a:rPr>
              <a:t>A[i]</a:t>
            </a:r>
            <a:r>
              <a:rPr lang="bg-BG" sz="2000">
                <a:solidFill>
                  <a:schemeClr val="tx1"/>
                </a:solidFill>
              </a:rPr>
              <a:t>, който трябва да се включи към вече подредения масив. Следват две примерни рекурсивни реализации на метода.</a:t>
            </a:r>
            <a:br>
              <a:rPr lang="bg-BG" sz="2000">
                <a:solidFill>
                  <a:schemeClr val="tx1"/>
                </a:solidFill>
              </a:rPr>
            </a:br>
            <a:r>
              <a:rPr lang="bg-BG" sz="800">
                <a:solidFill>
                  <a:schemeClr val="tx1"/>
                </a:solidFill>
              </a:rPr>
              <a:t/>
            </a:r>
            <a:br>
              <a:rPr lang="bg-BG" sz="800">
                <a:solidFill>
                  <a:schemeClr val="tx1"/>
                </a:solidFill>
              </a:rPr>
            </a:br>
            <a:r>
              <a:rPr lang="bg-BG" sz="2000">
                <a:solidFill>
                  <a:schemeClr val="tx1"/>
                </a:solidFill>
              </a:rPr>
              <a:t>   Включване чрез полуобмен:</a:t>
            </a:r>
            <a:r>
              <a:rPr lang="bg-BG" sz="800">
                <a:solidFill>
                  <a:schemeClr val="tx1"/>
                </a:solidFill>
              </a:rPr>
              <a:t/>
            </a:r>
            <a:br>
              <a:rPr lang="bg-BG" sz="800">
                <a:solidFill>
                  <a:schemeClr val="tx1"/>
                </a:solidFill>
              </a:rPr>
            </a:br>
            <a:r>
              <a:rPr lang="bg-BG" sz="800">
                <a:solidFill>
                  <a:schemeClr val="tx1"/>
                </a:solidFill>
              </a:rPr>
              <a:t/>
            </a:r>
            <a:br>
              <a:rPr lang="bg-BG" sz="800">
                <a:solidFill>
                  <a:schemeClr val="tx1"/>
                </a:solidFill>
              </a:rPr>
            </a:br>
            <a:r>
              <a:rPr lang="en-US" sz="1800" dirty="0">
                <a:solidFill>
                  <a:schemeClr val="tx1"/>
                </a:solidFill>
                <a:latin typeface="Courier New" pitchFamily="49" charset="-52"/>
              </a:rPr>
              <a:t>void </a:t>
            </a:r>
            <a:r>
              <a:rPr lang="en-US" sz="1800" dirty="0" err="1">
                <a:solidFill>
                  <a:schemeClr val="tx1"/>
                </a:solidFill>
                <a:latin typeface="Courier New" pitchFamily="49" charset="-52"/>
              </a:rPr>
              <a:t>ins_p</a:t>
            </a:r>
            <a:r>
              <a:rPr lang="en-US" sz="1800">
                <a:solidFill>
                  <a:schemeClr val="tx1"/>
                </a:solidFill>
                <a:latin typeface="Courier New" pitchFamily="49" charset="-52"/>
              </a:rPr>
              <a:t>(int a[], int i)</a:t>
            </a:r>
            <a:br>
              <a:rPr lang="en-US" sz="1800">
                <a:solidFill>
                  <a:schemeClr val="tx1"/>
                </a:solidFill>
                <a:latin typeface="Courier New" pitchFamily="49" charset="-52"/>
              </a:rPr>
            </a:br>
            <a:r>
              <a:rPr lang="en-US" sz="1800">
                <a:solidFill>
                  <a:schemeClr val="tx1"/>
                </a:solidFill>
                <a:latin typeface="Courier New" pitchFamily="49" charset="-52"/>
              </a:rPr>
              <a:t>{ int j; int c=a[i];</a:t>
            </a:r>
            <a:br>
              <a:rPr lang="en-US" sz="1800">
                <a:solidFill>
                  <a:schemeClr val="tx1"/>
                </a:solidFill>
                <a:latin typeface="Courier New" pitchFamily="49" charset="-52"/>
              </a:rPr>
            </a:br>
            <a:r>
              <a:rPr lang="en-US" sz="1800">
                <a:solidFill>
                  <a:schemeClr val="tx1"/>
                </a:solidFill>
                <a:latin typeface="Courier New" pitchFamily="49" charset="-52"/>
              </a:rPr>
              <a:t>  j=i-1; </a:t>
            </a:r>
            <a:br>
              <a:rPr lang="en-US" sz="1800">
                <a:solidFill>
                  <a:schemeClr val="tx1"/>
                </a:solidFill>
                <a:latin typeface="Courier New" pitchFamily="49" charset="-52"/>
              </a:rPr>
            </a:br>
            <a:r>
              <a:rPr lang="en-US" sz="1800">
                <a:solidFill>
                  <a:schemeClr val="tx1"/>
                </a:solidFill>
                <a:latin typeface="Courier New" pitchFamily="49" charset="-52"/>
              </a:rPr>
              <a:t>  while ((j&gt;=0)&amp;&amp;(a[j]&gt;c))    { a[j+1]=a[j--];}</a:t>
            </a:r>
            <a:br>
              <a:rPr lang="en-US" sz="1800">
                <a:solidFill>
                  <a:schemeClr val="tx1"/>
                </a:solidFill>
                <a:latin typeface="Courier New" pitchFamily="49" charset="-52"/>
              </a:rPr>
            </a:br>
            <a:r>
              <a:rPr lang="en-US" sz="1800">
                <a:solidFill>
                  <a:schemeClr val="tx1"/>
                </a:solidFill>
                <a:latin typeface="Courier New" pitchFamily="49" charset="-52"/>
              </a:rPr>
              <a:t>  a[j+1]=c;  </a:t>
            </a:r>
            <a:br>
              <a:rPr lang="en-US" sz="1800">
                <a:solidFill>
                  <a:schemeClr val="tx1"/>
                </a:solidFill>
                <a:latin typeface="Courier New" pitchFamily="49" charset="-52"/>
              </a:rPr>
            </a:br>
            <a:r>
              <a:rPr lang="en-US" sz="1800">
                <a:solidFill>
                  <a:schemeClr val="tx1"/>
                </a:solidFill>
                <a:latin typeface="Courier New" pitchFamily="49" charset="-52"/>
              </a:rPr>
              <a:t>  if (i&lt;num-1) ins_p(a, i+1);</a:t>
            </a:r>
            <a:br>
              <a:rPr lang="en-US" sz="1800">
                <a:solidFill>
                  <a:schemeClr val="tx1"/>
                </a:solidFill>
                <a:latin typeface="Courier New" pitchFamily="49" charset="-52"/>
              </a:rPr>
            </a:br>
            <a:r>
              <a:rPr lang="en-US" sz="1800">
                <a:solidFill>
                  <a:schemeClr val="tx1"/>
                </a:solidFill>
                <a:latin typeface="Courier New" pitchFamily="49" charset="-52"/>
              </a:rPr>
              <a:t>}</a:t>
            </a:r>
            <a:r>
              <a:rPr lang="en-US">
                <a:solidFill>
                  <a:schemeClr val="tx2">
                    <a:satMod val="130000"/>
                  </a:schemeClr>
                </a:solidFill>
              </a:rPr>
              <a:t/>
            </a:r>
            <a:br>
              <a:rPr lang="en-US">
                <a:solidFill>
                  <a:schemeClr val="tx2">
                    <a:satMod val="130000"/>
                  </a:schemeClr>
                </a:solidFill>
              </a:rPr>
            </a:br>
            <a:endParaRPr lang="en-US">
              <a:solidFill>
                <a:schemeClr val="tx2">
                  <a:satMod val="130000"/>
                </a:schemeClr>
              </a:solidFill>
            </a:endParaRPr>
          </a:p>
        </p:txBody>
      </p:sp>
      <p:sp>
        <p:nvSpPr>
          <p:cNvPr id="5" name="Slide Number Placeholder 4"/>
          <p:cNvSpPr>
            <a:spLocks noGrp="1"/>
          </p:cNvSpPr>
          <p:nvPr>
            <p:ph type="sldNum" sz="quarter" idx="12"/>
          </p:nvPr>
        </p:nvSpPr>
        <p:spPr/>
        <p:txBody>
          <a:bodyPr/>
          <a:lstStyle/>
          <a:p>
            <a:pPr>
              <a:defRPr/>
            </a:pPr>
            <a:fld id="{E6752D5F-06EF-4CAA-B339-97FFD9C33971}" type="slidenum">
              <a:rPr lang="en-US"/>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222375" y="188913"/>
            <a:ext cx="7921625" cy="6453187"/>
          </a:xfrm>
        </p:spPr>
        <p:txBody>
          <a:bodyPr/>
          <a:lstStyle/>
          <a:p>
            <a:pPr eaLnBrk="1" fontAlgn="auto" hangingPunct="1">
              <a:spcAft>
                <a:spcPts val="0"/>
              </a:spcAft>
              <a:defRPr/>
            </a:pPr>
            <a:r>
              <a:rPr lang="bg-BG" sz="2000">
                <a:solidFill>
                  <a:schemeClr val="tx1"/>
                </a:solidFill>
              </a:rPr>
              <a:t>Включване чрез разместване:</a:t>
            </a:r>
            <a:br>
              <a:rPr lang="bg-BG" sz="2000">
                <a:solidFill>
                  <a:schemeClr val="tx1"/>
                </a:solidFill>
              </a:rPr>
            </a:br>
            <a:r>
              <a:rPr lang="bg-BG" sz="800">
                <a:solidFill>
                  <a:schemeClr val="tx1"/>
                </a:solidFill>
              </a:rPr>
              <a:t/>
            </a:r>
            <a:br>
              <a:rPr lang="bg-BG" sz="800">
                <a:solidFill>
                  <a:schemeClr val="tx1"/>
                </a:solidFill>
              </a:rPr>
            </a:br>
            <a:r>
              <a:rPr lang="bg-BG" sz="1800">
                <a:solidFill>
                  <a:schemeClr val="tx1"/>
                </a:solidFill>
                <a:latin typeface="Courier New" pitchFamily="49" charset="-52"/>
              </a:rPr>
              <a:t>void ins_r(int a[], int i)</a:t>
            </a:r>
            <a:br>
              <a:rPr lang="bg-BG" sz="1800">
                <a:solidFill>
                  <a:schemeClr val="tx1"/>
                </a:solidFill>
                <a:latin typeface="Courier New" pitchFamily="49" charset="-52"/>
              </a:rPr>
            </a:br>
            <a:r>
              <a:rPr lang="bg-BG" sz="1800">
                <a:solidFill>
                  <a:schemeClr val="tx1"/>
                </a:solidFill>
                <a:latin typeface="Courier New" pitchFamily="49" charset="-52"/>
              </a:rPr>
              <a:t>{  </a:t>
            </a:r>
            <a:br>
              <a:rPr lang="bg-BG" sz="1800">
                <a:solidFill>
                  <a:schemeClr val="tx1"/>
                </a:solidFill>
                <a:latin typeface="Courier New" pitchFamily="49" charset="-52"/>
              </a:rPr>
            </a:br>
            <a:r>
              <a:rPr lang="bg-BG" sz="1800">
                <a:solidFill>
                  <a:schemeClr val="tx1"/>
                </a:solidFill>
                <a:latin typeface="Courier New" pitchFamily="49" charset="-52"/>
              </a:rPr>
              <a:t>   int rab, j;  </a:t>
            </a:r>
            <a:br>
              <a:rPr lang="bg-BG" sz="1800">
                <a:solidFill>
                  <a:schemeClr val="tx1"/>
                </a:solidFill>
                <a:latin typeface="Courier New" pitchFamily="49" charset="-52"/>
              </a:rPr>
            </a:br>
            <a:r>
              <a:rPr lang="bg-BG" sz="1800">
                <a:solidFill>
                  <a:schemeClr val="tx1"/>
                </a:solidFill>
                <a:latin typeface="Courier New" pitchFamily="49" charset="-52"/>
              </a:rPr>
              <a:t>   j=i-1; </a:t>
            </a:r>
            <a:br>
              <a:rPr lang="bg-BG" sz="1800">
                <a:solidFill>
                  <a:schemeClr val="tx1"/>
                </a:solidFill>
                <a:latin typeface="Courier New" pitchFamily="49" charset="-52"/>
              </a:rPr>
            </a:br>
            <a:r>
              <a:rPr lang="bg-BG" sz="1800">
                <a:solidFill>
                  <a:schemeClr val="tx1"/>
                </a:solidFill>
                <a:latin typeface="Courier New" pitchFamily="49" charset="-52"/>
              </a:rPr>
              <a:t>   while ((j&gt;=0)&amp;&amp;(a[j]&gt;a[j+1]))    </a:t>
            </a:r>
            <a:br>
              <a:rPr lang="bg-BG" sz="1800">
                <a:solidFill>
                  <a:schemeClr val="tx1"/>
                </a:solidFill>
                <a:latin typeface="Courier New" pitchFamily="49" charset="-52"/>
              </a:rPr>
            </a:br>
            <a:r>
              <a:rPr lang="bg-BG" sz="1800">
                <a:solidFill>
                  <a:schemeClr val="tx1"/>
                </a:solidFill>
                <a:latin typeface="Courier New" pitchFamily="49" charset="-52"/>
              </a:rPr>
              <a:t>    {      </a:t>
            </a:r>
            <a:br>
              <a:rPr lang="bg-BG" sz="1800">
                <a:solidFill>
                  <a:schemeClr val="tx1"/>
                </a:solidFill>
                <a:latin typeface="Courier New" pitchFamily="49" charset="-52"/>
              </a:rPr>
            </a:br>
            <a:r>
              <a:rPr lang="bg-BG" sz="1800">
                <a:solidFill>
                  <a:schemeClr val="tx1"/>
                </a:solidFill>
                <a:latin typeface="Courier New" pitchFamily="49" charset="-52"/>
              </a:rPr>
              <a:t>        rab=a[j]; </a:t>
            </a:r>
            <a:br>
              <a:rPr lang="bg-BG" sz="1800">
                <a:solidFill>
                  <a:schemeClr val="tx1"/>
                </a:solidFill>
                <a:latin typeface="Courier New" pitchFamily="49" charset="-52"/>
              </a:rPr>
            </a:br>
            <a:r>
              <a:rPr lang="bg-BG" sz="1800">
                <a:solidFill>
                  <a:schemeClr val="tx1"/>
                </a:solidFill>
                <a:latin typeface="Courier New" pitchFamily="49" charset="-52"/>
              </a:rPr>
              <a:t>        a[j]=a[j+1];      </a:t>
            </a:r>
            <a:br>
              <a:rPr lang="bg-BG" sz="1800">
                <a:solidFill>
                  <a:schemeClr val="tx1"/>
                </a:solidFill>
                <a:latin typeface="Courier New" pitchFamily="49" charset="-52"/>
              </a:rPr>
            </a:br>
            <a:r>
              <a:rPr lang="bg-BG" sz="1800">
                <a:solidFill>
                  <a:schemeClr val="tx1"/>
                </a:solidFill>
                <a:latin typeface="Courier New" pitchFamily="49" charset="-52"/>
              </a:rPr>
              <a:t>        a[j+1]=rab; j--;   </a:t>
            </a:r>
            <a:br>
              <a:rPr lang="bg-BG" sz="1800">
                <a:solidFill>
                  <a:schemeClr val="tx1"/>
                </a:solidFill>
                <a:latin typeface="Courier New" pitchFamily="49" charset="-52"/>
              </a:rPr>
            </a:br>
            <a:r>
              <a:rPr lang="bg-BG" sz="1800">
                <a:solidFill>
                  <a:schemeClr val="tx1"/>
                </a:solidFill>
                <a:latin typeface="Courier New" pitchFamily="49" charset="-52"/>
              </a:rPr>
              <a:t>    }  </a:t>
            </a:r>
            <a:br>
              <a:rPr lang="bg-BG" sz="1800">
                <a:solidFill>
                  <a:schemeClr val="tx1"/>
                </a:solidFill>
                <a:latin typeface="Courier New" pitchFamily="49" charset="-52"/>
              </a:rPr>
            </a:br>
            <a:r>
              <a:rPr lang="bg-BG" sz="1800">
                <a:solidFill>
                  <a:schemeClr val="tx1"/>
                </a:solidFill>
                <a:latin typeface="Courier New" pitchFamily="49" charset="-52"/>
              </a:rPr>
              <a:t>   if (i&lt;num-1) </a:t>
            </a:r>
            <a:br>
              <a:rPr lang="bg-BG" sz="1800">
                <a:solidFill>
                  <a:schemeClr val="tx1"/>
                </a:solidFill>
                <a:latin typeface="Courier New" pitchFamily="49" charset="-52"/>
              </a:rPr>
            </a:br>
            <a:r>
              <a:rPr lang="bg-BG" sz="1800">
                <a:solidFill>
                  <a:schemeClr val="tx1"/>
                </a:solidFill>
                <a:latin typeface="Courier New" pitchFamily="49" charset="-52"/>
              </a:rPr>
              <a:t>      ins_r(a, i+1);</a:t>
            </a:r>
            <a:br>
              <a:rPr lang="bg-BG" sz="1800">
                <a:solidFill>
                  <a:schemeClr val="tx1"/>
                </a:solidFill>
                <a:latin typeface="Courier New" pitchFamily="49" charset="-52"/>
              </a:rPr>
            </a:br>
            <a:r>
              <a:rPr lang="bg-BG" sz="1800">
                <a:solidFill>
                  <a:schemeClr val="tx1"/>
                </a:solidFill>
                <a:latin typeface="Courier New" pitchFamily="49" charset="-52"/>
              </a:rPr>
              <a:t>}</a:t>
            </a:r>
            <a:r>
              <a:rPr lang="bg-BG" sz="1800">
                <a:solidFill>
                  <a:schemeClr val="tx1"/>
                </a:solidFill>
                <a:latin typeface="Arial" charset="0"/>
              </a:rPr>
              <a:t/>
            </a:r>
            <a:br>
              <a:rPr lang="bg-BG" sz="1800">
                <a:solidFill>
                  <a:schemeClr val="tx1"/>
                </a:solidFill>
                <a:latin typeface="Arial" charset="0"/>
              </a:rPr>
            </a:br>
            <a:r>
              <a:rPr lang="bg-BG" sz="2000">
                <a:solidFill>
                  <a:schemeClr val="tx1"/>
                </a:solidFill>
              </a:rPr>
              <a:t>	Методът е устойчив. Ефективен е, когато масивът е частично подреден. Препоръчва се при сравнително малки </a:t>
            </a:r>
            <a:r>
              <a:rPr lang="bg-BG" sz="2000" b="1" i="1">
                <a:solidFill>
                  <a:schemeClr val="tx1"/>
                </a:solidFill>
              </a:rPr>
              <a:t>n</a:t>
            </a:r>
            <a:r>
              <a:rPr lang="bg-BG" sz="2000">
                <a:solidFill>
                  <a:schemeClr val="tx1"/>
                </a:solidFill>
              </a:rPr>
              <a:t>. Сложността на метода се оценява като </a:t>
            </a:r>
            <a:r>
              <a:rPr lang="bg-BG" sz="2000" b="1" i="1">
                <a:solidFill>
                  <a:schemeClr val="tx1"/>
                </a:solidFill>
              </a:rPr>
              <a:t>O(n</a:t>
            </a:r>
            <a:r>
              <a:rPr lang="bg-BG" sz="2000" b="1" i="1" baseline="30000">
                <a:solidFill>
                  <a:schemeClr val="tx1"/>
                </a:solidFill>
              </a:rPr>
              <a:t>2</a:t>
            </a:r>
            <a:r>
              <a:rPr lang="bg-BG" sz="2000" b="1" i="1">
                <a:solidFill>
                  <a:schemeClr val="tx1"/>
                </a:solidFill>
              </a:rPr>
              <a:t>)</a:t>
            </a:r>
            <a:r>
              <a:rPr lang="bg-BG" sz="2000" i="1">
                <a:solidFill>
                  <a:schemeClr val="tx1"/>
                </a:solidFill>
              </a:rPr>
              <a:t>.</a:t>
            </a:r>
            <a:r>
              <a:rPr lang="en-AU" sz="900">
                <a:solidFill>
                  <a:schemeClr val="tx1"/>
                </a:solidFill>
                <a:latin typeface="Courier New" pitchFamily="49" charset="-52"/>
              </a:rPr>
              <a:t> </a:t>
            </a:r>
            <a:r>
              <a:rPr lang="en-US">
                <a:solidFill>
                  <a:schemeClr val="tx1"/>
                </a:solidFill>
                <a:latin typeface="Courier New" pitchFamily="49" charset="-52"/>
              </a:rPr>
              <a:t/>
            </a:r>
            <a:br>
              <a:rPr lang="en-US">
                <a:solidFill>
                  <a:schemeClr val="tx1"/>
                </a:solidFill>
                <a:latin typeface="Courier New" pitchFamily="49" charset="-52"/>
              </a:rPr>
            </a:br>
            <a:endParaRPr lang="en-US">
              <a:solidFill>
                <a:schemeClr val="tx1"/>
              </a:solidFill>
              <a:latin typeface="Courier New" pitchFamily="49" charset="-52"/>
            </a:endParaRPr>
          </a:p>
        </p:txBody>
      </p:sp>
      <p:graphicFrame>
        <p:nvGraphicFramePr>
          <p:cNvPr id="1026" name="Object 5"/>
          <p:cNvGraphicFramePr>
            <a:graphicFrameLocks noChangeAspect="1"/>
          </p:cNvGraphicFramePr>
          <p:nvPr/>
        </p:nvGraphicFramePr>
        <p:xfrm>
          <a:off x="1473200" y="5651500"/>
          <a:ext cx="9080500" cy="1168400"/>
        </p:xfrm>
        <a:graphic>
          <a:graphicData uri="http://schemas.openxmlformats.org/presentationml/2006/ole">
            <mc:AlternateContent xmlns:mc="http://schemas.openxmlformats.org/markup-compatibility/2006">
              <mc:Choice xmlns:v="urn:schemas-microsoft-com:vml" Requires="v">
                <p:oleObj spid="_x0000_s1029" name="Document" r:id="rId4" imgW="5630460" imgH="726506" progId="Word.Document.8">
                  <p:embed/>
                </p:oleObj>
              </mc:Choice>
              <mc:Fallback>
                <p:oleObj name="Document" r:id="rId4" imgW="5630460" imgH="726506" progId="Word.Document.8">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200" y="5651500"/>
                        <a:ext cx="9080500"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Slide Number Placeholder 5"/>
          <p:cNvSpPr>
            <a:spLocks noGrp="1"/>
          </p:cNvSpPr>
          <p:nvPr>
            <p:ph type="sldNum" sz="quarter" idx="12"/>
          </p:nvPr>
        </p:nvSpPr>
        <p:spPr/>
        <p:txBody>
          <a:bodyPr/>
          <a:lstStyle/>
          <a:p>
            <a:pPr>
              <a:defRPr/>
            </a:pPr>
            <a:fld id="{A860CF37-375D-4CB5-9714-70D3351F7AD6}" type="slidenum">
              <a:rPr lang="en-US"/>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42988" y="609600"/>
            <a:ext cx="8101012" cy="6248400"/>
          </a:xfrm>
        </p:spPr>
        <p:txBody>
          <a:bodyPr/>
          <a:lstStyle/>
          <a:p>
            <a:pPr eaLnBrk="1" fontAlgn="auto" hangingPunct="1">
              <a:spcAft>
                <a:spcPts val="0"/>
              </a:spcAft>
              <a:defRPr/>
            </a:pPr>
            <a:r>
              <a:rPr lang="en-US" sz="2400" i="1">
                <a:solidFill>
                  <a:schemeClr val="tx1"/>
                </a:solidFill>
              </a:rPr>
              <a:t> </a:t>
            </a:r>
            <a:r>
              <a:rPr lang="en-US" sz="2000" i="1">
                <a:solidFill>
                  <a:schemeClr val="tx1"/>
                </a:solidFill>
              </a:rPr>
              <a:t>2. </a:t>
            </a:r>
            <a:r>
              <a:rPr lang="bg-BG" sz="2000" i="1">
                <a:solidFill>
                  <a:schemeClr val="tx1"/>
                </a:solidFill>
              </a:rPr>
              <a:t>Сортиране по метода на Шел (Shell sort)</a:t>
            </a:r>
            <a:br>
              <a:rPr lang="bg-BG" sz="2000" i="1">
                <a:solidFill>
                  <a:schemeClr val="tx1"/>
                </a:solidFill>
              </a:rPr>
            </a:br>
            <a:r>
              <a:rPr lang="bg-BG" sz="800" i="1">
                <a:solidFill>
                  <a:schemeClr val="tx1"/>
                </a:solidFill>
              </a:rPr>
              <a:t/>
            </a:r>
            <a:br>
              <a:rPr lang="bg-BG" sz="800" i="1">
                <a:solidFill>
                  <a:schemeClr val="tx1"/>
                </a:solidFill>
              </a:rPr>
            </a:br>
            <a:r>
              <a:rPr lang="bg-BG" sz="2000">
                <a:solidFill>
                  <a:schemeClr val="tx1"/>
                </a:solidFill>
              </a:rPr>
              <a:t>	Методът е предложен през 1959 г. от Д. Л. Шел и носи името на своя автор. Шел подобрява метода на просто вмъкване чрез групиране на подрежданите елементи, които се намират на разстояние </a:t>
            </a:r>
            <a:r>
              <a:rPr lang="bg-BG" sz="2000" b="1" i="1">
                <a:solidFill>
                  <a:schemeClr val="tx1"/>
                </a:solidFill>
              </a:rPr>
              <a:t>h</a:t>
            </a:r>
            <a:r>
              <a:rPr lang="bg-BG" sz="2000">
                <a:solidFill>
                  <a:schemeClr val="tx1"/>
                </a:solidFill>
              </a:rPr>
              <a:t> един от друг. Всяка такава група се нарича серия и се подрежда отделно. След това стъпката </a:t>
            </a:r>
            <a:r>
              <a:rPr lang="bg-BG" sz="2000" b="1" i="1">
                <a:solidFill>
                  <a:schemeClr val="tx1"/>
                </a:solidFill>
              </a:rPr>
              <a:t>h</a:t>
            </a:r>
            <a:r>
              <a:rPr lang="bg-BG" sz="2000">
                <a:solidFill>
                  <a:schemeClr val="tx1"/>
                </a:solidFill>
              </a:rPr>
              <a:t> се намалява и сортирането се повтаря. Процесът продължава до получаване на </a:t>
            </a:r>
            <a:r>
              <a:rPr lang="bg-BG" sz="2000" b="1" i="1">
                <a:solidFill>
                  <a:schemeClr val="tx1"/>
                </a:solidFill>
              </a:rPr>
              <a:t>h</a:t>
            </a:r>
            <a:r>
              <a:rPr lang="bg-BG" sz="2000">
                <a:solidFill>
                  <a:schemeClr val="tx1"/>
                </a:solidFill>
              </a:rPr>
              <a:t>&lt;1.</a:t>
            </a:r>
            <a:br>
              <a:rPr lang="bg-BG" sz="2000">
                <a:solidFill>
                  <a:schemeClr val="tx1"/>
                </a:solidFill>
              </a:rPr>
            </a:br>
            <a:r>
              <a:rPr lang="bg-BG">
                <a:solidFill>
                  <a:schemeClr val="tx1"/>
                </a:solidFill>
              </a:rPr>
              <a:t/>
            </a:r>
            <a:br>
              <a:rPr lang="bg-BG">
                <a:solidFill>
                  <a:schemeClr val="tx1"/>
                </a:solidFill>
              </a:rPr>
            </a:br>
            <a:r>
              <a:rPr lang="bg-BG">
                <a:solidFill>
                  <a:schemeClr val="tx1"/>
                </a:solidFill>
              </a:rPr>
              <a:t/>
            </a:r>
            <a:br>
              <a:rPr lang="bg-BG">
                <a:solidFill>
                  <a:schemeClr val="tx1"/>
                </a:solidFill>
              </a:rPr>
            </a:br>
            <a:r>
              <a:rPr lang="bg-BG">
                <a:solidFill>
                  <a:schemeClr val="tx1"/>
                </a:solidFill>
              </a:rPr>
              <a:t/>
            </a:r>
            <a:br>
              <a:rPr lang="bg-BG">
                <a:solidFill>
                  <a:schemeClr val="tx1"/>
                </a:solidFill>
              </a:rPr>
            </a:br>
            <a:r>
              <a:rPr lang="bg-BG">
                <a:solidFill>
                  <a:schemeClr val="tx1"/>
                </a:solidFill>
              </a:rPr>
              <a:t/>
            </a:r>
            <a:br>
              <a:rPr lang="bg-BG">
                <a:solidFill>
                  <a:schemeClr val="tx1"/>
                </a:solidFill>
              </a:rPr>
            </a:br>
            <a:r>
              <a:rPr lang="bg-BG" sz="2000">
                <a:solidFill>
                  <a:schemeClr val="tx1"/>
                </a:solidFill>
              </a:rPr>
              <a:t>Препоръчва се началната стъпка да има стойност приблизително </a:t>
            </a:r>
            <a:r>
              <a:rPr lang="bg-BG" sz="2000" b="1" i="1">
                <a:solidFill>
                  <a:schemeClr val="tx1"/>
                </a:solidFill>
              </a:rPr>
              <a:t>n</a:t>
            </a:r>
            <a:r>
              <a:rPr lang="bg-BG" sz="2000" b="1">
                <a:solidFill>
                  <a:schemeClr val="tx1"/>
                </a:solidFill>
              </a:rPr>
              <a:t>/9</a:t>
            </a:r>
            <a:r>
              <a:rPr lang="bg-BG" sz="2000">
                <a:solidFill>
                  <a:schemeClr val="tx1"/>
                </a:solidFill>
              </a:rPr>
              <a:t>. Стъпките образуват следната поредица:  </a:t>
            </a:r>
            <a:r>
              <a:rPr lang="bg-BG" sz="2000" b="1" i="1">
                <a:solidFill>
                  <a:schemeClr val="tx1"/>
                </a:solidFill>
              </a:rPr>
              <a:t>h</a:t>
            </a:r>
            <a:r>
              <a:rPr lang="bg-BG" sz="2000" b="1" i="1" baseline="-25000">
                <a:solidFill>
                  <a:schemeClr val="tx1"/>
                </a:solidFill>
              </a:rPr>
              <a:t>k-1</a:t>
            </a:r>
            <a:r>
              <a:rPr lang="bg-BG" sz="2000" b="1">
                <a:solidFill>
                  <a:schemeClr val="tx1"/>
                </a:solidFill>
              </a:rPr>
              <a:t>=</a:t>
            </a:r>
            <a:r>
              <a:rPr lang="bg-BG" sz="2000" b="1" i="1">
                <a:solidFill>
                  <a:schemeClr val="tx1"/>
                </a:solidFill>
              </a:rPr>
              <a:t>3h</a:t>
            </a:r>
            <a:r>
              <a:rPr lang="bg-BG" sz="2000" b="1" i="1" baseline="-25000">
                <a:solidFill>
                  <a:schemeClr val="tx1"/>
                </a:solidFill>
              </a:rPr>
              <a:t>k</a:t>
            </a:r>
            <a:r>
              <a:rPr lang="bg-BG" sz="2000" b="1">
                <a:solidFill>
                  <a:schemeClr val="tx1"/>
                </a:solidFill>
              </a:rPr>
              <a:t>+1 </a:t>
            </a:r>
            <a:r>
              <a:rPr lang="bg-BG" sz="2000">
                <a:solidFill>
                  <a:schemeClr val="tx1"/>
                </a:solidFill>
              </a:rPr>
              <a:t/>
            </a:r>
            <a:br>
              <a:rPr lang="bg-BG" sz="2000">
                <a:solidFill>
                  <a:schemeClr val="tx1"/>
                </a:solidFill>
              </a:rPr>
            </a:br>
            <a:r>
              <a:rPr lang="bg-BG" sz="2000" i="1">
                <a:solidFill>
                  <a:schemeClr val="tx1"/>
                </a:solidFill>
              </a:rPr>
              <a:t>D.Knuth</a:t>
            </a:r>
            <a:r>
              <a:rPr lang="bg-BG" sz="2000">
                <a:solidFill>
                  <a:schemeClr val="tx1"/>
                </a:solidFill>
              </a:rPr>
              <a:t> препоръчва: </a:t>
            </a:r>
            <a:r>
              <a:rPr lang="bg-BG" sz="2000">
                <a:solidFill>
                  <a:schemeClr val="tx1"/>
                </a:solidFill>
                <a:latin typeface="Arial" pitchFamily="34" charset="0"/>
                <a:cs typeface="Arial" pitchFamily="34" charset="0"/>
              </a:rPr>
              <a:t>1  4  13  40  121  364  1093  3280  9841 </a:t>
            </a:r>
            <a:r>
              <a:rPr lang="bg-BG" sz="2000">
                <a:solidFill>
                  <a:schemeClr val="tx1"/>
                </a:solidFill>
              </a:rPr>
              <a:t>и т.н.	</a:t>
            </a:r>
            <a:r>
              <a:rPr lang="en-US" sz="2000">
                <a:solidFill>
                  <a:schemeClr val="tx1"/>
                </a:solidFill>
              </a:rPr>
              <a:t>		</a:t>
            </a:r>
          </a:p>
        </p:txBody>
      </p:sp>
      <p:grpSp>
        <p:nvGrpSpPr>
          <p:cNvPr id="16387" name="Group 3"/>
          <p:cNvGrpSpPr>
            <a:grpSpLocks/>
          </p:cNvGrpSpPr>
          <p:nvPr/>
        </p:nvGrpSpPr>
        <p:grpSpPr bwMode="auto">
          <a:xfrm>
            <a:off x="1524000" y="3022600"/>
            <a:ext cx="6400800" cy="2638425"/>
            <a:chOff x="1521" y="4144"/>
            <a:chExt cx="6300" cy="3240"/>
          </a:xfrm>
        </p:grpSpPr>
        <p:sp>
          <p:nvSpPr>
            <p:cNvPr id="16389" name="Text Box 4"/>
            <p:cNvSpPr txBox="1">
              <a:spLocks noChangeArrowheads="1"/>
            </p:cNvSpPr>
            <p:nvPr/>
          </p:nvSpPr>
          <p:spPr bwMode="auto">
            <a:xfrm>
              <a:off x="1521" y="6844"/>
              <a:ext cx="6300" cy="540"/>
            </a:xfrm>
            <a:prstGeom prst="rect">
              <a:avLst/>
            </a:prstGeom>
            <a:noFill/>
            <a:ln w="9525">
              <a:noFill/>
              <a:miter lim="800000"/>
              <a:headEnd/>
              <a:tailEnd/>
            </a:ln>
          </p:spPr>
          <p:txBody>
            <a:bodyPr/>
            <a:lstStyle/>
            <a:p>
              <a:pPr algn="l"/>
              <a:r>
                <a:rPr lang="en-US" sz="2000">
                  <a:latin typeface="Courier New" pitchFamily="49" charset="-52"/>
                </a:rPr>
                <a:t>     2    3   5    7   10   15   17   19</a:t>
              </a:r>
              <a:endParaRPr lang="en-US" sz="1000">
                <a:latin typeface="Courier New" pitchFamily="49" charset="-52"/>
              </a:endParaRPr>
            </a:p>
          </p:txBody>
        </p:sp>
        <p:grpSp>
          <p:nvGrpSpPr>
            <p:cNvPr id="16390" name="Group 5"/>
            <p:cNvGrpSpPr>
              <a:grpSpLocks/>
            </p:cNvGrpSpPr>
            <p:nvPr/>
          </p:nvGrpSpPr>
          <p:grpSpPr bwMode="auto">
            <a:xfrm>
              <a:off x="1521" y="4144"/>
              <a:ext cx="6300" cy="855"/>
              <a:chOff x="1521" y="4144"/>
              <a:chExt cx="6300" cy="855"/>
            </a:xfrm>
          </p:grpSpPr>
          <p:sp>
            <p:nvSpPr>
              <p:cNvPr id="16421" name="Arc 6"/>
              <p:cNvSpPr>
                <a:spLocks/>
              </p:cNvSpPr>
              <p:nvPr/>
            </p:nvSpPr>
            <p:spPr bwMode="auto">
              <a:xfrm flipH="1" flipV="1">
                <a:off x="2502" y="4508"/>
                <a:ext cx="1429" cy="449"/>
              </a:xfrm>
              <a:custGeom>
                <a:avLst/>
                <a:gdLst>
                  <a:gd name="T0" fmla="*/ 0 w 21600"/>
                  <a:gd name="T1" fmla="*/ 0 h 21600"/>
                  <a:gd name="T2" fmla="*/ 95 w 21600"/>
                  <a:gd name="T3" fmla="*/ 9 h 21600"/>
                  <a:gd name="T4" fmla="*/ 0 w 21600"/>
                  <a:gd name="T5" fmla="*/ 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22" name="Arc 7"/>
              <p:cNvSpPr>
                <a:spLocks/>
              </p:cNvSpPr>
              <p:nvPr/>
            </p:nvSpPr>
            <p:spPr bwMode="auto">
              <a:xfrm flipV="1">
                <a:off x="3980" y="4494"/>
                <a:ext cx="1331" cy="463"/>
              </a:xfrm>
              <a:custGeom>
                <a:avLst/>
                <a:gdLst>
                  <a:gd name="T0" fmla="*/ 0 w 21600"/>
                  <a:gd name="T1" fmla="*/ 0 h 21600"/>
                  <a:gd name="T2" fmla="*/ 82 w 21600"/>
                  <a:gd name="T3" fmla="*/ 10 h 21600"/>
                  <a:gd name="T4" fmla="*/ 0 w 21600"/>
                  <a:gd name="T5" fmla="*/ 1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23" name="Arc 8"/>
              <p:cNvSpPr>
                <a:spLocks/>
              </p:cNvSpPr>
              <p:nvPr/>
            </p:nvSpPr>
            <p:spPr bwMode="auto">
              <a:xfrm flipH="1" flipV="1">
                <a:off x="3286" y="4550"/>
                <a:ext cx="1429" cy="449"/>
              </a:xfrm>
              <a:custGeom>
                <a:avLst/>
                <a:gdLst>
                  <a:gd name="T0" fmla="*/ 0 w 21600"/>
                  <a:gd name="T1" fmla="*/ 0 h 21600"/>
                  <a:gd name="T2" fmla="*/ 95 w 21600"/>
                  <a:gd name="T3" fmla="*/ 9 h 21600"/>
                  <a:gd name="T4" fmla="*/ 0 w 21600"/>
                  <a:gd name="T5" fmla="*/ 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24" name="Arc 9"/>
              <p:cNvSpPr>
                <a:spLocks/>
              </p:cNvSpPr>
              <p:nvPr/>
            </p:nvSpPr>
            <p:spPr bwMode="auto">
              <a:xfrm flipH="1" flipV="1">
                <a:off x="4646" y="4550"/>
                <a:ext cx="1429" cy="449"/>
              </a:xfrm>
              <a:custGeom>
                <a:avLst/>
                <a:gdLst>
                  <a:gd name="T0" fmla="*/ 0 w 21600"/>
                  <a:gd name="T1" fmla="*/ 0 h 21600"/>
                  <a:gd name="T2" fmla="*/ 95 w 21600"/>
                  <a:gd name="T3" fmla="*/ 9 h 21600"/>
                  <a:gd name="T4" fmla="*/ 0 w 21600"/>
                  <a:gd name="T5" fmla="*/ 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25" name="Arc 10"/>
              <p:cNvSpPr>
                <a:spLocks/>
              </p:cNvSpPr>
              <p:nvPr/>
            </p:nvSpPr>
            <p:spPr bwMode="auto">
              <a:xfrm flipH="1" flipV="1">
                <a:off x="3910" y="4536"/>
                <a:ext cx="1429" cy="449"/>
              </a:xfrm>
              <a:custGeom>
                <a:avLst/>
                <a:gdLst>
                  <a:gd name="T0" fmla="*/ 0 w 21600"/>
                  <a:gd name="T1" fmla="*/ 0 h 21600"/>
                  <a:gd name="T2" fmla="*/ 95 w 21600"/>
                  <a:gd name="T3" fmla="*/ 9 h 21600"/>
                  <a:gd name="T4" fmla="*/ 0 w 21600"/>
                  <a:gd name="T5" fmla="*/ 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26" name="Arc 11"/>
              <p:cNvSpPr>
                <a:spLocks/>
              </p:cNvSpPr>
              <p:nvPr/>
            </p:nvSpPr>
            <p:spPr bwMode="auto">
              <a:xfrm flipV="1">
                <a:off x="6088" y="4536"/>
                <a:ext cx="1331" cy="463"/>
              </a:xfrm>
              <a:custGeom>
                <a:avLst/>
                <a:gdLst>
                  <a:gd name="T0" fmla="*/ 0 w 21600"/>
                  <a:gd name="T1" fmla="*/ 0 h 21600"/>
                  <a:gd name="T2" fmla="*/ 82 w 21600"/>
                  <a:gd name="T3" fmla="*/ 10 h 21600"/>
                  <a:gd name="T4" fmla="*/ 0 w 21600"/>
                  <a:gd name="T5" fmla="*/ 1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27" name="Arc 12"/>
              <p:cNvSpPr>
                <a:spLocks/>
              </p:cNvSpPr>
              <p:nvPr/>
            </p:nvSpPr>
            <p:spPr bwMode="auto">
              <a:xfrm flipV="1">
                <a:off x="5356" y="4518"/>
                <a:ext cx="1331" cy="463"/>
              </a:xfrm>
              <a:custGeom>
                <a:avLst/>
                <a:gdLst>
                  <a:gd name="T0" fmla="*/ 0 w 21600"/>
                  <a:gd name="T1" fmla="*/ 0 h 21600"/>
                  <a:gd name="T2" fmla="*/ 82 w 21600"/>
                  <a:gd name="T3" fmla="*/ 10 h 21600"/>
                  <a:gd name="T4" fmla="*/ 0 w 21600"/>
                  <a:gd name="T5" fmla="*/ 1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28" name="Arc 13"/>
              <p:cNvSpPr>
                <a:spLocks/>
              </p:cNvSpPr>
              <p:nvPr/>
            </p:nvSpPr>
            <p:spPr bwMode="auto">
              <a:xfrm flipV="1">
                <a:off x="4728" y="4536"/>
                <a:ext cx="1331" cy="463"/>
              </a:xfrm>
              <a:custGeom>
                <a:avLst/>
                <a:gdLst>
                  <a:gd name="T0" fmla="*/ 0 w 21600"/>
                  <a:gd name="T1" fmla="*/ 0 h 21600"/>
                  <a:gd name="T2" fmla="*/ 82 w 21600"/>
                  <a:gd name="T3" fmla="*/ 10 h 21600"/>
                  <a:gd name="T4" fmla="*/ 0 w 21600"/>
                  <a:gd name="T5" fmla="*/ 1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29" name="Text Box 14"/>
              <p:cNvSpPr txBox="1">
                <a:spLocks noChangeArrowheads="1"/>
              </p:cNvSpPr>
              <p:nvPr/>
            </p:nvSpPr>
            <p:spPr bwMode="auto">
              <a:xfrm>
                <a:off x="1521" y="4144"/>
                <a:ext cx="6300" cy="540"/>
              </a:xfrm>
              <a:prstGeom prst="rect">
                <a:avLst/>
              </a:prstGeom>
              <a:noFill/>
              <a:ln w="9525">
                <a:noFill/>
                <a:miter lim="800000"/>
                <a:headEnd/>
                <a:tailEnd/>
              </a:ln>
            </p:spPr>
            <p:txBody>
              <a:bodyPr/>
              <a:lstStyle/>
              <a:p>
                <a:pPr algn="l"/>
                <a:r>
                  <a:rPr lang="en-US" sz="2000">
                    <a:latin typeface="Courier New" pitchFamily="49" charset="-52"/>
                  </a:rPr>
                  <a:t>h=4  15   10  3    7    5   17  19    2</a:t>
                </a:r>
              </a:p>
            </p:txBody>
          </p:sp>
        </p:grpSp>
        <p:grpSp>
          <p:nvGrpSpPr>
            <p:cNvPr id="16391" name="Group 15"/>
            <p:cNvGrpSpPr>
              <a:grpSpLocks/>
            </p:cNvGrpSpPr>
            <p:nvPr/>
          </p:nvGrpSpPr>
          <p:grpSpPr bwMode="auto">
            <a:xfrm>
              <a:off x="1521" y="5224"/>
              <a:ext cx="6300" cy="739"/>
              <a:chOff x="1521" y="5224"/>
              <a:chExt cx="6300" cy="739"/>
            </a:xfrm>
          </p:grpSpPr>
          <p:sp>
            <p:nvSpPr>
              <p:cNvPr id="16408" name="Arc 16"/>
              <p:cNvSpPr>
                <a:spLocks/>
              </p:cNvSpPr>
              <p:nvPr/>
            </p:nvSpPr>
            <p:spPr bwMode="auto">
              <a:xfrm flipH="1" flipV="1">
                <a:off x="2440" y="5550"/>
                <a:ext cx="799" cy="379"/>
              </a:xfrm>
              <a:custGeom>
                <a:avLst/>
                <a:gdLst>
                  <a:gd name="T0" fmla="*/ 0 w 21600"/>
                  <a:gd name="T1" fmla="*/ 0 h 21600"/>
                  <a:gd name="T2" fmla="*/ 30 w 21600"/>
                  <a:gd name="T3" fmla="*/ 7 h 21600"/>
                  <a:gd name="T4" fmla="*/ 0 w 21600"/>
                  <a:gd name="T5" fmla="*/ 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09" name="Arc 17"/>
              <p:cNvSpPr>
                <a:spLocks/>
              </p:cNvSpPr>
              <p:nvPr/>
            </p:nvSpPr>
            <p:spPr bwMode="auto">
              <a:xfrm flipV="1">
                <a:off x="3238" y="5510"/>
                <a:ext cx="687" cy="435"/>
              </a:xfrm>
              <a:custGeom>
                <a:avLst/>
                <a:gdLst>
                  <a:gd name="T0" fmla="*/ 0 w 21600"/>
                  <a:gd name="T1" fmla="*/ 0 h 21600"/>
                  <a:gd name="T2" fmla="*/ 22 w 21600"/>
                  <a:gd name="T3" fmla="*/ 9 h 21600"/>
                  <a:gd name="T4" fmla="*/ 0 w 21600"/>
                  <a:gd name="T5" fmla="*/ 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10" name="Arc 18"/>
              <p:cNvSpPr>
                <a:spLocks/>
              </p:cNvSpPr>
              <p:nvPr/>
            </p:nvSpPr>
            <p:spPr bwMode="auto">
              <a:xfrm flipH="1" flipV="1">
                <a:off x="3252" y="5580"/>
                <a:ext cx="799" cy="379"/>
              </a:xfrm>
              <a:custGeom>
                <a:avLst/>
                <a:gdLst>
                  <a:gd name="T0" fmla="*/ 0 w 21600"/>
                  <a:gd name="T1" fmla="*/ 0 h 21600"/>
                  <a:gd name="T2" fmla="*/ 30 w 21600"/>
                  <a:gd name="T3" fmla="*/ 7 h 21600"/>
                  <a:gd name="T4" fmla="*/ 0 w 21600"/>
                  <a:gd name="T5" fmla="*/ 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11" name="Arc 19"/>
              <p:cNvSpPr>
                <a:spLocks/>
              </p:cNvSpPr>
              <p:nvPr/>
            </p:nvSpPr>
            <p:spPr bwMode="auto">
              <a:xfrm flipH="1" flipV="1">
                <a:off x="3938" y="5562"/>
                <a:ext cx="799" cy="379"/>
              </a:xfrm>
              <a:custGeom>
                <a:avLst/>
                <a:gdLst>
                  <a:gd name="T0" fmla="*/ 0 w 21600"/>
                  <a:gd name="T1" fmla="*/ 0 h 21600"/>
                  <a:gd name="T2" fmla="*/ 30 w 21600"/>
                  <a:gd name="T3" fmla="*/ 7 h 21600"/>
                  <a:gd name="T4" fmla="*/ 0 w 21600"/>
                  <a:gd name="T5" fmla="*/ 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12" name="Arc 20"/>
              <p:cNvSpPr>
                <a:spLocks/>
              </p:cNvSpPr>
              <p:nvPr/>
            </p:nvSpPr>
            <p:spPr bwMode="auto">
              <a:xfrm flipH="1" flipV="1">
                <a:off x="4610" y="5566"/>
                <a:ext cx="799" cy="379"/>
              </a:xfrm>
              <a:custGeom>
                <a:avLst/>
                <a:gdLst>
                  <a:gd name="T0" fmla="*/ 0 w 21600"/>
                  <a:gd name="T1" fmla="*/ 0 h 21600"/>
                  <a:gd name="T2" fmla="*/ 30 w 21600"/>
                  <a:gd name="T3" fmla="*/ 7 h 21600"/>
                  <a:gd name="T4" fmla="*/ 0 w 21600"/>
                  <a:gd name="T5" fmla="*/ 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13" name="Arc 21"/>
              <p:cNvSpPr>
                <a:spLocks/>
              </p:cNvSpPr>
              <p:nvPr/>
            </p:nvSpPr>
            <p:spPr bwMode="auto">
              <a:xfrm flipV="1">
                <a:off x="6724" y="5512"/>
                <a:ext cx="771" cy="435"/>
              </a:xfrm>
              <a:custGeom>
                <a:avLst/>
                <a:gdLst>
                  <a:gd name="T0" fmla="*/ 0 w 21600"/>
                  <a:gd name="T1" fmla="*/ 0 h 21600"/>
                  <a:gd name="T2" fmla="*/ 28 w 21600"/>
                  <a:gd name="T3" fmla="*/ 9 h 21600"/>
                  <a:gd name="T4" fmla="*/ 0 w 21600"/>
                  <a:gd name="T5" fmla="*/ 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14" name="Arc 22"/>
              <p:cNvSpPr>
                <a:spLocks/>
              </p:cNvSpPr>
              <p:nvPr/>
            </p:nvSpPr>
            <p:spPr bwMode="auto">
              <a:xfrm flipV="1">
                <a:off x="6108" y="5522"/>
                <a:ext cx="771" cy="435"/>
              </a:xfrm>
              <a:custGeom>
                <a:avLst/>
                <a:gdLst>
                  <a:gd name="T0" fmla="*/ 0 w 21600"/>
                  <a:gd name="T1" fmla="*/ 0 h 21600"/>
                  <a:gd name="T2" fmla="*/ 28 w 21600"/>
                  <a:gd name="T3" fmla="*/ 9 h 21600"/>
                  <a:gd name="T4" fmla="*/ 0 w 21600"/>
                  <a:gd name="T5" fmla="*/ 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15" name="Arc 23"/>
              <p:cNvSpPr>
                <a:spLocks/>
              </p:cNvSpPr>
              <p:nvPr/>
            </p:nvSpPr>
            <p:spPr bwMode="auto">
              <a:xfrm flipV="1">
                <a:off x="5422" y="5510"/>
                <a:ext cx="771" cy="435"/>
              </a:xfrm>
              <a:custGeom>
                <a:avLst/>
                <a:gdLst>
                  <a:gd name="T0" fmla="*/ 0 w 21600"/>
                  <a:gd name="T1" fmla="*/ 0 h 21600"/>
                  <a:gd name="T2" fmla="*/ 28 w 21600"/>
                  <a:gd name="T3" fmla="*/ 9 h 21600"/>
                  <a:gd name="T4" fmla="*/ 0 w 21600"/>
                  <a:gd name="T5" fmla="*/ 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16" name="Arc 24"/>
              <p:cNvSpPr>
                <a:spLocks/>
              </p:cNvSpPr>
              <p:nvPr/>
            </p:nvSpPr>
            <p:spPr bwMode="auto">
              <a:xfrm flipV="1">
                <a:off x="4722" y="5510"/>
                <a:ext cx="771" cy="435"/>
              </a:xfrm>
              <a:custGeom>
                <a:avLst/>
                <a:gdLst>
                  <a:gd name="T0" fmla="*/ 0 w 21600"/>
                  <a:gd name="T1" fmla="*/ 0 h 21600"/>
                  <a:gd name="T2" fmla="*/ 28 w 21600"/>
                  <a:gd name="T3" fmla="*/ 9 h 21600"/>
                  <a:gd name="T4" fmla="*/ 0 w 21600"/>
                  <a:gd name="T5" fmla="*/ 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17" name="Arc 25"/>
              <p:cNvSpPr>
                <a:spLocks/>
              </p:cNvSpPr>
              <p:nvPr/>
            </p:nvSpPr>
            <p:spPr bwMode="auto">
              <a:xfrm flipV="1">
                <a:off x="4022" y="5552"/>
                <a:ext cx="617" cy="407"/>
              </a:xfrm>
              <a:custGeom>
                <a:avLst/>
                <a:gdLst>
                  <a:gd name="T0" fmla="*/ 0 w 21600"/>
                  <a:gd name="T1" fmla="*/ 0 h 21600"/>
                  <a:gd name="T2" fmla="*/ 18 w 21600"/>
                  <a:gd name="T3" fmla="*/ 8 h 21600"/>
                  <a:gd name="T4" fmla="*/ 0 w 21600"/>
                  <a:gd name="T5" fmla="*/ 8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18" name="Arc 26"/>
              <p:cNvSpPr>
                <a:spLocks/>
              </p:cNvSpPr>
              <p:nvPr/>
            </p:nvSpPr>
            <p:spPr bwMode="auto">
              <a:xfrm flipH="1" flipV="1">
                <a:off x="5382" y="5584"/>
                <a:ext cx="799" cy="379"/>
              </a:xfrm>
              <a:custGeom>
                <a:avLst/>
                <a:gdLst>
                  <a:gd name="T0" fmla="*/ 0 w 21600"/>
                  <a:gd name="T1" fmla="*/ 0 h 21600"/>
                  <a:gd name="T2" fmla="*/ 30 w 21600"/>
                  <a:gd name="T3" fmla="*/ 7 h 21600"/>
                  <a:gd name="T4" fmla="*/ 0 w 21600"/>
                  <a:gd name="T5" fmla="*/ 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19" name="Arc 27"/>
              <p:cNvSpPr>
                <a:spLocks/>
              </p:cNvSpPr>
              <p:nvPr/>
            </p:nvSpPr>
            <p:spPr bwMode="auto">
              <a:xfrm flipH="1" flipV="1">
                <a:off x="5988" y="5568"/>
                <a:ext cx="799" cy="379"/>
              </a:xfrm>
              <a:custGeom>
                <a:avLst/>
                <a:gdLst>
                  <a:gd name="T0" fmla="*/ 0 w 21600"/>
                  <a:gd name="T1" fmla="*/ 0 h 21600"/>
                  <a:gd name="T2" fmla="*/ 30 w 21600"/>
                  <a:gd name="T3" fmla="*/ 7 h 21600"/>
                  <a:gd name="T4" fmla="*/ 0 w 21600"/>
                  <a:gd name="T5" fmla="*/ 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20" name="Text Box 28"/>
              <p:cNvSpPr txBox="1">
                <a:spLocks noChangeArrowheads="1"/>
              </p:cNvSpPr>
              <p:nvPr/>
            </p:nvSpPr>
            <p:spPr bwMode="auto">
              <a:xfrm>
                <a:off x="1521" y="5224"/>
                <a:ext cx="6300" cy="540"/>
              </a:xfrm>
              <a:prstGeom prst="rect">
                <a:avLst/>
              </a:prstGeom>
              <a:noFill/>
              <a:ln w="9525">
                <a:noFill/>
                <a:miter lim="800000"/>
                <a:headEnd/>
                <a:tailEnd/>
              </a:ln>
            </p:spPr>
            <p:txBody>
              <a:bodyPr/>
              <a:lstStyle/>
              <a:p>
                <a:pPr algn="l"/>
                <a:r>
                  <a:rPr lang="en-US" sz="2000">
                    <a:latin typeface="Courier New" pitchFamily="49" charset="-52"/>
                  </a:rPr>
                  <a:t>h=2  5   10    3   2    15  17   19    7</a:t>
                </a:r>
              </a:p>
            </p:txBody>
          </p:sp>
        </p:grpSp>
        <p:grpSp>
          <p:nvGrpSpPr>
            <p:cNvPr id="16392" name="Group 29"/>
            <p:cNvGrpSpPr>
              <a:grpSpLocks/>
            </p:cNvGrpSpPr>
            <p:nvPr/>
          </p:nvGrpSpPr>
          <p:grpSpPr bwMode="auto">
            <a:xfrm>
              <a:off x="1521" y="6204"/>
              <a:ext cx="6300" cy="609"/>
              <a:chOff x="1521" y="6204"/>
              <a:chExt cx="6300" cy="609"/>
            </a:xfrm>
          </p:grpSpPr>
          <p:sp>
            <p:nvSpPr>
              <p:cNvPr id="16393" name="Arc 30"/>
              <p:cNvSpPr>
                <a:spLocks/>
              </p:cNvSpPr>
              <p:nvPr/>
            </p:nvSpPr>
            <p:spPr bwMode="auto">
              <a:xfrm flipH="1" flipV="1">
                <a:off x="2468" y="6554"/>
                <a:ext cx="365" cy="225"/>
              </a:xfrm>
              <a:custGeom>
                <a:avLst/>
                <a:gdLst>
                  <a:gd name="T0" fmla="*/ 0 w 21600"/>
                  <a:gd name="T1" fmla="*/ 0 h 21600"/>
                  <a:gd name="T2" fmla="*/ 6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394" name="Arc 31"/>
              <p:cNvSpPr>
                <a:spLocks/>
              </p:cNvSpPr>
              <p:nvPr/>
            </p:nvSpPr>
            <p:spPr bwMode="auto">
              <a:xfrm flipV="1">
                <a:off x="2818" y="6554"/>
                <a:ext cx="351" cy="225"/>
              </a:xfrm>
              <a:custGeom>
                <a:avLst/>
                <a:gdLst>
                  <a:gd name="T0" fmla="*/ 0 w 21600"/>
                  <a:gd name="T1" fmla="*/ 0 h 21600"/>
                  <a:gd name="T2" fmla="*/ 6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395" name="Arc 32"/>
              <p:cNvSpPr>
                <a:spLocks/>
              </p:cNvSpPr>
              <p:nvPr/>
            </p:nvSpPr>
            <p:spPr bwMode="auto">
              <a:xfrm flipH="1" flipV="1">
                <a:off x="3182" y="6568"/>
                <a:ext cx="365" cy="225"/>
              </a:xfrm>
              <a:custGeom>
                <a:avLst/>
                <a:gdLst>
                  <a:gd name="T0" fmla="*/ 0 w 21600"/>
                  <a:gd name="T1" fmla="*/ 0 h 21600"/>
                  <a:gd name="T2" fmla="*/ 6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396" name="Arc 33"/>
              <p:cNvSpPr>
                <a:spLocks/>
              </p:cNvSpPr>
              <p:nvPr/>
            </p:nvSpPr>
            <p:spPr bwMode="auto">
              <a:xfrm flipH="1" flipV="1">
                <a:off x="3910" y="6582"/>
                <a:ext cx="365" cy="225"/>
              </a:xfrm>
              <a:custGeom>
                <a:avLst/>
                <a:gdLst>
                  <a:gd name="T0" fmla="*/ 0 w 21600"/>
                  <a:gd name="T1" fmla="*/ 0 h 21600"/>
                  <a:gd name="T2" fmla="*/ 6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397" name="Arc 34"/>
              <p:cNvSpPr>
                <a:spLocks/>
              </p:cNvSpPr>
              <p:nvPr/>
            </p:nvSpPr>
            <p:spPr bwMode="auto">
              <a:xfrm flipH="1" flipV="1">
                <a:off x="4638" y="6582"/>
                <a:ext cx="365" cy="225"/>
              </a:xfrm>
              <a:custGeom>
                <a:avLst/>
                <a:gdLst>
                  <a:gd name="T0" fmla="*/ 0 w 21600"/>
                  <a:gd name="T1" fmla="*/ 0 h 21600"/>
                  <a:gd name="T2" fmla="*/ 6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398" name="Arc 35"/>
              <p:cNvSpPr>
                <a:spLocks/>
              </p:cNvSpPr>
              <p:nvPr/>
            </p:nvSpPr>
            <p:spPr bwMode="auto">
              <a:xfrm flipH="1" flipV="1">
                <a:off x="5412" y="6568"/>
                <a:ext cx="365" cy="225"/>
              </a:xfrm>
              <a:custGeom>
                <a:avLst/>
                <a:gdLst>
                  <a:gd name="T0" fmla="*/ 0 w 21600"/>
                  <a:gd name="T1" fmla="*/ 0 h 21600"/>
                  <a:gd name="T2" fmla="*/ 6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399" name="Arc 36"/>
              <p:cNvSpPr>
                <a:spLocks/>
              </p:cNvSpPr>
              <p:nvPr/>
            </p:nvSpPr>
            <p:spPr bwMode="auto">
              <a:xfrm flipH="1" flipV="1">
                <a:off x="6122" y="6568"/>
                <a:ext cx="365" cy="225"/>
              </a:xfrm>
              <a:custGeom>
                <a:avLst/>
                <a:gdLst>
                  <a:gd name="T0" fmla="*/ 0 w 21600"/>
                  <a:gd name="T1" fmla="*/ 0 h 21600"/>
                  <a:gd name="T2" fmla="*/ 6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00" name="Arc 37"/>
              <p:cNvSpPr>
                <a:spLocks/>
              </p:cNvSpPr>
              <p:nvPr/>
            </p:nvSpPr>
            <p:spPr bwMode="auto">
              <a:xfrm flipH="1" flipV="1">
                <a:off x="6878" y="6582"/>
                <a:ext cx="365" cy="225"/>
              </a:xfrm>
              <a:custGeom>
                <a:avLst/>
                <a:gdLst>
                  <a:gd name="T0" fmla="*/ 0 w 21600"/>
                  <a:gd name="T1" fmla="*/ 0 h 21600"/>
                  <a:gd name="T2" fmla="*/ 6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01" name="Arc 38"/>
              <p:cNvSpPr>
                <a:spLocks/>
              </p:cNvSpPr>
              <p:nvPr/>
            </p:nvSpPr>
            <p:spPr bwMode="auto">
              <a:xfrm flipV="1">
                <a:off x="3546" y="6568"/>
                <a:ext cx="351" cy="225"/>
              </a:xfrm>
              <a:custGeom>
                <a:avLst/>
                <a:gdLst>
                  <a:gd name="T0" fmla="*/ 0 w 21600"/>
                  <a:gd name="T1" fmla="*/ 0 h 21600"/>
                  <a:gd name="T2" fmla="*/ 6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02" name="Arc 39"/>
              <p:cNvSpPr>
                <a:spLocks/>
              </p:cNvSpPr>
              <p:nvPr/>
            </p:nvSpPr>
            <p:spPr bwMode="auto">
              <a:xfrm flipV="1">
                <a:off x="4274" y="6588"/>
                <a:ext cx="351" cy="225"/>
              </a:xfrm>
              <a:custGeom>
                <a:avLst/>
                <a:gdLst>
                  <a:gd name="T0" fmla="*/ 0 w 21600"/>
                  <a:gd name="T1" fmla="*/ 0 h 21600"/>
                  <a:gd name="T2" fmla="*/ 6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03" name="Arc 40"/>
              <p:cNvSpPr>
                <a:spLocks/>
              </p:cNvSpPr>
              <p:nvPr/>
            </p:nvSpPr>
            <p:spPr bwMode="auto">
              <a:xfrm flipV="1">
                <a:off x="5024" y="6582"/>
                <a:ext cx="351" cy="225"/>
              </a:xfrm>
              <a:custGeom>
                <a:avLst/>
                <a:gdLst>
                  <a:gd name="T0" fmla="*/ 0 w 21600"/>
                  <a:gd name="T1" fmla="*/ 0 h 21600"/>
                  <a:gd name="T2" fmla="*/ 6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04" name="Arc 41"/>
              <p:cNvSpPr>
                <a:spLocks/>
              </p:cNvSpPr>
              <p:nvPr/>
            </p:nvSpPr>
            <p:spPr bwMode="auto">
              <a:xfrm flipV="1">
                <a:off x="5754" y="6568"/>
                <a:ext cx="351" cy="225"/>
              </a:xfrm>
              <a:custGeom>
                <a:avLst/>
                <a:gdLst>
                  <a:gd name="T0" fmla="*/ 0 w 21600"/>
                  <a:gd name="T1" fmla="*/ 0 h 21600"/>
                  <a:gd name="T2" fmla="*/ 6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05" name="Arc 42"/>
              <p:cNvSpPr>
                <a:spLocks/>
              </p:cNvSpPr>
              <p:nvPr/>
            </p:nvSpPr>
            <p:spPr bwMode="auto">
              <a:xfrm flipV="1">
                <a:off x="6486" y="6568"/>
                <a:ext cx="351" cy="225"/>
              </a:xfrm>
              <a:custGeom>
                <a:avLst/>
                <a:gdLst>
                  <a:gd name="T0" fmla="*/ 0 w 21600"/>
                  <a:gd name="T1" fmla="*/ 0 h 21600"/>
                  <a:gd name="T2" fmla="*/ 6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06" name="Arc 43"/>
              <p:cNvSpPr>
                <a:spLocks/>
              </p:cNvSpPr>
              <p:nvPr/>
            </p:nvSpPr>
            <p:spPr bwMode="auto">
              <a:xfrm flipV="1">
                <a:off x="7264" y="6582"/>
                <a:ext cx="351" cy="225"/>
              </a:xfrm>
              <a:custGeom>
                <a:avLst/>
                <a:gdLst>
                  <a:gd name="T0" fmla="*/ 0 w 21600"/>
                  <a:gd name="T1" fmla="*/ 0 h 21600"/>
                  <a:gd name="T2" fmla="*/ 6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p:spPr>
            <p:txBody>
              <a:bodyPr/>
              <a:lstStyle/>
              <a:p>
                <a:endParaRPr lang="bg-BG"/>
              </a:p>
            </p:txBody>
          </p:sp>
          <p:sp>
            <p:nvSpPr>
              <p:cNvPr id="16407" name="Text Box 44"/>
              <p:cNvSpPr txBox="1">
                <a:spLocks noChangeArrowheads="1"/>
              </p:cNvSpPr>
              <p:nvPr/>
            </p:nvSpPr>
            <p:spPr bwMode="auto">
              <a:xfrm>
                <a:off x="1521" y="6204"/>
                <a:ext cx="6300" cy="540"/>
              </a:xfrm>
              <a:prstGeom prst="rect">
                <a:avLst/>
              </a:prstGeom>
              <a:noFill/>
              <a:ln w="9525">
                <a:noFill/>
                <a:miter lim="800000"/>
                <a:headEnd/>
                <a:tailEnd/>
              </a:ln>
            </p:spPr>
            <p:txBody>
              <a:bodyPr/>
              <a:lstStyle/>
              <a:p>
                <a:pPr algn="l"/>
                <a:r>
                  <a:rPr lang="en-US" sz="2000">
                    <a:latin typeface="Courier New" pitchFamily="49" charset="-52"/>
                  </a:rPr>
                  <a:t>h=1  3    2   5    7   15   17   19   17</a:t>
                </a:r>
                <a:endParaRPr lang="en-US" sz="1000">
                  <a:latin typeface="Courier New" pitchFamily="49" charset="-52"/>
                </a:endParaRPr>
              </a:p>
            </p:txBody>
          </p:sp>
        </p:grpSp>
      </p:grpSp>
      <p:sp>
        <p:nvSpPr>
          <p:cNvPr id="47" name="Slide Number Placeholder 46"/>
          <p:cNvSpPr>
            <a:spLocks noGrp="1"/>
          </p:cNvSpPr>
          <p:nvPr>
            <p:ph type="sldNum" sz="quarter" idx="12"/>
          </p:nvPr>
        </p:nvSpPr>
        <p:spPr/>
        <p:txBody>
          <a:bodyPr/>
          <a:lstStyle/>
          <a:p>
            <a:pPr>
              <a:defRPr/>
            </a:pPr>
            <a:fld id="{9DE169BF-F744-4BA1-AC0E-A8210012EB72}" type="slidenum">
              <a:rPr lang="en-US"/>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116013" y="609600"/>
            <a:ext cx="8027987" cy="6019800"/>
          </a:xfrm>
        </p:spPr>
        <p:txBody>
          <a:bodyPr>
            <a:normAutofit fontScale="90000"/>
          </a:bodyPr>
          <a:lstStyle/>
          <a:p>
            <a:pPr eaLnBrk="1" fontAlgn="auto" hangingPunct="1">
              <a:spcAft>
                <a:spcPts val="0"/>
              </a:spcAft>
              <a:defRPr/>
            </a:pPr>
            <a:r>
              <a:rPr lang="bg-BG" sz="2000" dirty="0">
                <a:solidFill>
                  <a:schemeClr val="tx1"/>
                </a:solidFill>
              </a:rPr>
              <a:t>	</a:t>
            </a:r>
            <a:r>
              <a:rPr lang="bg-BG" sz="2200" dirty="0">
                <a:solidFill>
                  <a:schemeClr val="tx1"/>
                </a:solidFill>
              </a:rPr>
              <a:t>Сортиране по метода на Шел:</a:t>
            </a:r>
            <a:r>
              <a:rPr lang="bg-BG" sz="2000" dirty="0">
                <a:solidFill>
                  <a:schemeClr val="tx1"/>
                </a:solidFill>
              </a:rPr>
              <a:t/>
            </a:r>
            <a:br>
              <a:rPr lang="bg-BG" sz="2000" dirty="0">
                <a:solidFill>
                  <a:schemeClr val="tx1"/>
                </a:solidFill>
              </a:rPr>
            </a:br>
            <a:r>
              <a:rPr lang="bg-BG" sz="2000" dirty="0">
                <a:solidFill>
                  <a:schemeClr val="tx1"/>
                </a:solidFill>
              </a:rPr>
              <a:t/>
            </a:r>
            <a:br>
              <a:rPr lang="bg-BG" sz="2000" dirty="0">
                <a:solidFill>
                  <a:schemeClr val="tx1"/>
                </a:solidFill>
              </a:rPr>
            </a:br>
            <a:r>
              <a:rPr lang="bg-BG" sz="2000" dirty="0" err="1">
                <a:solidFill>
                  <a:schemeClr val="tx1"/>
                </a:solidFill>
                <a:latin typeface="Courier New" pitchFamily="49" charset="-52"/>
              </a:rPr>
              <a:t>void</a:t>
            </a:r>
            <a:r>
              <a:rPr lang="bg-BG" sz="2000" dirty="0">
                <a:solidFill>
                  <a:schemeClr val="tx1"/>
                </a:solidFill>
                <a:latin typeface="Courier New" pitchFamily="49" charset="-52"/>
              </a:rPr>
              <a:t> </a:t>
            </a:r>
            <a:r>
              <a:rPr lang="bg-BG" sz="2000" dirty="0" err="1">
                <a:solidFill>
                  <a:schemeClr val="tx1"/>
                </a:solidFill>
                <a:latin typeface="Courier New" pitchFamily="49" charset="-52"/>
              </a:rPr>
              <a:t>shellsort</a:t>
            </a:r>
            <a:r>
              <a:rPr lang="bg-BG" sz="2000" dirty="0">
                <a:solidFill>
                  <a:schemeClr val="tx1"/>
                </a:solidFill>
                <a:latin typeface="Courier New" pitchFamily="49" charset="-52"/>
              </a:rPr>
              <a:t>(</a:t>
            </a:r>
            <a:r>
              <a:rPr lang="bg-BG" sz="2000" dirty="0" err="1">
                <a:solidFill>
                  <a:schemeClr val="tx1"/>
                </a:solidFill>
                <a:latin typeface="Courier New" pitchFamily="49" charset="-52"/>
              </a:rPr>
              <a:t>int</a:t>
            </a:r>
            <a:r>
              <a:rPr lang="bg-BG" sz="2000" dirty="0">
                <a:solidFill>
                  <a:schemeClr val="tx1"/>
                </a:solidFill>
                <a:latin typeface="Courier New" pitchFamily="49" charset="-52"/>
              </a:rPr>
              <a:t> a[], </a:t>
            </a:r>
            <a:r>
              <a:rPr lang="bg-BG" sz="2000" dirty="0" err="1">
                <a:solidFill>
                  <a:schemeClr val="tx1"/>
                </a:solidFill>
                <a:latin typeface="Courier New" pitchFamily="49" charset="-52"/>
              </a:rPr>
              <a:t>int</a:t>
            </a:r>
            <a:r>
              <a:rPr lang="bg-BG" sz="2000" dirty="0">
                <a:solidFill>
                  <a:schemeClr val="tx1"/>
                </a:solidFill>
                <a:latin typeface="Courier New" pitchFamily="49" charset="-52"/>
              </a:rPr>
              <a:t> </a:t>
            </a:r>
            <a:r>
              <a:rPr lang="bg-BG" sz="2000" dirty="0" err="1">
                <a:solidFill>
                  <a:schemeClr val="tx1"/>
                </a:solidFill>
                <a:latin typeface="Courier New" pitchFamily="49" charset="-52"/>
              </a:rPr>
              <a:t>left</a:t>
            </a:r>
            <a:r>
              <a:rPr lang="bg-BG" sz="2000" dirty="0">
                <a:solidFill>
                  <a:schemeClr val="tx1"/>
                </a:solidFill>
                <a:latin typeface="Courier New" pitchFamily="49" charset="-52"/>
              </a:rPr>
              <a:t>, </a:t>
            </a:r>
            <a:r>
              <a:rPr lang="bg-BG" sz="2000" dirty="0" err="1">
                <a:solidFill>
                  <a:schemeClr val="tx1"/>
                </a:solidFill>
                <a:latin typeface="Courier New" pitchFamily="49" charset="-52"/>
              </a:rPr>
              <a:t>int</a:t>
            </a:r>
            <a:r>
              <a:rPr lang="bg-BG" sz="2000" dirty="0">
                <a:solidFill>
                  <a:schemeClr val="tx1"/>
                </a:solidFill>
                <a:latin typeface="Courier New" pitchFamily="49" charset="-52"/>
              </a:rPr>
              <a:t> </a:t>
            </a:r>
            <a:r>
              <a:rPr lang="bg-BG" sz="2000" dirty="0" err="1">
                <a:solidFill>
                  <a:schemeClr val="tx1"/>
                </a:solidFill>
                <a:latin typeface="Courier New" pitchFamily="49" charset="-52"/>
              </a:rPr>
              <a:t>right</a:t>
            </a:r>
            <a:r>
              <a:rPr lang="bg-BG" sz="2000" dirty="0">
                <a:solidFill>
                  <a:schemeClr val="tx1"/>
                </a:solidFill>
                <a:latin typeface="Courier New" pitchFamily="49" charset="-52"/>
              </a:rPr>
              <a:t>)</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a:solidFill>
                  <a:schemeClr val="tx1"/>
                </a:solidFill>
                <a:latin typeface="Courier New" pitchFamily="49" charset="-52"/>
              </a:rPr>
              <a:t>left</a:t>
            </a:r>
            <a:r>
              <a:rPr lang="bg-BG" sz="2000" dirty="0">
                <a:solidFill>
                  <a:schemeClr val="tx1"/>
                </a:solidFill>
                <a:latin typeface="Courier New" pitchFamily="49" charset="-52"/>
              </a:rPr>
              <a:t> - най-малкия индекс на масива</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a:solidFill>
                  <a:schemeClr val="tx1"/>
                </a:solidFill>
                <a:latin typeface="Courier New" pitchFamily="49" charset="-52"/>
              </a:rPr>
              <a:t>right</a:t>
            </a:r>
            <a:r>
              <a:rPr lang="bg-BG" sz="2000" dirty="0">
                <a:solidFill>
                  <a:schemeClr val="tx1"/>
                </a:solidFill>
                <a:latin typeface="Courier New" pitchFamily="49" charset="-52"/>
              </a:rPr>
              <a:t> - най-големия индекс на масива</a:t>
            </a:r>
            <a:br>
              <a:rPr lang="bg-BG" sz="2000" dirty="0">
                <a:solidFill>
                  <a:schemeClr val="tx1"/>
                </a:solidFill>
                <a:latin typeface="Courier New" pitchFamily="49" charset="-52"/>
              </a:rPr>
            </a:br>
            <a:r>
              <a:rPr lang="bg-BG" sz="2000" dirty="0">
                <a:solidFill>
                  <a:schemeClr val="tx1"/>
                </a:solidFill>
                <a:latin typeface="Courier New" pitchFamily="49" charset="-52"/>
              </a:rPr>
              <a:t>{	</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a:solidFill>
                  <a:schemeClr val="tx1"/>
                </a:solidFill>
                <a:latin typeface="Courier New" pitchFamily="49" charset="-52"/>
              </a:rPr>
              <a:t>int</a:t>
            </a:r>
            <a:r>
              <a:rPr lang="bg-BG" sz="2000" dirty="0">
                <a:solidFill>
                  <a:schemeClr val="tx1"/>
                </a:solidFill>
                <a:latin typeface="Courier New" pitchFamily="49" charset="-52"/>
              </a:rPr>
              <a:t> h;     //стъпка	</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a:solidFill>
                  <a:schemeClr val="tx1"/>
                </a:solidFill>
                <a:latin typeface="Courier New" pitchFamily="49" charset="-52"/>
              </a:rPr>
              <a:t>for</a:t>
            </a:r>
            <a:r>
              <a:rPr lang="bg-BG" sz="2000" dirty="0">
                <a:solidFill>
                  <a:schemeClr val="tx1"/>
                </a:solidFill>
                <a:latin typeface="Courier New" pitchFamily="49" charset="-52"/>
              </a:rPr>
              <a:t> (h=1; h&lt;=(</a:t>
            </a:r>
            <a:r>
              <a:rPr lang="bg-BG" sz="2000" dirty="0" err="1">
                <a:solidFill>
                  <a:schemeClr val="tx1"/>
                </a:solidFill>
                <a:latin typeface="Courier New" pitchFamily="49" charset="-52"/>
              </a:rPr>
              <a:t>right-left</a:t>
            </a:r>
            <a:r>
              <a:rPr lang="bg-BG" sz="2000" dirty="0">
                <a:solidFill>
                  <a:schemeClr val="tx1"/>
                </a:solidFill>
                <a:latin typeface="Courier New" pitchFamily="49" charset="-52"/>
              </a:rPr>
              <a:t>)/9; h=3*h+1)//</a:t>
            </a:r>
            <a:r>
              <a:rPr lang="bg-BG" sz="1800" dirty="0">
                <a:solidFill>
                  <a:schemeClr val="tx1"/>
                </a:solidFill>
                <a:latin typeface="Courier New" pitchFamily="49" charset="-52"/>
              </a:rPr>
              <a:t>изчисляване на h</a:t>
            </a:r>
            <a:r>
              <a:rPr lang="bg-BG" sz="2000" dirty="0">
                <a:solidFill>
                  <a:schemeClr val="tx1"/>
                </a:solidFill>
                <a:latin typeface="Courier New" pitchFamily="49" charset="-52"/>
              </a:rPr>
              <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a:solidFill>
                  <a:schemeClr val="tx1"/>
                </a:solidFill>
                <a:latin typeface="Courier New" pitchFamily="49" charset="-52"/>
              </a:rPr>
              <a:t>for</a:t>
            </a:r>
            <a:r>
              <a:rPr lang="bg-BG" sz="2000" dirty="0">
                <a:solidFill>
                  <a:schemeClr val="tx1"/>
                </a:solidFill>
                <a:latin typeface="Courier New" pitchFamily="49" charset="-52"/>
              </a:rPr>
              <a:t>(;h&gt;0;h/=3)     </a:t>
            </a:r>
            <a:r>
              <a:rPr lang="bg-BG" sz="2000" dirty="0" smtClean="0">
                <a:solidFill>
                  <a:schemeClr val="tx1"/>
                </a:solidFill>
                <a:latin typeface="Courier New" pitchFamily="49" charset="-52"/>
              </a:rPr>
              <a:t>//</a:t>
            </a:r>
            <a:r>
              <a:rPr lang="bg-BG" sz="2000" dirty="0">
                <a:solidFill>
                  <a:schemeClr val="tx1"/>
                </a:solidFill>
                <a:latin typeface="Courier New" pitchFamily="49" charset="-52"/>
              </a:rPr>
              <a:t>сортиране по серии със стъпка h</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a:solidFill>
                  <a:schemeClr val="tx1"/>
                </a:solidFill>
                <a:latin typeface="Courier New" pitchFamily="49" charset="-52"/>
              </a:rPr>
              <a:t>for</a:t>
            </a:r>
            <a:r>
              <a:rPr lang="bg-BG" sz="2000" dirty="0">
                <a:solidFill>
                  <a:schemeClr val="tx1"/>
                </a:solidFill>
                <a:latin typeface="Courier New" pitchFamily="49" charset="-52"/>
              </a:rPr>
              <a:t> (</a:t>
            </a:r>
            <a:r>
              <a:rPr lang="bg-BG" sz="2000" dirty="0" err="1">
                <a:solidFill>
                  <a:schemeClr val="tx1"/>
                </a:solidFill>
                <a:latin typeface="Courier New" pitchFamily="49" charset="-52"/>
              </a:rPr>
              <a:t>int</a:t>
            </a:r>
            <a:r>
              <a:rPr lang="bg-BG" sz="2000" dirty="0">
                <a:solidFill>
                  <a:schemeClr val="tx1"/>
                </a:solidFill>
                <a:latin typeface="Courier New" pitchFamily="49" charset="-52"/>
              </a:rPr>
              <a:t> i=</a:t>
            </a:r>
            <a:r>
              <a:rPr lang="bg-BG" sz="2000" dirty="0" err="1">
                <a:solidFill>
                  <a:schemeClr val="tx1"/>
                </a:solidFill>
                <a:latin typeface="Courier New" pitchFamily="49" charset="-52"/>
              </a:rPr>
              <a:t>left+h</a:t>
            </a:r>
            <a:r>
              <a:rPr lang="bg-BG" sz="2000" dirty="0">
                <a:solidFill>
                  <a:schemeClr val="tx1"/>
                </a:solidFill>
                <a:latin typeface="Courier New" pitchFamily="49" charset="-52"/>
              </a:rPr>
              <a:t>; i&lt;=</a:t>
            </a:r>
            <a:r>
              <a:rPr lang="bg-BG" sz="2000" dirty="0" err="1">
                <a:solidFill>
                  <a:schemeClr val="tx1"/>
                </a:solidFill>
                <a:latin typeface="Courier New" pitchFamily="49" charset="-52"/>
              </a:rPr>
              <a:t>right</a:t>
            </a:r>
            <a:r>
              <a:rPr lang="bg-BG" sz="2000" dirty="0">
                <a:solidFill>
                  <a:schemeClr val="tx1"/>
                </a:solidFill>
                <a:latin typeface="Courier New" pitchFamily="49" charset="-52"/>
              </a:rPr>
              <a:t>; </a:t>
            </a:r>
            <a:r>
              <a:rPr lang="bg-BG" sz="2000" dirty="0" err="1">
                <a:solidFill>
                  <a:schemeClr val="tx1"/>
                </a:solidFill>
                <a:latin typeface="Courier New" pitchFamily="49" charset="-52"/>
              </a:rPr>
              <a:t>i++</a:t>
            </a:r>
            <a:r>
              <a:rPr lang="bg-BG" sz="2000" dirty="0">
                <a:solidFill>
                  <a:schemeClr val="tx1"/>
                </a:solidFill>
                <a:latin typeface="Courier New" pitchFamily="49" charset="-52"/>
              </a:rPr>
              <a:t>)</a:t>
            </a:r>
            <a:br>
              <a:rPr lang="bg-BG" sz="2000" dirty="0">
                <a:solidFill>
                  <a:schemeClr val="tx1"/>
                </a:solidFill>
                <a:latin typeface="Courier New" pitchFamily="49" charset="-52"/>
              </a:rPr>
            </a:br>
            <a:r>
              <a:rPr lang="bg-BG" sz="2000" dirty="0">
                <a:solidFill>
                  <a:schemeClr val="tx1"/>
                </a:solidFill>
                <a:latin typeface="Courier New" pitchFamily="49" charset="-52"/>
              </a:rPr>
              <a:t>		{</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a:solidFill>
                  <a:schemeClr val="tx1"/>
                </a:solidFill>
                <a:latin typeface="Courier New" pitchFamily="49" charset="-52"/>
              </a:rPr>
              <a:t>int</a:t>
            </a:r>
            <a:r>
              <a:rPr lang="bg-BG" sz="2000" dirty="0">
                <a:solidFill>
                  <a:schemeClr val="tx1"/>
                </a:solidFill>
                <a:latin typeface="Courier New" pitchFamily="49" charset="-52"/>
              </a:rPr>
              <a:t> j=i; </a:t>
            </a:r>
            <a:r>
              <a:rPr lang="bg-BG" sz="2000" dirty="0" err="1">
                <a:solidFill>
                  <a:schemeClr val="tx1"/>
                </a:solidFill>
                <a:latin typeface="Courier New" pitchFamily="49" charset="-52"/>
              </a:rPr>
              <a:t>int</a:t>
            </a:r>
            <a:r>
              <a:rPr lang="bg-BG" sz="2000" dirty="0">
                <a:solidFill>
                  <a:schemeClr val="tx1"/>
                </a:solidFill>
                <a:latin typeface="Courier New" pitchFamily="49" charset="-52"/>
              </a:rPr>
              <a:t> v=a[i];</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a:solidFill>
                  <a:schemeClr val="tx1"/>
                </a:solidFill>
                <a:latin typeface="Courier New" pitchFamily="49" charset="-52"/>
              </a:rPr>
              <a:t>while</a:t>
            </a:r>
            <a:r>
              <a:rPr lang="bg-BG" sz="2000" dirty="0">
                <a:solidFill>
                  <a:schemeClr val="tx1"/>
                </a:solidFill>
                <a:latin typeface="Courier New" pitchFamily="49" charset="-52"/>
              </a:rPr>
              <a:t> (j&gt;=</a:t>
            </a:r>
            <a:r>
              <a:rPr lang="bg-BG" sz="2000" dirty="0" err="1">
                <a:solidFill>
                  <a:schemeClr val="tx1"/>
                </a:solidFill>
                <a:latin typeface="Courier New" pitchFamily="49" charset="-52"/>
              </a:rPr>
              <a:t>left+h</a:t>
            </a:r>
            <a:r>
              <a:rPr lang="bg-BG" sz="2000" dirty="0">
                <a:solidFill>
                  <a:schemeClr val="tx1"/>
                </a:solidFill>
                <a:latin typeface="Courier New" pitchFamily="49" charset="-52"/>
              </a:rPr>
              <a:t> &amp;&amp; v&lt;a[j-h])</a:t>
            </a:r>
            <a:br>
              <a:rPr lang="bg-BG" sz="2000" dirty="0">
                <a:solidFill>
                  <a:schemeClr val="tx1"/>
                </a:solidFill>
                <a:latin typeface="Courier New" pitchFamily="49" charset="-52"/>
              </a:rPr>
            </a:br>
            <a:r>
              <a:rPr lang="bg-BG" sz="2000" dirty="0">
                <a:solidFill>
                  <a:schemeClr val="tx1"/>
                </a:solidFill>
                <a:latin typeface="Courier New" pitchFamily="49" charset="-52"/>
              </a:rPr>
              <a:t>		    {a[j]=a[j-h];j-=h;}</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en-US" sz="2000" dirty="0" smtClean="0">
                <a:solidFill>
                  <a:schemeClr val="tx1"/>
                </a:solidFill>
                <a:latin typeface="Courier New" pitchFamily="49" charset="-52"/>
              </a:rPr>
              <a:t> </a:t>
            </a:r>
            <a:r>
              <a:rPr lang="bg-BG" sz="2000" dirty="0" smtClean="0">
                <a:solidFill>
                  <a:schemeClr val="tx1"/>
                </a:solidFill>
                <a:latin typeface="Courier New" pitchFamily="49" charset="-52"/>
              </a:rPr>
              <a:t>a[j</a:t>
            </a:r>
            <a:r>
              <a:rPr lang="bg-BG" sz="2000" dirty="0">
                <a:solidFill>
                  <a:schemeClr val="tx1"/>
                </a:solidFill>
                <a:latin typeface="Courier New" pitchFamily="49" charset="-52"/>
              </a:rPr>
              <a:t>]=v;</a:t>
            </a:r>
            <a:br>
              <a:rPr lang="bg-BG" sz="2000" dirty="0">
                <a:solidFill>
                  <a:schemeClr val="tx1"/>
                </a:solidFill>
                <a:latin typeface="Courier New" pitchFamily="49" charset="-52"/>
              </a:rPr>
            </a:br>
            <a:r>
              <a:rPr lang="bg-BG" sz="2000" dirty="0">
                <a:solidFill>
                  <a:schemeClr val="tx1"/>
                </a:solidFill>
                <a:latin typeface="Courier New" pitchFamily="49" charset="-52"/>
              </a:rPr>
              <a:t>		}</a:t>
            </a:r>
            <a:br>
              <a:rPr lang="bg-BG" sz="2000" dirty="0">
                <a:solidFill>
                  <a:schemeClr val="tx1"/>
                </a:solidFill>
                <a:latin typeface="Courier New" pitchFamily="49" charset="-52"/>
              </a:rPr>
            </a:br>
            <a:r>
              <a:rPr lang="bg-BG" sz="2000" dirty="0">
                <a:solidFill>
                  <a:schemeClr val="tx1"/>
                </a:solidFill>
                <a:latin typeface="Courier New" pitchFamily="49" charset="-52"/>
              </a:rPr>
              <a:t>}</a:t>
            </a:r>
            <a:br>
              <a:rPr lang="bg-BG" sz="2000" dirty="0">
                <a:solidFill>
                  <a:schemeClr val="tx1"/>
                </a:solidFill>
                <a:latin typeface="Courier New" pitchFamily="49" charset="-52"/>
              </a:rPr>
            </a:br>
            <a:r>
              <a:rPr lang="bg-BG" sz="2000" dirty="0">
                <a:solidFill>
                  <a:schemeClr val="tx1"/>
                </a:solidFill>
                <a:latin typeface="Courier New" pitchFamily="49" charset="-52"/>
              </a:rPr>
              <a:t/>
            </a:r>
            <a:br>
              <a:rPr lang="bg-BG" sz="2000" dirty="0">
                <a:solidFill>
                  <a:schemeClr val="tx1"/>
                </a:solidFill>
                <a:latin typeface="Courier New" pitchFamily="49" charset="-52"/>
              </a:rPr>
            </a:br>
            <a:r>
              <a:rPr lang="bg-BG" sz="2200" dirty="0">
                <a:solidFill>
                  <a:schemeClr val="tx1"/>
                </a:solidFill>
              </a:rPr>
              <a:t>Методът е неустойчив. Сложността на алгоритъма се оценява като </a:t>
            </a:r>
            <a:r>
              <a:rPr lang="en-US" sz="2200" dirty="0" smtClean="0">
                <a:solidFill>
                  <a:schemeClr val="tx1"/>
                </a:solidFill>
              </a:rPr>
              <a:t/>
            </a:r>
            <a:br>
              <a:rPr lang="en-US" sz="2200" dirty="0" smtClean="0">
                <a:solidFill>
                  <a:schemeClr val="tx1"/>
                </a:solidFill>
              </a:rPr>
            </a:br>
            <a:r>
              <a:rPr lang="bg-BG" sz="2200" b="1" i="1" dirty="0" smtClean="0">
                <a:solidFill>
                  <a:schemeClr val="tx1"/>
                </a:solidFill>
              </a:rPr>
              <a:t>O(n </a:t>
            </a:r>
            <a:r>
              <a:rPr lang="bg-BG" sz="2200" b="1" i="1" dirty="0">
                <a:solidFill>
                  <a:schemeClr val="tx1"/>
                </a:solidFill>
              </a:rPr>
              <a:t>* </a:t>
            </a:r>
            <a:r>
              <a:rPr lang="bg-BG" sz="2200" b="1" i="1" dirty="0" err="1">
                <a:solidFill>
                  <a:schemeClr val="tx1"/>
                </a:solidFill>
              </a:rPr>
              <a:t>Log</a:t>
            </a:r>
            <a:r>
              <a:rPr lang="bg-BG" sz="2200" b="1" i="1" dirty="0">
                <a:solidFill>
                  <a:schemeClr val="tx1"/>
                </a:solidFill>
              </a:rPr>
              <a:t>(n))</a:t>
            </a:r>
            <a:r>
              <a:rPr lang="bg-BG" sz="2200" i="1" dirty="0">
                <a:solidFill>
                  <a:schemeClr val="tx1"/>
                </a:solidFill>
              </a:rPr>
              <a:t>.</a:t>
            </a:r>
            <a:r>
              <a:rPr lang="bg-BG" sz="2200" dirty="0">
                <a:solidFill>
                  <a:schemeClr val="tx1"/>
                </a:solidFill>
              </a:rPr>
              <a:t> Препоръчва се при сравнително големи масиви.</a:t>
            </a:r>
            <a:r>
              <a:rPr lang="bg-BG" dirty="0">
                <a:solidFill>
                  <a:schemeClr val="tx1"/>
                </a:solidFill>
              </a:rPr>
              <a:t/>
            </a:r>
            <a:br>
              <a:rPr lang="bg-BG" dirty="0">
                <a:solidFill>
                  <a:schemeClr val="tx1"/>
                </a:solidFill>
              </a:rPr>
            </a:br>
            <a:endParaRPr lang="bg-BG" dirty="0">
              <a:solidFill>
                <a:schemeClr val="tx1"/>
              </a:solidFill>
            </a:endParaRPr>
          </a:p>
        </p:txBody>
      </p:sp>
      <p:sp>
        <p:nvSpPr>
          <p:cNvPr id="5" name="Slide Number Placeholder 4"/>
          <p:cNvSpPr>
            <a:spLocks noGrp="1"/>
          </p:cNvSpPr>
          <p:nvPr>
            <p:ph type="sldNum" sz="quarter" idx="12"/>
          </p:nvPr>
        </p:nvSpPr>
        <p:spPr/>
        <p:txBody>
          <a:bodyPr/>
          <a:lstStyle/>
          <a:p>
            <a:pPr>
              <a:defRPr/>
            </a:pPr>
            <a:fld id="{0BF2FEF8-68EB-4C5E-B97E-321B6F52D7EF}" type="slidenum">
              <a:rPr lang="en-US"/>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042988" y="476250"/>
            <a:ext cx="7897812" cy="6096000"/>
          </a:xfrm>
        </p:spPr>
        <p:txBody>
          <a:bodyPr>
            <a:normAutofit fontScale="90000"/>
          </a:bodyPr>
          <a:lstStyle/>
          <a:p>
            <a:pPr eaLnBrk="1" fontAlgn="auto" hangingPunct="1">
              <a:spcAft>
                <a:spcPts val="0"/>
              </a:spcAft>
              <a:defRPr/>
            </a:pPr>
            <a:r>
              <a:rPr lang="bg-BG" sz="2400" b="1" dirty="0">
                <a:solidFill>
                  <a:schemeClr val="tx1"/>
                </a:solidFill>
              </a:rPr>
              <a:t>Сортиране чрез размяна (</a:t>
            </a:r>
            <a:r>
              <a:rPr lang="bg-BG" sz="2400" b="1" i="1" dirty="0">
                <a:solidFill>
                  <a:schemeClr val="tx1"/>
                </a:solidFill>
              </a:rPr>
              <a:t>Exchange </a:t>
            </a:r>
            <a:r>
              <a:rPr lang="bg-BG" sz="2400" b="1" i="1" dirty="0" err="1">
                <a:solidFill>
                  <a:schemeClr val="tx1"/>
                </a:solidFill>
              </a:rPr>
              <a:t>sort</a:t>
            </a:r>
            <a:r>
              <a:rPr lang="bg-BG" sz="2400" b="1" i="1" dirty="0">
                <a:solidFill>
                  <a:schemeClr val="tx1"/>
                </a:solidFill>
              </a:rPr>
              <a:t>)</a:t>
            </a:r>
            <a:r>
              <a:rPr lang="bg-BG" sz="2400" b="1" dirty="0">
                <a:solidFill>
                  <a:schemeClr val="tx1"/>
                </a:solidFill>
              </a:rPr>
              <a:t/>
            </a:r>
            <a:br>
              <a:rPr lang="bg-BG" sz="2400" b="1" dirty="0">
                <a:solidFill>
                  <a:schemeClr val="tx1"/>
                </a:solidFill>
              </a:rPr>
            </a:br>
            <a:r>
              <a:rPr lang="bg-BG" sz="2400" dirty="0">
                <a:solidFill>
                  <a:schemeClr val="tx1"/>
                </a:solidFill>
              </a:rPr>
              <a:t/>
            </a:r>
            <a:br>
              <a:rPr lang="bg-BG" sz="2400" dirty="0">
                <a:solidFill>
                  <a:schemeClr val="tx1"/>
                </a:solidFill>
              </a:rPr>
            </a:br>
            <a:r>
              <a:rPr lang="en-US" sz="2400" dirty="0">
                <a:solidFill>
                  <a:schemeClr val="tx1"/>
                </a:solidFill>
              </a:rPr>
              <a:t>	</a:t>
            </a:r>
            <a:r>
              <a:rPr lang="bg-BG" sz="2000" dirty="0">
                <a:solidFill>
                  <a:schemeClr val="tx1"/>
                </a:solidFill>
              </a:rPr>
              <a:t>Към тази група се отнасят: метод на мехурчето, усъвършенстван метод на мехурчето, бързата сортировка, обменна поразредена сортировка и др.</a:t>
            </a:r>
            <a:br>
              <a:rPr lang="bg-BG" sz="2000" dirty="0">
                <a:solidFill>
                  <a:schemeClr val="tx1"/>
                </a:solidFill>
              </a:rPr>
            </a:br>
            <a:r>
              <a:rPr lang="bg-BG" sz="2000" dirty="0">
                <a:solidFill>
                  <a:schemeClr val="tx1"/>
                </a:solidFill>
              </a:rPr>
              <a:t/>
            </a:r>
            <a:br>
              <a:rPr lang="bg-BG" sz="2000" dirty="0">
                <a:solidFill>
                  <a:schemeClr val="tx1"/>
                </a:solidFill>
              </a:rPr>
            </a:br>
            <a:r>
              <a:rPr lang="bg-BG" sz="2000" i="1" dirty="0">
                <a:solidFill>
                  <a:schemeClr val="tx1"/>
                </a:solidFill>
              </a:rPr>
              <a:t>1. Сортиране чрез пряка размяна или метод на мехурчето (</a:t>
            </a:r>
            <a:r>
              <a:rPr lang="bg-BG" sz="2000" i="1" dirty="0" err="1">
                <a:solidFill>
                  <a:schemeClr val="tx1"/>
                </a:solidFill>
              </a:rPr>
              <a:t>Bubble</a:t>
            </a:r>
            <a:r>
              <a:rPr lang="bg-BG" sz="2000" i="1" dirty="0">
                <a:solidFill>
                  <a:schemeClr val="tx1"/>
                </a:solidFill>
              </a:rPr>
              <a:t> </a:t>
            </a:r>
            <a:r>
              <a:rPr lang="bg-BG" sz="2000" i="1" dirty="0" err="1">
                <a:solidFill>
                  <a:schemeClr val="tx1"/>
                </a:solidFill>
              </a:rPr>
              <a:t>sort</a:t>
            </a:r>
            <a:r>
              <a:rPr lang="bg-BG" sz="2000" i="1" dirty="0">
                <a:solidFill>
                  <a:schemeClr val="tx1"/>
                </a:solidFill>
              </a:rPr>
              <a:t>).</a:t>
            </a:r>
            <a:br>
              <a:rPr lang="bg-BG" sz="2000" i="1" dirty="0">
                <a:solidFill>
                  <a:schemeClr val="tx1"/>
                </a:solidFill>
              </a:rPr>
            </a:br>
            <a:r>
              <a:rPr lang="en-US" sz="2000" i="1" dirty="0">
                <a:solidFill>
                  <a:schemeClr val="tx1"/>
                </a:solidFill>
              </a:rPr>
              <a:t>	</a:t>
            </a:r>
            <a:r>
              <a:rPr lang="bg-BG" sz="2000" dirty="0">
                <a:solidFill>
                  <a:schemeClr val="tx1"/>
                </a:solidFill>
              </a:rPr>
              <a:t>Идеята на метода се състои в следното: сравняват се и при необходимост се разместват всеки два съседни елемента. Названието на метода идва от аналогията с въздушни мехурчета - при последователни преглеждания на масива с данни “по-леките” (с по-малък ключ) елементи постепенно “изплуват” нагоре - в началото на масива.</a:t>
            </a:r>
            <a:br>
              <a:rPr lang="bg-BG" sz="2000" dirty="0">
                <a:solidFill>
                  <a:schemeClr val="tx1"/>
                </a:solidFill>
              </a:rPr>
            </a:br>
            <a:r>
              <a:rPr lang="bg-BG" sz="2000" dirty="0">
                <a:solidFill>
                  <a:schemeClr val="tx1"/>
                </a:solidFill>
              </a:rPr>
              <a:t/>
            </a:r>
            <a:br>
              <a:rPr lang="bg-BG" sz="2000" dirty="0">
                <a:solidFill>
                  <a:schemeClr val="tx1"/>
                </a:solidFill>
              </a:rPr>
            </a:br>
            <a:r>
              <a:rPr lang="bg-BG" sz="2000" dirty="0" err="1">
                <a:solidFill>
                  <a:schemeClr val="tx1"/>
                </a:solidFill>
                <a:latin typeface="Courier New" pitchFamily="49" charset="-52"/>
              </a:rPr>
              <a:t>void</a:t>
            </a:r>
            <a:r>
              <a:rPr lang="bg-BG" sz="2000" dirty="0">
                <a:solidFill>
                  <a:schemeClr val="tx1"/>
                </a:solidFill>
                <a:latin typeface="Courier New" pitchFamily="49" charset="-52"/>
              </a:rPr>
              <a:t> Bubblesort1(</a:t>
            </a:r>
            <a:r>
              <a:rPr lang="bg-BG" sz="2000" dirty="0" err="1">
                <a:solidFill>
                  <a:schemeClr val="tx1"/>
                </a:solidFill>
                <a:latin typeface="Courier New" pitchFamily="49" charset="-52"/>
              </a:rPr>
              <a:t>int</a:t>
            </a:r>
            <a:r>
              <a:rPr lang="bg-BG" sz="2000" dirty="0">
                <a:solidFill>
                  <a:schemeClr val="tx1"/>
                </a:solidFill>
                <a:latin typeface="Courier New" pitchFamily="49" charset="-52"/>
              </a:rPr>
              <a:t> a[], </a:t>
            </a:r>
            <a:r>
              <a:rPr lang="bg-BG" sz="2000" dirty="0" err="1">
                <a:solidFill>
                  <a:schemeClr val="tx1"/>
                </a:solidFill>
                <a:latin typeface="Courier New" pitchFamily="49" charset="-52"/>
              </a:rPr>
              <a:t>int</a:t>
            </a:r>
            <a:r>
              <a:rPr lang="bg-BG" sz="2000" dirty="0">
                <a:solidFill>
                  <a:schemeClr val="tx1"/>
                </a:solidFill>
                <a:latin typeface="Courier New" pitchFamily="49" charset="-52"/>
              </a:rPr>
              <a:t> n)</a:t>
            </a:r>
            <a:br>
              <a:rPr lang="bg-BG" sz="2000" dirty="0">
                <a:solidFill>
                  <a:schemeClr val="tx1"/>
                </a:solidFill>
                <a:latin typeface="Courier New" pitchFamily="49" charset="-52"/>
              </a:rPr>
            </a:br>
            <a:r>
              <a:rPr lang="bg-BG" sz="2000" dirty="0" smtClean="0">
                <a:solidFill>
                  <a:schemeClr val="tx1"/>
                </a:solidFill>
                <a:latin typeface="Courier New" pitchFamily="49" charset="-52"/>
              </a:rPr>
              <a:t>{</a:t>
            </a:r>
            <a:r>
              <a:rPr lang="en-US" sz="2000" dirty="0" smtClean="0">
                <a:solidFill>
                  <a:schemeClr val="tx1"/>
                </a:solidFill>
                <a:latin typeface="Courier New" pitchFamily="49" charset="-52"/>
              </a:rPr>
              <a:t>   </a:t>
            </a:r>
            <a:r>
              <a:rPr lang="bg-BG" sz="2000" dirty="0" err="1" smtClean="0">
                <a:solidFill>
                  <a:schemeClr val="tx1"/>
                </a:solidFill>
                <a:latin typeface="Courier New" pitchFamily="49" charset="-52"/>
              </a:rPr>
              <a:t>int</a:t>
            </a:r>
            <a:r>
              <a:rPr lang="bg-BG" sz="2000" dirty="0" smtClean="0">
                <a:solidFill>
                  <a:schemeClr val="tx1"/>
                </a:solidFill>
                <a:latin typeface="Courier New" pitchFamily="49" charset="-52"/>
              </a:rPr>
              <a:t> </a:t>
            </a:r>
            <a:r>
              <a:rPr lang="bg-BG" sz="2000" dirty="0">
                <a:solidFill>
                  <a:schemeClr val="tx1"/>
                </a:solidFill>
                <a:latin typeface="Courier New" pitchFamily="49" charset="-52"/>
              </a:rPr>
              <a:t>r, i, j; </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a:solidFill>
                  <a:schemeClr val="tx1"/>
                </a:solidFill>
                <a:latin typeface="Courier New" pitchFamily="49" charset="-52"/>
              </a:rPr>
              <a:t>for</a:t>
            </a:r>
            <a:r>
              <a:rPr lang="bg-BG" sz="2000" dirty="0">
                <a:solidFill>
                  <a:schemeClr val="tx1"/>
                </a:solidFill>
                <a:latin typeface="Courier New" pitchFamily="49" charset="-52"/>
              </a:rPr>
              <a:t> (i=0; i&lt;n-1; </a:t>
            </a:r>
            <a:r>
              <a:rPr lang="bg-BG" sz="2000" dirty="0" err="1">
                <a:solidFill>
                  <a:schemeClr val="tx1"/>
                </a:solidFill>
                <a:latin typeface="Courier New" pitchFamily="49" charset="-52"/>
              </a:rPr>
              <a:t>i++</a:t>
            </a:r>
            <a:r>
              <a:rPr lang="bg-BG" sz="2000" dirty="0">
                <a:solidFill>
                  <a:schemeClr val="tx1"/>
                </a:solidFill>
                <a:latin typeface="Courier New" pitchFamily="49" charset="-52"/>
              </a:rPr>
              <a:t>) </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a:solidFill>
                  <a:schemeClr val="tx1"/>
                </a:solidFill>
                <a:latin typeface="Courier New" pitchFamily="49" charset="-52"/>
              </a:rPr>
              <a:t>for</a:t>
            </a:r>
            <a:r>
              <a:rPr lang="bg-BG" sz="2000" dirty="0">
                <a:solidFill>
                  <a:schemeClr val="tx1"/>
                </a:solidFill>
                <a:latin typeface="Courier New" pitchFamily="49" charset="-52"/>
              </a:rPr>
              <a:t> (j=n-1; j&gt;=i; j--)</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a:solidFill>
                  <a:schemeClr val="tx1"/>
                </a:solidFill>
                <a:latin typeface="Courier New" pitchFamily="49" charset="-52"/>
              </a:rPr>
              <a:t>if</a:t>
            </a:r>
            <a:r>
              <a:rPr lang="bg-BG" sz="2000" dirty="0">
                <a:solidFill>
                  <a:schemeClr val="tx1"/>
                </a:solidFill>
                <a:latin typeface="Courier New" pitchFamily="49" charset="-52"/>
              </a:rPr>
              <a:t> (a[j-1]&gt;a[j])</a:t>
            </a:r>
            <a:br>
              <a:rPr lang="bg-BG" sz="2000" dirty="0">
                <a:solidFill>
                  <a:schemeClr val="tx1"/>
                </a:solidFill>
                <a:latin typeface="Courier New" pitchFamily="49" charset="-52"/>
              </a:rPr>
            </a:br>
            <a:r>
              <a:rPr lang="bg-BG" sz="2000" dirty="0">
                <a:solidFill>
                  <a:schemeClr val="tx1"/>
                </a:solidFill>
                <a:latin typeface="Courier New" pitchFamily="49" charset="-52"/>
              </a:rPr>
              <a:t>	 {r=a[j];   a[j]=a[j-1];   a[j-1]=r; }</a:t>
            </a:r>
            <a:br>
              <a:rPr lang="bg-BG" sz="2000" dirty="0">
                <a:solidFill>
                  <a:schemeClr val="tx1"/>
                </a:solidFill>
                <a:latin typeface="Courier New" pitchFamily="49" charset="-52"/>
              </a:rPr>
            </a:br>
            <a:r>
              <a:rPr lang="bg-BG" sz="2000" dirty="0">
                <a:solidFill>
                  <a:schemeClr val="tx1"/>
                </a:solidFill>
                <a:latin typeface="Courier New" pitchFamily="49" charset="-52"/>
              </a:rPr>
              <a:t> }</a:t>
            </a:r>
            <a:br>
              <a:rPr lang="bg-BG" sz="2000" dirty="0">
                <a:solidFill>
                  <a:schemeClr val="tx1"/>
                </a:solidFill>
                <a:latin typeface="Courier New" pitchFamily="49" charset="-52"/>
              </a:rPr>
            </a:br>
            <a:r>
              <a:rPr lang="bg-BG" sz="2000" dirty="0">
                <a:solidFill>
                  <a:schemeClr val="tx2">
                    <a:satMod val="130000"/>
                  </a:schemeClr>
                </a:solidFill>
                <a:latin typeface="Courier New" pitchFamily="49" charset="-52"/>
              </a:rPr>
              <a:t/>
            </a:r>
            <a:br>
              <a:rPr lang="bg-BG" sz="2000" dirty="0">
                <a:solidFill>
                  <a:schemeClr val="tx2">
                    <a:satMod val="130000"/>
                  </a:schemeClr>
                </a:solidFill>
                <a:latin typeface="Courier New" pitchFamily="49" charset="-52"/>
              </a:rPr>
            </a:br>
            <a:endParaRPr lang="bg-BG" sz="2000" dirty="0">
              <a:solidFill>
                <a:schemeClr val="tx2">
                  <a:satMod val="130000"/>
                </a:schemeClr>
              </a:solidFill>
              <a:latin typeface="Courier New" pitchFamily="49" charset="-52"/>
            </a:endParaRPr>
          </a:p>
        </p:txBody>
      </p:sp>
      <p:sp>
        <p:nvSpPr>
          <p:cNvPr id="5" name="Slide Number Placeholder 4"/>
          <p:cNvSpPr>
            <a:spLocks noGrp="1"/>
          </p:cNvSpPr>
          <p:nvPr>
            <p:ph type="sldNum" sz="quarter" idx="12"/>
          </p:nvPr>
        </p:nvSpPr>
        <p:spPr/>
        <p:txBody>
          <a:bodyPr/>
          <a:lstStyle/>
          <a:p>
            <a:pPr>
              <a:defRPr/>
            </a:pPr>
            <a:fld id="{ED5BB2DB-8B4A-45EB-8965-9D0253C8A224}" type="slidenum">
              <a:rPr lang="en-US"/>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052513" y="381000"/>
            <a:ext cx="8027987" cy="6288088"/>
          </a:xfrm>
        </p:spPr>
        <p:txBody>
          <a:bodyPr>
            <a:normAutofit fontScale="90000"/>
          </a:bodyPr>
          <a:lstStyle/>
          <a:p>
            <a:pPr eaLnBrk="1" fontAlgn="auto" hangingPunct="1">
              <a:spcAft>
                <a:spcPts val="0"/>
              </a:spcAft>
              <a:defRPr/>
            </a:pPr>
            <a:r>
              <a:rPr lang="bg-BG" sz="2000" dirty="0">
                <a:solidFill>
                  <a:schemeClr val="tx1"/>
                </a:solidFill>
              </a:rPr>
              <a:t>Сортиране по метода на мехурчето</a:t>
            </a:r>
            <a:br>
              <a:rPr lang="bg-BG" sz="2000" dirty="0">
                <a:solidFill>
                  <a:schemeClr val="tx1"/>
                </a:solidFill>
              </a:rPr>
            </a:br>
            <a:r>
              <a:rPr lang="bg-BG" sz="1000" dirty="0">
                <a:solidFill>
                  <a:schemeClr val="tx1"/>
                </a:solidFill>
              </a:rPr>
              <a:t/>
            </a:r>
            <a:br>
              <a:rPr lang="bg-BG" sz="1000" dirty="0">
                <a:solidFill>
                  <a:schemeClr val="tx1"/>
                </a:solidFill>
              </a:rPr>
            </a:br>
            <a:r>
              <a:rPr lang="bg-BG" sz="2000" dirty="0" err="1">
                <a:solidFill>
                  <a:schemeClr val="tx1"/>
                </a:solidFill>
                <a:latin typeface="Courier New" pitchFamily="49" charset="-52"/>
              </a:rPr>
              <a:t>void</a:t>
            </a:r>
            <a:r>
              <a:rPr lang="bg-BG" sz="2000" dirty="0">
                <a:solidFill>
                  <a:schemeClr val="tx1"/>
                </a:solidFill>
                <a:latin typeface="Courier New" pitchFamily="49" charset="-52"/>
              </a:rPr>
              <a:t> Bubblesort2(</a:t>
            </a:r>
            <a:r>
              <a:rPr lang="bg-BG" sz="2000" dirty="0" err="1">
                <a:solidFill>
                  <a:schemeClr val="tx1"/>
                </a:solidFill>
                <a:latin typeface="Courier New" pitchFamily="49" charset="-52"/>
              </a:rPr>
              <a:t>int</a:t>
            </a:r>
            <a:r>
              <a:rPr lang="bg-BG" sz="2000" dirty="0">
                <a:solidFill>
                  <a:schemeClr val="tx1"/>
                </a:solidFill>
                <a:latin typeface="Courier New" pitchFamily="49" charset="-52"/>
              </a:rPr>
              <a:t> a[], </a:t>
            </a:r>
            <a:r>
              <a:rPr lang="bg-BG" sz="2000" dirty="0" err="1">
                <a:solidFill>
                  <a:schemeClr val="tx1"/>
                </a:solidFill>
                <a:latin typeface="Courier New" pitchFamily="49" charset="-52"/>
              </a:rPr>
              <a:t>int</a:t>
            </a:r>
            <a:r>
              <a:rPr lang="bg-BG" sz="2000" dirty="0">
                <a:solidFill>
                  <a:schemeClr val="tx1"/>
                </a:solidFill>
                <a:latin typeface="Courier New" pitchFamily="49" charset="-52"/>
              </a:rPr>
              <a:t> i)</a:t>
            </a:r>
            <a:br>
              <a:rPr lang="bg-BG" sz="2000" dirty="0">
                <a:solidFill>
                  <a:schemeClr val="tx1"/>
                </a:solidFill>
                <a:latin typeface="Courier New" pitchFamily="49" charset="-52"/>
              </a:rPr>
            </a:br>
            <a:r>
              <a:rPr lang="bg-BG" sz="2000" dirty="0" smtClean="0">
                <a:solidFill>
                  <a:schemeClr val="tx1"/>
                </a:solidFill>
                <a:latin typeface="Courier New" pitchFamily="49" charset="-52"/>
              </a:rPr>
              <a:t>{</a:t>
            </a:r>
            <a:r>
              <a:rPr lang="en-US" sz="2000" dirty="0" smtClean="0">
                <a:solidFill>
                  <a:schemeClr val="tx1"/>
                </a:solidFill>
                <a:latin typeface="Courier New" pitchFamily="49" charset="-52"/>
              </a:rPr>
              <a:t> </a:t>
            </a:r>
            <a:r>
              <a:rPr lang="bg-BG" sz="2000" dirty="0" err="1" smtClean="0">
                <a:solidFill>
                  <a:schemeClr val="tx1"/>
                </a:solidFill>
                <a:latin typeface="Courier New" pitchFamily="49" charset="-52"/>
              </a:rPr>
              <a:t>int</a:t>
            </a:r>
            <a:r>
              <a:rPr lang="bg-BG" sz="2000" dirty="0" smtClean="0">
                <a:solidFill>
                  <a:schemeClr val="tx1"/>
                </a:solidFill>
                <a:latin typeface="Courier New" pitchFamily="49" charset="-52"/>
              </a:rPr>
              <a:t> </a:t>
            </a:r>
            <a:r>
              <a:rPr lang="bg-BG" sz="2000" dirty="0" err="1">
                <a:solidFill>
                  <a:schemeClr val="tx1"/>
                </a:solidFill>
                <a:latin typeface="Courier New" pitchFamily="49" charset="-52"/>
              </a:rPr>
              <a:t>inv</a:t>
            </a:r>
            <a:r>
              <a:rPr lang="bg-BG" sz="2000" dirty="0">
                <a:solidFill>
                  <a:schemeClr val="tx1"/>
                </a:solidFill>
                <a:latin typeface="Courier New" pitchFamily="49" charset="-52"/>
              </a:rPr>
              <a:t>, r; </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a:solidFill>
                  <a:schemeClr val="tx1"/>
                </a:solidFill>
                <a:latin typeface="Courier New" pitchFamily="49" charset="-52"/>
              </a:rPr>
              <a:t>do</a:t>
            </a:r>
            <a:r>
              <a:rPr lang="bg-BG" sz="2000" dirty="0">
                <a:solidFill>
                  <a:schemeClr val="tx1"/>
                </a:solidFill>
                <a:latin typeface="Courier New" pitchFamily="49" charset="-52"/>
              </a:rPr>
              <a:t>   </a:t>
            </a:r>
            <a:br>
              <a:rPr lang="bg-BG" sz="2000" dirty="0">
                <a:solidFill>
                  <a:schemeClr val="tx1"/>
                </a:solidFill>
                <a:latin typeface="Courier New" pitchFamily="49" charset="-52"/>
              </a:rPr>
            </a:br>
            <a:r>
              <a:rPr lang="bg-BG" sz="2000" dirty="0">
                <a:solidFill>
                  <a:schemeClr val="tx1"/>
                </a:solidFill>
                <a:latin typeface="Courier New" pitchFamily="49" charset="-52"/>
              </a:rPr>
              <a:t>  { </a:t>
            </a:r>
            <a:r>
              <a:rPr lang="bg-BG" sz="2000" dirty="0" err="1">
                <a:solidFill>
                  <a:schemeClr val="tx1"/>
                </a:solidFill>
                <a:latin typeface="Courier New" pitchFamily="49" charset="-52"/>
              </a:rPr>
              <a:t>inv</a:t>
            </a:r>
            <a:r>
              <a:rPr lang="bg-BG" sz="2000" dirty="0">
                <a:solidFill>
                  <a:schemeClr val="tx1"/>
                </a:solidFill>
                <a:latin typeface="Courier New" pitchFamily="49" charset="-52"/>
              </a:rPr>
              <a:t>=0</a:t>
            </a:r>
            <a:r>
              <a:rPr lang="bg-BG" sz="2000" dirty="0" smtClean="0">
                <a:solidFill>
                  <a:schemeClr val="tx1"/>
                </a:solidFill>
                <a:latin typeface="Courier New" pitchFamily="49" charset="-52"/>
              </a:rPr>
              <a:t>;</a:t>
            </a:r>
            <a:r>
              <a:rPr lang="en-US" sz="2000" dirty="0" smtClean="0">
                <a:solidFill>
                  <a:schemeClr val="tx1"/>
                </a:solidFill>
                <a:latin typeface="Courier New" pitchFamily="49" charset="-52"/>
              </a:rPr>
              <a:t> </a:t>
            </a:r>
            <a:r>
              <a:rPr lang="bg-BG" sz="2000" dirty="0" smtClean="0">
                <a:solidFill>
                  <a:schemeClr val="tx1"/>
                </a:solidFill>
                <a:latin typeface="Courier New" pitchFamily="49" charset="-52"/>
              </a:rPr>
              <a:t>//</a:t>
            </a:r>
            <a:r>
              <a:rPr lang="bg-BG" sz="2000" dirty="0">
                <a:solidFill>
                  <a:schemeClr val="tx1"/>
                </a:solidFill>
                <a:latin typeface="Courier New" pitchFamily="49" charset="-52"/>
              </a:rPr>
              <a:t>флаг за инверсия или необходимост от размяна</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smtClean="0">
                <a:solidFill>
                  <a:schemeClr val="tx1"/>
                </a:solidFill>
                <a:latin typeface="Courier New" pitchFamily="49" charset="-52"/>
              </a:rPr>
              <a:t>for</a:t>
            </a:r>
            <a:r>
              <a:rPr lang="bg-BG" sz="2000" dirty="0" smtClean="0">
                <a:solidFill>
                  <a:schemeClr val="tx1"/>
                </a:solidFill>
                <a:latin typeface="Courier New" pitchFamily="49" charset="-52"/>
              </a:rPr>
              <a:t> </a:t>
            </a:r>
            <a:r>
              <a:rPr lang="bg-BG" sz="2000" dirty="0">
                <a:solidFill>
                  <a:schemeClr val="tx1"/>
                </a:solidFill>
                <a:latin typeface="Courier New" pitchFamily="49" charset="-52"/>
              </a:rPr>
              <a:t>(</a:t>
            </a:r>
            <a:r>
              <a:rPr lang="bg-BG" sz="2000" dirty="0" err="1">
                <a:solidFill>
                  <a:schemeClr val="tx1"/>
                </a:solidFill>
                <a:latin typeface="Courier New" pitchFamily="49" charset="-52"/>
              </a:rPr>
              <a:t>int</a:t>
            </a:r>
            <a:r>
              <a:rPr lang="bg-BG" sz="2000" dirty="0">
                <a:solidFill>
                  <a:schemeClr val="tx1"/>
                </a:solidFill>
                <a:latin typeface="Courier New" pitchFamily="49" charset="-52"/>
              </a:rPr>
              <a:t> j=0; j&lt;i-1; </a:t>
            </a:r>
            <a:r>
              <a:rPr lang="bg-BG" sz="2000" dirty="0" err="1">
                <a:solidFill>
                  <a:schemeClr val="tx1"/>
                </a:solidFill>
                <a:latin typeface="Courier New" pitchFamily="49" charset="-52"/>
              </a:rPr>
              <a:t>j++</a:t>
            </a:r>
            <a:r>
              <a:rPr lang="bg-BG" sz="2000" dirty="0">
                <a:solidFill>
                  <a:schemeClr val="tx1"/>
                </a:solidFill>
                <a:latin typeface="Courier New" pitchFamily="49" charset="-52"/>
              </a:rPr>
              <a:t>)</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smtClean="0">
                <a:solidFill>
                  <a:schemeClr val="tx1"/>
                </a:solidFill>
                <a:latin typeface="Courier New" pitchFamily="49" charset="-52"/>
              </a:rPr>
              <a:t>if</a:t>
            </a:r>
            <a:r>
              <a:rPr lang="bg-BG" sz="2000" dirty="0" smtClean="0">
                <a:solidFill>
                  <a:schemeClr val="tx1"/>
                </a:solidFill>
                <a:latin typeface="Courier New" pitchFamily="49" charset="-52"/>
              </a:rPr>
              <a:t> </a:t>
            </a:r>
            <a:r>
              <a:rPr lang="bg-BG" sz="2000" dirty="0">
                <a:solidFill>
                  <a:schemeClr val="tx1"/>
                </a:solidFill>
                <a:latin typeface="Courier New" pitchFamily="49" charset="-52"/>
              </a:rPr>
              <a:t>(a[j]&gt;a[j+1])</a:t>
            </a:r>
            <a:br>
              <a:rPr lang="bg-BG" sz="2000" dirty="0">
                <a:solidFill>
                  <a:schemeClr val="tx1"/>
                </a:solidFill>
                <a:latin typeface="Courier New" pitchFamily="49" charset="-52"/>
              </a:rPr>
            </a:br>
            <a:r>
              <a:rPr lang="bg-BG" sz="2000" dirty="0">
                <a:solidFill>
                  <a:schemeClr val="tx1"/>
                </a:solidFill>
                <a:latin typeface="Courier New" pitchFamily="49" charset="-52"/>
              </a:rPr>
              <a:t>	 {</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a:solidFill>
                  <a:schemeClr val="tx1"/>
                </a:solidFill>
                <a:latin typeface="Courier New" pitchFamily="49" charset="-52"/>
              </a:rPr>
              <a:t>inv</a:t>
            </a:r>
            <a:r>
              <a:rPr lang="bg-BG" sz="2000" dirty="0">
                <a:solidFill>
                  <a:schemeClr val="tx1"/>
                </a:solidFill>
                <a:latin typeface="Courier New" pitchFamily="49" charset="-52"/>
              </a:rPr>
              <a:t>=1;</a:t>
            </a:r>
            <a:br>
              <a:rPr lang="bg-BG" sz="2000" dirty="0">
                <a:solidFill>
                  <a:schemeClr val="tx1"/>
                </a:solidFill>
                <a:latin typeface="Courier New" pitchFamily="49" charset="-52"/>
              </a:rPr>
            </a:br>
            <a:r>
              <a:rPr lang="bg-BG" sz="2000" dirty="0">
                <a:solidFill>
                  <a:schemeClr val="tx1"/>
                </a:solidFill>
                <a:latin typeface="Courier New" pitchFamily="49" charset="-52"/>
              </a:rPr>
              <a:t>	   r=a[j];</a:t>
            </a:r>
            <a:br>
              <a:rPr lang="bg-BG" sz="2000" dirty="0">
                <a:solidFill>
                  <a:schemeClr val="tx1"/>
                </a:solidFill>
                <a:latin typeface="Courier New" pitchFamily="49" charset="-52"/>
              </a:rPr>
            </a:br>
            <a:r>
              <a:rPr lang="bg-BG" sz="2000" dirty="0">
                <a:solidFill>
                  <a:schemeClr val="tx1"/>
                </a:solidFill>
                <a:latin typeface="Courier New" pitchFamily="49" charset="-52"/>
              </a:rPr>
              <a:t>	   a[j]=a[j+1];</a:t>
            </a:r>
            <a:br>
              <a:rPr lang="bg-BG" sz="2000" dirty="0">
                <a:solidFill>
                  <a:schemeClr val="tx1"/>
                </a:solidFill>
                <a:latin typeface="Courier New" pitchFamily="49" charset="-52"/>
              </a:rPr>
            </a:br>
            <a:r>
              <a:rPr lang="bg-BG" sz="2000" dirty="0">
                <a:solidFill>
                  <a:schemeClr val="tx1"/>
                </a:solidFill>
                <a:latin typeface="Courier New" pitchFamily="49" charset="-52"/>
              </a:rPr>
              <a:t>	   a[j+1]=r;</a:t>
            </a:r>
            <a:br>
              <a:rPr lang="bg-BG" sz="2000" dirty="0">
                <a:solidFill>
                  <a:schemeClr val="tx1"/>
                </a:solidFill>
                <a:latin typeface="Courier New" pitchFamily="49" charset="-52"/>
              </a:rPr>
            </a:br>
            <a:r>
              <a:rPr lang="bg-BG" sz="2000" dirty="0">
                <a:solidFill>
                  <a:schemeClr val="tx1"/>
                </a:solidFill>
                <a:latin typeface="Courier New" pitchFamily="49" charset="-52"/>
              </a:rPr>
              <a:t>	 }</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smtClean="0">
                <a:solidFill>
                  <a:schemeClr val="tx1"/>
                </a:solidFill>
                <a:latin typeface="Courier New" pitchFamily="49" charset="-52"/>
              </a:rPr>
              <a:t>}</a:t>
            </a:r>
            <a:r>
              <a:rPr lang="bg-BG" sz="2000" dirty="0">
                <a:solidFill>
                  <a:schemeClr val="tx1"/>
                </a:solidFill>
                <a:latin typeface="Courier New" pitchFamily="49" charset="-52"/>
              </a:rPr>
              <a:t/>
            </a:r>
            <a:br>
              <a:rPr lang="bg-BG" sz="2000" dirty="0">
                <a:solidFill>
                  <a:schemeClr val="tx1"/>
                </a:solidFill>
                <a:latin typeface="Courier New" pitchFamily="49" charset="-52"/>
              </a:rPr>
            </a:br>
            <a:r>
              <a:rPr lang="bg-BG" sz="2000" dirty="0">
                <a:solidFill>
                  <a:schemeClr val="tx1"/>
                </a:solidFill>
                <a:latin typeface="Courier New" pitchFamily="49" charset="-52"/>
              </a:rPr>
              <a:t>  </a:t>
            </a:r>
            <a:r>
              <a:rPr lang="bg-BG" sz="2000" dirty="0" err="1" smtClean="0">
                <a:solidFill>
                  <a:schemeClr val="tx1"/>
                </a:solidFill>
                <a:latin typeface="Courier New" pitchFamily="49" charset="-52"/>
              </a:rPr>
              <a:t>while</a:t>
            </a:r>
            <a:r>
              <a:rPr lang="bg-BG" sz="2000" dirty="0" smtClean="0">
                <a:solidFill>
                  <a:schemeClr val="tx1"/>
                </a:solidFill>
                <a:latin typeface="Courier New" pitchFamily="49" charset="-52"/>
              </a:rPr>
              <a:t> </a:t>
            </a:r>
            <a:r>
              <a:rPr lang="bg-BG" sz="2000" dirty="0">
                <a:solidFill>
                  <a:schemeClr val="tx1"/>
                </a:solidFill>
                <a:latin typeface="Courier New" pitchFamily="49" charset="-52"/>
              </a:rPr>
              <a:t>(</a:t>
            </a:r>
            <a:r>
              <a:rPr lang="bg-BG" sz="2000" dirty="0" err="1">
                <a:solidFill>
                  <a:schemeClr val="tx1"/>
                </a:solidFill>
                <a:latin typeface="Courier New" pitchFamily="49" charset="-52"/>
              </a:rPr>
              <a:t>inv</a:t>
            </a:r>
            <a:r>
              <a:rPr lang="bg-BG" sz="2000" dirty="0">
                <a:solidFill>
                  <a:schemeClr val="tx1"/>
                </a:solidFill>
                <a:latin typeface="Courier New" pitchFamily="49" charset="-52"/>
              </a:rPr>
              <a:t>);</a:t>
            </a:r>
            <a:br>
              <a:rPr lang="bg-BG" sz="2000" dirty="0">
                <a:solidFill>
                  <a:schemeClr val="tx1"/>
                </a:solidFill>
                <a:latin typeface="Courier New" pitchFamily="49" charset="-52"/>
              </a:rPr>
            </a:br>
            <a:r>
              <a:rPr lang="bg-BG" sz="2000" dirty="0">
                <a:solidFill>
                  <a:schemeClr val="tx1"/>
                </a:solidFill>
                <a:latin typeface="Courier New" pitchFamily="49" charset="-52"/>
              </a:rPr>
              <a:t>}</a:t>
            </a:r>
            <a:r>
              <a:rPr lang="bg-BG" sz="2000" dirty="0">
                <a:solidFill>
                  <a:schemeClr val="tx2">
                    <a:satMod val="130000"/>
                  </a:schemeClr>
                </a:solidFill>
                <a:latin typeface="Courier New" pitchFamily="49" charset="-52"/>
              </a:rPr>
              <a:t/>
            </a:r>
            <a:br>
              <a:rPr lang="bg-BG" sz="2000" dirty="0">
                <a:solidFill>
                  <a:schemeClr val="tx2">
                    <a:satMod val="130000"/>
                  </a:schemeClr>
                </a:solidFill>
                <a:latin typeface="Courier New" pitchFamily="49" charset="-52"/>
              </a:rPr>
            </a:br>
            <a:r>
              <a:rPr lang="en-US" sz="2000" dirty="0" smtClean="0">
                <a:solidFill>
                  <a:schemeClr val="tx1"/>
                </a:solidFill>
                <a:latin typeface="Courier New" pitchFamily="49" charset="-52"/>
              </a:rPr>
              <a:t>    </a:t>
            </a:r>
            <a:r>
              <a:rPr lang="bg-BG" sz="2000" dirty="0" smtClean="0">
                <a:solidFill>
                  <a:schemeClr val="tx1"/>
                </a:solidFill>
              </a:rPr>
              <a:t>Методът </a:t>
            </a:r>
            <a:r>
              <a:rPr lang="bg-BG" sz="2000" dirty="0">
                <a:solidFill>
                  <a:schemeClr val="tx1"/>
                </a:solidFill>
              </a:rPr>
              <a:t>има сложност </a:t>
            </a:r>
            <a:r>
              <a:rPr lang="bg-BG" sz="2000" b="1" i="1" dirty="0">
                <a:solidFill>
                  <a:schemeClr val="tx1"/>
                </a:solidFill>
              </a:rPr>
              <a:t>O(n</a:t>
            </a:r>
            <a:r>
              <a:rPr lang="bg-BG" sz="2000" b="1" i="1" baseline="30000" dirty="0">
                <a:solidFill>
                  <a:schemeClr val="tx1"/>
                </a:solidFill>
              </a:rPr>
              <a:t>2</a:t>
            </a:r>
            <a:r>
              <a:rPr lang="bg-BG" sz="2000" b="1" i="1" dirty="0">
                <a:solidFill>
                  <a:schemeClr val="tx1"/>
                </a:solidFill>
                <a:latin typeface="Courier New" pitchFamily="49" charset="-52"/>
              </a:rPr>
              <a:t>)</a:t>
            </a:r>
            <a:r>
              <a:rPr lang="bg-BG" sz="2000" b="1" i="1" dirty="0">
                <a:solidFill>
                  <a:schemeClr val="tx1"/>
                </a:solidFill>
              </a:rPr>
              <a:t>.</a:t>
            </a:r>
            <a:r>
              <a:rPr lang="bg-BG" sz="2000" dirty="0">
                <a:solidFill>
                  <a:schemeClr val="tx1"/>
                </a:solidFill>
              </a:rPr>
              <a:t> Препоръчва се при сравнително малки </a:t>
            </a:r>
            <a:r>
              <a:rPr lang="bg-BG" sz="2000" b="1" i="1" dirty="0">
                <a:solidFill>
                  <a:schemeClr val="tx1"/>
                </a:solidFill>
              </a:rPr>
              <a:t>n</a:t>
            </a:r>
            <a:r>
              <a:rPr lang="bg-BG" sz="2000" dirty="0">
                <a:solidFill>
                  <a:schemeClr val="tx1"/>
                </a:solidFill>
              </a:rPr>
              <a:t>. Методът е  подобрен чрез въвеждането на допълнителна логическа променлива, която следи за наличието на инверсии, изискващи размяна на съседните елементи в масива. Ако при поредния преглед не е открита нито една инверсия, </a:t>
            </a:r>
            <a:r>
              <a:rPr lang="bg-BG" sz="2000" dirty="0" smtClean="0">
                <a:solidFill>
                  <a:schemeClr val="tx1"/>
                </a:solidFill>
              </a:rPr>
              <a:t>алгоритмът </a:t>
            </a:r>
            <a:r>
              <a:rPr lang="bg-BG" sz="2000" dirty="0">
                <a:solidFill>
                  <a:schemeClr val="tx1"/>
                </a:solidFill>
              </a:rPr>
              <a:t>завършва своята работа.</a:t>
            </a:r>
            <a:br>
              <a:rPr lang="bg-BG" sz="2000" dirty="0">
                <a:solidFill>
                  <a:schemeClr val="tx1"/>
                </a:solidFill>
              </a:rPr>
            </a:br>
            <a:r>
              <a:rPr lang="en-AU" sz="2000" dirty="0">
                <a:solidFill>
                  <a:schemeClr val="tx1"/>
                </a:solidFill>
              </a:rPr>
              <a:t>	</a:t>
            </a:r>
            <a:endParaRPr lang="en-US" dirty="0">
              <a:solidFill>
                <a:schemeClr val="tx1"/>
              </a:solidFill>
            </a:endParaRPr>
          </a:p>
        </p:txBody>
      </p:sp>
      <p:sp>
        <p:nvSpPr>
          <p:cNvPr id="5" name="Slide Number Placeholder 4"/>
          <p:cNvSpPr>
            <a:spLocks noGrp="1"/>
          </p:cNvSpPr>
          <p:nvPr>
            <p:ph type="sldNum" sz="quarter" idx="12"/>
          </p:nvPr>
        </p:nvSpPr>
        <p:spPr/>
        <p:txBody>
          <a:bodyPr/>
          <a:lstStyle/>
          <a:p>
            <a:pPr>
              <a:defRPr/>
            </a:pPr>
            <a:fld id="{498BD36C-0E12-4546-A830-1EE51F46CF08}" type="slidenum">
              <a:rPr lang="en-US"/>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042988" y="1341438"/>
            <a:ext cx="7921625" cy="6248400"/>
          </a:xfrm>
        </p:spPr>
        <p:txBody>
          <a:bodyPr>
            <a:normAutofit fontScale="90000"/>
          </a:bodyPr>
          <a:lstStyle/>
          <a:p>
            <a:pPr eaLnBrk="1" fontAlgn="auto" hangingPunct="1">
              <a:spcAft>
                <a:spcPts val="0"/>
              </a:spcAft>
              <a:defRPr/>
            </a:pPr>
            <a:r>
              <a:rPr lang="bg-BG" sz="2000" smtClean="0">
                <a:solidFill>
                  <a:schemeClr val="tx1"/>
                </a:solidFill>
              </a:rPr>
              <a:t>Основните </a:t>
            </a:r>
            <a:r>
              <a:rPr lang="bg-BG" sz="2000">
                <a:solidFill>
                  <a:schemeClr val="tx1"/>
                </a:solidFill>
              </a:rPr>
              <a:t>характеристики на сортирането по метода на мехурчето са</a:t>
            </a:r>
            <a:r>
              <a:rPr lang="bg-BG" sz="2000" smtClean="0">
                <a:solidFill>
                  <a:schemeClr val="tx1"/>
                </a:solidFill>
              </a:rPr>
              <a:t>:</a:t>
            </a:r>
            <a:r>
              <a:rPr lang="en-US" sz="2000" smtClean="0">
                <a:solidFill>
                  <a:schemeClr val="tx1"/>
                </a:solidFill>
              </a:rPr>
              <a:t/>
            </a:r>
            <a:br>
              <a:rPr lang="en-US" sz="2000" smtClean="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Методът може да бъде подобрен още веднъж по следния начин: безсмислено е да преглеждаме елементите, за които със сигурност се знае, че са на окончателните си места. Сортирането се извършва в обратна посока: започваме от “дъното” в края на масива и най-тежките елементи потъват към него</a:t>
            </a:r>
            <a:r>
              <a:rPr lang="en-US" sz="2000">
                <a:solidFill>
                  <a:schemeClr val="tx1"/>
                </a:solidFill>
              </a:rPr>
              <a:t>.</a:t>
            </a:r>
            <a:r>
              <a:rPr lang="bg-BG" sz="2000">
                <a:solidFill>
                  <a:schemeClr val="tx1"/>
                </a:solidFill>
              </a:rPr>
              <a:t> В променливата </a:t>
            </a:r>
            <a:r>
              <a:rPr lang="en-US" sz="2000" b="1" i="1">
                <a:solidFill>
                  <a:schemeClr val="tx1"/>
                </a:solidFill>
              </a:rPr>
              <a:t>k</a:t>
            </a:r>
            <a:r>
              <a:rPr lang="bg-BG" sz="2000">
                <a:solidFill>
                  <a:schemeClr val="tx1"/>
                </a:solidFill>
              </a:rPr>
              <a:t> ще съхраняваме максималния индекс, при който е била извършена размяна на предходната итерация. Елементите, разположени вдясно от последната размяна, са на окончателните си места.</a:t>
            </a:r>
            <a:br>
              <a:rPr lang="bg-BG" sz="2000">
                <a:solidFill>
                  <a:schemeClr val="tx1"/>
                </a:solidFill>
              </a:rPr>
            </a:br>
            <a:r>
              <a:rPr lang="bg-BG" sz="2000">
                <a:solidFill>
                  <a:schemeClr val="tx1"/>
                </a:solidFill>
              </a:rPr>
              <a:t/>
            </a:r>
            <a:br>
              <a:rPr lang="bg-BG" sz="2000">
                <a:solidFill>
                  <a:schemeClr val="tx1"/>
                </a:solidFill>
              </a:rPr>
            </a:br>
            <a:r>
              <a:rPr lang="en-US" sz="2000">
                <a:solidFill>
                  <a:schemeClr val="tx1"/>
                </a:solidFill>
                <a:latin typeface="Courier New" pitchFamily="49" charset="-52"/>
              </a:rPr>
              <a:t>void Bubblesort</a:t>
            </a:r>
            <a:r>
              <a:rPr lang="bg-BG" sz="2000">
                <a:solidFill>
                  <a:schemeClr val="tx1"/>
                </a:solidFill>
                <a:latin typeface="Courier New" pitchFamily="49" charset="-52"/>
              </a:rPr>
              <a:t>3</a:t>
            </a:r>
            <a:r>
              <a:rPr lang="en-US" sz="2000">
                <a:solidFill>
                  <a:schemeClr val="tx1"/>
                </a:solidFill>
                <a:latin typeface="Courier New" pitchFamily="49" charset="-52"/>
              </a:rPr>
              <a:t>(int a[], int n)</a:t>
            </a:r>
            <a:br>
              <a:rPr lang="en-US" sz="2000">
                <a:solidFill>
                  <a:schemeClr val="tx1"/>
                </a:solidFill>
                <a:latin typeface="Courier New" pitchFamily="49" charset="-52"/>
              </a:rPr>
            </a:br>
            <a:r>
              <a:rPr lang="en-US" sz="2000">
                <a:solidFill>
                  <a:schemeClr val="tx1"/>
                </a:solidFill>
                <a:latin typeface="Courier New" pitchFamily="49" charset="-52"/>
              </a:rPr>
              <a:t>{int r, i, j, k; </a:t>
            </a:r>
            <a:br>
              <a:rPr lang="en-US" sz="2000">
                <a:solidFill>
                  <a:schemeClr val="tx1"/>
                </a:solidFill>
                <a:latin typeface="Courier New" pitchFamily="49" charset="-52"/>
              </a:rPr>
            </a:br>
            <a:r>
              <a:rPr lang="en-US" sz="2000">
                <a:solidFill>
                  <a:schemeClr val="tx1"/>
                </a:solidFill>
                <a:latin typeface="Courier New" pitchFamily="49" charset="-52"/>
              </a:rPr>
              <a:t> for (i=n; i&gt;0; i=k) </a:t>
            </a:r>
            <a:br>
              <a:rPr lang="en-US" sz="2000">
                <a:solidFill>
                  <a:schemeClr val="tx1"/>
                </a:solidFill>
                <a:latin typeface="Courier New" pitchFamily="49" charset="-52"/>
              </a:rPr>
            </a:br>
            <a:r>
              <a:rPr lang="en-US" sz="2000">
                <a:solidFill>
                  <a:schemeClr val="tx1"/>
                </a:solidFill>
                <a:latin typeface="Courier New" pitchFamily="49" charset="-52"/>
              </a:rPr>
              <a:t> for (k=j=0; j&lt;i; j++)</a:t>
            </a:r>
            <a:br>
              <a:rPr lang="en-US" sz="2000">
                <a:solidFill>
                  <a:schemeClr val="tx1"/>
                </a:solidFill>
                <a:latin typeface="Courier New" pitchFamily="49" charset="-52"/>
              </a:rPr>
            </a:br>
            <a:r>
              <a:rPr lang="en-US" sz="2000">
                <a:solidFill>
                  <a:schemeClr val="tx1"/>
                </a:solidFill>
                <a:latin typeface="Courier New" pitchFamily="49" charset="-52"/>
              </a:rPr>
              <a:t>       if (a[j]&gt;a[j+1])</a:t>
            </a:r>
            <a:br>
              <a:rPr lang="en-US" sz="2000">
                <a:solidFill>
                  <a:schemeClr val="tx1"/>
                </a:solidFill>
                <a:latin typeface="Courier New" pitchFamily="49" charset="-52"/>
              </a:rPr>
            </a:br>
            <a:r>
              <a:rPr lang="en-US" sz="2000">
                <a:solidFill>
                  <a:schemeClr val="tx1"/>
                </a:solidFill>
                <a:latin typeface="Courier New" pitchFamily="49" charset="-52"/>
              </a:rPr>
              <a:t>	 {r=a[j]; a[j]=a[j+1]; a[j+1]=r;</a:t>
            </a:r>
            <a:r>
              <a:rPr lang="bg-BG" sz="2000">
                <a:solidFill>
                  <a:schemeClr val="tx1"/>
                </a:solidFill>
                <a:latin typeface="Courier New" pitchFamily="49" charset="-52"/>
              </a:rPr>
              <a:t/>
            </a:r>
            <a:br>
              <a:rPr lang="bg-BG" sz="2000">
                <a:solidFill>
                  <a:schemeClr val="tx1"/>
                </a:solidFill>
                <a:latin typeface="Courier New" pitchFamily="49" charset="-52"/>
              </a:rPr>
            </a:br>
            <a:r>
              <a:rPr lang="en-US" sz="2000">
                <a:solidFill>
                  <a:schemeClr val="tx1"/>
                </a:solidFill>
                <a:latin typeface="Courier New" pitchFamily="49" charset="-52"/>
              </a:rPr>
              <a:t>         k=j;}                     </a:t>
            </a:r>
            <a:br>
              <a:rPr lang="en-US" sz="2000">
                <a:solidFill>
                  <a:schemeClr val="tx1"/>
                </a:solidFill>
                <a:latin typeface="Courier New" pitchFamily="49" charset="-52"/>
              </a:rPr>
            </a:br>
            <a:r>
              <a:rPr lang="en-US" sz="2000">
                <a:solidFill>
                  <a:schemeClr val="tx1"/>
                </a:solidFill>
                <a:latin typeface="Courier New" pitchFamily="49" charset="-52"/>
              </a:rPr>
              <a:t>}</a:t>
            </a:r>
            <a:r>
              <a:rPr lang="en-US" sz="2000">
                <a:solidFill>
                  <a:schemeClr val="tx2">
                    <a:satMod val="130000"/>
                  </a:schemeClr>
                </a:solidFill>
                <a:latin typeface="Courier New" pitchFamily="49" charset="-52"/>
              </a:rPr>
              <a:t/>
            </a:r>
            <a:br>
              <a:rPr lang="en-US" sz="2000">
                <a:solidFill>
                  <a:schemeClr val="tx2">
                    <a:satMod val="130000"/>
                  </a:schemeClr>
                </a:solidFill>
                <a:latin typeface="Courier New" pitchFamily="49" charset="-52"/>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endParaRPr lang="en-US" sz="2000">
              <a:solidFill>
                <a:schemeClr val="tx2">
                  <a:satMod val="130000"/>
                </a:schemeClr>
              </a:solidFill>
            </a:endParaRPr>
          </a:p>
        </p:txBody>
      </p:sp>
      <p:graphicFrame>
        <p:nvGraphicFramePr>
          <p:cNvPr id="2050" name="Object 3"/>
          <p:cNvGraphicFramePr>
            <a:graphicFrameLocks noChangeAspect="1"/>
          </p:cNvGraphicFramePr>
          <p:nvPr/>
        </p:nvGraphicFramePr>
        <p:xfrm>
          <a:off x="1243013" y="1047750"/>
          <a:ext cx="8513762" cy="1206500"/>
        </p:xfrm>
        <a:graphic>
          <a:graphicData uri="http://schemas.openxmlformats.org/presentationml/2006/ole">
            <mc:AlternateContent xmlns:mc="http://schemas.openxmlformats.org/markup-compatibility/2006">
              <mc:Choice xmlns:v="urn:schemas-microsoft-com:vml" Requires="v">
                <p:oleObj spid="_x0000_s2053" name="Document" r:id="rId4" imgW="5629656" imgH="725424" progId="Word.Document.8">
                  <p:embed/>
                </p:oleObj>
              </mc:Choice>
              <mc:Fallback>
                <p:oleObj name="Document" r:id="rId4" imgW="5629656" imgH="725424" progId="Word.Document.8">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3013" y="1047750"/>
                        <a:ext cx="8513762" cy="120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Slide Number Placeholder 5"/>
          <p:cNvSpPr>
            <a:spLocks noGrp="1"/>
          </p:cNvSpPr>
          <p:nvPr>
            <p:ph type="sldNum" sz="quarter" idx="12"/>
          </p:nvPr>
        </p:nvSpPr>
        <p:spPr/>
        <p:txBody>
          <a:bodyPr/>
          <a:lstStyle/>
          <a:p>
            <a:pPr>
              <a:defRPr/>
            </a:pPr>
            <a:fld id="{B99B34D4-D302-4018-9661-D6F987E3C3C3}" type="slidenum">
              <a:rPr lang="en-US"/>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042988" y="620713"/>
            <a:ext cx="8101012" cy="5715000"/>
          </a:xfrm>
        </p:spPr>
        <p:txBody>
          <a:bodyPr>
            <a:normAutofit fontScale="90000"/>
          </a:bodyPr>
          <a:lstStyle/>
          <a:p>
            <a:pPr eaLnBrk="1" fontAlgn="auto" hangingPunct="1">
              <a:spcAft>
                <a:spcPts val="0"/>
              </a:spcAft>
              <a:defRPr/>
            </a:pPr>
            <a:r>
              <a:rPr lang="en-US" sz="2400" i="1">
                <a:solidFill>
                  <a:schemeClr val="tx1"/>
                </a:solidFill>
              </a:rPr>
              <a:t>2. </a:t>
            </a:r>
            <a:r>
              <a:rPr lang="bg-BG" sz="2400" i="1">
                <a:solidFill>
                  <a:schemeClr val="tx1"/>
                </a:solidFill>
              </a:rPr>
              <a:t>Сортиране чрез клатене</a:t>
            </a: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t>
            </a:r>
            <a:r>
              <a:rPr lang="bg-BG" sz="2400">
                <a:solidFill>
                  <a:schemeClr val="tx1"/>
                </a:solidFill>
              </a:rPr>
              <a:t>Въпреки ниската си ефективност метода на мехурчето дава възможност за редица подобрения. Вече разгледахме две от тях (чрез добавяне на флаг и поддържане на променлива, указваща максималния индекс на размяна от предходната стъпка). </a:t>
            </a:r>
            <a:br>
              <a:rPr lang="bg-BG" sz="2400">
                <a:solidFill>
                  <a:schemeClr val="tx1"/>
                </a:solidFill>
              </a:rPr>
            </a:br>
            <a:r>
              <a:rPr lang="bg-BG" sz="2400">
                <a:solidFill>
                  <a:schemeClr val="tx1"/>
                </a:solidFill>
              </a:rPr>
              <a:t>	Методът има една особеност: отделен лек елемент в края на масива ще изплува нагоре за една-единствена итерация, докато един тежък елемент, разположен близо до повърхността, ще потъва надолу само с една позиция при всяка стъпка на алгоритъма. Ако обърнем посоката на циклите (както  сме направили във втория алгоритъм) ситуацията ще се обърне, но асиметрията ще се запази. Идеята на предлагания подход е посоката на сортиране да се обръща на всяка стъпка. Това е трето подобрение на алгоритъма. Прилагането на трите подобрения едновременно дава нов алгоритъм - </a:t>
            </a:r>
            <a:r>
              <a:rPr lang="bg-BG" sz="2400" i="1">
                <a:solidFill>
                  <a:schemeClr val="tx1"/>
                </a:solidFill>
              </a:rPr>
              <a:t>сортиране чрез клатене</a:t>
            </a:r>
            <a:r>
              <a:rPr lang="bg-BG" sz="2400">
                <a:solidFill>
                  <a:schemeClr val="tx1"/>
                </a:solidFill>
              </a:rPr>
              <a:t>.</a:t>
            </a:r>
            <a:endParaRPr lang="en-US" sz="2400">
              <a:solidFill>
                <a:schemeClr val="tx1"/>
              </a:solidFill>
            </a:endParaRPr>
          </a:p>
        </p:txBody>
      </p:sp>
      <p:sp>
        <p:nvSpPr>
          <p:cNvPr id="5" name="Slide Number Placeholder 4"/>
          <p:cNvSpPr>
            <a:spLocks noGrp="1"/>
          </p:cNvSpPr>
          <p:nvPr>
            <p:ph type="sldNum" sz="quarter" idx="12"/>
          </p:nvPr>
        </p:nvSpPr>
        <p:spPr/>
        <p:txBody>
          <a:bodyPr/>
          <a:lstStyle/>
          <a:p>
            <a:pPr>
              <a:defRPr/>
            </a:pPr>
            <a:fld id="{C1A0E124-0E50-4672-B9E6-7234D3B912E5}" type="slidenum">
              <a:rPr lang="en-US"/>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941388" y="404813"/>
            <a:ext cx="8382000" cy="5943600"/>
          </a:xfrm>
        </p:spPr>
        <p:txBody>
          <a:bodyPr/>
          <a:lstStyle/>
          <a:p>
            <a:pPr eaLnBrk="1" fontAlgn="auto" hangingPunct="1">
              <a:lnSpc>
                <a:spcPct val="110000"/>
              </a:lnSpc>
              <a:spcAft>
                <a:spcPts val="0"/>
              </a:spcAft>
              <a:defRPr/>
            </a:pPr>
            <a:r>
              <a:rPr lang="en-US" sz="2200">
                <a:solidFill>
                  <a:schemeClr val="tx1"/>
                </a:solidFill>
                <a:latin typeface="Courier New" pitchFamily="49" charset="-52"/>
              </a:rPr>
              <a:t>void shakersort (int a[], int n)</a:t>
            </a:r>
            <a:br>
              <a:rPr lang="en-US" sz="2200">
                <a:solidFill>
                  <a:schemeClr val="tx1"/>
                </a:solidFill>
                <a:latin typeface="Courier New" pitchFamily="49" charset="-52"/>
              </a:rPr>
            </a:br>
            <a:r>
              <a:rPr lang="en-US" sz="2200">
                <a:solidFill>
                  <a:schemeClr val="tx1"/>
                </a:solidFill>
                <a:latin typeface="Courier New" pitchFamily="49" charset="-52"/>
              </a:rPr>
              <a:t>{unsigned k=n, R=n-1;</a:t>
            </a:r>
            <a:br>
              <a:rPr lang="en-US" sz="2200">
                <a:solidFill>
                  <a:schemeClr val="tx1"/>
                </a:solidFill>
                <a:latin typeface="Courier New" pitchFamily="49" charset="-52"/>
              </a:rPr>
            </a:br>
            <a:r>
              <a:rPr lang="en-US" sz="2200">
                <a:solidFill>
                  <a:schemeClr val="tx1"/>
                </a:solidFill>
                <a:latin typeface="Courier New" pitchFamily="49" charset="-52"/>
              </a:rPr>
              <a:t> unsigned L=1, j, rab;</a:t>
            </a:r>
            <a:br>
              <a:rPr lang="en-US" sz="2200">
                <a:solidFill>
                  <a:schemeClr val="tx1"/>
                </a:solidFill>
                <a:latin typeface="Courier New" pitchFamily="49" charset="-52"/>
              </a:rPr>
            </a:br>
            <a:r>
              <a:rPr lang="en-US" sz="2200">
                <a:solidFill>
                  <a:schemeClr val="tx1"/>
                </a:solidFill>
                <a:latin typeface="Courier New" pitchFamily="49" charset="-52"/>
              </a:rPr>
              <a:t> do{</a:t>
            </a:r>
            <a:br>
              <a:rPr lang="en-US" sz="2200">
                <a:solidFill>
                  <a:schemeClr val="tx1"/>
                </a:solidFill>
                <a:latin typeface="Courier New" pitchFamily="49" charset="-52"/>
              </a:rPr>
            </a:br>
            <a:r>
              <a:rPr lang="en-US" sz="2200">
                <a:solidFill>
                  <a:schemeClr val="tx1"/>
                </a:solidFill>
                <a:latin typeface="Courier New" pitchFamily="49" charset="-52"/>
              </a:rPr>
              <a:t>    for (j=R; j&gt;=L; j--)</a:t>
            </a:r>
            <a:br>
              <a:rPr lang="en-US" sz="2200">
                <a:solidFill>
                  <a:schemeClr val="tx1"/>
                </a:solidFill>
                <a:latin typeface="Courier New" pitchFamily="49" charset="-52"/>
              </a:rPr>
            </a:br>
            <a:r>
              <a:rPr lang="en-US" sz="2200">
                <a:solidFill>
                  <a:schemeClr val="tx1"/>
                </a:solidFill>
                <a:latin typeface="Courier New" pitchFamily="49" charset="-52"/>
              </a:rPr>
              <a:t>      if (a[j-1]&gt;a[j])</a:t>
            </a:r>
            <a:br>
              <a:rPr lang="en-US" sz="2200">
                <a:solidFill>
                  <a:schemeClr val="tx1"/>
                </a:solidFill>
                <a:latin typeface="Courier New" pitchFamily="49" charset="-52"/>
              </a:rPr>
            </a:br>
            <a:r>
              <a:rPr lang="en-US" sz="2200">
                <a:solidFill>
                  <a:schemeClr val="tx1"/>
                </a:solidFill>
                <a:latin typeface="Courier New" pitchFamily="49" charset="-52"/>
              </a:rPr>
              <a:t>       {rab=a[j]; a[j]=a[j-1]; a[j-1]=rab; k=j;}</a:t>
            </a:r>
            <a:br>
              <a:rPr lang="en-US" sz="2200">
                <a:solidFill>
                  <a:schemeClr val="tx1"/>
                </a:solidFill>
                <a:latin typeface="Courier New" pitchFamily="49" charset="-52"/>
              </a:rPr>
            </a:br>
            <a:r>
              <a:rPr lang="en-US" sz="2200">
                <a:solidFill>
                  <a:schemeClr val="tx1"/>
                </a:solidFill>
                <a:latin typeface="Courier New" pitchFamily="49" charset="-52"/>
              </a:rPr>
              <a:t>    L=k+1;  </a:t>
            </a:r>
            <a:br>
              <a:rPr lang="en-US" sz="2200">
                <a:solidFill>
                  <a:schemeClr val="tx1"/>
                </a:solidFill>
                <a:latin typeface="Courier New" pitchFamily="49" charset="-52"/>
              </a:rPr>
            </a:br>
            <a:r>
              <a:rPr lang="en-US" sz="2200">
                <a:solidFill>
                  <a:schemeClr val="tx1"/>
                </a:solidFill>
                <a:latin typeface="Courier New" pitchFamily="49" charset="-52"/>
              </a:rPr>
              <a:t>    for (j=L; j&lt;=R; j++)</a:t>
            </a:r>
            <a:br>
              <a:rPr lang="en-US" sz="2200">
                <a:solidFill>
                  <a:schemeClr val="tx1"/>
                </a:solidFill>
                <a:latin typeface="Courier New" pitchFamily="49" charset="-52"/>
              </a:rPr>
            </a:br>
            <a:r>
              <a:rPr lang="en-US" sz="2200">
                <a:solidFill>
                  <a:schemeClr val="tx1"/>
                </a:solidFill>
                <a:latin typeface="Courier New" pitchFamily="49" charset="-52"/>
              </a:rPr>
              <a:t>       if (a[j-1]&gt;a[j])</a:t>
            </a:r>
            <a:br>
              <a:rPr lang="en-US" sz="2200">
                <a:solidFill>
                  <a:schemeClr val="tx1"/>
                </a:solidFill>
                <a:latin typeface="Courier New" pitchFamily="49" charset="-52"/>
              </a:rPr>
            </a:br>
            <a:r>
              <a:rPr lang="en-US" sz="2200">
                <a:solidFill>
                  <a:schemeClr val="tx1"/>
                </a:solidFill>
                <a:latin typeface="Courier New" pitchFamily="49" charset="-52"/>
              </a:rPr>
              <a:t>        {rab=a[j]; a[j]=a[j-1]; a[j-1]=rab;k=j;}</a:t>
            </a:r>
            <a:br>
              <a:rPr lang="en-US" sz="2200">
                <a:solidFill>
                  <a:schemeClr val="tx1"/>
                </a:solidFill>
                <a:latin typeface="Courier New" pitchFamily="49" charset="-52"/>
              </a:rPr>
            </a:br>
            <a:r>
              <a:rPr lang="en-US" sz="2200">
                <a:solidFill>
                  <a:schemeClr val="tx1"/>
                </a:solidFill>
                <a:latin typeface="Courier New" pitchFamily="49" charset="-52"/>
              </a:rPr>
              <a:t>    R=k-1;</a:t>
            </a:r>
            <a:br>
              <a:rPr lang="en-US" sz="2200">
                <a:solidFill>
                  <a:schemeClr val="tx1"/>
                </a:solidFill>
                <a:latin typeface="Courier New" pitchFamily="49" charset="-52"/>
              </a:rPr>
            </a:br>
            <a:r>
              <a:rPr lang="en-US" sz="2200">
                <a:solidFill>
                  <a:schemeClr val="tx1"/>
                </a:solidFill>
                <a:latin typeface="Courier New" pitchFamily="49" charset="-52"/>
              </a:rPr>
              <a:t>   }</a:t>
            </a:r>
            <a:br>
              <a:rPr lang="en-US" sz="2200">
                <a:solidFill>
                  <a:schemeClr val="tx1"/>
                </a:solidFill>
                <a:latin typeface="Courier New" pitchFamily="49" charset="-52"/>
              </a:rPr>
            </a:br>
            <a:r>
              <a:rPr lang="en-US" sz="2200">
                <a:solidFill>
                  <a:schemeClr val="tx1"/>
                </a:solidFill>
                <a:latin typeface="Courier New" pitchFamily="49" charset="-52"/>
              </a:rPr>
              <a:t> while (L&lt;=R);</a:t>
            </a:r>
            <a:br>
              <a:rPr lang="en-US" sz="2200">
                <a:solidFill>
                  <a:schemeClr val="tx1"/>
                </a:solidFill>
                <a:latin typeface="Courier New" pitchFamily="49" charset="-52"/>
              </a:rPr>
            </a:br>
            <a:r>
              <a:rPr lang="en-US" sz="2200">
                <a:solidFill>
                  <a:schemeClr val="tx1"/>
                </a:solidFill>
                <a:latin typeface="Courier New" pitchFamily="49" charset="-52"/>
              </a:rPr>
              <a:t>}</a:t>
            </a:r>
            <a:endParaRPr lang="en-US" sz="2400">
              <a:solidFill>
                <a:schemeClr val="tx1"/>
              </a:solidFill>
            </a:endParaRPr>
          </a:p>
        </p:txBody>
      </p:sp>
      <p:sp>
        <p:nvSpPr>
          <p:cNvPr id="5" name="Slide Number Placeholder 4"/>
          <p:cNvSpPr>
            <a:spLocks noGrp="1"/>
          </p:cNvSpPr>
          <p:nvPr>
            <p:ph type="sldNum" sz="quarter" idx="12"/>
          </p:nvPr>
        </p:nvSpPr>
        <p:spPr/>
        <p:txBody>
          <a:bodyPr/>
          <a:lstStyle/>
          <a:p>
            <a:pPr>
              <a:defRPr/>
            </a:pPr>
            <a:fld id="{C068F652-E718-463B-96B3-C55EB0A8B700}" type="slidenum">
              <a:rPr lang="en-US"/>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042988" y="188913"/>
            <a:ext cx="7921625" cy="6335712"/>
          </a:xfrm>
        </p:spPr>
        <p:txBody>
          <a:bodyPr/>
          <a:lstStyle/>
          <a:p>
            <a:pPr eaLnBrk="1" fontAlgn="auto" hangingPunct="1">
              <a:lnSpc>
                <a:spcPct val="130000"/>
              </a:lnSpc>
              <a:spcAft>
                <a:spcPts val="0"/>
              </a:spcAft>
              <a:defRPr/>
            </a:pPr>
            <a:r>
              <a:rPr lang="en-US" sz="2400" smtClean="0">
                <a:solidFill>
                  <a:schemeClr val="tx1"/>
                </a:solidFill>
              </a:rPr>
              <a:t>       </a:t>
            </a:r>
            <a:r>
              <a:rPr lang="bg-BG" sz="2400" smtClean="0">
                <a:solidFill>
                  <a:schemeClr val="tx1"/>
                </a:solidFill>
              </a:rPr>
              <a:t>В </a:t>
            </a:r>
            <a:r>
              <a:rPr lang="bg-BG" sz="2400">
                <a:solidFill>
                  <a:schemeClr val="tx1"/>
                </a:solidFill>
              </a:rPr>
              <a:t>най-добрия случай горния алгоритъм извършва </a:t>
            </a:r>
            <a:r>
              <a:rPr lang="bg-BG" sz="2400" b="1" i="1">
                <a:solidFill>
                  <a:schemeClr val="tx1"/>
                </a:solidFill>
              </a:rPr>
              <a:t>n-1</a:t>
            </a:r>
            <a:br>
              <a:rPr lang="bg-BG" sz="2400" b="1" i="1">
                <a:solidFill>
                  <a:schemeClr val="tx1"/>
                </a:solidFill>
              </a:rPr>
            </a:br>
            <a:r>
              <a:rPr lang="bg-BG" sz="2400">
                <a:solidFill>
                  <a:schemeClr val="tx1"/>
                </a:solidFill>
              </a:rPr>
              <a:t>сравнения, а в средния случай  - </a:t>
            </a:r>
            <a:r>
              <a:rPr lang="bg-BG" sz="2400" b="1" i="1">
                <a:solidFill>
                  <a:schemeClr val="tx1"/>
                </a:solidFill>
              </a:rPr>
              <a:t>n</a:t>
            </a:r>
            <a:r>
              <a:rPr lang="bg-BG" sz="2400" b="1" i="1" baseline="30000">
                <a:solidFill>
                  <a:schemeClr val="tx1"/>
                </a:solidFill>
              </a:rPr>
              <a:t>2</a:t>
            </a:r>
            <a:r>
              <a:rPr lang="bg-BG" sz="2400">
                <a:solidFill>
                  <a:schemeClr val="tx1"/>
                </a:solidFill>
              </a:rPr>
              <a:t>. Макар и има известно подобрение в сравнение с класическия метод на мехурчето, общата ефективност на алгоритъма не се подобрява съществено, т. к. сортирането чрез клатене не намалява броя на извършваните размени. А размяната по-принцип е неколкократно по-тежка операция от сравнението</a:t>
            </a:r>
            <a:r>
              <a:rPr lang="bg-BG" sz="2400" smtClean="0">
                <a:solidFill>
                  <a:schemeClr val="tx1"/>
                </a:solidFill>
              </a:rPr>
              <a:t>.</a:t>
            </a:r>
            <a:r>
              <a:rPr lang="en-US" sz="2400" smtClean="0">
                <a:solidFill>
                  <a:schemeClr val="tx1"/>
                </a:solidFill>
              </a:rPr>
              <a:t/>
            </a:r>
            <a:br>
              <a:rPr lang="en-US" sz="2400" smtClean="0">
                <a:solidFill>
                  <a:schemeClr val="tx1"/>
                </a:solidFill>
              </a:rPr>
            </a:br>
            <a:r>
              <a:rPr lang="bg-BG" sz="2400" smtClean="0">
                <a:solidFill>
                  <a:schemeClr val="tx1"/>
                </a:solidFill>
              </a:rPr>
              <a:t> </a:t>
            </a:r>
            <a:r>
              <a:rPr lang="bg-BG" sz="2400">
                <a:solidFill>
                  <a:schemeClr val="tx1"/>
                </a:solidFill>
              </a:rPr>
              <a:t>	Основният недостатък на метода е в “микроскопичния” му подход - винаги се сравняват два съседни елемента. Този недостатък е отстранен в следващия разгледан метод.</a:t>
            </a:r>
            <a:endParaRPr lang="bg-BG" sz="2000">
              <a:solidFill>
                <a:schemeClr val="tx1"/>
              </a:solidFill>
            </a:endParaRPr>
          </a:p>
        </p:txBody>
      </p:sp>
      <p:sp>
        <p:nvSpPr>
          <p:cNvPr id="5" name="Slide Number Placeholder 4"/>
          <p:cNvSpPr>
            <a:spLocks noGrp="1"/>
          </p:cNvSpPr>
          <p:nvPr>
            <p:ph type="sldNum" sz="quarter" idx="12"/>
          </p:nvPr>
        </p:nvSpPr>
        <p:spPr/>
        <p:txBody>
          <a:bodyPr/>
          <a:lstStyle/>
          <a:p>
            <a:pPr>
              <a:defRPr/>
            </a:pPr>
            <a:fld id="{71E3F173-E5F8-4469-86D8-47EC51D9D41C}" type="slidenum">
              <a:rPr lang="en-US"/>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042988" y="609600"/>
            <a:ext cx="8101012" cy="5915025"/>
          </a:xfrm>
        </p:spPr>
        <p:txBody>
          <a:bodyPr>
            <a:normAutofit fontScale="90000"/>
          </a:bodyPr>
          <a:lstStyle/>
          <a:p>
            <a:pPr eaLnBrk="1" fontAlgn="auto" hangingPunct="1">
              <a:spcAft>
                <a:spcPts val="0"/>
              </a:spcAft>
              <a:defRPr/>
            </a:pPr>
            <a:r>
              <a:rPr lang="bg-BG" sz="2400" i="1">
                <a:solidFill>
                  <a:schemeClr val="tx1"/>
                </a:solidFill>
                <a:latin typeface="Arial" pitchFamily="34" charset="0"/>
                <a:cs typeface="Arial" pitchFamily="34" charset="0"/>
              </a:rPr>
              <a:t>3</a:t>
            </a:r>
            <a:r>
              <a:rPr lang="en-US" sz="2400" i="1">
                <a:solidFill>
                  <a:schemeClr val="tx1"/>
                </a:solidFill>
              </a:rPr>
              <a:t>. </a:t>
            </a:r>
            <a:r>
              <a:rPr lang="bg-BG" sz="2400" i="1">
                <a:solidFill>
                  <a:schemeClr val="tx1"/>
                </a:solidFill>
              </a:rPr>
              <a:t>Сортиране чрез сегментиране или бързо сортиране,</a:t>
            </a:r>
            <a:br>
              <a:rPr lang="bg-BG" sz="2400" i="1">
                <a:solidFill>
                  <a:schemeClr val="tx1"/>
                </a:solidFill>
              </a:rPr>
            </a:br>
            <a:r>
              <a:rPr lang="bg-BG" sz="2400" i="1">
                <a:solidFill>
                  <a:schemeClr val="tx1"/>
                </a:solidFill>
              </a:rPr>
              <a:t>    или сортиране на Хоар    (Quicksort)</a:t>
            </a:r>
            <a:br>
              <a:rPr lang="bg-BG" sz="2400" i="1">
                <a:solidFill>
                  <a:schemeClr val="tx1"/>
                </a:solidFill>
              </a:rPr>
            </a:br>
            <a:r>
              <a:rPr lang="en-US" sz="2000">
                <a:solidFill>
                  <a:schemeClr val="tx1"/>
                </a:solidFill>
              </a:rPr>
              <a:t>	</a:t>
            </a:r>
            <a:r>
              <a:rPr lang="bg-BG" sz="2200">
                <a:solidFill>
                  <a:schemeClr val="tx1"/>
                </a:solidFill>
              </a:rPr>
              <a:t>Целта на предстоящото подобрение на основната идея е да се минимизира броя на размените в масива. От последното подобрение (или сортиране чрез клатене) стана ясно, че той ще бъде редуциран, ако разменяме първия елемент с последния, втория - с предпоследния и т. н., сортирайки целия масив за</a:t>
            </a:r>
            <a:r>
              <a:rPr lang="en-US" sz="2200">
                <a:solidFill>
                  <a:schemeClr val="tx1"/>
                </a:solidFill>
              </a:rPr>
              <a:t> [</a:t>
            </a:r>
            <a:r>
              <a:rPr lang="en-US" sz="2200" b="1" i="1">
                <a:solidFill>
                  <a:schemeClr val="tx1"/>
                </a:solidFill>
              </a:rPr>
              <a:t>n/2</a:t>
            </a:r>
            <a:r>
              <a:rPr lang="en-US" sz="2200">
                <a:solidFill>
                  <a:schemeClr val="tx1"/>
                </a:solidFill>
              </a:rPr>
              <a:t>]</a:t>
            </a:r>
            <a:r>
              <a:rPr lang="bg-BG" sz="2200">
                <a:solidFill>
                  <a:schemeClr val="tx1"/>
                </a:solidFill>
              </a:rPr>
              <a:t> размени. Изводът: колкото на по-големи разстояния се извършват размените, толкова е по-голяма тяхната ефективност. </a:t>
            </a:r>
            <a:br>
              <a:rPr lang="bg-BG" sz="2200">
                <a:solidFill>
                  <a:schemeClr val="tx1"/>
                </a:solidFill>
              </a:rPr>
            </a:br>
            <a:r>
              <a:rPr lang="bg-BG" sz="2200">
                <a:solidFill>
                  <a:schemeClr val="tx1"/>
                </a:solidFill>
              </a:rPr>
              <a:t>	Идеята на алгоритъма, предложен от Хоар, е да изберем някакъв елемент </a:t>
            </a:r>
            <a:r>
              <a:rPr lang="bg-BG" sz="2400" b="1" i="1">
                <a:solidFill>
                  <a:schemeClr val="tx1"/>
                </a:solidFill>
              </a:rPr>
              <a:t>х</a:t>
            </a:r>
            <a:r>
              <a:rPr lang="bg-BG" sz="2200">
                <a:solidFill>
                  <a:schemeClr val="tx1"/>
                </a:solidFill>
              </a:rPr>
              <a:t> и да разделим масива на две части: лява, в която елементите са по-малки от </a:t>
            </a:r>
            <a:r>
              <a:rPr lang="bg-BG" sz="2400" b="1" i="1">
                <a:solidFill>
                  <a:schemeClr val="tx1"/>
                </a:solidFill>
              </a:rPr>
              <a:t>х</a:t>
            </a:r>
            <a:r>
              <a:rPr lang="bg-BG" sz="2200">
                <a:solidFill>
                  <a:schemeClr val="tx1"/>
                </a:solidFill>
              </a:rPr>
              <a:t>, и дясна, в която са по-големи. Положението на </a:t>
            </a:r>
            <a:r>
              <a:rPr lang="bg-BG" sz="2400" b="1" i="1">
                <a:solidFill>
                  <a:schemeClr val="tx1"/>
                </a:solidFill>
              </a:rPr>
              <a:t>х </a:t>
            </a:r>
            <a:r>
              <a:rPr lang="bg-BG" sz="2200">
                <a:solidFill>
                  <a:schemeClr val="tx1"/>
                </a:solidFill>
              </a:rPr>
              <a:t>(т. е. индекса му в масива) след преобразуването се фиксира и повече не се променя. Прилагаме същия алгоритъм за лявата и дясната части, стеснявайки постепенно границите на разглежданите подмасиви, докато не достигнем до интервали (сегменти), съдържащи единствен елемент (оттук и названието - сортиране чрез сегментиране).  След приключване на работата на алгоритъма масивът е подреден.</a:t>
            </a:r>
            <a:br>
              <a:rPr lang="bg-BG" sz="2200">
                <a:solidFill>
                  <a:schemeClr val="tx1"/>
                </a:solidFill>
              </a:rPr>
            </a:br>
            <a:endParaRPr lang="en-US" sz="2200">
              <a:solidFill>
                <a:schemeClr val="tx1"/>
              </a:solidFill>
            </a:endParaRPr>
          </a:p>
        </p:txBody>
      </p:sp>
      <p:sp>
        <p:nvSpPr>
          <p:cNvPr id="5" name="Slide Number Placeholder 4"/>
          <p:cNvSpPr>
            <a:spLocks noGrp="1"/>
          </p:cNvSpPr>
          <p:nvPr>
            <p:ph type="sldNum" sz="quarter" idx="12"/>
          </p:nvPr>
        </p:nvSpPr>
        <p:spPr/>
        <p:txBody>
          <a:bodyPr/>
          <a:lstStyle/>
          <a:p>
            <a:pPr>
              <a:defRPr/>
            </a:pPr>
            <a:fld id="{6361609F-DD2E-4765-B01E-6B39D6FA84CC}" type="slidenum">
              <a:rPr lang="en-US"/>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042988" y="476250"/>
            <a:ext cx="8101012" cy="6092825"/>
          </a:xfrm>
        </p:spPr>
        <p:txBody>
          <a:bodyPr/>
          <a:lstStyle/>
          <a:p>
            <a:pPr eaLnBrk="1" fontAlgn="auto" hangingPunct="1">
              <a:spcAft>
                <a:spcPts val="0"/>
              </a:spcAft>
              <a:defRPr/>
            </a:pPr>
            <a:r>
              <a:rPr lang="bg-BG" sz="2200">
                <a:solidFill>
                  <a:schemeClr val="tx1"/>
                </a:solidFill>
              </a:rPr>
              <a:t>Да означим с </a:t>
            </a:r>
            <a:r>
              <a:rPr lang="en-US" sz="2400" b="1" i="1">
                <a:solidFill>
                  <a:schemeClr val="tx1"/>
                </a:solidFill>
              </a:rPr>
              <a:t>q </a:t>
            </a:r>
            <a:r>
              <a:rPr lang="bg-BG" sz="2200">
                <a:solidFill>
                  <a:schemeClr val="tx1"/>
                </a:solidFill>
              </a:rPr>
              <a:t>индекса на </a:t>
            </a:r>
            <a:r>
              <a:rPr lang="bg-BG" sz="2400" b="1" i="1">
                <a:solidFill>
                  <a:schemeClr val="tx1"/>
                </a:solidFill>
              </a:rPr>
              <a:t>х </a:t>
            </a:r>
            <a:r>
              <a:rPr lang="bg-BG" sz="2200">
                <a:solidFill>
                  <a:schemeClr val="tx1"/>
                </a:solidFill>
              </a:rPr>
              <a:t>в масива, т.е </a:t>
            </a:r>
            <a:r>
              <a:rPr lang="bg-BG" sz="2400" b="1" i="1">
                <a:solidFill>
                  <a:schemeClr val="tx1"/>
                </a:solidFill>
              </a:rPr>
              <a:t>х</a:t>
            </a:r>
            <a:r>
              <a:rPr lang="bg-BG" sz="2200">
                <a:solidFill>
                  <a:schemeClr val="tx1"/>
                </a:solidFill>
              </a:rPr>
              <a:t> =</a:t>
            </a:r>
            <a:r>
              <a:rPr lang="bg-BG" sz="2400" b="1" i="1">
                <a:solidFill>
                  <a:schemeClr val="tx1"/>
                </a:solidFill>
              </a:rPr>
              <a:t>а</a:t>
            </a:r>
            <a:r>
              <a:rPr lang="en-US" sz="2400" i="1">
                <a:solidFill>
                  <a:schemeClr val="tx1"/>
                </a:solidFill>
              </a:rPr>
              <a:t>[</a:t>
            </a:r>
            <a:r>
              <a:rPr lang="en-US" sz="2400" b="1" i="1">
                <a:solidFill>
                  <a:schemeClr val="tx1"/>
                </a:solidFill>
              </a:rPr>
              <a:t>q</a:t>
            </a:r>
            <a:r>
              <a:rPr lang="en-US" sz="2400" i="1">
                <a:solidFill>
                  <a:schemeClr val="tx1"/>
                </a:solidFill>
              </a:rPr>
              <a:t>]</a:t>
            </a:r>
            <a:r>
              <a:rPr lang="bg-BG" sz="2200">
                <a:solidFill>
                  <a:schemeClr val="tx1"/>
                </a:solidFill>
              </a:rPr>
              <a:t>. </a:t>
            </a:r>
            <a:br>
              <a:rPr lang="bg-BG" sz="2200">
                <a:solidFill>
                  <a:schemeClr val="tx1"/>
                </a:solidFill>
              </a:rPr>
            </a:br>
            <a:r>
              <a:rPr lang="en-US" sz="2200">
                <a:solidFill>
                  <a:schemeClr val="tx1"/>
                </a:solidFill>
              </a:rPr>
              <a:t/>
            </a:r>
            <a:br>
              <a:rPr lang="en-US" sz="2200">
                <a:solidFill>
                  <a:schemeClr val="tx1"/>
                </a:solidFill>
              </a:rPr>
            </a:br>
            <a:r>
              <a:rPr lang="en-US" sz="2200">
                <a:solidFill>
                  <a:schemeClr val="tx1"/>
                </a:solidFill>
              </a:rPr>
              <a:t/>
            </a:r>
            <a:br>
              <a:rPr lang="en-US" sz="2200">
                <a:solidFill>
                  <a:schemeClr val="tx1"/>
                </a:solidFill>
              </a:rPr>
            </a:br>
            <a:r>
              <a:rPr lang="en-US" sz="2200">
                <a:solidFill>
                  <a:schemeClr val="tx1"/>
                </a:solidFill>
              </a:rPr>
              <a:t/>
            </a:r>
            <a:br>
              <a:rPr lang="en-US" sz="2200">
                <a:solidFill>
                  <a:schemeClr val="tx1"/>
                </a:solidFill>
              </a:rPr>
            </a:br>
            <a:r>
              <a:rPr lang="bg-BG" sz="2200">
                <a:solidFill>
                  <a:schemeClr val="tx1"/>
                </a:solidFill>
              </a:rPr>
              <a:t>Нека сортираме подмасива </a:t>
            </a:r>
            <a:r>
              <a:rPr lang="bg-BG" sz="2400" b="1" i="1">
                <a:solidFill>
                  <a:schemeClr val="tx1"/>
                </a:solidFill>
              </a:rPr>
              <a:t>а </a:t>
            </a:r>
            <a:r>
              <a:rPr lang="en-US" sz="2400" i="1">
                <a:solidFill>
                  <a:schemeClr val="tx1"/>
                </a:solidFill>
              </a:rPr>
              <a:t>[</a:t>
            </a:r>
            <a:r>
              <a:rPr lang="en-US" sz="2400" b="1" i="1">
                <a:solidFill>
                  <a:schemeClr val="tx1"/>
                </a:solidFill>
              </a:rPr>
              <a:t>L, L+</a:t>
            </a:r>
            <a:r>
              <a:rPr lang="en-US" sz="2400" b="1" i="1">
                <a:solidFill>
                  <a:schemeClr val="tx1"/>
                </a:solidFill>
                <a:latin typeface="Arial" pitchFamily="34" charset="0"/>
                <a:cs typeface="Arial" pitchFamily="34" charset="0"/>
              </a:rPr>
              <a:t>1</a:t>
            </a:r>
            <a:r>
              <a:rPr lang="en-US" sz="2400" b="1" i="1">
                <a:solidFill>
                  <a:schemeClr val="tx1"/>
                </a:solidFill>
              </a:rPr>
              <a:t>,…, R</a:t>
            </a:r>
            <a:r>
              <a:rPr lang="en-US" sz="2400" i="1">
                <a:solidFill>
                  <a:schemeClr val="tx1"/>
                </a:solidFill>
              </a:rPr>
              <a:t>]</a:t>
            </a:r>
            <a:r>
              <a:rPr lang="en-US" sz="2200">
                <a:solidFill>
                  <a:schemeClr val="tx1"/>
                </a:solidFill>
              </a:rPr>
              <a:t> </a:t>
            </a:r>
            <a:r>
              <a:rPr lang="bg-BG" sz="2200">
                <a:solidFill>
                  <a:schemeClr val="tx1"/>
                </a:solidFill>
              </a:rPr>
              <a:t>и нека </a:t>
            </a:r>
            <a:r>
              <a:rPr lang="en-US" sz="2200" i="1">
                <a:solidFill>
                  <a:schemeClr val="tx1"/>
                </a:solidFill>
              </a:rPr>
              <a:t>partition()</a:t>
            </a:r>
            <a:r>
              <a:rPr lang="en-US" sz="2200">
                <a:solidFill>
                  <a:schemeClr val="tx1"/>
                </a:solidFill>
              </a:rPr>
              <a:t> </a:t>
            </a:r>
            <a:r>
              <a:rPr lang="bg-BG" sz="2200">
                <a:solidFill>
                  <a:schemeClr val="tx1"/>
                </a:solidFill>
              </a:rPr>
              <a:t>разделя подмасива на две части, извършва в него съответните преобразования и връща като резултат </a:t>
            </a:r>
            <a:r>
              <a:rPr lang="en-US" sz="2400" b="1" i="1">
                <a:solidFill>
                  <a:schemeClr val="tx1"/>
                </a:solidFill>
              </a:rPr>
              <a:t>q</a:t>
            </a:r>
            <a:r>
              <a:rPr lang="bg-BG" sz="2200">
                <a:solidFill>
                  <a:schemeClr val="tx1"/>
                </a:solidFill>
              </a:rPr>
              <a:t>  (но не търси в масива </a:t>
            </a:r>
            <a:r>
              <a:rPr lang="bg-BG" sz="2400" b="1" i="1">
                <a:solidFill>
                  <a:schemeClr val="tx1"/>
                </a:solidFill>
              </a:rPr>
              <a:t>х</a:t>
            </a:r>
            <a:r>
              <a:rPr lang="bg-BG" sz="2200">
                <a:solidFill>
                  <a:schemeClr val="tx1"/>
                </a:solidFill>
              </a:rPr>
              <a:t>, а го определя по определени правила! Как?). </a:t>
            </a:r>
            <a:br>
              <a:rPr lang="bg-BG" sz="2200">
                <a:solidFill>
                  <a:schemeClr val="tx1"/>
                </a:solidFill>
              </a:rPr>
            </a:br>
            <a:r>
              <a:rPr lang="bg-BG" sz="2200">
                <a:solidFill>
                  <a:schemeClr val="tx1"/>
                </a:solidFill>
              </a:rPr>
              <a:t>Най-общо бързото сортиране може да се опише така:</a:t>
            </a:r>
            <a:br>
              <a:rPr lang="bg-BG" sz="2200">
                <a:solidFill>
                  <a:schemeClr val="tx1"/>
                </a:solidFill>
              </a:rPr>
            </a:br>
            <a:r>
              <a:rPr lang="en-US" sz="2200" i="1">
                <a:solidFill>
                  <a:schemeClr val="tx1"/>
                </a:solidFill>
              </a:rPr>
              <a:t>void quicksort (int L, int R)</a:t>
            </a:r>
            <a:br>
              <a:rPr lang="en-US" sz="2200" i="1">
                <a:solidFill>
                  <a:schemeClr val="tx1"/>
                </a:solidFill>
              </a:rPr>
            </a:br>
            <a:r>
              <a:rPr lang="en-US" sz="2200" i="1">
                <a:solidFill>
                  <a:schemeClr val="tx1"/>
                </a:solidFill>
              </a:rPr>
              <a:t>{ int q;</a:t>
            </a:r>
            <a:br>
              <a:rPr lang="en-US" sz="2200" i="1">
                <a:solidFill>
                  <a:schemeClr val="tx1"/>
                </a:solidFill>
              </a:rPr>
            </a:br>
            <a:r>
              <a:rPr lang="en-US" sz="2200" i="1">
                <a:solidFill>
                  <a:schemeClr val="tx1"/>
                </a:solidFill>
              </a:rPr>
              <a:t>   if (L &lt; R)</a:t>
            </a:r>
            <a:br>
              <a:rPr lang="en-US" sz="2200" i="1">
                <a:solidFill>
                  <a:schemeClr val="tx1"/>
                </a:solidFill>
              </a:rPr>
            </a:br>
            <a:r>
              <a:rPr lang="en-US" sz="2200" i="1">
                <a:solidFill>
                  <a:schemeClr val="tx1"/>
                </a:solidFill>
              </a:rPr>
              <a:t>       {  q=partition(L, R);</a:t>
            </a:r>
            <a:br>
              <a:rPr lang="en-US" sz="2200" i="1">
                <a:solidFill>
                  <a:schemeClr val="tx1"/>
                </a:solidFill>
              </a:rPr>
            </a:br>
            <a:r>
              <a:rPr lang="en-US" sz="2200" i="1">
                <a:solidFill>
                  <a:schemeClr val="tx1"/>
                </a:solidFill>
              </a:rPr>
              <a:t>           quicksort(L, q);</a:t>
            </a:r>
            <a:br>
              <a:rPr lang="en-US" sz="2200" i="1">
                <a:solidFill>
                  <a:schemeClr val="tx1"/>
                </a:solidFill>
              </a:rPr>
            </a:br>
            <a:r>
              <a:rPr lang="en-US" sz="2200" i="1">
                <a:solidFill>
                  <a:schemeClr val="tx1"/>
                </a:solidFill>
              </a:rPr>
              <a:t>           quicksort(q+</a:t>
            </a:r>
            <a:r>
              <a:rPr lang="en-US" sz="2200" i="1">
                <a:solidFill>
                  <a:schemeClr val="tx1"/>
                </a:solidFill>
                <a:latin typeface="Arial" pitchFamily="34" charset="0"/>
                <a:cs typeface="Arial" pitchFamily="34" charset="0"/>
              </a:rPr>
              <a:t>1</a:t>
            </a:r>
            <a:r>
              <a:rPr lang="en-US" sz="2200" i="1">
                <a:solidFill>
                  <a:schemeClr val="tx1"/>
                </a:solidFill>
              </a:rPr>
              <a:t>, R);</a:t>
            </a:r>
            <a:br>
              <a:rPr lang="en-US" sz="2200" i="1">
                <a:solidFill>
                  <a:schemeClr val="tx1"/>
                </a:solidFill>
              </a:rPr>
            </a:br>
            <a:r>
              <a:rPr lang="en-US" sz="2200" i="1">
                <a:solidFill>
                  <a:schemeClr val="tx1"/>
                </a:solidFill>
              </a:rPr>
              <a:t>        }</a:t>
            </a:r>
            <a:br>
              <a:rPr lang="en-US" sz="2200" i="1">
                <a:solidFill>
                  <a:schemeClr val="tx1"/>
                </a:solidFill>
              </a:rPr>
            </a:br>
            <a:r>
              <a:rPr lang="en-US" sz="2200" i="1">
                <a:solidFill>
                  <a:schemeClr val="tx1"/>
                </a:solidFill>
              </a:rPr>
              <a:t>}</a:t>
            </a:r>
            <a:endParaRPr lang="en-US" sz="2200">
              <a:solidFill>
                <a:schemeClr val="tx1"/>
              </a:solidFill>
            </a:endParaRPr>
          </a:p>
        </p:txBody>
      </p:sp>
      <p:grpSp>
        <p:nvGrpSpPr>
          <p:cNvPr id="24579" name="Group 19"/>
          <p:cNvGrpSpPr>
            <a:grpSpLocks/>
          </p:cNvGrpSpPr>
          <p:nvPr/>
        </p:nvGrpSpPr>
        <p:grpSpPr bwMode="auto">
          <a:xfrm>
            <a:off x="1143000" y="1174750"/>
            <a:ext cx="6626225" cy="915988"/>
            <a:chOff x="768" y="2544"/>
            <a:chExt cx="4174" cy="577"/>
          </a:xfrm>
        </p:grpSpPr>
        <p:grpSp>
          <p:nvGrpSpPr>
            <p:cNvPr id="24581" name="Group 7"/>
            <p:cNvGrpSpPr>
              <a:grpSpLocks/>
            </p:cNvGrpSpPr>
            <p:nvPr/>
          </p:nvGrpSpPr>
          <p:grpSpPr bwMode="auto">
            <a:xfrm>
              <a:off x="768" y="2592"/>
              <a:ext cx="4032" cy="240"/>
              <a:chOff x="768" y="2592"/>
              <a:chExt cx="4032" cy="240"/>
            </a:xfrm>
          </p:grpSpPr>
          <p:sp>
            <p:nvSpPr>
              <p:cNvPr id="24591" name="Rectangle 4"/>
              <p:cNvSpPr>
                <a:spLocks noChangeArrowheads="1"/>
              </p:cNvSpPr>
              <p:nvPr/>
            </p:nvSpPr>
            <p:spPr bwMode="auto">
              <a:xfrm>
                <a:off x="768" y="2592"/>
                <a:ext cx="4032" cy="240"/>
              </a:xfrm>
              <a:prstGeom prst="rect">
                <a:avLst/>
              </a:prstGeom>
              <a:noFill/>
              <a:ln w="9525">
                <a:solidFill>
                  <a:schemeClr val="tx1"/>
                </a:solidFill>
                <a:miter lim="800000"/>
                <a:headEnd/>
                <a:tailEnd/>
              </a:ln>
            </p:spPr>
            <p:txBody>
              <a:bodyPr wrap="none" anchor="ctr"/>
              <a:lstStyle/>
              <a:p>
                <a:endParaRPr lang="bg-BG"/>
              </a:p>
            </p:txBody>
          </p:sp>
          <p:sp>
            <p:nvSpPr>
              <p:cNvPr id="24592" name="Line 5"/>
              <p:cNvSpPr>
                <a:spLocks noChangeShapeType="1"/>
              </p:cNvSpPr>
              <p:nvPr/>
            </p:nvSpPr>
            <p:spPr bwMode="auto">
              <a:xfrm>
                <a:off x="2592" y="2592"/>
                <a:ext cx="0" cy="240"/>
              </a:xfrm>
              <a:prstGeom prst="line">
                <a:avLst/>
              </a:prstGeom>
              <a:noFill/>
              <a:ln w="9525">
                <a:solidFill>
                  <a:schemeClr val="tx1"/>
                </a:solidFill>
                <a:round/>
                <a:headEnd/>
                <a:tailEnd/>
              </a:ln>
            </p:spPr>
            <p:txBody>
              <a:bodyPr wrap="none" anchor="ctr"/>
              <a:lstStyle/>
              <a:p>
                <a:endParaRPr lang="bg-BG"/>
              </a:p>
            </p:txBody>
          </p:sp>
          <p:sp>
            <p:nvSpPr>
              <p:cNvPr id="24593" name="Line 6"/>
              <p:cNvSpPr>
                <a:spLocks noChangeShapeType="1"/>
              </p:cNvSpPr>
              <p:nvPr/>
            </p:nvSpPr>
            <p:spPr bwMode="auto">
              <a:xfrm>
                <a:off x="2880" y="2592"/>
                <a:ext cx="0" cy="240"/>
              </a:xfrm>
              <a:prstGeom prst="line">
                <a:avLst/>
              </a:prstGeom>
              <a:noFill/>
              <a:ln w="9525">
                <a:solidFill>
                  <a:schemeClr val="tx1"/>
                </a:solidFill>
                <a:round/>
                <a:headEnd/>
                <a:tailEnd/>
              </a:ln>
            </p:spPr>
            <p:txBody>
              <a:bodyPr wrap="none" anchor="ctr"/>
              <a:lstStyle/>
              <a:p>
                <a:endParaRPr lang="bg-BG"/>
              </a:p>
            </p:txBody>
          </p:sp>
        </p:grpSp>
        <p:sp>
          <p:nvSpPr>
            <p:cNvPr id="24582" name="Text Box 8"/>
            <p:cNvSpPr txBox="1">
              <a:spLocks noChangeArrowheads="1"/>
            </p:cNvSpPr>
            <p:nvPr/>
          </p:nvSpPr>
          <p:spPr bwMode="auto">
            <a:xfrm>
              <a:off x="2640" y="2592"/>
              <a:ext cx="240" cy="288"/>
            </a:xfrm>
            <a:prstGeom prst="rect">
              <a:avLst/>
            </a:prstGeom>
            <a:noFill/>
            <a:ln w="9525">
              <a:noFill/>
              <a:miter lim="800000"/>
              <a:headEnd/>
              <a:tailEnd/>
            </a:ln>
          </p:spPr>
          <p:txBody>
            <a:bodyPr>
              <a:spAutoFit/>
            </a:bodyPr>
            <a:lstStyle/>
            <a:p>
              <a:pPr algn="l">
                <a:spcBef>
                  <a:spcPct val="50000"/>
                </a:spcBef>
              </a:pPr>
              <a:endParaRPr lang="bg-BG"/>
            </a:p>
          </p:txBody>
        </p:sp>
        <p:sp>
          <p:nvSpPr>
            <p:cNvPr id="24583" name="Text Box 11"/>
            <p:cNvSpPr txBox="1">
              <a:spLocks noChangeArrowheads="1"/>
            </p:cNvSpPr>
            <p:nvPr/>
          </p:nvSpPr>
          <p:spPr bwMode="auto">
            <a:xfrm>
              <a:off x="2640" y="2544"/>
              <a:ext cx="528" cy="288"/>
            </a:xfrm>
            <a:prstGeom prst="rect">
              <a:avLst/>
            </a:prstGeom>
            <a:noFill/>
            <a:ln w="9525">
              <a:noFill/>
              <a:miter lim="800000"/>
              <a:headEnd/>
              <a:tailEnd/>
            </a:ln>
          </p:spPr>
          <p:txBody>
            <a:bodyPr>
              <a:spAutoFit/>
            </a:bodyPr>
            <a:lstStyle/>
            <a:p>
              <a:pPr algn="l">
                <a:spcBef>
                  <a:spcPct val="50000"/>
                </a:spcBef>
              </a:pPr>
              <a:r>
                <a:rPr lang="bg-BG" b="1" i="1"/>
                <a:t>х</a:t>
              </a:r>
              <a:endParaRPr lang="en-US" sz="1200" b="1" i="1"/>
            </a:p>
          </p:txBody>
        </p:sp>
        <p:sp>
          <p:nvSpPr>
            <p:cNvPr id="24584" name="Text Box 12"/>
            <p:cNvSpPr txBox="1">
              <a:spLocks noChangeArrowheads="1"/>
            </p:cNvSpPr>
            <p:nvPr/>
          </p:nvSpPr>
          <p:spPr bwMode="auto">
            <a:xfrm>
              <a:off x="768" y="2880"/>
              <a:ext cx="240" cy="231"/>
            </a:xfrm>
            <a:prstGeom prst="rect">
              <a:avLst/>
            </a:prstGeom>
            <a:noFill/>
            <a:ln w="9525">
              <a:noFill/>
              <a:miter lim="800000"/>
              <a:headEnd/>
              <a:tailEnd/>
            </a:ln>
          </p:spPr>
          <p:txBody>
            <a:bodyPr>
              <a:spAutoFit/>
            </a:bodyPr>
            <a:lstStyle/>
            <a:p>
              <a:pPr algn="l">
                <a:spcBef>
                  <a:spcPct val="50000"/>
                </a:spcBef>
              </a:pPr>
              <a:r>
                <a:rPr lang="en-US" sz="1800"/>
                <a:t>0</a:t>
              </a:r>
              <a:endParaRPr lang="en-US"/>
            </a:p>
          </p:txBody>
        </p:sp>
        <p:sp>
          <p:nvSpPr>
            <p:cNvPr id="24585" name="Text Box 13"/>
            <p:cNvSpPr txBox="1">
              <a:spLocks noChangeArrowheads="1"/>
            </p:cNvSpPr>
            <p:nvPr/>
          </p:nvSpPr>
          <p:spPr bwMode="auto">
            <a:xfrm>
              <a:off x="2640" y="2880"/>
              <a:ext cx="288" cy="231"/>
            </a:xfrm>
            <a:prstGeom prst="rect">
              <a:avLst/>
            </a:prstGeom>
            <a:noFill/>
            <a:ln w="9525">
              <a:noFill/>
              <a:miter lim="800000"/>
              <a:headEnd/>
              <a:tailEnd/>
            </a:ln>
          </p:spPr>
          <p:txBody>
            <a:bodyPr>
              <a:spAutoFit/>
            </a:bodyPr>
            <a:lstStyle/>
            <a:p>
              <a:pPr algn="l">
                <a:spcBef>
                  <a:spcPct val="50000"/>
                </a:spcBef>
              </a:pPr>
              <a:r>
                <a:rPr lang="en-US" sz="1800"/>
                <a:t>q</a:t>
              </a:r>
              <a:endParaRPr lang="en-US"/>
            </a:p>
          </p:txBody>
        </p:sp>
        <p:sp>
          <p:nvSpPr>
            <p:cNvPr id="24586" name="Text Box 14"/>
            <p:cNvSpPr txBox="1">
              <a:spLocks noChangeArrowheads="1"/>
            </p:cNvSpPr>
            <p:nvPr/>
          </p:nvSpPr>
          <p:spPr bwMode="auto">
            <a:xfrm>
              <a:off x="2268" y="2890"/>
              <a:ext cx="384" cy="231"/>
            </a:xfrm>
            <a:prstGeom prst="rect">
              <a:avLst/>
            </a:prstGeom>
            <a:noFill/>
            <a:ln w="9525">
              <a:noFill/>
              <a:miter lim="800000"/>
              <a:headEnd/>
              <a:tailEnd/>
            </a:ln>
          </p:spPr>
          <p:txBody>
            <a:bodyPr>
              <a:spAutoFit/>
            </a:bodyPr>
            <a:lstStyle/>
            <a:p>
              <a:pPr algn="l">
                <a:spcBef>
                  <a:spcPct val="50000"/>
                </a:spcBef>
              </a:pPr>
              <a:r>
                <a:rPr lang="en-US" sz="1800"/>
                <a:t>q-1</a:t>
              </a:r>
              <a:endParaRPr lang="en-US"/>
            </a:p>
          </p:txBody>
        </p:sp>
        <p:sp>
          <p:nvSpPr>
            <p:cNvPr id="24587" name="Text Box 15"/>
            <p:cNvSpPr txBox="1">
              <a:spLocks noChangeArrowheads="1"/>
            </p:cNvSpPr>
            <p:nvPr/>
          </p:nvSpPr>
          <p:spPr bwMode="auto">
            <a:xfrm>
              <a:off x="2910" y="2888"/>
              <a:ext cx="384" cy="231"/>
            </a:xfrm>
            <a:prstGeom prst="rect">
              <a:avLst/>
            </a:prstGeom>
            <a:noFill/>
            <a:ln w="9525">
              <a:noFill/>
              <a:miter lim="800000"/>
              <a:headEnd/>
              <a:tailEnd/>
            </a:ln>
          </p:spPr>
          <p:txBody>
            <a:bodyPr>
              <a:spAutoFit/>
            </a:bodyPr>
            <a:lstStyle/>
            <a:p>
              <a:pPr algn="l">
                <a:spcBef>
                  <a:spcPct val="50000"/>
                </a:spcBef>
              </a:pPr>
              <a:r>
                <a:rPr lang="en-US" sz="1800"/>
                <a:t>q+1</a:t>
              </a:r>
              <a:endParaRPr lang="en-US"/>
            </a:p>
          </p:txBody>
        </p:sp>
        <p:sp>
          <p:nvSpPr>
            <p:cNvPr id="24588" name="Text Box 16"/>
            <p:cNvSpPr txBox="1">
              <a:spLocks noChangeArrowheads="1"/>
            </p:cNvSpPr>
            <p:nvPr/>
          </p:nvSpPr>
          <p:spPr bwMode="auto">
            <a:xfrm>
              <a:off x="4510" y="2880"/>
              <a:ext cx="432" cy="231"/>
            </a:xfrm>
            <a:prstGeom prst="rect">
              <a:avLst/>
            </a:prstGeom>
            <a:noFill/>
            <a:ln w="9525">
              <a:noFill/>
              <a:miter lim="800000"/>
              <a:headEnd/>
              <a:tailEnd/>
            </a:ln>
          </p:spPr>
          <p:txBody>
            <a:bodyPr>
              <a:spAutoFit/>
            </a:bodyPr>
            <a:lstStyle/>
            <a:p>
              <a:pPr algn="l">
                <a:spcBef>
                  <a:spcPct val="50000"/>
                </a:spcBef>
              </a:pPr>
              <a:r>
                <a:rPr lang="en-US" sz="1800"/>
                <a:t>n-1</a:t>
              </a:r>
              <a:endParaRPr lang="en-US"/>
            </a:p>
          </p:txBody>
        </p:sp>
        <p:sp>
          <p:nvSpPr>
            <p:cNvPr id="24589" name="Text Box 17"/>
            <p:cNvSpPr txBox="1">
              <a:spLocks noChangeArrowheads="1"/>
            </p:cNvSpPr>
            <p:nvPr/>
          </p:nvSpPr>
          <p:spPr bwMode="auto">
            <a:xfrm>
              <a:off x="1356" y="2552"/>
              <a:ext cx="816" cy="288"/>
            </a:xfrm>
            <a:prstGeom prst="rect">
              <a:avLst/>
            </a:prstGeom>
            <a:noFill/>
            <a:ln w="9525">
              <a:noFill/>
              <a:miter lim="800000"/>
              <a:headEnd/>
              <a:tailEnd/>
            </a:ln>
          </p:spPr>
          <p:txBody>
            <a:bodyPr>
              <a:spAutoFit/>
            </a:bodyPr>
            <a:lstStyle/>
            <a:p>
              <a:pPr algn="l">
                <a:spcBef>
                  <a:spcPct val="50000"/>
                </a:spcBef>
              </a:pPr>
              <a:r>
                <a:rPr lang="en-US" b="1" i="1"/>
                <a:t>a</a:t>
              </a:r>
              <a:r>
                <a:rPr lang="en-US" i="1"/>
                <a:t>[</a:t>
              </a:r>
              <a:r>
                <a:rPr lang="en-US" b="1" i="1"/>
                <a:t>i</a:t>
              </a:r>
              <a:r>
                <a:rPr lang="en-US" i="1"/>
                <a:t>]</a:t>
              </a:r>
              <a:r>
                <a:rPr lang="en-US" b="1" i="1"/>
                <a:t>&lt;=x</a:t>
              </a:r>
              <a:endParaRPr lang="en-US"/>
            </a:p>
          </p:txBody>
        </p:sp>
        <p:sp>
          <p:nvSpPr>
            <p:cNvPr id="24590" name="Text Box 18"/>
            <p:cNvSpPr txBox="1">
              <a:spLocks noChangeArrowheads="1"/>
            </p:cNvSpPr>
            <p:nvPr/>
          </p:nvSpPr>
          <p:spPr bwMode="auto">
            <a:xfrm>
              <a:off x="3416" y="2550"/>
              <a:ext cx="1104" cy="288"/>
            </a:xfrm>
            <a:prstGeom prst="rect">
              <a:avLst/>
            </a:prstGeom>
            <a:noFill/>
            <a:ln w="9525">
              <a:noFill/>
              <a:miter lim="800000"/>
              <a:headEnd/>
              <a:tailEnd/>
            </a:ln>
          </p:spPr>
          <p:txBody>
            <a:bodyPr>
              <a:spAutoFit/>
            </a:bodyPr>
            <a:lstStyle/>
            <a:p>
              <a:pPr algn="l">
                <a:spcBef>
                  <a:spcPct val="50000"/>
                </a:spcBef>
              </a:pPr>
              <a:r>
                <a:rPr lang="en-US" b="1" i="1"/>
                <a:t>a</a:t>
              </a:r>
              <a:r>
                <a:rPr lang="en-US" i="1"/>
                <a:t>[</a:t>
              </a:r>
              <a:r>
                <a:rPr lang="en-US" b="1" i="1"/>
                <a:t>i</a:t>
              </a:r>
              <a:r>
                <a:rPr lang="en-US" i="1"/>
                <a:t>]</a:t>
              </a:r>
              <a:r>
                <a:rPr lang="en-US" b="1" i="1"/>
                <a:t>&gt;=x</a:t>
              </a:r>
            </a:p>
          </p:txBody>
        </p:sp>
      </p:grpSp>
      <p:sp>
        <p:nvSpPr>
          <p:cNvPr id="19" name="Slide Number Placeholder 18"/>
          <p:cNvSpPr>
            <a:spLocks noGrp="1"/>
          </p:cNvSpPr>
          <p:nvPr>
            <p:ph type="sldNum" sz="quarter" idx="12"/>
          </p:nvPr>
        </p:nvSpPr>
        <p:spPr/>
        <p:txBody>
          <a:bodyPr/>
          <a:lstStyle/>
          <a:p>
            <a:pPr>
              <a:defRPr/>
            </a:pPr>
            <a:fld id="{5D6F0725-7796-47E9-A349-B0737726A6ED}" type="slidenum">
              <a:rPr lang="en-US"/>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042988" y="333375"/>
            <a:ext cx="8101012" cy="6524625"/>
          </a:xfrm>
        </p:spPr>
        <p:txBody>
          <a:bodyPr/>
          <a:lstStyle/>
          <a:p>
            <a:pPr eaLnBrk="1" fontAlgn="auto" hangingPunct="1">
              <a:spcAft>
                <a:spcPts val="0"/>
              </a:spcAft>
              <a:defRPr/>
            </a:pPr>
            <a:r>
              <a:rPr lang="bg-BG" sz="2000">
                <a:solidFill>
                  <a:schemeClr val="tx1"/>
                </a:solidFill>
              </a:rPr>
              <a:t>Как да извършим разделянето на масива?</a:t>
            </a:r>
            <a:br>
              <a:rPr lang="bg-BG" sz="2000">
                <a:solidFill>
                  <a:schemeClr val="tx1"/>
                </a:solidFill>
              </a:rPr>
            </a:br>
            <a:r>
              <a:rPr lang="bg-BG" sz="2000">
                <a:solidFill>
                  <a:schemeClr val="tx1"/>
                </a:solidFill>
              </a:rPr>
              <a:t>Има два различни подхода или два варианта на </a:t>
            </a:r>
            <a:r>
              <a:rPr lang="en-US" sz="2000" i="1">
                <a:solidFill>
                  <a:schemeClr val="tx1"/>
                </a:solidFill>
              </a:rPr>
              <a:t>partition()</a:t>
            </a:r>
            <a:r>
              <a:rPr lang="en-US" sz="2000">
                <a:solidFill>
                  <a:schemeClr val="tx1"/>
                </a:solidFill>
              </a:rPr>
              <a:t> </a:t>
            </a:r>
            <a:r>
              <a:rPr lang="bg-BG" sz="2000">
                <a:solidFill>
                  <a:schemeClr val="tx1"/>
                </a:solidFill>
              </a:rPr>
              <a:t>.</a:t>
            </a:r>
            <a:br>
              <a:rPr lang="bg-BG" sz="2000">
                <a:solidFill>
                  <a:schemeClr val="tx1"/>
                </a:solidFill>
              </a:rPr>
            </a:br>
            <a:r>
              <a:rPr lang="bg-BG" sz="2000" u="sng">
                <a:solidFill>
                  <a:schemeClr val="tx1"/>
                </a:solidFill>
              </a:rPr>
              <a:t>Вариант </a:t>
            </a:r>
            <a:r>
              <a:rPr lang="bg-BG" sz="2000" u="sng">
                <a:solidFill>
                  <a:schemeClr val="tx1"/>
                </a:solidFill>
                <a:latin typeface="Arial" pitchFamily="34" charset="0"/>
                <a:cs typeface="Arial" pitchFamily="34" charset="0"/>
              </a:rPr>
              <a:t>1</a:t>
            </a:r>
            <a:r>
              <a:rPr lang="bg-BG" sz="2000" u="sng">
                <a:solidFill>
                  <a:schemeClr val="tx1"/>
                </a:solidFill>
              </a:rPr>
              <a:t>:</a:t>
            </a:r>
            <a:r>
              <a:rPr lang="bg-BG" sz="2000">
                <a:solidFill>
                  <a:schemeClr val="tx1"/>
                </a:solidFill>
              </a:rPr>
              <a:t> избира се елемент </a:t>
            </a:r>
            <a:r>
              <a:rPr lang="bg-BG" sz="2000" b="1" i="1">
                <a:solidFill>
                  <a:schemeClr val="tx1"/>
                </a:solidFill>
              </a:rPr>
              <a:t>х</a:t>
            </a:r>
            <a:r>
              <a:rPr lang="bg-BG" sz="2000">
                <a:solidFill>
                  <a:schemeClr val="tx1"/>
                </a:solidFill>
              </a:rPr>
              <a:t>, по който се извършва разделянето.  В лявата част на масива трябва да останат елементи, по-малки или равни на </a:t>
            </a:r>
            <a:r>
              <a:rPr lang="bg-BG" sz="2000" b="1" i="1">
                <a:solidFill>
                  <a:schemeClr val="tx1"/>
                </a:solidFill>
              </a:rPr>
              <a:t>х</a:t>
            </a:r>
            <a:r>
              <a:rPr lang="bg-BG" sz="2000">
                <a:solidFill>
                  <a:schemeClr val="tx1"/>
                </a:solidFill>
              </a:rPr>
              <a:t>, а в дясната - строго по-големи от </a:t>
            </a:r>
            <a:r>
              <a:rPr lang="bg-BG" sz="2000" b="1" i="1">
                <a:solidFill>
                  <a:schemeClr val="tx1"/>
                </a:solidFill>
              </a:rPr>
              <a:t>х</a:t>
            </a:r>
            <a:r>
              <a:rPr lang="bg-BG" sz="2000">
                <a:solidFill>
                  <a:schemeClr val="tx1"/>
                </a:solidFill>
              </a:rPr>
              <a:t> . Текущия дял от масива </a:t>
            </a:r>
            <a:r>
              <a:rPr lang="en-US" sz="2000" b="1" i="1">
                <a:solidFill>
                  <a:schemeClr val="tx1"/>
                </a:solidFill>
              </a:rPr>
              <a:t>a</a:t>
            </a:r>
            <a:r>
              <a:rPr lang="en-US" sz="2000" i="1">
                <a:solidFill>
                  <a:schemeClr val="tx1"/>
                </a:solidFill>
              </a:rPr>
              <a:t>[</a:t>
            </a:r>
            <a:r>
              <a:rPr lang="en-US" sz="2000" b="1" i="1">
                <a:solidFill>
                  <a:schemeClr val="tx1"/>
                </a:solidFill>
              </a:rPr>
              <a:t>L, L+</a:t>
            </a:r>
            <a:r>
              <a:rPr lang="en-US" sz="2000" b="1" i="1">
                <a:solidFill>
                  <a:schemeClr val="tx1"/>
                </a:solidFill>
                <a:latin typeface="Arial" pitchFamily="34" charset="0"/>
                <a:cs typeface="Arial" pitchFamily="34" charset="0"/>
              </a:rPr>
              <a:t>1</a:t>
            </a:r>
            <a:r>
              <a:rPr lang="en-US" sz="2000" b="1" i="1">
                <a:solidFill>
                  <a:schemeClr val="tx1"/>
                </a:solidFill>
              </a:rPr>
              <a:t>, …, R</a:t>
            </a:r>
            <a:r>
              <a:rPr lang="en-US" sz="2000" i="1">
                <a:solidFill>
                  <a:schemeClr val="tx1"/>
                </a:solidFill>
              </a:rPr>
              <a:t>]</a:t>
            </a:r>
            <a:r>
              <a:rPr lang="en-US" sz="2000">
                <a:solidFill>
                  <a:schemeClr val="tx1"/>
                </a:solidFill>
              </a:rPr>
              <a:t> </a:t>
            </a:r>
            <a:r>
              <a:rPr lang="bg-BG" sz="2000" smtClean="0">
                <a:solidFill>
                  <a:schemeClr val="tx1"/>
                </a:solidFill>
              </a:rPr>
              <a:t>се </a:t>
            </a:r>
            <a:r>
              <a:rPr lang="bg-BG" sz="2000">
                <a:solidFill>
                  <a:schemeClr val="tx1"/>
                </a:solidFill>
              </a:rPr>
              <a:t>разглежда отляво надясно, като при това в лявата му част се изгражда постоянно разширяваща се област от елементи, по-малки или равни на </a:t>
            </a:r>
            <a:r>
              <a:rPr lang="bg-BG" sz="2400" b="1" i="1">
                <a:solidFill>
                  <a:schemeClr val="tx1"/>
                </a:solidFill>
              </a:rPr>
              <a:t>х</a:t>
            </a:r>
            <a:r>
              <a:rPr lang="bg-BG" sz="2000">
                <a:solidFill>
                  <a:schemeClr val="tx1"/>
                </a:solidFill>
              </a:rPr>
              <a:t> . Десният край на областта се определя от </a:t>
            </a:r>
            <a:r>
              <a:rPr lang="en-US" sz="2400" b="1" i="1">
                <a:solidFill>
                  <a:schemeClr val="tx1"/>
                </a:solidFill>
              </a:rPr>
              <a:t>q</a:t>
            </a:r>
            <a:r>
              <a:rPr lang="bg-BG" sz="2000">
                <a:solidFill>
                  <a:schemeClr val="tx1"/>
                </a:solidFill>
              </a:rPr>
              <a:t>.  Когато </a:t>
            </a:r>
            <a:r>
              <a:rPr lang="en-US" sz="2400" b="1" i="1">
                <a:solidFill>
                  <a:schemeClr val="tx1"/>
                </a:solidFill>
              </a:rPr>
              <a:t>j</a:t>
            </a:r>
            <a:r>
              <a:rPr lang="bg-BG" sz="2000">
                <a:solidFill>
                  <a:schemeClr val="tx1"/>
                </a:solidFill>
              </a:rPr>
              <a:t> достигне края </a:t>
            </a:r>
            <a:r>
              <a:rPr lang="en-US" sz="2400" b="1" i="1">
                <a:solidFill>
                  <a:schemeClr val="tx1"/>
                </a:solidFill>
              </a:rPr>
              <a:t>R</a:t>
            </a:r>
            <a:r>
              <a:rPr lang="en-US" sz="2000">
                <a:solidFill>
                  <a:schemeClr val="tx1"/>
                </a:solidFill>
              </a:rPr>
              <a:t> </a:t>
            </a:r>
            <a:r>
              <a:rPr lang="bg-BG" sz="2000">
                <a:solidFill>
                  <a:schemeClr val="tx1"/>
                </a:solidFill>
              </a:rPr>
              <a:t>на дяла, </a:t>
            </a:r>
            <a:r>
              <a:rPr lang="en-US" sz="2400" b="1" i="1">
                <a:solidFill>
                  <a:schemeClr val="tx1"/>
                </a:solidFill>
              </a:rPr>
              <a:t>q</a:t>
            </a:r>
            <a:r>
              <a:rPr lang="bg-BG" sz="2000">
                <a:solidFill>
                  <a:schemeClr val="tx1"/>
                </a:solidFill>
              </a:rPr>
              <a:t> ще сочи границата между двете области.</a:t>
            </a:r>
            <a:br>
              <a:rPr lang="bg-BG" sz="2000">
                <a:solidFill>
                  <a:schemeClr val="tx1"/>
                </a:solidFill>
              </a:rPr>
            </a:br>
            <a:r>
              <a:rPr lang="bg-BG" sz="800">
                <a:solidFill>
                  <a:schemeClr val="tx1"/>
                </a:solidFill>
              </a:rPr>
              <a:t/>
            </a:r>
            <a:br>
              <a:rPr lang="bg-BG" sz="800">
                <a:solidFill>
                  <a:schemeClr val="tx1"/>
                </a:solidFill>
              </a:rPr>
            </a:br>
            <a:r>
              <a:rPr lang="en-US" sz="2000" i="1">
                <a:solidFill>
                  <a:schemeClr val="tx1"/>
                </a:solidFill>
              </a:rPr>
              <a:t>unsigned partition1 (int </a:t>
            </a:r>
            <a:r>
              <a:rPr lang="bg-BG" sz="2000" i="1">
                <a:solidFill>
                  <a:schemeClr val="tx1"/>
                </a:solidFill>
              </a:rPr>
              <a:t>L</a:t>
            </a:r>
            <a:r>
              <a:rPr lang="en-US" sz="2000" i="1">
                <a:solidFill>
                  <a:schemeClr val="tx1"/>
                </a:solidFill>
              </a:rPr>
              <a:t>, int R)</a:t>
            </a:r>
            <a:br>
              <a:rPr lang="en-US" sz="2000" i="1">
                <a:solidFill>
                  <a:schemeClr val="tx1"/>
                </a:solidFill>
              </a:rPr>
            </a:br>
            <a:r>
              <a:rPr lang="en-US" sz="2000" i="1">
                <a:solidFill>
                  <a:schemeClr val="tx1"/>
                </a:solidFill>
              </a:rPr>
              <a:t>{ int q, j, x, rab;</a:t>
            </a:r>
            <a:br>
              <a:rPr lang="en-US" sz="2000" i="1">
                <a:solidFill>
                  <a:schemeClr val="tx1"/>
                </a:solidFill>
              </a:rPr>
            </a:br>
            <a:r>
              <a:rPr lang="en-US" sz="2000" i="1">
                <a:solidFill>
                  <a:schemeClr val="tx1"/>
                </a:solidFill>
              </a:rPr>
              <a:t>   q=L-</a:t>
            </a:r>
            <a:r>
              <a:rPr lang="en-US" sz="2000" i="1">
                <a:solidFill>
                  <a:schemeClr val="tx1"/>
                </a:solidFill>
                <a:latin typeface="Arial" pitchFamily="34" charset="0"/>
                <a:cs typeface="Arial" pitchFamily="34" charset="0"/>
              </a:rPr>
              <a:t>1</a:t>
            </a:r>
            <a:r>
              <a:rPr lang="en-US" sz="2000" i="1">
                <a:solidFill>
                  <a:schemeClr val="tx1"/>
                </a:solidFill>
              </a:rPr>
              <a:t>; x=a[R];</a:t>
            </a:r>
            <a:br>
              <a:rPr lang="en-US" sz="2000" i="1">
                <a:solidFill>
                  <a:schemeClr val="tx1"/>
                </a:solidFill>
              </a:rPr>
            </a:br>
            <a:r>
              <a:rPr lang="en-US" sz="2000" i="1">
                <a:solidFill>
                  <a:schemeClr val="tx1"/>
                </a:solidFill>
              </a:rPr>
              <a:t>   for (j=L; j&lt;=R, j++)</a:t>
            </a:r>
            <a:br>
              <a:rPr lang="en-US" sz="2000" i="1">
                <a:solidFill>
                  <a:schemeClr val="tx1"/>
                </a:solidFill>
              </a:rPr>
            </a:br>
            <a:r>
              <a:rPr lang="en-US" sz="2000" i="1">
                <a:solidFill>
                  <a:schemeClr val="tx1"/>
                </a:solidFill>
              </a:rPr>
              <a:t>       if (a[j]&lt;=x)</a:t>
            </a:r>
            <a:br>
              <a:rPr lang="en-US" sz="2000" i="1">
                <a:solidFill>
                  <a:schemeClr val="tx1"/>
                </a:solidFill>
              </a:rPr>
            </a:br>
            <a:r>
              <a:rPr lang="en-US" sz="2000" i="1">
                <a:solidFill>
                  <a:schemeClr val="tx1"/>
                </a:solidFill>
              </a:rPr>
              <a:t>          { rab=a[q]; a[q]=a[j]; a[j]=rab; </a:t>
            </a:r>
            <a:br>
              <a:rPr lang="en-US" sz="2000" i="1">
                <a:solidFill>
                  <a:schemeClr val="tx1"/>
                </a:solidFill>
              </a:rPr>
            </a:br>
            <a:r>
              <a:rPr lang="en-US" sz="2000" i="1">
                <a:solidFill>
                  <a:schemeClr val="tx1"/>
                </a:solidFill>
              </a:rPr>
              <a:t>             q++;</a:t>
            </a:r>
            <a:br>
              <a:rPr lang="en-US" sz="2000" i="1">
                <a:solidFill>
                  <a:schemeClr val="tx1"/>
                </a:solidFill>
              </a:rPr>
            </a:br>
            <a:r>
              <a:rPr lang="en-US" sz="2000" i="1">
                <a:solidFill>
                  <a:schemeClr val="tx1"/>
                </a:solidFill>
              </a:rPr>
              <a:t>           }</a:t>
            </a:r>
            <a:br>
              <a:rPr lang="en-US" sz="2000" i="1">
                <a:solidFill>
                  <a:schemeClr val="tx1"/>
                </a:solidFill>
              </a:rPr>
            </a:br>
            <a:r>
              <a:rPr lang="en-US" sz="2000" i="1">
                <a:solidFill>
                  <a:schemeClr val="tx1"/>
                </a:solidFill>
              </a:rPr>
              <a:t>   if (j==R) </a:t>
            </a:r>
            <a:r>
              <a:rPr lang="bg-BG" sz="2000" i="1">
                <a:solidFill>
                  <a:schemeClr val="tx1"/>
                </a:solidFill>
              </a:rPr>
              <a:t>   </a:t>
            </a:r>
            <a:r>
              <a:rPr lang="en-US" sz="2000" i="1">
                <a:solidFill>
                  <a:schemeClr val="tx1"/>
                </a:solidFill>
              </a:rPr>
              <a:t> q--;</a:t>
            </a:r>
            <a:br>
              <a:rPr lang="en-US" sz="2000" i="1">
                <a:solidFill>
                  <a:schemeClr val="tx1"/>
                </a:solidFill>
              </a:rPr>
            </a:br>
            <a:r>
              <a:rPr lang="bg-BG" sz="2000" i="1">
                <a:solidFill>
                  <a:schemeClr val="tx1"/>
                </a:solidFill>
              </a:rPr>
              <a:t>   </a:t>
            </a:r>
            <a:r>
              <a:rPr lang="en-US" sz="2000" i="1">
                <a:solidFill>
                  <a:schemeClr val="tx1"/>
                </a:solidFill>
              </a:rPr>
              <a:t>return q;</a:t>
            </a:r>
            <a:br>
              <a:rPr lang="en-US" sz="2000" i="1">
                <a:solidFill>
                  <a:schemeClr val="tx1"/>
                </a:solidFill>
              </a:rPr>
            </a:br>
            <a:r>
              <a:rPr lang="en-US" sz="2000" i="1">
                <a:solidFill>
                  <a:schemeClr val="tx1"/>
                </a:solidFill>
              </a:rPr>
              <a:t>}</a:t>
            </a:r>
          </a:p>
        </p:txBody>
      </p:sp>
      <p:sp>
        <p:nvSpPr>
          <p:cNvPr id="5" name="Slide Number Placeholder 4"/>
          <p:cNvSpPr>
            <a:spLocks noGrp="1"/>
          </p:cNvSpPr>
          <p:nvPr>
            <p:ph type="sldNum" sz="quarter" idx="12"/>
          </p:nvPr>
        </p:nvSpPr>
        <p:spPr/>
        <p:txBody>
          <a:bodyPr/>
          <a:lstStyle/>
          <a:p>
            <a:pPr>
              <a:defRPr/>
            </a:pPr>
            <a:fld id="{7EF4F2A7-66B8-4E0B-B9C9-093B9F0BBCF0}" type="slidenum">
              <a:rPr lang="en-US"/>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042988" y="260350"/>
            <a:ext cx="8101012" cy="6408738"/>
          </a:xfrm>
        </p:spPr>
        <p:txBody>
          <a:bodyPr>
            <a:normAutofit fontScale="90000"/>
          </a:bodyPr>
          <a:lstStyle/>
          <a:p>
            <a:pPr eaLnBrk="1" fontAlgn="auto" hangingPunct="1">
              <a:lnSpc>
                <a:spcPct val="90000"/>
              </a:lnSpc>
              <a:spcAft>
                <a:spcPts val="0"/>
              </a:spcAft>
              <a:defRPr/>
            </a:pPr>
            <a:r>
              <a:rPr lang="bg-BG" sz="2000" u="sng">
                <a:solidFill>
                  <a:schemeClr val="tx1"/>
                </a:solidFill>
              </a:rPr>
              <a:t>Вариант </a:t>
            </a:r>
            <a:r>
              <a:rPr lang="bg-BG" sz="2000" u="sng">
                <a:solidFill>
                  <a:schemeClr val="tx1"/>
                </a:solidFill>
                <a:latin typeface="Arial" pitchFamily="34" charset="0"/>
                <a:cs typeface="Arial" pitchFamily="34" charset="0"/>
              </a:rPr>
              <a:t>2</a:t>
            </a:r>
            <a:r>
              <a:rPr lang="bg-BG" sz="2000" u="sng">
                <a:solidFill>
                  <a:schemeClr val="tx1"/>
                </a:solidFill>
              </a:rPr>
              <a:t>:</a:t>
            </a:r>
            <a:r>
              <a:rPr lang="bg-BG" sz="2000">
                <a:solidFill>
                  <a:schemeClr val="tx1"/>
                </a:solidFill>
              </a:rPr>
              <a:t> използват се два индекса - </a:t>
            </a:r>
            <a:r>
              <a:rPr lang="en-US" sz="2400" b="1" i="1">
                <a:solidFill>
                  <a:schemeClr val="tx1"/>
                </a:solidFill>
              </a:rPr>
              <a:t>j </a:t>
            </a:r>
            <a:r>
              <a:rPr lang="en-US" sz="2000">
                <a:solidFill>
                  <a:schemeClr val="tx1"/>
                </a:solidFill>
              </a:rPr>
              <a:t>и</a:t>
            </a:r>
            <a:r>
              <a:rPr lang="bg-BG" sz="2400" b="1" i="1">
                <a:solidFill>
                  <a:schemeClr val="tx1"/>
                </a:solidFill>
              </a:rPr>
              <a:t> </a:t>
            </a:r>
            <a:r>
              <a:rPr lang="en-US" sz="2400" b="1" i="1">
                <a:solidFill>
                  <a:schemeClr val="tx1"/>
                </a:solidFill>
              </a:rPr>
              <a:t>i </a:t>
            </a:r>
            <a:r>
              <a:rPr lang="bg-BG" sz="2000">
                <a:solidFill>
                  <a:schemeClr val="tx1"/>
                </a:solidFill>
              </a:rPr>
              <a:t>, показващи границите на две непрекъснато разширяващи се области от двата края към центъра. На всяка стъпка на алгоритъма се прави опит за разширяване на лявата област надясно, докато това е възможно, т. е. докато вдясно от нея стои елемент, по-малък или равен на  </a:t>
            </a:r>
            <a:r>
              <a:rPr lang="bg-BG" sz="2400" b="1" i="1">
                <a:solidFill>
                  <a:schemeClr val="tx1"/>
                </a:solidFill>
              </a:rPr>
              <a:t>х</a:t>
            </a:r>
            <a:r>
              <a:rPr lang="bg-BG" sz="2000">
                <a:solidFill>
                  <a:schemeClr val="tx1"/>
                </a:solidFill>
              </a:rPr>
              <a:t> . Същото се извършва и за дясната област (двата </a:t>
            </a:r>
            <a:r>
              <a:rPr lang="en-US" sz="2000" i="1">
                <a:solidFill>
                  <a:schemeClr val="tx1"/>
                </a:solidFill>
              </a:rPr>
              <a:t>while</a:t>
            </a:r>
            <a:r>
              <a:rPr lang="en-US" sz="2000">
                <a:solidFill>
                  <a:schemeClr val="tx1"/>
                </a:solidFill>
              </a:rPr>
              <a:t>-</a:t>
            </a:r>
            <a:r>
              <a:rPr lang="bg-BG" sz="2000">
                <a:solidFill>
                  <a:schemeClr val="tx1"/>
                </a:solidFill>
              </a:rPr>
              <a:t>цикъла). След това се разменят местата на двата елемента-прегради зa лявата и дясната области, които са спрели разширяването им, и процесът се повтаря отначало. Приключва при “срещане” на двете области, т. е. когато двете им граници се разминат. Индексът </a:t>
            </a:r>
            <a:r>
              <a:rPr lang="en-US" sz="2400" b="1" i="1">
                <a:solidFill>
                  <a:schemeClr val="tx1"/>
                </a:solidFill>
              </a:rPr>
              <a:t>i</a:t>
            </a:r>
            <a:r>
              <a:rPr lang="bg-BG" sz="2000">
                <a:solidFill>
                  <a:schemeClr val="tx1"/>
                </a:solidFill>
              </a:rPr>
              <a:t> сочи десния край на лявата област, а  </a:t>
            </a:r>
            <a:r>
              <a:rPr lang="en-US" sz="2400" b="1" i="1">
                <a:solidFill>
                  <a:schemeClr val="tx1"/>
                </a:solidFill>
              </a:rPr>
              <a:t>j </a:t>
            </a:r>
            <a:r>
              <a:rPr lang="bg-BG" sz="2000">
                <a:solidFill>
                  <a:schemeClr val="tx1"/>
                </a:solidFill>
              </a:rPr>
              <a:t>- левия край на дясната: </a:t>
            </a:r>
            <a:br>
              <a:rPr lang="bg-BG" sz="2000">
                <a:solidFill>
                  <a:schemeClr val="tx1"/>
                </a:solidFill>
              </a:rPr>
            </a:br>
            <a:r>
              <a:rPr lang="bg-BG" sz="800">
                <a:solidFill>
                  <a:schemeClr val="tx1"/>
                </a:solidFill>
              </a:rPr>
              <a:t/>
            </a:r>
            <a:br>
              <a:rPr lang="bg-BG" sz="800">
                <a:solidFill>
                  <a:schemeClr val="tx1"/>
                </a:solidFill>
              </a:rPr>
            </a:br>
            <a:r>
              <a:rPr lang="en-US" sz="2000" i="1">
                <a:solidFill>
                  <a:schemeClr val="tx1"/>
                </a:solidFill>
              </a:rPr>
              <a:t>unsigned partition2 (int </a:t>
            </a:r>
            <a:r>
              <a:rPr lang="bg-BG" sz="2000" i="1">
                <a:solidFill>
                  <a:schemeClr val="tx1"/>
                </a:solidFill>
              </a:rPr>
              <a:t>L</a:t>
            </a:r>
            <a:r>
              <a:rPr lang="en-US" sz="2000" i="1">
                <a:solidFill>
                  <a:schemeClr val="tx1"/>
                </a:solidFill>
              </a:rPr>
              <a:t>, int R)</a:t>
            </a:r>
            <a:br>
              <a:rPr lang="en-US" sz="2000" i="1">
                <a:solidFill>
                  <a:schemeClr val="tx1"/>
                </a:solidFill>
              </a:rPr>
            </a:br>
            <a:r>
              <a:rPr lang="en-US" sz="2000" i="1">
                <a:solidFill>
                  <a:schemeClr val="tx1"/>
                </a:solidFill>
              </a:rPr>
              <a:t>{ int i, j, x, rab;</a:t>
            </a:r>
            <a:br>
              <a:rPr lang="en-US" sz="2000" i="1">
                <a:solidFill>
                  <a:schemeClr val="tx1"/>
                </a:solidFill>
              </a:rPr>
            </a:br>
            <a:r>
              <a:rPr lang="en-US" sz="2000" i="1">
                <a:solidFill>
                  <a:schemeClr val="tx1"/>
                </a:solidFill>
              </a:rPr>
              <a:t>   i=L; </a:t>
            </a:r>
            <a:r>
              <a:rPr lang="bg-BG" sz="2000" i="1" smtClean="0">
                <a:solidFill>
                  <a:schemeClr val="tx1"/>
                </a:solidFill>
              </a:rPr>
              <a:t> </a:t>
            </a:r>
            <a:r>
              <a:rPr lang="en-US" sz="2000" i="1" smtClean="0">
                <a:solidFill>
                  <a:schemeClr val="tx1"/>
                </a:solidFill>
              </a:rPr>
              <a:t>j=R</a:t>
            </a:r>
            <a:r>
              <a:rPr lang="en-US" sz="2000" i="1">
                <a:solidFill>
                  <a:schemeClr val="tx1"/>
                </a:solidFill>
              </a:rPr>
              <a:t>; </a:t>
            </a:r>
            <a:r>
              <a:rPr lang="bg-BG" sz="2000" i="1" smtClean="0">
                <a:solidFill>
                  <a:schemeClr val="tx1"/>
                </a:solidFill>
              </a:rPr>
              <a:t> </a:t>
            </a:r>
            <a:r>
              <a:rPr lang="en-US" sz="2000" i="1" smtClean="0">
                <a:solidFill>
                  <a:schemeClr val="tx1"/>
                </a:solidFill>
              </a:rPr>
              <a:t>x=a[L</a:t>
            </a:r>
            <a:r>
              <a:rPr lang="en-US" sz="2000" i="1">
                <a:solidFill>
                  <a:schemeClr val="tx1"/>
                </a:solidFill>
              </a:rPr>
              <a:t>];</a:t>
            </a:r>
            <a:br>
              <a:rPr lang="en-US" sz="2000" i="1">
                <a:solidFill>
                  <a:schemeClr val="tx1"/>
                </a:solidFill>
              </a:rPr>
            </a:br>
            <a:r>
              <a:rPr lang="en-US" sz="2000" i="1">
                <a:solidFill>
                  <a:schemeClr val="tx1"/>
                </a:solidFill>
              </a:rPr>
              <a:t>   do</a:t>
            </a:r>
            <a:br>
              <a:rPr lang="en-US" sz="2000" i="1">
                <a:solidFill>
                  <a:schemeClr val="tx1"/>
                </a:solidFill>
              </a:rPr>
            </a:br>
            <a:r>
              <a:rPr lang="en-US" sz="2000" i="1">
                <a:solidFill>
                  <a:schemeClr val="tx1"/>
                </a:solidFill>
              </a:rPr>
              <a:t>      {  while (x&gt;a[i])    i++; </a:t>
            </a:r>
            <a:br>
              <a:rPr lang="en-US" sz="2000" i="1">
                <a:solidFill>
                  <a:schemeClr val="tx1"/>
                </a:solidFill>
              </a:rPr>
            </a:br>
            <a:r>
              <a:rPr lang="en-US" sz="2000" i="1">
                <a:solidFill>
                  <a:schemeClr val="tx1"/>
                </a:solidFill>
              </a:rPr>
              <a:t>          while (x&lt;a[j])    j--;</a:t>
            </a:r>
            <a:br>
              <a:rPr lang="en-US" sz="2000" i="1">
                <a:solidFill>
                  <a:schemeClr val="tx1"/>
                </a:solidFill>
              </a:rPr>
            </a:br>
            <a:r>
              <a:rPr lang="en-US" sz="2000" i="1">
                <a:solidFill>
                  <a:schemeClr val="tx1"/>
                </a:solidFill>
              </a:rPr>
              <a:t>          if (i&lt;=j)</a:t>
            </a:r>
            <a:br>
              <a:rPr lang="en-US" sz="2000" i="1">
                <a:solidFill>
                  <a:schemeClr val="tx1"/>
                </a:solidFill>
              </a:rPr>
            </a:br>
            <a:r>
              <a:rPr lang="en-US" sz="2000" i="1">
                <a:solidFill>
                  <a:schemeClr val="tx1"/>
                </a:solidFill>
              </a:rPr>
              <a:t>             {rab=a[i]; a[i]=a[j]; a[j]=rab; i++; j--; }</a:t>
            </a:r>
            <a:br>
              <a:rPr lang="en-US" sz="2000" i="1">
                <a:solidFill>
                  <a:schemeClr val="tx1"/>
                </a:solidFill>
              </a:rPr>
            </a:br>
            <a:r>
              <a:rPr lang="en-US" sz="2000" i="1">
                <a:solidFill>
                  <a:schemeClr val="tx1"/>
                </a:solidFill>
              </a:rPr>
              <a:t>      }</a:t>
            </a:r>
            <a:br>
              <a:rPr lang="en-US" sz="2000" i="1">
                <a:solidFill>
                  <a:schemeClr val="tx1"/>
                </a:solidFill>
              </a:rPr>
            </a:br>
            <a:r>
              <a:rPr lang="en-US" sz="2000" i="1">
                <a:solidFill>
                  <a:schemeClr val="tx1"/>
                </a:solidFill>
              </a:rPr>
              <a:t>   while (i &lt;=j);  </a:t>
            </a:r>
            <a:br>
              <a:rPr lang="en-US" sz="2000" i="1">
                <a:solidFill>
                  <a:schemeClr val="tx1"/>
                </a:solidFill>
              </a:rPr>
            </a:br>
            <a:r>
              <a:rPr lang="en-US" sz="2000" i="1">
                <a:solidFill>
                  <a:schemeClr val="tx1"/>
                </a:solidFill>
              </a:rPr>
              <a:t>  </a:t>
            </a:r>
            <a:r>
              <a:rPr lang="bg-BG" sz="2000" i="1">
                <a:solidFill>
                  <a:schemeClr val="tx1"/>
                </a:solidFill>
              </a:rPr>
              <a:t> </a:t>
            </a:r>
            <a:r>
              <a:rPr lang="en-US" sz="2000" i="1">
                <a:solidFill>
                  <a:schemeClr val="tx1"/>
                </a:solidFill>
              </a:rPr>
              <a:t>return j;</a:t>
            </a:r>
            <a:br>
              <a:rPr lang="en-US" sz="2000" i="1">
                <a:solidFill>
                  <a:schemeClr val="tx1"/>
                </a:solidFill>
              </a:rPr>
            </a:br>
            <a:r>
              <a:rPr lang="en-US" sz="2000" i="1">
                <a:solidFill>
                  <a:schemeClr val="tx1"/>
                </a:solidFill>
              </a:rPr>
              <a:t>}</a:t>
            </a:r>
          </a:p>
        </p:txBody>
      </p:sp>
      <p:sp>
        <p:nvSpPr>
          <p:cNvPr id="5" name="Slide Number Placeholder 4"/>
          <p:cNvSpPr>
            <a:spLocks noGrp="1"/>
          </p:cNvSpPr>
          <p:nvPr>
            <p:ph type="sldNum" sz="quarter" idx="12"/>
          </p:nvPr>
        </p:nvSpPr>
        <p:spPr/>
        <p:txBody>
          <a:bodyPr/>
          <a:lstStyle/>
          <a:p>
            <a:pPr>
              <a:defRPr/>
            </a:pPr>
            <a:fld id="{A6FA5A1B-7DF4-450F-82B3-01A4A3E2762B}" type="slidenum">
              <a:rPr lang="en-US"/>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052513" y="609600"/>
            <a:ext cx="8027987" cy="5943600"/>
          </a:xfrm>
        </p:spPr>
        <p:txBody>
          <a:bodyPr>
            <a:normAutofit fontScale="90000"/>
          </a:bodyPr>
          <a:lstStyle/>
          <a:p>
            <a:pPr eaLnBrk="1" fontAlgn="auto" hangingPunct="1">
              <a:spcAft>
                <a:spcPts val="0"/>
              </a:spcAft>
              <a:defRPr/>
            </a:pPr>
            <a:r>
              <a:rPr lang="bg-BG" sz="2000">
                <a:solidFill>
                  <a:schemeClr val="tx1"/>
                </a:solidFill>
              </a:rPr>
              <a:t>	</a:t>
            </a:r>
            <a:r>
              <a:rPr lang="bg-BG" sz="2200">
                <a:solidFill>
                  <a:schemeClr val="tx1"/>
                </a:solidFill>
              </a:rPr>
              <a:t>За сортиране на двете части на масива се извършват две последователни рекурсивни обръщения. Т. к. второто винаги се отлага (двете обръщения не могат да се извършат едновременно!), то може да се реализира итеративно - чрез цикъл.</a:t>
            </a:r>
            <a:br>
              <a:rPr lang="bg-BG" sz="2200">
                <a:solidFill>
                  <a:schemeClr val="tx1"/>
                </a:solidFill>
              </a:rPr>
            </a:br>
            <a:r>
              <a:rPr lang="bg-BG" sz="2200">
                <a:solidFill>
                  <a:schemeClr val="tx1"/>
                </a:solidFill>
              </a:rPr>
              <a:t>	Възможно е алгоритъмът изцяло да бъде реализиран итеративно - чрез използване на специално създаден за целта стек. На всяка стъпка лявата част на масива ще се обработва директно, докато дясната част ще се поставя в стека, като обработката й ще се отлага до момента, когато се приключи окончателно с лявата част и всички свързани с нея подзадачи.</a:t>
            </a:r>
            <a:br>
              <a:rPr lang="bg-BG" sz="2200">
                <a:solidFill>
                  <a:schemeClr val="tx1"/>
                </a:solidFill>
              </a:rPr>
            </a:br>
            <a:r>
              <a:rPr lang="bg-BG" sz="2200">
                <a:solidFill>
                  <a:schemeClr val="tx1"/>
                </a:solidFill>
              </a:rPr>
              <a:t>	Остава открит въпроса: как да се избира средния елемент - </a:t>
            </a:r>
            <a:r>
              <a:rPr lang="bg-BG" sz="2400" b="1" i="1">
                <a:solidFill>
                  <a:schemeClr val="tx1"/>
                </a:solidFill>
              </a:rPr>
              <a:t>х</a:t>
            </a:r>
            <a:r>
              <a:rPr lang="bg-BG" sz="2200">
                <a:solidFill>
                  <a:schemeClr val="tx1"/>
                </a:solidFill>
              </a:rPr>
              <a:t>?</a:t>
            </a:r>
            <a:br>
              <a:rPr lang="bg-BG" sz="2200">
                <a:solidFill>
                  <a:schemeClr val="tx1"/>
                </a:solidFill>
              </a:rPr>
            </a:br>
            <a:r>
              <a:rPr lang="bg-BG" sz="2200">
                <a:solidFill>
                  <a:schemeClr val="tx1"/>
                </a:solidFill>
              </a:rPr>
              <a:t>Най-добре на всяка стъпка (при всяко сегментиране) да се избира </a:t>
            </a:r>
            <a:r>
              <a:rPr lang="bg-BG" sz="2200" i="1">
                <a:solidFill>
                  <a:schemeClr val="tx1"/>
                </a:solidFill>
              </a:rPr>
              <a:t>средния по големина</a:t>
            </a:r>
            <a:r>
              <a:rPr lang="bg-BG" sz="2200">
                <a:solidFill>
                  <a:schemeClr val="tx1"/>
                </a:solidFill>
              </a:rPr>
              <a:t> елемент. Тогава общия брой сравнения ще бъде </a:t>
            </a:r>
            <a:r>
              <a:rPr lang="en-US" sz="2200" b="1" i="1">
                <a:solidFill>
                  <a:schemeClr val="tx1"/>
                </a:solidFill>
              </a:rPr>
              <a:t>n*log</a:t>
            </a:r>
            <a:r>
              <a:rPr lang="en-US" sz="2200" b="1" i="1" baseline="-25000">
                <a:solidFill>
                  <a:schemeClr val="tx1"/>
                </a:solidFill>
              </a:rPr>
              <a:t>2</a:t>
            </a:r>
            <a:r>
              <a:rPr lang="en-US" sz="2200" b="1" i="1">
                <a:solidFill>
                  <a:schemeClr val="tx1"/>
                </a:solidFill>
              </a:rPr>
              <a:t>n</a:t>
            </a:r>
            <a:r>
              <a:rPr lang="en-US" sz="2200">
                <a:solidFill>
                  <a:schemeClr val="tx1"/>
                </a:solidFill>
              </a:rPr>
              <a:t>. </a:t>
            </a:r>
            <a:r>
              <a:rPr lang="bg-BG" sz="2200">
                <a:solidFill>
                  <a:schemeClr val="tx1"/>
                </a:solidFill>
              </a:rPr>
              <a:t>Очакваният брой размени при всяко разделяне е от порядъка на </a:t>
            </a:r>
            <a:r>
              <a:rPr lang="bg-BG" sz="2200" b="1" i="1">
                <a:solidFill>
                  <a:schemeClr val="tx1"/>
                </a:solidFill>
              </a:rPr>
              <a:t>n</a:t>
            </a:r>
            <a:r>
              <a:rPr lang="bg-BG" sz="2200" b="1">
                <a:solidFill>
                  <a:schemeClr val="tx1"/>
                </a:solidFill>
              </a:rPr>
              <a:t>/6</a:t>
            </a:r>
            <a:r>
              <a:rPr lang="bg-BG" sz="2200">
                <a:solidFill>
                  <a:schemeClr val="tx1"/>
                </a:solidFill>
              </a:rPr>
              <a:t>. Оттук броят на размените в оптималния случай е: </a:t>
            </a:r>
            <a:br>
              <a:rPr lang="bg-BG" sz="2200">
                <a:solidFill>
                  <a:schemeClr val="tx1"/>
                </a:solidFill>
              </a:rPr>
            </a:br>
            <a:r>
              <a:rPr lang="bg-BG" sz="2200">
                <a:solidFill>
                  <a:schemeClr val="tx1"/>
                </a:solidFill>
              </a:rPr>
              <a:t>			</a:t>
            </a:r>
            <a:r>
              <a:rPr lang="bg-BG" sz="2200" b="1" i="1">
                <a:solidFill>
                  <a:schemeClr val="tx1"/>
                </a:solidFill>
              </a:rPr>
              <a:t>(</a:t>
            </a:r>
            <a:r>
              <a:rPr lang="en-US" sz="2200" b="1" i="1">
                <a:solidFill>
                  <a:schemeClr val="tx1"/>
                </a:solidFill>
              </a:rPr>
              <a:t>n/6)* n*log</a:t>
            </a:r>
            <a:r>
              <a:rPr lang="en-US" sz="2200" b="1" i="1" baseline="-25000">
                <a:solidFill>
                  <a:schemeClr val="tx1"/>
                </a:solidFill>
              </a:rPr>
              <a:t>2</a:t>
            </a:r>
            <a:r>
              <a:rPr lang="en-US" sz="2200" b="1" i="1">
                <a:solidFill>
                  <a:schemeClr val="tx1"/>
                </a:solidFill>
              </a:rPr>
              <a:t>n</a:t>
            </a:r>
            <a:r>
              <a:rPr lang="bg-BG" sz="2200">
                <a:solidFill>
                  <a:schemeClr val="tx1"/>
                </a:solidFill>
              </a:rPr>
              <a:t> </a:t>
            </a:r>
            <a:br>
              <a:rPr lang="bg-BG" sz="2200">
                <a:solidFill>
                  <a:schemeClr val="tx1"/>
                </a:solidFill>
              </a:rPr>
            </a:br>
            <a:r>
              <a:rPr lang="bg-BG" sz="2200">
                <a:solidFill>
                  <a:schemeClr val="tx1"/>
                </a:solidFill>
              </a:rPr>
              <a:t>Вероятността да улучим средния елемент е </a:t>
            </a:r>
            <a:r>
              <a:rPr lang="bg-BG" sz="2200">
                <a:solidFill>
                  <a:schemeClr val="tx1"/>
                </a:solidFill>
                <a:latin typeface="Arial" pitchFamily="34" charset="0"/>
                <a:cs typeface="Arial" pitchFamily="34" charset="0"/>
              </a:rPr>
              <a:t>1</a:t>
            </a:r>
            <a:r>
              <a:rPr lang="en-US" sz="2200">
                <a:solidFill>
                  <a:schemeClr val="tx1"/>
                </a:solidFill>
                <a:latin typeface="Arial" pitchFamily="34" charset="0"/>
                <a:cs typeface="Arial" pitchFamily="34" charset="0"/>
              </a:rPr>
              <a:t>/</a:t>
            </a:r>
            <a:r>
              <a:rPr lang="en-US" sz="2200" b="1" i="1">
                <a:solidFill>
                  <a:schemeClr val="tx1"/>
                </a:solidFill>
              </a:rPr>
              <a:t>n</a:t>
            </a:r>
            <a:r>
              <a:rPr lang="bg-BG" sz="2200">
                <a:solidFill>
                  <a:schemeClr val="tx1"/>
                </a:solidFill>
              </a:rPr>
              <a:t>, но средната ефективност на бързото сортиране не зависи само от </a:t>
            </a:r>
            <a:r>
              <a:rPr lang="en-US" sz="2200" b="1" i="1">
                <a:solidFill>
                  <a:schemeClr val="tx1"/>
                </a:solidFill>
              </a:rPr>
              <a:t>n</a:t>
            </a:r>
            <a:r>
              <a:rPr lang="en-US" sz="2200">
                <a:solidFill>
                  <a:schemeClr val="tx1"/>
                </a:solidFill>
              </a:rPr>
              <a:t>.</a:t>
            </a:r>
          </a:p>
        </p:txBody>
      </p:sp>
      <p:sp>
        <p:nvSpPr>
          <p:cNvPr id="5" name="Slide Number Placeholder 4"/>
          <p:cNvSpPr>
            <a:spLocks noGrp="1"/>
          </p:cNvSpPr>
          <p:nvPr>
            <p:ph type="sldNum" sz="quarter" idx="12"/>
          </p:nvPr>
        </p:nvSpPr>
        <p:spPr/>
        <p:txBody>
          <a:bodyPr/>
          <a:lstStyle/>
          <a:p>
            <a:pPr>
              <a:defRPr/>
            </a:pPr>
            <a:fld id="{899C8B9F-3718-4EAF-84DE-F8842F3CECCA}" type="slidenum">
              <a:rPr lang="en-US"/>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042988" y="333375"/>
            <a:ext cx="7921625" cy="6219825"/>
          </a:xfrm>
        </p:spPr>
        <p:txBody>
          <a:bodyPr/>
          <a:lstStyle/>
          <a:p>
            <a:pPr eaLnBrk="1" fontAlgn="auto" hangingPunct="1">
              <a:spcAft>
                <a:spcPts val="0"/>
              </a:spcAft>
              <a:defRPr/>
            </a:pPr>
            <a:r>
              <a:rPr lang="en-US" sz="2200">
                <a:solidFill>
                  <a:schemeClr val="tx1"/>
                </a:solidFill>
              </a:rPr>
              <a:t>	В</a:t>
            </a:r>
            <a:r>
              <a:rPr lang="bg-BG" sz="2200">
                <a:solidFill>
                  <a:schemeClr val="tx1"/>
                </a:solidFill>
              </a:rPr>
              <a:t>се пак, как да избираме елемента </a:t>
            </a:r>
            <a:r>
              <a:rPr lang="bg-BG" sz="2400" b="1" i="1">
                <a:solidFill>
                  <a:schemeClr val="tx1"/>
                </a:solidFill>
              </a:rPr>
              <a:t>х</a:t>
            </a:r>
            <a:r>
              <a:rPr lang="bg-BG" sz="2200">
                <a:solidFill>
                  <a:schemeClr val="tx1"/>
                </a:solidFill>
              </a:rPr>
              <a:t>, относно който разделяме масива? Един възможен подход е да вземаме винаги фиксиран елемент от масива, например първия, последния или средния (с индекс </a:t>
            </a:r>
            <a:r>
              <a:rPr lang="en-US" sz="2200">
                <a:solidFill>
                  <a:schemeClr val="tx1"/>
                </a:solidFill>
              </a:rPr>
              <a:t>[</a:t>
            </a:r>
            <a:r>
              <a:rPr lang="en-US" sz="2200" b="1" i="1">
                <a:solidFill>
                  <a:schemeClr val="tx1"/>
                </a:solidFill>
              </a:rPr>
              <a:t>n</a:t>
            </a:r>
            <a:r>
              <a:rPr lang="en-US" sz="2200" i="1">
                <a:solidFill>
                  <a:schemeClr val="tx1"/>
                </a:solidFill>
              </a:rPr>
              <a:t>/2</a:t>
            </a:r>
            <a:r>
              <a:rPr lang="en-US" sz="2200">
                <a:solidFill>
                  <a:schemeClr val="tx1"/>
                </a:solidFill>
              </a:rPr>
              <a:t>]).</a:t>
            </a:r>
            <a:r>
              <a:rPr lang="bg-BG" sz="2200">
                <a:solidFill>
                  <a:schemeClr val="tx1"/>
                </a:solidFill>
              </a:rPr>
              <a:t> Изборът на средния елемент е изключително важен за за скоростта на алгоритъма: колкото по-близък е избрания елемент до средния </a:t>
            </a:r>
            <a:r>
              <a:rPr lang="bg-BG" sz="2200" i="1">
                <a:solidFill>
                  <a:schemeClr val="tx1"/>
                </a:solidFill>
              </a:rPr>
              <a:t>по големина</a:t>
            </a:r>
            <a:r>
              <a:rPr lang="bg-BG" sz="2200">
                <a:solidFill>
                  <a:schemeClr val="tx1"/>
                </a:solidFill>
              </a:rPr>
              <a:t> елемент за дяла, толкова по-равномерно става разбиването на масива на две части, а оттук - по-малка дълбочина на рекурсията, т. е. по-ефективна работа на алгоритъма. Можем ли да избираме за разделящ елемент медианата на два или повече елементи? Да, но това е свързано с допълнителни операции и води до забавяне, което не винаги се компенсира с извлечените ползи и не води задължително до подобрение.</a:t>
            </a:r>
            <a:br>
              <a:rPr lang="bg-BG" sz="2200">
                <a:solidFill>
                  <a:schemeClr val="tx1"/>
                </a:solidFill>
              </a:rPr>
            </a:br>
            <a:r>
              <a:rPr lang="bg-BG" sz="2200">
                <a:solidFill>
                  <a:schemeClr val="tx1"/>
                </a:solidFill>
              </a:rPr>
              <a:t>	Бързото сортиране е най-бързия </a:t>
            </a:r>
            <a:r>
              <a:rPr lang="bg-BG" sz="2200" i="1">
                <a:solidFill>
                  <a:schemeClr val="tx1"/>
                </a:solidFill>
              </a:rPr>
              <a:t>универсален</a:t>
            </a:r>
            <a:r>
              <a:rPr lang="bg-BG" sz="2200">
                <a:solidFill>
                  <a:schemeClr val="tx1"/>
                </a:solidFill>
              </a:rPr>
              <a:t> алгоритъм за сортиране. Средната му сложност е </a:t>
            </a:r>
            <a:r>
              <a:rPr lang="en-US" sz="2200" b="1" i="1">
                <a:solidFill>
                  <a:schemeClr val="tx1"/>
                </a:solidFill>
              </a:rPr>
              <a:t>O</a:t>
            </a:r>
            <a:r>
              <a:rPr lang="en-US" sz="2200">
                <a:solidFill>
                  <a:schemeClr val="tx1"/>
                </a:solidFill>
              </a:rPr>
              <a:t>(</a:t>
            </a:r>
            <a:r>
              <a:rPr lang="en-US" sz="2200" b="1" i="1">
                <a:solidFill>
                  <a:schemeClr val="tx1"/>
                </a:solidFill>
              </a:rPr>
              <a:t>n*log</a:t>
            </a:r>
            <a:r>
              <a:rPr lang="en-US" sz="2200" b="1" i="1" baseline="-25000">
                <a:solidFill>
                  <a:schemeClr val="tx1"/>
                </a:solidFill>
              </a:rPr>
              <a:t>2</a:t>
            </a:r>
            <a:r>
              <a:rPr lang="en-US" sz="2200" b="1" i="1">
                <a:solidFill>
                  <a:schemeClr val="tx1"/>
                </a:solidFill>
              </a:rPr>
              <a:t>n</a:t>
            </a:r>
            <a:r>
              <a:rPr lang="bg-BG" sz="2200">
                <a:solidFill>
                  <a:schemeClr val="tx1"/>
                </a:solidFill>
              </a:rPr>
              <a:t>). Но той крие и редица изненади. Сортирането на Хоар е доста непостоянно и, при неподходящ избор на средния елемент </a:t>
            </a:r>
            <a:r>
              <a:rPr lang="bg-BG" sz="2400" b="1" i="1">
                <a:solidFill>
                  <a:schemeClr val="tx1"/>
                </a:solidFill>
              </a:rPr>
              <a:t>х</a:t>
            </a:r>
            <a:r>
              <a:rPr lang="bg-BG" sz="2200">
                <a:solidFill>
                  <a:schemeClr val="tx1"/>
                </a:solidFill>
              </a:rPr>
              <a:t>, ефективността му пада до </a:t>
            </a:r>
            <a:r>
              <a:rPr lang="en-US" sz="2200" b="1" i="1">
                <a:solidFill>
                  <a:schemeClr val="tx1"/>
                </a:solidFill>
              </a:rPr>
              <a:t>O(n</a:t>
            </a:r>
            <a:r>
              <a:rPr lang="en-US" sz="2200" b="1" i="1" baseline="30000">
                <a:solidFill>
                  <a:schemeClr val="tx1"/>
                </a:solidFill>
              </a:rPr>
              <a:t>2</a:t>
            </a:r>
            <a:r>
              <a:rPr lang="en-US" sz="2200" b="1" i="1">
                <a:solidFill>
                  <a:schemeClr val="tx1"/>
                </a:solidFill>
              </a:rPr>
              <a:t>).</a:t>
            </a:r>
            <a:r>
              <a:rPr lang="en-US" sz="2200">
                <a:solidFill>
                  <a:schemeClr val="tx1"/>
                </a:solidFill>
              </a:rPr>
              <a:t> </a:t>
            </a:r>
          </a:p>
        </p:txBody>
      </p:sp>
      <p:sp>
        <p:nvSpPr>
          <p:cNvPr id="5" name="Slide Number Placeholder 4"/>
          <p:cNvSpPr>
            <a:spLocks noGrp="1"/>
          </p:cNvSpPr>
          <p:nvPr>
            <p:ph type="sldNum" sz="quarter" idx="12"/>
          </p:nvPr>
        </p:nvSpPr>
        <p:spPr/>
        <p:txBody>
          <a:bodyPr/>
          <a:lstStyle/>
          <a:p>
            <a:pPr>
              <a:defRPr/>
            </a:pPr>
            <a:fld id="{383D2818-A3C6-47A5-9EA2-617390C96AB4}" type="slidenum">
              <a:rPr lang="en-US"/>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042988" y="0"/>
            <a:ext cx="8101012" cy="6858000"/>
          </a:xfrm>
        </p:spPr>
        <p:txBody>
          <a:bodyPr/>
          <a:lstStyle/>
          <a:p>
            <a:pPr eaLnBrk="1" fontAlgn="auto" hangingPunct="1">
              <a:lnSpc>
                <a:spcPct val="110000"/>
              </a:lnSpc>
              <a:spcAft>
                <a:spcPts val="0"/>
              </a:spcAft>
              <a:defRPr/>
            </a:pPr>
            <a:r>
              <a:rPr lang="bg-BG" sz="2200" smtClean="0">
                <a:solidFill>
                  <a:schemeClr val="tx2">
                    <a:satMod val="130000"/>
                  </a:schemeClr>
                </a:solidFill>
              </a:rPr>
              <a:t>	</a:t>
            </a:r>
            <a:r>
              <a:rPr lang="bg-BG" sz="2400" smtClean="0">
                <a:solidFill>
                  <a:schemeClr val="tx1"/>
                </a:solidFill>
              </a:rPr>
              <a:t>Съществуват </a:t>
            </a:r>
            <a:r>
              <a:rPr lang="bg-BG" sz="2400">
                <a:solidFill>
                  <a:schemeClr val="tx1"/>
                </a:solidFill>
              </a:rPr>
              <a:t>и други фактори, влияещи на ефективността на алгоритъма:</a:t>
            </a:r>
            <a:br>
              <a:rPr lang="bg-BG" sz="2400">
                <a:solidFill>
                  <a:schemeClr val="tx1"/>
                </a:solidFill>
              </a:rPr>
            </a:br>
            <a:r>
              <a:rPr lang="bg-BG" sz="2400" smtClean="0">
                <a:solidFill>
                  <a:schemeClr val="tx1"/>
                </a:solidFill>
              </a:rPr>
              <a:t>	-   </a:t>
            </a:r>
            <a:r>
              <a:rPr lang="bg-BG" sz="2400">
                <a:solidFill>
                  <a:schemeClr val="tx1"/>
                </a:solidFill>
              </a:rPr>
              <a:t>силата на бързото сортиране е в неговата “хазартност”. </a:t>
            </a:r>
            <a:r>
              <a:rPr lang="bg-BG" sz="2400" smtClean="0">
                <a:solidFill>
                  <a:schemeClr val="tx1"/>
                </a:solidFill>
              </a:rPr>
              <a:t>Колкото    </a:t>
            </a:r>
            <a:r>
              <a:rPr lang="bg-BG" sz="2400">
                <a:solidFill>
                  <a:schemeClr val="tx1"/>
                </a:solidFill>
              </a:rPr>
              <a:t>по-разбъркан е масивът, толкова по-голяма е ефективността </a:t>
            </a:r>
            <a:r>
              <a:rPr lang="bg-BG" sz="2400" smtClean="0">
                <a:solidFill>
                  <a:schemeClr val="tx1"/>
                </a:solidFill>
              </a:rPr>
              <a:t>на  </a:t>
            </a:r>
            <a:r>
              <a:rPr lang="bg-BG" sz="2400">
                <a:solidFill>
                  <a:schemeClr val="tx1"/>
                </a:solidFill>
              </a:rPr>
              <a:t>метода. Авторът му Хоар препоръчва изборът на </a:t>
            </a:r>
            <a:r>
              <a:rPr lang="bg-BG" sz="2400" b="1" i="1">
                <a:solidFill>
                  <a:schemeClr val="tx1"/>
                </a:solidFill>
              </a:rPr>
              <a:t>х</a:t>
            </a:r>
            <a:r>
              <a:rPr lang="bg-BG" sz="2400">
                <a:solidFill>
                  <a:schemeClr val="tx1"/>
                </a:solidFill>
              </a:rPr>
              <a:t> да се прави </a:t>
            </a:r>
            <a:r>
              <a:rPr lang="bg-BG" sz="2400" smtClean="0">
                <a:solidFill>
                  <a:schemeClr val="tx1"/>
                </a:solidFill>
              </a:rPr>
              <a:t>по  </a:t>
            </a:r>
            <a:r>
              <a:rPr lang="bg-BG" sz="2400">
                <a:solidFill>
                  <a:schemeClr val="tx1"/>
                </a:solidFill>
              </a:rPr>
              <a:t>случаен начин или дори като средно аритметично на три </a:t>
            </a:r>
            <a:r>
              <a:rPr lang="bg-BG" sz="2400" smtClean="0">
                <a:solidFill>
                  <a:schemeClr val="tx1"/>
                </a:solidFill>
              </a:rPr>
              <a:t>или  </a:t>
            </a:r>
            <a:r>
              <a:rPr lang="bg-BG" sz="2400">
                <a:solidFill>
                  <a:schemeClr val="tx1"/>
                </a:solidFill>
              </a:rPr>
              <a:t>повече случайно избрани елемента;</a:t>
            </a:r>
            <a:br>
              <a:rPr lang="bg-BG" sz="2400">
                <a:solidFill>
                  <a:schemeClr val="tx1"/>
                </a:solidFill>
              </a:rPr>
            </a:br>
            <a:r>
              <a:rPr lang="bg-BG" sz="2400" smtClean="0">
                <a:solidFill>
                  <a:schemeClr val="tx1"/>
                </a:solidFill>
              </a:rPr>
              <a:t>	-  </a:t>
            </a:r>
            <a:r>
              <a:rPr lang="bg-BG" sz="2400">
                <a:solidFill>
                  <a:schemeClr val="tx1"/>
                </a:solidFill>
              </a:rPr>
              <a:t>алгоритъмът е ефективен само при големи </a:t>
            </a:r>
            <a:r>
              <a:rPr lang="en-US" sz="2400" b="1" i="1">
                <a:solidFill>
                  <a:schemeClr val="tx1"/>
                </a:solidFill>
              </a:rPr>
              <a:t>n</a:t>
            </a:r>
            <a:r>
              <a:rPr lang="bg-BG" sz="2400">
                <a:solidFill>
                  <a:schemeClr val="tx1"/>
                </a:solidFill>
              </a:rPr>
              <a:t>. Затова </a:t>
            </a:r>
            <a:r>
              <a:rPr lang="bg-BG" sz="2400" smtClean="0">
                <a:solidFill>
                  <a:schemeClr val="tx1"/>
                </a:solidFill>
              </a:rPr>
              <a:t>при получаване </a:t>
            </a:r>
            <a:r>
              <a:rPr lang="bg-BG" sz="2400">
                <a:solidFill>
                  <a:schemeClr val="tx1"/>
                </a:solidFill>
              </a:rPr>
              <a:t>на сегмент с големина &lt;=</a:t>
            </a:r>
            <a:r>
              <a:rPr lang="bg-BG" sz="2400">
                <a:solidFill>
                  <a:schemeClr val="tx1"/>
                </a:solidFill>
                <a:latin typeface="Arial" pitchFamily="34" charset="0"/>
                <a:cs typeface="Arial" pitchFamily="34" charset="0"/>
              </a:rPr>
              <a:t>15</a:t>
            </a:r>
            <a:r>
              <a:rPr lang="bg-BG" sz="2400">
                <a:solidFill>
                  <a:schemeClr val="tx1"/>
                </a:solidFill>
              </a:rPr>
              <a:t> елемента се препоръчва </a:t>
            </a:r>
            <a:r>
              <a:rPr lang="bg-BG" sz="2400" smtClean="0">
                <a:solidFill>
                  <a:schemeClr val="tx1"/>
                </a:solidFill>
              </a:rPr>
              <a:t> </a:t>
            </a:r>
            <a:r>
              <a:rPr lang="bg-BG" sz="2400">
                <a:solidFill>
                  <a:schemeClr val="tx1"/>
                </a:solidFill>
              </a:rPr>
              <a:t>да се премине към някой друг алгоритъм и сортирането да </a:t>
            </a:r>
            <a:r>
              <a:rPr lang="bg-BG" sz="2400" smtClean="0">
                <a:solidFill>
                  <a:schemeClr val="tx1"/>
                </a:solidFill>
              </a:rPr>
              <a:t>се  </a:t>
            </a:r>
            <a:r>
              <a:rPr lang="bg-BG" sz="2400">
                <a:solidFill>
                  <a:schemeClr val="tx1"/>
                </a:solidFill>
              </a:rPr>
              <a:t>довърши чрез използване на някой друг алгоритъм. Подмасивът е </a:t>
            </a:r>
            <a:r>
              <a:rPr lang="bg-BG" sz="2400" smtClean="0">
                <a:solidFill>
                  <a:schemeClr val="tx1"/>
                </a:solidFill>
              </a:rPr>
              <a:t> </a:t>
            </a:r>
            <a:r>
              <a:rPr lang="bg-BG" sz="2400">
                <a:solidFill>
                  <a:schemeClr val="tx1"/>
                </a:solidFill>
              </a:rPr>
              <a:t>почти сортиран и е добър вход за сортирането чрез вмъкване: </a:t>
            </a:r>
            <a:r>
              <a:rPr lang="bg-BG" sz="2400" smtClean="0">
                <a:solidFill>
                  <a:schemeClr val="tx1"/>
                </a:solidFill>
              </a:rPr>
              <a:t> вмъкванията </a:t>
            </a:r>
            <a:r>
              <a:rPr lang="bg-BG" sz="2400">
                <a:solidFill>
                  <a:schemeClr val="tx1"/>
                </a:solidFill>
              </a:rPr>
              <a:t>ще се извършват в рамките на съответната област, </a:t>
            </a:r>
            <a:br>
              <a:rPr lang="bg-BG" sz="2400">
                <a:solidFill>
                  <a:schemeClr val="tx1"/>
                </a:solidFill>
              </a:rPr>
            </a:br>
            <a:r>
              <a:rPr lang="bg-BG" sz="2400">
                <a:solidFill>
                  <a:schemeClr val="tx1"/>
                </a:solidFill>
              </a:rPr>
              <a:t> </a:t>
            </a:r>
            <a:r>
              <a:rPr lang="bg-BG" sz="2400" smtClean="0">
                <a:solidFill>
                  <a:schemeClr val="tx1"/>
                </a:solidFill>
              </a:rPr>
              <a:t>т</a:t>
            </a:r>
            <a:r>
              <a:rPr lang="bg-BG" sz="2400">
                <a:solidFill>
                  <a:schemeClr val="tx1"/>
                </a:solidFill>
              </a:rPr>
              <a:t>. е. гарантирано на малки разстояния. </a:t>
            </a:r>
            <a:endParaRPr lang="en-US" sz="2400">
              <a:solidFill>
                <a:schemeClr val="tx1"/>
              </a:solidFill>
            </a:endParaRPr>
          </a:p>
        </p:txBody>
      </p:sp>
      <p:sp>
        <p:nvSpPr>
          <p:cNvPr id="5" name="Slide Number Placeholder 4"/>
          <p:cNvSpPr>
            <a:spLocks noGrp="1"/>
          </p:cNvSpPr>
          <p:nvPr>
            <p:ph type="sldNum" sz="quarter" idx="12"/>
          </p:nvPr>
        </p:nvSpPr>
        <p:spPr/>
        <p:txBody>
          <a:bodyPr/>
          <a:lstStyle/>
          <a:p>
            <a:pPr>
              <a:defRPr/>
            </a:pPr>
            <a:fld id="{82611328-B1B8-47B6-9914-A2E99647C1D3}" type="slidenum">
              <a:rPr lang="en-US"/>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1042988" y="404813"/>
            <a:ext cx="7921625" cy="6119812"/>
          </a:xfrm>
        </p:spPr>
        <p:txBody>
          <a:bodyPr>
            <a:normAutofit fontScale="90000"/>
          </a:bodyPr>
          <a:lstStyle/>
          <a:p>
            <a:pPr eaLnBrk="1" fontAlgn="auto" hangingPunct="1">
              <a:spcAft>
                <a:spcPts val="0"/>
              </a:spcAft>
              <a:defRPr/>
            </a:pPr>
            <a:r>
              <a:rPr lang="en-US" sz="2800">
                <a:solidFill>
                  <a:schemeClr val="tx2">
                    <a:satMod val="130000"/>
                  </a:schemeClr>
                </a:solidFill>
              </a:rPr>
              <a:t>		</a:t>
            </a:r>
            <a:r>
              <a:rPr lang="bg-BG" sz="2800" u="sng">
                <a:solidFill>
                  <a:schemeClr val="tx1"/>
                </a:solidFill>
              </a:rPr>
              <a:t>Библиотечната функция  </a:t>
            </a:r>
            <a:r>
              <a:rPr lang="en-US" sz="2800" i="1" u="sng">
                <a:solidFill>
                  <a:schemeClr val="tx1"/>
                </a:solidFill>
              </a:rPr>
              <a:t>qsort</a:t>
            </a:r>
            <a:r>
              <a:rPr lang="en-US" sz="2800">
                <a:solidFill>
                  <a:schemeClr val="tx1"/>
                </a:solidFill>
              </a:rPr>
              <a:t/>
            </a:r>
            <a:br>
              <a:rPr lang="en-US" sz="2800">
                <a:solidFill>
                  <a:schemeClr val="tx1"/>
                </a:solidFill>
              </a:rPr>
            </a:br>
            <a:r>
              <a:rPr lang="en-US" sz="2800">
                <a:solidFill>
                  <a:schemeClr val="tx1"/>
                </a:solidFill>
              </a:rPr>
              <a:t/>
            </a:r>
            <a:br>
              <a:rPr lang="en-US" sz="2800">
                <a:solidFill>
                  <a:schemeClr val="tx1"/>
                </a:solidFill>
              </a:rPr>
            </a:br>
            <a:r>
              <a:rPr lang="bg-BG" sz="2800">
                <a:solidFill>
                  <a:schemeClr val="tx1"/>
                </a:solidFill>
              </a:rPr>
              <a:t>	</a:t>
            </a:r>
            <a:r>
              <a:rPr lang="bg-BG" sz="2400">
                <a:solidFill>
                  <a:schemeClr val="tx1"/>
                </a:solidFill>
              </a:rPr>
              <a:t>Езикът С/ С++  има библиотечна функция </a:t>
            </a:r>
            <a:r>
              <a:rPr lang="en-US" sz="2400" i="1">
                <a:solidFill>
                  <a:schemeClr val="tx1"/>
                </a:solidFill>
              </a:rPr>
              <a:t>qsort</a:t>
            </a:r>
            <a:r>
              <a:rPr lang="bg-BG" sz="2400" i="1">
                <a:solidFill>
                  <a:schemeClr val="tx1"/>
                </a:solidFill>
              </a:rPr>
              <a:t>,</a:t>
            </a:r>
            <a:r>
              <a:rPr lang="bg-BG" sz="2400">
                <a:solidFill>
                  <a:schemeClr val="tx1"/>
                </a:solidFill>
              </a:rPr>
              <a:t> която може да сортира произволен масив:</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t>
            </a:r>
            <a:r>
              <a:rPr lang="en-US" sz="2400" i="1">
                <a:solidFill>
                  <a:schemeClr val="tx1"/>
                </a:solidFill>
              </a:rPr>
              <a:t># include &lt;stdlib.h&gt;</a:t>
            </a:r>
            <a:br>
              <a:rPr lang="en-US" sz="2400" i="1">
                <a:solidFill>
                  <a:schemeClr val="tx1"/>
                </a:solidFill>
              </a:rPr>
            </a:br>
            <a:r>
              <a:rPr lang="bg-BG" sz="2400" i="1">
                <a:solidFill>
                  <a:schemeClr val="tx1"/>
                </a:solidFill>
              </a:rPr>
              <a:t>           </a:t>
            </a:r>
            <a:r>
              <a:rPr lang="en-US" sz="2400" i="1">
                <a:solidFill>
                  <a:schemeClr val="tx1"/>
                </a:solidFill>
              </a:rPr>
              <a:t>…</a:t>
            </a:r>
            <a:br>
              <a:rPr lang="en-US" sz="2400" i="1">
                <a:solidFill>
                  <a:schemeClr val="tx1"/>
                </a:solidFill>
              </a:rPr>
            </a:br>
            <a:r>
              <a:rPr lang="bg-BG" sz="2400" i="1">
                <a:solidFill>
                  <a:schemeClr val="tx1"/>
                </a:solidFill>
              </a:rPr>
              <a:t>     </a:t>
            </a:r>
            <a:r>
              <a:rPr lang="en-US" sz="2400" i="1">
                <a:solidFill>
                  <a:schemeClr val="tx1"/>
                </a:solidFill>
              </a:rPr>
              <a:t>qsort(a, n, sizeof(T), compare);</a:t>
            </a:r>
            <a:br>
              <a:rPr lang="en-US" sz="2400" i="1">
                <a:solidFill>
                  <a:schemeClr val="tx1"/>
                </a:solidFill>
              </a:rPr>
            </a:br>
            <a:r>
              <a:rPr lang="en-US" sz="2400">
                <a:solidFill>
                  <a:schemeClr val="tx1"/>
                </a:solidFill>
              </a:rPr>
              <a:t/>
            </a:r>
            <a:br>
              <a:rPr lang="en-US" sz="2400">
                <a:solidFill>
                  <a:schemeClr val="tx1"/>
                </a:solidFill>
              </a:rPr>
            </a:br>
            <a:r>
              <a:rPr lang="bg-BG" sz="2400">
                <a:solidFill>
                  <a:schemeClr val="tx1"/>
                </a:solidFill>
              </a:rPr>
              <a:t>където </a:t>
            </a:r>
            <a:r>
              <a:rPr lang="bg-BG" sz="2400" i="1">
                <a:solidFill>
                  <a:schemeClr val="tx1"/>
                </a:solidFill>
              </a:rPr>
              <a:t>а</a:t>
            </a:r>
            <a:r>
              <a:rPr lang="bg-BG" sz="2400">
                <a:solidFill>
                  <a:schemeClr val="tx1"/>
                </a:solidFill>
              </a:rPr>
              <a:t> е подреждания масив, </a:t>
            </a:r>
            <a:r>
              <a:rPr lang="en-US" sz="2400" i="1">
                <a:solidFill>
                  <a:schemeClr val="tx1"/>
                </a:solidFill>
              </a:rPr>
              <a:t>n</a:t>
            </a:r>
            <a:r>
              <a:rPr lang="bg-BG" sz="2400">
                <a:solidFill>
                  <a:schemeClr val="tx1"/>
                </a:solidFill>
              </a:rPr>
              <a:t> е броят на елементи в него, </a:t>
            </a:r>
            <a:r>
              <a:rPr lang="en-US" sz="2400">
                <a:solidFill>
                  <a:schemeClr val="tx1"/>
                </a:solidFill>
              </a:rPr>
              <a:t> </a:t>
            </a:r>
            <a:r>
              <a:rPr lang="en-US" sz="2400" i="1">
                <a:solidFill>
                  <a:schemeClr val="tx1"/>
                </a:solidFill>
              </a:rPr>
              <a:t>T</a:t>
            </a:r>
            <a:r>
              <a:rPr lang="en-US" sz="2400">
                <a:solidFill>
                  <a:schemeClr val="tx1"/>
                </a:solidFill>
              </a:rPr>
              <a:t> </a:t>
            </a:r>
            <a:r>
              <a:rPr lang="bg-BG" sz="2400">
                <a:solidFill>
                  <a:schemeClr val="tx1"/>
                </a:solidFill>
              </a:rPr>
              <a:t>е типа на елементите в масива, </a:t>
            </a:r>
            <a:r>
              <a:rPr lang="en-US" sz="2400" i="1">
                <a:solidFill>
                  <a:schemeClr val="tx1"/>
                </a:solidFill>
              </a:rPr>
              <a:t>compare</a:t>
            </a:r>
            <a:r>
              <a:rPr lang="en-US" sz="2400">
                <a:solidFill>
                  <a:schemeClr val="tx1"/>
                </a:solidFill>
              </a:rPr>
              <a:t> </a:t>
            </a:r>
            <a:r>
              <a:rPr lang="bg-BG" sz="2400">
                <a:solidFill>
                  <a:schemeClr val="tx1"/>
                </a:solidFill>
              </a:rPr>
              <a:t>е наша собствена функция, показваща как трябва да бъдат сравнявани два елемента </a:t>
            </a:r>
            <a:r>
              <a:rPr lang="en-US" sz="2400" i="1">
                <a:solidFill>
                  <a:schemeClr val="tx1"/>
                </a:solidFill>
              </a:rPr>
              <a:t>a[i]</a:t>
            </a:r>
            <a:r>
              <a:rPr lang="en-US" sz="2400">
                <a:solidFill>
                  <a:schemeClr val="tx1"/>
                </a:solidFill>
              </a:rPr>
              <a:t> </a:t>
            </a:r>
            <a:r>
              <a:rPr lang="bg-BG" sz="2400">
                <a:solidFill>
                  <a:schemeClr val="tx1"/>
                </a:solidFill>
              </a:rPr>
              <a:t>и </a:t>
            </a:r>
            <a:r>
              <a:rPr lang="en-US" sz="2400" i="1">
                <a:solidFill>
                  <a:schemeClr val="tx1"/>
                </a:solidFill>
              </a:rPr>
              <a:t>a[j]</a:t>
            </a:r>
            <a:r>
              <a:rPr lang="en-US" sz="2400">
                <a:solidFill>
                  <a:schemeClr val="tx1"/>
                </a:solidFill>
              </a:rPr>
              <a:t> </a:t>
            </a:r>
            <a:r>
              <a:rPr lang="bg-BG" sz="2400">
                <a:solidFill>
                  <a:schemeClr val="tx1"/>
                </a:solidFill>
              </a:rPr>
              <a:t>от масива.  Тази функция е подобна на добре известната функция </a:t>
            </a:r>
            <a:r>
              <a:rPr lang="en-US" sz="2400" i="1">
                <a:solidFill>
                  <a:schemeClr val="tx1"/>
                </a:solidFill>
              </a:rPr>
              <a:t>strcmp</a:t>
            </a:r>
            <a:r>
              <a:rPr lang="bg-BG" sz="2400">
                <a:solidFill>
                  <a:schemeClr val="tx1"/>
                </a:solidFill>
              </a:rPr>
              <a:t>, която връща 0 при равенство, някакво отрицателно число при “по-малко” и някакво положително число при “по-голямо”.</a:t>
            </a:r>
            <a:endParaRPr lang="en-US" sz="2800">
              <a:solidFill>
                <a:schemeClr val="tx1"/>
              </a:solidFill>
            </a:endParaRPr>
          </a:p>
        </p:txBody>
      </p:sp>
      <p:sp>
        <p:nvSpPr>
          <p:cNvPr id="5" name="Slide Number Placeholder 4"/>
          <p:cNvSpPr>
            <a:spLocks noGrp="1"/>
          </p:cNvSpPr>
          <p:nvPr>
            <p:ph type="sldNum" sz="quarter" idx="12"/>
          </p:nvPr>
        </p:nvSpPr>
        <p:spPr/>
        <p:txBody>
          <a:bodyPr/>
          <a:lstStyle/>
          <a:p>
            <a:pPr>
              <a:defRPr/>
            </a:pPr>
            <a:fld id="{646132A6-CB0D-4A91-9657-915E1354EF73}" type="slidenum">
              <a:rPr lang="en-US"/>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1042988" y="692150"/>
            <a:ext cx="7777162" cy="5894388"/>
          </a:xfrm>
        </p:spPr>
        <p:txBody>
          <a:bodyPr>
            <a:normAutofit fontScale="90000"/>
          </a:bodyPr>
          <a:lstStyle/>
          <a:p>
            <a:pPr eaLnBrk="1" fontAlgn="auto" hangingPunct="1">
              <a:lnSpc>
                <a:spcPct val="120000"/>
              </a:lnSpc>
              <a:spcAft>
                <a:spcPts val="0"/>
              </a:spcAft>
              <a:defRPr/>
            </a:pPr>
            <a:r>
              <a:rPr lang="bg-BG" sz="2400" u="sng">
                <a:solidFill>
                  <a:schemeClr val="tx1"/>
                </a:solidFill>
                <a:latin typeface="Courier New" pitchFamily="49" charset="-52"/>
              </a:rPr>
              <a:t>Пример:</a:t>
            </a:r>
            <a:r>
              <a:rPr lang="bg-BG" sz="2400">
                <a:solidFill>
                  <a:schemeClr val="tx1"/>
                </a:solidFill>
                <a:latin typeface="Courier New" pitchFamily="49" charset="-52"/>
              </a:rPr>
              <a:t> сортиране на масив от цели числа с библиотечната функция </a:t>
            </a:r>
            <a:r>
              <a:rPr lang="en-US" sz="2400" i="1">
                <a:solidFill>
                  <a:schemeClr val="tx1"/>
                </a:solidFill>
                <a:latin typeface="Courier New" pitchFamily="49" charset="-52"/>
              </a:rPr>
              <a:t>qsort</a:t>
            </a:r>
            <a:r>
              <a:rPr lang="en-US" sz="2400">
                <a:solidFill>
                  <a:schemeClr val="tx1"/>
                </a:solidFill>
                <a:latin typeface="Courier New" pitchFamily="49" charset="-52"/>
              </a:rPr>
              <a:t/>
            </a:r>
            <a:br>
              <a:rPr lang="en-US" sz="2400">
                <a:solidFill>
                  <a:schemeClr val="tx1"/>
                </a:solidFill>
                <a:latin typeface="Courier New" pitchFamily="49" charset="-52"/>
              </a:rPr>
            </a:br>
            <a:r>
              <a:rPr lang="bg-BG" sz="2000">
                <a:solidFill>
                  <a:schemeClr val="tx1"/>
                </a:solidFill>
                <a:latin typeface="Courier New" pitchFamily="49" charset="-52"/>
              </a:rPr>
              <a:t/>
            </a:r>
            <a:br>
              <a:rPr lang="bg-BG" sz="2000">
                <a:solidFill>
                  <a:schemeClr val="tx1"/>
                </a:solidFill>
                <a:latin typeface="Courier New" pitchFamily="49" charset="-52"/>
              </a:rPr>
            </a:br>
            <a:r>
              <a:rPr lang="bg-BG" sz="2000">
                <a:solidFill>
                  <a:schemeClr val="tx1"/>
                </a:solidFill>
                <a:latin typeface="Courier New" pitchFamily="49" charset="-52"/>
              </a:rPr>
              <a:t>#include &lt;</a:t>
            </a:r>
            <a:r>
              <a:rPr lang="bg-BG" sz="2000" smtClean="0">
                <a:solidFill>
                  <a:schemeClr val="tx1"/>
                </a:solidFill>
                <a:latin typeface="Courier New" pitchFamily="49" charset="-52"/>
              </a:rPr>
              <a:t>iostream&gt;</a:t>
            </a:r>
            <a:r>
              <a:rPr lang="bg-BG" sz="2000">
                <a:solidFill>
                  <a:schemeClr val="tx1"/>
                </a:solidFill>
                <a:latin typeface="Courier New" pitchFamily="49" charset="-52"/>
              </a:rPr>
              <a:t/>
            </a:r>
            <a:br>
              <a:rPr lang="bg-BG" sz="2000">
                <a:solidFill>
                  <a:schemeClr val="tx1"/>
                </a:solidFill>
                <a:latin typeface="Courier New" pitchFamily="49" charset="-52"/>
              </a:rPr>
            </a:br>
            <a:r>
              <a:rPr lang="bg-BG" sz="2000">
                <a:solidFill>
                  <a:schemeClr val="tx1"/>
                </a:solidFill>
                <a:latin typeface="Courier New" pitchFamily="49" charset="-52"/>
              </a:rPr>
              <a:t>#include &lt;stdlib.h</a:t>
            </a:r>
            <a:r>
              <a:rPr lang="bg-BG" sz="2000" smtClean="0">
                <a:solidFill>
                  <a:schemeClr val="tx1"/>
                </a:solidFill>
                <a:latin typeface="Courier New" pitchFamily="49" charset="-52"/>
              </a:rPr>
              <a:t>&gt;</a:t>
            </a:r>
            <a:br>
              <a:rPr lang="bg-BG" sz="2000" smtClean="0">
                <a:solidFill>
                  <a:schemeClr val="tx1"/>
                </a:solidFill>
                <a:latin typeface="Courier New" pitchFamily="49" charset="-52"/>
              </a:rPr>
            </a:br>
            <a:r>
              <a:rPr lang="en-US" sz="2000" smtClean="0">
                <a:solidFill>
                  <a:schemeClr val="tx1"/>
                </a:solidFill>
                <a:latin typeface="Courier New" pitchFamily="49" charset="-52"/>
              </a:rPr>
              <a:t>using namespace std;</a:t>
            </a:r>
            <a:r>
              <a:rPr lang="bg-BG" sz="2000">
                <a:solidFill>
                  <a:schemeClr val="tx1"/>
                </a:solidFill>
                <a:latin typeface="Courier New" pitchFamily="49" charset="-52"/>
              </a:rPr>
              <a:t/>
            </a:r>
            <a:br>
              <a:rPr lang="bg-BG" sz="2000">
                <a:solidFill>
                  <a:schemeClr val="tx1"/>
                </a:solidFill>
                <a:latin typeface="Courier New" pitchFamily="49" charset="-52"/>
              </a:rPr>
            </a:br>
            <a:r>
              <a:rPr lang="bg-BG" sz="2000">
                <a:solidFill>
                  <a:schemeClr val="tx1"/>
                </a:solidFill>
                <a:latin typeface="Courier New" pitchFamily="49" charset="-52"/>
              </a:rPr>
              <a:t>const </a:t>
            </a:r>
            <a:r>
              <a:rPr lang="en-US" sz="2000" smtClean="0">
                <a:solidFill>
                  <a:schemeClr val="tx1"/>
                </a:solidFill>
                <a:latin typeface="Courier New" pitchFamily="49" charset="-52"/>
              </a:rPr>
              <a:t>int </a:t>
            </a:r>
            <a:r>
              <a:rPr lang="bg-BG" sz="2000" smtClean="0">
                <a:solidFill>
                  <a:schemeClr val="tx1"/>
                </a:solidFill>
                <a:latin typeface="Courier New" pitchFamily="49" charset="-52"/>
              </a:rPr>
              <a:t>n=100</a:t>
            </a:r>
            <a:r>
              <a:rPr lang="bg-BG" sz="2000">
                <a:solidFill>
                  <a:schemeClr val="tx1"/>
                </a:solidFill>
                <a:latin typeface="Courier New" pitchFamily="49" charset="-52"/>
              </a:rPr>
              <a:t>;</a:t>
            </a:r>
            <a:br>
              <a:rPr lang="bg-BG" sz="2000">
                <a:solidFill>
                  <a:schemeClr val="tx1"/>
                </a:solidFill>
                <a:latin typeface="Courier New" pitchFamily="49" charset="-52"/>
              </a:rPr>
            </a:br>
            <a:r>
              <a:rPr lang="bg-BG" sz="2000">
                <a:solidFill>
                  <a:schemeClr val="tx1"/>
                </a:solidFill>
                <a:latin typeface="Courier New" pitchFamily="49" charset="-52"/>
              </a:rPr>
              <a:t>int a[n], num;</a:t>
            </a:r>
            <a:br>
              <a:rPr lang="bg-BG" sz="2000">
                <a:solidFill>
                  <a:schemeClr val="tx1"/>
                </a:solidFill>
                <a:latin typeface="Courier New" pitchFamily="49" charset="-52"/>
              </a:rPr>
            </a:br>
            <a:r>
              <a:rPr lang="bg-BG" sz="2000">
                <a:solidFill>
                  <a:schemeClr val="tx1"/>
                </a:solidFill>
                <a:latin typeface="Courier New" pitchFamily="49" charset="-52"/>
              </a:rPr>
              <a:t>void input(int a[])</a:t>
            </a:r>
            <a:br>
              <a:rPr lang="bg-BG" sz="2000">
                <a:solidFill>
                  <a:schemeClr val="tx1"/>
                </a:solidFill>
                <a:latin typeface="Courier New" pitchFamily="49" charset="-52"/>
              </a:rPr>
            </a:br>
            <a:r>
              <a:rPr lang="bg-BG" sz="2000">
                <a:solidFill>
                  <a:schemeClr val="tx1"/>
                </a:solidFill>
                <a:latin typeface="Courier New" pitchFamily="49" charset="-52"/>
              </a:rPr>
              <a:t>{</a:t>
            </a:r>
            <a:br>
              <a:rPr lang="bg-BG" sz="2000">
                <a:solidFill>
                  <a:schemeClr val="tx1"/>
                </a:solidFill>
                <a:latin typeface="Courier New" pitchFamily="49" charset="-52"/>
              </a:rPr>
            </a:br>
            <a:r>
              <a:rPr lang="bg-BG" sz="2000">
                <a:solidFill>
                  <a:schemeClr val="tx1"/>
                </a:solidFill>
                <a:latin typeface="Courier New" pitchFamily="49" charset="-52"/>
              </a:rPr>
              <a:t> cout&lt;&lt;"\nInput num&lt;100:";</a:t>
            </a:r>
            <a:br>
              <a:rPr lang="bg-BG" sz="2000">
                <a:solidFill>
                  <a:schemeClr val="tx1"/>
                </a:solidFill>
                <a:latin typeface="Courier New" pitchFamily="49" charset="-52"/>
              </a:rPr>
            </a:br>
            <a:r>
              <a:rPr lang="bg-BG" sz="2000">
                <a:solidFill>
                  <a:schemeClr val="tx1"/>
                </a:solidFill>
                <a:latin typeface="Courier New" pitchFamily="49" charset="-52"/>
              </a:rPr>
              <a:t> cin&gt;&gt;num; cout&lt;&lt;"\n"&lt;&lt;num;</a:t>
            </a:r>
            <a:br>
              <a:rPr lang="bg-BG" sz="2000">
                <a:solidFill>
                  <a:schemeClr val="tx1"/>
                </a:solidFill>
                <a:latin typeface="Courier New" pitchFamily="49" charset="-52"/>
              </a:rPr>
            </a:br>
            <a:r>
              <a:rPr lang="bg-BG" sz="2000">
                <a:solidFill>
                  <a:schemeClr val="tx1"/>
                </a:solidFill>
                <a:latin typeface="Courier New" pitchFamily="49" charset="-52"/>
              </a:rPr>
              <a:t> cout&lt;&lt;"\nInput items:\n";</a:t>
            </a:r>
            <a:br>
              <a:rPr lang="bg-BG" sz="2000">
                <a:solidFill>
                  <a:schemeClr val="tx1"/>
                </a:solidFill>
                <a:latin typeface="Courier New" pitchFamily="49" charset="-52"/>
              </a:rPr>
            </a:br>
            <a:r>
              <a:rPr lang="bg-BG" sz="2000">
                <a:solidFill>
                  <a:schemeClr val="tx1"/>
                </a:solidFill>
                <a:latin typeface="Courier New" pitchFamily="49" charset="-52"/>
              </a:rPr>
              <a:t> for (int i=0; i&lt;num; i++)</a:t>
            </a:r>
            <a:br>
              <a:rPr lang="bg-BG" sz="2000">
                <a:solidFill>
                  <a:schemeClr val="tx1"/>
                </a:solidFill>
                <a:latin typeface="Courier New" pitchFamily="49" charset="-52"/>
              </a:rPr>
            </a:br>
            <a:r>
              <a:rPr lang="bg-BG" sz="2000">
                <a:solidFill>
                  <a:schemeClr val="tx1"/>
                </a:solidFill>
                <a:latin typeface="Courier New" pitchFamily="49" charset="-52"/>
              </a:rPr>
              <a:t> {	 cout&lt;&lt;"=";</a:t>
            </a:r>
            <a:br>
              <a:rPr lang="bg-BG" sz="2000">
                <a:solidFill>
                  <a:schemeClr val="tx1"/>
                </a:solidFill>
                <a:latin typeface="Courier New" pitchFamily="49" charset="-52"/>
              </a:rPr>
            </a:br>
            <a:r>
              <a:rPr lang="bg-BG" sz="2000">
                <a:solidFill>
                  <a:schemeClr val="tx1"/>
                </a:solidFill>
                <a:latin typeface="Courier New" pitchFamily="49" charset="-52"/>
              </a:rPr>
              <a:t>	 cin&gt;&gt;a[i];</a:t>
            </a:r>
            <a:br>
              <a:rPr lang="bg-BG" sz="2000">
                <a:solidFill>
                  <a:schemeClr val="tx1"/>
                </a:solidFill>
                <a:latin typeface="Courier New" pitchFamily="49" charset="-52"/>
              </a:rPr>
            </a:br>
            <a:r>
              <a:rPr lang="bg-BG" sz="2000">
                <a:solidFill>
                  <a:schemeClr val="tx1"/>
                </a:solidFill>
                <a:latin typeface="Courier New" pitchFamily="49" charset="-52"/>
              </a:rPr>
              <a:t> }</a:t>
            </a:r>
            <a:br>
              <a:rPr lang="bg-BG" sz="2000">
                <a:solidFill>
                  <a:schemeClr val="tx1"/>
                </a:solidFill>
                <a:latin typeface="Courier New" pitchFamily="49" charset="-52"/>
              </a:rPr>
            </a:br>
            <a:r>
              <a:rPr lang="bg-BG" sz="2000">
                <a:solidFill>
                  <a:schemeClr val="tx1"/>
                </a:solidFill>
                <a:latin typeface="Courier New" pitchFamily="49" charset="-52"/>
              </a:rPr>
              <a:t>}</a:t>
            </a:r>
            <a:br>
              <a:rPr lang="bg-BG" sz="2000">
                <a:solidFill>
                  <a:schemeClr val="tx1"/>
                </a:solidFill>
                <a:latin typeface="Courier New" pitchFamily="49" charset="-52"/>
              </a:rPr>
            </a:br>
            <a:endParaRPr lang="en-US">
              <a:solidFill>
                <a:schemeClr val="tx1"/>
              </a:solidFill>
              <a:latin typeface="Courier New" pitchFamily="49" charset="-52"/>
            </a:endParaRPr>
          </a:p>
        </p:txBody>
      </p:sp>
      <p:sp>
        <p:nvSpPr>
          <p:cNvPr id="5" name="Slide Number Placeholder 4"/>
          <p:cNvSpPr>
            <a:spLocks noGrp="1"/>
          </p:cNvSpPr>
          <p:nvPr>
            <p:ph type="sldNum" sz="quarter" idx="12"/>
          </p:nvPr>
        </p:nvSpPr>
        <p:spPr/>
        <p:txBody>
          <a:bodyPr/>
          <a:lstStyle/>
          <a:p>
            <a:pPr>
              <a:defRPr/>
            </a:pPr>
            <a:fld id="{C524FEB0-AF1C-4BE6-B805-83A82AE3F669}" type="slidenum">
              <a:rPr lang="en-US"/>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1116013" y="476250"/>
            <a:ext cx="8228012" cy="6016625"/>
          </a:xfrm>
        </p:spPr>
        <p:txBody>
          <a:bodyPr>
            <a:normAutofit fontScale="90000"/>
          </a:bodyPr>
          <a:lstStyle/>
          <a:p>
            <a:pPr eaLnBrk="1" fontAlgn="auto" hangingPunct="1">
              <a:spcAft>
                <a:spcPts val="0"/>
              </a:spcAft>
              <a:defRPr/>
            </a:pPr>
            <a:r>
              <a:rPr lang="bg-BG" sz="2000">
                <a:solidFill>
                  <a:schemeClr val="tx1"/>
                </a:solidFill>
                <a:latin typeface="Courier New" pitchFamily="49" charset="-52"/>
              </a:rPr>
              <a:t>void out(int a[])</a:t>
            </a:r>
            <a:br>
              <a:rPr lang="bg-BG" sz="2000">
                <a:solidFill>
                  <a:schemeClr val="tx1"/>
                </a:solidFill>
                <a:latin typeface="Courier New" pitchFamily="49" charset="-52"/>
              </a:rPr>
            </a:br>
            <a:r>
              <a:rPr lang="bg-BG" sz="2000">
                <a:solidFill>
                  <a:schemeClr val="tx1"/>
                </a:solidFill>
                <a:latin typeface="Courier New" pitchFamily="49" charset="-52"/>
              </a:rPr>
              <a:t>{</a:t>
            </a:r>
            <a:br>
              <a:rPr lang="bg-BG" sz="2000">
                <a:solidFill>
                  <a:schemeClr val="tx1"/>
                </a:solidFill>
                <a:latin typeface="Courier New" pitchFamily="49" charset="-52"/>
              </a:rPr>
            </a:br>
            <a:r>
              <a:rPr lang="bg-BG" sz="2000">
                <a:solidFill>
                  <a:schemeClr val="tx1"/>
                </a:solidFill>
                <a:latin typeface="Courier New" pitchFamily="49" charset="-52"/>
              </a:rPr>
              <a:t>  cout&lt;&lt;"\n Array:\n";</a:t>
            </a:r>
            <a:br>
              <a:rPr lang="bg-BG" sz="2000">
                <a:solidFill>
                  <a:schemeClr val="tx1"/>
                </a:solidFill>
                <a:latin typeface="Courier New" pitchFamily="49" charset="-52"/>
              </a:rPr>
            </a:br>
            <a:r>
              <a:rPr lang="bg-BG" sz="2000">
                <a:solidFill>
                  <a:schemeClr val="tx1"/>
                </a:solidFill>
                <a:latin typeface="Courier New" pitchFamily="49" charset="-52"/>
              </a:rPr>
              <a:t>  for (int i=0;i&lt;num; i++)</a:t>
            </a:r>
            <a:br>
              <a:rPr lang="bg-BG" sz="2000">
                <a:solidFill>
                  <a:schemeClr val="tx1"/>
                </a:solidFill>
                <a:latin typeface="Courier New" pitchFamily="49" charset="-52"/>
              </a:rPr>
            </a:br>
            <a:r>
              <a:rPr lang="bg-BG" sz="2000">
                <a:solidFill>
                  <a:schemeClr val="tx1"/>
                </a:solidFill>
                <a:latin typeface="Courier New" pitchFamily="49" charset="-52"/>
              </a:rPr>
              <a:t>   cout&lt;&lt;a[i]&lt;&lt;" ";</a:t>
            </a:r>
            <a:br>
              <a:rPr lang="bg-BG" sz="2000">
                <a:solidFill>
                  <a:schemeClr val="tx1"/>
                </a:solidFill>
                <a:latin typeface="Courier New" pitchFamily="49" charset="-52"/>
              </a:rPr>
            </a:br>
            <a:r>
              <a:rPr lang="bg-BG" sz="2000">
                <a:solidFill>
                  <a:schemeClr val="tx1"/>
                </a:solidFill>
                <a:latin typeface="Courier New" pitchFamily="49" charset="-52"/>
              </a:rPr>
              <a:t>}</a:t>
            </a:r>
            <a:br>
              <a:rPr lang="bg-BG" sz="2000">
                <a:solidFill>
                  <a:schemeClr val="tx1"/>
                </a:solidFill>
                <a:latin typeface="Courier New" pitchFamily="49" charset="-52"/>
              </a:rPr>
            </a:br>
            <a:r>
              <a:rPr lang="bg-BG" sz="2000">
                <a:solidFill>
                  <a:schemeClr val="accent3">
                    <a:lumMod val="75000"/>
                  </a:schemeClr>
                </a:solidFill>
                <a:latin typeface="Courier New" pitchFamily="49" charset="-52"/>
              </a:rPr>
              <a:t>int  compare (const void *p, const void *q)</a:t>
            </a:r>
            <a:br>
              <a:rPr lang="bg-BG" sz="2000">
                <a:solidFill>
                  <a:schemeClr val="accent3">
                    <a:lumMod val="75000"/>
                  </a:schemeClr>
                </a:solidFill>
                <a:latin typeface="Courier New" pitchFamily="49" charset="-52"/>
              </a:rPr>
            </a:br>
            <a:r>
              <a:rPr lang="bg-BG" sz="2000">
                <a:solidFill>
                  <a:schemeClr val="accent3">
                    <a:lumMod val="75000"/>
                  </a:schemeClr>
                </a:solidFill>
                <a:latin typeface="Courier New" pitchFamily="49" charset="-52"/>
              </a:rPr>
              <a:t>{</a:t>
            </a:r>
            <a:br>
              <a:rPr lang="bg-BG" sz="2000">
                <a:solidFill>
                  <a:schemeClr val="accent3">
                    <a:lumMod val="75000"/>
                  </a:schemeClr>
                </a:solidFill>
                <a:latin typeface="Courier New" pitchFamily="49" charset="-52"/>
              </a:rPr>
            </a:br>
            <a:r>
              <a:rPr lang="bg-BG" sz="2000">
                <a:solidFill>
                  <a:schemeClr val="accent3">
                    <a:lumMod val="75000"/>
                  </a:schemeClr>
                </a:solidFill>
                <a:latin typeface="Courier New" pitchFamily="49" charset="-52"/>
              </a:rPr>
              <a:t> return *(int*)p &lt; *(int*)q ? -1: *(int*)p &gt; *(int*)q;</a:t>
            </a:r>
            <a:br>
              <a:rPr lang="bg-BG" sz="2000">
                <a:solidFill>
                  <a:schemeClr val="accent3">
                    <a:lumMod val="75000"/>
                  </a:schemeClr>
                </a:solidFill>
                <a:latin typeface="Courier New" pitchFamily="49" charset="-52"/>
              </a:rPr>
            </a:br>
            <a:r>
              <a:rPr lang="bg-BG" sz="2000">
                <a:solidFill>
                  <a:schemeClr val="accent3">
                    <a:lumMod val="75000"/>
                  </a:schemeClr>
                </a:solidFill>
                <a:latin typeface="Courier New" pitchFamily="49" charset="-52"/>
              </a:rPr>
              <a:t>}</a:t>
            </a:r>
            <a:r>
              <a:rPr lang="bg-BG" sz="2000">
                <a:solidFill>
                  <a:schemeClr val="tx1"/>
                </a:solidFill>
                <a:latin typeface="Courier New" pitchFamily="49" charset="-52"/>
              </a:rPr>
              <a:t/>
            </a:r>
            <a:br>
              <a:rPr lang="bg-BG" sz="2000">
                <a:solidFill>
                  <a:schemeClr val="tx1"/>
                </a:solidFill>
                <a:latin typeface="Courier New" pitchFamily="49" charset="-52"/>
              </a:rPr>
            </a:br>
            <a:r>
              <a:rPr lang="bg-BG" sz="2000">
                <a:solidFill>
                  <a:schemeClr val="tx1"/>
                </a:solidFill>
                <a:latin typeface="Courier New" pitchFamily="49" charset="-52"/>
              </a:rPr>
              <a:t>void main()</a:t>
            </a:r>
            <a:br>
              <a:rPr lang="bg-BG" sz="2000">
                <a:solidFill>
                  <a:schemeClr val="tx1"/>
                </a:solidFill>
                <a:latin typeface="Courier New" pitchFamily="49" charset="-52"/>
              </a:rPr>
            </a:br>
            <a:r>
              <a:rPr lang="bg-BG" sz="2000">
                <a:solidFill>
                  <a:schemeClr val="tx1"/>
                </a:solidFill>
                <a:latin typeface="Courier New" pitchFamily="49" charset="-52"/>
              </a:rPr>
              <a:t>{</a:t>
            </a:r>
            <a:br>
              <a:rPr lang="bg-BG" sz="2000">
                <a:solidFill>
                  <a:schemeClr val="tx1"/>
                </a:solidFill>
                <a:latin typeface="Courier New" pitchFamily="49" charset="-52"/>
              </a:rPr>
            </a:br>
            <a:r>
              <a:rPr lang="bg-BG" sz="2000">
                <a:solidFill>
                  <a:schemeClr val="tx1"/>
                </a:solidFill>
                <a:latin typeface="Courier New" pitchFamily="49" charset="-52"/>
              </a:rPr>
              <a:t>  input(a);</a:t>
            </a:r>
            <a:br>
              <a:rPr lang="bg-BG" sz="2000">
                <a:solidFill>
                  <a:schemeClr val="tx1"/>
                </a:solidFill>
                <a:latin typeface="Courier New" pitchFamily="49" charset="-52"/>
              </a:rPr>
            </a:br>
            <a:r>
              <a:rPr lang="bg-BG" sz="2000">
                <a:solidFill>
                  <a:schemeClr val="tx1"/>
                </a:solidFill>
                <a:latin typeface="Courier New" pitchFamily="49" charset="-52"/>
              </a:rPr>
              <a:t>  out(a);</a:t>
            </a:r>
            <a:br>
              <a:rPr lang="bg-BG" sz="2000">
                <a:solidFill>
                  <a:schemeClr val="tx1"/>
                </a:solidFill>
                <a:latin typeface="Courier New" pitchFamily="49" charset="-52"/>
              </a:rPr>
            </a:br>
            <a:r>
              <a:rPr lang="bg-BG" sz="2000">
                <a:solidFill>
                  <a:schemeClr val="tx1"/>
                </a:solidFill>
                <a:latin typeface="Courier New" pitchFamily="49" charset="-52"/>
              </a:rPr>
              <a:t>  </a:t>
            </a:r>
            <a:r>
              <a:rPr lang="bg-BG" sz="2000">
                <a:solidFill>
                  <a:schemeClr val="accent3">
                    <a:lumMod val="75000"/>
                  </a:schemeClr>
                </a:solidFill>
                <a:latin typeface="Courier New" pitchFamily="49" charset="-52"/>
              </a:rPr>
              <a:t>qsort(a, num, sizeof(int), compare);</a:t>
            </a:r>
            <a:r>
              <a:rPr lang="bg-BG" sz="2000">
                <a:solidFill>
                  <a:schemeClr val="tx1"/>
                </a:solidFill>
                <a:latin typeface="Courier New" pitchFamily="49" charset="-52"/>
              </a:rPr>
              <a:t/>
            </a:r>
            <a:br>
              <a:rPr lang="bg-BG" sz="2000">
                <a:solidFill>
                  <a:schemeClr val="tx1"/>
                </a:solidFill>
                <a:latin typeface="Courier New" pitchFamily="49" charset="-52"/>
              </a:rPr>
            </a:br>
            <a:r>
              <a:rPr lang="bg-BG" sz="2000">
                <a:solidFill>
                  <a:schemeClr val="tx1"/>
                </a:solidFill>
                <a:latin typeface="Courier New" pitchFamily="49" charset="-52"/>
              </a:rPr>
              <a:t>  out(a);</a:t>
            </a:r>
            <a:br>
              <a:rPr lang="bg-BG" sz="2000">
                <a:solidFill>
                  <a:schemeClr val="tx1"/>
                </a:solidFill>
                <a:latin typeface="Courier New" pitchFamily="49" charset="-52"/>
              </a:rPr>
            </a:br>
            <a:r>
              <a:rPr lang="bg-BG" sz="2000">
                <a:solidFill>
                  <a:schemeClr val="tx1"/>
                </a:solidFill>
                <a:latin typeface="Courier New" pitchFamily="49" charset="-52"/>
              </a:rPr>
              <a:t>  </a:t>
            </a:r>
            <a:br>
              <a:rPr lang="bg-BG" sz="2000">
                <a:solidFill>
                  <a:schemeClr val="tx1"/>
                </a:solidFill>
                <a:latin typeface="Courier New" pitchFamily="49" charset="-52"/>
              </a:rPr>
            </a:br>
            <a:r>
              <a:rPr lang="bg-BG" sz="2000">
                <a:solidFill>
                  <a:schemeClr val="tx1"/>
                </a:solidFill>
                <a:latin typeface="Courier New" pitchFamily="49" charset="-52"/>
              </a:rPr>
              <a:t>}</a:t>
            </a:r>
            <a:br>
              <a:rPr lang="bg-BG" sz="2000">
                <a:solidFill>
                  <a:schemeClr val="tx1"/>
                </a:solidFill>
                <a:latin typeface="Courier New" pitchFamily="49" charset="-52"/>
              </a:rPr>
            </a:br>
            <a:endParaRPr lang="en-US" sz="2000">
              <a:solidFill>
                <a:schemeClr val="tx1"/>
              </a:solidFill>
              <a:latin typeface="Courier New" pitchFamily="49" charset="-52"/>
            </a:endParaRPr>
          </a:p>
        </p:txBody>
      </p:sp>
      <p:sp>
        <p:nvSpPr>
          <p:cNvPr id="5" name="Slide Number Placeholder 4"/>
          <p:cNvSpPr>
            <a:spLocks noGrp="1"/>
          </p:cNvSpPr>
          <p:nvPr>
            <p:ph type="sldNum" sz="quarter" idx="12"/>
          </p:nvPr>
        </p:nvSpPr>
        <p:spPr/>
        <p:txBody>
          <a:bodyPr/>
          <a:lstStyle/>
          <a:p>
            <a:pPr>
              <a:defRPr/>
            </a:pPr>
            <a:fld id="{DE4C0C02-0110-4FD2-A44D-06436219C694}" type="slidenum">
              <a:rPr lang="en-US"/>
              <a:pPr>
                <a:defRPr/>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116013" y="620713"/>
            <a:ext cx="7777162" cy="5903912"/>
          </a:xfrm>
        </p:spPr>
        <p:txBody>
          <a:bodyPr>
            <a:normAutofit fontScale="90000"/>
          </a:bodyPr>
          <a:lstStyle/>
          <a:p>
            <a:pPr eaLnBrk="1" fontAlgn="auto" hangingPunct="1">
              <a:lnSpc>
                <a:spcPct val="130000"/>
              </a:lnSpc>
              <a:spcAft>
                <a:spcPts val="0"/>
              </a:spcAft>
              <a:defRPr/>
            </a:pPr>
            <a:r>
              <a:rPr lang="en-US" sz="2400" b="1">
                <a:solidFill>
                  <a:schemeClr val="tx1"/>
                </a:solidFill>
              </a:rPr>
              <a:t>     </a:t>
            </a:r>
            <a:r>
              <a:rPr lang="bg-BG" sz="2400" b="1">
                <a:solidFill>
                  <a:schemeClr val="tx1"/>
                </a:solidFill>
              </a:rPr>
              <a:t>Сортиране чрез избор (извличане) (Selection sort)</a:t>
            </a:r>
            <a:r>
              <a:rPr lang="bg-BG" sz="2000" b="1">
                <a:solidFill>
                  <a:schemeClr val="tx1"/>
                </a:solidFill>
              </a:rPr>
              <a:t/>
            </a:r>
            <a:br>
              <a:rPr lang="bg-BG" sz="2000" b="1">
                <a:solidFill>
                  <a:schemeClr val="tx1"/>
                </a:solidFill>
              </a:rPr>
            </a:br>
            <a:r>
              <a:rPr lang="bg-BG" sz="2000" b="1">
                <a:solidFill>
                  <a:schemeClr val="tx1"/>
                </a:solidFill>
              </a:rPr>
              <a:t/>
            </a:r>
            <a:br>
              <a:rPr lang="bg-BG" sz="2000" b="1">
                <a:solidFill>
                  <a:schemeClr val="tx1"/>
                </a:solidFill>
              </a:rPr>
            </a:br>
            <a:r>
              <a:rPr lang="bg-BG" sz="2000" b="1">
                <a:solidFill>
                  <a:schemeClr val="tx1"/>
                </a:solidFill>
              </a:rPr>
              <a:t>	</a:t>
            </a:r>
            <a:r>
              <a:rPr lang="bg-BG" sz="2000">
                <a:solidFill>
                  <a:schemeClr val="tx1"/>
                </a:solidFill>
              </a:rPr>
              <a:t>Към тази група се отнасят: сортиране чрез прост избор, избор от дърво, пирамидална сортировка и др.</a:t>
            </a:r>
            <a:br>
              <a:rPr lang="bg-BG" sz="2000">
                <a:solidFill>
                  <a:schemeClr val="tx1"/>
                </a:solidFill>
              </a:rPr>
            </a:br>
            <a:r>
              <a:rPr lang="bg-BG" sz="2000">
                <a:solidFill>
                  <a:schemeClr val="tx1"/>
                </a:solidFill>
              </a:rPr>
              <a:t/>
            </a:r>
            <a:br>
              <a:rPr lang="bg-BG" sz="2000">
                <a:solidFill>
                  <a:schemeClr val="tx1"/>
                </a:solidFill>
              </a:rPr>
            </a:br>
            <a:r>
              <a:rPr lang="bg-BG" sz="2000" i="1">
                <a:solidFill>
                  <a:schemeClr val="tx1"/>
                </a:solidFill>
                <a:latin typeface="Arial" pitchFamily="34" charset="0"/>
                <a:cs typeface="Arial" pitchFamily="34" charset="0"/>
              </a:rPr>
              <a:t>1</a:t>
            </a:r>
            <a:r>
              <a:rPr lang="bg-BG" sz="2000" i="1">
                <a:solidFill>
                  <a:schemeClr val="tx1"/>
                </a:solidFill>
              </a:rPr>
              <a:t>. Сортиране чрез прост избор (пряка селекция)</a:t>
            </a:r>
            <a:br>
              <a:rPr lang="bg-BG" sz="2000" i="1">
                <a:solidFill>
                  <a:schemeClr val="tx1"/>
                </a:solidFill>
              </a:rPr>
            </a:br>
            <a:r>
              <a:rPr lang="bg-BG" sz="2000" i="1">
                <a:solidFill>
                  <a:schemeClr val="tx1"/>
                </a:solidFill>
              </a:rPr>
              <a:t/>
            </a:r>
            <a:br>
              <a:rPr lang="bg-BG" sz="2000" i="1">
                <a:solidFill>
                  <a:schemeClr val="tx1"/>
                </a:solidFill>
              </a:rPr>
            </a:br>
            <a:r>
              <a:rPr lang="bg-BG" sz="2000" i="1">
                <a:solidFill>
                  <a:schemeClr val="tx1"/>
                </a:solidFill>
              </a:rPr>
              <a:t>	</a:t>
            </a:r>
            <a:r>
              <a:rPr lang="bg-BG" sz="2000">
                <a:solidFill>
                  <a:schemeClr val="tx1"/>
                </a:solidFill>
              </a:rPr>
              <a:t>Идеята на метода е следната: търси се елемент с най-малкия (или най-големия) ключ; намереният елемент се премества в началото (или в края) на масива и се изключва от разглеждането; действието се повтаря, докато не се изберат всички </a:t>
            </a:r>
            <a:r>
              <a:rPr lang="bg-BG" sz="2000" b="1" i="1">
                <a:solidFill>
                  <a:schemeClr val="tx1"/>
                </a:solidFill>
              </a:rPr>
              <a:t>n</a:t>
            </a:r>
            <a:r>
              <a:rPr lang="bg-BG" sz="2000">
                <a:solidFill>
                  <a:schemeClr val="tx1"/>
                </a:solidFill>
              </a:rPr>
              <a:t> елемента. Методът е аналогичен на метода на простото вмъкване - и в двата случая в левия край на масива се образува поредица от вече подредените елементи.</a:t>
            </a:r>
            <a:br>
              <a:rPr lang="bg-BG" sz="2000">
                <a:solidFill>
                  <a:schemeClr val="tx1"/>
                </a:solidFill>
              </a:rPr>
            </a:br>
            <a:endParaRPr lang="bg-BG">
              <a:solidFill>
                <a:schemeClr val="tx1"/>
              </a:solidFill>
            </a:endParaRPr>
          </a:p>
        </p:txBody>
      </p:sp>
      <p:sp>
        <p:nvSpPr>
          <p:cNvPr id="5" name="Slide Number Placeholder 4"/>
          <p:cNvSpPr>
            <a:spLocks noGrp="1"/>
          </p:cNvSpPr>
          <p:nvPr>
            <p:ph type="sldNum" sz="quarter" idx="12"/>
          </p:nvPr>
        </p:nvSpPr>
        <p:spPr/>
        <p:txBody>
          <a:bodyPr/>
          <a:lstStyle/>
          <a:p>
            <a:pPr>
              <a:defRPr/>
            </a:pPr>
            <a:fld id="{B265224B-5B82-4C4D-B5FF-84D4D7C2D023}" type="slidenum">
              <a:rPr lang="en-US"/>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042988" y="609600"/>
            <a:ext cx="7921625" cy="6019800"/>
          </a:xfrm>
        </p:spPr>
        <p:txBody>
          <a:bodyPr>
            <a:normAutofit fontScale="90000"/>
          </a:bodyPr>
          <a:lstStyle/>
          <a:p>
            <a:pPr eaLnBrk="1" fontAlgn="auto" hangingPunct="1">
              <a:lnSpc>
                <a:spcPct val="110000"/>
              </a:lnSpc>
              <a:spcAft>
                <a:spcPts val="0"/>
              </a:spcAft>
              <a:defRPr/>
            </a:pPr>
            <a:r>
              <a:rPr lang="en-US" sz="2000">
                <a:solidFill>
                  <a:schemeClr val="tx1"/>
                </a:solidFill>
              </a:rPr>
              <a:t>	</a:t>
            </a:r>
            <a:r>
              <a:rPr lang="bg-BG" sz="2000">
                <a:solidFill>
                  <a:schemeClr val="tx1"/>
                </a:solidFill>
              </a:rPr>
              <a:t>Сложността на метода е </a:t>
            </a:r>
            <a:r>
              <a:rPr lang="en-US" sz="2000" b="1" i="1">
                <a:solidFill>
                  <a:schemeClr val="tx1"/>
                </a:solidFill>
              </a:rPr>
              <a:t>O(n</a:t>
            </a:r>
            <a:r>
              <a:rPr lang="en-US" sz="2000" b="1" i="1" baseline="30000">
                <a:solidFill>
                  <a:schemeClr val="tx1"/>
                </a:solidFill>
              </a:rPr>
              <a:t>2</a:t>
            </a:r>
            <a:r>
              <a:rPr lang="en-US" sz="2000" b="1" i="1">
                <a:solidFill>
                  <a:schemeClr val="tx1"/>
                </a:solidFill>
              </a:rPr>
              <a:t>).</a:t>
            </a:r>
            <a:r>
              <a:rPr lang="en-US" sz="2000">
                <a:solidFill>
                  <a:schemeClr val="tx1"/>
                </a:solidFill>
              </a:rPr>
              <a:t> </a:t>
            </a:r>
            <a:r>
              <a:rPr lang="bg-BG" sz="2000">
                <a:solidFill>
                  <a:schemeClr val="tx1"/>
                </a:solidFill>
              </a:rPr>
              <a:t>Както и при метода на прекия избор, масивът се разделя на сортирана и несортирана част, като на всяка стъпка на алгоритъма сортираната област се разширява отдясно с един елемент. На първата стъпка се намира минималния елемент на масива и се разменя с първия. На втората минималния измежду останалите елементи се разменя с втория елемент на масива и т. н. На всяка следваща стъпка минималния елемент от несортираната част на масива се разменя мястото с първия елемент от несортираната част, разширявайки по този начин сортираната част, докато тя не обхване целия масив:</a:t>
            </a:r>
            <a:br>
              <a:rPr lang="bg-BG" sz="2000">
                <a:solidFill>
                  <a:schemeClr val="tx1"/>
                </a:solidFill>
              </a:rPr>
            </a:br>
            <a:r>
              <a:rPr lang="bg-BG" sz="2000">
                <a:solidFill>
                  <a:schemeClr val="tx1"/>
                </a:solidFill>
              </a:rPr>
              <a:t/>
            </a:r>
            <a:br>
              <a:rPr lang="bg-BG" sz="2000">
                <a:solidFill>
                  <a:schemeClr val="tx1"/>
                </a:solidFill>
              </a:rPr>
            </a:br>
            <a:r>
              <a:rPr lang="en-US" sz="2000">
                <a:solidFill>
                  <a:schemeClr val="tx1"/>
                </a:solidFill>
                <a:latin typeface="Courier New" pitchFamily="49" charset="-52"/>
              </a:rPr>
              <a:t>void straight_selection (int a[], unsigned n)</a:t>
            </a:r>
            <a:br>
              <a:rPr lang="en-US" sz="2000">
                <a:solidFill>
                  <a:schemeClr val="tx1"/>
                </a:solidFill>
                <a:latin typeface="Courier New" pitchFamily="49" charset="-52"/>
              </a:rPr>
            </a:br>
            <a:r>
              <a:rPr lang="en-US" sz="2000">
                <a:solidFill>
                  <a:schemeClr val="tx1"/>
                </a:solidFill>
                <a:latin typeface="Courier New" pitchFamily="49" charset="-52"/>
              </a:rPr>
              <a:t>{ unsigned  i, j;</a:t>
            </a:r>
            <a:br>
              <a:rPr lang="en-US" sz="2000">
                <a:solidFill>
                  <a:schemeClr val="tx1"/>
                </a:solidFill>
                <a:latin typeface="Courier New" pitchFamily="49" charset="-52"/>
              </a:rPr>
            </a:br>
            <a:r>
              <a:rPr lang="en-US" sz="2000">
                <a:solidFill>
                  <a:schemeClr val="tx1"/>
                </a:solidFill>
                <a:latin typeface="Courier New" pitchFamily="49" charset="-52"/>
              </a:rPr>
              <a:t>   int rab;</a:t>
            </a:r>
            <a:br>
              <a:rPr lang="en-US" sz="2000">
                <a:solidFill>
                  <a:schemeClr val="tx1"/>
                </a:solidFill>
                <a:latin typeface="Courier New" pitchFamily="49" charset="-52"/>
              </a:rPr>
            </a:br>
            <a:r>
              <a:rPr lang="en-US" sz="2000">
                <a:solidFill>
                  <a:schemeClr val="tx1"/>
                </a:solidFill>
                <a:latin typeface="Courier New" pitchFamily="49" charset="-52"/>
              </a:rPr>
              <a:t>   for (i=0; i&lt;n-1; i++)</a:t>
            </a:r>
            <a:br>
              <a:rPr lang="en-US" sz="2000">
                <a:solidFill>
                  <a:schemeClr val="tx1"/>
                </a:solidFill>
                <a:latin typeface="Courier New" pitchFamily="49" charset="-52"/>
              </a:rPr>
            </a:br>
            <a:r>
              <a:rPr lang="en-US" sz="2000">
                <a:solidFill>
                  <a:schemeClr val="tx1"/>
                </a:solidFill>
                <a:latin typeface="Courier New" pitchFamily="49" charset="-52"/>
              </a:rPr>
              <a:t>       for (j=i+1; j&lt;=n; j++)</a:t>
            </a:r>
            <a:br>
              <a:rPr lang="en-US" sz="2000">
                <a:solidFill>
                  <a:schemeClr val="tx1"/>
                </a:solidFill>
                <a:latin typeface="Courier New" pitchFamily="49" charset="-52"/>
              </a:rPr>
            </a:br>
            <a:r>
              <a:rPr lang="en-US" sz="2000">
                <a:solidFill>
                  <a:schemeClr val="tx1"/>
                </a:solidFill>
                <a:latin typeface="Courier New" pitchFamily="49" charset="-52"/>
              </a:rPr>
              <a:t>           if (a[i] &gt; a[j]) </a:t>
            </a:r>
            <a:br>
              <a:rPr lang="en-US" sz="2000">
                <a:solidFill>
                  <a:schemeClr val="tx1"/>
                </a:solidFill>
                <a:latin typeface="Courier New" pitchFamily="49" charset="-52"/>
              </a:rPr>
            </a:br>
            <a:r>
              <a:rPr lang="en-US" sz="2000">
                <a:solidFill>
                  <a:schemeClr val="tx1"/>
                </a:solidFill>
                <a:latin typeface="Courier New" pitchFamily="49" charset="-52"/>
              </a:rPr>
              <a:t>                {rab=a[i]; a[i]=a[j]; a[j]=rab;}</a:t>
            </a:r>
            <a:r>
              <a:rPr lang="en-US" sz="2000">
                <a:solidFill>
                  <a:schemeClr val="tx2">
                    <a:satMod val="130000"/>
                  </a:schemeClr>
                </a:solidFill>
                <a:latin typeface="Courier New" pitchFamily="49" charset="-52"/>
              </a:rPr>
              <a:t/>
            </a:r>
            <a:br>
              <a:rPr lang="en-US" sz="2000">
                <a:solidFill>
                  <a:schemeClr val="tx2">
                    <a:satMod val="130000"/>
                  </a:schemeClr>
                </a:solidFill>
                <a:latin typeface="Courier New" pitchFamily="49" charset="-52"/>
              </a:rPr>
            </a:br>
            <a:r>
              <a:rPr lang="bg-BG" sz="2000">
                <a:solidFill>
                  <a:schemeClr val="tx2">
                    <a:satMod val="130000"/>
                  </a:schemeClr>
                </a:solidFill>
                <a:latin typeface="Courier New" pitchFamily="49" charset="-52"/>
              </a:rPr>
              <a:t> </a:t>
            </a:r>
            <a:r>
              <a:rPr lang="en-US" sz="2000">
                <a:solidFill>
                  <a:schemeClr val="tx2">
                    <a:satMod val="130000"/>
                  </a:schemeClr>
                </a:solidFill>
                <a:latin typeface="Courier New" pitchFamily="49" charset="-52"/>
              </a:rPr>
              <a:t>}</a:t>
            </a:r>
            <a:endParaRPr lang="en-US" sz="2000">
              <a:solidFill>
                <a:schemeClr val="tx2">
                  <a:satMod val="130000"/>
                </a:schemeClr>
              </a:solidFill>
            </a:endParaRPr>
          </a:p>
        </p:txBody>
      </p:sp>
      <p:sp>
        <p:nvSpPr>
          <p:cNvPr id="5" name="Slide Number Placeholder 4"/>
          <p:cNvSpPr>
            <a:spLocks noGrp="1"/>
          </p:cNvSpPr>
          <p:nvPr>
            <p:ph type="sldNum" sz="quarter" idx="12"/>
          </p:nvPr>
        </p:nvSpPr>
        <p:spPr/>
        <p:txBody>
          <a:bodyPr/>
          <a:lstStyle/>
          <a:p>
            <a:pPr>
              <a:defRPr/>
            </a:pPr>
            <a:fld id="{CACF2A6C-C815-41A4-9C00-31A881ADB436}" type="slidenum">
              <a:rPr lang="en-US"/>
              <a:pPr>
                <a:defRPr/>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042988" y="228600"/>
            <a:ext cx="7921625" cy="6324600"/>
          </a:xfrm>
        </p:spPr>
        <p:txBody>
          <a:bodyPr>
            <a:normAutofit fontScale="90000"/>
          </a:bodyPr>
          <a:lstStyle/>
          <a:p>
            <a:pPr eaLnBrk="1" fontAlgn="auto" hangingPunct="1">
              <a:lnSpc>
                <a:spcPct val="90000"/>
              </a:lnSpc>
              <a:spcAft>
                <a:spcPts val="0"/>
              </a:spcAft>
              <a:defRPr/>
            </a:pPr>
            <a:r>
              <a:rPr lang="en-US" sz="2000">
                <a:solidFill>
                  <a:schemeClr val="tx2">
                    <a:satMod val="130000"/>
                  </a:schemeClr>
                </a:solidFill>
              </a:rPr>
              <a:t>	</a:t>
            </a:r>
            <a:r>
              <a:rPr lang="bg-BG" sz="2000">
                <a:solidFill>
                  <a:schemeClr val="tx1"/>
                </a:solidFill>
              </a:rPr>
              <a:t>Широко разпространен е и леко модифицирания вариант на разгледаната реализация: във вътрешния цикъл е спестено адресирането на </a:t>
            </a:r>
            <a:r>
              <a:rPr lang="en-US" sz="2000" b="1" i="1">
                <a:solidFill>
                  <a:schemeClr val="tx1"/>
                </a:solidFill>
              </a:rPr>
              <a:t>j</a:t>
            </a:r>
            <a:r>
              <a:rPr lang="bg-BG" sz="2000">
                <a:solidFill>
                  <a:schemeClr val="tx1"/>
                </a:solidFill>
              </a:rPr>
              <a:t>-ия елемент като </a:t>
            </a:r>
            <a:r>
              <a:rPr lang="en-US" sz="2000" b="1" i="1">
                <a:solidFill>
                  <a:schemeClr val="tx1"/>
                </a:solidFill>
              </a:rPr>
              <a:t>a[j]</a:t>
            </a:r>
            <a:r>
              <a:rPr lang="bg-BG" sz="2000">
                <a:solidFill>
                  <a:schemeClr val="tx1"/>
                </a:solidFill>
              </a:rPr>
              <a:t> и за целта е въведена променливата </a:t>
            </a:r>
            <a:r>
              <a:rPr lang="en-US" sz="2000" b="1" i="1">
                <a:solidFill>
                  <a:schemeClr val="tx1"/>
                </a:solidFill>
              </a:rPr>
              <a:t> x:</a:t>
            </a:r>
            <a:br>
              <a:rPr lang="en-US" sz="2000" b="1" i="1">
                <a:solidFill>
                  <a:schemeClr val="tx1"/>
                </a:solidFill>
              </a:rPr>
            </a:br>
            <a:r>
              <a:rPr lang="bg-BG" sz="800">
                <a:solidFill>
                  <a:schemeClr val="tx1"/>
                </a:solidFill>
              </a:rPr>
              <a:t/>
            </a:r>
            <a:br>
              <a:rPr lang="bg-BG" sz="800">
                <a:solidFill>
                  <a:schemeClr val="tx1"/>
                </a:solidFill>
              </a:rPr>
            </a:br>
            <a:r>
              <a:rPr lang="bg-BG" sz="2000">
                <a:solidFill>
                  <a:schemeClr val="tx1"/>
                </a:solidFill>
              </a:rPr>
              <a:t> </a:t>
            </a:r>
            <a:r>
              <a:rPr lang="en-US" sz="2000" i="1">
                <a:solidFill>
                  <a:schemeClr val="tx1"/>
                </a:solidFill>
              </a:rPr>
              <a:t>void straight_selection (int a[], unsigned n)</a:t>
            </a:r>
            <a:br>
              <a:rPr lang="en-US" sz="2000" i="1">
                <a:solidFill>
                  <a:schemeClr val="tx1"/>
                </a:solidFill>
              </a:rPr>
            </a:br>
            <a:r>
              <a:rPr lang="en-US" sz="2000" i="1">
                <a:solidFill>
                  <a:schemeClr val="tx1"/>
                </a:solidFill>
              </a:rPr>
              <a:t>{ unsigned  i, j,</a:t>
            </a:r>
            <a:r>
              <a:rPr lang="bg-BG" sz="2000" i="1">
                <a:solidFill>
                  <a:schemeClr val="tx1"/>
                </a:solidFill>
              </a:rPr>
              <a:t> </a:t>
            </a:r>
            <a:r>
              <a:rPr lang="en-US" sz="2000" i="1">
                <a:solidFill>
                  <a:schemeClr val="tx1"/>
                </a:solidFill>
              </a:rPr>
              <a:t>ind;</a:t>
            </a:r>
            <a:br>
              <a:rPr lang="en-US" sz="2000" i="1">
                <a:solidFill>
                  <a:schemeClr val="tx1"/>
                </a:solidFill>
              </a:rPr>
            </a:br>
            <a:r>
              <a:rPr lang="en-US" sz="2000" i="1">
                <a:solidFill>
                  <a:schemeClr val="tx1"/>
                </a:solidFill>
              </a:rPr>
              <a:t>   int  x;</a:t>
            </a:r>
            <a:br>
              <a:rPr lang="en-US" sz="2000" i="1">
                <a:solidFill>
                  <a:schemeClr val="tx1"/>
                </a:solidFill>
              </a:rPr>
            </a:br>
            <a:r>
              <a:rPr lang="en-US" sz="2000" i="1">
                <a:solidFill>
                  <a:schemeClr val="tx1"/>
                </a:solidFill>
              </a:rPr>
              <a:t>   for (i=0; i&lt;n-</a:t>
            </a:r>
            <a:r>
              <a:rPr lang="en-US" sz="2000" i="1">
                <a:solidFill>
                  <a:schemeClr val="tx1"/>
                </a:solidFill>
                <a:latin typeface="Arial" pitchFamily="34" charset="0"/>
                <a:cs typeface="Arial" pitchFamily="34" charset="0"/>
              </a:rPr>
              <a:t>1</a:t>
            </a:r>
            <a:r>
              <a:rPr lang="en-US" sz="2000" i="1">
                <a:solidFill>
                  <a:schemeClr val="tx1"/>
                </a:solidFill>
              </a:rPr>
              <a:t>; i++)</a:t>
            </a:r>
            <a:br>
              <a:rPr lang="en-US" sz="2000" i="1">
                <a:solidFill>
                  <a:schemeClr val="tx1"/>
                </a:solidFill>
              </a:rPr>
            </a:br>
            <a:r>
              <a:rPr lang="en-US" sz="2000" i="1">
                <a:solidFill>
                  <a:schemeClr val="tx1"/>
                </a:solidFill>
              </a:rPr>
              <a:t>       for (x=a[ind=i], j=i+</a:t>
            </a:r>
            <a:r>
              <a:rPr lang="en-US" sz="2000" i="1">
                <a:solidFill>
                  <a:schemeClr val="tx1"/>
                </a:solidFill>
                <a:latin typeface="Arial" pitchFamily="34" charset="0"/>
                <a:cs typeface="Arial" pitchFamily="34" charset="0"/>
              </a:rPr>
              <a:t>1</a:t>
            </a:r>
            <a:r>
              <a:rPr lang="en-US" sz="2000" i="1">
                <a:solidFill>
                  <a:schemeClr val="tx1"/>
                </a:solidFill>
              </a:rPr>
              <a:t>; j&lt;=n; j++)</a:t>
            </a:r>
            <a:br>
              <a:rPr lang="en-US" sz="2000" i="1">
                <a:solidFill>
                  <a:schemeClr val="tx1"/>
                </a:solidFill>
              </a:rPr>
            </a:br>
            <a:r>
              <a:rPr lang="en-US" sz="2000" i="1">
                <a:solidFill>
                  <a:schemeClr val="tx1"/>
                </a:solidFill>
              </a:rPr>
              <a:t>           if (a[j] &lt; x) </a:t>
            </a:r>
            <a:br>
              <a:rPr lang="en-US" sz="2000" i="1">
                <a:solidFill>
                  <a:schemeClr val="tx1"/>
                </a:solidFill>
              </a:rPr>
            </a:br>
            <a:r>
              <a:rPr lang="en-US" sz="2000" i="1">
                <a:solidFill>
                  <a:schemeClr val="tx1"/>
                </a:solidFill>
              </a:rPr>
              <a:t>                { x=a[ind=j]; </a:t>
            </a:r>
            <a:br>
              <a:rPr lang="en-US" sz="2000" i="1">
                <a:solidFill>
                  <a:schemeClr val="tx1"/>
                </a:solidFill>
              </a:rPr>
            </a:br>
            <a:r>
              <a:rPr lang="en-US" sz="2000" i="1">
                <a:solidFill>
                  <a:schemeClr val="tx1"/>
                </a:solidFill>
              </a:rPr>
              <a:t>                   a[ind]=x;</a:t>
            </a:r>
            <a:br>
              <a:rPr lang="en-US" sz="2000" i="1">
                <a:solidFill>
                  <a:schemeClr val="tx1"/>
                </a:solidFill>
              </a:rPr>
            </a:br>
            <a:r>
              <a:rPr lang="en-US" sz="2000" i="1">
                <a:solidFill>
                  <a:schemeClr val="tx1"/>
                </a:solidFill>
              </a:rPr>
              <a:t>                   </a:t>
            </a:r>
            <a:r>
              <a:rPr lang="en-US" sz="2000" i="1" smtClean="0">
                <a:solidFill>
                  <a:schemeClr val="tx1"/>
                </a:solidFill>
              </a:rPr>
              <a:t>a[</a:t>
            </a:r>
            <a:r>
              <a:rPr lang="en-US" sz="2000" i="1" smtClean="0">
                <a:solidFill>
                  <a:schemeClr val="tx1"/>
                </a:solidFill>
                <a:cs typeface="Arial" pitchFamily="34" charset="0"/>
              </a:rPr>
              <a:t>i</a:t>
            </a:r>
            <a:r>
              <a:rPr lang="en-US" sz="2000" i="1" smtClean="0">
                <a:solidFill>
                  <a:schemeClr val="tx1"/>
                </a:solidFill>
              </a:rPr>
              <a:t>]=</a:t>
            </a:r>
            <a:r>
              <a:rPr lang="en-US" sz="2000" i="1">
                <a:solidFill>
                  <a:schemeClr val="tx1"/>
                </a:solidFill>
              </a:rPr>
              <a:t>x;</a:t>
            </a:r>
            <a:br>
              <a:rPr lang="en-US" sz="2000" i="1">
                <a:solidFill>
                  <a:schemeClr val="tx1"/>
                </a:solidFill>
              </a:rPr>
            </a:br>
            <a:r>
              <a:rPr lang="en-US" sz="2000" i="1">
                <a:solidFill>
                  <a:schemeClr val="tx1"/>
                </a:solidFill>
              </a:rPr>
              <a:t>                 }</a:t>
            </a:r>
            <a:br>
              <a:rPr lang="en-US" sz="2000" i="1">
                <a:solidFill>
                  <a:schemeClr val="tx1"/>
                </a:solidFill>
              </a:rPr>
            </a:br>
            <a:r>
              <a:rPr lang="bg-BG" sz="2000" i="1">
                <a:solidFill>
                  <a:schemeClr val="tx1"/>
                </a:solidFill>
              </a:rPr>
              <a:t> </a:t>
            </a:r>
            <a:r>
              <a:rPr lang="en-US" sz="2000" i="1">
                <a:solidFill>
                  <a:schemeClr val="tx1"/>
                </a:solidFill>
              </a:rPr>
              <a:t>}</a:t>
            </a:r>
            <a:r>
              <a:rPr lang="en-US" sz="800" i="1">
                <a:solidFill>
                  <a:schemeClr val="tx1"/>
                </a:solidFill>
              </a:rPr>
              <a:t/>
            </a:r>
            <a:br>
              <a:rPr lang="en-US" sz="800" i="1">
                <a:solidFill>
                  <a:schemeClr val="tx1"/>
                </a:solidFill>
              </a:rPr>
            </a:br>
            <a:r>
              <a:rPr lang="en-US" sz="800" i="1">
                <a:solidFill>
                  <a:schemeClr val="tx1"/>
                </a:solidFill>
              </a:rPr>
              <a:t/>
            </a:r>
            <a:br>
              <a:rPr lang="en-US" sz="800" i="1">
                <a:solidFill>
                  <a:schemeClr val="tx1"/>
                </a:solidFill>
              </a:rPr>
            </a:br>
            <a:r>
              <a:rPr lang="bg-BG" sz="2000">
                <a:solidFill>
                  <a:schemeClr val="tx1"/>
                </a:solidFill>
              </a:rPr>
              <a:t>Подобно на сортирането по метода на мехурчето, алгоритъмът на пряката селекция винаги извършва </a:t>
            </a:r>
            <a:r>
              <a:rPr lang="en-US" sz="2000" b="1" i="1">
                <a:solidFill>
                  <a:schemeClr val="tx1"/>
                </a:solidFill>
              </a:rPr>
              <a:t>n</a:t>
            </a:r>
            <a:r>
              <a:rPr lang="en-US" sz="2000">
                <a:solidFill>
                  <a:schemeClr val="tx1"/>
                </a:solidFill>
              </a:rPr>
              <a:t>*(</a:t>
            </a:r>
            <a:r>
              <a:rPr lang="en-US" sz="2000" b="1" i="1">
                <a:solidFill>
                  <a:schemeClr val="tx1"/>
                </a:solidFill>
              </a:rPr>
              <a:t>n</a:t>
            </a:r>
            <a:r>
              <a:rPr lang="en-US" sz="2000">
                <a:solidFill>
                  <a:schemeClr val="tx1"/>
                </a:solidFill>
              </a:rPr>
              <a:t>-</a:t>
            </a:r>
            <a:r>
              <a:rPr lang="en-US" sz="2000">
                <a:solidFill>
                  <a:schemeClr val="tx1"/>
                </a:solidFill>
                <a:latin typeface="Arial" pitchFamily="34" charset="0"/>
                <a:cs typeface="Arial" pitchFamily="34" charset="0"/>
              </a:rPr>
              <a:t>1</a:t>
            </a:r>
            <a:r>
              <a:rPr lang="en-US" sz="2000">
                <a:solidFill>
                  <a:schemeClr val="tx1"/>
                </a:solidFill>
              </a:rPr>
              <a:t>)/2</a:t>
            </a:r>
            <a:r>
              <a:rPr lang="bg-BG" sz="2000">
                <a:solidFill>
                  <a:schemeClr val="tx1"/>
                </a:solidFill>
              </a:rPr>
              <a:t> сравнения. Но той е за предпочитане пред метода на мехурчето по броя на извършваните размени:</a:t>
            </a: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en-US" sz="2000">
                <a:solidFill>
                  <a:schemeClr val="tx2">
                    <a:satMod val="130000"/>
                  </a:schemeClr>
                </a:solidFill>
              </a:rPr>
              <a:t/>
            </a:r>
            <a:br>
              <a:rPr lang="en-US"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endParaRPr lang="en-US" sz="2000">
              <a:solidFill>
                <a:schemeClr val="tx2">
                  <a:satMod val="130000"/>
                </a:schemeClr>
              </a:solidFill>
            </a:endParaRPr>
          </a:p>
        </p:txBody>
      </p:sp>
      <p:graphicFrame>
        <p:nvGraphicFramePr>
          <p:cNvPr id="3074" name="Object 3"/>
          <p:cNvGraphicFramePr>
            <a:graphicFrameLocks noChangeAspect="1"/>
          </p:cNvGraphicFramePr>
          <p:nvPr/>
        </p:nvGraphicFramePr>
        <p:xfrm>
          <a:off x="1104900" y="5295900"/>
          <a:ext cx="9525000" cy="1219200"/>
        </p:xfrm>
        <a:graphic>
          <a:graphicData uri="http://schemas.openxmlformats.org/presentationml/2006/ole">
            <mc:AlternateContent xmlns:mc="http://schemas.openxmlformats.org/markup-compatibility/2006">
              <mc:Choice xmlns:v="urn:schemas-microsoft-com:vml" Requires="v">
                <p:oleObj spid="_x0000_s3077" name="Document" r:id="rId4" imgW="5630460" imgH="726506" progId="Word.Document.8">
                  <p:embed/>
                </p:oleObj>
              </mc:Choice>
              <mc:Fallback>
                <p:oleObj name="Document" r:id="rId4" imgW="5630460" imgH="726506" progId="Word.Document.8">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4900" y="5295900"/>
                        <a:ext cx="9525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Slide Number Placeholder 5"/>
          <p:cNvSpPr>
            <a:spLocks noGrp="1"/>
          </p:cNvSpPr>
          <p:nvPr>
            <p:ph type="sldNum" sz="quarter" idx="12"/>
          </p:nvPr>
        </p:nvSpPr>
        <p:spPr/>
        <p:txBody>
          <a:bodyPr/>
          <a:lstStyle/>
          <a:p>
            <a:pPr>
              <a:defRPr/>
            </a:pPr>
            <a:fld id="{9469E090-8F9B-4B31-B76B-B7D472EFDCC6}" type="slidenum">
              <a:rPr lang="en-US"/>
              <a:pPr>
                <a:defRPr/>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042988" y="1052513"/>
            <a:ext cx="7850187" cy="5267325"/>
          </a:xfrm>
        </p:spPr>
        <p:txBody>
          <a:bodyPr>
            <a:normAutofit fontScale="90000"/>
          </a:bodyPr>
          <a:lstStyle/>
          <a:p>
            <a:pPr eaLnBrk="1" fontAlgn="auto" hangingPunct="1">
              <a:lnSpc>
                <a:spcPct val="110000"/>
              </a:lnSpc>
              <a:spcAft>
                <a:spcPts val="0"/>
              </a:spcAft>
              <a:defRPr/>
            </a:pPr>
            <a:r>
              <a:rPr lang="en-US" sz="2000" i="1">
                <a:solidFill>
                  <a:schemeClr val="tx1"/>
                </a:solidFill>
              </a:rPr>
              <a:t>2. </a:t>
            </a:r>
            <a:r>
              <a:rPr lang="bg-BG" sz="2000" i="1">
                <a:solidFill>
                  <a:schemeClr val="tx1"/>
                </a:solidFill>
              </a:rPr>
              <a:t>Пирамидално сортиране</a:t>
            </a:r>
            <a:r>
              <a:rPr lang="bg-BG" sz="2000">
                <a:solidFill>
                  <a:schemeClr val="tx1"/>
                </a:solidFill>
              </a:rPr>
              <a:t> </a:t>
            </a:r>
            <a:r>
              <a:rPr lang="bg-BG" sz="2000" i="1">
                <a:solidFill>
                  <a:schemeClr val="tx1"/>
                </a:solidFill>
              </a:rPr>
              <a:t>(Heapsort)</a:t>
            </a:r>
            <a:r>
              <a:rPr lang="bg-BG" sz="800" i="1">
                <a:solidFill>
                  <a:schemeClr val="tx1"/>
                </a:solidFill>
              </a:rPr>
              <a:t/>
            </a:r>
            <a:br>
              <a:rPr lang="bg-BG" sz="800" i="1">
                <a:solidFill>
                  <a:schemeClr val="tx1"/>
                </a:solidFill>
              </a:rPr>
            </a:br>
            <a:r>
              <a:rPr lang="bg-BG" sz="800" i="1">
                <a:solidFill>
                  <a:schemeClr val="tx1"/>
                </a:solidFill>
              </a:rPr>
              <a:t/>
            </a:r>
            <a:br>
              <a:rPr lang="bg-BG" sz="800" i="1">
                <a:solidFill>
                  <a:schemeClr val="tx1"/>
                </a:solidFill>
              </a:rPr>
            </a:br>
            <a:r>
              <a:rPr lang="bg-BG" sz="800" i="1">
                <a:solidFill>
                  <a:schemeClr val="tx1"/>
                </a:solidFill>
              </a:rPr>
              <a:t>	</a:t>
            </a:r>
            <a:r>
              <a:rPr lang="bg-BG" sz="2000">
                <a:solidFill>
                  <a:schemeClr val="tx1"/>
                </a:solidFill>
              </a:rPr>
              <a:t>Сортирането чрез пряк избор се нарежда сред най-неефективните, подобно на метода на мехурчето и метода на прякото вмъкване. Основен негов недостатък е, че на </a:t>
            </a:r>
            <a:r>
              <a:rPr lang="bg-BG" sz="2000" b="1" i="1">
                <a:solidFill>
                  <a:schemeClr val="tx1"/>
                </a:solidFill>
              </a:rPr>
              <a:t>i</a:t>
            </a:r>
            <a:r>
              <a:rPr lang="bg-BG" sz="2000">
                <a:solidFill>
                  <a:schemeClr val="tx1"/>
                </a:solidFill>
              </a:rPr>
              <a:t>-та стъпка винаги се извършват точно </a:t>
            </a:r>
            <a:r>
              <a:rPr lang="bg-BG" sz="2000" b="1" i="1">
                <a:solidFill>
                  <a:schemeClr val="tx1"/>
                </a:solidFill>
              </a:rPr>
              <a:t>n-i</a:t>
            </a:r>
            <a:r>
              <a:rPr lang="bg-BG" sz="2000">
                <a:solidFill>
                  <a:schemeClr val="tx1"/>
                </a:solidFill>
              </a:rPr>
              <a:t> сравнения, независимо от входните данни. </a:t>
            </a:r>
            <a:br>
              <a:rPr lang="bg-BG" sz="2000">
                <a:solidFill>
                  <a:schemeClr val="tx1"/>
                </a:solidFill>
              </a:rPr>
            </a:br>
            <a:r>
              <a:rPr lang="bg-BG" sz="2000">
                <a:solidFill>
                  <a:schemeClr val="tx1"/>
                </a:solidFill>
              </a:rPr>
              <a:t>	 Методът се базира на последователното избиране на най-малкия ключ измежду </a:t>
            </a:r>
            <a:r>
              <a:rPr lang="bg-BG" sz="2000" b="1" i="1">
                <a:solidFill>
                  <a:schemeClr val="tx1"/>
                </a:solidFill>
              </a:rPr>
              <a:t>n</a:t>
            </a:r>
            <a:r>
              <a:rPr lang="bg-BG" sz="2000">
                <a:solidFill>
                  <a:schemeClr val="tx1"/>
                </a:solidFill>
              </a:rPr>
              <a:t> елемента, за което са необходими </a:t>
            </a:r>
            <a:r>
              <a:rPr lang="bg-BG" sz="2000" b="1" i="1">
                <a:solidFill>
                  <a:schemeClr val="tx1"/>
                </a:solidFill>
              </a:rPr>
              <a:t>n-1</a:t>
            </a:r>
            <a:r>
              <a:rPr lang="bg-BG" sz="2000">
                <a:solidFill>
                  <a:schemeClr val="tx1"/>
                </a:solidFill>
              </a:rPr>
              <a:t> сравнения. След това на втората стъпка на алгоритъма най-малкия ключ измежду </a:t>
            </a:r>
            <a:r>
              <a:rPr lang="bg-BG" sz="2000" b="1" i="1">
                <a:solidFill>
                  <a:schemeClr val="tx1"/>
                </a:solidFill>
              </a:rPr>
              <a:t>n-1</a:t>
            </a:r>
            <a:r>
              <a:rPr lang="bg-BG" sz="2000">
                <a:solidFill>
                  <a:schemeClr val="tx1"/>
                </a:solidFill>
              </a:rPr>
              <a:t> елемента се избира с </a:t>
            </a:r>
            <a:r>
              <a:rPr lang="bg-BG" sz="2000" b="1" i="1">
                <a:solidFill>
                  <a:schemeClr val="tx1"/>
                </a:solidFill>
              </a:rPr>
              <a:t>n-2</a:t>
            </a:r>
            <a:r>
              <a:rPr lang="bg-BG" sz="2000">
                <a:solidFill>
                  <a:schemeClr val="tx1"/>
                </a:solidFill>
              </a:rPr>
              <a:t> сравнения и т.н. Бихме могли да направим извода, че на </a:t>
            </a:r>
            <a:r>
              <a:rPr lang="bg-BG" sz="2000" b="1" i="1">
                <a:solidFill>
                  <a:schemeClr val="tx1"/>
                </a:solidFill>
              </a:rPr>
              <a:t>i</a:t>
            </a:r>
            <a:r>
              <a:rPr lang="bg-BG" sz="2000">
                <a:solidFill>
                  <a:schemeClr val="tx1"/>
                </a:solidFill>
              </a:rPr>
              <a:t>-та ще ни потрябват  </a:t>
            </a:r>
            <a:r>
              <a:rPr lang="bg-BG" sz="2000" b="1" i="1">
                <a:solidFill>
                  <a:schemeClr val="tx1"/>
                </a:solidFill>
              </a:rPr>
              <a:t>n-i</a:t>
            </a:r>
            <a:r>
              <a:rPr lang="bg-BG" sz="2000">
                <a:solidFill>
                  <a:schemeClr val="tx1"/>
                </a:solidFill>
              </a:rPr>
              <a:t>  сравнения. Но това не е съвсем вярно, понеже в резултат на прилагането на първата стъпка получаваме не само най-малкия елемент, но и редица съотношения между двойки от останалите елементи, които можем да съхраним и да използваме на втората стъпка. Ясно е, че колкото повече допълнителни съотношения получим, толкова по-малко сравнения ще ни бъдат необходими на следващите стъпки, т. е. колкото е по-ниско и по-разклонено </a:t>
            </a:r>
            <a:r>
              <a:rPr lang="bg-BG" sz="2000" i="1">
                <a:solidFill>
                  <a:schemeClr val="tx1"/>
                </a:solidFill>
              </a:rPr>
              <a:t>дървото на сравненията</a:t>
            </a:r>
            <a:r>
              <a:rPr lang="bg-BG" sz="2000">
                <a:solidFill>
                  <a:schemeClr val="tx1"/>
                </a:solidFill>
              </a:rPr>
              <a:t>, толкова повече информация ще ни носи то.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endParaRPr lang="en-US" sz="2000">
              <a:solidFill>
                <a:schemeClr val="tx1"/>
              </a:solidFill>
            </a:endParaRPr>
          </a:p>
        </p:txBody>
      </p:sp>
      <p:sp>
        <p:nvSpPr>
          <p:cNvPr id="5" name="Slide Number Placeholder 4"/>
          <p:cNvSpPr>
            <a:spLocks noGrp="1"/>
          </p:cNvSpPr>
          <p:nvPr>
            <p:ph type="sldNum" sz="quarter" idx="12"/>
          </p:nvPr>
        </p:nvSpPr>
        <p:spPr/>
        <p:txBody>
          <a:bodyPr/>
          <a:lstStyle/>
          <a:p>
            <a:pPr>
              <a:defRPr/>
            </a:pPr>
            <a:fld id="{CE5F8172-11AC-49B1-B072-6BC687171B5F}" type="slidenum">
              <a:rPr lang="en-US"/>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26"/>
          <p:cNvSpPr>
            <a:spLocks noGrp="1" noChangeArrowheads="1"/>
          </p:cNvSpPr>
          <p:nvPr>
            <p:ph type="title"/>
          </p:nvPr>
        </p:nvSpPr>
        <p:spPr>
          <a:xfrm>
            <a:off x="1042988" y="549275"/>
            <a:ext cx="7921625" cy="5943600"/>
          </a:xfrm>
        </p:spPr>
        <p:txBody>
          <a:bodyPr>
            <a:normAutofit fontScale="90000"/>
          </a:bodyPr>
          <a:lstStyle/>
          <a:p>
            <a:pPr eaLnBrk="1" fontAlgn="auto" hangingPunct="1">
              <a:lnSpc>
                <a:spcPct val="120000"/>
              </a:lnSpc>
              <a:spcAft>
                <a:spcPts val="0"/>
              </a:spcAft>
              <a:defRPr/>
            </a:pPr>
            <a:r>
              <a:rPr lang="bg-BG" sz="2000">
                <a:solidFill>
                  <a:schemeClr val="tx1"/>
                </a:solidFill>
              </a:rPr>
              <a:t>	За да се поясни последния извод, нека да разгледаме ново понятие - </a:t>
            </a:r>
            <a:r>
              <a:rPr lang="bg-BG" sz="2000" i="1">
                <a:solidFill>
                  <a:schemeClr val="tx1"/>
                </a:solidFill>
              </a:rPr>
              <a:t>двоично дърво на сравненията</a:t>
            </a:r>
            <a:r>
              <a:rPr lang="bg-BG" sz="2000">
                <a:solidFill>
                  <a:schemeClr val="tx1"/>
                </a:solidFill>
              </a:rPr>
              <a:t>.</a:t>
            </a:r>
            <a:br>
              <a:rPr lang="bg-BG" sz="2000">
                <a:solidFill>
                  <a:schemeClr val="tx1"/>
                </a:solidFill>
              </a:rPr>
            </a:br>
            <a:r>
              <a:rPr lang="bg-BG" sz="2000">
                <a:solidFill>
                  <a:schemeClr val="tx1"/>
                </a:solidFill>
              </a:rPr>
              <a:t>	Например, искаме да сравним три елемента - </a:t>
            </a:r>
            <a:r>
              <a:rPr lang="en-US" sz="2000" b="1" i="1">
                <a:solidFill>
                  <a:schemeClr val="tx1"/>
                </a:solidFill>
              </a:rPr>
              <a:t>a, b</a:t>
            </a:r>
            <a:r>
              <a:rPr lang="en-US" sz="2000">
                <a:solidFill>
                  <a:schemeClr val="tx1"/>
                </a:solidFill>
              </a:rPr>
              <a:t> и </a:t>
            </a:r>
            <a:r>
              <a:rPr lang="en-US" sz="2000" b="1" i="1">
                <a:solidFill>
                  <a:schemeClr val="tx1"/>
                </a:solidFill>
              </a:rPr>
              <a:t>c</a:t>
            </a:r>
            <a:r>
              <a:rPr lang="en-US" sz="2000">
                <a:solidFill>
                  <a:schemeClr val="tx1"/>
                </a:solidFill>
              </a:rPr>
              <a:t>.</a:t>
            </a:r>
            <a:r>
              <a:rPr lang="bg-BG" sz="2000">
                <a:solidFill>
                  <a:schemeClr val="tx1"/>
                </a:solidFill>
              </a:rPr>
              <a:t> Това е най-елементарния метод за сортиране - чрез сравнение. Основава се на поредица от сравнения, всяко от които ни носи допълнителна информация. Процесът продължава до пълното сортиране на множеството </a:t>
            </a:r>
            <a:r>
              <a:rPr lang="en-US" sz="2000" b="1" i="1">
                <a:solidFill>
                  <a:schemeClr val="tx1"/>
                </a:solidFill>
              </a:rPr>
              <a:t>{a, b. c}</a:t>
            </a:r>
            <a:r>
              <a:rPr lang="bg-BG" sz="2000" b="1" i="1">
                <a:solidFill>
                  <a:schemeClr val="tx1"/>
                </a:solidFill>
              </a:rPr>
              <a:t>.</a:t>
            </a:r>
            <a:r>
              <a:rPr lang="bg-BG" sz="2000">
                <a:solidFill>
                  <a:schemeClr val="tx1"/>
                </a:solidFill>
              </a:rPr>
              <a:t> В зависимост от резултата от сравнението получаваме различни съотношения между елементите и оттук - различно продължение на процеса. Всяко сравнение има два изхода - “да” и “не”, което ни дава възможност процесът на сравнение да се изобрази като двоично дърво, в чиито листа се намират сортираните последователности, а в останалите възли - сравнения между двойки елементи от множеството:</a:t>
            </a:r>
            <a:r>
              <a:rPr lang="en-US" sz="2000">
                <a:solidFill>
                  <a:schemeClr val="tx1"/>
                </a:solidFill>
              </a:rPr>
              <a:t/>
            </a:r>
            <a:br>
              <a:rPr lang="en-US" sz="2000">
                <a:solidFill>
                  <a:schemeClr val="tx1"/>
                </a:solidFill>
              </a:rPr>
            </a:br>
            <a:r>
              <a:rPr lang="en-US" sz="2000">
                <a:solidFill>
                  <a:schemeClr val="tx1"/>
                </a:solidFill>
              </a:rPr>
              <a:t/>
            </a:r>
            <a:br>
              <a:rPr lang="en-US" sz="2000">
                <a:solidFill>
                  <a:schemeClr val="tx1"/>
                </a:solidFill>
              </a:rPr>
            </a:br>
            <a:r>
              <a:rPr lang="en-US" sz="2000">
                <a:solidFill>
                  <a:schemeClr val="tx1"/>
                </a:solidFill>
              </a:rPr>
              <a:t/>
            </a:r>
            <a:br>
              <a:rPr lang="en-US" sz="2000">
                <a:solidFill>
                  <a:schemeClr val="tx1"/>
                </a:solidFill>
              </a:rPr>
            </a:br>
            <a:r>
              <a:rPr lang="en-US" sz="2000">
                <a:solidFill>
                  <a:schemeClr val="tx1"/>
                </a:solidFill>
              </a:rPr>
              <a:t/>
            </a:r>
            <a:br>
              <a:rPr lang="en-US"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endParaRPr lang="en-US" sz="2000">
              <a:solidFill>
                <a:schemeClr val="tx1"/>
              </a:solidFill>
            </a:endParaRPr>
          </a:p>
        </p:txBody>
      </p:sp>
      <p:grpSp>
        <p:nvGrpSpPr>
          <p:cNvPr id="36867" name="Group 1071"/>
          <p:cNvGrpSpPr>
            <a:grpSpLocks/>
          </p:cNvGrpSpPr>
          <p:nvPr/>
        </p:nvGrpSpPr>
        <p:grpSpPr bwMode="auto">
          <a:xfrm>
            <a:off x="2197100" y="4368800"/>
            <a:ext cx="5895975" cy="2146300"/>
            <a:chOff x="1104" y="2228"/>
            <a:chExt cx="3714" cy="1352"/>
          </a:xfrm>
        </p:grpSpPr>
        <p:sp>
          <p:nvSpPr>
            <p:cNvPr id="36869" name="Rectangle 1027"/>
            <p:cNvSpPr>
              <a:spLocks noChangeArrowheads="1"/>
            </p:cNvSpPr>
            <p:nvPr/>
          </p:nvSpPr>
          <p:spPr bwMode="auto">
            <a:xfrm>
              <a:off x="1584" y="2544"/>
              <a:ext cx="528" cy="192"/>
            </a:xfrm>
            <a:prstGeom prst="rect">
              <a:avLst/>
            </a:prstGeom>
            <a:noFill/>
            <a:ln w="9525">
              <a:solidFill>
                <a:schemeClr val="tx1"/>
              </a:solidFill>
              <a:miter lim="800000"/>
              <a:headEnd/>
              <a:tailEnd/>
            </a:ln>
          </p:spPr>
          <p:txBody>
            <a:bodyPr wrap="none" anchor="ctr"/>
            <a:lstStyle/>
            <a:p>
              <a:endParaRPr lang="bg-BG"/>
            </a:p>
          </p:txBody>
        </p:sp>
        <p:sp>
          <p:nvSpPr>
            <p:cNvPr id="36870" name="Rectangle 1028"/>
            <p:cNvSpPr>
              <a:spLocks noChangeArrowheads="1"/>
            </p:cNvSpPr>
            <p:nvPr/>
          </p:nvSpPr>
          <p:spPr bwMode="auto">
            <a:xfrm>
              <a:off x="2496" y="2256"/>
              <a:ext cx="528" cy="192"/>
            </a:xfrm>
            <a:prstGeom prst="rect">
              <a:avLst/>
            </a:prstGeom>
            <a:noFill/>
            <a:ln w="9525">
              <a:solidFill>
                <a:schemeClr val="tx1"/>
              </a:solidFill>
              <a:miter lim="800000"/>
              <a:headEnd/>
              <a:tailEnd/>
            </a:ln>
          </p:spPr>
          <p:txBody>
            <a:bodyPr wrap="none" anchor="ctr"/>
            <a:lstStyle/>
            <a:p>
              <a:endParaRPr lang="bg-BG"/>
            </a:p>
          </p:txBody>
        </p:sp>
        <p:sp>
          <p:nvSpPr>
            <p:cNvPr id="36871" name="Rectangle 1029"/>
            <p:cNvSpPr>
              <a:spLocks noChangeArrowheads="1"/>
            </p:cNvSpPr>
            <p:nvPr/>
          </p:nvSpPr>
          <p:spPr bwMode="auto">
            <a:xfrm>
              <a:off x="3456" y="2592"/>
              <a:ext cx="528" cy="192"/>
            </a:xfrm>
            <a:prstGeom prst="rect">
              <a:avLst/>
            </a:prstGeom>
            <a:noFill/>
            <a:ln w="9525">
              <a:solidFill>
                <a:schemeClr val="tx1"/>
              </a:solidFill>
              <a:miter lim="800000"/>
              <a:headEnd/>
              <a:tailEnd/>
            </a:ln>
          </p:spPr>
          <p:txBody>
            <a:bodyPr wrap="none" anchor="ctr"/>
            <a:lstStyle/>
            <a:p>
              <a:endParaRPr lang="bg-BG"/>
            </a:p>
          </p:txBody>
        </p:sp>
        <p:sp>
          <p:nvSpPr>
            <p:cNvPr id="36872" name="Rectangle 1030"/>
            <p:cNvSpPr>
              <a:spLocks noChangeArrowheads="1"/>
            </p:cNvSpPr>
            <p:nvPr/>
          </p:nvSpPr>
          <p:spPr bwMode="auto">
            <a:xfrm>
              <a:off x="1104" y="2928"/>
              <a:ext cx="528" cy="192"/>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36873" name="Rectangle 1031"/>
            <p:cNvSpPr>
              <a:spLocks noChangeArrowheads="1"/>
            </p:cNvSpPr>
            <p:nvPr/>
          </p:nvSpPr>
          <p:spPr bwMode="auto">
            <a:xfrm>
              <a:off x="2016" y="2928"/>
              <a:ext cx="528" cy="192"/>
            </a:xfrm>
            <a:prstGeom prst="rect">
              <a:avLst/>
            </a:prstGeom>
            <a:noFill/>
            <a:ln w="9525">
              <a:solidFill>
                <a:schemeClr val="tx1"/>
              </a:solidFill>
              <a:miter lim="800000"/>
              <a:headEnd/>
              <a:tailEnd/>
            </a:ln>
          </p:spPr>
          <p:txBody>
            <a:bodyPr wrap="none" anchor="ctr"/>
            <a:lstStyle/>
            <a:p>
              <a:endParaRPr lang="bg-BG"/>
            </a:p>
          </p:txBody>
        </p:sp>
        <p:sp>
          <p:nvSpPr>
            <p:cNvPr id="36874" name="Rectangle 1032"/>
            <p:cNvSpPr>
              <a:spLocks noChangeArrowheads="1"/>
            </p:cNvSpPr>
            <p:nvPr/>
          </p:nvSpPr>
          <p:spPr bwMode="auto">
            <a:xfrm>
              <a:off x="3024" y="2928"/>
              <a:ext cx="528" cy="192"/>
            </a:xfrm>
            <a:prstGeom prst="rect">
              <a:avLst/>
            </a:prstGeom>
            <a:noFill/>
            <a:ln w="9525">
              <a:solidFill>
                <a:schemeClr val="tx1"/>
              </a:solidFill>
              <a:miter lim="800000"/>
              <a:headEnd/>
              <a:tailEnd/>
            </a:ln>
          </p:spPr>
          <p:txBody>
            <a:bodyPr wrap="none" anchor="ctr"/>
            <a:lstStyle/>
            <a:p>
              <a:endParaRPr lang="bg-BG"/>
            </a:p>
          </p:txBody>
        </p:sp>
        <p:sp>
          <p:nvSpPr>
            <p:cNvPr id="36875" name="Rectangle 1033"/>
            <p:cNvSpPr>
              <a:spLocks noChangeArrowheads="1"/>
            </p:cNvSpPr>
            <p:nvPr/>
          </p:nvSpPr>
          <p:spPr bwMode="auto">
            <a:xfrm>
              <a:off x="3984" y="2928"/>
              <a:ext cx="768" cy="192"/>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36876" name="Rectangle 1034"/>
            <p:cNvSpPr>
              <a:spLocks noChangeArrowheads="1"/>
            </p:cNvSpPr>
            <p:nvPr/>
          </p:nvSpPr>
          <p:spPr bwMode="auto">
            <a:xfrm>
              <a:off x="2928" y="3360"/>
              <a:ext cx="528" cy="192"/>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36877" name="Rectangle 1035"/>
            <p:cNvSpPr>
              <a:spLocks noChangeArrowheads="1"/>
            </p:cNvSpPr>
            <p:nvPr/>
          </p:nvSpPr>
          <p:spPr bwMode="auto">
            <a:xfrm>
              <a:off x="2160" y="3360"/>
              <a:ext cx="528" cy="192"/>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36878" name="Rectangle 1036"/>
            <p:cNvSpPr>
              <a:spLocks noChangeArrowheads="1"/>
            </p:cNvSpPr>
            <p:nvPr/>
          </p:nvSpPr>
          <p:spPr bwMode="auto">
            <a:xfrm>
              <a:off x="1488" y="3360"/>
              <a:ext cx="528" cy="192"/>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36879" name="Rectangle 1037"/>
            <p:cNvSpPr>
              <a:spLocks noChangeArrowheads="1"/>
            </p:cNvSpPr>
            <p:nvPr/>
          </p:nvSpPr>
          <p:spPr bwMode="auto">
            <a:xfrm>
              <a:off x="3600" y="3360"/>
              <a:ext cx="528" cy="192"/>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36880" name="Line 1038"/>
            <p:cNvSpPr>
              <a:spLocks noChangeShapeType="1"/>
            </p:cNvSpPr>
            <p:nvPr/>
          </p:nvSpPr>
          <p:spPr bwMode="auto">
            <a:xfrm flipH="1">
              <a:off x="1920" y="2448"/>
              <a:ext cx="720" cy="96"/>
            </a:xfrm>
            <a:prstGeom prst="line">
              <a:avLst/>
            </a:prstGeom>
            <a:noFill/>
            <a:ln w="9525">
              <a:solidFill>
                <a:schemeClr val="tx1"/>
              </a:solidFill>
              <a:round/>
              <a:headEnd/>
              <a:tailEnd/>
            </a:ln>
          </p:spPr>
          <p:txBody>
            <a:bodyPr wrap="none" anchor="ctr"/>
            <a:lstStyle/>
            <a:p>
              <a:endParaRPr lang="bg-BG"/>
            </a:p>
          </p:txBody>
        </p:sp>
        <p:sp>
          <p:nvSpPr>
            <p:cNvPr id="36881" name="Line 1039"/>
            <p:cNvSpPr>
              <a:spLocks noChangeShapeType="1"/>
            </p:cNvSpPr>
            <p:nvPr/>
          </p:nvSpPr>
          <p:spPr bwMode="auto">
            <a:xfrm>
              <a:off x="2880" y="2448"/>
              <a:ext cx="864" cy="144"/>
            </a:xfrm>
            <a:prstGeom prst="line">
              <a:avLst/>
            </a:prstGeom>
            <a:noFill/>
            <a:ln w="9525">
              <a:solidFill>
                <a:schemeClr val="tx1"/>
              </a:solidFill>
              <a:round/>
              <a:headEnd/>
              <a:tailEnd/>
            </a:ln>
          </p:spPr>
          <p:txBody>
            <a:bodyPr wrap="none" anchor="ctr"/>
            <a:lstStyle/>
            <a:p>
              <a:endParaRPr lang="bg-BG"/>
            </a:p>
          </p:txBody>
        </p:sp>
        <p:sp>
          <p:nvSpPr>
            <p:cNvPr id="36882" name="Line 1040"/>
            <p:cNvSpPr>
              <a:spLocks noChangeShapeType="1"/>
            </p:cNvSpPr>
            <p:nvPr/>
          </p:nvSpPr>
          <p:spPr bwMode="auto">
            <a:xfrm flipH="1">
              <a:off x="1392" y="2736"/>
              <a:ext cx="384" cy="192"/>
            </a:xfrm>
            <a:prstGeom prst="line">
              <a:avLst/>
            </a:prstGeom>
            <a:noFill/>
            <a:ln w="9525">
              <a:solidFill>
                <a:schemeClr val="tx1"/>
              </a:solidFill>
              <a:round/>
              <a:headEnd/>
              <a:tailEnd/>
            </a:ln>
          </p:spPr>
          <p:txBody>
            <a:bodyPr wrap="none" anchor="ctr"/>
            <a:lstStyle/>
            <a:p>
              <a:endParaRPr lang="bg-BG"/>
            </a:p>
          </p:txBody>
        </p:sp>
        <p:sp>
          <p:nvSpPr>
            <p:cNvPr id="36883" name="Line 1041"/>
            <p:cNvSpPr>
              <a:spLocks noChangeShapeType="1"/>
            </p:cNvSpPr>
            <p:nvPr/>
          </p:nvSpPr>
          <p:spPr bwMode="auto">
            <a:xfrm>
              <a:off x="1920" y="2736"/>
              <a:ext cx="384" cy="192"/>
            </a:xfrm>
            <a:prstGeom prst="line">
              <a:avLst/>
            </a:prstGeom>
            <a:noFill/>
            <a:ln w="9525">
              <a:solidFill>
                <a:schemeClr val="tx1"/>
              </a:solidFill>
              <a:round/>
              <a:headEnd/>
              <a:tailEnd/>
            </a:ln>
          </p:spPr>
          <p:txBody>
            <a:bodyPr wrap="none" anchor="ctr"/>
            <a:lstStyle/>
            <a:p>
              <a:endParaRPr lang="bg-BG"/>
            </a:p>
          </p:txBody>
        </p:sp>
        <p:sp>
          <p:nvSpPr>
            <p:cNvPr id="36884" name="Line 1042"/>
            <p:cNvSpPr>
              <a:spLocks noChangeShapeType="1"/>
            </p:cNvSpPr>
            <p:nvPr/>
          </p:nvSpPr>
          <p:spPr bwMode="auto">
            <a:xfrm flipH="1">
              <a:off x="3264" y="2784"/>
              <a:ext cx="384" cy="144"/>
            </a:xfrm>
            <a:prstGeom prst="line">
              <a:avLst/>
            </a:prstGeom>
            <a:noFill/>
            <a:ln w="9525">
              <a:solidFill>
                <a:schemeClr val="tx1"/>
              </a:solidFill>
              <a:round/>
              <a:headEnd/>
              <a:tailEnd/>
            </a:ln>
          </p:spPr>
          <p:txBody>
            <a:bodyPr wrap="none" anchor="ctr"/>
            <a:lstStyle/>
            <a:p>
              <a:endParaRPr lang="bg-BG"/>
            </a:p>
          </p:txBody>
        </p:sp>
        <p:sp>
          <p:nvSpPr>
            <p:cNvPr id="36885" name="Line 1043"/>
            <p:cNvSpPr>
              <a:spLocks noChangeShapeType="1"/>
            </p:cNvSpPr>
            <p:nvPr/>
          </p:nvSpPr>
          <p:spPr bwMode="auto">
            <a:xfrm>
              <a:off x="3792" y="2784"/>
              <a:ext cx="480" cy="144"/>
            </a:xfrm>
            <a:prstGeom prst="line">
              <a:avLst/>
            </a:prstGeom>
            <a:noFill/>
            <a:ln w="9525">
              <a:solidFill>
                <a:schemeClr val="tx1"/>
              </a:solidFill>
              <a:round/>
              <a:headEnd/>
              <a:tailEnd/>
            </a:ln>
          </p:spPr>
          <p:txBody>
            <a:bodyPr wrap="none" anchor="ctr"/>
            <a:lstStyle/>
            <a:p>
              <a:endParaRPr lang="bg-BG"/>
            </a:p>
          </p:txBody>
        </p:sp>
        <p:sp>
          <p:nvSpPr>
            <p:cNvPr id="36886" name="Line 1044"/>
            <p:cNvSpPr>
              <a:spLocks noChangeShapeType="1"/>
            </p:cNvSpPr>
            <p:nvPr/>
          </p:nvSpPr>
          <p:spPr bwMode="auto">
            <a:xfrm flipH="1">
              <a:off x="1728" y="3120"/>
              <a:ext cx="432" cy="240"/>
            </a:xfrm>
            <a:prstGeom prst="line">
              <a:avLst/>
            </a:prstGeom>
            <a:noFill/>
            <a:ln w="9525">
              <a:solidFill>
                <a:schemeClr val="tx1"/>
              </a:solidFill>
              <a:round/>
              <a:headEnd/>
              <a:tailEnd/>
            </a:ln>
          </p:spPr>
          <p:txBody>
            <a:bodyPr wrap="none" anchor="ctr"/>
            <a:lstStyle/>
            <a:p>
              <a:endParaRPr lang="bg-BG"/>
            </a:p>
          </p:txBody>
        </p:sp>
        <p:sp>
          <p:nvSpPr>
            <p:cNvPr id="36887" name="Line 1045"/>
            <p:cNvSpPr>
              <a:spLocks noChangeShapeType="1"/>
            </p:cNvSpPr>
            <p:nvPr/>
          </p:nvSpPr>
          <p:spPr bwMode="auto">
            <a:xfrm>
              <a:off x="2400" y="3120"/>
              <a:ext cx="0" cy="240"/>
            </a:xfrm>
            <a:prstGeom prst="line">
              <a:avLst/>
            </a:prstGeom>
            <a:noFill/>
            <a:ln w="9525">
              <a:solidFill>
                <a:schemeClr val="tx1"/>
              </a:solidFill>
              <a:round/>
              <a:headEnd/>
              <a:tailEnd/>
            </a:ln>
          </p:spPr>
          <p:txBody>
            <a:bodyPr wrap="none" anchor="ctr"/>
            <a:lstStyle/>
            <a:p>
              <a:endParaRPr lang="bg-BG"/>
            </a:p>
          </p:txBody>
        </p:sp>
        <p:sp>
          <p:nvSpPr>
            <p:cNvPr id="36888" name="Line 1046"/>
            <p:cNvSpPr>
              <a:spLocks noChangeShapeType="1"/>
            </p:cNvSpPr>
            <p:nvPr/>
          </p:nvSpPr>
          <p:spPr bwMode="auto">
            <a:xfrm>
              <a:off x="3168" y="3120"/>
              <a:ext cx="0" cy="240"/>
            </a:xfrm>
            <a:prstGeom prst="line">
              <a:avLst/>
            </a:prstGeom>
            <a:noFill/>
            <a:ln w="9525">
              <a:solidFill>
                <a:schemeClr val="tx1"/>
              </a:solidFill>
              <a:round/>
              <a:headEnd/>
              <a:tailEnd/>
            </a:ln>
          </p:spPr>
          <p:txBody>
            <a:bodyPr wrap="none" anchor="ctr"/>
            <a:lstStyle/>
            <a:p>
              <a:endParaRPr lang="bg-BG"/>
            </a:p>
          </p:txBody>
        </p:sp>
        <p:sp>
          <p:nvSpPr>
            <p:cNvPr id="36889" name="Line 1047"/>
            <p:cNvSpPr>
              <a:spLocks noChangeShapeType="1"/>
            </p:cNvSpPr>
            <p:nvPr/>
          </p:nvSpPr>
          <p:spPr bwMode="auto">
            <a:xfrm>
              <a:off x="3360" y="3120"/>
              <a:ext cx="480" cy="240"/>
            </a:xfrm>
            <a:prstGeom prst="line">
              <a:avLst/>
            </a:prstGeom>
            <a:noFill/>
            <a:ln w="9525">
              <a:solidFill>
                <a:schemeClr val="tx1"/>
              </a:solidFill>
              <a:round/>
              <a:headEnd/>
              <a:tailEnd/>
            </a:ln>
          </p:spPr>
          <p:txBody>
            <a:bodyPr wrap="none" anchor="ctr"/>
            <a:lstStyle/>
            <a:p>
              <a:endParaRPr lang="bg-BG"/>
            </a:p>
          </p:txBody>
        </p:sp>
        <p:sp>
          <p:nvSpPr>
            <p:cNvPr id="36890" name="Text Box 1048"/>
            <p:cNvSpPr txBox="1">
              <a:spLocks noChangeArrowheads="1"/>
            </p:cNvSpPr>
            <p:nvPr/>
          </p:nvSpPr>
          <p:spPr bwMode="auto">
            <a:xfrm>
              <a:off x="2594" y="2228"/>
              <a:ext cx="430" cy="250"/>
            </a:xfrm>
            <a:prstGeom prst="rect">
              <a:avLst/>
            </a:prstGeom>
            <a:noFill/>
            <a:ln w="9525">
              <a:noFill/>
              <a:miter lim="800000"/>
              <a:headEnd/>
              <a:tailEnd/>
            </a:ln>
          </p:spPr>
          <p:txBody>
            <a:bodyPr>
              <a:spAutoFit/>
            </a:bodyPr>
            <a:lstStyle/>
            <a:p>
              <a:pPr algn="l">
                <a:spcBef>
                  <a:spcPct val="50000"/>
                </a:spcBef>
              </a:pPr>
              <a:r>
                <a:rPr lang="en-US" sz="2000" b="1" i="1"/>
                <a:t>a&lt;b</a:t>
              </a:r>
              <a:endParaRPr lang="en-US" sz="1800"/>
            </a:p>
          </p:txBody>
        </p:sp>
        <p:sp>
          <p:nvSpPr>
            <p:cNvPr id="36891" name="Text Box 1049"/>
            <p:cNvSpPr txBox="1">
              <a:spLocks noChangeArrowheads="1"/>
            </p:cNvSpPr>
            <p:nvPr/>
          </p:nvSpPr>
          <p:spPr bwMode="auto">
            <a:xfrm>
              <a:off x="1662" y="2506"/>
              <a:ext cx="430" cy="250"/>
            </a:xfrm>
            <a:prstGeom prst="rect">
              <a:avLst/>
            </a:prstGeom>
            <a:noFill/>
            <a:ln w="9525">
              <a:noFill/>
              <a:miter lim="800000"/>
              <a:headEnd/>
              <a:tailEnd/>
            </a:ln>
          </p:spPr>
          <p:txBody>
            <a:bodyPr>
              <a:spAutoFit/>
            </a:bodyPr>
            <a:lstStyle/>
            <a:p>
              <a:pPr algn="l">
                <a:spcBef>
                  <a:spcPct val="50000"/>
                </a:spcBef>
              </a:pPr>
              <a:r>
                <a:rPr lang="en-US" sz="2000" b="1" i="1"/>
                <a:t>b&lt;c</a:t>
              </a:r>
              <a:endParaRPr lang="en-US" sz="1800"/>
            </a:p>
          </p:txBody>
        </p:sp>
        <p:sp>
          <p:nvSpPr>
            <p:cNvPr id="36892" name="Text Box 1050"/>
            <p:cNvSpPr txBox="1">
              <a:spLocks noChangeArrowheads="1"/>
            </p:cNvSpPr>
            <p:nvPr/>
          </p:nvSpPr>
          <p:spPr bwMode="auto">
            <a:xfrm>
              <a:off x="3100" y="2890"/>
              <a:ext cx="430" cy="250"/>
            </a:xfrm>
            <a:prstGeom prst="rect">
              <a:avLst/>
            </a:prstGeom>
            <a:noFill/>
            <a:ln w="9525">
              <a:noFill/>
              <a:miter lim="800000"/>
              <a:headEnd/>
              <a:tailEnd/>
            </a:ln>
          </p:spPr>
          <p:txBody>
            <a:bodyPr>
              <a:spAutoFit/>
            </a:bodyPr>
            <a:lstStyle/>
            <a:p>
              <a:pPr algn="l">
                <a:spcBef>
                  <a:spcPct val="50000"/>
                </a:spcBef>
              </a:pPr>
              <a:r>
                <a:rPr lang="en-US" sz="2000" b="1" i="1"/>
                <a:t>a&lt;c</a:t>
              </a:r>
              <a:endParaRPr lang="en-US" sz="1800"/>
            </a:p>
          </p:txBody>
        </p:sp>
        <p:sp>
          <p:nvSpPr>
            <p:cNvPr id="36893" name="Text Box 1052"/>
            <p:cNvSpPr txBox="1">
              <a:spLocks noChangeArrowheads="1"/>
            </p:cNvSpPr>
            <p:nvPr/>
          </p:nvSpPr>
          <p:spPr bwMode="auto">
            <a:xfrm>
              <a:off x="3552" y="2544"/>
              <a:ext cx="430" cy="250"/>
            </a:xfrm>
            <a:prstGeom prst="rect">
              <a:avLst/>
            </a:prstGeom>
            <a:noFill/>
            <a:ln w="9525">
              <a:noFill/>
              <a:miter lim="800000"/>
              <a:headEnd/>
              <a:tailEnd/>
            </a:ln>
          </p:spPr>
          <p:txBody>
            <a:bodyPr>
              <a:spAutoFit/>
            </a:bodyPr>
            <a:lstStyle/>
            <a:p>
              <a:pPr algn="l">
                <a:spcBef>
                  <a:spcPct val="50000"/>
                </a:spcBef>
              </a:pPr>
              <a:r>
                <a:rPr lang="en-US" sz="2000" b="1" i="1"/>
                <a:t>b&lt;c</a:t>
              </a:r>
              <a:endParaRPr lang="en-US" sz="1800"/>
            </a:p>
          </p:txBody>
        </p:sp>
        <p:sp>
          <p:nvSpPr>
            <p:cNvPr id="36894" name="Text Box 1053"/>
            <p:cNvSpPr txBox="1">
              <a:spLocks noChangeArrowheads="1"/>
            </p:cNvSpPr>
            <p:nvPr/>
          </p:nvSpPr>
          <p:spPr bwMode="auto">
            <a:xfrm>
              <a:off x="2116" y="2882"/>
              <a:ext cx="430" cy="250"/>
            </a:xfrm>
            <a:prstGeom prst="rect">
              <a:avLst/>
            </a:prstGeom>
            <a:noFill/>
            <a:ln w="9525">
              <a:noFill/>
              <a:miter lim="800000"/>
              <a:headEnd/>
              <a:tailEnd/>
            </a:ln>
          </p:spPr>
          <p:txBody>
            <a:bodyPr>
              <a:spAutoFit/>
            </a:bodyPr>
            <a:lstStyle/>
            <a:p>
              <a:pPr algn="l">
                <a:spcBef>
                  <a:spcPct val="50000"/>
                </a:spcBef>
              </a:pPr>
              <a:r>
                <a:rPr lang="en-US" sz="2000" b="1" i="1"/>
                <a:t>a&lt;c</a:t>
              </a:r>
              <a:endParaRPr lang="en-US" sz="1800"/>
            </a:p>
          </p:txBody>
        </p:sp>
        <p:sp>
          <p:nvSpPr>
            <p:cNvPr id="36895" name="Text Box 1054"/>
            <p:cNvSpPr txBox="1">
              <a:spLocks noChangeArrowheads="1"/>
            </p:cNvSpPr>
            <p:nvPr/>
          </p:nvSpPr>
          <p:spPr bwMode="auto">
            <a:xfrm>
              <a:off x="2160" y="2304"/>
              <a:ext cx="288" cy="231"/>
            </a:xfrm>
            <a:prstGeom prst="rect">
              <a:avLst/>
            </a:prstGeom>
            <a:noFill/>
            <a:ln w="9525">
              <a:noFill/>
              <a:miter lim="800000"/>
              <a:headEnd/>
              <a:tailEnd/>
            </a:ln>
          </p:spPr>
          <p:txBody>
            <a:bodyPr>
              <a:spAutoFit/>
            </a:bodyPr>
            <a:lstStyle/>
            <a:p>
              <a:pPr algn="l">
                <a:spcBef>
                  <a:spcPct val="50000"/>
                </a:spcBef>
              </a:pPr>
              <a:r>
                <a:rPr lang="bg-BG" sz="1800"/>
                <a:t>да</a:t>
              </a:r>
              <a:endParaRPr lang="en-US" sz="1800"/>
            </a:p>
          </p:txBody>
        </p:sp>
        <p:sp>
          <p:nvSpPr>
            <p:cNvPr id="36896" name="Text Box 1055"/>
            <p:cNvSpPr txBox="1">
              <a:spLocks noChangeArrowheads="1"/>
            </p:cNvSpPr>
            <p:nvPr/>
          </p:nvSpPr>
          <p:spPr bwMode="auto">
            <a:xfrm>
              <a:off x="2958" y="3120"/>
              <a:ext cx="288" cy="231"/>
            </a:xfrm>
            <a:prstGeom prst="rect">
              <a:avLst/>
            </a:prstGeom>
            <a:noFill/>
            <a:ln w="9525">
              <a:noFill/>
              <a:miter lim="800000"/>
              <a:headEnd/>
              <a:tailEnd/>
            </a:ln>
          </p:spPr>
          <p:txBody>
            <a:bodyPr>
              <a:spAutoFit/>
            </a:bodyPr>
            <a:lstStyle/>
            <a:p>
              <a:pPr algn="l">
                <a:spcBef>
                  <a:spcPct val="50000"/>
                </a:spcBef>
              </a:pPr>
              <a:r>
                <a:rPr lang="bg-BG" sz="1800"/>
                <a:t>да</a:t>
              </a:r>
              <a:endParaRPr lang="en-US" sz="1800"/>
            </a:p>
          </p:txBody>
        </p:sp>
        <p:sp>
          <p:nvSpPr>
            <p:cNvPr id="36897" name="Text Box 1056"/>
            <p:cNvSpPr txBox="1">
              <a:spLocks noChangeArrowheads="1"/>
            </p:cNvSpPr>
            <p:nvPr/>
          </p:nvSpPr>
          <p:spPr bwMode="auto">
            <a:xfrm>
              <a:off x="3208" y="2686"/>
              <a:ext cx="288" cy="231"/>
            </a:xfrm>
            <a:prstGeom prst="rect">
              <a:avLst/>
            </a:prstGeom>
            <a:noFill/>
            <a:ln w="9525">
              <a:noFill/>
              <a:miter lim="800000"/>
              <a:headEnd/>
              <a:tailEnd/>
            </a:ln>
          </p:spPr>
          <p:txBody>
            <a:bodyPr>
              <a:spAutoFit/>
            </a:bodyPr>
            <a:lstStyle/>
            <a:p>
              <a:pPr algn="l">
                <a:spcBef>
                  <a:spcPct val="50000"/>
                </a:spcBef>
              </a:pPr>
              <a:r>
                <a:rPr lang="bg-BG" sz="1800"/>
                <a:t>да</a:t>
              </a:r>
              <a:endParaRPr lang="en-US" sz="1800"/>
            </a:p>
          </p:txBody>
        </p:sp>
        <p:sp>
          <p:nvSpPr>
            <p:cNvPr id="36898" name="Text Box 1057"/>
            <p:cNvSpPr txBox="1">
              <a:spLocks noChangeArrowheads="1"/>
            </p:cNvSpPr>
            <p:nvPr/>
          </p:nvSpPr>
          <p:spPr bwMode="auto">
            <a:xfrm>
              <a:off x="1748" y="3072"/>
              <a:ext cx="288" cy="231"/>
            </a:xfrm>
            <a:prstGeom prst="rect">
              <a:avLst/>
            </a:prstGeom>
            <a:noFill/>
            <a:ln w="9525">
              <a:noFill/>
              <a:miter lim="800000"/>
              <a:headEnd/>
              <a:tailEnd/>
            </a:ln>
          </p:spPr>
          <p:txBody>
            <a:bodyPr>
              <a:spAutoFit/>
            </a:bodyPr>
            <a:lstStyle/>
            <a:p>
              <a:pPr algn="l">
                <a:spcBef>
                  <a:spcPct val="50000"/>
                </a:spcBef>
              </a:pPr>
              <a:r>
                <a:rPr lang="bg-BG" sz="1800"/>
                <a:t>да</a:t>
              </a:r>
              <a:endParaRPr lang="en-US" sz="1800"/>
            </a:p>
          </p:txBody>
        </p:sp>
        <p:sp>
          <p:nvSpPr>
            <p:cNvPr id="36899" name="Text Box 1058"/>
            <p:cNvSpPr txBox="1">
              <a:spLocks noChangeArrowheads="1"/>
            </p:cNvSpPr>
            <p:nvPr/>
          </p:nvSpPr>
          <p:spPr bwMode="auto">
            <a:xfrm>
              <a:off x="1346" y="2688"/>
              <a:ext cx="288" cy="231"/>
            </a:xfrm>
            <a:prstGeom prst="rect">
              <a:avLst/>
            </a:prstGeom>
            <a:noFill/>
            <a:ln w="9525">
              <a:noFill/>
              <a:miter lim="800000"/>
              <a:headEnd/>
              <a:tailEnd/>
            </a:ln>
          </p:spPr>
          <p:txBody>
            <a:bodyPr>
              <a:spAutoFit/>
            </a:bodyPr>
            <a:lstStyle/>
            <a:p>
              <a:pPr algn="l">
                <a:spcBef>
                  <a:spcPct val="50000"/>
                </a:spcBef>
              </a:pPr>
              <a:r>
                <a:rPr lang="bg-BG" sz="1800"/>
                <a:t>да</a:t>
              </a:r>
              <a:endParaRPr lang="en-US" sz="1800"/>
            </a:p>
          </p:txBody>
        </p:sp>
        <p:sp>
          <p:nvSpPr>
            <p:cNvPr id="36900" name="Text Box 1059"/>
            <p:cNvSpPr txBox="1">
              <a:spLocks noChangeArrowheads="1"/>
            </p:cNvSpPr>
            <p:nvPr/>
          </p:nvSpPr>
          <p:spPr bwMode="auto">
            <a:xfrm>
              <a:off x="3182" y="2314"/>
              <a:ext cx="288" cy="231"/>
            </a:xfrm>
            <a:prstGeom prst="rect">
              <a:avLst/>
            </a:prstGeom>
            <a:noFill/>
            <a:ln w="9525">
              <a:noFill/>
              <a:miter lim="800000"/>
              <a:headEnd/>
              <a:tailEnd/>
            </a:ln>
          </p:spPr>
          <p:txBody>
            <a:bodyPr>
              <a:spAutoFit/>
            </a:bodyPr>
            <a:lstStyle/>
            <a:p>
              <a:pPr algn="l">
                <a:spcBef>
                  <a:spcPct val="50000"/>
                </a:spcBef>
              </a:pPr>
              <a:r>
                <a:rPr lang="bg-BG" sz="1800"/>
                <a:t>не</a:t>
              </a:r>
              <a:endParaRPr lang="en-US" sz="1800"/>
            </a:p>
          </p:txBody>
        </p:sp>
        <p:sp>
          <p:nvSpPr>
            <p:cNvPr id="36901" name="Text Box 1060"/>
            <p:cNvSpPr txBox="1">
              <a:spLocks noChangeArrowheads="1"/>
            </p:cNvSpPr>
            <p:nvPr/>
          </p:nvSpPr>
          <p:spPr bwMode="auto">
            <a:xfrm>
              <a:off x="2370" y="3080"/>
              <a:ext cx="288" cy="231"/>
            </a:xfrm>
            <a:prstGeom prst="rect">
              <a:avLst/>
            </a:prstGeom>
            <a:noFill/>
            <a:ln w="9525">
              <a:noFill/>
              <a:miter lim="800000"/>
              <a:headEnd/>
              <a:tailEnd/>
            </a:ln>
          </p:spPr>
          <p:txBody>
            <a:bodyPr>
              <a:spAutoFit/>
            </a:bodyPr>
            <a:lstStyle/>
            <a:p>
              <a:pPr algn="l">
                <a:spcBef>
                  <a:spcPct val="50000"/>
                </a:spcBef>
              </a:pPr>
              <a:r>
                <a:rPr lang="bg-BG" sz="1800"/>
                <a:t>не</a:t>
              </a:r>
              <a:endParaRPr lang="en-US" sz="1800"/>
            </a:p>
          </p:txBody>
        </p:sp>
        <p:sp>
          <p:nvSpPr>
            <p:cNvPr id="36902" name="Text Box 1061"/>
            <p:cNvSpPr txBox="1">
              <a:spLocks noChangeArrowheads="1"/>
            </p:cNvSpPr>
            <p:nvPr/>
          </p:nvSpPr>
          <p:spPr bwMode="auto">
            <a:xfrm>
              <a:off x="4032" y="2688"/>
              <a:ext cx="288" cy="231"/>
            </a:xfrm>
            <a:prstGeom prst="rect">
              <a:avLst/>
            </a:prstGeom>
            <a:noFill/>
            <a:ln w="9525">
              <a:noFill/>
              <a:miter lim="800000"/>
              <a:headEnd/>
              <a:tailEnd/>
            </a:ln>
          </p:spPr>
          <p:txBody>
            <a:bodyPr>
              <a:spAutoFit/>
            </a:bodyPr>
            <a:lstStyle/>
            <a:p>
              <a:pPr algn="l">
                <a:spcBef>
                  <a:spcPct val="50000"/>
                </a:spcBef>
              </a:pPr>
              <a:r>
                <a:rPr lang="bg-BG" sz="1800"/>
                <a:t>не</a:t>
              </a:r>
              <a:endParaRPr lang="en-US" sz="1800"/>
            </a:p>
          </p:txBody>
        </p:sp>
        <p:sp>
          <p:nvSpPr>
            <p:cNvPr id="36903" name="Text Box 1062"/>
            <p:cNvSpPr txBox="1">
              <a:spLocks noChangeArrowheads="1"/>
            </p:cNvSpPr>
            <p:nvPr/>
          </p:nvSpPr>
          <p:spPr bwMode="auto">
            <a:xfrm>
              <a:off x="3658" y="3122"/>
              <a:ext cx="288" cy="231"/>
            </a:xfrm>
            <a:prstGeom prst="rect">
              <a:avLst/>
            </a:prstGeom>
            <a:noFill/>
            <a:ln w="9525">
              <a:noFill/>
              <a:miter lim="800000"/>
              <a:headEnd/>
              <a:tailEnd/>
            </a:ln>
          </p:spPr>
          <p:txBody>
            <a:bodyPr>
              <a:spAutoFit/>
            </a:bodyPr>
            <a:lstStyle/>
            <a:p>
              <a:pPr algn="l">
                <a:spcBef>
                  <a:spcPct val="50000"/>
                </a:spcBef>
              </a:pPr>
              <a:r>
                <a:rPr lang="bg-BG" sz="1800"/>
                <a:t>не</a:t>
              </a:r>
              <a:endParaRPr lang="en-US" sz="1800"/>
            </a:p>
          </p:txBody>
        </p:sp>
        <p:sp>
          <p:nvSpPr>
            <p:cNvPr id="36904" name="Text Box 1063"/>
            <p:cNvSpPr txBox="1">
              <a:spLocks noChangeArrowheads="1"/>
            </p:cNvSpPr>
            <p:nvPr/>
          </p:nvSpPr>
          <p:spPr bwMode="auto">
            <a:xfrm>
              <a:off x="2124" y="2688"/>
              <a:ext cx="288" cy="231"/>
            </a:xfrm>
            <a:prstGeom prst="rect">
              <a:avLst/>
            </a:prstGeom>
            <a:noFill/>
            <a:ln w="9525">
              <a:noFill/>
              <a:miter lim="800000"/>
              <a:headEnd/>
              <a:tailEnd/>
            </a:ln>
          </p:spPr>
          <p:txBody>
            <a:bodyPr>
              <a:spAutoFit/>
            </a:bodyPr>
            <a:lstStyle/>
            <a:p>
              <a:pPr algn="l">
                <a:spcBef>
                  <a:spcPct val="50000"/>
                </a:spcBef>
              </a:pPr>
              <a:r>
                <a:rPr lang="bg-BG" sz="1800"/>
                <a:t>не</a:t>
              </a:r>
              <a:endParaRPr lang="en-US" sz="1800"/>
            </a:p>
          </p:txBody>
        </p:sp>
        <p:sp>
          <p:nvSpPr>
            <p:cNvPr id="36905" name="Text Box 1065"/>
            <p:cNvSpPr txBox="1">
              <a:spLocks noChangeArrowheads="1"/>
            </p:cNvSpPr>
            <p:nvPr/>
          </p:nvSpPr>
          <p:spPr bwMode="auto">
            <a:xfrm>
              <a:off x="1104" y="2890"/>
              <a:ext cx="624" cy="250"/>
            </a:xfrm>
            <a:prstGeom prst="rect">
              <a:avLst/>
            </a:prstGeom>
            <a:noFill/>
            <a:ln w="9525">
              <a:noFill/>
              <a:miter lim="800000"/>
              <a:headEnd/>
              <a:tailEnd/>
            </a:ln>
          </p:spPr>
          <p:txBody>
            <a:bodyPr>
              <a:spAutoFit/>
            </a:bodyPr>
            <a:lstStyle/>
            <a:p>
              <a:pPr algn="l">
                <a:spcBef>
                  <a:spcPct val="50000"/>
                </a:spcBef>
              </a:pPr>
              <a:r>
                <a:rPr lang="en-US" sz="2000" b="1" i="1"/>
                <a:t>a&lt;b&lt;c</a:t>
              </a:r>
              <a:endParaRPr lang="en-US" sz="1800"/>
            </a:p>
          </p:txBody>
        </p:sp>
        <p:sp>
          <p:nvSpPr>
            <p:cNvPr id="36906" name="Text Box 1066"/>
            <p:cNvSpPr txBox="1">
              <a:spLocks noChangeArrowheads="1"/>
            </p:cNvSpPr>
            <p:nvPr/>
          </p:nvSpPr>
          <p:spPr bwMode="auto">
            <a:xfrm>
              <a:off x="1454" y="3312"/>
              <a:ext cx="750" cy="250"/>
            </a:xfrm>
            <a:prstGeom prst="rect">
              <a:avLst/>
            </a:prstGeom>
            <a:noFill/>
            <a:ln w="9525">
              <a:noFill/>
              <a:miter lim="800000"/>
              <a:headEnd/>
              <a:tailEnd/>
            </a:ln>
          </p:spPr>
          <p:txBody>
            <a:bodyPr>
              <a:spAutoFit/>
            </a:bodyPr>
            <a:lstStyle/>
            <a:p>
              <a:pPr algn="l">
                <a:spcBef>
                  <a:spcPct val="50000"/>
                </a:spcBef>
              </a:pPr>
              <a:r>
                <a:rPr lang="en-US" sz="2000" b="1" i="1"/>
                <a:t>a&lt;c&lt;=b</a:t>
              </a:r>
              <a:endParaRPr lang="en-US" sz="1800"/>
            </a:p>
          </p:txBody>
        </p:sp>
        <p:sp>
          <p:nvSpPr>
            <p:cNvPr id="36907" name="Text Box 1067"/>
            <p:cNvSpPr txBox="1">
              <a:spLocks noChangeArrowheads="1"/>
            </p:cNvSpPr>
            <p:nvPr/>
          </p:nvSpPr>
          <p:spPr bwMode="auto">
            <a:xfrm>
              <a:off x="2120" y="3320"/>
              <a:ext cx="624" cy="250"/>
            </a:xfrm>
            <a:prstGeom prst="rect">
              <a:avLst/>
            </a:prstGeom>
            <a:noFill/>
            <a:ln w="9525">
              <a:noFill/>
              <a:miter lim="800000"/>
              <a:headEnd/>
              <a:tailEnd/>
            </a:ln>
          </p:spPr>
          <p:txBody>
            <a:bodyPr>
              <a:spAutoFit/>
            </a:bodyPr>
            <a:lstStyle/>
            <a:p>
              <a:pPr algn="l">
                <a:spcBef>
                  <a:spcPct val="50000"/>
                </a:spcBef>
              </a:pPr>
              <a:r>
                <a:rPr lang="en-US" sz="2000" b="1" i="1"/>
                <a:t>c&lt;=a&lt;b</a:t>
              </a:r>
              <a:endParaRPr lang="en-US" sz="1800"/>
            </a:p>
          </p:txBody>
        </p:sp>
        <p:sp>
          <p:nvSpPr>
            <p:cNvPr id="36908" name="Text Box 1068"/>
            <p:cNvSpPr txBox="1">
              <a:spLocks noChangeArrowheads="1"/>
            </p:cNvSpPr>
            <p:nvPr/>
          </p:nvSpPr>
          <p:spPr bwMode="auto">
            <a:xfrm>
              <a:off x="2884" y="3320"/>
              <a:ext cx="624" cy="250"/>
            </a:xfrm>
            <a:prstGeom prst="rect">
              <a:avLst/>
            </a:prstGeom>
            <a:noFill/>
            <a:ln w="9525">
              <a:noFill/>
              <a:miter lim="800000"/>
              <a:headEnd/>
              <a:tailEnd/>
            </a:ln>
          </p:spPr>
          <p:txBody>
            <a:bodyPr>
              <a:spAutoFit/>
            </a:bodyPr>
            <a:lstStyle/>
            <a:p>
              <a:pPr algn="l">
                <a:spcBef>
                  <a:spcPct val="50000"/>
                </a:spcBef>
              </a:pPr>
              <a:r>
                <a:rPr lang="en-US" sz="2000" b="1" i="1"/>
                <a:t>b&lt;=a&lt;c</a:t>
              </a:r>
              <a:endParaRPr lang="en-US" sz="1800"/>
            </a:p>
          </p:txBody>
        </p:sp>
        <p:sp>
          <p:nvSpPr>
            <p:cNvPr id="36909" name="Text Box 1069"/>
            <p:cNvSpPr txBox="1">
              <a:spLocks noChangeArrowheads="1"/>
            </p:cNvSpPr>
            <p:nvPr/>
          </p:nvSpPr>
          <p:spPr bwMode="auto">
            <a:xfrm>
              <a:off x="3556" y="3330"/>
              <a:ext cx="672" cy="250"/>
            </a:xfrm>
            <a:prstGeom prst="rect">
              <a:avLst/>
            </a:prstGeom>
            <a:noFill/>
            <a:ln w="9525">
              <a:noFill/>
              <a:miter lim="800000"/>
              <a:headEnd/>
              <a:tailEnd/>
            </a:ln>
          </p:spPr>
          <p:txBody>
            <a:bodyPr>
              <a:spAutoFit/>
            </a:bodyPr>
            <a:lstStyle/>
            <a:p>
              <a:pPr algn="l">
                <a:spcBef>
                  <a:spcPct val="50000"/>
                </a:spcBef>
              </a:pPr>
              <a:r>
                <a:rPr lang="en-US" sz="2000" b="1" i="1"/>
                <a:t>b&lt;=c&lt;a</a:t>
              </a:r>
              <a:endParaRPr lang="en-US" sz="1800"/>
            </a:p>
          </p:txBody>
        </p:sp>
        <p:sp>
          <p:nvSpPr>
            <p:cNvPr id="36910" name="Text Box 1070"/>
            <p:cNvSpPr txBox="1">
              <a:spLocks noChangeArrowheads="1"/>
            </p:cNvSpPr>
            <p:nvPr/>
          </p:nvSpPr>
          <p:spPr bwMode="auto">
            <a:xfrm>
              <a:off x="4002" y="2890"/>
              <a:ext cx="816" cy="250"/>
            </a:xfrm>
            <a:prstGeom prst="rect">
              <a:avLst/>
            </a:prstGeom>
            <a:noFill/>
            <a:ln w="9525">
              <a:noFill/>
              <a:miter lim="800000"/>
              <a:headEnd/>
              <a:tailEnd/>
            </a:ln>
          </p:spPr>
          <p:txBody>
            <a:bodyPr>
              <a:spAutoFit/>
            </a:bodyPr>
            <a:lstStyle/>
            <a:p>
              <a:pPr algn="l">
                <a:spcBef>
                  <a:spcPct val="50000"/>
                </a:spcBef>
              </a:pPr>
              <a:r>
                <a:rPr lang="en-US" sz="2000" b="1" i="1"/>
                <a:t>c&lt;=b&lt;=a</a:t>
              </a:r>
              <a:endParaRPr lang="en-US" sz="1800"/>
            </a:p>
          </p:txBody>
        </p:sp>
      </p:grpSp>
      <p:sp>
        <p:nvSpPr>
          <p:cNvPr id="48" name="Slide Number Placeholder 47"/>
          <p:cNvSpPr>
            <a:spLocks noGrp="1"/>
          </p:cNvSpPr>
          <p:nvPr>
            <p:ph type="sldNum" sz="quarter" idx="12"/>
          </p:nvPr>
        </p:nvSpPr>
        <p:spPr/>
        <p:txBody>
          <a:bodyPr/>
          <a:lstStyle/>
          <a:p>
            <a:pPr>
              <a:defRPr/>
            </a:pPr>
            <a:fld id="{6C065F74-A3CD-4697-AEDB-883557F1F4A5}" type="slidenum">
              <a:rPr lang="en-US"/>
              <a:pPr>
                <a:defRPr/>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26"/>
          <p:cNvSpPr>
            <a:spLocks noGrp="1" noChangeArrowheads="1"/>
          </p:cNvSpPr>
          <p:nvPr>
            <p:ph type="title"/>
          </p:nvPr>
        </p:nvSpPr>
        <p:spPr>
          <a:xfrm>
            <a:off x="1116013" y="1341438"/>
            <a:ext cx="8027987" cy="6324600"/>
          </a:xfrm>
        </p:spPr>
        <p:txBody>
          <a:bodyPr/>
          <a:lstStyle/>
          <a:p>
            <a:pPr eaLnBrk="1" fontAlgn="auto" hangingPunct="1">
              <a:lnSpc>
                <a:spcPct val="80000"/>
              </a:lnSpc>
              <a:spcAft>
                <a:spcPts val="0"/>
              </a:spcAft>
              <a:defRPr/>
            </a:pPr>
            <a:r>
              <a:rPr lang="bg-BG" sz="2000">
                <a:solidFill>
                  <a:schemeClr val="tx1"/>
                </a:solidFill>
              </a:rPr>
              <a:t>Дървото ни дава следния алгоритъм за сортиране на множеството:</a:t>
            </a:r>
            <a:br>
              <a:rPr lang="bg-BG" sz="2000">
                <a:solidFill>
                  <a:schemeClr val="tx1"/>
                </a:solidFill>
              </a:rPr>
            </a:br>
            <a:r>
              <a:rPr lang="bg-BG" sz="800">
                <a:solidFill>
                  <a:schemeClr val="tx1"/>
                </a:solidFill>
              </a:rPr>
              <a:t/>
            </a:r>
            <a:br>
              <a:rPr lang="bg-BG" sz="800">
                <a:solidFill>
                  <a:schemeClr val="tx1"/>
                </a:solidFill>
              </a:rPr>
            </a:br>
            <a:r>
              <a:rPr lang="en-US" sz="2000" i="1">
                <a:solidFill>
                  <a:schemeClr val="tx1"/>
                </a:solidFill>
              </a:rPr>
              <a:t>if (a&lt;b)</a:t>
            </a:r>
            <a:br>
              <a:rPr lang="en-US" sz="2000" i="1">
                <a:solidFill>
                  <a:schemeClr val="tx1"/>
                </a:solidFill>
              </a:rPr>
            </a:br>
            <a:r>
              <a:rPr lang="en-US" sz="2000" i="1">
                <a:solidFill>
                  <a:schemeClr val="tx1"/>
                </a:solidFill>
              </a:rPr>
              <a:t>    if (b&lt;c)  cout&lt;&lt;a&lt;&lt;b&lt;&lt;c;</a:t>
            </a:r>
            <a:br>
              <a:rPr lang="en-US" sz="2000" i="1">
                <a:solidFill>
                  <a:schemeClr val="tx1"/>
                </a:solidFill>
              </a:rPr>
            </a:br>
            <a:r>
              <a:rPr lang="en-US" sz="2000" i="1">
                <a:solidFill>
                  <a:schemeClr val="tx1"/>
                </a:solidFill>
              </a:rPr>
              <a:t>        else</a:t>
            </a:r>
            <a:br>
              <a:rPr lang="en-US" sz="2000" i="1">
                <a:solidFill>
                  <a:schemeClr val="tx1"/>
                </a:solidFill>
              </a:rPr>
            </a:br>
            <a:r>
              <a:rPr lang="en-US" sz="2000" i="1">
                <a:solidFill>
                  <a:schemeClr val="tx1"/>
                </a:solidFill>
              </a:rPr>
              <a:t>           if (a&lt;c)  cout&lt;&lt;a&lt;&lt;c&lt;&lt;b;</a:t>
            </a:r>
            <a:br>
              <a:rPr lang="en-US" sz="2000" i="1">
                <a:solidFill>
                  <a:schemeClr val="tx1"/>
                </a:solidFill>
              </a:rPr>
            </a:br>
            <a:r>
              <a:rPr lang="en-US" sz="2000" i="1">
                <a:solidFill>
                  <a:schemeClr val="tx1"/>
                </a:solidFill>
              </a:rPr>
              <a:t>               else   cout&lt;&lt;c&lt;&lt;a&lt;&lt;b;</a:t>
            </a:r>
            <a:br>
              <a:rPr lang="en-US" sz="2000" i="1">
                <a:solidFill>
                  <a:schemeClr val="tx1"/>
                </a:solidFill>
              </a:rPr>
            </a:br>
            <a:r>
              <a:rPr lang="en-US" sz="2000" i="1">
                <a:solidFill>
                  <a:schemeClr val="tx1"/>
                </a:solidFill>
              </a:rPr>
              <a:t>else</a:t>
            </a:r>
            <a:br>
              <a:rPr lang="en-US" sz="2000" i="1">
                <a:solidFill>
                  <a:schemeClr val="tx1"/>
                </a:solidFill>
              </a:rPr>
            </a:br>
            <a:r>
              <a:rPr lang="en-US" sz="2000" i="1">
                <a:solidFill>
                  <a:schemeClr val="tx1"/>
                </a:solidFill>
              </a:rPr>
              <a:t>     if (b&lt;c)</a:t>
            </a:r>
            <a:br>
              <a:rPr lang="en-US" sz="2000" i="1">
                <a:solidFill>
                  <a:schemeClr val="tx1"/>
                </a:solidFill>
              </a:rPr>
            </a:br>
            <a:r>
              <a:rPr lang="en-US" sz="2000" i="1">
                <a:solidFill>
                  <a:schemeClr val="tx1"/>
                </a:solidFill>
              </a:rPr>
              <a:t>         if (a&lt;c) cout&lt;&lt;b&lt;&lt;a&lt;&lt;c;</a:t>
            </a:r>
            <a:br>
              <a:rPr lang="en-US" sz="2000" i="1">
                <a:solidFill>
                  <a:schemeClr val="tx1"/>
                </a:solidFill>
              </a:rPr>
            </a:br>
            <a:r>
              <a:rPr lang="en-US" sz="2000" i="1">
                <a:solidFill>
                  <a:schemeClr val="tx1"/>
                </a:solidFill>
              </a:rPr>
              <a:t>              else  cout&lt;&lt;b&lt;&lt;c&lt;&lt;a;</a:t>
            </a:r>
            <a:br>
              <a:rPr lang="en-US" sz="2000" i="1">
                <a:solidFill>
                  <a:schemeClr val="tx1"/>
                </a:solidFill>
              </a:rPr>
            </a:br>
            <a:r>
              <a:rPr lang="en-US" sz="2000" i="1">
                <a:solidFill>
                  <a:schemeClr val="tx1"/>
                </a:solidFill>
              </a:rPr>
              <a:t>     else   cout&lt;&lt;c&lt;&lt;b&lt;&lt;a;</a:t>
            </a:r>
            <a:br>
              <a:rPr lang="en-US" sz="2000" i="1">
                <a:solidFill>
                  <a:schemeClr val="tx1"/>
                </a:solidFill>
              </a:rPr>
            </a:br>
            <a:r>
              <a:rPr lang="en-US" sz="800">
                <a:solidFill>
                  <a:schemeClr val="tx1"/>
                </a:solidFill>
              </a:rPr>
              <a:t/>
            </a:r>
            <a:br>
              <a:rPr lang="en-US" sz="800">
                <a:solidFill>
                  <a:schemeClr val="tx1"/>
                </a:solidFill>
              </a:rPr>
            </a:br>
            <a:r>
              <a:rPr lang="en-US" sz="800">
                <a:solidFill>
                  <a:schemeClr val="tx1"/>
                </a:solidFill>
              </a:rPr>
              <a:t>	</a:t>
            </a:r>
            <a:r>
              <a:rPr lang="bg-BG" sz="2000">
                <a:solidFill>
                  <a:schemeClr val="tx1"/>
                </a:solidFill>
              </a:rPr>
              <a:t>Алгоритъмът е много нагледен</a:t>
            </a:r>
            <a:r>
              <a:rPr lang="bg-BG" sz="2000" i="1">
                <a:solidFill>
                  <a:schemeClr val="tx1"/>
                </a:solidFill>
              </a:rPr>
              <a:t>, </a:t>
            </a:r>
            <a:r>
              <a:rPr lang="bg-BG" sz="2000">
                <a:solidFill>
                  <a:schemeClr val="tx1"/>
                </a:solidFill>
              </a:rPr>
              <a:t>но е почти неприложим: броят на възможните изходи (листата на дървото) е </a:t>
            </a:r>
            <a:r>
              <a:rPr lang="en-US" sz="2000" b="1" i="1">
                <a:solidFill>
                  <a:schemeClr val="tx1"/>
                </a:solidFill>
              </a:rPr>
              <a:t>n!</a:t>
            </a:r>
            <a:r>
              <a:rPr lang="en-US" sz="2000">
                <a:solidFill>
                  <a:schemeClr val="tx1"/>
                </a:solidFill>
              </a:rPr>
              <a:t> (</a:t>
            </a:r>
            <a:r>
              <a:rPr lang="bg-BG" sz="2000">
                <a:solidFill>
                  <a:schemeClr val="tx1"/>
                </a:solidFill>
              </a:rPr>
              <a:t>колкото възможните пермутации на изходното множество).</a:t>
            </a:r>
            <a:r>
              <a:rPr lang="en-US" sz="2000">
                <a:solidFill>
                  <a:schemeClr val="tx1"/>
                </a:solidFill>
              </a:rPr>
              <a:t/>
            </a:r>
            <a:br>
              <a:rPr lang="en-US" sz="2000">
                <a:solidFill>
                  <a:schemeClr val="tx1"/>
                </a:solidFill>
              </a:rPr>
            </a:br>
            <a:r>
              <a:rPr lang="en-US" sz="2000">
                <a:solidFill>
                  <a:schemeClr val="tx1"/>
                </a:solidFill>
              </a:rPr>
              <a:t>	</a:t>
            </a:r>
            <a:r>
              <a:rPr lang="bg-BG" sz="2000">
                <a:solidFill>
                  <a:schemeClr val="tx1"/>
                </a:solidFill>
              </a:rPr>
              <a:t>Затова се налага да се търсят други по-ефективни методи</a:t>
            </a:r>
            <a:br>
              <a:rPr lang="bg-BG" sz="2000">
                <a:solidFill>
                  <a:schemeClr val="tx1"/>
                </a:solidFill>
              </a:rPr>
            </a:br>
            <a:r>
              <a:rPr lang="bg-BG" sz="2000">
                <a:solidFill>
                  <a:schemeClr val="tx1"/>
                </a:solidFill>
              </a:rPr>
              <a:t>за сортиране. Но идеята на дървото може да послужи като математически модел за изграждане на други алгоритми.  </a:t>
            </a:r>
            <a:r>
              <a:rPr lang="en-US" sz="2000">
                <a:solidFill>
                  <a:schemeClr val="tx1"/>
                </a:solidFill>
              </a:rPr>
              <a:t>            </a:t>
            </a:r>
          </a:p>
        </p:txBody>
      </p:sp>
      <p:grpSp>
        <p:nvGrpSpPr>
          <p:cNvPr id="37891" name="Group 1027"/>
          <p:cNvGrpSpPr>
            <a:grpSpLocks/>
          </p:cNvGrpSpPr>
          <p:nvPr/>
        </p:nvGrpSpPr>
        <p:grpSpPr bwMode="auto">
          <a:xfrm>
            <a:off x="1828800" y="228600"/>
            <a:ext cx="6096000" cy="2111375"/>
            <a:chOff x="1104" y="2228"/>
            <a:chExt cx="3714" cy="1357"/>
          </a:xfrm>
        </p:grpSpPr>
        <p:sp>
          <p:nvSpPr>
            <p:cNvPr id="37893" name="Rectangle 1028"/>
            <p:cNvSpPr>
              <a:spLocks noChangeArrowheads="1"/>
            </p:cNvSpPr>
            <p:nvPr/>
          </p:nvSpPr>
          <p:spPr bwMode="auto">
            <a:xfrm>
              <a:off x="1584" y="2544"/>
              <a:ext cx="528" cy="192"/>
            </a:xfrm>
            <a:prstGeom prst="rect">
              <a:avLst/>
            </a:prstGeom>
            <a:noFill/>
            <a:ln w="9525">
              <a:solidFill>
                <a:schemeClr val="tx1"/>
              </a:solidFill>
              <a:miter lim="800000"/>
              <a:headEnd/>
              <a:tailEnd/>
            </a:ln>
          </p:spPr>
          <p:txBody>
            <a:bodyPr wrap="none" anchor="ctr"/>
            <a:lstStyle/>
            <a:p>
              <a:endParaRPr lang="bg-BG"/>
            </a:p>
          </p:txBody>
        </p:sp>
        <p:sp>
          <p:nvSpPr>
            <p:cNvPr id="37894" name="Rectangle 1029"/>
            <p:cNvSpPr>
              <a:spLocks noChangeArrowheads="1"/>
            </p:cNvSpPr>
            <p:nvPr/>
          </p:nvSpPr>
          <p:spPr bwMode="auto">
            <a:xfrm>
              <a:off x="2496" y="2256"/>
              <a:ext cx="528" cy="192"/>
            </a:xfrm>
            <a:prstGeom prst="rect">
              <a:avLst/>
            </a:prstGeom>
            <a:noFill/>
            <a:ln w="9525">
              <a:solidFill>
                <a:schemeClr val="tx1"/>
              </a:solidFill>
              <a:miter lim="800000"/>
              <a:headEnd/>
              <a:tailEnd/>
            </a:ln>
          </p:spPr>
          <p:txBody>
            <a:bodyPr wrap="none" anchor="ctr"/>
            <a:lstStyle/>
            <a:p>
              <a:endParaRPr lang="bg-BG"/>
            </a:p>
          </p:txBody>
        </p:sp>
        <p:sp>
          <p:nvSpPr>
            <p:cNvPr id="37895" name="Rectangle 1030"/>
            <p:cNvSpPr>
              <a:spLocks noChangeArrowheads="1"/>
            </p:cNvSpPr>
            <p:nvPr/>
          </p:nvSpPr>
          <p:spPr bwMode="auto">
            <a:xfrm>
              <a:off x="3456" y="2592"/>
              <a:ext cx="528" cy="192"/>
            </a:xfrm>
            <a:prstGeom prst="rect">
              <a:avLst/>
            </a:prstGeom>
            <a:noFill/>
            <a:ln w="9525">
              <a:solidFill>
                <a:schemeClr val="tx1"/>
              </a:solidFill>
              <a:miter lim="800000"/>
              <a:headEnd/>
              <a:tailEnd/>
            </a:ln>
          </p:spPr>
          <p:txBody>
            <a:bodyPr wrap="none" anchor="ctr"/>
            <a:lstStyle/>
            <a:p>
              <a:endParaRPr lang="bg-BG"/>
            </a:p>
          </p:txBody>
        </p:sp>
        <p:sp>
          <p:nvSpPr>
            <p:cNvPr id="37896" name="Rectangle 1031"/>
            <p:cNvSpPr>
              <a:spLocks noChangeArrowheads="1"/>
            </p:cNvSpPr>
            <p:nvPr/>
          </p:nvSpPr>
          <p:spPr bwMode="auto">
            <a:xfrm>
              <a:off x="1104" y="2928"/>
              <a:ext cx="528" cy="192"/>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37897" name="Rectangle 1032"/>
            <p:cNvSpPr>
              <a:spLocks noChangeArrowheads="1"/>
            </p:cNvSpPr>
            <p:nvPr/>
          </p:nvSpPr>
          <p:spPr bwMode="auto">
            <a:xfrm>
              <a:off x="2016" y="2928"/>
              <a:ext cx="528" cy="192"/>
            </a:xfrm>
            <a:prstGeom prst="rect">
              <a:avLst/>
            </a:prstGeom>
            <a:noFill/>
            <a:ln w="9525">
              <a:solidFill>
                <a:schemeClr val="tx1"/>
              </a:solidFill>
              <a:miter lim="800000"/>
              <a:headEnd/>
              <a:tailEnd/>
            </a:ln>
          </p:spPr>
          <p:txBody>
            <a:bodyPr wrap="none" anchor="ctr"/>
            <a:lstStyle/>
            <a:p>
              <a:endParaRPr lang="bg-BG"/>
            </a:p>
          </p:txBody>
        </p:sp>
        <p:sp>
          <p:nvSpPr>
            <p:cNvPr id="37898" name="Rectangle 1033"/>
            <p:cNvSpPr>
              <a:spLocks noChangeArrowheads="1"/>
            </p:cNvSpPr>
            <p:nvPr/>
          </p:nvSpPr>
          <p:spPr bwMode="auto">
            <a:xfrm>
              <a:off x="3024" y="2928"/>
              <a:ext cx="528" cy="192"/>
            </a:xfrm>
            <a:prstGeom prst="rect">
              <a:avLst/>
            </a:prstGeom>
            <a:noFill/>
            <a:ln w="9525">
              <a:solidFill>
                <a:schemeClr val="tx1"/>
              </a:solidFill>
              <a:miter lim="800000"/>
              <a:headEnd/>
              <a:tailEnd/>
            </a:ln>
          </p:spPr>
          <p:txBody>
            <a:bodyPr wrap="none" anchor="ctr"/>
            <a:lstStyle/>
            <a:p>
              <a:endParaRPr lang="bg-BG"/>
            </a:p>
          </p:txBody>
        </p:sp>
        <p:sp>
          <p:nvSpPr>
            <p:cNvPr id="37899" name="Rectangle 1034"/>
            <p:cNvSpPr>
              <a:spLocks noChangeArrowheads="1"/>
            </p:cNvSpPr>
            <p:nvPr/>
          </p:nvSpPr>
          <p:spPr bwMode="auto">
            <a:xfrm>
              <a:off x="3984" y="2928"/>
              <a:ext cx="768" cy="192"/>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37900" name="Rectangle 1035"/>
            <p:cNvSpPr>
              <a:spLocks noChangeArrowheads="1"/>
            </p:cNvSpPr>
            <p:nvPr/>
          </p:nvSpPr>
          <p:spPr bwMode="auto">
            <a:xfrm>
              <a:off x="2928" y="3360"/>
              <a:ext cx="528" cy="192"/>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37901" name="Rectangle 1036"/>
            <p:cNvSpPr>
              <a:spLocks noChangeArrowheads="1"/>
            </p:cNvSpPr>
            <p:nvPr/>
          </p:nvSpPr>
          <p:spPr bwMode="auto">
            <a:xfrm>
              <a:off x="2160" y="3360"/>
              <a:ext cx="528" cy="192"/>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37902" name="Rectangle 1037"/>
            <p:cNvSpPr>
              <a:spLocks noChangeArrowheads="1"/>
            </p:cNvSpPr>
            <p:nvPr/>
          </p:nvSpPr>
          <p:spPr bwMode="auto">
            <a:xfrm>
              <a:off x="1488" y="3360"/>
              <a:ext cx="528" cy="192"/>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37903" name="Rectangle 1038"/>
            <p:cNvSpPr>
              <a:spLocks noChangeArrowheads="1"/>
            </p:cNvSpPr>
            <p:nvPr/>
          </p:nvSpPr>
          <p:spPr bwMode="auto">
            <a:xfrm>
              <a:off x="3600" y="3360"/>
              <a:ext cx="528" cy="192"/>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37904" name="Line 1039"/>
            <p:cNvSpPr>
              <a:spLocks noChangeShapeType="1"/>
            </p:cNvSpPr>
            <p:nvPr/>
          </p:nvSpPr>
          <p:spPr bwMode="auto">
            <a:xfrm flipH="1">
              <a:off x="1920" y="2448"/>
              <a:ext cx="720" cy="96"/>
            </a:xfrm>
            <a:prstGeom prst="line">
              <a:avLst/>
            </a:prstGeom>
            <a:noFill/>
            <a:ln w="9525">
              <a:solidFill>
                <a:schemeClr val="tx1"/>
              </a:solidFill>
              <a:round/>
              <a:headEnd/>
              <a:tailEnd/>
            </a:ln>
          </p:spPr>
          <p:txBody>
            <a:bodyPr wrap="none" anchor="ctr"/>
            <a:lstStyle/>
            <a:p>
              <a:endParaRPr lang="bg-BG"/>
            </a:p>
          </p:txBody>
        </p:sp>
        <p:sp>
          <p:nvSpPr>
            <p:cNvPr id="37905" name="Line 1040"/>
            <p:cNvSpPr>
              <a:spLocks noChangeShapeType="1"/>
            </p:cNvSpPr>
            <p:nvPr/>
          </p:nvSpPr>
          <p:spPr bwMode="auto">
            <a:xfrm>
              <a:off x="2880" y="2448"/>
              <a:ext cx="864" cy="144"/>
            </a:xfrm>
            <a:prstGeom prst="line">
              <a:avLst/>
            </a:prstGeom>
            <a:noFill/>
            <a:ln w="9525">
              <a:solidFill>
                <a:schemeClr val="tx1"/>
              </a:solidFill>
              <a:round/>
              <a:headEnd/>
              <a:tailEnd/>
            </a:ln>
          </p:spPr>
          <p:txBody>
            <a:bodyPr wrap="none" anchor="ctr"/>
            <a:lstStyle/>
            <a:p>
              <a:endParaRPr lang="bg-BG"/>
            </a:p>
          </p:txBody>
        </p:sp>
        <p:sp>
          <p:nvSpPr>
            <p:cNvPr id="37906" name="Line 1041"/>
            <p:cNvSpPr>
              <a:spLocks noChangeShapeType="1"/>
            </p:cNvSpPr>
            <p:nvPr/>
          </p:nvSpPr>
          <p:spPr bwMode="auto">
            <a:xfrm flipH="1">
              <a:off x="1392" y="2736"/>
              <a:ext cx="384" cy="192"/>
            </a:xfrm>
            <a:prstGeom prst="line">
              <a:avLst/>
            </a:prstGeom>
            <a:noFill/>
            <a:ln w="9525">
              <a:solidFill>
                <a:schemeClr val="tx1"/>
              </a:solidFill>
              <a:round/>
              <a:headEnd/>
              <a:tailEnd/>
            </a:ln>
          </p:spPr>
          <p:txBody>
            <a:bodyPr wrap="none" anchor="ctr"/>
            <a:lstStyle/>
            <a:p>
              <a:endParaRPr lang="bg-BG"/>
            </a:p>
          </p:txBody>
        </p:sp>
        <p:sp>
          <p:nvSpPr>
            <p:cNvPr id="37907" name="Line 1042"/>
            <p:cNvSpPr>
              <a:spLocks noChangeShapeType="1"/>
            </p:cNvSpPr>
            <p:nvPr/>
          </p:nvSpPr>
          <p:spPr bwMode="auto">
            <a:xfrm>
              <a:off x="1920" y="2736"/>
              <a:ext cx="384" cy="192"/>
            </a:xfrm>
            <a:prstGeom prst="line">
              <a:avLst/>
            </a:prstGeom>
            <a:noFill/>
            <a:ln w="9525">
              <a:solidFill>
                <a:schemeClr val="tx1"/>
              </a:solidFill>
              <a:round/>
              <a:headEnd/>
              <a:tailEnd/>
            </a:ln>
          </p:spPr>
          <p:txBody>
            <a:bodyPr wrap="none" anchor="ctr"/>
            <a:lstStyle/>
            <a:p>
              <a:endParaRPr lang="bg-BG"/>
            </a:p>
          </p:txBody>
        </p:sp>
        <p:sp>
          <p:nvSpPr>
            <p:cNvPr id="37908" name="Line 1043"/>
            <p:cNvSpPr>
              <a:spLocks noChangeShapeType="1"/>
            </p:cNvSpPr>
            <p:nvPr/>
          </p:nvSpPr>
          <p:spPr bwMode="auto">
            <a:xfrm flipH="1">
              <a:off x="3264" y="2784"/>
              <a:ext cx="384" cy="144"/>
            </a:xfrm>
            <a:prstGeom prst="line">
              <a:avLst/>
            </a:prstGeom>
            <a:noFill/>
            <a:ln w="9525">
              <a:solidFill>
                <a:schemeClr val="tx1"/>
              </a:solidFill>
              <a:round/>
              <a:headEnd/>
              <a:tailEnd/>
            </a:ln>
          </p:spPr>
          <p:txBody>
            <a:bodyPr wrap="none" anchor="ctr"/>
            <a:lstStyle/>
            <a:p>
              <a:endParaRPr lang="bg-BG"/>
            </a:p>
          </p:txBody>
        </p:sp>
        <p:sp>
          <p:nvSpPr>
            <p:cNvPr id="37909" name="Line 1044"/>
            <p:cNvSpPr>
              <a:spLocks noChangeShapeType="1"/>
            </p:cNvSpPr>
            <p:nvPr/>
          </p:nvSpPr>
          <p:spPr bwMode="auto">
            <a:xfrm>
              <a:off x="3792" y="2784"/>
              <a:ext cx="480" cy="144"/>
            </a:xfrm>
            <a:prstGeom prst="line">
              <a:avLst/>
            </a:prstGeom>
            <a:noFill/>
            <a:ln w="9525">
              <a:solidFill>
                <a:schemeClr val="tx1"/>
              </a:solidFill>
              <a:round/>
              <a:headEnd/>
              <a:tailEnd/>
            </a:ln>
          </p:spPr>
          <p:txBody>
            <a:bodyPr wrap="none" anchor="ctr"/>
            <a:lstStyle/>
            <a:p>
              <a:endParaRPr lang="bg-BG"/>
            </a:p>
          </p:txBody>
        </p:sp>
        <p:sp>
          <p:nvSpPr>
            <p:cNvPr id="37910" name="Line 1045"/>
            <p:cNvSpPr>
              <a:spLocks noChangeShapeType="1"/>
            </p:cNvSpPr>
            <p:nvPr/>
          </p:nvSpPr>
          <p:spPr bwMode="auto">
            <a:xfrm flipH="1">
              <a:off x="1728" y="3120"/>
              <a:ext cx="432" cy="240"/>
            </a:xfrm>
            <a:prstGeom prst="line">
              <a:avLst/>
            </a:prstGeom>
            <a:noFill/>
            <a:ln w="9525">
              <a:solidFill>
                <a:schemeClr val="tx1"/>
              </a:solidFill>
              <a:round/>
              <a:headEnd/>
              <a:tailEnd/>
            </a:ln>
          </p:spPr>
          <p:txBody>
            <a:bodyPr wrap="none" anchor="ctr"/>
            <a:lstStyle/>
            <a:p>
              <a:endParaRPr lang="bg-BG"/>
            </a:p>
          </p:txBody>
        </p:sp>
        <p:sp>
          <p:nvSpPr>
            <p:cNvPr id="37911" name="Line 1046"/>
            <p:cNvSpPr>
              <a:spLocks noChangeShapeType="1"/>
            </p:cNvSpPr>
            <p:nvPr/>
          </p:nvSpPr>
          <p:spPr bwMode="auto">
            <a:xfrm>
              <a:off x="2400" y="3120"/>
              <a:ext cx="0" cy="240"/>
            </a:xfrm>
            <a:prstGeom prst="line">
              <a:avLst/>
            </a:prstGeom>
            <a:noFill/>
            <a:ln w="9525">
              <a:solidFill>
                <a:schemeClr val="tx1"/>
              </a:solidFill>
              <a:round/>
              <a:headEnd/>
              <a:tailEnd/>
            </a:ln>
          </p:spPr>
          <p:txBody>
            <a:bodyPr wrap="none" anchor="ctr"/>
            <a:lstStyle/>
            <a:p>
              <a:endParaRPr lang="bg-BG"/>
            </a:p>
          </p:txBody>
        </p:sp>
        <p:sp>
          <p:nvSpPr>
            <p:cNvPr id="37912" name="Line 1047"/>
            <p:cNvSpPr>
              <a:spLocks noChangeShapeType="1"/>
            </p:cNvSpPr>
            <p:nvPr/>
          </p:nvSpPr>
          <p:spPr bwMode="auto">
            <a:xfrm>
              <a:off x="3168" y="3120"/>
              <a:ext cx="0" cy="240"/>
            </a:xfrm>
            <a:prstGeom prst="line">
              <a:avLst/>
            </a:prstGeom>
            <a:noFill/>
            <a:ln w="9525">
              <a:solidFill>
                <a:schemeClr val="tx1"/>
              </a:solidFill>
              <a:round/>
              <a:headEnd/>
              <a:tailEnd/>
            </a:ln>
          </p:spPr>
          <p:txBody>
            <a:bodyPr wrap="none" anchor="ctr"/>
            <a:lstStyle/>
            <a:p>
              <a:endParaRPr lang="bg-BG"/>
            </a:p>
          </p:txBody>
        </p:sp>
        <p:sp>
          <p:nvSpPr>
            <p:cNvPr id="37913" name="Line 1048"/>
            <p:cNvSpPr>
              <a:spLocks noChangeShapeType="1"/>
            </p:cNvSpPr>
            <p:nvPr/>
          </p:nvSpPr>
          <p:spPr bwMode="auto">
            <a:xfrm>
              <a:off x="3360" y="3120"/>
              <a:ext cx="480" cy="240"/>
            </a:xfrm>
            <a:prstGeom prst="line">
              <a:avLst/>
            </a:prstGeom>
            <a:noFill/>
            <a:ln w="9525">
              <a:solidFill>
                <a:schemeClr val="tx1"/>
              </a:solidFill>
              <a:round/>
              <a:headEnd/>
              <a:tailEnd/>
            </a:ln>
          </p:spPr>
          <p:txBody>
            <a:bodyPr wrap="none" anchor="ctr"/>
            <a:lstStyle/>
            <a:p>
              <a:endParaRPr lang="bg-BG"/>
            </a:p>
          </p:txBody>
        </p:sp>
        <p:sp>
          <p:nvSpPr>
            <p:cNvPr id="37914" name="Text Box 1049"/>
            <p:cNvSpPr txBox="1">
              <a:spLocks noChangeArrowheads="1"/>
            </p:cNvSpPr>
            <p:nvPr/>
          </p:nvSpPr>
          <p:spPr bwMode="auto">
            <a:xfrm>
              <a:off x="2594" y="2228"/>
              <a:ext cx="430" cy="255"/>
            </a:xfrm>
            <a:prstGeom prst="rect">
              <a:avLst/>
            </a:prstGeom>
            <a:noFill/>
            <a:ln w="9525">
              <a:noFill/>
              <a:miter lim="800000"/>
              <a:headEnd/>
              <a:tailEnd/>
            </a:ln>
          </p:spPr>
          <p:txBody>
            <a:bodyPr>
              <a:spAutoFit/>
            </a:bodyPr>
            <a:lstStyle/>
            <a:p>
              <a:pPr algn="l">
                <a:spcBef>
                  <a:spcPct val="50000"/>
                </a:spcBef>
              </a:pPr>
              <a:r>
                <a:rPr lang="en-US" sz="2000" b="1" i="1"/>
                <a:t>a&lt;b</a:t>
              </a:r>
              <a:endParaRPr lang="en-US" sz="1800"/>
            </a:p>
          </p:txBody>
        </p:sp>
        <p:sp>
          <p:nvSpPr>
            <p:cNvPr id="37915" name="Text Box 1050"/>
            <p:cNvSpPr txBox="1">
              <a:spLocks noChangeArrowheads="1"/>
            </p:cNvSpPr>
            <p:nvPr/>
          </p:nvSpPr>
          <p:spPr bwMode="auto">
            <a:xfrm>
              <a:off x="1663" y="2507"/>
              <a:ext cx="429" cy="255"/>
            </a:xfrm>
            <a:prstGeom prst="rect">
              <a:avLst/>
            </a:prstGeom>
            <a:noFill/>
            <a:ln w="9525">
              <a:noFill/>
              <a:miter lim="800000"/>
              <a:headEnd/>
              <a:tailEnd/>
            </a:ln>
          </p:spPr>
          <p:txBody>
            <a:bodyPr>
              <a:spAutoFit/>
            </a:bodyPr>
            <a:lstStyle/>
            <a:p>
              <a:pPr algn="l">
                <a:spcBef>
                  <a:spcPct val="50000"/>
                </a:spcBef>
              </a:pPr>
              <a:r>
                <a:rPr lang="en-US" sz="2000" b="1" i="1"/>
                <a:t>b&lt;c</a:t>
              </a:r>
              <a:endParaRPr lang="en-US" sz="1800"/>
            </a:p>
          </p:txBody>
        </p:sp>
        <p:sp>
          <p:nvSpPr>
            <p:cNvPr id="37916" name="Text Box 1051"/>
            <p:cNvSpPr txBox="1">
              <a:spLocks noChangeArrowheads="1"/>
            </p:cNvSpPr>
            <p:nvPr/>
          </p:nvSpPr>
          <p:spPr bwMode="auto">
            <a:xfrm>
              <a:off x="3100" y="2890"/>
              <a:ext cx="432" cy="255"/>
            </a:xfrm>
            <a:prstGeom prst="rect">
              <a:avLst/>
            </a:prstGeom>
            <a:noFill/>
            <a:ln w="9525">
              <a:noFill/>
              <a:miter lim="800000"/>
              <a:headEnd/>
              <a:tailEnd/>
            </a:ln>
          </p:spPr>
          <p:txBody>
            <a:bodyPr>
              <a:spAutoFit/>
            </a:bodyPr>
            <a:lstStyle/>
            <a:p>
              <a:pPr algn="l">
                <a:spcBef>
                  <a:spcPct val="50000"/>
                </a:spcBef>
              </a:pPr>
              <a:r>
                <a:rPr lang="en-US" sz="2000" b="1" i="1"/>
                <a:t>a&lt;c</a:t>
              </a:r>
              <a:endParaRPr lang="en-US" sz="1800"/>
            </a:p>
          </p:txBody>
        </p:sp>
        <p:sp>
          <p:nvSpPr>
            <p:cNvPr id="37917" name="Text Box 1052"/>
            <p:cNvSpPr txBox="1">
              <a:spLocks noChangeArrowheads="1"/>
            </p:cNvSpPr>
            <p:nvPr/>
          </p:nvSpPr>
          <p:spPr bwMode="auto">
            <a:xfrm>
              <a:off x="3553" y="2544"/>
              <a:ext cx="429" cy="255"/>
            </a:xfrm>
            <a:prstGeom prst="rect">
              <a:avLst/>
            </a:prstGeom>
            <a:noFill/>
            <a:ln w="9525">
              <a:noFill/>
              <a:miter lim="800000"/>
              <a:headEnd/>
              <a:tailEnd/>
            </a:ln>
          </p:spPr>
          <p:txBody>
            <a:bodyPr>
              <a:spAutoFit/>
            </a:bodyPr>
            <a:lstStyle/>
            <a:p>
              <a:pPr algn="l">
                <a:spcBef>
                  <a:spcPct val="50000"/>
                </a:spcBef>
              </a:pPr>
              <a:r>
                <a:rPr lang="en-US" sz="2000" b="1" i="1"/>
                <a:t>b&lt;c</a:t>
              </a:r>
              <a:endParaRPr lang="en-US" sz="1800"/>
            </a:p>
          </p:txBody>
        </p:sp>
        <p:sp>
          <p:nvSpPr>
            <p:cNvPr id="37918" name="Text Box 1053"/>
            <p:cNvSpPr txBox="1">
              <a:spLocks noChangeArrowheads="1"/>
            </p:cNvSpPr>
            <p:nvPr/>
          </p:nvSpPr>
          <p:spPr bwMode="auto">
            <a:xfrm>
              <a:off x="2116" y="2883"/>
              <a:ext cx="431" cy="255"/>
            </a:xfrm>
            <a:prstGeom prst="rect">
              <a:avLst/>
            </a:prstGeom>
            <a:noFill/>
            <a:ln w="9525">
              <a:noFill/>
              <a:miter lim="800000"/>
              <a:headEnd/>
              <a:tailEnd/>
            </a:ln>
          </p:spPr>
          <p:txBody>
            <a:bodyPr>
              <a:spAutoFit/>
            </a:bodyPr>
            <a:lstStyle/>
            <a:p>
              <a:pPr algn="l">
                <a:spcBef>
                  <a:spcPct val="50000"/>
                </a:spcBef>
              </a:pPr>
              <a:r>
                <a:rPr lang="en-US" sz="2000" b="1" i="1"/>
                <a:t>a&lt;c</a:t>
              </a:r>
              <a:endParaRPr lang="en-US" sz="1800"/>
            </a:p>
          </p:txBody>
        </p:sp>
        <p:sp>
          <p:nvSpPr>
            <p:cNvPr id="37919" name="Text Box 1054"/>
            <p:cNvSpPr txBox="1">
              <a:spLocks noChangeArrowheads="1"/>
            </p:cNvSpPr>
            <p:nvPr/>
          </p:nvSpPr>
          <p:spPr bwMode="auto">
            <a:xfrm>
              <a:off x="2159" y="2304"/>
              <a:ext cx="289" cy="235"/>
            </a:xfrm>
            <a:prstGeom prst="rect">
              <a:avLst/>
            </a:prstGeom>
            <a:noFill/>
            <a:ln w="9525">
              <a:noFill/>
              <a:miter lim="800000"/>
              <a:headEnd/>
              <a:tailEnd/>
            </a:ln>
          </p:spPr>
          <p:txBody>
            <a:bodyPr>
              <a:spAutoFit/>
            </a:bodyPr>
            <a:lstStyle/>
            <a:p>
              <a:pPr algn="l">
                <a:spcBef>
                  <a:spcPct val="50000"/>
                </a:spcBef>
              </a:pPr>
              <a:r>
                <a:rPr lang="bg-BG" sz="1800"/>
                <a:t>да</a:t>
              </a:r>
              <a:endParaRPr lang="en-US" sz="1800"/>
            </a:p>
          </p:txBody>
        </p:sp>
        <p:sp>
          <p:nvSpPr>
            <p:cNvPr id="37920" name="Text Box 1055"/>
            <p:cNvSpPr txBox="1">
              <a:spLocks noChangeArrowheads="1"/>
            </p:cNvSpPr>
            <p:nvPr/>
          </p:nvSpPr>
          <p:spPr bwMode="auto">
            <a:xfrm>
              <a:off x="2958" y="3119"/>
              <a:ext cx="287" cy="235"/>
            </a:xfrm>
            <a:prstGeom prst="rect">
              <a:avLst/>
            </a:prstGeom>
            <a:noFill/>
            <a:ln w="9525">
              <a:noFill/>
              <a:miter lim="800000"/>
              <a:headEnd/>
              <a:tailEnd/>
            </a:ln>
          </p:spPr>
          <p:txBody>
            <a:bodyPr>
              <a:spAutoFit/>
            </a:bodyPr>
            <a:lstStyle/>
            <a:p>
              <a:pPr algn="l">
                <a:spcBef>
                  <a:spcPct val="50000"/>
                </a:spcBef>
              </a:pPr>
              <a:r>
                <a:rPr lang="bg-BG" sz="1800"/>
                <a:t>да</a:t>
              </a:r>
              <a:endParaRPr lang="en-US" sz="1800"/>
            </a:p>
          </p:txBody>
        </p:sp>
        <p:sp>
          <p:nvSpPr>
            <p:cNvPr id="37921" name="Text Box 1056"/>
            <p:cNvSpPr txBox="1">
              <a:spLocks noChangeArrowheads="1"/>
            </p:cNvSpPr>
            <p:nvPr/>
          </p:nvSpPr>
          <p:spPr bwMode="auto">
            <a:xfrm>
              <a:off x="3208" y="2686"/>
              <a:ext cx="288" cy="236"/>
            </a:xfrm>
            <a:prstGeom prst="rect">
              <a:avLst/>
            </a:prstGeom>
            <a:noFill/>
            <a:ln w="9525">
              <a:noFill/>
              <a:miter lim="800000"/>
              <a:headEnd/>
              <a:tailEnd/>
            </a:ln>
          </p:spPr>
          <p:txBody>
            <a:bodyPr>
              <a:spAutoFit/>
            </a:bodyPr>
            <a:lstStyle/>
            <a:p>
              <a:pPr algn="l">
                <a:spcBef>
                  <a:spcPct val="50000"/>
                </a:spcBef>
              </a:pPr>
              <a:r>
                <a:rPr lang="bg-BG" sz="1800"/>
                <a:t>да</a:t>
              </a:r>
              <a:endParaRPr lang="en-US" sz="1800"/>
            </a:p>
          </p:txBody>
        </p:sp>
        <p:sp>
          <p:nvSpPr>
            <p:cNvPr id="37922" name="Text Box 1057"/>
            <p:cNvSpPr txBox="1">
              <a:spLocks noChangeArrowheads="1"/>
            </p:cNvSpPr>
            <p:nvPr/>
          </p:nvSpPr>
          <p:spPr bwMode="auto">
            <a:xfrm>
              <a:off x="1748" y="3072"/>
              <a:ext cx="288" cy="235"/>
            </a:xfrm>
            <a:prstGeom prst="rect">
              <a:avLst/>
            </a:prstGeom>
            <a:noFill/>
            <a:ln w="9525">
              <a:noFill/>
              <a:miter lim="800000"/>
              <a:headEnd/>
              <a:tailEnd/>
            </a:ln>
          </p:spPr>
          <p:txBody>
            <a:bodyPr>
              <a:spAutoFit/>
            </a:bodyPr>
            <a:lstStyle/>
            <a:p>
              <a:pPr algn="l">
                <a:spcBef>
                  <a:spcPct val="50000"/>
                </a:spcBef>
              </a:pPr>
              <a:r>
                <a:rPr lang="bg-BG" sz="1800"/>
                <a:t>да</a:t>
              </a:r>
              <a:endParaRPr lang="en-US" sz="1800"/>
            </a:p>
          </p:txBody>
        </p:sp>
        <p:sp>
          <p:nvSpPr>
            <p:cNvPr id="37923" name="Text Box 1058"/>
            <p:cNvSpPr txBox="1">
              <a:spLocks noChangeArrowheads="1"/>
            </p:cNvSpPr>
            <p:nvPr/>
          </p:nvSpPr>
          <p:spPr bwMode="auto">
            <a:xfrm>
              <a:off x="1346" y="2687"/>
              <a:ext cx="288" cy="236"/>
            </a:xfrm>
            <a:prstGeom prst="rect">
              <a:avLst/>
            </a:prstGeom>
            <a:noFill/>
            <a:ln w="9525">
              <a:noFill/>
              <a:miter lim="800000"/>
              <a:headEnd/>
              <a:tailEnd/>
            </a:ln>
          </p:spPr>
          <p:txBody>
            <a:bodyPr>
              <a:spAutoFit/>
            </a:bodyPr>
            <a:lstStyle/>
            <a:p>
              <a:pPr algn="l">
                <a:spcBef>
                  <a:spcPct val="50000"/>
                </a:spcBef>
              </a:pPr>
              <a:r>
                <a:rPr lang="bg-BG" sz="1800"/>
                <a:t>да</a:t>
              </a:r>
              <a:endParaRPr lang="en-US" sz="1800"/>
            </a:p>
          </p:txBody>
        </p:sp>
        <p:sp>
          <p:nvSpPr>
            <p:cNvPr id="37924" name="Text Box 1059"/>
            <p:cNvSpPr txBox="1">
              <a:spLocks noChangeArrowheads="1"/>
            </p:cNvSpPr>
            <p:nvPr/>
          </p:nvSpPr>
          <p:spPr bwMode="auto">
            <a:xfrm>
              <a:off x="3183" y="2314"/>
              <a:ext cx="287" cy="235"/>
            </a:xfrm>
            <a:prstGeom prst="rect">
              <a:avLst/>
            </a:prstGeom>
            <a:noFill/>
            <a:ln w="9525">
              <a:noFill/>
              <a:miter lim="800000"/>
              <a:headEnd/>
              <a:tailEnd/>
            </a:ln>
          </p:spPr>
          <p:txBody>
            <a:bodyPr>
              <a:spAutoFit/>
            </a:bodyPr>
            <a:lstStyle/>
            <a:p>
              <a:pPr algn="l">
                <a:spcBef>
                  <a:spcPct val="50000"/>
                </a:spcBef>
              </a:pPr>
              <a:r>
                <a:rPr lang="bg-BG" sz="1800"/>
                <a:t>не</a:t>
              </a:r>
              <a:endParaRPr lang="en-US" sz="1800"/>
            </a:p>
          </p:txBody>
        </p:sp>
        <p:sp>
          <p:nvSpPr>
            <p:cNvPr id="37925" name="Text Box 1060"/>
            <p:cNvSpPr txBox="1">
              <a:spLocks noChangeArrowheads="1"/>
            </p:cNvSpPr>
            <p:nvPr/>
          </p:nvSpPr>
          <p:spPr bwMode="auto">
            <a:xfrm>
              <a:off x="2368" y="3080"/>
              <a:ext cx="290" cy="236"/>
            </a:xfrm>
            <a:prstGeom prst="rect">
              <a:avLst/>
            </a:prstGeom>
            <a:noFill/>
            <a:ln w="9525">
              <a:noFill/>
              <a:miter lim="800000"/>
              <a:headEnd/>
              <a:tailEnd/>
            </a:ln>
          </p:spPr>
          <p:txBody>
            <a:bodyPr>
              <a:spAutoFit/>
            </a:bodyPr>
            <a:lstStyle/>
            <a:p>
              <a:pPr algn="l">
                <a:spcBef>
                  <a:spcPct val="50000"/>
                </a:spcBef>
              </a:pPr>
              <a:r>
                <a:rPr lang="bg-BG" sz="1800"/>
                <a:t>не</a:t>
              </a:r>
              <a:endParaRPr lang="en-US" sz="1800"/>
            </a:p>
          </p:txBody>
        </p:sp>
        <p:sp>
          <p:nvSpPr>
            <p:cNvPr id="37926" name="Text Box 1061"/>
            <p:cNvSpPr txBox="1">
              <a:spLocks noChangeArrowheads="1"/>
            </p:cNvSpPr>
            <p:nvPr/>
          </p:nvSpPr>
          <p:spPr bwMode="auto">
            <a:xfrm>
              <a:off x="4032" y="2687"/>
              <a:ext cx="288" cy="236"/>
            </a:xfrm>
            <a:prstGeom prst="rect">
              <a:avLst/>
            </a:prstGeom>
            <a:noFill/>
            <a:ln w="9525">
              <a:noFill/>
              <a:miter lim="800000"/>
              <a:headEnd/>
              <a:tailEnd/>
            </a:ln>
          </p:spPr>
          <p:txBody>
            <a:bodyPr>
              <a:spAutoFit/>
            </a:bodyPr>
            <a:lstStyle/>
            <a:p>
              <a:pPr algn="l">
                <a:spcBef>
                  <a:spcPct val="50000"/>
                </a:spcBef>
              </a:pPr>
              <a:r>
                <a:rPr lang="bg-BG" sz="1800"/>
                <a:t>не</a:t>
              </a:r>
              <a:endParaRPr lang="en-US" sz="1800"/>
            </a:p>
          </p:txBody>
        </p:sp>
        <p:sp>
          <p:nvSpPr>
            <p:cNvPr id="37927" name="Text Box 1062"/>
            <p:cNvSpPr txBox="1">
              <a:spLocks noChangeArrowheads="1"/>
            </p:cNvSpPr>
            <p:nvPr/>
          </p:nvSpPr>
          <p:spPr bwMode="auto">
            <a:xfrm>
              <a:off x="3659" y="3122"/>
              <a:ext cx="287" cy="235"/>
            </a:xfrm>
            <a:prstGeom prst="rect">
              <a:avLst/>
            </a:prstGeom>
            <a:noFill/>
            <a:ln w="9525">
              <a:noFill/>
              <a:miter lim="800000"/>
              <a:headEnd/>
              <a:tailEnd/>
            </a:ln>
          </p:spPr>
          <p:txBody>
            <a:bodyPr>
              <a:spAutoFit/>
            </a:bodyPr>
            <a:lstStyle/>
            <a:p>
              <a:pPr algn="l">
                <a:spcBef>
                  <a:spcPct val="50000"/>
                </a:spcBef>
              </a:pPr>
              <a:r>
                <a:rPr lang="bg-BG" sz="1800"/>
                <a:t>не</a:t>
              </a:r>
              <a:endParaRPr lang="en-US" sz="1800"/>
            </a:p>
          </p:txBody>
        </p:sp>
        <p:sp>
          <p:nvSpPr>
            <p:cNvPr id="37928" name="Text Box 1063"/>
            <p:cNvSpPr txBox="1">
              <a:spLocks noChangeArrowheads="1"/>
            </p:cNvSpPr>
            <p:nvPr/>
          </p:nvSpPr>
          <p:spPr bwMode="auto">
            <a:xfrm>
              <a:off x="2124" y="2687"/>
              <a:ext cx="289" cy="236"/>
            </a:xfrm>
            <a:prstGeom prst="rect">
              <a:avLst/>
            </a:prstGeom>
            <a:noFill/>
            <a:ln w="9525">
              <a:noFill/>
              <a:miter lim="800000"/>
              <a:headEnd/>
              <a:tailEnd/>
            </a:ln>
          </p:spPr>
          <p:txBody>
            <a:bodyPr>
              <a:spAutoFit/>
            </a:bodyPr>
            <a:lstStyle/>
            <a:p>
              <a:pPr algn="l">
                <a:spcBef>
                  <a:spcPct val="50000"/>
                </a:spcBef>
              </a:pPr>
              <a:r>
                <a:rPr lang="bg-BG" sz="1800"/>
                <a:t>не</a:t>
              </a:r>
              <a:endParaRPr lang="en-US" sz="1800"/>
            </a:p>
          </p:txBody>
        </p:sp>
        <p:sp>
          <p:nvSpPr>
            <p:cNvPr id="37929" name="Text Box 1064"/>
            <p:cNvSpPr txBox="1">
              <a:spLocks noChangeArrowheads="1"/>
            </p:cNvSpPr>
            <p:nvPr/>
          </p:nvSpPr>
          <p:spPr bwMode="auto">
            <a:xfrm>
              <a:off x="1104" y="2890"/>
              <a:ext cx="624" cy="255"/>
            </a:xfrm>
            <a:prstGeom prst="rect">
              <a:avLst/>
            </a:prstGeom>
            <a:noFill/>
            <a:ln w="9525">
              <a:noFill/>
              <a:miter lim="800000"/>
              <a:headEnd/>
              <a:tailEnd/>
            </a:ln>
          </p:spPr>
          <p:txBody>
            <a:bodyPr>
              <a:spAutoFit/>
            </a:bodyPr>
            <a:lstStyle/>
            <a:p>
              <a:pPr algn="l">
                <a:spcBef>
                  <a:spcPct val="50000"/>
                </a:spcBef>
              </a:pPr>
              <a:r>
                <a:rPr lang="en-US" sz="2000" b="1" i="1"/>
                <a:t>a&lt;b&lt;c</a:t>
              </a:r>
              <a:endParaRPr lang="en-US" sz="1800"/>
            </a:p>
          </p:txBody>
        </p:sp>
        <p:sp>
          <p:nvSpPr>
            <p:cNvPr id="37930" name="Text Box 1065"/>
            <p:cNvSpPr txBox="1">
              <a:spLocks noChangeArrowheads="1"/>
            </p:cNvSpPr>
            <p:nvPr/>
          </p:nvSpPr>
          <p:spPr bwMode="auto">
            <a:xfrm>
              <a:off x="1454" y="3313"/>
              <a:ext cx="749" cy="255"/>
            </a:xfrm>
            <a:prstGeom prst="rect">
              <a:avLst/>
            </a:prstGeom>
            <a:noFill/>
            <a:ln w="9525">
              <a:noFill/>
              <a:miter lim="800000"/>
              <a:headEnd/>
              <a:tailEnd/>
            </a:ln>
          </p:spPr>
          <p:txBody>
            <a:bodyPr>
              <a:spAutoFit/>
            </a:bodyPr>
            <a:lstStyle/>
            <a:p>
              <a:pPr algn="l">
                <a:spcBef>
                  <a:spcPct val="50000"/>
                </a:spcBef>
              </a:pPr>
              <a:r>
                <a:rPr lang="en-US" sz="2000" b="1" i="1"/>
                <a:t>a&lt;c&lt;=b</a:t>
              </a:r>
              <a:endParaRPr lang="en-US" sz="1800"/>
            </a:p>
          </p:txBody>
        </p:sp>
        <p:sp>
          <p:nvSpPr>
            <p:cNvPr id="37931" name="Text Box 1066"/>
            <p:cNvSpPr txBox="1">
              <a:spLocks noChangeArrowheads="1"/>
            </p:cNvSpPr>
            <p:nvPr/>
          </p:nvSpPr>
          <p:spPr bwMode="auto">
            <a:xfrm>
              <a:off x="2120" y="3320"/>
              <a:ext cx="624" cy="255"/>
            </a:xfrm>
            <a:prstGeom prst="rect">
              <a:avLst/>
            </a:prstGeom>
            <a:noFill/>
            <a:ln w="9525">
              <a:noFill/>
              <a:miter lim="800000"/>
              <a:headEnd/>
              <a:tailEnd/>
            </a:ln>
          </p:spPr>
          <p:txBody>
            <a:bodyPr>
              <a:spAutoFit/>
            </a:bodyPr>
            <a:lstStyle/>
            <a:p>
              <a:pPr algn="l">
                <a:spcBef>
                  <a:spcPct val="50000"/>
                </a:spcBef>
              </a:pPr>
              <a:r>
                <a:rPr lang="en-US" sz="2000" b="1" i="1"/>
                <a:t>c&lt;=a&lt;b</a:t>
              </a:r>
              <a:endParaRPr lang="en-US" sz="1800"/>
            </a:p>
          </p:txBody>
        </p:sp>
        <p:sp>
          <p:nvSpPr>
            <p:cNvPr id="37932" name="Text Box 1067"/>
            <p:cNvSpPr txBox="1">
              <a:spLocks noChangeArrowheads="1"/>
            </p:cNvSpPr>
            <p:nvPr/>
          </p:nvSpPr>
          <p:spPr bwMode="auto">
            <a:xfrm>
              <a:off x="2884" y="3320"/>
              <a:ext cx="625" cy="255"/>
            </a:xfrm>
            <a:prstGeom prst="rect">
              <a:avLst/>
            </a:prstGeom>
            <a:noFill/>
            <a:ln w="9525">
              <a:noFill/>
              <a:miter lim="800000"/>
              <a:headEnd/>
              <a:tailEnd/>
            </a:ln>
          </p:spPr>
          <p:txBody>
            <a:bodyPr>
              <a:spAutoFit/>
            </a:bodyPr>
            <a:lstStyle/>
            <a:p>
              <a:pPr algn="l">
                <a:spcBef>
                  <a:spcPct val="50000"/>
                </a:spcBef>
              </a:pPr>
              <a:r>
                <a:rPr lang="en-US" sz="2000" b="1" i="1"/>
                <a:t>b&lt;=a&lt;c</a:t>
              </a:r>
              <a:endParaRPr lang="en-US" sz="1800"/>
            </a:p>
          </p:txBody>
        </p:sp>
        <p:sp>
          <p:nvSpPr>
            <p:cNvPr id="37933" name="Text Box 1068"/>
            <p:cNvSpPr txBox="1">
              <a:spLocks noChangeArrowheads="1"/>
            </p:cNvSpPr>
            <p:nvPr/>
          </p:nvSpPr>
          <p:spPr bwMode="auto">
            <a:xfrm>
              <a:off x="3556" y="3330"/>
              <a:ext cx="671" cy="255"/>
            </a:xfrm>
            <a:prstGeom prst="rect">
              <a:avLst/>
            </a:prstGeom>
            <a:noFill/>
            <a:ln w="9525">
              <a:noFill/>
              <a:miter lim="800000"/>
              <a:headEnd/>
              <a:tailEnd/>
            </a:ln>
          </p:spPr>
          <p:txBody>
            <a:bodyPr>
              <a:spAutoFit/>
            </a:bodyPr>
            <a:lstStyle/>
            <a:p>
              <a:pPr algn="l">
                <a:spcBef>
                  <a:spcPct val="50000"/>
                </a:spcBef>
              </a:pPr>
              <a:r>
                <a:rPr lang="en-US" sz="2000" b="1" i="1"/>
                <a:t>b&lt;=c&lt;a</a:t>
              </a:r>
              <a:endParaRPr lang="en-US" sz="1800"/>
            </a:p>
          </p:txBody>
        </p:sp>
        <p:sp>
          <p:nvSpPr>
            <p:cNvPr id="37934" name="Text Box 1069"/>
            <p:cNvSpPr txBox="1">
              <a:spLocks noChangeArrowheads="1"/>
            </p:cNvSpPr>
            <p:nvPr/>
          </p:nvSpPr>
          <p:spPr bwMode="auto">
            <a:xfrm>
              <a:off x="4002" y="2891"/>
              <a:ext cx="816" cy="255"/>
            </a:xfrm>
            <a:prstGeom prst="rect">
              <a:avLst/>
            </a:prstGeom>
            <a:noFill/>
            <a:ln w="9525">
              <a:noFill/>
              <a:miter lim="800000"/>
              <a:headEnd/>
              <a:tailEnd/>
            </a:ln>
          </p:spPr>
          <p:txBody>
            <a:bodyPr>
              <a:spAutoFit/>
            </a:bodyPr>
            <a:lstStyle/>
            <a:p>
              <a:pPr algn="l">
                <a:spcBef>
                  <a:spcPct val="50000"/>
                </a:spcBef>
              </a:pPr>
              <a:r>
                <a:rPr lang="en-US" sz="2000" b="1" i="1"/>
                <a:t>c&lt;=b&lt;=a</a:t>
              </a:r>
              <a:endParaRPr lang="en-US" sz="1800"/>
            </a:p>
          </p:txBody>
        </p:sp>
      </p:grpSp>
      <p:sp>
        <p:nvSpPr>
          <p:cNvPr id="48" name="Slide Number Placeholder 47"/>
          <p:cNvSpPr>
            <a:spLocks noGrp="1"/>
          </p:cNvSpPr>
          <p:nvPr>
            <p:ph type="sldNum" sz="quarter" idx="12"/>
          </p:nvPr>
        </p:nvSpPr>
        <p:spPr/>
        <p:txBody>
          <a:bodyPr/>
          <a:lstStyle/>
          <a:p>
            <a:pPr>
              <a:defRPr/>
            </a:pPr>
            <a:fld id="{E146CBD1-1F41-4E4A-BA17-9E9CCB2F24FA}" type="slidenum">
              <a:rPr lang="en-US"/>
              <a:pPr>
                <a:defRPr/>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042988" y="-142875"/>
            <a:ext cx="7954962" cy="6400800"/>
          </a:xfrm>
        </p:spPr>
        <p:txBody>
          <a:bodyPr/>
          <a:lstStyle/>
          <a:p>
            <a:pPr eaLnBrk="1" fontAlgn="auto" hangingPunct="1">
              <a:spcAft>
                <a:spcPts val="0"/>
              </a:spcAft>
              <a:defRPr/>
            </a:pPr>
            <a:r>
              <a:rPr lang="en-US" sz="2000">
                <a:solidFill>
                  <a:schemeClr val="tx2">
                    <a:satMod val="130000"/>
                  </a:schemeClr>
                </a:solidFill>
              </a:rPr>
              <a:t>	</a:t>
            </a:r>
            <a:r>
              <a:rPr lang="bg-BG" sz="2000">
                <a:solidFill>
                  <a:schemeClr val="tx1"/>
                </a:solidFill>
              </a:rPr>
              <a:t>Можем да изградим дърво на сравненията, използвайки механизма на </a:t>
            </a:r>
            <a:r>
              <a:rPr lang="bg-BG" sz="2000" i="1">
                <a:solidFill>
                  <a:schemeClr val="tx1"/>
                </a:solidFill>
              </a:rPr>
              <a:t>турнира с елиминиране</a:t>
            </a:r>
            <a:r>
              <a:rPr lang="bg-BG" sz="2000">
                <a:solidFill>
                  <a:schemeClr val="tx1"/>
                </a:solidFill>
              </a:rPr>
              <a:t>, построяващ дървото на сравненията от листата към корена. В първия кръг на турнира се играят срещите: </a:t>
            </a:r>
            <a:r>
              <a:rPr lang="en-US" sz="2000" b="1" i="1">
                <a:solidFill>
                  <a:schemeClr val="tx1"/>
                </a:solidFill>
              </a:rPr>
              <a:t>x</a:t>
            </a:r>
            <a:r>
              <a:rPr lang="en-US" sz="2000" b="1" i="1" baseline="-25000">
                <a:solidFill>
                  <a:schemeClr val="tx1"/>
                </a:solidFill>
              </a:rPr>
              <a:t>1</a:t>
            </a:r>
            <a:r>
              <a:rPr lang="en-US" sz="2000" b="1" i="1">
                <a:solidFill>
                  <a:schemeClr val="tx1"/>
                </a:solidFill>
              </a:rPr>
              <a:t>:x</a:t>
            </a:r>
            <a:r>
              <a:rPr lang="en-US" sz="2000" b="1" i="1" baseline="-25000">
                <a:solidFill>
                  <a:schemeClr val="tx1"/>
                </a:solidFill>
              </a:rPr>
              <a:t>2</a:t>
            </a:r>
            <a:r>
              <a:rPr lang="en-US" sz="2000" b="1" i="1">
                <a:solidFill>
                  <a:schemeClr val="tx1"/>
                </a:solidFill>
              </a:rPr>
              <a:t>,</a:t>
            </a:r>
            <a:r>
              <a:rPr lang="en-US" sz="2000">
                <a:solidFill>
                  <a:schemeClr val="tx1"/>
                </a:solidFill>
              </a:rPr>
              <a:t> </a:t>
            </a:r>
            <a:r>
              <a:rPr lang="en-US" sz="2000" b="1" i="1">
                <a:solidFill>
                  <a:schemeClr val="tx1"/>
                </a:solidFill>
              </a:rPr>
              <a:t>x</a:t>
            </a:r>
            <a:r>
              <a:rPr lang="en-US" sz="2000" b="1" i="1" baseline="-25000">
                <a:solidFill>
                  <a:schemeClr val="tx1"/>
                </a:solidFill>
              </a:rPr>
              <a:t>3</a:t>
            </a:r>
            <a:r>
              <a:rPr lang="en-US" sz="2000" b="1" i="1">
                <a:solidFill>
                  <a:schemeClr val="tx1"/>
                </a:solidFill>
              </a:rPr>
              <a:t>:x</a:t>
            </a:r>
            <a:r>
              <a:rPr lang="en-US" sz="2000" b="1" i="1" baseline="-25000">
                <a:solidFill>
                  <a:schemeClr val="tx1"/>
                </a:solidFill>
              </a:rPr>
              <a:t>4 </a:t>
            </a:r>
            <a:r>
              <a:rPr lang="en-US" sz="2000" b="1" i="1">
                <a:solidFill>
                  <a:schemeClr val="tx1"/>
                </a:solidFill>
              </a:rPr>
              <a:t>,…,</a:t>
            </a:r>
            <a:r>
              <a:rPr lang="en-US" sz="2000" b="1" i="1" baseline="-25000">
                <a:solidFill>
                  <a:schemeClr val="tx1"/>
                </a:solidFill>
              </a:rPr>
              <a:t> </a:t>
            </a:r>
            <a:r>
              <a:rPr lang="bg-BG" sz="2000" b="1" i="1" baseline="-25000">
                <a:solidFill>
                  <a:schemeClr val="tx1"/>
                </a:solidFill>
              </a:rPr>
              <a:t> </a:t>
            </a:r>
            <a:r>
              <a:rPr lang="en-US" sz="2000" b="1" i="1">
                <a:solidFill>
                  <a:schemeClr val="tx1"/>
                </a:solidFill>
              </a:rPr>
              <a:t>x</a:t>
            </a:r>
            <a:r>
              <a:rPr lang="en-US" sz="2000" b="1" i="1" baseline="-25000">
                <a:solidFill>
                  <a:schemeClr val="tx1"/>
                </a:solidFill>
              </a:rPr>
              <a:t>n-1</a:t>
            </a:r>
            <a:r>
              <a:rPr lang="en-US" sz="2000" b="1" i="1">
                <a:solidFill>
                  <a:schemeClr val="tx1"/>
                </a:solidFill>
              </a:rPr>
              <a:t>:x</a:t>
            </a:r>
            <a:r>
              <a:rPr lang="en-US" sz="2000" b="1" i="1" baseline="-25000">
                <a:solidFill>
                  <a:schemeClr val="tx1"/>
                </a:solidFill>
              </a:rPr>
              <a:t>n</a:t>
            </a:r>
            <a:r>
              <a:rPr lang="en-US" sz="2000">
                <a:solidFill>
                  <a:schemeClr val="tx1"/>
                </a:solidFill>
              </a:rPr>
              <a:t>.</a:t>
            </a:r>
            <a:r>
              <a:rPr lang="en-US" sz="2000" b="1" i="1">
                <a:solidFill>
                  <a:schemeClr val="tx1"/>
                </a:solidFill>
              </a:rPr>
              <a:t> </a:t>
            </a:r>
            <a:r>
              <a:rPr lang="bg-BG" sz="2000">
                <a:solidFill>
                  <a:schemeClr val="tx1"/>
                </a:solidFill>
              </a:rPr>
              <a:t>Във втория кръг играят двойки победители от предишния кръг и т. н. На финала се срещат двама участници и определят шампиона на турнира</a:t>
            </a:r>
            <a:r>
              <a:rPr lang="en-US" sz="2000" b="1" i="1" baseline="-25000">
                <a:solidFill>
                  <a:schemeClr val="tx1"/>
                </a:solidFill>
              </a:rPr>
              <a:t> </a:t>
            </a:r>
            <a:r>
              <a:rPr lang="en-US" sz="2000">
                <a:solidFill>
                  <a:schemeClr val="tx1"/>
                </a:solidFill>
              </a:rPr>
              <a:t>.</a:t>
            </a:r>
            <a:r>
              <a:rPr lang="bg-BG" sz="2000">
                <a:solidFill>
                  <a:schemeClr val="tx1"/>
                </a:solidFill>
              </a:rPr>
              <a:t> В случай, че в </a:t>
            </a:r>
            <a:r>
              <a:rPr lang="en-US" sz="2000" b="1" i="1">
                <a:solidFill>
                  <a:schemeClr val="tx1"/>
                </a:solidFill>
              </a:rPr>
              <a:t>i</a:t>
            </a:r>
            <a:r>
              <a:rPr lang="bg-BG" sz="2000" b="1" i="1">
                <a:solidFill>
                  <a:schemeClr val="tx1"/>
                </a:solidFill>
              </a:rPr>
              <a:t>-</a:t>
            </a:r>
            <a:r>
              <a:rPr lang="bg-BG" sz="2000">
                <a:solidFill>
                  <a:schemeClr val="tx1"/>
                </a:solidFill>
              </a:rPr>
              <a:t>ия кръг на турнира броят на участниците е нечетен (а това ще се случи поне веднъж, ако </a:t>
            </a:r>
            <a:r>
              <a:rPr lang="en-US" sz="2000" b="1" i="1">
                <a:solidFill>
                  <a:schemeClr val="tx1"/>
                </a:solidFill>
              </a:rPr>
              <a:t>n</a:t>
            </a:r>
            <a:r>
              <a:rPr lang="bg-BG" sz="2000">
                <a:solidFill>
                  <a:schemeClr val="tx1"/>
                </a:solidFill>
              </a:rPr>
              <a:t> не е степен на 2), то един от играчите почива, като автоматично се класира за следващия кръг. Използвайки посочената стратегия за определяне на минималния елемент на масива получаваме следното: в първия кръг на турнира с </a:t>
            </a:r>
            <a:r>
              <a:rPr lang="en-US" sz="2000" b="1" i="1">
                <a:solidFill>
                  <a:schemeClr val="tx1"/>
                </a:solidFill>
              </a:rPr>
              <a:t>n/2</a:t>
            </a:r>
            <a:r>
              <a:rPr lang="en-US" sz="2000">
                <a:solidFill>
                  <a:schemeClr val="tx1"/>
                </a:solidFill>
              </a:rPr>
              <a:t> </a:t>
            </a:r>
            <a:r>
              <a:rPr lang="bg-BG" sz="2000">
                <a:solidFill>
                  <a:schemeClr val="tx1"/>
                </a:solidFill>
              </a:rPr>
              <a:t>сравнения се определя минималния елемент за всяка двойка, с още</a:t>
            </a:r>
            <a:r>
              <a:rPr lang="en-US" sz="2000">
                <a:solidFill>
                  <a:schemeClr val="tx1"/>
                </a:solidFill>
              </a:rPr>
              <a:t> </a:t>
            </a:r>
            <a:r>
              <a:rPr lang="en-US" sz="2000" b="1" i="1">
                <a:solidFill>
                  <a:schemeClr val="tx1"/>
                </a:solidFill>
              </a:rPr>
              <a:t>n/4</a:t>
            </a:r>
            <a:r>
              <a:rPr lang="bg-BG" sz="2000">
                <a:solidFill>
                  <a:schemeClr val="tx1"/>
                </a:solidFill>
              </a:rPr>
              <a:t> сравнения се определя минималния елемент между две двойки (т. е. 4 елемента) и т. н.</a:t>
            </a:r>
            <a:br>
              <a:rPr lang="bg-BG" sz="2000">
                <a:solidFill>
                  <a:schemeClr val="tx1"/>
                </a:solidFill>
              </a:rPr>
            </a:br>
            <a:r>
              <a:rPr lang="bg-BG" sz="2000">
                <a:solidFill>
                  <a:schemeClr val="tx1"/>
                </a:solidFill>
              </a:rPr>
              <a:t>	Изложеният алгоритъм построява дървото на турнира, т. е. определя минималния елемент на масива с точно </a:t>
            </a:r>
            <a:r>
              <a:rPr lang="bg-BG" sz="2000" b="1" i="1">
                <a:solidFill>
                  <a:schemeClr val="tx1"/>
                </a:solidFill>
              </a:rPr>
              <a:t>n-1</a:t>
            </a:r>
            <a:r>
              <a:rPr lang="bg-BG" sz="2000">
                <a:solidFill>
                  <a:schemeClr val="tx1"/>
                </a:solidFill>
              </a:rPr>
              <a:t> сравнения:</a:t>
            </a:r>
            <a:br>
              <a:rPr lang="bg-BG" sz="2000">
                <a:solidFill>
                  <a:schemeClr val="tx1"/>
                </a:solidFill>
              </a:rPr>
            </a:br>
            <a:r>
              <a:rPr lang="en-US" sz="2000" b="1" i="1">
                <a:solidFill>
                  <a:schemeClr val="tx1"/>
                </a:solidFill>
              </a:rPr>
              <a:t>n</a:t>
            </a:r>
            <a:r>
              <a:rPr lang="en-US" sz="2000">
                <a:solidFill>
                  <a:schemeClr val="tx1"/>
                </a:solidFill>
              </a:rPr>
              <a:t>=8   </a:t>
            </a:r>
            <a:r>
              <a:rPr lang="bg-BG" sz="2000" b="1" i="1">
                <a:solidFill>
                  <a:schemeClr val="tx1"/>
                </a:solidFill>
              </a:rPr>
              <a:t>a</a:t>
            </a:r>
            <a:r>
              <a:rPr lang="en-US" sz="2000">
                <a:solidFill>
                  <a:schemeClr val="tx1"/>
                </a:solidFill>
              </a:rPr>
              <a:t>={</a:t>
            </a:r>
            <a:r>
              <a:rPr lang="bg-BG" sz="2000">
                <a:solidFill>
                  <a:schemeClr val="tx1"/>
                </a:solidFill>
              </a:rPr>
              <a:t>15, 17, 3, 8, 9, 1, 18, 5</a:t>
            </a:r>
            <a:r>
              <a:rPr lang="en-US" sz="2000">
                <a:solidFill>
                  <a:schemeClr val="tx1"/>
                </a:solidFill>
              </a:rPr>
              <a:t>}</a:t>
            </a: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t>
            </a:r>
            <a:endParaRPr lang="en-US" sz="2000">
              <a:solidFill>
                <a:schemeClr val="tx2">
                  <a:satMod val="130000"/>
                </a:schemeClr>
              </a:solidFill>
            </a:endParaRPr>
          </a:p>
        </p:txBody>
      </p:sp>
      <p:grpSp>
        <p:nvGrpSpPr>
          <p:cNvPr id="38915" name="Group 75"/>
          <p:cNvGrpSpPr>
            <a:grpSpLocks/>
          </p:cNvGrpSpPr>
          <p:nvPr/>
        </p:nvGrpSpPr>
        <p:grpSpPr bwMode="auto">
          <a:xfrm>
            <a:off x="1412875" y="4972050"/>
            <a:ext cx="7334250" cy="1876425"/>
            <a:chOff x="856" y="2984"/>
            <a:chExt cx="4620" cy="1182"/>
          </a:xfrm>
        </p:grpSpPr>
        <p:sp>
          <p:nvSpPr>
            <p:cNvPr id="38917" name="Rectangle 22"/>
            <p:cNvSpPr>
              <a:spLocks noChangeArrowheads="1"/>
            </p:cNvSpPr>
            <p:nvPr/>
          </p:nvSpPr>
          <p:spPr bwMode="auto">
            <a:xfrm>
              <a:off x="856" y="3934"/>
              <a:ext cx="480" cy="192"/>
            </a:xfrm>
            <a:prstGeom prst="rect">
              <a:avLst/>
            </a:prstGeom>
            <a:noFill/>
            <a:ln w="9525">
              <a:solidFill>
                <a:schemeClr val="tx1"/>
              </a:solidFill>
              <a:miter lim="800000"/>
              <a:headEnd/>
              <a:tailEnd/>
            </a:ln>
          </p:spPr>
          <p:txBody>
            <a:bodyPr wrap="none" anchor="ctr"/>
            <a:lstStyle/>
            <a:p>
              <a:endParaRPr lang="bg-BG"/>
            </a:p>
          </p:txBody>
        </p:sp>
        <p:sp>
          <p:nvSpPr>
            <p:cNvPr id="38918" name="Text Box 23"/>
            <p:cNvSpPr txBox="1">
              <a:spLocks noChangeArrowheads="1"/>
            </p:cNvSpPr>
            <p:nvPr/>
          </p:nvSpPr>
          <p:spPr bwMode="auto">
            <a:xfrm>
              <a:off x="954" y="3904"/>
              <a:ext cx="294" cy="250"/>
            </a:xfrm>
            <a:prstGeom prst="rect">
              <a:avLst/>
            </a:prstGeom>
            <a:noFill/>
            <a:ln w="9525">
              <a:noFill/>
              <a:miter lim="800000"/>
              <a:headEnd/>
              <a:tailEnd/>
            </a:ln>
          </p:spPr>
          <p:txBody>
            <a:bodyPr>
              <a:spAutoFit/>
            </a:bodyPr>
            <a:lstStyle/>
            <a:p>
              <a:pPr algn="l">
                <a:spcBef>
                  <a:spcPct val="50000"/>
                </a:spcBef>
              </a:pPr>
              <a:r>
                <a:rPr lang="en-US" sz="2000"/>
                <a:t>1</a:t>
              </a:r>
              <a:r>
                <a:rPr lang="bg-BG" sz="2000"/>
                <a:t>5</a:t>
              </a:r>
              <a:endParaRPr lang="en-US"/>
            </a:p>
          </p:txBody>
        </p:sp>
        <p:sp>
          <p:nvSpPr>
            <p:cNvPr id="38919" name="Rectangle 24"/>
            <p:cNvSpPr>
              <a:spLocks noChangeArrowheads="1"/>
            </p:cNvSpPr>
            <p:nvPr/>
          </p:nvSpPr>
          <p:spPr bwMode="auto">
            <a:xfrm>
              <a:off x="2626" y="3934"/>
              <a:ext cx="480" cy="192"/>
            </a:xfrm>
            <a:prstGeom prst="rect">
              <a:avLst/>
            </a:prstGeom>
            <a:noFill/>
            <a:ln w="9525">
              <a:solidFill>
                <a:schemeClr val="tx1"/>
              </a:solidFill>
              <a:miter lim="800000"/>
              <a:headEnd/>
              <a:tailEnd/>
            </a:ln>
          </p:spPr>
          <p:txBody>
            <a:bodyPr wrap="none" anchor="ctr"/>
            <a:lstStyle/>
            <a:p>
              <a:endParaRPr lang="bg-BG"/>
            </a:p>
          </p:txBody>
        </p:sp>
        <p:sp>
          <p:nvSpPr>
            <p:cNvPr id="38920" name="Rectangle 25"/>
            <p:cNvSpPr>
              <a:spLocks noChangeArrowheads="1"/>
            </p:cNvSpPr>
            <p:nvPr/>
          </p:nvSpPr>
          <p:spPr bwMode="auto">
            <a:xfrm>
              <a:off x="3222" y="3934"/>
              <a:ext cx="480" cy="192"/>
            </a:xfrm>
            <a:prstGeom prst="rect">
              <a:avLst/>
            </a:prstGeom>
            <a:noFill/>
            <a:ln w="9525">
              <a:solidFill>
                <a:schemeClr val="tx1"/>
              </a:solidFill>
              <a:miter lim="800000"/>
              <a:headEnd/>
              <a:tailEnd/>
            </a:ln>
          </p:spPr>
          <p:txBody>
            <a:bodyPr wrap="none" anchor="ctr"/>
            <a:lstStyle/>
            <a:p>
              <a:endParaRPr lang="bg-BG"/>
            </a:p>
          </p:txBody>
        </p:sp>
        <p:sp>
          <p:nvSpPr>
            <p:cNvPr id="38921" name="Rectangle 26"/>
            <p:cNvSpPr>
              <a:spLocks noChangeArrowheads="1"/>
            </p:cNvSpPr>
            <p:nvPr/>
          </p:nvSpPr>
          <p:spPr bwMode="auto">
            <a:xfrm>
              <a:off x="3806" y="3934"/>
              <a:ext cx="480" cy="192"/>
            </a:xfrm>
            <a:prstGeom prst="rect">
              <a:avLst/>
            </a:prstGeom>
            <a:noFill/>
            <a:ln w="9525">
              <a:solidFill>
                <a:schemeClr val="tx1"/>
              </a:solidFill>
              <a:miter lim="800000"/>
              <a:headEnd/>
              <a:tailEnd/>
            </a:ln>
          </p:spPr>
          <p:txBody>
            <a:bodyPr wrap="none" anchor="ctr"/>
            <a:lstStyle/>
            <a:p>
              <a:endParaRPr lang="bg-BG"/>
            </a:p>
          </p:txBody>
        </p:sp>
        <p:sp>
          <p:nvSpPr>
            <p:cNvPr id="38922" name="Rectangle 27"/>
            <p:cNvSpPr>
              <a:spLocks noChangeArrowheads="1"/>
            </p:cNvSpPr>
            <p:nvPr/>
          </p:nvSpPr>
          <p:spPr bwMode="auto">
            <a:xfrm>
              <a:off x="4400" y="3934"/>
              <a:ext cx="480" cy="192"/>
            </a:xfrm>
            <a:prstGeom prst="rect">
              <a:avLst/>
            </a:prstGeom>
            <a:noFill/>
            <a:ln w="9525">
              <a:solidFill>
                <a:schemeClr val="tx1"/>
              </a:solidFill>
              <a:miter lim="800000"/>
              <a:headEnd/>
              <a:tailEnd/>
            </a:ln>
          </p:spPr>
          <p:txBody>
            <a:bodyPr wrap="none" anchor="ctr"/>
            <a:lstStyle/>
            <a:p>
              <a:endParaRPr lang="bg-BG"/>
            </a:p>
          </p:txBody>
        </p:sp>
        <p:sp>
          <p:nvSpPr>
            <p:cNvPr id="38923" name="Rectangle 28"/>
            <p:cNvSpPr>
              <a:spLocks noChangeArrowheads="1"/>
            </p:cNvSpPr>
            <p:nvPr/>
          </p:nvSpPr>
          <p:spPr bwMode="auto">
            <a:xfrm>
              <a:off x="4996" y="3934"/>
              <a:ext cx="480" cy="192"/>
            </a:xfrm>
            <a:prstGeom prst="rect">
              <a:avLst/>
            </a:prstGeom>
            <a:noFill/>
            <a:ln w="9525">
              <a:solidFill>
                <a:schemeClr val="tx1"/>
              </a:solidFill>
              <a:miter lim="800000"/>
              <a:headEnd/>
              <a:tailEnd/>
            </a:ln>
          </p:spPr>
          <p:txBody>
            <a:bodyPr wrap="none" anchor="ctr"/>
            <a:lstStyle/>
            <a:p>
              <a:endParaRPr lang="bg-BG"/>
            </a:p>
          </p:txBody>
        </p:sp>
        <p:sp>
          <p:nvSpPr>
            <p:cNvPr id="38924" name="Rectangle 29"/>
            <p:cNvSpPr>
              <a:spLocks noChangeArrowheads="1"/>
            </p:cNvSpPr>
            <p:nvPr/>
          </p:nvSpPr>
          <p:spPr bwMode="auto">
            <a:xfrm>
              <a:off x="1452" y="3934"/>
              <a:ext cx="480" cy="192"/>
            </a:xfrm>
            <a:prstGeom prst="rect">
              <a:avLst/>
            </a:prstGeom>
            <a:noFill/>
            <a:ln w="9525">
              <a:solidFill>
                <a:schemeClr val="tx1"/>
              </a:solidFill>
              <a:miter lim="800000"/>
              <a:headEnd/>
              <a:tailEnd/>
            </a:ln>
          </p:spPr>
          <p:txBody>
            <a:bodyPr wrap="none" anchor="ctr"/>
            <a:lstStyle/>
            <a:p>
              <a:endParaRPr lang="bg-BG"/>
            </a:p>
          </p:txBody>
        </p:sp>
        <p:sp>
          <p:nvSpPr>
            <p:cNvPr id="38925" name="Rectangle 30"/>
            <p:cNvSpPr>
              <a:spLocks noChangeArrowheads="1"/>
            </p:cNvSpPr>
            <p:nvPr/>
          </p:nvSpPr>
          <p:spPr bwMode="auto">
            <a:xfrm>
              <a:off x="2044" y="3934"/>
              <a:ext cx="480" cy="192"/>
            </a:xfrm>
            <a:prstGeom prst="rect">
              <a:avLst/>
            </a:prstGeom>
            <a:noFill/>
            <a:ln w="9525">
              <a:solidFill>
                <a:schemeClr val="tx1"/>
              </a:solidFill>
              <a:miter lim="800000"/>
              <a:headEnd/>
              <a:tailEnd/>
            </a:ln>
          </p:spPr>
          <p:txBody>
            <a:bodyPr wrap="none" anchor="ctr"/>
            <a:lstStyle/>
            <a:p>
              <a:endParaRPr lang="bg-BG"/>
            </a:p>
          </p:txBody>
        </p:sp>
        <p:sp>
          <p:nvSpPr>
            <p:cNvPr id="38926" name="Rectangle 32"/>
            <p:cNvSpPr>
              <a:spLocks noChangeArrowheads="1"/>
            </p:cNvSpPr>
            <p:nvPr/>
          </p:nvSpPr>
          <p:spPr bwMode="auto">
            <a:xfrm>
              <a:off x="4080" y="3310"/>
              <a:ext cx="480" cy="192"/>
            </a:xfrm>
            <a:prstGeom prst="rect">
              <a:avLst/>
            </a:prstGeom>
            <a:noFill/>
            <a:ln w="9525">
              <a:solidFill>
                <a:schemeClr val="tx1"/>
              </a:solidFill>
              <a:miter lim="800000"/>
              <a:headEnd/>
              <a:tailEnd/>
            </a:ln>
          </p:spPr>
          <p:txBody>
            <a:bodyPr wrap="none" anchor="ctr"/>
            <a:lstStyle/>
            <a:p>
              <a:endParaRPr lang="bg-BG"/>
            </a:p>
          </p:txBody>
        </p:sp>
        <p:sp>
          <p:nvSpPr>
            <p:cNvPr id="38927" name="Rectangle 33"/>
            <p:cNvSpPr>
              <a:spLocks noChangeArrowheads="1"/>
            </p:cNvSpPr>
            <p:nvPr/>
          </p:nvSpPr>
          <p:spPr bwMode="auto">
            <a:xfrm>
              <a:off x="2352" y="3598"/>
              <a:ext cx="480" cy="192"/>
            </a:xfrm>
            <a:prstGeom prst="rect">
              <a:avLst/>
            </a:prstGeom>
            <a:noFill/>
            <a:ln w="9525">
              <a:solidFill>
                <a:schemeClr val="tx1"/>
              </a:solidFill>
              <a:miter lim="800000"/>
              <a:headEnd/>
              <a:tailEnd/>
            </a:ln>
          </p:spPr>
          <p:txBody>
            <a:bodyPr wrap="none" anchor="ctr"/>
            <a:lstStyle/>
            <a:p>
              <a:endParaRPr lang="bg-BG"/>
            </a:p>
          </p:txBody>
        </p:sp>
        <p:sp>
          <p:nvSpPr>
            <p:cNvPr id="38928" name="Rectangle 34"/>
            <p:cNvSpPr>
              <a:spLocks noChangeArrowheads="1"/>
            </p:cNvSpPr>
            <p:nvPr/>
          </p:nvSpPr>
          <p:spPr bwMode="auto">
            <a:xfrm>
              <a:off x="3504" y="3596"/>
              <a:ext cx="480" cy="192"/>
            </a:xfrm>
            <a:prstGeom prst="rect">
              <a:avLst/>
            </a:prstGeom>
            <a:noFill/>
            <a:ln w="9525">
              <a:solidFill>
                <a:schemeClr val="tx1"/>
              </a:solidFill>
              <a:miter lim="800000"/>
              <a:headEnd/>
              <a:tailEnd/>
            </a:ln>
          </p:spPr>
          <p:txBody>
            <a:bodyPr wrap="none" anchor="ctr"/>
            <a:lstStyle/>
            <a:p>
              <a:endParaRPr lang="bg-BG"/>
            </a:p>
          </p:txBody>
        </p:sp>
        <p:sp>
          <p:nvSpPr>
            <p:cNvPr id="38929" name="Rectangle 35"/>
            <p:cNvSpPr>
              <a:spLocks noChangeArrowheads="1"/>
            </p:cNvSpPr>
            <p:nvPr/>
          </p:nvSpPr>
          <p:spPr bwMode="auto">
            <a:xfrm>
              <a:off x="4696" y="3606"/>
              <a:ext cx="480" cy="192"/>
            </a:xfrm>
            <a:prstGeom prst="rect">
              <a:avLst/>
            </a:prstGeom>
            <a:noFill/>
            <a:ln w="9525">
              <a:solidFill>
                <a:schemeClr val="tx1"/>
              </a:solidFill>
              <a:miter lim="800000"/>
              <a:headEnd/>
              <a:tailEnd/>
            </a:ln>
          </p:spPr>
          <p:txBody>
            <a:bodyPr wrap="none" anchor="ctr"/>
            <a:lstStyle/>
            <a:p>
              <a:endParaRPr lang="bg-BG"/>
            </a:p>
          </p:txBody>
        </p:sp>
        <p:sp>
          <p:nvSpPr>
            <p:cNvPr id="38930" name="Rectangle 36"/>
            <p:cNvSpPr>
              <a:spLocks noChangeArrowheads="1"/>
            </p:cNvSpPr>
            <p:nvPr/>
          </p:nvSpPr>
          <p:spPr bwMode="auto">
            <a:xfrm>
              <a:off x="1200" y="3598"/>
              <a:ext cx="480" cy="192"/>
            </a:xfrm>
            <a:prstGeom prst="rect">
              <a:avLst/>
            </a:prstGeom>
            <a:noFill/>
            <a:ln w="9525">
              <a:solidFill>
                <a:schemeClr val="tx1"/>
              </a:solidFill>
              <a:miter lim="800000"/>
              <a:headEnd/>
              <a:tailEnd/>
            </a:ln>
          </p:spPr>
          <p:txBody>
            <a:bodyPr wrap="none" anchor="ctr"/>
            <a:lstStyle/>
            <a:p>
              <a:endParaRPr lang="bg-BG"/>
            </a:p>
          </p:txBody>
        </p:sp>
        <p:sp>
          <p:nvSpPr>
            <p:cNvPr id="38931" name="Rectangle 37"/>
            <p:cNvSpPr>
              <a:spLocks noChangeArrowheads="1"/>
            </p:cNvSpPr>
            <p:nvPr/>
          </p:nvSpPr>
          <p:spPr bwMode="auto">
            <a:xfrm>
              <a:off x="1776" y="3290"/>
              <a:ext cx="480" cy="192"/>
            </a:xfrm>
            <a:prstGeom prst="rect">
              <a:avLst/>
            </a:prstGeom>
            <a:noFill/>
            <a:ln w="9525">
              <a:solidFill>
                <a:schemeClr val="tx1"/>
              </a:solidFill>
              <a:miter lim="800000"/>
              <a:headEnd/>
              <a:tailEnd/>
            </a:ln>
          </p:spPr>
          <p:txBody>
            <a:bodyPr wrap="none" anchor="ctr"/>
            <a:lstStyle/>
            <a:p>
              <a:endParaRPr lang="bg-BG"/>
            </a:p>
          </p:txBody>
        </p:sp>
        <p:sp>
          <p:nvSpPr>
            <p:cNvPr id="38932" name="Rectangle 38"/>
            <p:cNvSpPr>
              <a:spLocks noChangeArrowheads="1"/>
            </p:cNvSpPr>
            <p:nvPr/>
          </p:nvSpPr>
          <p:spPr bwMode="auto">
            <a:xfrm>
              <a:off x="2928" y="3022"/>
              <a:ext cx="480" cy="192"/>
            </a:xfrm>
            <a:prstGeom prst="rect">
              <a:avLst/>
            </a:prstGeom>
            <a:noFill/>
            <a:ln w="9525">
              <a:solidFill>
                <a:schemeClr val="tx1"/>
              </a:solidFill>
              <a:miter lim="800000"/>
              <a:headEnd/>
              <a:tailEnd/>
            </a:ln>
          </p:spPr>
          <p:txBody>
            <a:bodyPr wrap="none" anchor="ctr"/>
            <a:lstStyle/>
            <a:p>
              <a:endParaRPr lang="bg-BG"/>
            </a:p>
          </p:txBody>
        </p:sp>
        <p:sp>
          <p:nvSpPr>
            <p:cNvPr id="38933" name="Line 39"/>
            <p:cNvSpPr>
              <a:spLocks noChangeShapeType="1"/>
            </p:cNvSpPr>
            <p:nvPr/>
          </p:nvSpPr>
          <p:spPr bwMode="auto">
            <a:xfrm flipH="1">
              <a:off x="1104" y="3790"/>
              <a:ext cx="240" cy="144"/>
            </a:xfrm>
            <a:prstGeom prst="line">
              <a:avLst/>
            </a:prstGeom>
            <a:noFill/>
            <a:ln w="9525">
              <a:solidFill>
                <a:schemeClr val="tx1"/>
              </a:solidFill>
              <a:round/>
              <a:headEnd/>
              <a:tailEnd/>
            </a:ln>
          </p:spPr>
          <p:txBody>
            <a:bodyPr wrap="none" anchor="ctr"/>
            <a:lstStyle/>
            <a:p>
              <a:endParaRPr lang="bg-BG"/>
            </a:p>
          </p:txBody>
        </p:sp>
        <p:sp>
          <p:nvSpPr>
            <p:cNvPr id="38934" name="Line 40"/>
            <p:cNvSpPr>
              <a:spLocks noChangeShapeType="1"/>
            </p:cNvSpPr>
            <p:nvPr/>
          </p:nvSpPr>
          <p:spPr bwMode="auto">
            <a:xfrm>
              <a:off x="1536" y="3790"/>
              <a:ext cx="192" cy="144"/>
            </a:xfrm>
            <a:prstGeom prst="line">
              <a:avLst/>
            </a:prstGeom>
            <a:noFill/>
            <a:ln w="9525">
              <a:solidFill>
                <a:schemeClr val="tx1"/>
              </a:solidFill>
              <a:round/>
              <a:headEnd/>
              <a:tailEnd/>
            </a:ln>
          </p:spPr>
          <p:txBody>
            <a:bodyPr wrap="none" anchor="ctr"/>
            <a:lstStyle/>
            <a:p>
              <a:endParaRPr lang="bg-BG"/>
            </a:p>
          </p:txBody>
        </p:sp>
        <p:sp>
          <p:nvSpPr>
            <p:cNvPr id="38935" name="Line 42"/>
            <p:cNvSpPr>
              <a:spLocks noChangeShapeType="1"/>
            </p:cNvSpPr>
            <p:nvPr/>
          </p:nvSpPr>
          <p:spPr bwMode="auto">
            <a:xfrm flipH="1">
              <a:off x="2256" y="3790"/>
              <a:ext cx="240" cy="144"/>
            </a:xfrm>
            <a:prstGeom prst="line">
              <a:avLst/>
            </a:prstGeom>
            <a:noFill/>
            <a:ln w="9525">
              <a:solidFill>
                <a:schemeClr val="tx1"/>
              </a:solidFill>
              <a:round/>
              <a:headEnd/>
              <a:tailEnd/>
            </a:ln>
          </p:spPr>
          <p:txBody>
            <a:bodyPr wrap="none" anchor="ctr"/>
            <a:lstStyle/>
            <a:p>
              <a:endParaRPr lang="bg-BG"/>
            </a:p>
          </p:txBody>
        </p:sp>
        <p:sp>
          <p:nvSpPr>
            <p:cNvPr id="38936" name="Line 43"/>
            <p:cNvSpPr>
              <a:spLocks noChangeShapeType="1"/>
            </p:cNvSpPr>
            <p:nvPr/>
          </p:nvSpPr>
          <p:spPr bwMode="auto">
            <a:xfrm>
              <a:off x="2688" y="3790"/>
              <a:ext cx="240" cy="144"/>
            </a:xfrm>
            <a:prstGeom prst="line">
              <a:avLst/>
            </a:prstGeom>
            <a:noFill/>
            <a:ln w="9525">
              <a:solidFill>
                <a:schemeClr val="tx1"/>
              </a:solidFill>
              <a:round/>
              <a:headEnd/>
              <a:tailEnd/>
            </a:ln>
          </p:spPr>
          <p:txBody>
            <a:bodyPr wrap="none" anchor="ctr"/>
            <a:lstStyle/>
            <a:p>
              <a:endParaRPr lang="bg-BG"/>
            </a:p>
          </p:txBody>
        </p:sp>
        <p:sp>
          <p:nvSpPr>
            <p:cNvPr id="38937" name="Line 44"/>
            <p:cNvSpPr>
              <a:spLocks noChangeShapeType="1"/>
            </p:cNvSpPr>
            <p:nvPr/>
          </p:nvSpPr>
          <p:spPr bwMode="auto">
            <a:xfrm flipH="1">
              <a:off x="3456" y="3790"/>
              <a:ext cx="240" cy="144"/>
            </a:xfrm>
            <a:prstGeom prst="line">
              <a:avLst/>
            </a:prstGeom>
            <a:noFill/>
            <a:ln w="9525">
              <a:solidFill>
                <a:schemeClr val="tx1"/>
              </a:solidFill>
              <a:round/>
              <a:headEnd/>
              <a:tailEnd/>
            </a:ln>
          </p:spPr>
          <p:txBody>
            <a:bodyPr wrap="none" anchor="ctr"/>
            <a:lstStyle/>
            <a:p>
              <a:endParaRPr lang="bg-BG"/>
            </a:p>
          </p:txBody>
        </p:sp>
        <p:sp>
          <p:nvSpPr>
            <p:cNvPr id="38938" name="Line 45"/>
            <p:cNvSpPr>
              <a:spLocks noChangeShapeType="1"/>
            </p:cNvSpPr>
            <p:nvPr/>
          </p:nvSpPr>
          <p:spPr bwMode="auto">
            <a:xfrm>
              <a:off x="3792" y="3790"/>
              <a:ext cx="288" cy="144"/>
            </a:xfrm>
            <a:prstGeom prst="line">
              <a:avLst/>
            </a:prstGeom>
            <a:noFill/>
            <a:ln w="9525">
              <a:solidFill>
                <a:schemeClr val="tx1"/>
              </a:solidFill>
              <a:round/>
              <a:headEnd/>
              <a:tailEnd/>
            </a:ln>
          </p:spPr>
          <p:txBody>
            <a:bodyPr wrap="none" anchor="ctr"/>
            <a:lstStyle/>
            <a:p>
              <a:endParaRPr lang="bg-BG"/>
            </a:p>
          </p:txBody>
        </p:sp>
        <p:sp>
          <p:nvSpPr>
            <p:cNvPr id="38939" name="Line 50"/>
            <p:cNvSpPr>
              <a:spLocks noChangeShapeType="1"/>
            </p:cNvSpPr>
            <p:nvPr/>
          </p:nvSpPr>
          <p:spPr bwMode="auto">
            <a:xfrm flipH="1">
              <a:off x="4608" y="3800"/>
              <a:ext cx="240" cy="144"/>
            </a:xfrm>
            <a:prstGeom prst="line">
              <a:avLst/>
            </a:prstGeom>
            <a:noFill/>
            <a:ln w="9525">
              <a:solidFill>
                <a:schemeClr val="tx1"/>
              </a:solidFill>
              <a:round/>
              <a:headEnd/>
              <a:tailEnd/>
            </a:ln>
          </p:spPr>
          <p:txBody>
            <a:bodyPr wrap="none" anchor="ctr"/>
            <a:lstStyle/>
            <a:p>
              <a:endParaRPr lang="bg-BG"/>
            </a:p>
          </p:txBody>
        </p:sp>
        <p:sp>
          <p:nvSpPr>
            <p:cNvPr id="38940" name="Line 52"/>
            <p:cNvSpPr>
              <a:spLocks noChangeShapeType="1"/>
            </p:cNvSpPr>
            <p:nvPr/>
          </p:nvSpPr>
          <p:spPr bwMode="auto">
            <a:xfrm>
              <a:off x="5040" y="3800"/>
              <a:ext cx="288" cy="134"/>
            </a:xfrm>
            <a:prstGeom prst="line">
              <a:avLst/>
            </a:prstGeom>
            <a:noFill/>
            <a:ln w="9525">
              <a:solidFill>
                <a:schemeClr val="tx1"/>
              </a:solidFill>
              <a:round/>
              <a:headEnd/>
              <a:tailEnd/>
            </a:ln>
          </p:spPr>
          <p:txBody>
            <a:bodyPr wrap="none" anchor="ctr"/>
            <a:lstStyle/>
            <a:p>
              <a:endParaRPr lang="bg-BG"/>
            </a:p>
          </p:txBody>
        </p:sp>
        <p:sp>
          <p:nvSpPr>
            <p:cNvPr id="38941" name="Line 53"/>
            <p:cNvSpPr>
              <a:spLocks noChangeShapeType="1"/>
            </p:cNvSpPr>
            <p:nvPr/>
          </p:nvSpPr>
          <p:spPr bwMode="auto">
            <a:xfrm flipH="1">
              <a:off x="1536" y="3492"/>
              <a:ext cx="336" cy="96"/>
            </a:xfrm>
            <a:prstGeom prst="line">
              <a:avLst/>
            </a:prstGeom>
            <a:noFill/>
            <a:ln w="9525">
              <a:solidFill>
                <a:schemeClr val="tx1"/>
              </a:solidFill>
              <a:round/>
              <a:headEnd/>
              <a:tailEnd/>
            </a:ln>
          </p:spPr>
          <p:txBody>
            <a:bodyPr wrap="none" anchor="ctr"/>
            <a:lstStyle/>
            <a:p>
              <a:endParaRPr lang="bg-BG"/>
            </a:p>
          </p:txBody>
        </p:sp>
        <p:sp>
          <p:nvSpPr>
            <p:cNvPr id="38942" name="Line 54"/>
            <p:cNvSpPr>
              <a:spLocks noChangeShapeType="1"/>
            </p:cNvSpPr>
            <p:nvPr/>
          </p:nvSpPr>
          <p:spPr bwMode="auto">
            <a:xfrm>
              <a:off x="2112" y="3492"/>
              <a:ext cx="336" cy="96"/>
            </a:xfrm>
            <a:prstGeom prst="line">
              <a:avLst/>
            </a:prstGeom>
            <a:noFill/>
            <a:ln w="9525">
              <a:solidFill>
                <a:schemeClr val="tx1"/>
              </a:solidFill>
              <a:round/>
              <a:headEnd/>
              <a:tailEnd/>
            </a:ln>
          </p:spPr>
          <p:txBody>
            <a:bodyPr wrap="none" anchor="ctr"/>
            <a:lstStyle/>
            <a:p>
              <a:endParaRPr lang="bg-BG"/>
            </a:p>
          </p:txBody>
        </p:sp>
        <p:sp>
          <p:nvSpPr>
            <p:cNvPr id="38943" name="Line 56"/>
            <p:cNvSpPr>
              <a:spLocks noChangeShapeType="1"/>
            </p:cNvSpPr>
            <p:nvPr/>
          </p:nvSpPr>
          <p:spPr bwMode="auto">
            <a:xfrm flipH="1">
              <a:off x="3744" y="3502"/>
              <a:ext cx="432" cy="96"/>
            </a:xfrm>
            <a:prstGeom prst="line">
              <a:avLst/>
            </a:prstGeom>
            <a:noFill/>
            <a:ln w="9525">
              <a:solidFill>
                <a:schemeClr val="tx1"/>
              </a:solidFill>
              <a:round/>
              <a:headEnd/>
              <a:tailEnd/>
            </a:ln>
          </p:spPr>
          <p:txBody>
            <a:bodyPr wrap="none" anchor="ctr"/>
            <a:lstStyle/>
            <a:p>
              <a:endParaRPr lang="bg-BG"/>
            </a:p>
          </p:txBody>
        </p:sp>
        <p:sp>
          <p:nvSpPr>
            <p:cNvPr id="38944" name="Line 57"/>
            <p:cNvSpPr>
              <a:spLocks noChangeShapeType="1"/>
            </p:cNvSpPr>
            <p:nvPr/>
          </p:nvSpPr>
          <p:spPr bwMode="auto">
            <a:xfrm>
              <a:off x="4512" y="3502"/>
              <a:ext cx="384" cy="96"/>
            </a:xfrm>
            <a:prstGeom prst="line">
              <a:avLst/>
            </a:prstGeom>
            <a:noFill/>
            <a:ln w="9525">
              <a:solidFill>
                <a:schemeClr val="tx1"/>
              </a:solidFill>
              <a:round/>
              <a:headEnd/>
              <a:tailEnd/>
            </a:ln>
          </p:spPr>
          <p:txBody>
            <a:bodyPr wrap="none" anchor="ctr"/>
            <a:lstStyle/>
            <a:p>
              <a:endParaRPr lang="bg-BG"/>
            </a:p>
          </p:txBody>
        </p:sp>
        <p:sp>
          <p:nvSpPr>
            <p:cNvPr id="38945" name="Line 58"/>
            <p:cNvSpPr>
              <a:spLocks noChangeShapeType="1"/>
            </p:cNvSpPr>
            <p:nvPr/>
          </p:nvSpPr>
          <p:spPr bwMode="auto">
            <a:xfrm flipH="1">
              <a:off x="2016" y="3060"/>
              <a:ext cx="912" cy="240"/>
            </a:xfrm>
            <a:prstGeom prst="line">
              <a:avLst/>
            </a:prstGeom>
            <a:noFill/>
            <a:ln w="9525">
              <a:solidFill>
                <a:schemeClr val="tx1"/>
              </a:solidFill>
              <a:round/>
              <a:headEnd/>
              <a:tailEnd/>
            </a:ln>
          </p:spPr>
          <p:txBody>
            <a:bodyPr wrap="none" anchor="ctr"/>
            <a:lstStyle/>
            <a:p>
              <a:endParaRPr lang="bg-BG"/>
            </a:p>
          </p:txBody>
        </p:sp>
        <p:sp>
          <p:nvSpPr>
            <p:cNvPr id="38946" name="Line 59"/>
            <p:cNvSpPr>
              <a:spLocks noChangeShapeType="1"/>
            </p:cNvSpPr>
            <p:nvPr/>
          </p:nvSpPr>
          <p:spPr bwMode="auto">
            <a:xfrm>
              <a:off x="3408" y="3070"/>
              <a:ext cx="912" cy="240"/>
            </a:xfrm>
            <a:prstGeom prst="line">
              <a:avLst/>
            </a:prstGeom>
            <a:noFill/>
            <a:ln w="9525">
              <a:solidFill>
                <a:schemeClr val="tx1"/>
              </a:solidFill>
              <a:round/>
              <a:headEnd/>
              <a:tailEnd/>
            </a:ln>
          </p:spPr>
          <p:txBody>
            <a:bodyPr wrap="none" anchor="ctr"/>
            <a:lstStyle/>
            <a:p>
              <a:endParaRPr lang="bg-BG"/>
            </a:p>
          </p:txBody>
        </p:sp>
        <p:sp>
          <p:nvSpPr>
            <p:cNvPr id="38947" name="Text Box 60"/>
            <p:cNvSpPr txBox="1">
              <a:spLocks noChangeArrowheads="1"/>
            </p:cNvSpPr>
            <p:nvPr/>
          </p:nvSpPr>
          <p:spPr bwMode="auto">
            <a:xfrm>
              <a:off x="1546" y="3906"/>
              <a:ext cx="294" cy="250"/>
            </a:xfrm>
            <a:prstGeom prst="rect">
              <a:avLst/>
            </a:prstGeom>
            <a:noFill/>
            <a:ln w="9525">
              <a:noFill/>
              <a:miter lim="800000"/>
              <a:headEnd/>
              <a:tailEnd/>
            </a:ln>
          </p:spPr>
          <p:txBody>
            <a:bodyPr>
              <a:spAutoFit/>
            </a:bodyPr>
            <a:lstStyle/>
            <a:p>
              <a:pPr algn="l">
                <a:spcBef>
                  <a:spcPct val="50000"/>
                </a:spcBef>
              </a:pPr>
              <a:r>
                <a:rPr lang="en-US" sz="2000"/>
                <a:t>1</a:t>
              </a:r>
              <a:r>
                <a:rPr lang="bg-BG" sz="2000"/>
                <a:t>7</a:t>
              </a:r>
              <a:endParaRPr lang="en-US"/>
            </a:p>
          </p:txBody>
        </p:sp>
        <p:sp>
          <p:nvSpPr>
            <p:cNvPr id="38948" name="Text Box 61"/>
            <p:cNvSpPr txBox="1">
              <a:spLocks noChangeArrowheads="1"/>
            </p:cNvSpPr>
            <p:nvPr/>
          </p:nvSpPr>
          <p:spPr bwMode="auto">
            <a:xfrm>
              <a:off x="1296" y="3570"/>
              <a:ext cx="294" cy="250"/>
            </a:xfrm>
            <a:prstGeom prst="rect">
              <a:avLst/>
            </a:prstGeom>
            <a:noFill/>
            <a:ln w="9525">
              <a:noFill/>
              <a:miter lim="800000"/>
              <a:headEnd/>
              <a:tailEnd/>
            </a:ln>
          </p:spPr>
          <p:txBody>
            <a:bodyPr>
              <a:spAutoFit/>
            </a:bodyPr>
            <a:lstStyle/>
            <a:p>
              <a:pPr algn="l">
                <a:spcBef>
                  <a:spcPct val="50000"/>
                </a:spcBef>
              </a:pPr>
              <a:r>
                <a:rPr lang="en-US" sz="2000"/>
                <a:t>1</a:t>
              </a:r>
              <a:r>
                <a:rPr lang="bg-BG" sz="2000"/>
                <a:t>5</a:t>
              </a:r>
              <a:endParaRPr lang="en-US"/>
            </a:p>
          </p:txBody>
        </p:sp>
        <p:sp>
          <p:nvSpPr>
            <p:cNvPr id="38949" name="Text Box 62"/>
            <p:cNvSpPr txBox="1">
              <a:spLocks noChangeArrowheads="1"/>
            </p:cNvSpPr>
            <p:nvPr/>
          </p:nvSpPr>
          <p:spPr bwMode="auto">
            <a:xfrm>
              <a:off x="1932" y="3262"/>
              <a:ext cx="294" cy="250"/>
            </a:xfrm>
            <a:prstGeom prst="rect">
              <a:avLst/>
            </a:prstGeom>
            <a:noFill/>
            <a:ln w="9525">
              <a:noFill/>
              <a:miter lim="800000"/>
              <a:headEnd/>
              <a:tailEnd/>
            </a:ln>
          </p:spPr>
          <p:txBody>
            <a:bodyPr>
              <a:spAutoFit/>
            </a:bodyPr>
            <a:lstStyle/>
            <a:p>
              <a:pPr algn="l">
                <a:spcBef>
                  <a:spcPct val="50000"/>
                </a:spcBef>
              </a:pPr>
              <a:r>
                <a:rPr lang="en-US" sz="2000"/>
                <a:t>3</a:t>
              </a:r>
              <a:endParaRPr lang="en-US"/>
            </a:p>
          </p:txBody>
        </p:sp>
        <p:sp>
          <p:nvSpPr>
            <p:cNvPr id="38950" name="Text Box 63"/>
            <p:cNvSpPr txBox="1">
              <a:spLocks noChangeArrowheads="1"/>
            </p:cNvSpPr>
            <p:nvPr/>
          </p:nvSpPr>
          <p:spPr bwMode="auto">
            <a:xfrm>
              <a:off x="2192" y="3916"/>
              <a:ext cx="294" cy="250"/>
            </a:xfrm>
            <a:prstGeom prst="rect">
              <a:avLst/>
            </a:prstGeom>
            <a:noFill/>
            <a:ln w="9525">
              <a:noFill/>
              <a:miter lim="800000"/>
              <a:headEnd/>
              <a:tailEnd/>
            </a:ln>
          </p:spPr>
          <p:txBody>
            <a:bodyPr>
              <a:spAutoFit/>
            </a:bodyPr>
            <a:lstStyle/>
            <a:p>
              <a:pPr algn="l">
                <a:spcBef>
                  <a:spcPct val="50000"/>
                </a:spcBef>
              </a:pPr>
              <a:r>
                <a:rPr lang="en-US" sz="2000"/>
                <a:t>3</a:t>
              </a:r>
              <a:endParaRPr lang="en-US"/>
            </a:p>
          </p:txBody>
        </p:sp>
        <p:sp>
          <p:nvSpPr>
            <p:cNvPr id="38951" name="Text Box 64"/>
            <p:cNvSpPr txBox="1">
              <a:spLocks noChangeArrowheads="1"/>
            </p:cNvSpPr>
            <p:nvPr/>
          </p:nvSpPr>
          <p:spPr bwMode="auto">
            <a:xfrm>
              <a:off x="2488" y="3570"/>
              <a:ext cx="294" cy="250"/>
            </a:xfrm>
            <a:prstGeom prst="rect">
              <a:avLst/>
            </a:prstGeom>
            <a:noFill/>
            <a:ln w="9525">
              <a:noFill/>
              <a:miter lim="800000"/>
              <a:headEnd/>
              <a:tailEnd/>
            </a:ln>
          </p:spPr>
          <p:txBody>
            <a:bodyPr>
              <a:spAutoFit/>
            </a:bodyPr>
            <a:lstStyle/>
            <a:p>
              <a:pPr algn="l">
                <a:spcBef>
                  <a:spcPct val="50000"/>
                </a:spcBef>
              </a:pPr>
              <a:r>
                <a:rPr lang="en-US" sz="2000"/>
                <a:t>3</a:t>
              </a:r>
              <a:endParaRPr lang="en-US"/>
            </a:p>
          </p:txBody>
        </p:sp>
        <p:sp>
          <p:nvSpPr>
            <p:cNvPr id="38952" name="Text Box 65"/>
            <p:cNvSpPr txBox="1">
              <a:spLocks noChangeArrowheads="1"/>
            </p:cNvSpPr>
            <p:nvPr/>
          </p:nvSpPr>
          <p:spPr bwMode="auto">
            <a:xfrm>
              <a:off x="2776" y="3906"/>
              <a:ext cx="294" cy="250"/>
            </a:xfrm>
            <a:prstGeom prst="rect">
              <a:avLst/>
            </a:prstGeom>
            <a:noFill/>
            <a:ln w="9525">
              <a:noFill/>
              <a:miter lim="800000"/>
              <a:headEnd/>
              <a:tailEnd/>
            </a:ln>
          </p:spPr>
          <p:txBody>
            <a:bodyPr>
              <a:spAutoFit/>
            </a:bodyPr>
            <a:lstStyle/>
            <a:p>
              <a:pPr algn="l">
                <a:spcBef>
                  <a:spcPct val="50000"/>
                </a:spcBef>
              </a:pPr>
              <a:r>
                <a:rPr lang="en-US" sz="2000"/>
                <a:t>8</a:t>
              </a:r>
              <a:endParaRPr lang="en-US"/>
            </a:p>
          </p:txBody>
        </p:sp>
        <p:sp>
          <p:nvSpPr>
            <p:cNvPr id="38953" name="Text Box 66"/>
            <p:cNvSpPr txBox="1">
              <a:spLocks noChangeArrowheads="1"/>
            </p:cNvSpPr>
            <p:nvPr/>
          </p:nvSpPr>
          <p:spPr bwMode="auto">
            <a:xfrm>
              <a:off x="3928" y="3906"/>
              <a:ext cx="294" cy="250"/>
            </a:xfrm>
            <a:prstGeom prst="rect">
              <a:avLst/>
            </a:prstGeom>
            <a:noFill/>
            <a:ln w="9525">
              <a:noFill/>
              <a:miter lim="800000"/>
              <a:headEnd/>
              <a:tailEnd/>
            </a:ln>
          </p:spPr>
          <p:txBody>
            <a:bodyPr>
              <a:spAutoFit/>
            </a:bodyPr>
            <a:lstStyle/>
            <a:p>
              <a:pPr algn="l">
                <a:spcBef>
                  <a:spcPct val="50000"/>
                </a:spcBef>
              </a:pPr>
              <a:r>
                <a:rPr lang="en-US" sz="2000"/>
                <a:t>1</a:t>
              </a:r>
              <a:endParaRPr lang="en-US"/>
            </a:p>
          </p:txBody>
        </p:sp>
        <p:sp>
          <p:nvSpPr>
            <p:cNvPr id="38954" name="Text Box 67"/>
            <p:cNvSpPr txBox="1">
              <a:spLocks noChangeArrowheads="1"/>
            </p:cNvSpPr>
            <p:nvPr/>
          </p:nvSpPr>
          <p:spPr bwMode="auto">
            <a:xfrm>
              <a:off x="3350" y="3906"/>
              <a:ext cx="294" cy="250"/>
            </a:xfrm>
            <a:prstGeom prst="rect">
              <a:avLst/>
            </a:prstGeom>
            <a:noFill/>
            <a:ln w="9525">
              <a:noFill/>
              <a:miter lim="800000"/>
              <a:headEnd/>
              <a:tailEnd/>
            </a:ln>
          </p:spPr>
          <p:txBody>
            <a:bodyPr>
              <a:spAutoFit/>
            </a:bodyPr>
            <a:lstStyle/>
            <a:p>
              <a:pPr algn="l">
                <a:spcBef>
                  <a:spcPct val="50000"/>
                </a:spcBef>
              </a:pPr>
              <a:r>
                <a:rPr lang="en-US" sz="2000"/>
                <a:t>9</a:t>
              </a:r>
              <a:endParaRPr lang="en-US"/>
            </a:p>
          </p:txBody>
        </p:sp>
        <p:sp>
          <p:nvSpPr>
            <p:cNvPr id="38955" name="Text Box 68"/>
            <p:cNvSpPr txBox="1">
              <a:spLocks noChangeArrowheads="1"/>
            </p:cNvSpPr>
            <p:nvPr/>
          </p:nvSpPr>
          <p:spPr bwMode="auto">
            <a:xfrm>
              <a:off x="5140" y="3906"/>
              <a:ext cx="294" cy="250"/>
            </a:xfrm>
            <a:prstGeom prst="rect">
              <a:avLst/>
            </a:prstGeom>
            <a:noFill/>
            <a:ln w="9525">
              <a:noFill/>
              <a:miter lim="800000"/>
              <a:headEnd/>
              <a:tailEnd/>
            </a:ln>
          </p:spPr>
          <p:txBody>
            <a:bodyPr>
              <a:spAutoFit/>
            </a:bodyPr>
            <a:lstStyle/>
            <a:p>
              <a:pPr algn="l">
                <a:spcBef>
                  <a:spcPct val="50000"/>
                </a:spcBef>
              </a:pPr>
              <a:r>
                <a:rPr lang="en-US" sz="2000"/>
                <a:t>5</a:t>
              </a:r>
              <a:endParaRPr lang="en-US"/>
            </a:p>
          </p:txBody>
        </p:sp>
        <p:sp>
          <p:nvSpPr>
            <p:cNvPr id="38956" name="Text Box 69"/>
            <p:cNvSpPr txBox="1">
              <a:spLocks noChangeArrowheads="1"/>
            </p:cNvSpPr>
            <p:nvPr/>
          </p:nvSpPr>
          <p:spPr bwMode="auto">
            <a:xfrm>
              <a:off x="4492" y="3906"/>
              <a:ext cx="278" cy="250"/>
            </a:xfrm>
            <a:prstGeom prst="rect">
              <a:avLst/>
            </a:prstGeom>
            <a:noFill/>
            <a:ln w="9525">
              <a:noFill/>
              <a:miter lim="800000"/>
              <a:headEnd/>
              <a:tailEnd/>
            </a:ln>
          </p:spPr>
          <p:txBody>
            <a:bodyPr>
              <a:spAutoFit/>
            </a:bodyPr>
            <a:lstStyle/>
            <a:p>
              <a:pPr algn="l">
                <a:spcBef>
                  <a:spcPct val="50000"/>
                </a:spcBef>
              </a:pPr>
              <a:r>
                <a:rPr lang="en-US" sz="2000"/>
                <a:t>1</a:t>
              </a:r>
              <a:r>
                <a:rPr lang="bg-BG" sz="2000"/>
                <a:t>8</a:t>
              </a:r>
              <a:endParaRPr lang="en-US"/>
            </a:p>
          </p:txBody>
        </p:sp>
        <p:sp>
          <p:nvSpPr>
            <p:cNvPr id="38957" name="Text Box 70"/>
            <p:cNvSpPr txBox="1">
              <a:spLocks noChangeArrowheads="1"/>
            </p:cNvSpPr>
            <p:nvPr/>
          </p:nvSpPr>
          <p:spPr bwMode="auto">
            <a:xfrm>
              <a:off x="4848" y="3578"/>
              <a:ext cx="294" cy="250"/>
            </a:xfrm>
            <a:prstGeom prst="rect">
              <a:avLst/>
            </a:prstGeom>
            <a:noFill/>
            <a:ln w="9525">
              <a:noFill/>
              <a:miter lim="800000"/>
              <a:headEnd/>
              <a:tailEnd/>
            </a:ln>
          </p:spPr>
          <p:txBody>
            <a:bodyPr>
              <a:spAutoFit/>
            </a:bodyPr>
            <a:lstStyle/>
            <a:p>
              <a:pPr algn="l">
                <a:spcBef>
                  <a:spcPct val="50000"/>
                </a:spcBef>
              </a:pPr>
              <a:r>
                <a:rPr lang="en-US" sz="2000"/>
                <a:t>5</a:t>
              </a:r>
              <a:endParaRPr lang="en-US"/>
            </a:p>
          </p:txBody>
        </p:sp>
        <p:sp>
          <p:nvSpPr>
            <p:cNvPr id="38958" name="Text Box 71"/>
            <p:cNvSpPr txBox="1">
              <a:spLocks noChangeArrowheads="1"/>
            </p:cNvSpPr>
            <p:nvPr/>
          </p:nvSpPr>
          <p:spPr bwMode="auto">
            <a:xfrm>
              <a:off x="3630" y="3570"/>
              <a:ext cx="294" cy="250"/>
            </a:xfrm>
            <a:prstGeom prst="rect">
              <a:avLst/>
            </a:prstGeom>
            <a:noFill/>
            <a:ln w="9525">
              <a:noFill/>
              <a:miter lim="800000"/>
              <a:headEnd/>
              <a:tailEnd/>
            </a:ln>
          </p:spPr>
          <p:txBody>
            <a:bodyPr>
              <a:spAutoFit/>
            </a:bodyPr>
            <a:lstStyle/>
            <a:p>
              <a:pPr algn="l">
                <a:spcBef>
                  <a:spcPct val="50000"/>
                </a:spcBef>
              </a:pPr>
              <a:r>
                <a:rPr lang="en-US" sz="2000"/>
                <a:t>1</a:t>
              </a:r>
              <a:endParaRPr lang="en-US"/>
            </a:p>
          </p:txBody>
        </p:sp>
        <p:sp>
          <p:nvSpPr>
            <p:cNvPr id="38959" name="Text Box 72"/>
            <p:cNvSpPr txBox="1">
              <a:spLocks noChangeArrowheads="1"/>
            </p:cNvSpPr>
            <p:nvPr/>
          </p:nvSpPr>
          <p:spPr bwMode="auto">
            <a:xfrm>
              <a:off x="4216" y="3272"/>
              <a:ext cx="294" cy="250"/>
            </a:xfrm>
            <a:prstGeom prst="rect">
              <a:avLst/>
            </a:prstGeom>
            <a:noFill/>
            <a:ln w="9525">
              <a:noFill/>
              <a:miter lim="800000"/>
              <a:headEnd/>
              <a:tailEnd/>
            </a:ln>
          </p:spPr>
          <p:txBody>
            <a:bodyPr>
              <a:spAutoFit/>
            </a:bodyPr>
            <a:lstStyle/>
            <a:p>
              <a:pPr algn="l">
                <a:spcBef>
                  <a:spcPct val="50000"/>
                </a:spcBef>
              </a:pPr>
              <a:r>
                <a:rPr lang="en-US" sz="2000"/>
                <a:t>1</a:t>
              </a:r>
              <a:endParaRPr lang="en-US"/>
            </a:p>
          </p:txBody>
        </p:sp>
        <p:sp>
          <p:nvSpPr>
            <p:cNvPr id="38960" name="Text Box 73"/>
            <p:cNvSpPr txBox="1">
              <a:spLocks noChangeArrowheads="1"/>
            </p:cNvSpPr>
            <p:nvPr/>
          </p:nvSpPr>
          <p:spPr bwMode="auto">
            <a:xfrm>
              <a:off x="3072" y="2984"/>
              <a:ext cx="294" cy="250"/>
            </a:xfrm>
            <a:prstGeom prst="rect">
              <a:avLst/>
            </a:prstGeom>
            <a:noFill/>
            <a:ln w="9525">
              <a:noFill/>
              <a:miter lim="800000"/>
              <a:headEnd/>
              <a:tailEnd/>
            </a:ln>
          </p:spPr>
          <p:txBody>
            <a:bodyPr>
              <a:spAutoFit/>
            </a:bodyPr>
            <a:lstStyle/>
            <a:p>
              <a:pPr algn="l">
                <a:spcBef>
                  <a:spcPct val="50000"/>
                </a:spcBef>
              </a:pPr>
              <a:r>
                <a:rPr lang="en-US" sz="2000"/>
                <a:t>1</a:t>
              </a:r>
              <a:endParaRPr lang="en-US"/>
            </a:p>
          </p:txBody>
        </p:sp>
      </p:grpSp>
      <p:sp>
        <p:nvSpPr>
          <p:cNvPr id="50" name="Slide Number Placeholder 49"/>
          <p:cNvSpPr>
            <a:spLocks noGrp="1"/>
          </p:cNvSpPr>
          <p:nvPr>
            <p:ph type="sldNum" sz="quarter" idx="12"/>
          </p:nvPr>
        </p:nvSpPr>
        <p:spPr/>
        <p:txBody>
          <a:bodyPr/>
          <a:lstStyle/>
          <a:p>
            <a:pPr>
              <a:defRPr/>
            </a:pPr>
            <a:fld id="{5D4B7BEF-AC4A-466D-93DB-0F8CAF8C94DB}" type="slidenum">
              <a:rPr lang="en-US"/>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042988" y="457200"/>
            <a:ext cx="7921625" cy="6400800"/>
          </a:xfrm>
        </p:spPr>
        <p:txBody>
          <a:bodyPr>
            <a:normAutofit fontScale="90000"/>
          </a:bodyPr>
          <a:lstStyle/>
          <a:p>
            <a:pPr eaLnBrk="1" fontAlgn="auto" hangingPunct="1">
              <a:spcAft>
                <a:spcPts val="0"/>
              </a:spcAft>
              <a:defRPr/>
            </a:pPr>
            <a:r>
              <a:rPr lang="en-US" sz="2000">
                <a:solidFill>
                  <a:schemeClr val="tx1"/>
                </a:solidFill>
              </a:rPr>
              <a:t>	</a:t>
            </a:r>
            <a:r>
              <a:rPr lang="bg-BG" sz="2000">
                <a:solidFill>
                  <a:schemeClr val="tx1"/>
                </a:solidFill>
              </a:rPr>
              <a:t>Сега, заменяйки най-малкия елемент (“шампиона”) с </a:t>
            </a:r>
            <a:r>
              <a:rPr lang="bg-BG" sz="2000">
                <a:solidFill>
                  <a:schemeClr val="tx1"/>
                </a:solidFill>
                <a:sym typeface="SymbolProp BT" pitchFamily="18" charset="2"/>
              </a:rPr>
              <a:t>  </a:t>
            </a:r>
            <a:r>
              <a:rPr lang="bg-BG" sz="2000">
                <a:solidFill>
                  <a:schemeClr val="tx1"/>
                </a:solidFill>
              </a:rPr>
              <a:t>в съответното му листо и преизчислявайки съдържанието на върховете по пътя до корена, във върха на дървото ще получим следващия по  големина елемент. Т. к. дървото има височина </a:t>
            </a:r>
            <a:r>
              <a:rPr lang="en-US" sz="2000">
                <a:solidFill>
                  <a:schemeClr val="tx1"/>
                </a:solidFill>
              </a:rPr>
              <a:t>[</a:t>
            </a:r>
            <a:r>
              <a:rPr lang="en-US" sz="2000" b="1" i="1">
                <a:solidFill>
                  <a:schemeClr val="tx1"/>
                </a:solidFill>
              </a:rPr>
              <a:t>log</a:t>
            </a:r>
            <a:r>
              <a:rPr lang="en-US" sz="2000" b="1" i="1" baseline="-25000">
                <a:solidFill>
                  <a:schemeClr val="tx1"/>
                </a:solidFill>
              </a:rPr>
              <a:t>2</a:t>
            </a:r>
            <a:r>
              <a:rPr lang="en-US" sz="2000" b="1" i="1">
                <a:solidFill>
                  <a:schemeClr val="tx1"/>
                </a:solidFill>
              </a:rPr>
              <a:t> n</a:t>
            </a:r>
            <a:r>
              <a:rPr lang="en-US" sz="2000">
                <a:solidFill>
                  <a:schemeClr val="tx1"/>
                </a:solidFill>
              </a:rPr>
              <a:t>], </a:t>
            </a:r>
            <a:r>
              <a:rPr lang="bg-BG" sz="2000">
                <a:solidFill>
                  <a:schemeClr val="tx1"/>
                </a:solidFill>
              </a:rPr>
              <a:t>то описаният процес на определяне на втория по големина елемент (“вицешампиона”) </a:t>
            </a:r>
            <a:r>
              <a:rPr lang="bg-BG" sz="2000" smtClean="0">
                <a:solidFill>
                  <a:schemeClr val="tx1"/>
                </a:solidFill>
              </a:rPr>
              <a:t>изисква</a:t>
            </a:r>
            <a:r>
              <a:rPr lang="en-US" sz="2000" smtClean="0">
                <a:solidFill>
                  <a:schemeClr val="tx1"/>
                </a:solidFill>
              </a:rPr>
              <a:t/>
            </a:r>
            <a:br>
              <a:rPr lang="en-US" sz="2000" smtClean="0">
                <a:solidFill>
                  <a:schemeClr val="tx1"/>
                </a:solidFill>
              </a:rPr>
            </a:br>
            <a:r>
              <a:rPr lang="en-US" sz="2000" smtClean="0">
                <a:solidFill>
                  <a:schemeClr val="tx1"/>
                </a:solidFill>
              </a:rPr>
              <a:t> </a:t>
            </a:r>
            <a:r>
              <a:rPr lang="en-US" sz="2000">
                <a:solidFill>
                  <a:schemeClr val="tx1"/>
                </a:solidFill>
              </a:rPr>
              <a:t>[</a:t>
            </a:r>
            <a:r>
              <a:rPr lang="en-US" sz="2000" b="1" i="1">
                <a:solidFill>
                  <a:schemeClr val="tx1"/>
                </a:solidFill>
              </a:rPr>
              <a:t>log</a:t>
            </a:r>
            <a:r>
              <a:rPr lang="en-US" sz="2000" b="1" i="1" baseline="-25000">
                <a:solidFill>
                  <a:schemeClr val="tx1"/>
                </a:solidFill>
              </a:rPr>
              <a:t>2</a:t>
            </a:r>
            <a:r>
              <a:rPr lang="en-US" sz="2000" b="1" i="1">
                <a:solidFill>
                  <a:schemeClr val="tx1"/>
                </a:solidFill>
              </a:rPr>
              <a:t> n</a:t>
            </a:r>
            <a:r>
              <a:rPr lang="en-US" sz="2000">
                <a:solidFill>
                  <a:schemeClr val="tx1"/>
                </a:solidFill>
              </a:rPr>
              <a:t>]-1 </a:t>
            </a:r>
            <a:r>
              <a:rPr lang="bg-BG" sz="2000">
                <a:solidFill>
                  <a:schemeClr val="tx1"/>
                </a:solidFill>
              </a:rPr>
              <a:t>сравнения вместо</a:t>
            </a:r>
            <a:r>
              <a:rPr lang="en-US" sz="2000">
                <a:solidFill>
                  <a:schemeClr val="tx1"/>
                </a:solidFill>
              </a:rPr>
              <a:t> </a:t>
            </a:r>
            <a:r>
              <a:rPr lang="en-US" sz="2000" b="1" i="1">
                <a:solidFill>
                  <a:schemeClr val="tx1"/>
                </a:solidFill>
              </a:rPr>
              <a:t>n-</a:t>
            </a:r>
            <a:r>
              <a:rPr lang="en-US" sz="2000">
                <a:solidFill>
                  <a:schemeClr val="tx1"/>
                </a:solidFill>
              </a:rPr>
              <a:t>2,</a:t>
            </a:r>
            <a:r>
              <a:rPr lang="bg-BG" sz="2000">
                <a:solidFill>
                  <a:schemeClr val="tx1"/>
                </a:solidFill>
              </a:rPr>
              <a:t> както изисква алгоритъма на пряката селекция. Така процесът на цялостно сортиране на масива изисква не повече от</a:t>
            </a:r>
            <a:r>
              <a:rPr lang="en-US" sz="2000">
                <a:solidFill>
                  <a:schemeClr val="tx1"/>
                </a:solidFill>
              </a:rPr>
              <a:t> </a:t>
            </a:r>
            <a:r>
              <a:rPr lang="en-US" sz="2000" smtClean="0">
                <a:solidFill>
                  <a:schemeClr val="tx1"/>
                </a:solidFill>
              </a:rPr>
              <a:t> </a:t>
            </a:r>
            <a:r>
              <a:rPr lang="en-US" sz="2000" b="1" i="1">
                <a:solidFill>
                  <a:schemeClr val="tx1"/>
                </a:solidFill>
              </a:rPr>
              <a:t>n</a:t>
            </a:r>
            <a:r>
              <a:rPr lang="en-US" sz="2000">
                <a:solidFill>
                  <a:schemeClr val="tx1"/>
                </a:solidFill>
              </a:rPr>
              <a:t>-1+</a:t>
            </a:r>
            <a:r>
              <a:rPr lang="bg-BG" sz="2000">
                <a:solidFill>
                  <a:schemeClr val="tx1"/>
                </a:solidFill>
              </a:rPr>
              <a:t>(</a:t>
            </a:r>
            <a:r>
              <a:rPr lang="en-US" sz="2000" b="1" i="1">
                <a:solidFill>
                  <a:schemeClr val="tx1"/>
                </a:solidFill>
              </a:rPr>
              <a:t>n</a:t>
            </a:r>
            <a:r>
              <a:rPr lang="en-US" sz="2000">
                <a:solidFill>
                  <a:schemeClr val="tx1"/>
                </a:solidFill>
              </a:rPr>
              <a:t>+1)*([</a:t>
            </a:r>
            <a:r>
              <a:rPr lang="en-US" sz="2000" b="1" i="1">
                <a:solidFill>
                  <a:schemeClr val="tx1"/>
                </a:solidFill>
              </a:rPr>
              <a:t>log</a:t>
            </a:r>
            <a:r>
              <a:rPr lang="en-US" sz="2000" b="1" i="1" baseline="-25000">
                <a:solidFill>
                  <a:schemeClr val="tx1"/>
                </a:solidFill>
              </a:rPr>
              <a:t>2</a:t>
            </a:r>
            <a:r>
              <a:rPr lang="en-US" sz="2000" b="1" i="1">
                <a:solidFill>
                  <a:schemeClr val="tx1"/>
                </a:solidFill>
              </a:rPr>
              <a:t> n</a:t>
            </a:r>
            <a:r>
              <a:rPr lang="en-US" sz="2000">
                <a:solidFill>
                  <a:schemeClr val="tx1"/>
                </a:solidFill>
              </a:rPr>
              <a:t>]-1) </a:t>
            </a:r>
            <a:r>
              <a:rPr lang="bg-BG" sz="2000">
                <a:solidFill>
                  <a:schemeClr val="tx1"/>
                </a:solidFill>
              </a:rPr>
              <a:t>сравнения</a:t>
            </a:r>
            <a:r>
              <a:rPr lang="bg-BG" sz="2000" smtClean="0">
                <a:solidFill>
                  <a:schemeClr val="tx1"/>
                </a:solidFill>
              </a:rPr>
              <a:t>:</a:t>
            </a:r>
            <a:r>
              <a:rPr lang="en-US" sz="2000" smtClean="0">
                <a:solidFill>
                  <a:schemeClr val="tx1"/>
                </a:solidFill>
              </a:rPr>
              <a:t/>
            </a:r>
            <a:br>
              <a:rPr lang="en-US" sz="2000" smtClean="0">
                <a:solidFill>
                  <a:schemeClr val="tx1"/>
                </a:solidFill>
              </a:rPr>
            </a:br>
            <a:r>
              <a:rPr lang="en-US" sz="2000" smtClean="0">
                <a:solidFill>
                  <a:schemeClr val="tx1"/>
                </a:solidFill>
              </a:rPr>
              <a:t/>
            </a:r>
            <a:br>
              <a:rPr lang="en-US" sz="2000" smtClean="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Изложеният алгоритъм е сериозно подобрение на алгоритъма на пряката селекция, но и той има редица недостатъци: все още голям брой на извършваните размени; стойностите </a:t>
            </a:r>
            <a:r>
              <a:rPr lang="bg-BG" sz="2000">
                <a:solidFill>
                  <a:schemeClr val="tx1"/>
                </a:solidFill>
                <a:sym typeface="SymbolProp BT" pitchFamily="18" charset="2"/>
              </a:rPr>
              <a:t></a:t>
            </a:r>
            <a:r>
              <a:rPr lang="bg-BG" sz="2000">
                <a:solidFill>
                  <a:schemeClr val="tx1"/>
                </a:solidFill>
              </a:rPr>
              <a:t>, които водят до излишни сравнения, като накрая запълват цялото дърво; изгражданото дърво, макар и идеално балансирано, не дава оптимални резултати, т. к. позволява листата да се появяват на всички нива: участниците в турнира са разположени в листата, а останалите върхове на дървото само ги дублират. </a:t>
            </a:r>
            <a:r>
              <a:rPr lang="bg-BG" sz="2000">
                <a:solidFill>
                  <a:schemeClr val="tx2">
                    <a:satMod val="130000"/>
                  </a:schemeClr>
                </a:solidFill>
              </a:rPr>
              <a:t/>
            </a:r>
            <a:br>
              <a:rPr lang="bg-BG" sz="2000">
                <a:solidFill>
                  <a:schemeClr val="tx2">
                    <a:satMod val="130000"/>
                  </a:schemeClr>
                </a:solidFill>
              </a:rPr>
            </a:br>
            <a:endParaRPr lang="en-US" sz="2000">
              <a:solidFill>
                <a:schemeClr val="tx2">
                  <a:satMod val="130000"/>
                </a:schemeClr>
              </a:solidFill>
            </a:endParaRPr>
          </a:p>
        </p:txBody>
      </p:sp>
      <p:grpSp>
        <p:nvGrpSpPr>
          <p:cNvPr id="39939" name="Group 3"/>
          <p:cNvGrpSpPr>
            <a:grpSpLocks/>
          </p:cNvGrpSpPr>
          <p:nvPr/>
        </p:nvGrpSpPr>
        <p:grpSpPr bwMode="auto">
          <a:xfrm>
            <a:off x="1371600" y="2505075"/>
            <a:ext cx="7334250" cy="1876425"/>
            <a:chOff x="856" y="2984"/>
            <a:chExt cx="4620" cy="1182"/>
          </a:xfrm>
        </p:grpSpPr>
        <p:sp>
          <p:nvSpPr>
            <p:cNvPr id="39941" name="Rectangle 4"/>
            <p:cNvSpPr>
              <a:spLocks noChangeArrowheads="1"/>
            </p:cNvSpPr>
            <p:nvPr/>
          </p:nvSpPr>
          <p:spPr bwMode="auto">
            <a:xfrm>
              <a:off x="856" y="3934"/>
              <a:ext cx="480" cy="192"/>
            </a:xfrm>
            <a:prstGeom prst="rect">
              <a:avLst/>
            </a:prstGeom>
            <a:noFill/>
            <a:ln w="9525">
              <a:solidFill>
                <a:schemeClr val="tx1"/>
              </a:solidFill>
              <a:miter lim="800000"/>
              <a:headEnd/>
              <a:tailEnd/>
            </a:ln>
          </p:spPr>
          <p:txBody>
            <a:bodyPr wrap="none" anchor="ctr"/>
            <a:lstStyle/>
            <a:p>
              <a:endParaRPr lang="bg-BG"/>
            </a:p>
          </p:txBody>
        </p:sp>
        <p:sp>
          <p:nvSpPr>
            <p:cNvPr id="39942" name="Text Box 5"/>
            <p:cNvSpPr txBox="1">
              <a:spLocks noChangeArrowheads="1"/>
            </p:cNvSpPr>
            <p:nvPr/>
          </p:nvSpPr>
          <p:spPr bwMode="auto">
            <a:xfrm>
              <a:off x="954" y="3904"/>
              <a:ext cx="294" cy="250"/>
            </a:xfrm>
            <a:prstGeom prst="rect">
              <a:avLst/>
            </a:prstGeom>
            <a:noFill/>
            <a:ln w="9525">
              <a:noFill/>
              <a:miter lim="800000"/>
              <a:headEnd/>
              <a:tailEnd/>
            </a:ln>
          </p:spPr>
          <p:txBody>
            <a:bodyPr>
              <a:spAutoFit/>
            </a:bodyPr>
            <a:lstStyle/>
            <a:p>
              <a:pPr algn="l">
                <a:spcBef>
                  <a:spcPct val="50000"/>
                </a:spcBef>
              </a:pPr>
              <a:r>
                <a:rPr lang="en-US" sz="2000"/>
                <a:t>1</a:t>
              </a:r>
              <a:r>
                <a:rPr lang="bg-BG" sz="2000"/>
                <a:t>5</a:t>
              </a:r>
              <a:endParaRPr lang="en-US"/>
            </a:p>
          </p:txBody>
        </p:sp>
        <p:sp>
          <p:nvSpPr>
            <p:cNvPr id="39943" name="Rectangle 6"/>
            <p:cNvSpPr>
              <a:spLocks noChangeArrowheads="1"/>
            </p:cNvSpPr>
            <p:nvPr/>
          </p:nvSpPr>
          <p:spPr bwMode="auto">
            <a:xfrm>
              <a:off x="2626" y="3934"/>
              <a:ext cx="480" cy="192"/>
            </a:xfrm>
            <a:prstGeom prst="rect">
              <a:avLst/>
            </a:prstGeom>
            <a:noFill/>
            <a:ln w="9525">
              <a:solidFill>
                <a:schemeClr val="tx1"/>
              </a:solidFill>
              <a:miter lim="800000"/>
              <a:headEnd/>
              <a:tailEnd/>
            </a:ln>
          </p:spPr>
          <p:txBody>
            <a:bodyPr wrap="none" anchor="ctr"/>
            <a:lstStyle/>
            <a:p>
              <a:endParaRPr lang="bg-BG"/>
            </a:p>
          </p:txBody>
        </p:sp>
        <p:sp>
          <p:nvSpPr>
            <p:cNvPr id="39944" name="Rectangle 7"/>
            <p:cNvSpPr>
              <a:spLocks noChangeArrowheads="1"/>
            </p:cNvSpPr>
            <p:nvPr/>
          </p:nvSpPr>
          <p:spPr bwMode="auto">
            <a:xfrm>
              <a:off x="3222" y="3934"/>
              <a:ext cx="480" cy="192"/>
            </a:xfrm>
            <a:prstGeom prst="rect">
              <a:avLst/>
            </a:prstGeom>
            <a:noFill/>
            <a:ln w="9525">
              <a:solidFill>
                <a:schemeClr val="tx1"/>
              </a:solidFill>
              <a:miter lim="800000"/>
              <a:headEnd/>
              <a:tailEnd/>
            </a:ln>
          </p:spPr>
          <p:txBody>
            <a:bodyPr wrap="none" anchor="ctr"/>
            <a:lstStyle/>
            <a:p>
              <a:endParaRPr lang="bg-BG"/>
            </a:p>
          </p:txBody>
        </p:sp>
        <p:sp>
          <p:nvSpPr>
            <p:cNvPr id="39945" name="Rectangle 8"/>
            <p:cNvSpPr>
              <a:spLocks noChangeArrowheads="1"/>
            </p:cNvSpPr>
            <p:nvPr/>
          </p:nvSpPr>
          <p:spPr bwMode="auto">
            <a:xfrm>
              <a:off x="3806" y="3934"/>
              <a:ext cx="480" cy="192"/>
            </a:xfrm>
            <a:prstGeom prst="rect">
              <a:avLst/>
            </a:prstGeom>
            <a:noFill/>
            <a:ln w="9525">
              <a:solidFill>
                <a:schemeClr val="tx1"/>
              </a:solidFill>
              <a:miter lim="800000"/>
              <a:headEnd/>
              <a:tailEnd/>
            </a:ln>
          </p:spPr>
          <p:txBody>
            <a:bodyPr wrap="none" anchor="ctr"/>
            <a:lstStyle/>
            <a:p>
              <a:endParaRPr lang="bg-BG"/>
            </a:p>
          </p:txBody>
        </p:sp>
        <p:sp>
          <p:nvSpPr>
            <p:cNvPr id="39946" name="Rectangle 9"/>
            <p:cNvSpPr>
              <a:spLocks noChangeArrowheads="1"/>
            </p:cNvSpPr>
            <p:nvPr/>
          </p:nvSpPr>
          <p:spPr bwMode="auto">
            <a:xfrm>
              <a:off x="4400" y="3934"/>
              <a:ext cx="480" cy="192"/>
            </a:xfrm>
            <a:prstGeom prst="rect">
              <a:avLst/>
            </a:prstGeom>
            <a:noFill/>
            <a:ln w="9525">
              <a:solidFill>
                <a:schemeClr val="tx1"/>
              </a:solidFill>
              <a:miter lim="800000"/>
              <a:headEnd/>
              <a:tailEnd/>
            </a:ln>
          </p:spPr>
          <p:txBody>
            <a:bodyPr wrap="none" anchor="ctr"/>
            <a:lstStyle/>
            <a:p>
              <a:endParaRPr lang="bg-BG"/>
            </a:p>
          </p:txBody>
        </p:sp>
        <p:sp>
          <p:nvSpPr>
            <p:cNvPr id="39947" name="Rectangle 10"/>
            <p:cNvSpPr>
              <a:spLocks noChangeArrowheads="1"/>
            </p:cNvSpPr>
            <p:nvPr/>
          </p:nvSpPr>
          <p:spPr bwMode="auto">
            <a:xfrm>
              <a:off x="4996" y="3934"/>
              <a:ext cx="480" cy="192"/>
            </a:xfrm>
            <a:prstGeom prst="rect">
              <a:avLst/>
            </a:prstGeom>
            <a:noFill/>
            <a:ln w="9525">
              <a:solidFill>
                <a:schemeClr val="tx1"/>
              </a:solidFill>
              <a:miter lim="800000"/>
              <a:headEnd/>
              <a:tailEnd/>
            </a:ln>
          </p:spPr>
          <p:txBody>
            <a:bodyPr wrap="none" anchor="ctr"/>
            <a:lstStyle/>
            <a:p>
              <a:endParaRPr lang="bg-BG"/>
            </a:p>
          </p:txBody>
        </p:sp>
        <p:sp>
          <p:nvSpPr>
            <p:cNvPr id="39948" name="Rectangle 11"/>
            <p:cNvSpPr>
              <a:spLocks noChangeArrowheads="1"/>
            </p:cNvSpPr>
            <p:nvPr/>
          </p:nvSpPr>
          <p:spPr bwMode="auto">
            <a:xfrm>
              <a:off x="1452" y="3934"/>
              <a:ext cx="480" cy="192"/>
            </a:xfrm>
            <a:prstGeom prst="rect">
              <a:avLst/>
            </a:prstGeom>
            <a:noFill/>
            <a:ln w="9525">
              <a:solidFill>
                <a:schemeClr val="tx1"/>
              </a:solidFill>
              <a:miter lim="800000"/>
              <a:headEnd/>
              <a:tailEnd/>
            </a:ln>
          </p:spPr>
          <p:txBody>
            <a:bodyPr wrap="none" anchor="ctr"/>
            <a:lstStyle/>
            <a:p>
              <a:endParaRPr lang="bg-BG"/>
            </a:p>
          </p:txBody>
        </p:sp>
        <p:sp>
          <p:nvSpPr>
            <p:cNvPr id="39949" name="Rectangle 12"/>
            <p:cNvSpPr>
              <a:spLocks noChangeArrowheads="1"/>
            </p:cNvSpPr>
            <p:nvPr/>
          </p:nvSpPr>
          <p:spPr bwMode="auto">
            <a:xfrm>
              <a:off x="2044" y="3934"/>
              <a:ext cx="480" cy="192"/>
            </a:xfrm>
            <a:prstGeom prst="rect">
              <a:avLst/>
            </a:prstGeom>
            <a:noFill/>
            <a:ln w="9525">
              <a:solidFill>
                <a:schemeClr val="tx1"/>
              </a:solidFill>
              <a:miter lim="800000"/>
              <a:headEnd/>
              <a:tailEnd/>
            </a:ln>
          </p:spPr>
          <p:txBody>
            <a:bodyPr wrap="none" anchor="ctr"/>
            <a:lstStyle/>
            <a:p>
              <a:endParaRPr lang="bg-BG"/>
            </a:p>
          </p:txBody>
        </p:sp>
        <p:sp>
          <p:nvSpPr>
            <p:cNvPr id="39950" name="Rectangle 13"/>
            <p:cNvSpPr>
              <a:spLocks noChangeArrowheads="1"/>
            </p:cNvSpPr>
            <p:nvPr/>
          </p:nvSpPr>
          <p:spPr bwMode="auto">
            <a:xfrm>
              <a:off x="4080" y="3310"/>
              <a:ext cx="480" cy="192"/>
            </a:xfrm>
            <a:prstGeom prst="rect">
              <a:avLst/>
            </a:prstGeom>
            <a:noFill/>
            <a:ln w="9525">
              <a:solidFill>
                <a:schemeClr val="tx1"/>
              </a:solidFill>
              <a:miter lim="800000"/>
              <a:headEnd/>
              <a:tailEnd/>
            </a:ln>
          </p:spPr>
          <p:txBody>
            <a:bodyPr wrap="none" anchor="ctr"/>
            <a:lstStyle/>
            <a:p>
              <a:endParaRPr lang="bg-BG"/>
            </a:p>
          </p:txBody>
        </p:sp>
        <p:sp>
          <p:nvSpPr>
            <p:cNvPr id="39951" name="Rectangle 14"/>
            <p:cNvSpPr>
              <a:spLocks noChangeArrowheads="1"/>
            </p:cNvSpPr>
            <p:nvPr/>
          </p:nvSpPr>
          <p:spPr bwMode="auto">
            <a:xfrm>
              <a:off x="2352" y="3598"/>
              <a:ext cx="480" cy="192"/>
            </a:xfrm>
            <a:prstGeom prst="rect">
              <a:avLst/>
            </a:prstGeom>
            <a:noFill/>
            <a:ln w="9525">
              <a:solidFill>
                <a:schemeClr val="tx1"/>
              </a:solidFill>
              <a:miter lim="800000"/>
              <a:headEnd/>
              <a:tailEnd/>
            </a:ln>
          </p:spPr>
          <p:txBody>
            <a:bodyPr wrap="none" anchor="ctr"/>
            <a:lstStyle/>
            <a:p>
              <a:endParaRPr lang="bg-BG"/>
            </a:p>
          </p:txBody>
        </p:sp>
        <p:sp>
          <p:nvSpPr>
            <p:cNvPr id="39952" name="Rectangle 15"/>
            <p:cNvSpPr>
              <a:spLocks noChangeArrowheads="1"/>
            </p:cNvSpPr>
            <p:nvPr/>
          </p:nvSpPr>
          <p:spPr bwMode="auto">
            <a:xfrm>
              <a:off x="3504" y="3596"/>
              <a:ext cx="480" cy="192"/>
            </a:xfrm>
            <a:prstGeom prst="rect">
              <a:avLst/>
            </a:prstGeom>
            <a:noFill/>
            <a:ln w="9525">
              <a:solidFill>
                <a:schemeClr val="tx1"/>
              </a:solidFill>
              <a:miter lim="800000"/>
              <a:headEnd/>
              <a:tailEnd/>
            </a:ln>
          </p:spPr>
          <p:txBody>
            <a:bodyPr wrap="none" anchor="ctr"/>
            <a:lstStyle/>
            <a:p>
              <a:endParaRPr lang="bg-BG"/>
            </a:p>
          </p:txBody>
        </p:sp>
        <p:sp>
          <p:nvSpPr>
            <p:cNvPr id="39953" name="Rectangle 16"/>
            <p:cNvSpPr>
              <a:spLocks noChangeArrowheads="1"/>
            </p:cNvSpPr>
            <p:nvPr/>
          </p:nvSpPr>
          <p:spPr bwMode="auto">
            <a:xfrm>
              <a:off x="4696" y="3606"/>
              <a:ext cx="480" cy="192"/>
            </a:xfrm>
            <a:prstGeom prst="rect">
              <a:avLst/>
            </a:prstGeom>
            <a:noFill/>
            <a:ln w="9525">
              <a:solidFill>
                <a:schemeClr val="tx1"/>
              </a:solidFill>
              <a:miter lim="800000"/>
              <a:headEnd/>
              <a:tailEnd/>
            </a:ln>
          </p:spPr>
          <p:txBody>
            <a:bodyPr wrap="none" anchor="ctr"/>
            <a:lstStyle/>
            <a:p>
              <a:endParaRPr lang="bg-BG"/>
            </a:p>
          </p:txBody>
        </p:sp>
        <p:sp>
          <p:nvSpPr>
            <p:cNvPr id="39954" name="Rectangle 17"/>
            <p:cNvSpPr>
              <a:spLocks noChangeArrowheads="1"/>
            </p:cNvSpPr>
            <p:nvPr/>
          </p:nvSpPr>
          <p:spPr bwMode="auto">
            <a:xfrm>
              <a:off x="1200" y="3598"/>
              <a:ext cx="480" cy="192"/>
            </a:xfrm>
            <a:prstGeom prst="rect">
              <a:avLst/>
            </a:prstGeom>
            <a:noFill/>
            <a:ln w="9525">
              <a:solidFill>
                <a:schemeClr val="tx1"/>
              </a:solidFill>
              <a:miter lim="800000"/>
              <a:headEnd/>
              <a:tailEnd/>
            </a:ln>
          </p:spPr>
          <p:txBody>
            <a:bodyPr wrap="none" anchor="ctr"/>
            <a:lstStyle/>
            <a:p>
              <a:endParaRPr lang="bg-BG"/>
            </a:p>
          </p:txBody>
        </p:sp>
        <p:sp>
          <p:nvSpPr>
            <p:cNvPr id="39955" name="Rectangle 18"/>
            <p:cNvSpPr>
              <a:spLocks noChangeArrowheads="1"/>
            </p:cNvSpPr>
            <p:nvPr/>
          </p:nvSpPr>
          <p:spPr bwMode="auto">
            <a:xfrm>
              <a:off x="1776" y="3290"/>
              <a:ext cx="480" cy="192"/>
            </a:xfrm>
            <a:prstGeom prst="rect">
              <a:avLst/>
            </a:prstGeom>
            <a:noFill/>
            <a:ln w="9525">
              <a:solidFill>
                <a:schemeClr val="tx1"/>
              </a:solidFill>
              <a:miter lim="800000"/>
              <a:headEnd/>
              <a:tailEnd/>
            </a:ln>
          </p:spPr>
          <p:txBody>
            <a:bodyPr wrap="none" anchor="ctr"/>
            <a:lstStyle/>
            <a:p>
              <a:endParaRPr lang="bg-BG"/>
            </a:p>
          </p:txBody>
        </p:sp>
        <p:sp>
          <p:nvSpPr>
            <p:cNvPr id="39956" name="Rectangle 19"/>
            <p:cNvSpPr>
              <a:spLocks noChangeArrowheads="1"/>
            </p:cNvSpPr>
            <p:nvPr/>
          </p:nvSpPr>
          <p:spPr bwMode="auto">
            <a:xfrm>
              <a:off x="2928" y="3022"/>
              <a:ext cx="480" cy="192"/>
            </a:xfrm>
            <a:prstGeom prst="rect">
              <a:avLst/>
            </a:prstGeom>
            <a:noFill/>
            <a:ln w="9525">
              <a:solidFill>
                <a:schemeClr val="tx1"/>
              </a:solidFill>
              <a:miter lim="800000"/>
              <a:headEnd/>
              <a:tailEnd/>
            </a:ln>
          </p:spPr>
          <p:txBody>
            <a:bodyPr wrap="none" anchor="ctr"/>
            <a:lstStyle/>
            <a:p>
              <a:endParaRPr lang="bg-BG"/>
            </a:p>
          </p:txBody>
        </p:sp>
        <p:sp>
          <p:nvSpPr>
            <p:cNvPr id="39957" name="Line 20"/>
            <p:cNvSpPr>
              <a:spLocks noChangeShapeType="1"/>
            </p:cNvSpPr>
            <p:nvPr/>
          </p:nvSpPr>
          <p:spPr bwMode="auto">
            <a:xfrm flipH="1">
              <a:off x="1104" y="3790"/>
              <a:ext cx="240" cy="144"/>
            </a:xfrm>
            <a:prstGeom prst="line">
              <a:avLst/>
            </a:prstGeom>
            <a:noFill/>
            <a:ln w="9525">
              <a:solidFill>
                <a:schemeClr val="tx1"/>
              </a:solidFill>
              <a:round/>
              <a:headEnd/>
              <a:tailEnd/>
            </a:ln>
          </p:spPr>
          <p:txBody>
            <a:bodyPr wrap="none" anchor="ctr"/>
            <a:lstStyle/>
            <a:p>
              <a:endParaRPr lang="bg-BG"/>
            </a:p>
          </p:txBody>
        </p:sp>
        <p:sp>
          <p:nvSpPr>
            <p:cNvPr id="39958" name="Line 21"/>
            <p:cNvSpPr>
              <a:spLocks noChangeShapeType="1"/>
            </p:cNvSpPr>
            <p:nvPr/>
          </p:nvSpPr>
          <p:spPr bwMode="auto">
            <a:xfrm>
              <a:off x="1536" y="3790"/>
              <a:ext cx="192" cy="144"/>
            </a:xfrm>
            <a:prstGeom prst="line">
              <a:avLst/>
            </a:prstGeom>
            <a:noFill/>
            <a:ln w="9525">
              <a:solidFill>
                <a:schemeClr val="tx1"/>
              </a:solidFill>
              <a:round/>
              <a:headEnd/>
              <a:tailEnd/>
            </a:ln>
          </p:spPr>
          <p:txBody>
            <a:bodyPr wrap="none" anchor="ctr"/>
            <a:lstStyle/>
            <a:p>
              <a:endParaRPr lang="bg-BG"/>
            </a:p>
          </p:txBody>
        </p:sp>
        <p:sp>
          <p:nvSpPr>
            <p:cNvPr id="39959" name="Line 22"/>
            <p:cNvSpPr>
              <a:spLocks noChangeShapeType="1"/>
            </p:cNvSpPr>
            <p:nvPr/>
          </p:nvSpPr>
          <p:spPr bwMode="auto">
            <a:xfrm flipH="1">
              <a:off x="2256" y="3790"/>
              <a:ext cx="240" cy="144"/>
            </a:xfrm>
            <a:prstGeom prst="line">
              <a:avLst/>
            </a:prstGeom>
            <a:noFill/>
            <a:ln w="9525">
              <a:solidFill>
                <a:schemeClr val="tx1"/>
              </a:solidFill>
              <a:round/>
              <a:headEnd/>
              <a:tailEnd/>
            </a:ln>
          </p:spPr>
          <p:txBody>
            <a:bodyPr wrap="none" anchor="ctr"/>
            <a:lstStyle/>
            <a:p>
              <a:endParaRPr lang="bg-BG"/>
            </a:p>
          </p:txBody>
        </p:sp>
        <p:sp>
          <p:nvSpPr>
            <p:cNvPr id="39960" name="Line 23"/>
            <p:cNvSpPr>
              <a:spLocks noChangeShapeType="1"/>
            </p:cNvSpPr>
            <p:nvPr/>
          </p:nvSpPr>
          <p:spPr bwMode="auto">
            <a:xfrm>
              <a:off x="2688" y="3790"/>
              <a:ext cx="240" cy="144"/>
            </a:xfrm>
            <a:prstGeom prst="line">
              <a:avLst/>
            </a:prstGeom>
            <a:noFill/>
            <a:ln w="9525">
              <a:solidFill>
                <a:schemeClr val="tx1"/>
              </a:solidFill>
              <a:round/>
              <a:headEnd/>
              <a:tailEnd/>
            </a:ln>
          </p:spPr>
          <p:txBody>
            <a:bodyPr wrap="none" anchor="ctr"/>
            <a:lstStyle/>
            <a:p>
              <a:endParaRPr lang="bg-BG"/>
            </a:p>
          </p:txBody>
        </p:sp>
        <p:sp>
          <p:nvSpPr>
            <p:cNvPr id="39961" name="Line 24"/>
            <p:cNvSpPr>
              <a:spLocks noChangeShapeType="1"/>
            </p:cNvSpPr>
            <p:nvPr/>
          </p:nvSpPr>
          <p:spPr bwMode="auto">
            <a:xfrm flipH="1">
              <a:off x="3456" y="3790"/>
              <a:ext cx="240" cy="144"/>
            </a:xfrm>
            <a:prstGeom prst="line">
              <a:avLst/>
            </a:prstGeom>
            <a:noFill/>
            <a:ln w="9525">
              <a:solidFill>
                <a:schemeClr val="tx1"/>
              </a:solidFill>
              <a:round/>
              <a:headEnd/>
              <a:tailEnd/>
            </a:ln>
          </p:spPr>
          <p:txBody>
            <a:bodyPr wrap="none" anchor="ctr"/>
            <a:lstStyle/>
            <a:p>
              <a:endParaRPr lang="bg-BG"/>
            </a:p>
          </p:txBody>
        </p:sp>
        <p:sp>
          <p:nvSpPr>
            <p:cNvPr id="39962" name="Line 25"/>
            <p:cNvSpPr>
              <a:spLocks noChangeShapeType="1"/>
            </p:cNvSpPr>
            <p:nvPr/>
          </p:nvSpPr>
          <p:spPr bwMode="auto">
            <a:xfrm>
              <a:off x="3792" y="3790"/>
              <a:ext cx="288" cy="144"/>
            </a:xfrm>
            <a:prstGeom prst="line">
              <a:avLst/>
            </a:prstGeom>
            <a:noFill/>
            <a:ln w="9525">
              <a:solidFill>
                <a:schemeClr val="tx1"/>
              </a:solidFill>
              <a:round/>
              <a:headEnd/>
              <a:tailEnd/>
            </a:ln>
          </p:spPr>
          <p:txBody>
            <a:bodyPr wrap="none" anchor="ctr"/>
            <a:lstStyle/>
            <a:p>
              <a:endParaRPr lang="bg-BG"/>
            </a:p>
          </p:txBody>
        </p:sp>
        <p:sp>
          <p:nvSpPr>
            <p:cNvPr id="39963" name="Line 26"/>
            <p:cNvSpPr>
              <a:spLocks noChangeShapeType="1"/>
            </p:cNvSpPr>
            <p:nvPr/>
          </p:nvSpPr>
          <p:spPr bwMode="auto">
            <a:xfrm flipH="1">
              <a:off x="4608" y="3800"/>
              <a:ext cx="240" cy="144"/>
            </a:xfrm>
            <a:prstGeom prst="line">
              <a:avLst/>
            </a:prstGeom>
            <a:noFill/>
            <a:ln w="9525">
              <a:solidFill>
                <a:schemeClr val="tx1"/>
              </a:solidFill>
              <a:round/>
              <a:headEnd/>
              <a:tailEnd/>
            </a:ln>
          </p:spPr>
          <p:txBody>
            <a:bodyPr wrap="none" anchor="ctr"/>
            <a:lstStyle/>
            <a:p>
              <a:endParaRPr lang="bg-BG"/>
            </a:p>
          </p:txBody>
        </p:sp>
        <p:sp>
          <p:nvSpPr>
            <p:cNvPr id="39964" name="Line 27"/>
            <p:cNvSpPr>
              <a:spLocks noChangeShapeType="1"/>
            </p:cNvSpPr>
            <p:nvPr/>
          </p:nvSpPr>
          <p:spPr bwMode="auto">
            <a:xfrm>
              <a:off x="5040" y="3800"/>
              <a:ext cx="288" cy="134"/>
            </a:xfrm>
            <a:prstGeom prst="line">
              <a:avLst/>
            </a:prstGeom>
            <a:noFill/>
            <a:ln w="9525">
              <a:solidFill>
                <a:schemeClr val="tx1"/>
              </a:solidFill>
              <a:round/>
              <a:headEnd/>
              <a:tailEnd/>
            </a:ln>
          </p:spPr>
          <p:txBody>
            <a:bodyPr wrap="none" anchor="ctr"/>
            <a:lstStyle/>
            <a:p>
              <a:endParaRPr lang="bg-BG"/>
            </a:p>
          </p:txBody>
        </p:sp>
        <p:sp>
          <p:nvSpPr>
            <p:cNvPr id="39965" name="Line 28"/>
            <p:cNvSpPr>
              <a:spLocks noChangeShapeType="1"/>
            </p:cNvSpPr>
            <p:nvPr/>
          </p:nvSpPr>
          <p:spPr bwMode="auto">
            <a:xfrm flipH="1">
              <a:off x="1536" y="3492"/>
              <a:ext cx="336" cy="96"/>
            </a:xfrm>
            <a:prstGeom prst="line">
              <a:avLst/>
            </a:prstGeom>
            <a:noFill/>
            <a:ln w="9525">
              <a:solidFill>
                <a:schemeClr val="tx1"/>
              </a:solidFill>
              <a:round/>
              <a:headEnd/>
              <a:tailEnd/>
            </a:ln>
          </p:spPr>
          <p:txBody>
            <a:bodyPr wrap="none" anchor="ctr"/>
            <a:lstStyle/>
            <a:p>
              <a:endParaRPr lang="bg-BG"/>
            </a:p>
          </p:txBody>
        </p:sp>
        <p:sp>
          <p:nvSpPr>
            <p:cNvPr id="39966" name="Line 29"/>
            <p:cNvSpPr>
              <a:spLocks noChangeShapeType="1"/>
            </p:cNvSpPr>
            <p:nvPr/>
          </p:nvSpPr>
          <p:spPr bwMode="auto">
            <a:xfrm>
              <a:off x="2112" y="3492"/>
              <a:ext cx="336" cy="96"/>
            </a:xfrm>
            <a:prstGeom prst="line">
              <a:avLst/>
            </a:prstGeom>
            <a:noFill/>
            <a:ln w="9525">
              <a:solidFill>
                <a:schemeClr val="tx1"/>
              </a:solidFill>
              <a:round/>
              <a:headEnd/>
              <a:tailEnd/>
            </a:ln>
          </p:spPr>
          <p:txBody>
            <a:bodyPr wrap="none" anchor="ctr"/>
            <a:lstStyle/>
            <a:p>
              <a:endParaRPr lang="bg-BG"/>
            </a:p>
          </p:txBody>
        </p:sp>
        <p:sp>
          <p:nvSpPr>
            <p:cNvPr id="39967" name="Line 30"/>
            <p:cNvSpPr>
              <a:spLocks noChangeShapeType="1"/>
            </p:cNvSpPr>
            <p:nvPr/>
          </p:nvSpPr>
          <p:spPr bwMode="auto">
            <a:xfrm flipH="1">
              <a:off x="3744" y="3502"/>
              <a:ext cx="432" cy="96"/>
            </a:xfrm>
            <a:prstGeom prst="line">
              <a:avLst/>
            </a:prstGeom>
            <a:noFill/>
            <a:ln w="9525">
              <a:solidFill>
                <a:schemeClr val="tx1"/>
              </a:solidFill>
              <a:round/>
              <a:headEnd/>
              <a:tailEnd/>
            </a:ln>
          </p:spPr>
          <p:txBody>
            <a:bodyPr wrap="none" anchor="ctr"/>
            <a:lstStyle/>
            <a:p>
              <a:endParaRPr lang="bg-BG"/>
            </a:p>
          </p:txBody>
        </p:sp>
        <p:sp>
          <p:nvSpPr>
            <p:cNvPr id="39968" name="Line 31"/>
            <p:cNvSpPr>
              <a:spLocks noChangeShapeType="1"/>
            </p:cNvSpPr>
            <p:nvPr/>
          </p:nvSpPr>
          <p:spPr bwMode="auto">
            <a:xfrm>
              <a:off x="4512" y="3502"/>
              <a:ext cx="384" cy="96"/>
            </a:xfrm>
            <a:prstGeom prst="line">
              <a:avLst/>
            </a:prstGeom>
            <a:noFill/>
            <a:ln w="9525">
              <a:solidFill>
                <a:schemeClr val="tx1"/>
              </a:solidFill>
              <a:round/>
              <a:headEnd/>
              <a:tailEnd/>
            </a:ln>
          </p:spPr>
          <p:txBody>
            <a:bodyPr wrap="none" anchor="ctr"/>
            <a:lstStyle/>
            <a:p>
              <a:endParaRPr lang="bg-BG"/>
            </a:p>
          </p:txBody>
        </p:sp>
        <p:sp>
          <p:nvSpPr>
            <p:cNvPr id="39969" name="Line 32"/>
            <p:cNvSpPr>
              <a:spLocks noChangeShapeType="1"/>
            </p:cNvSpPr>
            <p:nvPr/>
          </p:nvSpPr>
          <p:spPr bwMode="auto">
            <a:xfrm flipH="1">
              <a:off x="2016" y="3060"/>
              <a:ext cx="912" cy="240"/>
            </a:xfrm>
            <a:prstGeom prst="line">
              <a:avLst/>
            </a:prstGeom>
            <a:noFill/>
            <a:ln w="9525">
              <a:solidFill>
                <a:schemeClr val="tx1"/>
              </a:solidFill>
              <a:round/>
              <a:headEnd/>
              <a:tailEnd/>
            </a:ln>
          </p:spPr>
          <p:txBody>
            <a:bodyPr wrap="none" anchor="ctr"/>
            <a:lstStyle/>
            <a:p>
              <a:endParaRPr lang="bg-BG"/>
            </a:p>
          </p:txBody>
        </p:sp>
        <p:sp>
          <p:nvSpPr>
            <p:cNvPr id="39970" name="Line 33"/>
            <p:cNvSpPr>
              <a:spLocks noChangeShapeType="1"/>
            </p:cNvSpPr>
            <p:nvPr/>
          </p:nvSpPr>
          <p:spPr bwMode="auto">
            <a:xfrm>
              <a:off x="3408" y="3070"/>
              <a:ext cx="912" cy="240"/>
            </a:xfrm>
            <a:prstGeom prst="line">
              <a:avLst/>
            </a:prstGeom>
            <a:noFill/>
            <a:ln w="9525">
              <a:solidFill>
                <a:schemeClr val="tx1"/>
              </a:solidFill>
              <a:round/>
              <a:headEnd/>
              <a:tailEnd/>
            </a:ln>
          </p:spPr>
          <p:txBody>
            <a:bodyPr wrap="none" anchor="ctr"/>
            <a:lstStyle/>
            <a:p>
              <a:endParaRPr lang="bg-BG"/>
            </a:p>
          </p:txBody>
        </p:sp>
        <p:sp>
          <p:nvSpPr>
            <p:cNvPr id="39971" name="Text Box 34"/>
            <p:cNvSpPr txBox="1">
              <a:spLocks noChangeArrowheads="1"/>
            </p:cNvSpPr>
            <p:nvPr/>
          </p:nvSpPr>
          <p:spPr bwMode="auto">
            <a:xfrm>
              <a:off x="1546" y="3906"/>
              <a:ext cx="294" cy="250"/>
            </a:xfrm>
            <a:prstGeom prst="rect">
              <a:avLst/>
            </a:prstGeom>
            <a:noFill/>
            <a:ln w="9525">
              <a:noFill/>
              <a:miter lim="800000"/>
              <a:headEnd/>
              <a:tailEnd/>
            </a:ln>
          </p:spPr>
          <p:txBody>
            <a:bodyPr>
              <a:spAutoFit/>
            </a:bodyPr>
            <a:lstStyle/>
            <a:p>
              <a:pPr algn="l">
                <a:spcBef>
                  <a:spcPct val="50000"/>
                </a:spcBef>
              </a:pPr>
              <a:r>
                <a:rPr lang="en-US" sz="2000"/>
                <a:t>1</a:t>
              </a:r>
              <a:r>
                <a:rPr lang="bg-BG" sz="2000"/>
                <a:t>7</a:t>
              </a:r>
              <a:endParaRPr lang="en-US"/>
            </a:p>
          </p:txBody>
        </p:sp>
        <p:sp>
          <p:nvSpPr>
            <p:cNvPr id="39972" name="Text Box 35"/>
            <p:cNvSpPr txBox="1">
              <a:spLocks noChangeArrowheads="1"/>
            </p:cNvSpPr>
            <p:nvPr/>
          </p:nvSpPr>
          <p:spPr bwMode="auto">
            <a:xfrm>
              <a:off x="1296" y="3570"/>
              <a:ext cx="294" cy="250"/>
            </a:xfrm>
            <a:prstGeom prst="rect">
              <a:avLst/>
            </a:prstGeom>
            <a:noFill/>
            <a:ln w="9525">
              <a:noFill/>
              <a:miter lim="800000"/>
              <a:headEnd/>
              <a:tailEnd/>
            </a:ln>
          </p:spPr>
          <p:txBody>
            <a:bodyPr>
              <a:spAutoFit/>
            </a:bodyPr>
            <a:lstStyle/>
            <a:p>
              <a:pPr algn="l">
                <a:spcBef>
                  <a:spcPct val="50000"/>
                </a:spcBef>
              </a:pPr>
              <a:r>
                <a:rPr lang="en-US" sz="2000"/>
                <a:t>1</a:t>
              </a:r>
              <a:r>
                <a:rPr lang="bg-BG" sz="2000"/>
                <a:t>5</a:t>
              </a:r>
              <a:endParaRPr lang="en-US"/>
            </a:p>
          </p:txBody>
        </p:sp>
        <p:sp>
          <p:nvSpPr>
            <p:cNvPr id="39973" name="Text Box 36"/>
            <p:cNvSpPr txBox="1">
              <a:spLocks noChangeArrowheads="1"/>
            </p:cNvSpPr>
            <p:nvPr/>
          </p:nvSpPr>
          <p:spPr bwMode="auto">
            <a:xfrm>
              <a:off x="1932" y="3262"/>
              <a:ext cx="294" cy="250"/>
            </a:xfrm>
            <a:prstGeom prst="rect">
              <a:avLst/>
            </a:prstGeom>
            <a:noFill/>
            <a:ln w="9525">
              <a:noFill/>
              <a:miter lim="800000"/>
              <a:headEnd/>
              <a:tailEnd/>
            </a:ln>
          </p:spPr>
          <p:txBody>
            <a:bodyPr>
              <a:spAutoFit/>
            </a:bodyPr>
            <a:lstStyle/>
            <a:p>
              <a:pPr algn="l">
                <a:spcBef>
                  <a:spcPct val="50000"/>
                </a:spcBef>
              </a:pPr>
              <a:r>
                <a:rPr lang="en-US" sz="2000"/>
                <a:t>3</a:t>
              </a:r>
              <a:endParaRPr lang="en-US"/>
            </a:p>
          </p:txBody>
        </p:sp>
        <p:sp>
          <p:nvSpPr>
            <p:cNvPr id="39974" name="Text Box 37"/>
            <p:cNvSpPr txBox="1">
              <a:spLocks noChangeArrowheads="1"/>
            </p:cNvSpPr>
            <p:nvPr/>
          </p:nvSpPr>
          <p:spPr bwMode="auto">
            <a:xfrm>
              <a:off x="2192" y="3916"/>
              <a:ext cx="294" cy="250"/>
            </a:xfrm>
            <a:prstGeom prst="rect">
              <a:avLst/>
            </a:prstGeom>
            <a:noFill/>
            <a:ln w="9525">
              <a:noFill/>
              <a:miter lim="800000"/>
              <a:headEnd/>
              <a:tailEnd/>
            </a:ln>
          </p:spPr>
          <p:txBody>
            <a:bodyPr>
              <a:spAutoFit/>
            </a:bodyPr>
            <a:lstStyle/>
            <a:p>
              <a:pPr algn="l">
                <a:spcBef>
                  <a:spcPct val="50000"/>
                </a:spcBef>
              </a:pPr>
              <a:r>
                <a:rPr lang="en-US" sz="2000"/>
                <a:t>3</a:t>
              </a:r>
              <a:endParaRPr lang="en-US"/>
            </a:p>
          </p:txBody>
        </p:sp>
        <p:sp>
          <p:nvSpPr>
            <p:cNvPr id="39975" name="Text Box 38"/>
            <p:cNvSpPr txBox="1">
              <a:spLocks noChangeArrowheads="1"/>
            </p:cNvSpPr>
            <p:nvPr/>
          </p:nvSpPr>
          <p:spPr bwMode="auto">
            <a:xfrm>
              <a:off x="2488" y="3570"/>
              <a:ext cx="294" cy="250"/>
            </a:xfrm>
            <a:prstGeom prst="rect">
              <a:avLst/>
            </a:prstGeom>
            <a:noFill/>
            <a:ln w="9525">
              <a:noFill/>
              <a:miter lim="800000"/>
              <a:headEnd/>
              <a:tailEnd/>
            </a:ln>
          </p:spPr>
          <p:txBody>
            <a:bodyPr>
              <a:spAutoFit/>
            </a:bodyPr>
            <a:lstStyle/>
            <a:p>
              <a:pPr algn="l">
                <a:spcBef>
                  <a:spcPct val="50000"/>
                </a:spcBef>
              </a:pPr>
              <a:r>
                <a:rPr lang="en-US" sz="2000"/>
                <a:t>3</a:t>
              </a:r>
              <a:endParaRPr lang="en-US"/>
            </a:p>
          </p:txBody>
        </p:sp>
        <p:sp>
          <p:nvSpPr>
            <p:cNvPr id="39976" name="Text Box 39"/>
            <p:cNvSpPr txBox="1">
              <a:spLocks noChangeArrowheads="1"/>
            </p:cNvSpPr>
            <p:nvPr/>
          </p:nvSpPr>
          <p:spPr bwMode="auto">
            <a:xfrm>
              <a:off x="2776" y="3906"/>
              <a:ext cx="294" cy="250"/>
            </a:xfrm>
            <a:prstGeom prst="rect">
              <a:avLst/>
            </a:prstGeom>
            <a:noFill/>
            <a:ln w="9525">
              <a:noFill/>
              <a:miter lim="800000"/>
              <a:headEnd/>
              <a:tailEnd/>
            </a:ln>
          </p:spPr>
          <p:txBody>
            <a:bodyPr>
              <a:spAutoFit/>
            </a:bodyPr>
            <a:lstStyle/>
            <a:p>
              <a:pPr algn="l">
                <a:spcBef>
                  <a:spcPct val="50000"/>
                </a:spcBef>
              </a:pPr>
              <a:r>
                <a:rPr lang="en-US" sz="2000"/>
                <a:t>8</a:t>
              </a:r>
              <a:endParaRPr lang="en-US"/>
            </a:p>
          </p:txBody>
        </p:sp>
        <p:sp>
          <p:nvSpPr>
            <p:cNvPr id="39977" name="Text Box 40"/>
            <p:cNvSpPr txBox="1">
              <a:spLocks noChangeArrowheads="1"/>
            </p:cNvSpPr>
            <p:nvPr/>
          </p:nvSpPr>
          <p:spPr bwMode="auto">
            <a:xfrm>
              <a:off x="3928" y="3906"/>
              <a:ext cx="294" cy="250"/>
            </a:xfrm>
            <a:prstGeom prst="rect">
              <a:avLst/>
            </a:prstGeom>
            <a:noFill/>
            <a:ln w="9525">
              <a:noFill/>
              <a:miter lim="800000"/>
              <a:headEnd/>
              <a:tailEnd/>
            </a:ln>
          </p:spPr>
          <p:txBody>
            <a:bodyPr>
              <a:spAutoFit/>
            </a:bodyPr>
            <a:lstStyle/>
            <a:p>
              <a:pPr algn="l">
                <a:spcBef>
                  <a:spcPct val="50000"/>
                </a:spcBef>
              </a:pPr>
              <a:r>
                <a:rPr lang="en-US" sz="2000"/>
                <a:t>1</a:t>
              </a:r>
              <a:endParaRPr lang="en-US"/>
            </a:p>
          </p:txBody>
        </p:sp>
        <p:sp>
          <p:nvSpPr>
            <p:cNvPr id="39978" name="Text Box 41"/>
            <p:cNvSpPr txBox="1">
              <a:spLocks noChangeArrowheads="1"/>
            </p:cNvSpPr>
            <p:nvPr/>
          </p:nvSpPr>
          <p:spPr bwMode="auto">
            <a:xfrm>
              <a:off x="3350" y="3906"/>
              <a:ext cx="294" cy="250"/>
            </a:xfrm>
            <a:prstGeom prst="rect">
              <a:avLst/>
            </a:prstGeom>
            <a:noFill/>
            <a:ln w="9525">
              <a:noFill/>
              <a:miter lim="800000"/>
              <a:headEnd/>
              <a:tailEnd/>
            </a:ln>
          </p:spPr>
          <p:txBody>
            <a:bodyPr>
              <a:spAutoFit/>
            </a:bodyPr>
            <a:lstStyle/>
            <a:p>
              <a:pPr algn="l">
                <a:spcBef>
                  <a:spcPct val="50000"/>
                </a:spcBef>
              </a:pPr>
              <a:r>
                <a:rPr lang="en-US" sz="2000"/>
                <a:t>9</a:t>
              </a:r>
              <a:endParaRPr lang="en-US"/>
            </a:p>
          </p:txBody>
        </p:sp>
        <p:sp>
          <p:nvSpPr>
            <p:cNvPr id="39979" name="Text Box 42"/>
            <p:cNvSpPr txBox="1">
              <a:spLocks noChangeArrowheads="1"/>
            </p:cNvSpPr>
            <p:nvPr/>
          </p:nvSpPr>
          <p:spPr bwMode="auto">
            <a:xfrm>
              <a:off x="5140" y="3906"/>
              <a:ext cx="294" cy="250"/>
            </a:xfrm>
            <a:prstGeom prst="rect">
              <a:avLst/>
            </a:prstGeom>
            <a:noFill/>
            <a:ln w="9525">
              <a:noFill/>
              <a:miter lim="800000"/>
              <a:headEnd/>
              <a:tailEnd/>
            </a:ln>
          </p:spPr>
          <p:txBody>
            <a:bodyPr>
              <a:spAutoFit/>
            </a:bodyPr>
            <a:lstStyle/>
            <a:p>
              <a:pPr algn="l">
                <a:spcBef>
                  <a:spcPct val="50000"/>
                </a:spcBef>
              </a:pPr>
              <a:r>
                <a:rPr lang="en-US" sz="2000"/>
                <a:t>5</a:t>
              </a:r>
              <a:endParaRPr lang="en-US"/>
            </a:p>
          </p:txBody>
        </p:sp>
        <p:sp>
          <p:nvSpPr>
            <p:cNvPr id="39980" name="Text Box 43"/>
            <p:cNvSpPr txBox="1">
              <a:spLocks noChangeArrowheads="1"/>
            </p:cNvSpPr>
            <p:nvPr/>
          </p:nvSpPr>
          <p:spPr bwMode="auto">
            <a:xfrm>
              <a:off x="4492" y="3906"/>
              <a:ext cx="278" cy="250"/>
            </a:xfrm>
            <a:prstGeom prst="rect">
              <a:avLst/>
            </a:prstGeom>
            <a:noFill/>
            <a:ln w="9525">
              <a:noFill/>
              <a:miter lim="800000"/>
              <a:headEnd/>
              <a:tailEnd/>
            </a:ln>
          </p:spPr>
          <p:txBody>
            <a:bodyPr>
              <a:spAutoFit/>
            </a:bodyPr>
            <a:lstStyle/>
            <a:p>
              <a:pPr algn="l">
                <a:spcBef>
                  <a:spcPct val="50000"/>
                </a:spcBef>
              </a:pPr>
              <a:r>
                <a:rPr lang="en-US" sz="2000"/>
                <a:t>1</a:t>
              </a:r>
              <a:r>
                <a:rPr lang="bg-BG" sz="2000"/>
                <a:t>8</a:t>
              </a:r>
              <a:endParaRPr lang="en-US"/>
            </a:p>
          </p:txBody>
        </p:sp>
        <p:sp>
          <p:nvSpPr>
            <p:cNvPr id="39981" name="Text Box 44"/>
            <p:cNvSpPr txBox="1">
              <a:spLocks noChangeArrowheads="1"/>
            </p:cNvSpPr>
            <p:nvPr/>
          </p:nvSpPr>
          <p:spPr bwMode="auto">
            <a:xfrm>
              <a:off x="4848" y="3578"/>
              <a:ext cx="294" cy="250"/>
            </a:xfrm>
            <a:prstGeom prst="rect">
              <a:avLst/>
            </a:prstGeom>
            <a:noFill/>
            <a:ln w="9525">
              <a:noFill/>
              <a:miter lim="800000"/>
              <a:headEnd/>
              <a:tailEnd/>
            </a:ln>
          </p:spPr>
          <p:txBody>
            <a:bodyPr>
              <a:spAutoFit/>
            </a:bodyPr>
            <a:lstStyle/>
            <a:p>
              <a:pPr algn="l">
                <a:spcBef>
                  <a:spcPct val="50000"/>
                </a:spcBef>
              </a:pPr>
              <a:r>
                <a:rPr lang="en-US" sz="2000"/>
                <a:t>5</a:t>
              </a:r>
              <a:endParaRPr lang="en-US"/>
            </a:p>
          </p:txBody>
        </p:sp>
        <p:sp>
          <p:nvSpPr>
            <p:cNvPr id="39982" name="Text Box 45"/>
            <p:cNvSpPr txBox="1">
              <a:spLocks noChangeArrowheads="1"/>
            </p:cNvSpPr>
            <p:nvPr/>
          </p:nvSpPr>
          <p:spPr bwMode="auto">
            <a:xfrm>
              <a:off x="3630" y="3570"/>
              <a:ext cx="294" cy="250"/>
            </a:xfrm>
            <a:prstGeom prst="rect">
              <a:avLst/>
            </a:prstGeom>
            <a:noFill/>
            <a:ln w="9525">
              <a:noFill/>
              <a:miter lim="800000"/>
              <a:headEnd/>
              <a:tailEnd/>
            </a:ln>
          </p:spPr>
          <p:txBody>
            <a:bodyPr>
              <a:spAutoFit/>
            </a:bodyPr>
            <a:lstStyle/>
            <a:p>
              <a:pPr algn="l">
                <a:spcBef>
                  <a:spcPct val="50000"/>
                </a:spcBef>
              </a:pPr>
              <a:r>
                <a:rPr lang="en-US" sz="2000"/>
                <a:t>1</a:t>
              </a:r>
              <a:endParaRPr lang="en-US"/>
            </a:p>
          </p:txBody>
        </p:sp>
        <p:sp>
          <p:nvSpPr>
            <p:cNvPr id="39983" name="Text Box 46"/>
            <p:cNvSpPr txBox="1">
              <a:spLocks noChangeArrowheads="1"/>
            </p:cNvSpPr>
            <p:nvPr/>
          </p:nvSpPr>
          <p:spPr bwMode="auto">
            <a:xfrm>
              <a:off x="4216" y="3272"/>
              <a:ext cx="294" cy="250"/>
            </a:xfrm>
            <a:prstGeom prst="rect">
              <a:avLst/>
            </a:prstGeom>
            <a:noFill/>
            <a:ln w="9525">
              <a:noFill/>
              <a:miter lim="800000"/>
              <a:headEnd/>
              <a:tailEnd/>
            </a:ln>
          </p:spPr>
          <p:txBody>
            <a:bodyPr>
              <a:spAutoFit/>
            </a:bodyPr>
            <a:lstStyle/>
            <a:p>
              <a:pPr algn="l">
                <a:spcBef>
                  <a:spcPct val="50000"/>
                </a:spcBef>
              </a:pPr>
              <a:r>
                <a:rPr lang="en-US" sz="2000"/>
                <a:t>1</a:t>
              </a:r>
              <a:endParaRPr lang="en-US"/>
            </a:p>
          </p:txBody>
        </p:sp>
        <p:sp>
          <p:nvSpPr>
            <p:cNvPr id="39984" name="Text Box 47"/>
            <p:cNvSpPr txBox="1">
              <a:spLocks noChangeArrowheads="1"/>
            </p:cNvSpPr>
            <p:nvPr/>
          </p:nvSpPr>
          <p:spPr bwMode="auto">
            <a:xfrm>
              <a:off x="3072" y="2984"/>
              <a:ext cx="294" cy="250"/>
            </a:xfrm>
            <a:prstGeom prst="rect">
              <a:avLst/>
            </a:prstGeom>
            <a:noFill/>
            <a:ln w="9525">
              <a:noFill/>
              <a:miter lim="800000"/>
              <a:headEnd/>
              <a:tailEnd/>
            </a:ln>
          </p:spPr>
          <p:txBody>
            <a:bodyPr>
              <a:spAutoFit/>
            </a:bodyPr>
            <a:lstStyle/>
            <a:p>
              <a:pPr algn="l">
                <a:spcBef>
                  <a:spcPct val="50000"/>
                </a:spcBef>
              </a:pPr>
              <a:r>
                <a:rPr lang="en-US" sz="2000"/>
                <a:t>1</a:t>
              </a:r>
              <a:endParaRPr lang="en-US"/>
            </a:p>
          </p:txBody>
        </p:sp>
      </p:grpSp>
      <p:sp>
        <p:nvSpPr>
          <p:cNvPr id="50" name="Slide Number Placeholder 49"/>
          <p:cNvSpPr>
            <a:spLocks noGrp="1"/>
          </p:cNvSpPr>
          <p:nvPr>
            <p:ph type="sldNum" sz="quarter" idx="12"/>
          </p:nvPr>
        </p:nvSpPr>
        <p:spPr/>
        <p:txBody>
          <a:bodyPr/>
          <a:lstStyle/>
          <a:p>
            <a:pPr>
              <a:defRPr/>
            </a:pPr>
            <a:fld id="{FC0B9EF3-2B45-4706-8986-91E2C5BC4C2B}" type="slidenum">
              <a:rPr lang="en-US"/>
              <a:pPr>
                <a:defRPr/>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006475" y="533400"/>
            <a:ext cx="8137525" cy="6324600"/>
          </a:xfrm>
        </p:spPr>
        <p:txBody>
          <a:bodyPr>
            <a:normAutofit fontScale="90000"/>
          </a:bodyPr>
          <a:lstStyle/>
          <a:p>
            <a:pPr eaLnBrk="1" fontAlgn="auto" hangingPunct="1">
              <a:spcAft>
                <a:spcPts val="0"/>
              </a:spcAft>
              <a:defRPr/>
            </a:pPr>
            <a:r>
              <a:rPr lang="en-US" sz="1800">
                <a:solidFill>
                  <a:schemeClr val="tx2">
                    <a:satMod val="130000"/>
                  </a:schemeClr>
                </a:solidFill>
              </a:rPr>
              <a:t>	</a:t>
            </a:r>
            <a:r>
              <a:rPr lang="bg-BG" sz="2000">
                <a:solidFill>
                  <a:schemeClr val="tx1"/>
                </a:solidFill>
              </a:rPr>
              <a:t>Естествено желание е да се минимизира размера на необходимата памет, която при алгоритъма на турнира с елиминиране е от порядъка на </a:t>
            </a:r>
            <a:r>
              <a:rPr lang="en-US" sz="2000">
                <a:solidFill>
                  <a:schemeClr val="tx1"/>
                </a:solidFill>
              </a:rPr>
              <a:t>2</a:t>
            </a:r>
            <a:r>
              <a:rPr lang="en-US" sz="2000" b="1" i="1">
                <a:solidFill>
                  <a:schemeClr val="tx1"/>
                </a:solidFill>
              </a:rPr>
              <a:t>n</a:t>
            </a:r>
            <a:r>
              <a:rPr lang="en-US" sz="2000">
                <a:solidFill>
                  <a:schemeClr val="tx1"/>
                </a:solidFill>
              </a:rPr>
              <a:t>-1.</a:t>
            </a:r>
            <a:r>
              <a:rPr lang="bg-BG" sz="2000">
                <a:solidFill>
                  <a:schemeClr val="tx1"/>
                </a:solidFill>
              </a:rPr>
              <a:t> За целта ще се търси ефективен механизъм за линеаризация </a:t>
            </a:r>
            <a:r>
              <a:rPr lang="en-US" sz="1800">
                <a:solidFill>
                  <a:schemeClr val="tx1"/>
                </a:solidFill>
              </a:rPr>
              <a:t> </a:t>
            </a:r>
            <a:r>
              <a:rPr lang="bg-BG" sz="2000">
                <a:solidFill>
                  <a:schemeClr val="tx1"/>
                </a:solidFill>
              </a:rPr>
              <a:t>на дървото, който позволява да се пазят само листата, без да се губи известните съотношения между тях.</a:t>
            </a:r>
            <a:br>
              <a:rPr lang="bg-BG" sz="2000">
                <a:solidFill>
                  <a:schemeClr val="tx1"/>
                </a:solidFill>
              </a:rPr>
            </a:br>
            <a:r>
              <a:rPr lang="bg-BG" sz="2000">
                <a:solidFill>
                  <a:schemeClr val="tx1"/>
                </a:solidFill>
              </a:rPr>
              <a:t>	Такъв механизъм е предложен от Дж. Уилямс и се нарича </a:t>
            </a:r>
            <a:r>
              <a:rPr lang="bg-BG" sz="2000" i="1">
                <a:solidFill>
                  <a:schemeClr val="tx1"/>
                </a:solidFill>
              </a:rPr>
              <a:t>пирамида</a:t>
            </a:r>
            <a:r>
              <a:rPr lang="bg-BG" sz="2000">
                <a:solidFill>
                  <a:schemeClr val="tx1"/>
                </a:solidFill>
              </a:rPr>
              <a:t>.</a:t>
            </a:r>
            <a:br>
              <a:rPr lang="bg-BG" sz="2000">
                <a:solidFill>
                  <a:schemeClr val="tx1"/>
                </a:solidFill>
              </a:rPr>
            </a:br>
            <a:r>
              <a:rPr lang="bg-BG" sz="2000">
                <a:solidFill>
                  <a:schemeClr val="tx1"/>
                </a:solidFill>
              </a:rPr>
              <a:t>	</a:t>
            </a:r>
            <a:r>
              <a:rPr lang="bg-BG" sz="2000" i="1">
                <a:solidFill>
                  <a:schemeClr val="tx1"/>
                </a:solidFill>
              </a:rPr>
              <a:t>Пирамидата </a:t>
            </a:r>
            <a:r>
              <a:rPr lang="bg-BG" sz="2000">
                <a:solidFill>
                  <a:schemeClr val="tx1"/>
                </a:solidFill>
              </a:rPr>
              <a:t>е балансирано двоично дърво с височина</a:t>
            </a:r>
            <a:r>
              <a:rPr lang="bg-BG" sz="2000" b="1" i="1">
                <a:solidFill>
                  <a:schemeClr val="tx1"/>
                </a:solidFill>
              </a:rPr>
              <a:t> </a:t>
            </a:r>
            <a:r>
              <a:rPr lang="de-DE" sz="2000" b="1" i="1">
                <a:solidFill>
                  <a:schemeClr val="tx1"/>
                </a:solidFill>
              </a:rPr>
              <a:t>h</a:t>
            </a:r>
            <a:r>
              <a:rPr lang="en-US" sz="2000">
                <a:solidFill>
                  <a:schemeClr val="tx1"/>
                </a:solidFill>
              </a:rPr>
              <a:t>, </a:t>
            </a:r>
            <a:r>
              <a:rPr lang="bg-BG" sz="2000">
                <a:solidFill>
                  <a:schemeClr val="tx1"/>
                </a:solidFill>
              </a:rPr>
              <a:t>едновременно отговаряща на следните условия:</a:t>
            </a:r>
            <a:br>
              <a:rPr lang="bg-BG" sz="2000">
                <a:solidFill>
                  <a:schemeClr val="tx1"/>
                </a:solidFill>
              </a:rPr>
            </a:br>
            <a:r>
              <a:rPr lang="bg-BG" sz="2000">
                <a:solidFill>
                  <a:schemeClr val="tx1"/>
                </a:solidFill>
              </a:rPr>
              <a:t>	1) всички листа са на ниво</a:t>
            </a:r>
            <a:r>
              <a:rPr lang="bg-BG" sz="2000" b="1" i="1">
                <a:solidFill>
                  <a:schemeClr val="tx1"/>
                </a:solidFill>
              </a:rPr>
              <a:t> </a:t>
            </a:r>
            <a:r>
              <a:rPr lang="de-DE" sz="2000" b="1" i="1">
                <a:solidFill>
                  <a:schemeClr val="tx1"/>
                </a:solidFill>
              </a:rPr>
              <a:t>h</a:t>
            </a:r>
            <a:r>
              <a:rPr lang="de-DE" sz="2000">
                <a:solidFill>
                  <a:schemeClr val="tx1"/>
                </a:solidFill>
              </a:rPr>
              <a:t> </a:t>
            </a:r>
            <a:r>
              <a:rPr lang="bg-BG" sz="2000">
                <a:solidFill>
                  <a:schemeClr val="tx1"/>
                </a:solidFill>
              </a:rPr>
              <a:t>и</a:t>
            </a:r>
            <a:r>
              <a:rPr lang="de-DE" sz="2000">
                <a:solidFill>
                  <a:schemeClr val="tx1"/>
                </a:solidFill>
              </a:rPr>
              <a:t>  </a:t>
            </a:r>
            <a:r>
              <a:rPr lang="de-DE" sz="2000" b="1" i="1">
                <a:solidFill>
                  <a:schemeClr val="tx1"/>
                </a:solidFill>
              </a:rPr>
              <a:t>h</a:t>
            </a:r>
            <a:r>
              <a:rPr lang="en-US" sz="2000">
                <a:solidFill>
                  <a:schemeClr val="tx1"/>
                </a:solidFill>
              </a:rPr>
              <a:t>-1;</a:t>
            </a:r>
            <a:r>
              <a:rPr lang="bg-BG" sz="2000">
                <a:solidFill>
                  <a:schemeClr val="tx1"/>
                </a:solidFill>
              </a:rPr>
              <a:t/>
            </a:r>
            <a:br>
              <a:rPr lang="bg-BG" sz="2000">
                <a:solidFill>
                  <a:schemeClr val="tx1"/>
                </a:solidFill>
              </a:rPr>
            </a:br>
            <a:r>
              <a:rPr lang="bg-BG" sz="2000">
                <a:solidFill>
                  <a:schemeClr val="tx1"/>
                </a:solidFill>
              </a:rPr>
              <a:t>	2) всички наследници на даден връх са по-малки от него;</a:t>
            </a:r>
            <a:br>
              <a:rPr lang="bg-BG" sz="2000">
                <a:solidFill>
                  <a:schemeClr val="tx1"/>
                </a:solidFill>
              </a:rPr>
            </a:br>
            <a:r>
              <a:rPr lang="bg-BG" sz="2000">
                <a:solidFill>
                  <a:schemeClr val="tx1"/>
                </a:solidFill>
              </a:rPr>
              <a:t>	3) всички наследници от ниво </a:t>
            </a:r>
            <a:r>
              <a:rPr lang="de-DE" sz="2000" b="1" i="1">
                <a:solidFill>
                  <a:schemeClr val="tx1"/>
                </a:solidFill>
              </a:rPr>
              <a:t>h</a:t>
            </a:r>
            <a:r>
              <a:rPr lang="bg-BG" sz="2000">
                <a:solidFill>
                  <a:schemeClr val="tx1"/>
                </a:solidFill>
              </a:rPr>
              <a:t> са максимално изместени вляво</a:t>
            </a:r>
            <a:r>
              <a:rPr lang="bg-BG" sz="2000" smtClean="0">
                <a:solidFill>
                  <a:schemeClr val="tx1"/>
                </a:solidFill>
              </a:rPr>
              <a:t>.</a:t>
            </a:r>
            <a:r>
              <a:rPr lang="en-US" sz="2000" smtClean="0">
                <a:solidFill>
                  <a:schemeClr val="tx1"/>
                </a:solidFill>
              </a:rPr>
              <a:t/>
            </a:r>
            <a:br>
              <a:rPr lang="en-US" sz="2000" smtClean="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Пирамидата може да бъде ефективно реализирана не само чрез дърво, но и чрез </a:t>
            </a:r>
            <a:r>
              <a:rPr lang="en-US" sz="2000" b="1" i="1">
                <a:solidFill>
                  <a:schemeClr val="tx1"/>
                </a:solidFill>
              </a:rPr>
              <a:t>n</a:t>
            </a:r>
            <a:r>
              <a:rPr lang="bg-BG" sz="2000">
                <a:solidFill>
                  <a:schemeClr val="tx1"/>
                </a:solidFill>
              </a:rPr>
              <a:t>-елементен масив, в който наследствените връзки между елементите се определят като проста линейна функция на позициите им.</a:t>
            </a:r>
            <a:br>
              <a:rPr lang="bg-BG" sz="2000">
                <a:solidFill>
                  <a:schemeClr val="tx1"/>
                </a:solidFill>
              </a:rPr>
            </a:br>
            <a:r>
              <a:rPr lang="bg-BG" sz="2000">
                <a:solidFill>
                  <a:schemeClr val="tx2">
                    <a:satMod val="130000"/>
                  </a:schemeClr>
                </a:solidFill>
              </a:rPr>
              <a:t/>
            </a:r>
            <a:br>
              <a:rPr lang="bg-BG" sz="2000">
                <a:solidFill>
                  <a:schemeClr val="tx2">
                    <a:satMod val="130000"/>
                  </a:schemeClr>
                </a:solidFill>
              </a:rPr>
            </a:br>
            <a:endParaRPr lang="en-US" sz="2000">
              <a:solidFill>
                <a:schemeClr val="tx2">
                  <a:satMod val="130000"/>
                </a:schemeClr>
              </a:solidFill>
            </a:endParaRPr>
          </a:p>
        </p:txBody>
      </p:sp>
      <p:grpSp>
        <p:nvGrpSpPr>
          <p:cNvPr id="40963" name="Group 41"/>
          <p:cNvGrpSpPr>
            <a:grpSpLocks/>
          </p:cNvGrpSpPr>
          <p:nvPr/>
        </p:nvGrpSpPr>
        <p:grpSpPr bwMode="auto">
          <a:xfrm>
            <a:off x="2257425" y="3425825"/>
            <a:ext cx="4406900" cy="2133600"/>
            <a:chOff x="1344" y="2448"/>
            <a:chExt cx="2776" cy="1344"/>
          </a:xfrm>
        </p:grpSpPr>
        <p:sp>
          <p:nvSpPr>
            <p:cNvPr id="40965" name="Oval 3"/>
            <p:cNvSpPr>
              <a:spLocks noChangeArrowheads="1"/>
            </p:cNvSpPr>
            <p:nvPr/>
          </p:nvSpPr>
          <p:spPr bwMode="auto">
            <a:xfrm>
              <a:off x="2640" y="2448"/>
              <a:ext cx="288" cy="288"/>
            </a:xfrm>
            <a:prstGeom prst="ellipse">
              <a:avLst/>
            </a:prstGeom>
            <a:noFill/>
            <a:ln w="9525">
              <a:solidFill>
                <a:schemeClr val="tx1"/>
              </a:solidFill>
              <a:round/>
              <a:headEnd/>
              <a:tailEnd/>
            </a:ln>
          </p:spPr>
          <p:txBody>
            <a:bodyPr wrap="none" anchor="ctr"/>
            <a:lstStyle/>
            <a:p>
              <a:endParaRPr lang="bg-BG"/>
            </a:p>
          </p:txBody>
        </p:sp>
        <p:sp>
          <p:nvSpPr>
            <p:cNvPr id="40966" name="Oval 4"/>
            <p:cNvSpPr>
              <a:spLocks noChangeArrowheads="1"/>
            </p:cNvSpPr>
            <p:nvPr/>
          </p:nvSpPr>
          <p:spPr bwMode="auto">
            <a:xfrm>
              <a:off x="3360" y="2736"/>
              <a:ext cx="288" cy="288"/>
            </a:xfrm>
            <a:prstGeom prst="ellipse">
              <a:avLst/>
            </a:prstGeom>
            <a:noFill/>
            <a:ln w="9525">
              <a:solidFill>
                <a:schemeClr val="tx1"/>
              </a:solidFill>
              <a:round/>
              <a:headEnd/>
              <a:tailEnd/>
            </a:ln>
          </p:spPr>
          <p:txBody>
            <a:bodyPr wrap="none" anchor="ctr"/>
            <a:lstStyle/>
            <a:p>
              <a:endParaRPr lang="bg-BG"/>
            </a:p>
          </p:txBody>
        </p:sp>
        <p:sp>
          <p:nvSpPr>
            <p:cNvPr id="40967" name="Oval 5"/>
            <p:cNvSpPr>
              <a:spLocks noChangeArrowheads="1"/>
            </p:cNvSpPr>
            <p:nvPr/>
          </p:nvSpPr>
          <p:spPr bwMode="auto">
            <a:xfrm>
              <a:off x="1776" y="3504"/>
              <a:ext cx="288" cy="288"/>
            </a:xfrm>
            <a:prstGeom prst="ellipse">
              <a:avLst/>
            </a:prstGeom>
            <a:noFill/>
            <a:ln w="9525">
              <a:solidFill>
                <a:schemeClr val="tx1"/>
              </a:solidFill>
              <a:round/>
              <a:headEnd/>
              <a:tailEnd/>
            </a:ln>
          </p:spPr>
          <p:txBody>
            <a:bodyPr wrap="none" anchor="ctr"/>
            <a:lstStyle/>
            <a:p>
              <a:endParaRPr lang="bg-BG"/>
            </a:p>
          </p:txBody>
        </p:sp>
        <p:sp>
          <p:nvSpPr>
            <p:cNvPr id="40968" name="Oval 6"/>
            <p:cNvSpPr>
              <a:spLocks noChangeArrowheads="1"/>
            </p:cNvSpPr>
            <p:nvPr/>
          </p:nvSpPr>
          <p:spPr bwMode="auto">
            <a:xfrm>
              <a:off x="1344" y="3504"/>
              <a:ext cx="288" cy="288"/>
            </a:xfrm>
            <a:prstGeom prst="ellipse">
              <a:avLst/>
            </a:prstGeom>
            <a:noFill/>
            <a:ln w="9525">
              <a:solidFill>
                <a:schemeClr val="tx1"/>
              </a:solidFill>
              <a:round/>
              <a:headEnd/>
              <a:tailEnd/>
            </a:ln>
          </p:spPr>
          <p:txBody>
            <a:bodyPr wrap="none" anchor="ctr"/>
            <a:lstStyle/>
            <a:p>
              <a:endParaRPr lang="bg-BG"/>
            </a:p>
          </p:txBody>
        </p:sp>
        <p:sp>
          <p:nvSpPr>
            <p:cNvPr id="40969" name="Oval 7"/>
            <p:cNvSpPr>
              <a:spLocks noChangeArrowheads="1"/>
            </p:cNvSpPr>
            <p:nvPr/>
          </p:nvSpPr>
          <p:spPr bwMode="auto">
            <a:xfrm>
              <a:off x="3216" y="3120"/>
              <a:ext cx="288" cy="288"/>
            </a:xfrm>
            <a:prstGeom prst="ellipse">
              <a:avLst/>
            </a:prstGeom>
            <a:noFill/>
            <a:ln w="9525">
              <a:solidFill>
                <a:schemeClr val="tx1"/>
              </a:solidFill>
              <a:round/>
              <a:headEnd/>
              <a:tailEnd/>
            </a:ln>
          </p:spPr>
          <p:txBody>
            <a:bodyPr wrap="none" anchor="ctr"/>
            <a:lstStyle/>
            <a:p>
              <a:endParaRPr lang="bg-BG"/>
            </a:p>
          </p:txBody>
        </p:sp>
        <p:sp>
          <p:nvSpPr>
            <p:cNvPr id="40970" name="Oval 8"/>
            <p:cNvSpPr>
              <a:spLocks noChangeArrowheads="1"/>
            </p:cNvSpPr>
            <p:nvPr/>
          </p:nvSpPr>
          <p:spPr bwMode="auto">
            <a:xfrm>
              <a:off x="2304" y="3072"/>
              <a:ext cx="288" cy="288"/>
            </a:xfrm>
            <a:prstGeom prst="ellipse">
              <a:avLst/>
            </a:prstGeom>
            <a:noFill/>
            <a:ln w="9525">
              <a:solidFill>
                <a:schemeClr val="tx1"/>
              </a:solidFill>
              <a:round/>
              <a:headEnd/>
              <a:tailEnd/>
            </a:ln>
          </p:spPr>
          <p:txBody>
            <a:bodyPr wrap="none" anchor="ctr"/>
            <a:lstStyle/>
            <a:p>
              <a:endParaRPr lang="bg-BG"/>
            </a:p>
          </p:txBody>
        </p:sp>
        <p:sp>
          <p:nvSpPr>
            <p:cNvPr id="40971" name="Oval 9"/>
            <p:cNvSpPr>
              <a:spLocks noChangeArrowheads="1"/>
            </p:cNvSpPr>
            <p:nvPr/>
          </p:nvSpPr>
          <p:spPr bwMode="auto">
            <a:xfrm>
              <a:off x="1632" y="3072"/>
              <a:ext cx="288" cy="288"/>
            </a:xfrm>
            <a:prstGeom prst="ellipse">
              <a:avLst/>
            </a:prstGeom>
            <a:noFill/>
            <a:ln w="9525">
              <a:solidFill>
                <a:schemeClr val="tx1"/>
              </a:solidFill>
              <a:round/>
              <a:headEnd/>
              <a:tailEnd/>
            </a:ln>
          </p:spPr>
          <p:txBody>
            <a:bodyPr wrap="none" anchor="ctr"/>
            <a:lstStyle/>
            <a:p>
              <a:endParaRPr lang="bg-BG"/>
            </a:p>
          </p:txBody>
        </p:sp>
        <p:sp>
          <p:nvSpPr>
            <p:cNvPr id="40972" name="Oval 10"/>
            <p:cNvSpPr>
              <a:spLocks noChangeArrowheads="1"/>
            </p:cNvSpPr>
            <p:nvPr/>
          </p:nvSpPr>
          <p:spPr bwMode="auto">
            <a:xfrm>
              <a:off x="1968" y="2784"/>
              <a:ext cx="288" cy="288"/>
            </a:xfrm>
            <a:prstGeom prst="ellipse">
              <a:avLst/>
            </a:prstGeom>
            <a:noFill/>
            <a:ln w="9525">
              <a:solidFill>
                <a:schemeClr val="tx1"/>
              </a:solidFill>
              <a:round/>
              <a:headEnd/>
              <a:tailEnd/>
            </a:ln>
          </p:spPr>
          <p:txBody>
            <a:bodyPr wrap="none" anchor="ctr"/>
            <a:lstStyle/>
            <a:p>
              <a:endParaRPr lang="bg-BG"/>
            </a:p>
          </p:txBody>
        </p:sp>
        <p:sp>
          <p:nvSpPr>
            <p:cNvPr id="40973" name="Oval 11"/>
            <p:cNvSpPr>
              <a:spLocks noChangeArrowheads="1"/>
            </p:cNvSpPr>
            <p:nvPr/>
          </p:nvSpPr>
          <p:spPr bwMode="auto">
            <a:xfrm>
              <a:off x="2160" y="3504"/>
              <a:ext cx="288" cy="288"/>
            </a:xfrm>
            <a:prstGeom prst="ellipse">
              <a:avLst/>
            </a:prstGeom>
            <a:noFill/>
            <a:ln w="9525">
              <a:solidFill>
                <a:schemeClr val="tx1"/>
              </a:solidFill>
              <a:round/>
              <a:headEnd/>
              <a:tailEnd/>
            </a:ln>
          </p:spPr>
          <p:txBody>
            <a:bodyPr wrap="none" anchor="ctr"/>
            <a:lstStyle/>
            <a:p>
              <a:endParaRPr lang="bg-BG"/>
            </a:p>
          </p:txBody>
        </p:sp>
        <p:sp>
          <p:nvSpPr>
            <p:cNvPr id="40974" name="Oval 12"/>
            <p:cNvSpPr>
              <a:spLocks noChangeArrowheads="1"/>
            </p:cNvSpPr>
            <p:nvPr/>
          </p:nvSpPr>
          <p:spPr bwMode="auto">
            <a:xfrm>
              <a:off x="3744" y="3120"/>
              <a:ext cx="288" cy="288"/>
            </a:xfrm>
            <a:prstGeom prst="ellipse">
              <a:avLst/>
            </a:prstGeom>
            <a:noFill/>
            <a:ln w="9525">
              <a:solidFill>
                <a:schemeClr val="tx1"/>
              </a:solidFill>
              <a:round/>
              <a:headEnd/>
              <a:tailEnd/>
            </a:ln>
          </p:spPr>
          <p:txBody>
            <a:bodyPr wrap="none" anchor="ctr"/>
            <a:lstStyle/>
            <a:p>
              <a:endParaRPr lang="bg-BG"/>
            </a:p>
          </p:txBody>
        </p:sp>
        <p:sp>
          <p:nvSpPr>
            <p:cNvPr id="40975" name="Oval 13"/>
            <p:cNvSpPr>
              <a:spLocks noChangeArrowheads="1"/>
            </p:cNvSpPr>
            <p:nvPr/>
          </p:nvSpPr>
          <p:spPr bwMode="auto">
            <a:xfrm>
              <a:off x="2544" y="3504"/>
              <a:ext cx="288" cy="288"/>
            </a:xfrm>
            <a:prstGeom prst="ellipse">
              <a:avLst/>
            </a:prstGeom>
            <a:noFill/>
            <a:ln w="9525">
              <a:solidFill>
                <a:schemeClr val="tx1"/>
              </a:solidFill>
              <a:round/>
              <a:headEnd/>
              <a:tailEnd/>
            </a:ln>
          </p:spPr>
          <p:txBody>
            <a:bodyPr wrap="none" anchor="ctr"/>
            <a:lstStyle/>
            <a:p>
              <a:endParaRPr lang="bg-BG"/>
            </a:p>
          </p:txBody>
        </p:sp>
        <p:sp>
          <p:nvSpPr>
            <p:cNvPr id="40976" name="Oval 14"/>
            <p:cNvSpPr>
              <a:spLocks noChangeArrowheads="1"/>
            </p:cNvSpPr>
            <p:nvPr/>
          </p:nvSpPr>
          <p:spPr bwMode="auto">
            <a:xfrm>
              <a:off x="3072" y="3504"/>
              <a:ext cx="288" cy="288"/>
            </a:xfrm>
            <a:prstGeom prst="ellipse">
              <a:avLst/>
            </a:prstGeom>
            <a:noFill/>
            <a:ln w="9525">
              <a:solidFill>
                <a:schemeClr val="tx1"/>
              </a:solidFill>
              <a:round/>
              <a:headEnd/>
              <a:tailEnd/>
            </a:ln>
          </p:spPr>
          <p:txBody>
            <a:bodyPr wrap="none" anchor="ctr"/>
            <a:lstStyle/>
            <a:p>
              <a:endParaRPr lang="bg-BG"/>
            </a:p>
          </p:txBody>
        </p:sp>
        <p:sp>
          <p:nvSpPr>
            <p:cNvPr id="40977" name="Line 15"/>
            <p:cNvSpPr>
              <a:spLocks noChangeShapeType="1"/>
            </p:cNvSpPr>
            <p:nvPr/>
          </p:nvSpPr>
          <p:spPr bwMode="auto">
            <a:xfrm flipH="1">
              <a:off x="2208" y="2640"/>
              <a:ext cx="432" cy="192"/>
            </a:xfrm>
            <a:prstGeom prst="line">
              <a:avLst/>
            </a:prstGeom>
            <a:noFill/>
            <a:ln w="9525">
              <a:solidFill>
                <a:schemeClr val="tx1"/>
              </a:solidFill>
              <a:round/>
              <a:headEnd/>
              <a:tailEnd/>
            </a:ln>
          </p:spPr>
          <p:txBody>
            <a:bodyPr wrap="none" anchor="ctr"/>
            <a:lstStyle/>
            <a:p>
              <a:endParaRPr lang="bg-BG"/>
            </a:p>
          </p:txBody>
        </p:sp>
        <p:sp>
          <p:nvSpPr>
            <p:cNvPr id="40978" name="Line 16"/>
            <p:cNvSpPr>
              <a:spLocks noChangeShapeType="1"/>
            </p:cNvSpPr>
            <p:nvPr/>
          </p:nvSpPr>
          <p:spPr bwMode="auto">
            <a:xfrm>
              <a:off x="2928" y="2640"/>
              <a:ext cx="432" cy="192"/>
            </a:xfrm>
            <a:prstGeom prst="line">
              <a:avLst/>
            </a:prstGeom>
            <a:noFill/>
            <a:ln w="9525">
              <a:solidFill>
                <a:schemeClr val="tx1"/>
              </a:solidFill>
              <a:round/>
              <a:headEnd/>
              <a:tailEnd/>
            </a:ln>
          </p:spPr>
          <p:txBody>
            <a:bodyPr wrap="none" anchor="ctr"/>
            <a:lstStyle/>
            <a:p>
              <a:endParaRPr lang="bg-BG"/>
            </a:p>
          </p:txBody>
        </p:sp>
        <p:sp>
          <p:nvSpPr>
            <p:cNvPr id="40979" name="Line 18"/>
            <p:cNvSpPr>
              <a:spLocks noChangeShapeType="1"/>
            </p:cNvSpPr>
            <p:nvPr/>
          </p:nvSpPr>
          <p:spPr bwMode="auto">
            <a:xfrm flipH="1">
              <a:off x="1872" y="3024"/>
              <a:ext cx="144" cy="96"/>
            </a:xfrm>
            <a:prstGeom prst="line">
              <a:avLst/>
            </a:prstGeom>
            <a:noFill/>
            <a:ln w="9525">
              <a:solidFill>
                <a:schemeClr val="tx1"/>
              </a:solidFill>
              <a:round/>
              <a:headEnd/>
              <a:tailEnd/>
            </a:ln>
          </p:spPr>
          <p:txBody>
            <a:bodyPr wrap="none" anchor="ctr"/>
            <a:lstStyle/>
            <a:p>
              <a:endParaRPr lang="bg-BG"/>
            </a:p>
          </p:txBody>
        </p:sp>
        <p:sp>
          <p:nvSpPr>
            <p:cNvPr id="40980" name="Line 19"/>
            <p:cNvSpPr>
              <a:spLocks noChangeShapeType="1"/>
            </p:cNvSpPr>
            <p:nvPr/>
          </p:nvSpPr>
          <p:spPr bwMode="auto">
            <a:xfrm flipH="1">
              <a:off x="1536" y="3320"/>
              <a:ext cx="144" cy="192"/>
            </a:xfrm>
            <a:prstGeom prst="line">
              <a:avLst/>
            </a:prstGeom>
            <a:noFill/>
            <a:ln w="9525">
              <a:solidFill>
                <a:schemeClr val="tx1"/>
              </a:solidFill>
              <a:round/>
              <a:headEnd/>
              <a:tailEnd/>
            </a:ln>
          </p:spPr>
          <p:txBody>
            <a:bodyPr wrap="none" anchor="ctr"/>
            <a:lstStyle/>
            <a:p>
              <a:endParaRPr lang="bg-BG"/>
            </a:p>
          </p:txBody>
        </p:sp>
        <p:sp>
          <p:nvSpPr>
            <p:cNvPr id="40981" name="Line 20"/>
            <p:cNvSpPr>
              <a:spLocks noChangeShapeType="1"/>
            </p:cNvSpPr>
            <p:nvPr/>
          </p:nvSpPr>
          <p:spPr bwMode="auto">
            <a:xfrm>
              <a:off x="1824" y="3360"/>
              <a:ext cx="96" cy="144"/>
            </a:xfrm>
            <a:prstGeom prst="line">
              <a:avLst/>
            </a:prstGeom>
            <a:noFill/>
            <a:ln w="9525">
              <a:solidFill>
                <a:schemeClr val="tx1"/>
              </a:solidFill>
              <a:round/>
              <a:headEnd/>
              <a:tailEnd/>
            </a:ln>
          </p:spPr>
          <p:txBody>
            <a:bodyPr wrap="none" anchor="ctr"/>
            <a:lstStyle/>
            <a:p>
              <a:endParaRPr lang="bg-BG"/>
            </a:p>
          </p:txBody>
        </p:sp>
        <p:sp>
          <p:nvSpPr>
            <p:cNvPr id="40982" name="Line 21"/>
            <p:cNvSpPr>
              <a:spLocks noChangeShapeType="1"/>
            </p:cNvSpPr>
            <p:nvPr/>
          </p:nvSpPr>
          <p:spPr bwMode="auto">
            <a:xfrm>
              <a:off x="2208" y="3024"/>
              <a:ext cx="144" cy="96"/>
            </a:xfrm>
            <a:prstGeom prst="line">
              <a:avLst/>
            </a:prstGeom>
            <a:noFill/>
            <a:ln w="9525">
              <a:solidFill>
                <a:schemeClr val="tx1"/>
              </a:solidFill>
              <a:round/>
              <a:headEnd/>
              <a:tailEnd/>
            </a:ln>
          </p:spPr>
          <p:txBody>
            <a:bodyPr wrap="none" anchor="ctr"/>
            <a:lstStyle/>
            <a:p>
              <a:endParaRPr lang="bg-BG"/>
            </a:p>
          </p:txBody>
        </p:sp>
        <p:sp>
          <p:nvSpPr>
            <p:cNvPr id="40983" name="Line 22"/>
            <p:cNvSpPr>
              <a:spLocks noChangeShapeType="1"/>
            </p:cNvSpPr>
            <p:nvPr/>
          </p:nvSpPr>
          <p:spPr bwMode="auto">
            <a:xfrm flipH="1">
              <a:off x="2352" y="3360"/>
              <a:ext cx="48" cy="144"/>
            </a:xfrm>
            <a:prstGeom prst="line">
              <a:avLst/>
            </a:prstGeom>
            <a:noFill/>
            <a:ln w="9525">
              <a:solidFill>
                <a:schemeClr val="tx1"/>
              </a:solidFill>
              <a:round/>
              <a:headEnd/>
              <a:tailEnd/>
            </a:ln>
          </p:spPr>
          <p:txBody>
            <a:bodyPr wrap="none" anchor="ctr"/>
            <a:lstStyle/>
            <a:p>
              <a:endParaRPr lang="bg-BG"/>
            </a:p>
          </p:txBody>
        </p:sp>
        <p:sp>
          <p:nvSpPr>
            <p:cNvPr id="40984" name="Line 23"/>
            <p:cNvSpPr>
              <a:spLocks noChangeShapeType="1"/>
            </p:cNvSpPr>
            <p:nvPr/>
          </p:nvSpPr>
          <p:spPr bwMode="auto">
            <a:xfrm>
              <a:off x="2564" y="3320"/>
              <a:ext cx="96" cy="202"/>
            </a:xfrm>
            <a:prstGeom prst="line">
              <a:avLst/>
            </a:prstGeom>
            <a:noFill/>
            <a:ln w="9525">
              <a:solidFill>
                <a:schemeClr val="tx1"/>
              </a:solidFill>
              <a:round/>
              <a:headEnd/>
              <a:tailEnd/>
            </a:ln>
          </p:spPr>
          <p:txBody>
            <a:bodyPr wrap="none" anchor="ctr"/>
            <a:lstStyle/>
            <a:p>
              <a:endParaRPr lang="bg-BG"/>
            </a:p>
          </p:txBody>
        </p:sp>
        <p:sp>
          <p:nvSpPr>
            <p:cNvPr id="40985" name="Line 24"/>
            <p:cNvSpPr>
              <a:spLocks noChangeShapeType="1"/>
            </p:cNvSpPr>
            <p:nvPr/>
          </p:nvSpPr>
          <p:spPr bwMode="auto">
            <a:xfrm flipH="1">
              <a:off x="3408" y="3024"/>
              <a:ext cx="48" cy="96"/>
            </a:xfrm>
            <a:prstGeom prst="line">
              <a:avLst/>
            </a:prstGeom>
            <a:noFill/>
            <a:ln w="9525">
              <a:solidFill>
                <a:schemeClr val="tx1"/>
              </a:solidFill>
              <a:round/>
              <a:headEnd/>
              <a:tailEnd/>
            </a:ln>
          </p:spPr>
          <p:txBody>
            <a:bodyPr wrap="none" anchor="ctr"/>
            <a:lstStyle/>
            <a:p>
              <a:endParaRPr lang="bg-BG"/>
            </a:p>
          </p:txBody>
        </p:sp>
        <p:sp>
          <p:nvSpPr>
            <p:cNvPr id="40986" name="Line 25"/>
            <p:cNvSpPr>
              <a:spLocks noChangeShapeType="1"/>
            </p:cNvSpPr>
            <p:nvPr/>
          </p:nvSpPr>
          <p:spPr bwMode="auto">
            <a:xfrm flipH="1">
              <a:off x="3264" y="3408"/>
              <a:ext cx="48" cy="96"/>
            </a:xfrm>
            <a:prstGeom prst="line">
              <a:avLst/>
            </a:prstGeom>
            <a:noFill/>
            <a:ln w="9525">
              <a:solidFill>
                <a:schemeClr val="tx1"/>
              </a:solidFill>
              <a:round/>
              <a:headEnd/>
              <a:tailEnd/>
            </a:ln>
          </p:spPr>
          <p:txBody>
            <a:bodyPr wrap="none" anchor="ctr"/>
            <a:lstStyle/>
            <a:p>
              <a:endParaRPr lang="bg-BG"/>
            </a:p>
          </p:txBody>
        </p:sp>
        <p:sp>
          <p:nvSpPr>
            <p:cNvPr id="40987" name="Line 27"/>
            <p:cNvSpPr>
              <a:spLocks noChangeShapeType="1"/>
            </p:cNvSpPr>
            <p:nvPr/>
          </p:nvSpPr>
          <p:spPr bwMode="auto">
            <a:xfrm>
              <a:off x="3600" y="2976"/>
              <a:ext cx="192" cy="192"/>
            </a:xfrm>
            <a:prstGeom prst="line">
              <a:avLst/>
            </a:prstGeom>
            <a:noFill/>
            <a:ln w="9525">
              <a:solidFill>
                <a:schemeClr val="tx1"/>
              </a:solidFill>
              <a:round/>
              <a:headEnd/>
              <a:tailEnd/>
            </a:ln>
          </p:spPr>
          <p:txBody>
            <a:bodyPr wrap="none" anchor="ctr"/>
            <a:lstStyle/>
            <a:p>
              <a:endParaRPr lang="bg-BG"/>
            </a:p>
          </p:txBody>
        </p:sp>
        <p:sp>
          <p:nvSpPr>
            <p:cNvPr id="40988" name="Text Box 29"/>
            <p:cNvSpPr txBox="1">
              <a:spLocks noChangeArrowheads="1"/>
            </p:cNvSpPr>
            <p:nvPr/>
          </p:nvSpPr>
          <p:spPr bwMode="auto">
            <a:xfrm>
              <a:off x="2638" y="2448"/>
              <a:ext cx="384" cy="288"/>
            </a:xfrm>
            <a:prstGeom prst="rect">
              <a:avLst/>
            </a:prstGeom>
            <a:noFill/>
            <a:ln w="9525">
              <a:noFill/>
              <a:miter lim="800000"/>
              <a:headEnd/>
              <a:tailEnd/>
            </a:ln>
          </p:spPr>
          <p:txBody>
            <a:bodyPr>
              <a:spAutoFit/>
            </a:bodyPr>
            <a:lstStyle/>
            <a:p>
              <a:pPr algn="l">
                <a:spcBef>
                  <a:spcPct val="50000"/>
                </a:spcBef>
              </a:pPr>
              <a:r>
                <a:rPr lang="en-US"/>
                <a:t>5</a:t>
              </a:r>
              <a:r>
                <a:rPr lang="bg-BG"/>
                <a:t>7</a:t>
              </a:r>
              <a:endParaRPr lang="en-US"/>
            </a:p>
          </p:txBody>
        </p:sp>
        <p:sp>
          <p:nvSpPr>
            <p:cNvPr id="40989" name="Text Box 30"/>
            <p:cNvSpPr txBox="1">
              <a:spLocks noChangeArrowheads="1"/>
            </p:cNvSpPr>
            <p:nvPr/>
          </p:nvSpPr>
          <p:spPr bwMode="auto">
            <a:xfrm>
              <a:off x="1382" y="3496"/>
              <a:ext cx="288" cy="288"/>
            </a:xfrm>
            <a:prstGeom prst="rect">
              <a:avLst/>
            </a:prstGeom>
            <a:noFill/>
            <a:ln w="9525">
              <a:noFill/>
              <a:miter lim="800000"/>
              <a:headEnd/>
              <a:tailEnd/>
            </a:ln>
          </p:spPr>
          <p:txBody>
            <a:bodyPr>
              <a:spAutoFit/>
            </a:bodyPr>
            <a:lstStyle/>
            <a:p>
              <a:pPr algn="l">
                <a:spcBef>
                  <a:spcPct val="50000"/>
                </a:spcBef>
              </a:pPr>
              <a:r>
                <a:rPr lang="en-US"/>
                <a:t>3</a:t>
              </a:r>
            </a:p>
          </p:txBody>
        </p:sp>
        <p:sp>
          <p:nvSpPr>
            <p:cNvPr id="40990" name="Text Box 31"/>
            <p:cNvSpPr txBox="1">
              <a:spLocks noChangeArrowheads="1"/>
            </p:cNvSpPr>
            <p:nvPr/>
          </p:nvSpPr>
          <p:spPr bwMode="auto">
            <a:xfrm>
              <a:off x="2584" y="3494"/>
              <a:ext cx="288" cy="288"/>
            </a:xfrm>
            <a:prstGeom prst="rect">
              <a:avLst/>
            </a:prstGeom>
            <a:noFill/>
            <a:ln w="9525">
              <a:noFill/>
              <a:miter lim="800000"/>
              <a:headEnd/>
              <a:tailEnd/>
            </a:ln>
          </p:spPr>
          <p:txBody>
            <a:bodyPr>
              <a:spAutoFit/>
            </a:bodyPr>
            <a:lstStyle/>
            <a:p>
              <a:pPr algn="l">
                <a:spcBef>
                  <a:spcPct val="50000"/>
                </a:spcBef>
              </a:pPr>
              <a:r>
                <a:rPr lang="en-US"/>
                <a:t>3</a:t>
              </a:r>
            </a:p>
          </p:txBody>
        </p:sp>
        <p:sp>
          <p:nvSpPr>
            <p:cNvPr id="40991" name="Text Box 32"/>
            <p:cNvSpPr txBox="1">
              <a:spLocks noChangeArrowheads="1"/>
            </p:cNvSpPr>
            <p:nvPr/>
          </p:nvSpPr>
          <p:spPr bwMode="auto">
            <a:xfrm>
              <a:off x="1826" y="3494"/>
              <a:ext cx="288" cy="288"/>
            </a:xfrm>
            <a:prstGeom prst="rect">
              <a:avLst/>
            </a:prstGeom>
            <a:noFill/>
            <a:ln w="9525">
              <a:noFill/>
              <a:miter lim="800000"/>
              <a:headEnd/>
              <a:tailEnd/>
            </a:ln>
          </p:spPr>
          <p:txBody>
            <a:bodyPr>
              <a:spAutoFit/>
            </a:bodyPr>
            <a:lstStyle/>
            <a:p>
              <a:pPr algn="l">
                <a:spcBef>
                  <a:spcPct val="50000"/>
                </a:spcBef>
              </a:pPr>
              <a:r>
                <a:rPr lang="en-US"/>
                <a:t>7</a:t>
              </a:r>
            </a:p>
          </p:txBody>
        </p:sp>
        <p:sp>
          <p:nvSpPr>
            <p:cNvPr id="40992" name="Text Box 33"/>
            <p:cNvSpPr txBox="1">
              <a:spLocks noChangeArrowheads="1"/>
            </p:cNvSpPr>
            <p:nvPr/>
          </p:nvSpPr>
          <p:spPr bwMode="auto">
            <a:xfrm>
              <a:off x="1632" y="3072"/>
              <a:ext cx="384" cy="288"/>
            </a:xfrm>
            <a:prstGeom prst="rect">
              <a:avLst/>
            </a:prstGeom>
            <a:noFill/>
            <a:ln w="9525">
              <a:noFill/>
              <a:miter lim="800000"/>
              <a:headEnd/>
              <a:tailEnd/>
            </a:ln>
          </p:spPr>
          <p:txBody>
            <a:bodyPr>
              <a:spAutoFit/>
            </a:bodyPr>
            <a:lstStyle/>
            <a:p>
              <a:pPr algn="l">
                <a:spcBef>
                  <a:spcPct val="50000"/>
                </a:spcBef>
              </a:pPr>
              <a:r>
                <a:rPr lang="en-US"/>
                <a:t>1</a:t>
              </a:r>
              <a:r>
                <a:rPr lang="bg-BG"/>
                <a:t>1</a:t>
              </a:r>
              <a:endParaRPr lang="en-US"/>
            </a:p>
          </p:txBody>
        </p:sp>
        <p:sp>
          <p:nvSpPr>
            <p:cNvPr id="40993" name="Text Box 34"/>
            <p:cNvSpPr txBox="1">
              <a:spLocks noChangeArrowheads="1"/>
            </p:cNvSpPr>
            <p:nvPr/>
          </p:nvSpPr>
          <p:spPr bwMode="auto">
            <a:xfrm>
              <a:off x="2160" y="3504"/>
              <a:ext cx="384" cy="288"/>
            </a:xfrm>
            <a:prstGeom prst="rect">
              <a:avLst/>
            </a:prstGeom>
            <a:noFill/>
            <a:ln w="9525">
              <a:noFill/>
              <a:miter lim="800000"/>
              <a:headEnd/>
              <a:tailEnd/>
            </a:ln>
          </p:spPr>
          <p:txBody>
            <a:bodyPr>
              <a:spAutoFit/>
            </a:bodyPr>
            <a:lstStyle/>
            <a:p>
              <a:pPr algn="l">
                <a:spcBef>
                  <a:spcPct val="50000"/>
                </a:spcBef>
              </a:pPr>
              <a:r>
                <a:rPr lang="en-US"/>
                <a:t>3</a:t>
              </a:r>
              <a:r>
                <a:rPr lang="bg-BG"/>
                <a:t>7</a:t>
              </a:r>
              <a:endParaRPr lang="en-US"/>
            </a:p>
          </p:txBody>
        </p:sp>
        <p:sp>
          <p:nvSpPr>
            <p:cNvPr id="40994" name="Text Box 35"/>
            <p:cNvSpPr txBox="1">
              <a:spLocks noChangeArrowheads="1"/>
            </p:cNvSpPr>
            <p:nvPr/>
          </p:nvSpPr>
          <p:spPr bwMode="auto">
            <a:xfrm>
              <a:off x="2304" y="3072"/>
              <a:ext cx="384" cy="288"/>
            </a:xfrm>
            <a:prstGeom prst="rect">
              <a:avLst/>
            </a:prstGeom>
            <a:noFill/>
            <a:ln w="9525">
              <a:noFill/>
              <a:miter lim="800000"/>
              <a:headEnd/>
              <a:tailEnd/>
            </a:ln>
          </p:spPr>
          <p:txBody>
            <a:bodyPr>
              <a:spAutoFit/>
            </a:bodyPr>
            <a:lstStyle/>
            <a:p>
              <a:pPr algn="l">
                <a:spcBef>
                  <a:spcPct val="50000"/>
                </a:spcBef>
              </a:pPr>
              <a:r>
                <a:rPr lang="en-US"/>
                <a:t>42</a:t>
              </a:r>
            </a:p>
          </p:txBody>
        </p:sp>
        <p:sp>
          <p:nvSpPr>
            <p:cNvPr id="40995" name="Text Box 36"/>
            <p:cNvSpPr txBox="1">
              <a:spLocks noChangeArrowheads="1"/>
            </p:cNvSpPr>
            <p:nvPr/>
          </p:nvSpPr>
          <p:spPr bwMode="auto">
            <a:xfrm>
              <a:off x="1970" y="2774"/>
              <a:ext cx="384" cy="288"/>
            </a:xfrm>
            <a:prstGeom prst="rect">
              <a:avLst/>
            </a:prstGeom>
            <a:noFill/>
            <a:ln w="9525">
              <a:noFill/>
              <a:miter lim="800000"/>
              <a:headEnd/>
              <a:tailEnd/>
            </a:ln>
          </p:spPr>
          <p:txBody>
            <a:bodyPr>
              <a:spAutoFit/>
            </a:bodyPr>
            <a:lstStyle/>
            <a:p>
              <a:pPr algn="l">
                <a:spcBef>
                  <a:spcPct val="50000"/>
                </a:spcBef>
              </a:pPr>
              <a:r>
                <a:rPr lang="en-US"/>
                <a:t>5</a:t>
              </a:r>
              <a:r>
                <a:rPr lang="bg-BG"/>
                <a:t>1</a:t>
              </a:r>
              <a:endParaRPr lang="en-US"/>
            </a:p>
          </p:txBody>
        </p:sp>
        <p:sp>
          <p:nvSpPr>
            <p:cNvPr id="40996" name="Text Box 37"/>
            <p:cNvSpPr txBox="1">
              <a:spLocks noChangeArrowheads="1"/>
            </p:cNvSpPr>
            <p:nvPr/>
          </p:nvSpPr>
          <p:spPr bwMode="auto">
            <a:xfrm>
              <a:off x="3358" y="2728"/>
              <a:ext cx="384" cy="288"/>
            </a:xfrm>
            <a:prstGeom prst="rect">
              <a:avLst/>
            </a:prstGeom>
            <a:noFill/>
            <a:ln w="9525">
              <a:noFill/>
              <a:miter lim="800000"/>
              <a:headEnd/>
              <a:tailEnd/>
            </a:ln>
          </p:spPr>
          <p:txBody>
            <a:bodyPr>
              <a:spAutoFit/>
            </a:bodyPr>
            <a:lstStyle/>
            <a:p>
              <a:pPr algn="l">
                <a:spcBef>
                  <a:spcPct val="50000"/>
                </a:spcBef>
              </a:pPr>
              <a:r>
                <a:rPr lang="en-US"/>
                <a:t>3</a:t>
              </a:r>
              <a:r>
                <a:rPr lang="bg-BG"/>
                <a:t>3</a:t>
              </a:r>
              <a:endParaRPr lang="en-US"/>
            </a:p>
          </p:txBody>
        </p:sp>
        <p:sp>
          <p:nvSpPr>
            <p:cNvPr id="40997" name="Text Box 38"/>
            <p:cNvSpPr txBox="1">
              <a:spLocks noChangeArrowheads="1"/>
            </p:cNvSpPr>
            <p:nvPr/>
          </p:nvSpPr>
          <p:spPr bwMode="auto">
            <a:xfrm>
              <a:off x="3216" y="3120"/>
              <a:ext cx="384" cy="288"/>
            </a:xfrm>
            <a:prstGeom prst="rect">
              <a:avLst/>
            </a:prstGeom>
            <a:noFill/>
            <a:ln w="9525">
              <a:noFill/>
              <a:miter lim="800000"/>
              <a:headEnd/>
              <a:tailEnd/>
            </a:ln>
          </p:spPr>
          <p:txBody>
            <a:bodyPr>
              <a:spAutoFit/>
            </a:bodyPr>
            <a:lstStyle/>
            <a:p>
              <a:pPr algn="l">
                <a:spcBef>
                  <a:spcPct val="50000"/>
                </a:spcBef>
              </a:pPr>
              <a:r>
                <a:rPr lang="en-US"/>
                <a:t>2</a:t>
              </a:r>
              <a:r>
                <a:rPr lang="bg-BG"/>
                <a:t>7</a:t>
              </a:r>
              <a:endParaRPr lang="en-US"/>
            </a:p>
          </p:txBody>
        </p:sp>
        <p:sp>
          <p:nvSpPr>
            <p:cNvPr id="40998" name="Text Box 39"/>
            <p:cNvSpPr txBox="1">
              <a:spLocks noChangeArrowheads="1"/>
            </p:cNvSpPr>
            <p:nvPr/>
          </p:nvSpPr>
          <p:spPr bwMode="auto">
            <a:xfrm>
              <a:off x="3074" y="3504"/>
              <a:ext cx="384" cy="288"/>
            </a:xfrm>
            <a:prstGeom prst="rect">
              <a:avLst/>
            </a:prstGeom>
            <a:noFill/>
            <a:ln w="9525">
              <a:noFill/>
              <a:miter lim="800000"/>
              <a:headEnd/>
              <a:tailEnd/>
            </a:ln>
          </p:spPr>
          <p:txBody>
            <a:bodyPr>
              <a:spAutoFit/>
            </a:bodyPr>
            <a:lstStyle/>
            <a:p>
              <a:pPr algn="l">
                <a:spcBef>
                  <a:spcPct val="50000"/>
                </a:spcBef>
              </a:pPr>
              <a:r>
                <a:rPr lang="en-US"/>
                <a:t>1</a:t>
              </a:r>
              <a:r>
                <a:rPr lang="bg-BG"/>
                <a:t>9</a:t>
              </a:r>
              <a:endParaRPr lang="en-US"/>
            </a:p>
          </p:txBody>
        </p:sp>
        <p:sp>
          <p:nvSpPr>
            <p:cNvPr id="40999" name="Text Box 40"/>
            <p:cNvSpPr txBox="1">
              <a:spLocks noChangeArrowheads="1"/>
            </p:cNvSpPr>
            <p:nvPr/>
          </p:nvSpPr>
          <p:spPr bwMode="auto">
            <a:xfrm>
              <a:off x="3736" y="3110"/>
              <a:ext cx="384" cy="288"/>
            </a:xfrm>
            <a:prstGeom prst="rect">
              <a:avLst/>
            </a:prstGeom>
            <a:noFill/>
            <a:ln w="9525">
              <a:noFill/>
              <a:miter lim="800000"/>
              <a:headEnd/>
              <a:tailEnd/>
            </a:ln>
          </p:spPr>
          <p:txBody>
            <a:bodyPr>
              <a:spAutoFit/>
            </a:bodyPr>
            <a:lstStyle/>
            <a:p>
              <a:pPr algn="l">
                <a:spcBef>
                  <a:spcPct val="50000"/>
                </a:spcBef>
              </a:pPr>
              <a:r>
                <a:rPr lang="en-US"/>
                <a:t>2</a:t>
              </a:r>
              <a:r>
                <a:rPr lang="bg-BG"/>
                <a:t>9</a:t>
              </a:r>
              <a:endParaRPr lang="en-US"/>
            </a:p>
          </p:txBody>
        </p:sp>
      </p:grpSp>
      <p:sp>
        <p:nvSpPr>
          <p:cNvPr id="41" name="Slide Number Placeholder 40"/>
          <p:cNvSpPr>
            <a:spLocks noGrp="1"/>
          </p:cNvSpPr>
          <p:nvPr>
            <p:ph type="sldNum" sz="quarter" idx="12"/>
          </p:nvPr>
        </p:nvSpPr>
        <p:spPr/>
        <p:txBody>
          <a:bodyPr/>
          <a:lstStyle/>
          <a:p>
            <a:pPr>
              <a:defRPr/>
            </a:pPr>
            <a:fld id="{70BA3BB6-E237-4D0A-A66E-8D2BDE8C6093}" type="slidenum">
              <a:rPr lang="en-US"/>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065213" y="333375"/>
            <a:ext cx="7583487" cy="6172200"/>
          </a:xfrm>
        </p:spPr>
        <p:txBody>
          <a:bodyPr/>
          <a:lstStyle/>
          <a:p>
            <a:pPr eaLnBrk="1" fontAlgn="auto" hangingPunct="1">
              <a:spcAft>
                <a:spcPts val="0"/>
              </a:spcAft>
              <a:defRPr/>
            </a:pPr>
            <a:r>
              <a:rPr lang="bg-BG" sz="2000">
                <a:solidFill>
                  <a:schemeClr val="tx1"/>
                </a:solidFill>
              </a:rPr>
              <a:t>Как точно?</a:t>
            </a:r>
            <a:br>
              <a:rPr lang="bg-BG" sz="2000">
                <a:solidFill>
                  <a:schemeClr val="tx1"/>
                </a:solidFill>
              </a:rPr>
            </a:br>
            <a:r>
              <a:rPr lang="bg-BG" sz="2000">
                <a:solidFill>
                  <a:schemeClr val="tx1"/>
                </a:solidFill>
              </a:rPr>
              <a:t>Пирамидата е еквивалентна на редица от стойности (или ключове) </a:t>
            </a:r>
            <a:r>
              <a:rPr lang="bg-BG" sz="2000" b="1" i="1">
                <a:solidFill>
                  <a:schemeClr val="tx1"/>
                </a:solidFill>
              </a:rPr>
              <a:t>а</a:t>
            </a:r>
            <a:r>
              <a:rPr lang="bg-BG" sz="2000" b="1" i="1" baseline="-25000">
                <a:solidFill>
                  <a:schemeClr val="tx1"/>
                </a:solidFill>
              </a:rPr>
              <a:t>lf</a:t>
            </a:r>
            <a:r>
              <a:rPr lang="bg-BG" sz="2000">
                <a:solidFill>
                  <a:schemeClr val="tx1"/>
                </a:solidFill>
              </a:rPr>
              <a:t>, </a:t>
            </a:r>
            <a:r>
              <a:rPr lang="bg-BG" sz="2000" b="1" i="1">
                <a:solidFill>
                  <a:schemeClr val="tx1"/>
                </a:solidFill>
              </a:rPr>
              <a:t>а</a:t>
            </a:r>
            <a:r>
              <a:rPr lang="bg-BG" sz="2000" b="1" i="1" baseline="-25000">
                <a:solidFill>
                  <a:schemeClr val="tx1"/>
                </a:solidFill>
              </a:rPr>
              <a:t>lf+1</a:t>
            </a:r>
            <a:r>
              <a:rPr lang="bg-BG" sz="2000">
                <a:solidFill>
                  <a:schemeClr val="tx1"/>
                </a:solidFill>
              </a:rPr>
              <a:t>, …, </a:t>
            </a:r>
            <a:r>
              <a:rPr lang="bg-BG" sz="2000" b="1" i="1">
                <a:solidFill>
                  <a:schemeClr val="tx1"/>
                </a:solidFill>
              </a:rPr>
              <a:t>а</a:t>
            </a:r>
            <a:r>
              <a:rPr lang="bg-BG" sz="2000" b="1" i="1" baseline="-25000">
                <a:solidFill>
                  <a:schemeClr val="tx1"/>
                </a:solidFill>
              </a:rPr>
              <a:t>rt</a:t>
            </a:r>
            <a:r>
              <a:rPr lang="bg-BG" sz="2000" b="1" i="1">
                <a:solidFill>
                  <a:schemeClr val="tx1"/>
                </a:solidFill>
              </a:rPr>
              <a:t> </a:t>
            </a:r>
            <a:r>
              <a:rPr lang="bg-BG" sz="2000">
                <a:solidFill>
                  <a:schemeClr val="tx1"/>
                </a:solidFill>
              </a:rPr>
              <a:t>(1&lt;=</a:t>
            </a:r>
            <a:r>
              <a:rPr lang="bg-BG" sz="2000" b="1" i="1">
                <a:solidFill>
                  <a:schemeClr val="tx1"/>
                </a:solidFill>
              </a:rPr>
              <a:t>lf</a:t>
            </a:r>
            <a:r>
              <a:rPr lang="bg-BG" sz="2000">
                <a:solidFill>
                  <a:schemeClr val="tx1"/>
                </a:solidFill>
              </a:rPr>
              <a:t>&lt;=</a:t>
            </a:r>
            <a:r>
              <a:rPr lang="bg-BG" sz="2000" b="1" i="1">
                <a:solidFill>
                  <a:schemeClr val="tx1"/>
                </a:solidFill>
              </a:rPr>
              <a:t>rt</a:t>
            </a:r>
            <a:r>
              <a:rPr lang="bg-BG" sz="2000">
                <a:solidFill>
                  <a:schemeClr val="tx1"/>
                </a:solidFill>
              </a:rPr>
              <a:t>&lt;=n)</a:t>
            </a:r>
            <a:r>
              <a:rPr lang="bg-BG" sz="2000" b="1" i="1">
                <a:solidFill>
                  <a:schemeClr val="tx1"/>
                </a:solidFill>
              </a:rPr>
              <a:t> а</a:t>
            </a:r>
            <a:r>
              <a:rPr lang="bg-BG" sz="2000" b="1" i="1" baseline="-25000">
                <a:solidFill>
                  <a:schemeClr val="tx1"/>
                </a:solidFill>
              </a:rPr>
              <a:t>i</a:t>
            </a:r>
            <a:r>
              <a:rPr lang="bg-BG" sz="2000">
                <a:solidFill>
                  <a:schemeClr val="tx1"/>
                </a:solidFill>
              </a:rPr>
              <a:t>&gt;=</a:t>
            </a:r>
            <a:r>
              <a:rPr lang="bg-BG" sz="2000" b="1" i="1">
                <a:solidFill>
                  <a:schemeClr val="tx1"/>
                </a:solidFill>
              </a:rPr>
              <a:t>а</a:t>
            </a:r>
            <a:r>
              <a:rPr lang="bg-BG" sz="2000" b="1" i="1" baseline="-25000">
                <a:solidFill>
                  <a:schemeClr val="tx1"/>
                </a:solidFill>
              </a:rPr>
              <a:t>2i</a:t>
            </a:r>
            <a:r>
              <a:rPr lang="bg-BG" sz="2000">
                <a:solidFill>
                  <a:schemeClr val="tx1"/>
                </a:solidFill>
              </a:rPr>
              <a:t>  и </a:t>
            </a:r>
            <a:r>
              <a:rPr lang="bg-BG" sz="2000" b="1" i="1">
                <a:solidFill>
                  <a:schemeClr val="tx1"/>
                </a:solidFill>
              </a:rPr>
              <a:t>а</a:t>
            </a:r>
            <a:r>
              <a:rPr lang="bg-BG" sz="2000" b="1" i="1" baseline="-25000">
                <a:solidFill>
                  <a:schemeClr val="tx1"/>
                </a:solidFill>
              </a:rPr>
              <a:t>i</a:t>
            </a:r>
            <a:r>
              <a:rPr lang="bg-BG" sz="2000">
                <a:solidFill>
                  <a:schemeClr val="tx1"/>
                </a:solidFill>
              </a:rPr>
              <a:t>&gt;=</a:t>
            </a:r>
            <a:r>
              <a:rPr lang="bg-BG" sz="2000" b="1" i="1">
                <a:solidFill>
                  <a:schemeClr val="tx1"/>
                </a:solidFill>
              </a:rPr>
              <a:t>а</a:t>
            </a:r>
            <a:r>
              <a:rPr lang="bg-BG" sz="2000" b="1" i="1" baseline="-25000">
                <a:solidFill>
                  <a:schemeClr val="tx1"/>
                </a:solidFill>
              </a:rPr>
              <a:t>2i+1</a:t>
            </a:r>
            <a:r>
              <a:rPr lang="bg-BG" sz="2000">
                <a:solidFill>
                  <a:schemeClr val="tx1"/>
                </a:solidFill>
              </a:rPr>
              <a:t>, </a:t>
            </a:r>
            <a:r>
              <a:rPr lang="bg-BG" sz="2000" b="1" i="1">
                <a:solidFill>
                  <a:schemeClr val="tx1"/>
                </a:solidFill>
              </a:rPr>
              <a:t>i</a:t>
            </a:r>
            <a:r>
              <a:rPr lang="bg-BG" sz="2000">
                <a:solidFill>
                  <a:schemeClr val="tx1"/>
                </a:solidFill>
              </a:rPr>
              <a:t>=</a:t>
            </a:r>
            <a:r>
              <a:rPr lang="bg-BG" sz="2000" b="1" i="1">
                <a:solidFill>
                  <a:schemeClr val="tx1"/>
                </a:solidFill>
              </a:rPr>
              <a:t>lf, lf+1, …, rt</a:t>
            </a:r>
            <a:r>
              <a:rPr lang="bg-BG" sz="2000">
                <a:solidFill>
                  <a:schemeClr val="tx1"/>
                </a:solidFill>
              </a:rPr>
              <a:t>/2.  </a:t>
            </a:r>
            <a:br>
              <a:rPr lang="bg-BG" sz="2000">
                <a:solidFill>
                  <a:schemeClr val="tx1"/>
                </a:solidFill>
              </a:rPr>
            </a:br>
            <a:r>
              <a:rPr lang="bg-BG" sz="2000">
                <a:solidFill>
                  <a:schemeClr val="tx1"/>
                </a:solidFill>
              </a:rPr>
              <a:t>Т.е. представянето е аналогично на статичното представяне на двоично дърво:</a:t>
            </a:r>
            <a:br>
              <a:rPr lang="bg-BG" sz="2000">
                <a:solidFill>
                  <a:schemeClr val="tx1"/>
                </a:solidFill>
              </a:rPr>
            </a:br>
            <a:r>
              <a:rPr lang="bg-BG" sz="2000" b="1" i="1">
                <a:solidFill>
                  <a:schemeClr val="tx1"/>
                </a:solidFill>
              </a:rPr>
              <a:t>а</a:t>
            </a:r>
            <a:r>
              <a:rPr lang="bg-BG" sz="2000">
                <a:solidFill>
                  <a:schemeClr val="tx1"/>
                </a:solidFill>
              </a:rPr>
              <a:t>[1]  </a:t>
            </a:r>
            <a:r>
              <a:rPr lang="bg-BG" sz="2000" b="1" i="1">
                <a:solidFill>
                  <a:schemeClr val="tx1"/>
                </a:solidFill>
              </a:rPr>
              <a:t> a</a:t>
            </a:r>
            <a:r>
              <a:rPr lang="bg-BG" sz="2000">
                <a:solidFill>
                  <a:schemeClr val="tx1"/>
                </a:solidFill>
              </a:rPr>
              <a:t>[2]   </a:t>
            </a:r>
            <a:r>
              <a:rPr lang="bg-BG" sz="2000" b="1" i="1">
                <a:solidFill>
                  <a:schemeClr val="tx1"/>
                </a:solidFill>
              </a:rPr>
              <a:t>a</a:t>
            </a:r>
            <a:r>
              <a:rPr lang="bg-BG" sz="2000">
                <a:solidFill>
                  <a:schemeClr val="tx1"/>
                </a:solidFill>
              </a:rPr>
              <a:t>[3]   </a:t>
            </a:r>
            <a:r>
              <a:rPr lang="bg-BG" sz="2000" b="1" i="1">
                <a:solidFill>
                  <a:schemeClr val="tx1"/>
                </a:solidFill>
              </a:rPr>
              <a:t>a</a:t>
            </a:r>
            <a:r>
              <a:rPr lang="bg-BG" sz="2000">
                <a:solidFill>
                  <a:schemeClr val="tx1"/>
                </a:solidFill>
              </a:rPr>
              <a:t>[4]   </a:t>
            </a:r>
            <a:r>
              <a:rPr lang="bg-BG" sz="2000" b="1" i="1">
                <a:solidFill>
                  <a:schemeClr val="tx1"/>
                </a:solidFill>
              </a:rPr>
              <a:t>a</a:t>
            </a:r>
            <a:r>
              <a:rPr lang="bg-BG" sz="2000">
                <a:solidFill>
                  <a:schemeClr val="tx1"/>
                </a:solidFill>
              </a:rPr>
              <a:t>[5]  </a:t>
            </a:r>
            <a:r>
              <a:rPr lang="bg-BG" sz="2000" b="1" i="1">
                <a:solidFill>
                  <a:schemeClr val="tx1"/>
                </a:solidFill>
              </a:rPr>
              <a:t>a</a:t>
            </a:r>
            <a:r>
              <a:rPr lang="bg-BG" sz="2000">
                <a:solidFill>
                  <a:schemeClr val="tx1"/>
                </a:solidFill>
              </a:rPr>
              <a:t>[6]  </a:t>
            </a:r>
            <a:r>
              <a:rPr lang="bg-BG" sz="2000" b="1" i="1">
                <a:solidFill>
                  <a:schemeClr val="tx1"/>
                </a:solidFill>
              </a:rPr>
              <a:t>a</a:t>
            </a:r>
            <a:r>
              <a:rPr lang="bg-BG" sz="2000">
                <a:solidFill>
                  <a:schemeClr val="tx1"/>
                </a:solidFill>
              </a:rPr>
              <a:t>[7]  </a:t>
            </a:r>
            <a:r>
              <a:rPr lang="bg-BG" sz="2000" b="1" i="1">
                <a:solidFill>
                  <a:schemeClr val="tx1"/>
                </a:solidFill>
              </a:rPr>
              <a:t>a</a:t>
            </a:r>
            <a:r>
              <a:rPr lang="bg-BG" sz="2000">
                <a:solidFill>
                  <a:schemeClr val="tx1"/>
                </a:solidFill>
              </a:rPr>
              <a:t>[8]  </a:t>
            </a:r>
            <a:r>
              <a:rPr lang="bg-BG" sz="2000" b="1" i="1">
                <a:solidFill>
                  <a:schemeClr val="tx1"/>
                </a:solidFill>
              </a:rPr>
              <a:t>a</a:t>
            </a:r>
            <a:r>
              <a:rPr lang="bg-BG" sz="2000">
                <a:solidFill>
                  <a:schemeClr val="tx1"/>
                </a:solidFill>
              </a:rPr>
              <a:t>[9]  </a:t>
            </a:r>
            <a:r>
              <a:rPr lang="bg-BG" sz="2000" b="1" i="1">
                <a:solidFill>
                  <a:schemeClr val="tx1"/>
                </a:solidFill>
              </a:rPr>
              <a:t>a</a:t>
            </a:r>
            <a:r>
              <a:rPr lang="bg-BG" sz="2000">
                <a:solidFill>
                  <a:schemeClr val="tx1"/>
                </a:solidFill>
              </a:rPr>
              <a:t>[10]  </a:t>
            </a:r>
            <a:r>
              <a:rPr lang="bg-BG" sz="2000" b="1" i="1">
                <a:solidFill>
                  <a:schemeClr val="tx1"/>
                </a:solidFill>
              </a:rPr>
              <a:t>a</a:t>
            </a:r>
            <a:r>
              <a:rPr lang="bg-BG" sz="2000">
                <a:solidFill>
                  <a:schemeClr val="tx1"/>
                </a:solidFill>
              </a:rPr>
              <a:t>[11]  </a:t>
            </a:r>
            <a:r>
              <a:rPr lang="bg-BG" sz="2000" b="1" i="1">
                <a:solidFill>
                  <a:schemeClr val="tx1"/>
                </a:solidFill>
              </a:rPr>
              <a:t>a</a:t>
            </a:r>
            <a:r>
              <a:rPr lang="bg-BG" sz="2000">
                <a:solidFill>
                  <a:schemeClr val="tx1"/>
                </a:solidFill>
              </a:rPr>
              <a:t>[12]</a:t>
            </a:r>
            <a:br>
              <a:rPr lang="bg-BG" sz="2000">
                <a:solidFill>
                  <a:schemeClr val="tx1"/>
                </a:solidFill>
              </a:rPr>
            </a:br>
            <a:r>
              <a:rPr lang="bg-BG" sz="2000">
                <a:solidFill>
                  <a:schemeClr val="tx1"/>
                </a:solidFill>
              </a:rPr>
              <a:t> 57      51     33      11     42     27     29      3      7        37        3       19</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Левият наследник на  </a:t>
            </a:r>
            <a:r>
              <a:rPr lang="bg-BG" sz="2000" b="1" i="1">
                <a:solidFill>
                  <a:schemeClr val="tx1"/>
                </a:solidFill>
              </a:rPr>
              <a:t>а</a:t>
            </a:r>
            <a:r>
              <a:rPr lang="bg-BG" sz="2000">
                <a:solidFill>
                  <a:schemeClr val="tx1"/>
                </a:solidFill>
              </a:rPr>
              <a:t>[</a:t>
            </a:r>
            <a:r>
              <a:rPr lang="bg-BG" sz="2000" b="1" i="1">
                <a:solidFill>
                  <a:schemeClr val="tx1"/>
                </a:solidFill>
              </a:rPr>
              <a:t>i</a:t>
            </a:r>
            <a:r>
              <a:rPr lang="bg-BG" sz="2000">
                <a:solidFill>
                  <a:schemeClr val="tx1"/>
                </a:solidFill>
              </a:rPr>
              <a:t>]  е </a:t>
            </a:r>
            <a:r>
              <a:rPr lang="bg-BG" sz="2000" b="1" i="1">
                <a:solidFill>
                  <a:schemeClr val="tx1"/>
                </a:solidFill>
              </a:rPr>
              <a:t>a</a:t>
            </a:r>
            <a:r>
              <a:rPr lang="bg-BG" sz="2000">
                <a:solidFill>
                  <a:schemeClr val="tx1"/>
                </a:solidFill>
              </a:rPr>
              <a:t>[2</a:t>
            </a:r>
            <a:r>
              <a:rPr lang="bg-BG" sz="2000" b="1" i="1">
                <a:solidFill>
                  <a:schemeClr val="tx1"/>
                </a:solidFill>
              </a:rPr>
              <a:t>i</a:t>
            </a:r>
            <a:r>
              <a:rPr lang="bg-BG" sz="2000">
                <a:solidFill>
                  <a:schemeClr val="tx1"/>
                </a:solidFill>
              </a:rPr>
              <a:t>]</a:t>
            </a:r>
            <a:br>
              <a:rPr lang="bg-BG" sz="2000">
                <a:solidFill>
                  <a:schemeClr val="tx1"/>
                </a:solidFill>
              </a:rPr>
            </a:br>
            <a:r>
              <a:rPr lang="bg-BG" sz="2000">
                <a:solidFill>
                  <a:schemeClr val="tx1"/>
                </a:solidFill>
              </a:rPr>
              <a:t>Десният наследник на  </a:t>
            </a:r>
            <a:r>
              <a:rPr lang="bg-BG" sz="2000" b="1" i="1">
                <a:solidFill>
                  <a:schemeClr val="tx1"/>
                </a:solidFill>
              </a:rPr>
              <a:t>а</a:t>
            </a:r>
            <a:r>
              <a:rPr lang="bg-BG" sz="2000">
                <a:solidFill>
                  <a:schemeClr val="tx1"/>
                </a:solidFill>
              </a:rPr>
              <a:t>[</a:t>
            </a:r>
            <a:r>
              <a:rPr lang="bg-BG" sz="2000" b="1" i="1">
                <a:solidFill>
                  <a:schemeClr val="tx1"/>
                </a:solidFill>
              </a:rPr>
              <a:t>i</a:t>
            </a:r>
            <a:r>
              <a:rPr lang="bg-BG" sz="2000">
                <a:solidFill>
                  <a:schemeClr val="tx1"/>
                </a:solidFill>
              </a:rPr>
              <a:t>]  е </a:t>
            </a:r>
            <a:r>
              <a:rPr lang="bg-BG" sz="2000" b="1" i="1">
                <a:solidFill>
                  <a:schemeClr val="tx1"/>
                </a:solidFill>
              </a:rPr>
              <a:t>a</a:t>
            </a:r>
            <a:r>
              <a:rPr lang="bg-BG" sz="2000">
                <a:solidFill>
                  <a:schemeClr val="tx1"/>
                </a:solidFill>
              </a:rPr>
              <a:t>[2</a:t>
            </a:r>
            <a:r>
              <a:rPr lang="bg-BG" sz="2000" b="1" i="1">
                <a:solidFill>
                  <a:schemeClr val="tx1"/>
                </a:solidFill>
              </a:rPr>
              <a:t>i+</a:t>
            </a:r>
            <a:r>
              <a:rPr lang="bg-BG" sz="2000">
                <a:solidFill>
                  <a:schemeClr val="tx1"/>
                </a:solidFill>
              </a:rPr>
              <a:t>1]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Върхът на пирамидата </a:t>
            </a:r>
            <a:br>
              <a:rPr lang="bg-BG" sz="2000">
                <a:solidFill>
                  <a:schemeClr val="tx1"/>
                </a:solidFill>
              </a:rPr>
            </a:br>
            <a:r>
              <a:rPr lang="bg-BG" sz="2000">
                <a:solidFill>
                  <a:schemeClr val="tx1"/>
                </a:solidFill>
              </a:rPr>
              <a:t>съдържа най-големия елемент.</a:t>
            </a:r>
            <a:endParaRPr lang="en-US" sz="2000">
              <a:solidFill>
                <a:schemeClr val="tx1"/>
              </a:solidFill>
            </a:endParaRPr>
          </a:p>
        </p:txBody>
      </p:sp>
      <p:grpSp>
        <p:nvGrpSpPr>
          <p:cNvPr id="41987" name="Group 3"/>
          <p:cNvGrpSpPr>
            <a:grpSpLocks/>
          </p:cNvGrpSpPr>
          <p:nvPr/>
        </p:nvGrpSpPr>
        <p:grpSpPr bwMode="auto">
          <a:xfrm>
            <a:off x="4737100" y="3873500"/>
            <a:ext cx="4406900" cy="2133600"/>
            <a:chOff x="1344" y="2448"/>
            <a:chExt cx="2776" cy="1344"/>
          </a:xfrm>
        </p:grpSpPr>
        <p:sp>
          <p:nvSpPr>
            <p:cNvPr id="41989" name="Oval 4"/>
            <p:cNvSpPr>
              <a:spLocks noChangeArrowheads="1"/>
            </p:cNvSpPr>
            <p:nvPr/>
          </p:nvSpPr>
          <p:spPr bwMode="auto">
            <a:xfrm>
              <a:off x="2640" y="2448"/>
              <a:ext cx="288" cy="288"/>
            </a:xfrm>
            <a:prstGeom prst="ellipse">
              <a:avLst/>
            </a:prstGeom>
            <a:noFill/>
            <a:ln w="9525">
              <a:solidFill>
                <a:schemeClr val="tx1"/>
              </a:solidFill>
              <a:round/>
              <a:headEnd/>
              <a:tailEnd/>
            </a:ln>
          </p:spPr>
          <p:txBody>
            <a:bodyPr wrap="none" anchor="ctr"/>
            <a:lstStyle/>
            <a:p>
              <a:endParaRPr lang="bg-BG"/>
            </a:p>
          </p:txBody>
        </p:sp>
        <p:sp>
          <p:nvSpPr>
            <p:cNvPr id="41990" name="Oval 5"/>
            <p:cNvSpPr>
              <a:spLocks noChangeArrowheads="1"/>
            </p:cNvSpPr>
            <p:nvPr/>
          </p:nvSpPr>
          <p:spPr bwMode="auto">
            <a:xfrm>
              <a:off x="3360" y="2736"/>
              <a:ext cx="288" cy="288"/>
            </a:xfrm>
            <a:prstGeom prst="ellipse">
              <a:avLst/>
            </a:prstGeom>
            <a:noFill/>
            <a:ln w="9525">
              <a:solidFill>
                <a:schemeClr val="tx1"/>
              </a:solidFill>
              <a:round/>
              <a:headEnd/>
              <a:tailEnd/>
            </a:ln>
          </p:spPr>
          <p:txBody>
            <a:bodyPr wrap="none" anchor="ctr"/>
            <a:lstStyle/>
            <a:p>
              <a:endParaRPr lang="bg-BG"/>
            </a:p>
          </p:txBody>
        </p:sp>
        <p:sp>
          <p:nvSpPr>
            <p:cNvPr id="41991" name="Oval 6"/>
            <p:cNvSpPr>
              <a:spLocks noChangeArrowheads="1"/>
            </p:cNvSpPr>
            <p:nvPr/>
          </p:nvSpPr>
          <p:spPr bwMode="auto">
            <a:xfrm>
              <a:off x="1776" y="3504"/>
              <a:ext cx="288" cy="288"/>
            </a:xfrm>
            <a:prstGeom prst="ellipse">
              <a:avLst/>
            </a:prstGeom>
            <a:noFill/>
            <a:ln w="9525">
              <a:solidFill>
                <a:schemeClr val="tx1"/>
              </a:solidFill>
              <a:round/>
              <a:headEnd/>
              <a:tailEnd/>
            </a:ln>
          </p:spPr>
          <p:txBody>
            <a:bodyPr wrap="none" anchor="ctr"/>
            <a:lstStyle/>
            <a:p>
              <a:endParaRPr lang="bg-BG"/>
            </a:p>
          </p:txBody>
        </p:sp>
        <p:sp>
          <p:nvSpPr>
            <p:cNvPr id="41992" name="Oval 7"/>
            <p:cNvSpPr>
              <a:spLocks noChangeArrowheads="1"/>
            </p:cNvSpPr>
            <p:nvPr/>
          </p:nvSpPr>
          <p:spPr bwMode="auto">
            <a:xfrm>
              <a:off x="1344" y="3504"/>
              <a:ext cx="288" cy="288"/>
            </a:xfrm>
            <a:prstGeom prst="ellipse">
              <a:avLst/>
            </a:prstGeom>
            <a:noFill/>
            <a:ln w="9525">
              <a:solidFill>
                <a:schemeClr val="tx1"/>
              </a:solidFill>
              <a:round/>
              <a:headEnd/>
              <a:tailEnd/>
            </a:ln>
          </p:spPr>
          <p:txBody>
            <a:bodyPr wrap="none" anchor="ctr"/>
            <a:lstStyle/>
            <a:p>
              <a:endParaRPr lang="bg-BG"/>
            </a:p>
          </p:txBody>
        </p:sp>
        <p:sp>
          <p:nvSpPr>
            <p:cNvPr id="41993" name="Oval 8"/>
            <p:cNvSpPr>
              <a:spLocks noChangeArrowheads="1"/>
            </p:cNvSpPr>
            <p:nvPr/>
          </p:nvSpPr>
          <p:spPr bwMode="auto">
            <a:xfrm>
              <a:off x="3216" y="3120"/>
              <a:ext cx="288" cy="288"/>
            </a:xfrm>
            <a:prstGeom prst="ellipse">
              <a:avLst/>
            </a:prstGeom>
            <a:noFill/>
            <a:ln w="9525">
              <a:solidFill>
                <a:schemeClr val="tx1"/>
              </a:solidFill>
              <a:round/>
              <a:headEnd/>
              <a:tailEnd/>
            </a:ln>
          </p:spPr>
          <p:txBody>
            <a:bodyPr wrap="none" anchor="ctr"/>
            <a:lstStyle/>
            <a:p>
              <a:endParaRPr lang="bg-BG"/>
            </a:p>
          </p:txBody>
        </p:sp>
        <p:sp>
          <p:nvSpPr>
            <p:cNvPr id="41994" name="Oval 9"/>
            <p:cNvSpPr>
              <a:spLocks noChangeArrowheads="1"/>
            </p:cNvSpPr>
            <p:nvPr/>
          </p:nvSpPr>
          <p:spPr bwMode="auto">
            <a:xfrm>
              <a:off x="2304" y="3072"/>
              <a:ext cx="288" cy="288"/>
            </a:xfrm>
            <a:prstGeom prst="ellipse">
              <a:avLst/>
            </a:prstGeom>
            <a:noFill/>
            <a:ln w="9525">
              <a:solidFill>
                <a:schemeClr val="tx1"/>
              </a:solidFill>
              <a:round/>
              <a:headEnd/>
              <a:tailEnd/>
            </a:ln>
          </p:spPr>
          <p:txBody>
            <a:bodyPr wrap="none" anchor="ctr"/>
            <a:lstStyle/>
            <a:p>
              <a:endParaRPr lang="bg-BG"/>
            </a:p>
          </p:txBody>
        </p:sp>
        <p:sp>
          <p:nvSpPr>
            <p:cNvPr id="41995" name="Oval 10"/>
            <p:cNvSpPr>
              <a:spLocks noChangeArrowheads="1"/>
            </p:cNvSpPr>
            <p:nvPr/>
          </p:nvSpPr>
          <p:spPr bwMode="auto">
            <a:xfrm>
              <a:off x="1632" y="3072"/>
              <a:ext cx="288" cy="288"/>
            </a:xfrm>
            <a:prstGeom prst="ellipse">
              <a:avLst/>
            </a:prstGeom>
            <a:noFill/>
            <a:ln w="9525">
              <a:solidFill>
                <a:schemeClr val="tx1"/>
              </a:solidFill>
              <a:round/>
              <a:headEnd/>
              <a:tailEnd/>
            </a:ln>
          </p:spPr>
          <p:txBody>
            <a:bodyPr wrap="none" anchor="ctr"/>
            <a:lstStyle/>
            <a:p>
              <a:endParaRPr lang="bg-BG"/>
            </a:p>
          </p:txBody>
        </p:sp>
        <p:sp>
          <p:nvSpPr>
            <p:cNvPr id="41996" name="Oval 11"/>
            <p:cNvSpPr>
              <a:spLocks noChangeArrowheads="1"/>
            </p:cNvSpPr>
            <p:nvPr/>
          </p:nvSpPr>
          <p:spPr bwMode="auto">
            <a:xfrm>
              <a:off x="1968" y="2784"/>
              <a:ext cx="288" cy="288"/>
            </a:xfrm>
            <a:prstGeom prst="ellipse">
              <a:avLst/>
            </a:prstGeom>
            <a:noFill/>
            <a:ln w="9525">
              <a:solidFill>
                <a:schemeClr val="tx1"/>
              </a:solidFill>
              <a:round/>
              <a:headEnd/>
              <a:tailEnd/>
            </a:ln>
          </p:spPr>
          <p:txBody>
            <a:bodyPr wrap="none" anchor="ctr"/>
            <a:lstStyle/>
            <a:p>
              <a:endParaRPr lang="bg-BG"/>
            </a:p>
          </p:txBody>
        </p:sp>
        <p:sp>
          <p:nvSpPr>
            <p:cNvPr id="41997" name="Oval 12"/>
            <p:cNvSpPr>
              <a:spLocks noChangeArrowheads="1"/>
            </p:cNvSpPr>
            <p:nvPr/>
          </p:nvSpPr>
          <p:spPr bwMode="auto">
            <a:xfrm>
              <a:off x="2160" y="3504"/>
              <a:ext cx="288" cy="288"/>
            </a:xfrm>
            <a:prstGeom prst="ellipse">
              <a:avLst/>
            </a:prstGeom>
            <a:noFill/>
            <a:ln w="9525">
              <a:solidFill>
                <a:schemeClr val="tx1"/>
              </a:solidFill>
              <a:round/>
              <a:headEnd/>
              <a:tailEnd/>
            </a:ln>
          </p:spPr>
          <p:txBody>
            <a:bodyPr wrap="none" anchor="ctr"/>
            <a:lstStyle/>
            <a:p>
              <a:endParaRPr lang="bg-BG"/>
            </a:p>
          </p:txBody>
        </p:sp>
        <p:sp>
          <p:nvSpPr>
            <p:cNvPr id="41998" name="Oval 13"/>
            <p:cNvSpPr>
              <a:spLocks noChangeArrowheads="1"/>
            </p:cNvSpPr>
            <p:nvPr/>
          </p:nvSpPr>
          <p:spPr bwMode="auto">
            <a:xfrm>
              <a:off x="3744" y="3120"/>
              <a:ext cx="288" cy="288"/>
            </a:xfrm>
            <a:prstGeom prst="ellipse">
              <a:avLst/>
            </a:prstGeom>
            <a:noFill/>
            <a:ln w="9525">
              <a:solidFill>
                <a:schemeClr val="tx1"/>
              </a:solidFill>
              <a:round/>
              <a:headEnd/>
              <a:tailEnd/>
            </a:ln>
          </p:spPr>
          <p:txBody>
            <a:bodyPr wrap="none" anchor="ctr"/>
            <a:lstStyle/>
            <a:p>
              <a:endParaRPr lang="bg-BG"/>
            </a:p>
          </p:txBody>
        </p:sp>
        <p:sp>
          <p:nvSpPr>
            <p:cNvPr id="41999" name="Oval 14"/>
            <p:cNvSpPr>
              <a:spLocks noChangeArrowheads="1"/>
            </p:cNvSpPr>
            <p:nvPr/>
          </p:nvSpPr>
          <p:spPr bwMode="auto">
            <a:xfrm>
              <a:off x="2544" y="3504"/>
              <a:ext cx="288" cy="288"/>
            </a:xfrm>
            <a:prstGeom prst="ellipse">
              <a:avLst/>
            </a:prstGeom>
            <a:noFill/>
            <a:ln w="9525">
              <a:solidFill>
                <a:schemeClr val="tx1"/>
              </a:solidFill>
              <a:round/>
              <a:headEnd/>
              <a:tailEnd/>
            </a:ln>
          </p:spPr>
          <p:txBody>
            <a:bodyPr wrap="none" anchor="ctr"/>
            <a:lstStyle/>
            <a:p>
              <a:endParaRPr lang="bg-BG"/>
            </a:p>
          </p:txBody>
        </p:sp>
        <p:sp>
          <p:nvSpPr>
            <p:cNvPr id="42000" name="Oval 15"/>
            <p:cNvSpPr>
              <a:spLocks noChangeArrowheads="1"/>
            </p:cNvSpPr>
            <p:nvPr/>
          </p:nvSpPr>
          <p:spPr bwMode="auto">
            <a:xfrm>
              <a:off x="3072" y="3504"/>
              <a:ext cx="288" cy="288"/>
            </a:xfrm>
            <a:prstGeom prst="ellipse">
              <a:avLst/>
            </a:prstGeom>
            <a:noFill/>
            <a:ln w="9525">
              <a:solidFill>
                <a:schemeClr val="tx1"/>
              </a:solidFill>
              <a:round/>
              <a:headEnd/>
              <a:tailEnd/>
            </a:ln>
          </p:spPr>
          <p:txBody>
            <a:bodyPr wrap="none" anchor="ctr"/>
            <a:lstStyle/>
            <a:p>
              <a:endParaRPr lang="bg-BG"/>
            </a:p>
          </p:txBody>
        </p:sp>
        <p:sp>
          <p:nvSpPr>
            <p:cNvPr id="42001" name="Line 16"/>
            <p:cNvSpPr>
              <a:spLocks noChangeShapeType="1"/>
            </p:cNvSpPr>
            <p:nvPr/>
          </p:nvSpPr>
          <p:spPr bwMode="auto">
            <a:xfrm flipH="1">
              <a:off x="2208" y="2640"/>
              <a:ext cx="432" cy="192"/>
            </a:xfrm>
            <a:prstGeom prst="line">
              <a:avLst/>
            </a:prstGeom>
            <a:noFill/>
            <a:ln w="9525">
              <a:solidFill>
                <a:schemeClr val="tx1"/>
              </a:solidFill>
              <a:round/>
              <a:headEnd/>
              <a:tailEnd/>
            </a:ln>
          </p:spPr>
          <p:txBody>
            <a:bodyPr wrap="none" anchor="ctr"/>
            <a:lstStyle/>
            <a:p>
              <a:endParaRPr lang="bg-BG"/>
            </a:p>
          </p:txBody>
        </p:sp>
        <p:sp>
          <p:nvSpPr>
            <p:cNvPr id="42002" name="Line 17"/>
            <p:cNvSpPr>
              <a:spLocks noChangeShapeType="1"/>
            </p:cNvSpPr>
            <p:nvPr/>
          </p:nvSpPr>
          <p:spPr bwMode="auto">
            <a:xfrm>
              <a:off x="2928" y="2640"/>
              <a:ext cx="432" cy="192"/>
            </a:xfrm>
            <a:prstGeom prst="line">
              <a:avLst/>
            </a:prstGeom>
            <a:noFill/>
            <a:ln w="9525">
              <a:solidFill>
                <a:schemeClr val="tx1"/>
              </a:solidFill>
              <a:round/>
              <a:headEnd/>
              <a:tailEnd/>
            </a:ln>
          </p:spPr>
          <p:txBody>
            <a:bodyPr wrap="none" anchor="ctr"/>
            <a:lstStyle/>
            <a:p>
              <a:endParaRPr lang="bg-BG"/>
            </a:p>
          </p:txBody>
        </p:sp>
        <p:sp>
          <p:nvSpPr>
            <p:cNvPr id="42003" name="Line 18"/>
            <p:cNvSpPr>
              <a:spLocks noChangeShapeType="1"/>
            </p:cNvSpPr>
            <p:nvPr/>
          </p:nvSpPr>
          <p:spPr bwMode="auto">
            <a:xfrm flipH="1">
              <a:off x="1872" y="3024"/>
              <a:ext cx="144" cy="96"/>
            </a:xfrm>
            <a:prstGeom prst="line">
              <a:avLst/>
            </a:prstGeom>
            <a:noFill/>
            <a:ln w="9525">
              <a:solidFill>
                <a:schemeClr val="tx1"/>
              </a:solidFill>
              <a:round/>
              <a:headEnd/>
              <a:tailEnd/>
            </a:ln>
          </p:spPr>
          <p:txBody>
            <a:bodyPr wrap="none" anchor="ctr"/>
            <a:lstStyle/>
            <a:p>
              <a:endParaRPr lang="bg-BG"/>
            </a:p>
          </p:txBody>
        </p:sp>
        <p:sp>
          <p:nvSpPr>
            <p:cNvPr id="42004" name="Line 19"/>
            <p:cNvSpPr>
              <a:spLocks noChangeShapeType="1"/>
            </p:cNvSpPr>
            <p:nvPr/>
          </p:nvSpPr>
          <p:spPr bwMode="auto">
            <a:xfrm flipH="1">
              <a:off x="1536" y="3320"/>
              <a:ext cx="144" cy="192"/>
            </a:xfrm>
            <a:prstGeom prst="line">
              <a:avLst/>
            </a:prstGeom>
            <a:noFill/>
            <a:ln w="9525">
              <a:solidFill>
                <a:schemeClr val="tx1"/>
              </a:solidFill>
              <a:round/>
              <a:headEnd/>
              <a:tailEnd/>
            </a:ln>
          </p:spPr>
          <p:txBody>
            <a:bodyPr wrap="none" anchor="ctr"/>
            <a:lstStyle/>
            <a:p>
              <a:endParaRPr lang="bg-BG"/>
            </a:p>
          </p:txBody>
        </p:sp>
        <p:sp>
          <p:nvSpPr>
            <p:cNvPr id="42005" name="Line 20"/>
            <p:cNvSpPr>
              <a:spLocks noChangeShapeType="1"/>
            </p:cNvSpPr>
            <p:nvPr/>
          </p:nvSpPr>
          <p:spPr bwMode="auto">
            <a:xfrm>
              <a:off x="1824" y="3360"/>
              <a:ext cx="96" cy="144"/>
            </a:xfrm>
            <a:prstGeom prst="line">
              <a:avLst/>
            </a:prstGeom>
            <a:noFill/>
            <a:ln w="9525">
              <a:solidFill>
                <a:schemeClr val="tx1"/>
              </a:solidFill>
              <a:round/>
              <a:headEnd/>
              <a:tailEnd/>
            </a:ln>
          </p:spPr>
          <p:txBody>
            <a:bodyPr wrap="none" anchor="ctr"/>
            <a:lstStyle/>
            <a:p>
              <a:endParaRPr lang="bg-BG"/>
            </a:p>
          </p:txBody>
        </p:sp>
        <p:sp>
          <p:nvSpPr>
            <p:cNvPr id="42006" name="Line 21"/>
            <p:cNvSpPr>
              <a:spLocks noChangeShapeType="1"/>
            </p:cNvSpPr>
            <p:nvPr/>
          </p:nvSpPr>
          <p:spPr bwMode="auto">
            <a:xfrm>
              <a:off x="2208" y="3024"/>
              <a:ext cx="144" cy="96"/>
            </a:xfrm>
            <a:prstGeom prst="line">
              <a:avLst/>
            </a:prstGeom>
            <a:noFill/>
            <a:ln w="9525">
              <a:solidFill>
                <a:schemeClr val="tx1"/>
              </a:solidFill>
              <a:round/>
              <a:headEnd/>
              <a:tailEnd/>
            </a:ln>
          </p:spPr>
          <p:txBody>
            <a:bodyPr wrap="none" anchor="ctr"/>
            <a:lstStyle/>
            <a:p>
              <a:endParaRPr lang="bg-BG"/>
            </a:p>
          </p:txBody>
        </p:sp>
        <p:sp>
          <p:nvSpPr>
            <p:cNvPr id="42007" name="Line 22"/>
            <p:cNvSpPr>
              <a:spLocks noChangeShapeType="1"/>
            </p:cNvSpPr>
            <p:nvPr/>
          </p:nvSpPr>
          <p:spPr bwMode="auto">
            <a:xfrm flipH="1">
              <a:off x="2352" y="3360"/>
              <a:ext cx="48" cy="144"/>
            </a:xfrm>
            <a:prstGeom prst="line">
              <a:avLst/>
            </a:prstGeom>
            <a:noFill/>
            <a:ln w="9525">
              <a:solidFill>
                <a:schemeClr val="tx1"/>
              </a:solidFill>
              <a:round/>
              <a:headEnd/>
              <a:tailEnd/>
            </a:ln>
          </p:spPr>
          <p:txBody>
            <a:bodyPr wrap="none" anchor="ctr"/>
            <a:lstStyle/>
            <a:p>
              <a:endParaRPr lang="bg-BG"/>
            </a:p>
          </p:txBody>
        </p:sp>
        <p:sp>
          <p:nvSpPr>
            <p:cNvPr id="42008" name="Line 23"/>
            <p:cNvSpPr>
              <a:spLocks noChangeShapeType="1"/>
            </p:cNvSpPr>
            <p:nvPr/>
          </p:nvSpPr>
          <p:spPr bwMode="auto">
            <a:xfrm>
              <a:off x="2564" y="3320"/>
              <a:ext cx="96" cy="202"/>
            </a:xfrm>
            <a:prstGeom prst="line">
              <a:avLst/>
            </a:prstGeom>
            <a:noFill/>
            <a:ln w="9525">
              <a:solidFill>
                <a:schemeClr val="tx1"/>
              </a:solidFill>
              <a:round/>
              <a:headEnd/>
              <a:tailEnd/>
            </a:ln>
          </p:spPr>
          <p:txBody>
            <a:bodyPr wrap="none" anchor="ctr"/>
            <a:lstStyle/>
            <a:p>
              <a:endParaRPr lang="bg-BG"/>
            </a:p>
          </p:txBody>
        </p:sp>
        <p:sp>
          <p:nvSpPr>
            <p:cNvPr id="42009" name="Line 24"/>
            <p:cNvSpPr>
              <a:spLocks noChangeShapeType="1"/>
            </p:cNvSpPr>
            <p:nvPr/>
          </p:nvSpPr>
          <p:spPr bwMode="auto">
            <a:xfrm flipH="1">
              <a:off x="3408" y="3024"/>
              <a:ext cx="48" cy="96"/>
            </a:xfrm>
            <a:prstGeom prst="line">
              <a:avLst/>
            </a:prstGeom>
            <a:noFill/>
            <a:ln w="9525">
              <a:solidFill>
                <a:schemeClr val="tx1"/>
              </a:solidFill>
              <a:round/>
              <a:headEnd/>
              <a:tailEnd/>
            </a:ln>
          </p:spPr>
          <p:txBody>
            <a:bodyPr wrap="none" anchor="ctr"/>
            <a:lstStyle/>
            <a:p>
              <a:endParaRPr lang="bg-BG"/>
            </a:p>
          </p:txBody>
        </p:sp>
        <p:sp>
          <p:nvSpPr>
            <p:cNvPr id="42010" name="Line 25"/>
            <p:cNvSpPr>
              <a:spLocks noChangeShapeType="1"/>
            </p:cNvSpPr>
            <p:nvPr/>
          </p:nvSpPr>
          <p:spPr bwMode="auto">
            <a:xfrm flipH="1">
              <a:off x="3264" y="3408"/>
              <a:ext cx="48" cy="96"/>
            </a:xfrm>
            <a:prstGeom prst="line">
              <a:avLst/>
            </a:prstGeom>
            <a:noFill/>
            <a:ln w="9525">
              <a:solidFill>
                <a:schemeClr val="tx1"/>
              </a:solidFill>
              <a:round/>
              <a:headEnd/>
              <a:tailEnd/>
            </a:ln>
          </p:spPr>
          <p:txBody>
            <a:bodyPr wrap="none" anchor="ctr"/>
            <a:lstStyle/>
            <a:p>
              <a:endParaRPr lang="bg-BG"/>
            </a:p>
          </p:txBody>
        </p:sp>
        <p:sp>
          <p:nvSpPr>
            <p:cNvPr id="42011" name="Line 26"/>
            <p:cNvSpPr>
              <a:spLocks noChangeShapeType="1"/>
            </p:cNvSpPr>
            <p:nvPr/>
          </p:nvSpPr>
          <p:spPr bwMode="auto">
            <a:xfrm>
              <a:off x="3600" y="2976"/>
              <a:ext cx="192" cy="192"/>
            </a:xfrm>
            <a:prstGeom prst="line">
              <a:avLst/>
            </a:prstGeom>
            <a:noFill/>
            <a:ln w="9525">
              <a:solidFill>
                <a:schemeClr val="tx1"/>
              </a:solidFill>
              <a:round/>
              <a:headEnd/>
              <a:tailEnd/>
            </a:ln>
          </p:spPr>
          <p:txBody>
            <a:bodyPr wrap="none" anchor="ctr"/>
            <a:lstStyle/>
            <a:p>
              <a:endParaRPr lang="bg-BG"/>
            </a:p>
          </p:txBody>
        </p:sp>
        <p:sp>
          <p:nvSpPr>
            <p:cNvPr id="42012" name="Text Box 27"/>
            <p:cNvSpPr txBox="1">
              <a:spLocks noChangeArrowheads="1"/>
            </p:cNvSpPr>
            <p:nvPr/>
          </p:nvSpPr>
          <p:spPr bwMode="auto">
            <a:xfrm>
              <a:off x="2638" y="2448"/>
              <a:ext cx="384" cy="288"/>
            </a:xfrm>
            <a:prstGeom prst="rect">
              <a:avLst/>
            </a:prstGeom>
            <a:noFill/>
            <a:ln w="9525">
              <a:noFill/>
              <a:miter lim="800000"/>
              <a:headEnd/>
              <a:tailEnd/>
            </a:ln>
          </p:spPr>
          <p:txBody>
            <a:bodyPr>
              <a:spAutoFit/>
            </a:bodyPr>
            <a:lstStyle/>
            <a:p>
              <a:pPr algn="l">
                <a:spcBef>
                  <a:spcPct val="50000"/>
                </a:spcBef>
              </a:pPr>
              <a:r>
                <a:rPr lang="en-US"/>
                <a:t>5</a:t>
              </a:r>
              <a:r>
                <a:rPr lang="bg-BG"/>
                <a:t>7</a:t>
              </a:r>
              <a:endParaRPr lang="en-US"/>
            </a:p>
          </p:txBody>
        </p:sp>
        <p:sp>
          <p:nvSpPr>
            <p:cNvPr id="42013" name="Text Box 28"/>
            <p:cNvSpPr txBox="1">
              <a:spLocks noChangeArrowheads="1"/>
            </p:cNvSpPr>
            <p:nvPr/>
          </p:nvSpPr>
          <p:spPr bwMode="auto">
            <a:xfrm>
              <a:off x="1382" y="3496"/>
              <a:ext cx="288" cy="288"/>
            </a:xfrm>
            <a:prstGeom prst="rect">
              <a:avLst/>
            </a:prstGeom>
            <a:noFill/>
            <a:ln w="9525">
              <a:noFill/>
              <a:miter lim="800000"/>
              <a:headEnd/>
              <a:tailEnd/>
            </a:ln>
          </p:spPr>
          <p:txBody>
            <a:bodyPr>
              <a:spAutoFit/>
            </a:bodyPr>
            <a:lstStyle/>
            <a:p>
              <a:pPr algn="l">
                <a:spcBef>
                  <a:spcPct val="50000"/>
                </a:spcBef>
              </a:pPr>
              <a:r>
                <a:rPr lang="en-US"/>
                <a:t>3</a:t>
              </a:r>
            </a:p>
          </p:txBody>
        </p:sp>
        <p:sp>
          <p:nvSpPr>
            <p:cNvPr id="42014" name="Text Box 29"/>
            <p:cNvSpPr txBox="1">
              <a:spLocks noChangeArrowheads="1"/>
            </p:cNvSpPr>
            <p:nvPr/>
          </p:nvSpPr>
          <p:spPr bwMode="auto">
            <a:xfrm>
              <a:off x="2584" y="3494"/>
              <a:ext cx="288" cy="288"/>
            </a:xfrm>
            <a:prstGeom prst="rect">
              <a:avLst/>
            </a:prstGeom>
            <a:noFill/>
            <a:ln w="9525">
              <a:noFill/>
              <a:miter lim="800000"/>
              <a:headEnd/>
              <a:tailEnd/>
            </a:ln>
          </p:spPr>
          <p:txBody>
            <a:bodyPr>
              <a:spAutoFit/>
            </a:bodyPr>
            <a:lstStyle/>
            <a:p>
              <a:pPr algn="l">
                <a:spcBef>
                  <a:spcPct val="50000"/>
                </a:spcBef>
              </a:pPr>
              <a:r>
                <a:rPr lang="en-US"/>
                <a:t>3</a:t>
              </a:r>
            </a:p>
          </p:txBody>
        </p:sp>
        <p:sp>
          <p:nvSpPr>
            <p:cNvPr id="42015" name="Text Box 30"/>
            <p:cNvSpPr txBox="1">
              <a:spLocks noChangeArrowheads="1"/>
            </p:cNvSpPr>
            <p:nvPr/>
          </p:nvSpPr>
          <p:spPr bwMode="auto">
            <a:xfrm>
              <a:off x="1826" y="3494"/>
              <a:ext cx="288" cy="288"/>
            </a:xfrm>
            <a:prstGeom prst="rect">
              <a:avLst/>
            </a:prstGeom>
            <a:noFill/>
            <a:ln w="9525">
              <a:noFill/>
              <a:miter lim="800000"/>
              <a:headEnd/>
              <a:tailEnd/>
            </a:ln>
          </p:spPr>
          <p:txBody>
            <a:bodyPr>
              <a:spAutoFit/>
            </a:bodyPr>
            <a:lstStyle/>
            <a:p>
              <a:pPr algn="l">
                <a:spcBef>
                  <a:spcPct val="50000"/>
                </a:spcBef>
              </a:pPr>
              <a:r>
                <a:rPr lang="en-US"/>
                <a:t>7</a:t>
              </a:r>
            </a:p>
          </p:txBody>
        </p:sp>
        <p:sp>
          <p:nvSpPr>
            <p:cNvPr id="42016" name="Text Box 31"/>
            <p:cNvSpPr txBox="1">
              <a:spLocks noChangeArrowheads="1"/>
            </p:cNvSpPr>
            <p:nvPr/>
          </p:nvSpPr>
          <p:spPr bwMode="auto">
            <a:xfrm>
              <a:off x="1632" y="3072"/>
              <a:ext cx="384" cy="288"/>
            </a:xfrm>
            <a:prstGeom prst="rect">
              <a:avLst/>
            </a:prstGeom>
            <a:noFill/>
            <a:ln w="9525">
              <a:noFill/>
              <a:miter lim="800000"/>
              <a:headEnd/>
              <a:tailEnd/>
            </a:ln>
          </p:spPr>
          <p:txBody>
            <a:bodyPr>
              <a:spAutoFit/>
            </a:bodyPr>
            <a:lstStyle/>
            <a:p>
              <a:pPr algn="l">
                <a:spcBef>
                  <a:spcPct val="50000"/>
                </a:spcBef>
              </a:pPr>
              <a:r>
                <a:rPr lang="en-US"/>
                <a:t>1</a:t>
              </a:r>
              <a:r>
                <a:rPr lang="bg-BG"/>
                <a:t>1</a:t>
              </a:r>
              <a:endParaRPr lang="en-US"/>
            </a:p>
          </p:txBody>
        </p:sp>
        <p:sp>
          <p:nvSpPr>
            <p:cNvPr id="42017" name="Text Box 32"/>
            <p:cNvSpPr txBox="1">
              <a:spLocks noChangeArrowheads="1"/>
            </p:cNvSpPr>
            <p:nvPr/>
          </p:nvSpPr>
          <p:spPr bwMode="auto">
            <a:xfrm>
              <a:off x="2160" y="3504"/>
              <a:ext cx="384" cy="288"/>
            </a:xfrm>
            <a:prstGeom prst="rect">
              <a:avLst/>
            </a:prstGeom>
            <a:noFill/>
            <a:ln w="9525">
              <a:noFill/>
              <a:miter lim="800000"/>
              <a:headEnd/>
              <a:tailEnd/>
            </a:ln>
          </p:spPr>
          <p:txBody>
            <a:bodyPr>
              <a:spAutoFit/>
            </a:bodyPr>
            <a:lstStyle/>
            <a:p>
              <a:pPr algn="l">
                <a:spcBef>
                  <a:spcPct val="50000"/>
                </a:spcBef>
              </a:pPr>
              <a:r>
                <a:rPr lang="en-US"/>
                <a:t>3</a:t>
              </a:r>
              <a:r>
                <a:rPr lang="bg-BG"/>
                <a:t>7</a:t>
              </a:r>
              <a:endParaRPr lang="en-US"/>
            </a:p>
          </p:txBody>
        </p:sp>
        <p:sp>
          <p:nvSpPr>
            <p:cNvPr id="42018" name="Text Box 33"/>
            <p:cNvSpPr txBox="1">
              <a:spLocks noChangeArrowheads="1"/>
            </p:cNvSpPr>
            <p:nvPr/>
          </p:nvSpPr>
          <p:spPr bwMode="auto">
            <a:xfrm>
              <a:off x="2304" y="3072"/>
              <a:ext cx="384" cy="288"/>
            </a:xfrm>
            <a:prstGeom prst="rect">
              <a:avLst/>
            </a:prstGeom>
            <a:noFill/>
            <a:ln w="9525">
              <a:noFill/>
              <a:miter lim="800000"/>
              <a:headEnd/>
              <a:tailEnd/>
            </a:ln>
          </p:spPr>
          <p:txBody>
            <a:bodyPr>
              <a:spAutoFit/>
            </a:bodyPr>
            <a:lstStyle/>
            <a:p>
              <a:pPr algn="l">
                <a:spcBef>
                  <a:spcPct val="50000"/>
                </a:spcBef>
              </a:pPr>
              <a:r>
                <a:rPr lang="en-US"/>
                <a:t>42</a:t>
              </a:r>
            </a:p>
          </p:txBody>
        </p:sp>
        <p:sp>
          <p:nvSpPr>
            <p:cNvPr id="42019" name="Text Box 34"/>
            <p:cNvSpPr txBox="1">
              <a:spLocks noChangeArrowheads="1"/>
            </p:cNvSpPr>
            <p:nvPr/>
          </p:nvSpPr>
          <p:spPr bwMode="auto">
            <a:xfrm>
              <a:off x="1970" y="2774"/>
              <a:ext cx="384" cy="288"/>
            </a:xfrm>
            <a:prstGeom prst="rect">
              <a:avLst/>
            </a:prstGeom>
            <a:noFill/>
            <a:ln w="9525">
              <a:noFill/>
              <a:miter lim="800000"/>
              <a:headEnd/>
              <a:tailEnd/>
            </a:ln>
          </p:spPr>
          <p:txBody>
            <a:bodyPr>
              <a:spAutoFit/>
            </a:bodyPr>
            <a:lstStyle/>
            <a:p>
              <a:pPr algn="l">
                <a:spcBef>
                  <a:spcPct val="50000"/>
                </a:spcBef>
              </a:pPr>
              <a:r>
                <a:rPr lang="en-US"/>
                <a:t>5</a:t>
              </a:r>
              <a:r>
                <a:rPr lang="bg-BG"/>
                <a:t>1</a:t>
              </a:r>
              <a:endParaRPr lang="en-US"/>
            </a:p>
          </p:txBody>
        </p:sp>
        <p:sp>
          <p:nvSpPr>
            <p:cNvPr id="42020" name="Text Box 35"/>
            <p:cNvSpPr txBox="1">
              <a:spLocks noChangeArrowheads="1"/>
            </p:cNvSpPr>
            <p:nvPr/>
          </p:nvSpPr>
          <p:spPr bwMode="auto">
            <a:xfrm>
              <a:off x="3358" y="2728"/>
              <a:ext cx="384" cy="288"/>
            </a:xfrm>
            <a:prstGeom prst="rect">
              <a:avLst/>
            </a:prstGeom>
            <a:noFill/>
            <a:ln w="9525">
              <a:noFill/>
              <a:miter lim="800000"/>
              <a:headEnd/>
              <a:tailEnd/>
            </a:ln>
          </p:spPr>
          <p:txBody>
            <a:bodyPr>
              <a:spAutoFit/>
            </a:bodyPr>
            <a:lstStyle/>
            <a:p>
              <a:pPr algn="l">
                <a:spcBef>
                  <a:spcPct val="50000"/>
                </a:spcBef>
              </a:pPr>
              <a:r>
                <a:rPr lang="en-US"/>
                <a:t>3</a:t>
              </a:r>
              <a:r>
                <a:rPr lang="bg-BG"/>
                <a:t>3</a:t>
              </a:r>
              <a:endParaRPr lang="en-US"/>
            </a:p>
          </p:txBody>
        </p:sp>
        <p:sp>
          <p:nvSpPr>
            <p:cNvPr id="42021" name="Text Box 36"/>
            <p:cNvSpPr txBox="1">
              <a:spLocks noChangeArrowheads="1"/>
            </p:cNvSpPr>
            <p:nvPr/>
          </p:nvSpPr>
          <p:spPr bwMode="auto">
            <a:xfrm>
              <a:off x="3216" y="3120"/>
              <a:ext cx="384" cy="288"/>
            </a:xfrm>
            <a:prstGeom prst="rect">
              <a:avLst/>
            </a:prstGeom>
            <a:noFill/>
            <a:ln w="9525">
              <a:noFill/>
              <a:miter lim="800000"/>
              <a:headEnd/>
              <a:tailEnd/>
            </a:ln>
          </p:spPr>
          <p:txBody>
            <a:bodyPr>
              <a:spAutoFit/>
            </a:bodyPr>
            <a:lstStyle/>
            <a:p>
              <a:pPr algn="l">
                <a:spcBef>
                  <a:spcPct val="50000"/>
                </a:spcBef>
              </a:pPr>
              <a:r>
                <a:rPr lang="en-US"/>
                <a:t>2</a:t>
              </a:r>
              <a:r>
                <a:rPr lang="bg-BG"/>
                <a:t>7</a:t>
              </a:r>
              <a:endParaRPr lang="en-US"/>
            </a:p>
          </p:txBody>
        </p:sp>
        <p:sp>
          <p:nvSpPr>
            <p:cNvPr id="42022" name="Text Box 37"/>
            <p:cNvSpPr txBox="1">
              <a:spLocks noChangeArrowheads="1"/>
            </p:cNvSpPr>
            <p:nvPr/>
          </p:nvSpPr>
          <p:spPr bwMode="auto">
            <a:xfrm>
              <a:off x="3074" y="3504"/>
              <a:ext cx="384" cy="288"/>
            </a:xfrm>
            <a:prstGeom prst="rect">
              <a:avLst/>
            </a:prstGeom>
            <a:noFill/>
            <a:ln w="9525">
              <a:noFill/>
              <a:miter lim="800000"/>
              <a:headEnd/>
              <a:tailEnd/>
            </a:ln>
          </p:spPr>
          <p:txBody>
            <a:bodyPr>
              <a:spAutoFit/>
            </a:bodyPr>
            <a:lstStyle/>
            <a:p>
              <a:pPr algn="l">
                <a:spcBef>
                  <a:spcPct val="50000"/>
                </a:spcBef>
              </a:pPr>
              <a:r>
                <a:rPr lang="en-US"/>
                <a:t>1</a:t>
              </a:r>
              <a:r>
                <a:rPr lang="bg-BG"/>
                <a:t>9</a:t>
              </a:r>
              <a:endParaRPr lang="en-US"/>
            </a:p>
          </p:txBody>
        </p:sp>
        <p:sp>
          <p:nvSpPr>
            <p:cNvPr id="42023" name="Text Box 38"/>
            <p:cNvSpPr txBox="1">
              <a:spLocks noChangeArrowheads="1"/>
            </p:cNvSpPr>
            <p:nvPr/>
          </p:nvSpPr>
          <p:spPr bwMode="auto">
            <a:xfrm>
              <a:off x="3736" y="3110"/>
              <a:ext cx="384" cy="288"/>
            </a:xfrm>
            <a:prstGeom prst="rect">
              <a:avLst/>
            </a:prstGeom>
            <a:noFill/>
            <a:ln w="9525">
              <a:noFill/>
              <a:miter lim="800000"/>
              <a:headEnd/>
              <a:tailEnd/>
            </a:ln>
          </p:spPr>
          <p:txBody>
            <a:bodyPr>
              <a:spAutoFit/>
            </a:bodyPr>
            <a:lstStyle/>
            <a:p>
              <a:pPr algn="l">
                <a:spcBef>
                  <a:spcPct val="50000"/>
                </a:spcBef>
              </a:pPr>
              <a:r>
                <a:rPr lang="en-US"/>
                <a:t>2</a:t>
              </a:r>
              <a:r>
                <a:rPr lang="bg-BG"/>
                <a:t>9</a:t>
              </a:r>
              <a:endParaRPr lang="en-US"/>
            </a:p>
          </p:txBody>
        </p:sp>
      </p:grpSp>
      <p:sp>
        <p:nvSpPr>
          <p:cNvPr id="41" name="Slide Number Placeholder 40"/>
          <p:cNvSpPr>
            <a:spLocks noGrp="1"/>
          </p:cNvSpPr>
          <p:nvPr>
            <p:ph type="sldNum" sz="quarter" idx="12"/>
          </p:nvPr>
        </p:nvSpPr>
        <p:spPr/>
        <p:txBody>
          <a:bodyPr/>
          <a:lstStyle/>
          <a:p>
            <a:pPr>
              <a:defRPr/>
            </a:pPr>
            <a:fld id="{CC76512D-9180-4548-8AF9-6E9BBD3F2D24}" type="slidenum">
              <a:rPr lang="en-US"/>
              <a:pPr>
                <a:defRPr/>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908050" y="-171450"/>
            <a:ext cx="8235950" cy="6019800"/>
          </a:xfrm>
        </p:spPr>
        <p:txBody>
          <a:bodyPr/>
          <a:lstStyle/>
          <a:p>
            <a:pPr eaLnBrk="1" fontAlgn="auto" hangingPunct="1">
              <a:spcAft>
                <a:spcPts val="0"/>
              </a:spcAft>
              <a:defRPr/>
            </a:pPr>
            <a:r>
              <a:rPr lang="en-US" sz="2000">
                <a:solidFill>
                  <a:schemeClr val="tx1"/>
                </a:solidFill>
              </a:rPr>
              <a:t>	Н</a:t>
            </a:r>
            <a:r>
              <a:rPr lang="bg-BG" sz="2000">
                <a:solidFill>
                  <a:schemeClr val="tx1"/>
                </a:solidFill>
              </a:rPr>
              <a:t>ека да предположим, че разполагаме с ефективен алгоритъм за изграждане на пирамида</a:t>
            </a:r>
            <a:r>
              <a:rPr lang="en-US" sz="2000">
                <a:solidFill>
                  <a:schemeClr val="tx1"/>
                </a:solidFill>
              </a:rPr>
              <a:t>, </a:t>
            </a:r>
            <a:r>
              <a:rPr lang="bg-BG" sz="2000">
                <a:solidFill>
                  <a:schemeClr val="tx1"/>
                </a:solidFill>
              </a:rPr>
              <a:t>реализиран с </a:t>
            </a:r>
            <a:r>
              <a:rPr lang="en-US" sz="2000" i="1">
                <a:solidFill>
                  <a:schemeClr val="tx1"/>
                </a:solidFill>
              </a:rPr>
              <a:t>bild_heap(),</a:t>
            </a:r>
            <a:r>
              <a:rPr lang="bg-BG" sz="2000">
                <a:solidFill>
                  <a:schemeClr val="tx1"/>
                </a:solidFill>
              </a:rPr>
              <a:t> и с алгоритъм за възстановяване на пирамида от </a:t>
            </a:r>
            <a:r>
              <a:rPr lang="en-US" sz="2000" b="1" i="1">
                <a:solidFill>
                  <a:schemeClr val="tx1"/>
                </a:solidFill>
              </a:rPr>
              <a:t>k</a:t>
            </a:r>
            <a:r>
              <a:rPr lang="en-US" sz="2000">
                <a:solidFill>
                  <a:schemeClr val="tx1"/>
                </a:solidFill>
              </a:rPr>
              <a:t> </a:t>
            </a:r>
            <a:r>
              <a:rPr lang="bg-BG" sz="2000">
                <a:solidFill>
                  <a:schemeClr val="tx1"/>
                </a:solidFill>
              </a:rPr>
              <a:t>елемента </a:t>
            </a:r>
            <a:r>
              <a:rPr lang="bg-BG" sz="2000" i="1">
                <a:solidFill>
                  <a:schemeClr val="tx1"/>
                </a:solidFill>
              </a:rPr>
              <a:t>restore_heap(),</a:t>
            </a:r>
            <a:r>
              <a:rPr lang="bg-BG" sz="2000">
                <a:solidFill>
                  <a:schemeClr val="tx1"/>
                </a:solidFill>
              </a:rPr>
              <a:t> след като върхът й е бил заменен с произволен елемент. Тогава, след като сме изградили пирамида с </a:t>
            </a:r>
            <a:r>
              <a:rPr lang="bg-BG" sz="2000" b="1" i="1">
                <a:solidFill>
                  <a:schemeClr val="tx1"/>
                </a:solidFill>
              </a:rPr>
              <a:t>n</a:t>
            </a:r>
            <a:r>
              <a:rPr lang="bg-BG" sz="2000">
                <a:solidFill>
                  <a:schemeClr val="tx1"/>
                </a:solidFill>
              </a:rPr>
              <a:t> елемента, можем да разменим върха й </a:t>
            </a:r>
            <a:r>
              <a:rPr lang="bg-BG" sz="2000" b="1" i="1">
                <a:solidFill>
                  <a:schemeClr val="tx1"/>
                </a:solidFill>
              </a:rPr>
              <a:t>a</a:t>
            </a:r>
            <a:r>
              <a:rPr lang="bg-BG" sz="2000">
                <a:solidFill>
                  <a:schemeClr val="tx1"/>
                </a:solidFill>
              </a:rPr>
              <a:t>[1] (най-големия й елемент) с последния й елемент </a:t>
            </a:r>
            <a:r>
              <a:rPr lang="bg-BG" sz="2000" b="1" i="1">
                <a:solidFill>
                  <a:schemeClr val="tx1"/>
                </a:solidFill>
              </a:rPr>
              <a:t>a</a:t>
            </a:r>
            <a:r>
              <a:rPr lang="bg-BG" sz="2000">
                <a:solidFill>
                  <a:schemeClr val="tx1"/>
                </a:solidFill>
              </a:rPr>
              <a:t>[</a:t>
            </a:r>
            <a:r>
              <a:rPr lang="bg-BG" sz="2000" b="1" i="1">
                <a:solidFill>
                  <a:schemeClr val="tx1"/>
                </a:solidFill>
              </a:rPr>
              <a:t>n</a:t>
            </a:r>
            <a:r>
              <a:rPr lang="bg-BG" sz="2000">
                <a:solidFill>
                  <a:schemeClr val="tx1"/>
                </a:solidFill>
              </a:rPr>
              <a:t>], при което стария връх заема окончателната си позиция - става последен в сортирания масив. Т. к. тази операция нарушава формулираните за пирамидата правила, то се налага отсяване на новия елемент надолу по пирамидата</a:t>
            </a:r>
            <a:r>
              <a:rPr lang="bg-BG" sz="2000" smtClean="0">
                <a:solidFill>
                  <a:schemeClr val="tx1"/>
                </a:solidFill>
              </a:rPr>
              <a:t>:</a:t>
            </a: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В резултат получаваме нова пирамида а1, а2, …, а</a:t>
            </a:r>
            <a:r>
              <a:rPr lang="en-US" sz="2000">
                <a:solidFill>
                  <a:schemeClr val="tx1"/>
                </a:solidFill>
              </a:rPr>
              <a:t>n-1</a:t>
            </a:r>
            <a:r>
              <a:rPr lang="bg-BG" sz="2000">
                <a:solidFill>
                  <a:schemeClr val="tx1"/>
                </a:solidFill>
              </a:rPr>
              <a:t>, съдържаща един елемент по-малко (без червената стойност): </a:t>
            </a:r>
            <a:endParaRPr lang="en-US" sz="2000">
              <a:solidFill>
                <a:schemeClr val="tx1"/>
              </a:solidFill>
            </a:endParaRPr>
          </a:p>
        </p:txBody>
      </p:sp>
      <p:grpSp>
        <p:nvGrpSpPr>
          <p:cNvPr id="43011" name="Group 79"/>
          <p:cNvGrpSpPr>
            <a:grpSpLocks/>
          </p:cNvGrpSpPr>
          <p:nvPr/>
        </p:nvGrpSpPr>
        <p:grpSpPr bwMode="auto">
          <a:xfrm>
            <a:off x="2700338" y="3114675"/>
            <a:ext cx="3565525" cy="1660525"/>
            <a:chOff x="2699792" y="3102744"/>
            <a:chExt cx="3565376" cy="1660004"/>
          </a:xfrm>
        </p:grpSpPr>
        <p:sp>
          <p:nvSpPr>
            <p:cNvPr id="43052" name="Oval 4"/>
            <p:cNvSpPr>
              <a:spLocks noChangeArrowheads="1"/>
            </p:cNvSpPr>
            <p:nvPr/>
          </p:nvSpPr>
          <p:spPr bwMode="auto">
            <a:xfrm>
              <a:off x="4364319" y="3102744"/>
              <a:ext cx="369895" cy="343449"/>
            </a:xfrm>
            <a:prstGeom prst="ellipse">
              <a:avLst/>
            </a:prstGeom>
            <a:noFill/>
            <a:ln w="9525">
              <a:solidFill>
                <a:schemeClr val="tx1"/>
              </a:solidFill>
              <a:round/>
              <a:headEnd/>
              <a:tailEnd/>
            </a:ln>
          </p:spPr>
          <p:txBody>
            <a:bodyPr wrap="none" anchor="ctr"/>
            <a:lstStyle/>
            <a:p>
              <a:endParaRPr lang="bg-BG"/>
            </a:p>
          </p:txBody>
        </p:sp>
        <p:sp>
          <p:nvSpPr>
            <p:cNvPr id="43053" name="Oval 5"/>
            <p:cNvSpPr>
              <a:spLocks noChangeArrowheads="1"/>
            </p:cNvSpPr>
            <p:nvPr/>
          </p:nvSpPr>
          <p:spPr bwMode="auto">
            <a:xfrm>
              <a:off x="5289056" y="3446193"/>
              <a:ext cx="369895" cy="343449"/>
            </a:xfrm>
            <a:prstGeom prst="ellipse">
              <a:avLst/>
            </a:prstGeom>
            <a:noFill/>
            <a:ln w="9525">
              <a:solidFill>
                <a:schemeClr val="tx1"/>
              </a:solidFill>
              <a:round/>
              <a:headEnd/>
              <a:tailEnd/>
            </a:ln>
          </p:spPr>
          <p:txBody>
            <a:bodyPr wrap="none" anchor="ctr"/>
            <a:lstStyle/>
            <a:p>
              <a:endParaRPr lang="bg-BG"/>
            </a:p>
          </p:txBody>
        </p:sp>
        <p:sp>
          <p:nvSpPr>
            <p:cNvPr id="43054" name="Oval 6"/>
            <p:cNvSpPr>
              <a:spLocks noChangeArrowheads="1"/>
            </p:cNvSpPr>
            <p:nvPr/>
          </p:nvSpPr>
          <p:spPr bwMode="auto">
            <a:xfrm>
              <a:off x="3254634" y="4362057"/>
              <a:ext cx="369895" cy="343449"/>
            </a:xfrm>
            <a:prstGeom prst="ellipse">
              <a:avLst/>
            </a:prstGeom>
            <a:noFill/>
            <a:ln w="9525">
              <a:solidFill>
                <a:schemeClr val="tx1"/>
              </a:solidFill>
              <a:round/>
              <a:headEnd/>
              <a:tailEnd/>
            </a:ln>
          </p:spPr>
          <p:txBody>
            <a:bodyPr wrap="none" anchor="ctr"/>
            <a:lstStyle/>
            <a:p>
              <a:endParaRPr lang="bg-BG"/>
            </a:p>
          </p:txBody>
        </p:sp>
        <p:sp>
          <p:nvSpPr>
            <p:cNvPr id="43055" name="Oval 7"/>
            <p:cNvSpPr>
              <a:spLocks noChangeArrowheads="1"/>
            </p:cNvSpPr>
            <p:nvPr/>
          </p:nvSpPr>
          <p:spPr bwMode="auto">
            <a:xfrm>
              <a:off x="2699792" y="4362057"/>
              <a:ext cx="369895" cy="343449"/>
            </a:xfrm>
            <a:prstGeom prst="ellipse">
              <a:avLst/>
            </a:prstGeom>
            <a:noFill/>
            <a:ln w="9525">
              <a:solidFill>
                <a:schemeClr val="tx1"/>
              </a:solidFill>
              <a:round/>
              <a:headEnd/>
              <a:tailEnd/>
            </a:ln>
          </p:spPr>
          <p:txBody>
            <a:bodyPr wrap="none" anchor="ctr"/>
            <a:lstStyle/>
            <a:p>
              <a:endParaRPr lang="bg-BG"/>
            </a:p>
          </p:txBody>
        </p:sp>
        <p:sp>
          <p:nvSpPr>
            <p:cNvPr id="43056" name="Oval 8"/>
            <p:cNvSpPr>
              <a:spLocks noChangeArrowheads="1"/>
            </p:cNvSpPr>
            <p:nvPr/>
          </p:nvSpPr>
          <p:spPr bwMode="auto">
            <a:xfrm>
              <a:off x="5104109" y="3904125"/>
              <a:ext cx="369895" cy="343449"/>
            </a:xfrm>
            <a:prstGeom prst="ellipse">
              <a:avLst/>
            </a:prstGeom>
            <a:noFill/>
            <a:ln w="9525">
              <a:solidFill>
                <a:schemeClr val="tx1"/>
              </a:solidFill>
              <a:round/>
              <a:headEnd/>
              <a:tailEnd/>
            </a:ln>
          </p:spPr>
          <p:txBody>
            <a:bodyPr wrap="none" anchor="ctr"/>
            <a:lstStyle/>
            <a:p>
              <a:endParaRPr lang="bg-BG"/>
            </a:p>
          </p:txBody>
        </p:sp>
        <p:sp>
          <p:nvSpPr>
            <p:cNvPr id="43057" name="Oval 9"/>
            <p:cNvSpPr>
              <a:spLocks noChangeArrowheads="1"/>
            </p:cNvSpPr>
            <p:nvPr/>
          </p:nvSpPr>
          <p:spPr bwMode="auto">
            <a:xfrm>
              <a:off x="3932775" y="3846884"/>
              <a:ext cx="369895" cy="343449"/>
            </a:xfrm>
            <a:prstGeom prst="ellipse">
              <a:avLst/>
            </a:prstGeom>
            <a:noFill/>
            <a:ln w="9525">
              <a:solidFill>
                <a:schemeClr val="tx1"/>
              </a:solidFill>
              <a:round/>
              <a:headEnd/>
              <a:tailEnd/>
            </a:ln>
          </p:spPr>
          <p:txBody>
            <a:bodyPr wrap="none" anchor="ctr"/>
            <a:lstStyle/>
            <a:p>
              <a:endParaRPr lang="bg-BG"/>
            </a:p>
          </p:txBody>
        </p:sp>
        <p:sp>
          <p:nvSpPr>
            <p:cNvPr id="43058" name="Oval 10"/>
            <p:cNvSpPr>
              <a:spLocks noChangeArrowheads="1"/>
            </p:cNvSpPr>
            <p:nvPr/>
          </p:nvSpPr>
          <p:spPr bwMode="auto">
            <a:xfrm>
              <a:off x="3069687" y="3846884"/>
              <a:ext cx="369895" cy="343449"/>
            </a:xfrm>
            <a:prstGeom prst="ellipse">
              <a:avLst/>
            </a:prstGeom>
            <a:noFill/>
            <a:ln w="9525">
              <a:solidFill>
                <a:schemeClr val="tx1"/>
              </a:solidFill>
              <a:round/>
              <a:headEnd/>
              <a:tailEnd/>
            </a:ln>
          </p:spPr>
          <p:txBody>
            <a:bodyPr wrap="none" anchor="ctr"/>
            <a:lstStyle/>
            <a:p>
              <a:endParaRPr lang="bg-BG"/>
            </a:p>
          </p:txBody>
        </p:sp>
        <p:sp>
          <p:nvSpPr>
            <p:cNvPr id="43059" name="Oval 11"/>
            <p:cNvSpPr>
              <a:spLocks noChangeArrowheads="1"/>
            </p:cNvSpPr>
            <p:nvPr/>
          </p:nvSpPr>
          <p:spPr bwMode="auto">
            <a:xfrm>
              <a:off x="3501231" y="3503435"/>
              <a:ext cx="369895" cy="343449"/>
            </a:xfrm>
            <a:prstGeom prst="ellipse">
              <a:avLst/>
            </a:prstGeom>
            <a:noFill/>
            <a:ln w="9525">
              <a:solidFill>
                <a:schemeClr val="tx1"/>
              </a:solidFill>
              <a:round/>
              <a:headEnd/>
              <a:tailEnd/>
            </a:ln>
          </p:spPr>
          <p:txBody>
            <a:bodyPr wrap="none" anchor="ctr"/>
            <a:lstStyle/>
            <a:p>
              <a:endParaRPr lang="bg-BG"/>
            </a:p>
          </p:txBody>
        </p:sp>
        <p:sp>
          <p:nvSpPr>
            <p:cNvPr id="43060" name="Oval 12"/>
            <p:cNvSpPr>
              <a:spLocks noChangeArrowheads="1"/>
            </p:cNvSpPr>
            <p:nvPr/>
          </p:nvSpPr>
          <p:spPr bwMode="auto">
            <a:xfrm>
              <a:off x="3747828" y="4362057"/>
              <a:ext cx="369895" cy="343449"/>
            </a:xfrm>
            <a:prstGeom prst="ellipse">
              <a:avLst/>
            </a:prstGeom>
            <a:noFill/>
            <a:ln w="9525">
              <a:solidFill>
                <a:schemeClr val="tx1"/>
              </a:solidFill>
              <a:round/>
              <a:headEnd/>
              <a:tailEnd/>
            </a:ln>
          </p:spPr>
          <p:txBody>
            <a:bodyPr wrap="none" anchor="ctr"/>
            <a:lstStyle/>
            <a:p>
              <a:endParaRPr lang="bg-BG"/>
            </a:p>
          </p:txBody>
        </p:sp>
        <p:sp>
          <p:nvSpPr>
            <p:cNvPr id="43061" name="Oval 13"/>
            <p:cNvSpPr>
              <a:spLocks noChangeArrowheads="1"/>
            </p:cNvSpPr>
            <p:nvPr/>
          </p:nvSpPr>
          <p:spPr bwMode="auto">
            <a:xfrm>
              <a:off x="5782250" y="3904125"/>
              <a:ext cx="369895" cy="343449"/>
            </a:xfrm>
            <a:prstGeom prst="ellipse">
              <a:avLst/>
            </a:prstGeom>
            <a:noFill/>
            <a:ln w="9525">
              <a:solidFill>
                <a:schemeClr val="tx1"/>
              </a:solidFill>
              <a:round/>
              <a:headEnd/>
              <a:tailEnd/>
            </a:ln>
          </p:spPr>
          <p:txBody>
            <a:bodyPr wrap="none" anchor="ctr"/>
            <a:lstStyle/>
            <a:p>
              <a:endParaRPr lang="bg-BG"/>
            </a:p>
          </p:txBody>
        </p:sp>
        <p:sp>
          <p:nvSpPr>
            <p:cNvPr id="43062" name="Oval 14"/>
            <p:cNvSpPr>
              <a:spLocks noChangeArrowheads="1"/>
            </p:cNvSpPr>
            <p:nvPr/>
          </p:nvSpPr>
          <p:spPr bwMode="auto">
            <a:xfrm>
              <a:off x="4241021" y="4362057"/>
              <a:ext cx="369895" cy="343449"/>
            </a:xfrm>
            <a:prstGeom prst="ellipse">
              <a:avLst/>
            </a:prstGeom>
            <a:noFill/>
            <a:ln w="9525">
              <a:solidFill>
                <a:schemeClr val="tx1"/>
              </a:solidFill>
              <a:round/>
              <a:headEnd/>
              <a:tailEnd/>
            </a:ln>
          </p:spPr>
          <p:txBody>
            <a:bodyPr wrap="none" anchor="ctr"/>
            <a:lstStyle/>
            <a:p>
              <a:endParaRPr lang="bg-BG"/>
            </a:p>
          </p:txBody>
        </p:sp>
        <p:sp>
          <p:nvSpPr>
            <p:cNvPr id="43063" name="Oval 15"/>
            <p:cNvSpPr>
              <a:spLocks noChangeArrowheads="1"/>
            </p:cNvSpPr>
            <p:nvPr/>
          </p:nvSpPr>
          <p:spPr bwMode="auto">
            <a:xfrm>
              <a:off x="4919161" y="4362057"/>
              <a:ext cx="369895" cy="343449"/>
            </a:xfrm>
            <a:prstGeom prst="ellipse">
              <a:avLst/>
            </a:prstGeom>
            <a:noFill/>
            <a:ln w="9525">
              <a:solidFill>
                <a:schemeClr val="tx1"/>
              </a:solidFill>
              <a:round/>
              <a:headEnd/>
              <a:tailEnd/>
            </a:ln>
          </p:spPr>
          <p:txBody>
            <a:bodyPr wrap="none" anchor="ctr"/>
            <a:lstStyle/>
            <a:p>
              <a:endParaRPr lang="bg-BG"/>
            </a:p>
          </p:txBody>
        </p:sp>
        <p:sp>
          <p:nvSpPr>
            <p:cNvPr id="43064" name="Line 16"/>
            <p:cNvSpPr>
              <a:spLocks noChangeShapeType="1"/>
            </p:cNvSpPr>
            <p:nvPr/>
          </p:nvSpPr>
          <p:spPr bwMode="auto">
            <a:xfrm flipH="1">
              <a:off x="3809477" y="3331710"/>
              <a:ext cx="554842" cy="228966"/>
            </a:xfrm>
            <a:prstGeom prst="line">
              <a:avLst/>
            </a:prstGeom>
            <a:noFill/>
            <a:ln w="9525">
              <a:solidFill>
                <a:schemeClr val="tx1"/>
              </a:solidFill>
              <a:round/>
              <a:headEnd/>
              <a:tailEnd/>
            </a:ln>
          </p:spPr>
          <p:txBody>
            <a:bodyPr wrap="none" anchor="ctr"/>
            <a:lstStyle/>
            <a:p>
              <a:endParaRPr lang="bg-BG"/>
            </a:p>
          </p:txBody>
        </p:sp>
        <p:sp>
          <p:nvSpPr>
            <p:cNvPr id="43065" name="Line 17"/>
            <p:cNvSpPr>
              <a:spLocks noChangeShapeType="1"/>
            </p:cNvSpPr>
            <p:nvPr/>
          </p:nvSpPr>
          <p:spPr bwMode="auto">
            <a:xfrm>
              <a:off x="4734214" y="3331710"/>
              <a:ext cx="554842" cy="228966"/>
            </a:xfrm>
            <a:prstGeom prst="line">
              <a:avLst/>
            </a:prstGeom>
            <a:noFill/>
            <a:ln w="9525">
              <a:solidFill>
                <a:schemeClr val="tx1"/>
              </a:solidFill>
              <a:round/>
              <a:headEnd/>
              <a:tailEnd/>
            </a:ln>
          </p:spPr>
          <p:txBody>
            <a:bodyPr wrap="none" anchor="ctr"/>
            <a:lstStyle/>
            <a:p>
              <a:endParaRPr lang="bg-BG"/>
            </a:p>
          </p:txBody>
        </p:sp>
        <p:sp>
          <p:nvSpPr>
            <p:cNvPr id="43066" name="Line 18"/>
            <p:cNvSpPr>
              <a:spLocks noChangeShapeType="1"/>
            </p:cNvSpPr>
            <p:nvPr/>
          </p:nvSpPr>
          <p:spPr bwMode="auto">
            <a:xfrm flipH="1">
              <a:off x="3377933" y="3789642"/>
              <a:ext cx="184947" cy="114483"/>
            </a:xfrm>
            <a:prstGeom prst="line">
              <a:avLst/>
            </a:prstGeom>
            <a:noFill/>
            <a:ln w="9525">
              <a:solidFill>
                <a:schemeClr val="tx1"/>
              </a:solidFill>
              <a:round/>
              <a:headEnd/>
              <a:tailEnd/>
            </a:ln>
          </p:spPr>
          <p:txBody>
            <a:bodyPr wrap="none" anchor="ctr"/>
            <a:lstStyle/>
            <a:p>
              <a:endParaRPr lang="bg-BG"/>
            </a:p>
          </p:txBody>
        </p:sp>
        <p:sp>
          <p:nvSpPr>
            <p:cNvPr id="43067" name="Line 19"/>
            <p:cNvSpPr>
              <a:spLocks noChangeShapeType="1"/>
            </p:cNvSpPr>
            <p:nvPr/>
          </p:nvSpPr>
          <p:spPr bwMode="auto">
            <a:xfrm flipH="1">
              <a:off x="2946389" y="4142632"/>
              <a:ext cx="184947" cy="228966"/>
            </a:xfrm>
            <a:prstGeom prst="line">
              <a:avLst/>
            </a:prstGeom>
            <a:noFill/>
            <a:ln w="9525">
              <a:solidFill>
                <a:schemeClr val="tx1"/>
              </a:solidFill>
              <a:round/>
              <a:headEnd/>
              <a:tailEnd/>
            </a:ln>
          </p:spPr>
          <p:txBody>
            <a:bodyPr wrap="none" anchor="ctr"/>
            <a:lstStyle/>
            <a:p>
              <a:endParaRPr lang="bg-BG"/>
            </a:p>
          </p:txBody>
        </p:sp>
        <p:sp>
          <p:nvSpPr>
            <p:cNvPr id="43068" name="Line 20"/>
            <p:cNvSpPr>
              <a:spLocks noChangeShapeType="1"/>
            </p:cNvSpPr>
            <p:nvPr/>
          </p:nvSpPr>
          <p:spPr bwMode="auto">
            <a:xfrm>
              <a:off x="3316284" y="4190333"/>
              <a:ext cx="123298" cy="171725"/>
            </a:xfrm>
            <a:prstGeom prst="line">
              <a:avLst/>
            </a:prstGeom>
            <a:noFill/>
            <a:ln w="9525">
              <a:solidFill>
                <a:schemeClr val="tx1"/>
              </a:solidFill>
              <a:round/>
              <a:headEnd/>
              <a:tailEnd/>
            </a:ln>
          </p:spPr>
          <p:txBody>
            <a:bodyPr wrap="none" anchor="ctr"/>
            <a:lstStyle/>
            <a:p>
              <a:endParaRPr lang="bg-BG"/>
            </a:p>
          </p:txBody>
        </p:sp>
        <p:sp>
          <p:nvSpPr>
            <p:cNvPr id="43069" name="Line 21"/>
            <p:cNvSpPr>
              <a:spLocks noChangeShapeType="1"/>
            </p:cNvSpPr>
            <p:nvPr/>
          </p:nvSpPr>
          <p:spPr bwMode="auto">
            <a:xfrm>
              <a:off x="3809477" y="3789642"/>
              <a:ext cx="184947" cy="114483"/>
            </a:xfrm>
            <a:prstGeom prst="line">
              <a:avLst/>
            </a:prstGeom>
            <a:noFill/>
            <a:ln w="9525">
              <a:solidFill>
                <a:schemeClr val="tx1"/>
              </a:solidFill>
              <a:round/>
              <a:headEnd/>
              <a:tailEnd/>
            </a:ln>
          </p:spPr>
          <p:txBody>
            <a:bodyPr wrap="none" anchor="ctr"/>
            <a:lstStyle/>
            <a:p>
              <a:endParaRPr lang="bg-BG"/>
            </a:p>
          </p:txBody>
        </p:sp>
        <p:sp>
          <p:nvSpPr>
            <p:cNvPr id="43070" name="Line 22"/>
            <p:cNvSpPr>
              <a:spLocks noChangeShapeType="1"/>
            </p:cNvSpPr>
            <p:nvPr/>
          </p:nvSpPr>
          <p:spPr bwMode="auto">
            <a:xfrm flipH="1">
              <a:off x="3994424" y="4190333"/>
              <a:ext cx="61649" cy="171725"/>
            </a:xfrm>
            <a:prstGeom prst="line">
              <a:avLst/>
            </a:prstGeom>
            <a:noFill/>
            <a:ln w="9525">
              <a:solidFill>
                <a:schemeClr val="tx1"/>
              </a:solidFill>
              <a:round/>
              <a:headEnd/>
              <a:tailEnd/>
            </a:ln>
          </p:spPr>
          <p:txBody>
            <a:bodyPr wrap="none" anchor="ctr"/>
            <a:lstStyle/>
            <a:p>
              <a:endParaRPr lang="bg-BG"/>
            </a:p>
          </p:txBody>
        </p:sp>
        <p:sp>
          <p:nvSpPr>
            <p:cNvPr id="43071" name="Line 23"/>
            <p:cNvSpPr>
              <a:spLocks noChangeShapeType="1"/>
            </p:cNvSpPr>
            <p:nvPr/>
          </p:nvSpPr>
          <p:spPr bwMode="auto">
            <a:xfrm>
              <a:off x="4266708" y="4142632"/>
              <a:ext cx="123298" cy="240891"/>
            </a:xfrm>
            <a:prstGeom prst="line">
              <a:avLst/>
            </a:prstGeom>
            <a:noFill/>
            <a:ln w="9525">
              <a:solidFill>
                <a:schemeClr val="tx1"/>
              </a:solidFill>
              <a:round/>
              <a:headEnd/>
              <a:tailEnd/>
            </a:ln>
          </p:spPr>
          <p:txBody>
            <a:bodyPr wrap="none" anchor="ctr"/>
            <a:lstStyle/>
            <a:p>
              <a:endParaRPr lang="bg-BG"/>
            </a:p>
          </p:txBody>
        </p:sp>
        <p:sp>
          <p:nvSpPr>
            <p:cNvPr id="43072" name="Line 24"/>
            <p:cNvSpPr>
              <a:spLocks noChangeShapeType="1"/>
            </p:cNvSpPr>
            <p:nvPr/>
          </p:nvSpPr>
          <p:spPr bwMode="auto">
            <a:xfrm flipH="1">
              <a:off x="5350706" y="3789642"/>
              <a:ext cx="61649" cy="114483"/>
            </a:xfrm>
            <a:prstGeom prst="line">
              <a:avLst/>
            </a:prstGeom>
            <a:noFill/>
            <a:ln w="9525">
              <a:solidFill>
                <a:schemeClr val="tx1"/>
              </a:solidFill>
              <a:round/>
              <a:headEnd/>
              <a:tailEnd/>
            </a:ln>
          </p:spPr>
          <p:txBody>
            <a:bodyPr wrap="none" anchor="ctr"/>
            <a:lstStyle/>
            <a:p>
              <a:endParaRPr lang="bg-BG"/>
            </a:p>
          </p:txBody>
        </p:sp>
        <p:sp>
          <p:nvSpPr>
            <p:cNvPr id="43073" name="Line 25"/>
            <p:cNvSpPr>
              <a:spLocks noChangeShapeType="1"/>
            </p:cNvSpPr>
            <p:nvPr/>
          </p:nvSpPr>
          <p:spPr bwMode="auto">
            <a:xfrm flipH="1">
              <a:off x="5165758" y="4247574"/>
              <a:ext cx="61649" cy="114483"/>
            </a:xfrm>
            <a:prstGeom prst="line">
              <a:avLst/>
            </a:prstGeom>
            <a:noFill/>
            <a:ln w="9525">
              <a:solidFill>
                <a:schemeClr val="tx1"/>
              </a:solidFill>
              <a:round/>
              <a:headEnd/>
              <a:tailEnd/>
            </a:ln>
          </p:spPr>
          <p:txBody>
            <a:bodyPr wrap="none" anchor="ctr"/>
            <a:lstStyle/>
            <a:p>
              <a:endParaRPr lang="bg-BG"/>
            </a:p>
          </p:txBody>
        </p:sp>
        <p:sp>
          <p:nvSpPr>
            <p:cNvPr id="43074" name="Line 26"/>
            <p:cNvSpPr>
              <a:spLocks noChangeShapeType="1"/>
            </p:cNvSpPr>
            <p:nvPr/>
          </p:nvSpPr>
          <p:spPr bwMode="auto">
            <a:xfrm>
              <a:off x="5597302" y="3732401"/>
              <a:ext cx="246597" cy="228966"/>
            </a:xfrm>
            <a:prstGeom prst="line">
              <a:avLst/>
            </a:prstGeom>
            <a:noFill/>
            <a:ln w="9525">
              <a:solidFill>
                <a:schemeClr val="tx1"/>
              </a:solidFill>
              <a:round/>
              <a:headEnd/>
              <a:tailEnd/>
            </a:ln>
          </p:spPr>
          <p:txBody>
            <a:bodyPr wrap="none" anchor="ctr"/>
            <a:lstStyle/>
            <a:p>
              <a:endParaRPr lang="bg-BG"/>
            </a:p>
          </p:txBody>
        </p:sp>
        <p:sp>
          <p:nvSpPr>
            <p:cNvPr id="43075" name="Text Box 27"/>
            <p:cNvSpPr txBox="1">
              <a:spLocks noChangeArrowheads="1"/>
            </p:cNvSpPr>
            <p:nvPr/>
          </p:nvSpPr>
          <p:spPr bwMode="auto">
            <a:xfrm>
              <a:off x="4360466" y="3102744"/>
              <a:ext cx="494478" cy="403076"/>
            </a:xfrm>
            <a:prstGeom prst="rect">
              <a:avLst/>
            </a:prstGeom>
            <a:noFill/>
            <a:ln w="9525">
              <a:noFill/>
              <a:miter lim="800000"/>
              <a:headEnd/>
              <a:tailEnd/>
            </a:ln>
          </p:spPr>
          <p:txBody>
            <a:bodyPr>
              <a:spAutoFit/>
            </a:bodyPr>
            <a:lstStyle/>
            <a:p>
              <a:pPr algn="l">
                <a:spcBef>
                  <a:spcPct val="50000"/>
                </a:spcBef>
              </a:pPr>
              <a:r>
                <a:rPr lang="en-US" sz="2000"/>
                <a:t>5</a:t>
              </a:r>
              <a:r>
                <a:rPr lang="bg-BG" sz="2000"/>
                <a:t>7</a:t>
              </a:r>
              <a:endParaRPr lang="en-US" sz="2000"/>
            </a:p>
          </p:txBody>
        </p:sp>
        <p:sp>
          <p:nvSpPr>
            <p:cNvPr id="43076" name="Text Box 28"/>
            <p:cNvSpPr txBox="1">
              <a:spLocks noChangeArrowheads="1"/>
            </p:cNvSpPr>
            <p:nvPr/>
          </p:nvSpPr>
          <p:spPr bwMode="auto">
            <a:xfrm>
              <a:off x="2749882" y="4353710"/>
              <a:ext cx="367326" cy="403076"/>
            </a:xfrm>
            <a:prstGeom prst="rect">
              <a:avLst/>
            </a:prstGeom>
            <a:noFill/>
            <a:ln w="9525">
              <a:noFill/>
              <a:miter lim="800000"/>
              <a:headEnd/>
              <a:tailEnd/>
            </a:ln>
          </p:spPr>
          <p:txBody>
            <a:bodyPr>
              <a:spAutoFit/>
            </a:bodyPr>
            <a:lstStyle/>
            <a:p>
              <a:pPr algn="l">
                <a:spcBef>
                  <a:spcPct val="50000"/>
                </a:spcBef>
              </a:pPr>
              <a:r>
                <a:rPr lang="en-US" sz="2000"/>
                <a:t>3</a:t>
              </a:r>
            </a:p>
          </p:txBody>
        </p:sp>
        <p:sp>
          <p:nvSpPr>
            <p:cNvPr id="43077" name="Text Box 29"/>
            <p:cNvSpPr txBox="1">
              <a:spLocks noChangeArrowheads="1"/>
            </p:cNvSpPr>
            <p:nvPr/>
          </p:nvSpPr>
          <p:spPr bwMode="auto">
            <a:xfrm>
              <a:off x="4291111" y="4350132"/>
              <a:ext cx="369895" cy="403076"/>
            </a:xfrm>
            <a:prstGeom prst="rect">
              <a:avLst/>
            </a:prstGeom>
            <a:noFill/>
            <a:ln w="9525">
              <a:noFill/>
              <a:miter lim="800000"/>
              <a:headEnd/>
              <a:tailEnd/>
            </a:ln>
          </p:spPr>
          <p:txBody>
            <a:bodyPr>
              <a:spAutoFit/>
            </a:bodyPr>
            <a:lstStyle/>
            <a:p>
              <a:pPr algn="l">
                <a:spcBef>
                  <a:spcPct val="50000"/>
                </a:spcBef>
              </a:pPr>
              <a:r>
                <a:rPr lang="en-US" sz="2000"/>
                <a:t>3</a:t>
              </a:r>
            </a:p>
          </p:txBody>
        </p:sp>
        <p:sp>
          <p:nvSpPr>
            <p:cNvPr id="43078" name="Text Box 30"/>
            <p:cNvSpPr txBox="1">
              <a:spLocks noChangeArrowheads="1"/>
            </p:cNvSpPr>
            <p:nvPr/>
          </p:nvSpPr>
          <p:spPr bwMode="auto">
            <a:xfrm>
              <a:off x="3318852" y="4350132"/>
              <a:ext cx="369895" cy="403076"/>
            </a:xfrm>
            <a:prstGeom prst="rect">
              <a:avLst/>
            </a:prstGeom>
            <a:noFill/>
            <a:ln w="9525">
              <a:noFill/>
              <a:miter lim="800000"/>
              <a:headEnd/>
              <a:tailEnd/>
            </a:ln>
          </p:spPr>
          <p:txBody>
            <a:bodyPr>
              <a:spAutoFit/>
            </a:bodyPr>
            <a:lstStyle/>
            <a:p>
              <a:pPr algn="l">
                <a:spcBef>
                  <a:spcPct val="50000"/>
                </a:spcBef>
              </a:pPr>
              <a:r>
                <a:rPr lang="en-US" sz="2000"/>
                <a:t>7</a:t>
              </a:r>
            </a:p>
          </p:txBody>
        </p:sp>
        <p:sp>
          <p:nvSpPr>
            <p:cNvPr id="43079" name="Text Box 31"/>
            <p:cNvSpPr txBox="1">
              <a:spLocks noChangeArrowheads="1"/>
            </p:cNvSpPr>
            <p:nvPr/>
          </p:nvSpPr>
          <p:spPr bwMode="auto">
            <a:xfrm>
              <a:off x="3069687" y="3845691"/>
              <a:ext cx="493193" cy="403076"/>
            </a:xfrm>
            <a:prstGeom prst="rect">
              <a:avLst/>
            </a:prstGeom>
            <a:noFill/>
            <a:ln w="9525">
              <a:noFill/>
              <a:miter lim="800000"/>
              <a:headEnd/>
              <a:tailEnd/>
            </a:ln>
          </p:spPr>
          <p:txBody>
            <a:bodyPr>
              <a:spAutoFit/>
            </a:bodyPr>
            <a:lstStyle/>
            <a:p>
              <a:pPr algn="l">
                <a:spcBef>
                  <a:spcPct val="50000"/>
                </a:spcBef>
              </a:pPr>
              <a:r>
                <a:rPr lang="en-US" sz="2000"/>
                <a:t>1</a:t>
              </a:r>
              <a:r>
                <a:rPr lang="bg-BG" sz="2000"/>
                <a:t>1</a:t>
              </a:r>
              <a:endParaRPr lang="en-US" sz="2000"/>
            </a:p>
          </p:txBody>
        </p:sp>
        <p:sp>
          <p:nvSpPr>
            <p:cNvPr id="43080" name="Text Box 32"/>
            <p:cNvSpPr txBox="1">
              <a:spLocks noChangeArrowheads="1"/>
            </p:cNvSpPr>
            <p:nvPr/>
          </p:nvSpPr>
          <p:spPr bwMode="auto">
            <a:xfrm>
              <a:off x="3747828" y="4359672"/>
              <a:ext cx="493193" cy="403076"/>
            </a:xfrm>
            <a:prstGeom prst="rect">
              <a:avLst/>
            </a:prstGeom>
            <a:noFill/>
            <a:ln w="9525">
              <a:noFill/>
              <a:miter lim="800000"/>
              <a:headEnd/>
              <a:tailEnd/>
            </a:ln>
          </p:spPr>
          <p:txBody>
            <a:bodyPr>
              <a:spAutoFit/>
            </a:bodyPr>
            <a:lstStyle/>
            <a:p>
              <a:pPr algn="l">
                <a:spcBef>
                  <a:spcPct val="50000"/>
                </a:spcBef>
              </a:pPr>
              <a:r>
                <a:rPr lang="en-US" sz="2000"/>
                <a:t>3</a:t>
              </a:r>
              <a:r>
                <a:rPr lang="bg-BG" sz="2000"/>
                <a:t>7</a:t>
              </a:r>
              <a:endParaRPr lang="en-US" sz="2000"/>
            </a:p>
          </p:txBody>
        </p:sp>
        <p:sp>
          <p:nvSpPr>
            <p:cNvPr id="43081" name="Text Box 33"/>
            <p:cNvSpPr txBox="1">
              <a:spLocks noChangeArrowheads="1"/>
            </p:cNvSpPr>
            <p:nvPr/>
          </p:nvSpPr>
          <p:spPr bwMode="auto">
            <a:xfrm>
              <a:off x="3932775" y="3845691"/>
              <a:ext cx="493193" cy="403076"/>
            </a:xfrm>
            <a:prstGeom prst="rect">
              <a:avLst/>
            </a:prstGeom>
            <a:noFill/>
            <a:ln w="9525">
              <a:noFill/>
              <a:miter lim="800000"/>
              <a:headEnd/>
              <a:tailEnd/>
            </a:ln>
          </p:spPr>
          <p:txBody>
            <a:bodyPr>
              <a:spAutoFit/>
            </a:bodyPr>
            <a:lstStyle/>
            <a:p>
              <a:pPr algn="l">
                <a:spcBef>
                  <a:spcPct val="50000"/>
                </a:spcBef>
              </a:pPr>
              <a:r>
                <a:rPr lang="en-US" sz="2000"/>
                <a:t>42</a:t>
              </a:r>
            </a:p>
          </p:txBody>
        </p:sp>
        <p:sp>
          <p:nvSpPr>
            <p:cNvPr id="43082" name="Text Box 34"/>
            <p:cNvSpPr txBox="1">
              <a:spLocks noChangeArrowheads="1"/>
            </p:cNvSpPr>
            <p:nvPr/>
          </p:nvSpPr>
          <p:spPr bwMode="auto">
            <a:xfrm>
              <a:off x="3503800" y="3490317"/>
              <a:ext cx="493193" cy="403076"/>
            </a:xfrm>
            <a:prstGeom prst="rect">
              <a:avLst/>
            </a:prstGeom>
            <a:noFill/>
            <a:ln w="9525">
              <a:noFill/>
              <a:miter lim="800000"/>
              <a:headEnd/>
              <a:tailEnd/>
            </a:ln>
          </p:spPr>
          <p:txBody>
            <a:bodyPr>
              <a:spAutoFit/>
            </a:bodyPr>
            <a:lstStyle/>
            <a:p>
              <a:pPr algn="l">
                <a:spcBef>
                  <a:spcPct val="50000"/>
                </a:spcBef>
              </a:pPr>
              <a:r>
                <a:rPr lang="en-US" sz="2000"/>
                <a:t>5</a:t>
              </a:r>
              <a:r>
                <a:rPr lang="bg-BG" sz="2000"/>
                <a:t>1</a:t>
              </a:r>
              <a:endParaRPr lang="en-US" sz="2000"/>
            </a:p>
          </p:txBody>
        </p:sp>
        <p:sp>
          <p:nvSpPr>
            <p:cNvPr id="43083" name="Text Box 35"/>
            <p:cNvSpPr txBox="1">
              <a:spLocks noChangeArrowheads="1"/>
            </p:cNvSpPr>
            <p:nvPr/>
          </p:nvSpPr>
          <p:spPr bwMode="auto">
            <a:xfrm>
              <a:off x="5286488" y="3435460"/>
              <a:ext cx="493193" cy="403076"/>
            </a:xfrm>
            <a:prstGeom prst="rect">
              <a:avLst/>
            </a:prstGeom>
            <a:noFill/>
            <a:ln w="9525">
              <a:noFill/>
              <a:miter lim="800000"/>
              <a:headEnd/>
              <a:tailEnd/>
            </a:ln>
          </p:spPr>
          <p:txBody>
            <a:bodyPr>
              <a:spAutoFit/>
            </a:bodyPr>
            <a:lstStyle/>
            <a:p>
              <a:pPr algn="l">
                <a:spcBef>
                  <a:spcPct val="50000"/>
                </a:spcBef>
              </a:pPr>
              <a:r>
                <a:rPr lang="en-US" sz="2000"/>
                <a:t>3</a:t>
              </a:r>
              <a:r>
                <a:rPr lang="bg-BG" sz="2000"/>
                <a:t>3</a:t>
              </a:r>
              <a:endParaRPr lang="en-US" sz="2000"/>
            </a:p>
          </p:txBody>
        </p:sp>
        <p:sp>
          <p:nvSpPr>
            <p:cNvPr id="43084" name="Text Box 36"/>
            <p:cNvSpPr txBox="1">
              <a:spLocks noChangeArrowheads="1"/>
            </p:cNvSpPr>
            <p:nvPr/>
          </p:nvSpPr>
          <p:spPr bwMode="auto">
            <a:xfrm>
              <a:off x="5104109" y="3904125"/>
              <a:ext cx="493193" cy="403076"/>
            </a:xfrm>
            <a:prstGeom prst="rect">
              <a:avLst/>
            </a:prstGeom>
            <a:noFill/>
            <a:ln w="9525">
              <a:noFill/>
              <a:miter lim="800000"/>
              <a:headEnd/>
              <a:tailEnd/>
            </a:ln>
          </p:spPr>
          <p:txBody>
            <a:bodyPr>
              <a:spAutoFit/>
            </a:bodyPr>
            <a:lstStyle/>
            <a:p>
              <a:pPr algn="l">
                <a:spcBef>
                  <a:spcPct val="50000"/>
                </a:spcBef>
              </a:pPr>
              <a:r>
                <a:rPr lang="en-US" sz="2000"/>
                <a:t>2</a:t>
              </a:r>
              <a:r>
                <a:rPr lang="bg-BG" sz="2000"/>
                <a:t>7</a:t>
              </a:r>
              <a:endParaRPr lang="en-US" sz="2000"/>
            </a:p>
          </p:txBody>
        </p:sp>
        <p:sp>
          <p:nvSpPr>
            <p:cNvPr id="43085" name="Text Box 37"/>
            <p:cNvSpPr txBox="1">
              <a:spLocks noChangeArrowheads="1"/>
            </p:cNvSpPr>
            <p:nvPr/>
          </p:nvSpPr>
          <p:spPr bwMode="auto">
            <a:xfrm>
              <a:off x="4923015" y="4359672"/>
              <a:ext cx="491909" cy="403076"/>
            </a:xfrm>
            <a:prstGeom prst="rect">
              <a:avLst/>
            </a:prstGeom>
            <a:noFill/>
            <a:ln w="9525">
              <a:noFill/>
              <a:miter lim="800000"/>
              <a:headEnd/>
              <a:tailEnd/>
            </a:ln>
          </p:spPr>
          <p:txBody>
            <a:bodyPr>
              <a:spAutoFit/>
            </a:bodyPr>
            <a:lstStyle/>
            <a:p>
              <a:pPr algn="l">
                <a:spcBef>
                  <a:spcPct val="50000"/>
                </a:spcBef>
              </a:pPr>
              <a:r>
                <a:rPr lang="en-US" sz="2000"/>
                <a:t>1</a:t>
              </a:r>
              <a:r>
                <a:rPr lang="bg-BG" sz="2000"/>
                <a:t>9</a:t>
              </a:r>
              <a:endParaRPr lang="en-US" sz="2000"/>
            </a:p>
          </p:txBody>
        </p:sp>
        <p:sp>
          <p:nvSpPr>
            <p:cNvPr id="43086" name="Text Box 38"/>
            <p:cNvSpPr txBox="1">
              <a:spLocks noChangeArrowheads="1"/>
            </p:cNvSpPr>
            <p:nvPr/>
          </p:nvSpPr>
          <p:spPr bwMode="auto">
            <a:xfrm>
              <a:off x="5771975" y="3893392"/>
              <a:ext cx="493193" cy="401883"/>
            </a:xfrm>
            <a:prstGeom prst="rect">
              <a:avLst/>
            </a:prstGeom>
            <a:noFill/>
            <a:ln w="9525">
              <a:noFill/>
              <a:miter lim="800000"/>
              <a:headEnd/>
              <a:tailEnd/>
            </a:ln>
          </p:spPr>
          <p:txBody>
            <a:bodyPr>
              <a:spAutoFit/>
            </a:bodyPr>
            <a:lstStyle/>
            <a:p>
              <a:pPr algn="l">
                <a:spcBef>
                  <a:spcPct val="50000"/>
                </a:spcBef>
              </a:pPr>
              <a:r>
                <a:rPr lang="en-US" sz="2000"/>
                <a:t>2</a:t>
              </a:r>
              <a:r>
                <a:rPr lang="bg-BG" sz="2000"/>
                <a:t>9</a:t>
              </a:r>
              <a:endParaRPr lang="en-US" sz="2000"/>
            </a:p>
          </p:txBody>
        </p:sp>
        <p:sp>
          <p:nvSpPr>
            <p:cNvPr id="43087" name="Line 39"/>
            <p:cNvSpPr>
              <a:spLocks noChangeShapeType="1"/>
            </p:cNvSpPr>
            <p:nvPr/>
          </p:nvSpPr>
          <p:spPr bwMode="auto">
            <a:xfrm>
              <a:off x="4597400" y="3479800"/>
              <a:ext cx="381000" cy="914400"/>
            </a:xfrm>
            <a:prstGeom prst="line">
              <a:avLst/>
            </a:prstGeom>
            <a:noFill/>
            <a:ln w="9525">
              <a:solidFill>
                <a:srgbClr val="FF0000"/>
              </a:solidFill>
              <a:round/>
              <a:headEnd/>
              <a:tailEnd type="triangle" w="med" len="med"/>
            </a:ln>
          </p:spPr>
          <p:txBody>
            <a:bodyPr wrap="none" anchor="ctr"/>
            <a:lstStyle/>
            <a:p>
              <a:endParaRPr lang="bg-BG"/>
            </a:p>
          </p:txBody>
        </p:sp>
        <p:sp>
          <p:nvSpPr>
            <p:cNvPr id="43088" name="Line 40"/>
            <p:cNvSpPr>
              <a:spLocks noChangeShapeType="1"/>
            </p:cNvSpPr>
            <p:nvPr/>
          </p:nvSpPr>
          <p:spPr bwMode="auto">
            <a:xfrm flipH="1" flipV="1">
              <a:off x="4677916" y="3433192"/>
              <a:ext cx="381000" cy="914400"/>
            </a:xfrm>
            <a:prstGeom prst="line">
              <a:avLst/>
            </a:prstGeom>
            <a:noFill/>
            <a:ln w="9525">
              <a:solidFill>
                <a:srgbClr val="FF0000"/>
              </a:solidFill>
              <a:round/>
              <a:headEnd/>
              <a:tailEnd type="triangle" w="med" len="med"/>
            </a:ln>
          </p:spPr>
          <p:txBody>
            <a:bodyPr wrap="none" anchor="ctr"/>
            <a:lstStyle/>
            <a:p>
              <a:endParaRPr lang="bg-BG"/>
            </a:p>
          </p:txBody>
        </p:sp>
      </p:grpSp>
      <p:grpSp>
        <p:nvGrpSpPr>
          <p:cNvPr id="43012" name="Group 83"/>
          <p:cNvGrpSpPr>
            <a:grpSpLocks/>
          </p:cNvGrpSpPr>
          <p:nvPr/>
        </p:nvGrpSpPr>
        <p:grpSpPr bwMode="auto">
          <a:xfrm>
            <a:off x="2725738" y="5224463"/>
            <a:ext cx="3717925" cy="1714500"/>
            <a:chOff x="2725192" y="5288384"/>
            <a:chExt cx="3569554" cy="1523688"/>
          </a:xfrm>
        </p:grpSpPr>
        <p:grpSp>
          <p:nvGrpSpPr>
            <p:cNvPr id="43014" name="Group 82"/>
            <p:cNvGrpSpPr>
              <a:grpSpLocks/>
            </p:cNvGrpSpPr>
            <p:nvPr/>
          </p:nvGrpSpPr>
          <p:grpSpPr bwMode="auto">
            <a:xfrm>
              <a:off x="2725192" y="5288384"/>
              <a:ext cx="3569554" cy="1523688"/>
              <a:chOff x="2699792" y="5301084"/>
              <a:chExt cx="3569554" cy="1523688"/>
            </a:xfrm>
          </p:grpSpPr>
          <p:sp>
            <p:nvSpPr>
              <p:cNvPr id="43017" name="Oval 42"/>
              <p:cNvSpPr>
                <a:spLocks noChangeArrowheads="1"/>
              </p:cNvSpPr>
              <p:nvPr/>
            </p:nvSpPr>
            <p:spPr bwMode="auto">
              <a:xfrm>
                <a:off x="4366276" y="5301084"/>
                <a:ext cx="370319" cy="264042"/>
              </a:xfrm>
              <a:prstGeom prst="ellipse">
                <a:avLst/>
              </a:prstGeom>
              <a:noFill/>
              <a:ln w="9525">
                <a:solidFill>
                  <a:schemeClr val="tx1"/>
                </a:solidFill>
                <a:round/>
                <a:headEnd/>
                <a:tailEnd/>
              </a:ln>
            </p:spPr>
            <p:txBody>
              <a:bodyPr wrap="none" anchor="ctr"/>
              <a:lstStyle/>
              <a:p>
                <a:endParaRPr lang="bg-BG"/>
              </a:p>
            </p:txBody>
          </p:sp>
          <p:sp>
            <p:nvSpPr>
              <p:cNvPr id="43018" name="Oval 43"/>
              <p:cNvSpPr>
                <a:spLocks noChangeArrowheads="1"/>
              </p:cNvSpPr>
              <p:nvPr/>
            </p:nvSpPr>
            <p:spPr bwMode="auto">
              <a:xfrm>
                <a:off x="5292101" y="5608096"/>
                <a:ext cx="370319" cy="264042"/>
              </a:xfrm>
              <a:prstGeom prst="ellipse">
                <a:avLst/>
              </a:prstGeom>
              <a:noFill/>
              <a:ln w="9525">
                <a:solidFill>
                  <a:schemeClr val="tx1"/>
                </a:solidFill>
                <a:round/>
                <a:headEnd/>
                <a:tailEnd/>
              </a:ln>
            </p:spPr>
            <p:txBody>
              <a:bodyPr wrap="none" anchor="ctr"/>
              <a:lstStyle/>
              <a:p>
                <a:endParaRPr lang="bg-BG"/>
              </a:p>
            </p:txBody>
          </p:sp>
          <p:sp>
            <p:nvSpPr>
              <p:cNvPr id="43019" name="Oval 44"/>
              <p:cNvSpPr>
                <a:spLocks noChangeArrowheads="1"/>
              </p:cNvSpPr>
              <p:nvPr/>
            </p:nvSpPr>
            <p:spPr bwMode="auto">
              <a:xfrm>
                <a:off x="3255287" y="6426794"/>
                <a:ext cx="370319" cy="264042"/>
              </a:xfrm>
              <a:prstGeom prst="ellipse">
                <a:avLst/>
              </a:prstGeom>
              <a:noFill/>
              <a:ln w="9525">
                <a:solidFill>
                  <a:schemeClr val="tx1"/>
                </a:solidFill>
                <a:round/>
                <a:headEnd/>
                <a:tailEnd/>
              </a:ln>
            </p:spPr>
            <p:txBody>
              <a:bodyPr wrap="none" anchor="ctr"/>
              <a:lstStyle/>
              <a:p>
                <a:endParaRPr lang="bg-BG"/>
              </a:p>
            </p:txBody>
          </p:sp>
          <p:sp>
            <p:nvSpPr>
              <p:cNvPr id="43020" name="Oval 45"/>
              <p:cNvSpPr>
                <a:spLocks noChangeArrowheads="1"/>
              </p:cNvSpPr>
              <p:nvPr/>
            </p:nvSpPr>
            <p:spPr bwMode="auto">
              <a:xfrm>
                <a:off x="2699792" y="6426794"/>
                <a:ext cx="370319" cy="264042"/>
              </a:xfrm>
              <a:prstGeom prst="ellipse">
                <a:avLst/>
              </a:prstGeom>
              <a:noFill/>
              <a:ln w="9525">
                <a:solidFill>
                  <a:schemeClr val="tx1"/>
                </a:solidFill>
                <a:round/>
                <a:headEnd/>
                <a:tailEnd/>
              </a:ln>
            </p:spPr>
            <p:txBody>
              <a:bodyPr wrap="none" anchor="ctr"/>
              <a:lstStyle/>
              <a:p>
                <a:endParaRPr lang="bg-BG"/>
              </a:p>
            </p:txBody>
          </p:sp>
          <p:sp>
            <p:nvSpPr>
              <p:cNvPr id="43021" name="Oval 46"/>
              <p:cNvSpPr>
                <a:spLocks noChangeArrowheads="1"/>
              </p:cNvSpPr>
              <p:nvPr/>
            </p:nvSpPr>
            <p:spPr bwMode="auto">
              <a:xfrm>
                <a:off x="5106936" y="6017445"/>
                <a:ext cx="370319" cy="264042"/>
              </a:xfrm>
              <a:prstGeom prst="ellipse">
                <a:avLst/>
              </a:prstGeom>
              <a:noFill/>
              <a:ln w="9525">
                <a:solidFill>
                  <a:schemeClr val="tx1"/>
                </a:solidFill>
                <a:round/>
                <a:headEnd/>
                <a:tailEnd/>
              </a:ln>
            </p:spPr>
            <p:txBody>
              <a:bodyPr wrap="none" anchor="ctr"/>
              <a:lstStyle/>
              <a:p>
                <a:endParaRPr lang="bg-BG"/>
              </a:p>
            </p:txBody>
          </p:sp>
          <p:sp>
            <p:nvSpPr>
              <p:cNvPr id="43022" name="Oval 47"/>
              <p:cNvSpPr>
                <a:spLocks noChangeArrowheads="1"/>
              </p:cNvSpPr>
              <p:nvPr/>
            </p:nvSpPr>
            <p:spPr bwMode="auto">
              <a:xfrm>
                <a:off x="3934225" y="5966276"/>
                <a:ext cx="370319" cy="264042"/>
              </a:xfrm>
              <a:prstGeom prst="ellipse">
                <a:avLst/>
              </a:prstGeom>
              <a:noFill/>
              <a:ln w="9525">
                <a:solidFill>
                  <a:schemeClr val="tx1"/>
                </a:solidFill>
                <a:round/>
                <a:headEnd/>
                <a:tailEnd/>
              </a:ln>
            </p:spPr>
            <p:txBody>
              <a:bodyPr wrap="none" anchor="ctr"/>
              <a:lstStyle/>
              <a:p>
                <a:endParaRPr lang="bg-BG"/>
              </a:p>
            </p:txBody>
          </p:sp>
          <p:sp>
            <p:nvSpPr>
              <p:cNvPr id="43023" name="Oval 48"/>
              <p:cNvSpPr>
                <a:spLocks noChangeArrowheads="1"/>
              </p:cNvSpPr>
              <p:nvPr/>
            </p:nvSpPr>
            <p:spPr bwMode="auto">
              <a:xfrm>
                <a:off x="3070122" y="5966276"/>
                <a:ext cx="370319" cy="264042"/>
              </a:xfrm>
              <a:prstGeom prst="ellipse">
                <a:avLst/>
              </a:prstGeom>
              <a:noFill/>
              <a:ln w="9525">
                <a:solidFill>
                  <a:schemeClr val="tx1"/>
                </a:solidFill>
                <a:round/>
                <a:headEnd/>
                <a:tailEnd/>
              </a:ln>
            </p:spPr>
            <p:txBody>
              <a:bodyPr wrap="none" anchor="ctr"/>
              <a:lstStyle/>
              <a:p>
                <a:endParaRPr lang="bg-BG"/>
              </a:p>
            </p:txBody>
          </p:sp>
          <p:sp>
            <p:nvSpPr>
              <p:cNvPr id="43024" name="Oval 49"/>
              <p:cNvSpPr>
                <a:spLocks noChangeArrowheads="1"/>
              </p:cNvSpPr>
              <p:nvPr/>
            </p:nvSpPr>
            <p:spPr bwMode="auto">
              <a:xfrm>
                <a:off x="3502173" y="5659264"/>
                <a:ext cx="370319" cy="264042"/>
              </a:xfrm>
              <a:prstGeom prst="ellipse">
                <a:avLst/>
              </a:prstGeom>
              <a:noFill/>
              <a:ln w="9525">
                <a:solidFill>
                  <a:schemeClr val="tx1"/>
                </a:solidFill>
                <a:round/>
                <a:headEnd/>
                <a:tailEnd/>
              </a:ln>
            </p:spPr>
            <p:txBody>
              <a:bodyPr wrap="none" anchor="ctr"/>
              <a:lstStyle/>
              <a:p>
                <a:endParaRPr lang="bg-BG"/>
              </a:p>
            </p:txBody>
          </p:sp>
          <p:sp>
            <p:nvSpPr>
              <p:cNvPr id="43025" name="Oval 50"/>
              <p:cNvSpPr>
                <a:spLocks noChangeArrowheads="1"/>
              </p:cNvSpPr>
              <p:nvPr/>
            </p:nvSpPr>
            <p:spPr bwMode="auto">
              <a:xfrm>
                <a:off x="3749060" y="6426794"/>
                <a:ext cx="370319" cy="264042"/>
              </a:xfrm>
              <a:prstGeom prst="ellipse">
                <a:avLst/>
              </a:prstGeom>
              <a:noFill/>
              <a:ln w="9525">
                <a:solidFill>
                  <a:schemeClr val="tx1"/>
                </a:solidFill>
                <a:round/>
                <a:headEnd/>
                <a:tailEnd/>
              </a:ln>
            </p:spPr>
            <p:txBody>
              <a:bodyPr wrap="none" anchor="ctr"/>
              <a:lstStyle/>
              <a:p>
                <a:endParaRPr lang="bg-BG"/>
              </a:p>
            </p:txBody>
          </p:sp>
          <p:sp>
            <p:nvSpPr>
              <p:cNvPr id="43026" name="Oval 51"/>
              <p:cNvSpPr>
                <a:spLocks noChangeArrowheads="1"/>
              </p:cNvSpPr>
              <p:nvPr/>
            </p:nvSpPr>
            <p:spPr bwMode="auto">
              <a:xfrm>
                <a:off x="5785874" y="6017445"/>
                <a:ext cx="370319" cy="264042"/>
              </a:xfrm>
              <a:prstGeom prst="ellipse">
                <a:avLst/>
              </a:prstGeom>
              <a:noFill/>
              <a:ln w="9525">
                <a:solidFill>
                  <a:schemeClr val="tx1"/>
                </a:solidFill>
                <a:round/>
                <a:headEnd/>
                <a:tailEnd/>
              </a:ln>
            </p:spPr>
            <p:txBody>
              <a:bodyPr wrap="none" anchor="ctr"/>
              <a:lstStyle/>
              <a:p>
                <a:endParaRPr lang="bg-BG"/>
              </a:p>
            </p:txBody>
          </p:sp>
          <p:sp>
            <p:nvSpPr>
              <p:cNvPr id="43027" name="Oval 52"/>
              <p:cNvSpPr>
                <a:spLocks noChangeArrowheads="1"/>
              </p:cNvSpPr>
              <p:nvPr/>
            </p:nvSpPr>
            <p:spPr bwMode="auto">
              <a:xfrm>
                <a:off x="4242833" y="6426794"/>
                <a:ext cx="370319" cy="264042"/>
              </a:xfrm>
              <a:prstGeom prst="ellipse">
                <a:avLst/>
              </a:prstGeom>
              <a:noFill/>
              <a:ln w="9525">
                <a:solidFill>
                  <a:schemeClr val="tx1"/>
                </a:solidFill>
                <a:round/>
                <a:headEnd/>
                <a:tailEnd/>
              </a:ln>
            </p:spPr>
            <p:txBody>
              <a:bodyPr wrap="none" anchor="ctr"/>
              <a:lstStyle/>
              <a:p>
                <a:endParaRPr lang="bg-BG"/>
              </a:p>
            </p:txBody>
          </p:sp>
          <p:sp>
            <p:nvSpPr>
              <p:cNvPr id="43028" name="Oval 53"/>
              <p:cNvSpPr>
                <a:spLocks noChangeArrowheads="1"/>
              </p:cNvSpPr>
              <p:nvPr/>
            </p:nvSpPr>
            <p:spPr bwMode="auto">
              <a:xfrm>
                <a:off x="4921771" y="6426794"/>
                <a:ext cx="370319" cy="264042"/>
              </a:xfrm>
              <a:prstGeom prst="ellipse">
                <a:avLst/>
              </a:prstGeom>
              <a:noFill/>
              <a:ln w="9525">
                <a:solidFill>
                  <a:schemeClr val="tx1"/>
                </a:solidFill>
                <a:round/>
                <a:headEnd/>
                <a:tailEnd/>
              </a:ln>
            </p:spPr>
            <p:txBody>
              <a:bodyPr wrap="none" anchor="ctr"/>
              <a:lstStyle/>
              <a:p>
                <a:endParaRPr lang="bg-BG"/>
              </a:p>
            </p:txBody>
          </p:sp>
          <p:sp>
            <p:nvSpPr>
              <p:cNvPr id="43029" name="Line 54"/>
              <p:cNvSpPr>
                <a:spLocks noChangeShapeType="1"/>
              </p:cNvSpPr>
              <p:nvPr/>
            </p:nvSpPr>
            <p:spPr bwMode="auto">
              <a:xfrm flipH="1">
                <a:off x="3810780" y="5505758"/>
                <a:ext cx="555479" cy="176028"/>
              </a:xfrm>
              <a:prstGeom prst="line">
                <a:avLst/>
              </a:prstGeom>
              <a:noFill/>
              <a:ln w="9525">
                <a:solidFill>
                  <a:schemeClr val="tx1"/>
                </a:solidFill>
                <a:round/>
                <a:headEnd/>
                <a:tailEnd/>
              </a:ln>
            </p:spPr>
            <p:txBody>
              <a:bodyPr wrap="none" anchor="ctr"/>
              <a:lstStyle/>
              <a:p>
                <a:endParaRPr lang="bg-BG"/>
              </a:p>
            </p:txBody>
          </p:sp>
          <p:sp>
            <p:nvSpPr>
              <p:cNvPr id="43030" name="Line 55"/>
              <p:cNvSpPr>
                <a:spLocks noChangeShapeType="1"/>
              </p:cNvSpPr>
              <p:nvPr/>
            </p:nvSpPr>
            <p:spPr bwMode="auto">
              <a:xfrm>
                <a:off x="4736606" y="5505758"/>
                <a:ext cx="555479" cy="176028"/>
              </a:xfrm>
              <a:prstGeom prst="line">
                <a:avLst/>
              </a:prstGeom>
              <a:noFill/>
              <a:ln w="9525">
                <a:solidFill>
                  <a:schemeClr val="tx1"/>
                </a:solidFill>
                <a:round/>
                <a:headEnd/>
                <a:tailEnd/>
              </a:ln>
            </p:spPr>
            <p:txBody>
              <a:bodyPr wrap="none" anchor="ctr"/>
              <a:lstStyle/>
              <a:p>
                <a:endParaRPr lang="bg-BG"/>
              </a:p>
            </p:txBody>
          </p:sp>
          <p:sp>
            <p:nvSpPr>
              <p:cNvPr id="43031" name="Line 56"/>
              <p:cNvSpPr>
                <a:spLocks noChangeShapeType="1"/>
              </p:cNvSpPr>
              <p:nvPr/>
            </p:nvSpPr>
            <p:spPr bwMode="auto">
              <a:xfrm flipH="1">
                <a:off x="3378730" y="5915108"/>
                <a:ext cx="185160" cy="88014"/>
              </a:xfrm>
              <a:prstGeom prst="line">
                <a:avLst/>
              </a:prstGeom>
              <a:noFill/>
              <a:ln w="9525">
                <a:solidFill>
                  <a:schemeClr val="tx1"/>
                </a:solidFill>
                <a:round/>
                <a:headEnd/>
                <a:tailEnd/>
              </a:ln>
            </p:spPr>
            <p:txBody>
              <a:bodyPr wrap="none" anchor="ctr"/>
              <a:lstStyle/>
              <a:p>
                <a:endParaRPr lang="bg-BG"/>
              </a:p>
            </p:txBody>
          </p:sp>
          <p:sp>
            <p:nvSpPr>
              <p:cNvPr id="43032" name="Line 57"/>
              <p:cNvSpPr>
                <a:spLocks noChangeShapeType="1"/>
              </p:cNvSpPr>
              <p:nvPr/>
            </p:nvSpPr>
            <p:spPr bwMode="auto">
              <a:xfrm flipH="1">
                <a:off x="2946679" y="6230647"/>
                <a:ext cx="185160" cy="176028"/>
              </a:xfrm>
              <a:prstGeom prst="line">
                <a:avLst/>
              </a:prstGeom>
              <a:noFill/>
              <a:ln w="9525">
                <a:solidFill>
                  <a:schemeClr val="tx1"/>
                </a:solidFill>
                <a:round/>
                <a:headEnd/>
                <a:tailEnd/>
              </a:ln>
            </p:spPr>
            <p:txBody>
              <a:bodyPr wrap="none" anchor="ctr"/>
              <a:lstStyle/>
              <a:p>
                <a:endParaRPr lang="bg-BG"/>
              </a:p>
            </p:txBody>
          </p:sp>
          <p:sp>
            <p:nvSpPr>
              <p:cNvPr id="43033" name="Line 58"/>
              <p:cNvSpPr>
                <a:spLocks noChangeShapeType="1"/>
              </p:cNvSpPr>
              <p:nvPr/>
            </p:nvSpPr>
            <p:spPr bwMode="auto">
              <a:xfrm>
                <a:off x="3317009" y="6273288"/>
                <a:ext cx="123440" cy="132021"/>
              </a:xfrm>
              <a:prstGeom prst="line">
                <a:avLst/>
              </a:prstGeom>
              <a:noFill/>
              <a:ln w="9525">
                <a:solidFill>
                  <a:schemeClr val="tx1"/>
                </a:solidFill>
                <a:round/>
                <a:headEnd/>
                <a:tailEnd/>
              </a:ln>
            </p:spPr>
            <p:txBody>
              <a:bodyPr wrap="none" anchor="ctr"/>
              <a:lstStyle/>
              <a:p>
                <a:endParaRPr lang="bg-BG"/>
              </a:p>
            </p:txBody>
          </p:sp>
          <p:sp>
            <p:nvSpPr>
              <p:cNvPr id="43034" name="Line 59"/>
              <p:cNvSpPr>
                <a:spLocks noChangeShapeType="1"/>
              </p:cNvSpPr>
              <p:nvPr/>
            </p:nvSpPr>
            <p:spPr bwMode="auto">
              <a:xfrm>
                <a:off x="3810782" y="5915108"/>
                <a:ext cx="185160" cy="88014"/>
              </a:xfrm>
              <a:prstGeom prst="line">
                <a:avLst/>
              </a:prstGeom>
              <a:noFill/>
              <a:ln w="9525">
                <a:solidFill>
                  <a:schemeClr val="tx1"/>
                </a:solidFill>
                <a:round/>
                <a:headEnd/>
                <a:tailEnd/>
              </a:ln>
            </p:spPr>
            <p:txBody>
              <a:bodyPr wrap="none" anchor="ctr"/>
              <a:lstStyle/>
              <a:p>
                <a:endParaRPr lang="bg-BG"/>
              </a:p>
            </p:txBody>
          </p:sp>
          <p:sp>
            <p:nvSpPr>
              <p:cNvPr id="43035" name="Line 60"/>
              <p:cNvSpPr>
                <a:spLocks noChangeShapeType="1"/>
              </p:cNvSpPr>
              <p:nvPr/>
            </p:nvSpPr>
            <p:spPr bwMode="auto">
              <a:xfrm flipH="1">
                <a:off x="3995946" y="6273288"/>
                <a:ext cx="61720" cy="132021"/>
              </a:xfrm>
              <a:prstGeom prst="line">
                <a:avLst/>
              </a:prstGeom>
              <a:noFill/>
              <a:ln w="9525">
                <a:solidFill>
                  <a:schemeClr val="tx1"/>
                </a:solidFill>
                <a:round/>
                <a:headEnd/>
                <a:tailEnd/>
              </a:ln>
            </p:spPr>
            <p:txBody>
              <a:bodyPr wrap="none" anchor="ctr"/>
              <a:lstStyle/>
              <a:p>
                <a:endParaRPr lang="bg-BG"/>
              </a:p>
            </p:txBody>
          </p:sp>
          <p:sp>
            <p:nvSpPr>
              <p:cNvPr id="43036" name="Line 61"/>
              <p:cNvSpPr>
                <a:spLocks noChangeShapeType="1"/>
              </p:cNvSpPr>
              <p:nvPr/>
            </p:nvSpPr>
            <p:spPr bwMode="auto">
              <a:xfrm>
                <a:off x="4268551" y="6230648"/>
                <a:ext cx="123440" cy="185196"/>
              </a:xfrm>
              <a:prstGeom prst="line">
                <a:avLst/>
              </a:prstGeom>
              <a:noFill/>
              <a:ln w="9525">
                <a:solidFill>
                  <a:schemeClr val="tx1"/>
                </a:solidFill>
                <a:round/>
                <a:headEnd/>
                <a:tailEnd/>
              </a:ln>
            </p:spPr>
            <p:txBody>
              <a:bodyPr wrap="none" anchor="ctr"/>
              <a:lstStyle/>
              <a:p>
                <a:endParaRPr lang="bg-BG"/>
              </a:p>
            </p:txBody>
          </p:sp>
          <p:sp>
            <p:nvSpPr>
              <p:cNvPr id="43037" name="Line 62"/>
              <p:cNvSpPr>
                <a:spLocks noChangeShapeType="1"/>
              </p:cNvSpPr>
              <p:nvPr/>
            </p:nvSpPr>
            <p:spPr bwMode="auto">
              <a:xfrm flipH="1">
                <a:off x="5353822" y="5915108"/>
                <a:ext cx="61720" cy="88014"/>
              </a:xfrm>
              <a:prstGeom prst="line">
                <a:avLst/>
              </a:prstGeom>
              <a:noFill/>
              <a:ln w="9525">
                <a:solidFill>
                  <a:schemeClr val="tx1"/>
                </a:solidFill>
                <a:round/>
                <a:headEnd/>
                <a:tailEnd/>
              </a:ln>
            </p:spPr>
            <p:txBody>
              <a:bodyPr wrap="none" anchor="ctr"/>
              <a:lstStyle/>
              <a:p>
                <a:endParaRPr lang="bg-BG"/>
              </a:p>
            </p:txBody>
          </p:sp>
          <p:sp>
            <p:nvSpPr>
              <p:cNvPr id="43038" name="Line 63"/>
              <p:cNvSpPr>
                <a:spLocks noChangeShapeType="1"/>
              </p:cNvSpPr>
              <p:nvPr/>
            </p:nvSpPr>
            <p:spPr bwMode="auto">
              <a:xfrm flipH="1">
                <a:off x="5168657" y="6324457"/>
                <a:ext cx="61720" cy="88014"/>
              </a:xfrm>
              <a:prstGeom prst="line">
                <a:avLst/>
              </a:prstGeom>
              <a:noFill/>
              <a:ln w="9525">
                <a:solidFill>
                  <a:schemeClr val="tx1"/>
                </a:solidFill>
                <a:round/>
                <a:headEnd/>
                <a:tailEnd/>
              </a:ln>
            </p:spPr>
            <p:txBody>
              <a:bodyPr wrap="none" anchor="ctr"/>
              <a:lstStyle/>
              <a:p>
                <a:endParaRPr lang="bg-BG"/>
              </a:p>
            </p:txBody>
          </p:sp>
          <p:sp>
            <p:nvSpPr>
              <p:cNvPr id="43039" name="Line 64"/>
              <p:cNvSpPr>
                <a:spLocks noChangeShapeType="1"/>
              </p:cNvSpPr>
              <p:nvPr/>
            </p:nvSpPr>
            <p:spPr bwMode="auto">
              <a:xfrm>
                <a:off x="5600710" y="5863939"/>
                <a:ext cx="246880" cy="176028"/>
              </a:xfrm>
              <a:prstGeom prst="line">
                <a:avLst/>
              </a:prstGeom>
              <a:noFill/>
              <a:ln w="9525">
                <a:solidFill>
                  <a:schemeClr val="tx1"/>
                </a:solidFill>
                <a:round/>
                <a:headEnd/>
                <a:tailEnd/>
              </a:ln>
            </p:spPr>
            <p:txBody>
              <a:bodyPr wrap="none" anchor="ctr"/>
              <a:lstStyle/>
              <a:p>
                <a:endParaRPr lang="bg-BG"/>
              </a:p>
            </p:txBody>
          </p:sp>
          <p:sp>
            <p:nvSpPr>
              <p:cNvPr id="43040" name="Text Box 65"/>
              <p:cNvSpPr txBox="1">
                <a:spLocks noChangeArrowheads="1"/>
              </p:cNvSpPr>
              <p:nvPr/>
            </p:nvSpPr>
            <p:spPr bwMode="auto">
              <a:xfrm>
                <a:off x="4362419" y="5301084"/>
                <a:ext cx="495045" cy="400110"/>
              </a:xfrm>
              <a:prstGeom prst="rect">
                <a:avLst/>
              </a:prstGeom>
              <a:noFill/>
              <a:ln w="9525">
                <a:noFill/>
                <a:miter lim="800000"/>
                <a:headEnd/>
                <a:tailEnd/>
              </a:ln>
            </p:spPr>
            <p:txBody>
              <a:bodyPr>
                <a:spAutoFit/>
              </a:bodyPr>
              <a:lstStyle/>
              <a:p>
                <a:pPr algn="l">
                  <a:spcBef>
                    <a:spcPct val="50000"/>
                  </a:spcBef>
                </a:pPr>
                <a:r>
                  <a:rPr lang="en-US" sz="2000"/>
                  <a:t>5</a:t>
                </a:r>
                <a:r>
                  <a:rPr lang="bg-BG" sz="2000"/>
                  <a:t>1</a:t>
                </a:r>
                <a:endParaRPr lang="en-US" sz="2000"/>
              </a:p>
            </p:txBody>
          </p:sp>
          <p:sp>
            <p:nvSpPr>
              <p:cNvPr id="43041" name="Text Box 66"/>
              <p:cNvSpPr txBox="1">
                <a:spLocks noChangeArrowheads="1"/>
              </p:cNvSpPr>
              <p:nvPr/>
            </p:nvSpPr>
            <p:spPr bwMode="auto">
              <a:xfrm>
                <a:off x="2749941" y="6419332"/>
                <a:ext cx="367748" cy="400110"/>
              </a:xfrm>
              <a:prstGeom prst="rect">
                <a:avLst/>
              </a:prstGeom>
              <a:noFill/>
              <a:ln w="9525">
                <a:noFill/>
                <a:miter lim="800000"/>
                <a:headEnd/>
                <a:tailEnd/>
              </a:ln>
            </p:spPr>
            <p:txBody>
              <a:bodyPr>
                <a:spAutoFit/>
              </a:bodyPr>
              <a:lstStyle/>
              <a:p>
                <a:pPr algn="l">
                  <a:spcBef>
                    <a:spcPct val="50000"/>
                  </a:spcBef>
                </a:pPr>
                <a:r>
                  <a:rPr lang="en-US" sz="2000"/>
                  <a:t>3</a:t>
                </a:r>
              </a:p>
            </p:txBody>
          </p:sp>
          <p:sp>
            <p:nvSpPr>
              <p:cNvPr id="43042" name="Text Box 67"/>
              <p:cNvSpPr txBox="1">
                <a:spLocks noChangeArrowheads="1"/>
              </p:cNvSpPr>
              <p:nvPr/>
            </p:nvSpPr>
            <p:spPr bwMode="auto">
              <a:xfrm>
                <a:off x="4292982" y="6416134"/>
                <a:ext cx="370319" cy="400110"/>
              </a:xfrm>
              <a:prstGeom prst="rect">
                <a:avLst/>
              </a:prstGeom>
              <a:noFill/>
              <a:ln w="9525">
                <a:noFill/>
                <a:miter lim="800000"/>
                <a:headEnd/>
                <a:tailEnd/>
              </a:ln>
            </p:spPr>
            <p:txBody>
              <a:bodyPr>
                <a:spAutoFit/>
              </a:bodyPr>
              <a:lstStyle/>
              <a:p>
                <a:pPr algn="l">
                  <a:spcBef>
                    <a:spcPct val="50000"/>
                  </a:spcBef>
                </a:pPr>
                <a:r>
                  <a:rPr lang="en-US" sz="2000"/>
                  <a:t>3</a:t>
                </a:r>
              </a:p>
            </p:txBody>
          </p:sp>
          <p:sp>
            <p:nvSpPr>
              <p:cNvPr id="43043" name="Text Box 68"/>
              <p:cNvSpPr txBox="1">
                <a:spLocks noChangeArrowheads="1"/>
              </p:cNvSpPr>
              <p:nvPr/>
            </p:nvSpPr>
            <p:spPr bwMode="auto">
              <a:xfrm>
                <a:off x="3319580" y="6416134"/>
                <a:ext cx="370319" cy="400110"/>
              </a:xfrm>
              <a:prstGeom prst="rect">
                <a:avLst/>
              </a:prstGeom>
              <a:noFill/>
              <a:ln w="9525">
                <a:noFill/>
                <a:miter lim="800000"/>
                <a:headEnd/>
                <a:tailEnd/>
              </a:ln>
            </p:spPr>
            <p:txBody>
              <a:bodyPr>
                <a:spAutoFit/>
              </a:bodyPr>
              <a:lstStyle/>
              <a:p>
                <a:pPr algn="l">
                  <a:spcBef>
                    <a:spcPct val="50000"/>
                  </a:spcBef>
                </a:pPr>
                <a:r>
                  <a:rPr lang="en-US" sz="2000"/>
                  <a:t>7</a:t>
                </a:r>
              </a:p>
            </p:txBody>
          </p:sp>
          <p:sp>
            <p:nvSpPr>
              <p:cNvPr id="43044" name="Text Box 69"/>
              <p:cNvSpPr txBox="1">
                <a:spLocks noChangeArrowheads="1"/>
              </p:cNvSpPr>
              <p:nvPr/>
            </p:nvSpPr>
            <p:spPr bwMode="auto">
              <a:xfrm>
                <a:off x="3070122" y="5965210"/>
                <a:ext cx="493759" cy="400110"/>
              </a:xfrm>
              <a:prstGeom prst="rect">
                <a:avLst/>
              </a:prstGeom>
              <a:noFill/>
              <a:ln w="9525">
                <a:noFill/>
                <a:miter lim="800000"/>
                <a:headEnd/>
                <a:tailEnd/>
              </a:ln>
            </p:spPr>
            <p:txBody>
              <a:bodyPr>
                <a:spAutoFit/>
              </a:bodyPr>
              <a:lstStyle/>
              <a:p>
                <a:pPr algn="l">
                  <a:spcBef>
                    <a:spcPct val="50000"/>
                  </a:spcBef>
                </a:pPr>
                <a:r>
                  <a:rPr lang="en-US" sz="2000"/>
                  <a:t>1</a:t>
                </a:r>
                <a:r>
                  <a:rPr lang="bg-BG" sz="2000"/>
                  <a:t>1</a:t>
                </a:r>
                <a:endParaRPr lang="en-US" sz="2000"/>
              </a:p>
            </p:txBody>
          </p:sp>
          <p:sp>
            <p:nvSpPr>
              <p:cNvPr id="43045" name="Text Box 70"/>
              <p:cNvSpPr txBox="1">
                <a:spLocks noChangeArrowheads="1"/>
              </p:cNvSpPr>
              <p:nvPr/>
            </p:nvSpPr>
            <p:spPr bwMode="auto">
              <a:xfrm>
                <a:off x="3749060" y="6424662"/>
                <a:ext cx="493759" cy="400110"/>
              </a:xfrm>
              <a:prstGeom prst="rect">
                <a:avLst/>
              </a:prstGeom>
              <a:noFill/>
              <a:ln w="9525">
                <a:noFill/>
                <a:miter lim="800000"/>
                <a:headEnd/>
                <a:tailEnd/>
              </a:ln>
            </p:spPr>
            <p:txBody>
              <a:bodyPr>
                <a:spAutoFit/>
              </a:bodyPr>
              <a:lstStyle/>
              <a:p>
                <a:pPr algn="l">
                  <a:spcBef>
                    <a:spcPct val="50000"/>
                  </a:spcBef>
                </a:pPr>
                <a:r>
                  <a:rPr lang="en-US" sz="2000"/>
                  <a:t>1</a:t>
                </a:r>
                <a:r>
                  <a:rPr lang="bg-BG" sz="2000"/>
                  <a:t>9</a:t>
                </a:r>
                <a:endParaRPr lang="en-US" sz="2000"/>
              </a:p>
            </p:txBody>
          </p:sp>
          <p:sp>
            <p:nvSpPr>
              <p:cNvPr id="43046" name="Text Box 71"/>
              <p:cNvSpPr txBox="1">
                <a:spLocks noChangeArrowheads="1"/>
              </p:cNvSpPr>
              <p:nvPr/>
            </p:nvSpPr>
            <p:spPr bwMode="auto">
              <a:xfrm>
                <a:off x="3934225" y="5965210"/>
                <a:ext cx="493759" cy="400110"/>
              </a:xfrm>
              <a:prstGeom prst="rect">
                <a:avLst/>
              </a:prstGeom>
              <a:noFill/>
              <a:ln w="9525">
                <a:noFill/>
                <a:miter lim="800000"/>
                <a:headEnd/>
                <a:tailEnd/>
              </a:ln>
            </p:spPr>
            <p:txBody>
              <a:bodyPr>
                <a:spAutoFit/>
              </a:bodyPr>
              <a:lstStyle/>
              <a:p>
                <a:pPr algn="l">
                  <a:spcBef>
                    <a:spcPct val="50000"/>
                  </a:spcBef>
                </a:pPr>
                <a:r>
                  <a:rPr lang="en-US" sz="2000"/>
                  <a:t>3</a:t>
                </a:r>
                <a:r>
                  <a:rPr lang="bg-BG" sz="2000"/>
                  <a:t>7</a:t>
                </a:r>
                <a:endParaRPr lang="en-US" sz="2000"/>
              </a:p>
            </p:txBody>
          </p:sp>
          <p:sp>
            <p:nvSpPr>
              <p:cNvPr id="43047" name="Text Box 72"/>
              <p:cNvSpPr txBox="1">
                <a:spLocks noChangeArrowheads="1"/>
              </p:cNvSpPr>
              <p:nvPr/>
            </p:nvSpPr>
            <p:spPr bwMode="auto">
              <a:xfrm>
                <a:off x="3504745" y="5647538"/>
                <a:ext cx="493759" cy="400110"/>
              </a:xfrm>
              <a:prstGeom prst="rect">
                <a:avLst/>
              </a:prstGeom>
              <a:noFill/>
              <a:ln w="9525">
                <a:noFill/>
                <a:miter lim="800000"/>
                <a:headEnd/>
                <a:tailEnd/>
              </a:ln>
            </p:spPr>
            <p:txBody>
              <a:bodyPr>
                <a:spAutoFit/>
              </a:bodyPr>
              <a:lstStyle/>
              <a:p>
                <a:pPr algn="l">
                  <a:spcBef>
                    <a:spcPct val="50000"/>
                  </a:spcBef>
                </a:pPr>
                <a:r>
                  <a:rPr lang="en-US" sz="2000"/>
                  <a:t>4</a:t>
                </a:r>
                <a:r>
                  <a:rPr lang="bg-BG" sz="2000"/>
                  <a:t>2</a:t>
                </a:r>
                <a:endParaRPr lang="en-US" sz="2000"/>
              </a:p>
            </p:txBody>
          </p:sp>
          <p:sp>
            <p:nvSpPr>
              <p:cNvPr id="43048" name="Text Box 73"/>
              <p:cNvSpPr txBox="1">
                <a:spLocks noChangeArrowheads="1"/>
              </p:cNvSpPr>
              <p:nvPr/>
            </p:nvSpPr>
            <p:spPr bwMode="auto">
              <a:xfrm>
                <a:off x="5289529" y="5598502"/>
                <a:ext cx="493759" cy="400110"/>
              </a:xfrm>
              <a:prstGeom prst="rect">
                <a:avLst/>
              </a:prstGeom>
              <a:noFill/>
              <a:ln w="9525">
                <a:noFill/>
                <a:miter lim="800000"/>
                <a:headEnd/>
                <a:tailEnd/>
              </a:ln>
            </p:spPr>
            <p:txBody>
              <a:bodyPr>
                <a:spAutoFit/>
              </a:bodyPr>
              <a:lstStyle/>
              <a:p>
                <a:pPr algn="l">
                  <a:spcBef>
                    <a:spcPct val="50000"/>
                  </a:spcBef>
                </a:pPr>
                <a:r>
                  <a:rPr lang="en-US" sz="2000"/>
                  <a:t>3</a:t>
                </a:r>
                <a:r>
                  <a:rPr lang="bg-BG" sz="2000"/>
                  <a:t>3</a:t>
                </a:r>
                <a:endParaRPr lang="en-US" sz="2000"/>
              </a:p>
            </p:txBody>
          </p:sp>
          <p:sp>
            <p:nvSpPr>
              <p:cNvPr id="43049" name="Text Box 74"/>
              <p:cNvSpPr txBox="1">
                <a:spLocks noChangeArrowheads="1"/>
              </p:cNvSpPr>
              <p:nvPr/>
            </p:nvSpPr>
            <p:spPr bwMode="auto">
              <a:xfrm>
                <a:off x="5106936" y="6017445"/>
                <a:ext cx="493759" cy="400110"/>
              </a:xfrm>
              <a:prstGeom prst="rect">
                <a:avLst/>
              </a:prstGeom>
              <a:noFill/>
              <a:ln w="9525">
                <a:noFill/>
                <a:miter lim="800000"/>
                <a:headEnd/>
                <a:tailEnd/>
              </a:ln>
            </p:spPr>
            <p:txBody>
              <a:bodyPr>
                <a:spAutoFit/>
              </a:bodyPr>
              <a:lstStyle/>
              <a:p>
                <a:pPr algn="l">
                  <a:spcBef>
                    <a:spcPct val="50000"/>
                  </a:spcBef>
                </a:pPr>
                <a:r>
                  <a:rPr lang="en-US" sz="2000"/>
                  <a:t>2</a:t>
                </a:r>
                <a:r>
                  <a:rPr lang="bg-BG" sz="2000"/>
                  <a:t>7</a:t>
                </a:r>
                <a:endParaRPr lang="en-US" sz="2000"/>
              </a:p>
            </p:txBody>
          </p:sp>
          <p:sp>
            <p:nvSpPr>
              <p:cNvPr id="43050" name="Text Box 75"/>
              <p:cNvSpPr txBox="1">
                <a:spLocks noChangeArrowheads="1"/>
              </p:cNvSpPr>
              <p:nvPr/>
            </p:nvSpPr>
            <p:spPr bwMode="auto">
              <a:xfrm>
                <a:off x="4925629" y="6424662"/>
                <a:ext cx="492473" cy="400110"/>
              </a:xfrm>
              <a:prstGeom prst="rect">
                <a:avLst/>
              </a:prstGeom>
              <a:noFill/>
              <a:ln w="9525">
                <a:noFill/>
                <a:miter lim="800000"/>
                <a:headEnd/>
                <a:tailEnd/>
              </a:ln>
            </p:spPr>
            <p:txBody>
              <a:bodyPr>
                <a:spAutoFit/>
              </a:bodyPr>
              <a:lstStyle/>
              <a:p>
                <a:pPr algn="l">
                  <a:spcBef>
                    <a:spcPct val="50000"/>
                  </a:spcBef>
                </a:pPr>
                <a:r>
                  <a:rPr lang="en-US" sz="2000">
                    <a:solidFill>
                      <a:srgbClr val="FF0000"/>
                    </a:solidFill>
                  </a:rPr>
                  <a:t>5</a:t>
                </a:r>
                <a:r>
                  <a:rPr lang="bg-BG" sz="2000">
                    <a:solidFill>
                      <a:srgbClr val="FF0000"/>
                    </a:solidFill>
                  </a:rPr>
                  <a:t>7</a:t>
                </a:r>
                <a:endParaRPr lang="en-US" sz="2000"/>
              </a:p>
            </p:txBody>
          </p:sp>
          <p:sp>
            <p:nvSpPr>
              <p:cNvPr id="43051" name="Text Box 76"/>
              <p:cNvSpPr txBox="1">
                <a:spLocks noChangeArrowheads="1"/>
              </p:cNvSpPr>
              <p:nvPr/>
            </p:nvSpPr>
            <p:spPr bwMode="auto">
              <a:xfrm>
                <a:off x="5775587" y="6007851"/>
                <a:ext cx="493759" cy="400110"/>
              </a:xfrm>
              <a:prstGeom prst="rect">
                <a:avLst/>
              </a:prstGeom>
              <a:noFill/>
              <a:ln w="9525">
                <a:noFill/>
                <a:miter lim="800000"/>
                <a:headEnd/>
                <a:tailEnd/>
              </a:ln>
            </p:spPr>
            <p:txBody>
              <a:bodyPr>
                <a:spAutoFit/>
              </a:bodyPr>
              <a:lstStyle/>
              <a:p>
                <a:pPr algn="l">
                  <a:spcBef>
                    <a:spcPct val="50000"/>
                  </a:spcBef>
                </a:pPr>
                <a:r>
                  <a:rPr lang="en-US" sz="2000"/>
                  <a:t>2</a:t>
                </a:r>
                <a:r>
                  <a:rPr lang="bg-BG" sz="2000"/>
                  <a:t>9</a:t>
                </a:r>
                <a:endParaRPr lang="en-US" sz="2000"/>
              </a:p>
            </p:txBody>
          </p:sp>
        </p:grpSp>
        <p:sp>
          <p:nvSpPr>
            <p:cNvPr id="43015" name="Line 77"/>
            <p:cNvSpPr>
              <a:spLocks noChangeShapeType="1"/>
            </p:cNvSpPr>
            <p:nvPr/>
          </p:nvSpPr>
          <p:spPr bwMode="auto">
            <a:xfrm flipV="1">
              <a:off x="4381376" y="5559524"/>
              <a:ext cx="194692" cy="847204"/>
            </a:xfrm>
            <a:prstGeom prst="line">
              <a:avLst/>
            </a:prstGeom>
            <a:noFill/>
            <a:ln w="9525">
              <a:solidFill>
                <a:srgbClr val="FF0000"/>
              </a:solidFill>
              <a:round/>
              <a:headEnd/>
              <a:tailEnd type="triangle" w="med" len="med"/>
            </a:ln>
          </p:spPr>
          <p:txBody>
            <a:bodyPr wrap="none" anchor="ctr"/>
            <a:lstStyle/>
            <a:p>
              <a:endParaRPr lang="bg-BG"/>
            </a:p>
          </p:txBody>
        </p:sp>
        <p:sp>
          <p:nvSpPr>
            <p:cNvPr id="43016" name="Line 79"/>
            <p:cNvSpPr>
              <a:spLocks noChangeShapeType="1"/>
            </p:cNvSpPr>
            <p:nvPr/>
          </p:nvSpPr>
          <p:spPr bwMode="auto">
            <a:xfrm flipH="1">
              <a:off x="4449192" y="5551140"/>
              <a:ext cx="216024" cy="918592"/>
            </a:xfrm>
            <a:prstGeom prst="line">
              <a:avLst/>
            </a:prstGeom>
            <a:noFill/>
            <a:ln w="9525">
              <a:solidFill>
                <a:srgbClr val="FF0000"/>
              </a:solidFill>
              <a:round/>
              <a:headEnd/>
              <a:tailEnd type="triangle" w="med" len="med"/>
            </a:ln>
          </p:spPr>
          <p:txBody>
            <a:bodyPr wrap="none" anchor="ctr"/>
            <a:lstStyle/>
            <a:p>
              <a:endParaRPr lang="bg-BG"/>
            </a:p>
          </p:txBody>
        </p:sp>
      </p:grpSp>
      <p:sp>
        <p:nvSpPr>
          <p:cNvPr id="81" name="Slide Number Placeholder 80"/>
          <p:cNvSpPr>
            <a:spLocks noGrp="1"/>
          </p:cNvSpPr>
          <p:nvPr>
            <p:ph type="sldNum" sz="quarter" idx="12"/>
          </p:nvPr>
        </p:nvSpPr>
        <p:spPr/>
        <p:txBody>
          <a:bodyPr/>
          <a:lstStyle/>
          <a:p>
            <a:pPr>
              <a:defRPr/>
            </a:pPr>
            <a:fld id="{E276E78E-8477-4614-B00B-54F6C273DEC6}" type="slidenum">
              <a:rPr lang="en-US"/>
              <a:pPr>
                <a:defRPr/>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042988" y="0"/>
            <a:ext cx="7921625" cy="6477000"/>
          </a:xfrm>
        </p:spPr>
        <p:txBody>
          <a:bodyPr/>
          <a:lstStyle/>
          <a:p>
            <a:pPr eaLnBrk="1" fontAlgn="auto" hangingPunct="1">
              <a:spcAft>
                <a:spcPts val="0"/>
              </a:spcAft>
              <a:defRPr/>
            </a:pPr>
            <a:r>
              <a:rPr lang="bg-BG" sz="2000">
                <a:solidFill>
                  <a:schemeClr val="tx1"/>
                </a:solidFill>
              </a:rPr>
              <a:t>Следва нова размяна на върха на пирамидата с последния (</a:t>
            </a:r>
            <a:r>
              <a:rPr lang="en-US" sz="2000" b="1" i="1">
                <a:solidFill>
                  <a:schemeClr val="tx1"/>
                </a:solidFill>
              </a:rPr>
              <a:t>n</a:t>
            </a:r>
            <a:r>
              <a:rPr lang="en-US" sz="2000">
                <a:solidFill>
                  <a:schemeClr val="tx1"/>
                </a:solidFill>
              </a:rPr>
              <a:t>-1)</a:t>
            </a:r>
            <a:r>
              <a:rPr lang="bg-BG" sz="2000">
                <a:solidFill>
                  <a:schemeClr val="tx1"/>
                </a:solidFill>
              </a:rPr>
              <a:t> елемент, последвана от ново отсяване. Описаният процес се повтаря (</a:t>
            </a:r>
            <a:r>
              <a:rPr lang="en-US" sz="2000" b="1" i="1">
                <a:solidFill>
                  <a:schemeClr val="tx1"/>
                </a:solidFill>
              </a:rPr>
              <a:t>n</a:t>
            </a:r>
            <a:r>
              <a:rPr lang="en-US" sz="2000">
                <a:solidFill>
                  <a:schemeClr val="tx1"/>
                </a:solidFill>
              </a:rPr>
              <a:t>-1)</a:t>
            </a:r>
            <a:r>
              <a:rPr lang="bg-BG" sz="2000">
                <a:solidFill>
                  <a:schemeClr val="tx1"/>
                </a:solidFill>
              </a:rPr>
              <a:t> пъти (няма нужда от </a:t>
            </a:r>
            <a:r>
              <a:rPr lang="en-US" sz="2000" b="1" i="1">
                <a:solidFill>
                  <a:schemeClr val="tx1"/>
                </a:solidFill>
              </a:rPr>
              <a:t>n</a:t>
            </a:r>
            <a:r>
              <a:rPr lang="en-US" sz="2000">
                <a:solidFill>
                  <a:schemeClr val="tx1"/>
                </a:solidFill>
              </a:rPr>
              <a:t>-</a:t>
            </a:r>
            <a:r>
              <a:rPr lang="bg-BG" sz="2000">
                <a:solidFill>
                  <a:schemeClr val="tx1"/>
                </a:solidFill>
              </a:rPr>
              <a:t>та стъпка, защото накрая </a:t>
            </a:r>
            <a:r>
              <a:rPr lang="en-US" sz="2000" b="1" i="1">
                <a:solidFill>
                  <a:schemeClr val="tx1"/>
                </a:solidFill>
              </a:rPr>
              <a:t>n</a:t>
            </a:r>
            <a:r>
              <a:rPr lang="en-US" sz="2000">
                <a:solidFill>
                  <a:schemeClr val="tx1"/>
                </a:solidFill>
              </a:rPr>
              <a:t>-</a:t>
            </a:r>
            <a:r>
              <a:rPr lang="bg-BG" sz="2000">
                <a:solidFill>
                  <a:schemeClr val="tx1"/>
                </a:solidFill>
              </a:rPr>
              <a:t>ия елемент си е на място). </a:t>
            </a:r>
            <a:br>
              <a:rPr lang="bg-BG" sz="2000">
                <a:solidFill>
                  <a:schemeClr val="tx1"/>
                </a:solidFill>
              </a:rPr>
            </a:br>
            <a:r>
              <a:rPr lang="bg-BG" sz="2000">
                <a:solidFill>
                  <a:schemeClr val="tx1"/>
                </a:solidFill>
              </a:rPr>
              <a:t>Алгоритъмът за пирамидално сортиране е:</a:t>
            </a:r>
            <a:br>
              <a:rPr lang="bg-BG" sz="2000">
                <a:solidFill>
                  <a:schemeClr val="tx1"/>
                </a:solidFill>
              </a:rPr>
            </a:br>
            <a:r>
              <a:rPr lang="bg-BG" sz="2000">
                <a:solidFill>
                  <a:schemeClr val="tx1"/>
                </a:solidFill>
              </a:rPr>
              <a:t>…</a:t>
            </a:r>
            <a:br>
              <a:rPr lang="bg-BG" sz="2000">
                <a:solidFill>
                  <a:schemeClr val="tx1"/>
                </a:solidFill>
              </a:rPr>
            </a:br>
            <a:r>
              <a:rPr lang="en-US" sz="2000" i="1">
                <a:solidFill>
                  <a:schemeClr val="tx1"/>
                </a:solidFill>
              </a:rPr>
              <a:t>build_heap()</a:t>
            </a:r>
            <a:br>
              <a:rPr lang="en-US" sz="2000" i="1">
                <a:solidFill>
                  <a:schemeClr val="tx1"/>
                </a:solidFill>
              </a:rPr>
            </a:br>
            <a:r>
              <a:rPr lang="en-US" sz="2000" i="1">
                <a:solidFill>
                  <a:schemeClr val="tx1"/>
                </a:solidFill>
              </a:rPr>
              <a:t>for (i=n; i&gt;=2; i--)</a:t>
            </a:r>
            <a:br>
              <a:rPr lang="en-US" sz="2000" i="1">
                <a:solidFill>
                  <a:schemeClr val="tx1"/>
                </a:solidFill>
              </a:rPr>
            </a:br>
            <a:r>
              <a:rPr lang="en-US" sz="2000" i="1">
                <a:solidFill>
                  <a:schemeClr val="tx1"/>
                </a:solidFill>
              </a:rPr>
              <a:t>{</a:t>
            </a:r>
            <a:br>
              <a:rPr lang="en-US" sz="2000" i="1">
                <a:solidFill>
                  <a:schemeClr val="tx1"/>
                </a:solidFill>
              </a:rPr>
            </a:br>
            <a:r>
              <a:rPr lang="en-US" sz="2000" i="1">
                <a:solidFill>
                  <a:schemeClr val="tx1"/>
                </a:solidFill>
              </a:rPr>
              <a:t>    rab=a[1]; a[1]=a[i]; a[i]=rab;</a:t>
            </a:r>
            <a:br>
              <a:rPr lang="en-US" sz="2000" i="1">
                <a:solidFill>
                  <a:schemeClr val="tx1"/>
                </a:solidFill>
              </a:rPr>
            </a:br>
            <a:r>
              <a:rPr lang="en-US" sz="2000" i="1">
                <a:solidFill>
                  <a:schemeClr val="tx1"/>
                </a:solidFill>
              </a:rPr>
              <a:t>    restore_heap(i-1);</a:t>
            </a:r>
            <a:br>
              <a:rPr lang="en-US" sz="2000" i="1">
                <a:solidFill>
                  <a:schemeClr val="tx1"/>
                </a:solidFill>
              </a:rPr>
            </a:br>
            <a:r>
              <a:rPr lang="en-US" sz="2000" i="1">
                <a:solidFill>
                  <a:schemeClr val="tx1"/>
                </a:solidFill>
              </a:rPr>
              <a:t> }</a:t>
            </a:r>
            <a:br>
              <a:rPr lang="en-US" sz="2000" i="1">
                <a:solidFill>
                  <a:schemeClr val="tx1"/>
                </a:solidFill>
              </a:rPr>
            </a:br>
            <a:r>
              <a:rPr lang="en-US" sz="2000">
                <a:solidFill>
                  <a:schemeClr val="tx1"/>
                </a:solidFill>
              </a:rPr>
              <a:t>…</a:t>
            </a:r>
            <a:br>
              <a:rPr lang="en-US" sz="2000">
                <a:solidFill>
                  <a:schemeClr val="tx1"/>
                </a:solidFill>
              </a:rPr>
            </a:br>
            <a:r>
              <a:rPr lang="bg-BG" sz="2000">
                <a:solidFill>
                  <a:schemeClr val="tx1"/>
                </a:solidFill>
              </a:rPr>
              <a:t>Как да изградим пирамидата?</a:t>
            </a:r>
            <a:br>
              <a:rPr lang="bg-BG" sz="2000">
                <a:solidFill>
                  <a:schemeClr val="tx1"/>
                </a:solidFill>
              </a:rPr>
            </a:br>
            <a:r>
              <a:rPr lang="bg-BG" sz="2000">
                <a:solidFill>
                  <a:schemeClr val="tx1"/>
                </a:solidFill>
              </a:rPr>
              <a:t>Нека </a:t>
            </a:r>
            <a:r>
              <a:rPr lang="en-US" sz="2000" b="1" i="1">
                <a:solidFill>
                  <a:schemeClr val="tx1"/>
                </a:solidFill>
              </a:rPr>
              <a:t>n</a:t>
            </a:r>
            <a:r>
              <a:rPr lang="en-US" sz="2000">
                <a:solidFill>
                  <a:schemeClr val="tx1"/>
                </a:solidFill>
              </a:rPr>
              <a:t> </a:t>
            </a:r>
            <a:r>
              <a:rPr lang="bg-BG" sz="2000">
                <a:solidFill>
                  <a:schemeClr val="tx1"/>
                </a:solidFill>
              </a:rPr>
              <a:t>да е четно. Тогава за елементите </a:t>
            </a:r>
            <a:r>
              <a:rPr lang="en-US" sz="2000" b="1" i="1">
                <a:solidFill>
                  <a:schemeClr val="tx1"/>
                </a:solidFill>
              </a:rPr>
              <a:t>a</a:t>
            </a:r>
            <a:r>
              <a:rPr lang="en-US" sz="2000">
                <a:solidFill>
                  <a:schemeClr val="tx1"/>
                </a:solidFill>
              </a:rPr>
              <a:t>[</a:t>
            </a:r>
            <a:r>
              <a:rPr lang="en-US" sz="2000" b="1" i="1">
                <a:solidFill>
                  <a:schemeClr val="tx1"/>
                </a:solidFill>
              </a:rPr>
              <a:t>n</a:t>
            </a:r>
            <a:r>
              <a:rPr lang="en-US" sz="2000">
                <a:solidFill>
                  <a:schemeClr val="tx1"/>
                </a:solidFill>
              </a:rPr>
              <a:t>/2+1], </a:t>
            </a:r>
            <a:r>
              <a:rPr lang="en-US" sz="2000" b="1" i="1">
                <a:solidFill>
                  <a:schemeClr val="tx1"/>
                </a:solidFill>
              </a:rPr>
              <a:t>a</a:t>
            </a:r>
            <a:r>
              <a:rPr lang="en-US" sz="2000">
                <a:solidFill>
                  <a:schemeClr val="tx1"/>
                </a:solidFill>
              </a:rPr>
              <a:t>[</a:t>
            </a:r>
            <a:r>
              <a:rPr lang="en-US" sz="2000" b="1" i="1">
                <a:solidFill>
                  <a:schemeClr val="tx1"/>
                </a:solidFill>
              </a:rPr>
              <a:t>n</a:t>
            </a:r>
            <a:r>
              <a:rPr lang="en-US" sz="2000">
                <a:solidFill>
                  <a:schemeClr val="tx1"/>
                </a:solidFill>
              </a:rPr>
              <a:t>/2+2], …, </a:t>
            </a:r>
            <a:r>
              <a:rPr lang="en-US" sz="2000" b="1" i="1">
                <a:solidFill>
                  <a:schemeClr val="tx1"/>
                </a:solidFill>
              </a:rPr>
              <a:t>a</a:t>
            </a:r>
            <a:r>
              <a:rPr lang="en-US" sz="2000">
                <a:solidFill>
                  <a:schemeClr val="tx1"/>
                </a:solidFill>
              </a:rPr>
              <a:t>[</a:t>
            </a:r>
            <a:r>
              <a:rPr lang="en-US" sz="2000" b="1" i="1">
                <a:solidFill>
                  <a:schemeClr val="tx1"/>
                </a:solidFill>
              </a:rPr>
              <a:t>n</a:t>
            </a:r>
            <a:r>
              <a:rPr lang="en-US" sz="2000">
                <a:solidFill>
                  <a:schemeClr val="tx1"/>
                </a:solidFill>
              </a:rPr>
              <a:t>] </a:t>
            </a:r>
            <a:r>
              <a:rPr lang="bg-BG" sz="2000">
                <a:solidFill>
                  <a:schemeClr val="tx1"/>
                </a:solidFill>
              </a:rPr>
              <a:t>не се изисква никакво съотношение за наредбата, т. к. за никои два елемента </a:t>
            </a:r>
            <a:r>
              <a:rPr lang="en-US" sz="2000">
                <a:solidFill>
                  <a:schemeClr val="tx1"/>
                </a:solidFill>
              </a:rPr>
              <a:t>i </a:t>
            </a:r>
            <a:r>
              <a:rPr lang="bg-BG" sz="2000">
                <a:solidFill>
                  <a:schemeClr val="tx1"/>
                </a:solidFill>
              </a:rPr>
              <a:t>и</a:t>
            </a:r>
            <a:r>
              <a:rPr lang="en-US" sz="2000">
                <a:solidFill>
                  <a:schemeClr val="tx1"/>
                </a:solidFill>
              </a:rPr>
              <a:t> j</a:t>
            </a:r>
            <a:r>
              <a:rPr lang="bg-BG" sz="2000">
                <a:solidFill>
                  <a:schemeClr val="tx1"/>
                </a:solidFill>
              </a:rPr>
              <a:t> не е изпълнено </a:t>
            </a:r>
            <a:r>
              <a:rPr lang="en-US" sz="2000">
                <a:solidFill>
                  <a:schemeClr val="tx1"/>
                </a:solidFill>
              </a:rPr>
              <a:t>j=2i</a:t>
            </a:r>
            <a:r>
              <a:rPr lang="bg-BG" sz="2000">
                <a:solidFill>
                  <a:schemeClr val="tx1"/>
                </a:solidFill>
              </a:rPr>
              <a:t> и</a:t>
            </a:r>
            <a:r>
              <a:rPr lang="en-US" sz="2000">
                <a:solidFill>
                  <a:schemeClr val="tx1"/>
                </a:solidFill>
              </a:rPr>
              <a:t> j=2i+1</a:t>
            </a:r>
            <a:r>
              <a:rPr lang="bg-BG" sz="2000">
                <a:solidFill>
                  <a:schemeClr val="tx1"/>
                </a:solidFill>
              </a:rPr>
              <a:t>. Те са листата и за тях не важат зададените правила. </a:t>
            </a:r>
            <a:endParaRPr lang="en-US" sz="2000">
              <a:solidFill>
                <a:schemeClr val="tx1"/>
              </a:solidFill>
            </a:endParaRPr>
          </a:p>
        </p:txBody>
      </p:sp>
      <p:grpSp>
        <p:nvGrpSpPr>
          <p:cNvPr id="44035" name="Group 3"/>
          <p:cNvGrpSpPr>
            <a:grpSpLocks/>
          </p:cNvGrpSpPr>
          <p:nvPr/>
        </p:nvGrpSpPr>
        <p:grpSpPr bwMode="auto">
          <a:xfrm>
            <a:off x="4826000" y="2586038"/>
            <a:ext cx="3962400" cy="1884362"/>
            <a:chOff x="1344" y="2448"/>
            <a:chExt cx="2776" cy="1392"/>
          </a:xfrm>
        </p:grpSpPr>
        <p:sp>
          <p:nvSpPr>
            <p:cNvPr id="44037" name="Oval 4"/>
            <p:cNvSpPr>
              <a:spLocks noChangeArrowheads="1"/>
            </p:cNvSpPr>
            <p:nvPr/>
          </p:nvSpPr>
          <p:spPr bwMode="auto">
            <a:xfrm>
              <a:off x="2640" y="2448"/>
              <a:ext cx="288" cy="288"/>
            </a:xfrm>
            <a:prstGeom prst="ellipse">
              <a:avLst/>
            </a:prstGeom>
            <a:noFill/>
            <a:ln w="9525">
              <a:solidFill>
                <a:schemeClr val="tx1"/>
              </a:solidFill>
              <a:round/>
              <a:headEnd/>
              <a:tailEnd/>
            </a:ln>
          </p:spPr>
          <p:txBody>
            <a:bodyPr wrap="none" anchor="ctr"/>
            <a:lstStyle/>
            <a:p>
              <a:endParaRPr lang="bg-BG"/>
            </a:p>
          </p:txBody>
        </p:sp>
        <p:sp>
          <p:nvSpPr>
            <p:cNvPr id="44038" name="Oval 5"/>
            <p:cNvSpPr>
              <a:spLocks noChangeArrowheads="1"/>
            </p:cNvSpPr>
            <p:nvPr/>
          </p:nvSpPr>
          <p:spPr bwMode="auto">
            <a:xfrm>
              <a:off x="3360" y="2736"/>
              <a:ext cx="288" cy="288"/>
            </a:xfrm>
            <a:prstGeom prst="ellipse">
              <a:avLst/>
            </a:prstGeom>
            <a:noFill/>
            <a:ln w="9525">
              <a:solidFill>
                <a:schemeClr val="tx1"/>
              </a:solidFill>
              <a:round/>
              <a:headEnd/>
              <a:tailEnd/>
            </a:ln>
          </p:spPr>
          <p:txBody>
            <a:bodyPr wrap="none" anchor="ctr"/>
            <a:lstStyle/>
            <a:p>
              <a:endParaRPr lang="bg-BG"/>
            </a:p>
          </p:txBody>
        </p:sp>
        <p:sp>
          <p:nvSpPr>
            <p:cNvPr id="44039" name="Oval 6"/>
            <p:cNvSpPr>
              <a:spLocks noChangeArrowheads="1"/>
            </p:cNvSpPr>
            <p:nvPr/>
          </p:nvSpPr>
          <p:spPr bwMode="auto">
            <a:xfrm>
              <a:off x="1776" y="3504"/>
              <a:ext cx="288" cy="288"/>
            </a:xfrm>
            <a:prstGeom prst="ellipse">
              <a:avLst/>
            </a:prstGeom>
            <a:noFill/>
            <a:ln w="9525">
              <a:solidFill>
                <a:schemeClr val="tx1"/>
              </a:solidFill>
              <a:round/>
              <a:headEnd/>
              <a:tailEnd/>
            </a:ln>
          </p:spPr>
          <p:txBody>
            <a:bodyPr wrap="none" anchor="ctr"/>
            <a:lstStyle/>
            <a:p>
              <a:endParaRPr lang="bg-BG"/>
            </a:p>
          </p:txBody>
        </p:sp>
        <p:sp>
          <p:nvSpPr>
            <p:cNvPr id="44040" name="Oval 7"/>
            <p:cNvSpPr>
              <a:spLocks noChangeArrowheads="1"/>
            </p:cNvSpPr>
            <p:nvPr/>
          </p:nvSpPr>
          <p:spPr bwMode="auto">
            <a:xfrm>
              <a:off x="1344" y="3504"/>
              <a:ext cx="288" cy="288"/>
            </a:xfrm>
            <a:prstGeom prst="ellipse">
              <a:avLst/>
            </a:prstGeom>
            <a:noFill/>
            <a:ln w="9525">
              <a:solidFill>
                <a:schemeClr val="tx1"/>
              </a:solidFill>
              <a:round/>
              <a:headEnd/>
              <a:tailEnd/>
            </a:ln>
          </p:spPr>
          <p:txBody>
            <a:bodyPr wrap="none" anchor="ctr"/>
            <a:lstStyle/>
            <a:p>
              <a:endParaRPr lang="bg-BG"/>
            </a:p>
          </p:txBody>
        </p:sp>
        <p:sp>
          <p:nvSpPr>
            <p:cNvPr id="44041" name="Oval 8"/>
            <p:cNvSpPr>
              <a:spLocks noChangeArrowheads="1"/>
            </p:cNvSpPr>
            <p:nvPr/>
          </p:nvSpPr>
          <p:spPr bwMode="auto">
            <a:xfrm>
              <a:off x="3216" y="3120"/>
              <a:ext cx="288" cy="288"/>
            </a:xfrm>
            <a:prstGeom prst="ellipse">
              <a:avLst/>
            </a:prstGeom>
            <a:noFill/>
            <a:ln w="9525">
              <a:solidFill>
                <a:schemeClr val="tx1"/>
              </a:solidFill>
              <a:round/>
              <a:headEnd/>
              <a:tailEnd/>
            </a:ln>
          </p:spPr>
          <p:txBody>
            <a:bodyPr wrap="none" anchor="ctr"/>
            <a:lstStyle/>
            <a:p>
              <a:endParaRPr lang="bg-BG"/>
            </a:p>
          </p:txBody>
        </p:sp>
        <p:sp>
          <p:nvSpPr>
            <p:cNvPr id="44042" name="Oval 9"/>
            <p:cNvSpPr>
              <a:spLocks noChangeArrowheads="1"/>
            </p:cNvSpPr>
            <p:nvPr/>
          </p:nvSpPr>
          <p:spPr bwMode="auto">
            <a:xfrm>
              <a:off x="2304" y="3072"/>
              <a:ext cx="288" cy="288"/>
            </a:xfrm>
            <a:prstGeom prst="ellipse">
              <a:avLst/>
            </a:prstGeom>
            <a:noFill/>
            <a:ln w="9525">
              <a:solidFill>
                <a:schemeClr val="tx1"/>
              </a:solidFill>
              <a:round/>
              <a:headEnd/>
              <a:tailEnd/>
            </a:ln>
          </p:spPr>
          <p:txBody>
            <a:bodyPr wrap="none" anchor="ctr"/>
            <a:lstStyle/>
            <a:p>
              <a:endParaRPr lang="bg-BG"/>
            </a:p>
          </p:txBody>
        </p:sp>
        <p:sp>
          <p:nvSpPr>
            <p:cNvPr id="44043" name="Oval 10"/>
            <p:cNvSpPr>
              <a:spLocks noChangeArrowheads="1"/>
            </p:cNvSpPr>
            <p:nvPr/>
          </p:nvSpPr>
          <p:spPr bwMode="auto">
            <a:xfrm>
              <a:off x="1632" y="3072"/>
              <a:ext cx="288" cy="288"/>
            </a:xfrm>
            <a:prstGeom prst="ellipse">
              <a:avLst/>
            </a:prstGeom>
            <a:noFill/>
            <a:ln w="9525">
              <a:solidFill>
                <a:schemeClr val="tx1"/>
              </a:solidFill>
              <a:round/>
              <a:headEnd/>
              <a:tailEnd/>
            </a:ln>
          </p:spPr>
          <p:txBody>
            <a:bodyPr wrap="none" anchor="ctr"/>
            <a:lstStyle/>
            <a:p>
              <a:endParaRPr lang="bg-BG"/>
            </a:p>
          </p:txBody>
        </p:sp>
        <p:sp>
          <p:nvSpPr>
            <p:cNvPr id="44044" name="Oval 11"/>
            <p:cNvSpPr>
              <a:spLocks noChangeArrowheads="1"/>
            </p:cNvSpPr>
            <p:nvPr/>
          </p:nvSpPr>
          <p:spPr bwMode="auto">
            <a:xfrm>
              <a:off x="1968" y="2784"/>
              <a:ext cx="288" cy="288"/>
            </a:xfrm>
            <a:prstGeom prst="ellipse">
              <a:avLst/>
            </a:prstGeom>
            <a:noFill/>
            <a:ln w="9525">
              <a:solidFill>
                <a:schemeClr val="tx1"/>
              </a:solidFill>
              <a:round/>
              <a:headEnd/>
              <a:tailEnd/>
            </a:ln>
          </p:spPr>
          <p:txBody>
            <a:bodyPr wrap="none" anchor="ctr"/>
            <a:lstStyle/>
            <a:p>
              <a:endParaRPr lang="bg-BG"/>
            </a:p>
          </p:txBody>
        </p:sp>
        <p:sp>
          <p:nvSpPr>
            <p:cNvPr id="44045" name="Oval 12"/>
            <p:cNvSpPr>
              <a:spLocks noChangeArrowheads="1"/>
            </p:cNvSpPr>
            <p:nvPr/>
          </p:nvSpPr>
          <p:spPr bwMode="auto">
            <a:xfrm>
              <a:off x="2160" y="3504"/>
              <a:ext cx="288" cy="288"/>
            </a:xfrm>
            <a:prstGeom prst="ellipse">
              <a:avLst/>
            </a:prstGeom>
            <a:noFill/>
            <a:ln w="9525">
              <a:solidFill>
                <a:schemeClr val="tx1"/>
              </a:solidFill>
              <a:round/>
              <a:headEnd/>
              <a:tailEnd/>
            </a:ln>
          </p:spPr>
          <p:txBody>
            <a:bodyPr wrap="none" anchor="ctr"/>
            <a:lstStyle/>
            <a:p>
              <a:endParaRPr lang="bg-BG"/>
            </a:p>
          </p:txBody>
        </p:sp>
        <p:sp>
          <p:nvSpPr>
            <p:cNvPr id="44046" name="Oval 13"/>
            <p:cNvSpPr>
              <a:spLocks noChangeArrowheads="1"/>
            </p:cNvSpPr>
            <p:nvPr/>
          </p:nvSpPr>
          <p:spPr bwMode="auto">
            <a:xfrm>
              <a:off x="3744" y="3120"/>
              <a:ext cx="288" cy="288"/>
            </a:xfrm>
            <a:prstGeom prst="ellipse">
              <a:avLst/>
            </a:prstGeom>
            <a:noFill/>
            <a:ln w="9525">
              <a:solidFill>
                <a:schemeClr val="tx1"/>
              </a:solidFill>
              <a:round/>
              <a:headEnd/>
              <a:tailEnd/>
            </a:ln>
          </p:spPr>
          <p:txBody>
            <a:bodyPr wrap="none" anchor="ctr"/>
            <a:lstStyle/>
            <a:p>
              <a:endParaRPr lang="bg-BG"/>
            </a:p>
          </p:txBody>
        </p:sp>
        <p:sp>
          <p:nvSpPr>
            <p:cNvPr id="44047" name="Oval 14"/>
            <p:cNvSpPr>
              <a:spLocks noChangeArrowheads="1"/>
            </p:cNvSpPr>
            <p:nvPr/>
          </p:nvSpPr>
          <p:spPr bwMode="auto">
            <a:xfrm>
              <a:off x="2544" y="3504"/>
              <a:ext cx="288" cy="288"/>
            </a:xfrm>
            <a:prstGeom prst="ellipse">
              <a:avLst/>
            </a:prstGeom>
            <a:noFill/>
            <a:ln w="9525">
              <a:solidFill>
                <a:schemeClr val="tx1"/>
              </a:solidFill>
              <a:round/>
              <a:headEnd/>
              <a:tailEnd/>
            </a:ln>
          </p:spPr>
          <p:txBody>
            <a:bodyPr wrap="none" anchor="ctr"/>
            <a:lstStyle/>
            <a:p>
              <a:endParaRPr lang="bg-BG"/>
            </a:p>
          </p:txBody>
        </p:sp>
        <p:sp>
          <p:nvSpPr>
            <p:cNvPr id="44048" name="Oval 15"/>
            <p:cNvSpPr>
              <a:spLocks noChangeArrowheads="1"/>
            </p:cNvSpPr>
            <p:nvPr/>
          </p:nvSpPr>
          <p:spPr bwMode="auto">
            <a:xfrm>
              <a:off x="3072" y="3504"/>
              <a:ext cx="288" cy="288"/>
            </a:xfrm>
            <a:prstGeom prst="ellipse">
              <a:avLst/>
            </a:prstGeom>
            <a:noFill/>
            <a:ln w="9525">
              <a:solidFill>
                <a:schemeClr val="tx1"/>
              </a:solidFill>
              <a:round/>
              <a:headEnd/>
              <a:tailEnd/>
            </a:ln>
          </p:spPr>
          <p:txBody>
            <a:bodyPr wrap="none" anchor="ctr"/>
            <a:lstStyle/>
            <a:p>
              <a:endParaRPr lang="bg-BG"/>
            </a:p>
          </p:txBody>
        </p:sp>
        <p:sp>
          <p:nvSpPr>
            <p:cNvPr id="44049" name="Line 16"/>
            <p:cNvSpPr>
              <a:spLocks noChangeShapeType="1"/>
            </p:cNvSpPr>
            <p:nvPr/>
          </p:nvSpPr>
          <p:spPr bwMode="auto">
            <a:xfrm flipH="1">
              <a:off x="2208" y="2640"/>
              <a:ext cx="432" cy="192"/>
            </a:xfrm>
            <a:prstGeom prst="line">
              <a:avLst/>
            </a:prstGeom>
            <a:noFill/>
            <a:ln w="9525">
              <a:solidFill>
                <a:schemeClr val="tx1"/>
              </a:solidFill>
              <a:round/>
              <a:headEnd/>
              <a:tailEnd/>
            </a:ln>
          </p:spPr>
          <p:txBody>
            <a:bodyPr wrap="none" anchor="ctr"/>
            <a:lstStyle/>
            <a:p>
              <a:endParaRPr lang="bg-BG"/>
            </a:p>
          </p:txBody>
        </p:sp>
        <p:sp>
          <p:nvSpPr>
            <p:cNvPr id="44050" name="Line 17"/>
            <p:cNvSpPr>
              <a:spLocks noChangeShapeType="1"/>
            </p:cNvSpPr>
            <p:nvPr/>
          </p:nvSpPr>
          <p:spPr bwMode="auto">
            <a:xfrm>
              <a:off x="2928" y="2640"/>
              <a:ext cx="432" cy="192"/>
            </a:xfrm>
            <a:prstGeom prst="line">
              <a:avLst/>
            </a:prstGeom>
            <a:noFill/>
            <a:ln w="9525">
              <a:solidFill>
                <a:schemeClr val="tx1"/>
              </a:solidFill>
              <a:round/>
              <a:headEnd/>
              <a:tailEnd/>
            </a:ln>
          </p:spPr>
          <p:txBody>
            <a:bodyPr wrap="none" anchor="ctr"/>
            <a:lstStyle/>
            <a:p>
              <a:endParaRPr lang="bg-BG"/>
            </a:p>
          </p:txBody>
        </p:sp>
        <p:sp>
          <p:nvSpPr>
            <p:cNvPr id="44051" name="Line 18"/>
            <p:cNvSpPr>
              <a:spLocks noChangeShapeType="1"/>
            </p:cNvSpPr>
            <p:nvPr/>
          </p:nvSpPr>
          <p:spPr bwMode="auto">
            <a:xfrm flipH="1">
              <a:off x="1872" y="3024"/>
              <a:ext cx="144" cy="96"/>
            </a:xfrm>
            <a:prstGeom prst="line">
              <a:avLst/>
            </a:prstGeom>
            <a:noFill/>
            <a:ln w="9525">
              <a:solidFill>
                <a:schemeClr val="tx1"/>
              </a:solidFill>
              <a:round/>
              <a:headEnd/>
              <a:tailEnd/>
            </a:ln>
          </p:spPr>
          <p:txBody>
            <a:bodyPr wrap="none" anchor="ctr"/>
            <a:lstStyle/>
            <a:p>
              <a:endParaRPr lang="bg-BG"/>
            </a:p>
          </p:txBody>
        </p:sp>
        <p:sp>
          <p:nvSpPr>
            <p:cNvPr id="44052" name="Line 19"/>
            <p:cNvSpPr>
              <a:spLocks noChangeShapeType="1"/>
            </p:cNvSpPr>
            <p:nvPr/>
          </p:nvSpPr>
          <p:spPr bwMode="auto">
            <a:xfrm flipH="1">
              <a:off x="1536" y="3320"/>
              <a:ext cx="144" cy="192"/>
            </a:xfrm>
            <a:prstGeom prst="line">
              <a:avLst/>
            </a:prstGeom>
            <a:noFill/>
            <a:ln w="9525">
              <a:solidFill>
                <a:schemeClr val="tx1"/>
              </a:solidFill>
              <a:round/>
              <a:headEnd/>
              <a:tailEnd/>
            </a:ln>
          </p:spPr>
          <p:txBody>
            <a:bodyPr wrap="none" anchor="ctr"/>
            <a:lstStyle/>
            <a:p>
              <a:endParaRPr lang="bg-BG"/>
            </a:p>
          </p:txBody>
        </p:sp>
        <p:sp>
          <p:nvSpPr>
            <p:cNvPr id="44053" name="Line 20"/>
            <p:cNvSpPr>
              <a:spLocks noChangeShapeType="1"/>
            </p:cNvSpPr>
            <p:nvPr/>
          </p:nvSpPr>
          <p:spPr bwMode="auto">
            <a:xfrm>
              <a:off x="1824" y="3360"/>
              <a:ext cx="96" cy="144"/>
            </a:xfrm>
            <a:prstGeom prst="line">
              <a:avLst/>
            </a:prstGeom>
            <a:noFill/>
            <a:ln w="9525">
              <a:solidFill>
                <a:schemeClr val="tx1"/>
              </a:solidFill>
              <a:round/>
              <a:headEnd/>
              <a:tailEnd/>
            </a:ln>
          </p:spPr>
          <p:txBody>
            <a:bodyPr wrap="none" anchor="ctr"/>
            <a:lstStyle/>
            <a:p>
              <a:endParaRPr lang="bg-BG"/>
            </a:p>
          </p:txBody>
        </p:sp>
        <p:sp>
          <p:nvSpPr>
            <p:cNvPr id="44054" name="Line 21"/>
            <p:cNvSpPr>
              <a:spLocks noChangeShapeType="1"/>
            </p:cNvSpPr>
            <p:nvPr/>
          </p:nvSpPr>
          <p:spPr bwMode="auto">
            <a:xfrm>
              <a:off x="2208" y="3024"/>
              <a:ext cx="144" cy="96"/>
            </a:xfrm>
            <a:prstGeom prst="line">
              <a:avLst/>
            </a:prstGeom>
            <a:noFill/>
            <a:ln w="9525">
              <a:solidFill>
                <a:schemeClr val="tx1"/>
              </a:solidFill>
              <a:round/>
              <a:headEnd/>
              <a:tailEnd/>
            </a:ln>
          </p:spPr>
          <p:txBody>
            <a:bodyPr wrap="none" anchor="ctr"/>
            <a:lstStyle/>
            <a:p>
              <a:endParaRPr lang="bg-BG"/>
            </a:p>
          </p:txBody>
        </p:sp>
        <p:sp>
          <p:nvSpPr>
            <p:cNvPr id="44055" name="Line 22"/>
            <p:cNvSpPr>
              <a:spLocks noChangeShapeType="1"/>
            </p:cNvSpPr>
            <p:nvPr/>
          </p:nvSpPr>
          <p:spPr bwMode="auto">
            <a:xfrm flipH="1">
              <a:off x="2352" y="3360"/>
              <a:ext cx="48" cy="144"/>
            </a:xfrm>
            <a:prstGeom prst="line">
              <a:avLst/>
            </a:prstGeom>
            <a:noFill/>
            <a:ln w="9525">
              <a:solidFill>
                <a:schemeClr val="tx1"/>
              </a:solidFill>
              <a:round/>
              <a:headEnd/>
              <a:tailEnd/>
            </a:ln>
          </p:spPr>
          <p:txBody>
            <a:bodyPr wrap="none" anchor="ctr"/>
            <a:lstStyle/>
            <a:p>
              <a:endParaRPr lang="bg-BG"/>
            </a:p>
          </p:txBody>
        </p:sp>
        <p:sp>
          <p:nvSpPr>
            <p:cNvPr id="44056" name="Line 23"/>
            <p:cNvSpPr>
              <a:spLocks noChangeShapeType="1"/>
            </p:cNvSpPr>
            <p:nvPr/>
          </p:nvSpPr>
          <p:spPr bwMode="auto">
            <a:xfrm>
              <a:off x="2564" y="3320"/>
              <a:ext cx="96" cy="202"/>
            </a:xfrm>
            <a:prstGeom prst="line">
              <a:avLst/>
            </a:prstGeom>
            <a:noFill/>
            <a:ln w="9525">
              <a:solidFill>
                <a:schemeClr val="tx1"/>
              </a:solidFill>
              <a:round/>
              <a:headEnd/>
              <a:tailEnd/>
            </a:ln>
          </p:spPr>
          <p:txBody>
            <a:bodyPr wrap="none" anchor="ctr"/>
            <a:lstStyle/>
            <a:p>
              <a:endParaRPr lang="bg-BG"/>
            </a:p>
          </p:txBody>
        </p:sp>
        <p:sp>
          <p:nvSpPr>
            <p:cNvPr id="44057" name="Line 24"/>
            <p:cNvSpPr>
              <a:spLocks noChangeShapeType="1"/>
            </p:cNvSpPr>
            <p:nvPr/>
          </p:nvSpPr>
          <p:spPr bwMode="auto">
            <a:xfrm flipH="1">
              <a:off x="3408" y="3024"/>
              <a:ext cx="48" cy="96"/>
            </a:xfrm>
            <a:prstGeom prst="line">
              <a:avLst/>
            </a:prstGeom>
            <a:noFill/>
            <a:ln w="9525">
              <a:solidFill>
                <a:schemeClr val="tx1"/>
              </a:solidFill>
              <a:round/>
              <a:headEnd/>
              <a:tailEnd/>
            </a:ln>
          </p:spPr>
          <p:txBody>
            <a:bodyPr wrap="none" anchor="ctr"/>
            <a:lstStyle/>
            <a:p>
              <a:endParaRPr lang="bg-BG"/>
            </a:p>
          </p:txBody>
        </p:sp>
        <p:sp>
          <p:nvSpPr>
            <p:cNvPr id="44058" name="Line 25"/>
            <p:cNvSpPr>
              <a:spLocks noChangeShapeType="1"/>
            </p:cNvSpPr>
            <p:nvPr/>
          </p:nvSpPr>
          <p:spPr bwMode="auto">
            <a:xfrm flipH="1">
              <a:off x="3264" y="3408"/>
              <a:ext cx="48" cy="96"/>
            </a:xfrm>
            <a:prstGeom prst="line">
              <a:avLst/>
            </a:prstGeom>
            <a:noFill/>
            <a:ln w="9525">
              <a:solidFill>
                <a:schemeClr val="tx1"/>
              </a:solidFill>
              <a:round/>
              <a:headEnd/>
              <a:tailEnd/>
            </a:ln>
          </p:spPr>
          <p:txBody>
            <a:bodyPr wrap="none" anchor="ctr"/>
            <a:lstStyle/>
            <a:p>
              <a:endParaRPr lang="bg-BG"/>
            </a:p>
          </p:txBody>
        </p:sp>
        <p:sp>
          <p:nvSpPr>
            <p:cNvPr id="44059" name="Line 26"/>
            <p:cNvSpPr>
              <a:spLocks noChangeShapeType="1"/>
            </p:cNvSpPr>
            <p:nvPr/>
          </p:nvSpPr>
          <p:spPr bwMode="auto">
            <a:xfrm>
              <a:off x="3600" y="2976"/>
              <a:ext cx="192" cy="192"/>
            </a:xfrm>
            <a:prstGeom prst="line">
              <a:avLst/>
            </a:prstGeom>
            <a:noFill/>
            <a:ln w="9525">
              <a:solidFill>
                <a:schemeClr val="tx1"/>
              </a:solidFill>
              <a:round/>
              <a:headEnd/>
              <a:tailEnd/>
            </a:ln>
          </p:spPr>
          <p:txBody>
            <a:bodyPr wrap="none" anchor="ctr"/>
            <a:lstStyle/>
            <a:p>
              <a:endParaRPr lang="bg-BG"/>
            </a:p>
          </p:txBody>
        </p:sp>
        <p:sp>
          <p:nvSpPr>
            <p:cNvPr id="44060" name="Text Box 27"/>
            <p:cNvSpPr txBox="1">
              <a:spLocks noChangeArrowheads="1"/>
            </p:cNvSpPr>
            <p:nvPr/>
          </p:nvSpPr>
          <p:spPr bwMode="auto">
            <a:xfrm>
              <a:off x="2637" y="2448"/>
              <a:ext cx="385" cy="338"/>
            </a:xfrm>
            <a:prstGeom prst="rect">
              <a:avLst/>
            </a:prstGeom>
            <a:noFill/>
            <a:ln w="9525">
              <a:noFill/>
              <a:miter lim="800000"/>
              <a:headEnd/>
              <a:tailEnd/>
            </a:ln>
          </p:spPr>
          <p:txBody>
            <a:bodyPr>
              <a:spAutoFit/>
            </a:bodyPr>
            <a:lstStyle/>
            <a:p>
              <a:pPr algn="l">
                <a:spcBef>
                  <a:spcPct val="50000"/>
                </a:spcBef>
              </a:pPr>
              <a:r>
                <a:rPr lang="en-US"/>
                <a:t>5</a:t>
              </a:r>
              <a:r>
                <a:rPr lang="bg-BG"/>
                <a:t>1</a:t>
              </a:r>
              <a:endParaRPr lang="en-US"/>
            </a:p>
          </p:txBody>
        </p:sp>
        <p:sp>
          <p:nvSpPr>
            <p:cNvPr id="44061" name="Text Box 28"/>
            <p:cNvSpPr txBox="1">
              <a:spLocks noChangeArrowheads="1"/>
            </p:cNvSpPr>
            <p:nvPr/>
          </p:nvSpPr>
          <p:spPr bwMode="auto">
            <a:xfrm>
              <a:off x="1383" y="3497"/>
              <a:ext cx="286" cy="338"/>
            </a:xfrm>
            <a:prstGeom prst="rect">
              <a:avLst/>
            </a:prstGeom>
            <a:noFill/>
            <a:ln w="9525">
              <a:noFill/>
              <a:miter lim="800000"/>
              <a:headEnd/>
              <a:tailEnd/>
            </a:ln>
          </p:spPr>
          <p:txBody>
            <a:bodyPr>
              <a:spAutoFit/>
            </a:bodyPr>
            <a:lstStyle/>
            <a:p>
              <a:pPr algn="l">
                <a:spcBef>
                  <a:spcPct val="50000"/>
                </a:spcBef>
              </a:pPr>
              <a:r>
                <a:rPr lang="en-US">
                  <a:solidFill>
                    <a:srgbClr val="FF0000"/>
                  </a:solidFill>
                </a:rPr>
                <a:t>3</a:t>
              </a:r>
              <a:endParaRPr lang="en-US"/>
            </a:p>
          </p:txBody>
        </p:sp>
        <p:sp>
          <p:nvSpPr>
            <p:cNvPr id="44062" name="Text Box 29"/>
            <p:cNvSpPr txBox="1">
              <a:spLocks noChangeArrowheads="1"/>
            </p:cNvSpPr>
            <p:nvPr/>
          </p:nvSpPr>
          <p:spPr bwMode="auto">
            <a:xfrm>
              <a:off x="2583" y="3494"/>
              <a:ext cx="288" cy="338"/>
            </a:xfrm>
            <a:prstGeom prst="rect">
              <a:avLst/>
            </a:prstGeom>
            <a:noFill/>
            <a:ln w="9525">
              <a:noFill/>
              <a:miter lim="800000"/>
              <a:headEnd/>
              <a:tailEnd/>
            </a:ln>
          </p:spPr>
          <p:txBody>
            <a:bodyPr>
              <a:spAutoFit/>
            </a:bodyPr>
            <a:lstStyle/>
            <a:p>
              <a:pPr algn="l">
                <a:spcBef>
                  <a:spcPct val="50000"/>
                </a:spcBef>
              </a:pPr>
              <a:r>
                <a:rPr lang="en-US">
                  <a:solidFill>
                    <a:srgbClr val="FF0000"/>
                  </a:solidFill>
                </a:rPr>
                <a:t>3</a:t>
              </a:r>
              <a:endParaRPr lang="en-US"/>
            </a:p>
          </p:txBody>
        </p:sp>
        <p:sp>
          <p:nvSpPr>
            <p:cNvPr id="44063" name="Text Box 30"/>
            <p:cNvSpPr txBox="1">
              <a:spLocks noChangeArrowheads="1"/>
            </p:cNvSpPr>
            <p:nvPr/>
          </p:nvSpPr>
          <p:spPr bwMode="auto">
            <a:xfrm>
              <a:off x="1826" y="3494"/>
              <a:ext cx="288" cy="338"/>
            </a:xfrm>
            <a:prstGeom prst="rect">
              <a:avLst/>
            </a:prstGeom>
            <a:noFill/>
            <a:ln w="9525">
              <a:noFill/>
              <a:miter lim="800000"/>
              <a:headEnd/>
              <a:tailEnd/>
            </a:ln>
          </p:spPr>
          <p:txBody>
            <a:bodyPr>
              <a:spAutoFit/>
            </a:bodyPr>
            <a:lstStyle/>
            <a:p>
              <a:pPr algn="l">
                <a:spcBef>
                  <a:spcPct val="50000"/>
                </a:spcBef>
              </a:pPr>
              <a:r>
                <a:rPr lang="en-US">
                  <a:solidFill>
                    <a:srgbClr val="FF0000"/>
                  </a:solidFill>
                </a:rPr>
                <a:t>7</a:t>
              </a:r>
              <a:endParaRPr lang="en-US"/>
            </a:p>
          </p:txBody>
        </p:sp>
        <p:sp>
          <p:nvSpPr>
            <p:cNvPr id="44064" name="Text Box 31"/>
            <p:cNvSpPr txBox="1">
              <a:spLocks noChangeArrowheads="1"/>
            </p:cNvSpPr>
            <p:nvPr/>
          </p:nvSpPr>
          <p:spPr bwMode="auto">
            <a:xfrm>
              <a:off x="1632" y="3071"/>
              <a:ext cx="384" cy="338"/>
            </a:xfrm>
            <a:prstGeom prst="rect">
              <a:avLst/>
            </a:prstGeom>
            <a:noFill/>
            <a:ln w="9525">
              <a:noFill/>
              <a:miter lim="800000"/>
              <a:headEnd/>
              <a:tailEnd/>
            </a:ln>
          </p:spPr>
          <p:txBody>
            <a:bodyPr>
              <a:spAutoFit/>
            </a:bodyPr>
            <a:lstStyle/>
            <a:p>
              <a:pPr algn="l">
                <a:spcBef>
                  <a:spcPct val="50000"/>
                </a:spcBef>
              </a:pPr>
              <a:r>
                <a:rPr lang="en-US"/>
                <a:t>1</a:t>
              </a:r>
              <a:r>
                <a:rPr lang="bg-BG"/>
                <a:t>1</a:t>
              </a:r>
              <a:endParaRPr lang="en-US"/>
            </a:p>
          </p:txBody>
        </p:sp>
        <p:sp>
          <p:nvSpPr>
            <p:cNvPr id="44065" name="Text Box 32"/>
            <p:cNvSpPr txBox="1">
              <a:spLocks noChangeArrowheads="1"/>
            </p:cNvSpPr>
            <p:nvPr/>
          </p:nvSpPr>
          <p:spPr bwMode="auto">
            <a:xfrm>
              <a:off x="2160" y="3502"/>
              <a:ext cx="384" cy="338"/>
            </a:xfrm>
            <a:prstGeom prst="rect">
              <a:avLst/>
            </a:prstGeom>
            <a:noFill/>
            <a:ln w="9525">
              <a:noFill/>
              <a:miter lim="800000"/>
              <a:headEnd/>
              <a:tailEnd/>
            </a:ln>
          </p:spPr>
          <p:txBody>
            <a:bodyPr>
              <a:spAutoFit/>
            </a:bodyPr>
            <a:lstStyle/>
            <a:p>
              <a:pPr algn="l">
                <a:spcBef>
                  <a:spcPct val="50000"/>
                </a:spcBef>
              </a:pPr>
              <a:r>
                <a:rPr lang="en-US">
                  <a:solidFill>
                    <a:srgbClr val="FF0000"/>
                  </a:solidFill>
                </a:rPr>
                <a:t>1</a:t>
              </a:r>
              <a:r>
                <a:rPr lang="bg-BG">
                  <a:solidFill>
                    <a:srgbClr val="FF0000"/>
                  </a:solidFill>
                </a:rPr>
                <a:t>9</a:t>
              </a:r>
              <a:endParaRPr lang="en-US"/>
            </a:p>
          </p:txBody>
        </p:sp>
        <p:sp>
          <p:nvSpPr>
            <p:cNvPr id="44066" name="Text Box 33"/>
            <p:cNvSpPr txBox="1">
              <a:spLocks noChangeArrowheads="1"/>
            </p:cNvSpPr>
            <p:nvPr/>
          </p:nvSpPr>
          <p:spPr bwMode="auto">
            <a:xfrm>
              <a:off x="2304" y="3071"/>
              <a:ext cx="384" cy="338"/>
            </a:xfrm>
            <a:prstGeom prst="rect">
              <a:avLst/>
            </a:prstGeom>
            <a:noFill/>
            <a:ln w="9525">
              <a:noFill/>
              <a:miter lim="800000"/>
              <a:headEnd/>
              <a:tailEnd/>
            </a:ln>
          </p:spPr>
          <p:txBody>
            <a:bodyPr>
              <a:spAutoFit/>
            </a:bodyPr>
            <a:lstStyle/>
            <a:p>
              <a:pPr algn="l">
                <a:spcBef>
                  <a:spcPct val="50000"/>
                </a:spcBef>
              </a:pPr>
              <a:r>
                <a:rPr lang="en-US"/>
                <a:t>3</a:t>
              </a:r>
              <a:r>
                <a:rPr lang="bg-BG"/>
                <a:t>7</a:t>
              </a:r>
              <a:endParaRPr lang="en-US"/>
            </a:p>
          </p:txBody>
        </p:sp>
        <p:sp>
          <p:nvSpPr>
            <p:cNvPr id="44067" name="Text Box 34"/>
            <p:cNvSpPr txBox="1">
              <a:spLocks noChangeArrowheads="1"/>
            </p:cNvSpPr>
            <p:nvPr/>
          </p:nvSpPr>
          <p:spPr bwMode="auto">
            <a:xfrm>
              <a:off x="1970" y="2773"/>
              <a:ext cx="384" cy="338"/>
            </a:xfrm>
            <a:prstGeom prst="rect">
              <a:avLst/>
            </a:prstGeom>
            <a:noFill/>
            <a:ln w="9525">
              <a:noFill/>
              <a:miter lim="800000"/>
              <a:headEnd/>
              <a:tailEnd/>
            </a:ln>
          </p:spPr>
          <p:txBody>
            <a:bodyPr>
              <a:spAutoFit/>
            </a:bodyPr>
            <a:lstStyle/>
            <a:p>
              <a:pPr algn="l">
                <a:spcBef>
                  <a:spcPct val="50000"/>
                </a:spcBef>
              </a:pPr>
              <a:r>
                <a:rPr lang="en-US"/>
                <a:t>4</a:t>
              </a:r>
              <a:r>
                <a:rPr lang="bg-BG"/>
                <a:t>2</a:t>
              </a:r>
              <a:endParaRPr lang="en-US"/>
            </a:p>
          </p:txBody>
        </p:sp>
        <p:sp>
          <p:nvSpPr>
            <p:cNvPr id="44068" name="Text Box 35"/>
            <p:cNvSpPr txBox="1">
              <a:spLocks noChangeArrowheads="1"/>
            </p:cNvSpPr>
            <p:nvPr/>
          </p:nvSpPr>
          <p:spPr bwMode="auto">
            <a:xfrm>
              <a:off x="3358" y="2727"/>
              <a:ext cx="384" cy="338"/>
            </a:xfrm>
            <a:prstGeom prst="rect">
              <a:avLst/>
            </a:prstGeom>
            <a:noFill/>
            <a:ln w="9525">
              <a:noFill/>
              <a:miter lim="800000"/>
              <a:headEnd/>
              <a:tailEnd/>
            </a:ln>
          </p:spPr>
          <p:txBody>
            <a:bodyPr>
              <a:spAutoFit/>
            </a:bodyPr>
            <a:lstStyle/>
            <a:p>
              <a:pPr algn="l">
                <a:spcBef>
                  <a:spcPct val="50000"/>
                </a:spcBef>
              </a:pPr>
              <a:r>
                <a:rPr lang="en-US"/>
                <a:t>3</a:t>
              </a:r>
              <a:r>
                <a:rPr lang="bg-BG"/>
                <a:t>3</a:t>
              </a:r>
              <a:endParaRPr lang="en-US"/>
            </a:p>
          </p:txBody>
        </p:sp>
        <p:sp>
          <p:nvSpPr>
            <p:cNvPr id="44069" name="Text Box 36"/>
            <p:cNvSpPr txBox="1">
              <a:spLocks noChangeArrowheads="1"/>
            </p:cNvSpPr>
            <p:nvPr/>
          </p:nvSpPr>
          <p:spPr bwMode="auto">
            <a:xfrm>
              <a:off x="3216" y="3120"/>
              <a:ext cx="384" cy="338"/>
            </a:xfrm>
            <a:prstGeom prst="rect">
              <a:avLst/>
            </a:prstGeom>
            <a:noFill/>
            <a:ln w="9525">
              <a:noFill/>
              <a:miter lim="800000"/>
              <a:headEnd/>
              <a:tailEnd/>
            </a:ln>
          </p:spPr>
          <p:txBody>
            <a:bodyPr>
              <a:spAutoFit/>
            </a:bodyPr>
            <a:lstStyle/>
            <a:p>
              <a:pPr algn="l">
                <a:spcBef>
                  <a:spcPct val="50000"/>
                </a:spcBef>
              </a:pPr>
              <a:r>
                <a:rPr lang="en-US"/>
                <a:t>2</a:t>
              </a:r>
              <a:r>
                <a:rPr lang="bg-BG"/>
                <a:t>7</a:t>
              </a:r>
              <a:endParaRPr lang="en-US"/>
            </a:p>
          </p:txBody>
        </p:sp>
        <p:sp>
          <p:nvSpPr>
            <p:cNvPr id="44070" name="Text Box 37"/>
            <p:cNvSpPr txBox="1">
              <a:spLocks noChangeArrowheads="1"/>
            </p:cNvSpPr>
            <p:nvPr/>
          </p:nvSpPr>
          <p:spPr bwMode="auto">
            <a:xfrm>
              <a:off x="3075" y="3502"/>
              <a:ext cx="383" cy="338"/>
            </a:xfrm>
            <a:prstGeom prst="rect">
              <a:avLst/>
            </a:prstGeom>
            <a:noFill/>
            <a:ln w="9525">
              <a:noFill/>
              <a:miter lim="800000"/>
              <a:headEnd/>
              <a:tailEnd/>
            </a:ln>
          </p:spPr>
          <p:txBody>
            <a:bodyPr>
              <a:spAutoFit/>
            </a:bodyPr>
            <a:lstStyle/>
            <a:p>
              <a:pPr algn="l">
                <a:spcBef>
                  <a:spcPct val="50000"/>
                </a:spcBef>
              </a:pPr>
              <a:r>
                <a:rPr lang="en-US">
                  <a:solidFill>
                    <a:srgbClr val="FF0000"/>
                  </a:solidFill>
                </a:rPr>
                <a:t>5</a:t>
              </a:r>
              <a:r>
                <a:rPr lang="bg-BG">
                  <a:solidFill>
                    <a:srgbClr val="FF0000"/>
                  </a:solidFill>
                </a:rPr>
                <a:t>7</a:t>
              </a:r>
              <a:endParaRPr lang="en-US"/>
            </a:p>
          </p:txBody>
        </p:sp>
        <p:sp>
          <p:nvSpPr>
            <p:cNvPr id="44071" name="Text Box 38"/>
            <p:cNvSpPr txBox="1">
              <a:spLocks noChangeArrowheads="1"/>
            </p:cNvSpPr>
            <p:nvPr/>
          </p:nvSpPr>
          <p:spPr bwMode="auto">
            <a:xfrm>
              <a:off x="3736" y="3111"/>
              <a:ext cx="384" cy="337"/>
            </a:xfrm>
            <a:prstGeom prst="rect">
              <a:avLst/>
            </a:prstGeom>
            <a:noFill/>
            <a:ln w="9525">
              <a:noFill/>
              <a:miter lim="800000"/>
              <a:headEnd/>
              <a:tailEnd/>
            </a:ln>
          </p:spPr>
          <p:txBody>
            <a:bodyPr>
              <a:spAutoFit/>
            </a:bodyPr>
            <a:lstStyle/>
            <a:p>
              <a:pPr algn="l">
                <a:spcBef>
                  <a:spcPct val="50000"/>
                </a:spcBef>
              </a:pPr>
              <a:r>
                <a:rPr lang="en-US"/>
                <a:t>2</a:t>
              </a:r>
              <a:r>
                <a:rPr lang="bg-BG"/>
                <a:t>9</a:t>
              </a:r>
              <a:endParaRPr lang="en-US"/>
            </a:p>
          </p:txBody>
        </p:sp>
      </p:grpSp>
      <p:sp>
        <p:nvSpPr>
          <p:cNvPr id="41" name="Slide Number Placeholder 40"/>
          <p:cNvSpPr>
            <a:spLocks noGrp="1"/>
          </p:cNvSpPr>
          <p:nvPr>
            <p:ph type="sldNum" sz="quarter" idx="12"/>
          </p:nvPr>
        </p:nvSpPr>
        <p:spPr/>
        <p:txBody>
          <a:bodyPr/>
          <a:lstStyle/>
          <a:p>
            <a:pPr>
              <a:defRPr/>
            </a:pPr>
            <a:fld id="{26102B86-B129-486A-A5A0-469119FF6E34}" type="slidenum">
              <a:rPr lang="en-US"/>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971550" y="188913"/>
            <a:ext cx="8015288" cy="6400800"/>
          </a:xfrm>
        </p:spPr>
        <p:txBody>
          <a:bodyPr>
            <a:normAutofit fontScale="90000"/>
          </a:bodyPr>
          <a:lstStyle/>
          <a:p>
            <a:pPr eaLnBrk="1" fontAlgn="auto" hangingPunct="1">
              <a:spcAft>
                <a:spcPts val="0"/>
              </a:spcAft>
              <a:defRPr/>
            </a:pPr>
            <a:r>
              <a:rPr lang="bg-BG" sz="2000">
                <a:solidFill>
                  <a:schemeClr val="tx1"/>
                </a:solidFill>
              </a:rPr>
              <a:t>Нека да разширим пирамидата  отляво с един елемент. Новодобавеният елемент </a:t>
            </a:r>
            <a:r>
              <a:rPr lang="bg-BG" sz="2000" b="1" i="1">
                <a:solidFill>
                  <a:schemeClr val="tx1"/>
                </a:solidFill>
              </a:rPr>
              <a:t>х</a:t>
            </a:r>
            <a:r>
              <a:rPr lang="bg-BG" sz="2000">
                <a:solidFill>
                  <a:schemeClr val="tx1"/>
                </a:solidFill>
              </a:rPr>
              <a:t> ще бъде от предпоследното ниво и ще има поне един наследник. Трябва да се проверят съотношенията и при необходимост </a:t>
            </a:r>
            <a:r>
              <a:rPr lang="bg-BG" sz="2000" b="1" i="1">
                <a:solidFill>
                  <a:schemeClr val="tx1"/>
                </a:solidFill>
              </a:rPr>
              <a:t>х </a:t>
            </a:r>
            <a:r>
              <a:rPr lang="bg-BG" sz="2000">
                <a:solidFill>
                  <a:schemeClr val="tx1"/>
                </a:solidFill>
              </a:rPr>
              <a:t>да</a:t>
            </a:r>
            <a:r>
              <a:rPr lang="bg-BG" sz="2000" b="1" i="1">
                <a:solidFill>
                  <a:schemeClr val="tx1"/>
                </a:solidFill>
              </a:rPr>
              <a:t> </a:t>
            </a:r>
            <a:r>
              <a:rPr lang="bg-BG" sz="2000">
                <a:solidFill>
                  <a:schemeClr val="tx1"/>
                </a:solidFill>
              </a:rPr>
              <a:t>се размени с един от своите наследници.</a:t>
            </a:r>
            <a:r>
              <a:rPr lang="bg-BG" sz="2000" b="1" i="1">
                <a:solidFill>
                  <a:schemeClr val="tx1"/>
                </a:solidFill>
              </a:rPr>
              <a:t> </a:t>
            </a:r>
            <a:br>
              <a:rPr lang="bg-BG" sz="2000" b="1" i="1">
                <a:solidFill>
                  <a:schemeClr val="tx1"/>
                </a:solidFill>
              </a:rPr>
            </a:br>
            <a:r>
              <a:rPr lang="bg-BG" sz="2000" b="1" i="1">
                <a:solidFill>
                  <a:schemeClr val="tx1"/>
                </a:solidFill>
              </a:rPr>
              <a:t/>
            </a:r>
            <a:br>
              <a:rPr lang="bg-BG" sz="2000" b="1" i="1">
                <a:solidFill>
                  <a:schemeClr val="tx1"/>
                </a:solidFill>
              </a:rPr>
            </a:br>
            <a:r>
              <a:rPr lang="bg-BG" sz="2000" b="1" i="1">
                <a:solidFill>
                  <a:schemeClr val="tx1"/>
                </a:solidFill>
              </a:rPr>
              <a:t/>
            </a:r>
            <a:br>
              <a:rPr lang="bg-BG" sz="2000" b="1" i="1">
                <a:solidFill>
                  <a:schemeClr val="tx1"/>
                </a:solidFill>
              </a:rPr>
            </a:br>
            <a:r>
              <a:rPr lang="bg-BG" sz="2000" b="1" i="1">
                <a:solidFill>
                  <a:schemeClr val="tx1"/>
                </a:solidFill>
              </a:rPr>
              <a:t/>
            </a:r>
            <a:br>
              <a:rPr lang="bg-BG" sz="2000" b="1" i="1">
                <a:solidFill>
                  <a:schemeClr val="tx1"/>
                </a:solidFill>
              </a:rPr>
            </a:br>
            <a:r>
              <a:rPr lang="bg-BG" sz="2000" b="1" i="1">
                <a:solidFill>
                  <a:schemeClr val="tx1"/>
                </a:solidFill>
              </a:rPr>
              <a:t/>
            </a:r>
            <a:br>
              <a:rPr lang="bg-BG" sz="2000" b="1" i="1">
                <a:solidFill>
                  <a:schemeClr val="tx1"/>
                </a:solidFill>
              </a:rPr>
            </a:br>
            <a:r>
              <a:rPr lang="bg-BG" sz="2000" b="1" i="1">
                <a:solidFill>
                  <a:schemeClr val="tx1"/>
                </a:solidFill>
              </a:rPr>
              <a:t/>
            </a:r>
            <a:br>
              <a:rPr lang="bg-BG" sz="2000" b="1" i="1">
                <a:solidFill>
                  <a:schemeClr val="tx1"/>
                </a:solidFill>
              </a:rPr>
            </a:br>
            <a:r>
              <a:rPr lang="bg-BG" sz="2000" b="1" i="1">
                <a:solidFill>
                  <a:schemeClr val="tx1"/>
                </a:solidFill>
              </a:rPr>
              <a:t/>
            </a:r>
            <a:br>
              <a:rPr lang="bg-BG" sz="2000" b="1" i="1">
                <a:solidFill>
                  <a:schemeClr val="tx1"/>
                </a:solidFill>
              </a:rPr>
            </a:br>
            <a:r>
              <a:rPr lang="bg-BG" sz="2000" b="1" i="1">
                <a:solidFill>
                  <a:schemeClr val="tx1"/>
                </a:solidFill>
              </a:rPr>
              <a:t/>
            </a:r>
            <a:br>
              <a:rPr lang="bg-BG" sz="2000" b="1" i="1">
                <a:solidFill>
                  <a:schemeClr val="tx1"/>
                </a:solidFill>
              </a:rPr>
            </a:br>
            <a:r>
              <a:rPr lang="bg-BG" sz="2000">
                <a:solidFill>
                  <a:schemeClr val="tx1"/>
                </a:solidFill>
              </a:rPr>
              <a:t>Сега елементите</a:t>
            </a:r>
            <a:r>
              <a:rPr lang="bg-BG" sz="2000" b="1" i="1">
                <a:solidFill>
                  <a:schemeClr val="tx1"/>
                </a:solidFill>
              </a:rPr>
              <a:t> </a:t>
            </a:r>
            <a:r>
              <a:rPr lang="en-US" sz="2000" b="1" i="1">
                <a:solidFill>
                  <a:schemeClr val="tx1"/>
                </a:solidFill>
              </a:rPr>
              <a:t>a</a:t>
            </a:r>
            <a:r>
              <a:rPr lang="en-US" sz="2000">
                <a:solidFill>
                  <a:schemeClr val="tx1"/>
                </a:solidFill>
              </a:rPr>
              <a:t>[</a:t>
            </a:r>
            <a:r>
              <a:rPr lang="en-US" sz="2000" b="1" i="1">
                <a:solidFill>
                  <a:schemeClr val="tx1"/>
                </a:solidFill>
              </a:rPr>
              <a:t>n</a:t>
            </a:r>
            <a:r>
              <a:rPr lang="en-US" sz="2000">
                <a:solidFill>
                  <a:schemeClr val="tx1"/>
                </a:solidFill>
              </a:rPr>
              <a:t>/2], </a:t>
            </a:r>
            <a:r>
              <a:rPr lang="en-US" sz="2000" b="1" i="1">
                <a:solidFill>
                  <a:schemeClr val="tx1"/>
                </a:solidFill>
              </a:rPr>
              <a:t>a</a:t>
            </a:r>
            <a:r>
              <a:rPr lang="en-US" sz="2000">
                <a:solidFill>
                  <a:schemeClr val="tx1"/>
                </a:solidFill>
              </a:rPr>
              <a:t>[</a:t>
            </a:r>
            <a:r>
              <a:rPr lang="en-US" sz="2000" b="1" i="1">
                <a:solidFill>
                  <a:schemeClr val="tx1"/>
                </a:solidFill>
              </a:rPr>
              <a:t>n</a:t>
            </a:r>
            <a:r>
              <a:rPr lang="en-US" sz="2000">
                <a:solidFill>
                  <a:schemeClr val="tx1"/>
                </a:solidFill>
              </a:rPr>
              <a:t>/2+1], </a:t>
            </a:r>
            <a:r>
              <a:rPr lang="en-US" sz="2000" b="1" i="1">
                <a:solidFill>
                  <a:schemeClr val="tx1"/>
                </a:solidFill>
              </a:rPr>
              <a:t>a</a:t>
            </a:r>
            <a:r>
              <a:rPr lang="en-US" sz="2000">
                <a:solidFill>
                  <a:schemeClr val="tx1"/>
                </a:solidFill>
              </a:rPr>
              <a:t>[</a:t>
            </a:r>
            <a:r>
              <a:rPr lang="en-US" sz="2000" b="1" i="1">
                <a:solidFill>
                  <a:schemeClr val="tx1"/>
                </a:solidFill>
              </a:rPr>
              <a:t>n</a:t>
            </a:r>
            <a:r>
              <a:rPr lang="en-US" sz="2000">
                <a:solidFill>
                  <a:schemeClr val="tx1"/>
                </a:solidFill>
              </a:rPr>
              <a:t>/2+2], …, </a:t>
            </a:r>
            <a:r>
              <a:rPr lang="en-US" sz="2000" b="1" i="1">
                <a:solidFill>
                  <a:schemeClr val="tx1"/>
                </a:solidFill>
              </a:rPr>
              <a:t>a</a:t>
            </a:r>
            <a:r>
              <a:rPr lang="en-US" sz="2000">
                <a:solidFill>
                  <a:schemeClr val="tx1"/>
                </a:solidFill>
              </a:rPr>
              <a:t>[</a:t>
            </a:r>
            <a:r>
              <a:rPr lang="en-US" sz="2000" b="1" i="1">
                <a:solidFill>
                  <a:schemeClr val="tx1"/>
                </a:solidFill>
              </a:rPr>
              <a:t>n</a:t>
            </a:r>
            <a:r>
              <a:rPr lang="en-US" sz="2000">
                <a:solidFill>
                  <a:schemeClr val="tx1"/>
                </a:solidFill>
              </a:rPr>
              <a:t>] </a:t>
            </a:r>
            <a:r>
              <a:rPr lang="bg-BG" sz="2000">
                <a:solidFill>
                  <a:schemeClr val="tx1"/>
                </a:solidFill>
              </a:rPr>
              <a:t>пак образуват пирамида. Следва ново разширяване на пирамидата отляво, като процесът продължава до включване на всички елементи. При нечетно </a:t>
            </a:r>
            <a:r>
              <a:rPr lang="en-US" sz="2000" b="1" i="1">
                <a:solidFill>
                  <a:schemeClr val="tx1"/>
                </a:solidFill>
              </a:rPr>
              <a:t>n</a:t>
            </a:r>
            <a:r>
              <a:rPr lang="bg-BG" sz="2000">
                <a:solidFill>
                  <a:schemeClr val="tx1"/>
                </a:solidFill>
              </a:rPr>
              <a:t> листата са </a:t>
            </a:r>
            <a:r>
              <a:rPr lang="en-US" sz="2000" b="1" i="1">
                <a:solidFill>
                  <a:schemeClr val="tx1"/>
                </a:solidFill>
              </a:rPr>
              <a:t>a</a:t>
            </a:r>
            <a:r>
              <a:rPr lang="en-US" sz="2000">
                <a:solidFill>
                  <a:schemeClr val="tx1"/>
                </a:solidFill>
              </a:rPr>
              <a:t>[</a:t>
            </a:r>
            <a:r>
              <a:rPr lang="en-US" sz="2000" b="1" i="1">
                <a:solidFill>
                  <a:schemeClr val="tx1"/>
                </a:solidFill>
              </a:rPr>
              <a:t>n</a:t>
            </a:r>
            <a:r>
              <a:rPr lang="en-US" sz="2000">
                <a:solidFill>
                  <a:schemeClr val="tx1"/>
                </a:solidFill>
              </a:rPr>
              <a:t>/2+1], </a:t>
            </a:r>
            <a:r>
              <a:rPr lang="en-US" sz="2000" b="1" i="1">
                <a:solidFill>
                  <a:schemeClr val="tx1"/>
                </a:solidFill>
              </a:rPr>
              <a:t>a</a:t>
            </a:r>
            <a:r>
              <a:rPr lang="en-US" sz="2000">
                <a:solidFill>
                  <a:schemeClr val="tx1"/>
                </a:solidFill>
              </a:rPr>
              <a:t>[</a:t>
            </a:r>
            <a:r>
              <a:rPr lang="en-US" sz="2000" b="1" i="1">
                <a:solidFill>
                  <a:schemeClr val="tx1"/>
                </a:solidFill>
              </a:rPr>
              <a:t>n</a:t>
            </a:r>
            <a:r>
              <a:rPr lang="en-US" sz="2000">
                <a:solidFill>
                  <a:schemeClr val="tx1"/>
                </a:solidFill>
              </a:rPr>
              <a:t>/2+2], …, </a:t>
            </a:r>
            <a:r>
              <a:rPr lang="en-US" sz="2000" b="1" i="1">
                <a:solidFill>
                  <a:schemeClr val="tx1"/>
                </a:solidFill>
              </a:rPr>
              <a:t>a</a:t>
            </a:r>
            <a:r>
              <a:rPr lang="en-US" sz="2000">
                <a:solidFill>
                  <a:schemeClr val="tx1"/>
                </a:solidFill>
              </a:rPr>
              <a:t>[</a:t>
            </a:r>
            <a:r>
              <a:rPr lang="en-US" sz="2000" b="1" i="1">
                <a:solidFill>
                  <a:schemeClr val="tx1"/>
                </a:solidFill>
              </a:rPr>
              <a:t>n</a:t>
            </a:r>
            <a:r>
              <a:rPr lang="en-US" sz="2000">
                <a:solidFill>
                  <a:schemeClr val="tx1"/>
                </a:solidFill>
              </a:rPr>
              <a:t>]</a:t>
            </a:r>
            <a:r>
              <a:rPr lang="bg-BG" sz="2000">
                <a:solidFill>
                  <a:schemeClr val="tx1"/>
                </a:solidFill>
              </a:rPr>
              <a:t>. (В реализацията на С/С++ няма нужда от това разграничение, т. к. операцията / е целочислена.)</a:t>
            </a:r>
            <a:r>
              <a:rPr lang="en-US" sz="2000">
                <a:solidFill>
                  <a:schemeClr val="tx1"/>
                </a:solidFill>
              </a:rPr>
              <a:t> </a:t>
            </a:r>
            <a:r>
              <a:rPr lang="bg-BG" sz="2000">
                <a:solidFill>
                  <a:schemeClr val="tx1"/>
                </a:solidFill>
              </a:rPr>
              <a:t/>
            </a:r>
            <a:br>
              <a:rPr lang="bg-BG" sz="2000">
                <a:solidFill>
                  <a:schemeClr val="tx1"/>
                </a:solidFill>
              </a:rPr>
            </a:br>
            <a:r>
              <a:rPr lang="bg-BG" sz="2000">
                <a:solidFill>
                  <a:schemeClr val="tx1"/>
                </a:solidFill>
              </a:rPr>
              <a:t>	Отсяването на новодобавения елемент </a:t>
            </a:r>
            <a:r>
              <a:rPr lang="bg-BG" sz="2000" b="1" i="1">
                <a:solidFill>
                  <a:schemeClr val="tx1"/>
                </a:solidFill>
              </a:rPr>
              <a:t>х</a:t>
            </a:r>
            <a:r>
              <a:rPr lang="bg-BG" sz="2000">
                <a:solidFill>
                  <a:schemeClr val="tx1"/>
                </a:solidFill>
              </a:rPr>
              <a:t> надолу по пирамидата може да протича на няколко етапа, т. е. след размяна на </a:t>
            </a:r>
            <a:r>
              <a:rPr lang="bg-BG" sz="2000" b="1" i="1">
                <a:solidFill>
                  <a:schemeClr val="tx1"/>
                </a:solidFill>
              </a:rPr>
              <a:t>х </a:t>
            </a:r>
            <a:r>
              <a:rPr lang="bg-BG" sz="2000">
                <a:solidFill>
                  <a:schemeClr val="tx1"/>
                </a:solidFill>
              </a:rPr>
              <a:t>с някой от наследниците</a:t>
            </a:r>
            <a:r>
              <a:rPr lang="bg-BG" sz="2000" b="1" i="1">
                <a:solidFill>
                  <a:schemeClr val="tx1"/>
                </a:solidFill>
              </a:rPr>
              <a:t> </a:t>
            </a:r>
            <a:r>
              <a:rPr lang="bg-BG" sz="2000">
                <a:solidFill>
                  <a:schemeClr val="tx1"/>
                </a:solidFill>
              </a:rPr>
              <a:t>може да се окаже, че правилата не са изпълнени. Така </a:t>
            </a:r>
            <a:r>
              <a:rPr lang="bg-BG" sz="2000" b="1" i="1">
                <a:solidFill>
                  <a:schemeClr val="tx1"/>
                </a:solidFill>
              </a:rPr>
              <a:t>х</a:t>
            </a:r>
            <a:r>
              <a:rPr lang="bg-BG" sz="2000">
                <a:solidFill>
                  <a:schemeClr val="tx1"/>
                </a:solidFill>
              </a:rPr>
              <a:t> се отсява надолу по пирамидата, като на всяка стъпка потъва с едно ниво надолу, докато не заеме мястото си. </a:t>
            </a:r>
            <a:endParaRPr lang="en-US" sz="2000">
              <a:solidFill>
                <a:schemeClr val="tx1"/>
              </a:solidFill>
            </a:endParaRPr>
          </a:p>
        </p:txBody>
      </p:sp>
      <p:grpSp>
        <p:nvGrpSpPr>
          <p:cNvPr id="45059" name="Group 40"/>
          <p:cNvGrpSpPr>
            <a:grpSpLocks/>
          </p:cNvGrpSpPr>
          <p:nvPr/>
        </p:nvGrpSpPr>
        <p:grpSpPr bwMode="auto">
          <a:xfrm>
            <a:off x="2667000" y="1485900"/>
            <a:ext cx="3962400" cy="1884363"/>
            <a:chOff x="2362200" y="1384300"/>
            <a:chExt cx="3962400" cy="1884363"/>
          </a:xfrm>
        </p:grpSpPr>
        <p:sp>
          <p:nvSpPr>
            <p:cNvPr id="45061" name="Oval 4"/>
            <p:cNvSpPr>
              <a:spLocks noChangeArrowheads="1"/>
            </p:cNvSpPr>
            <p:nvPr/>
          </p:nvSpPr>
          <p:spPr bwMode="auto">
            <a:xfrm>
              <a:off x="4212081" y="1384300"/>
              <a:ext cx="411085" cy="389868"/>
            </a:xfrm>
            <a:prstGeom prst="ellipse">
              <a:avLst/>
            </a:prstGeom>
            <a:noFill/>
            <a:ln w="9525">
              <a:solidFill>
                <a:schemeClr val="tx1"/>
              </a:solidFill>
              <a:round/>
              <a:headEnd/>
              <a:tailEnd/>
            </a:ln>
          </p:spPr>
          <p:txBody>
            <a:bodyPr wrap="none" anchor="ctr"/>
            <a:lstStyle/>
            <a:p>
              <a:endParaRPr lang="bg-BG"/>
            </a:p>
          </p:txBody>
        </p:sp>
        <p:sp>
          <p:nvSpPr>
            <p:cNvPr id="45062" name="Oval 5"/>
            <p:cNvSpPr>
              <a:spLocks noChangeArrowheads="1"/>
            </p:cNvSpPr>
            <p:nvPr/>
          </p:nvSpPr>
          <p:spPr bwMode="auto">
            <a:xfrm>
              <a:off x="5239793" y="1774168"/>
              <a:ext cx="411085" cy="389868"/>
            </a:xfrm>
            <a:prstGeom prst="ellipse">
              <a:avLst/>
            </a:prstGeom>
            <a:noFill/>
            <a:ln w="9525">
              <a:solidFill>
                <a:schemeClr val="tx1"/>
              </a:solidFill>
              <a:round/>
              <a:headEnd/>
              <a:tailEnd/>
            </a:ln>
          </p:spPr>
          <p:txBody>
            <a:bodyPr wrap="none" anchor="ctr"/>
            <a:lstStyle/>
            <a:p>
              <a:endParaRPr lang="bg-BG"/>
            </a:p>
          </p:txBody>
        </p:sp>
        <p:sp>
          <p:nvSpPr>
            <p:cNvPr id="45063" name="Oval 6"/>
            <p:cNvSpPr>
              <a:spLocks noChangeArrowheads="1"/>
            </p:cNvSpPr>
            <p:nvPr/>
          </p:nvSpPr>
          <p:spPr bwMode="auto">
            <a:xfrm>
              <a:off x="2978827" y="2813817"/>
              <a:ext cx="411085" cy="389868"/>
            </a:xfrm>
            <a:prstGeom prst="ellipse">
              <a:avLst/>
            </a:prstGeom>
            <a:noFill/>
            <a:ln w="9525">
              <a:solidFill>
                <a:schemeClr val="tx1"/>
              </a:solidFill>
              <a:round/>
              <a:headEnd/>
              <a:tailEnd/>
            </a:ln>
          </p:spPr>
          <p:txBody>
            <a:bodyPr wrap="none" anchor="ctr"/>
            <a:lstStyle/>
            <a:p>
              <a:endParaRPr lang="bg-BG"/>
            </a:p>
          </p:txBody>
        </p:sp>
        <p:sp>
          <p:nvSpPr>
            <p:cNvPr id="45064" name="Oval 7"/>
            <p:cNvSpPr>
              <a:spLocks noChangeArrowheads="1"/>
            </p:cNvSpPr>
            <p:nvPr/>
          </p:nvSpPr>
          <p:spPr bwMode="auto">
            <a:xfrm>
              <a:off x="2362200" y="2813817"/>
              <a:ext cx="411085" cy="389868"/>
            </a:xfrm>
            <a:prstGeom prst="ellipse">
              <a:avLst/>
            </a:prstGeom>
            <a:noFill/>
            <a:ln w="9525">
              <a:solidFill>
                <a:schemeClr val="tx1"/>
              </a:solidFill>
              <a:round/>
              <a:headEnd/>
              <a:tailEnd/>
            </a:ln>
          </p:spPr>
          <p:txBody>
            <a:bodyPr wrap="none" anchor="ctr"/>
            <a:lstStyle/>
            <a:p>
              <a:endParaRPr lang="bg-BG"/>
            </a:p>
          </p:txBody>
        </p:sp>
        <p:sp>
          <p:nvSpPr>
            <p:cNvPr id="45065" name="Oval 8"/>
            <p:cNvSpPr>
              <a:spLocks noChangeArrowheads="1"/>
            </p:cNvSpPr>
            <p:nvPr/>
          </p:nvSpPr>
          <p:spPr bwMode="auto">
            <a:xfrm>
              <a:off x="5034251" y="2293992"/>
              <a:ext cx="411085" cy="389868"/>
            </a:xfrm>
            <a:prstGeom prst="ellipse">
              <a:avLst/>
            </a:prstGeom>
            <a:noFill/>
            <a:ln w="9525">
              <a:solidFill>
                <a:schemeClr val="tx1"/>
              </a:solidFill>
              <a:round/>
              <a:headEnd/>
              <a:tailEnd/>
            </a:ln>
          </p:spPr>
          <p:txBody>
            <a:bodyPr wrap="none" anchor="ctr"/>
            <a:lstStyle/>
            <a:p>
              <a:endParaRPr lang="bg-BG"/>
            </a:p>
          </p:txBody>
        </p:sp>
        <p:sp>
          <p:nvSpPr>
            <p:cNvPr id="45066" name="Oval 9"/>
            <p:cNvSpPr>
              <a:spLocks noChangeArrowheads="1"/>
            </p:cNvSpPr>
            <p:nvPr/>
          </p:nvSpPr>
          <p:spPr bwMode="auto">
            <a:xfrm>
              <a:off x="3732482" y="2229014"/>
              <a:ext cx="411085" cy="389868"/>
            </a:xfrm>
            <a:prstGeom prst="ellipse">
              <a:avLst/>
            </a:prstGeom>
            <a:noFill/>
            <a:ln w="9525">
              <a:solidFill>
                <a:schemeClr val="tx1"/>
              </a:solidFill>
              <a:round/>
              <a:headEnd/>
              <a:tailEnd/>
            </a:ln>
          </p:spPr>
          <p:txBody>
            <a:bodyPr wrap="none" anchor="ctr"/>
            <a:lstStyle/>
            <a:p>
              <a:endParaRPr lang="bg-BG"/>
            </a:p>
          </p:txBody>
        </p:sp>
        <p:sp>
          <p:nvSpPr>
            <p:cNvPr id="45067" name="Oval 10"/>
            <p:cNvSpPr>
              <a:spLocks noChangeArrowheads="1"/>
            </p:cNvSpPr>
            <p:nvPr/>
          </p:nvSpPr>
          <p:spPr bwMode="auto">
            <a:xfrm>
              <a:off x="2773285" y="2229014"/>
              <a:ext cx="411085" cy="389868"/>
            </a:xfrm>
            <a:prstGeom prst="ellipse">
              <a:avLst/>
            </a:prstGeom>
            <a:noFill/>
            <a:ln w="9525">
              <a:solidFill>
                <a:schemeClr val="tx1"/>
              </a:solidFill>
              <a:round/>
              <a:headEnd/>
              <a:tailEnd/>
            </a:ln>
          </p:spPr>
          <p:txBody>
            <a:bodyPr wrap="none" anchor="ctr"/>
            <a:lstStyle/>
            <a:p>
              <a:endParaRPr lang="bg-BG"/>
            </a:p>
          </p:txBody>
        </p:sp>
        <p:sp>
          <p:nvSpPr>
            <p:cNvPr id="45068" name="Oval 11"/>
            <p:cNvSpPr>
              <a:spLocks noChangeArrowheads="1"/>
            </p:cNvSpPr>
            <p:nvPr/>
          </p:nvSpPr>
          <p:spPr bwMode="auto">
            <a:xfrm>
              <a:off x="3252884" y="1839146"/>
              <a:ext cx="411085" cy="389868"/>
            </a:xfrm>
            <a:prstGeom prst="ellipse">
              <a:avLst/>
            </a:prstGeom>
            <a:noFill/>
            <a:ln w="9525">
              <a:solidFill>
                <a:schemeClr val="tx1"/>
              </a:solidFill>
              <a:round/>
              <a:headEnd/>
              <a:tailEnd/>
            </a:ln>
          </p:spPr>
          <p:txBody>
            <a:bodyPr wrap="none" anchor="ctr"/>
            <a:lstStyle/>
            <a:p>
              <a:endParaRPr lang="bg-BG"/>
            </a:p>
          </p:txBody>
        </p:sp>
        <p:sp>
          <p:nvSpPr>
            <p:cNvPr id="45069" name="Oval 12"/>
            <p:cNvSpPr>
              <a:spLocks noChangeArrowheads="1"/>
            </p:cNvSpPr>
            <p:nvPr/>
          </p:nvSpPr>
          <p:spPr bwMode="auto">
            <a:xfrm>
              <a:off x="3526940" y="2813817"/>
              <a:ext cx="411085" cy="389868"/>
            </a:xfrm>
            <a:prstGeom prst="ellipse">
              <a:avLst/>
            </a:prstGeom>
            <a:noFill/>
            <a:ln w="9525">
              <a:solidFill>
                <a:schemeClr val="tx1"/>
              </a:solidFill>
              <a:round/>
              <a:headEnd/>
              <a:tailEnd/>
            </a:ln>
          </p:spPr>
          <p:txBody>
            <a:bodyPr wrap="none" anchor="ctr"/>
            <a:lstStyle/>
            <a:p>
              <a:endParaRPr lang="bg-BG"/>
            </a:p>
          </p:txBody>
        </p:sp>
        <p:sp>
          <p:nvSpPr>
            <p:cNvPr id="45070" name="Oval 13"/>
            <p:cNvSpPr>
              <a:spLocks noChangeArrowheads="1"/>
            </p:cNvSpPr>
            <p:nvPr/>
          </p:nvSpPr>
          <p:spPr bwMode="auto">
            <a:xfrm>
              <a:off x="5787906" y="2293992"/>
              <a:ext cx="411085" cy="389868"/>
            </a:xfrm>
            <a:prstGeom prst="ellipse">
              <a:avLst/>
            </a:prstGeom>
            <a:noFill/>
            <a:ln w="9525">
              <a:solidFill>
                <a:schemeClr val="tx1"/>
              </a:solidFill>
              <a:round/>
              <a:headEnd/>
              <a:tailEnd/>
            </a:ln>
          </p:spPr>
          <p:txBody>
            <a:bodyPr wrap="none" anchor="ctr"/>
            <a:lstStyle/>
            <a:p>
              <a:endParaRPr lang="bg-BG"/>
            </a:p>
          </p:txBody>
        </p:sp>
        <p:sp>
          <p:nvSpPr>
            <p:cNvPr id="45071" name="Oval 14"/>
            <p:cNvSpPr>
              <a:spLocks noChangeArrowheads="1"/>
            </p:cNvSpPr>
            <p:nvPr/>
          </p:nvSpPr>
          <p:spPr bwMode="auto">
            <a:xfrm>
              <a:off x="4075053" y="2813817"/>
              <a:ext cx="411085" cy="389868"/>
            </a:xfrm>
            <a:prstGeom prst="ellipse">
              <a:avLst/>
            </a:prstGeom>
            <a:noFill/>
            <a:ln w="9525">
              <a:solidFill>
                <a:schemeClr val="tx1"/>
              </a:solidFill>
              <a:round/>
              <a:headEnd/>
              <a:tailEnd/>
            </a:ln>
          </p:spPr>
          <p:txBody>
            <a:bodyPr wrap="none" anchor="ctr"/>
            <a:lstStyle/>
            <a:p>
              <a:endParaRPr lang="bg-BG"/>
            </a:p>
          </p:txBody>
        </p:sp>
        <p:sp>
          <p:nvSpPr>
            <p:cNvPr id="45072" name="Oval 15"/>
            <p:cNvSpPr>
              <a:spLocks noChangeArrowheads="1"/>
            </p:cNvSpPr>
            <p:nvPr/>
          </p:nvSpPr>
          <p:spPr bwMode="auto">
            <a:xfrm>
              <a:off x="4828708" y="2813817"/>
              <a:ext cx="411085" cy="389868"/>
            </a:xfrm>
            <a:prstGeom prst="ellipse">
              <a:avLst/>
            </a:prstGeom>
            <a:noFill/>
            <a:ln w="9525">
              <a:solidFill>
                <a:schemeClr val="tx1"/>
              </a:solidFill>
              <a:round/>
              <a:headEnd/>
              <a:tailEnd/>
            </a:ln>
          </p:spPr>
          <p:txBody>
            <a:bodyPr wrap="none" anchor="ctr"/>
            <a:lstStyle/>
            <a:p>
              <a:endParaRPr lang="bg-BG"/>
            </a:p>
          </p:txBody>
        </p:sp>
        <p:sp>
          <p:nvSpPr>
            <p:cNvPr id="45073" name="Line 16"/>
            <p:cNvSpPr>
              <a:spLocks noChangeShapeType="1"/>
            </p:cNvSpPr>
            <p:nvPr/>
          </p:nvSpPr>
          <p:spPr bwMode="auto">
            <a:xfrm flipH="1">
              <a:off x="3595454" y="1644212"/>
              <a:ext cx="616627" cy="259912"/>
            </a:xfrm>
            <a:prstGeom prst="line">
              <a:avLst/>
            </a:prstGeom>
            <a:noFill/>
            <a:ln w="9525">
              <a:solidFill>
                <a:schemeClr val="tx1"/>
              </a:solidFill>
              <a:round/>
              <a:headEnd/>
              <a:tailEnd/>
            </a:ln>
          </p:spPr>
          <p:txBody>
            <a:bodyPr wrap="none" anchor="ctr"/>
            <a:lstStyle/>
            <a:p>
              <a:endParaRPr lang="bg-BG"/>
            </a:p>
          </p:txBody>
        </p:sp>
        <p:sp>
          <p:nvSpPr>
            <p:cNvPr id="45074" name="Line 17"/>
            <p:cNvSpPr>
              <a:spLocks noChangeShapeType="1"/>
            </p:cNvSpPr>
            <p:nvPr/>
          </p:nvSpPr>
          <p:spPr bwMode="auto">
            <a:xfrm>
              <a:off x="4623166" y="1644212"/>
              <a:ext cx="616627" cy="259912"/>
            </a:xfrm>
            <a:prstGeom prst="line">
              <a:avLst/>
            </a:prstGeom>
            <a:noFill/>
            <a:ln w="9525">
              <a:solidFill>
                <a:schemeClr val="tx1"/>
              </a:solidFill>
              <a:round/>
              <a:headEnd/>
              <a:tailEnd/>
            </a:ln>
          </p:spPr>
          <p:txBody>
            <a:bodyPr wrap="none" anchor="ctr"/>
            <a:lstStyle/>
            <a:p>
              <a:endParaRPr lang="bg-BG"/>
            </a:p>
          </p:txBody>
        </p:sp>
        <p:sp>
          <p:nvSpPr>
            <p:cNvPr id="45075" name="Line 18"/>
            <p:cNvSpPr>
              <a:spLocks noChangeShapeType="1"/>
            </p:cNvSpPr>
            <p:nvPr/>
          </p:nvSpPr>
          <p:spPr bwMode="auto">
            <a:xfrm flipH="1">
              <a:off x="3115855" y="2164036"/>
              <a:ext cx="205542" cy="129956"/>
            </a:xfrm>
            <a:prstGeom prst="line">
              <a:avLst/>
            </a:prstGeom>
            <a:noFill/>
            <a:ln w="9525">
              <a:solidFill>
                <a:schemeClr val="tx1"/>
              </a:solidFill>
              <a:round/>
              <a:headEnd/>
              <a:tailEnd/>
            </a:ln>
          </p:spPr>
          <p:txBody>
            <a:bodyPr wrap="none" anchor="ctr"/>
            <a:lstStyle/>
            <a:p>
              <a:endParaRPr lang="bg-BG"/>
            </a:p>
          </p:txBody>
        </p:sp>
        <p:sp>
          <p:nvSpPr>
            <p:cNvPr id="45076" name="Line 19"/>
            <p:cNvSpPr>
              <a:spLocks noChangeShapeType="1"/>
            </p:cNvSpPr>
            <p:nvPr/>
          </p:nvSpPr>
          <p:spPr bwMode="auto">
            <a:xfrm flipH="1">
              <a:off x="2636256" y="2564734"/>
              <a:ext cx="205542" cy="259912"/>
            </a:xfrm>
            <a:prstGeom prst="line">
              <a:avLst/>
            </a:prstGeom>
            <a:noFill/>
            <a:ln w="9525">
              <a:solidFill>
                <a:schemeClr val="tx1"/>
              </a:solidFill>
              <a:round/>
              <a:headEnd/>
              <a:tailEnd/>
            </a:ln>
          </p:spPr>
          <p:txBody>
            <a:bodyPr wrap="none" anchor="ctr"/>
            <a:lstStyle/>
            <a:p>
              <a:endParaRPr lang="bg-BG"/>
            </a:p>
          </p:txBody>
        </p:sp>
        <p:sp>
          <p:nvSpPr>
            <p:cNvPr id="45077" name="Line 20"/>
            <p:cNvSpPr>
              <a:spLocks noChangeShapeType="1"/>
            </p:cNvSpPr>
            <p:nvPr/>
          </p:nvSpPr>
          <p:spPr bwMode="auto">
            <a:xfrm>
              <a:off x="3047341" y="2618883"/>
              <a:ext cx="137028" cy="194934"/>
            </a:xfrm>
            <a:prstGeom prst="line">
              <a:avLst/>
            </a:prstGeom>
            <a:noFill/>
            <a:ln w="9525">
              <a:solidFill>
                <a:schemeClr val="tx1"/>
              </a:solidFill>
              <a:round/>
              <a:headEnd/>
              <a:tailEnd/>
            </a:ln>
          </p:spPr>
          <p:txBody>
            <a:bodyPr wrap="none" anchor="ctr"/>
            <a:lstStyle/>
            <a:p>
              <a:endParaRPr lang="bg-BG"/>
            </a:p>
          </p:txBody>
        </p:sp>
        <p:sp>
          <p:nvSpPr>
            <p:cNvPr id="45078" name="Line 21"/>
            <p:cNvSpPr>
              <a:spLocks noChangeShapeType="1"/>
            </p:cNvSpPr>
            <p:nvPr/>
          </p:nvSpPr>
          <p:spPr bwMode="auto">
            <a:xfrm>
              <a:off x="3595454" y="2164036"/>
              <a:ext cx="205542" cy="129956"/>
            </a:xfrm>
            <a:prstGeom prst="line">
              <a:avLst/>
            </a:prstGeom>
            <a:noFill/>
            <a:ln w="9525">
              <a:solidFill>
                <a:schemeClr val="tx1"/>
              </a:solidFill>
              <a:round/>
              <a:headEnd/>
              <a:tailEnd/>
            </a:ln>
          </p:spPr>
          <p:txBody>
            <a:bodyPr wrap="none" anchor="ctr"/>
            <a:lstStyle/>
            <a:p>
              <a:endParaRPr lang="bg-BG"/>
            </a:p>
          </p:txBody>
        </p:sp>
        <p:sp>
          <p:nvSpPr>
            <p:cNvPr id="45079" name="Line 22"/>
            <p:cNvSpPr>
              <a:spLocks noChangeShapeType="1"/>
            </p:cNvSpPr>
            <p:nvPr/>
          </p:nvSpPr>
          <p:spPr bwMode="auto">
            <a:xfrm flipH="1">
              <a:off x="3800997" y="2618883"/>
              <a:ext cx="68514" cy="194934"/>
            </a:xfrm>
            <a:prstGeom prst="line">
              <a:avLst/>
            </a:prstGeom>
            <a:noFill/>
            <a:ln w="9525">
              <a:solidFill>
                <a:schemeClr val="tx1"/>
              </a:solidFill>
              <a:round/>
              <a:headEnd/>
              <a:tailEnd/>
            </a:ln>
          </p:spPr>
          <p:txBody>
            <a:bodyPr wrap="none" anchor="ctr"/>
            <a:lstStyle/>
            <a:p>
              <a:endParaRPr lang="bg-BG"/>
            </a:p>
          </p:txBody>
        </p:sp>
        <p:sp>
          <p:nvSpPr>
            <p:cNvPr id="45080" name="Line 23"/>
            <p:cNvSpPr>
              <a:spLocks noChangeShapeType="1"/>
            </p:cNvSpPr>
            <p:nvPr/>
          </p:nvSpPr>
          <p:spPr bwMode="auto">
            <a:xfrm>
              <a:off x="4103601" y="2564734"/>
              <a:ext cx="137028" cy="273449"/>
            </a:xfrm>
            <a:prstGeom prst="line">
              <a:avLst/>
            </a:prstGeom>
            <a:noFill/>
            <a:ln w="9525">
              <a:solidFill>
                <a:schemeClr val="tx1"/>
              </a:solidFill>
              <a:round/>
              <a:headEnd/>
              <a:tailEnd/>
            </a:ln>
          </p:spPr>
          <p:txBody>
            <a:bodyPr wrap="none" anchor="ctr"/>
            <a:lstStyle/>
            <a:p>
              <a:endParaRPr lang="bg-BG"/>
            </a:p>
          </p:txBody>
        </p:sp>
        <p:sp>
          <p:nvSpPr>
            <p:cNvPr id="45081" name="Line 24"/>
            <p:cNvSpPr>
              <a:spLocks noChangeShapeType="1"/>
            </p:cNvSpPr>
            <p:nvPr/>
          </p:nvSpPr>
          <p:spPr bwMode="auto">
            <a:xfrm flipH="1">
              <a:off x="5308307" y="2164036"/>
              <a:ext cx="68514" cy="129956"/>
            </a:xfrm>
            <a:prstGeom prst="line">
              <a:avLst/>
            </a:prstGeom>
            <a:noFill/>
            <a:ln w="9525">
              <a:solidFill>
                <a:schemeClr val="tx1"/>
              </a:solidFill>
              <a:round/>
              <a:headEnd/>
              <a:tailEnd/>
            </a:ln>
          </p:spPr>
          <p:txBody>
            <a:bodyPr wrap="none" anchor="ctr"/>
            <a:lstStyle/>
            <a:p>
              <a:endParaRPr lang="bg-BG"/>
            </a:p>
          </p:txBody>
        </p:sp>
        <p:sp>
          <p:nvSpPr>
            <p:cNvPr id="45082" name="Line 25"/>
            <p:cNvSpPr>
              <a:spLocks noChangeShapeType="1"/>
            </p:cNvSpPr>
            <p:nvPr/>
          </p:nvSpPr>
          <p:spPr bwMode="auto">
            <a:xfrm flipH="1">
              <a:off x="5102765" y="2683861"/>
              <a:ext cx="68514" cy="129956"/>
            </a:xfrm>
            <a:prstGeom prst="line">
              <a:avLst/>
            </a:prstGeom>
            <a:noFill/>
            <a:ln w="9525">
              <a:solidFill>
                <a:schemeClr val="tx1"/>
              </a:solidFill>
              <a:round/>
              <a:headEnd/>
              <a:tailEnd/>
            </a:ln>
          </p:spPr>
          <p:txBody>
            <a:bodyPr wrap="none" anchor="ctr"/>
            <a:lstStyle/>
            <a:p>
              <a:endParaRPr lang="bg-BG"/>
            </a:p>
          </p:txBody>
        </p:sp>
        <p:sp>
          <p:nvSpPr>
            <p:cNvPr id="45083" name="Line 26"/>
            <p:cNvSpPr>
              <a:spLocks noChangeShapeType="1"/>
            </p:cNvSpPr>
            <p:nvPr/>
          </p:nvSpPr>
          <p:spPr bwMode="auto">
            <a:xfrm>
              <a:off x="5582364" y="2099058"/>
              <a:ext cx="274056" cy="259912"/>
            </a:xfrm>
            <a:prstGeom prst="line">
              <a:avLst/>
            </a:prstGeom>
            <a:noFill/>
            <a:ln w="9525">
              <a:solidFill>
                <a:schemeClr val="tx1"/>
              </a:solidFill>
              <a:round/>
              <a:headEnd/>
              <a:tailEnd/>
            </a:ln>
          </p:spPr>
          <p:txBody>
            <a:bodyPr wrap="none" anchor="ctr"/>
            <a:lstStyle/>
            <a:p>
              <a:endParaRPr lang="bg-BG"/>
            </a:p>
          </p:txBody>
        </p:sp>
        <p:sp>
          <p:nvSpPr>
            <p:cNvPr id="45084" name="Text Box 27"/>
            <p:cNvSpPr txBox="1">
              <a:spLocks noChangeArrowheads="1"/>
            </p:cNvSpPr>
            <p:nvPr/>
          </p:nvSpPr>
          <p:spPr bwMode="auto">
            <a:xfrm>
              <a:off x="4207799" y="1384300"/>
              <a:ext cx="549540" cy="457554"/>
            </a:xfrm>
            <a:prstGeom prst="rect">
              <a:avLst/>
            </a:prstGeom>
            <a:noFill/>
            <a:ln w="9525">
              <a:noFill/>
              <a:miter lim="800000"/>
              <a:headEnd/>
              <a:tailEnd/>
            </a:ln>
          </p:spPr>
          <p:txBody>
            <a:bodyPr>
              <a:spAutoFit/>
            </a:bodyPr>
            <a:lstStyle/>
            <a:p>
              <a:pPr algn="l">
                <a:spcBef>
                  <a:spcPct val="50000"/>
                </a:spcBef>
              </a:pPr>
              <a:r>
                <a:rPr lang="en-US"/>
                <a:t>5</a:t>
              </a:r>
              <a:r>
                <a:rPr lang="bg-BG"/>
                <a:t>1</a:t>
              </a:r>
              <a:endParaRPr lang="en-US"/>
            </a:p>
          </p:txBody>
        </p:sp>
        <p:sp>
          <p:nvSpPr>
            <p:cNvPr id="45085" name="Text Box 28"/>
            <p:cNvSpPr txBox="1">
              <a:spLocks noChangeArrowheads="1"/>
            </p:cNvSpPr>
            <p:nvPr/>
          </p:nvSpPr>
          <p:spPr bwMode="auto">
            <a:xfrm>
              <a:off x="2417868" y="2804341"/>
              <a:ext cx="408230" cy="457554"/>
            </a:xfrm>
            <a:prstGeom prst="rect">
              <a:avLst/>
            </a:prstGeom>
            <a:noFill/>
            <a:ln w="9525">
              <a:noFill/>
              <a:miter lim="800000"/>
              <a:headEnd/>
              <a:tailEnd/>
            </a:ln>
          </p:spPr>
          <p:txBody>
            <a:bodyPr>
              <a:spAutoFit/>
            </a:bodyPr>
            <a:lstStyle/>
            <a:p>
              <a:pPr algn="l">
                <a:spcBef>
                  <a:spcPct val="50000"/>
                </a:spcBef>
              </a:pPr>
              <a:r>
                <a:rPr lang="en-US">
                  <a:solidFill>
                    <a:srgbClr val="FF0000"/>
                  </a:solidFill>
                </a:rPr>
                <a:t>3</a:t>
              </a:r>
              <a:endParaRPr lang="en-US"/>
            </a:p>
          </p:txBody>
        </p:sp>
        <p:sp>
          <p:nvSpPr>
            <p:cNvPr id="45086" name="Text Box 29"/>
            <p:cNvSpPr txBox="1">
              <a:spLocks noChangeArrowheads="1"/>
            </p:cNvSpPr>
            <p:nvPr/>
          </p:nvSpPr>
          <p:spPr bwMode="auto">
            <a:xfrm>
              <a:off x="4130721" y="2800280"/>
              <a:ext cx="411085" cy="457554"/>
            </a:xfrm>
            <a:prstGeom prst="rect">
              <a:avLst/>
            </a:prstGeom>
            <a:noFill/>
            <a:ln w="9525">
              <a:noFill/>
              <a:miter lim="800000"/>
              <a:headEnd/>
              <a:tailEnd/>
            </a:ln>
          </p:spPr>
          <p:txBody>
            <a:bodyPr>
              <a:spAutoFit/>
            </a:bodyPr>
            <a:lstStyle/>
            <a:p>
              <a:pPr algn="l">
                <a:spcBef>
                  <a:spcPct val="50000"/>
                </a:spcBef>
              </a:pPr>
              <a:r>
                <a:rPr lang="en-US">
                  <a:solidFill>
                    <a:srgbClr val="FF0000"/>
                  </a:solidFill>
                </a:rPr>
                <a:t>3</a:t>
              </a:r>
              <a:endParaRPr lang="en-US"/>
            </a:p>
          </p:txBody>
        </p:sp>
        <p:sp>
          <p:nvSpPr>
            <p:cNvPr id="45087" name="Text Box 30"/>
            <p:cNvSpPr txBox="1">
              <a:spLocks noChangeArrowheads="1"/>
            </p:cNvSpPr>
            <p:nvPr/>
          </p:nvSpPr>
          <p:spPr bwMode="auto">
            <a:xfrm>
              <a:off x="3050196" y="2800280"/>
              <a:ext cx="411085" cy="457554"/>
            </a:xfrm>
            <a:prstGeom prst="rect">
              <a:avLst/>
            </a:prstGeom>
            <a:noFill/>
            <a:ln w="9525">
              <a:noFill/>
              <a:miter lim="800000"/>
              <a:headEnd/>
              <a:tailEnd/>
            </a:ln>
          </p:spPr>
          <p:txBody>
            <a:bodyPr>
              <a:spAutoFit/>
            </a:bodyPr>
            <a:lstStyle/>
            <a:p>
              <a:pPr algn="l">
                <a:spcBef>
                  <a:spcPct val="50000"/>
                </a:spcBef>
              </a:pPr>
              <a:r>
                <a:rPr lang="en-US">
                  <a:solidFill>
                    <a:srgbClr val="FF0000"/>
                  </a:solidFill>
                </a:rPr>
                <a:t>7</a:t>
              </a:r>
              <a:endParaRPr lang="en-US"/>
            </a:p>
          </p:txBody>
        </p:sp>
        <p:sp>
          <p:nvSpPr>
            <p:cNvPr id="45088" name="Text Box 31"/>
            <p:cNvSpPr txBox="1">
              <a:spLocks noChangeArrowheads="1"/>
            </p:cNvSpPr>
            <p:nvPr/>
          </p:nvSpPr>
          <p:spPr bwMode="auto">
            <a:xfrm>
              <a:off x="2773285" y="2227661"/>
              <a:ext cx="548113" cy="457554"/>
            </a:xfrm>
            <a:prstGeom prst="rect">
              <a:avLst/>
            </a:prstGeom>
            <a:noFill/>
            <a:ln w="9525">
              <a:noFill/>
              <a:miter lim="800000"/>
              <a:headEnd/>
              <a:tailEnd/>
            </a:ln>
          </p:spPr>
          <p:txBody>
            <a:bodyPr>
              <a:spAutoFit/>
            </a:bodyPr>
            <a:lstStyle/>
            <a:p>
              <a:pPr algn="l">
                <a:spcBef>
                  <a:spcPct val="50000"/>
                </a:spcBef>
              </a:pPr>
              <a:r>
                <a:rPr lang="en-US">
                  <a:solidFill>
                    <a:srgbClr val="FF0000"/>
                  </a:solidFill>
                </a:rPr>
                <a:t>6</a:t>
              </a:r>
              <a:endParaRPr lang="en-US"/>
            </a:p>
          </p:txBody>
        </p:sp>
        <p:sp>
          <p:nvSpPr>
            <p:cNvPr id="45089" name="Text Box 32"/>
            <p:cNvSpPr txBox="1">
              <a:spLocks noChangeArrowheads="1"/>
            </p:cNvSpPr>
            <p:nvPr/>
          </p:nvSpPr>
          <p:spPr bwMode="auto">
            <a:xfrm>
              <a:off x="3526940" y="2811109"/>
              <a:ext cx="548113" cy="457554"/>
            </a:xfrm>
            <a:prstGeom prst="rect">
              <a:avLst/>
            </a:prstGeom>
            <a:noFill/>
            <a:ln w="9525">
              <a:noFill/>
              <a:miter lim="800000"/>
              <a:headEnd/>
              <a:tailEnd/>
            </a:ln>
          </p:spPr>
          <p:txBody>
            <a:bodyPr>
              <a:spAutoFit/>
            </a:bodyPr>
            <a:lstStyle/>
            <a:p>
              <a:pPr algn="l">
                <a:spcBef>
                  <a:spcPct val="50000"/>
                </a:spcBef>
              </a:pPr>
              <a:r>
                <a:rPr lang="en-US">
                  <a:solidFill>
                    <a:srgbClr val="FF0000"/>
                  </a:solidFill>
                </a:rPr>
                <a:t>1</a:t>
              </a:r>
              <a:r>
                <a:rPr lang="bg-BG">
                  <a:solidFill>
                    <a:srgbClr val="FF0000"/>
                  </a:solidFill>
                </a:rPr>
                <a:t>9</a:t>
              </a:r>
              <a:endParaRPr lang="en-US"/>
            </a:p>
          </p:txBody>
        </p:sp>
        <p:sp>
          <p:nvSpPr>
            <p:cNvPr id="45090" name="Text Box 33"/>
            <p:cNvSpPr txBox="1">
              <a:spLocks noChangeArrowheads="1"/>
            </p:cNvSpPr>
            <p:nvPr/>
          </p:nvSpPr>
          <p:spPr bwMode="auto">
            <a:xfrm>
              <a:off x="3732482" y="2227661"/>
              <a:ext cx="548113" cy="457554"/>
            </a:xfrm>
            <a:prstGeom prst="rect">
              <a:avLst/>
            </a:prstGeom>
            <a:noFill/>
            <a:ln w="9525">
              <a:noFill/>
              <a:miter lim="800000"/>
              <a:headEnd/>
              <a:tailEnd/>
            </a:ln>
          </p:spPr>
          <p:txBody>
            <a:bodyPr>
              <a:spAutoFit/>
            </a:bodyPr>
            <a:lstStyle/>
            <a:p>
              <a:pPr algn="l">
                <a:spcBef>
                  <a:spcPct val="50000"/>
                </a:spcBef>
              </a:pPr>
              <a:r>
                <a:rPr lang="en-US"/>
                <a:t>3</a:t>
              </a:r>
              <a:r>
                <a:rPr lang="bg-BG"/>
                <a:t>7</a:t>
              </a:r>
              <a:endParaRPr lang="en-US"/>
            </a:p>
          </p:txBody>
        </p:sp>
        <p:sp>
          <p:nvSpPr>
            <p:cNvPr id="45091" name="Text Box 34"/>
            <p:cNvSpPr txBox="1">
              <a:spLocks noChangeArrowheads="1"/>
            </p:cNvSpPr>
            <p:nvPr/>
          </p:nvSpPr>
          <p:spPr bwMode="auto">
            <a:xfrm>
              <a:off x="3255738" y="1824255"/>
              <a:ext cx="548113" cy="457554"/>
            </a:xfrm>
            <a:prstGeom prst="rect">
              <a:avLst/>
            </a:prstGeom>
            <a:noFill/>
            <a:ln w="9525">
              <a:noFill/>
              <a:miter lim="800000"/>
              <a:headEnd/>
              <a:tailEnd/>
            </a:ln>
          </p:spPr>
          <p:txBody>
            <a:bodyPr>
              <a:spAutoFit/>
            </a:bodyPr>
            <a:lstStyle/>
            <a:p>
              <a:pPr algn="l">
                <a:spcBef>
                  <a:spcPct val="50000"/>
                </a:spcBef>
              </a:pPr>
              <a:r>
                <a:rPr lang="en-US"/>
                <a:t>4</a:t>
              </a:r>
              <a:r>
                <a:rPr lang="bg-BG"/>
                <a:t>2</a:t>
              </a:r>
              <a:endParaRPr lang="en-US"/>
            </a:p>
          </p:txBody>
        </p:sp>
        <p:sp>
          <p:nvSpPr>
            <p:cNvPr id="45092" name="Text Box 35"/>
            <p:cNvSpPr txBox="1">
              <a:spLocks noChangeArrowheads="1"/>
            </p:cNvSpPr>
            <p:nvPr/>
          </p:nvSpPr>
          <p:spPr bwMode="auto">
            <a:xfrm>
              <a:off x="5236938" y="1761985"/>
              <a:ext cx="548113" cy="457554"/>
            </a:xfrm>
            <a:prstGeom prst="rect">
              <a:avLst/>
            </a:prstGeom>
            <a:noFill/>
            <a:ln w="9525">
              <a:noFill/>
              <a:miter lim="800000"/>
              <a:headEnd/>
              <a:tailEnd/>
            </a:ln>
          </p:spPr>
          <p:txBody>
            <a:bodyPr>
              <a:spAutoFit/>
            </a:bodyPr>
            <a:lstStyle/>
            <a:p>
              <a:pPr algn="l">
                <a:spcBef>
                  <a:spcPct val="50000"/>
                </a:spcBef>
              </a:pPr>
              <a:r>
                <a:rPr lang="en-US"/>
                <a:t>3</a:t>
              </a:r>
              <a:r>
                <a:rPr lang="bg-BG"/>
                <a:t>3</a:t>
              </a:r>
              <a:endParaRPr lang="en-US"/>
            </a:p>
          </p:txBody>
        </p:sp>
        <p:sp>
          <p:nvSpPr>
            <p:cNvPr id="45093" name="Text Box 36"/>
            <p:cNvSpPr txBox="1">
              <a:spLocks noChangeArrowheads="1"/>
            </p:cNvSpPr>
            <p:nvPr/>
          </p:nvSpPr>
          <p:spPr bwMode="auto">
            <a:xfrm>
              <a:off x="5034251" y="2293992"/>
              <a:ext cx="548113" cy="457554"/>
            </a:xfrm>
            <a:prstGeom prst="rect">
              <a:avLst/>
            </a:prstGeom>
            <a:noFill/>
            <a:ln w="9525">
              <a:noFill/>
              <a:miter lim="800000"/>
              <a:headEnd/>
              <a:tailEnd/>
            </a:ln>
          </p:spPr>
          <p:txBody>
            <a:bodyPr>
              <a:spAutoFit/>
            </a:bodyPr>
            <a:lstStyle/>
            <a:p>
              <a:pPr algn="l">
                <a:spcBef>
                  <a:spcPct val="50000"/>
                </a:spcBef>
              </a:pPr>
              <a:r>
                <a:rPr lang="en-US">
                  <a:solidFill>
                    <a:srgbClr val="FF0000"/>
                  </a:solidFill>
                </a:rPr>
                <a:t>2</a:t>
              </a:r>
              <a:r>
                <a:rPr lang="bg-BG">
                  <a:solidFill>
                    <a:srgbClr val="FF0000"/>
                  </a:solidFill>
                </a:rPr>
                <a:t>7</a:t>
              </a:r>
              <a:endParaRPr lang="en-US"/>
            </a:p>
          </p:txBody>
        </p:sp>
        <p:sp>
          <p:nvSpPr>
            <p:cNvPr id="45094" name="Text Box 37"/>
            <p:cNvSpPr txBox="1">
              <a:spLocks noChangeArrowheads="1"/>
            </p:cNvSpPr>
            <p:nvPr/>
          </p:nvSpPr>
          <p:spPr bwMode="auto">
            <a:xfrm>
              <a:off x="4832990" y="2811109"/>
              <a:ext cx="546686" cy="457554"/>
            </a:xfrm>
            <a:prstGeom prst="rect">
              <a:avLst/>
            </a:prstGeom>
            <a:noFill/>
            <a:ln w="9525">
              <a:noFill/>
              <a:miter lim="800000"/>
              <a:headEnd/>
              <a:tailEnd/>
            </a:ln>
          </p:spPr>
          <p:txBody>
            <a:bodyPr>
              <a:spAutoFit/>
            </a:bodyPr>
            <a:lstStyle/>
            <a:p>
              <a:pPr algn="l">
                <a:spcBef>
                  <a:spcPct val="50000"/>
                </a:spcBef>
              </a:pPr>
              <a:r>
                <a:rPr lang="en-US">
                  <a:solidFill>
                    <a:srgbClr val="FF0000"/>
                  </a:solidFill>
                </a:rPr>
                <a:t>5</a:t>
              </a:r>
              <a:r>
                <a:rPr lang="bg-BG">
                  <a:solidFill>
                    <a:srgbClr val="FF0000"/>
                  </a:solidFill>
                </a:rPr>
                <a:t>7</a:t>
              </a:r>
              <a:endParaRPr lang="en-US"/>
            </a:p>
          </p:txBody>
        </p:sp>
        <p:sp>
          <p:nvSpPr>
            <p:cNvPr id="45095" name="Text Box 38"/>
            <p:cNvSpPr txBox="1">
              <a:spLocks noChangeArrowheads="1"/>
            </p:cNvSpPr>
            <p:nvPr/>
          </p:nvSpPr>
          <p:spPr bwMode="auto">
            <a:xfrm>
              <a:off x="5776487" y="2281809"/>
              <a:ext cx="548113" cy="456200"/>
            </a:xfrm>
            <a:prstGeom prst="rect">
              <a:avLst/>
            </a:prstGeom>
            <a:noFill/>
            <a:ln w="9525">
              <a:noFill/>
              <a:miter lim="800000"/>
              <a:headEnd/>
              <a:tailEnd/>
            </a:ln>
          </p:spPr>
          <p:txBody>
            <a:bodyPr>
              <a:spAutoFit/>
            </a:bodyPr>
            <a:lstStyle/>
            <a:p>
              <a:pPr algn="l">
                <a:spcBef>
                  <a:spcPct val="50000"/>
                </a:spcBef>
              </a:pPr>
              <a:r>
                <a:rPr lang="en-US"/>
                <a:t>2</a:t>
              </a:r>
              <a:r>
                <a:rPr lang="bg-BG"/>
                <a:t>9</a:t>
              </a:r>
              <a:endParaRPr lang="en-US"/>
            </a:p>
          </p:txBody>
        </p:sp>
        <p:sp>
          <p:nvSpPr>
            <p:cNvPr id="45096" name="Line 39"/>
            <p:cNvSpPr>
              <a:spLocks noChangeShapeType="1"/>
            </p:cNvSpPr>
            <p:nvPr/>
          </p:nvSpPr>
          <p:spPr bwMode="auto">
            <a:xfrm>
              <a:off x="3098800" y="2578100"/>
              <a:ext cx="228600" cy="228600"/>
            </a:xfrm>
            <a:prstGeom prst="line">
              <a:avLst/>
            </a:prstGeom>
            <a:noFill/>
            <a:ln w="9525">
              <a:solidFill>
                <a:srgbClr val="FF0000"/>
              </a:solidFill>
              <a:round/>
              <a:headEnd type="triangle" w="med" len="med"/>
              <a:tailEnd type="triangle" w="med" len="med"/>
            </a:ln>
          </p:spPr>
          <p:txBody>
            <a:bodyPr wrap="none" anchor="ctr"/>
            <a:lstStyle/>
            <a:p>
              <a:endParaRPr lang="bg-BG"/>
            </a:p>
          </p:txBody>
        </p:sp>
      </p:grpSp>
      <p:sp>
        <p:nvSpPr>
          <p:cNvPr id="42" name="Slide Number Placeholder 41"/>
          <p:cNvSpPr>
            <a:spLocks noGrp="1"/>
          </p:cNvSpPr>
          <p:nvPr>
            <p:ph type="sldNum" sz="quarter" idx="12"/>
          </p:nvPr>
        </p:nvSpPr>
        <p:spPr/>
        <p:txBody>
          <a:bodyPr/>
          <a:lstStyle/>
          <a:p>
            <a:pPr>
              <a:defRPr/>
            </a:pPr>
            <a:fld id="{FFD699EF-47BD-4940-B5B1-435AB2B6F13D}" type="slidenum">
              <a:rPr lang="en-US"/>
              <a:pPr>
                <a:defRPr/>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116013" y="533400"/>
            <a:ext cx="7799387" cy="6324600"/>
          </a:xfrm>
        </p:spPr>
        <p:txBody>
          <a:bodyPr>
            <a:normAutofit fontScale="90000"/>
          </a:bodyPr>
          <a:lstStyle/>
          <a:p>
            <a:pPr eaLnBrk="1" fontAlgn="auto" hangingPunct="1">
              <a:spcAft>
                <a:spcPts val="0"/>
              </a:spcAft>
              <a:defRPr/>
            </a:pPr>
            <a:r>
              <a:rPr lang="bg-BG" sz="2000">
                <a:solidFill>
                  <a:schemeClr val="tx1"/>
                </a:solidFill>
              </a:rPr>
              <a:t>	Тук може да се направи едно очевидно подобрение, ускоряващо процеса, а именно - </a:t>
            </a:r>
            <a:r>
              <a:rPr lang="bg-BG" sz="2000" b="1" i="1">
                <a:solidFill>
                  <a:schemeClr val="tx1"/>
                </a:solidFill>
              </a:rPr>
              <a:t>х </a:t>
            </a:r>
            <a:r>
              <a:rPr lang="bg-BG" sz="2000">
                <a:solidFill>
                  <a:schemeClr val="tx1"/>
                </a:solidFill>
              </a:rPr>
              <a:t>да се разменя с по-малкия от двата наследника. Освен това размяната на</a:t>
            </a:r>
            <a:r>
              <a:rPr lang="bg-BG" sz="2000" b="1" i="1">
                <a:solidFill>
                  <a:schemeClr val="tx1"/>
                </a:solidFill>
              </a:rPr>
              <a:t> х </a:t>
            </a:r>
            <a:r>
              <a:rPr lang="bg-BG" sz="2000">
                <a:solidFill>
                  <a:schemeClr val="tx1"/>
                </a:solidFill>
              </a:rPr>
              <a:t>с наследниците му може да се отлага дотогава, докато не бъде намерено точното му място, като вместо това в процеса на търсене на крайната му позиция се извършват еднопосочни присвоявания. </a:t>
            </a:r>
            <a:br>
              <a:rPr lang="bg-BG" sz="2000">
                <a:solidFill>
                  <a:schemeClr val="tx1"/>
                </a:solidFill>
              </a:rPr>
            </a:br>
            <a:r>
              <a:rPr lang="bg-BG" sz="2000">
                <a:solidFill>
                  <a:schemeClr val="tx1"/>
                </a:solidFill>
              </a:rPr>
              <a:t>	Както построяването, така и възстановяването изискват отсяване на върха надолу по пирамидата. Това означава, че може да се реализира обща функция за отсяване </a:t>
            </a:r>
            <a:r>
              <a:rPr lang="en-US" sz="2000" i="1">
                <a:solidFill>
                  <a:schemeClr val="tx1"/>
                </a:solidFill>
              </a:rPr>
              <a:t>sift()</a:t>
            </a:r>
            <a:r>
              <a:rPr lang="en-US" sz="2000">
                <a:solidFill>
                  <a:schemeClr val="tx1"/>
                </a:solidFill>
              </a:rPr>
              <a:t>:</a:t>
            </a:r>
            <a:br>
              <a:rPr lang="en-US" sz="2000">
                <a:solidFill>
                  <a:schemeClr val="tx1"/>
                </a:solidFill>
              </a:rPr>
            </a:br>
            <a:r>
              <a:rPr lang="en-US" sz="800">
                <a:solidFill>
                  <a:schemeClr val="tx1"/>
                </a:solidFill>
              </a:rPr>
              <a:t/>
            </a:r>
            <a:br>
              <a:rPr lang="en-US" sz="800">
                <a:solidFill>
                  <a:schemeClr val="tx1"/>
                </a:solidFill>
              </a:rPr>
            </a:br>
            <a:r>
              <a:rPr lang="en-US" sz="2000" i="1">
                <a:solidFill>
                  <a:schemeClr val="tx1"/>
                </a:solidFill>
              </a:rPr>
              <a:t>void sift (int a[], unsigned lf, unsigned rt)</a:t>
            </a:r>
            <a:br>
              <a:rPr lang="en-US" sz="2000" i="1">
                <a:solidFill>
                  <a:schemeClr val="tx1"/>
                </a:solidFill>
              </a:rPr>
            </a:br>
            <a:r>
              <a:rPr lang="en-US" sz="2000" i="1">
                <a:solidFill>
                  <a:schemeClr val="tx1"/>
                </a:solidFill>
              </a:rPr>
              <a:t>{ unsigned i=lf, j=i+i;</a:t>
            </a:r>
            <a:br>
              <a:rPr lang="en-US" sz="2000" i="1">
                <a:solidFill>
                  <a:schemeClr val="tx1"/>
                </a:solidFill>
              </a:rPr>
            </a:br>
            <a:r>
              <a:rPr lang="en-US" sz="2000" i="1">
                <a:solidFill>
                  <a:schemeClr val="tx1"/>
                </a:solidFill>
              </a:rPr>
              <a:t>  int x=a[i];</a:t>
            </a:r>
            <a:br>
              <a:rPr lang="en-US" sz="2000" i="1">
                <a:solidFill>
                  <a:schemeClr val="tx1"/>
                </a:solidFill>
              </a:rPr>
            </a:br>
            <a:r>
              <a:rPr lang="en-US" sz="2000" i="1">
                <a:solidFill>
                  <a:schemeClr val="tx1"/>
                </a:solidFill>
              </a:rPr>
              <a:t>  while (j&lt;=rt)</a:t>
            </a:r>
            <a:br>
              <a:rPr lang="en-US" sz="2000" i="1">
                <a:solidFill>
                  <a:schemeClr val="tx1"/>
                </a:solidFill>
              </a:rPr>
            </a:br>
            <a:r>
              <a:rPr lang="en-US" sz="2000" i="1">
                <a:solidFill>
                  <a:schemeClr val="tx1"/>
                </a:solidFill>
              </a:rPr>
              <a:t>     { if (j&lt;rt)</a:t>
            </a:r>
            <a:br>
              <a:rPr lang="en-US" sz="2000" i="1">
                <a:solidFill>
                  <a:schemeClr val="tx1"/>
                </a:solidFill>
              </a:rPr>
            </a:br>
            <a:r>
              <a:rPr lang="en-US" sz="2000" i="1">
                <a:solidFill>
                  <a:schemeClr val="tx1"/>
                </a:solidFill>
              </a:rPr>
              <a:t>         if (a[j]&lt;a[j+</a:t>
            </a:r>
            <a:r>
              <a:rPr lang="en-US" sz="2000" i="1">
                <a:solidFill>
                  <a:schemeClr val="tx1"/>
                </a:solidFill>
                <a:latin typeface="Arial" pitchFamily="34" charset="0"/>
                <a:cs typeface="Arial" pitchFamily="34" charset="0"/>
              </a:rPr>
              <a:t>1</a:t>
            </a:r>
            <a:r>
              <a:rPr lang="en-US" sz="2000" i="1">
                <a:solidFill>
                  <a:schemeClr val="tx1"/>
                </a:solidFill>
              </a:rPr>
              <a:t>])   j++;</a:t>
            </a:r>
            <a:br>
              <a:rPr lang="en-US" sz="2000" i="1">
                <a:solidFill>
                  <a:schemeClr val="tx1"/>
                </a:solidFill>
              </a:rPr>
            </a:br>
            <a:r>
              <a:rPr lang="en-US" sz="2000" i="1">
                <a:solidFill>
                  <a:schemeClr val="tx1"/>
                </a:solidFill>
              </a:rPr>
              <a:t>       if (x&gt;a[j])  break;</a:t>
            </a:r>
            <a:br>
              <a:rPr lang="en-US" sz="2000" i="1">
                <a:solidFill>
                  <a:schemeClr val="tx1"/>
                </a:solidFill>
              </a:rPr>
            </a:br>
            <a:r>
              <a:rPr lang="en-US" sz="2000" i="1">
                <a:solidFill>
                  <a:schemeClr val="tx1"/>
                </a:solidFill>
              </a:rPr>
              <a:t>       a[i]=a[j];  </a:t>
            </a:r>
            <a:br>
              <a:rPr lang="en-US" sz="2000" i="1">
                <a:solidFill>
                  <a:schemeClr val="tx1"/>
                </a:solidFill>
              </a:rPr>
            </a:br>
            <a:r>
              <a:rPr lang="en-US" sz="2000" i="1">
                <a:solidFill>
                  <a:schemeClr val="tx1"/>
                </a:solidFill>
              </a:rPr>
              <a:t>       i=j;</a:t>
            </a:r>
            <a:br>
              <a:rPr lang="en-US" sz="2000" i="1">
                <a:solidFill>
                  <a:schemeClr val="tx1"/>
                </a:solidFill>
              </a:rPr>
            </a:br>
            <a:r>
              <a:rPr lang="en-US" sz="2000" i="1">
                <a:solidFill>
                  <a:schemeClr val="tx1"/>
                </a:solidFill>
              </a:rPr>
              <a:t>       j&lt;&lt;=</a:t>
            </a:r>
            <a:r>
              <a:rPr lang="en-US" sz="2000" i="1">
                <a:solidFill>
                  <a:schemeClr val="tx1"/>
                </a:solidFill>
                <a:latin typeface="Arial" pitchFamily="34" charset="0"/>
                <a:cs typeface="Arial" pitchFamily="34" charset="0"/>
              </a:rPr>
              <a:t>1</a:t>
            </a:r>
            <a:r>
              <a:rPr lang="en-US" sz="2000" i="1">
                <a:solidFill>
                  <a:schemeClr val="tx1"/>
                </a:solidFill>
              </a:rPr>
              <a:t>;// </a:t>
            </a:r>
            <a:r>
              <a:rPr lang="bg-BG" sz="2000" i="1">
                <a:solidFill>
                  <a:schemeClr val="tx1"/>
                </a:solidFill>
              </a:rPr>
              <a:t>умножение по 2</a:t>
            </a:r>
            <a:r>
              <a:rPr lang="en-US" sz="2000" i="1">
                <a:solidFill>
                  <a:schemeClr val="tx1"/>
                </a:solidFill>
              </a:rPr>
              <a:t> </a:t>
            </a:r>
            <a:r>
              <a:rPr lang="bg-BG" sz="2000" i="1">
                <a:solidFill>
                  <a:schemeClr val="tx1"/>
                </a:solidFill>
              </a:rPr>
              <a:t/>
            </a:r>
            <a:br>
              <a:rPr lang="bg-BG" sz="2000" i="1">
                <a:solidFill>
                  <a:schemeClr val="tx1"/>
                </a:solidFill>
              </a:rPr>
            </a:br>
            <a:r>
              <a:rPr lang="en-US" sz="2000" i="1">
                <a:solidFill>
                  <a:schemeClr val="tx1"/>
                </a:solidFill>
              </a:rPr>
              <a:t>    }</a:t>
            </a:r>
            <a:br>
              <a:rPr lang="en-US" sz="2000" i="1">
                <a:solidFill>
                  <a:schemeClr val="tx1"/>
                </a:solidFill>
              </a:rPr>
            </a:br>
            <a:r>
              <a:rPr lang="bg-BG" sz="2000" i="1">
                <a:solidFill>
                  <a:schemeClr val="tx1"/>
                </a:solidFill>
              </a:rPr>
              <a:t>    </a:t>
            </a:r>
            <a:r>
              <a:rPr lang="en-US" sz="2000" i="1">
                <a:solidFill>
                  <a:schemeClr val="tx1"/>
                </a:solidFill>
              </a:rPr>
              <a:t>a[i]=x;</a:t>
            </a:r>
            <a:br>
              <a:rPr lang="en-US" sz="2000" i="1">
                <a:solidFill>
                  <a:schemeClr val="tx1"/>
                </a:solidFill>
              </a:rPr>
            </a:br>
            <a:r>
              <a:rPr lang="en-US" sz="2000" i="1">
                <a:solidFill>
                  <a:schemeClr val="tx1"/>
                </a:solidFill>
              </a:rPr>
              <a:t> }</a:t>
            </a:r>
            <a:r>
              <a:rPr lang="en-US" sz="2000" i="1">
                <a:solidFill>
                  <a:schemeClr val="tx2">
                    <a:satMod val="130000"/>
                  </a:schemeClr>
                </a:solidFill>
              </a:rPr>
              <a:t/>
            </a:r>
            <a:br>
              <a:rPr lang="en-US" sz="2000" i="1">
                <a:solidFill>
                  <a:schemeClr val="tx2">
                    <a:satMod val="130000"/>
                  </a:schemeClr>
                </a:solidFill>
              </a:rPr>
            </a:br>
            <a:r>
              <a:rPr lang="en-US" sz="2000">
                <a:solidFill>
                  <a:schemeClr val="tx2">
                    <a:satMod val="130000"/>
                  </a:schemeClr>
                </a:solidFill>
              </a:rPr>
              <a:t>       </a:t>
            </a:r>
          </a:p>
        </p:txBody>
      </p:sp>
      <p:sp>
        <p:nvSpPr>
          <p:cNvPr id="5" name="Slide Number Placeholder 4"/>
          <p:cNvSpPr>
            <a:spLocks noGrp="1"/>
          </p:cNvSpPr>
          <p:nvPr>
            <p:ph type="sldNum" sz="quarter" idx="12"/>
          </p:nvPr>
        </p:nvSpPr>
        <p:spPr/>
        <p:txBody>
          <a:bodyPr/>
          <a:lstStyle/>
          <a:p>
            <a:pPr>
              <a:defRPr/>
            </a:pPr>
            <a:fld id="{11CC24D5-EF22-47A1-B4E7-E2564D060639}" type="slidenum">
              <a:rPr lang="en-US"/>
              <a:pPr>
                <a:defRPr/>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128713" y="188913"/>
            <a:ext cx="8015287" cy="6324600"/>
          </a:xfrm>
        </p:spPr>
        <p:txBody>
          <a:bodyPr>
            <a:normAutofit fontScale="90000"/>
          </a:bodyPr>
          <a:lstStyle/>
          <a:p>
            <a:pPr eaLnBrk="1" fontAlgn="auto" hangingPunct="1">
              <a:lnSpc>
                <a:spcPct val="90000"/>
              </a:lnSpc>
              <a:spcAft>
                <a:spcPts val="0"/>
              </a:spcAft>
              <a:defRPr/>
            </a:pPr>
            <a:r>
              <a:rPr lang="en-US" sz="2000" dirty="0">
                <a:solidFill>
                  <a:schemeClr val="tx1"/>
                </a:solidFill>
              </a:rPr>
              <a:t>	</a:t>
            </a:r>
            <a:r>
              <a:rPr lang="bg-BG" sz="2000" dirty="0">
                <a:solidFill>
                  <a:schemeClr val="tx1"/>
                </a:solidFill>
              </a:rPr>
              <a:t>Построяването на пирамидата (функция </a:t>
            </a:r>
            <a:r>
              <a:rPr lang="bg-BG" sz="2000" dirty="0" err="1">
                <a:solidFill>
                  <a:schemeClr val="tx1"/>
                </a:solidFill>
              </a:rPr>
              <a:t>build_heap</a:t>
            </a:r>
            <a:r>
              <a:rPr lang="bg-BG" sz="2000" dirty="0">
                <a:solidFill>
                  <a:schemeClr val="tx1"/>
                </a:solidFill>
              </a:rPr>
              <a:t>()) може да се извърши така:</a:t>
            </a:r>
            <a:br>
              <a:rPr lang="bg-BG" sz="2000" dirty="0">
                <a:solidFill>
                  <a:schemeClr val="tx1"/>
                </a:solidFill>
              </a:rPr>
            </a:br>
            <a:r>
              <a:rPr lang="bg-BG" sz="800" dirty="0">
                <a:solidFill>
                  <a:schemeClr val="tx1"/>
                </a:solidFill>
              </a:rPr>
              <a:t/>
            </a:r>
            <a:br>
              <a:rPr lang="bg-BG" sz="800" dirty="0">
                <a:solidFill>
                  <a:schemeClr val="tx1"/>
                </a:solidFill>
              </a:rPr>
            </a:br>
            <a:r>
              <a:rPr lang="bg-BG" sz="2000" i="1" dirty="0" err="1">
                <a:solidFill>
                  <a:schemeClr val="tx1"/>
                </a:solidFill>
              </a:rPr>
              <a:t>for</a:t>
            </a:r>
            <a:r>
              <a:rPr lang="bg-BG" sz="2000" i="1" dirty="0">
                <a:solidFill>
                  <a:schemeClr val="tx1"/>
                </a:solidFill>
              </a:rPr>
              <a:t> (k=n/2+1; k&gt;1; k--)</a:t>
            </a:r>
            <a:br>
              <a:rPr lang="bg-BG" sz="2000" i="1" dirty="0">
                <a:solidFill>
                  <a:schemeClr val="tx1"/>
                </a:solidFill>
              </a:rPr>
            </a:br>
            <a:r>
              <a:rPr lang="bg-BG" sz="2000" i="1" dirty="0">
                <a:solidFill>
                  <a:schemeClr val="tx1"/>
                </a:solidFill>
              </a:rPr>
              <a:t>    </a:t>
            </a:r>
            <a:r>
              <a:rPr lang="bg-BG" sz="2000" i="1" dirty="0" err="1">
                <a:solidFill>
                  <a:schemeClr val="tx1"/>
                </a:solidFill>
              </a:rPr>
              <a:t>sift</a:t>
            </a:r>
            <a:r>
              <a:rPr lang="bg-BG" sz="2000" i="1" dirty="0">
                <a:solidFill>
                  <a:schemeClr val="tx1"/>
                </a:solidFill>
              </a:rPr>
              <a:t>(a, k-1, n);</a:t>
            </a:r>
            <a:br>
              <a:rPr lang="bg-BG" sz="2000" i="1" dirty="0">
                <a:solidFill>
                  <a:schemeClr val="tx1"/>
                </a:solidFill>
              </a:rPr>
            </a:br>
            <a:r>
              <a:rPr lang="bg-BG" sz="800" dirty="0">
                <a:solidFill>
                  <a:schemeClr val="tx1"/>
                </a:solidFill>
              </a:rPr>
              <a:t/>
            </a:r>
            <a:br>
              <a:rPr lang="bg-BG" sz="800" dirty="0">
                <a:solidFill>
                  <a:schemeClr val="tx1"/>
                </a:solidFill>
              </a:rPr>
            </a:br>
            <a:r>
              <a:rPr lang="bg-BG" sz="2000" dirty="0">
                <a:solidFill>
                  <a:schemeClr val="tx1"/>
                </a:solidFill>
              </a:rPr>
              <a:t>	За сортирането - многократна размяна на върха на пирамидата с последния й елемент, последвана от отсяване (функция </a:t>
            </a:r>
            <a:r>
              <a:rPr lang="bg-BG" sz="2000" dirty="0" err="1">
                <a:solidFill>
                  <a:schemeClr val="tx1"/>
                </a:solidFill>
              </a:rPr>
              <a:t>restore_heap</a:t>
            </a:r>
            <a:r>
              <a:rPr lang="bg-BG" sz="2000" dirty="0">
                <a:solidFill>
                  <a:schemeClr val="tx1"/>
                </a:solidFill>
              </a:rPr>
              <a:t>()) получаваме:</a:t>
            </a:r>
            <a:r>
              <a:rPr lang="bg-BG" sz="800" dirty="0">
                <a:solidFill>
                  <a:schemeClr val="tx1"/>
                </a:solidFill>
              </a:rPr>
              <a:t/>
            </a:r>
            <a:br>
              <a:rPr lang="bg-BG" sz="800" dirty="0">
                <a:solidFill>
                  <a:schemeClr val="tx1"/>
                </a:solidFill>
              </a:rPr>
            </a:br>
            <a:r>
              <a:rPr lang="bg-BG" sz="800" dirty="0">
                <a:solidFill>
                  <a:schemeClr val="tx1"/>
                </a:solidFill>
              </a:rPr>
              <a:t/>
            </a:r>
            <a:br>
              <a:rPr lang="bg-BG" sz="800" dirty="0">
                <a:solidFill>
                  <a:schemeClr val="tx1"/>
                </a:solidFill>
              </a:rPr>
            </a:br>
            <a:r>
              <a:rPr lang="en-US" sz="2000" i="1" dirty="0">
                <a:solidFill>
                  <a:schemeClr val="tx1"/>
                </a:solidFill>
              </a:rPr>
              <a:t>for (k=n; k&lt;</a:t>
            </a:r>
            <a:r>
              <a:rPr lang="en-US" sz="2000" i="1" dirty="0">
                <a:solidFill>
                  <a:schemeClr val="tx1"/>
                </a:solidFill>
                <a:latin typeface="Arial" pitchFamily="34" charset="0"/>
                <a:cs typeface="Arial" pitchFamily="34" charset="0"/>
              </a:rPr>
              <a:t>1</a:t>
            </a:r>
            <a:r>
              <a:rPr lang="en-US" sz="2000" i="1" dirty="0">
                <a:solidFill>
                  <a:schemeClr val="tx1"/>
                </a:solidFill>
              </a:rPr>
              <a:t>; k--)</a:t>
            </a:r>
            <a:br>
              <a:rPr lang="en-US" sz="2000" i="1" dirty="0">
                <a:solidFill>
                  <a:schemeClr val="tx1"/>
                </a:solidFill>
              </a:rPr>
            </a:br>
            <a:r>
              <a:rPr lang="en-US" sz="2000" i="1" dirty="0">
                <a:solidFill>
                  <a:schemeClr val="tx1"/>
                </a:solidFill>
              </a:rPr>
              <a:t> { </a:t>
            </a:r>
            <a:r>
              <a:rPr lang="en-US" sz="2000" i="1" dirty="0" err="1">
                <a:solidFill>
                  <a:schemeClr val="tx1"/>
                </a:solidFill>
              </a:rPr>
              <a:t>rab</a:t>
            </a:r>
            <a:r>
              <a:rPr lang="en-US" sz="2000" i="1" dirty="0">
                <a:solidFill>
                  <a:schemeClr val="tx1"/>
                </a:solidFill>
              </a:rPr>
              <a:t>=a[</a:t>
            </a:r>
            <a:r>
              <a:rPr lang="en-US" sz="2000" i="1" dirty="0">
                <a:solidFill>
                  <a:schemeClr val="tx1"/>
                </a:solidFill>
                <a:latin typeface="Arial" pitchFamily="34" charset="0"/>
                <a:cs typeface="Arial" pitchFamily="34" charset="0"/>
              </a:rPr>
              <a:t>1</a:t>
            </a:r>
            <a:r>
              <a:rPr lang="en-US" sz="2000" i="1" dirty="0">
                <a:solidFill>
                  <a:schemeClr val="tx1"/>
                </a:solidFill>
              </a:rPr>
              <a:t>]; a[</a:t>
            </a:r>
            <a:r>
              <a:rPr lang="en-US" sz="2000" i="1" dirty="0">
                <a:solidFill>
                  <a:schemeClr val="tx1"/>
                </a:solidFill>
                <a:latin typeface="Arial" pitchFamily="34" charset="0"/>
                <a:cs typeface="Arial" pitchFamily="34" charset="0"/>
              </a:rPr>
              <a:t>1</a:t>
            </a:r>
            <a:r>
              <a:rPr lang="en-US" sz="2000" i="1" dirty="0">
                <a:solidFill>
                  <a:schemeClr val="tx1"/>
                </a:solidFill>
              </a:rPr>
              <a:t>]=a[k]; a[k]=</a:t>
            </a:r>
            <a:r>
              <a:rPr lang="en-US" sz="2000" i="1" dirty="0" err="1">
                <a:solidFill>
                  <a:schemeClr val="tx1"/>
                </a:solidFill>
              </a:rPr>
              <a:t>rab</a:t>
            </a:r>
            <a:r>
              <a:rPr lang="en-US" sz="2000" i="1" dirty="0">
                <a:solidFill>
                  <a:schemeClr val="tx1"/>
                </a:solidFill>
              </a:rPr>
              <a:t>;</a:t>
            </a:r>
            <a:br>
              <a:rPr lang="en-US" sz="2000" i="1" dirty="0">
                <a:solidFill>
                  <a:schemeClr val="tx1"/>
                </a:solidFill>
              </a:rPr>
            </a:br>
            <a:r>
              <a:rPr lang="en-US" sz="2000" i="1" dirty="0">
                <a:solidFill>
                  <a:schemeClr val="tx1"/>
                </a:solidFill>
              </a:rPr>
              <a:t>    sift(a, </a:t>
            </a:r>
            <a:r>
              <a:rPr lang="en-US" sz="2000" i="1" dirty="0">
                <a:solidFill>
                  <a:schemeClr val="tx1"/>
                </a:solidFill>
                <a:latin typeface="Arial" pitchFamily="34" charset="0"/>
                <a:cs typeface="Arial" pitchFamily="34" charset="0"/>
              </a:rPr>
              <a:t>1</a:t>
            </a:r>
            <a:r>
              <a:rPr lang="en-US" sz="2000" i="1" dirty="0">
                <a:solidFill>
                  <a:schemeClr val="tx1"/>
                </a:solidFill>
              </a:rPr>
              <a:t>, k-</a:t>
            </a:r>
            <a:r>
              <a:rPr lang="en-US" sz="2000" i="1" dirty="0">
                <a:solidFill>
                  <a:schemeClr val="tx1"/>
                </a:solidFill>
                <a:latin typeface="Arial" pitchFamily="34" charset="0"/>
                <a:cs typeface="Arial" pitchFamily="34" charset="0"/>
              </a:rPr>
              <a:t>1</a:t>
            </a:r>
            <a:r>
              <a:rPr lang="en-US" sz="2000" i="1" dirty="0">
                <a:solidFill>
                  <a:schemeClr val="tx1"/>
                </a:solidFill>
              </a:rPr>
              <a:t>);</a:t>
            </a:r>
            <a:br>
              <a:rPr lang="en-US" sz="2000" i="1" dirty="0">
                <a:solidFill>
                  <a:schemeClr val="tx1"/>
                </a:solidFill>
              </a:rPr>
            </a:br>
            <a:r>
              <a:rPr lang="en-US" sz="2000" i="1" dirty="0">
                <a:solidFill>
                  <a:schemeClr val="tx1"/>
                </a:solidFill>
              </a:rPr>
              <a:t>  }</a:t>
            </a:r>
            <a:r>
              <a:rPr lang="en-US" sz="2000" dirty="0">
                <a:solidFill>
                  <a:schemeClr val="tx1"/>
                </a:solidFill>
              </a:rPr>
              <a:t> </a:t>
            </a:r>
            <a:r>
              <a:rPr lang="bg-BG" sz="800" dirty="0">
                <a:solidFill>
                  <a:schemeClr val="tx1"/>
                </a:solidFill>
              </a:rPr>
              <a:t/>
            </a:r>
            <a:br>
              <a:rPr lang="bg-BG" sz="800" dirty="0">
                <a:solidFill>
                  <a:schemeClr val="tx1"/>
                </a:solidFill>
              </a:rPr>
            </a:br>
            <a:r>
              <a:rPr lang="en-US" sz="800" dirty="0">
                <a:solidFill>
                  <a:schemeClr val="tx1"/>
                </a:solidFill>
              </a:rPr>
              <a:t/>
            </a:r>
            <a:br>
              <a:rPr lang="en-US" sz="800" dirty="0">
                <a:solidFill>
                  <a:schemeClr val="tx1"/>
                </a:solidFill>
              </a:rPr>
            </a:br>
            <a:r>
              <a:rPr lang="bg-BG" sz="2000" dirty="0">
                <a:solidFill>
                  <a:schemeClr val="tx1"/>
                </a:solidFill>
              </a:rPr>
              <a:t>Окончателният вариант на пирамидалното сортиране е:</a:t>
            </a:r>
            <a:br>
              <a:rPr lang="bg-BG" sz="2000" dirty="0">
                <a:solidFill>
                  <a:schemeClr val="tx1"/>
                </a:solidFill>
              </a:rPr>
            </a:br>
            <a:r>
              <a:rPr lang="bg-BG" sz="800" dirty="0">
                <a:solidFill>
                  <a:schemeClr val="tx1"/>
                </a:solidFill>
              </a:rPr>
              <a:t/>
            </a:r>
            <a:br>
              <a:rPr lang="bg-BG" sz="800" dirty="0">
                <a:solidFill>
                  <a:schemeClr val="tx1"/>
                </a:solidFill>
              </a:rPr>
            </a:br>
            <a:r>
              <a:rPr lang="en-US" sz="2000" i="1" dirty="0">
                <a:solidFill>
                  <a:schemeClr val="tx1"/>
                </a:solidFill>
              </a:rPr>
              <a:t>void </a:t>
            </a:r>
            <a:r>
              <a:rPr lang="en-US" sz="2000" i="1" dirty="0" err="1" smtClean="0">
                <a:solidFill>
                  <a:schemeClr val="tx1"/>
                </a:solidFill>
              </a:rPr>
              <a:t>heapsort</a:t>
            </a:r>
            <a:r>
              <a:rPr lang="en-US" sz="2000" i="1" dirty="0" smtClean="0">
                <a:solidFill>
                  <a:schemeClr val="tx1"/>
                </a:solidFill>
              </a:rPr>
              <a:t>(</a:t>
            </a:r>
            <a:r>
              <a:rPr lang="en-US" sz="2000" i="1" dirty="0" err="1" smtClean="0">
                <a:solidFill>
                  <a:schemeClr val="tx1"/>
                </a:solidFill>
              </a:rPr>
              <a:t>int</a:t>
            </a:r>
            <a:r>
              <a:rPr lang="en-US" sz="2000" i="1" dirty="0" smtClean="0">
                <a:solidFill>
                  <a:schemeClr val="tx1"/>
                </a:solidFill>
              </a:rPr>
              <a:t> </a:t>
            </a:r>
            <a:r>
              <a:rPr lang="en-US" sz="2000" i="1" dirty="0">
                <a:solidFill>
                  <a:schemeClr val="tx1"/>
                </a:solidFill>
              </a:rPr>
              <a:t>a, unsigned n)</a:t>
            </a:r>
            <a:br>
              <a:rPr lang="en-US" sz="2000" i="1" dirty="0">
                <a:solidFill>
                  <a:schemeClr val="tx1"/>
                </a:solidFill>
              </a:rPr>
            </a:br>
            <a:r>
              <a:rPr lang="en-US" sz="2000" i="1" dirty="0">
                <a:solidFill>
                  <a:schemeClr val="tx1"/>
                </a:solidFill>
              </a:rPr>
              <a:t>{  unsigned k;</a:t>
            </a:r>
            <a:br>
              <a:rPr lang="en-US" sz="2000" i="1" dirty="0">
                <a:solidFill>
                  <a:schemeClr val="tx1"/>
                </a:solidFill>
              </a:rPr>
            </a:br>
            <a:r>
              <a:rPr lang="en-US" sz="2000" i="1" dirty="0">
                <a:solidFill>
                  <a:schemeClr val="tx1"/>
                </a:solidFill>
              </a:rPr>
              <a:t>    for (k=n/2+</a:t>
            </a:r>
            <a:r>
              <a:rPr lang="en-US" sz="2000" i="1" dirty="0">
                <a:solidFill>
                  <a:schemeClr val="tx1"/>
                </a:solidFill>
                <a:latin typeface="Arial" pitchFamily="34" charset="0"/>
                <a:cs typeface="Arial" pitchFamily="34" charset="0"/>
              </a:rPr>
              <a:t>1</a:t>
            </a:r>
            <a:r>
              <a:rPr lang="en-US" sz="2000" i="1" dirty="0">
                <a:solidFill>
                  <a:schemeClr val="tx1"/>
                </a:solidFill>
              </a:rPr>
              <a:t>; k&gt;</a:t>
            </a:r>
            <a:r>
              <a:rPr lang="en-US" sz="2000" i="1" dirty="0">
                <a:solidFill>
                  <a:schemeClr val="tx1"/>
                </a:solidFill>
                <a:latin typeface="Arial" pitchFamily="34" charset="0"/>
                <a:cs typeface="Arial" pitchFamily="34" charset="0"/>
              </a:rPr>
              <a:t>1</a:t>
            </a:r>
            <a:r>
              <a:rPr lang="en-US" sz="2000" i="1" dirty="0">
                <a:solidFill>
                  <a:schemeClr val="tx1"/>
                </a:solidFill>
              </a:rPr>
              <a:t>; k--)   // </a:t>
            </a:r>
            <a:r>
              <a:rPr lang="bg-BG" sz="2000" i="1" dirty="0">
                <a:solidFill>
                  <a:schemeClr val="tx1"/>
                </a:solidFill>
              </a:rPr>
              <a:t>построяване на пирамидата</a:t>
            </a:r>
            <a:r>
              <a:rPr lang="en-US" sz="2000" i="1" dirty="0">
                <a:solidFill>
                  <a:schemeClr val="tx1"/>
                </a:solidFill>
              </a:rPr>
              <a:t> </a:t>
            </a:r>
            <a:br>
              <a:rPr lang="en-US" sz="2000" i="1" dirty="0">
                <a:solidFill>
                  <a:schemeClr val="tx1"/>
                </a:solidFill>
              </a:rPr>
            </a:br>
            <a:r>
              <a:rPr lang="en-US" sz="2000" i="1" dirty="0">
                <a:solidFill>
                  <a:schemeClr val="tx1"/>
                </a:solidFill>
              </a:rPr>
              <a:t>         sift(a, k-</a:t>
            </a:r>
            <a:r>
              <a:rPr lang="en-US" sz="2000" i="1" dirty="0">
                <a:solidFill>
                  <a:schemeClr val="tx1"/>
                </a:solidFill>
                <a:latin typeface="Arial" pitchFamily="34" charset="0"/>
                <a:cs typeface="Arial" pitchFamily="34" charset="0"/>
              </a:rPr>
              <a:t>1</a:t>
            </a:r>
            <a:r>
              <a:rPr lang="en-US" sz="2000" i="1" dirty="0">
                <a:solidFill>
                  <a:schemeClr val="tx1"/>
                </a:solidFill>
              </a:rPr>
              <a:t>, n);</a:t>
            </a:r>
            <a:br>
              <a:rPr lang="en-US" sz="2000" i="1" dirty="0">
                <a:solidFill>
                  <a:schemeClr val="tx1"/>
                </a:solidFill>
              </a:rPr>
            </a:br>
            <a:r>
              <a:rPr lang="en-US" sz="2000" i="1" dirty="0">
                <a:solidFill>
                  <a:schemeClr val="tx1"/>
                </a:solidFill>
              </a:rPr>
              <a:t>    for (k=n; k&lt;</a:t>
            </a:r>
            <a:r>
              <a:rPr lang="en-US" sz="2000" i="1" dirty="0">
                <a:solidFill>
                  <a:schemeClr val="tx1"/>
                </a:solidFill>
                <a:latin typeface="Arial" pitchFamily="34" charset="0"/>
                <a:cs typeface="Arial" pitchFamily="34" charset="0"/>
              </a:rPr>
              <a:t>1</a:t>
            </a:r>
            <a:r>
              <a:rPr lang="en-US" sz="2000" i="1" dirty="0">
                <a:solidFill>
                  <a:schemeClr val="tx1"/>
                </a:solidFill>
              </a:rPr>
              <a:t>; k--)</a:t>
            </a:r>
            <a:r>
              <a:rPr lang="bg-BG" sz="2000" i="1" dirty="0">
                <a:solidFill>
                  <a:schemeClr val="tx1"/>
                </a:solidFill>
              </a:rPr>
              <a:t>          //построяване на сортирана последователност</a:t>
            </a:r>
            <a:r>
              <a:rPr lang="en-US" sz="2000" i="1" dirty="0">
                <a:solidFill>
                  <a:schemeClr val="tx1"/>
                </a:solidFill>
              </a:rPr>
              <a:t/>
            </a:r>
            <a:br>
              <a:rPr lang="en-US" sz="2000" i="1" dirty="0">
                <a:solidFill>
                  <a:schemeClr val="tx1"/>
                </a:solidFill>
              </a:rPr>
            </a:br>
            <a:r>
              <a:rPr lang="en-US" sz="2000" i="1" dirty="0">
                <a:solidFill>
                  <a:schemeClr val="tx1"/>
                </a:solidFill>
              </a:rPr>
              <a:t>      { </a:t>
            </a:r>
            <a:r>
              <a:rPr lang="en-US" sz="2000" i="1" dirty="0" err="1">
                <a:solidFill>
                  <a:schemeClr val="tx1"/>
                </a:solidFill>
              </a:rPr>
              <a:t>rab</a:t>
            </a:r>
            <a:r>
              <a:rPr lang="en-US" sz="2000" i="1" dirty="0">
                <a:solidFill>
                  <a:schemeClr val="tx1"/>
                </a:solidFill>
              </a:rPr>
              <a:t>=a[</a:t>
            </a:r>
            <a:r>
              <a:rPr lang="en-US" sz="2000" i="1" dirty="0">
                <a:solidFill>
                  <a:schemeClr val="tx1"/>
                </a:solidFill>
                <a:latin typeface="Arial" pitchFamily="34" charset="0"/>
                <a:cs typeface="Arial" pitchFamily="34" charset="0"/>
              </a:rPr>
              <a:t>1</a:t>
            </a:r>
            <a:r>
              <a:rPr lang="en-US" sz="2000" i="1" dirty="0">
                <a:solidFill>
                  <a:schemeClr val="tx1"/>
                </a:solidFill>
              </a:rPr>
              <a:t>]; a[</a:t>
            </a:r>
            <a:r>
              <a:rPr lang="en-US" sz="2000" i="1" dirty="0">
                <a:solidFill>
                  <a:schemeClr val="tx1"/>
                </a:solidFill>
                <a:latin typeface="Arial" pitchFamily="34" charset="0"/>
                <a:cs typeface="Arial" pitchFamily="34" charset="0"/>
              </a:rPr>
              <a:t>1</a:t>
            </a:r>
            <a:r>
              <a:rPr lang="en-US" sz="2000" i="1" dirty="0">
                <a:solidFill>
                  <a:schemeClr val="tx1"/>
                </a:solidFill>
              </a:rPr>
              <a:t>]=a[k]; a[k]=</a:t>
            </a:r>
            <a:r>
              <a:rPr lang="en-US" sz="2000" i="1" dirty="0" err="1">
                <a:solidFill>
                  <a:schemeClr val="tx1"/>
                </a:solidFill>
              </a:rPr>
              <a:t>rab</a:t>
            </a:r>
            <a:r>
              <a:rPr lang="en-US" sz="2000" i="1" dirty="0">
                <a:solidFill>
                  <a:schemeClr val="tx1"/>
                </a:solidFill>
              </a:rPr>
              <a:t>;</a:t>
            </a:r>
            <a:br>
              <a:rPr lang="en-US" sz="2000" i="1" dirty="0">
                <a:solidFill>
                  <a:schemeClr val="tx1"/>
                </a:solidFill>
              </a:rPr>
            </a:br>
            <a:r>
              <a:rPr lang="en-US" sz="2000" i="1" dirty="0">
                <a:solidFill>
                  <a:schemeClr val="tx1"/>
                </a:solidFill>
              </a:rPr>
              <a:t>         sift(a, </a:t>
            </a:r>
            <a:r>
              <a:rPr lang="en-US" sz="2000" i="1" dirty="0">
                <a:solidFill>
                  <a:schemeClr val="tx1"/>
                </a:solidFill>
                <a:latin typeface="Arial" pitchFamily="34" charset="0"/>
                <a:cs typeface="Arial" pitchFamily="34" charset="0"/>
              </a:rPr>
              <a:t>1</a:t>
            </a:r>
            <a:r>
              <a:rPr lang="en-US" sz="2000" i="1" dirty="0">
                <a:solidFill>
                  <a:schemeClr val="tx1"/>
                </a:solidFill>
              </a:rPr>
              <a:t>, k-</a:t>
            </a:r>
            <a:r>
              <a:rPr lang="en-US" sz="2000" i="1" dirty="0">
                <a:solidFill>
                  <a:schemeClr val="tx1"/>
                </a:solidFill>
                <a:latin typeface="Arial" pitchFamily="34" charset="0"/>
                <a:cs typeface="Arial" pitchFamily="34" charset="0"/>
              </a:rPr>
              <a:t>1</a:t>
            </a:r>
            <a:r>
              <a:rPr lang="en-US" sz="2000" i="1" dirty="0">
                <a:solidFill>
                  <a:schemeClr val="tx1"/>
                </a:solidFill>
              </a:rPr>
              <a:t>);</a:t>
            </a:r>
            <a:br>
              <a:rPr lang="en-US" sz="2000" i="1" dirty="0">
                <a:solidFill>
                  <a:schemeClr val="tx1"/>
                </a:solidFill>
              </a:rPr>
            </a:br>
            <a:r>
              <a:rPr lang="en-US" sz="2000" i="1" dirty="0">
                <a:solidFill>
                  <a:schemeClr val="tx1"/>
                </a:solidFill>
              </a:rPr>
              <a:t>       } </a:t>
            </a:r>
            <a:br>
              <a:rPr lang="en-US" sz="2000" i="1" dirty="0">
                <a:solidFill>
                  <a:schemeClr val="tx1"/>
                </a:solidFill>
              </a:rPr>
            </a:br>
            <a:r>
              <a:rPr lang="en-US" sz="2000" i="1" dirty="0">
                <a:solidFill>
                  <a:schemeClr val="tx1"/>
                </a:solidFill>
              </a:rPr>
              <a:t>}</a:t>
            </a:r>
            <a:endParaRPr lang="en-US" sz="2000" dirty="0">
              <a:solidFill>
                <a:schemeClr val="tx1"/>
              </a:solidFill>
            </a:endParaRPr>
          </a:p>
        </p:txBody>
      </p:sp>
      <p:sp>
        <p:nvSpPr>
          <p:cNvPr id="5" name="Slide Number Placeholder 4"/>
          <p:cNvSpPr>
            <a:spLocks noGrp="1"/>
          </p:cNvSpPr>
          <p:nvPr>
            <p:ph type="sldNum" sz="quarter" idx="12"/>
          </p:nvPr>
        </p:nvSpPr>
        <p:spPr/>
        <p:txBody>
          <a:bodyPr/>
          <a:lstStyle/>
          <a:p>
            <a:pPr>
              <a:defRPr/>
            </a:pPr>
            <a:fld id="{032DD095-AB56-475B-A66E-603BF4D1AF6E}" type="slidenum">
              <a:rPr lang="en-US"/>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065213" y="333375"/>
            <a:ext cx="8078787" cy="5943600"/>
          </a:xfrm>
        </p:spPr>
        <p:txBody>
          <a:bodyPr>
            <a:normAutofit fontScale="90000"/>
          </a:bodyPr>
          <a:lstStyle/>
          <a:p>
            <a:pPr eaLnBrk="1" fontAlgn="auto" hangingPunct="1">
              <a:lnSpc>
                <a:spcPct val="90000"/>
              </a:lnSpc>
              <a:spcAft>
                <a:spcPts val="0"/>
              </a:spcAft>
              <a:defRPr/>
            </a:pPr>
            <a:r>
              <a:rPr lang="en-US" sz="2000" b="1" dirty="0">
                <a:solidFill>
                  <a:schemeClr val="tx1"/>
                </a:solidFill>
              </a:rPr>
              <a:t>          </a:t>
            </a:r>
            <a:r>
              <a:rPr lang="en-AU" sz="2000" b="1" dirty="0">
                <a:solidFill>
                  <a:schemeClr val="tx1"/>
                </a:solidFill>
              </a:rPr>
              <a:t> </a:t>
            </a:r>
            <a:r>
              <a:rPr lang="bg-BG" sz="2400" b="1" dirty="0">
                <a:solidFill>
                  <a:schemeClr val="tx1"/>
                </a:solidFill>
              </a:rPr>
              <a:t>Сортиране чрез сливане </a:t>
            </a:r>
            <a:r>
              <a:rPr lang="bg-BG" sz="2400" b="1" i="1" dirty="0">
                <a:solidFill>
                  <a:schemeClr val="tx1"/>
                </a:solidFill>
              </a:rPr>
              <a:t>(</a:t>
            </a:r>
            <a:r>
              <a:rPr lang="bg-BG" sz="2400" b="1" i="1" dirty="0" err="1">
                <a:solidFill>
                  <a:schemeClr val="tx1"/>
                </a:solidFill>
              </a:rPr>
              <a:t>Mergesort</a:t>
            </a:r>
            <a:r>
              <a:rPr lang="bg-BG" sz="2400" b="1" i="1" dirty="0">
                <a:solidFill>
                  <a:schemeClr val="tx1"/>
                </a:solidFill>
              </a:rPr>
              <a:t>)</a:t>
            </a:r>
            <a:r>
              <a:rPr lang="bg-BG" sz="800" b="1" dirty="0">
                <a:solidFill>
                  <a:schemeClr val="tx1"/>
                </a:solidFill>
              </a:rPr>
              <a:t/>
            </a:r>
            <a:br>
              <a:rPr lang="bg-BG" sz="800" b="1" dirty="0">
                <a:solidFill>
                  <a:schemeClr val="tx1"/>
                </a:solidFill>
              </a:rPr>
            </a:br>
            <a:r>
              <a:rPr lang="bg-BG" sz="800" dirty="0">
                <a:solidFill>
                  <a:schemeClr val="tx1"/>
                </a:solidFill>
              </a:rPr>
              <a:t/>
            </a:r>
            <a:br>
              <a:rPr lang="bg-BG" sz="800" dirty="0">
                <a:solidFill>
                  <a:schemeClr val="tx1"/>
                </a:solidFill>
              </a:rPr>
            </a:br>
            <a:r>
              <a:rPr lang="bg-BG" sz="2000" b="1" dirty="0">
                <a:solidFill>
                  <a:schemeClr val="tx1"/>
                </a:solidFill>
              </a:rPr>
              <a:t>	</a:t>
            </a:r>
            <a:r>
              <a:rPr lang="bg-BG" sz="2000" dirty="0">
                <a:solidFill>
                  <a:schemeClr val="tx1"/>
                </a:solidFill>
              </a:rPr>
              <a:t>В основата на тази група алгоритми за сортиране стои вече разгледания метод "разделяй и владей": подрежданата поредица се разделя на две части, всяка от които се сортира, след което подредените </a:t>
            </a:r>
            <a:r>
              <a:rPr lang="bg-BG" sz="2000" dirty="0" err="1">
                <a:solidFill>
                  <a:schemeClr val="tx1"/>
                </a:solidFill>
              </a:rPr>
              <a:t>подмасиви</a:t>
            </a:r>
            <a:r>
              <a:rPr lang="bg-BG" sz="2000" dirty="0">
                <a:solidFill>
                  <a:schemeClr val="tx1"/>
                </a:solidFill>
              </a:rPr>
              <a:t> се обединяват (или се сливат). </a:t>
            </a:r>
            <a:br>
              <a:rPr lang="bg-BG" sz="2000" dirty="0">
                <a:solidFill>
                  <a:schemeClr val="tx1"/>
                </a:solidFill>
              </a:rPr>
            </a:br>
            <a:r>
              <a:rPr lang="bg-BG" sz="800" dirty="0">
                <a:solidFill>
                  <a:schemeClr val="tx1"/>
                </a:solidFill>
              </a:rPr>
              <a:t/>
            </a:r>
            <a:br>
              <a:rPr lang="bg-BG" sz="800" dirty="0">
                <a:solidFill>
                  <a:schemeClr val="tx1"/>
                </a:solidFill>
              </a:rPr>
            </a:br>
            <a:r>
              <a:rPr lang="bg-BG" sz="2000" i="1" dirty="0">
                <a:solidFill>
                  <a:schemeClr val="tx1"/>
                </a:solidFill>
              </a:rPr>
              <a:t>1.</a:t>
            </a:r>
            <a:r>
              <a:rPr lang="bg-BG" sz="2000" dirty="0">
                <a:solidFill>
                  <a:schemeClr val="tx1"/>
                </a:solidFill>
              </a:rPr>
              <a:t> </a:t>
            </a:r>
            <a:r>
              <a:rPr lang="bg-BG" sz="2000" i="1" dirty="0">
                <a:solidFill>
                  <a:schemeClr val="tx1"/>
                </a:solidFill>
              </a:rPr>
              <a:t>Сливане на сортирани масиви</a:t>
            </a:r>
            <a:r>
              <a:rPr lang="bg-BG" sz="2000" dirty="0">
                <a:solidFill>
                  <a:schemeClr val="tx1"/>
                </a:solidFill>
              </a:rPr>
              <a:t/>
            </a:r>
            <a:br>
              <a:rPr lang="bg-BG" sz="2000" dirty="0">
                <a:solidFill>
                  <a:schemeClr val="tx1"/>
                </a:solidFill>
              </a:rPr>
            </a:br>
            <a:r>
              <a:rPr lang="bg-BG" sz="2000" dirty="0">
                <a:solidFill>
                  <a:schemeClr val="tx1"/>
                </a:solidFill>
              </a:rPr>
              <a:t>	Нека да видим, как можем да обединим два вече подредени по големина масива </a:t>
            </a:r>
            <a:r>
              <a:rPr lang="bg-BG" sz="2000" b="1" i="1" dirty="0">
                <a:solidFill>
                  <a:schemeClr val="tx1"/>
                </a:solidFill>
              </a:rPr>
              <a:t>a</a:t>
            </a:r>
            <a:r>
              <a:rPr lang="bg-BG" sz="2000" dirty="0">
                <a:solidFill>
                  <a:schemeClr val="tx1"/>
                </a:solidFill>
              </a:rPr>
              <a:t>[ ] и </a:t>
            </a:r>
            <a:r>
              <a:rPr lang="bg-BG" sz="2000" b="1" i="1" dirty="0">
                <a:solidFill>
                  <a:schemeClr val="tx1"/>
                </a:solidFill>
              </a:rPr>
              <a:t>b</a:t>
            </a:r>
            <a:r>
              <a:rPr lang="bg-BG" sz="2000" dirty="0">
                <a:solidFill>
                  <a:schemeClr val="tx1"/>
                </a:solidFill>
              </a:rPr>
              <a:t>[ ].</a:t>
            </a:r>
            <a:r>
              <a:rPr lang="bg-BG" sz="800" dirty="0">
                <a:solidFill>
                  <a:schemeClr val="tx1"/>
                </a:solidFill>
              </a:rPr>
              <a:t/>
            </a:r>
            <a:br>
              <a:rPr lang="bg-BG" sz="800" dirty="0">
                <a:solidFill>
                  <a:schemeClr val="tx1"/>
                </a:solidFill>
              </a:rPr>
            </a:br>
            <a:r>
              <a:rPr lang="bg-BG" sz="1800" dirty="0">
                <a:solidFill>
                  <a:schemeClr val="tx1"/>
                </a:solidFill>
                <a:latin typeface="Courier New" pitchFamily="49" charset="-52"/>
              </a:rPr>
              <a:t>...</a:t>
            </a:r>
            <a:br>
              <a:rPr lang="bg-BG" sz="1800" dirty="0">
                <a:solidFill>
                  <a:schemeClr val="tx1"/>
                </a:solidFill>
                <a:latin typeface="Courier New" pitchFamily="49" charset="-52"/>
              </a:rPr>
            </a:br>
            <a:r>
              <a:rPr lang="bg-BG" sz="1800" dirty="0" err="1">
                <a:solidFill>
                  <a:schemeClr val="tx1"/>
                </a:solidFill>
                <a:latin typeface="Courier New" pitchFamily="49" charset="-52"/>
              </a:rPr>
              <a:t>const</a:t>
            </a:r>
            <a:r>
              <a:rPr lang="bg-BG" sz="1800" dirty="0">
                <a:solidFill>
                  <a:schemeClr val="tx1"/>
                </a:solidFill>
                <a:latin typeface="Courier New" pitchFamily="49" charset="-52"/>
              </a:rPr>
              <a:t> </a:t>
            </a:r>
            <a:r>
              <a:rPr lang="en-US" sz="1800" dirty="0" err="1" smtClean="0">
                <a:solidFill>
                  <a:schemeClr val="tx1"/>
                </a:solidFill>
                <a:latin typeface="Courier New" pitchFamily="49" charset="-52"/>
              </a:rPr>
              <a:t>int</a:t>
            </a:r>
            <a:r>
              <a:rPr lang="en-US" sz="1800" dirty="0" smtClean="0">
                <a:solidFill>
                  <a:schemeClr val="tx1"/>
                </a:solidFill>
                <a:latin typeface="Courier New" pitchFamily="49" charset="-52"/>
              </a:rPr>
              <a:t> </a:t>
            </a:r>
            <a:r>
              <a:rPr lang="bg-BG" sz="1800" dirty="0" err="1" smtClean="0">
                <a:solidFill>
                  <a:schemeClr val="tx1"/>
                </a:solidFill>
                <a:latin typeface="Courier New" pitchFamily="49" charset="-52"/>
              </a:rPr>
              <a:t>an</a:t>
            </a:r>
            <a:r>
              <a:rPr lang="bg-BG" sz="1800" dirty="0" smtClean="0">
                <a:solidFill>
                  <a:schemeClr val="tx1"/>
                </a:solidFill>
                <a:latin typeface="Courier New" pitchFamily="49" charset="-52"/>
              </a:rPr>
              <a:t>=100</a:t>
            </a:r>
            <a:r>
              <a:rPr lang="bg-BG" sz="1800" dirty="0">
                <a:solidFill>
                  <a:schemeClr val="tx1"/>
                </a:solidFill>
                <a:latin typeface="Courier New" pitchFamily="49" charset="-52"/>
              </a:rPr>
              <a:t>, </a:t>
            </a:r>
            <a:r>
              <a:rPr lang="bg-BG" sz="1800" dirty="0" err="1">
                <a:solidFill>
                  <a:schemeClr val="tx1"/>
                </a:solidFill>
                <a:latin typeface="Courier New" pitchFamily="49" charset="-52"/>
              </a:rPr>
              <a:t>bn</a:t>
            </a:r>
            <a:r>
              <a:rPr lang="bg-BG" sz="1800" dirty="0">
                <a:solidFill>
                  <a:schemeClr val="tx1"/>
                </a:solidFill>
                <a:latin typeface="Courier New" pitchFamily="49" charset="-52"/>
              </a:rPr>
              <a:t>=120;</a:t>
            </a:r>
            <a:br>
              <a:rPr lang="bg-BG" sz="1800" dirty="0">
                <a:solidFill>
                  <a:schemeClr val="tx1"/>
                </a:solidFill>
                <a:latin typeface="Courier New" pitchFamily="49" charset="-52"/>
              </a:rPr>
            </a:br>
            <a:r>
              <a:rPr lang="bg-BG" sz="1800" dirty="0" err="1">
                <a:solidFill>
                  <a:schemeClr val="tx1"/>
                </a:solidFill>
                <a:latin typeface="Courier New" pitchFamily="49" charset="-52"/>
              </a:rPr>
              <a:t>int</a:t>
            </a:r>
            <a:r>
              <a:rPr lang="bg-BG" sz="1800" dirty="0">
                <a:solidFill>
                  <a:schemeClr val="tx1"/>
                </a:solidFill>
                <a:latin typeface="Courier New" pitchFamily="49" charset="-52"/>
              </a:rPr>
              <a:t> a[</a:t>
            </a:r>
            <a:r>
              <a:rPr lang="bg-BG" sz="1800" dirty="0" err="1">
                <a:solidFill>
                  <a:schemeClr val="tx1"/>
                </a:solidFill>
                <a:latin typeface="Courier New" pitchFamily="49" charset="-52"/>
              </a:rPr>
              <a:t>an</a:t>
            </a:r>
            <a:r>
              <a:rPr lang="bg-BG" sz="1800" dirty="0">
                <a:solidFill>
                  <a:schemeClr val="tx1"/>
                </a:solidFill>
                <a:latin typeface="Courier New" pitchFamily="49" charset="-52"/>
              </a:rPr>
              <a:t>], b[</a:t>
            </a:r>
            <a:r>
              <a:rPr lang="bg-BG" sz="1800" dirty="0" err="1">
                <a:solidFill>
                  <a:schemeClr val="tx1"/>
                </a:solidFill>
                <a:latin typeface="Courier New" pitchFamily="49" charset="-52"/>
              </a:rPr>
              <a:t>bn</a:t>
            </a:r>
            <a:r>
              <a:rPr lang="bg-BG" sz="1800" dirty="0">
                <a:solidFill>
                  <a:schemeClr val="tx1"/>
                </a:solidFill>
                <a:latin typeface="Courier New" pitchFamily="49" charset="-52"/>
              </a:rPr>
              <a:t>], c[</a:t>
            </a:r>
            <a:r>
              <a:rPr lang="bg-BG" sz="1800" dirty="0" err="1">
                <a:solidFill>
                  <a:schemeClr val="tx1"/>
                </a:solidFill>
                <a:latin typeface="Courier New" pitchFamily="49" charset="-52"/>
              </a:rPr>
              <a:t>an+bn</a:t>
            </a:r>
            <a:r>
              <a:rPr lang="bg-BG" sz="1800" dirty="0">
                <a:solidFill>
                  <a:schemeClr val="tx1"/>
                </a:solidFill>
                <a:latin typeface="Courier New" pitchFamily="49" charset="-52"/>
              </a:rPr>
              <a:t>];</a:t>
            </a:r>
            <a:br>
              <a:rPr lang="bg-BG" sz="1800" dirty="0">
                <a:solidFill>
                  <a:schemeClr val="tx1"/>
                </a:solidFill>
                <a:latin typeface="Courier New" pitchFamily="49" charset="-52"/>
              </a:rPr>
            </a:br>
            <a:r>
              <a:rPr lang="bg-BG" sz="1800" dirty="0">
                <a:solidFill>
                  <a:schemeClr val="tx1"/>
                </a:solidFill>
                <a:latin typeface="Courier New" pitchFamily="49" charset="-52"/>
              </a:rPr>
              <a:t>...</a:t>
            </a:r>
            <a:r>
              <a:rPr lang="bg-BG" sz="2000" dirty="0">
                <a:solidFill>
                  <a:schemeClr val="tx1"/>
                </a:solidFill>
              </a:rPr>
              <a:t/>
            </a:r>
            <a:br>
              <a:rPr lang="bg-BG" sz="2000" dirty="0">
                <a:solidFill>
                  <a:schemeClr val="tx1"/>
                </a:solidFill>
              </a:rPr>
            </a:br>
            <a:r>
              <a:rPr lang="bg-BG" sz="2000" dirty="0">
                <a:solidFill>
                  <a:schemeClr val="tx1"/>
                </a:solidFill>
              </a:rPr>
              <a:t>Функция, реализираща тази операция:</a:t>
            </a:r>
            <a:br>
              <a:rPr lang="bg-BG" sz="2000" dirty="0">
                <a:solidFill>
                  <a:schemeClr val="tx1"/>
                </a:solidFill>
              </a:rPr>
            </a:br>
            <a:r>
              <a:rPr lang="bg-BG" sz="800" dirty="0">
                <a:solidFill>
                  <a:schemeClr val="tx1"/>
                </a:solidFill>
              </a:rPr>
              <a:t/>
            </a:r>
            <a:br>
              <a:rPr lang="bg-BG" sz="800" dirty="0">
                <a:solidFill>
                  <a:schemeClr val="tx1"/>
                </a:solidFill>
              </a:rPr>
            </a:br>
            <a:r>
              <a:rPr lang="bg-BG" sz="1800" dirty="0" err="1">
                <a:solidFill>
                  <a:schemeClr val="tx1"/>
                </a:solidFill>
                <a:latin typeface="Courier New" pitchFamily="49" charset="-52"/>
              </a:rPr>
              <a:t>void</a:t>
            </a:r>
            <a:r>
              <a:rPr lang="bg-BG" sz="1800" dirty="0">
                <a:solidFill>
                  <a:schemeClr val="tx1"/>
                </a:solidFill>
                <a:latin typeface="Courier New" pitchFamily="49" charset="-52"/>
              </a:rPr>
              <a:t> </a:t>
            </a:r>
            <a:r>
              <a:rPr lang="bg-BG" sz="1800" dirty="0" err="1">
                <a:solidFill>
                  <a:schemeClr val="tx1"/>
                </a:solidFill>
                <a:latin typeface="Courier New" pitchFamily="49" charset="-52"/>
              </a:rPr>
              <a:t>merge</a:t>
            </a:r>
            <a:r>
              <a:rPr lang="bg-BG" sz="1800" dirty="0">
                <a:solidFill>
                  <a:schemeClr val="tx1"/>
                </a:solidFill>
                <a:latin typeface="Courier New" pitchFamily="49" charset="-52"/>
              </a:rPr>
              <a:t> (</a:t>
            </a:r>
            <a:r>
              <a:rPr lang="bg-BG" sz="1800" dirty="0" err="1">
                <a:solidFill>
                  <a:schemeClr val="tx1"/>
                </a:solidFill>
                <a:latin typeface="Courier New" pitchFamily="49" charset="-52"/>
              </a:rPr>
              <a:t>int</a:t>
            </a:r>
            <a:r>
              <a:rPr lang="bg-BG" sz="1800" dirty="0">
                <a:solidFill>
                  <a:schemeClr val="tx1"/>
                </a:solidFill>
                <a:latin typeface="Courier New" pitchFamily="49" charset="-52"/>
              </a:rPr>
              <a:t> a[], </a:t>
            </a:r>
            <a:r>
              <a:rPr lang="bg-BG" sz="1800" dirty="0" err="1">
                <a:solidFill>
                  <a:schemeClr val="tx1"/>
                </a:solidFill>
                <a:latin typeface="Courier New" pitchFamily="49" charset="-52"/>
              </a:rPr>
              <a:t>int</a:t>
            </a:r>
            <a:r>
              <a:rPr lang="bg-BG" sz="1800" dirty="0">
                <a:solidFill>
                  <a:schemeClr val="tx1"/>
                </a:solidFill>
                <a:latin typeface="Courier New" pitchFamily="49" charset="-52"/>
              </a:rPr>
              <a:t> </a:t>
            </a:r>
            <a:r>
              <a:rPr lang="bg-BG" sz="1800" dirty="0" err="1">
                <a:solidFill>
                  <a:schemeClr val="tx1"/>
                </a:solidFill>
                <a:latin typeface="Courier New" pitchFamily="49" charset="-52"/>
              </a:rPr>
              <a:t>na</a:t>
            </a:r>
            <a:r>
              <a:rPr lang="bg-BG" sz="1800" dirty="0">
                <a:solidFill>
                  <a:schemeClr val="tx1"/>
                </a:solidFill>
                <a:latin typeface="Courier New" pitchFamily="49" charset="-52"/>
              </a:rPr>
              <a:t>, </a:t>
            </a:r>
            <a:r>
              <a:rPr lang="bg-BG" sz="1800" dirty="0" err="1">
                <a:solidFill>
                  <a:schemeClr val="tx1"/>
                </a:solidFill>
                <a:latin typeface="Courier New" pitchFamily="49" charset="-52"/>
              </a:rPr>
              <a:t>int</a:t>
            </a:r>
            <a:r>
              <a:rPr lang="bg-BG" sz="1800" dirty="0">
                <a:solidFill>
                  <a:schemeClr val="tx1"/>
                </a:solidFill>
                <a:latin typeface="Courier New" pitchFamily="49" charset="-52"/>
              </a:rPr>
              <a:t> b[], </a:t>
            </a:r>
            <a:r>
              <a:rPr lang="bg-BG" sz="1800" dirty="0" err="1">
                <a:solidFill>
                  <a:schemeClr val="tx1"/>
                </a:solidFill>
                <a:latin typeface="Courier New" pitchFamily="49" charset="-52"/>
              </a:rPr>
              <a:t>int</a:t>
            </a:r>
            <a:r>
              <a:rPr lang="bg-BG" sz="1800" dirty="0">
                <a:solidFill>
                  <a:schemeClr val="tx1"/>
                </a:solidFill>
                <a:latin typeface="Courier New" pitchFamily="49" charset="-52"/>
              </a:rPr>
              <a:t> </a:t>
            </a:r>
            <a:r>
              <a:rPr lang="bg-BG" sz="1800" dirty="0" err="1">
                <a:solidFill>
                  <a:schemeClr val="tx1"/>
                </a:solidFill>
                <a:latin typeface="Courier New" pitchFamily="49" charset="-52"/>
              </a:rPr>
              <a:t>nb</a:t>
            </a:r>
            <a:r>
              <a:rPr lang="bg-BG" sz="1800" dirty="0">
                <a:solidFill>
                  <a:schemeClr val="tx1"/>
                </a:solidFill>
                <a:latin typeface="Courier New" pitchFamily="49" charset="-52"/>
              </a:rPr>
              <a:t>, </a:t>
            </a:r>
            <a:r>
              <a:rPr lang="bg-BG" sz="1800" dirty="0" err="1">
                <a:solidFill>
                  <a:schemeClr val="tx1"/>
                </a:solidFill>
                <a:latin typeface="Courier New" pitchFamily="49" charset="-52"/>
              </a:rPr>
              <a:t>int</a:t>
            </a:r>
            <a:r>
              <a:rPr lang="bg-BG" sz="1800" dirty="0">
                <a:solidFill>
                  <a:schemeClr val="tx1"/>
                </a:solidFill>
                <a:latin typeface="Courier New" pitchFamily="49" charset="-52"/>
              </a:rPr>
              <a:t> c[])</a:t>
            </a:r>
            <a:br>
              <a:rPr lang="bg-BG" sz="1800" dirty="0">
                <a:solidFill>
                  <a:schemeClr val="tx1"/>
                </a:solidFill>
                <a:latin typeface="Courier New" pitchFamily="49" charset="-52"/>
              </a:rPr>
            </a:br>
            <a:r>
              <a:rPr lang="bg-BG" sz="1800" dirty="0">
                <a:solidFill>
                  <a:schemeClr val="tx1"/>
                </a:solidFill>
                <a:latin typeface="Courier New" pitchFamily="49" charset="-52"/>
              </a:rPr>
              <a:t>{  </a:t>
            </a:r>
            <a:r>
              <a:rPr lang="bg-BG" sz="1800" dirty="0" err="1">
                <a:solidFill>
                  <a:schemeClr val="tx1"/>
                </a:solidFill>
                <a:latin typeface="Courier New" pitchFamily="49" charset="-52"/>
              </a:rPr>
              <a:t>int</a:t>
            </a:r>
            <a:r>
              <a:rPr lang="bg-BG" sz="1800" dirty="0">
                <a:solidFill>
                  <a:schemeClr val="tx1"/>
                </a:solidFill>
                <a:latin typeface="Courier New" pitchFamily="49" charset="-52"/>
              </a:rPr>
              <a:t> </a:t>
            </a:r>
            <a:r>
              <a:rPr lang="bg-BG" sz="1800" dirty="0" err="1">
                <a:solidFill>
                  <a:schemeClr val="tx1"/>
                </a:solidFill>
                <a:latin typeface="Courier New" pitchFamily="49" charset="-52"/>
              </a:rPr>
              <a:t>ia</a:t>
            </a:r>
            <a:r>
              <a:rPr lang="bg-BG" sz="1800" dirty="0">
                <a:solidFill>
                  <a:schemeClr val="tx1"/>
                </a:solidFill>
                <a:latin typeface="Courier New" pitchFamily="49" charset="-52"/>
              </a:rPr>
              <a:t>=0, </a:t>
            </a:r>
            <a:r>
              <a:rPr lang="bg-BG" sz="1800" dirty="0" err="1">
                <a:solidFill>
                  <a:schemeClr val="tx1"/>
                </a:solidFill>
                <a:latin typeface="Courier New" pitchFamily="49" charset="-52"/>
              </a:rPr>
              <a:t>ib</a:t>
            </a:r>
            <a:r>
              <a:rPr lang="bg-BG" sz="1800" dirty="0">
                <a:solidFill>
                  <a:schemeClr val="tx1"/>
                </a:solidFill>
                <a:latin typeface="Courier New" pitchFamily="49" charset="-52"/>
              </a:rPr>
              <a:t>=0, ic=0;  </a:t>
            </a:r>
            <a:br>
              <a:rPr lang="bg-BG" sz="1800" dirty="0">
                <a:solidFill>
                  <a:schemeClr val="tx1"/>
                </a:solidFill>
                <a:latin typeface="Courier New" pitchFamily="49" charset="-52"/>
              </a:rPr>
            </a:br>
            <a:r>
              <a:rPr lang="bg-BG" sz="1800" dirty="0">
                <a:solidFill>
                  <a:schemeClr val="tx1"/>
                </a:solidFill>
                <a:latin typeface="Courier New" pitchFamily="49" charset="-52"/>
              </a:rPr>
              <a:t>   </a:t>
            </a:r>
            <a:r>
              <a:rPr lang="bg-BG" sz="1800" dirty="0" err="1">
                <a:solidFill>
                  <a:schemeClr val="tx1"/>
                </a:solidFill>
                <a:latin typeface="Courier New" pitchFamily="49" charset="-52"/>
              </a:rPr>
              <a:t>while</a:t>
            </a:r>
            <a:r>
              <a:rPr lang="bg-BG" sz="1800" dirty="0">
                <a:solidFill>
                  <a:schemeClr val="tx1"/>
                </a:solidFill>
                <a:latin typeface="Courier New" pitchFamily="49" charset="-52"/>
              </a:rPr>
              <a:t> (</a:t>
            </a:r>
            <a:r>
              <a:rPr lang="bg-BG" sz="1800" dirty="0" err="1">
                <a:solidFill>
                  <a:schemeClr val="tx1"/>
                </a:solidFill>
                <a:latin typeface="Courier New" pitchFamily="49" charset="-52"/>
              </a:rPr>
              <a:t>ia</a:t>
            </a:r>
            <a:r>
              <a:rPr lang="bg-BG" sz="1800" dirty="0">
                <a:solidFill>
                  <a:schemeClr val="tx1"/>
                </a:solidFill>
                <a:latin typeface="Courier New" pitchFamily="49" charset="-52"/>
              </a:rPr>
              <a:t>&lt;</a:t>
            </a:r>
            <a:r>
              <a:rPr lang="bg-BG" sz="1800" dirty="0" err="1">
                <a:solidFill>
                  <a:schemeClr val="tx1"/>
                </a:solidFill>
                <a:latin typeface="Courier New" pitchFamily="49" charset="-52"/>
              </a:rPr>
              <a:t>na&amp;&amp;ib</a:t>
            </a:r>
            <a:r>
              <a:rPr lang="bg-BG" sz="1800" dirty="0">
                <a:solidFill>
                  <a:schemeClr val="tx1"/>
                </a:solidFill>
                <a:latin typeface="Courier New" pitchFamily="49" charset="-52"/>
              </a:rPr>
              <a:t>&lt;</a:t>
            </a:r>
            <a:r>
              <a:rPr lang="bg-BG" sz="1800" dirty="0" err="1">
                <a:solidFill>
                  <a:schemeClr val="tx1"/>
                </a:solidFill>
                <a:latin typeface="Courier New" pitchFamily="49" charset="-52"/>
              </a:rPr>
              <a:t>nb</a:t>
            </a:r>
            <a:r>
              <a:rPr lang="bg-BG" sz="1800" dirty="0">
                <a:solidFill>
                  <a:schemeClr val="tx1"/>
                </a:solidFill>
                <a:latin typeface="Courier New" pitchFamily="49" charset="-52"/>
              </a:rPr>
              <a:t>)</a:t>
            </a:r>
            <a:br>
              <a:rPr lang="bg-BG" sz="1800" dirty="0">
                <a:solidFill>
                  <a:schemeClr val="tx1"/>
                </a:solidFill>
                <a:latin typeface="Courier New" pitchFamily="49" charset="-52"/>
              </a:rPr>
            </a:br>
            <a:r>
              <a:rPr lang="bg-BG" sz="1800" dirty="0">
                <a:solidFill>
                  <a:schemeClr val="tx1"/>
                </a:solidFill>
                <a:latin typeface="Courier New" pitchFamily="49" charset="-52"/>
              </a:rPr>
              <a:t>      c[</a:t>
            </a:r>
            <a:r>
              <a:rPr lang="bg-BG" sz="1800" dirty="0" err="1">
                <a:solidFill>
                  <a:schemeClr val="tx1"/>
                </a:solidFill>
                <a:latin typeface="Courier New" pitchFamily="49" charset="-52"/>
              </a:rPr>
              <a:t>ic++</a:t>
            </a:r>
            <a:r>
              <a:rPr lang="bg-BG" sz="1800" dirty="0">
                <a:solidFill>
                  <a:schemeClr val="tx1"/>
                </a:solidFill>
                <a:latin typeface="Courier New" pitchFamily="49" charset="-52"/>
              </a:rPr>
              <a:t>]=((a[</a:t>
            </a:r>
            <a:r>
              <a:rPr lang="bg-BG" sz="1800" dirty="0" err="1">
                <a:solidFill>
                  <a:schemeClr val="tx1"/>
                </a:solidFill>
                <a:latin typeface="Courier New" pitchFamily="49" charset="-52"/>
              </a:rPr>
              <a:t>ia</a:t>
            </a:r>
            <a:r>
              <a:rPr lang="bg-BG" sz="1800" dirty="0">
                <a:solidFill>
                  <a:schemeClr val="tx1"/>
                </a:solidFill>
                <a:latin typeface="Courier New" pitchFamily="49" charset="-52"/>
              </a:rPr>
              <a:t>]&lt;b[</a:t>
            </a:r>
            <a:r>
              <a:rPr lang="bg-BG" sz="1800" dirty="0" err="1">
                <a:solidFill>
                  <a:schemeClr val="tx1"/>
                </a:solidFill>
                <a:latin typeface="Courier New" pitchFamily="49" charset="-52"/>
              </a:rPr>
              <a:t>ib</a:t>
            </a:r>
            <a:r>
              <a:rPr lang="bg-BG" sz="1800" dirty="0">
                <a:solidFill>
                  <a:schemeClr val="tx1"/>
                </a:solidFill>
                <a:latin typeface="Courier New" pitchFamily="49" charset="-52"/>
              </a:rPr>
              <a:t>])?a[</a:t>
            </a:r>
            <a:r>
              <a:rPr lang="bg-BG" sz="1800" dirty="0" err="1">
                <a:solidFill>
                  <a:schemeClr val="tx1"/>
                </a:solidFill>
                <a:latin typeface="Courier New" pitchFamily="49" charset="-52"/>
              </a:rPr>
              <a:t>ia++</a:t>
            </a:r>
            <a:r>
              <a:rPr lang="bg-BG" sz="1800" dirty="0">
                <a:solidFill>
                  <a:schemeClr val="tx1"/>
                </a:solidFill>
                <a:latin typeface="Courier New" pitchFamily="49" charset="-52"/>
              </a:rPr>
              <a:t>]:b[</a:t>
            </a:r>
            <a:r>
              <a:rPr lang="bg-BG" sz="1800" dirty="0" err="1">
                <a:solidFill>
                  <a:schemeClr val="tx1"/>
                </a:solidFill>
                <a:latin typeface="Courier New" pitchFamily="49" charset="-52"/>
              </a:rPr>
              <a:t>ib++</a:t>
            </a:r>
            <a:r>
              <a:rPr lang="bg-BG" sz="1800" dirty="0">
                <a:solidFill>
                  <a:schemeClr val="tx1"/>
                </a:solidFill>
                <a:latin typeface="Courier New" pitchFamily="49" charset="-52"/>
              </a:rPr>
              <a:t>]); </a:t>
            </a:r>
            <a:br>
              <a:rPr lang="bg-BG" sz="1800" dirty="0">
                <a:solidFill>
                  <a:schemeClr val="tx1"/>
                </a:solidFill>
                <a:latin typeface="Courier New" pitchFamily="49" charset="-52"/>
              </a:rPr>
            </a:br>
            <a:r>
              <a:rPr lang="bg-BG" sz="1800" dirty="0">
                <a:solidFill>
                  <a:schemeClr val="tx1"/>
                </a:solidFill>
                <a:latin typeface="Courier New" pitchFamily="49" charset="-52"/>
              </a:rPr>
              <a:t>   </a:t>
            </a:r>
            <a:r>
              <a:rPr lang="bg-BG" sz="1800" dirty="0" err="1">
                <a:solidFill>
                  <a:schemeClr val="tx1"/>
                </a:solidFill>
                <a:latin typeface="Courier New" pitchFamily="49" charset="-52"/>
              </a:rPr>
              <a:t>while</a:t>
            </a:r>
            <a:r>
              <a:rPr lang="bg-BG" sz="1800" dirty="0">
                <a:solidFill>
                  <a:schemeClr val="tx1"/>
                </a:solidFill>
                <a:latin typeface="Courier New" pitchFamily="49" charset="-52"/>
              </a:rPr>
              <a:t> (</a:t>
            </a:r>
            <a:r>
              <a:rPr lang="bg-BG" sz="1800" dirty="0" err="1">
                <a:solidFill>
                  <a:schemeClr val="tx1"/>
                </a:solidFill>
                <a:latin typeface="Courier New" pitchFamily="49" charset="-52"/>
              </a:rPr>
              <a:t>ia</a:t>
            </a:r>
            <a:r>
              <a:rPr lang="bg-BG" sz="1800" dirty="0">
                <a:solidFill>
                  <a:schemeClr val="tx1"/>
                </a:solidFill>
                <a:latin typeface="Courier New" pitchFamily="49" charset="-52"/>
              </a:rPr>
              <a:t>&lt;</a:t>
            </a:r>
            <a:r>
              <a:rPr lang="bg-BG" sz="1800" dirty="0" err="1">
                <a:solidFill>
                  <a:schemeClr val="tx1"/>
                </a:solidFill>
                <a:latin typeface="Courier New" pitchFamily="49" charset="-52"/>
              </a:rPr>
              <a:t>na</a:t>
            </a:r>
            <a:r>
              <a:rPr lang="bg-BG" sz="1800" dirty="0">
                <a:solidFill>
                  <a:schemeClr val="tx1"/>
                </a:solidFill>
                <a:latin typeface="Courier New" pitchFamily="49" charset="-52"/>
              </a:rPr>
              <a:t>) c[</a:t>
            </a:r>
            <a:r>
              <a:rPr lang="bg-BG" sz="1800" dirty="0" err="1">
                <a:solidFill>
                  <a:schemeClr val="tx1"/>
                </a:solidFill>
                <a:latin typeface="Courier New" pitchFamily="49" charset="-52"/>
              </a:rPr>
              <a:t>ic++</a:t>
            </a:r>
            <a:r>
              <a:rPr lang="bg-BG" sz="1800" dirty="0">
                <a:solidFill>
                  <a:schemeClr val="tx1"/>
                </a:solidFill>
                <a:latin typeface="Courier New" pitchFamily="49" charset="-52"/>
              </a:rPr>
              <a:t>]=a[</a:t>
            </a:r>
            <a:r>
              <a:rPr lang="bg-BG" sz="1800" dirty="0" err="1">
                <a:solidFill>
                  <a:schemeClr val="tx1"/>
                </a:solidFill>
                <a:latin typeface="Courier New" pitchFamily="49" charset="-52"/>
              </a:rPr>
              <a:t>ia++</a:t>
            </a:r>
            <a:r>
              <a:rPr lang="bg-BG" sz="1800" dirty="0">
                <a:solidFill>
                  <a:schemeClr val="tx1"/>
                </a:solidFill>
                <a:latin typeface="Courier New" pitchFamily="49" charset="-52"/>
              </a:rPr>
              <a:t>]; </a:t>
            </a:r>
            <a:br>
              <a:rPr lang="bg-BG" sz="1800" dirty="0">
                <a:solidFill>
                  <a:schemeClr val="tx1"/>
                </a:solidFill>
                <a:latin typeface="Courier New" pitchFamily="49" charset="-52"/>
              </a:rPr>
            </a:br>
            <a:r>
              <a:rPr lang="bg-BG" sz="1800" dirty="0">
                <a:solidFill>
                  <a:schemeClr val="tx1"/>
                </a:solidFill>
                <a:latin typeface="Courier New" pitchFamily="49" charset="-52"/>
              </a:rPr>
              <a:t>   </a:t>
            </a:r>
            <a:r>
              <a:rPr lang="bg-BG" sz="1800" dirty="0" err="1">
                <a:solidFill>
                  <a:schemeClr val="tx1"/>
                </a:solidFill>
                <a:latin typeface="Courier New" pitchFamily="49" charset="-52"/>
              </a:rPr>
              <a:t>while</a:t>
            </a:r>
            <a:r>
              <a:rPr lang="bg-BG" sz="1800" dirty="0">
                <a:solidFill>
                  <a:schemeClr val="tx1"/>
                </a:solidFill>
                <a:latin typeface="Courier New" pitchFamily="49" charset="-52"/>
              </a:rPr>
              <a:t> (</a:t>
            </a:r>
            <a:r>
              <a:rPr lang="bg-BG" sz="1800" dirty="0" err="1">
                <a:solidFill>
                  <a:schemeClr val="tx1"/>
                </a:solidFill>
                <a:latin typeface="Courier New" pitchFamily="49" charset="-52"/>
              </a:rPr>
              <a:t>ib</a:t>
            </a:r>
            <a:r>
              <a:rPr lang="bg-BG" sz="1800" dirty="0">
                <a:solidFill>
                  <a:schemeClr val="tx1"/>
                </a:solidFill>
                <a:latin typeface="Courier New" pitchFamily="49" charset="-52"/>
              </a:rPr>
              <a:t>&lt;</a:t>
            </a:r>
            <a:r>
              <a:rPr lang="bg-BG" sz="1800" dirty="0" err="1">
                <a:solidFill>
                  <a:schemeClr val="tx1"/>
                </a:solidFill>
                <a:latin typeface="Courier New" pitchFamily="49" charset="-52"/>
              </a:rPr>
              <a:t>nb</a:t>
            </a:r>
            <a:r>
              <a:rPr lang="bg-BG" sz="1800" dirty="0">
                <a:solidFill>
                  <a:schemeClr val="tx1"/>
                </a:solidFill>
                <a:latin typeface="Courier New" pitchFamily="49" charset="-52"/>
              </a:rPr>
              <a:t>) c[</a:t>
            </a:r>
            <a:r>
              <a:rPr lang="bg-BG" sz="1800" dirty="0" err="1">
                <a:solidFill>
                  <a:schemeClr val="tx1"/>
                </a:solidFill>
                <a:latin typeface="Courier New" pitchFamily="49" charset="-52"/>
              </a:rPr>
              <a:t>ic++</a:t>
            </a:r>
            <a:r>
              <a:rPr lang="bg-BG" sz="1800" dirty="0">
                <a:solidFill>
                  <a:schemeClr val="tx1"/>
                </a:solidFill>
                <a:latin typeface="Courier New" pitchFamily="49" charset="-52"/>
              </a:rPr>
              <a:t>]=b[</a:t>
            </a:r>
            <a:r>
              <a:rPr lang="bg-BG" sz="1800" dirty="0" err="1">
                <a:solidFill>
                  <a:schemeClr val="tx1"/>
                </a:solidFill>
                <a:latin typeface="Courier New" pitchFamily="49" charset="-52"/>
              </a:rPr>
              <a:t>ib++</a:t>
            </a:r>
            <a:r>
              <a:rPr lang="bg-BG" sz="1800" dirty="0">
                <a:solidFill>
                  <a:schemeClr val="tx1"/>
                </a:solidFill>
                <a:latin typeface="Courier New" pitchFamily="49" charset="-52"/>
              </a:rPr>
              <a:t>];</a:t>
            </a:r>
            <a:br>
              <a:rPr lang="bg-BG" sz="1800" dirty="0">
                <a:solidFill>
                  <a:schemeClr val="tx1"/>
                </a:solidFill>
                <a:latin typeface="Courier New" pitchFamily="49" charset="-52"/>
              </a:rPr>
            </a:br>
            <a:r>
              <a:rPr lang="bg-BG" sz="1800" dirty="0">
                <a:solidFill>
                  <a:schemeClr val="tx1"/>
                </a:solidFill>
                <a:latin typeface="Courier New" pitchFamily="49" charset="-52"/>
              </a:rPr>
              <a:t>}</a:t>
            </a:r>
            <a:br>
              <a:rPr lang="bg-BG" sz="1800" dirty="0">
                <a:solidFill>
                  <a:schemeClr val="tx1"/>
                </a:solidFill>
                <a:latin typeface="Courier New" pitchFamily="49" charset="-52"/>
              </a:rPr>
            </a:br>
            <a:r>
              <a:rPr lang="bg-BG" sz="2000" dirty="0">
                <a:solidFill>
                  <a:schemeClr val="tx1"/>
                </a:solidFill>
              </a:rPr>
              <a:t>Функцията има един съществен недостатък: не сортира на място, а изисква допълнителна памет, колкото за двата сливани масива.</a:t>
            </a:r>
            <a:endParaRPr lang="en-US" dirty="0">
              <a:solidFill>
                <a:schemeClr val="tx1"/>
              </a:solidFill>
            </a:endParaRPr>
          </a:p>
        </p:txBody>
      </p:sp>
      <p:sp>
        <p:nvSpPr>
          <p:cNvPr id="5" name="Slide Number Placeholder 4"/>
          <p:cNvSpPr>
            <a:spLocks noGrp="1"/>
          </p:cNvSpPr>
          <p:nvPr>
            <p:ph type="sldNum" sz="quarter" idx="12"/>
          </p:nvPr>
        </p:nvSpPr>
        <p:spPr/>
        <p:txBody>
          <a:bodyPr/>
          <a:lstStyle/>
          <a:p>
            <a:pPr>
              <a:defRPr/>
            </a:pPr>
            <a:fld id="{AE3FEC03-EE9F-4C04-84AD-6E23D5927D25}" type="slidenum">
              <a:rPr lang="en-US"/>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208088" y="333375"/>
            <a:ext cx="7935912" cy="6324600"/>
          </a:xfrm>
        </p:spPr>
        <p:txBody>
          <a:bodyPr/>
          <a:lstStyle/>
          <a:p>
            <a:pPr eaLnBrk="1" fontAlgn="auto" hangingPunct="1">
              <a:spcAft>
                <a:spcPts val="0"/>
              </a:spcAft>
              <a:defRPr/>
            </a:pPr>
            <a:r>
              <a:rPr lang="bg-BG" sz="2000" i="1">
                <a:solidFill>
                  <a:schemeClr val="tx1"/>
                </a:solidFill>
              </a:rPr>
              <a:t>2. Сортиране чрез сливане</a:t>
            </a:r>
            <a:br>
              <a:rPr lang="bg-BG" sz="2000" i="1">
                <a:solidFill>
                  <a:schemeClr val="tx1"/>
                </a:solidFill>
              </a:rPr>
            </a:br>
            <a:r>
              <a:rPr lang="bg-BG" sz="2000">
                <a:solidFill>
                  <a:schemeClr val="tx1"/>
                </a:solidFill>
              </a:rPr>
              <a:t>Разгледаната функция може да служи за основа на следния прост алгоритъм за сортиране чрез сливане:</a:t>
            </a:r>
            <a:br>
              <a:rPr lang="bg-BG" sz="2000">
                <a:solidFill>
                  <a:schemeClr val="tx1"/>
                </a:solidFill>
              </a:rPr>
            </a:br>
            <a:r>
              <a:rPr lang="bg-BG" sz="800">
                <a:solidFill>
                  <a:schemeClr val="tx1"/>
                </a:solidFill>
                <a:latin typeface="Courier New" pitchFamily="49" charset="-52"/>
              </a:rPr>
              <a:t/>
            </a:r>
            <a:br>
              <a:rPr lang="bg-BG" sz="800">
                <a:solidFill>
                  <a:schemeClr val="tx1"/>
                </a:solidFill>
                <a:latin typeface="Courier New" pitchFamily="49" charset="-52"/>
              </a:rPr>
            </a:br>
            <a:r>
              <a:rPr lang="en-US" sz="1800">
                <a:solidFill>
                  <a:schemeClr val="tx1"/>
                </a:solidFill>
                <a:latin typeface="Courier New" pitchFamily="49" charset="-52"/>
              </a:rPr>
              <a:t>void mergesort (int a[], int n)</a:t>
            </a:r>
            <a:r>
              <a:rPr lang="bg-BG" sz="1800">
                <a:solidFill>
                  <a:schemeClr val="tx1"/>
                </a:solidFill>
                <a:latin typeface="Courier New" pitchFamily="49" charset="-52"/>
              </a:rPr>
              <a:t/>
            </a:r>
            <a:br>
              <a:rPr lang="bg-BG" sz="1800">
                <a:solidFill>
                  <a:schemeClr val="tx1"/>
                </a:solidFill>
                <a:latin typeface="Courier New" pitchFamily="49" charset="-52"/>
              </a:rPr>
            </a:br>
            <a:r>
              <a:rPr lang="bg-BG" sz="1800">
                <a:solidFill>
                  <a:schemeClr val="tx1"/>
                </a:solidFill>
                <a:latin typeface="Courier New" pitchFamily="49" charset="-52"/>
              </a:rPr>
              <a:t>//функцията разделя масива рекурсивно на две части</a:t>
            </a:r>
            <a:br>
              <a:rPr lang="bg-BG" sz="1800">
                <a:solidFill>
                  <a:schemeClr val="tx1"/>
                </a:solidFill>
                <a:latin typeface="Courier New" pitchFamily="49" charset="-52"/>
              </a:rPr>
            </a:br>
            <a:r>
              <a:rPr lang="bg-BG" sz="1800">
                <a:solidFill>
                  <a:schemeClr val="tx1"/>
                </a:solidFill>
                <a:latin typeface="Courier New" pitchFamily="49" charset="-52"/>
              </a:rPr>
              <a:t>//след което функцията </a:t>
            </a:r>
            <a:r>
              <a:rPr lang="en-US" sz="1800">
                <a:solidFill>
                  <a:schemeClr val="tx1"/>
                </a:solidFill>
                <a:latin typeface="Courier New" pitchFamily="49" charset="-52"/>
              </a:rPr>
              <a:t>merge </a:t>
            </a:r>
            <a:r>
              <a:rPr lang="bg-BG" sz="1800">
                <a:solidFill>
                  <a:schemeClr val="tx1"/>
                </a:solidFill>
                <a:latin typeface="Courier New" pitchFamily="49" charset="-52"/>
              </a:rPr>
              <a:t>ги обединява</a:t>
            </a:r>
            <a:r>
              <a:rPr lang="en-US" sz="1800">
                <a:solidFill>
                  <a:schemeClr val="tx1"/>
                </a:solidFill>
                <a:latin typeface="Courier New" pitchFamily="49" charset="-52"/>
              </a:rPr>
              <a:t/>
            </a:r>
            <a:br>
              <a:rPr lang="en-US" sz="1800">
                <a:solidFill>
                  <a:schemeClr val="tx1"/>
                </a:solidFill>
                <a:latin typeface="Courier New" pitchFamily="49" charset="-52"/>
              </a:rPr>
            </a:br>
            <a:r>
              <a:rPr lang="en-US" sz="1800">
                <a:solidFill>
                  <a:schemeClr val="tx1"/>
                </a:solidFill>
                <a:latin typeface="Courier New" pitchFamily="49" charset="-52"/>
              </a:rPr>
              <a:t>{  </a:t>
            </a:r>
            <a:br>
              <a:rPr lang="en-US" sz="1800">
                <a:solidFill>
                  <a:schemeClr val="tx1"/>
                </a:solidFill>
                <a:latin typeface="Courier New" pitchFamily="49" charset="-52"/>
              </a:rPr>
            </a:br>
            <a:r>
              <a:rPr lang="en-US" sz="1800">
                <a:solidFill>
                  <a:schemeClr val="tx1"/>
                </a:solidFill>
                <a:latin typeface="Courier New" pitchFamily="49" charset="-52"/>
              </a:rPr>
              <a:t>    if(n&lt;2) return;   </a:t>
            </a:r>
            <a:br>
              <a:rPr lang="en-US" sz="1800">
                <a:solidFill>
                  <a:schemeClr val="tx1"/>
                </a:solidFill>
                <a:latin typeface="Courier New" pitchFamily="49" charset="-52"/>
              </a:rPr>
            </a:br>
            <a:r>
              <a:rPr lang="en-US" sz="1800">
                <a:solidFill>
                  <a:schemeClr val="tx1"/>
                </a:solidFill>
                <a:latin typeface="Courier New" pitchFamily="49" charset="-52"/>
              </a:rPr>
              <a:t>    int nleft=n/2, nright=n-nleft;  </a:t>
            </a:r>
            <a:br>
              <a:rPr lang="en-US" sz="1800">
                <a:solidFill>
                  <a:schemeClr val="tx1"/>
                </a:solidFill>
                <a:latin typeface="Courier New" pitchFamily="49" charset="-52"/>
              </a:rPr>
            </a:br>
            <a:r>
              <a:rPr lang="en-US" sz="1800">
                <a:solidFill>
                  <a:schemeClr val="tx1"/>
                </a:solidFill>
                <a:latin typeface="Courier New" pitchFamily="49" charset="-52"/>
              </a:rPr>
              <a:t>    mergesort(a, nleft); </a:t>
            </a:r>
            <a:br>
              <a:rPr lang="en-US" sz="1800">
                <a:solidFill>
                  <a:schemeClr val="tx1"/>
                </a:solidFill>
                <a:latin typeface="Courier New" pitchFamily="49" charset="-52"/>
              </a:rPr>
            </a:br>
            <a:r>
              <a:rPr lang="en-US" sz="1800">
                <a:solidFill>
                  <a:schemeClr val="tx1"/>
                </a:solidFill>
                <a:latin typeface="Courier New" pitchFamily="49" charset="-52"/>
              </a:rPr>
              <a:t>    mergesort(a+nleft, nright);  </a:t>
            </a:r>
            <a:br>
              <a:rPr lang="en-US" sz="1800">
                <a:solidFill>
                  <a:schemeClr val="tx1"/>
                </a:solidFill>
                <a:latin typeface="Courier New" pitchFamily="49" charset="-52"/>
              </a:rPr>
            </a:br>
            <a:r>
              <a:rPr lang="en-US" sz="1800">
                <a:solidFill>
                  <a:schemeClr val="tx1"/>
                </a:solidFill>
                <a:latin typeface="Courier New" pitchFamily="49" charset="-52"/>
              </a:rPr>
              <a:t>    int *p=new int [n];</a:t>
            </a:r>
            <a:br>
              <a:rPr lang="en-US" sz="1800">
                <a:solidFill>
                  <a:schemeClr val="tx1"/>
                </a:solidFill>
                <a:latin typeface="Courier New" pitchFamily="49" charset="-52"/>
              </a:rPr>
            </a:br>
            <a:r>
              <a:rPr lang="en-US" sz="1800">
                <a:solidFill>
                  <a:schemeClr val="tx1"/>
                </a:solidFill>
                <a:latin typeface="Courier New" pitchFamily="49" charset="-52"/>
              </a:rPr>
              <a:t>    merge (a, nleft, a+nleft, nright, p);</a:t>
            </a:r>
            <a:br>
              <a:rPr lang="en-US" sz="1800">
                <a:solidFill>
                  <a:schemeClr val="tx1"/>
                </a:solidFill>
                <a:latin typeface="Courier New" pitchFamily="49" charset="-52"/>
              </a:rPr>
            </a:br>
            <a:r>
              <a:rPr lang="en-US" sz="1800">
                <a:solidFill>
                  <a:schemeClr val="tx1"/>
                </a:solidFill>
                <a:latin typeface="Courier New" pitchFamily="49" charset="-52"/>
              </a:rPr>
              <a:t>    for (int i=0; i&lt;n; i++)</a:t>
            </a:r>
            <a:br>
              <a:rPr lang="en-US" sz="1800">
                <a:solidFill>
                  <a:schemeClr val="tx1"/>
                </a:solidFill>
                <a:latin typeface="Courier New" pitchFamily="49" charset="-52"/>
              </a:rPr>
            </a:br>
            <a:r>
              <a:rPr lang="en-US" sz="1800">
                <a:solidFill>
                  <a:schemeClr val="tx1"/>
                </a:solidFill>
                <a:latin typeface="Courier New" pitchFamily="49" charset="-52"/>
              </a:rPr>
              <a:t>       a[i]=p[i];</a:t>
            </a:r>
            <a:br>
              <a:rPr lang="en-US" sz="1800">
                <a:solidFill>
                  <a:schemeClr val="tx1"/>
                </a:solidFill>
                <a:latin typeface="Courier New" pitchFamily="49" charset="-52"/>
              </a:rPr>
            </a:br>
            <a:r>
              <a:rPr lang="en-US" sz="1800">
                <a:solidFill>
                  <a:schemeClr val="tx1"/>
                </a:solidFill>
                <a:latin typeface="Courier New" pitchFamily="49" charset="-52"/>
              </a:rPr>
              <a:t>    delete []p;</a:t>
            </a:r>
            <a:br>
              <a:rPr lang="en-US" sz="1800">
                <a:solidFill>
                  <a:schemeClr val="tx1"/>
                </a:solidFill>
                <a:latin typeface="Courier New" pitchFamily="49" charset="-52"/>
              </a:rPr>
            </a:br>
            <a:r>
              <a:rPr lang="en-US" sz="1800">
                <a:solidFill>
                  <a:schemeClr val="tx1"/>
                </a:solidFill>
                <a:latin typeface="Courier New" pitchFamily="49" charset="-52"/>
              </a:rPr>
              <a:t>}</a:t>
            </a:r>
            <a:r>
              <a:rPr lang="bg-BG" sz="1800">
                <a:solidFill>
                  <a:schemeClr val="tx1"/>
                </a:solidFill>
                <a:latin typeface="Courier New" pitchFamily="49" charset="-52"/>
              </a:rPr>
              <a:t/>
            </a:r>
            <a:br>
              <a:rPr lang="bg-BG" sz="1800">
                <a:solidFill>
                  <a:schemeClr val="tx1"/>
                </a:solidFill>
                <a:latin typeface="Courier New" pitchFamily="49" charset="-52"/>
              </a:rPr>
            </a:br>
            <a:r>
              <a:rPr lang="bg-BG" sz="2000">
                <a:solidFill>
                  <a:schemeClr val="tx1"/>
                </a:solidFill>
              </a:rPr>
              <a:t>Т. к. между операциите </a:t>
            </a:r>
            <a:r>
              <a:rPr lang="en-US" sz="2000" i="1">
                <a:solidFill>
                  <a:schemeClr val="tx1"/>
                </a:solidFill>
              </a:rPr>
              <a:t>new</a:t>
            </a:r>
            <a:r>
              <a:rPr lang="en-US" sz="2000">
                <a:solidFill>
                  <a:schemeClr val="tx1"/>
                </a:solidFill>
              </a:rPr>
              <a:t> </a:t>
            </a:r>
            <a:r>
              <a:rPr lang="bg-BG" sz="2000">
                <a:solidFill>
                  <a:schemeClr val="tx1"/>
                </a:solidFill>
              </a:rPr>
              <a:t>и </a:t>
            </a:r>
            <a:r>
              <a:rPr lang="en-US" sz="2000" i="1">
                <a:solidFill>
                  <a:schemeClr val="tx1"/>
                </a:solidFill>
              </a:rPr>
              <a:t>delete</a:t>
            </a:r>
            <a:r>
              <a:rPr lang="bg-BG" sz="2000">
                <a:solidFill>
                  <a:schemeClr val="tx1"/>
                </a:solidFill>
              </a:rPr>
              <a:t> няма рекурсивно обръщение, временно необходимото място в паметта не надминава  </a:t>
            </a:r>
            <a:r>
              <a:rPr lang="en-US" sz="2400" i="1">
                <a:solidFill>
                  <a:schemeClr val="tx1"/>
                </a:solidFill>
              </a:rPr>
              <a:t>n*size (T)</a:t>
            </a:r>
            <a:r>
              <a:rPr lang="bg-BG" sz="2000">
                <a:solidFill>
                  <a:schemeClr val="tx1"/>
                </a:solidFill>
              </a:rPr>
              <a:t> байта (в нашия случай </a:t>
            </a:r>
            <a:r>
              <a:rPr lang="en-US" sz="2000" b="1" i="1">
                <a:solidFill>
                  <a:schemeClr val="tx1"/>
                </a:solidFill>
              </a:rPr>
              <a:t>T</a:t>
            </a:r>
            <a:r>
              <a:rPr lang="en-US" sz="2000">
                <a:solidFill>
                  <a:schemeClr val="tx1"/>
                </a:solidFill>
              </a:rPr>
              <a:t> e </a:t>
            </a:r>
            <a:r>
              <a:rPr lang="en-US" sz="2000" b="1" i="1">
                <a:solidFill>
                  <a:schemeClr val="tx1"/>
                </a:solidFill>
              </a:rPr>
              <a:t>int</a:t>
            </a:r>
            <a:r>
              <a:rPr lang="bg-BG" sz="2000" b="1" i="1">
                <a:solidFill>
                  <a:schemeClr val="tx1"/>
                </a:solidFill>
              </a:rPr>
              <a:t> </a:t>
            </a:r>
            <a:r>
              <a:rPr lang="bg-BG" sz="2000">
                <a:solidFill>
                  <a:schemeClr val="tx1"/>
                </a:solidFill>
              </a:rPr>
              <a:t>и необходимия обем памет ще бъде не повече от </a:t>
            </a:r>
            <a:r>
              <a:rPr lang="en-US" sz="2000" b="1" i="1">
                <a:solidFill>
                  <a:schemeClr val="tx1"/>
                </a:solidFill>
              </a:rPr>
              <a:t>4n</a:t>
            </a:r>
            <a:r>
              <a:rPr lang="bg-BG" sz="2000">
                <a:solidFill>
                  <a:schemeClr val="tx1"/>
                </a:solidFill>
              </a:rPr>
              <a:t>). </a:t>
            </a:r>
            <a:endParaRPr lang="en-US" sz="1800">
              <a:solidFill>
                <a:schemeClr val="tx1"/>
              </a:solidFill>
            </a:endParaRPr>
          </a:p>
        </p:txBody>
      </p:sp>
      <p:sp>
        <p:nvSpPr>
          <p:cNvPr id="5" name="Slide Number Placeholder 4"/>
          <p:cNvSpPr>
            <a:spLocks noGrp="1"/>
          </p:cNvSpPr>
          <p:nvPr>
            <p:ph type="sldNum" sz="quarter" idx="12"/>
          </p:nvPr>
        </p:nvSpPr>
        <p:spPr/>
        <p:txBody>
          <a:bodyPr/>
          <a:lstStyle/>
          <a:p>
            <a:pPr>
              <a:defRPr/>
            </a:pPr>
            <a:fld id="{AED91E10-B03B-4277-8408-8DF43F4FB7CB}" type="slidenum">
              <a:rPr lang="en-US"/>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116013" y="260350"/>
            <a:ext cx="7848600" cy="6400800"/>
          </a:xfrm>
        </p:spPr>
        <p:txBody>
          <a:bodyPr>
            <a:normAutofit fontScale="90000"/>
          </a:bodyPr>
          <a:lstStyle/>
          <a:p>
            <a:pPr eaLnBrk="1" fontAlgn="auto" hangingPunct="1">
              <a:spcAft>
                <a:spcPts val="0"/>
              </a:spcAft>
              <a:defRPr/>
            </a:pPr>
            <a:r>
              <a:rPr lang="bg-BG" sz="2000">
                <a:solidFill>
                  <a:schemeClr val="tx1"/>
                </a:solidFill>
              </a:rPr>
              <a:t>	Алгоритъмът за сортиране чрез сливане е един от най-ефективните известни алгоритми за сортиране. Гарантираната му средна времева сложност е </a:t>
            </a:r>
            <a:r>
              <a:rPr lang="en-US" sz="2000">
                <a:solidFill>
                  <a:schemeClr val="tx1"/>
                </a:solidFill>
              </a:rPr>
              <a:t>O(n*log</a:t>
            </a:r>
            <a:r>
              <a:rPr lang="en-US" sz="2000" baseline="-25000">
                <a:solidFill>
                  <a:schemeClr val="tx1"/>
                </a:solidFill>
              </a:rPr>
              <a:t>2</a:t>
            </a:r>
            <a:r>
              <a:rPr lang="en-US" sz="2000">
                <a:solidFill>
                  <a:schemeClr val="tx1"/>
                </a:solidFill>
              </a:rPr>
              <a:t>n)</a:t>
            </a:r>
            <a:r>
              <a:rPr lang="bg-BG" sz="2000">
                <a:solidFill>
                  <a:schemeClr val="tx1"/>
                </a:solidFill>
              </a:rPr>
              <a:t>, което теоретически е най-добрата алгоритмична сложност за универсален алгоритъм за сортиране.</a:t>
            </a:r>
            <a:br>
              <a:rPr lang="bg-BG" sz="2000">
                <a:solidFill>
                  <a:schemeClr val="tx1"/>
                </a:solidFill>
              </a:rPr>
            </a:br>
            <a:r>
              <a:rPr lang="bg-BG" sz="2000">
                <a:solidFill>
                  <a:schemeClr val="tx1"/>
                </a:solidFill>
              </a:rPr>
              <a:t>	Друго основно предимство на сортирането чрез сливане е, че достъпът до елементите се извършва строго последователно, поради което е подходящо за сортиране на списъци, последователни файлове и др. </a:t>
            </a:r>
            <a:br>
              <a:rPr lang="bg-BG" sz="2000">
                <a:solidFill>
                  <a:schemeClr val="tx1"/>
                </a:solidFill>
              </a:rPr>
            </a:br>
            <a:r>
              <a:rPr lang="bg-BG" sz="2000">
                <a:solidFill>
                  <a:schemeClr val="tx1"/>
                </a:solidFill>
              </a:rPr>
              <a:t>	Още едно положително качество на алгоритъма - сортирането чрез сливане е устойчиво, т. е. запазва относителната наредба на елементите с еднакви ключове. (Например, </a:t>
            </a:r>
            <a:r>
              <a:rPr lang="en-US" sz="2000">
                <a:solidFill>
                  <a:schemeClr val="tx1"/>
                </a:solidFill>
              </a:rPr>
              <a:t>Quicksort</a:t>
            </a:r>
            <a:r>
              <a:rPr lang="bg-BG" sz="2000">
                <a:solidFill>
                  <a:schemeClr val="tx1"/>
                </a:solidFill>
              </a:rPr>
              <a:t> е неустойчив алгоритъм.)</a:t>
            </a:r>
            <a:br>
              <a:rPr lang="bg-BG" sz="2000">
                <a:solidFill>
                  <a:schemeClr val="tx1"/>
                </a:solidFill>
              </a:rPr>
            </a:br>
            <a:r>
              <a:rPr lang="bg-BG" sz="2000">
                <a:solidFill>
                  <a:schemeClr val="tx1"/>
                </a:solidFill>
              </a:rPr>
              <a:t>	И още - алгоритъмът почти не зависи от предварителното нареждане на елементите в масива (за разлика, например от </a:t>
            </a:r>
            <a:r>
              <a:rPr lang="en-US" sz="2000">
                <a:solidFill>
                  <a:schemeClr val="tx1"/>
                </a:solidFill>
              </a:rPr>
              <a:t>Quicksort</a:t>
            </a:r>
            <a:r>
              <a:rPr lang="bg-BG" sz="2000">
                <a:solidFill>
                  <a:schemeClr val="tx1"/>
                </a:solidFill>
              </a:rPr>
              <a:t>). </a:t>
            </a:r>
            <a:br>
              <a:rPr lang="bg-BG" sz="2000">
                <a:solidFill>
                  <a:schemeClr val="tx1"/>
                </a:solidFill>
              </a:rPr>
            </a:br>
            <a:r>
              <a:rPr lang="bg-BG" sz="2000">
                <a:solidFill>
                  <a:schemeClr val="tx1"/>
                </a:solidFill>
              </a:rPr>
              <a:t>	Основен недостатък  на сортирането чрез сливане е това, че изисква допълнителна памет, пропорционална на </a:t>
            </a:r>
            <a:r>
              <a:rPr lang="en-US" sz="2000" b="1" i="1">
                <a:solidFill>
                  <a:schemeClr val="tx1"/>
                </a:solidFill>
              </a:rPr>
              <a:t>n</a:t>
            </a:r>
            <a:r>
              <a:rPr lang="bg-BG" sz="2000">
                <a:solidFill>
                  <a:schemeClr val="tx1"/>
                </a:solidFill>
              </a:rPr>
              <a:t>: за допълнителен масив или за указатели.  </a:t>
            </a:r>
            <a:br>
              <a:rPr lang="bg-BG" sz="2000">
                <a:solidFill>
                  <a:schemeClr val="tx1"/>
                </a:solidFill>
              </a:rPr>
            </a:br>
            <a:r>
              <a:rPr lang="bg-BG" sz="2000">
                <a:solidFill>
                  <a:schemeClr val="tx1"/>
                </a:solidFill>
              </a:rPr>
              <a:t>	Подобно повечето съвременни методи за сортиране, сортирането чрез сливане се държи лошо при малки </a:t>
            </a:r>
            <a:r>
              <a:rPr lang="en-US" sz="2000" b="1" i="1">
                <a:solidFill>
                  <a:schemeClr val="tx1"/>
                </a:solidFill>
              </a:rPr>
              <a:t>n</a:t>
            </a:r>
            <a:r>
              <a:rPr lang="bg-BG" sz="2000">
                <a:solidFill>
                  <a:schemeClr val="tx1"/>
                </a:solidFill>
              </a:rPr>
              <a:t>. Както и в случая на </a:t>
            </a:r>
            <a:r>
              <a:rPr lang="en-US" sz="2000">
                <a:solidFill>
                  <a:schemeClr val="tx1"/>
                </a:solidFill>
              </a:rPr>
              <a:t>Quicksort</a:t>
            </a:r>
            <a:r>
              <a:rPr lang="bg-BG" sz="2000">
                <a:solidFill>
                  <a:schemeClr val="tx1"/>
                </a:solidFill>
              </a:rPr>
              <a:t>, добри резултати се получават при комбинирането му с други методи. Стандартен подход е, когато броят на елементите на разглежданото множество падне примерно под 15-20 да се използва сортиране чрез вмъкване.  Към групата алгоритми, реализиращи идеята за сортиране чрез сливане, се отнася и четно-нечетно сортиране чрез сливане на Батчер. </a:t>
            </a:r>
            <a:endParaRPr lang="en-US" sz="2000">
              <a:solidFill>
                <a:schemeClr val="tx1"/>
              </a:solidFill>
            </a:endParaRPr>
          </a:p>
        </p:txBody>
      </p:sp>
      <p:sp>
        <p:nvSpPr>
          <p:cNvPr id="5" name="Slide Number Placeholder 4"/>
          <p:cNvSpPr>
            <a:spLocks noGrp="1"/>
          </p:cNvSpPr>
          <p:nvPr>
            <p:ph type="sldNum" sz="quarter" idx="12"/>
          </p:nvPr>
        </p:nvSpPr>
        <p:spPr/>
        <p:txBody>
          <a:bodyPr/>
          <a:lstStyle/>
          <a:p>
            <a:pPr>
              <a:defRPr/>
            </a:pPr>
            <a:fld id="{297CDA57-011D-4EBE-87F6-D675F30C8132}" type="slidenum">
              <a:rPr lang="en-US"/>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228600" y="304800"/>
            <a:ext cx="8763000" cy="6248400"/>
          </a:xfrm>
        </p:spPr>
        <p:txBody>
          <a:bodyPr/>
          <a:lstStyle/>
          <a:p>
            <a:pPr eaLnBrk="1" fontAlgn="auto" hangingPunct="1">
              <a:lnSpc>
                <a:spcPct val="90000"/>
              </a:lnSpc>
              <a:spcAft>
                <a:spcPts val="0"/>
              </a:spcAft>
              <a:defRPr/>
            </a:pP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en-US" sz="2000" i="1">
                <a:solidFill>
                  <a:schemeClr val="tx2">
                    <a:satMod val="130000"/>
                  </a:schemeClr>
                </a:solidFill>
              </a:rPr>
              <a:t/>
            </a:r>
            <a:br>
              <a:rPr lang="en-US" sz="2000" i="1">
                <a:solidFill>
                  <a:schemeClr val="tx2">
                    <a:satMod val="130000"/>
                  </a:schemeClr>
                </a:solidFill>
              </a:rPr>
            </a:br>
            <a:r>
              <a:rPr lang="bg-BG" sz="2000" i="1">
                <a:solidFill>
                  <a:schemeClr val="tx2">
                    <a:satMod val="130000"/>
                  </a:schemeClr>
                </a:solidFill>
              </a:rPr>
              <a:t/>
            </a:r>
            <a:br>
              <a:rPr lang="bg-BG" sz="2000" i="1">
                <a:solidFill>
                  <a:schemeClr val="tx2">
                    <a:satMod val="130000"/>
                  </a:schemeClr>
                </a:solidFill>
              </a:rPr>
            </a:br>
            <a:endParaRPr lang="en-US" sz="2000">
              <a:solidFill>
                <a:schemeClr val="tx2">
                  <a:satMod val="130000"/>
                </a:schemeClr>
              </a:solidFill>
            </a:endParaRPr>
          </a:p>
        </p:txBody>
      </p:sp>
      <p:sp>
        <p:nvSpPr>
          <p:cNvPr id="51203" name="Rectangle 23"/>
          <p:cNvSpPr>
            <a:spLocks noChangeArrowheads="1"/>
          </p:cNvSpPr>
          <p:nvPr/>
        </p:nvSpPr>
        <p:spPr bwMode="auto">
          <a:xfrm>
            <a:off x="0" y="-152400"/>
            <a:ext cx="8991600" cy="6172200"/>
          </a:xfrm>
          <a:prstGeom prst="rect">
            <a:avLst/>
          </a:prstGeom>
          <a:noFill/>
          <a:ln w="9525">
            <a:noFill/>
            <a:miter lim="800000"/>
            <a:headEnd/>
            <a:tailEnd/>
          </a:ln>
        </p:spPr>
        <p:txBody>
          <a:bodyPr anchor="ctr"/>
          <a:lstStyle/>
          <a:p>
            <a:pPr algn="l"/>
            <a:r>
              <a:rPr lang="en-US" sz="2000">
                <a:solidFill>
                  <a:schemeClr val="tx2"/>
                </a:solidFill>
              </a:rPr>
              <a:t/>
            </a:r>
            <a:br>
              <a:rPr lang="en-US" sz="2000">
                <a:solidFill>
                  <a:schemeClr val="tx2"/>
                </a:solidFill>
              </a:rPr>
            </a:br>
            <a:r>
              <a:rPr lang="en-US" sz="2000">
                <a:solidFill>
                  <a:schemeClr val="tx2"/>
                </a:solidFill>
              </a:rPr>
              <a:t/>
            </a:r>
            <a:br>
              <a:rPr lang="en-US" sz="2000">
                <a:solidFill>
                  <a:schemeClr val="tx2"/>
                </a:solidFill>
              </a:rPr>
            </a:br>
            <a:r>
              <a:rPr lang="en-US" sz="2000">
                <a:solidFill>
                  <a:schemeClr val="tx2"/>
                </a:solidFill>
              </a:rPr>
              <a:t/>
            </a:r>
            <a:br>
              <a:rPr lang="en-US" sz="2000">
                <a:solidFill>
                  <a:schemeClr val="tx2"/>
                </a:solidFill>
              </a:rPr>
            </a:br>
            <a:r>
              <a:rPr lang="bg-BG" sz="2000" i="1"/>
              <a:t>3. Алгоритъм на Бетчер</a:t>
            </a:r>
            <a:r>
              <a:rPr lang="bg-BG" sz="2000"/>
              <a:t/>
            </a:r>
            <a:br>
              <a:rPr lang="bg-BG" sz="2000"/>
            </a:br>
            <a:r>
              <a:rPr lang="bg-BG" sz="2000" i="1"/>
              <a:t>(или Четно-нечетно сортиране чрез сливане по метода на Бетчер</a:t>
            </a:r>
            <a:br>
              <a:rPr lang="bg-BG" sz="2000" i="1"/>
            </a:br>
            <a:r>
              <a:rPr lang="bg-BG" sz="2000" i="1"/>
              <a:t> - </a:t>
            </a:r>
            <a:r>
              <a:rPr lang="en-US" sz="2000" i="1"/>
              <a:t>Batcher’ odd-even mergesort)</a:t>
            </a:r>
            <a:br>
              <a:rPr lang="en-US" sz="2000" i="1"/>
            </a:br>
            <a:r>
              <a:rPr lang="en-US" sz="2000" i="1"/>
              <a:t>	</a:t>
            </a:r>
            <a:r>
              <a:rPr lang="bg-BG" sz="2000"/>
              <a:t>Алгоритъмът, разработен през 1968 г. от Бетчер, действа по принципа “разделяй и владей” и е основан само на две абстрактни операции:</a:t>
            </a:r>
            <a:br>
              <a:rPr lang="bg-BG" sz="2000"/>
            </a:br>
            <a:r>
              <a:rPr lang="bg-BG" sz="2000"/>
              <a:t>	- сравнение-размяна; </a:t>
            </a:r>
            <a:br>
              <a:rPr lang="bg-BG" sz="2000"/>
            </a:br>
            <a:r>
              <a:rPr lang="bg-BG" sz="2000"/>
              <a:t>	- перфектно “карторазбъркване” (и обратния й еквивалент - перфектно</a:t>
            </a:r>
            <a:br>
              <a:rPr lang="bg-BG" sz="2000"/>
            </a:br>
            <a:r>
              <a:rPr lang="bg-BG" sz="2000"/>
              <a:t>  	   “картоподреждане”) за преместване на данните.</a:t>
            </a:r>
            <a:br>
              <a:rPr lang="bg-BG" sz="2000"/>
            </a:br>
            <a:r>
              <a:rPr lang="bg-BG" sz="2000"/>
              <a:t>Първата операция може да бъде реализирана от всеки алгоритъм за сортиране.</a:t>
            </a:r>
            <a:br>
              <a:rPr lang="bg-BG" sz="2000"/>
            </a:br>
            <a:r>
              <a:rPr lang="bg-BG" sz="2000"/>
              <a:t>Втората операция представлява следното:</a:t>
            </a:r>
            <a:br>
              <a:rPr lang="bg-BG" sz="2000"/>
            </a:br>
            <a:r>
              <a:rPr lang="bg-BG" sz="2000"/>
              <a:t>- перфектно “карторазбъркване”		- перфектно “картоподреждане”</a:t>
            </a:r>
            <a:br>
              <a:rPr lang="bg-BG" sz="2000"/>
            </a:br>
            <a:r>
              <a:rPr lang="bg-BG" sz="2000"/>
              <a:t> а</a:t>
            </a:r>
            <a:r>
              <a:rPr lang="en-US" sz="2000"/>
              <a:t>[0]	10		10		 </a:t>
            </a:r>
            <a:r>
              <a:rPr lang="bg-BG" sz="2000"/>
              <a:t>а</a:t>
            </a:r>
            <a:r>
              <a:rPr lang="en-US" sz="2000"/>
              <a:t>[0]	10		10 </a:t>
            </a:r>
            <a:br>
              <a:rPr lang="en-US" sz="2000"/>
            </a:br>
            <a:r>
              <a:rPr lang="en-US" sz="2000"/>
              <a:t> </a:t>
            </a:r>
            <a:r>
              <a:rPr lang="bg-BG" sz="2000"/>
              <a:t>а</a:t>
            </a:r>
            <a:r>
              <a:rPr lang="en-US" sz="2000"/>
              <a:t>[1] 	14		12		 </a:t>
            </a:r>
            <a:r>
              <a:rPr lang="bg-BG" sz="2000"/>
              <a:t>а</a:t>
            </a:r>
            <a:r>
              <a:rPr lang="en-US" sz="2000"/>
              <a:t>[1]       12		14 </a:t>
            </a:r>
            <a:br>
              <a:rPr lang="en-US" sz="2000"/>
            </a:br>
            <a:r>
              <a:rPr lang="en-US" sz="2000"/>
              <a:t> </a:t>
            </a:r>
            <a:r>
              <a:rPr lang="bg-BG" sz="2000"/>
              <a:t>а</a:t>
            </a:r>
            <a:r>
              <a:rPr lang="en-US" sz="2000"/>
              <a:t>[2] 	11		14		 </a:t>
            </a:r>
            <a:r>
              <a:rPr lang="bg-BG" sz="2000"/>
              <a:t>а</a:t>
            </a:r>
            <a:r>
              <a:rPr lang="en-US" sz="2000"/>
              <a:t>[2]       14		11 </a:t>
            </a:r>
            <a:br>
              <a:rPr lang="en-US" sz="2000"/>
            </a:br>
            <a:r>
              <a:rPr lang="en-US" sz="2000"/>
              <a:t> </a:t>
            </a:r>
            <a:r>
              <a:rPr lang="bg-BG" sz="2000"/>
              <a:t>а</a:t>
            </a:r>
            <a:r>
              <a:rPr lang="en-US" sz="2000"/>
              <a:t>[3] 	18		13		 </a:t>
            </a:r>
            <a:r>
              <a:rPr lang="bg-BG" sz="2000"/>
              <a:t>а</a:t>
            </a:r>
            <a:r>
              <a:rPr lang="en-US" sz="2000"/>
              <a:t>[3] 	13		18</a:t>
            </a:r>
            <a:br>
              <a:rPr lang="en-US" sz="2000"/>
            </a:br>
            <a:r>
              <a:rPr lang="en-US" sz="2000"/>
              <a:t> </a:t>
            </a:r>
            <a:r>
              <a:rPr lang="bg-BG" sz="2000"/>
              <a:t>а</a:t>
            </a:r>
            <a:r>
              <a:rPr lang="en-US" sz="2000"/>
              <a:t>[4] 	12		11		 </a:t>
            </a:r>
            <a:r>
              <a:rPr lang="bg-BG" sz="2000"/>
              <a:t>а</a:t>
            </a:r>
            <a:r>
              <a:rPr lang="en-US" sz="2000"/>
              <a:t>[4] 	11		12</a:t>
            </a:r>
            <a:br>
              <a:rPr lang="en-US" sz="2000"/>
            </a:br>
            <a:r>
              <a:rPr lang="en-US" sz="2000"/>
              <a:t> </a:t>
            </a:r>
            <a:r>
              <a:rPr lang="bg-BG" sz="2000"/>
              <a:t>а</a:t>
            </a:r>
            <a:r>
              <a:rPr lang="en-US" sz="2000"/>
              <a:t>[5] 	13		17		 </a:t>
            </a:r>
            <a:r>
              <a:rPr lang="bg-BG" sz="2000"/>
              <a:t>а</a:t>
            </a:r>
            <a:r>
              <a:rPr lang="en-US" sz="2000"/>
              <a:t>[5] 	17		13</a:t>
            </a:r>
            <a:br>
              <a:rPr lang="en-US" sz="2000"/>
            </a:br>
            <a:r>
              <a:rPr lang="en-US" sz="2000"/>
              <a:t> </a:t>
            </a:r>
            <a:r>
              <a:rPr lang="bg-BG" sz="2000"/>
              <a:t>а</a:t>
            </a:r>
            <a:r>
              <a:rPr lang="en-US" sz="2000"/>
              <a:t>[6] </a:t>
            </a:r>
            <a:r>
              <a:rPr lang="bg-BG" sz="2000"/>
              <a:t>	1</a:t>
            </a:r>
            <a:r>
              <a:rPr lang="en-US" sz="2000"/>
              <a:t>7</a:t>
            </a:r>
            <a:r>
              <a:rPr lang="bg-BG" sz="2000"/>
              <a:t>	</a:t>
            </a:r>
            <a:r>
              <a:rPr lang="en-US" sz="2000"/>
              <a:t>	18		 </a:t>
            </a:r>
            <a:r>
              <a:rPr lang="bg-BG" sz="2000"/>
              <a:t>а</a:t>
            </a:r>
            <a:r>
              <a:rPr lang="en-US" sz="2000"/>
              <a:t>[6]	18		17 </a:t>
            </a:r>
            <a:r>
              <a:rPr lang="bg-BG" sz="2000"/>
              <a:t/>
            </a:r>
            <a:br>
              <a:rPr lang="bg-BG" sz="2000"/>
            </a:br>
            <a:r>
              <a:rPr lang="bg-BG" sz="2000"/>
              <a:t> а</a:t>
            </a:r>
            <a:r>
              <a:rPr lang="en-US" sz="2000"/>
              <a:t>[7]	15		15		 </a:t>
            </a:r>
            <a:r>
              <a:rPr lang="bg-BG" sz="2000"/>
              <a:t>а</a:t>
            </a:r>
            <a:r>
              <a:rPr lang="en-US" sz="2000"/>
              <a:t>[7]	15		15</a:t>
            </a:r>
            <a:br>
              <a:rPr lang="en-US" sz="2000"/>
            </a:br>
            <a:r>
              <a:rPr lang="en-US" sz="800"/>
              <a:t/>
            </a:r>
            <a:br>
              <a:rPr lang="en-US" sz="800"/>
            </a:br>
            <a:r>
              <a:rPr lang="en-US" sz="800"/>
              <a:t>	</a:t>
            </a:r>
            <a:r>
              <a:rPr lang="bg-BG" sz="2000"/>
              <a:t>Всички елементи от първата половина на масива ще имат четни индекси, от втората - нечетни.</a:t>
            </a:r>
            <a:r>
              <a:rPr lang="en-US" sz="2000"/>
              <a:t> </a:t>
            </a:r>
            <a:r>
              <a:rPr lang="bg-BG" sz="2000"/>
              <a:t>При обратната операция - елементите с четните индекси отиват в първата половина на масива, с нечетните - във втората. </a:t>
            </a:r>
            <a:endParaRPr lang="en-US" sz="2000"/>
          </a:p>
        </p:txBody>
      </p:sp>
      <p:grpSp>
        <p:nvGrpSpPr>
          <p:cNvPr id="51204" name="Group 24"/>
          <p:cNvGrpSpPr>
            <a:grpSpLocks/>
          </p:cNvGrpSpPr>
          <p:nvPr/>
        </p:nvGrpSpPr>
        <p:grpSpPr bwMode="auto">
          <a:xfrm>
            <a:off x="101600" y="3467100"/>
            <a:ext cx="7620000" cy="2098675"/>
            <a:chOff x="144" y="2230"/>
            <a:chExt cx="4800" cy="1322"/>
          </a:xfrm>
        </p:grpSpPr>
        <p:sp>
          <p:nvSpPr>
            <p:cNvPr id="51206" name="Line 25"/>
            <p:cNvSpPr>
              <a:spLocks noChangeShapeType="1"/>
            </p:cNvSpPr>
            <p:nvPr/>
          </p:nvSpPr>
          <p:spPr bwMode="auto">
            <a:xfrm>
              <a:off x="144" y="2928"/>
              <a:ext cx="1872" cy="0"/>
            </a:xfrm>
            <a:prstGeom prst="line">
              <a:avLst/>
            </a:prstGeom>
            <a:noFill/>
            <a:ln w="9525">
              <a:solidFill>
                <a:schemeClr val="tx1"/>
              </a:solidFill>
              <a:prstDash val="sysDot"/>
              <a:round/>
              <a:headEnd/>
              <a:tailEnd/>
            </a:ln>
          </p:spPr>
          <p:txBody>
            <a:bodyPr wrap="none" anchor="ctr"/>
            <a:lstStyle/>
            <a:p>
              <a:endParaRPr lang="bg-BG"/>
            </a:p>
          </p:txBody>
        </p:sp>
        <p:sp>
          <p:nvSpPr>
            <p:cNvPr id="51207" name="Line 26"/>
            <p:cNvSpPr>
              <a:spLocks noChangeShapeType="1"/>
            </p:cNvSpPr>
            <p:nvPr/>
          </p:nvSpPr>
          <p:spPr bwMode="auto">
            <a:xfrm>
              <a:off x="3072" y="2928"/>
              <a:ext cx="1872" cy="0"/>
            </a:xfrm>
            <a:prstGeom prst="line">
              <a:avLst/>
            </a:prstGeom>
            <a:noFill/>
            <a:ln w="9525">
              <a:solidFill>
                <a:schemeClr val="tx1"/>
              </a:solidFill>
              <a:prstDash val="sysDot"/>
              <a:round/>
              <a:headEnd/>
              <a:tailEnd/>
            </a:ln>
          </p:spPr>
          <p:txBody>
            <a:bodyPr wrap="none" anchor="ctr"/>
            <a:lstStyle/>
            <a:p>
              <a:endParaRPr lang="bg-BG"/>
            </a:p>
          </p:txBody>
        </p:sp>
        <p:sp>
          <p:nvSpPr>
            <p:cNvPr id="51208" name="Line 27"/>
            <p:cNvSpPr>
              <a:spLocks noChangeShapeType="1"/>
            </p:cNvSpPr>
            <p:nvPr/>
          </p:nvSpPr>
          <p:spPr bwMode="auto">
            <a:xfrm>
              <a:off x="960" y="2256"/>
              <a:ext cx="864" cy="0"/>
            </a:xfrm>
            <a:prstGeom prst="line">
              <a:avLst/>
            </a:prstGeom>
            <a:noFill/>
            <a:ln w="9525">
              <a:solidFill>
                <a:schemeClr val="accent2"/>
              </a:solidFill>
              <a:round/>
              <a:headEnd/>
              <a:tailEnd type="triangle" w="med" len="med"/>
            </a:ln>
          </p:spPr>
          <p:txBody>
            <a:bodyPr wrap="none" anchor="ctr"/>
            <a:lstStyle/>
            <a:p>
              <a:endParaRPr lang="bg-BG"/>
            </a:p>
          </p:txBody>
        </p:sp>
        <p:sp>
          <p:nvSpPr>
            <p:cNvPr id="51209" name="Line 28"/>
            <p:cNvSpPr>
              <a:spLocks noChangeShapeType="1"/>
            </p:cNvSpPr>
            <p:nvPr/>
          </p:nvSpPr>
          <p:spPr bwMode="auto">
            <a:xfrm flipV="1">
              <a:off x="912" y="2448"/>
              <a:ext cx="864" cy="528"/>
            </a:xfrm>
            <a:prstGeom prst="line">
              <a:avLst/>
            </a:prstGeom>
            <a:noFill/>
            <a:ln w="9525">
              <a:solidFill>
                <a:schemeClr val="accent2"/>
              </a:solidFill>
              <a:round/>
              <a:headEnd/>
              <a:tailEnd type="triangle" w="med" len="med"/>
            </a:ln>
          </p:spPr>
          <p:txBody>
            <a:bodyPr wrap="none" anchor="ctr"/>
            <a:lstStyle/>
            <a:p>
              <a:endParaRPr lang="bg-BG"/>
            </a:p>
          </p:txBody>
        </p:sp>
        <p:sp>
          <p:nvSpPr>
            <p:cNvPr id="51210" name="Line 29"/>
            <p:cNvSpPr>
              <a:spLocks noChangeShapeType="1"/>
            </p:cNvSpPr>
            <p:nvPr/>
          </p:nvSpPr>
          <p:spPr bwMode="auto">
            <a:xfrm>
              <a:off x="912" y="2400"/>
              <a:ext cx="864" cy="192"/>
            </a:xfrm>
            <a:prstGeom prst="line">
              <a:avLst/>
            </a:prstGeom>
            <a:noFill/>
            <a:ln w="9525">
              <a:solidFill>
                <a:schemeClr val="accent2"/>
              </a:solidFill>
              <a:round/>
              <a:headEnd/>
              <a:tailEnd type="triangle" w="med" len="med"/>
            </a:ln>
          </p:spPr>
          <p:txBody>
            <a:bodyPr wrap="none" anchor="ctr"/>
            <a:lstStyle/>
            <a:p>
              <a:endParaRPr lang="bg-BG"/>
            </a:p>
          </p:txBody>
        </p:sp>
        <p:sp>
          <p:nvSpPr>
            <p:cNvPr id="51211" name="Line 30"/>
            <p:cNvSpPr>
              <a:spLocks noChangeShapeType="1"/>
            </p:cNvSpPr>
            <p:nvPr/>
          </p:nvSpPr>
          <p:spPr bwMode="auto">
            <a:xfrm>
              <a:off x="912" y="2592"/>
              <a:ext cx="960" cy="384"/>
            </a:xfrm>
            <a:prstGeom prst="line">
              <a:avLst/>
            </a:prstGeom>
            <a:noFill/>
            <a:ln w="9525">
              <a:solidFill>
                <a:schemeClr val="accent2"/>
              </a:solidFill>
              <a:round/>
              <a:headEnd/>
              <a:tailEnd type="triangle" w="med" len="med"/>
            </a:ln>
          </p:spPr>
          <p:txBody>
            <a:bodyPr wrap="none" anchor="ctr"/>
            <a:lstStyle/>
            <a:p>
              <a:endParaRPr lang="bg-BG"/>
            </a:p>
          </p:txBody>
        </p:sp>
        <p:sp>
          <p:nvSpPr>
            <p:cNvPr id="51212" name="Line 31"/>
            <p:cNvSpPr>
              <a:spLocks noChangeShapeType="1"/>
            </p:cNvSpPr>
            <p:nvPr/>
          </p:nvSpPr>
          <p:spPr bwMode="auto">
            <a:xfrm>
              <a:off x="912" y="2832"/>
              <a:ext cx="912" cy="528"/>
            </a:xfrm>
            <a:prstGeom prst="line">
              <a:avLst/>
            </a:prstGeom>
            <a:noFill/>
            <a:ln w="9525">
              <a:solidFill>
                <a:schemeClr val="accent2"/>
              </a:solidFill>
              <a:round/>
              <a:headEnd/>
              <a:tailEnd type="triangle" w="med" len="med"/>
            </a:ln>
          </p:spPr>
          <p:txBody>
            <a:bodyPr wrap="none" anchor="ctr"/>
            <a:lstStyle/>
            <a:p>
              <a:endParaRPr lang="bg-BG"/>
            </a:p>
          </p:txBody>
        </p:sp>
        <p:sp>
          <p:nvSpPr>
            <p:cNvPr id="51213" name="Line 32"/>
            <p:cNvSpPr>
              <a:spLocks noChangeShapeType="1"/>
            </p:cNvSpPr>
            <p:nvPr/>
          </p:nvSpPr>
          <p:spPr bwMode="auto">
            <a:xfrm>
              <a:off x="960" y="3552"/>
              <a:ext cx="864" cy="0"/>
            </a:xfrm>
            <a:prstGeom prst="line">
              <a:avLst/>
            </a:prstGeom>
            <a:noFill/>
            <a:ln w="9525">
              <a:solidFill>
                <a:schemeClr val="accent2"/>
              </a:solidFill>
              <a:round/>
              <a:headEnd/>
              <a:tailEnd type="triangle" w="med" len="med"/>
            </a:ln>
          </p:spPr>
          <p:txBody>
            <a:bodyPr wrap="none" anchor="ctr"/>
            <a:lstStyle/>
            <a:p>
              <a:endParaRPr lang="bg-BG"/>
            </a:p>
          </p:txBody>
        </p:sp>
        <p:sp>
          <p:nvSpPr>
            <p:cNvPr id="51214" name="Line 33"/>
            <p:cNvSpPr>
              <a:spLocks noChangeShapeType="1"/>
            </p:cNvSpPr>
            <p:nvPr/>
          </p:nvSpPr>
          <p:spPr bwMode="auto">
            <a:xfrm flipV="1">
              <a:off x="864" y="2832"/>
              <a:ext cx="960" cy="384"/>
            </a:xfrm>
            <a:prstGeom prst="line">
              <a:avLst/>
            </a:prstGeom>
            <a:noFill/>
            <a:ln w="9525">
              <a:solidFill>
                <a:schemeClr val="accent2"/>
              </a:solidFill>
              <a:round/>
              <a:headEnd/>
              <a:tailEnd type="triangle" w="med" len="med"/>
            </a:ln>
          </p:spPr>
          <p:txBody>
            <a:bodyPr wrap="none" anchor="ctr"/>
            <a:lstStyle/>
            <a:p>
              <a:endParaRPr lang="bg-BG"/>
            </a:p>
          </p:txBody>
        </p:sp>
        <p:sp>
          <p:nvSpPr>
            <p:cNvPr id="51215" name="Line 34"/>
            <p:cNvSpPr>
              <a:spLocks noChangeShapeType="1"/>
            </p:cNvSpPr>
            <p:nvPr/>
          </p:nvSpPr>
          <p:spPr bwMode="auto">
            <a:xfrm flipV="1">
              <a:off x="912" y="3216"/>
              <a:ext cx="912" cy="144"/>
            </a:xfrm>
            <a:prstGeom prst="line">
              <a:avLst/>
            </a:prstGeom>
            <a:noFill/>
            <a:ln w="9525">
              <a:solidFill>
                <a:schemeClr val="accent2"/>
              </a:solidFill>
              <a:round/>
              <a:headEnd/>
              <a:tailEnd type="triangle" w="med" len="med"/>
            </a:ln>
          </p:spPr>
          <p:txBody>
            <a:bodyPr wrap="none" anchor="ctr"/>
            <a:lstStyle/>
            <a:p>
              <a:endParaRPr lang="bg-BG"/>
            </a:p>
          </p:txBody>
        </p:sp>
        <p:sp>
          <p:nvSpPr>
            <p:cNvPr id="51216" name="Line 35"/>
            <p:cNvSpPr>
              <a:spLocks noChangeShapeType="1"/>
            </p:cNvSpPr>
            <p:nvPr/>
          </p:nvSpPr>
          <p:spPr bwMode="auto">
            <a:xfrm>
              <a:off x="3822" y="2230"/>
              <a:ext cx="912" cy="0"/>
            </a:xfrm>
            <a:prstGeom prst="line">
              <a:avLst/>
            </a:prstGeom>
            <a:noFill/>
            <a:ln w="9525">
              <a:solidFill>
                <a:schemeClr val="accent2"/>
              </a:solidFill>
              <a:round/>
              <a:headEnd/>
              <a:tailEnd type="triangle" w="med" len="med"/>
            </a:ln>
          </p:spPr>
          <p:txBody>
            <a:bodyPr wrap="none" anchor="ctr"/>
            <a:lstStyle/>
            <a:p>
              <a:endParaRPr lang="bg-BG"/>
            </a:p>
          </p:txBody>
        </p:sp>
        <p:sp>
          <p:nvSpPr>
            <p:cNvPr id="51217" name="Line 36"/>
            <p:cNvSpPr>
              <a:spLocks noChangeShapeType="1"/>
            </p:cNvSpPr>
            <p:nvPr/>
          </p:nvSpPr>
          <p:spPr bwMode="auto">
            <a:xfrm>
              <a:off x="3788" y="2400"/>
              <a:ext cx="960" cy="576"/>
            </a:xfrm>
            <a:prstGeom prst="line">
              <a:avLst/>
            </a:prstGeom>
            <a:noFill/>
            <a:ln w="9525">
              <a:solidFill>
                <a:schemeClr val="accent2"/>
              </a:solidFill>
              <a:round/>
              <a:headEnd/>
              <a:tailEnd type="triangle" w="med" len="med"/>
            </a:ln>
          </p:spPr>
          <p:txBody>
            <a:bodyPr wrap="none" anchor="ctr"/>
            <a:lstStyle/>
            <a:p>
              <a:endParaRPr lang="bg-BG"/>
            </a:p>
          </p:txBody>
        </p:sp>
        <p:sp>
          <p:nvSpPr>
            <p:cNvPr id="51218" name="Line 37"/>
            <p:cNvSpPr>
              <a:spLocks noChangeShapeType="1"/>
            </p:cNvSpPr>
            <p:nvPr/>
          </p:nvSpPr>
          <p:spPr bwMode="auto">
            <a:xfrm flipV="1">
              <a:off x="3792" y="2400"/>
              <a:ext cx="912" cy="240"/>
            </a:xfrm>
            <a:prstGeom prst="line">
              <a:avLst/>
            </a:prstGeom>
            <a:noFill/>
            <a:ln w="9525">
              <a:solidFill>
                <a:schemeClr val="accent2"/>
              </a:solidFill>
              <a:round/>
              <a:headEnd/>
              <a:tailEnd type="triangle" w="med" len="med"/>
            </a:ln>
          </p:spPr>
          <p:txBody>
            <a:bodyPr wrap="none" anchor="ctr"/>
            <a:lstStyle/>
            <a:p>
              <a:endParaRPr lang="bg-BG"/>
            </a:p>
          </p:txBody>
        </p:sp>
        <p:sp>
          <p:nvSpPr>
            <p:cNvPr id="51219" name="Line 38"/>
            <p:cNvSpPr>
              <a:spLocks noChangeShapeType="1"/>
            </p:cNvSpPr>
            <p:nvPr/>
          </p:nvSpPr>
          <p:spPr bwMode="auto">
            <a:xfrm>
              <a:off x="3792" y="2832"/>
              <a:ext cx="912" cy="336"/>
            </a:xfrm>
            <a:prstGeom prst="line">
              <a:avLst/>
            </a:prstGeom>
            <a:noFill/>
            <a:ln w="9525">
              <a:solidFill>
                <a:schemeClr val="accent2"/>
              </a:solidFill>
              <a:round/>
              <a:headEnd/>
              <a:tailEnd type="triangle" w="med" len="med"/>
            </a:ln>
          </p:spPr>
          <p:txBody>
            <a:bodyPr wrap="none" anchor="ctr"/>
            <a:lstStyle/>
            <a:p>
              <a:endParaRPr lang="bg-BG"/>
            </a:p>
          </p:txBody>
        </p:sp>
        <p:sp>
          <p:nvSpPr>
            <p:cNvPr id="51220" name="Line 39"/>
            <p:cNvSpPr>
              <a:spLocks noChangeShapeType="1"/>
            </p:cNvSpPr>
            <p:nvPr/>
          </p:nvSpPr>
          <p:spPr bwMode="auto">
            <a:xfrm flipV="1">
              <a:off x="3759" y="2611"/>
              <a:ext cx="960" cy="384"/>
            </a:xfrm>
            <a:prstGeom prst="line">
              <a:avLst/>
            </a:prstGeom>
            <a:noFill/>
            <a:ln w="9525">
              <a:solidFill>
                <a:schemeClr val="accent2"/>
              </a:solidFill>
              <a:round/>
              <a:headEnd/>
              <a:tailEnd type="triangle" w="med" len="med"/>
            </a:ln>
          </p:spPr>
          <p:txBody>
            <a:bodyPr wrap="none" anchor="ctr"/>
            <a:lstStyle/>
            <a:p>
              <a:endParaRPr lang="bg-BG"/>
            </a:p>
          </p:txBody>
        </p:sp>
        <p:sp>
          <p:nvSpPr>
            <p:cNvPr id="51221" name="Line 40"/>
            <p:cNvSpPr>
              <a:spLocks noChangeShapeType="1"/>
            </p:cNvSpPr>
            <p:nvPr/>
          </p:nvSpPr>
          <p:spPr bwMode="auto">
            <a:xfrm>
              <a:off x="3799" y="3168"/>
              <a:ext cx="912" cy="192"/>
            </a:xfrm>
            <a:prstGeom prst="line">
              <a:avLst/>
            </a:prstGeom>
            <a:noFill/>
            <a:ln w="9525">
              <a:solidFill>
                <a:schemeClr val="accent2"/>
              </a:solidFill>
              <a:round/>
              <a:headEnd/>
              <a:tailEnd type="triangle" w="med" len="med"/>
            </a:ln>
          </p:spPr>
          <p:txBody>
            <a:bodyPr wrap="none" anchor="ctr"/>
            <a:lstStyle/>
            <a:p>
              <a:endParaRPr lang="bg-BG"/>
            </a:p>
          </p:txBody>
        </p:sp>
        <p:sp>
          <p:nvSpPr>
            <p:cNvPr id="51222" name="Line 41"/>
            <p:cNvSpPr>
              <a:spLocks noChangeShapeType="1"/>
            </p:cNvSpPr>
            <p:nvPr/>
          </p:nvSpPr>
          <p:spPr bwMode="auto">
            <a:xfrm flipV="1">
              <a:off x="3792" y="2832"/>
              <a:ext cx="912" cy="528"/>
            </a:xfrm>
            <a:prstGeom prst="line">
              <a:avLst/>
            </a:prstGeom>
            <a:noFill/>
            <a:ln w="9525">
              <a:solidFill>
                <a:schemeClr val="accent2"/>
              </a:solidFill>
              <a:round/>
              <a:headEnd/>
              <a:tailEnd type="triangle" w="med" len="med"/>
            </a:ln>
          </p:spPr>
          <p:txBody>
            <a:bodyPr wrap="none" anchor="ctr"/>
            <a:lstStyle/>
            <a:p>
              <a:endParaRPr lang="bg-BG"/>
            </a:p>
          </p:txBody>
        </p:sp>
        <p:sp>
          <p:nvSpPr>
            <p:cNvPr id="51223" name="Line 42"/>
            <p:cNvSpPr>
              <a:spLocks noChangeShapeType="1"/>
            </p:cNvSpPr>
            <p:nvPr/>
          </p:nvSpPr>
          <p:spPr bwMode="auto">
            <a:xfrm>
              <a:off x="3840" y="3552"/>
              <a:ext cx="864" cy="0"/>
            </a:xfrm>
            <a:prstGeom prst="line">
              <a:avLst/>
            </a:prstGeom>
            <a:noFill/>
            <a:ln w="9525">
              <a:solidFill>
                <a:schemeClr val="accent2"/>
              </a:solidFill>
              <a:round/>
              <a:headEnd/>
              <a:tailEnd type="triangle" w="med" len="med"/>
            </a:ln>
          </p:spPr>
          <p:txBody>
            <a:bodyPr wrap="none" anchor="ctr"/>
            <a:lstStyle/>
            <a:p>
              <a:endParaRPr lang="bg-BG"/>
            </a:p>
          </p:txBody>
        </p:sp>
      </p:grpSp>
      <p:sp>
        <p:nvSpPr>
          <p:cNvPr id="25" name="Slide Number Placeholder 24"/>
          <p:cNvSpPr>
            <a:spLocks noGrp="1"/>
          </p:cNvSpPr>
          <p:nvPr>
            <p:ph type="sldNum" sz="quarter" idx="12"/>
          </p:nvPr>
        </p:nvSpPr>
        <p:spPr/>
        <p:txBody>
          <a:bodyPr/>
          <a:lstStyle/>
          <a:p>
            <a:pPr>
              <a:defRPr/>
            </a:pPr>
            <a:fld id="{12C5C010-BECD-466C-B362-7BDA69ED1BC9}" type="slidenum">
              <a:rPr lang="en-US"/>
              <a:pPr>
                <a:defRPr/>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type="title"/>
          </p:nvPr>
        </p:nvSpPr>
        <p:spPr>
          <a:xfrm>
            <a:off x="1042988" y="260350"/>
            <a:ext cx="7921625" cy="6400800"/>
          </a:xfrm>
        </p:spPr>
        <p:txBody>
          <a:bodyPr/>
          <a:lstStyle/>
          <a:p>
            <a:pPr eaLnBrk="1" fontAlgn="auto" hangingPunct="1">
              <a:lnSpc>
                <a:spcPct val="110000"/>
              </a:lnSpc>
              <a:spcAft>
                <a:spcPts val="0"/>
              </a:spcAft>
              <a:defRPr/>
            </a:pPr>
            <a:r>
              <a:rPr lang="en-US" sz="2000">
                <a:solidFill>
                  <a:schemeClr val="tx1"/>
                </a:solidFill>
              </a:rPr>
              <a:t>	</a:t>
            </a:r>
            <a:r>
              <a:rPr lang="bg-BG" sz="2000">
                <a:solidFill>
                  <a:schemeClr val="tx1"/>
                </a:solidFill>
              </a:rPr>
              <a:t>Перфектното карторазбъркване пренарежда масива по начин, съответстващ на начина, по който тесте карти би могло да се пренареди, когато се разбърква от професионалист. То се разцепва прецизно на две половини, после се прави “розетка”, така че картите от двете половини се вземат алтернативно, за да направят разбърканото тесте. Първата карта винаги се взема от горната половина. Ако броят на картите е четен, двете половини имат еднакъв брой карти; ако броят на картите е нечетен, допълнителната карта е в края на горната половина.</a:t>
            </a:r>
            <a:br>
              <a:rPr lang="bg-BG" sz="2000">
                <a:solidFill>
                  <a:schemeClr val="tx1"/>
                </a:solidFill>
              </a:rPr>
            </a:br>
            <a:r>
              <a:rPr lang="bg-BG" sz="800">
                <a:solidFill>
                  <a:schemeClr val="tx1"/>
                </a:solidFill>
              </a:rPr>
              <a:t/>
            </a:r>
            <a:br>
              <a:rPr lang="bg-BG" sz="800">
                <a:solidFill>
                  <a:schemeClr val="tx1"/>
                </a:solidFill>
              </a:rPr>
            </a:br>
            <a:r>
              <a:rPr lang="bg-BG" sz="2000">
                <a:solidFill>
                  <a:schemeClr val="tx1"/>
                </a:solidFill>
              </a:rPr>
              <a:t>	Функция </a:t>
            </a:r>
            <a:r>
              <a:rPr lang="bg-BG" sz="2000" i="1">
                <a:solidFill>
                  <a:schemeClr val="tx1"/>
                </a:solidFill>
              </a:rPr>
              <a:t>shuffle,</a:t>
            </a:r>
            <a:r>
              <a:rPr lang="bg-BG" sz="2000">
                <a:solidFill>
                  <a:schemeClr val="tx1"/>
                </a:solidFill>
              </a:rPr>
              <a:t> извършваща перфектно карторазбъркване:</a:t>
            </a:r>
            <a:br>
              <a:rPr lang="bg-BG" sz="2000">
                <a:solidFill>
                  <a:schemeClr val="tx1"/>
                </a:solidFill>
              </a:rPr>
            </a:br>
            <a:r>
              <a:rPr lang="bg-BG" sz="2000" i="1">
                <a:solidFill>
                  <a:schemeClr val="tx1"/>
                </a:solidFill>
              </a:rPr>
              <a:t>void shuffle (int a[], int lf, int rt)</a:t>
            </a:r>
            <a:r>
              <a:rPr lang="bg-BG" sz="2000">
                <a:solidFill>
                  <a:schemeClr val="tx1"/>
                </a:solidFill>
              </a:rPr>
              <a:t/>
            </a:r>
            <a:br>
              <a:rPr lang="bg-BG" sz="2000">
                <a:solidFill>
                  <a:schemeClr val="tx1"/>
                </a:solidFill>
              </a:rPr>
            </a:br>
            <a:r>
              <a:rPr lang="en-US" sz="2000">
                <a:solidFill>
                  <a:schemeClr val="tx1"/>
                </a:solidFill>
              </a:rPr>
              <a:t>{</a:t>
            </a:r>
            <a:br>
              <a:rPr lang="en-US" sz="2000">
                <a:solidFill>
                  <a:schemeClr val="tx1"/>
                </a:solidFill>
              </a:rPr>
            </a:br>
            <a:r>
              <a:rPr lang="en-US" sz="2000">
                <a:solidFill>
                  <a:schemeClr val="tx1"/>
                </a:solidFill>
              </a:rPr>
              <a:t>    </a:t>
            </a:r>
            <a:r>
              <a:rPr lang="en-US" sz="2000" i="1">
                <a:solidFill>
                  <a:schemeClr val="tx1"/>
                </a:solidFill>
              </a:rPr>
              <a:t>int i, j, m=(lf+rt)/2;</a:t>
            </a:r>
            <a:br>
              <a:rPr lang="en-US" sz="2000" i="1">
                <a:solidFill>
                  <a:schemeClr val="tx1"/>
                </a:solidFill>
              </a:rPr>
            </a:br>
            <a:r>
              <a:rPr lang="en-US" sz="2000" i="1">
                <a:solidFill>
                  <a:schemeClr val="tx1"/>
                </a:solidFill>
              </a:rPr>
              <a:t>    static aux[maxn]; 	// </a:t>
            </a:r>
            <a:r>
              <a:rPr lang="bg-BG" sz="2000" i="1">
                <a:solidFill>
                  <a:schemeClr val="tx1"/>
                </a:solidFill>
              </a:rPr>
              <a:t>временен масив</a:t>
            </a:r>
            <a:r>
              <a:rPr lang="en-US" sz="2000" i="1">
                <a:solidFill>
                  <a:schemeClr val="tx1"/>
                </a:solidFill>
              </a:rPr>
              <a:t/>
            </a:r>
            <a:br>
              <a:rPr lang="en-US" sz="2000" i="1">
                <a:solidFill>
                  <a:schemeClr val="tx1"/>
                </a:solidFill>
              </a:rPr>
            </a:br>
            <a:r>
              <a:rPr lang="en-US" sz="2000" i="1">
                <a:solidFill>
                  <a:schemeClr val="tx1"/>
                </a:solidFill>
              </a:rPr>
              <a:t>    for (i=lf, j=0; i &lt;=rt; i+=2, j++)</a:t>
            </a:r>
            <a:br>
              <a:rPr lang="en-US" sz="2000" i="1">
                <a:solidFill>
                  <a:schemeClr val="tx1"/>
                </a:solidFill>
              </a:rPr>
            </a:br>
            <a:r>
              <a:rPr lang="en-US" sz="2000" i="1">
                <a:solidFill>
                  <a:schemeClr val="tx1"/>
                </a:solidFill>
              </a:rPr>
              <a:t>          { aux[i]=aux[lf+j]; aux[i+</a:t>
            </a:r>
            <a:r>
              <a:rPr lang="en-US" sz="2000" i="1">
                <a:solidFill>
                  <a:schemeClr val="tx1"/>
                </a:solidFill>
                <a:latin typeface="Arial" pitchFamily="34" charset="0"/>
                <a:cs typeface="Arial" pitchFamily="34" charset="0"/>
              </a:rPr>
              <a:t>1</a:t>
            </a:r>
            <a:r>
              <a:rPr lang="en-US" sz="2000" i="1">
                <a:solidFill>
                  <a:schemeClr val="tx1"/>
                </a:solidFill>
              </a:rPr>
              <a:t>]=a[m+</a:t>
            </a:r>
            <a:r>
              <a:rPr lang="en-US" sz="2000" i="1">
                <a:solidFill>
                  <a:schemeClr val="tx1"/>
                </a:solidFill>
                <a:latin typeface="Arial" pitchFamily="34" charset="0"/>
                <a:cs typeface="Arial" pitchFamily="34" charset="0"/>
              </a:rPr>
              <a:t>1</a:t>
            </a:r>
            <a:r>
              <a:rPr lang="en-US" sz="2000" i="1">
                <a:solidFill>
                  <a:schemeClr val="tx1"/>
                </a:solidFill>
              </a:rPr>
              <a:t>+j];}</a:t>
            </a:r>
            <a:br>
              <a:rPr lang="en-US" sz="2000" i="1">
                <a:solidFill>
                  <a:schemeClr val="tx1"/>
                </a:solidFill>
              </a:rPr>
            </a:br>
            <a:r>
              <a:rPr lang="en-US" sz="2000" i="1">
                <a:solidFill>
                  <a:schemeClr val="tx1"/>
                </a:solidFill>
              </a:rPr>
              <a:t>    for (i=lf; i&lt;=rt; i++)    a[i]=aux[i];</a:t>
            </a:r>
            <a:br>
              <a:rPr lang="en-US" sz="2000" i="1">
                <a:solidFill>
                  <a:schemeClr val="tx1"/>
                </a:solidFill>
              </a:rPr>
            </a:br>
            <a:r>
              <a:rPr lang="en-US" sz="2000" i="1">
                <a:solidFill>
                  <a:schemeClr val="tx1"/>
                </a:solidFill>
              </a:rPr>
              <a:t>}</a:t>
            </a:r>
            <a:r>
              <a:rPr lang="en-US" sz="2000">
                <a:solidFill>
                  <a:schemeClr val="tx1"/>
                </a:solidFill>
              </a:rPr>
              <a:t>    </a:t>
            </a:r>
          </a:p>
        </p:txBody>
      </p:sp>
      <p:sp>
        <p:nvSpPr>
          <p:cNvPr id="5" name="Slide Number Placeholder 4"/>
          <p:cNvSpPr>
            <a:spLocks noGrp="1"/>
          </p:cNvSpPr>
          <p:nvPr>
            <p:ph type="sldNum" sz="quarter" idx="12"/>
          </p:nvPr>
        </p:nvSpPr>
        <p:spPr/>
        <p:txBody>
          <a:bodyPr/>
          <a:lstStyle/>
          <a:p>
            <a:pPr>
              <a:defRPr/>
            </a:pPr>
            <a:fld id="{3DD3A020-0F14-4DBE-943D-E70F1D6434B0}" type="slidenum">
              <a:rPr lang="en-US"/>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type="title"/>
          </p:nvPr>
        </p:nvSpPr>
        <p:spPr>
          <a:xfrm>
            <a:off x="1258888" y="260350"/>
            <a:ext cx="7435850" cy="6400800"/>
          </a:xfrm>
        </p:spPr>
        <p:txBody>
          <a:bodyPr>
            <a:normAutofit fontScale="90000"/>
          </a:bodyPr>
          <a:lstStyle/>
          <a:p>
            <a:pPr eaLnBrk="1" fontAlgn="auto" hangingPunct="1">
              <a:spcAft>
                <a:spcPts val="0"/>
              </a:spcAft>
              <a:defRPr/>
            </a:pPr>
            <a:r>
              <a:rPr lang="bg-BG" sz="2000">
                <a:solidFill>
                  <a:schemeClr val="tx1"/>
                </a:solidFill>
              </a:rPr>
              <a:t>Функция </a:t>
            </a:r>
            <a:r>
              <a:rPr lang="bg-BG" sz="2000" i="1">
                <a:solidFill>
                  <a:schemeClr val="tx1"/>
                </a:solidFill>
              </a:rPr>
              <a:t>u</a:t>
            </a:r>
            <a:r>
              <a:rPr lang="en-US" sz="2000" i="1">
                <a:solidFill>
                  <a:schemeClr val="tx1"/>
                </a:solidFill>
              </a:rPr>
              <a:t>nshuffle,</a:t>
            </a:r>
            <a:r>
              <a:rPr lang="bg-BG" sz="2000">
                <a:solidFill>
                  <a:schemeClr val="tx1"/>
                </a:solidFill>
              </a:rPr>
              <a:t> извършваща перфектно картоподреждане:</a:t>
            </a:r>
            <a:br>
              <a:rPr lang="bg-BG" sz="2000">
                <a:solidFill>
                  <a:schemeClr val="tx1"/>
                </a:solidFill>
              </a:rPr>
            </a:br>
            <a:r>
              <a:rPr lang="bg-BG" sz="800">
                <a:solidFill>
                  <a:schemeClr val="tx1"/>
                </a:solidFill>
              </a:rPr>
              <a:t/>
            </a:r>
            <a:br>
              <a:rPr lang="bg-BG" sz="800">
                <a:solidFill>
                  <a:schemeClr val="tx1"/>
                </a:solidFill>
              </a:rPr>
            </a:br>
            <a:r>
              <a:rPr lang="en-US" sz="2000" i="1">
                <a:solidFill>
                  <a:schemeClr val="tx1"/>
                </a:solidFill>
              </a:rPr>
              <a:t>void unshuffle </a:t>
            </a:r>
            <a:r>
              <a:rPr lang="bg-BG" sz="2000" i="1">
                <a:solidFill>
                  <a:schemeClr val="tx1"/>
                </a:solidFill>
              </a:rPr>
              <a:t>(</a:t>
            </a:r>
            <a:r>
              <a:rPr lang="en-US" sz="2000" i="1">
                <a:solidFill>
                  <a:schemeClr val="tx1"/>
                </a:solidFill>
              </a:rPr>
              <a:t>int a[], int lf, int rt)</a:t>
            </a:r>
            <a:r>
              <a:rPr lang="bg-BG" sz="2000">
                <a:solidFill>
                  <a:schemeClr val="tx1"/>
                </a:solidFill>
              </a:rPr>
              <a:t/>
            </a:r>
            <a:br>
              <a:rPr lang="bg-BG" sz="2000">
                <a:solidFill>
                  <a:schemeClr val="tx1"/>
                </a:solidFill>
              </a:rPr>
            </a:br>
            <a:r>
              <a:rPr lang="en-US" sz="2000">
                <a:solidFill>
                  <a:schemeClr val="tx1"/>
                </a:solidFill>
              </a:rPr>
              <a:t>{  </a:t>
            </a:r>
            <a:r>
              <a:rPr lang="en-US" sz="2000" i="1">
                <a:solidFill>
                  <a:schemeClr val="tx1"/>
                </a:solidFill>
              </a:rPr>
              <a:t>int i, j, m=(lf+rt)/2;</a:t>
            </a:r>
            <a:br>
              <a:rPr lang="en-US" sz="2000" i="1">
                <a:solidFill>
                  <a:schemeClr val="tx1"/>
                </a:solidFill>
              </a:rPr>
            </a:br>
            <a:r>
              <a:rPr lang="en-US" sz="2000" i="1">
                <a:solidFill>
                  <a:schemeClr val="tx1"/>
                </a:solidFill>
              </a:rPr>
              <a:t>    static aux[maxn]; 	// </a:t>
            </a:r>
            <a:r>
              <a:rPr lang="bg-BG" sz="2000" i="1">
                <a:solidFill>
                  <a:schemeClr val="tx1"/>
                </a:solidFill>
              </a:rPr>
              <a:t>временен масив</a:t>
            </a:r>
            <a:r>
              <a:rPr lang="en-US" sz="2000" i="1">
                <a:solidFill>
                  <a:schemeClr val="tx1"/>
                </a:solidFill>
              </a:rPr>
              <a:t/>
            </a:r>
            <a:br>
              <a:rPr lang="en-US" sz="2000" i="1">
                <a:solidFill>
                  <a:schemeClr val="tx1"/>
                </a:solidFill>
              </a:rPr>
            </a:br>
            <a:r>
              <a:rPr lang="en-US" sz="2000" i="1">
                <a:solidFill>
                  <a:schemeClr val="tx1"/>
                </a:solidFill>
              </a:rPr>
              <a:t>    for (i=lf, j=0; i &lt;=rt; i+=2, j++)</a:t>
            </a:r>
            <a:br>
              <a:rPr lang="en-US" sz="2000" i="1">
                <a:solidFill>
                  <a:schemeClr val="tx1"/>
                </a:solidFill>
              </a:rPr>
            </a:br>
            <a:r>
              <a:rPr lang="en-US" sz="2000" i="1">
                <a:solidFill>
                  <a:schemeClr val="tx1"/>
                </a:solidFill>
              </a:rPr>
              <a:t>          { aux[lt+j]=aux[i]; a[m+</a:t>
            </a:r>
            <a:r>
              <a:rPr lang="en-US" sz="2000" i="1">
                <a:solidFill>
                  <a:schemeClr val="tx1"/>
                </a:solidFill>
                <a:latin typeface="Arial" pitchFamily="34" charset="0"/>
                <a:cs typeface="Arial" pitchFamily="34" charset="0"/>
              </a:rPr>
              <a:t>1</a:t>
            </a:r>
            <a:r>
              <a:rPr lang="en-US" sz="2000" i="1">
                <a:solidFill>
                  <a:schemeClr val="tx1"/>
                </a:solidFill>
              </a:rPr>
              <a:t>+j] = aux[i+</a:t>
            </a:r>
            <a:r>
              <a:rPr lang="en-US" sz="2000" i="1">
                <a:solidFill>
                  <a:schemeClr val="tx1"/>
                </a:solidFill>
                <a:latin typeface="Arial" pitchFamily="34" charset="0"/>
                <a:cs typeface="Arial" pitchFamily="34" charset="0"/>
              </a:rPr>
              <a:t>1</a:t>
            </a:r>
            <a:r>
              <a:rPr lang="en-US" sz="2000" i="1">
                <a:solidFill>
                  <a:schemeClr val="tx1"/>
                </a:solidFill>
              </a:rPr>
              <a:t>];}</a:t>
            </a:r>
            <a:br>
              <a:rPr lang="en-US" sz="2000" i="1">
                <a:solidFill>
                  <a:schemeClr val="tx1"/>
                </a:solidFill>
              </a:rPr>
            </a:br>
            <a:r>
              <a:rPr lang="en-US" sz="2000" i="1">
                <a:solidFill>
                  <a:schemeClr val="tx1"/>
                </a:solidFill>
              </a:rPr>
              <a:t>    for (i=lf; i&lt;=rt; i++)    a[i]=aux[i];</a:t>
            </a:r>
            <a:br>
              <a:rPr lang="en-US" sz="2000" i="1">
                <a:solidFill>
                  <a:schemeClr val="tx1"/>
                </a:solidFill>
              </a:rPr>
            </a:br>
            <a:r>
              <a:rPr lang="en-US" sz="2000" i="1">
                <a:solidFill>
                  <a:schemeClr val="tx1"/>
                </a:solidFill>
              </a:rPr>
              <a:t>}</a:t>
            </a:r>
            <a:r>
              <a:rPr lang="bg-BG" sz="2000" i="1">
                <a:solidFill>
                  <a:schemeClr val="tx1"/>
                </a:solidFill>
              </a:rPr>
              <a:t/>
            </a:r>
            <a:br>
              <a:rPr lang="bg-BG" sz="2000" i="1">
                <a:solidFill>
                  <a:schemeClr val="tx1"/>
                </a:solidFill>
              </a:rPr>
            </a:br>
            <a:r>
              <a:rPr lang="bg-BG" sz="2000">
                <a:solidFill>
                  <a:schemeClr val="tx1"/>
                </a:solidFill>
              </a:rPr>
              <a:t>Нечетно-четно сливане на Бетчер:</a:t>
            </a:r>
            <a:br>
              <a:rPr lang="bg-BG" sz="2000">
                <a:solidFill>
                  <a:schemeClr val="tx1"/>
                </a:solidFill>
              </a:rPr>
            </a:br>
            <a:r>
              <a:rPr lang="bg-BG" sz="800">
                <a:solidFill>
                  <a:schemeClr val="tx1"/>
                </a:solidFill>
              </a:rPr>
              <a:t/>
            </a:r>
            <a:br>
              <a:rPr lang="bg-BG" sz="800">
                <a:solidFill>
                  <a:schemeClr val="tx1"/>
                </a:solidFill>
              </a:rPr>
            </a:br>
            <a:r>
              <a:rPr lang="en-US" sz="2000" i="1">
                <a:solidFill>
                  <a:schemeClr val="tx1"/>
                </a:solidFill>
              </a:rPr>
              <a:t>merge_B(int a[], int lf,  int rt)</a:t>
            </a:r>
            <a:br>
              <a:rPr lang="en-US" sz="2000" i="1">
                <a:solidFill>
                  <a:schemeClr val="tx1"/>
                </a:solidFill>
              </a:rPr>
            </a:br>
            <a:r>
              <a:rPr lang="en-US" sz="2000" i="1">
                <a:solidFill>
                  <a:schemeClr val="tx1"/>
                </a:solidFill>
              </a:rPr>
              <a:t>{ int i, m=(lf+rt)/2, rab;</a:t>
            </a:r>
            <a:br>
              <a:rPr lang="en-US" sz="2000" i="1">
                <a:solidFill>
                  <a:schemeClr val="tx1"/>
                </a:solidFill>
              </a:rPr>
            </a:br>
            <a:r>
              <a:rPr lang="en-US" sz="2000" i="1">
                <a:solidFill>
                  <a:schemeClr val="tx1"/>
                </a:solidFill>
              </a:rPr>
              <a:t>   if (rt==lf+</a:t>
            </a:r>
            <a:r>
              <a:rPr lang="en-US" sz="2000" i="1">
                <a:solidFill>
                  <a:schemeClr val="tx1"/>
                </a:solidFill>
                <a:latin typeface="Arial" pitchFamily="34" charset="0"/>
                <a:cs typeface="Arial" pitchFamily="34" charset="0"/>
              </a:rPr>
              <a:t>1</a:t>
            </a:r>
            <a:r>
              <a:rPr lang="en-US" sz="2000" i="1">
                <a:solidFill>
                  <a:schemeClr val="tx1"/>
                </a:solidFill>
              </a:rPr>
              <a:t>)  {rab=a[lf]; a[lf]=a[rt]; a[rt]=rab;}</a:t>
            </a:r>
            <a:br>
              <a:rPr lang="en-US" sz="2000" i="1">
                <a:solidFill>
                  <a:schemeClr val="tx1"/>
                </a:solidFill>
              </a:rPr>
            </a:br>
            <a:r>
              <a:rPr lang="en-US" sz="2000" i="1">
                <a:solidFill>
                  <a:schemeClr val="tx1"/>
                </a:solidFill>
              </a:rPr>
              <a:t>   if (rt&lt;lf+2)  return;</a:t>
            </a:r>
            <a:br>
              <a:rPr lang="en-US" sz="2000" i="1">
                <a:solidFill>
                  <a:schemeClr val="tx1"/>
                </a:solidFill>
              </a:rPr>
            </a:br>
            <a:r>
              <a:rPr lang="en-US" sz="2000" i="1">
                <a:solidFill>
                  <a:schemeClr val="tx1"/>
                </a:solidFill>
              </a:rPr>
              <a:t>   unshuffle(a, lf, rt);</a:t>
            </a:r>
            <a:br>
              <a:rPr lang="en-US" sz="2000" i="1">
                <a:solidFill>
                  <a:schemeClr val="tx1"/>
                </a:solidFill>
              </a:rPr>
            </a:br>
            <a:r>
              <a:rPr lang="en-US" sz="2000" i="1">
                <a:solidFill>
                  <a:schemeClr val="tx1"/>
                </a:solidFill>
              </a:rPr>
              <a:t>   merge_B(a, lf, m);</a:t>
            </a:r>
            <a:br>
              <a:rPr lang="en-US" sz="2000" i="1">
                <a:solidFill>
                  <a:schemeClr val="tx1"/>
                </a:solidFill>
              </a:rPr>
            </a:br>
            <a:r>
              <a:rPr lang="en-US" sz="2000" i="1">
                <a:solidFill>
                  <a:schemeClr val="tx1"/>
                </a:solidFill>
              </a:rPr>
              <a:t>   merge_B(a, m+</a:t>
            </a:r>
            <a:r>
              <a:rPr lang="en-US" sz="2000" i="1">
                <a:solidFill>
                  <a:schemeClr val="tx1"/>
                </a:solidFill>
                <a:latin typeface="Arial" pitchFamily="34" charset="0"/>
                <a:cs typeface="Arial" pitchFamily="34" charset="0"/>
              </a:rPr>
              <a:t>1</a:t>
            </a:r>
            <a:r>
              <a:rPr lang="en-US" sz="2000" i="1">
                <a:solidFill>
                  <a:schemeClr val="tx1"/>
                </a:solidFill>
              </a:rPr>
              <a:t>, rt);</a:t>
            </a:r>
            <a:br>
              <a:rPr lang="en-US" sz="2000" i="1">
                <a:solidFill>
                  <a:schemeClr val="tx1"/>
                </a:solidFill>
              </a:rPr>
            </a:br>
            <a:r>
              <a:rPr lang="en-US" sz="2000" i="1">
                <a:solidFill>
                  <a:schemeClr val="tx1"/>
                </a:solidFill>
              </a:rPr>
              <a:t>   shuffle(a, lf, rt);</a:t>
            </a:r>
            <a:br>
              <a:rPr lang="en-US" sz="2000" i="1">
                <a:solidFill>
                  <a:schemeClr val="tx1"/>
                </a:solidFill>
              </a:rPr>
            </a:br>
            <a:r>
              <a:rPr lang="en-US" sz="2000" i="1">
                <a:solidFill>
                  <a:schemeClr val="tx1"/>
                </a:solidFill>
              </a:rPr>
              <a:t>   for (i=lf+</a:t>
            </a:r>
            <a:r>
              <a:rPr lang="en-US" sz="2000" i="1">
                <a:solidFill>
                  <a:schemeClr val="tx1"/>
                </a:solidFill>
                <a:latin typeface="Arial" pitchFamily="34" charset="0"/>
                <a:cs typeface="Arial" pitchFamily="34" charset="0"/>
              </a:rPr>
              <a:t>1</a:t>
            </a:r>
            <a:r>
              <a:rPr lang="en-US" sz="2000" i="1">
                <a:solidFill>
                  <a:schemeClr val="tx1"/>
                </a:solidFill>
              </a:rPr>
              <a:t>; i&lt;rt; i+=2)</a:t>
            </a:r>
            <a:br>
              <a:rPr lang="en-US" sz="2000" i="1">
                <a:solidFill>
                  <a:schemeClr val="tx1"/>
                </a:solidFill>
              </a:rPr>
            </a:br>
            <a:r>
              <a:rPr lang="en-US" sz="2000" i="1">
                <a:solidFill>
                  <a:schemeClr val="tx1"/>
                </a:solidFill>
              </a:rPr>
              <a:t>        {rab=a[i]; a[i]=a[i+</a:t>
            </a:r>
            <a:r>
              <a:rPr lang="en-US" sz="2000" i="1">
                <a:solidFill>
                  <a:schemeClr val="tx1"/>
                </a:solidFill>
                <a:latin typeface="Arial" pitchFamily="34" charset="0"/>
                <a:cs typeface="Arial" pitchFamily="34" charset="0"/>
              </a:rPr>
              <a:t>1</a:t>
            </a:r>
            <a:r>
              <a:rPr lang="en-US" sz="2000" i="1">
                <a:solidFill>
                  <a:schemeClr val="tx1"/>
                </a:solidFill>
              </a:rPr>
              <a:t>]; a[i+</a:t>
            </a:r>
            <a:r>
              <a:rPr lang="en-US" sz="2000" i="1">
                <a:solidFill>
                  <a:schemeClr val="tx1"/>
                </a:solidFill>
                <a:latin typeface="Arial" pitchFamily="34" charset="0"/>
                <a:cs typeface="Arial" pitchFamily="34" charset="0"/>
              </a:rPr>
              <a:t>1</a:t>
            </a:r>
            <a:r>
              <a:rPr lang="en-US" sz="2000" i="1">
                <a:solidFill>
                  <a:schemeClr val="tx1"/>
                </a:solidFill>
              </a:rPr>
              <a:t>]=rab;}</a:t>
            </a:r>
            <a:br>
              <a:rPr lang="en-US" sz="2000" i="1">
                <a:solidFill>
                  <a:schemeClr val="tx1"/>
                </a:solidFill>
              </a:rPr>
            </a:br>
            <a:r>
              <a:rPr lang="en-US" sz="2000" i="1">
                <a:solidFill>
                  <a:schemeClr val="tx1"/>
                </a:solidFill>
              </a:rPr>
              <a:t>}</a:t>
            </a:r>
            <a:r>
              <a:rPr lang="en-US" sz="2000" i="1">
                <a:solidFill>
                  <a:schemeClr val="tx2">
                    <a:satMod val="130000"/>
                  </a:schemeClr>
                </a:solidFill>
              </a:rPr>
              <a:t/>
            </a:r>
            <a:br>
              <a:rPr lang="en-US" sz="2000" i="1">
                <a:solidFill>
                  <a:schemeClr val="tx2">
                    <a:satMod val="130000"/>
                  </a:schemeClr>
                </a:solidFill>
              </a:rPr>
            </a:br>
            <a:endParaRPr lang="en-US" sz="2000" i="1">
              <a:solidFill>
                <a:schemeClr val="tx2">
                  <a:satMod val="130000"/>
                </a:schemeClr>
              </a:solidFill>
            </a:endParaRPr>
          </a:p>
        </p:txBody>
      </p:sp>
      <p:sp>
        <p:nvSpPr>
          <p:cNvPr id="5" name="Slide Number Placeholder 4"/>
          <p:cNvSpPr>
            <a:spLocks noGrp="1"/>
          </p:cNvSpPr>
          <p:nvPr>
            <p:ph type="sldNum" sz="quarter" idx="12"/>
          </p:nvPr>
        </p:nvSpPr>
        <p:spPr/>
        <p:txBody>
          <a:bodyPr/>
          <a:lstStyle/>
          <a:p>
            <a:pPr>
              <a:defRPr/>
            </a:pPr>
            <a:fld id="{75B1C66C-4606-45E8-92EB-48329F89C068}" type="slidenum">
              <a:rPr lang="en-US"/>
              <a:pPr>
                <a:defRPr/>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type="title"/>
          </p:nvPr>
        </p:nvSpPr>
        <p:spPr>
          <a:xfrm>
            <a:off x="1042988" y="152400"/>
            <a:ext cx="7872412" cy="6553200"/>
          </a:xfrm>
        </p:spPr>
        <p:txBody>
          <a:bodyPr/>
          <a:lstStyle/>
          <a:p>
            <a:pPr eaLnBrk="1" fontAlgn="auto" hangingPunct="1">
              <a:lnSpc>
                <a:spcPct val="120000"/>
              </a:lnSpc>
              <a:spcAft>
                <a:spcPts val="0"/>
              </a:spcAft>
              <a:defRPr/>
            </a:pPr>
            <a:r>
              <a:rPr lang="bg-BG" sz="2200">
                <a:solidFill>
                  <a:schemeClr val="tx2">
                    <a:satMod val="130000"/>
                  </a:schemeClr>
                </a:solidFill>
              </a:rPr>
              <a:t>	</a:t>
            </a:r>
            <a:r>
              <a:rPr lang="bg-BG" sz="2200">
                <a:solidFill>
                  <a:schemeClr val="tx1"/>
                </a:solidFill>
              </a:rPr>
              <a:t>Самото сливане на Бетчер е рекурсивен метод “разделяй и владей”. За да направим сливане 1-към-1, просто използваме операция  “сравнение-размяна”. От друга страна, за да направим  </a:t>
            </a:r>
            <a:r>
              <a:rPr lang="en-US" sz="2200" b="1" i="1">
                <a:solidFill>
                  <a:schemeClr val="tx1"/>
                </a:solidFill>
              </a:rPr>
              <a:t>n</a:t>
            </a:r>
            <a:r>
              <a:rPr lang="bg-BG" sz="2200">
                <a:solidFill>
                  <a:schemeClr val="tx1"/>
                </a:solidFill>
              </a:rPr>
              <a:t>-към-</a:t>
            </a:r>
            <a:r>
              <a:rPr lang="en-US" sz="2200" b="1" i="1">
                <a:solidFill>
                  <a:schemeClr val="tx1"/>
                </a:solidFill>
              </a:rPr>
              <a:t>n</a:t>
            </a:r>
            <a:r>
              <a:rPr lang="bg-BG" sz="2200">
                <a:solidFill>
                  <a:schemeClr val="tx1"/>
                </a:solidFill>
              </a:rPr>
              <a:t>  сливане, ние извършваме картоподреждане, за да получим две </a:t>
            </a:r>
            <a:r>
              <a:rPr lang="en-US" sz="2200" b="1" i="1">
                <a:solidFill>
                  <a:schemeClr val="tx1"/>
                </a:solidFill>
              </a:rPr>
              <a:t>n/</a:t>
            </a:r>
            <a:r>
              <a:rPr lang="bg-BG" sz="2200" b="1" i="1">
                <a:solidFill>
                  <a:schemeClr val="tx1"/>
                </a:solidFill>
              </a:rPr>
              <a:t>2</a:t>
            </a:r>
            <a:r>
              <a:rPr lang="bg-BG" sz="2200">
                <a:solidFill>
                  <a:schemeClr val="tx1"/>
                </a:solidFill>
              </a:rPr>
              <a:t>-към-</a:t>
            </a:r>
            <a:r>
              <a:rPr lang="en-US" sz="2200" b="1" i="1">
                <a:solidFill>
                  <a:schemeClr val="tx1"/>
                </a:solidFill>
              </a:rPr>
              <a:t>n/</a:t>
            </a:r>
            <a:r>
              <a:rPr lang="bg-BG" sz="2200" b="1" i="1">
                <a:solidFill>
                  <a:schemeClr val="tx1"/>
                </a:solidFill>
              </a:rPr>
              <a:t>2 </a:t>
            </a:r>
            <a:r>
              <a:rPr lang="bg-BG" sz="2200">
                <a:solidFill>
                  <a:schemeClr val="tx1"/>
                </a:solidFill>
              </a:rPr>
              <a:t>задачи за сливане, после ги решаваме рекурсивно, за да получим два сортирани масива. Като извършим карторазбъркване на тези два масива, получаваме масив, който е почти сортиран - всичко, което е необходимо да направим, е да преминем още веднъж през масива с </a:t>
            </a:r>
            <a:r>
              <a:rPr lang="en-US" sz="2200" b="1" i="1">
                <a:solidFill>
                  <a:schemeClr val="tx1"/>
                </a:solidFill>
              </a:rPr>
              <a:t>n/</a:t>
            </a:r>
            <a:r>
              <a:rPr lang="bg-BG" sz="2200" b="1" i="1">
                <a:solidFill>
                  <a:schemeClr val="tx1"/>
                </a:solidFill>
              </a:rPr>
              <a:t>2 - 1 </a:t>
            </a:r>
            <a:r>
              <a:rPr lang="bg-BG" sz="2200">
                <a:solidFill>
                  <a:schemeClr val="tx1"/>
                </a:solidFill>
              </a:rPr>
              <a:t>на брой независими операции “сравнение-размяна”: между елементи </a:t>
            </a:r>
            <a:r>
              <a:rPr lang="en-US" sz="2200" b="1" i="1">
                <a:solidFill>
                  <a:schemeClr val="tx1"/>
                </a:solidFill>
              </a:rPr>
              <a:t>2i</a:t>
            </a:r>
            <a:r>
              <a:rPr lang="en-US" sz="2200">
                <a:solidFill>
                  <a:schemeClr val="tx1"/>
                </a:solidFill>
              </a:rPr>
              <a:t> </a:t>
            </a:r>
            <a:r>
              <a:rPr lang="bg-BG" sz="2200">
                <a:solidFill>
                  <a:schemeClr val="tx1"/>
                </a:solidFill>
              </a:rPr>
              <a:t>и</a:t>
            </a:r>
            <a:r>
              <a:rPr lang="en-US" sz="2200">
                <a:solidFill>
                  <a:schemeClr val="tx1"/>
                </a:solidFill>
              </a:rPr>
              <a:t> </a:t>
            </a:r>
            <a:r>
              <a:rPr lang="en-US" sz="2200" b="1" i="1">
                <a:solidFill>
                  <a:schemeClr val="tx1"/>
                </a:solidFill>
              </a:rPr>
              <a:t>2i+</a:t>
            </a:r>
            <a:r>
              <a:rPr lang="en-US" sz="2200" b="1" i="1">
                <a:solidFill>
                  <a:schemeClr val="tx1"/>
                </a:solidFill>
                <a:latin typeface="Arial" pitchFamily="34" charset="0"/>
                <a:cs typeface="Arial" pitchFamily="34" charset="0"/>
              </a:rPr>
              <a:t>1</a:t>
            </a:r>
            <a:r>
              <a:rPr lang="en-US" sz="2200">
                <a:solidFill>
                  <a:schemeClr val="tx1"/>
                </a:solidFill>
              </a:rPr>
              <a:t> </a:t>
            </a:r>
            <a:r>
              <a:rPr lang="bg-BG" sz="2200">
                <a:solidFill>
                  <a:schemeClr val="tx1"/>
                </a:solidFill>
              </a:rPr>
              <a:t>за </a:t>
            </a:r>
            <a:r>
              <a:rPr lang="en-US" sz="2200" b="1" i="1">
                <a:solidFill>
                  <a:schemeClr val="tx1"/>
                </a:solidFill>
              </a:rPr>
              <a:t> i</a:t>
            </a:r>
            <a:r>
              <a:rPr lang="en-US" sz="2200">
                <a:solidFill>
                  <a:schemeClr val="tx1"/>
                </a:solidFill>
              </a:rPr>
              <a:t> </a:t>
            </a:r>
            <a:r>
              <a:rPr lang="bg-BG" sz="2200">
                <a:solidFill>
                  <a:schemeClr val="tx1"/>
                </a:solidFill>
              </a:rPr>
              <a:t>от  1 до </a:t>
            </a:r>
            <a:r>
              <a:rPr lang="en-US" sz="2200" b="1" i="1">
                <a:solidFill>
                  <a:schemeClr val="tx1"/>
                </a:solidFill>
              </a:rPr>
              <a:t>n/</a:t>
            </a:r>
            <a:r>
              <a:rPr lang="bg-BG" sz="2200" b="1" i="1">
                <a:solidFill>
                  <a:schemeClr val="tx1"/>
                </a:solidFill>
              </a:rPr>
              <a:t>2 - 1</a:t>
            </a:r>
            <a:r>
              <a:rPr lang="bg-BG" sz="2200">
                <a:solidFill>
                  <a:schemeClr val="tx1"/>
                </a:solidFill>
              </a:rPr>
              <a:t> .</a:t>
            </a:r>
            <a:br>
              <a:rPr lang="bg-BG" sz="2200">
                <a:solidFill>
                  <a:schemeClr val="tx1"/>
                </a:solidFill>
              </a:rPr>
            </a:br>
            <a:r>
              <a:rPr lang="en-US" sz="2200">
                <a:solidFill>
                  <a:schemeClr val="tx1"/>
                </a:solidFill>
              </a:rPr>
              <a:t/>
            </a:r>
            <a:br>
              <a:rPr lang="en-US" sz="2200">
                <a:solidFill>
                  <a:schemeClr val="tx1"/>
                </a:solidFill>
              </a:rPr>
            </a:br>
            <a:r>
              <a:rPr lang="bg-BG" sz="2200">
                <a:solidFill>
                  <a:schemeClr val="tx1"/>
                </a:solidFill>
              </a:rPr>
              <a:t>	Подробно описание на алгоритъма - в </a:t>
            </a:r>
            <a:r>
              <a:rPr lang="en-US" sz="2200">
                <a:solidFill>
                  <a:schemeClr val="tx1"/>
                </a:solidFill>
              </a:rPr>
              <a:t> </a:t>
            </a:r>
            <a:r>
              <a:rPr lang="bg-BG" sz="2200" smtClean="0">
                <a:solidFill>
                  <a:schemeClr val="tx1"/>
                </a:solidFill>
              </a:rPr>
              <a:t>книгата на Робърт </a:t>
            </a:r>
            <a:r>
              <a:rPr lang="bg-BG" sz="2200">
                <a:solidFill>
                  <a:schemeClr val="tx1"/>
                </a:solidFill>
              </a:rPr>
              <a:t>Седжуик, </a:t>
            </a:r>
            <a:r>
              <a:rPr lang="bg-BG" sz="2200" i="1">
                <a:solidFill>
                  <a:schemeClr val="tx1"/>
                </a:solidFill>
              </a:rPr>
              <a:t>Алгоритми на С, том 2,</a:t>
            </a:r>
            <a:r>
              <a:rPr lang="bg-BG" sz="2200">
                <a:solidFill>
                  <a:schemeClr val="tx1"/>
                </a:solidFill>
              </a:rPr>
              <a:t> Софтпрес, С., 2002</a:t>
            </a:r>
            <a:r>
              <a:rPr lang="en-US" sz="2200">
                <a:solidFill>
                  <a:schemeClr val="tx1"/>
                </a:solidFill>
              </a:rPr>
              <a:t>.</a:t>
            </a:r>
            <a:r>
              <a:rPr lang="bg-BG" sz="2200">
                <a:solidFill>
                  <a:schemeClr val="tx2">
                    <a:satMod val="130000"/>
                  </a:schemeClr>
                </a:solidFill>
              </a:rPr>
              <a:t/>
            </a:r>
            <a:br>
              <a:rPr lang="bg-BG" sz="2200">
                <a:solidFill>
                  <a:schemeClr val="tx2">
                    <a:satMod val="130000"/>
                  </a:schemeClr>
                </a:solidFill>
              </a:rPr>
            </a:br>
            <a:r>
              <a:rPr lang="bg-BG" sz="2000">
                <a:solidFill>
                  <a:schemeClr val="tx2">
                    <a:satMod val="130000"/>
                  </a:schemeClr>
                </a:solidFill>
              </a:rPr>
              <a:t>  </a:t>
            </a:r>
            <a:endParaRPr lang="en-US" sz="2000">
              <a:solidFill>
                <a:schemeClr val="tx2">
                  <a:satMod val="130000"/>
                </a:schemeClr>
              </a:solidFill>
            </a:endParaRPr>
          </a:p>
        </p:txBody>
      </p:sp>
      <p:sp>
        <p:nvSpPr>
          <p:cNvPr id="5" name="Slide Number Placeholder 4"/>
          <p:cNvSpPr>
            <a:spLocks noGrp="1"/>
          </p:cNvSpPr>
          <p:nvPr>
            <p:ph type="sldNum" sz="quarter" idx="12"/>
          </p:nvPr>
        </p:nvSpPr>
        <p:spPr/>
        <p:txBody>
          <a:bodyPr/>
          <a:lstStyle/>
          <a:p>
            <a:pPr>
              <a:defRPr/>
            </a:pPr>
            <a:fld id="{E4424759-8A5B-4588-BD94-0F3CD6CDCB73}" type="slidenum">
              <a:rPr lang="en-US"/>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6"/>
          <p:cNvSpPr>
            <a:spLocks noChangeArrowheads="1"/>
          </p:cNvSpPr>
          <p:nvPr/>
        </p:nvSpPr>
        <p:spPr bwMode="auto">
          <a:xfrm>
            <a:off x="4211638" y="4830763"/>
            <a:ext cx="228600" cy="685800"/>
          </a:xfrm>
          <a:prstGeom prst="rect">
            <a:avLst/>
          </a:prstGeom>
          <a:solidFill>
            <a:srgbClr val="FFFFFF"/>
          </a:solidFill>
          <a:ln w="9525">
            <a:solidFill>
              <a:srgbClr val="FF0000"/>
            </a:solidFill>
            <a:prstDash val="sysDot"/>
            <a:miter lim="800000"/>
            <a:headEnd/>
            <a:tailEnd/>
          </a:ln>
        </p:spPr>
        <p:txBody>
          <a:bodyPr wrap="none" anchor="ctr"/>
          <a:lstStyle/>
          <a:p>
            <a:endParaRPr lang="bg-BG"/>
          </a:p>
        </p:txBody>
      </p:sp>
      <p:sp>
        <p:nvSpPr>
          <p:cNvPr id="113666" name="Rectangle 2"/>
          <p:cNvSpPr>
            <a:spLocks noGrp="1" noChangeArrowheads="1"/>
          </p:cNvSpPr>
          <p:nvPr>
            <p:ph type="title"/>
          </p:nvPr>
        </p:nvSpPr>
        <p:spPr>
          <a:xfrm>
            <a:off x="1042988" y="620713"/>
            <a:ext cx="7924800" cy="5867400"/>
          </a:xfrm>
        </p:spPr>
        <p:txBody>
          <a:bodyPr>
            <a:normAutofit fontScale="90000"/>
          </a:bodyPr>
          <a:lstStyle/>
          <a:p>
            <a:pPr eaLnBrk="1" fontAlgn="auto" hangingPunct="1">
              <a:spcAft>
                <a:spcPts val="0"/>
              </a:spcAft>
              <a:defRPr/>
            </a:pPr>
            <a:r>
              <a:rPr lang="bg-BG" sz="2400" b="1">
                <a:solidFill>
                  <a:schemeClr val="tx1"/>
                </a:solidFill>
              </a:rPr>
              <a:t>Сортиране  чрез  разпределение</a:t>
            </a:r>
            <a:br>
              <a:rPr lang="bg-BG" sz="2400" b="1">
                <a:solidFill>
                  <a:schemeClr val="tx1"/>
                </a:solidFill>
              </a:rPr>
            </a:br>
            <a:r>
              <a:rPr lang="bg-BG" sz="2400" b="1">
                <a:solidFill>
                  <a:schemeClr val="tx1"/>
                </a:solidFill>
              </a:rPr>
              <a:t/>
            </a:r>
            <a:br>
              <a:rPr lang="bg-BG" sz="2400" b="1">
                <a:solidFill>
                  <a:schemeClr val="tx1"/>
                </a:solidFill>
              </a:rPr>
            </a:br>
            <a:r>
              <a:rPr lang="bg-BG" sz="2400" b="1">
                <a:solidFill>
                  <a:schemeClr val="tx1"/>
                </a:solidFill>
              </a:rPr>
              <a:t>	</a:t>
            </a:r>
            <a:r>
              <a:rPr lang="bg-BG" sz="2200">
                <a:solidFill>
                  <a:schemeClr val="tx1"/>
                </a:solidFill>
              </a:rPr>
              <a:t>Методът, за разлика от разгледаните досега, не изисква сравнение на целите ключове.</a:t>
            </a:r>
            <a:br>
              <a:rPr lang="bg-BG" sz="2200">
                <a:solidFill>
                  <a:schemeClr val="tx1"/>
                </a:solidFill>
              </a:rPr>
            </a:br>
            <a:r>
              <a:rPr lang="bg-BG" sz="2200">
                <a:solidFill>
                  <a:schemeClr val="tx1"/>
                </a:solidFill>
              </a:rPr>
              <a:t>	Предполага се, че множеството на ключовете не е голямо и всеки ключ има следния вид:</a:t>
            </a:r>
            <a:br>
              <a:rPr lang="bg-BG" sz="2200">
                <a:solidFill>
                  <a:schemeClr val="tx1"/>
                </a:solidFill>
              </a:rPr>
            </a:br>
            <a:r>
              <a:rPr lang="bg-BG" sz="2000">
                <a:solidFill>
                  <a:schemeClr val="tx1"/>
                </a:solidFill>
              </a:rPr>
              <a:t/>
            </a:r>
            <a:br>
              <a:rPr lang="bg-BG" sz="2000">
                <a:solidFill>
                  <a:schemeClr val="tx1"/>
                </a:solidFill>
              </a:rPr>
            </a:br>
            <a:r>
              <a:rPr lang="bg-BG" sz="2000">
                <a:solidFill>
                  <a:schemeClr val="tx1"/>
                </a:solidFill>
              </a:rPr>
              <a:t>	</a:t>
            </a:r>
            <a:r>
              <a:rPr lang="en-US" sz="2000">
                <a:solidFill>
                  <a:schemeClr val="tx1"/>
                </a:solidFill>
              </a:rPr>
              <a:t>		</a:t>
            </a:r>
            <a:r>
              <a:rPr lang="bg-BG" sz="2400">
                <a:solidFill>
                  <a:schemeClr val="tx1"/>
                </a:solidFill>
              </a:rPr>
              <a:t>а</a:t>
            </a:r>
            <a:r>
              <a:rPr lang="bg-BG" sz="2400" b="1" baseline="-25000">
                <a:solidFill>
                  <a:schemeClr val="tx1"/>
                </a:solidFill>
              </a:rPr>
              <a:t>1 </a:t>
            </a:r>
            <a:r>
              <a:rPr lang="bg-BG" sz="2400">
                <a:solidFill>
                  <a:schemeClr val="tx1"/>
                </a:solidFill>
              </a:rPr>
              <a:t> а</a:t>
            </a:r>
            <a:r>
              <a:rPr lang="bg-BG" sz="2400" b="1" baseline="-25000">
                <a:solidFill>
                  <a:schemeClr val="tx1"/>
                </a:solidFill>
              </a:rPr>
              <a:t>2  </a:t>
            </a:r>
            <a:r>
              <a:rPr lang="bg-BG" sz="2400" b="1">
                <a:solidFill>
                  <a:schemeClr val="tx1"/>
                </a:solidFill>
              </a:rPr>
              <a:t>…</a:t>
            </a:r>
            <a:r>
              <a:rPr lang="bg-BG" sz="2400" b="1" baseline="-25000">
                <a:solidFill>
                  <a:schemeClr val="tx1"/>
                </a:solidFill>
              </a:rPr>
              <a:t> </a:t>
            </a:r>
            <a:r>
              <a:rPr lang="bg-BG" sz="2400">
                <a:solidFill>
                  <a:schemeClr val="tx1"/>
                </a:solidFill>
              </a:rPr>
              <a:t>а</a:t>
            </a:r>
            <a:r>
              <a:rPr lang="bg-BG" sz="2400" b="1" baseline="-25000">
                <a:solidFill>
                  <a:schemeClr val="tx1"/>
                </a:solidFill>
              </a:rPr>
              <a:t>k</a:t>
            </a:r>
            <a:r>
              <a:rPr lang="en-US" sz="2400" b="1" baseline="-25000">
                <a:solidFill>
                  <a:schemeClr val="tx1"/>
                </a:solidFill>
              </a:rPr>
              <a:t>-1</a:t>
            </a:r>
            <a:r>
              <a:rPr lang="bg-BG" sz="2400" b="1" baseline="-25000">
                <a:solidFill>
                  <a:schemeClr val="tx1"/>
                </a:solidFill>
              </a:rPr>
              <a:t> </a:t>
            </a:r>
            <a:r>
              <a:rPr lang="bg-BG" sz="2400">
                <a:solidFill>
                  <a:schemeClr val="tx1"/>
                </a:solidFill>
              </a:rPr>
              <a:t>а</a:t>
            </a:r>
            <a:r>
              <a:rPr lang="bg-BG" sz="2400" b="1" baseline="-25000">
                <a:solidFill>
                  <a:schemeClr val="tx1"/>
                </a:solidFill>
              </a:rPr>
              <a:t>k</a:t>
            </a:r>
            <a:r>
              <a:rPr lang="bg-BG" sz="2000" b="1" baseline="-25000">
                <a:solidFill>
                  <a:schemeClr val="tx1"/>
                </a:solidFill>
              </a:rPr>
              <a:t>  </a:t>
            </a:r>
            <a:r>
              <a:rPr lang="bg-BG" sz="2000">
                <a:solidFill>
                  <a:schemeClr val="tx1"/>
                </a:solidFill>
              </a:rPr>
              <a:t> </a:t>
            </a:r>
            <a:br>
              <a:rPr lang="bg-BG" sz="2000">
                <a:solidFill>
                  <a:schemeClr val="tx1"/>
                </a:solidFill>
              </a:rPr>
            </a:br>
            <a:r>
              <a:rPr lang="en-US" sz="2000">
                <a:solidFill>
                  <a:schemeClr val="tx1"/>
                </a:solidFill>
              </a:rPr>
              <a:t/>
            </a:r>
            <a:br>
              <a:rPr lang="en-US" sz="2000">
                <a:solidFill>
                  <a:schemeClr val="tx1"/>
                </a:solidFill>
              </a:rPr>
            </a:br>
            <a:r>
              <a:rPr lang="bg-BG" sz="2200">
                <a:solidFill>
                  <a:schemeClr val="tx1"/>
                </a:solidFill>
              </a:rPr>
              <a:t>където всеки компонент</a:t>
            </a:r>
            <a:r>
              <a:rPr lang="bg-BG" sz="2000">
                <a:solidFill>
                  <a:schemeClr val="tx1"/>
                </a:solidFill>
              </a:rPr>
              <a:t> </a:t>
            </a:r>
            <a:r>
              <a:rPr lang="en-US" sz="2000">
                <a:solidFill>
                  <a:schemeClr val="tx1"/>
                </a:solidFill>
              </a:rPr>
              <a:t>  </a:t>
            </a:r>
            <a:r>
              <a:rPr lang="bg-BG" sz="2400">
                <a:solidFill>
                  <a:schemeClr val="tx1"/>
                </a:solidFill>
              </a:rPr>
              <a:t>а</a:t>
            </a:r>
            <a:r>
              <a:rPr lang="bg-BG" sz="2400" b="1" baseline="-25000">
                <a:solidFill>
                  <a:schemeClr val="tx1"/>
                </a:solidFill>
              </a:rPr>
              <a:t>i</a:t>
            </a:r>
            <a:r>
              <a:rPr lang="bg-BG" sz="2000">
                <a:solidFill>
                  <a:schemeClr val="tx1"/>
                </a:solidFill>
              </a:rPr>
              <a:t> </a:t>
            </a:r>
            <a:r>
              <a:rPr lang="en-US" sz="2000">
                <a:solidFill>
                  <a:schemeClr val="tx1"/>
                </a:solidFill>
              </a:rPr>
              <a:t>  </a:t>
            </a:r>
            <a:r>
              <a:rPr lang="bg-BG" sz="2200">
                <a:solidFill>
                  <a:schemeClr val="tx1"/>
                </a:solidFill>
              </a:rPr>
              <a:t>е елемент на някакво крайно множество</a:t>
            </a:r>
            <a:r>
              <a:rPr lang="bg-BG" sz="2000">
                <a:solidFill>
                  <a:schemeClr val="tx1"/>
                </a:solidFill>
              </a:rPr>
              <a:t> </a:t>
            </a:r>
            <a:r>
              <a:rPr lang="bg-BG" sz="2200">
                <a:solidFill>
                  <a:schemeClr val="tx1"/>
                </a:solidFill>
              </a:rPr>
              <a:t>(например - латинската азбука).</a:t>
            </a:r>
            <a:br>
              <a:rPr lang="bg-BG" sz="2200">
                <a:solidFill>
                  <a:schemeClr val="tx1"/>
                </a:solidFill>
              </a:rPr>
            </a:br>
            <a:r>
              <a:rPr lang="bg-BG" sz="2200">
                <a:solidFill>
                  <a:schemeClr val="tx1"/>
                </a:solidFill>
              </a:rPr>
              <a:t>	Компонентите се сравняват отдясно наляво в лексикографски ред:</a:t>
            </a:r>
            <a:br>
              <a:rPr lang="bg-BG" sz="2200">
                <a:solidFill>
                  <a:schemeClr val="tx1"/>
                </a:solidFill>
              </a:rPr>
            </a:br>
            <a:r>
              <a:rPr lang="bg-BG" sz="2000">
                <a:solidFill>
                  <a:schemeClr val="tx1"/>
                </a:solidFill>
              </a:rPr>
              <a:t>	</a:t>
            </a:r>
            <a:r>
              <a:rPr lang="en-US" sz="2000">
                <a:solidFill>
                  <a:schemeClr val="tx1"/>
                </a:solidFill>
              </a:rPr>
              <a:t>		</a:t>
            </a:r>
            <a:r>
              <a:rPr lang="en-US" sz="2400" smtClean="0">
                <a:solidFill>
                  <a:schemeClr val="tx1"/>
                </a:solidFill>
              </a:rPr>
              <a:t>s d a f g z  &lt;  a s b f g z</a:t>
            </a:r>
            <a:br>
              <a:rPr lang="en-US" sz="2400" smtClean="0">
                <a:solidFill>
                  <a:schemeClr val="tx1"/>
                </a:solidFill>
              </a:rPr>
            </a:br>
            <a:r>
              <a:rPr lang="en-US" sz="2400" smtClean="0">
                <a:solidFill>
                  <a:schemeClr val="tx1"/>
                </a:solidFill>
              </a:rPr>
              <a:t>			a s b f g z</a:t>
            </a:r>
            <a:r>
              <a:rPr lang="en-US" sz="2400">
                <a:solidFill>
                  <a:schemeClr val="tx1"/>
                </a:solidFill>
              </a:rPr>
              <a:t/>
            </a:r>
            <a:br>
              <a:rPr lang="en-US" sz="2400">
                <a:solidFill>
                  <a:schemeClr val="tx1"/>
                </a:solidFill>
              </a:rPr>
            </a:br>
            <a:r>
              <a:rPr lang="bg-BG" sz="2000">
                <a:solidFill>
                  <a:schemeClr val="tx1"/>
                </a:solidFill>
              </a:rPr>
              <a:t>	</a:t>
            </a:r>
            <a:r>
              <a:rPr lang="bg-BG" sz="800">
                <a:solidFill>
                  <a:schemeClr val="tx1"/>
                </a:solidFill>
              </a:rPr>
              <a:t>	</a:t>
            </a:r>
            <a:r>
              <a:rPr lang="bg-BG" sz="2000">
                <a:solidFill>
                  <a:schemeClr val="tx1"/>
                </a:solidFill>
              </a:rPr>
              <a:t>	     </a:t>
            </a:r>
            <a:r>
              <a:rPr lang="en-US" sz="2000">
                <a:solidFill>
                  <a:schemeClr val="tx1"/>
                </a:solidFill>
              </a:rPr>
              <a:t/>
            </a:r>
            <a:br>
              <a:rPr lang="en-US" sz="2000">
                <a:solidFill>
                  <a:schemeClr val="tx1"/>
                </a:solidFill>
              </a:rPr>
            </a:br>
            <a:r>
              <a:rPr lang="en-US" sz="2000">
                <a:solidFill>
                  <a:schemeClr val="tx1"/>
                </a:solidFill>
              </a:rPr>
              <a:t> 	</a:t>
            </a:r>
            <a:r>
              <a:rPr lang="bg-BG" sz="2200">
                <a:solidFill>
                  <a:schemeClr val="tx1"/>
                </a:solidFill>
              </a:rPr>
              <a:t>Самото сортиране на ключовете се извършва с помощта на друг устойчив алгоритъм за сортиране.</a:t>
            </a:r>
            <a:endParaRPr lang="en-US" sz="2000">
              <a:solidFill>
                <a:schemeClr val="tx1"/>
              </a:solidFill>
            </a:endParaRPr>
          </a:p>
        </p:txBody>
      </p:sp>
      <p:sp>
        <p:nvSpPr>
          <p:cNvPr id="6" name="Slide Number Placeholder 5"/>
          <p:cNvSpPr>
            <a:spLocks noGrp="1"/>
          </p:cNvSpPr>
          <p:nvPr>
            <p:ph type="sldNum" sz="quarter" idx="12"/>
          </p:nvPr>
        </p:nvSpPr>
        <p:spPr/>
        <p:txBody>
          <a:bodyPr/>
          <a:lstStyle/>
          <a:p>
            <a:pPr>
              <a:defRPr/>
            </a:pPr>
            <a:fld id="{87C09906-E37E-46D4-A3AB-8C0DBFBCD31A}" type="slidenum">
              <a:rPr lang="en-US"/>
              <a:pPr>
                <a:defRPr/>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6107008"/>
          </a:xfrm>
        </p:spPr>
        <p:txBody>
          <a:bodyPr>
            <a:normAutofit/>
          </a:bodyPr>
          <a:lstStyle/>
          <a:p>
            <a:r>
              <a:rPr lang="bg-BG" sz="3600" b="1" dirty="0" smtClean="0"/>
              <a:t>Сортиране чрез трансформация</a:t>
            </a:r>
            <a:r>
              <a:rPr lang="bg-BG" sz="3600" dirty="0" smtClean="0"/>
              <a:t/>
            </a:r>
            <a:br>
              <a:rPr lang="bg-BG" sz="3600" dirty="0" smtClean="0"/>
            </a:br>
            <a:r>
              <a:rPr lang="bg-BG" sz="3600" dirty="0" smtClean="0"/>
              <a:t/>
            </a:r>
            <a:br>
              <a:rPr lang="bg-BG" sz="3600" dirty="0" smtClean="0"/>
            </a:br>
            <a:r>
              <a:rPr lang="bg-BG" sz="2800" dirty="0" smtClean="0">
                <a:solidFill>
                  <a:schemeClr val="tx1"/>
                </a:solidFill>
              </a:rPr>
              <a:t>За сортиране чрез сравнение:</a:t>
            </a:r>
            <a:br>
              <a:rPr lang="bg-BG" sz="2800" dirty="0" smtClean="0">
                <a:solidFill>
                  <a:schemeClr val="tx1"/>
                </a:solidFill>
              </a:rPr>
            </a:br>
            <a:r>
              <a:rPr lang="bg-BG" sz="2800" dirty="0" smtClean="0">
                <a:solidFill>
                  <a:schemeClr val="tx1"/>
                </a:solidFill>
              </a:rPr>
              <a:t>	в най-лошия случай - </a:t>
            </a:r>
            <a:r>
              <a:rPr lang="bg-BG" sz="2800" b="1" i="1" dirty="0" smtClean="0"/>
              <a:t>O(n</a:t>
            </a:r>
            <a:r>
              <a:rPr lang="bg-BG" sz="2800" b="1" i="1" baseline="30000" dirty="0" smtClean="0"/>
              <a:t>2</a:t>
            </a:r>
            <a:r>
              <a:rPr lang="bg-BG" sz="2800" b="1" i="1" dirty="0" smtClean="0"/>
              <a:t>)</a:t>
            </a:r>
            <a:r>
              <a:rPr lang="bg-BG" sz="2800" dirty="0" smtClean="0"/>
              <a:t> </a:t>
            </a:r>
            <a:br>
              <a:rPr lang="bg-BG" sz="2800" dirty="0" smtClean="0"/>
            </a:br>
            <a:r>
              <a:rPr lang="bg-BG" sz="2800" dirty="0" smtClean="0"/>
              <a:t>	</a:t>
            </a:r>
            <a:r>
              <a:rPr lang="bg-BG" sz="2800" dirty="0" smtClean="0">
                <a:solidFill>
                  <a:schemeClr val="tx1"/>
                </a:solidFill>
              </a:rPr>
              <a:t>в най-добрия случай </a:t>
            </a:r>
            <a:r>
              <a:rPr lang="bg-BG" sz="2800" dirty="0" smtClean="0"/>
              <a:t>- </a:t>
            </a:r>
            <a:r>
              <a:rPr lang="bg-BG" sz="2800" b="1" i="1" dirty="0" smtClean="0"/>
              <a:t>O(n*log</a:t>
            </a:r>
            <a:r>
              <a:rPr lang="bg-BG" sz="2800" b="1" i="1" baseline="-25000" dirty="0" smtClean="0"/>
              <a:t>2</a:t>
            </a:r>
            <a:r>
              <a:rPr lang="bg-BG" sz="2800" b="1" i="1" dirty="0" smtClean="0"/>
              <a:t>n)</a:t>
            </a:r>
            <a:br>
              <a:rPr lang="bg-BG" sz="2800" b="1" i="1" dirty="0" smtClean="0"/>
            </a:br>
            <a:r>
              <a:rPr lang="bg-BG" sz="2800" b="1" i="1" dirty="0" smtClean="0"/>
              <a:t/>
            </a:r>
            <a:br>
              <a:rPr lang="bg-BG" sz="2800" b="1" i="1" dirty="0" smtClean="0"/>
            </a:br>
            <a:r>
              <a:rPr lang="bg-BG" sz="2800" dirty="0" smtClean="0">
                <a:solidFill>
                  <a:schemeClr val="tx1"/>
                </a:solidFill>
              </a:rPr>
              <a:t>Възможно ли е да не се използва сравнение?</a:t>
            </a:r>
            <a:br>
              <a:rPr lang="bg-BG" sz="2800" dirty="0" smtClean="0">
                <a:solidFill>
                  <a:schemeClr val="tx1"/>
                </a:solidFill>
              </a:rPr>
            </a:br>
            <a:r>
              <a:rPr lang="bg-BG" sz="2800" dirty="0" smtClean="0">
                <a:solidFill>
                  <a:schemeClr val="tx1"/>
                </a:solidFill>
              </a:rPr>
              <a:t>Каква сложност може да се постигне?</a:t>
            </a:r>
            <a:endParaRPr lang="bg-BG" sz="2800" dirty="0">
              <a:solidFill>
                <a:schemeClr val="tx1"/>
              </a:solidFill>
            </a:endParaRPr>
          </a:p>
        </p:txBody>
      </p:sp>
      <p:sp>
        <p:nvSpPr>
          <p:cNvPr id="3" name="Slide Number Placeholder 2"/>
          <p:cNvSpPr>
            <a:spLocks noGrp="1"/>
          </p:cNvSpPr>
          <p:nvPr>
            <p:ph type="sldNum" sz="quarter" idx="12"/>
          </p:nvPr>
        </p:nvSpPr>
        <p:spPr/>
        <p:txBody>
          <a:bodyPr/>
          <a:lstStyle/>
          <a:p>
            <a:pPr>
              <a:defRPr/>
            </a:pPr>
            <a:fld id="{B7284EC1-C5F9-4279-97D0-7C576E4C1C88}" type="slidenum">
              <a:rPr lang="en-US" smtClean="0"/>
              <a:pPr>
                <a:defRPr/>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35100" y="274638"/>
            <a:ext cx="7499350" cy="1858218"/>
          </a:xfrm>
        </p:spPr>
        <p:txBody>
          <a:bodyPr>
            <a:normAutofit fontScale="90000"/>
          </a:bodyPr>
          <a:lstStyle/>
          <a:p>
            <a:r>
              <a:rPr lang="bg-BG" sz="3600" b="1" i="1" dirty="0" smtClean="0"/>
              <a:t>1. Сортиране чрез множество</a:t>
            </a:r>
            <a:r>
              <a:rPr lang="bg-BG" sz="4800" b="1" i="1" dirty="0" smtClean="0"/>
              <a:t/>
            </a:r>
            <a:br>
              <a:rPr lang="bg-BG" sz="4800" b="1" i="1" dirty="0" smtClean="0"/>
            </a:br>
            <a:r>
              <a:rPr lang="bg-BG" sz="1100" dirty="0" smtClean="0"/>
              <a:t/>
            </a:r>
            <a:br>
              <a:rPr lang="bg-BG" sz="1100" dirty="0" smtClean="0"/>
            </a:br>
            <a:r>
              <a:rPr lang="bg-BG" sz="3100" dirty="0" smtClean="0">
                <a:solidFill>
                  <a:schemeClr val="tx1"/>
                </a:solidFill>
              </a:rPr>
              <a:t>Алгоритмът е приложим върху множество </a:t>
            </a:r>
            <a:r>
              <a:rPr lang="bg-BG" sz="3100" b="1" i="1" dirty="0" smtClean="0">
                <a:solidFill>
                  <a:schemeClr val="tx1"/>
                </a:solidFill>
              </a:rPr>
              <a:t>М</a:t>
            </a:r>
            <a:r>
              <a:rPr lang="bg-BG" sz="3100" dirty="0" smtClean="0">
                <a:solidFill>
                  <a:schemeClr val="tx1"/>
                </a:solidFill>
              </a:rPr>
              <a:t> с </a:t>
            </a:r>
            <a:r>
              <a:rPr lang="bg-BG" sz="3100" b="1" i="1" dirty="0" smtClean="0">
                <a:solidFill>
                  <a:schemeClr val="tx1"/>
                </a:solidFill>
              </a:rPr>
              <a:t>n</a:t>
            </a:r>
            <a:r>
              <a:rPr lang="bg-BG" sz="3100" dirty="0" smtClean="0">
                <a:solidFill>
                  <a:schemeClr val="tx1"/>
                </a:solidFill>
              </a:rPr>
              <a:t> на брой елементи, отговарящо на следните условия:</a:t>
            </a:r>
            <a:endParaRPr lang="bg-BG" sz="3100" dirty="0">
              <a:solidFill>
                <a:schemeClr val="tx1"/>
              </a:solidFill>
            </a:endParaRPr>
          </a:p>
        </p:txBody>
      </p:sp>
      <p:sp>
        <p:nvSpPr>
          <p:cNvPr id="5" name="Content Placeholder 4"/>
          <p:cNvSpPr>
            <a:spLocks noGrp="1"/>
          </p:cNvSpPr>
          <p:nvPr>
            <p:ph idx="1"/>
          </p:nvPr>
        </p:nvSpPr>
        <p:spPr>
          <a:xfrm>
            <a:off x="1187624" y="2204864"/>
            <a:ext cx="7715374" cy="4043536"/>
          </a:xfrm>
        </p:spPr>
        <p:txBody>
          <a:bodyPr/>
          <a:lstStyle/>
          <a:p>
            <a:r>
              <a:rPr lang="bg-BG" sz="2800" dirty="0" smtClean="0"/>
              <a:t>елементите на множеството са естествени числа от даден затворен интервал </a:t>
            </a:r>
            <a:r>
              <a:rPr lang="bg-BG" sz="2800" b="1" i="1" dirty="0" smtClean="0"/>
              <a:t>[a, b]</a:t>
            </a:r>
            <a:r>
              <a:rPr lang="bg-BG" sz="2800" dirty="0" smtClean="0"/>
              <a:t>, съдържащ </a:t>
            </a:r>
            <a:r>
              <a:rPr lang="bg-BG" sz="2800" b="1" i="1" dirty="0" smtClean="0"/>
              <a:t>k = b-a+1 </a:t>
            </a:r>
            <a:r>
              <a:rPr lang="bg-BG" sz="2800" dirty="0" smtClean="0"/>
              <a:t>цели числа. Не е задължително всяко число от интервала </a:t>
            </a:r>
            <a:r>
              <a:rPr lang="bg-BG" sz="2800" b="1" i="1" dirty="0" smtClean="0"/>
              <a:t>[a, b] </a:t>
            </a:r>
            <a:r>
              <a:rPr lang="bg-BG" sz="2800" dirty="0" smtClean="0"/>
              <a:t>да бъде елемент на множеството, но всички елементи на множеството трябва да са от интервала </a:t>
            </a:r>
            <a:r>
              <a:rPr lang="bg-BG" sz="2800" b="1" i="1" dirty="0" smtClean="0"/>
              <a:t>[a, b]</a:t>
            </a:r>
            <a:r>
              <a:rPr lang="bg-BG" sz="2800" dirty="0" smtClean="0"/>
              <a:t>;</a:t>
            </a:r>
          </a:p>
          <a:p>
            <a:r>
              <a:rPr lang="bg-BG" sz="2800" dirty="0" smtClean="0"/>
              <a:t>елементите не са повтарят (</a:t>
            </a:r>
            <a:r>
              <a:rPr lang="bg-BG" sz="2800" b="1" i="1" dirty="0" smtClean="0"/>
              <a:t>М</a:t>
            </a:r>
            <a:r>
              <a:rPr lang="bg-BG" sz="2800" dirty="0" smtClean="0"/>
              <a:t> е множество!)</a:t>
            </a:r>
            <a:endParaRPr lang="bg-BG" sz="2800" dirty="0"/>
          </a:p>
        </p:txBody>
      </p:sp>
      <p:sp>
        <p:nvSpPr>
          <p:cNvPr id="3" name="Slide Number Placeholder 2"/>
          <p:cNvSpPr>
            <a:spLocks noGrp="1"/>
          </p:cNvSpPr>
          <p:nvPr>
            <p:ph type="sldNum" sz="quarter" idx="12"/>
          </p:nvPr>
        </p:nvSpPr>
        <p:spPr/>
        <p:txBody>
          <a:bodyPr/>
          <a:lstStyle/>
          <a:p>
            <a:pPr>
              <a:defRPr/>
            </a:pPr>
            <a:fld id="{B7284EC1-C5F9-4279-97D0-7C576E4C1C88}" type="slidenum">
              <a:rPr lang="en-US" smtClean="0"/>
              <a:pPr>
                <a:defRPr/>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лавие 4"/>
          <p:cNvSpPr>
            <a:spLocks noGrp="1"/>
          </p:cNvSpPr>
          <p:nvPr>
            <p:ph type="ctrTitle"/>
          </p:nvPr>
        </p:nvSpPr>
        <p:spPr>
          <a:xfrm>
            <a:off x="1259632" y="0"/>
            <a:ext cx="7622664" cy="6336704"/>
          </a:xfrm>
        </p:spPr>
        <p:txBody>
          <a:bodyPr>
            <a:normAutofit/>
          </a:bodyPr>
          <a:lstStyle/>
          <a:p>
            <a:pPr algn="just"/>
            <a:r>
              <a:rPr lang="en-US" sz="2800" dirty="0" smtClean="0"/>
              <a:t>	</a:t>
            </a:r>
            <a:r>
              <a:rPr lang="bg-BG" sz="2800" dirty="0" smtClean="0">
                <a:solidFill>
                  <a:schemeClr val="tx1"/>
                </a:solidFill>
              </a:rPr>
              <a:t>Разполагаме с масив </a:t>
            </a:r>
            <a:r>
              <a:rPr lang="bg-BG" sz="2800" b="1" i="1" dirty="0" smtClean="0">
                <a:solidFill>
                  <a:schemeClr val="tx1"/>
                </a:solidFill>
              </a:rPr>
              <a:t>m[ ], </a:t>
            </a:r>
            <a:r>
              <a:rPr lang="bg-BG" sz="2800" dirty="0" smtClean="0">
                <a:solidFill>
                  <a:schemeClr val="tx1"/>
                </a:solidFill>
              </a:rPr>
              <a:t>чиито елементи искаме да подредим. Сортирането става линейно, посредством едно преминаване през елементите на масива, последвано от обхождане на числата от интервала. В началото инициализираме с </a:t>
            </a:r>
            <a:r>
              <a:rPr lang="bg-BG" sz="3200" b="1" i="1" dirty="0" smtClean="0">
                <a:solidFill>
                  <a:schemeClr val="tx1"/>
                </a:solidFill>
              </a:rPr>
              <a:t>0</a:t>
            </a:r>
            <a:r>
              <a:rPr lang="bg-BG" sz="2800" dirty="0" smtClean="0">
                <a:solidFill>
                  <a:schemeClr val="tx1"/>
                </a:solidFill>
              </a:rPr>
              <a:t> елементите от множество </a:t>
            </a:r>
            <a:r>
              <a:rPr lang="bg-BG" sz="2800" b="1" i="1" dirty="0" smtClean="0">
                <a:solidFill>
                  <a:schemeClr val="tx1"/>
                </a:solidFill>
              </a:rPr>
              <a:t>set[ ]</a:t>
            </a:r>
            <a:r>
              <a:rPr lang="en-US" sz="2800" b="1" i="1" dirty="0" smtClean="0">
                <a:solidFill>
                  <a:schemeClr val="tx1"/>
                </a:solidFill>
              </a:rPr>
              <a:t>  </a:t>
            </a:r>
            <a:r>
              <a:rPr lang="bg-BG" sz="2800" dirty="0" smtClean="0">
                <a:solidFill>
                  <a:schemeClr val="tx1"/>
                </a:solidFill>
              </a:rPr>
              <a:t> (това също е масив, чрез който представяме нашето множество </a:t>
            </a:r>
            <a:r>
              <a:rPr lang="bg-BG" sz="2800" b="1" i="1" dirty="0" smtClean="0">
                <a:solidFill>
                  <a:schemeClr val="tx1"/>
                </a:solidFill>
              </a:rPr>
              <a:t>М</a:t>
            </a:r>
            <a:r>
              <a:rPr lang="bg-BG" sz="2800" dirty="0" smtClean="0">
                <a:solidFill>
                  <a:schemeClr val="tx1"/>
                </a:solidFill>
              </a:rPr>
              <a:t>. Масивът нека да е от тип </a:t>
            </a:r>
            <a:r>
              <a:rPr lang="bg-BG" sz="2800" b="1" i="1" dirty="0" err="1" smtClean="0">
                <a:solidFill>
                  <a:schemeClr val="tx1"/>
                </a:solidFill>
              </a:rPr>
              <a:t>char</a:t>
            </a:r>
            <a:r>
              <a:rPr lang="bg-BG" sz="2800" dirty="0" smtClean="0">
                <a:solidFill>
                  <a:schemeClr val="tx1"/>
                </a:solidFill>
              </a:rPr>
              <a:t> – ще го използваме като масив със стойности </a:t>
            </a:r>
            <a:r>
              <a:rPr lang="bg-BG" sz="3200" b="1" i="1" dirty="0" smtClean="0">
                <a:solidFill>
                  <a:schemeClr val="tx1"/>
                </a:solidFill>
              </a:rPr>
              <a:t>0</a:t>
            </a:r>
            <a:r>
              <a:rPr lang="bg-BG" sz="2800" dirty="0" smtClean="0">
                <a:solidFill>
                  <a:schemeClr val="tx1"/>
                </a:solidFill>
              </a:rPr>
              <a:t> и </a:t>
            </a:r>
            <a:r>
              <a:rPr lang="bg-BG" sz="3200" b="1" i="1" dirty="0" smtClean="0">
                <a:solidFill>
                  <a:schemeClr val="tx1"/>
                </a:solidFill>
              </a:rPr>
              <a:t>1</a:t>
            </a:r>
            <a:r>
              <a:rPr lang="bg-BG" sz="2800" dirty="0" smtClean="0">
                <a:solidFill>
                  <a:schemeClr val="tx1"/>
                </a:solidFill>
              </a:rPr>
              <a:t>). След това преминаваме през масив </a:t>
            </a:r>
            <a:r>
              <a:rPr lang="bg-BG" sz="2800" b="1" i="1" dirty="0" smtClean="0">
                <a:solidFill>
                  <a:schemeClr val="tx1"/>
                </a:solidFill>
              </a:rPr>
              <a:t>m</a:t>
            </a:r>
            <a:r>
              <a:rPr lang="bg-BG" sz="2800" dirty="0" smtClean="0">
                <a:solidFill>
                  <a:schemeClr val="tx1"/>
                </a:solidFill>
              </a:rPr>
              <a:t> и за всеки негов елемент установяваме в </a:t>
            </a:r>
            <a:r>
              <a:rPr lang="bg-BG" sz="3200" b="1" i="1" dirty="0" smtClean="0">
                <a:solidFill>
                  <a:schemeClr val="tx1"/>
                </a:solidFill>
              </a:rPr>
              <a:t>1</a:t>
            </a:r>
            <a:r>
              <a:rPr lang="bg-BG" sz="2800" dirty="0" smtClean="0">
                <a:solidFill>
                  <a:schemeClr val="tx1"/>
                </a:solidFill>
              </a:rPr>
              <a:t> съответния елемент на множеството.</a:t>
            </a:r>
            <a:endParaRPr lang="bg-BG" sz="2800" dirty="0">
              <a:solidFill>
                <a:schemeClr val="tx1"/>
              </a:solidFill>
            </a:endParaRPr>
          </a:p>
        </p:txBody>
      </p:sp>
      <p:sp>
        <p:nvSpPr>
          <p:cNvPr id="4" name="Контейнер за номер на слайда 3"/>
          <p:cNvSpPr>
            <a:spLocks noGrp="1"/>
          </p:cNvSpPr>
          <p:nvPr>
            <p:ph type="sldNum" sz="quarter" idx="12"/>
          </p:nvPr>
        </p:nvSpPr>
        <p:spPr/>
        <p:txBody>
          <a:bodyPr/>
          <a:lstStyle/>
          <a:p>
            <a:pPr>
              <a:defRPr/>
            </a:pPr>
            <a:fld id="{B83E7D08-1FAE-48AD-ADC7-21D806B058B4}" type="slidenum">
              <a:rPr lang="en-US" smtClean="0"/>
              <a:pPr>
                <a:defRPr/>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лавие 4"/>
          <p:cNvSpPr>
            <a:spLocks noGrp="1"/>
          </p:cNvSpPr>
          <p:nvPr>
            <p:ph type="ctrTitle"/>
          </p:nvPr>
        </p:nvSpPr>
        <p:spPr>
          <a:xfrm>
            <a:off x="1432560" y="359898"/>
            <a:ext cx="7406640" cy="6093438"/>
          </a:xfrm>
        </p:spPr>
        <p:txBody>
          <a:bodyPr>
            <a:normAutofit/>
          </a:bodyPr>
          <a:lstStyle/>
          <a:p>
            <a:r>
              <a:rPr lang="en-US" sz="2800" dirty="0" smtClean="0">
                <a:solidFill>
                  <a:schemeClr val="tx1"/>
                </a:solidFill>
              </a:rPr>
              <a:t>	</a:t>
            </a:r>
            <a:r>
              <a:rPr lang="bg-BG" sz="2800" dirty="0" smtClean="0">
                <a:solidFill>
                  <a:schemeClr val="tx1"/>
                </a:solidFill>
              </a:rPr>
              <a:t>На втората стъпка извършваме проверка последователно за всички числа от интервала, дали принадлежат на </a:t>
            </a:r>
            <a:r>
              <a:rPr lang="bg-BG" sz="2800" b="1" i="1" dirty="0" smtClean="0">
                <a:solidFill>
                  <a:schemeClr val="tx1"/>
                </a:solidFill>
              </a:rPr>
              <a:t>set[ ]</a:t>
            </a:r>
            <a:r>
              <a:rPr lang="bg-BG" sz="2800" dirty="0" smtClean="0">
                <a:solidFill>
                  <a:schemeClr val="tx1"/>
                </a:solidFill>
              </a:rPr>
              <a:t>. В началото на втория пас считаме, че </a:t>
            </a:r>
            <a:r>
              <a:rPr lang="bg-BG" sz="2800" b="1" i="1" dirty="0" smtClean="0">
                <a:solidFill>
                  <a:schemeClr val="tx1"/>
                </a:solidFill>
              </a:rPr>
              <a:t>m[]</a:t>
            </a:r>
            <a:r>
              <a:rPr lang="bg-BG" sz="2800" dirty="0" smtClean="0">
                <a:solidFill>
                  <a:schemeClr val="tx1"/>
                </a:solidFill>
              </a:rPr>
              <a:t> не съдържа нито един елемент и го изграждаме наново, този път вече като сортирана последователност:</a:t>
            </a:r>
            <a:r>
              <a:rPr lang="en-US" sz="2800" dirty="0" smtClean="0"/>
              <a:t/>
            </a:r>
            <a:br>
              <a:rPr lang="en-US" sz="2800" dirty="0" smtClean="0"/>
            </a:br>
            <a:r>
              <a:rPr lang="en-US" sz="2800" dirty="0" smtClean="0"/>
              <a:t/>
            </a:r>
            <a:br>
              <a:rPr lang="en-US" sz="2800" dirty="0" smtClean="0"/>
            </a:br>
            <a:r>
              <a:rPr lang="bg-BG" sz="2800" dirty="0" smtClean="0">
                <a:solidFill>
                  <a:schemeClr val="tx1"/>
                </a:solidFill>
              </a:rPr>
              <a:t>#</a:t>
            </a:r>
            <a:r>
              <a:rPr lang="bg-BG" sz="2800" dirty="0" err="1" smtClean="0">
                <a:solidFill>
                  <a:schemeClr val="tx1"/>
                </a:solidFill>
              </a:rPr>
              <a:t>include</a:t>
            </a:r>
            <a:r>
              <a:rPr lang="bg-BG" sz="2800" dirty="0" smtClean="0">
                <a:solidFill>
                  <a:schemeClr val="tx1"/>
                </a:solidFill>
              </a:rPr>
              <a:t> &lt;</a:t>
            </a:r>
            <a:r>
              <a:rPr lang="bg-BG" sz="2800" dirty="0" err="1" smtClean="0">
                <a:solidFill>
                  <a:schemeClr val="tx1"/>
                </a:solidFill>
              </a:rPr>
              <a:t>iostream</a:t>
            </a:r>
            <a:r>
              <a:rPr lang="bg-BG" sz="2800" dirty="0" smtClean="0">
                <a:solidFill>
                  <a:schemeClr val="tx1"/>
                </a:solidFill>
              </a:rPr>
              <a:t>&gt;</a:t>
            </a:r>
            <a:br>
              <a:rPr lang="bg-BG" sz="2800" dirty="0" smtClean="0">
                <a:solidFill>
                  <a:schemeClr val="tx1"/>
                </a:solidFill>
              </a:rPr>
            </a:br>
            <a:r>
              <a:rPr lang="bg-BG" sz="2800" dirty="0" err="1" smtClean="0">
                <a:solidFill>
                  <a:schemeClr val="tx1"/>
                </a:solidFill>
              </a:rPr>
              <a:t>using</a:t>
            </a:r>
            <a:r>
              <a:rPr lang="bg-BG" sz="2800" dirty="0" smtClean="0">
                <a:solidFill>
                  <a:schemeClr val="tx1"/>
                </a:solidFill>
              </a:rPr>
              <a:t> </a:t>
            </a:r>
            <a:r>
              <a:rPr lang="bg-BG" sz="2800" dirty="0" err="1" smtClean="0">
                <a:solidFill>
                  <a:schemeClr val="tx1"/>
                </a:solidFill>
              </a:rPr>
              <a:t>namespace</a:t>
            </a:r>
            <a:r>
              <a:rPr lang="bg-BG" sz="2800" dirty="0" smtClean="0">
                <a:solidFill>
                  <a:schemeClr val="tx1"/>
                </a:solidFill>
              </a:rPr>
              <a:t> </a:t>
            </a:r>
            <a:r>
              <a:rPr lang="bg-BG" sz="2800" dirty="0" err="1" smtClean="0">
                <a:solidFill>
                  <a:schemeClr val="tx1"/>
                </a:solidFill>
              </a:rPr>
              <a:t>std</a:t>
            </a:r>
            <a:r>
              <a:rPr lang="bg-BG" sz="2800" dirty="0" smtClean="0">
                <a:solidFill>
                  <a:schemeClr val="tx1"/>
                </a:solidFill>
              </a:rPr>
              <a:t>;</a:t>
            </a:r>
            <a:br>
              <a:rPr lang="bg-BG" sz="2800" dirty="0" smtClean="0">
                <a:solidFill>
                  <a:schemeClr val="tx1"/>
                </a:solidFill>
              </a:rPr>
            </a:br>
            <a:r>
              <a:rPr lang="bg-BG" sz="2800" dirty="0" err="1" smtClean="0">
                <a:solidFill>
                  <a:schemeClr val="tx1"/>
                </a:solidFill>
              </a:rPr>
              <a:t>const</a:t>
            </a:r>
            <a:r>
              <a:rPr lang="bg-BG" sz="2800" dirty="0" smtClean="0">
                <a:solidFill>
                  <a:schemeClr val="tx1"/>
                </a:solidFill>
              </a:rPr>
              <a:t> </a:t>
            </a:r>
            <a:r>
              <a:rPr lang="bg-BG" sz="2800" dirty="0" err="1" smtClean="0">
                <a:solidFill>
                  <a:schemeClr val="tx1"/>
                </a:solidFill>
              </a:rPr>
              <a:t>int</a:t>
            </a:r>
            <a:r>
              <a:rPr lang="bg-BG" sz="2800" dirty="0" smtClean="0">
                <a:solidFill>
                  <a:schemeClr val="tx1"/>
                </a:solidFill>
              </a:rPr>
              <a:t>  </a:t>
            </a:r>
            <a:r>
              <a:rPr lang="bg-BG" sz="2800" dirty="0" err="1" smtClean="0">
                <a:solidFill>
                  <a:schemeClr val="tx1"/>
                </a:solidFill>
              </a:rPr>
              <a:t>MaxValue</a:t>
            </a:r>
            <a:r>
              <a:rPr lang="bg-BG" sz="2800" dirty="0" smtClean="0">
                <a:solidFill>
                  <a:schemeClr val="tx1"/>
                </a:solidFill>
              </a:rPr>
              <a:t>=10;</a:t>
            </a:r>
            <a:br>
              <a:rPr lang="bg-BG" sz="2800" dirty="0" smtClean="0">
                <a:solidFill>
                  <a:schemeClr val="tx1"/>
                </a:solidFill>
              </a:rPr>
            </a:br>
            <a:r>
              <a:rPr lang="bg-BG" sz="2800" dirty="0" err="1" smtClean="0">
                <a:solidFill>
                  <a:schemeClr val="tx1"/>
                </a:solidFill>
              </a:rPr>
              <a:t>void</a:t>
            </a:r>
            <a:r>
              <a:rPr lang="bg-BG" sz="2800" dirty="0" smtClean="0">
                <a:solidFill>
                  <a:schemeClr val="tx1"/>
                </a:solidFill>
              </a:rPr>
              <a:t> </a:t>
            </a:r>
            <a:r>
              <a:rPr lang="bg-BG" sz="2800" dirty="0" err="1" smtClean="0">
                <a:solidFill>
                  <a:schemeClr val="tx1"/>
                </a:solidFill>
              </a:rPr>
              <a:t>input</a:t>
            </a:r>
            <a:r>
              <a:rPr lang="bg-BG" sz="2800" dirty="0" smtClean="0">
                <a:solidFill>
                  <a:schemeClr val="tx1"/>
                </a:solidFill>
              </a:rPr>
              <a:t> (</a:t>
            </a:r>
            <a:r>
              <a:rPr lang="bg-BG" sz="2800" dirty="0" err="1" smtClean="0">
                <a:solidFill>
                  <a:schemeClr val="tx1"/>
                </a:solidFill>
              </a:rPr>
              <a:t>int</a:t>
            </a:r>
            <a:r>
              <a:rPr lang="bg-BG" sz="2800" dirty="0" smtClean="0">
                <a:solidFill>
                  <a:schemeClr val="tx1"/>
                </a:solidFill>
              </a:rPr>
              <a:t> m[], </a:t>
            </a:r>
            <a:r>
              <a:rPr lang="bg-BG" sz="2800" dirty="0" err="1" smtClean="0">
                <a:solidFill>
                  <a:schemeClr val="tx1"/>
                </a:solidFill>
              </a:rPr>
              <a:t>int</a:t>
            </a:r>
            <a:r>
              <a:rPr lang="bg-BG" sz="2800" dirty="0" smtClean="0">
                <a:solidFill>
                  <a:schemeClr val="tx1"/>
                </a:solidFill>
              </a:rPr>
              <a:t> n);</a:t>
            </a:r>
            <a:br>
              <a:rPr lang="bg-BG" sz="2800" dirty="0" smtClean="0">
                <a:solidFill>
                  <a:schemeClr val="tx1"/>
                </a:solidFill>
              </a:rPr>
            </a:br>
            <a:r>
              <a:rPr lang="bg-BG" sz="2800" dirty="0" err="1" smtClean="0">
                <a:solidFill>
                  <a:schemeClr val="tx1"/>
                </a:solidFill>
              </a:rPr>
              <a:t>void</a:t>
            </a:r>
            <a:r>
              <a:rPr lang="bg-BG" sz="2800" dirty="0" smtClean="0">
                <a:solidFill>
                  <a:schemeClr val="tx1"/>
                </a:solidFill>
              </a:rPr>
              <a:t> </a:t>
            </a:r>
            <a:r>
              <a:rPr lang="bg-BG" sz="2800" dirty="0" err="1" smtClean="0">
                <a:solidFill>
                  <a:schemeClr val="tx1"/>
                </a:solidFill>
              </a:rPr>
              <a:t>output</a:t>
            </a:r>
            <a:r>
              <a:rPr lang="bg-BG" sz="2800" dirty="0" smtClean="0">
                <a:solidFill>
                  <a:schemeClr val="tx1"/>
                </a:solidFill>
              </a:rPr>
              <a:t> (</a:t>
            </a:r>
            <a:r>
              <a:rPr lang="bg-BG" sz="2800" dirty="0" err="1" smtClean="0">
                <a:solidFill>
                  <a:schemeClr val="tx1"/>
                </a:solidFill>
              </a:rPr>
              <a:t>int</a:t>
            </a:r>
            <a:r>
              <a:rPr lang="bg-BG" sz="2800" dirty="0" smtClean="0">
                <a:solidFill>
                  <a:schemeClr val="tx1"/>
                </a:solidFill>
              </a:rPr>
              <a:t> m[], </a:t>
            </a:r>
            <a:r>
              <a:rPr lang="bg-BG" sz="2800" dirty="0" err="1" smtClean="0">
                <a:solidFill>
                  <a:schemeClr val="tx1"/>
                </a:solidFill>
              </a:rPr>
              <a:t>int</a:t>
            </a:r>
            <a:r>
              <a:rPr lang="bg-BG" sz="2800" dirty="0" smtClean="0">
                <a:solidFill>
                  <a:schemeClr val="tx1"/>
                </a:solidFill>
              </a:rPr>
              <a:t> n);</a:t>
            </a:r>
            <a:br>
              <a:rPr lang="bg-BG" sz="2800" dirty="0" smtClean="0">
                <a:solidFill>
                  <a:schemeClr val="tx1"/>
                </a:solidFill>
              </a:rPr>
            </a:br>
            <a:r>
              <a:rPr lang="bg-BG" sz="2800" dirty="0" err="1" smtClean="0">
                <a:solidFill>
                  <a:schemeClr val="tx1"/>
                </a:solidFill>
              </a:rPr>
              <a:t>void</a:t>
            </a:r>
            <a:r>
              <a:rPr lang="bg-BG" sz="2800" dirty="0" smtClean="0">
                <a:solidFill>
                  <a:schemeClr val="tx1"/>
                </a:solidFill>
              </a:rPr>
              <a:t> </a:t>
            </a:r>
            <a:r>
              <a:rPr lang="bg-BG" sz="2800" dirty="0" err="1" smtClean="0">
                <a:solidFill>
                  <a:schemeClr val="tx1"/>
                </a:solidFill>
              </a:rPr>
              <a:t>setSort</a:t>
            </a:r>
            <a:r>
              <a:rPr lang="bg-BG" sz="2800" dirty="0" smtClean="0">
                <a:solidFill>
                  <a:schemeClr val="tx1"/>
                </a:solidFill>
              </a:rPr>
              <a:t> (</a:t>
            </a:r>
            <a:r>
              <a:rPr lang="bg-BG" sz="2800" dirty="0" err="1" smtClean="0">
                <a:solidFill>
                  <a:schemeClr val="tx1"/>
                </a:solidFill>
              </a:rPr>
              <a:t>int</a:t>
            </a:r>
            <a:r>
              <a:rPr lang="bg-BG" sz="2800" dirty="0" smtClean="0">
                <a:solidFill>
                  <a:schemeClr val="tx1"/>
                </a:solidFill>
              </a:rPr>
              <a:t> m[], </a:t>
            </a:r>
            <a:r>
              <a:rPr lang="bg-BG" sz="2800" dirty="0" err="1" smtClean="0">
                <a:solidFill>
                  <a:schemeClr val="tx1"/>
                </a:solidFill>
              </a:rPr>
              <a:t>int</a:t>
            </a:r>
            <a:r>
              <a:rPr lang="bg-BG" sz="2800" dirty="0" smtClean="0">
                <a:solidFill>
                  <a:schemeClr val="tx1"/>
                </a:solidFill>
              </a:rPr>
              <a:t> n);</a:t>
            </a:r>
            <a:r>
              <a:rPr lang="en-US" sz="2800" dirty="0" smtClean="0">
                <a:solidFill>
                  <a:schemeClr val="tx1"/>
                </a:solidFill>
              </a:rPr>
              <a:t/>
            </a:r>
            <a:br>
              <a:rPr lang="en-US" sz="2800" dirty="0" smtClean="0">
                <a:solidFill>
                  <a:schemeClr val="tx1"/>
                </a:solidFill>
              </a:rPr>
            </a:br>
            <a:endParaRPr lang="bg-BG" sz="2800" dirty="0">
              <a:solidFill>
                <a:schemeClr val="tx1"/>
              </a:solidFill>
            </a:endParaRPr>
          </a:p>
        </p:txBody>
      </p:sp>
      <p:sp>
        <p:nvSpPr>
          <p:cNvPr id="4" name="Контейнер за номер на слайда 3"/>
          <p:cNvSpPr>
            <a:spLocks noGrp="1"/>
          </p:cNvSpPr>
          <p:nvPr>
            <p:ph type="sldNum" sz="quarter" idx="12"/>
          </p:nvPr>
        </p:nvSpPr>
        <p:spPr/>
        <p:txBody>
          <a:bodyPr/>
          <a:lstStyle/>
          <a:p>
            <a:pPr>
              <a:defRPr/>
            </a:pPr>
            <a:fld id="{B83E7D08-1FAE-48AD-ADC7-21D806B058B4}" type="slidenum">
              <a:rPr lang="en-US" smtClean="0"/>
              <a:pPr>
                <a:defRPr/>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лавие 4"/>
          <p:cNvSpPr>
            <a:spLocks noGrp="1"/>
          </p:cNvSpPr>
          <p:nvPr>
            <p:ph type="title"/>
          </p:nvPr>
        </p:nvSpPr>
        <p:spPr>
          <a:xfrm>
            <a:off x="1435608" y="188640"/>
            <a:ext cx="7498080" cy="6408712"/>
          </a:xfrm>
        </p:spPr>
        <p:txBody>
          <a:bodyPr>
            <a:normAutofit/>
          </a:bodyPr>
          <a:lstStyle/>
          <a:p>
            <a:r>
              <a:rPr lang="bg-BG" sz="2400" dirty="0" err="1" smtClean="0">
                <a:solidFill>
                  <a:schemeClr val="tx1"/>
                </a:solidFill>
              </a:rPr>
              <a:t>void</a:t>
            </a:r>
            <a:r>
              <a:rPr lang="bg-BG" sz="2400" dirty="0" smtClean="0">
                <a:solidFill>
                  <a:schemeClr val="tx1"/>
                </a:solidFill>
              </a:rPr>
              <a:t> </a:t>
            </a:r>
            <a:r>
              <a:rPr lang="bg-BG" sz="2400" dirty="0" err="1" smtClean="0">
                <a:solidFill>
                  <a:schemeClr val="tx1"/>
                </a:solidFill>
              </a:rPr>
              <a:t>main</a:t>
            </a:r>
            <a:r>
              <a:rPr lang="bg-BG" sz="2400" dirty="0" smtClean="0">
                <a:solidFill>
                  <a:schemeClr val="tx1"/>
                </a:solidFill>
              </a:rPr>
              <a:t>()</a:t>
            </a:r>
            <a:br>
              <a:rPr lang="bg-BG" sz="2400" dirty="0" smtClean="0">
                <a:solidFill>
                  <a:schemeClr val="tx1"/>
                </a:solidFill>
              </a:rPr>
            </a:br>
            <a:r>
              <a:rPr lang="bg-BG" sz="2400" dirty="0" smtClean="0">
                <a:solidFill>
                  <a:schemeClr val="tx1"/>
                </a:solidFill>
              </a:rPr>
              <a:t>{</a:t>
            </a:r>
            <a:r>
              <a:rPr lang="en-US" sz="2400" dirty="0" smtClean="0">
                <a:solidFill>
                  <a:schemeClr val="tx1"/>
                </a:solidFill>
              </a:rPr>
              <a:t>          </a:t>
            </a:r>
            <a:r>
              <a:rPr lang="bg-BG" sz="2400" dirty="0" err="1" smtClean="0">
                <a:solidFill>
                  <a:schemeClr val="tx1"/>
                </a:solidFill>
              </a:rPr>
              <a:t>int</a:t>
            </a:r>
            <a:r>
              <a:rPr lang="bg-BG" sz="2400" dirty="0" smtClean="0">
                <a:solidFill>
                  <a:schemeClr val="tx1"/>
                </a:solidFill>
              </a:rPr>
              <a:t> m[</a:t>
            </a:r>
            <a:r>
              <a:rPr lang="bg-BG" sz="2400" dirty="0" err="1" smtClean="0">
                <a:solidFill>
                  <a:schemeClr val="tx1"/>
                </a:solidFill>
              </a:rPr>
              <a:t>MaxValue</a:t>
            </a:r>
            <a:r>
              <a:rPr lang="bg-BG" sz="2400" dirty="0" smtClean="0">
                <a:solidFill>
                  <a:schemeClr val="tx1"/>
                </a:solidFill>
              </a:rPr>
              <a:t>];</a:t>
            </a:r>
            <a:br>
              <a:rPr lang="bg-BG" sz="2400" dirty="0" smtClean="0">
                <a:solidFill>
                  <a:schemeClr val="tx1"/>
                </a:solidFill>
              </a:rPr>
            </a:br>
            <a:r>
              <a:rPr lang="bg-BG" sz="2400" dirty="0" smtClean="0">
                <a:solidFill>
                  <a:schemeClr val="tx1"/>
                </a:solidFill>
              </a:rPr>
              <a:t>	</a:t>
            </a:r>
            <a:r>
              <a:rPr lang="bg-BG" sz="2400" dirty="0" err="1" smtClean="0">
                <a:solidFill>
                  <a:schemeClr val="tx1"/>
                </a:solidFill>
              </a:rPr>
              <a:t>int</a:t>
            </a:r>
            <a:r>
              <a:rPr lang="bg-BG" sz="2400" dirty="0" smtClean="0">
                <a:solidFill>
                  <a:schemeClr val="tx1"/>
                </a:solidFill>
              </a:rPr>
              <a:t> n;</a:t>
            </a:r>
            <a:br>
              <a:rPr lang="bg-BG" sz="2400" dirty="0" smtClean="0">
                <a:solidFill>
                  <a:schemeClr val="tx1"/>
                </a:solidFill>
              </a:rPr>
            </a:br>
            <a:r>
              <a:rPr lang="bg-BG" sz="2400" dirty="0" smtClean="0">
                <a:solidFill>
                  <a:schemeClr val="tx1"/>
                </a:solidFill>
              </a:rPr>
              <a:t>	</a:t>
            </a:r>
            <a:r>
              <a:rPr lang="bg-BG" sz="2400" dirty="0" err="1" smtClean="0">
                <a:solidFill>
                  <a:schemeClr val="tx1"/>
                </a:solidFill>
              </a:rPr>
              <a:t>do</a:t>
            </a:r>
            <a:r>
              <a:rPr lang="bg-BG" sz="2400" dirty="0" smtClean="0">
                <a:solidFill>
                  <a:schemeClr val="tx1"/>
                </a:solidFill>
              </a:rPr>
              <a:t/>
            </a:r>
            <a:br>
              <a:rPr lang="bg-BG" sz="2400" dirty="0" smtClean="0">
                <a:solidFill>
                  <a:schemeClr val="tx1"/>
                </a:solidFill>
              </a:rPr>
            </a:br>
            <a:r>
              <a:rPr lang="bg-BG" sz="2400" dirty="0" smtClean="0">
                <a:solidFill>
                  <a:schemeClr val="tx1"/>
                </a:solidFill>
              </a:rPr>
              <a:t>	</a:t>
            </a:r>
            <a:r>
              <a:rPr lang="en-US" sz="2400" dirty="0" smtClean="0">
                <a:solidFill>
                  <a:schemeClr val="tx1"/>
                </a:solidFill>
              </a:rPr>
              <a:t>     </a:t>
            </a:r>
            <a:r>
              <a:rPr lang="bg-BG" sz="2400" dirty="0" smtClean="0">
                <a:solidFill>
                  <a:schemeClr val="tx1"/>
                </a:solidFill>
              </a:rPr>
              <a:t>{</a:t>
            </a:r>
            <a:r>
              <a:rPr lang="en-US" sz="2400" dirty="0" smtClean="0">
                <a:solidFill>
                  <a:schemeClr val="tx1"/>
                </a:solidFill>
              </a:rPr>
              <a:t>    </a:t>
            </a:r>
            <a:r>
              <a:rPr lang="bg-BG" sz="2400" dirty="0" err="1" smtClean="0">
                <a:solidFill>
                  <a:schemeClr val="tx1"/>
                </a:solidFill>
              </a:rPr>
              <a:t>cout</a:t>
            </a:r>
            <a:r>
              <a:rPr lang="bg-BG" sz="2400" dirty="0" smtClean="0">
                <a:solidFill>
                  <a:schemeClr val="tx1"/>
                </a:solidFill>
              </a:rPr>
              <a:t> &lt;&lt;"\</a:t>
            </a:r>
            <a:r>
              <a:rPr lang="bg-BG" sz="2400" dirty="0" err="1" smtClean="0">
                <a:solidFill>
                  <a:schemeClr val="tx1"/>
                </a:solidFill>
              </a:rPr>
              <a:t>nInput</a:t>
            </a:r>
            <a:r>
              <a:rPr lang="bg-BG" sz="2400" dirty="0" smtClean="0">
                <a:solidFill>
                  <a:schemeClr val="tx1"/>
                </a:solidFill>
              </a:rPr>
              <a:t> n: “;	</a:t>
            </a:r>
            <a:r>
              <a:rPr lang="bg-BG" sz="2400" dirty="0" err="1" smtClean="0">
                <a:solidFill>
                  <a:schemeClr val="tx1"/>
                </a:solidFill>
              </a:rPr>
              <a:t>cin</a:t>
            </a:r>
            <a:r>
              <a:rPr lang="bg-BG" sz="2400" dirty="0" smtClean="0">
                <a:solidFill>
                  <a:schemeClr val="tx1"/>
                </a:solidFill>
              </a:rPr>
              <a:t>&gt;&gt;n;</a:t>
            </a:r>
            <a:r>
              <a:rPr lang="en-US" sz="2400" dirty="0" smtClean="0">
                <a:solidFill>
                  <a:schemeClr val="tx1"/>
                </a:solidFill>
              </a:rPr>
              <a:t> </a:t>
            </a:r>
            <a:r>
              <a:rPr lang="bg-BG" sz="2400" dirty="0" smtClean="0">
                <a:solidFill>
                  <a:schemeClr val="tx1"/>
                </a:solidFill>
              </a:rPr>
              <a:t>}</a:t>
            </a:r>
            <a:br>
              <a:rPr lang="bg-BG" sz="2400" dirty="0" smtClean="0">
                <a:solidFill>
                  <a:schemeClr val="tx1"/>
                </a:solidFill>
              </a:rPr>
            </a:br>
            <a:r>
              <a:rPr lang="bg-BG" sz="2400" dirty="0" smtClean="0">
                <a:solidFill>
                  <a:schemeClr val="tx1"/>
                </a:solidFill>
              </a:rPr>
              <a:t>	while (n&gt;MaxValue);</a:t>
            </a:r>
            <a:br>
              <a:rPr lang="bg-BG" sz="2400" dirty="0" smtClean="0">
                <a:solidFill>
                  <a:schemeClr val="tx1"/>
                </a:solidFill>
              </a:rPr>
            </a:br>
            <a:r>
              <a:rPr lang="bg-BG" sz="2400" dirty="0" smtClean="0">
                <a:solidFill>
                  <a:schemeClr val="tx1"/>
                </a:solidFill>
              </a:rPr>
              <a:t>	input (m,  n);</a:t>
            </a:r>
            <a:br>
              <a:rPr lang="bg-BG" sz="2400" dirty="0" smtClean="0">
                <a:solidFill>
                  <a:schemeClr val="tx1"/>
                </a:solidFill>
              </a:rPr>
            </a:br>
            <a:r>
              <a:rPr lang="bg-BG" sz="2400" dirty="0" smtClean="0">
                <a:solidFill>
                  <a:schemeClr val="tx1"/>
                </a:solidFill>
              </a:rPr>
              <a:t>	setSort (m, n);</a:t>
            </a:r>
            <a:br>
              <a:rPr lang="bg-BG" sz="2400" dirty="0" smtClean="0">
                <a:solidFill>
                  <a:schemeClr val="tx1"/>
                </a:solidFill>
              </a:rPr>
            </a:br>
            <a:r>
              <a:rPr lang="bg-BG" sz="2400" dirty="0" smtClean="0">
                <a:solidFill>
                  <a:schemeClr val="tx1"/>
                </a:solidFill>
              </a:rPr>
              <a:t>    </a:t>
            </a:r>
            <a:r>
              <a:rPr lang="en-US" sz="2400" dirty="0" smtClean="0">
                <a:solidFill>
                  <a:schemeClr val="tx1"/>
                </a:solidFill>
              </a:rPr>
              <a:t>        </a:t>
            </a:r>
            <a:r>
              <a:rPr lang="bg-BG" sz="2400" dirty="0" smtClean="0">
                <a:solidFill>
                  <a:schemeClr val="tx1"/>
                </a:solidFill>
              </a:rPr>
              <a:t>output ( m,  n);</a:t>
            </a:r>
            <a:br>
              <a:rPr lang="bg-BG" sz="2400" dirty="0" smtClean="0">
                <a:solidFill>
                  <a:schemeClr val="tx1"/>
                </a:solidFill>
              </a:rPr>
            </a:br>
            <a:r>
              <a:rPr lang="bg-BG" sz="2400" dirty="0" smtClean="0">
                <a:solidFill>
                  <a:schemeClr val="tx1"/>
                </a:solidFill>
              </a:rPr>
              <a:t>}</a:t>
            </a:r>
            <a:r>
              <a:rPr lang="en-US" sz="2400" dirty="0" smtClean="0">
                <a:solidFill>
                  <a:schemeClr val="tx1"/>
                </a:solidFill>
              </a:rPr>
              <a:t> </a:t>
            </a:r>
            <a:r>
              <a:rPr lang="bg-BG" sz="2400" dirty="0" smtClean="0">
                <a:solidFill>
                  <a:schemeClr val="tx1"/>
                </a:solidFill>
              </a:rPr>
              <a:t/>
            </a:r>
            <a:br>
              <a:rPr lang="bg-BG" sz="2400" dirty="0" smtClean="0">
                <a:solidFill>
                  <a:schemeClr val="tx1"/>
                </a:solidFill>
              </a:rPr>
            </a:br>
            <a:r>
              <a:rPr lang="bg-BG" sz="2400" dirty="0" err="1" smtClean="0">
                <a:solidFill>
                  <a:schemeClr val="tx1"/>
                </a:solidFill>
              </a:rPr>
              <a:t>void</a:t>
            </a:r>
            <a:r>
              <a:rPr lang="bg-BG" sz="2400" dirty="0" smtClean="0">
                <a:solidFill>
                  <a:schemeClr val="tx1"/>
                </a:solidFill>
              </a:rPr>
              <a:t> </a:t>
            </a:r>
            <a:r>
              <a:rPr lang="bg-BG" sz="2400" dirty="0" err="1" smtClean="0">
                <a:solidFill>
                  <a:schemeClr val="tx1"/>
                </a:solidFill>
              </a:rPr>
              <a:t>input</a:t>
            </a:r>
            <a:r>
              <a:rPr lang="bg-BG" sz="2400" dirty="0" smtClean="0">
                <a:solidFill>
                  <a:schemeClr val="tx1"/>
                </a:solidFill>
              </a:rPr>
              <a:t> (</a:t>
            </a:r>
            <a:r>
              <a:rPr lang="bg-BG" sz="2400" dirty="0" err="1" smtClean="0">
                <a:solidFill>
                  <a:schemeClr val="tx1"/>
                </a:solidFill>
              </a:rPr>
              <a:t>int</a:t>
            </a:r>
            <a:r>
              <a:rPr lang="bg-BG" sz="2400" dirty="0" smtClean="0">
                <a:solidFill>
                  <a:schemeClr val="tx1"/>
                </a:solidFill>
              </a:rPr>
              <a:t> m[], </a:t>
            </a:r>
            <a:r>
              <a:rPr lang="bg-BG" sz="2400" dirty="0" err="1" smtClean="0">
                <a:solidFill>
                  <a:schemeClr val="tx1"/>
                </a:solidFill>
              </a:rPr>
              <a:t>int</a:t>
            </a:r>
            <a:r>
              <a:rPr lang="bg-BG" sz="2400" dirty="0" smtClean="0">
                <a:solidFill>
                  <a:schemeClr val="tx1"/>
                </a:solidFill>
              </a:rPr>
              <a:t> n)</a:t>
            </a:r>
            <a:br>
              <a:rPr lang="bg-BG" sz="2400" dirty="0" smtClean="0">
                <a:solidFill>
                  <a:schemeClr val="tx1"/>
                </a:solidFill>
              </a:rPr>
            </a:br>
            <a:r>
              <a:rPr lang="bg-BG" sz="2400" dirty="0" smtClean="0">
                <a:solidFill>
                  <a:schemeClr val="tx1"/>
                </a:solidFill>
              </a:rPr>
              <a:t>{</a:t>
            </a:r>
            <a:r>
              <a:rPr lang="en-US" sz="2400" dirty="0" smtClean="0">
                <a:solidFill>
                  <a:schemeClr val="tx1"/>
                </a:solidFill>
              </a:rPr>
              <a:t>       </a:t>
            </a:r>
            <a:r>
              <a:rPr lang="bg-BG" sz="2400" dirty="0" err="1" smtClean="0">
                <a:solidFill>
                  <a:schemeClr val="tx1"/>
                </a:solidFill>
              </a:rPr>
              <a:t>for</a:t>
            </a:r>
            <a:r>
              <a:rPr lang="bg-BG" sz="2400" dirty="0" smtClean="0">
                <a:solidFill>
                  <a:schemeClr val="tx1"/>
                </a:solidFill>
              </a:rPr>
              <a:t> (</a:t>
            </a:r>
            <a:r>
              <a:rPr lang="bg-BG" sz="2400" dirty="0" err="1" smtClean="0">
                <a:solidFill>
                  <a:schemeClr val="tx1"/>
                </a:solidFill>
              </a:rPr>
              <a:t>int</a:t>
            </a:r>
            <a:r>
              <a:rPr lang="bg-BG" sz="2400" dirty="0" smtClean="0">
                <a:solidFill>
                  <a:schemeClr val="tx1"/>
                </a:solidFill>
              </a:rPr>
              <a:t> i=0; i&lt;n; </a:t>
            </a:r>
            <a:r>
              <a:rPr lang="bg-BG" sz="2400" dirty="0" err="1" smtClean="0">
                <a:solidFill>
                  <a:schemeClr val="tx1"/>
                </a:solidFill>
              </a:rPr>
              <a:t>i++</a:t>
            </a:r>
            <a:r>
              <a:rPr lang="bg-BG" sz="2400" dirty="0" smtClean="0">
                <a:solidFill>
                  <a:schemeClr val="tx1"/>
                </a:solidFill>
              </a:rPr>
              <a:t>)</a:t>
            </a:r>
            <a:br>
              <a:rPr lang="bg-BG" sz="2400" dirty="0" smtClean="0">
                <a:solidFill>
                  <a:schemeClr val="tx1"/>
                </a:solidFill>
              </a:rPr>
            </a:br>
            <a:r>
              <a:rPr lang="bg-BG" sz="2400" dirty="0" smtClean="0">
                <a:solidFill>
                  <a:schemeClr val="tx1"/>
                </a:solidFill>
              </a:rPr>
              <a:t>	{</a:t>
            </a:r>
            <a:br>
              <a:rPr lang="bg-BG" sz="2400" dirty="0" smtClean="0">
                <a:solidFill>
                  <a:schemeClr val="tx1"/>
                </a:solidFill>
              </a:rPr>
            </a:br>
            <a:r>
              <a:rPr lang="bg-BG" sz="2400" dirty="0" smtClean="0">
                <a:solidFill>
                  <a:schemeClr val="tx1"/>
                </a:solidFill>
              </a:rPr>
              <a:t>		</a:t>
            </a:r>
            <a:r>
              <a:rPr lang="bg-BG" sz="2400" dirty="0" err="1" smtClean="0">
                <a:solidFill>
                  <a:schemeClr val="tx1"/>
                </a:solidFill>
              </a:rPr>
              <a:t>cout</a:t>
            </a:r>
            <a:r>
              <a:rPr lang="bg-BG" sz="2400" dirty="0" smtClean="0">
                <a:solidFill>
                  <a:schemeClr val="tx1"/>
                </a:solidFill>
              </a:rPr>
              <a:t>&lt;&lt;"\</a:t>
            </a:r>
            <a:r>
              <a:rPr lang="bg-BG" sz="2400" dirty="0" err="1" smtClean="0">
                <a:solidFill>
                  <a:schemeClr val="tx1"/>
                </a:solidFill>
              </a:rPr>
              <a:t>nm</a:t>
            </a:r>
            <a:r>
              <a:rPr lang="bg-BG" sz="2400" dirty="0" smtClean="0">
                <a:solidFill>
                  <a:schemeClr val="tx1"/>
                </a:solidFill>
              </a:rPr>
              <a:t>["&lt;&lt;i&lt;&lt;"]=";</a:t>
            </a:r>
            <a:br>
              <a:rPr lang="bg-BG" sz="2400" dirty="0" smtClean="0">
                <a:solidFill>
                  <a:schemeClr val="tx1"/>
                </a:solidFill>
              </a:rPr>
            </a:br>
            <a:r>
              <a:rPr lang="bg-BG" sz="2400" dirty="0" smtClean="0">
                <a:solidFill>
                  <a:schemeClr val="tx1"/>
                </a:solidFill>
              </a:rPr>
              <a:t>		</a:t>
            </a:r>
            <a:r>
              <a:rPr lang="bg-BG" sz="2400" dirty="0" err="1" smtClean="0">
                <a:solidFill>
                  <a:schemeClr val="tx1"/>
                </a:solidFill>
              </a:rPr>
              <a:t>cin</a:t>
            </a:r>
            <a:r>
              <a:rPr lang="bg-BG" sz="2400" dirty="0" smtClean="0">
                <a:solidFill>
                  <a:schemeClr val="tx1"/>
                </a:solidFill>
              </a:rPr>
              <a:t>&gt;&gt;m[i];</a:t>
            </a:r>
            <a:br>
              <a:rPr lang="bg-BG" sz="2400" dirty="0" smtClean="0">
                <a:solidFill>
                  <a:schemeClr val="tx1"/>
                </a:solidFill>
              </a:rPr>
            </a:br>
            <a:r>
              <a:rPr lang="bg-BG" sz="2400" dirty="0" smtClean="0">
                <a:solidFill>
                  <a:schemeClr val="tx1"/>
                </a:solidFill>
              </a:rPr>
              <a:t>	}</a:t>
            </a:r>
            <a:br>
              <a:rPr lang="bg-BG" sz="2400" dirty="0" smtClean="0">
                <a:solidFill>
                  <a:schemeClr val="tx1"/>
                </a:solidFill>
              </a:rPr>
            </a:br>
            <a:r>
              <a:rPr lang="bg-BG" sz="2400" dirty="0" smtClean="0">
                <a:solidFill>
                  <a:schemeClr val="tx1"/>
                </a:solidFill>
              </a:rPr>
              <a:t>}</a:t>
            </a:r>
            <a:endParaRPr lang="bg-BG" sz="2400" dirty="0">
              <a:solidFill>
                <a:schemeClr val="tx1"/>
              </a:solidFill>
            </a:endParaRPr>
          </a:p>
        </p:txBody>
      </p:sp>
      <p:sp>
        <p:nvSpPr>
          <p:cNvPr id="4" name="Контейнер за номер на слайда 3"/>
          <p:cNvSpPr>
            <a:spLocks noGrp="1"/>
          </p:cNvSpPr>
          <p:nvPr>
            <p:ph type="sldNum" sz="quarter" idx="12"/>
          </p:nvPr>
        </p:nvSpPr>
        <p:spPr/>
        <p:txBody>
          <a:bodyPr/>
          <a:lstStyle/>
          <a:p>
            <a:pPr>
              <a:defRPr/>
            </a:pPr>
            <a:fld id="{B83E7D08-1FAE-48AD-ADC7-21D806B058B4}" type="slidenum">
              <a:rPr lang="en-US" smtClean="0"/>
              <a:pPr>
                <a:defRPr/>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435608" y="274320"/>
            <a:ext cx="7498080" cy="6323032"/>
          </a:xfrm>
        </p:spPr>
        <p:txBody>
          <a:bodyPr>
            <a:normAutofit fontScale="90000"/>
          </a:bodyPr>
          <a:lstStyle/>
          <a:p>
            <a:r>
              <a:rPr lang="bg-BG" sz="2700" dirty="0" err="1" smtClean="0">
                <a:solidFill>
                  <a:schemeClr val="tx1"/>
                </a:solidFill>
              </a:rPr>
              <a:t>void</a:t>
            </a:r>
            <a:r>
              <a:rPr lang="bg-BG" sz="2700" dirty="0" smtClean="0">
                <a:solidFill>
                  <a:schemeClr val="tx1"/>
                </a:solidFill>
              </a:rPr>
              <a:t> </a:t>
            </a:r>
            <a:r>
              <a:rPr lang="bg-BG" sz="2700" dirty="0" err="1" smtClean="0">
                <a:solidFill>
                  <a:schemeClr val="tx1"/>
                </a:solidFill>
              </a:rPr>
              <a:t>setSort</a:t>
            </a:r>
            <a:r>
              <a:rPr lang="bg-BG" sz="2700" dirty="0" smtClean="0">
                <a:solidFill>
                  <a:schemeClr val="tx1"/>
                </a:solidFill>
              </a:rPr>
              <a:t> (</a:t>
            </a:r>
            <a:r>
              <a:rPr lang="bg-BG" sz="2700" dirty="0" err="1" smtClean="0">
                <a:solidFill>
                  <a:schemeClr val="tx1"/>
                </a:solidFill>
              </a:rPr>
              <a:t>int</a:t>
            </a:r>
            <a:r>
              <a:rPr lang="bg-BG" sz="2700" dirty="0" smtClean="0">
                <a:solidFill>
                  <a:schemeClr val="tx1"/>
                </a:solidFill>
              </a:rPr>
              <a:t> m[], </a:t>
            </a:r>
            <a:r>
              <a:rPr lang="bg-BG" sz="2700" dirty="0" err="1" smtClean="0">
                <a:solidFill>
                  <a:schemeClr val="tx1"/>
                </a:solidFill>
              </a:rPr>
              <a:t>int</a:t>
            </a:r>
            <a:r>
              <a:rPr lang="bg-BG" sz="2700" dirty="0" smtClean="0">
                <a:solidFill>
                  <a:schemeClr val="tx1"/>
                </a:solidFill>
              </a:rPr>
              <a:t> n)</a:t>
            </a:r>
            <a:br>
              <a:rPr lang="bg-BG" sz="2700" dirty="0" smtClean="0">
                <a:solidFill>
                  <a:schemeClr val="tx1"/>
                </a:solidFill>
              </a:rPr>
            </a:br>
            <a:r>
              <a:rPr lang="bg-BG" sz="2700" dirty="0" smtClean="0">
                <a:solidFill>
                  <a:schemeClr val="tx1"/>
                </a:solidFill>
              </a:rPr>
              <a:t>{</a:t>
            </a:r>
            <a:r>
              <a:rPr lang="en-US" sz="2700" dirty="0" smtClean="0">
                <a:solidFill>
                  <a:schemeClr val="tx1"/>
                </a:solidFill>
              </a:rPr>
              <a:t>          </a:t>
            </a:r>
            <a:r>
              <a:rPr lang="bg-BG" sz="2700" dirty="0" err="1" smtClean="0">
                <a:solidFill>
                  <a:schemeClr val="tx1"/>
                </a:solidFill>
              </a:rPr>
              <a:t>char</a:t>
            </a:r>
            <a:r>
              <a:rPr lang="bg-BG" sz="2700" dirty="0" smtClean="0">
                <a:solidFill>
                  <a:schemeClr val="tx1"/>
                </a:solidFill>
              </a:rPr>
              <a:t> </a:t>
            </a:r>
            <a:r>
              <a:rPr lang="bg-BG" sz="2700" dirty="0" err="1" smtClean="0">
                <a:solidFill>
                  <a:schemeClr val="tx1"/>
                </a:solidFill>
              </a:rPr>
              <a:t>set</a:t>
            </a:r>
            <a:r>
              <a:rPr lang="bg-BG" sz="2700" dirty="0" smtClean="0">
                <a:solidFill>
                  <a:schemeClr val="tx1"/>
                </a:solidFill>
              </a:rPr>
              <a:t>[</a:t>
            </a:r>
            <a:r>
              <a:rPr lang="bg-BG" sz="2700" dirty="0" err="1" smtClean="0">
                <a:solidFill>
                  <a:schemeClr val="tx1"/>
                </a:solidFill>
              </a:rPr>
              <a:t>MaxValue</a:t>
            </a: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int</a:t>
            </a:r>
            <a:r>
              <a:rPr lang="bg-BG" sz="2700" dirty="0" smtClean="0">
                <a:solidFill>
                  <a:schemeClr val="tx1"/>
                </a:solidFill>
              </a:rPr>
              <a:t> i, j;</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for</a:t>
            </a:r>
            <a:r>
              <a:rPr lang="bg-BG" sz="2700" dirty="0" smtClean="0">
                <a:solidFill>
                  <a:schemeClr val="tx1"/>
                </a:solidFill>
              </a:rPr>
              <a:t> (i=0; i&lt;</a:t>
            </a:r>
            <a:r>
              <a:rPr lang="bg-BG" sz="2700" dirty="0" err="1" smtClean="0">
                <a:solidFill>
                  <a:schemeClr val="tx1"/>
                </a:solidFill>
              </a:rPr>
              <a:t>MaxValue</a:t>
            </a:r>
            <a:r>
              <a:rPr lang="bg-BG" sz="2700" dirty="0" smtClean="0">
                <a:solidFill>
                  <a:schemeClr val="tx1"/>
                </a:solidFill>
              </a:rPr>
              <a:t>;</a:t>
            </a:r>
            <a:r>
              <a:rPr lang="bg-BG" sz="2700" dirty="0" err="1" smtClean="0">
                <a:solidFill>
                  <a:schemeClr val="tx1"/>
                </a:solidFill>
              </a:rPr>
              <a:t>i++</a:t>
            </a: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set</a:t>
            </a:r>
            <a:r>
              <a:rPr lang="bg-BG" sz="2700" dirty="0" smtClean="0">
                <a:solidFill>
                  <a:schemeClr val="tx1"/>
                </a:solidFill>
              </a:rPr>
              <a:t>[i]=0;</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for</a:t>
            </a:r>
            <a:r>
              <a:rPr lang="bg-BG" sz="2700" dirty="0" smtClean="0">
                <a:solidFill>
                  <a:schemeClr val="tx1"/>
                </a:solidFill>
              </a:rPr>
              <a:t> (j=0; j&lt;n; </a:t>
            </a:r>
            <a:r>
              <a:rPr lang="bg-BG" sz="2700" dirty="0" err="1" smtClean="0">
                <a:solidFill>
                  <a:schemeClr val="tx1"/>
                </a:solidFill>
              </a:rPr>
              <a:t>j++</a:t>
            </a: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set</a:t>
            </a:r>
            <a:r>
              <a:rPr lang="bg-BG" sz="2700" dirty="0" smtClean="0">
                <a:solidFill>
                  <a:schemeClr val="tx1"/>
                </a:solidFill>
              </a:rPr>
              <a:t>[m[j]]=1;</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for</a:t>
            </a:r>
            <a:r>
              <a:rPr lang="bg-BG" sz="2700" dirty="0" smtClean="0">
                <a:solidFill>
                  <a:schemeClr val="tx1"/>
                </a:solidFill>
              </a:rPr>
              <a:t> (i=j=0; i&lt;</a:t>
            </a:r>
            <a:r>
              <a:rPr lang="bg-BG" sz="2700" dirty="0" err="1" smtClean="0">
                <a:solidFill>
                  <a:schemeClr val="tx1"/>
                </a:solidFill>
              </a:rPr>
              <a:t>MaxValue</a:t>
            </a:r>
            <a:r>
              <a:rPr lang="bg-BG" sz="2700" dirty="0" smtClean="0">
                <a:solidFill>
                  <a:schemeClr val="tx1"/>
                </a:solidFill>
              </a:rPr>
              <a:t>; </a:t>
            </a:r>
            <a:r>
              <a:rPr lang="bg-BG" sz="2700" dirty="0" err="1" smtClean="0">
                <a:solidFill>
                  <a:schemeClr val="tx1"/>
                </a:solidFill>
              </a:rPr>
              <a:t>i++</a:t>
            </a: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if</a:t>
            </a:r>
            <a:r>
              <a:rPr lang="bg-BG" sz="2700" dirty="0" smtClean="0">
                <a:solidFill>
                  <a:schemeClr val="tx1"/>
                </a:solidFill>
              </a:rPr>
              <a:t> (</a:t>
            </a:r>
            <a:r>
              <a:rPr lang="bg-BG" sz="2700" dirty="0" err="1" smtClean="0">
                <a:solidFill>
                  <a:schemeClr val="tx1"/>
                </a:solidFill>
              </a:rPr>
              <a:t>set</a:t>
            </a:r>
            <a:r>
              <a:rPr lang="bg-BG" sz="2700" dirty="0" smtClean="0">
                <a:solidFill>
                  <a:schemeClr val="tx1"/>
                </a:solidFill>
              </a:rPr>
              <a:t>[i])</a:t>
            </a:r>
            <a:br>
              <a:rPr lang="bg-BG" sz="2700" dirty="0" smtClean="0">
                <a:solidFill>
                  <a:schemeClr val="tx1"/>
                </a:solidFill>
              </a:rPr>
            </a:br>
            <a:r>
              <a:rPr lang="bg-BG" sz="2700" dirty="0" smtClean="0">
                <a:solidFill>
                  <a:schemeClr val="tx1"/>
                </a:solidFill>
              </a:rPr>
              <a:t>			m[</a:t>
            </a:r>
            <a:r>
              <a:rPr lang="bg-BG" sz="2700" dirty="0" err="1" smtClean="0">
                <a:solidFill>
                  <a:schemeClr val="tx1"/>
                </a:solidFill>
              </a:rPr>
              <a:t>j++</a:t>
            </a:r>
            <a:r>
              <a:rPr lang="bg-BG" sz="2700" dirty="0" smtClean="0">
                <a:solidFill>
                  <a:schemeClr val="tx1"/>
                </a:solidFill>
              </a:rPr>
              <a:t>]=i;</a:t>
            </a:r>
            <a:br>
              <a:rPr lang="bg-BG" sz="2700" dirty="0" smtClean="0">
                <a:solidFill>
                  <a:schemeClr val="tx1"/>
                </a:solidFill>
              </a:rPr>
            </a:br>
            <a:r>
              <a:rPr lang="bg-BG" sz="2700" dirty="0" smtClean="0">
                <a:solidFill>
                  <a:schemeClr val="tx1"/>
                </a:solidFill>
              </a:rPr>
              <a:t>}		</a:t>
            </a:r>
            <a:br>
              <a:rPr lang="bg-BG" sz="2700" dirty="0" smtClean="0">
                <a:solidFill>
                  <a:schemeClr val="tx1"/>
                </a:solidFill>
              </a:rPr>
            </a:br>
            <a:r>
              <a:rPr lang="bg-BG" sz="2700" dirty="0" smtClean="0">
                <a:solidFill>
                  <a:schemeClr val="tx1"/>
                </a:solidFill>
              </a:rPr>
              <a:t> </a:t>
            </a:r>
            <a:br>
              <a:rPr lang="bg-BG" sz="2700" dirty="0" smtClean="0">
                <a:solidFill>
                  <a:schemeClr val="tx1"/>
                </a:solidFill>
              </a:rPr>
            </a:br>
            <a:r>
              <a:rPr lang="bg-BG" sz="2700" dirty="0" err="1" smtClean="0">
                <a:solidFill>
                  <a:schemeClr val="tx1"/>
                </a:solidFill>
              </a:rPr>
              <a:t>void</a:t>
            </a:r>
            <a:r>
              <a:rPr lang="bg-BG" sz="2700" dirty="0" smtClean="0">
                <a:solidFill>
                  <a:schemeClr val="tx1"/>
                </a:solidFill>
              </a:rPr>
              <a:t> </a:t>
            </a:r>
            <a:r>
              <a:rPr lang="bg-BG" sz="2700" dirty="0" err="1" smtClean="0">
                <a:solidFill>
                  <a:schemeClr val="tx1"/>
                </a:solidFill>
              </a:rPr>
              <a:t>output</a:t>
            </a:r>
            <a:r>
              <a:rPr lang="bg-BG" sz="2700" dirty="0" smtClean="0">
                <a:solidFill>
                  <a:schemeClr val="tx1"/>
                </a:solidFill>
              </a:rPr>
              <a:t> (</a:t>
            </a:r>
            <a:r>
              <a:rPr lang="bg-BG" sz="2700" dirty="0" err="1" smtClean="0">
                <a:solidFill>
                  <a:schemeClr val="tx1"/>
                </a:solidFill>
              </a:rPr>
              <a:t>int</a:t>
            </a:r>
            <a:r>
              <a:rPr lang="bg-BG" sz="2700" dirty="0" smtClean="0">
                <a:solidFill>
                  <a:schemeClr val="tx1"/>
                </a:solidFill>
              </a:rPr>
              <a:t> m[], </a:t>
            </a:r>
            <a:r>
              <a:rPr lang="bg-BG" sz="2700" dirty="0" err="1" smtClean="0">
                <a:solidFill>
                  <a:schemeClr val="tx1"/>
                </a:solidFill>
              </a:rPr>
              <a:t>int</a:t>
            </a:r>
            <a:r>
              <a:rPr lang="bg-BG" sz="2700" dirty="0" smtClean="0">
                <a:solidFill>
                  <a:schemeClr val="tx1"/>
                </a:solidFill>
              </a:rPr>
              <a:t> n)</a:t>
            </a:r>
            <a:br>
              <a:rPr lang="bg-BG" sz="2700" dirty="0" smtClean="0">
                <a:solidFill>
                  <a:schemeClr val="tx1"/>
                </a:solidFill>
              </a:rPr>
            </a:b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for</a:t>
            </a:r>
            <a:r>
              <a:rPr lang="bg-BG" sz="2700" dirty="0" smtClean="0">
                <a:solidFill>
                  <a:schemeClr val="tx1"/>
                </a:solidFill>
              </a:rPr>
              <a:t> (</a:t>
            </a:r>
            <a:r>
              <a:rPr lang="bg-BG" sz="2700" dirty="0" err="1" smtClean="0">
                <a:solidFill>
                  <a:schemeClr val="tx1"/>
                </a:solidFill>
              </a:rPr>
              <a:t>int</a:t>
            </a:r>
            <a:r>
              <a:rPr lang="bg-BG" sz="2700" dirty="0" smtClean="0">
                <a:solidFill>
                  <a:schemeClr val="tx1"/>
                </a:solidFill>
              </a:rPr>
              <a:t> i=0; i&lt;n; </a:t>
            </a:r>
            <a:r>
              <a:rPr lang="bg-BG" sz="2700" dirty="0" err="1" smtClean="0">
                <a:solidFill>
                  <a:schemeClr val="tx1"/>
                </a:solidFill>
              </a:rPr>
              <a:t>i++</a:t>
            </a: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cout</a:t>
            </a:r>
            <a:r>
              <a:rPr lang="bg-BG" sz="2700" dirty="0" smtClean="0">
                <a:solidFill>
                  <a:schemeClr val="tx1"/>
                </a:solidFill>
              </a:rPr>
              <a:t>&lt;&lt;m[i]&lt;&lt;"  ";</a:t>
            </a:r>
            <a:br>
              <a:rPr lang="bg-BG" sz="2700" dirty="0" smtClean="0">
                <a:solidFill>
                  <a:schemeClr val="tx1"/>
                </a:solidFill>
              </a:rPr>
            </a:br>
            <a:r>
              <a:rPr lang="bg-BG" sz="2700" dirty="0" smtClean="0">
                <a:solidFill>
                  <a:schemeClr val="tx1"/>
                </a:solidFill>
              </a:rPr>
              <a:t>}</a:t>
            </a:r>
            <a:endParaRPr lang="bg-BG" dirty="0">
              <a:solidFill>
                <a:schemeClr val="tx1"/>
              </a:solidFill>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лавие 3"/>
          <p:cNvSpPr>
            <a:spLocks noGrp="1"/>
          </p:cNvSpPr>
          <p:nvPr>
            <p:ph type="title"/>
          </p:nvPr>
        </p:nvSpPr>
        <p:spPr>
          <a:xfrm>
            <a:off x="1435100" y="274638"/>
            <a:ext cx="7499350" cy="2290266"/>
          </a:xfrm>
        </p:spPr>
        <p:txBody>
          <a:bodyPr>
            <a:noAutofit/>
          </a:bodyPr>
          <a:lstStyle/>
          <a:p>
            <a:r>
              <a:rPr lang="en-US" sz="2800" dirty="0" smtClean="0"/>
              <a:t>	</a:t>
            </a:r>
            <a:r>
              <a:rPr lang="bg-BG" sz="2800" dirty="0" smtClean="0">
                <a:solidFill>
                  <a:schemeClr val="tx1"/>
                </a:solidFill>
              </a:rPr>
              <a:t>Сложността на алгоритма е </a:t>
            </a:r>
            <a:r>
              <a:rPr lang="bg-BG" sz="2800" b="1" i="1" dirty="0" smtClean="0">
                <a:solidFill>
                  <a:schemeClr val="tx1"/>
                </a:solidFill>
              </a:rPr>
              <a:t>О(</a:t>
            </a:r>
            <a:r>
              <a:rPr lang="bg-BG" sz="2800" b="1" i="1" dirty="0" err="1" smtClean="0">
                <a:solidFill>
                  <a:schemeClr val="tx1"/>
                </a:solidFill>
              </a:rPr>
              <a:t>k+n</a:t>
            </a:r>
            <a:r>
              <a:rPr lang="bg-BG" sz="2800" b="1" i="1" dirty="0" smtClean="0">
                <a:solidFill>
                  <a:schemeClr val="tx1"/>
                </a:solidFill>
              </a:rPr>
              <a:t>) </a:t>
            </a:r>
            <a:r>
              <a:rPr lang="bg-BG" sz="2800" dirty="0" smtClean="0">
                <a:solidFill>
                  <a:schemeClr val="tx1"/>
                </a:solidFill>
              </a:rPr>
              <a:t>и при стойности на </a:t>
            </a:r>
            <a:r>
              <a:rPr lang="bg-BG" sz="2800" b="1" i="1" dirty="0" smtClean="0">
                <a:solidFill>
                  <a:schemeClr val="tx1"/>
                </a:solidFill>
              </a:rPr>
              <a:t>n</a:t>
            </a:r>
            <a:r>
              <a:rPr lang="bg-BG" sz="2800" dirty="0" smtClean="0">
                <a:solidFill>
                  <a:schemeClr val="tx1"/>
                </a:solidFill>
              </a:rPr>
              <a:t>, близки до </a:t>
            </a:r>
            <a:r>
              <a:rPr lang="bg-BG" sz="2800" b="1" i="1" dirty="0" smtClean="0">
                <a:solidFill>
                  <a:schemeClr val="tx1"/>
                </a:solidFill>
              </a:rPr>
              <a:t>k</a:t>
            </a:r>
            <a:r>
              <a:rPr lang="bg-BG" sz="2800" dirty="0" smtClean="0">
                <a:solidFill>
                  <a:schemeClr val="tx1"/>
                </a:solidFill>
              </a:rPr>
              <a:t>, би могла да се разглежда като линейна относно </a:t>
            </a:r>
            <a:r>
              <a:rPr lang="bg-BG" sz="2800" b="1" i="1" dirty="0" smtClean="0">
                <a:solidFill>
                  <a:schemeClr val="tx1"/>
                </a:solidFill>
              </a:rPr>
              <a:t>n</a:t>
            </a:r>
            <a:r>
              <a:rPr lang="bg-BG" sz="2800" dirty="0" smtClean="0">
                <a:solidFill>
                  <a:schemeClr val="tx1"/>
                </a:solidFill>
              </a:rPr>
              <a:t>.</a:t>
            </a:r>
            <a:br>
              <a:rPr lang="bg-BG" sz="2800" dirty="0" smtClean="0">
                <a:solidFill>
                  <a:schemeClr val="tx1"/>
                </a:solidFill>
              </a:rPr>
            </a:br>
            <a:r>
              <a:rPr lang="bg-BG" sz="2800" dirty="0" smtClean="0">
                <a:solidFill>
                  <a:schemeClr val="tx1"/>
                </a:solidFill>
              </a:rPr>
              <a:t>Но това не е „безплатно”:</a:t>
            </a:r>
            <a:endParaRPr lang="bg-BG" sz="2800" dirty="0">
              <a:solidFill>
                <a:schemeClr val="tx1"/>
              </a:solidFill>
            </a:endParaRPr>
          </a:p>
        </p:txBody>
      </p:sp>
      <p:sp>
        <p:nvSpPr>
          <p:cNvPr id="5" name="Контейнер за съдържание 4"/>
          <p:cNvSpPr>
            <a:spLocks noGrp="1"/>
          </p:cNvSpPr>
          <p:nvPr>
            <p:ph idx="1"/>
          </p:nvPr>
        </p:nvSpPr>
        <p:spPr>
          <a:xfrm>
            <a:off x="1644650" y="2780928"/>
            <a:ext cx="7499350" cy="3312368"/>
          </a:xfrm>
        </p:spPr>
        <p:txBody>
          <a:bodyPr/>
          <a:lstStyle/>
          <a:p>
            <a:pPr lvl="0"/>
            <a:r>
              <a:rPr lang="bg-BG" sz="2800" dirty="0" smtClean="0"/>
              <a:t>има тежко допълнително предположение за стойностите и типа на ключовете на сортираните елементи (например, така не можем да сортираме реални числа);</a:t>
            </a:r>
          </a:p>
          <a:p>
            <a:pPr lvl="0"/>
            <a:r>
              <a:rPr lang="bg-BG" sz="2800" dirty="0" smtClean="0"/>
              <a:t>допълнителна памет от порядъка на </a:t>
            </a:r>
            <a:r>
              <a:rPr lang="bg-BG" sz="2800" b="1" i="1" dirty="0" smtClean="0"/>
              <a:t>n</a:t>
            </a:r>
            <a:r>
              <a:rPr lang="bg-BG" sz="2800" dirty="0" smtClean="0"/>
              <a:t> елемента ( за масива, описващ работното множество </a:t>
            </a:r>
            <a:r>
              <a:rPr lang="bg-BG" sz="2800" b="1" i="1" dirty="0" err="1" smtClean="0"/>
              <a:t>set</a:t>
            </a:r>
            <a:r>
              <a:rPr lang="bg-BG" sz="2800" b="1" i="1" dirty="0" smtClean="0"/>
              <a:t>[ ]</a:t>
            </a:r>
            <a:r>
              <a:rPr lang="bg-BG" sz="2800" dirty="0" smtClean="0"/>
              <a:t>).</a:t>
            </a:r>
          </a:p>
          <a:p>
            <a:endParaRPr lang="bg-BG" dirty="0"/>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435100" y="274638"/>
            <a:ext cx="7499350" cy="850106"/>
          </a:xfrm>
        </p:spPr>
        <p:txBody>
          <a:bodyPr>
            <a:normAutofit fontScale="90000"/>
          </a:bodyPr>
          <a:lstStyle/>
          <a:p>
            <a:pPr lvl="0"/>
            <a:r>
              <a:rPr lang="en-US" sz="3600" b="1" i="1" dirty="0" smtClean="0"/>
              <a:t>2. </a:t>
            </a:r>
            <a:r>
              <a:rPr lang="bg-BG" sz="3600" b="1" i="1" dirty="0" smtClean="0"/>
              <a:t>Сортиране чрез броене</a:t>
            </a:r>
            <a:r>
              <a:rPr lang="bg-BG" dirty="0" smtClean="0"/>
              <a:t/>
            </a:r>
            <a:br>
              <a:rPr lang="bg-BG" dirty="0" smtClean="0"/>
            </a:br>
            <a:endParaRPr lang="bg-BG" dirty="0"/>
          </a:p>
        </p:txBody>
      </p:sp>
      <p:sp>
        <p:nvSpPr>
          <p:cNvPr id="3" name="Контейнер за съдържание 2"/>
          <p:cNvSpPr>
            <a:spLocks noGrp="1"/>
          </p:cNvSpPr>
          <p:nvPr>
            <p:ph idx="1"/>
          </p:nvPr>
        </p:nvSpPr>
        <p:spPr>
          <a:xfrm>
            <a:off x="1259632" y="980728"/>
            <a:ext cx="7674818" cy="5256584"/>
          </a:xfrm>
        </p:spPr>
        <p:txBody>
          <a:bodyPr/>
          <a:lstStyle/>
          <a:p>
            <a:pPr>
              <a:buNone/>
            </a:pPr>
            <a:r>
              <a:rPr lang="en-US" sz="2800" dirty="0" smtClean="0"/>
              <a:t>		</a:t>
            </a:r>
            <a:r>
              <a:rPr lang="bg-BG" sz="2800" dirty="0" smtClean="0"/>
              <a:t>Представлява развитие на сортирането чрез множество, основният недостатък на който беше уникалност на ключа (множеството не допуска повторения!). </a:t>
            </a:r>
          </a:p>
          <a:p>
            <a:pPr>
              <a:buNone/>
            </a:pPr>
            <a:r>
              <a:rPr lang="bg-BG" sz="2800" dirty="0" smtClean="0"/>
              <a:t>	</a:t>
            </a:r>
            <a:r>
              <a:rPr lang="en-US" sz="2800" dirty="0" smtClean="0"/>
              <a:t>	</a:t>
            </a:r>
            <a:r>
              <a:rPr lang="bg-BG" sz="2800" dirty="0" smtClean="0"/>
              <a:t>Да предположим, че искаме да сортираме елементите на множество от естествени числа от заден интервал, всяко от които може да се среща не повече от </a:t>
            </a:r>
            <a:r>
              <a:rPr lang="bg-BG" sz="2800" b="1" i="1" dirty="0" smtClean="0"/>
              <a:t>d</a:t>
            </a:r>
            <a:r>
              <a:rPr lang="bg-BG" sz="2800" dirty="0" smtClean="0"/>
              <a:t> на брой пъти (пак ще сортираме цели числа, а не записи). Дефинираме масив </a:t>
            </a:r>
            <a:r>
              <a:rPr lang="bg-BG" sz="2800" b="1" i="1" dirty="0" err="1" smtClean="0"/>
              <a:t>cnt</a:t>
            </a:r>
            <a:r>
              <a:rPr lang="bg-BG" sz="2800" b="1" i="1" dirty="0" smtClean="0"/>
              <a:t>[ ]</a:t>
            </a:r>
            <a:r>
              <a:rPr lang="bg-BG" sz="2800" dirty="0" smtClean="0"/>
              <a:t>, като </a:t>
            </a:r>
            <a:r>
              <a:rPr lang="bg-BG" sz="2800" b="1" i="1" dirty="0" err="1" smtClean="0"/>
              <a:t>cnt</a:t>
            </a:r>
            <a:r>
              <a:rPr lang="bg-BG" sz="2800" b="1" i="1" dirty="0" smtClean="0"/>
              <a:t>[i] </a:t>
            </a:r>
            <a:r>
              <a:rPr lang="bg-BG" sz="2800" dirty="0" smtClean="0"/>
              <a:t>съдържа броя на срещанията на числото </a:t>
            </a:r>
            <a:r>
              <a:rPr lang="bg-BG" sz="2800" b="1" i="1" dirty="0" smtClean="0"/>
              <a:t>i</a:t>
            </a:r>
            <a:r>
              <a:rPr lang="bg-BG" sz="2800" dirty="0" smtClean="0"/>
              <a:t>. </a:t>
            </a:r>
            <a:endParaRPr lang="bg-BG" sz="2800" dirty="0"/>
          </a:p>
        </p:txBody>
      </p:sp>
      <p:sp>
        <p:nvSpPr>
          <p:cNvPr id="4" name="Контейнер за номер на слайда 3"/>
          <p:cNvSpPr>
            <a:spLocks noGrp="1"/>
          </p:cNvSpPr>
          <p:nvPr>
            <p:ph type="sldNum" sz="quarter" idx="12"/>
          </p:nvPr>
        </p:nvSpPr>
        <p:spPr/>
        <p:txBody>
          <a:bodyPr/>
          <a:lstStyle/>
          <a:p>
            <a:pPr>
              <a:defRPr/>
            </a:pPr>
            <a:fld id="{B83E7D08-1FAE-48AD-ADC7-21D806B058B4}" type="slidenum">
              <a:rPr lang="en-US" smtClean="0"/>
              <a:pPr>
                <a:defRPr/>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лавие 4"/>
          <p:cNvSpPr>
            <a:spLocks noGrp="1"/>
          </p:cNvSpPr>
          <p:nvPr>
            <p:ph type="title"/>
          </p:nvPr>
        </p:nvSpPr>
        <p:spPr>
          <a:xfrm>
            <a:off x="1187624" y="332656"/>
            <a:ext cx="7786112" cy="6323032"/>
          </a:xfrm>
        </p:spPr>
        <p:txBody>
          <a:bodyPr>
            <a:normAutofit fontScale="90000"/>
          </a:bodyPr>
          <a:lstStyle/>
          <a:p>
            <a:r>
              <a:rPr lang="en-US" sz="3100" dirty="0" smtClean="0">
                <a:solidFill>
                  <a:schemeClr val="tx1"/>
                </a:solidFill>
              </a:rPr>
              <a:t>	</a:t>
            </a:r>
            <a:r>
              <a:rPr lang="bg-BG" sz="3100" dirty="0" smtClean="0">
                <a:solidFill>
                  <a:schemeClr val="tx1"/>
                </a:solidFill>
              </a:rPr>
              <a:t>Започваме с нулиране на елементите на </a:t>
            </a:r>
            <a:r>
              <a:rPr lang="bg-BG" sz="3100" b="1" i="1" dirty="0" smtClean="0">
                <a:solidFill>
                  <a:schemeClr val="tx1"/>
                </a:solidFill>
              </a:rPr>
              <a:t>cnt[ ]</a:t>
            </a:r>
            <a:r>
              <a:rPr lang="bg-BG" sz="3100" dirty="0" smtClean="0">
                <a:solidFill>
                  <a:schemeClr val="tx1"/>
                </a:solidFill>
              </a:rPr>
              <a:t>, след което преминаваме през елементите на </a:t>
            </a:r>
            <a:r>
              <a:rPr lang="bg-BG" sz="3100" b="1" i="1" dirty="0" smtClean="0">
                <a:solidFill>
                  <a:schemeClr val="tx1"/>
                </a:solidFill>
              </a:rPr>
              <a:t>m[ ]</a:t>
            </a:r>
            <a:r>
              <a:rPr lang="bg-BG" sz="3100" dirty="0" smtClean="0">
                <a:solidFill>
                  <a:schemeClr val="tx1"/>
                </a:solidFill>
              </a:rPr>
              <a:t> и намираме броя срещания на всяко число от </a:t>
            </a:r>
            <a:r>
              <a:rPr lang="bg-BG" sz="3100" b="1" i="1" dirty="0" smtClean="0">
                <a:solidFill>
                  <a:schemeClr val="tx1"/>
                </a:solidFill>
              </a:rPr>
              <a:t>[a, b]</a:t>
            </a:r>
            <a:r>
              <a:rPr lang="bg-BG" sz="3100" dirty="0" smtClean="0">
                <a:solidFill>
                  <a:schemeClr val="tx1"/>
                </a:solidFill>
              </a:rPr>
              <a:t>. На втората стъпка преминаваме през елементите на </a:t>
            </a:r>
            <a:r>
              <a:rPr lang="bg-BG" sz="3100" b="1" i="1" dirty="0" err="1" smtClean="0">
                <a:solidFill>
                  <a:schemeClr val="tx1"/>
                </a:solidFill>
              </a:rPr>
              <a:t>cnt</a:t>
            </a:r>
            <a:r>
              <a:rPr lang="bg-BG" sz="3100" b="1" i="1" dirty="0" smtClean="0">
                <a:solidFill>
                  <a:schemeClr val="tx1"/>
                </a:solidFill>
              </a:rPr>
              <a:t>[ ],</a:t>
            </a:r>
            <a:r>
              <a:rPr lang="bg-BG" sz="3100" dirty="0" smtClean="0">
                <a:solidFill>
                  <a:schemeClr val="tx1"/>
                </a:solidFill>
              </a:rPr>
              <a:t> включвайки в сортираната последователност </a:t>
            </a:r>
            <a:r>
              <a:rPr lang="bg-BG" sz="3100" b="1" i="1" dirty="0" err="1" smtClean="0">
                <a:solidFill>
                  <a:schemeClr val="tx1"/>
                </a:solidFill>
              </a:rPr>
              <a:t>cnt</a:t>
            </a:r>
            <a:r>
              <a:rPr lang="bg-BG" sz="3100" b="1" i="1" dirty="0" smtClean="0">
                <a:solidFill>
                  <a:schemeClr val="tx1"/>
                </a:solidFill>
              </a:rPr>
              <a:t>[х]</a:t>
            </a:r>
            <a:r>
              <a:rPr lang="bg-BG" sz="3100" dirty="0" smtClean="0">
                <a:solidFill>
                  <a:schemeClr val="tx1"/>
                </a:solidFill>
              </a:rPr>
              <a:t> на брой пъти на числото </a:t>
            </a:r>
            <a:r>
              <a:rPr lang="bg-BG" sz="3100" b="1" i="1" dirty="0" smtClean="0">
                <a:solidFill>
                  <a:schemeClr val="tx1"/>
                </a:solidFill>
              </a:rPr>
              <a:t>х, </a:t>
            </a:r>
            <a:r>
              <a:rPr lang="bg-BG" sz="3100" dirty="0" smtClean="0">
                <a:solidFill>
                  <a:schemeClr val="tx1"/>
                </a:solidFill>
              </a:rPr>
              <a:t>за всяко цяло</a:t>
            </a:r>
            <a:r>
              <a:rPr lang="bg-BG" sz="3100" b="1" i="1" dirty="0" smtClean="0">
                <a:solidFill>
                  <a:schemeClr val="tx1"/>
                </a:solidFill>
              </a:rPr>
              <a:t> х </a:t>
            </a:r>
            <a:r>
              <a:rPr lang="bg-BG" sz="3100" dirty="0" smtClean="0">
                <a:solidFill>
                  <a:schemeClr val="tx1"/>
                </a:solidFill>
              </a:rPr>
              <a:t>     </a:t>
            </a:r>
            <a:r>
              <a:rPr lang="bg-BG" sz="3100" b="1" i="1" dirty="0" smtClean="0">
                <a:solidFill>
                  <a:schemeClr val="tx1"/>
                </a:solidFill>
              </a:rPr>
              <a:t>[a, b]</a:t>
            </a:r>
            <a:r>
              <a:rPr lang="bg-BG" sz="3100" dirty="0" smtClean="0">
                <a:solidFill>
                  <a:schemeClr val="tx1"/>
                </a:solidFill>
              </a:rPr>
              <a:t>.</a:t>
            </a:r>
            <a:r>
              <a:rPr lang="en-US" sz="3100" dirty="0" smtClean="0">
                <a:solidFill>
                  <a:schemeClr val="tx1"/>
                </a:solidFill>
              </a:rPr>
              <a:t/>
            </a:r>
            <a:br>
              <a:rPr lang="en-US" sz="3100" dirty="0" smtClean="0">
                <a:solidFill>
                  <a:schemeClr val="tx1"/>
                </a:solidFill>
              </a:rPr>
            </a:br>
            <a:r>
              <a:rPr lang="en-US" sz="3100" dirty="0" smtClean="0">
                <a:solidFill>
                  <a:schemeClr val="tx1"/>
                </a:solidFill>
              </a:rPr>
              <a:t/>
            </a:r>
            <a:br>
              <a:rPr lang="en-US" sz="3100" dirty="0" smtClean="0">
                <a:solidFill>
                  <a:schemeClr val="tx1"/>
                </a:solidFill>
              </a:rPr>
            </a:br>
            <a:r>
              <a:rPr lang="bg-BG" sz="3100" dirty="0" smtClean="0">
                <a:solidFill>
                  <a:schemeClr val="tx1"/>
                </a:solidFill>
              </a:rPr>
              <a:t>#include &lt;iostream.h&gt;</a:t>
            </a:r>
            <a:br>
              <a:rPr lang="bg-BG" sz="3100" dirty="0" smtClean="0">
                <a:solidFill>
                  <a:schemeClr val="tx1"/>
                </a:solidFill>
              </a:rPr>
            </a:br>
            <a:r>
              <a:rPr lang="bg-BG" sz="3100" dirty="0" smtClean="0">
                <a:solidFill>
                  <a:schemeClr val="tx1"/>
                </a:solidFill>
              </a:rPr>
              <a:t>const int  MaxValue=10;</a:t>
            </a:r>
            <a:br>
              <a:rPr lang="bg-BG" sz="3100" dirty="0" smtClean="0">
                <a:solidFill>
                  <a:schemeClr val="tx1"/>
                </a:solidFill>
              </a:rPr>
            </a:br>
            <a:r>
              <a:rPr lang="bg-BG" sz="3100" dirty="0" smtClean="0">
                <a:solidFill>
                  <a:schemeClr val="tx1"/>
                </a:solidFill>
              </a:rPr>
              <a:t>void input(int m[], int n);</a:t>
            </a:r>
            <a:br>
              <a:rPr lang="bg-BG" sz="3100" dirty="0" smtClean="0">
                <a:solidFill>
                  <a:schemeClr val="tx1"/>
                </a:solidFill>
              </a:rPr>
            </a:br>
            <a:r>
              <a:rPr lang="bg-BG" sz="3100" dirty="0" smtClean="0">
                <a:solidFill>
                  <a:schemeClr val="tx1"/>
                </a:solidFill>
              </a:rPr>
              <a:t>void output(int m[], int n);</a:t>
            </a:r>
            <a:br>
              <a:rPr lang="bg-BG" sz="3100" dirty="0" smtClean="0">
                <a:solidFill>
                  <a:schemeClr val="tx1"/>
                </a:solidFill>
              </a:rPr>
            </a:br>
            <a:r>
              <a:rPr lang="bg-BG" sz="3100" dirty="0" smtClean="0">
                <a:solidFill>
                  <a:schemeClr val="tx1"/>
                </a:solidFill>
              </a:rPr>
              <a:t>void CountSort(int m[], int n);</a:t>
            </a:r>
            <a:endParaRPr lang="bg-BG" sz="2800" dirty="0">
              <a:solidFill>
                <a:schemeClr val="tx1"/>
              </a:solidFill>
            </a:endParaRPr>
          </a:p>
        </p:txBody>
      </p:sp>
      <p:sp>
        <p:nvSpPr>
          <p:cNvPr id="4" name="Контейнер за номер на слайда 3"/>
          <p:cNvSpPr>
            <a:spLocks noGrp="1"/>
          </p:cNvSpPr>
          <p:nvPr>
            <p:ph type="sldNum" sz="quarter" idx="12"/>
          </p:nvPr>
        </p:nvSpPr>
        <p:spPr/>
        <p:txBody>
          <a:bodyPr/>
          <a:lstStyle/>
          <a:p>
            <a:pPr>
              <a:defRPr/>
            </a:pPr>
            <a:fld id="{B83E7D08-1FAE-48AD-ADC7-21D806B058B4}" type="slidenum">
              <a:rPr lang="en-US" smtClean="0"/>
              <a:pPr>
                <a:defRPr/>
              </a:pPr>
              <a:t>54</a:t>
            </a:fld>
            <a:endParaRPr lang="en-US"/>
          </a:p>
        </p:txBody>
      </p:sp>
      <p:graphicFrame>
        <p:nvGraphicFramePr>
          <p:cNvPr id="94210" name="Object 15"/>
          <p:cNvGraphicFramePr>
            <a:graphicFrameLocks noChangeAspect="1"/>
          </p:cNvGraphicFramePr>
          <p:nvPr/>
        </p:nvGraphicFramePr>
        <p:xfrm>
          <a:off x="6473924" y="3297684"/>
          <a:ext cx="452438" cy="454025"/>
        </p:xfrm>
        <a:graphic>
          <a:graphicData uri="http://schemas.openxmlformats.org/presentationml/2006/ole">
            <mc:AlternateContent xmlns:mc="http://schemas.openxmlformats.org/markup-compatibility/2006">
              <mc:Choice xmlns:v="urn:schemas-microsoft-com:vml" Requires="v">
                <p:oleObj spid="_x0000_s94213" name="Equation" r:id="rId3" imgW="126725" imgH="126725" progId="">
                  <p:embed/>
                </p:oleObj>
              </mc:Choice>
              <mc:Fallback>
                <p:oleObj name="Equation" r:id="rId3" imgW="126725" imgH="126725" progId="">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3924" y="3297684"/>
                        <a:ext cx="452438"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435608" y="274320"/>
            <a:ext cx="7498080" cy="6395040"/>
          </a:xfrm>
        </p:spPr>
        <p:txBody>
          <a:bodyPr>
            <a:normAutofit fontScale="90000"/>
          </a:bodyPr>
          <a:lstStyle/>
          <a:p>
            <a:r>
              <a:rPr lang="bg-BG" sz="2700" dirty="0" err="1" smtClean="0">
                <a:solidFill>
                  <a:schemeClr val="tx1"/>
                </a:solidFill>
              </a:rPr>
              <a:t>void</a:t>
            </a:r>
            <a:r>
              <a:rPr lang="bg-BG" sz="2700" dirty="0" smtClean="0">
                <a:solidFill>
                  <a:schemeClr val="tx1"/>
                </a:solidFill>
              </a:rPr>
              <a:t> </a:t>
            </a:r>
            <a:r>
              <a:rPr lang="bg-BG" sz="2700" dirty="0" err="1" smtClean="0">
                <a:solidFill>
                  <a:schemeClr val="tx1"/>
                </a:solidFill>
              </a:rPr>
              <a:t>main</a:t>
            </a:r>
            <a:r>
              <a:rPr lang="bg-BG" sz="2700" dirty="0" smtClean="0">
                <a:solidFill>
                  <a:schemeClr val="tx1"/>
                </a:solidFill>
              </a:rPr>
              <a:t>()</a:t>
            </a:r>
            <a:br>
              <a:rPr lang="bg-BG" sz="2700" dirty="0" smtClean="0">
                <a:solidFill>
                  <a:schemeClr val="tx1"/>
                </a:solidFill>
              </a:rPr>
            </a:br>
            <a:r>
              <a:rPr lang="bg-BG" sz="2700" dirty="0" smtClean="0">
                <a:solidFill>
                  <a:schemeClr val="tx1"/>
                </a:solidFill>
              </a:rPr>
              <a:t>{</a:t>
            </a:r>
            <a:r>
              <a:rPr lang="en-US" sz="2700" dirty="0" smtClean="0">
                <a:solidFill>
                  <a:schemeClr val="tx1"/>
                </a:solidFill>
              </a:rPr>
              <a:t>          </a:t>
            </a:r>
            <a:r>
              <a:rPr lang="bg-BG" sz="2700" dirty="0" err="1" smtClean="0">
                <a:solidFill>
                  <a:schemeClr val="tx1"/>
                </a:solidFill>
              </a:rPr>
              <a:t>int</a:t>
            </a:r>
            <a:r>
              <a:rPr lang="bg-BG" sz="2700" dirty="0" smtClean="0">
                <a:solidFill>
                  <a:schemeClr val="tx1"/>
                </a:solidFill>
              </a:rPr>
              <a:t> m[</a:t>
            </a:r>
            <a:r>
              <a:rPr lang="bg-BG" sz="2700" dirty="0" err="1" smtClean="0">
                <a:solidFill>
                  <a:schemeClr val="tx1"/>
                </a:solidFill>
              </a:rPr>
              <a:t>MaxValue</a:t>
            </a: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int</a:t>
            </a:r>
            <a:r>
              <a:rPr lang="bg-BG" sz="2700" dirty="0" smtClean="0">
                <a:solidFill>
                  <a:schemeClr val="tx1"/>
                </a:solidFill>
              </a:rPr>
              <a:t> n;</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do</a:t>
            </a:r>
            <a:r>
              <a:rPr lang="bg-BG" sz="2700" dirty="0" smtClean="0">
                <a:solidFill>
                  <a:schemeClr val="tx1"/>
                </a:solidFill>
              </a:rPr>
              <a:t/>
            </a:r>
            <a:br>
              <a:rPr lang="bg-BG" sz="2700" dirty="0" smtClean="0">
                <a:solidFill>
                  <a:schemeClr val="tx1"/>
                </a:solidFill>
              </a:rPr>
            </a:br>
            <a:r>
              <a:rPr lang="bg-BG" sz="2700" dirty="0" smtClean="0">
                <a:solidFill>
                  <a:schemeClr val="tx1"/>
                </a:solidFill>
              </a:rPr>
              <a:t>	{</a:t>
            </a:r>
            <a:r>
              <a:rPr lang="en-US" sz="2700" dirty="0" smtClean="0">
                <a:solidFill>
                  <a:schemeClr val="tx1"/>
                </a:solidFill>
              </a:rPr>
              <a:t>          </a:t>
            </a:r>
            <a:r>
              <a:rPr lang="bg-BG" sz="2700" dirty="0" err="1" smtClean="0">
                <a:solidFill>
                  <a:schemeClr val="tx1"/>
                </a:solidFill>
              </a:rPr>
              <a:t>cout</a:t>
            </a:r>
            <a:r>
              <a:rPr lang="bg-BG" sz="2700" dirty="0" smtClean="0">
                <a:solidFill>
                  <a:schemeClr val="tx1"/>
                </a:solidFill>
              </a:rPr>
              <a:t> &lt;&lt;"\</a:t>
            </a:r>
            <a:r>
              <a:rPr lang="bg-BG" sz="2700" dirty="0" err="1" smtClean="0">
                <a:solidFill>
                  <a:schemeClr val="tx1"/>
                </a:solidFill>
              </a:rPr>
              <a:t>nInput</a:t>
            </a:r>
            <a:r>
              <a:rPr lang="bg-BG" sz="2700" dirty="0" smtClean="0">
                <a:solidFill>
                  <a:schemeClr val="tx1"/>
                </a:solidFill>
              </a:rPr>
              <a:t> n: ";</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cin</a:t>
            </a:r>
            <a:r>
              <a:rPr lang="bg-BG" sz="2700" dirty="0" smtClean="0">
                <a:solidFill>
                  <a:schemeClr val="tx1"/>
                </a:solidFill>
              </a:rPr>
              <a:t>&gt;&gt;n;</a:t>
            </a:r>
            <a:br>
              <a:rPr lang="bg-BG" sz="2700" dirty="0" smtClean="0">
                <a:solidFill>
                  <a:schemeClr val="tx1"/>
                </a:solidFill>
              </a:rPr>
            </a:br>
            <a:r>
              <a:rPr lang="bg-BG" sz="2700" dirty="0" smtClean="0">
                <a:solidFill>
                  <a:schemeClr val="tx1"/>
                </a:solidFill>
              </a:rPr>
              <a:t>	}</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while</a:t>
            </a:r>
            <a:r>
              <a:rPr lang="bg-BG" sz="2700" dirty="0" smtClean="0">
                <a:solidFill>
                  <a:schemeClr val="tx1"/>
                </a:solidFill>
              </a:rPr>
              <a:t> (n&gt;</a:t>
            </a:r>
            <a:r>
              <a:rPr lang="bg-BG" sz="2700" dirty="0" err="1" smtClean="0">
                <a:solidFill>
                  <a:schemeClr val="tx1"/>
                </a:solidFill>
              </a:rPr>
              <a:t>MaxValue</a:t>
            </a: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input</a:t>
            </a:r>
            <a:r>
              <a:rPr lang="bg-BG" sz="2700" dirty="0" smtClean="0">
                <a:solidFill>
                  <a:schemeClr val="tx1"/>
                </a:solidFill>
              </a:rPr>
              <a:t>(m, n);</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CountSort</a:t>
            </a:r>
            <a:r>
              <a:rPr lang="bg-BG" sz="2700" dirty="0" smtClean="0">
                <a:solidFill>
                  <a:schemeClr val="tx1"/>
                </a:solidFill>
              </a:rPr>
              <a:t> (m, n);</a:t>
            </a:r>
            <a:br>
              <a:rPr lang="bg-BG" sz="2700" dirty="0" smtClean="0">
                <a:solidFill>
                  <a:schemeClr val="tx1"/>
                </a:solidFill>
              </a:rPr>
            </a:br>
            <a:r>
              <a:rPr lang="en-US" sz="2700" dirty="0" smtClean="0">
                <a:solidFill>
                  <a:schemeClr val="tx1"/>
                </a:solidFill>
              </a:rPr>
              <a:t>           </a:t>
            </a:r>
            <a:r>
              <a:rPr lang="bg-BG" sz="2700" dirty="0" err="1" smtClean="0">
                <a:solidFill>
                  <a:schemeClr val="tx1"/>
                </a:solidFill>
              </a:rPr>
              <a:t>output</a:t>
            </a:r>
            <a:r>
              <a:rPr lang="bg-BG" sz="2700" dirty="0" smtClean="0">
                <a:solidFill>
                  <a:schemeClr val="tx1"/>
                </a:solidFill>
              </a:rPr>
              <a:t> (m, n);</a:t>
            </a:r>
            <a:br>
              <a:rPr lang="bg-BG" sz="2700" dirty="0" smtClean="0">
                <a:solidFill>
                  <a:schemeClr val="tx1"/>
                </a:solidFill>
              </a:rPr>
            </a:br>
            <a:r>
              <a:rPr lang="bg-BG" sz="2700" dirty="0" smtClean="0">
                <a:solidFill>
                  <a:schemeClr val="tx1"/>
                </a:solidFill>
              </a:rPr>
              <a:t>}</a:t>
            </a:r>
            <a:br>
              <a:rPr lang="bg-BG" sz="2700" dirty="0" smtClean="0">
                <a:solidFill>
                  <a:schemeClr val="tx1"/>
                </a:solidFill>
              </a:rPr>
            </a:br>
            <a:r>
              <a:rPr lang="bg-BG" sz="2700" dirty="0" err="1" smtClean="0">
                <a:solidFill>
                  <a:schemeClr val="tx1"/>
                </a:solidFill>
              </a:rPr>
              <a:t>void</a:t>
            </a:r>
            <a:r>
              <a:rPr lang="bg-BG" sz="2700" dirty="0" smtClean="0">
                <a:solidFill>
                  <a:schemeClr val="tx1"/>
                </a:solidFill>
              </a:rPr>
              <a:t> </a:t>
            </a:r>
            <a:r>
              <a:rPr lang="bg-BG" sz="2700" dirty="0" err="1" smtClean="0">
                <a:solidFill>
                  <a:schemeClr val="tx1"/>
                </a:solidFill>
              </a:rPr>
              <a:t>input</a:t>
            </a:r>
            <a:r>
              <a:rPr lang="bg-BG" sz="2700" dirty="0" smtClean="0">
                <a:solidFill>
                  <a:schemeClr val="tx1"/>
                </a:solidFill>
              </a:rPr>
              <a:t> (</a:t>
            </a:r>
            <a:r>
              <a:rPr lang="bg-BG" sz="2700" dirty="0" err="1" smtClean="0">
                <a:solidFill>
                  <a:schemeClr val="tx1"/>
                </a:solidFill>
              </a:rPr>
              <a:t>int</a:t>
            </a:r>
            <a:r>
              <a:rPr lang="bg-BG" sz="2700" dirty="0" smtClean="0">
                <a:solidFill>
                  <a:schemeClr val="tx1"/>
                </a:solidFill>
              </a:rPr>
              <a:t> m[], </a:t>
            </a:r>
            <a:r>
              <a:rPr lang="bg-BG" sz="2700" dirty="0" err="1" smtClean="0">
                <a:solidFill>
                  <a:schemeClr val="tx1"/>
                </a:solidFill>
              </a:rPr>
              <a:t>int</a:t>
            </a:r>
            <a:r>
              <a:rPr lang="bg-BG" sz="2700" dirty="0" smtClean="0">
                <a:solidFill>
                  <a:schemeClr val="tx1"/>
                </a:solidFill>
              </a:rPr>
              <a:t> n)</a:t>
            </a:r>
            <a:br>
              <a:rPr lang="bg-BG" sz="2700" dirty="0" smtClean="0">
                <a:solidFill>
                  <a:schemeClr val="tx1"/>
                </a:solidFill>
              </a:rPr>
            </a:br>
            <a:r>
              <a:rPr lang="bg-BG" sz="2700" dirty="0" smtClean="0">
                <a:solidFill>
                  <a:schemeClr val="tx1"/>
                </a:solidFill>
              </a:rPr>
              <a:t>{</a:t>
            </a:r>
            <a:r>
              <a:rPr lang="en-US" sz="2700" dirty="0" smtClean="0">
                <a:solidFill>
                  <a:schemeClr val="tx1"/>
                </a:solidFill>
              </a:rPr>
              <a:t>         </a:t>
            </a:r>
            <a:r>
              <a:rPr lang="bg-BG" sz="2700" dirty="0" err="1" smtClean="0">
                <a:solidFill>
                  <a:schemeClr val="tx1"/>
                </a:solidFill>
              </a:rPr>
              <a:t>for</a:t>
            </a:r>
            <a:r>
              <a:rPr lang="bg-BG" sz="2700" dirty="0" smtClean="0">
                <a:solidFill>
                  <a:schemeClr val="tx1"/>
                </a:solidFill>
              </a:rPr>
              <a:t> (</a:t>
            </a:r>
            <a:r>
              <a:rPr lang="bg-BG" sz="2700" dirty="0" err="1" smtClean="0">
                <a:solidFill>
                  <a:schemeClr val="tx1"/>
                </a:solidFill>
              </a:rPr>
              <a:t>int</a:t>
            </a:r>
            <a:r>
              <a:rPr lang="bg-BG" sz="2700" dirty="0" smtClean="0">
                <a:solidFill>
                  <a:schemeClr val="tx1"/>
                </a:solidFill>
              </a:rPr>
              <a:t> i=0; i&lt;n; </a:t>
            </a:r>
            <a:r>
              <a:rPr lang="bg-BG" sz="2700" dirty="0" err="1" smtClean="0">
                <a:solidFill>
                  <a:schemeClr val="tx1"/>
                </a:solidFill>
              </a:rPr>
              <a:t>i++</a:t>
            </a: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en-US" sz="2700" dirty="0" smtClean="0">
                <a:solidFill>
                  <a:schemeClr val="tx1"/>
                </a:solidFill>
              </a:rPr>
              <a:t>          </a:t>
            </a:r>
            <a:r>
              <a:rPr lang="bg-BG" sz="2700" dirty="0" err="1" smtClean="0">
                <a:solidFill>
                  <a:schemeClr val="tx1"/>
                </a:solidFill>
              </a:rPr>
              <a:t>cout</a:t>
            </a:r>
            <a:r>
              <a:rPr lang="bg-BG" sz="2700" dirty="0" smtClean="0">
                <a:solidFill>
                  <a:schemeClr val="tx1"/>
                </a:solidFill>
              </a:rPr>
              <a:t>&lt;&lt;"\</a:t>
            </a:r>
            <a:r>
              <a:rPr lang="bg-BG" sz="2700" dirty="0" err="1" smtClean="0">
                <a:solidFill>
                  <a:schemeClr val="tx1"/>
                </a:solidFill>
              </a:rPr>
              <a:t>nm</a:t>
            </a:r>
            <a:r>
              <a:rPr lang="bg-BG" sz="2700" dirty="0" smtClean="0">
                <a:solidFill>
                  <a:schemeClr val="tx1"/>
                </a:solidFill>
              </a:rPr>
              <a:t>["&lt;&lt;i&lt;&lt;"]=";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cin</a:t>
            </a:r>
            <a:r>
              <a:rPr lang="bg-BG" sz="2700" dirty="0" smtClean="0">
                <a:solidFill>
                  <a:schemeClr val="tx1"/>
                </a:solidFill>
              </a:rPr>
              <a:t>&gt;&gt;m[i];</a:t>
            </a:r>
            <a:br>
              <a:rPr lang="bg-BG" sz="2700" dirty="0" smtClean="0">
                <a:solidFill>
                  <a:schemeClr val="tx1"/>
                </a:solidFill>
              </a:rPr>
            </a:br>
            <a:r>
              <a:rPr lang="bg-BG" sz="2700" dirty="0" smtClean="0">
                <a:solidFill>
                  <a:schemeClr val="tx1"/>
                </a:solidFill>
              </a:rPr>
              <a:t>	}</a:t>
            </a:r>
            <a:br>
              <a:rPr lang="bg-BG" sz="2700" dirty="0" smtClean="0">
                <a:solidFill>
                  <a:schemeClr val="tx1"/>
                </a:solidFill>
              </a:rPr>
            </a:br>
            <a:r>
              <a:rPr lang="bg-BG" sz="2700" dirty="0" smtClean="0">
                <a:solidFill>
                  <a:schemeClr val="tx1"/>
                </a:solidFill>
              </a:rPr>
              <a:t>}</a:t>
            </a:r>
            <a:endParaRPr lang="bg-BG" dirty="0">
              <a:solidFill>
                <a:schemeClr val="tx1"/>
              </a:solidFill>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435608" y="274320"/>
            <a:ext cx="7498080" cy="6583680"/>
          </a:xfrm>
        </p:spPr>
        <p:txBody>
          <a:bodyPr>
            <a:normAutofit fontScale="90000"/>
          </a:bodyPr>
          <a:lstStyle/>
          <a:p>
            <a:r>
              <a:rPr lang="bg-BG" sz="2700" dirty="0" err="1" smtClean="0">
                <a:solidFill>
                  <a:schemeClr val="tx1"/>
                </a:solidFill>
              </a:rPr>
              <a:t>void</a:t>
            </a:r>
            <a:r>
              <a:rPr lang="bg-BG" sz="2700" dirty="0" smtClean="0">
                <a:solidFill>
                  <a:schemeClr val="tx1"/>
                </a:solidFill>
              </a:rPr>
              <a:t> </a:t>
            </a:r>
            <a:r>
              <a:rPr lang="bg-BG" sz="2700" dirty="0" err="1" smtClean="0">
                <a:solidFill>
                  <a:schemeClr val="tx1"/>
                </a:solidFill>
              </a:rPr>
              <a:t>CountSort</a:t>
            </a:r>
            <a:r>
              <a:rPr lang="bg-BG" sz="2700" dirty="0" smtClean="0">
                <a:solidFill>
                  <a:schemeClr val="tx1"/>
                </a:solidFill>
              </a:rPr>
              <a:t> (</a:t>
            </a:r>
            <a:r>
              <a:rPr lang="bg-BG" sz="2700" dirty="0" err="1" smtClean="0">
                <a:solidFill>
                  <a:schemeClr val="tx1"/>
                </a:solidFill>
              </a:rPr>
              <a:t>int</a:t>
            </a:r>
            <a:r>
              <a:rPr lang="bg-BG" sz="2700" dirty="0" smtClean="0">
                <a:solidFill>
                  <a:schemeClr val="tx1"/>
                </a:solidFill>
              </a:rPr>
              <a:t> m[], </a:t>
            </a:r>
            <a:r>
              <a:rPr lang="bg-BG" sz="2700" dirty="0" err="1" smtClean="0">
                <a:solidFill>
                  <a:schemeClr val="tx1"/>
                </a:solidFill>
              </a:rPr>
              <a:t>int</a:t>
            </a:r>
            <a:r>
              <a:rPr lang="bg-BG" sz="2700" dirty="0" smtClean="0">
                <a:solidFill>
                  <a:schemeClr val="tx1"/>
                </a:solidFill>
              </a:rPr>
              <a:t> n)</a:t>
            </a:r>
            <a:br>
              <a:rPr lang="bg-BG" sz="2700" dirty="0" smtClean="0">
                <a:solidFill>
                  <a:schemeClr val="tx1"/>
                </a:solidFill>
              </a:rPr>
            </a:br>
            <a:r>
              <a:rPr lang="bg-BG" sz="2700" dirty="0" smtClean="0">
                <a:solidFill>
                  <a:schemeClr val="tx1"/>
                </a:solidFill>
              </a:rPr>
              <a:t>{</a:t>
            </a:r>
            <a:r>
              <a:rPr lang="en-US" sz="2700" dirty="0" smtClean="0">
                <a:solidFill>
                  <a:schemeClr val="tx1"/>
                </a:solidFill>
              </a:rPr>
              <a:t>          </a:t>
            </a:r>
            <a:r>
              <a:rPr lang="bg-BG" sz="2700" dirty="0" err="1" smtClean="0">
                <a:solidFill>
                  <a:schemeClr val="tx1"/>
                </a:solidFill>
              </a:rPr>
              <a:t>char</a:t>
            </a:r>
            <a:r>
              <a:rPr lang="bg-BG" sz="2700" dirty="0" smtClean="0">
                <a:solidFill>
                  <a:schemeClr val="tx1"/>
                </a:solidFill>
              </a:rPr>
              <a:t> </a:t>
            </a:r>
            <a:r>
              <a:rPr lang="bg-BG" sz="2700" dirty="0" err="1" smtClean="0">
                <a:solidFill>
                  <a:schemeClr val="tx1"/>
                </a:solidFill>
              </a:rPr>
              <a:t>cnt</a:t>
            </a:r>
            <a:r>
              <a:rPr lang="bg-BG" sz="2700" dirty="0" smtClean="0">
                <a:solidFill>
                  <a:schemeClr val="tx1"/>
                </a:solidFill>
              </a:rPr>
              <a:t>[</a:t>
            </a:r>
            <a:r>
              <a:rPr lang="bg-BG" sz="2700" dirty="0" err="1" smtClean="0">
                <a:solidFill>
                  <a:schemeClr val="tx1"/>
                </a:solidFill>
              </a:rPr>
              <a:t>MaxValue</a:t>
            </a: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int</a:t>
            </a:r>
            <a:r>
              <a:rPr lang="bg-BG" sz="2700" dirty="0" smtClean="0">
                <a:solidFill>
                  <a:schemeClr val="tx1"/>
                </a:solidFill>
              </a:rPr>
              <a:t> i, j;</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for</a:t>
            </a:r>
            <a:r>
              <a:rPr lang="bg-BG" sz="2700" dirty="0" smtClean="0">
                <a:solidFill>
                  <a:schemeClr val="tx1"/>
                </a:solidFill>
              </a:rPr>
              <a:t>(i=0; i&lt;</a:t>
            </a:r>
            <a:r>
              <a:rPr lang="bg-BG" sz="2700" dirty="0" err="1" smtClean="0">
                <a:solidFill>
                  <a:schemeClr val="tx1"/>
                </a:solidFill>
              </a:rPr>
              <a:t>MaxValue</a:t>
            </a:r>
            <a:r>
              <a:rPr lang="bg-BG" sz="2700" dirty="0" smtClean="0">
                <a:solidFill>
                  <a:schemeClr val="tx1"/>
                </a:solidFill>
              </a:rPr>
              <a:t>; </a:t>
            </a:r>
            <a:r>
              <a:rPr lang="bg-BG" sz="2700" dirty="0" err="1" smtClean="0">
                <a:solidFill>
                  <a:schemeClr val="tx1"/>
                </a:solidFill>
              </a:rPr>
              <a:t>i++</a:t>
            </a: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cnt</a:t>
            </a:r>
            <a:r>
              <a:rPr lang="bg-BG" sz="2700" dirty="0" smtClean="0">
                <a:solidFill>
                  <a:schemeClr val="tx1"/>
                </a:solidFill>
              </a:rPr>
              <a:t>[i]=0;</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for</a:t>
            </a:r>
            <a:r>
              <a:rPr lang="bg-BG" sz="2700" dirty="0" smtClean="0">
                <a:solidFill>
                  <a:schemeClr val="tx1"/>
                </a:solidFill>
              </a:rPr>
              <a:t>(j=0; j&lt;n; </a:t>
            </a:r>
            <a:r>
              <a:rPr lang="bg-BG" sz="2700" dirty="0" err="1" smtClean="0">
                <a:solidFill>
                  <a:schemeClr val="tx1"/>
                </a:solidFill>
              </a:rPr>
              <a:t>j++</a:t>
            </a: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cnt</a:t>
            </a:r>
            <a:r>
              <a:rPr lang="bg-BG" sz="2700" dirty="0" smtClean="0">
                <a:solidFill>
                  <a:schemeClr val="tx1"/>
                </a:solidFill>
              </a:rPr>
              <a:t>[m[j]]++;</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for</a:t>
            </a:r>
            <a:r>
              <a:rPr lang="bg-BG" sz="2700" dirty="0" smtClean="0">
                <a:solidFill>
                  <a:schemeClr val="tx1"/>
                </a:solidFill>
              </a:rPr>
              <a:t>(i=j=0; i&lt;</a:t>
            </a:r>
            <a:r>
              <a:rPr lang="bg-BG" sz="2700" dirty="0" err="1" smtClean="0">
                <a:solidFill>
                  <a:schemeClr val="tx1"/>
                </a:solidFill>
              </a:rPr>
              <a:t>MaxValue</a:t>
            </a:r>
            <a:r>
              <a:rPr lang="bg-BG" sz="2700" dirty="0" smtClean="0">
                <a:solidFill>
                  <a:schemeClr val="tx1"/>
                </a:solidFill>
              </a:rPr>
              <a:t>; </a:t>
            </a:r>
            <a:r>
              <a:rPr lang="bg-BG" sz="2700" dirty="0" err="1" smtClean="0">
                <a:solidFill>
                  <a:schemeClr val="tx1"/>
                </a:solidFill>
              </a:rPr>
              <a:t>i++</a:t>
            </a: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while</a:t>
            </a:r>
            <a:r>
              <a:rPr lang="bg-BG" sz="2700" dirty="0" smtClean="0">
                <a:solidFill>
                  <a:schemeClr val="tx1"/>
                </a:solidFill>
              </a:rPr>
              <a:t> (</a:t>
            </a:r>
            <a:r>
              <a:rPr lang="bg-BG" sz="2700" dirty="0" err="1" smtClean="0">
                <a:solidFill>
                  <a:schemeClr val="tx1"/>
                </a:solidFill>
              </a:rPr>
              <a:t>cnt</a:t>
            </a:r>
            <a:r>
              <a:rPr lang="bg-BG" sz="2700" dirty="0" smtClean="0">
                <a:solidFill>
                  <a:schemeClr val="tx1"/>
                </a:solidFill>
              </a:rPr>
              <a:t>[i]--)</a:t>
            </a:r>
            <a:br>
              <a:rPr lang="bg-BG" sz="2700" dirty="0" smtClean="0">
                <a:solidFill>
                  <a:schemeClr val="tx1"/>
                </a:solidFill>
              </a:rPr>
            </a:br>
            <a:r>
              <a:rPr lang="bg-BG" sz="2700" dirty="0" smtClean="0">
                <a:solidFill>
                  <a:schemeClr val="tx1"/>
                </a:solidFill>
              </a:rPr>
              <a:t>			m[</a:t>
            </a:r>
            <a:r>
              <a:rPr lang="bg-BG" sz="2700" dirty="0" err="1" smtClean="0">
                <a:solidFill>
                  <a:schemeClr val="tx1"/>
                </a:solidFill>
              </a:rPr>
              <a:t>j++</a:t>
            </a:r>
            <a:r>
              <a:rPr lang="bg-BG" sz="2700" dirty="0" smtClean="0">
                <a:solidFill>
                  <a:schemeClr val="tx1"/>
                </a:solidFill>
              </a:rPr>
              <a:t>]=i;</a:t>
            </a:r>
            <a:br>
              <a:rPr lang="bg-BG" sz="2700" dirty="0" smtClean="0">
                <a:solidFill>
                  <a:schemeClr val="tx1"/>
                </a:solidFill>
              </a:rPr>
            </a:br>
            <a:r>
              <a:rPr lang="bg-BG" sz="2700" dirty="0" smtClean="0">
                <a:solidFill>
                  <a:schemeClr val="tx1"/>
                </a:solidFill>
              </a:rPr>
              <a:t>}		</a:t>
            </a:r>
            <a:br>
              <a:rPr lang="bg-BG" sz="2700" dirty="0" smtClean="0">
                <a:solidFill>
                  <a:schemeClr val="tx1"/>
                </a:solidFill>
              </a:rPr>
            </a:br>
            <a:r>
              <a:rPr lang="en-US" sz="2700" dirty="0" smtClean="0">
                <a:solidFill>
                  <a:schemeClr val="tx1"/>
                </a:solidFill>
              </a:rPr>
              <a:t/>
            </a:r>
            <a:br>
              <a:rPr lang="en-US" sz="2700" dirty="0" smtClean="0">
                <a:solidFill>
                  <a:schemeClr val="tx1"/>
                </a:solidFill>
              </a:rPr>
            </a:br>
            <a:r>
              <a:rPr lang="bg-BG" sz="2700" dirty="0" smtClean="0">
                <a:solidFill>
                  <a:schemeClr val="tx1"/>
                </a:solidFill>
              </a:rPr>
              <a:t> </a:t>
            </a:r>
            <a:r>
              <a:rPr lang="bg-BG" sz="2700" dirty="0" err="1" smtClean="0">
                <a:solidFill>
                  <a:schemeClr val="tx1"/>
                </a:solidFill>
              </a:rPr>
              <a:t>void</a:t>
            </a:r>
            <a:r>
              <a:rPr lang="bg-BG" sz="2700" dirty="0" smtClean="0">
                <a:solidFill>
                  <a:schemeClr val="tx1"/>
                </a:solidFill>
              </a:rPr>
              <a:t> </a:t>
            </a:r>
            <a:r>
              <a:rPr lang="bg-BG" sz="2700" dirty="0" err="1" smtClean="0">
                <a:solidFill>
                  <a:schemeClr val="tx1"/>
                </a:solidFill>
              </a:rPr>
              <a:t>output</a:t>
            </a:r>
            <a:r>
              <a:rPr lang="bg-BG" sz="2700" dirty="0" smtClean="0">
                <a:solidFill>
                  <a:schemeClr val="tx1"/>
                </a:solidFill>
              </a:rPr>
              <a:t> (</a:t>
            </a:r>
            <a:r>
              <a:rPr lang="bg-BG" sz="2700" dirty="0" err="1" smtClean="0">
                <a:solidFill>
                  <a:schemeClr val="tx1"/>
                </a:solidFill>
              </a:rPr>
              <a:t>int</a:t>
            </a:r>
            <a:r>
              <a:rPr lang="bg-BG" sz="2700" dirty="0" smtClean="0">
                <a:solidFill>
                  <a:schemeClr val="tx1"/>
                </a:solidFill>
              </a:rPr>
              <a:t> m[], </a:t>
            </a:r>
            <a:r>
              <a:rPr lang="bg-BG" sz="2700" dirty="0" err="1" smtClean="0">
                <a:solidFill>
                  <a:schemeClr val="tx1"/>
                </a:solidFill>
              </a:rPr>
              <a:t>int</a:t>
            </a:r>
            <a:r>
              <a:rPr lang="bg-BG" sz="2700" dirty="0" smtClean="0">
                <a:solidFill>
                  <a:schemeClr val="tx1"/>
                </a:solidFill>
              </a:rPr>
              <a:t> n)</a:t>
            </a:r>
            <a:br>
              <a:rPr lang="bg-BG" sz="2700" dirty="0" smtClean="0">
                <a:solidFill>
                  <a:schemeClr val="tx1"/>
                </a:solidFill>
              </a:rPr>
            </a:b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for</a:t>
            </a:r>
            <a:r>
              <a:rPr lang="bg-BG" sz="2700" dirty="0" smtClean="0">
                <a:solidFill>
                  <a:schemeClr val="tx1"/>
                </a:solidFill>
              </a:rPr>
              <a:t> (</a:t>
            </a:r>
            <a:r>
              <a:rPr lang="bg-BG" sz="2700" dirty="0" err="1" smtClean="0">
                <a:solidFill>
                  <a:schemeClr val="tx1"/>
                </a:solidFill>
              </a:rPr>
              <a:t>int</a:t>
            </a:r>
            <a:r>
              <a:rPr lang="bg-BG" sz="2700" dirty="0" smtClean="0">
                <a:solidFill>
                  <a:schemeClr val="tx1"/>
                </a:solidFill>
              </a:rPr>
              <a:t> i=0; i&lt;n; </a:t>
            </a:r>
            <a:r>
              <a:rPr lang="bg-BG" sz="2700" dirty="0" err="1" smtClean="0">
                <a:solidFill>
                  <a:schemeClr val="tx1"/>
                </a:solidFill>
              </a:rPr>
              <a:t>i++</a:t>
            </a:r>
            <a:r>
              <a:rPr lang="bg-BG" sz="2700" dirty="0" smtClean="0">
                <a:solidFill>
                  <a:schemeClr val="tx1"/>
                </a:solidFill>
              </a:rPr>
              <a:t>)</a:t>
            </a:r>
            <a:br>
              <a:rPr lang="bg-BG" sz="2700" dirty="0" smtClean="0">
                <a:solidFill>
                  <a:schemeClr val="tx1"/>
                </a:solidFill>
              </a:rPr>
            </a:br>
            <a:r>
              <a:rPr lang="bg-BG" sz="2700" dirty="0" smtClean="0">
                <a:solidFill>
                  <a:schemeClr val="tx1"/>
                </a:solidFill>
              </a:rPr>
              <a:t>		</a:t>
            </a:r>
            <a:r>
              <a:rPr lang="bg-BG" sz="2700" dirty="0" err="1" smtClean="0">
                <a:solidFill>
                  <a:schemeClr val="tx1"/>
                </a:solidFill>
              </a:rPr>
              <a:t>cout</a:t>
            </a:r>
            <a:r>
              <a:rPr lang="bg-BG" sz="2700" dirty="0" smtClean="0">
                <a:solidFill>
                  <a:schemeClr val="tx1"/>
                </a:solidFill>
              </a:rPr>
              <a:t>&lt;&lt;m[i]&lt;&lt;"  ";</a:t>
            </a:r>
            <a:br>
              <a:rPr lang="bg-BG" sz="2700" dirty="0" smtClean="0">
                <a:solidFill>
                  <a:schemeClr val="tx1"/>
                </a:solidFill>
              </a:rPr>
            </a:br>
            <a:r>
              <a:rPr lang="bg-BG" sz="2700" dirty="0" smtClean="0">
                <a:solidFill>
                  <a:schemeClr val="tx1"/>
                </a:solidFill>
              </a:rPr>
              <a:t>}</a:t>
            </a:r>
            <a:r>
              <a:rPr lang="bg-BG" dirty="0" smtClean="0"/>
              <a:t/>
            </a:r>
            <a:br>
              <a:rPr lang="bg-BG" dirty="0" smtClean="0"/>
            </a:br>
            <a:endParaRPr lang="bg-BG" dirty="0"/>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лавие 3"/>
          <p:cNvSpPr>
            <a:spLocks noGrp="1"/>
          </p:cNvSpPr>
          <p:nvPr>
            <p:ph type="title"/>
          </p:nvPr>
        </p:nvSpPr>
        <p:spPr>
          <a:xfrm>
            <a:off x="1331640" y="274638"/>
            <a:ext cx="7632848" cy="2578298"/>
          </a:xfrm>
        </p:spPr>
        <p:txBody>
          <a:bodyPr>
            <a:noAutofit/>
          </a:bodyPr>
          <a:lstStyle/>
          <a:p>
            <a:r>
              <a:rPr lang="en-US" sz="2800" dirty="0" smtClean="0">
                <a:solidFill>
                  <a:schemeClr val="tx1"/>
                </a:solidFill>
              </a:rPr>
              <a:t>	</a:t>
            </a:r>
            <a:r>
              <a:rPr lang="bg-BG" sz="2800" dirty="0" smtClean="0">
                <a:solidFill>
                  <a:schemeClr val="tx1"/>
                </a:solidFill>
              </a:rPr>
              <a:t>Алгоритмът работи добре при предположението, че всяко число се среща не повече от </a:t>
            </a:r>
            <a:r>
              <a:rPr lang="bg-BG" sz="2800" b="1" i="1" dirty="0" smtClean="0">
                <a:solidFill>
                  <a:schemeClr val="tx1"/>
                </a:solidFill>
              </a:rPr>
              <a:t>d</a:t>
            </a:r>
            <a:r>
              <a:rPr lang="bg-BG" sz="2800" dirty="0" smtClean="0">
                <a:solidFill>
                  <a:schemeClr val="tx1"/>
                </a:solidFill>
              </a:rPr>
              <a:t> пъти, за някаква разумна предварително дефинирана константа</a:t>
            </a:r>
            <a:r>
              <a:rPr lang="bg-BG" sz="2800" b="1" i="1" dirty="0" smtClean="0">
                <a:solidFill>
                  <a:schemeClr val="tx1"/>
                </a:solidFill>
              </a:rPr>
              <a:t> d</a:t>
            </a:r>
            <a:r>
              <a:rPr lang="bg-BG" sz="2800" dirty="0" smtClean="0">
                <a:solidFill>
                  <a:schemeClr val="tx1"/>
                </a:solidFill>
              </a:rPr>
              <a:t>. Теоретично областта на приложение на този алгоритъм остава ограничена от следните изисквания:</a:t>
            </a:r>
            <a:endParaRPr lang="bg-BG" sz="2800" dirty="0">
              <a:solidFill>
                <a:schemeClr val="tx1"/>
              </a:solidFill>
            </a:endParaRPr>
          </a:p>
        </p:txBody>
      </p:sp>
      <p:sp>
        <p:nvSpPr>
          <p:cNvPr id="5" name="Контейнер за съдържание 4"/>
          <p:cNvSpPr>
            <a:spLocks noGrp="1"/>
          </p:cNvSpPr>
          <p:nvPr>
            <p:ph idx="1"/>
          </p:nvPr>
        </p:nvSpPr>
        <p:spPr>
          <a:xfrm>
            <a:off x="1187624" y="3140968"/>
            <a:ext cx="7956376" cy="3107432"/>
          </a:xfrm>
        </p:spPr>
        <p:txBody>
          <a:bodyPr/>
          <a:lstStyle/>
          <a:p>
            <a:pPr lvl="0"/>
            <a:r>
              <a:rPr lang="bg-BG" sz="2800" dirty="0" smtClean="0"/>
              <a:t>елементите да бъдат от интервала </a:t>
            </a:r>
            <a:r>
              <a:rPr lang="bg-BG" sz="2800" b="1" i="1" dirty="0" smtClean="0"/>
              <a:t>[a, b]</a:t>
            </a:r>
            <a:r>
              <a:rPr lang="bg-BG" sz="2800" dirty="0" smtClean="0"/>
              <a:t> , като не е задължително всяко число от </a:t>
            </a:r>
            <a:r>
              <a:rPr lang="bg-BG" sz="2800" b="1" i="1" dirty="0" smtClean="0"/>
              <a:t>[a, b]</a:t>
            </a:r>
            <a:r>
              <a:rPr lang="bg-BG" sz="2800" dirty="0" smtClean="0"/>
              <a:t> да бъде стойност на подреждания масив, но всички стойности на масива трябва да бъдат от </a:t>
            </a:r>
            <a:r>
              <a:rPr lang="bg-BG" sz="2800" b="1" i="1" dirty="0" smtClean="0"/>
              <a:t>[a, b];</a:t>
            </a:r>
            <a:endParaRPr lang="bg-BG" sz="2800" dirty="0" smtClean="0"/>
          </a:p>
          <a:p>
            <a:pPr lvl="0"/>
            <a:r>
              <a:rPr lang="bg-BG" sz="2800" dirty="0" smtClean="0"/>
              <a:t>всяко число от </a:t>
            </a:r>
            <a:r>
              <a:rPr lang="bg-BG" sz="2800" b="1" i="1" dirty="0" smtClean="0"/>
              <a:t>m[ ]</a:t>
            </a:r>
            <a:r>
              <a:rPr lang="bg-BG" sz="2800" dirty="0" smtClean="0"/>
              <a:t> се среща не повече от </a:t>
            </a:r>
            <a:r>
              <a:rPr lang="bg-BG" sz="2800" b="1" i="1" dirty="0" smtClean="0"/>
              <a:t>d</a:t>
            </a:r>
            <a:r>
              <a:rPr lang="bg-BG" sz="2800" dirty="0" smtClean="0"/>
              <a:t> пъти;</a:t>
            </a:r>
          </a:p>
          <a:p>
            <a:pPr lvl="0"/>
            <a:r>
              <a:rPr lang="bg-BG" sz="2800" dirty="0" smtClean="0"/>
              <a:t>да се сортират само числа, а не произволни данни (записи или структури).</a:t>
            </a:r>
          </a:p>
          <a:p>
            <a:endParaRPr lang="bg-BG" dirty="0"/>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лавие 4"/>
          <p:cNvSpPr>
            <a:spLocks noGrp="1"/>
          </p:cNvSpPr>
          <p:nvPr>
            <p:ph type="title"/>
          </p:nvPr>
        </p:nvSpPr>
        <p:spPr>
          <a:xfrm>
            <a:off x="1435608" y="274320"/>
            <a:ext cx="7498080" cy="6323032"/>
          </a:xfrm>
        </p:spPr>
        <p:txBody>
          <a:bodyPr>
            <a:noAutofit/>
          </a:bodyPr>
          <a:lstStyle/>
          <a:p>
            <a:r>
              <a:rPr lang="en-US" sz="3200" dirty="0" smtClean="0"/>
              <a:t>	</a:t>
            </a:r>
            <a:r>
              <a:rPr lang="bg-BG" sz="3200" dirty="0" smtClean="0">
                <a:solidFill>
                  <a:schemeClr val="tx1"/>
                </a:solidFill>
              </a:rPr>
              <a:t>Основният проблем е необходимостта да се пази информация не само за това, дали дадено цяло число </a:t>
            </a:r>
            <a:r>
              <a:rPr lang="bg-BG" sz="3200" b="1" i="1" dirty="0" smtClean="0">
                <a:solidFill>
                  <a:schemeClr val="tx1"/>
                </a:solidFill>
              </a:rPr>
              <a:t>x</a:t>
            </a:r>
            <a:r>
              <a:rPr lang="bg-BG" sz="3200" dirty="0" smtClean="0">
                <a:solidFill>
                  <a:schemeClr val="tx1"/>
                </a:solidFill>
              </a:rPr>
              <a:t> от </a:t>
            </a:r>
            <a:r>
              <a:rPr lang="bg-BG" sz="3200" b="1" i="1" dirty="0" smtClean="0">
                <a:solidFill>
                  <a:schemeClr val="tx1"/>
                </a:solidFill>
              </a:rPr>
              <a:t>[a, b]</a:t>
            </a:r>
            <a:r>
              <a:rPr lang="bg-BG" sz="3200" dirty="0" smtClean="0">
                <a:solidFill>
                  <a:schemeClr val="tx1"/>
                </a:solidFill>
              </a:rPr>
              <a:t> се среща като ключ на елемент от </a:t>
            </a:r>
            <a:r>
              <a:rPr lang="bg-BG" sz="3200" b="1" i="1" dirty="0" smtClean="0">
                <a:solidFill>
                  <a:schemeClr val="tx1"/>
                </a:solidFill>
              </a:rPr>
              <a:t>М</a:t>
            </a:r>
            <a:r>
              <a:rPr lang="bg-BG" sz="3200" dirty="0" smtClean="0">
                <a:solidFill>
                  <a:schemeClr val="tx1"/>
                </a:solidFill>
              </a:rPr>
              <a:t>, но и стойността на този елемент. </a:t>
            </a:r>
            <a:br>
              <a:rPr lang="bg-BG" sz="3200" dirty="0" smtClean="0">
                <a:solidFill>
                  <a:schemeClr val="tx1"/>
                </a:solidFill>
              </a:rPr>
            </a:br>
            <a:r>
              <a:rPr lang="en-US" sz="3200" dirty="0" smtClean="0">
                <a:solidFill>
                  <a:schemeClr val="tx1"/>
                </a:solidFill>
              </a:rPr>
              <a:t>	</a:t>
            </a:r>
            <a:r>
              <a:rPr lang="bg-BG" sz="3200" dirty="0" smtClean="0">
                <a:solidFill>
                  <a:schemeClr val="tx1"/>
                </a:solidFill>
              </a:rPr>
              <a:t>Ще организираме единично свързан динамичен списък. Тъй като броят на срещанията на даден ключ не надвишава </a:t>
            </a:r>
            <a:r>
              <a:rPr lang="bg-BG" sz="3200" b="1" i="1" dirty="0" smtClean="0">
                <a:solidFill>
                  <a:schemeClr val="tx1"/>
                </a:solidFill>
              </a:rPr>
              <a:t>d</a:t>
            </a:r>
            <a:r>
              <a:rPr lang="bg-BG" sz="3200" dirty="0" smtClean="0">
                <a:solidFill>
                  <a:schemeClr val="tx1"/>
                </a:solidFill>
              </a:rPr>
              <a:t> , то всеки такъв списък може да съдържа най-много </a:t>
            </a:r>
            <a:r>
              <a:rPr lang="bg-BG" sz="3200" b="1" i="1" dirty="0" smtClean="0">
                <a:solidFill>
                  <a:schemeClr val="tx1"/>
                </a:solidFill>
              </a:rPr>
              <a:t>d</a:t>
            </a:r>
            <a:r>
              <a:rPr lang="bg-BG" sz="3200" dirty="0" smtClean="0">
                <a:solidFill>
                  <a:schemeClr val="tx1"/>
                </a:solidFill>
              </a:rPr>
              <a:t> елемента. </a:t>
            </a:r>
            <a:r>
              <a:rPr lang="bg-BG" sz="3200" dirty="0" err="1" smtClean="0">
                <a:solidFill>
                  <a:schemeClr val="tx1"/>
                </a:solidFill>
              </a:rPr>
              <a:t>Заделянето</a:t>
            </a:r>
            <a:r>
              <a:rPr lang="bg-BG" sz="3200" dirty="0" smtClean="0">
                <a:solidFill>
                  <a:schemeClr val="tx1"/>
                </a:solidFill>
              </a:rPr>
              <a:t> на статична памет с размер </a:t>
            </a:r>
            <a:r>
              <a:rPr lang="bg-BG" sz="3200" b="1" i="1" dirty="0" smtClean="0">
                <a:solidFill>
                  <a:schemeClr val="tx1"/>
                </a:solidFill>
              </a:rPr>
              <a:t>d</a:t>
            </a:r>
            <a:r>
              <a:rPr lang="bg-BG" sz="3200" dirty="0" smtClean="0">
                <a:solidFill>
                  <a:schemeClr val="tx1"/>
                </a:solidFill>
              </a:rPr>
              <a:t> за всеки ключ, обаче, води до излишно разхищение</a:t>
            </a:r>
            <a:r>
              <a:rPr lang="en-US" sz="3200" dirty="0" smtClean="0">
                <a:solidFill>
                  <a:schemeClr val="tx1"/>
                </a:solidFill>
              </a:rPr>
              <a:t>.</a:t>
            </a:r>
            <a:endParaRPr lang="bg-BG" sz="3200" dirty="0">
              <a:solidFill>
                <a:schemeClr val="tx1"/>
              </a:solidFill>
            </a:endParaRPr>
          </a:p>
        </p:txBody>
      </p:sp>
      <p:sp>
        <p:nvSpPr>
          <p:cNvPr id="4" name="Контейнер за номер на слайда 3"/>
          <p:cNvSpPr>
            <a:spLocks noGrp="1"/>
          </p:cNvSpPr>
          <p:nvPr>
            <p:ph type="sldNum" sz="quarter" idx="12"/>
          </p:nvPr>
        </p:nvSpPr>
        <p:spPr/>
        <p:txBody>
          <a:bodyPr/>
          <a:lstStyle/>
          <a:p>
            <a:pPr>
              <a:defRPr/>
            </a:pPr>
            <a:fld id="{B83E7D08-1FAE-48AD-ADC7-21D806B058B4}" type="slidenum">
              <a:rPr lang="en-US" smtClean="0"/>
              <a:pPr>
                <a:defRPr/>
              </a:pPr>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187624" y="274320"/>
            <a:ext cx="7746064" cy="6395040"/>
          </a:xfrm>
        </p:spPr>
        <p:txBody>
          <a:bodyPr>
            <a:normAutofit/>
          </a:bodyPr>
          <a:lstStyle/>
          <a:p>
            <a:r>
              <a:rPr lang="bg-BG" sz="3200" dirty="0" smtClean="0"/>
              <a:t>	</a:t>
            </a:r>
            <a:r>
              <a:rPr lang="bg-BG" sz="3200" dirty="0" smtClean="0">
                <a:solidFill>
                  <a:schemeClr val="tx1"/>
                </a:solidFill>
              </a:rPr>
              <a:t>В реализацията на следващите слайдове  с всеки ключ е асоцииран динамичен списък, съдържащ съответните елементи на </a:t>
            </a:r>
            <a:r>
              <a:rPr lang="bg-BG" sz="3200" b="1" i="1" dirty="0" smtClean="0">
                <a:solidFill>
                  <a:schemeClr val="tx1"/>
                </a:solidFill>
              </a:rPr>
              <a:t>М</a:t>
            </a:r>
            <a:r>
              <a:rPr lang="bg-BG" sz="3200" dirty="0" smtClean="0">
                <a:solidFill>
                  <a:schemeClr val="tx1"/>
                </a:solidFill>
              </a:rPr>
              <a:t>. </a:t>
            </a:r>
            <a:br>
              <a:rPr lang="bg-BG" sz="3200" dirty="0" smtClean="0">
                <a:solidFill>
                  <a:schemeClr val="tx1"/>
                </a:solidFill>
              </a:rPr>
            </a:br>
            <a:r>
              <a:rPr lang="bg-BG" sz="3200" dirty="0" smtClean="0">
                <a:solidFill>
                  <a:schemeClr val="tx1"/>
                </a:solidFill>
              </a:rPr>
              <a:t>	Поддържането на единствен указател (към началото на списъка) прави сортирането </a:t>
            </a:r>
            <a:r>
              <a:rPr lang="bg-BG" sz="3200" i="1" dirty="0" smtClean="0">
                <a:solidFill>
                  <a:schemeClr val="tx1"/>
                </a:solidFill>
              </a:rPr>
              <a:t>неустойчиво</a:t>
            </a:r>
            <a:r>
              <a:rPr lang="bg-BG" sz="3200" dirty="0" smtClean="0">
                <a:solidFill>
                  <a:schemeClr val="tx1"/>
                </a:solidFill>
              </a:rPr>
              <a:t>, защото елементите с еднакви ключове попадат в изходната последователност в ред, обратен на началния, т.к. елементите винаги се вмъкват в началото на списъка.</a:t>
            </a:r>
            <a:endParaRPr lang="bg-BG" sz="3200" dirty="0">
              <a:solidFill>
                <a:schemeClr val="tx1"/>
              </a:solidFill>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435608" y="274320"/>
            <a:ext cx="7498080" cy="6323032"/>
          </a:xfrm>
        </p:spPr>
        <p:txBody>
          <a:bodyPr>
            <a:normAutofit fontScale="90000"/>
          </a:bodyPr>
          <a:lstStyle/>
          <a:p>
            <a:r>
              <a:rPr lang="bg-BG" sz="3100" dirty="0" smtClean="0">
                <a:solidFill>
                  <a:schemeClr val="tx1"/>
                </a:solidFill>
                <a:effectLst/>
              </a:rPr>
              <a:t>Например:</a:t>
            </a:r>
            <a:r>
              <a:rPr lang="bg-BG" dirty="0" smtClean="0">
                <a:solidFill>
                  <a:schemeClr val="tx1"/>
                </a:solidFill>
                <a:effectLst/>
              </a:rPr>
              <a:t/>
            </a:r>
            <a:br>
              <a:rPr lang="bg-BG" dirty="0" smtClean="0">
                <a:solidFill>
                  <a:schemeClr val="tx1"/>
                </a:solidFill>
                <a:effectLst/>
              </a:rPr>
            </a:br>
            <a:r>
              <a:rPr lang="bg-BG" dirty="0" smtClean="0">
                <a:solidFill>
                  <a:schemeClr val="tx1"/>
                </a:solidFill>
                <a:effectLst/>
              </a:rPr>
              <a:t/>
            </a:r>
            <a:br>
              <a:rPr lang="bg-BG" dirty="0" smtClean="0">
                <a:solidFill>
                  <a:schemeClr val="tx1"/>
                </a:solidFill>
                <a:effectLst/>
              </a:rPr>
            </a:br>
            <a:r>
              <a:rPr lang="bg-BG" dirty="0" smtClean="0">
                <a:solidFill>
                  <a:schemeClr val="tx1"/>
                </a:solidFill>
                <a:effectLst/>
              </a:rPr>
              <a:t/>
            </a:r>
            <a:br>
              <a:rPr lang="bg-BG" dirty="0" smtClean="0">
                <a:solidFill>
                  <a:schemeClr val="tx1"/>
                </a:solidFill>
                <a:effectLst/>
              </a:rPr>
            </a:br>
            <a:r>
              <a:rPr lang="bg-BG" dirty="0" smtClean="0">
                <a:solidFill>
                  <a:schemeClr val="tx1"/>
                </a:solidFill>
                <a:effectLst/>
              </a:rPr>
              <a:t/>
            </a:r>
            <a:br>
              <a:rPr lang="bg-BG" dirty="0" smtClean="0">
                <a:solidFill>
                  <a:schemeClr val="tx1"/>
                </a:solidFill>
                <a:effectLst/>
              </a:rPr>
            </a:br>
            <a:r>
              <a:rPr lang="bg-BG" dirty="0" smtClean="0">
                <a:solidFill>
                  <a:schemeClr val="tx1"/>
                </a:solidFill>
                <a:effectLst/>
              </a:rPr>
              <a:t/>
            </a:r>
            <a:br>
              <a:rPr lang="bg-BG" dirty="0" smtClean="0">
                <a:solidFill>
                  <a:schemeClr val="tx1"/>
                </a:solidFill>
                <a:effectLst/>
              </a:rPr>
            </a:br>
            <a:r>
              <a:rPr lang="bg-BG" dirty="0" smtClean="0">
                <a:solidFill>
                  <a:schemeClr val="tx1"/>
                </a:solidFill>
                <a:effectLst/>
              </a:rPr>
              <a:t/>
            </a:r>
            <a:br>
              <a:rPr lang="bg-BG" dirty="0" smtClean="0">
                <a:solidFill>
                  <a:schemeClr val="tx1"/>
                </a:solidFill>
                <a:effectLst/>
              </a:rPr>
            </a:br>
            <a:r>
              <a:rPr lang="bg-BG" dirty="0" smtClean="0">
                <a:solidFill>
                  <a:schemeClr val="tx1"/>
                </a:solidFill>
                <a:effectLst/>
              </a:rPr>
              <a:t/>
            </a:r>
            <a:br>
              <a:rPr lang="bg-BG" dirty="0" smtClean="0">
                <a:solidFill>
                  <a:schemeClr val="tx1"/>
                </a:solidFill>
                <a:effectLst/>
              </a:rPr>
            </a:br>
            <a:r>
              <a:rPr lang="bg-BG" dirty="0" smtClean="0">
                <a:solidFill>
                  <a:schemeClr val="tx1"/>
                </a:solidFill>
                <a:effectLst/>
              </a:rPr>
              <a:t/>
            </a:r>
            <a:br>
              <a:rPr lang="bg-BG" dirty="0" smtClean="0">
                <a:solidFill>
                  <a:schemeClr val="tx1"/>
                </a:solidFill>
                <a:effectLst/>
              </a:rPr>
            </a:br>
            <a:r>
              <a:rPr lang="bg-BG" dirty="0" smtClean="0">
                <a:solidFill>
                  <a:schemeClr val="tx1"/>
                </a:solidFill>
                <a:effectLst/>
              </a:rPr>
              <a:t/>
            </a:r>
            <a:br>
              <a:rPr lang="bg-BG" dirty="0" smtClean="0">
                <a:solidFill>
                  <a:schemeClr val="tx1"/>
                </a:solidFill>
                <a:effectLst/>
              </a:rPr>
            </a:br>
            <a:endParaRPr lang="bg-BG" dirty="0">
              <a:solidFill>
                <a:schemeClr val="tx1"/>
              </a:solidFill>
              <a:effectLst/>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60</a:t>
            </a:fld>
            <a:endParaRPr lang="en-US"/>
          </a:p>
        </p:txBody>
      </p:sp>
      <p:pic>
        <p:nvPicPr>
          <p:cNvPr id="95234" name="Picture 2"/>
          <p:cNvPicPr>
            <a:picLocks noChangeAspect="1" noChangeArrowheads="1"/>
          </p:cNvPicPr>
          <p:nvPr/>
        </p:nvPicPr>
        <p:blipFill>
          <a:blip r:embed="rId2" cstate="print"/>
          <a:srcRect/>
          <a:stretch>
            <a:fillRect/>
          </a:stretch>
        </p:blipFill>
        <p:spPr bwMode="auto">
          <a:xfrm>
            <a:off x="1331640" y="1124744"/>
            <a:ext cx="7082358" cy="5082922"/>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187624" y="274320"/>
            <a:ext cx="7746064" cy="6395040"/>
          </a:xfrm>
        </p:spPr>
        <p:txBody>
          <a:bodyPr>
            <a:normAutofit fontScale="90000"/>
          </a:bodyPr>
          <a:lstStyle/>
          <a:p>
            <a:r>
              <a:rPr lang="bg-BG" sz="2800" dirty="0" smtClean="0"/>
              <a:t>	</a:t>
            </a:r>
            <a:r>
              <a:rPr lang="bg-BG" sz="2800" dirty="0" smtClean="0">
                <a:solidFill>
                  <a:schemeClr val="tx1"/>
                </a:solidFill>
              </a:rPr>
              <a:t>Недостатъкът може да бъде премахнат, но ще се наложи допълнително обхождане на списъка и алгоритмът ще се усложни. Сложността на алгоритъма отново е </a:t>
            </a:r>
            <a:r>
              <a:rPr lang="bg-BG" sz="2800" b="1" i="1" dirty="0" smtClean="0">
                <a:solidFill>
                  <a:schemeClr val="tx1"/>
                </a:solidFill>
              </a:rPr>
              <a:t>О(</a:t>
            </a:r>
            <a:r>
              <a:rPr lang="bg-BG" sz="2800" b="1" i="1" dirty="0" err="1" smtClean="0">
                <a:solidFill>
                  <a:schemeClr val="tx1"/>
                </a:solidFill>
              </a:rPr>
              <a:t>k+n</a:t>
            </a:r>
            <a:r>
              <a:rPr lang="bg-BG" sz="2800" b="1" i="1" dirty="0" smtClean="0">
                <a:solidFill>
                  <a:schemeClr val="tx1"/>
                </a:solidFill>
              </a:rPr>
              <a:t>) </a:t>
            </a:r>
            <a:r>
              <a:rPr lang="bg-BG" sz="2800" dirty="0" smtClean="0">
                <a:solidFill>
                  <a:schemeClr val="tx1"/>
                </a:solidFill>
              </a:rPr>
              <a:t>, т.е. е</a:t>
            </a:r>
            <a:r>
              <a:rPr lang="bg-BG" sz="2800" b="1" i="1" dirty="0" smtClean="0">
                <a:solidFill>
                  <a:schemeClr val="tx1"/>
                </a:solidFill>
              </a:rPr>
              <a:t> </a:t>
            </a:r>
            <a:r>
              <a:rPr lang="bg-BG" sz="2800" dirty="0" smtClean="0">
                <a:solidFill>
                  <a:schemeClr val="tx1"/>
                </a:solidFill>
              </a:rPr>
              <a:t>линейна спрямо </a:t>
            </a:r>
            <a:r>
              <a:rPr lang="bg-BG" sz="2800" b="1" i="1" dirty="0" smtClean="0">
                <a:solidFill>
                  <a:schemeClr val="tx1"/>
                </a:solidFill>
              </a:rPr>
              <a:t>n</a:t>
            </a:r>
            <a:r>
              <a:rPr lang="bg-BG" sz="2800" dirty="0" smtClean="0">
                <a:solidFill>
                  <a:schemeClr val="tx1"/>
                </a:solidFill>
              </a:rPr>
              <a:t>.</a:t>
            </a:r>
            <a:r>
              <a:rPr lang="en-US" sz="2800" dirty="0" smtClean="0">
                <a:solidFill>
                  <a:schemeClr val="tx1"/>
                </a:solidFill>
              </a:rPr>
              <a:t/>
            </a:r>
            <a:br>
              <a:rPr lang="en-US" sz="2800" dirty="0" smtClean="0">
                <a:solidFill>
                  <a:schemeClr val="tx1"/>
                </a:solidFill>
              </a:rPr>
            </a:br>
            <a:r>
              <a:rPr lang="bg-BG" sz="900" dirty="0" smtClean="0">
                <a:solidFill>
                  <a:schemeClr val="tx1"/>
                </a:solidFill>
              </a:rPr>
              <a:t/>
            </a:r>
            <a:br>
              <a:rPr lang="bg-BG" sz="900" dirty="0" smtClean="0">
                <a:solidFill>
                  <a:schemeClr val="tx1"/>
                </a:solidFill>
              </a:rPr>
            </a:br>
            <a:r>
              <a:rPr lang="bg-BG" sz="2800" dirty="0" smtClean="0">
                <a:solidFill>
                  <a:schemeClr val="tx1"/>
                </a:solidFill>
              </a:rPr>
              <a:t>#include &lt;iostream.h&gt;</a:t>
            </a:r>
            <a:br>
              <a:rPr lang="bg-BG" sz="2800" dirty="0" smtClean="0">
                <a:solidFill>
                  <a:schemeClr val="tx1"/>
                </a:solidFill>
              </a:rPr>
            </a:br>
            <a:r>
              <a:rPr lang="bg-BG" sz="2800" dirty="0" smtClean="0">
                <a:solidFill>
                  <a:schemeClr val="tx1"/>
                </a:solidFill>
              </a:rPr>
              <a:t>const int MaxValue=10;</a:t>
            </a:r>
            <a:br>
              <a:rPr lang="bg-BG" sz="2800" dirty="0" smtClean="0">
                <a:solidFill>
                  <a:schemeClr val="tx1"/>
                </a:solidFill>
              </a:rPr>
            </a:br>
            <a:r>
              <a:rPr lang="bg-BG" sz="2800" dirty="0" smtClean="0">
                <a:solidFill>
                  <a:schemeClr val="tx1"/>
                </a:solidFill>
              </a:rPr>
              <a:t>struct elem</a:t>
            </a:r>
            <a:br>
              <a:rPr lang="bg-BG" sz="2800" dirty="0" smtClean="0">
                <a:solidFill>
                  <a:schemeClr val="tx1"/>
                </a:solidFill>
              </a:rPr>
            </a:br>
            <a:r>
              <a:rPr lang="bg-BG" sz="2800" dirty="0" smtClean="0">
                <a:solidFill>
                  <a:schemeClr val="tx1"/>
                </a:solidFill>
              </a:rPr>
              <a:t>{</a:t>
            </a:r>
            <a:br>
              <a:rPr lang="bg-BG" sz="2800" dirty="0" smtClean="0">
                <a:solidFill>
                  <a:schemeClr val="tx1"/>
                </a:solidFill>
              </a:rPr>
            </a:br>
            <a:r>
              <a:rPr lang="bg-BG" sz="2800" dirty="0" smtClean="0">
                <a:solidFill>
                  <a:schemeClr val="tx1"/>
                </a:solidFill>
              </a:rPr>
              <a:t>   char name;</a:t>
            </a:r>
            <a:br>
              <a:rPr lang="bg-BG" sz="2800" dirty="0" smtClean="0">
                <a:solidFill>
                  <a:schemeClr val="tx1"/>
                </a:solidFill>
              </a:rPr>
            </a:br>
            <a:r>
              <a:rPr lang="bg-BG" sz="2800" dirty="0" smtClean="0">
                <a:solidFill>
                  <a:schemeClr val="tx1"/>
                </a:solidFill>
              </a:rPr>
              <a:t>   int num;</a:t>
            </a:r>
            <a:br>
              <a:rPr lang="bg-BG" sz="2800" dirty="0" smtClean="0">
                <a:solidFill>
                  <a:schemeClr val="tx1"/>
                </a:solidFill>
              </a:rPr>
            </a:br>
            <a:r>
              <a:rPr lang="bg-BG" sz="2800" dirty="0" smtClean="0">
                <a:solidFill>
                  <a:schemeClr val="tx1"/>
                </a:solidFill>
              </a:rPr>
              <a:t>} m[MaxValue];		 </a:t>
            </a:r>
            <a:br>
              <a:rPr lang="bg-BG" sz="2800" dirty="0" smtClean="0">
                <a:solidFill>
                  <a:schemeClr val="tx1"/>
                </a:solidFill>
              </a:rPr>
            </a:br>
            <a:r>
              <a:rPr lang="bg-BG" sz="2800" dirty="0" smtClean="0">
                <a:solidFill>
                  <a:schemeClr val="tx1"/>
                </a:solidFill>
              </a:rPr>
              <a:t>struct ptr</a:t>
            </a:r>
            <a:br>
              <a:rPr lang="bg-BG" sz="2800" dirty="0" smtClean="0">
                <a:solidFill>
                  <a:schemeClr val="tx1"/>
                </a:solidFill>
              </a:rPr>
            </a:br>
            <a:r>
              <a:rPr lang="bg-BG" sz="2800" dirty="0" smtClean="0">
                <a:solidFill>
                  <a:schemeClr val="tx1"/>
                </a:solidFill>
              </a:rPr>
              <a:t>	{</a:t>
            </a:r>
            <a:br>
              <a:rPr lang="bg-BG" sz="2800" dirty="0" smtClean="0">
                <a:solidFill>
                  <a:schemeClr val="tx1"/>
                </a:solidFill>
              </a:rPr>
            </a:br>
            <a:r>
              <a:rPr lang="bg-BG" sz="2800" dirty="0" smtClean="0">
                <a:solidFill>
                  <a:schemeClr val="tx1"/>
                </a:solidFill>
              </a:rPr>
              <a:t>		struct elem data;</a:t>
            </a:r>
            <a:br>
              <a:rPr lang="bg-BG" sz="2800" dirty="0" smtClean="0">
                <a:solidFill>
                  <a:schemeClr val="tx1"/>
                </a:solidFill>
              </a:rPr>
            </a:br>
            <a:r>
              <a:rPr lang="bg-BG" sz="2800" dirty="0" smtClean="0">
                <a:solidFill>
                  <a:schemeClr val="tx1"/>
                </a:solidFill>
              </a:rPr>
              <a:t>		ptr *next;</a:t>
            </a:r>
            <a:br>
              <a:rPr lang="bg-BG" sz="2800" dirty="0" smtClean="0">
                <a:solidFill>
                  <a:schemeClr val="tx1"/>
                </a:solidFill>
              </a:rPr>
            </a:br>
            <a:r>
              <a:rPr lang="bg-BG" sz="2800" dirty="0" smtClean="0">
                <a:solidFill>
                  <a:schemeClr val="tx1"/>
                </a:solidFill>
              </a:rPr>
              <a:t>	} *lst[MaxValue], *p;</a:t>
            </a:r>
            <a:br>
              <a:rPr lang="bg-BG" sz="2800" dirty="0" smtClean="0">
                <a:solidFill>
                  <a:schemeClr val="tx1"/>
                </a:solidFill>
              </a:rPr>
            </a:br>
            <a:endParaRPr lang="bg-BG" sz="2800" dirty="0">
              <a:solidFill>
                <a:schemeClr val="tx1"/>
              </a:solidFill>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475656" y="534968"/>
            <a:ext cx="7498080" cy="6323032"/>
          </a:xfrm>
        </p:spPr>
        <p:txBody>
          <a:bodyPr>
            <a:normAutofit fontScale="90000"/>
          </a:bodyPr>
          <a:lstStyle/>
          <a:p>
            <a:r>
              <a:rPr lang="bg-BG" sz="3100" dirty="0" err="1" smtClean="0">
                <a:solidFill>
                  <a:schemeClr val="tx1"/>
                </a:solidFill>
              </a:rPr>
              <a:t>void</a:t>
            </a:r>
            <a:r>
              <a:rPr lang="bg-BG" sz="3100" dirty="0" smtClean="0">
                <a:solidFill>
                  <a:schemeClr val="tx1"/>
                </a:solidFill>
              </a:rPr>
              <a:t> </a:t>
            </a:r>
            <a:r>
              <a:rPr lang="bg-BG" sz="3100" dirty="0" err="1" smtClean="0">
                <a:solidFill>
                  <a:schemeClr val="tx1"/>
                </a:solidFill>
              </a:rPr>
              <a:t>input</a:t>
            </a:r>
            <a:r>
              <a:rPr lang="bg-BG" sz="3100" dirty="0" smtClean="0">
                <a:solidFill>
                  <a:schemeClr val="tx1"/>
                </a:solidFill>
              </a:rPr>
              <a:t>(</a:t>
            </a:r>
            <a:r>
              <a:rPr lang="bg-BG" sz="3100" dirty="0" err="1" smtClean="0">
                <a:solidFill>
                  <a:schemeClr val="tx1"/>
                </a:solidFill>
              </a:rPr>
              <a:t>elem</a:t>
            </a:r>
            <a:r>
              <a:rPr lang="bg-BG" sz="3100" dirty="0" smtClean="0">
                <a:solidFill>
                  <a:schemeClr val="tx1"/>
                </a:solidFill>
              </a:rPr>
              <a:t> m[], </a:t>
            </a:r>
            <a:r>
              <a:rPr lang="bg-BG" sz="3100" dirty="0" err="1" smtClean="0">
                <a:solidFill>
                  <a:schemeClr val="tx1"/>
                </a:solidFill>
              </a:rPr>
              <a:t>int</a:t>
            </a:r>
            <a:r>
              <a:rPr lang="bg-BG" sz="3100" dirty="0" smtClean="0">
                <a:solidFill>
                  <a:schemeClr val="tx1"/>
                </a:solidFill>
              </a:rPr>
              <a:t> n);</a:t>
            </a:r>
            <a:br>
              <a:rPr lang="bg-BG" sz="3100" dirty="0" smtClean="0">
                <a:solidFill>
                  <a:schemeClr val="tx1"/>
                </a:solidFill>
              </a:rPr>
            </a:br>
            <a:r>
              <a:rPr lang="bg-BG" sz="3100" dirty="0" err="1" smtClean="0">
                <a:solidFill>
                  <a:schemeClr val="tx1"/>
                </a:solidFill>
              </a:rPr>
              <a:t>void</a:t>
            </a:r>
            <a:r>
              <a:rPr lang="bg-BG" sz="3100" dirty="0" smtClean="0">
                <a:solidFill>
                  <a:schemeClr val="tx1"/>
                </a:solidFill>
              </a:rPr>
              <a:t> </a:t>
            </a:r>
            <a:r>
              <a:rPr lang="bg-BG" sz="3100" dirty="0" err="1" smtClean="0">
                <a:solidFill>
                  <a:schemeClr val="tx1"/>
                </a:solidFill>
              </a:rPr>
              <a:t>output</a:t>
            </a:r>
            <a:r>
              <a:rPr lang="bg-BG" sz="3100" dirty="0" smtClean="0">
                <a:solidFill>
                  <a:schemeClr val="tx1"/>
                </a:solidFill>
              </a:rPr>
              <a:t>(</a:t>
            </a:r>
            <a:r>
              <a:rPr lang="bg-BG" sz="3100" dirty="0" err="1" smtClean="0">
                <a:solidFill>
                  <a:schemeClr val="tx1"/>
                </a:solidFill>
              </a:rPr>
              <a:t>elem</a:t>
            </a:r>
            <a:r>
              <a:rPr lang="bg-BG" sz="3100" dirty="0" smtClean="0">
                <a:solidFill>
                  <a:schemeClr val="tx1"/>
                </a:solidFill>
              </a:rPr>
              <a:t> m[], </a:t>
            </a:r>
            <a:r>
              <a:rPr lang="bg-BG" sz="3100" dirty="0" err="1" smtClean="0">
                <a:solidFill>
                  <a:schemeClr val="tx1"/>
                </a:solidFill>
              </a:rPr>
              <a:t>int</a:t>
            </a:r>
            <a:r>
              <a:rPr lang="bg-BG" sz="3100" dirty="0" smtClean="0">
                <a:solidFill>
                  <a:schemeClr val="tx1"/>
                </a:solidFill>
              </a:rPr>
              <a:t> n);</a:t>
            </a:r>
            <a:br>
              <a:rPr lang="bg-BG" sz="3100" dirty="0" smtClean="0">
                <a:solidFill>
                  <a:schemeClr val="tx1"/>
                </a:solidFill>
              </a:rPr>
            </a:br>
            <a:r>
              <a:rPr lang="bg-BG" sz="3100" dirty="0" err="1" smtClean="0">
                <a:solidFill>
                  <a:schemeClr val="tx1"/>
                </a:solidFill>
              </a:rPr>
              <a:t>void</a:t>
            </a:r>
            <a:r>
              <a:rPr lang="bg-BG" sz="3100" dirty="0" smtClean="0">
                <a:solidFill>
                  <a:schemeClr val="tx1"/>
                </a:solidFill>
              </a:rPr>
              <a:t> </a:t>
            </a:r>
            <a:r>
              <a:rPr lang="bg-BG" sz="3100" dirty="0" err="1" smtClean="0">
                <a:solidFill>
                  <a:schemeClr val="tx1"/>
                </a:solidFill>
              </a:rPr>
              <a:t>CountSort_List</a:t>
            </a:r>
            <a:r>
              <a:rPr lang="bg-BG" sz="3100" dirty="0" smtClean="0">
                <a:solidFill>
                  <a:schemeClr val="tx1"/>
                </a:solidFill>
              </a:rPr>
              <a:t>(</a:t>
            </a:r>
            <a:r>
              <a:rPr lang="bg-BG" sz="3100" dirty="0" err="1" smtClean="0">
                <a:solidFill>
                  <a:schemeClr val="tx1"/>
                </a:solidFill>
              </a:rPr>
              <a:t>elem</a:t>
            </a:r>
            <a:r>
              <a:rPr lang="bg-BG" sz="3100" dirty="0" smtClean="0">
                <a:solidFill>
                  <a:schemeClr val="tx1"/>
                </a:solidFill>
              </a:rPr>
              <a:t> m[], </a:t>
            </a:r>
            <a:r>
              <a:rPr lang="bg-BG" sz="3100" dirty="0" err="1" smtClean="0">
                <a:solidFill>
                  <a:schemeClr val="tx1"/>
                </a:solidFill>
              </a:rPr>
              <a:t>int</a:t>
            </a:r>
            <a:r>
              <a:rPr lang="bg-BG" sz="3100" dirty="0" smtClean="0">
                <a:solidFill>
                  <a:schemeClr val="tx1"/>
                </a:solidFill>
              </a:rPr>
              <a:t> n);</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void</a:t>
            </a:r>
            <a:r>
              <a:rPr lang="bg-BG" sz="3100" dirty="0" smtClean="0">
                <a:solidFill>
                  <a:schemeClr val="tx1"/>
                </a:solidFill>
              </a:rPr>
              <a:t> </a:t>
            </a:r>
            <a:r>
              <a:rPr lang="bg-BG" sz="3100" dirty="0" err="1" smtClean="0">
                <a:solidFill>
                  <a:schemeClr val="tx1"/>
                </a:solidFill>
              </a:rPr>
              <a:t>main</a:t>
            </a:r>
            <a:r>
              <a:rPr lang="bg-BG" sz="3100" dirty="0" smtClean="0">
                <a:solidFill>
                  <a:schemeClr val="tx1"/>
                </a:solidFill>
              </a:rPr>
              <a:t>()</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int</a:t>
            </a:r>
            <a:r>
              <a:rPr lang="bg-BG" sz="3100" dirty="0" smtClean="0">
                <a:solidFill>
                  <a:schemeClr val="tx1"/>
                </a:solidFill>
              </a:rPr>
              <a:t> n;</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do</a:t>
            </a:r>
            <a:r>
              <a:rPr lang="bg-BG" sz="3100" dirty="0" smtClean="0">
                <a:solidFill>
                  <a:schemeClr val="tx1"/>
                </a:solidFill>
              </a:rPr>
              <a:t/>
            </a:r>
            <a:br>
              <a:rPr lang="bg-BG" sz="3100" dirty="0" smtClean="0">
                <a:solidFill>
                  <a:schemeClr val="tx1"/>
                </a:solidFill>
              </a:rPr>
            </a:br>
            <a:r>
              <a:rPr lang="bg-BG" sz="3100" dirty="0" smtClean="0">
                <a:solidFill>
                  <a:schemeClr val="tx1"/>
                </a:solidFill>
              </a:rPr>
              <a:t>	{           </a:t>
            </a:r>
            <a:r>
              <a:rPr lang="bg-BG" sz="3100" dirty="0" err="1" smtClean="0">
                <a:solidFill>
                  <a:schemeClr val="tx1"/>
                </a:solidFill>
              </a:rPr>
              <a:t>cout</a:t>
            </a:r>
            <a:r>
              <a:rPr lang="bg-BG" sz="3100" dirty="0" smtClean="0">
                <a:solidFill>
                  <a:schemeClr val="tx1"/>
                </a:solidFill>
              </a:rPr>
              <a:t> &lt;&lt;"\</a:t>
            </a:r>
            <a:r>
              <a:rPr lang="bg-BG" sz="3100" dirty="0" err="1" smtClean="0">
                <a:solidFill>
                  <a:schemeClr val="tx1"/>
                </a:solidFill>
              </a:rPr>
              <a:t>nInput</a:t>
            </a:r>
            <a:r>
              <a:rPr lang="bg-BG" sz="3100" dirty="0" smtClean="0">
                <a:solidFill>
                  <a:schemeClr val="tx1"/>
                </a:solidFill>
              </a:rPr>
              <a:t> n: ";</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cin</a:t>
            </a:r>
            <a:r>
              <a:rPr lang="bg-BG" sz="3100" dirty="0" smtClean="0">
                <a:solidFill>
                  <a:schemeClr val="tx1"/>
                </a:solidFill>
              </a:rPr>
              <a:t>&gt;&gt;n;</a:t>
            </a:r>
            <a:br>
              <a:rPr lang="bg-BG" sz="3100" dirty="0" smtClean="0">
                <a:solidFill>
                  <a:schemeClr val="tx1"/>
                </a:solidFill>
              </a:rPr>
            </a:br>
            <a:r>
              <a:rPr lang="bg-BG" sz="3100" dirty="0" smtClean="0">
                <a:solidFill>
                  <a:schemeClr val="tx1"/>
                </a:solidFill>
              </a:rPr>
              <a:t>	}</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while</a:t>
            </a:r>
            <a:r>
              <a:rPr lang="bg-BG" sz="3100" dirty="0" smtClean="0">
                <a:solidFill>
                  <a:schemeClr val="tx1"/>
                </a:solidFill>
              </a:rPr>
              <a:t> (n&gt;</a:t>
            </a:r>
            <a:r>
              <a:rPr lang="bg-BG" sz="3100" dirty="0" err="1" smtClean="0">
                <a:solidFill>
                  <a:schemeClr val="tx1"/>
                </a:solidFill>
              </a:rPr>
              <a:t>MaxValue</a:t>
            </a:r>
            <a:r>
              <a:rPr lang="bg-BG" sz="3100" dirty="0" smtClean="0">
                <a:solidFill>
                  <a:schemeClr val="tx1"/>
                </a:solidFill>
              </a:rPr>
              <a:t>);</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input</a:t>
            </a:r>
            <a:r>
              <a:rPr lang="bg-BG" sz="3100" dirty="0" smtClean="0">
                <a:solidFill>
                  <a:schemeClr val="tx1"/>
                </a:solidFill>
              </a:rPr>
              <a:t> (m, n);</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CountSort_List</a:t>
            </a:r>
            <a:r>
              <a:rPr lang="bg-BG" sz="3100" dirty="0" smtClean="0">
                <a:solidFill>
                  <a:schemeClr val="tx1"/>
                </a:solidFill>
              </a:rPr>
              <a:t>( m, n);</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output</a:t>
            </a:r>
            <a:r>
              <a:rPr lang="bg-BG" sz="3100" dirty="0" smtClean="0">
                <a:solidFill>
                  <a:schemeClr val="tx1"/>
                </a:solidFill>
              </a:rPr>
              <a:t>(m, n);</a:t>
            </a:r>
            <a:br>
              <a:rPr lang="bg-BG" sz="3100" dirty="0" smtClean="0">
                <a:solidFill>
                  <a:schemeClr val="tx1"/>
                </a:solidFill>
              </a:rPr>
            </a:br>
            <a:r>
              <a:rPr lang="bg-BG" sz="3100" dirty="0" smtClean="0">
                <a:solidFill>
                  <a:schemeClr val="tx1"/>
                </a:solidFill>
              </a:rPr>
              <a:t>}</a:t>
            </a:r>
            <a:r>
              <a:rPr lang="bg-BG" dirty="0" smtClean="0"/>
              <a:t/>
            </a:r>
            <a:br>
              <a:rPr lang="bg-BG" dirty="0" smtClean="0"/>
            </a:br>
            <a:endParaRPr lang="bg-BG" dirty="0"/>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435608" y="274320"/>
            <a:ext cx="7498080" cy="6395040"/>
          </a:xfrm>
        </p:spPr>
        <p:txBody>
          <a:bodyPr>
            <a:normAutofit fontScale="90000"/>
          </a:bodyPr>
          <a:lstStyle/>
          <a:p>
            <a:r>
              <a:rPr lang="bg-BG" sz="3100" dirty="0" err="1" smtClean="0">
                <a:solidFill>
                  <a:schemeClr val="tx1"/>
                </a:solidFill>
              </a:rPr>
              <a:t>void</a:t>
            </a:r>
            <a:r>
              <a:rPr lang="bg-BG" sz="3100" dirty="0" smtClean="0">
                <a:solidFill>
                  <a:schemeClr val="tx1"/>
                </a:solidFill>
              </a:rPr>
              <a:t> </a:t>
            </a:r>
            <a:r>
              <a:rPr lang="bg-BG" sz="3100" dirty="0" err="1" smtClean="0">
                <a:solidFill>
                  <a:schemeClr val="tx1"/>
                </a:solidFill>
              </a:rPr>
              <a:t>init</a:t>
            </a:r>
            <a:r>
              <a:rPr lang="bg-BG" sz="3100" dirty="0" smtClean="0">
                <a:solidFill>
                  <a:schemeClr val="tx1"/>
                </a:solidFill>
              </a:rPr>
              <a:t>()</a:t>
            </a:r>
            <a:br>
              <a:rPr lang="bg-BG" sz="3100" dirty="0" smtClean="0">
                <a:solidFill>
                  <a:schemeClr val="tx1"/>
                </a:solidFill>
              </a:rPr>
            </a:br>
            <a:r>
              <a:rPr lang="bg-BG" sz="3100" dirty="0" smtClean="0">
                <a:solidFill>
                  <a:schemeClr val="tx1"/>
                </a:solidFill>
              </a:rPr>
              <a:t>{	</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for</a:t>
            </a:r>
            <a:r>
              <a:rPr lang="bg-BG" sz="3100" dirty="0" smtClean="0">
                <a:solidFill>
                  <a:schemeClr val="tx1"/>
                </a:solidFill>
              </a:rPr>
              <a:t> (</a:t>
            </a:r>
            <a:r>
              <a:rPr lang="bg-BG" sz="3100" dirty="0" err="1" smtClean="0">
                <a:solidFill>
                  <a:schemeClr val="tx1"/>
                </a:solidFill>
              </a:rPr>
              <a:t>int</a:t>
            </a:r>
            <a:r>
              <a:rPr lang="bg-BG" sz="3100" dirty="0" smtClean="0">
                <a:solidFill>
                  <a:schemeClr val="tx1"/>
                </a:solidFill>
              </a:rPr>
              <a:t> i=0; i&lt;</a:t>
            </a:r>
            <a:r>
              <a:rPr lang="bg-BG" sz="3100" dirty="0" err="1" smtClean="0">
                <a:solidFill>
                  <a:schemeClr val="tx1"/>
                </a:solidFill>
              </a:rPr>
              <a:t>MaxValue</a:t>
            </a:r>
            <a:r>
              <a:rPr lang="bg-BG" sz="3100" dirty="0" smtClean="0">
                <a:solidFill>
                  <a:schemeClr val="tx1"/>
                </a:solidFill>
              </a:rPr>
              <a:t>; </a:t>
            </a:r>
            <a:r>
              <a:rPr lang="bg-BG" sz="3100" dirty="0" err="1" smtClean="0">
                <a:solidFill>
                  <a:schemeClr val="tx1"/>
                </a:solidFill>
              </a:rPr>
              <a:t>i++</a:t>
            </a:r>
            <a:r>
              <a:rPr lang="bg-BG" sz="3100" dirty="0" smtClean="0">
                <a:solidFill>
                  <a:schemeClr val="tx1"/>
                </a:solidFill>
              </a:rPr>
              <a:t>)</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lst</a:t>
            </a:r>
            <a:r>
              <a:rPr lang="bg-BG" sz="3100" dirty="0" smtClean="0">
                <a:solidFill>
                  <a:schemeClr val="tx1"/>
                </a:solidFill>
              </a:rPr>
              <a:t>[i]=NULL;</a:t>
            </a:r>
            <a:br>
              <a:rPr lang="bg-BG" sz="3100" dirty="0" smtClean="0">
                <a:solidFill>
                  <a:schemeClr val="tx1"/>
                </a:solidFill>
              </a:rPr>
            </a:br>
            <a:r>
              <a:rPr lang="bg-BG" sz="3100" dirty="0" smtClean="0">
                <a:solidFill>
                  <a:schemeClr val="tx1"/>
                </a:solidFill>
              </a:rPr>
              <a:t>}</a:t>
            </a:r>
            <a:br>
              <a:rPr lang="bg-BG" sz="3100" dirty="0" smtClean="0">
                <a:solidFill>
                  <a:schemeClr val="tx1"/>
                </a:solidFill>
              </a:rPr>
            </a:br>
            <a:r>
              <a:rPr lang="bg-BG" sz="3100" dirty="0" err="1" smtClean="0">
                <a:solidFill>
                  <a:schemeClr val="tx1"/>
                </a:solidFill>
              </a:rPr>
              <a:t>void</a:t>
            </a:r>
            <a:r>
              <a:rPr lang="bg-BG" sz="3100" dirty="0" smtClean="0">
                <a:solidFill>
                  <a:schemeClr val="tx1"/>
                </a:solidFill>
              </a:rPr>
              <a:t> </a:t>
            </a:r>
            <a:r>
              <a:rPr lang="bg-BG" sz="3100" dirty="0" err="1" smtClean="0">
                <a:solidFill>
                  <a:schemeClr val="tx1"/>
                </a:solidFill>
              </a:rPr>
              <a:t>input</a:t>
            </a:r>
            <a:r>
              <a:rPr lang="bg-BG" sz="3100" dirty="0" smtClean="0">
                <a:solidFill>
                  <a:schemeClr val="tx1"/>
                </a:solidFill>
              </a:rPr>
              <a:t>(</a:t>
            </a:r>
            <a:r>
              <a:rPr lang="bg-BG" sz="3100" dirty="0" err="1" smtClean="0">
                <a:solidFill>
                  <a:schemeClr val="tx1"/>
                </a:solidFill>
              </a:rPr>
              <a:t>elem</a:t>
            </a:r>
            <a:r>
              <a:rPr lang="bg-BG" sz="3100" dirty="0" smtClean="0">
                <a:solidFill>
                  <a:schemeClr val="tx1"/>
                </a:solidFill>
              </a:rPr>
              <a:t> m[], </a:t>
            </a:r>
            <a:r>
              <a:rPr lang="bg-BG" sz="3100" dirty="0" err="1" smtClean="0">
                <a:solidFill>
                  <a:schemeClr val="tx1"/>
                </a:solidFill>
              </a:rPr>
              <a:t>int</a:t>
            </a:r>
            <a:r>
              <a:rPr lang="bg-BG" sz="3100" dirty="0" smtClean="0">
                <a:solidFill>
                  <a:schemeClr val="tx1"/>
                </a:solidFill>
              </a:rPr>
              <a:t> n)</a:t>
            </a:r>
            <a:br>
              <a:rPr lang="bg-BG" sz="3100" dirty="0" smtClean="0">
                <a:solidFill>
                  <a:schemeClr val="tx1"/>
                </a:solidFill>
              </a:rPr>
            </a:br>
            <a:r>
              <a:rPr lang="bg-BG" sz="3100" dirty="0" smtClean="0">
                <a:solidFill>
                  <a:schemeClr val="tx1"/>
                </a:solidFill>
              </a:rPr>
              <a:t>{</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for</a:t>
            </a:r>
            <a:r>
              <a:rPr lang="bg-BG" sz="3100" dirty="0" smtClean="0">
                <a:solidFill>
                  <a:schemeClr val="tx1"/>
                </a:solidFill>
              </a:rPr>
              <a:t>(</a:t>
            </a:r>
            <a:r>
              <a:rPr lang="bg-BG" sz="3100" dirty="0" err="1" smtClean="0">
                <a:solidFill>
                  <a:schemeClr val="tx1"/>
                </a:solidFill>
              </a:rPr>
              <a:t>int</a:t>
            </a:r>
            <a:r>
              <a:rPr lang="bg-BG" sz="3100" dirty="0" smtClean="0">
                <a:solidFill>
                  <a:schemeClr val="tx1"/>
                </a:solidFill>
              </a:rPr>
              <a:t> i=0; i&lt;n;</a:t>
            </a:r>
            <a:r>
              <a:rPr lang="bg-BG" sz="3100" dirty="0" err="1" smtClean="0">
                <a:solidFill>
                  <a:schemeClr val="tx1"/>
                </a:solidFill>
              </a:rPr>
              <a:t>i++</a:t>
            </a:r>
            <a:r>
              <a:rPr lang="bg-BG" sz="3100" dirty="0" smtClean="0">
                <a:solidFill>
                  <a:schemeClr val="tx1"/>
                </a:solidFill>
              </a:rPr>
              <a:t>)</a:t>
            </a:r>
            <a:br>
              <a:rPr lang="bg-BG" sz="3100" dirty="0" smtClean="0">
                <a:solidFill>
                  <a:schemeClr val="tx1"/>
                </a:solidFill>
              </a:rPr>
            </a:br>
            <a:r>
              <a:rPr lang="bg-BG" sz="3100" dirty="0" smtClean="0">
                <a:solidFill>
                  <a:schemeClr val="tx1"/>
                </a:solidFill>
              </a:rPr>
              <a:t>	{</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cout</a:t>
            </a:r>
            <a:r>
              <a:rPr lang="bg-BG" sz="3100" dirty="0" smtClean="0">
                <a:solidFill>
                  <a:schemeClr val="tx1"/>
                </a:solidFill>
              </a:rPr>
              <a:t>&lt;&lt;"\</a:t>
            </a:r>
            <a:r>
              <a:rPr lang="bg-BG" sz="3100" dirty="0" err="1" smtClean="0">
                <a:solidFill>
                  <a:schemeClr val="tx1"/>
                </a:solidFill>
              </a:rPr>
              <a:t>nm</a:t>
            </a:r>
            <a:r>
              <a:rPr lang="bg-BG" sz="3100" dirty="0" smtClean="0">
                <a:solidFill>
                  <a:schemeClr val="tx1"/>
                </a:solidFill>
              </a:rPr>
              <a:t>["&lt;&lt;i&lt;&lt;"].</a:t>
            </a:r>
            <a:r>
              <a:rPr lang="bg-BG" sz="3100" dirty="0" err="1" smtClean="0">
                <a:solidFill>
                  <a:schemeClr val="tx1"/>
                </a:solidFill>
              </a:rPr>
              <a:t>name</a:t>
            </a:r>
            <a:r>
              <a:rPr lang="bg-BG" sz="3100" dirty="0" smtClean="0">
                <a:solidFill>
                  <a:schemeClr val="tx1"/>
                </a:solidFill>
              </a:rPr>
              <a:t>=";</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cin</a:t>
            </a:r>
            <a:r>
              <a:rPr lang="bg-BG" sz="3100" dirty="0" smtClean="0">
                <a:solidFill>
                  <a:schemeClr val="tx1"/>
                </a:solidFill>
              </a:rPr>
              <a:t>&gt;&gt;m[i].</a:t>
            </a:r>
            <a:r>
              <a:rPr lang="bg-BG" sz="3100" dirty="0" err="1" smtClean="0">
                <a:solidFill>
                  <a:schemeClr val="tx1"/>
                </a:solidFill>
              </a:rPr>
              <a:t>name</a:t>
            </a:r>
            <a:r>
              <a:rPr lang="bg-BG" sz="3100" dirty="0" smtClean="0">
                <a:solidFill>
                  <a:schemeClr val="tx1"/>
                </a:solidFill>
              </a:rPr>
              <a:t>;</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cout</a:t>
            </a:r>
            <a:r>
              <a:rPr lang="bg-BG" sz="3100" dirty="0" smtClean="0">
                <a:solidFill>
                  <a:schemeClr val="tx1"/>
                </a:solidFill>
              </a:rPr>
              <a:t>&lt;&lt;"\</a:t>
            </a:r>
            <a:r>
              <a:rPr lang="bg-BG" sz="3100" dirty="0" err="1" smtClean="0">
                <a:solidFill>
                  <a:schemeClr val="tx1"/>
                </a:solidFill>
              </a:rPr>
              <a:t>nm</a:t>
            </a:r>
            <a:r>
              <a:rPr lang="bg-BG" sz="3100" dirty="0" smtClean="0">
                <a:solidFill>
                  <a:schemeClr val="tx1"/>
                </a:solidFill>
              </a:rPr>
              <a:t>["&lt;&lt;i&lt;&lt;"].</a:t>
            </a:r>
            <a:r>
              <a:rPr lang="bg-BG" sz="3100" dirty="0" err="1" smtClean="0">
                <a:solidFill>
                  <a:schemeClr val="tx1"/>
                </a:solidFill>
              </a:rPr>
              <a:t>num</a:t>
            </a:r>
            <a:r>
              <a:rPr lang="bg-BG" sz="3100" dirty="0" smtClean="0">
                <a:solidFill>
                  <a:schemeClr val="tx1"/>
                </a:solidFill>
              </a:rPr>
              <a:t>=";</a:t>
            </a:r>
            <a:br>
              <a:rPr lang="bg-BG" sz="3100" dirty="0" smtClean="0">
                <a:solidFill>
                  <a:schemeClr val="tx1"/>
                </a:solidFill>
              </a:rPr>
            </a:br>
            <a:r>
              <a:rPr lang="bg-BG" sz="3100" dirty="0" smtClean="0">
                <a:solidFill>
                  <a:schemeClr val="tx1"/>
                </a:solidFill>
              </a:rPr>
              <a:t>		</a:t>
            </a:r>
            <a:r>
              <a:rPr lang="bg-BG" sz="3100" dirty="0" err="1" smtClean="0">
                <a:solidFill>
                  <a:schemeClr val="tx1"/>
                </a:solidFill>
              </a:rPr>
              <a:t>cin</a:t>
            </a:r>
            <a:r>
              <a:rPr lang="bg-BG" sz="3100" dirty="0" smtClean="0">
                <a:solidFill>
                  <a:schemeClr val="tx1"/>
                </a:solidFill>
              </a:rPr>
              <a:t>&gt;&gt;m[i].</a:t>
            </a:r>
            <a:r>
              <a:rPr lang="bg-BG" sz="3100" dirty="0" err="1" smtClean="0">
                <a:solidFill>
                  <a:schemeClr val="tx1"/>
                </a:solidFill>
              </a:rPr>
              <a:t>num</a:t>
            </a:r>
            <a:r>
              <a:rPr lang="bg-BG" sz="3100" dirty="0" smtClean="0">
                <a:solidFill>
                  <a:schemeClr val="tx1"/>
                </a:solidFill>
              </a:rPr>
              <a:t>;</a:t>
            </a:r>
            <a:br>
              <a:rPr lang="bg-BG" sz="3100" dirty="0" smtClean="0">
                <a:solidFill>
                  <a:schemeClr val="tx1"/>
                </a:solidFill>
              </a:rPr>
            </a:br>
            <a:r>
              <a:rPr lang="bg-BG" sz="3100" dirty="0" smtClean="0">
                <a:solidFill>
                  <a:schemeClr val="tx1"/>
                </a:solidFill>
              </a:rPr>
              <a:t>	}</a:t>
            </a:r>
            <a:br>
              <a:rPr lang="bg-BG" sz="3100" dirty="0" smtClean="0">
                <a:solidFill>
                  <a:schemeClr val="tx1"/>
                </a:solidFill>
              </a:rPr>
            </a:br>
            <a:r>
              <a:rPr lang="bg-BG" sz="3100" dirty="0" smtClean="0">
                <a:solidFill>
                  <a:schemeClr val="tx1"/>
                </a:solidFill>
              </a:rPr>
              <a:t>}</a:t>
            </a:r>
            <a:endParaRPr lang="bg-BG" dirty="0">
              <a:solidFill>
                <a:schemeClr val="tx1"/>
              </a:solidFill>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043608" y="439420"/>
            <a:ext cx="8100392" cy="6395040"/>
          </a:xfrm>
        </p:spPr>
        <p:txBody>
          <a:bodyPr>
            <a:noAutofit/>
          </a:bodyPr>
          <a:lstStyle/>
          <a:p>
            <a:r>
              <a:rPr lang="bg-BG" sz="2800" dirty="0" err="1" smtClean="0">
                <a:solidFill>
                  <a:schemeClr val="tx1"/>
                </a:solidFill>
              </a:rPr>
              <a:t>void</a:t>
            </a:r>
            <a:r>
              <a:rPr lang="bg-BG" sz="2800" dirty="0" smtClean="0">
                <a:solidFill>
                  <a:schemeClr val="tx1"/>
                </a:solidFill>
              </a:rPr>
              <a:t> </a:t>
            </a:r>
            <a:r>
              <a:rPr lang="bg-BG" sz="2800" dirty="0" err="1" smtClean="0">
                <a:solidFill>
                  <a:schemeClr val="tx1"/>
                </a:solidFill>
              </a:rPr>
              <a:t>CountSort_List</a:t>
            </a:r>
            <a:r>
              <a:rPr lang="bg-BG" sz="2800" dirty="0" smtClean="0">
                <a:solidFill>
                  <a:schemeClr val="tx1"/>
                </a:solidFill>
              </a:rPr>
              <a:t>(</a:t>
            </a:r>
            <a:r>
              <a:rPr lang="bg-BG" sz="2800" dirty="0" err="1" smtClean="0">
                <a:solidFill>
                  <a:schemeClr val="tx1"/>
                </a:solidFill>
              </a:rPr>
              <a:t>elem</a:t>
            </a:r>
            <a:r>
              <a:rPr lang="bg-BG" sz="2800" dirty="0" smtClean="0">
                <a:solidFill>
                  <a:schemeClr val="tx1"/>
                </a:solidFill>
              </a:rPr>
              <a:t> m[], </a:t>
            </a:r>
            <a:r>
              <a:rPr lang="bg-BG" sz="2800" dirty="0" err="1" smtClean="0">
                <a:solidFill>
                  <a:schemeClr val="tx1"/>
                </a:solidFill>
              </a:rPr>
              <a:t>int</a:t>
            </a:r>
            <a:r>
              <a:rPr lang="bg-BG" sz="2800" dirty="0" smtClean="0">
                <a:solidFill>
                  <a:schemeClr val="tx1"/>
                </a:solidFill>
              </a:rPr>
              <a:t> n)</a:t>
            </a:r>
            <a:br>
              <a:rPr lang="bg-BG" sz="2800" dirty="0" smtClean="0">
                <a:solidFill>
                  <a:schemeClr val="tx1"/>
                </a:solidFill>
              </a:rPr>
            </a:br>
            <a:r>
              <a:rPr lang="bg-BG" sz="2800" dirty="0" smtClean="0">
                <a:solidFill>
                  <a:schemeClr val="tx1"/>
                </a:solidFill>
              </a:rPr>
              <a:t>{  </a:t>
            </a:r>
            <a:r>
              <a:rPr lang="bg-BG" sz="2800" dirty="0" err="1" smtClean="0">
                <a:solidFill>
                  <a:schemeClr val="tx1"/>
                </a:solidFill>
              </a:rPr>
              <a:t>int</a:t>
            </a:r>
            <a:r>
              <a:rPr lang="bg-BG" sz="2800" dirty="0" smtClean="0">
                <a:solidFill>
                  <a:schemeClr val="tx1"/>
                </a:solidFill>
              </a:rPr>
              <a:t> i, j;</a:t>
            </a:r>
            <a:br>
              <a:rPr lang="bg-BG" sz="2800" dirty="0" smtClean="0">
                <a:solidFill>
                  <a:schemeClr val="tx1"/>
                </a:solidFill>
              </a:rPr>
            </a:br>
            <a:r>
              <a:rPr lang="bg-BG" sz="2800" dirty="0" smtClean="0">
                <a:solidFill>
                  <a:schemeClr val="tx1"/>
                </a:solidFill>
              </a:rPr>
              <a:t>   </a:t>
            </a:r>
            <a:r>
              <a:rPr lang="bg-BG" sz="2800" dirty="0" err="1" smtClean="0">
                <a:solidFill>
                  <a:schemeClr val="tx1"/>
                </a:solidFill>
              </a:rPr>
              <a:t>for</a:t>
            </a:r>
            <a:r>
              <a:rPr lang="bg-BG" sz="2800" dirty="0" smtClean="0">
                <a:solidFill>
                  <a:schemeClr val="tx1"/>
                </a:solidFill>
              </a:rPr>
              <a:t> (j=0; j&lt;n; </a:t>
            </a:r>
            <a:r>
              <a:rPr lang="bg-BG" sz="2800" dirty="0" err="1" smtClean="0">
                <a:solidFill>
                  <a:schemeClr val="tx1"/>
                </a:solidFill>
              </a:rPr>
              <a:t>j++</a:t>
            </a:r>
            <a:r>
              <a:rPr lang="bg-BG" sz="2800" dirty="0" smtClean="0">
                <a:solidFill>
                  <a:schemeClr val="tx1"/>
                </a:solidFill>
              </a:rPr>
              <a:t>) </a:t>
            </a:r>
            <a:r>
              <a:rPr lang="bg-BG" sz="2300" dirty="0" smtClean="0">
                <a:solidFill>
                  <a:srgbClr val="0070C0"/>
                </a:solidFill>
              </a:rPr>
              <a:t>// </a:t>
            </a:r>
            <a:r>
              <a:rPr lang="bg-BG" sz="2200" dirty="0" smtClean="0">
                <a:solidFill>
                  <a:srgbClr val="0070C0"/>
                </a:solidFill>
              </a:rPr>
              <a:t>Разпределяне на елементите по списъци</a:t>
            </a:r>
            <a:r>
              <a:rPr lang="bg-BG" sz="2800" dirty="0" smtClean="0">
                <a:solidFill>
                  <a:srgbClr val="0070C0"/>
                </a:solidFill>
              </a:rPr>
              <a:t/>
            </a:r>
            <a:br>
              <a:rPr lang="bg-BG" sz="2800" dirty="0" smtClean="0">
                <a:solidFill>
                  <a:srgbClr val="0070C0"/>
                </a:solidFill>
              </a:rPr>
            </a:br>
            <a:r>
              <a:rPr lang="bg-BG" sz="2800" dirty="0" smtClean="0"/>
              <a:t>		{	</a:t>
            </a:r>
            <a:r>
              <a:rPr lang="bg-BG" sz="2800" dirty="0" smtClean="0">
                <a:solidFill>
                  <a:schemeClr val="tx1"/>
                </a:solidFill>
              </a:rPr>
              <a:t>p=</a:t>
            </a:r>
            <a:r>
              <a:rPr lang="bg-BG" sz="2800" dirty="0" err="1" smtClean="0">
                <a:solidFill>
                  <a:schemeClr val="tx1"/>
                </a:solidFill>
              </a:rPr>
              <a:t>new</a:t>
            </a:r>
            <a:r>
              <a:rPr lang="bg-BG" sz="2800" dirty="0" smtClean="0">
                <a:solidFill>
                  <a:schemeClr val="tx1"/>
                </a:solidFill>
              </a:rPr>
              <a:t> </a:t>
            </a:r>
            <a:r>
              <a:rPr lang="bg-BG" sz="2800" dirty="0" err="1" smtClean="0">
                <a:solidFill>
                  <a:schemeClr val="tx1"/>
                </a:solidFill>
              </a:rPr>
              <a:t>ptr</a:t>
            </a:r>
            <a:r>
              <a:rPr lang="bg-BG" sz="2800" dirty="0" smtClean="0">
                <a:solidFill>
                  <a:schemeClr val="tx1"/>
                </a:solidFill>
              </a:rPr>
              <a:t>;</a:t>
            </a:r>
            <a:br>
              <a:rPr lang="bg-BG" sz="2800" dirty="0" smtClean="0">
                <a:solidFill>
                  <a:schemeClr val="tx1"/>
                </a:solidFill>
              </a:rPr>
            </a:br>
            <a:r>
              <a:rPr lang="bg-BG" sz="2800" dirty="0" smtClean="0">
                <a:solidFill>
                  <a:schemeClr val="tx1"/>
                </a:solidFill>
              </a:rPr>
              <a:t>			p-&gt;</a:t>
            </a:r>
            <a:r>
              <a:rPr lang="bg-BG" sz="2800" dirty="0" err="1" smtClean="0">
                <a:solidFill>
                  <a:schemeClr val="tx1"/>
                </a:solidFill>
              </a:rPr>
              <a:t>data</a:t>
            </a:r>
            <a:r>
              <a:rPr lang="bg-BG" sz="2800" dirty="0" smtClean="0">
                <a:solidFill>
                  <a:schemeClr val="tx1"/>
                </a:solidFill>
              </a:rPr>
              <a:t>.</a:t>
            </a:r>
            <a:r>
              <a:rPr lang="bg-BG" sz="2800" dirty="0" err="1" smtClean="0">
                <a:solidFill>
                  <a:schemeClr val="tx1"/>
                </a:solidFill>
              </a:rPr>
              <a:t>name</a:t>
            </a:r>
            <a:r>
              <a:rPr lang="bg-BG" sz="2800" dirty="0" smtClean="0">
                <a:solidFill>
                  <a:schemeClr val="tx1"/>
                </a:solidFill>
              </a:rPr>
              <a:t>=m[j].</a:t>
            </a:r>
            <a:r>
              <a:rPr lang="bg-BG" sz="2800" dirty="0" err="1" smtClean="0">
                <a:solidFill>
                  <a:schemeClr val="tx1"/>
                </a:solidFill>
              </a:rPr>
              <a:t>name</a:t>
            </a:r>
            <a:r>
              <a:rPr lang="bg-BG" sz="2800" dirty="0" smtClean="0">
                <a:solidFill>
                  <a:schemeClr val="tx1"/>
                </a:solidFill>
              </a:rPr>
              <a:t>;</a:t>
            </a:r>
            <a:br>
              <a:rPr lang="bg-BG" sz="2800" dirty="0" smtClean="0">
                <a:solidFill>
                  <a:schemeClr val="tx1"/>
                </a:solidFill>
              </a:rPr>
            </a:br>
            <a:r>
              <a:rPr lang="bg-BG" sz="2800" dirty="0" smtClean="0">
                <a:solidFill>
                  <a:schemeClr val="tx1"/>
                </a:solidFill>
              </a:rPr>
              <a:t>			p-&gt;</a:t>
            </a:r>
            <a:r>
              <a:rPr lang="bg-BG" sz="2800" dirty="0" err="1" smtClean="0">
                <a:solidFill>
                  <a:schemeClr val="tx1"/>
                </a:solidFill>
              </a:rPr>
              <a:t>data</a:t>
            </a:r>
            <a:r>
              <a:rPr lang="bg-BG" sz="2800" dirty="0" smtClean="0">
                <a:solidFill>
                  <a:schemeClr val="tx1"/>
                </a:solidFill>
              </a:rPr>
              <a:t>.</a:t>
            </a:r>
            <a:r>
              <a:rPr lang="bg-BG" sz="2800" dirty="0" err="1" smtClean="0">
                <a:solidFill>
                  <a:schemeClr val="tx1"/>
                </a:solidFill>
              </a:rPr>
              <a:t>num</a:t>
            </a:r>
            <a:r>
              <a:rPr lang="bg-BG" sz="2800" dirty="0" smtClean="0">
                <a:solidFill>
                  <a:schemeClr val="tx1"/>
                </a:solidFill>
              </a:rPr>
              <a:t>=m[j].</a:t>
            </a:r>
            <a:r>
              <a:rPr lang="bg-BG" sz="2800" dirty="0" err="1" smtClean="0">
                <a:solidFill>
                  <a:schemeClr val="tx1"/>
                </a:solidFill>
              </a:rPr>
              <a:t>num</a:t>
            </a:r>
            <a:r>
              <a:rPr lang="bg-BG" sz="2800" dirty="0" smtClean="0">
                <a:solidFill>
                  <a:schemeClr val="tx1"/>
                </a:solidFill>
              </a:rPr>
              <a:t>;</a:t>
            </a:r>
            <a:br>
              <a:rPr lang="bg-BG" sz="2800" dirty="0" smtClean="0">
                <a:solidFill>
                  <a:schemeClr val="tx1"/>
                </a:solidFill>
              </a:rPr>
            </a:br>
            <a:r>
              <a:rPr lang="bg-BG" sz="2800" dirty="0" smtClean="0">
                <a:solidFill>
                  <a:schemeClr val="tx1"/>
                </a:solidFill>
              </a:rPr>
              <a:t>			p-&gt;</a:t>
            </a:r>
            <a:r>
              <a:rPr lang="bg-BG" sz="2800" dirty="0" err="1" smtClean="0">
                <a:solidFill>
                  <a:schemeClr val="tx1"/>
                </a:solidFill>
              </a:rPr>
              <a:t>next</a:t>
            </a:r>
            <a:r>
              <a:rPr lang="bg-BG" sz="2800" dirty="0" smtClean="0">
                <a:solidFill>
                  <a:schemeClr val="tx1"/>
                </a:solidFill>
              </a:rPr>
              <a:t>=</a:t>
            </a:r>
            <a:r>
              <a:rPr lang="bg-BG" sz="2800" dirty="0" err="1" smtClean="0">
                <a:solidFill>
                  <a:schemeClr val="tx1"/>
                </a:solidFill>
              </a:rPr>
              <a:t>lst</a:t>
            </a:r>
            <a:r>
              <a:rPr lang="bg-BG" sz="2800" dirty="0" smtClean="0">
                <a:solidFill>
                  <a:schemeClr val="tx1"/>
                </a:solidFill>
              </a:rPr>
              <a:t>[m[j].</a:t>
            </a:r>
            <a:r>
              <a:rPr lang="bg-BG" sz="2800" dirty="0" err="1" smtClean="0">
                <a:solidFill>
                  <a:schemeClr val="tx1"/>
                </a:solidFill>
              </a:rPr>
              <a:t>num</a:t>
            </a:r>
            <a:r>
              <a:rPr lang="bg-BG" sz="2800" dirty="0" smtClean="0">
                <a:solidFill>
                  <a:schemeClr val="tx1"/>
                </a:solidFill>
              </a:rPr>
              <a:t>];</a:t>
            </a:r>
            <a:br>
              <a:rPr lang="bg-BG" sz="2800" dirty="0" smtClean="0">
                <a:solidFill>
                  <a:schemeClr val="tx1"/>
                </a:solidFill>
              </a:rPr>
            </a:br>
            <a:r>
              <a:rPr lang="bg-BG" sz="2800" dirty="0" smtClean="0">
                <a:solidFill>
                  <a:schemeClr val="tx1"/>
                </a:solidFill>
              </a:rPr>
              <a:t>			</a:t>
            </a:r>
            <a:r>
              <a:rPr lang="bg-BG" sz="2800" dirty="0" err="1" smtClean="0">
                <a:solidFill>
                  <a:schemeClr val="tx1"/>
                </a:solidFill>
              </a:rPr>
              <a:t>lst</a:t>
            </a:r>
            <a:r>
              <a:rPr lang="bg-BG" sz="2800" dirty="0" smtClean="0">
                <a:solidFill>
                  <a:schemeClr val="tx1"/>
                </a:solidFill>
              </a:rPr>
              <a:t>[m[j].</a:t>
            </a:r>
            <a:r>
              <a:rPr lang="bg-BG" sz="2800" dirty="0" err="1" smtClean="0">
                <a:solidFill>
                  <a:schemeClr val="tx1"/>
                </a:solidFill>
              </a:rPr>
              <a:t>num</a:t>
            </a:r>
            <a:r>
              <a:rPr lang="bg-BG" sz="2800" dirty="0" smtClean="0">
                <a:solidFill>
                  <a:schemeClr val="tx1"/>
                </a:solidFill>
              </a:rPr>
              <a:t>]=p;</a:t>
            </a:r>
            <a:br>
              <a:rPr lang="bg-BG" sz="2800" dirty="0" smtClean="0">
                <a:solidFill>
                  <a:schemeClr val="tx1"/>
                </a:solidFill>
              </a:rPr>
            </a:br>
            <a:r>
              <a:rPr lang="bg-BG" sz="2800" dirty="0" smtClean="0">
                <a:solidFill>
                  <a:schemeClr val="tx1"/>
                </a:solidFill>
              </a:rPr>
              <a:t>		}</a:t>
            </a:r>
            <a:br>
              <a:rPr lang="bg-BG" sz="2800" dirty="0" smtClean="0">
                <a:solidFill>
                  <a:schemeClr val="tx1"/>
                </a:solidFill>
              </a:rPr>
            </a:br>
            <a:r>
              <a:rPr lang="bg-BG" sz="2800" dirty="0" smtClean="0">
                <a:solidFill>
                  <a:schemeClr val="tx1"/>
                </a:solidFill>
              </a:rPr>
              <a:t>  </a:t>
            </a:r>
            <a:r>
              <a:rPr lang="bg-BG" sz="2800" dirty="0" err="1" smtClean="0">
                <a:solidFill>
                  <a:schemeClr val="tx1"/>
                </a:solidFill>
              </a:rPr>
              <a:t>for</a:t>
            </a:r>
            <a:r>
              <a:rPr lang="bg-BG" sz="2800" dirty="0" smtClean="0">
                <a:solidFill>
                  <a:schemeClr val="tx1"/>
                </a:solidFill>
              </a:rPr>
              <a:t> (i=j=0; i&lt;</a:t>
            </a:r>
            <a:r>
              <a:rPr lang="bg-BG" sz="2800" dirty="0" err="1" smtClean="0">
                <a:solidFill>
                  <a:schemeClr val="tx1"/>
                </a:solidFill>
              </a:rPr>
              <a:t>MaxValue</a:t>
            </a:r>
            <a:r>
              <a:rPr lang="bg-BG" sz="2800" dirty="0" smtClean="0">
                <a:solidFill>
                  <a:schemeClr val="tx1"/>
                </a:solidFill>
              </a:rPr>
              <a:t>; </a:t>
            </a:r>
            <a:r>
              <a:rPr lang="bg-BG" sz="2800" dirty="0" err="1" smtClean="0">
                <a:solidFill>
                  <a:schemeClr val="tx1"/>
                </a:solidFill>
              </a:rPr>
              <a:t>i++</a:t>
            </a:r>
            <a:r>
              <a:rPr lang="bg-BG" sz="2800" dirty="0" smtClean="0">
                <a:solidFill>
                  <a:schemeClr val="tx1"/>
                </a:solidFill>
              </a:rPr>
              <a:t>)</a:t>
            </a:r>
            <a:r>
              <a:rPr lang="bg-BG" sz="2800" dirty="0" smtClean="0"/>
              <a:t> </a:t>
            </a:r>
            <a:r>
              <a:rPr lang="bg-BG" sz="2200" dirty="0" smtClean="0">
                <a:solidFill>
                  <a:srgbClr val="0070C0"/>
                </a:solidFill>
              </a:rPr>
              <a:t>// Формиране на сорт. масив</a:t>
            </a:r>
            <a:r>
              <a:rPr lang="bg-BG" sz="2800" dirty="0" smtClean="0"/>
              <a:t/>
            </a:r>
            <a:br>
              <a:rPr lang="bg-BG" sz="2800" dirty="0" smtClean="0"/>
            </a:br>
            <a:r>
              <a:rPr lang="bg-BG" sz="2800" dirty="0" smtClean="0">
                <a:solidFill>
                  <a:schemeClr val="tx1"/>
                </a:solidFill>
              </a:rPr>
              <a:t>      </a:t>
            </a:r>
            <a:r>
              <a:rPr lang="bg-BG" sz="2800" dirty="0" err="1" smtClean="0">
                <a:solidFill>
                  <a:schemeClr val="tx1"/>
                </a:solidFill>
              </a:rPr>
              <a:t>while</a:t>
            </a:r>
            <a:r>
              <a:rPr lang="bg-BG" sz="2800" dirty="0" smtClean="0">
                <a:solidFill>
                  <a:schemeClr val="tx1"/>
                </a:solidFill>
              </a:rPr>
              <a:t> (NULL!=(p=</a:t>
            </a:r>
            <a:r>
              <a:rPr lang="bg-BG" sz="2800" dirty="0" err="1" smtClean="0">
                <a:solidFill>
                  <a:schemeClr val="tx1"/>
                </a:solidFill>
              </a:rPr>
              <a:t>lst</a:t>
            </a:r>
            <a:r>
              <a:rPr lang="bg-BG" sz="2800" dirty="0" smtClean="0">
                <a:solidFill>
                  <a:schemeClr val="tx1"/>
                </a:solidFill>
              </a:rPr>
              <a:t>[i]))</a:t>
            </a:r>
            <a:r>
              <a:rPr lang="bg-BG" sz="2200" dirty="0" smtClean="0">
                <a:solidFill>
                  <a:srgbClr val="0070C0"/>
                </a:solidFill>
              </a:rPr>
              <a:t>//Докато списъкът съдържа ел-ти</a:t>
            </a:r>
            <a:r>
              <a:rPr lang="bg-BG" sz="2800" dirty="0" smtClean="0">
                <a:solidFill>
                  <a:srgbClr val="0070C0"/>
                </a:solidFill>
              </a:rPr>
              <a:t/>
            </a:r>
            <a:br>
              <a:rPr lang="bg-BG" sz="2800" dirty="0" smtClean="0">
                <a:solidFill>
                  <a:srgbClr val="0070C0"/>
                </a:solidFill>
              </a:rPr>
            </a:br>
            <a:r>
              <a:rPr lang="bg-BG" sz="2800" dirty="0" smtClean="0">
                <a:solidFill>
                  <a:schemeClr val="tx1"/>
                </a:solidFill>
              </a:rPr>
              <a:t>		{          m[</a:t>
            </a:r>
            <a:r>
              <a:rPr lang="bg-BG" sz="2800" dirty="0" err="1" smtClean="0">
                <a:solidFill>
                  <a:schemeClr val="tx1"/>
                </a:solidFill>
              </a:rPr>
              <a:t>j++</a:t>
            </a:r>
            <a:r>
              <a:rPr lang="bg-BG" sz="2800" dirty="0" smtClean="0">
                <a:solidFill>
                  <a:schemeClr val="tx1"/>
                </a:solidFill>
              </a:rPr>
              <a:t>]=</a:t>
            </a:r>
            <a:r>
              <a:rPr lang="bg-BG" sz="2800" dirty="0" err="1" smtClean="0">
                <a:solidFill>
                  <a:schemeClr val="tx1"/>
                </a:solidFill>
              </a:rPr>
              <a:t>lst</a:t>
            </a:r>
            <a:r>
              <a:rPr lang="bg-BG" sz="2800" dirty="0" smtClean="0">
                <a:solidFill>
                  <a:schemeClr val="tx1"/>
                </a:solidFill>
              </a:rPr>
              <a:t>[i]-&gt;</a:t>
            </a:r>
            <a:r>
              <a:rPr lang="bg-BG" sz="2800" dirty="0" err="1" smtClean="0">
                <a:solidFill>
                  <a:schemeClr val="tx1"/>
                </a:solidFill>
              </a:rPr>
              <a:t>data</a:t>
            </a:r>
            <a:r>
              <a:rPr lang="bg-BG" sz="2800" dirty="0" smtClean="0">
                <a:solidFill>
                  <a:schemeClr val="tx1"/>
                </a:solidFill>
              </a:rPr>
              <a:t>;</a:t>
            </a:r>
            <a:br>
              <a:rPr lang="bg-BG" sz="2800" dirty="0" smtClean="0">
                <a:solidFill>
                  <a:schemeClr val="tx1"/>
                </a:solidFill>
              </a:rPr>
            </a:br>
            <a:r>
              <a:rPr lang="bg-BG" sz="2800" dirty="0" smtClean="0">
                <a:solidFill>
                  <a:schemeClr val="tx1"/>
                </a:solidFill>
              </a:rPr>
              <a:t>			</a:t>
            </a:r>
            <a:r>
              <a:rPr lang="bg-BG" sz="2800" dirty="0" err="1" smtClean="0">
                <a:solidFill>
                  <a:schemeClr val="tx1"/>
                </a:solidFill>
              </a:rPr>
              <a:t>lst</a:t>
            </a:r>
            <a:r>
              <a:rPr lang="bg-BG" sz="2800" dirty="0" smtClean="0">
                <a:solidFill>
                  <a:schemeClr val="tx1"/>
                </a:solidFill>
              </a:rPr>
              <a:t>[i]=</a:t>
            </a:r>
            <a:r>
              <a:rPr lang="bg-BG" sz="2800" dirty="0" err="1" smtClean="0">
                <a:solidFill>
                  <a:schemeClr val="tx1"/>
                </a:solidFill>
              </a:rPr>
              <a:t>lst</a:t>
            </a:r>
            <a:r>
              <a:rPr lang="bg-BG" sz="2800" dirty="0" smtClean="0">
                <a:solidFill>
                  <a:schemeClr val="tx1"/>
                </a:solidFill>
              </a:rPr>
              <a:t>[i]-&gt;</a:t>
            </a:r>
            <a:r>
              <a:rPr lang="bg-BG" sz="2800" dirty="0" err="1" smtClean="0">
                <a:solidFill>
                  <a:schemeClr val="tx1"/>
                </a:solidFill>
              </a:rPr>
              <a:t>next</a:t>
            </a:r>
            <a:r>
              <a:rPr lang="bg-BG" sz="2800" dirty="0" smtClean="0">
                <a:solidFill>
                  <a:schemeClr val="tx1"/>
                </a:solidFill>
              </a:rPr>
              <a:t>;</a:t>
            </a:r>
            <a:br>
              <a:rPr lang="bg-BG" sz="2800" dirty="0" smtClean="0">
                <a:solidFill>
                  <a:schemeClr val="tx1"/>
                </a:solidFill>
              </a:rPr>
            </a:br>
            <a:r>
              <a:rPr lang="bg-BG" sz="2800" dirty="0" smtClean="0">
                <a:solidFill>
                  <a:schemeClr val="tx1"/>
                </a:solidFill>
              </a:rPr>
              <a:t>			</a:t>
            </a:r>
            <a:r>
              <a:rPr lang="bg-BG" sz="2800" dirty="0" err="1" smtClean="0">
                <a:solidFill>
                  <a:schemeClr val="tx1"/>
                </a:solidFill>
              </a:rPr>
              <a:t>delete</a:t>
            </a:r>
            <a:r>
              <a:rPr lang="bg-BG" sz="2800" dirty="0" smtClean="0">
                <a:solidFill>
                  <a:schemeClr val="tx1"/>
                </a:solidFill>
              </a:rPr>
              <a:t> p;</a:t>
            </a:r>
            <a:br>
              <a:rPr lang="bg-BG" sz="2800" dirty="0" smtClean="0">
                <a:solidFill>
                  <a:schemeClr val="tx1"/>
                </a:solidFill>
              </a:rPr>
            </a:br>
            <a:r>
              <a:rPr lang="bg-BG" sz="2800" dirty="0" smtClean="0">
                <a:solidFill>
                  <a:schemeClr val="tx1"/>
                </a:solidFill>
              </a:rPr>
              <a:t>		}</a:t>
            </a:r>
            <a:br>
              <a:rPr lang="bg-BG" sz="2800" dirty="0" smtClean="0">
                <a:solidFill>
                  <a:schemeClr val="tx1"/>
                </a:solidFill>
              </a:rPr>
            </a:br>
            <a:r>
              <a:rPr lang="bg-BG" sz="2800" dirty="0" smtClean="0">
                <a:solidFill>
                  <a:schemeClr val="tx1"/>
                </a:solidFill>
              </a:rPr>
              <a:t>}</a:t>
            </a:r>
            <a:r>
              <a:rPr lang="bg-BG" sz="2800" dirty="0" smtClean="0"/>
              <a:t/>
            </a:r>
            <a:br>
              <a:rPr lang="bg-BG" sz="2800" dirty="0" smtClean="0"/>
            </a:br>
            <a:endParaRPr lang="bg-BG" sz="2800" dirty="0"/>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435608" y="274320"/>
            <a:ext cx="7498080" cy="6395040"/>
          </a:xfrm>
        </p:spPr>
        <p:txBody>
          <a:bodyPr>
            <a:normAutofit/>
          </a:bodyPr>
          <a:lstStyle/>
          <a:p>
            <a:r>
              <a:rPr lang="bg-BG" sz="2800" dirty="0" smtClean="0">
                <a:solidFill>
                  <a:schemeClr val="tx1"/>
                </a:solidFill>
              </a:rPr>
              <a:t>void output(elem m[], int n)</a:t>
            </a:r>
            <a:br>
              <a:rPr lang="bg-BG" sz="2800" dirty="0" smtClean="0">
                <a:solidFill>
                  <a:schemeClr val="tx1"/>
                </a:solidFill>
              </a:rPr>
            </a:br>
            <a:r>
              <a:rPr lang="bg-BG" sz="2800" dirty="0" smtClean="0">
                <a:solidFill>
                  <a:schemeClr val="tx1"/>
                </a:solidFill>
              </a:rPr>
              <a:t>{</a:t>
            </a:r>
            <a:br>
              <a:rPr lang="bg-BG" sz="2800" dirty="0" smtClean="0">
                <a:solidFill>
                  <a:schemeClr val="tx1"/>
                </a:solidFill>
              </a:rPr>
            </a:br>
            <a:r>
              <a:rPr lang="bg-BG" sz="2800" dirty="0" smtClean="0">
                <a:solidFill>
                  <a:schemeClr val="tx1"/>
                </a:solidFill>
              </a:rPr>
              <a:t>	cout&lt;&lt;"\nSorted array: \n";</a:t>
            </a:r>
            <a:br>
              <a:rPr lang="bg-BG" sz="2800" dirty="0" smtClean="0">
                <a:solidFill>
                  <a:schemeClr val="tx1"/>
                </a:solidFill>
              </a:rPr>
            </a:br>
            <a:r>
              <a:rPr lang="bg-BG" sz="2800" dirty="0" smtClean="0">
                <a:solidFill>
                  <a:schemeClr val="tx1"/>
                </a:solidFill>
              </a:rPr>
              <a:t>	for(int i=0; i&lt;n; i++)</a:t>
            </a:r>
            <a:br>
              <a:rPr lang="bg-BG" sz="2800" dirty="0" smtClean="0">
                <a:solidFill>
                  <a:schemeClr val="tx1"/>
                </a:solidFill>
              </a:rPr>
            </a:br>
            <a:r>
              <a:rPr lang="bg-BG" sz="2800" dirty="0" smtClean="0">
                <a:solidFill>
                  <a:schemeClr val="tx1"/>
                </a:solidFill>
              </a:rPr>
              <a:t>	   cout&lt;&lt;m[i].name&lt;&lt;" "&lt;&lt;m[i].num&lt;&lt;"     ";</a:t>
            </a:r>
            <a:br>
              <a:rPr lang="bg-BG" sz="2800" dirty="0" smtClean="0">
                <a:solidFill>
                  <a:schemeClr val="tx1"/>
                </a:solidFill>
              </a:rPr>
            </a:br>
            <a:r>
              <a:rPr lang="bg-BG" sz="2800" dirty="0" smtClean="0">
                <a:solidFill>
                  <a:schemeClr val="tx1"/>
                </a:solidFill>
              </a:rPr>
              <a:t>}</a:t>
            </a:r>
            <a:br>
              <a:rPr lang="bg-BG" sz="2800" dirty="0" smtClean="0">
                <a:solidFill>
                  <a:schemeClr val="tx1"/>
                </a:solidFill>
              </a:rPr>
            </a:br>
            <a:r>
              <a:rPr lang="bg-BG" sz="2800" dirty="0" smtClean="0">
                <a:solidFill>
                  <a:schemeClr val="tx1"/>
                </a:solidFill>
              </a:rPr>
              <a:t/>
            </a:r>
            <a:br>
              <a:rPr lang="bg-BG" sz="2800" dirty="0" smtClean="0">
                <a:solidFill>
                  <a:schemeClr val="tx1"/>
                </a:solidFill>
              </a:rPr>
            </a:br>
            <a:r>
              <a:rPr lang="bg-BG" sz="3100" dirty="0" smtClean="0">
                <a:solidFill>
                  <a:schemeClr val="tx1"/>
                </a:solidFill>
              </a:rPr>
              <a:t> 	Въпреки направените подобрения, сортирането чрез броене наследява повечето недостатъци на сортирането чрез множество и не може да се смята за универсален подход. </a:t>
            </a:r>
            <a:r>
              <a:rPr lang="bg-BG" dirty="0" smtClean="0"/>
              <a:t/>
            </a:r>
            <a:br>
              <a:rPr lang="bg-BG" dirty="0" smtClean="0"/>
            </a:br>
            <a:endParaRPr lang="bg-BG" dirty="0"/>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274320"/>
            <a:ext cx="7602048" cy="6467048"/>
          </a:xfrm>
        </p:spPr>
        <p:txBody>
          <a:bodyPr>
            <a:noAutofit/>
          </a:bodyPr>
          <a:lstStyle/>
          <a:p>
            <a:r>
              <a:rPr lang="en-US" sz="2800" dirty="0" smtClean="0">
                <a:effectLst/>
              </a:rPr>
              <a:t>	</a:t>
            </a:r>
            <a:r>
              <a:rPr lang="bg-BG" sz="2800" dirty="0" smtClean="0">
                <a:solidFill>
                  <a:schemeClr val="tx1"/>
                </a:solidFill>
                <a:effectLst/>
              </a:rPr>
              <a:t>Основният </a:t>
            </a:r>
            <a:r>
              <a:rPr lang="bg-BG" sz="2800" dirty="0">
                <a:solidFill>
                  <a:schemeClr val="tx1"/>
                </a:solidFill>
                <a:effectLst/>
              </a:rPr>
              <a:t>проблем на алгоритма е необходимостта от поддържане на допълнителен масив с размер, пропорционален на броя на възможните стойности на ключовете </a:t>
            </a:r>
            <a:r>
              <a:rPr lang="bg-BG" sz="2800" b="1" i="1" dirty="0">
                <a:solidFill>
                  <a:schemeClr val="tx1"/>
                </a:solidFill>
                <a:effectLst/>
              </a:rPr>
              <a:t>k </a:t>
            </a:r>
            <a:r>
              <a:rPr lang="bg-BG" sz="2800" dirty="0">
                <a:solidFill>
                  <a:schemeClr val="tx1"/>
                </a:solidFill>
                <a:effectLst/>
              </a:rPr>
              <a:t>(напомняме, че елементите на множеството </a:t>
            </a:r>
            <a:r>
              <a:rPr lang="bg-BG" sz="2800" b="1" i="1" dirty="0">
                <a:solidFill>
                  <a:schemeClr val="tx1"/>
                </a:solidFill>
                <a:effectLst/>
              </a:rPr>
              <a:t>М</a:t>
            </a:r>
            <a:r>
              <a:rPr lang="bg-BG" sz="2800" dirty="0">
                <a:solidFill>
                  <a:schemeClr val="tx1"/>
                </a:solidFill>
                <a:effectLst/>
              </a:rPr>
              <a:t> са естествени числа от даден затворен интервал </a:t>
            </a:r>
            <a:r>
              <a:rPr lang="bg-BG" sz="2800" b="1" i="1" dirty="0">
                <a:solidFill>
                  <a:schemeClr val="tx1"/>
                </a:solidFill>
                <a:effectLst/>
              </a:rPr>
              <a:t>[a, b]</a:t>
            </a:r>
            <a:r>
              <a:rPr lang="bg-BG" sz="2800" dirty="0">
                <a:solidFill>
                  <a:schemeClr val="tx1"/>
                </a:solidFill>
                <a:effectLst/>
              </a:rPr>
              <a:t>, съдържащ </a:t>
            </a:r>
            <a:r>
              <a:rPr lang="bg-BG" sz="2800" b="1" i="1" dirty="0">
                <a:solidFill>
                  <a:schemeClr val="tx1"/>
                </a:solidFill>
                <a:effectLst/>
              </a:rPr>
              <a:t>k = b-a+1 </a:t>
            </a:r>
            <a:r>
              <a:rPr lang="bg-BG" sz="2800" dirty="0">
                <a:solidFill>
                  <a:schemeClr val="tx1"/>
                </a:solidFill>
                <a:effectLst/>
              </a:rPr>
              <a:t>цели числа. Не е задължително всяко число от интервала </a:t>
            </a:r>
            <a:r>
              <a:rPr lang="bg-BG" sz="2800" b="1" i="1" dirty="0">
                <a:solidFill>
                  <a:schemeClr val="tx1"/>
                </a:solidFill>
                <a:effectLst/>
              </a:rPr>
              <a:t>[a, b] </a:t>
            </a:r>
            <a:r>
              <a:rPr lang="bg-BG" sz="2800" dirty="0">
                <a:solidFill>
                  <a:schemeClr val="tx1"/>
                </a:solidFill>
                <a:effectLst/>
              </a:rPr>
              <a:t>да бъде елемент на множеството, но всички елементи на множеството трябва да са от интервала </a:t>
            </a:r>
            <a:r>
              <a:rPr lang="bg-BG" sz="2800" b="1" i="1" dirty="0">
                <a:solidFill>
                  <a:schemeClr val="tx1"/>
                </a:solidFill>
                <a:effectLst/>
              </a:rPr>
              <a:t>[a, b]</a:t>
            </a:r>
            <a:r>
              <a:rPr lang="bg-BG" sz="2800" dirty="0">
                <a:solidFill>
                  <a:schemeClr val="tx1"/>
                </a:solidFill>
                <a:effectLst/>
              </a:rPr>
              <a:t>). Очевидно е, че </a:t>
            </a:r>
            <a:r>
              <a:rPr lang="bg-BG" sz="2800" b="1" i="1" dirty="0">
                <a:solidFill>
                  <a:schemeClr val="tx1"/>
                </a:solidFill>
                <a:effectLst/>
              </a:rPr>
              <a:t>k</a:t>
            </a:r>
            <a:r>
              <a:rPr lang="bg-BG" sz="2800" dirty="0">
                <a:solidFill>
                  <a:schemeClr val="tx1"/>
                </a:solidFill>
                <a:effectLst/>
              </a:rPr>
              <a:t> може да бъде достатъчно голямо число и да не позволява </a:t>
            </a:r>
            <a:r>
              <a:rPr lang="bg-BG" sz="2800" dirty="0" err="1">
                <a:solidFill>
                  <a:schemeClr val="tx1"/>
                </a:solidFill>
                <a:effectLst/>
              </a:rPr>
              <a:t>заделяне</a:t>
            </a:r>
            <a:r>
              <a:rPr lang="bg-BG" sz="2800" dirty="0">
                <a:solidFill>
                  <a:schemeClr val="tx1"/>
                </a:solidFill>
                <a:effectLst/>
              </a:rPr>
              <a:t> на необходимия размер памет.</a:t>
            </a:r>
            <a:endParaRPr lang="bg-BG" sz="2800" dirty="0">
              <a:solidFill>
                <a:schemeClr val="tx1"/>
              </a:solidFill>
            </a:endParaRPr>
          </a:p>
        </p:txBody>
      </p:sp>
      <p:sp>
        <p:nvSpPr>
          <p:cNvPr id="3" name="Slide Number Placeholder 2"/>
          <p:cNvSpPr>
            <a:spLocks noGrp="1"/>
          </p:cNvSpPr>
          <p:nvPr>
            <p:ph type="sldNum" sz="quarter" idx="12"/>
          </p:nvPr>
        </p:nvSpPr>
        <p:spPr/>
        <p:txBody>
          <a:bodyPr/>
          <a:lstStyle/>
          <a:p>
            <a:pPr>
              <a:defRPr/>
            </a:pPr>
            <a:fld id="{B7284EC1-C5F9-4279-97D0-7C576E4C1C88}" type="slidenum">
              <a:rPr lang="en-US" smtClean="0"/>
              <a:pPr>
                <a:defRPr/>
              </a:pPr>
              <a:t>66</a:t>
            </a:fld>
            <a:endParaRPr lang="en-US"/>
          </a:p>
        </p:txBody>
      </p:sp>
    </p:spTree>
    <p:extLst>
      <p:ext uri="{BB962C8B-B14F-4D97-AF65-F5344CB8AC3E}">
        <p14:creationId xmlns:p14="http://schemas.microsoft.com/office/powerpoint/2010/main" val="14418599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274320"/>
            <a:ext cx="7746064" cy="6323032"/>
          </a:xfrm>
        </p:spPr>
        <p:txBody>
          <a:bodyPr>
            <a:normAutofit fontScale="90000"/>
          </a:bodyPr>
          <a:lstStyle/>
          <a:p>
            <a:r>
              <a:rPr lang="bg-BG" sz="3100" dirty="0">
                <a:effectLst/>
              </a:rPr>
              <a:t>	</a:t>
            </a:r>
            <a:r>
              <a:rPr lang="bg-BG" sz="3100" dirty="0" smtClean="0">
                <a:solidFill>
                  <a:schemeClr val="tx1"/>
                </a:solidFill>
                <a:effectLst/>
              </a:rPr>
              <a:t>Сортирането </a:t>
            </a:r>
            <a:r>
              <a:rPr lang="bg-BG" sz="3100" dirty="0">
                <a:solidFill>
                  <a:schemeClr val="tx1"/>
                </a:solidFill>
                <a:effectLst/>
              </a:rPr>
              <a:t>чрез броене преминава веднъж през елементите на множеството, което изисква време </a:t>
            </a:r>
            <a:r>
              <a:rPr lang="bg-BG" sz="3100" b="1" i="1" dirty="0">
                <a:solidFill>
                  <a:schemeClr val="tx1"/>
                </a:solidFill>
                <a:effectLst/>
              </a:rPr>
              <a:t>О(n)</a:t>
            </a:r>
            <a:r>
              <a:rPr lang="bg-BG" sz="3100" dirty="0">
                <a:solidFill>
                  <a:schemeClr val="tx1"/>
                </a:solidFill>
                <a:effectLst/>
              </a:rPr>
              <a:t>, и веднъж - през множеството от допустимите стойности на ключовете за време </a:t>
            </a:r>
            <a:r>
              <a:rPr lang="bg-BG" sz="3100" b="1" i="1" dirty="0">
                <a:solidFill>
                  <a:schemeClr val="tx1"/>
                </a:solidFill>
                <a:effectLst/>
              </a:rPr>
              <a:t>О(k)</a:t>
            </a:r>
            <a:r>
              <a:rPr lang="bg-BG" sz="3100" dirty="0">
                <a:solidFill>
                  <a:schemeClr val="tx1"/>
                </a:solidFill>
                <a:effectLst/>
              </a:rPr>
              <a:t>. Общата алгоритмична сложност става </a:t>
            </a:r>
            <a:r>
              <a:rPr lang="bg-BG" sz="3100" b="1" i="1" dirty="0">
                <a:solidFill>
                  <a:schemeClr val="tx1"/>
                </a:solidFill>
                <a:effectLst/>
              </a:rPr>
              <a:t>О(</a:t>
            </a:r>
            <a:r>
              <a:rPr lang="bg-BG" sz="3100" b="1" i="1" dirty="0" err="1">
                <a:solidFill>
                  <a:schemeClr val="tx1"/>
                </a:solidFill>
                <a:effectLst/>
              </a:rPr>
              <a:t>k+n</a:t>
            </a:r>
            <a:r>
              <a:rPr lang="bg-BG" sz="3100" b="1" i="1" dirty="0">
                <a:solidFill>
                  <a:schemeClr val="tx1"/>
                </a:solidFill>
                <a:effectLst/>
              </a:rPr>
              <a:t>)</a:t>
            </a:r>
            <a:r>
              <a:rPr lang="bg-BG" sz="3100" dirty="0">
                <a:solidFill>
                  <a:schemeClr val="tx1"/>
                </a:solidFill>
                <a:effectLst/>
              </a:rPr>
              <a:t>. Полученият резултат показва, че алгоритмът е линеен едновременно по </a:t>
            </a:r>
            <a:r>
              <a:rPr lang="bg-BG" sz="3100" b="1" i="1" dirty="0">
                <a:solidFill>
                  <a:schemeClr val="tx1"/>
                </a:solidFill>
                <a:effectLst/>
              </a:rPr>
              <a:t>k </a:t>
            </a:r>
            <a:r>
              <a:rPr lang="bg-BG" sz="3100" dirty="0">
                <a:solidFill>
                  <a:schemeClr val="tx1"/>
                </a:solidFill>
                <a:effectLst/>
              </a:rPr>
              <a:t>и</a:t>
            </a:r>
            <a:r>
              <a:rPr lang="bg-BG" sz="3100" b="1" i="1" dirty="0">
                <a:solidFill>
                  <a:schemeClr val="tx1"/>
                </a:solidFill>
                <a:effectLst/>
              </a:rPr>
              <a:t> n</a:t>
            </a:r>
            <a:r>
              <a:rPr lang="bg-BG" sz="3100" dirty="0">
                <a:solidFill>
                  <a:schemeClr val="tx1"/>
                </a:solidFill>
                <a:effectLst/>
              </a:rPr>
              <a:t> . </a:t>
            </a:r>
            <a:r>
              <a:rPr lang="bg-BG" sz="3100" dirty="0" smtClean="0">
                <a:solidFill>
                  <a:schemeClr val="tx1"/>
                </a:solidFill>
                <a:effectLst/>
              </a:rPr>
              <a:t>Нас ни </a:t>
            </a:r>
            <a:r>
              <a:rPr lang="bg-BG" sz="3100" dirty="0">
                <a:solidFill>
                  <a:schemeClr val="tx1"/>
                </a:solidFill>
                <a:effectLst/>
              </a:rPr>
              <a:t>интересува сложността на алгоритма по отношение на броя на елементите </a:t>
            </a:r>
            <a:r>
              <a:rPr lang="bg-BG" sz="3100" b="1" i="1" dirty="0">
                <a:solidFill>
                  <a:schemeClr val="tx1"/>
                </a:solidFill>
                <a:effectLst/>
              </a:rPr>
              <a:t>n</a:t>
            </a:r>
            <a:r>
              <a:rPr lang="bg-BG" sz="3100" dirty="0">
                <a:solidFill>
                  <a:schemeClr val="tx1"/>
                </a:solidFill>
                <a:effectLst/>
              </a:rPr>
              <a:t>. Но ако диапазонът на разглежданите стойности е голям, т.е. </a:t>
            </a:r>
            <a:r>
              <a:rPr lang="bg-BG" sz="3100" b="1" i="1" dirty="0">
                <a:solidFill>
                  <a:schemeClr val="tx1"/>
                </a:solidFill>
                <a:effectLst/>
              </a:rPr>
              <a:t>k&gt;n</a:t>
            </a:r>
            <a:r>
              <a:rPr lang="bg-BG" sz="3100" dirty="0">
                <a:solidFill>
                  <a:schemeClr val="tx1"/>
                </a:solidFill>
                <a:effectLst/>
              </a:rPr>
              <a:t>, например, </a:t>
            </a:r>
            <a:r>
              <a:rPr lang="bg-BG" sz="3100" b="1" i="1" dirty="0">
                <a:solidFill>
                  <a:schemeClr val="tx1"/>
                </a:solidFill>
                <a:effectLst/>
              </a:rPr>
              <a:t>k=n</a:t>
            </a:r>
            <a:r>
              <a:rPr lang="bg-BG" sz="3100" b="1" i="1" baseline="30000" dirty="0">
                <a:solidFill>
                  <a:schemeClr val="tx1"/>
                </a:solidFill>
                <a:effectLst/>
              </a:rPr>
              <a:t>3</a:t>
            </a:r>
            <a:r>
              <a:rPr lang="bg-BG" sz="3100" b="1" i="1" dirty="0">
                <a:solidFill>
                  <a:schemeClr val="tx1"/>
                </a:solidFill>
                <a:effectLst/>
              </a:rPr>
              <a:t>,</a:t>
            </a:r>
            <a:r>
              <a:rPr lang="bg-BG" sz="3100" dirty="0">
                <a:solidFill>
                  <a:schemeClr val="tx1"/>
                </a:solidFill>
                <a:effectLst/>
              </a:rPr>
              <a:t> то сложността на алгоритма става </a:t>
            </a:r>
            <a:r>
              <a:rPr lang="bg-BG" sz="3100" b="1" i="1" dirty="0">
                <a:solidFill>
                  <a:schemeClr val="tx1"/>
                </a:solidFill>
                <a:effectLst/>
              </a:rPr>
              <a:t>О(n</a:t>
            </a:r>
            <a:r>
              <a:rPr lang="bg-BG" sz="3100" b="1" i="1" baseline="30000" dirty="0">
                <a:solidFill>
                  <a:schemeClr val="tx1"/>
                </a:solidFill>
                <a:effectLst/>
              </a:rPr>
              <a:t>3</a:t>
            </a:r>
            <a:r>
              <a:rPr lang="bg-BG" sz="3100" b="1" i="1" dirty="0">
                <a:solidFill>
                  <a:schemeClr val="tx1"/>
                </a:solidFill>
                <a:effectLst/>
              </a:rPr>
              <a:t>)</a:t>
            </a:r>
            <a:r>
              <a:rPr lang="bg-BG" sz="3100" dirty="0">
                <a:solidFill>
                  <a:schemeClr val="tx1"/>
                </a:solidFill>
                <a:effectLst/>
              </a:rPr>
              <a:t>. Получаваме сериозна неефективност, което трябва да се има предвид</a:t>
            </a:r>
            <a:r>
              <a:rPr lang="bg-BG" sz="3100" dirty="0" smtClean="0">
                <a:solidFill>
                  <a:schemeClr val="tx1"/>
                </a:solidFill>
                <a:effectLst/>
              </a:rPr>
              <a:t>.</a:t>
            </a:r>
            <a:endParaRPr lang="bg-BG" dirty="0">
              <a:solidFill>
                <a:schemeClr val="tx1"/>
              </a:solidFill>
            </a:endParaRPr>
          </a:p>
        </p:txBody>
      </p:sp>
      <p:sp>
        <p:nvSpPr>
          <p:cNvPr id="3" name="Slide Number Placeholder 2"/>
          <p:cNvSpPr>
            <a:spLocks noGrp="1"/>
          </p:cNvSpPr>
          <p:nvPr>
            <p:ph type="sldNum" sz="quarter" idx="12"/>
          </p:nvPr>
        </p:nvSpPr>
        <p:spPr/>
        <p:txBody>
          <a:bodyPr/>
          <a:lstStyle/>
          <a:p>
            <a:pPr>
              <a:defRPr/>
            </a:pPr>
            <a:fld id="{B7284EC1-C5F9-4279-97D0-7C576E4C1C88}" type="slidenum">
              <a:rPr lang="en-US" smtClean="0"/>
              <a:pPr>
                <a:defRPr/>
              </a:pPr>
              <a:t>67</a:t>
            </a:fld>
            <a:endParaRPr lang="en-US"/>
          </a:p>
        </p:txBody>
      </p:sp>
    </p:spTree>
    <p:extLst>
      <p:ext uri="{BB962C8B-B14F-4D97-AF65-F5344CB8AC3E}">
        <p14:creationId xmlns:p14="http://schemas.microsoft.com/office/powerpoint/2010/main" val="42700359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616" y="274320"/>
            <a:ext cx="8028384" cy="6323032"/>
          </a:xfrm>
        </p:spPr>
        <p:txBody>
          <a:bodyPr>
            <a:normAutofit fontScale="90000"/>
          </a:bodyPr>
          <a:lstStyle/>
          <a:p>
            <a:pPr>
              <a:lnSpc>
                <a:spcPct val="90000"/>
              </a:lnSpc>
            </a:pPr>
            <a:r>
              <a:rPr lang="bg-BG" sz="2800" b="1" i="1" dirty="0" smtClean="0">
                <a:effectLst/>
              </a:rPr>
              <a:t>3. </a:t>
            </a:r>
            <a:r>
              <a:rPr lang="bg-BG" sz="2800" b="1" i="1" dirty="0" err="1" smtClean="0">
                <a:solidFill>
                  <a:schemeClr val="tx1"/>
                </a:solidFill>
                <a:effectLst/>
              </a:rPr>
              <a:t>Побитово</a:t>
            </a:r>
            <a:r>
              <a:rPr lang="bg-BG" sz="2800" b="1" i="1" dirty="0" smtClean="0">
                <a:solidFill>
                  <a:schemeClr val="tx1"/>
                </a:solidFill>
                <a:effectLst/>
              </a:rPr>
              <a:t> </a:t>
            </a:r>
            <a:r>
              <a:rPr lang="bg-BG" sz="2800" b="1" i="1" dirty="0">
                <a:solidFill>
                  <a:schemeClr val="tx1"/>
                </a:solidFill>
                <a:effectLst/>
              </a:rPr>
              <a:t>сортиране</a:t>
            </a:r>
            <a:r>
              <a:rPr lang="bg-BG" sz="3100" dirty="0" smtClean="0">
                <a:solidFill>
                  <a:schemeClr val="tx1"/>
                </a:solidFill>
                <a:effectLst/>
              </a:rPr>
              <a:t/>
            </a:r>
            <a:br>
              <a:rPr lang="bg-BG" sz="3100" dirty="0" smtClean="0">
                <a:solidFill>
                  <a:schemeClr val="tx1"/>
                </a:solidFill>
                <a:effectLst/>
              </a:rPr>
            </a:br>
            <a:r>
              <a:rPr lang="bg-BG" sz="3100" dirty="0" smtClean="0">
                <a:solidFill>
                  <a:schemeClr val="tx1"/>
                </a:solidFill>
                <a:effectLst/>
              </a:rPr>
              <a:t>Идеята </a:t>
            </a:r>
            <a:r>
              <a:rPr lang="bg-BG" sz="3100" dirty="0">
                <a:solidFill>
                  <a:schemeClr val="tx1"/>
                </a:solidFill>
                <a:effectLst/>
              </a:rPr>
              <a:t>на </a:t>
            </a:r>
            <a:r>
              <a:rPr lang="bg-BG" sz="3100" dirty="0" err="1">
                <a:solidFill>
                  <a:schemeClr val="tx1"/>
                </a:solidFill>
                <a:effectLst/>
              </a:rPr>
              <a:t>побитово</a:t>
            </a:r>
            <a:r>
              <a:rPr lang="bg-BG" sz="3100" dirty="0">
                <a:solidFill>
                  <a:schemeClr val="tx1"/>
                </a:solidFill>
                <a:effectLst/>
              </a:rPr>
              <a:t> сортиране до голяма степен се основава на двоичното вътрешно представяне на числата в компютъра. Нека е зададено множество от цели числа без знак, чиито елементи ще сортираме. Разделяме числата в два списъка в зависимост от стойността на най-младшия им двоичен разред. Четните числа попадат в първия списък, а нечетните – във втория. След това вторият списък се добавя към края на първия, при което се образува общ списък. За разлика от сортирането чрез броене, тук новия елемент се слага в края на съответния </a:t>
            </a:r>
            <a:r>
              <a:rPr lang="bg-BG" sz="3100" dirty="0" smtClean="0">
                <a:solidFill>
                  <a:schemeClr val="tx1"/>
                </a:solidFill>
                <a:effectLst/>
              </a:rPr>
              <a:t>списък. </a:t>
            </a:r>
            <a:r>
              <a:rPr lang="bg-BG" sz="3100" dirty="0">
                <a:solidFill>
                  <a:schemeClr val="tx1"/>
                </a:solidFill>
                <a:effectLst/>
              </a:rPr>
              <a:t>Повтаряме операцията с предпоследния бит, след което с пред-предпоследния и т.н. до най-старшия бит. </a:t>
            </a:r>
            <a:r>
              <a:rPr lang="bg-BG" sz="3100" dirty="0" smtClean="0">
                <a:solidFill>
                  <a:schemeClr val="tx1"/>
                </a:solidFill>
                <a:effectLst/>
              </a:rPr>
              <a:t>Описаният </a:t>
            </a:r>
            <a:r>
              <a:rPr lang="bg-BG" sz="3100" dirty="0">
                <a:solidFill>
                  <a:schemeClr val="tx1"/>
                </a:solidFill>
                <a:effectLst/>
              </a:rPr>
              <a:t>процес води до получаване на сортирана последователност</a:t>
            </a:r>
            <a:r>
              <a:rPr lang="bg-BG" sz="3100" dirty="0" smtClean="0">
                <a:solidFill>
                  <a:schemeClr val="tx1"/>
                </a:solidFill>
                <a:effectLst/>
              </a:rPr>
              <a:t>:</a:t>
            </a:r>
            <a:endParaRPr lang="bg-BG" dirty="0">
              <a:solidFill>
                <a:schemeClr val="tx1"/>
              </a:solidFill>
            </a:endParaRPr>
          </a:p>
        </p:txBody>
      </p:sp>
      <p:sp>
        <p:nvSpPr>
          <p:cNvPr id="3" name="Slide Number Placeholder 2"/>
          <p:cNvSpPr>
            <a:spLocks noGrp="1"/>
          </p:cNvSpPr>
          <p:nvPr>
            <p:ph type="sldNum" sz="quarter" idx="12"/>
          </p:nvPr>
        </p:nvSpPr>
        <p:spPr/>
        <p:txBody>
          <a:bodyPr/>
          <a:lstStyle/>
          <a:p>
            <a:pPr>
              <a:defRPr/>
            </a:pPr>
            <a:fld id="{B7284EC1-C5F9-4279-97D0-7C576E4C1C88}" type="slidenum">
              <a:rPr lang="en-US" smtClean="0"/>
              <a:pPr>
                <a:defRPr/>
              </a:pPr>
              <a:t>68</a:t>
            </a:fld>
            <a:endParaRPr lang="en-US"/>
          </a:p>
        </p:txBody>
      </p:sp>
    </p:spTree>
    <p:extLst>
      <p:ext uri="{BB962C8B-B14F-4D97-AF65-F5344CB8AC3E}">
        <p14:creationId xmlns:p14="http://schemas.microsoft.com/office/powerpoint/2010/main" val="18516911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435608" y="274320"/>
            <a:ext cx="7498080" cy="6035000"/>
          </a:xfrm>
        </p:spPr>
        <p:txBody>
          <a:bodyPr>
            <a:normAutofit/>
          </a:bodyPr>
          <a:lstStyle/>
          <a:p>
            <a:r>
              <a:rPr lang="bg-BG" sz="2000" dirty="0" smtClean="0">
                <a:solidFill>
                  <a:schemeClr val="tx1"/>
                </a:solidFill>
                <a:latin typeface="Arial" pitchFamily="34" charset="0"/>
                <a:cs typeface="Arial" pitchFamily="34" charset="0"/>
              </a:rPr>
              <a:t>Например, имаме следната входна последователност от данни:</a:t>
            </a:r>
            <a:br>
              <a:rPr lang="bg-BG" sz="2000" dirty="0" smtClean="0">
                <a:solidFill>
                  <a:schemeClr val="tx1"/>
                </a:solidFill>
                <a:latin typeface="Arial" pitchFamily="34" charset="0"/>
                <a:cs typeface="Arial" pitchFamily="34" charset="0"/>
              </a:rPr>
            </a:br>
            <a:r>
              <a:rPr lang="bg-BG" sz="2000" dirty="0" smtClean="0">
                <a:solidFill>
                  <a:schemeClr val="tx1"/>
                </a:solidFill>
                <a:latin typeface="Arial" pitchFamily="34" charset="0"/>
                <a:cs typeface="Arial" pitchFamily="34" charset="0"/>
              </a:rPr>
              <a:t> </a:t>
            </a:r>
            <a:br>
              <a:rPr lang="bg-BG" sz="2000" dirty="0" smtClean="0">
                <a:solidFill>
                  <a:schemeClr val="tx1"/>
                </a:solidFill>
                <a:latin typeface="Arial" pitchFamily="34" charset="0"/>
                <a:cs typeface="Arial" pitchFamily="34" charset="0"/>
              </a:rPr>
            </a:b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5	7</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2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1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4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5</a:t>
            </a:r>
            <a:br>
              <a:rPr lang="bg-BG" sz="2000" dirty="0" smtClean="0">
                <a:solidFill>
                  <a:schemeClr val="tx1"/>
                </a:solidFill>
                <a:latin typeface="Arial" pitchFamily="34" charset="0"/>
                <a:cs typeface="Arial" pitchFamily="34" charset="0"/>
              </a:rPr>
            </a:br>
            <a:r>
              <a:rPr lang="bg-BG" sz="2000" dirty="0" smtClean="0">
                <a:solidFill>
                  <a:schemeClr val="tx1"/>
                </a:solidFill>
                <a:latin typeface="Arial" pitchFamily="34" charset="0"/>
                <a:cs typeface="Arial" pitchFamily="34" charset="0"/>
              </a:rPr>
              <a:t>Двоичните кодове са:</a:t>
            </a:r>
            <a:br>
              <a:rPr lang="bg-BG" sz="2000" dirty="0" smtClean="0">
                <a:solidFill>
                  <a:schemeClr val="tx1"/>
                </a:solidFill>
                <a:latin typeface="Arial" pitchFamily="34" charset="0"/>
                <a:cs typeface="Arial" pitchFamily="34" charset="0"/>
              </a:rPr>
            </a:br>
            <a:r>
              <a:rPr lang="bg-BG" sz="2000" dirty="0" smtClean="0">
                <a:solidFill>
                  <a:schemeClr val="tx1"/>
                </a:solidFill>
                <a:latin typeface="Arial" pitchFamily="34" charset="0"/>
                <a:cs typeface="Arial" pitchFamily="34" charset="0"/>
              </a:rPr>
              <a:t>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 10</a:t>
            </a:r>
            <a:r>
              <a:rPr lang="en-US" sz="2000" dirty="0" smtClean="0">
                <a:solidFill>
                  <a:schemeClr val="tx1"/>
                </a:solidFill>
                <a:latin typeface="Arial" pitchFamily="34" charset="0"/>
                <a:cs typeface="Arial" pitchFamily="34" charset="0"/>
              </a:rPr>
              <a:t>1       </a:t>
            </a:r>
            <a:r>
              <a:rPr lang="bg-BG" sz="2000" dirty="0" smtClean="0">
                <a:solidFill>
                  <a:schemeClr val="tx1"/>
                </a:solidFill>
                <a:latin typeface="Arial" pitchFamily="34" charset="0"/>
                <a:cs typeface="Arial" pitchFamily="34" charset="0"/>
              </a:rPr>
              <a:t>11</a:t>
            </a:r>
            <a:r>
              <a:rPr lang="en-US" sz="2000" dirty="0" smtClean="0">
                <a:solidFill>
                  <a:schemeClr val="tx1"/>
                </a:solidFill>
                <a:latin typeface="Arial" pitchFamily="34" charset="0"/>
                <a:cs typeface="Arial" pitchFamily="34" charset="0"/>
              </a:rPr>
              <a:t>1       </a:t>
            </a:r>
            <a:r>
              <a:rPr lang="bg-BG" sz="2000" dirty="0" smtClean="0">
                <a:solidFill>
                  <a:schemeClr val="tx1"/>
                </a:solidFill>
                <a:latin typeface="Arial" pitchFamily="34" charset="0"/>
                <a:cs typeface="Arial" pitchFamily="34" charset="0"/>
              </a:rPr>
              <a:t>010</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 001</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 100</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 101</a:t>
            </a:r>
            <a:br>
              <a:rPr lang="bg-BG" sz="2000" dirty="0" smtClean="0">
                <a:solidFill>
                  <a:schemeClr val="tx1"/>
                </a:solidFill>
                <a:latin typeface="Arial" pitchFamily="34" charset="0"/>
                <a:cs typeface="Arial" pitchFamily="34" charset="0"/>
              </a:rPr>
            </a:br>
            <a:r>
              <a:rPr lang="bg-BG" sz="2000" dirty="0" smtClean="0">
                <a:solidFill>
                  <a:schemeClr val="tx1"/>
                </a:solidFill>
                <a:latin typeface="Arial" pitchFamily="34" charset="0"/>
                <a:cs typeface="Arial" pitchFamily="34" charset="0"/>
              </a:rPr>
              <a:t> </a:t>
            </a:r>
            <a:br>
              <a:rPr lang="bg-BG" sz="2000" dirty="0" smtClean="0">
                <a:solidFill>
                  <a:schemeClr val="tx1"/>
                </a:solidFill>
                <a:latin typeface="Arial" pitchFamily="34" charset="0"/>
                <a:cs typeface="Arial" pitchFamily="34" charset="0"/>
              </a:rPr>
            </a:br>
            <a:r>
              <a:rPr lang="bg-BG" sz="2000" dirty="0" smtClean="0">
                <a:solidFill>
                  <a:schemeClr val="tx1"/>
                </a:solidFill>
                <a:latin typeface="Arial" pitchFamily="34" charset="0"/>
                <a:cs typeface="Arial" pitchFamily="34" charset="0"/>
              </a:rPr>
              <a:t>Разделяне и подреждане по най-младшия бит (0-вия):</a:t>
            </a:r>
            <a:br>
              <a:rPr lang="bg-BG" sz="2000" dirty="0" smtClean="0">
                <a:solidFill>
                  <a:schemeClr val="tx1"/>
                </a:solidFill>
                <a:latin typeface="Arial" pitchFamily="34" charset="0"/>
                <a:cs typeface="Arial" pitchFamily="34" charset="0"/>
              </a:rPr>
            </a:b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2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4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5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7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1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5</a:t>
            </a:r>
            <a:br>
              <a:rPr lang="bg-BG" sz="2000" dirty="0" smtClean="0">
                <a:solidFill>
                  <a:schemeClr val="tx1"/>
                </a:solidFill>
                <a:latin typeface="Arial" pitchFamily="34" charset="0"/>
                <a:cs typeface="Arial" pitchFamily="34" charset="0"/>
              </a:rPr>
            </a:br>
            <a:r>
              <a:rPr lang="bg-BG" sz="2000" dirty="0" smtClean="0">
                <a:solidFill>
                  <a:schemeClr val="tx1"/>
                </a:solidFill>
                <a:latin typeface="Arial" pitchFamily="34" charset="0"/>
                <a:cs typeface="Arial" pitchFamily="34" charset="0"/>
              </a:rPr>
              <a:t>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 010	 100	+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10</a:t>
            </a:r>
            <a:r>
              <a:rPr lang="en-US" sz="2000" dirty="0" smtClean="0">
                <a:solidFill>
                  <a:schemeClr val="tx1"/>
                </a:solidFill>
                <a:latin typeface="Arial" pitchFamily="34" charset="0"/>
                <a:cs typeface="Arial" pitchFamily="34" charset="0"/>
              </a:rPr>
              <a:t>1     </a:t>
            </a:r>
            <a:r>
              <a:rPr lang="bg-BG" sz="2000" dirty="0" smtClean="0">
                <a:solidFill>
                  <a:schemeClr val="tx1"/>
                </a:solidFill>
                <a:latin typeface="Arial" pitchFamily="34" charset="0"/>
                <a:cs typeface="Arial" pitchFamily="34" charset="0"/>
              </a:rPr>
              <a:t>111	      001	     101</a:t>
            </a:r>
            <a:br>
              <a:rPr lang="bg-BG" sz="2000" dirty="0" smtClean="0">
                <a:solidFill>
                  <a:schemeClr val="tx1"/>
                </a:solidFill>
                <a:latin typeface="Arial" pitchFamily="34" charset="0"/>
                <a:cs typeface="Arial" pitchFamily="34" charset="0"/>
              </a:rPr>
            </a:br>
            <a:r>
              <a:rPr lang="bg-BG" sz="2000" dirty="0" smtClean="0">
                <a:solidFill>
                  <a:schemeClr val="tx1"/>
                </a:solidFill>
                <a:latin typeface="Arial" pitchFamily="34" charset="0"/>
                <a:cs typeface="Arial" pitchFamily="34" charset="0"/>
              </a:rPr>
              <a:t> </a:t>
            </a:r>
            <a:br>
              <a:rPr lang="bg-BG" sz="2000" dirty="0" smtClean="0">
                <a:solidFill>
                  <a:schemeClr val="tx1"/>
                </a:solidFill>
                <a:latin typeface="Arial" pitchFamily="34" charset="0"/>
                <a:cs typeface="Arial" pitchFamily="34" charset="0"/>
              </a:rPr>
            </a:br>
            <a:r>
              <a:rPr lang="bg-BG" sz="2000" dirty="0" smtClean="0">
                <a:solidFill>
                  <a:schemeClr val="tx1"/>
                </a:solidFill>
                <a:latin typeface="Arial" pitchFamily="34" charset="0"/>
                <a:cs typeface="Arial" pitchFamily="34" charset="0"/>
              </a:rPr>
              <a:t>Разделяне и подреждане по 1-вия бит:</a:t>
            </a:r>
            <a:br>
              <a:rPr lang="bg-BG" sz="2000" dirty="0" smtClean="0">
                <a:solidFill>
                  <a:schemeClr val="tx1"/>
                </a:solidFill>
                <a:latin typeface="Arial" pitchFamily="34" charset="0"/>
                <a:cs typeface="Arial" pitchFamily="34" charset="0"/>
              </a:rPr>
            </a:b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4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5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1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5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2</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7</a:t>
            </a:r>
            <a:br>
              <a:rPr lang="bg-BG" sz="2000" dirty="0" smtClean="0">
                <a:solidFill>
                  <a:schemeClr val="tx1"/>
                </a:solidFill>
                <a:latin typeface="Arial" pitchFamily="34" charset="0"/>
                <a:cs typeface="Arial" pitchFamily="34" charset="0"/>
              </a:rPr>
            </a:br>
            <a:r>
              <a:rPr lang="bg-BG" sz="2000" dirty="0" smtClean="0">
                <a:solidFill>
                  <a:schemeClr val="tx1"/>
                </a:solidFill>
                <a:latin typeface="Arial" pitchFamily="34" charset="0"/>
                <a:cs typeface="Arial" pitchFamily="34" charset="0"/>
              </a:rPr>
              <a:t>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100	101</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 001	101	+     01</a:t>
            </a:r>
            <a:r>
              <a:rPr lang="en-US" sz="2000" dirty="0" smtClean="0">
                <a:solidFill>
                  <a:schemeClr val="tx1"/>
                </a:solidFill>
                <a:latin typeface="Arial" pitchFamily="34" charset="0"/>
                <a:cs typeface="Arial" pitchFamily="34" charset="0"/>
              </a:rPr>
              <a:t>0     </a:t>
            </a:r>
            <a:r>
              <a:rPr lang="bg-BG" sz="2000" dirty="0" smtClean="0">
                <a:solidFill>
                  <a:schemeClr val="tx1"/>
                </a:solidFill>
                <a:latin typeface="Arial" pitchFamily="34" charset="0"/>
                <a:cs typeface="Arial" pitchFamily="34" charset="0"/>
              </a:rPr>
              <a:t>111</a:t>
            </a:r>
            <a:br>
              <a:rPr lang="bg-BG" sz="2000" dirty="0" smtClean="0">
                <a:solidFill>
                  <a:schemeClr val="tx1"/>
                </a:solidFill>
                <a:latin typeface="Arial" pitchFamily="34" charset="0"/>
                <a:cs typeface="Arial" pitchFamily="34" charset="0"/>
              </a:rPr>
            </a:br>
            <a:r>
              <a:rPr lang="bg-BG" sz="2000" dirty="0" smtClean="0">
                <a:solidFill>
                  <a:schemeClr val="tx1"/>
                </a:solidFill>
                <a:latin typeface="Arial" pitchFamily="34" charset="0"/>
                <a:cs typeface="Arial" pitchFamily="34" charset="0"/>
              </a:rPr>
              <a:t> </a:t>
            </a:r>
            <a:br>
              <a:rPr lang="bg-BG" sz="2000" dirty="0" smtClean="0">
                <a:solidFill>
                  <a:schemeClr val="tx1"/>
                </a:solidFill>
                <a:latin typeface="Arial" pitchFamily="34" charset="0"/>
                <a:cs typeface="Arial" pitchFamily="34" charset="0"/>
              </a:rPr>
            </a:br>
            <a:r>
              <a:rPr lang="bg-BG" sz="2000" dirty="0" smtClean="0">
                <a:solidFill>
                  <a:schemeClr val="tx1"/>
                </a:solidFill>
                <a:latin typeface="Arial" pitchFamily="34" charset="0"/>
                <a:cs typeface="Arial" pitchFamily="34" charset="0"/>
              </a:rPr>
              <a:t>Разделяне и подреждане по 2-рия (най-старшия) бит:</a:t>
            </a:r>
            <a:br>
              <a:rPr lang="bg-BG" sz="2000" dirty="0" smtClean="0">
                <a:solidFill>
                  <a:schemeClr val="tx1"/>
                </a:solidFill>
                <a:latin typeface="Arial" pitchFamily="34" charset="0"/>
                <a:cs typeface="Arial" pitchFamily="34" charset="0"/>
              </a:rPr>
            </a:b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1	2</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4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5	</a:t>
            </a:r>
            <a:r>
              <a:rPr lang="bg-BG" sz="2000" dirty="0" err="1" smtClean="0">
                <a:solidFill>
                  <a:schemeClr val="tx1"/>
                </a:solidFill>
                <a:latin typeface="Arial" pitchFamily="34" charset="0"/>
                <a:cs typeface="Arial" pitchFamily="34" charset="0"/>
              </a:rPr>
              <a:t>5</a:t>
            </a:r>
            <a:r>
              <a:rPr lang="bg-BG" sz="2000" dirty="0" smtClean="0">
                <a:solidFill>
                  <a:schemeClr val="tx1"/>
                </a:solidFill>
                <a:latin typeface="Arial" pitchFamily="34" charset="0"/>
                <a:cs typeface="Arial" pitchFamily="34" charset="0"/>
              </a:rPr>
              <a:t>	7</a:t>
            </a:r>
            <a:br>
              <a:rPr lang="bg-BG" sz="2000" dirty="0" smtClean="0">
                <a:solidFill>
                  <a:schemeClr val="tx1"/>
                </a:solidFill>
                <a:latin typeface="Arial" pitchFamily="34" charset="0"/>
                <a:cs typeface="Arial" pitchFamily="34" charset="0"/>
              </a:rPr>
            </a:br>
            <a:r>
              <a:rPr lang="bg-BG" sz="2000" dirty="0" smtClean="0">
                <a:solidFill>
                  <a:schemeClr val="tx1"/>
                </a:solidFill>
                <a:latin typeface="Arial" pitchFamily="34" charset="0"/>
                <a:cs typeface="Arial" pitchFamily="34" charset="0"/>
              </a:rPr>
              <a:t>       </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001</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010</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   100</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101</a:t>
            </a:r>
            <a:r>
              <a:rPr lang="en-US" sz="2000" dirty="0" smtClean="0">
                <a:solidFill>
                  <a:schemeClr val="tx1"/>
                </a:solidFill>
                <a:latin typeface="Arial" pitchFamily="34" charset="0"/>
                <a:cs typeface="Arial" pitchFamily="34" charset="0"/>
              </a:rPr>
              <a:t>      </a:t>
            </a:r>
            <a:r>
              <a:rPr lang="bg-BG" sz="2000" dirty="0" smtClean="0">
                <a:solidFill>
                  <a:schemeClr val="tx1"/>
                </a:solidFill>
                <a:latin typeface="Arial" pitchFamily="34" charset="0"/>
                <a:cs typeface="Arial" pitchFamily="34" charset="0"/>
              </a:rPr>
              <a:t>10</a:t>
            </a:r>
            <a:r>
              <a:rPr lang="en-US" sz="2000" dirty="0" smtClean="0">
                <a:solidFill>
                  <a:schemeClr val="tx1"/>
                </a:solidFill>
                <a:latin typeface="Arial" pitchFamily="34" charset="0"/>
                <a:cs typeface="Arial" pitchFamily="34" charset="0"/>
              </a:rPr>
              <a:t>1      </a:t>
            </a:r>
            <a:r>
              <a:rPr lang="bg-BG" sz="2000" dirty="0" smtClean="0">
                <a:solidFill>
                  <a:schemeClr val="tx1"/>
                </a:solidFill>
                <a:latin typeface="Arial" pitchFamily="34" charset="0"/>
                <a:cs typeface="Arial" pitchFamily="34" charset="0"/>
              </a:rPr>
              <a:t> 111</a:t>
            </a:r>
            <a:endParaRPr lang="bg-BG" dirty="0">
              <a:solidFill>
                <a:schemeClr val="tx1"/>
              </a:solidFill>
              <a:latin typeface="Arial" pitchFamily="34" charset="0"/>
              <a:cs typeface="Arial" pitchFamily="34" charset="0"/>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259632" y="274320"/>
            <a:ext cx="7674056" cy="6323032"/>
          </a:xfrm>
        </p:spPr>
        <p:txBody>
          <a:bodyPr>
            <a:noAutofit/>
          </a:bodyPr>
          <a:lstStyle/>
          <a:p>
            <a:r>
              <a:rPr lang="en-US" sz="2800" b="1" dirty="0" smtClean="0"/>
              <a:t>	</a:t>
            </a:r>
            <a:r>
              <a:rPr lang="bg-BG" sz="2800" b="1" dirty="0" smtClean="0">
                <a:solidFill>
                  <a:schemeClr val="tx1"/>
                </a:solidFill>
              </a:rPr>
              <a:t>Методът е устойчив!</a:t>
            </a:r>
            <a:r>
              <a:rPr lang="bg-BG" sz="2800" dirty="0" smtClean="0">
                <a:solidFill>
                  <a:schemeClr val="tx1"/>
                </a:solidFill>
              </a:rPr>
              <a:t/>
            </a:r>
            <a:br>
              <a:rPr lang="bg-BG" sz="2800" dirty="0" smtClean="0">
                <a:solidFill>
                  <a:schemeClr val="tx1"/>
                </a:solidFill>
              </a:rPr>
            </a:br>
            <a:r>
              <a:rPr lang="bg-BG" sz="2800" dirty="0" smtClean="0">
                <a:solidFill>
                  <a:schemeClr val="tx1"/>
                </a:solidFill>
              </a:rPr>
              <a:t>	Изхождайки от вътрешното представяне на данните в компютъра, не е трудно да се съобрази, че описания метод е приложим (с минимални модификации) за сортиране на произволен тип данни (масиви, записи, </a:t>
            </a:r>
            <a:r>
              <a:rPr lang="bg-BG" sz="2800" dirty="0" err="1" smtClean="0">
                <a:solidFill>
                  <a:schemeClr val="tx1"/>
                </a:solidFill>
              </a:rPr>
              <a:t>низове</a:t>
            </a:r>
            <a:r>
              <a:rPr lang="bg-BG" sz="2800" dirty="0" smtClean="0">
                <a:solidFill>
                  <a:schemeClr val="tx1"/>
                </a:solidFill>
              </a:rPr>
              <a:t>). Но има и проблеми – сортиране на отрицателни числа (вътрешно се представят в допълнителен код) и на числа с плаваща запетая.</a:t>
            </a:r>
            <a:br>
              <a:rPr lang="bg-BG" sz="2800" dirty="0" smtClean="0">
                <a:solidFill>
                  <a:schemeClr val="tx1"/>
                </a:solidFill>
              </a:rPr>
            </a:br>
            <a:r>
              <a:rPr lang="bg-BG" sz="2800" dirty="0" smtClean="0">
                <a:solidFill>
                  <a:schemeClr val="tx1"/>
                </a:solidFill>
              </a:rPr>
              <a:t>	Реализацията може да бъде динамична (чрез списъци) или масиви. </a:t>
            </a:r>
            <a:br>
              <a:rPr lang="bg-BG" sz="2800" dirty="0" smtClean="0">
                <a:solidFill>
                  <a:schemeClr val="tx1"/>
                </a:solidFill>
              </a:rPr>
            </a:br>
            <a:r>
              <a:rPr lang="bg-BG" sz="2800" dirty="0" smtClean="0">
                <a:solidFill>
                  <a:schemeClr val="tx1"/>
                </a:solidFill>
              </a:rPr>
              <a:t>В източника [3] - Преслав Наков, Панайот </a:t>
            </a:r>
            <a:r>
              <a:rPr lang="bg-BG" sz="2800" dirty="0" err="1" smtClean="0">
                <a:solidFill>
                  <a:schemeClr val="tx1"/>
                </a:solidFill>
              </a:rPr>
              <a:t>Добриков</a:t>
            </a:r>
            <a:r>
              <a:rPr lang="bg-BG" sz="2800" dirty="0" smtClean="0">
                <a:solidFill>
                  <a:schemeClr val="tx1"/>
                </a:solidFill>
              </a:rPr>
              <a:t>. </a:t>
            </a:r>
            <a:r>
              <a:rPr lang="bg-BG" sz="2800" i="1" dirty="0" smtClean="0">
                <a:solidFill>
                  <a:schemeClr val="tx1"/>
                </a:solidFill>
              </a:rPr>
              <a:t>Програмиране = ++Алгоритми</a:t>
            </a:r>
            <a:r>
              <a:rPr lang="bg-BG" sz="2800" dirty="0" smtClean="0">
                <a:solidFill>
                  <a:schemeClr val="tx1"/>
                </a:solidFill>
              </a:rPr>
              <a:t>, може да се намери пример, реализиран чрез динамични списъци.</a:t>
            </a:r>
            <a:endParaRPr lang="bg-BG" sz="2800" dirty="0">
              <a:solidFill>
                <a:schemeClr val="tx1"/>
              </a:solidFill>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435608" y="274320"/>
            <a:ext cx="7498080" cy="6323032"/>
          </a:xfrm>
        </p:spPr>
        <p:txBody>
          <a:bodyPr>
            <a:normAutofit/>
          </a:bodyPr>
          <a:lstStyle/>
          <a:p>
            <a:r>
              <a:rPr lang="en-US" sz="2800" dirty="0" smtClean="0">
                <a:solidFill>
                  <a:schemeClr val="tx1"/>
                </a:solidFill>
              </a:rPr>
              <a:t>	</a:t>
            </a:r>
            <a:r>
              <a:rPr lang="bg-BG" sz="2800" dirty="0" smtClean="0">
                <a:solidFill>
                  <a:schemeClr val="tx1"/>
                </a:solidFill>
              </a:rPr>
              <a:t>Побитовото сортиране е линейно и има сложност от порядъка на C*n, където С е броят на разредите на сортираните числа.</a:t>
            </a:r>
            <a:br>
              <a:rPr lang="bg-BG" sz="2800" dirty="0" smtClean="0">
                <a:solidFill>
                  <a:schemeClr val="tx1"/>
                </a:solidFill>
              </a:rPr>
            </a:br>
            <a:r>
              <a:rPr lang="bg-BG" sz="2800" dirty="0" smtClean="0">
                <a:solidFill>
                  <a:schemeClr val="tx1"/>
                </a:solidFill>
              </a:rPr>
              <a:t>	Алгоритмът може да се обърне и да преглежда битовете от най-старшия към най младшия.</a:t>
            </a:r>
            <a:br>
              <a:rPr lang="bg-BG" sz="2800" dirty="0" smtClean="0">
                <a:solidFill>
                  <a:schemeClr val="tx1"/>
                </a:solidFill>
              </a:rPr>
            </a:br>
            <a:r>
              <a:rPr lang="bg-BG" sz="2800" dirty="0" smtClean="0">
                <a:solidFill>
                  <a:schemeClr val="tx1"/>
                </a:solidFill>
              </a:rPr>
              <a:t>	Подходът е добър при относително равномерно разпределение на ключовете в интервала. В противен случай много от стъпките се оказват излишни.</a:t>
            </a:r>
            <a:endParaRPr lang="bg-BG" sz="2800" dirty="0">
              <a:solidFill>
                <a:schemeClr val="tx1"/>
              </a:solidFill>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259632" y="274320"/>
            <a:ext cx="7674056" cy="6323032"/>
          </a:xfrm>
        </p:spPr>
        <p:txBody>
          <a:bodyPr>
            <a:normAutofit/>
          </a:bodyPr>
          <a:lstStyle/>
          <a:p>
            <a:pPr lvl="0"/>
            <a:r>
              <a:rPr lang="en-US" sz="2800" b="1" i="1" dirty="0" smtClean="0"/>
              <a:t>	</a:t>
            </a:r>
            <a:r>
              <a:rPr lang="en-US" sz="2800" b="1" i="1" dirty="0" smtClean="0">
                <a:solidFill>
                  <a:schemeClr val="tx1"/>
                </a:solidFill>
              </a:rPr>
              <a:t>4.   </a:t>
            </a:r>
            <a:r>
              <a:rPr lang="bg-BG" sz="2800" b="1" i="1" dirty="0" smtClean="0">
                <a:solidFill>
                  <a:schemeClr val="tx1"/>
                </a:solidFill>
              </a:rPr>
              <a:t>Метод на бройните системи</a:t>
            </a:r>
            <a:r>
              <a:rPr lang="en-US" sz="2800" i="1" dirty="0" smtClean="0">
                <a:solidFill>
                  <a:schemeClr val="tx1"/>
                </a:solidFill>
              </a:rPr>
              <a:t/>
            </a:r>
            <a:br>
              <a:rPr lang="en-US" sz="2800" i="1" dirty="0" smtClean="0">
                <a:solidFill>
                  <a:schemeClr val="tx1"/>
                </a:solidFill>
              </a:rPr>
            </a:br>
            <a:r>
              <a:rPr lang="bg-BG" sz="1200" dirty="0" smtClean="0">
                <a:solidFill>
                  <a:schemeClr val="tx1"/>
                </a:solidFill>
              </a:rPr>
              <a:t/>
            </a:r>
            <a:br>
              <a:rPr lang="bg-BG" sz="1200" dirty="0" smtClean="0">
                <a:solidFill>
                  <a:schemeClr val="tx1"/>
                </a:solidFill>
              </a:rPr>
            </a:br>
            <a:r>
              <a:rPr lang="en-US" sz="2800" dirty="0" smtClean="0">
                <a:solidFill>
                  <a:schemeClr val="tx1"/>
                </a:solidFill>
              </a:rPr>
              <a:t>	</a:t>
            </a:r>
            <a:r>
              <a:rPr lang="bg-BG" sz="2800" dirty="0" smtClean="0">
                <a:solidFill>
                  <a:schemeClr val="tx1"/>
                </a:solidFill>
              </a:rPr>
              <a:t>Използва идеята на </a:t>
            </a:r>
            <a:r>
              <a:rPr lang="bg-BG" sz="2800" dirty="0" err="1" smtClean="0">
                <a:solidFill>
                  <a:schemeClr val="tx1"/>
                </a:solidFill>
              </a:rPr>
              <a:t>побитовото</a:t>
            </a:r>
            <a:r>
              <a:rPr lang="bg-BG" sz="2800" dirty="0" smtClean="0">
                <a:solidFill>
                  <a:schemeClr val="tx1"/>
                </a:solidFill>
              </a:rPr>
              <a:t> сортиране, но тук се създава по-голям брой списъци.</a:t>
            </a:r>
            <a:br>
              <a:rPr lang="bg-BG" sz="2800" dirty="0" smtClean="0">
                <a:solidFill>
                  <a:schemeClr val="tx1"/>
                </a:solidFill>
              </a:rPr>
            </a:br>
            <a:r>
              <a:rPr lang="en-US" sz="2800" dirty="0" smtClean="0">
                <a:solidFill>
                  <a:schemeClr val="tx1"/>
                </a:solidFill>
              </a:rPr>
              <a:t>	</a:t>
            </a:r>
            <a:r>
              <a:rPr lang="bg-BG" sz="2800" dirty="0" smtClean="0">
                <a:solidFill>
                  <a:schemeClr val="tx1"/>
                </a:solidFill>
              </a:rPr>
              <a:t>Нека имаме </a:t>
            </a:r>
            <a:r>
              <a:rPr lang="bg-BG" sz="2800" b="1" i="1" dirty="0" smtClean="0">
                <a:solidFill>
                  <a:schemeClr val="tx1"/>
                </a:solidFill>
              </a:rPr>
              <a:t>s</a:t>
            </a:r>
            <a:r>
              <a:rPr lang="bg-BG" sz="2800" dirty="0" smtClean="0">
                <a:solidFill>
                  <a:schemeClr val="tx1"/>
                </a:solidFill>
              </a:rPr>
              <a:t> на брой списъка. На първата стъпка елементите се разпределят по списъците в зависимост от остатъка, който дават при деление на </a:t>
            </a:r>
            <a:r>
              <a:rPr lang="bg-BG" sz="2800" b="1" i="1" dirty="0" smtClean="0">
                <a:solidFill>
                  <a:schemeClr val="tx1"/>
                </a:solidFill>
              </a:rPr>
              <a:t>s</a:t>
            </a:r>
            <a:r>
              <a:rPr lang="bg-BG" sz="2800" dirty="0" smtClean="0">
                <a:solidFill>
                  <a:schemeClr val="tx1"/>
                </a:solidFill>
              </a:rPr>
              <a:t>. При това остава в сила изискването добавянето да става само в края на списъците. Следва конкатенация на списъците по реда на нарастване на остатъците. Процесът се повтаря до изчерпване на цифрите на числата.</a:t>
            </a:r>
            <a:endParaRPr lang="bg-BG" sz="2800" dirty="0">
              <a:solidFill>
                <a:schemeClr val="tx1"/>
              </a:solidFill>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259632" y="274320"/>
            <a:ext cx="7884368" cy="6395040"/>
          </a:xfrm>
        </p:spPr>
        <p:txBody>
          <a:bodyPr>
            <a:noAutofit/>
          </a:bodyPr>
          <a:lstStyle/>
          <a:p>
            <a:r>
              <a:rPr lang="en-US" sz="2800" dirty="0" smtClean="0"/>
              <a:t>	</a:t>
            </a:r>
            <a:r>
              <a:rPr lang="bg-BG" sz="2800" dirty="0" smtClean="0">
                <a:solidFill>
                  <a:schemeClr val="tx1"/>
                </a:solidFill>
              </a:rPr>
              <a:t>Докато при </a:t>
            </a:r>
            <a:r>
              <a:rPr lang="bg-BG" sz="2800" dirty="0" err="1" smtClean="0">
                <a:solidFill>
                  <a:schemeClr val="tx1"/>
                </a:solidFill>
              </a:rPr>
              <a:t>побитовото</a:t>
            </a:r>
            <a:r>
              <a:rPr lang="bg-BG" sz="2800" dirty="0" smtClean="0">
                <a:solidFill>
                  <a:schemeClr val="tx1"/>
                </a:solidFill>
              </a:rPr>
              <a:t> сортиране разглеждаме двоичните цифри на числата, при този метод работим със стойностите на цифрите в </a:t>
            </a:r>
            <a:r>
              <a:rPr lang="bg-BG" sz="2800" b="1" i="1" dirty="0" err="1" smtClean="0">
                <a:solidFill>
                  <a:schemeClr val="tx1"/>
                </a:solidFill>
              </a:rPr>
              <a:t>s</a:t>
            </a:r>
            <a:r>
              <a:rPr lang="bg-BG" sz="2800" dirty="0" err="1" smtClean="0">
                <a:solidFill>
                  <a:schemeClr val="tx1"/>
                </a:solidFill>
              </a:rPr>
              <a:t>-ичното</a:t>
            </a:r>
            <a:r>
              <a:rPr lang="bg-BG" sz="2800" dirty="0" smtClean="0">
                <a:solidFill>
                  <a:schemeClr val="tx1"/>
                </a:solidFill>
              </a:rPr>
              <a:t> им представяне, т.е. разглеждаме числата като записани в </a:t>
            </a:r>
            <a:r>
              <a:rPr lang="bg-BG" sz="2800" b="1" i="1" dirty="0" err="1" smtClean="0">
                <a:solidFill>
                  <a:schemeClr val="tx1"/>
                </a:solidFill>
              </a:rPr>
              <a:t>s</a:t>
            </a:r>
            <a:r>
              <a:rPr lang="bg-BG" sz="2800" dirty="0" err="1" smtClean="0">
                <a:solidFill>
                  <a:schemeClr val="tx1"/>
                </a:solidFill>
              </a:rPr>
              <a:t>-ична</a:t>
            </a:r>
            <a:r>
              <a:rPr lang="bg-BG" sz="2800" dirty="0" smtClean="0">
                <a:solidFill>
                  <a:schemeClr val="tx1"/>
                </a:solidFill>
              </a:rPr>
              <a:t> бройна система. Оттук и името на алгоритма – метод на бройните системи. В частност, при </a:t>
            </a:r>
            <a:r>
              <a:rPr lang="bg-BG" sz="2800" b="1" i="1" dirty="0" smtClean="0">
                <a:solidFill>
                  <a:schemeClr val="tx1"/>
                </a:solidFill>
              </a:rPr>
              <a:t>s</a:t>
            </a:r>
            <a:r>
              <a:rPr lang="bg-BG" sz="2800" dirty="0" smtClean="0">
                <a:solidFill>
                  <a:schemeClr val="tx1"/>
                </a:solidFill>
              </a:rPr>
              <a:t>=2 получаваме алгоритъм на </a:t>
            </a:r>
            <a:r>
              <a:rPr lang="bg-BG" sz="2800" dirty="0" err="1" smtClean="0">
                <a:solidFill>
                  <a:schemeClr val="tx1"/>
                </a:solidFill>
              </a:rPr>
              <a:t>побитовото</a:t>
            </a:r>
            <a:r>
              <a:rPr lang="bg-BG" sz="2800" dirty="0" smtClean="0">
                <a:solidFill>
                  <a:schemeClr val="tx1"/>
                </a:solidFill>
              </a:rPr>
              <a:t> сортиране.</a:t>
            </a:r>
            <a:br>
              <a:rPr lang="bg-BG" sz="2800" dirty="0" smtClean="0">
                <a:solidFill>
                  <a:schemeClr val="tx1"/>
                </a:solidFill>
              </a:rPr>
            </a:br>
            <a:r>
              <a:rPr lang="bg-BG" sz="2800" dirty="0" smtClean="0">
                <a:solidFill>
                  <a:schemeClr val="tx1"/>
                </a:solidFill>
              </a:rPr>
              <a:t>	По принцип няма ограничения за броя на списъците. Но все пак трябва да се внимава, тъй като по-големия брой списъци </a:t>
            </a:r>
            <a:r>
              <a:rPr lang="bg-BG" sz="2800" b="1" i="1" dirty="0" smtClean="0">
                <a:solidFill>
                  <a:schemeClr val="tx1"/>
                </a:solidFill>
              </a:rPr>
              <a:t>s</a:t>
            </a:r>
            <a:r>
              <a:rPr lang="bg-BG" sz="2800" dirty="0" smtClean="0">
                <a:solidFill>
                  <a:schemeClr val="tx1"/>
                </a:solidFill>
              </a:rPr>
              <a:t> ще влоши скоростта на сортиране за достатъчно малки </a:t>
            </a:r>
            <a:r>
              <a:rPr lang="bg-BG" sz="2800" b="1" i="1" dirty="0" smtClean="0">
                <a:solidFill>
                  <a:schemeClr val="tx1"/>
                </a:solidFill>
              </a:rPr>
              <a:t>n</a:t>
            </a:r>
            <a:r>
              <a:rPr lang="bg-BG" sz="2800" dirty="0" smtClean="0">
                <a:solidFill>
                  <a:schemeClr val="tx1"/>
                </a:solidFill>
              </a:rPr>
              <a:t> (например, за </a:t>
            </a:r>
            <a:r>
              <a:rPr lang="bg-BG" sz="2800" b="1" i="1" dirty="0" smtClean="0">
                <a:solidFill>
                  <a:schemeClr val="tx1"/>
                </a:solidFill>
              </a:rPr>
              <a:t>n&lt;s</a:t>
            </a:r>
            <a:r>
              <a:rPr lang="bg-BG" sz="2800" dirty="0" smtClean="0">
                <a:solidFill>
                  <a:schemeClr val="tx1"/>
                </a:solidFill>
              </a:rPr>
              <a:t>). За предпочитане този брой да бъде степен на 2 с цел по-ефективно намиране на съответните остатъци.</a:t>
            </a:r>
            <a:endParaRPr lang="bg-BG" sz="2800" dirty="0">
              <a:solidFill>
                <a:schemeClr val="tx1"/>
              </a:solidFill>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лавие 3"/>
          <p:cNvSpPr>
            <a:spLocks noGrp="1"/>
          </p:cNvSpPr>
          <p:nvPr>
            <p:ph type="title"/>
          </p:nvPr>
        </p:nvSpPr>
        <p:spPr>
          <a:xfrm>
            <a:off x="1435100" y="0"/>
            <a:ext cx="7499350" cy="1916832"/>
          </a:xfrm>
        </p:spPr>
        <p:txBody>
          <a:bodyPr>
            <a:normAutofit/>
          </a:bodyPr>
          <a:lstStyle/>
          <a:p>
            <a:r>
              <a:rPr lang="en-US" sz="2600" b="1" i="1" dirty="0" smtClean="0">
                <a:solidFill>
                  <a:schemeClr val="tx1"/>
                </a:solidFill>
              </a:rPr>
              <a:t>5</a:t>
            </a:r>
            <a:r>
              <a:rPr lang="bg-BG" sz="2600" b="1" i="1" dirty="0" smtClean="0">
                <a:solidFill>
                  <a:schemeClr val="tx1"/>
                </a:solidFill>
              </a:rPr>
              <a:t>.</a:t>
            </a:r>
            <a:r>
              <a:rPr lang="bg-BG" sz="2600" b="1" dirty="0" smtClean="0">
                <a:solidFill>
                  <a:schemeClr val="tx1"/>
                </a:solidFill>
              </a:rPr>
              <a:t> </a:t>
            </a:r>
            <a:r>
              <a:rPr lang="bg-BG" sz="2600" b="1" i="1" dirty="0" smtClean="0">
                <a:solidFill>
                  <a:schemeClr val="tx1"/>
                </a:solidFill>
              </a:rPr>
              <a:t>Сортиране чрез пермутация</a:t>
            </a:r>
            <a:r>
              <a:rPr lang="bg-BG" sz="2600" dirty="0" smtClean="0">
                <a:solidFill>
                  <a:schemeClr val="tx1"/>
                </a:solidFill>
              </a:rPr>
              <a:t/>
            </a:r>
            <a:br>
              <a:rPr lang="bg-BG" sz="2600" dirty="0" smtClean="0">
                <a:solidFill>
                  <a:schemeClr val="tx1"/>
                </a:solidFill>
              </a:rPr>
            </a:br>
            <a:r>
              <a:rPr lang="bg-BG" sz="2600" dirty="0" smtClean="0">
                <a:solidFill>
                  <a:schemeClr val="tx1"/>
                </a:solidFill>
              </a:rPr>
              <a:t>	Сортирането чрез пермутация е приложимо при по-силни ограничителни условия от вече разгледаните методи. </a:t>
            </a:r>
            <a:r>
              <a:rPr lang="en-US" sz="2600" dirty="0" smtClean="0">
                <a:solidFill>
                  <a:schemeClr val="tx1"/>
                </a:solidFill>
              </a:rPr>
              <a:t> </a:t>
            </a:r>
            <a:r>
              <a:rPr lang="bg-BG" sz="2600" dirty="0" smtClean="0">
                <a:solidFill>
                  <a:schemeClr val="tx1"/>
                </a:solidFill>
              </a:rPr>
              <a:t>Към известните условия:</a:t>
            </a:r>
            <a:endParaRPr lang="bg-BG" sz="2600" dirty="0">
              <a:solidFill>
                <a:schemeClr val="tx1"/>
              </a:solidFill>
            </a:endParaRPr>
          </a:p>
        </p:txBody>
      </p:sp>
      <p:sp>
        <p:nvSpPr>
          <p:cNvPr id="5" name="Контейнер за съдържание 4"/>
          <p:cNvSpPr>
            <a:spLocks noGrp="1"/>
          </p:cNvSpPr>
          <p:nvPr>
            <p:ph idx="1"/>
          </p:nvPr>
        </p:nvSpPr>
        <p:spPr>
          <a:xfrm>
            <a:off x="1331640" y="1988840"/>
            <a:ext cx="7499350" cy="4248472"/>
          </a:xfrm>
        </p:spPr>
        <p:txBody>
          <a:bodyPr/>
          <a:lstStyle/>
          <a:p>
            <a:pPr lvl="0"/>
            <a:r>
              <a:rPr lang="bg-BG" sz="2600" dirty="0" smtClean="0"/>
              <a:t>елементите на множеството са естествени числа от даден затворен интервал </a:t>
            </a:r>
            <a:r>
              <a:rPr lang="bg-BG" sz="2600" b="1" i="1" dirty="0" smtClean="0"/>
              <a:t>[a, b]</a:t>
            </a:r>
            <a:r>
              <a:rPr lang="bg-BG" sz="2600" dirty="0" smtClean="0"/>
              <a:t>, съдържащ </a:t>
            </a:r>
            <a:r>
              <a:rPr lang="bg-BG" sz="2600" b="1" i="1" dirty="0" smtClean="0"/>
              <a:t>k = b-a+1 </a:t>
            </a:r>
            <a:r>
              <a:rPr lang="bg-BG" sz="2600" dirty="0" smtClean="0"/>
              <a:t>цели числа. Не е задължително всяко число от интервала </a:t>
            </a:r>
            <a:r>
              <a:rPr lang="bg-BG" sz="2600" b="1" i="1" dirty="0" smtClean="0"/>
              <a:t>[a, b] </a:t>
            </a:r>
            <a:r>
              <a:rPr lang="bg-BG" sz="2600" dirty="0" smtClean="0"/>
              <a:t>да бъде елемент на множеството, но всички елементи на множеството трябва да са от интервала </a:t>
            </a:r>
            <a:r>
              <a:rPr lang="bg-BG" sz="2600" b="1" i="1" dirty="0" smtClean="0"/>
              <a:t>[a, b]</a:t>
            </a:r>
            <a:r>
              <a:rPr lang="bg-BG" sz="2600" dirty="0" smtClean="0"/>
              <a:t>;</a:t>
            </a:r>
          </a:p>
          <a:p>
            <a:pPr lvl="0"/>
            <a:r>
              <a:rPr lang="bg-BG" sz="2600" dirty="0" smtClean="0"/>
              <a:t>елементите не са повтарят (</a:t>
            </a:r>
            <a:r>
              <a:rPr lang="bg-BG" sz="2600" b="1" i="1" dirty="0" smtClean="0"/>
              <a:t>М</a:t>
            </a:r>
            <a:r>
              <a:rPr lang="bg-BG" sz="2600" dirty="0" smtClean="0"/>
              <a:t> е множество!)</a:t>
            </a:r>
          </a:p>
          <a:p>
            <a:pPr>
              <a:buNone/>
            </a:pPr>
            <a:r>
              <a:rPr lang="bg-BG" sz="2600" dirty="0" smtClean="0"/>
              <a:t> </a:t>
            </a:r>
            <a:r>
              <a:rPr lang="en-US" sz="2600" dirty="0" smtClean="0"/>
              <a:t>		</a:t>
            </a:r>
            <a:r>
              <a:rPr lang="bg-BG" sz="2600" dirty="0" smtClean="0"/>
              <a:t>се добавя още едно условие:</a:t>
            </a:r>
          </a:p>
          <a:p>
            <a:r>
              <a:rPr lang="bg-BG" sz="2600" dirty="0" smtClean="0"/>
              <a:t>всяко число от интервала </a:t>
            </a:r>
            <a:r>
              <a:rPr lang="bg-BG" sz="2600" b="1" i="1" dirty="0" smtClean="0"/>
              <a:t>[a, b] </a:t>
            </a:r>
            <a:r>
              <a:rPr lang="bg-BG" sz="2600" dirty="0" smtClean="0"/>
              <a:t>задължително е елемент на множеството </a:t>
            </a:r>
            <a:r>
              <a:rPr lang="bg-BG" sz="2600" b="1" i="1" dirty="0" smtClean="0"/>
              <a:t>М</a:t>
            </a:r>
            <a:r>
              <a:rPr lang="bg-BG" sz="2600" dirty="0" smtClean="0"/>
              <a:t>.</a:t>
            </a:r>
            <a:endParaRPr lang="bg-BG" sz="2600" dirty="0"/>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лавие 4"/>
          <p:cNvSpPr>
            <a:spLocks noGrp="1"/>
          </p:cNvSpPr>
          <p:nvPr>
            <p:ph type="title"/>
          </p:nvPr>
        </p:nvSpPr>
        <p:spPr>
          <a:xfrm>
            <a:off x="1435608" y="274320"/>
            <a:ext cx="7498080" cy="6251024"/>
          </a:xfrm>
        </p:spPr>
        <p:txBody>
          <a:bodyPr>
            <a:normAutofit fontScale="90000"/>
          </a:bodyPr>
          <a:lstStyle/>
          <a:p>
            <a:pPr>
              <a:lnSpc>
                <a:spcPct val="130000"/>
              </a:lnSpc>
            </a:pPr>
            <a:r>
              <a:rPr lang="en-US" sz="2800" dirty="0" smtClean="0"/>
              <a:t>	</a:t>
            </a:r>
            <a:r>
              <a:rPr lang="bg-BG" sz="2800" dirty="0" smtClean="0">
                <a:solidFill>
                  <a:schemeClr val="tx1"/>
                </a:solidFill>
              </a:rPr>
              <a:t>Съгласно тези условия подреждането на елементите действа като пермутация (Пермутация е всяко множество или подмножество от обекти, в което вътрешното подреждане е от значение. </a:t>
            </a:r>
            <a:r>
              <a:rPr lang="en-US" sz="2800" dirty="0" smtClean="0">
                <a:solidFill>
                  <a:schemeClr val="tx1"/>
                </a:solidFill>
              </a:rPr>
              <a:t>	</a:t>
            </a:r>
            <a:r>
              <a:rPr lang="bg-BG" sz="2800" dirty="0" smtClean="0">
                <a:solidFill>
                  <a:schemeClr val="tx1"/>
                </a:solidFill>
              </a:rPr>
              <a:t>Пермутациите се различават от комбинациите, за които вътрешното подреждане не е от значение).</a:t>
            </a:r>
            <a:br>
              <a:rPr lang="bg-BG" sz="2800" dirty="0" smtClean="0">
                <a:solidFill>
                  <a:schemeClr val="tx1"/>
                </a:solidFill>
              </a:rPr>
            </a:br>
            <a:r>
              <a:rPr lang="en-US" sz="2800" dirty="0" smtClean="0">
                <a:solidFill>
                  <a:schemeClr val="tx1"/>
                </a:solidFill>
              </a:rPr>
              <a:t>	</a:t>
            </a:r>
            <a:r>
              <a:rPr lang="bg-BG" sz="2800" dirty="0" smtClean="0">
                <a:solidFill>
                  <a:schemeClr val="tx1"/>
                </a:solidFill>
              </a:rPr>
              <a:t>Това ни дава ефективен линеен алгоритъм, позволяващ сортиране на елементите на </a:t>
            </a:r>
            <a:r>
              <a:rPr lang="bg-BG" sz="2800" b="1" i="1" dirty="0" smtClean="0">
                <a:solidFill>
                  <a:schemeClr val="tx1"/>
                </a:solidFill>
              </a:rPr>
              <a:t>М </a:t>
            </a:r>
            <a:r>
              <a:rPr lang="bg-BG" sz="2800" dirty="0" smtClean="0">
                <a:solidFill>
                  <a:schemeClr val="tx1"/>
                </a:solidFill>
              </a:rPr>
              <a:t>на място, без използване на допълнителен масив, какъвто ни беше необходим при сортиране чрез множество или чрез броене.</a:t>
            </a:r>
            <a:endParaRPr lang="bg-BG" sz="2800" dirty="0">
              <a:solidFill>
                <a:schemeClr val="tx1"/>
              </a:solidFill>
            </a:endParaRPr>
          </a:p>
        </p:txBody>
      </p:sp>
      <p:sp>
        <p:nvSpPr>
          <p:cNvPr id="4" name="Контейнер за номер на слайда 3"/>
          <p:cNvSpPr>
            <a:spLocks noGrp="1"/>
          </p:cNvSpPr>
          <p:nvPr>
            <p:ph type="sldNum" sz="quarter" idx="12"/>
          </p:nvPr>
        </p:nvSpPr>
        <p:spPr/>
        <p:txBody>
          <a:bodyPr/>
          <a:lstStyle/>
          <a:p>
            <a:pPr>
              <a:defRPr/>
            </a:pPr>
            <a:fld id="{B83E7D08-1FAE-48AD-ADC7-21D806B058B4}" type="slidenum">
              <a:rPr lang="en-US" smtClean="0"/>
              <a:pPr>
                <a:defRPr/>
              </a:pPr>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435608" y="274320"/>
            <a:ext cx="7498080" cy="6323032"/>
          </a:xfrm>
        </p:spPr>
        <p:txBody>
          <a:bodyPr>
            <a:noAutofit/>
          </a:bodyPr>
          <a:lstStyle/>
          <a:p>
            <a:pPr>
              <a:lnSpc>
                <a:spcPct val="120000"/>
              </a:lnSpc>
            </a:pPr>
            <a:r>
              <a:rPr lang="en-US" sz="2800" dirty="0" smtClean="0"/>
              <a:t>	</a:t>
            </a:r>
            <a:r>
              <a:rPr lang="bg-BG" sz="2800" dirty="0" smtClean="0">
                <a:solidFill>
                  <a:schemeClr val="tx1"/>
                </a:solidFill>
              </a:rPr>
              <a:t>В процеса на сортиране не се извършва пряко сравнение на ключовете на различните елементи. Единствената проверка е дали елементът с ключ </a:t>
            </a:r>
            <a:r>
              <a:rPr lang="bg-BG" sz="2800" b="1" i="1" dirty="0" smtClean="0">
                <a:solidFill>
                  <a:schemeClr val="tx1"/>
                </a:solidFill>
              </a:rPr>
              <a:t>i</a:t>
            </a:r>
            <a:r>
              <a:rPr lang="bg-BG" sz="2800" dirty="0" smtClean="0">
                <a:solidFill>
                  <a:schemeClr val="tx1"/>
                </a:solidFill>
              </a:rPr>
              <a:t> е на </a:t>
            </a:r>
            <a:r>
              <a:rPr lang="bg-BG" sz="2800" b="1" i="1" dirty="0" smtClean="0">
                <a:solidFill>
                  <a:schemeClr val="tx1"/>
                </a:solidFill>
              </a:rPr>
              <a:t>i</a:t>
            </a:r>
            <a:r>
              <a:rPr lang="bg-BG" sz="2800" dirty="0" smtClean="0">
                <a:solidFill>
                  <a:schemeClr val="tx1"/>
                </a:solidFill>
              </a:rPr>
              <a:t> –та позиция. В случай, че на позиция </a:t>
            </a:r>
            <a:r>
              <a:rPr lang="bg-BG" sz="2800" b="1" i="1" dirty="0" smtClean="0">
                <a:solidFill>
                  <a:schemeClr val="tx1"/>
                </a:solidFill>
              </a:rPr>
              <a:t>i</a:t>
            </a:r>
            <a:r>
              <a:rPr lang="bg-BG" sz="2800" dirty="0" smtClean="0">
                <a:solidFill>
                  <a:schemeClr val="tx1"/>
                </a:solidFill>
              </a:rPr>
              <a:t> стои елемент с ключ </a:t>
            </a:r>
            <a:r>
              <a:rPr lang="bg-BG" sz="2800" b="1" i="1" dirty="0" smtClean="0">
                <a:solidFill>
                  <a:schemeClr val="tx1"/>
                </a:solidFill>
              </a:rPr>
              <a:t>j, </a:t>
            </a:r>
            <a:r>
              <a:rPr lang="bg-BG" sz="2800" b="1" i="1" dirty="0" err="1" smtClean="0">
                <a:solidFill>
                  <a:schemeClr val="tx1"/>
                </a:solidFill>
              </a:rPr>
              <a:t>j</a:t>
            </a:r>
            <a:r>
              <a:rPr lang="bg-BG" sz="2800" b="1" i="1" dirty="0" smtClean="0">
                <a:solidFill>
                  <a:schemeClr val="tx1"/>
                </a:solidFill>
              </a:rPr>
              <a:t>=m[i], </a:t>
            </a:r>
            <a:r>
              <a:rPr lang="bg-BG" sz="2800" b="1" i="1" dirty="0" err="1" smtClean="0">
                <a:solidFill>
                  <a:schemeClr val="tx1"/>
                </a:solidFill>
              </a:rPr>
              <a:t>i</a:t>
            </a:r>
            <a:r>
              <a:rPr lang="bg-BG" sz="2800" b="1" i="1" dirty="0" smtClean="0">
                <a:solidFill>
                  <a:schemeClr val="tx1"/>
                </a:solidFill>
              </a:rPr>
              <a:t>≠j</a:t>
            </a:r>
            <a:r>
              <a:rPr lang="bg-BG" sz="2800" dirty="0" smtClean="0">
                <a:solidFill>
                  <a:schemeClr val="tx1"/>
                </a:solidFill>
              </a:rPr>
              <a:t>, ще разменим </a:t>
            </a:r>
            <a:r>
              <a:rPr lang="bg-BG" sz="2800" b="1" i="1" dirty="0" smtClean="0">
                <a:solidFill>
                  <a:schemeClr val="tx1"/>
                </a:solidFill>
              </a:rPr>
              <a:t>i</a:t>
            </a:r>
            <a:r>
              <a:rPr lang="bg-BG" sz="2800" dirty="0" smtClean="0">
                <a:solidFill>
                  <a:schemeClr val="tx1"/>
                </a:solidFill>
              </a:rPr>
              <a:t> –тия и </a:t>
            </a:r>
            <a:r>
              <a:rPr lang="bg-BG" sz="2800" b="1" i="1" dirty="0" smtClean="0">
                <a:solidFill>
                  <a:schemeClr val="tx1"/>
                </a:solidFill>
              </a:rPr>
              <a:t>j</a:t>
            </a:r>
            <a:r>
              <a:rPr lang="bg-BG" sz="2800" dirty="0" smtClean="0">
                <a:solidFill>
                  <a:schemeClr val="tx1"/>
                </a:solidFill>
              </a:rPr>
              <a:t> –тия елементи, при което елементът с ключ </a:t>
            </a:r>
            <a:r>
              <a:rPr lang="bg-BG" sz="2800" b="1" i="1" dirty="0" smtClean="0">
                <a:solidFill>
                  <a:schemeClr val="tx1"/>
                </a:solidFill>
              </a:rPr>
              <a:t>j</a:t>
            </a:r>
            <a:r>
              <a:rPr lang="bg-BG" sz="2800" dirty="0" smtClean="0">
                <a:solidFill>
                  <a:schemeClr val="tx1"/>
                </a:solidFill>
              </a:rPr>
              <a:t> ще отиде на </a:t>
            </a:r>
            <a:r>
              <a:rPr lang="bg-BG" sz="2800" b="1" i="1" dirty="0" smtClean="0">
                <a:solidFill>
                  <a:schemeClr val="tx1"/>
                </a:solidFill>
              </a:rPr>
              <a:t>j</a:t>
            </a:r>
            <a:r>
              <a:rPr lang="bg-BG" sz="2800" dirty="0" smtClean="0">
                <a:solidFill>
                  <a:schemeClr val="tx1"/>
                </a:solidFill>
              </a:rPr>
              <a:t>-та позиция. Ако след размяната на </a:t>
            </a:r>
            <a:r>
              <a:rPr lang="bg-BG" sz="2800" b="1" i="1" dirty="0" smtClean="0">
                <a:solidFill>
                  <a:schemeClr val="tx1"/>
                </a:solidFill>
              </a:rPr>
              <a:t>i</a:t>
            </a:r>
            <a:r>
              <a:rPr lang="bg-BG" sz="2800" dirty="0" smtClean="0">
                <a:solidFill>
                  <a:schemeClr val="tx1"/>
                </a:solidFill>
              </a:rPr>
              <a:t> –та позиция стои елемент с ключ на </a:t>
            </a:r>
            <a:r>
              <a:rPr lang="bg-BG" sz="2800" b="1" i="1" dirty="0" smtClean="0">
                <a:solidFill>
                  <a:schemeClr val="tx1"/>
                </a:solidFill>
              </a:rPr>
              <a:t>i</a:t>
            </a:r>
            <a:r>
              <a:rPr lang="bg-BG" sz="2800" dirty="0" smtClean="0">
                <a:solidFill>
                  <a:schemeClr val="tx1"/>
                </a:solidFill>
              </a:rPr>
              <a:t>, то преминаваме към разглеждане на следващия (</a:t>
            </a:r>
            <a:r>
              <a:rPr lang="bg-BG" sz="2800" b="1" i="1" dirty="0" smtClean="0">
                <a:solidFill>
                  <a:schemeClr val="tx1"/>
                </a:solidFill>
              </a:rPr>
              <a:t>i +1</a:t>
            </a:r>
            <a:r>
              <a:rPr lang="bg-BG" sz="2800" dirty="0" smtClean="0">
                <a:solidFill>
                  <a:schemeClr val="tx1"/>
                </a:solidFill>
              </a:rPr>
              <a:t>)-ви елемент на </a:t>
            </a:r>
            <a:r>
              <a:rPr lang="bg-BG" sz="2800" b="1" i="1" dirty="0" smtClean="0">
                <a:solidFill>
                  <a:schemeClr val="tx1"/>
                </a:solidFill>
              </a:rPr>
              <a:t>m[ ]. </a:t>
            </a:r>
            <a:r>
              <a:rPr lang="bg-BG" sz="2800" dirty="0" smtClean="0">
                <a:solidFill>
                  <a:schemeClr val="tx1"/>
                </a:solidFill>
              </a:rPr>
              <a:t>В противен случай извършваме нова размяна – с елемента с индекс </a:t>
            </a:r>
            <a:r>
              <a:rPr lang="bg-BG" sz="2800" b="1" i="1" dirty="0" smtClean="0">
                <a:solidFill>
                  <a:schemeClr val="tx1"/>
                </a:solidFill>
              </a:rPr>
              <a:t>m[i]</a:t>
            </a:r>
            <a:r>
              <a:rPr lang="bg-BG" sz="2800" dirty="0" smtClean="0">
                <a:solidFill>
                  <a:schemeClr val="tx1"/>
                </a:solidFill>
              </a:rPr>
              <a:t> .</a:t>
            </a:r>
            <a:endParaRPr lang="bg-BG" sz="2800" dirty="0">
              <a:solidFill>
                <a:schemeClr val="tx1"/>
              </a:solidFill>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115616" y="274320"/>
            <a:ext cx="7818072" cy="6395040"/>
          </a:xfrm>
        </p:spPr>
        <p:txBody>
          <a:bodyPr>
            <a:noAutofit/>
          </a:bodyPr>
          <a:lstStyle/>
          <a:p>
            <a:r>
              <a:rPr lang="en-US" sz="2400" dirty="0" smtClean="0"/>
              <a:t>	</a:t>
            </a:r>
            <a:r>
              <a:rPr lang="bg-BG" sz="2800" dirty="0" smtClean="0">
                <a:solidFill>
                  <a:schemeClr val="tx1"/>
                </a:solidFill>
              </a:rPr>
              <a:t>Ще илюстрираме описания метод върху пермутацията 4375612. Започваме с i=1 и последователно разменяме първия елемент </a:t>
            </a:r>
            <a:r>
              <a:rPr lang="bg-BG" sz="2800" b="1" i="1" dirty="0" smtClean="0">
                <a:solidFill>
                  <a:schemeClr val="tx1"/>
                </a:solidFill>
              </a:rPr>
              <a:t>m[1] с m[</a:t>
            </a:r>
            <a:r>
              <a:rPr lang="bg-BG" sz="2800" b="1" i="1" dirty="0" err="1" smtClean="0">
                <a:solidFill>
                  <a:schemeClr val="tx1"/>
                </a:solidFill>
              </a:rPr>
              <a:t>m</a:t>
            </a:r>
            <a:r>
              <a:rPr lang="bg-BG" sz="2800" b="1" i="1" dirty="0" smtClean="0">
                <a:solidFill>
                  <a:schemeClr val="tx1"/>
                </a:solidFill>
              </a:rPr>
              <a:t>[1]]</a:t>
            </a:r>
            <a:r>
              <a:rPr lang="bg-BG" sz="2800" dirty="0" smtClean="0">
                <a:solidFill>
                  <a:schemeClr val="tx1"/>
                </a:solidFill>
              </a:rPr>
              <a:t>, докато на позиция 1 не дойде елементът с ключ 1. Ще изписваме само ключовете, като ще подчертаваме елементите, които разменяме:  </a:t>
            </a:r>
            <a:r>
              <a:rPr lang="bg-BG" sz="2400" dirty="0" smtClean="0">
                <a:solidFill>
                  <a:schemeClr val="tx1"/>
                </a:solidFill>
              </a:rPr>
              <a:t/>
            </a:r>
            <a:br>
              <a:rPr lang="bg-BG" sz="2400" dirty="0" smtClean="0">
                <a:solidFill>
                  <a:schemeClr val="tx1"/>
                </a:solidFill>
              </a:rPr>
            </a:br>
            <a:r>
              <a:rPr lang="bg-BG" sz="2400" dirty="0" smtClean="0">
                <a:solidFill>
                  <a:schemeClr val="tx1"/>
                </a:solidFill>
              </a:rPr>
              <a:t>	</a:t>
            </a:r>
            <a:r>
              <a:rPr lang="bg-BG" sz="2400" b="1" i="1" u="sng" dirty="0" smtClean="0">
                <a:solidFill>
                  <a:schemeClr val="tx1"/>
                </a:solidFill>
                <a:latin typeface="Arial" pitchFamily="34" charset="0"/>
                <a:cs typeface="Arial" pitchFamily="34" charset="0"/>
              </a:rPr>
              <a:t>4</a:t>
            </a:r>
            <a:r>
              <a:rPr lang="bg-BG" sz="2400" dirty="0" smtClean="0">
                <a:solidFill>
                  <a:schemeClr val="tx1"/>
                </a:solidFill>
                <a:latin typeface="Arial" pitchFamily="34" charset="0"/>
                <a:cs typeface="Arial" pitchFamily="34" charset="0"/>
              </a:rPr>
              <a:t>	3	7	</a:t>
            </a:r>
            <a:r>
              <a:rPr lang="bg-BG" sz="2400" b="1" i="1" u="sng" dirty="0" smtClean="0">
                <a:solidFill>
                  <a:schemeClr val="tx1"/>
                </a:solidFill>
                <a:latin typeface="Arial" pitchFamily="34" charset="0"/>
                <a:cs typeface="Arial" pitchFamily="34" charset="0"/>
              </a:rPr>
              <a:t>5</a:t>
            </a:r>
            <a:r>
              <a:rPr lang="bg-BG" sz="2400" dirty="0" smtClean="0">
                <a:solidFill>
                  <a:schemeClr val="tx1"/>
                </a:solidFill>
                <a:latin typeface="Arial" pitchFamily="34" charset="0"/>
                <a:cs typeface="Arial" pitchFamily="34" charset="0"/>
              </a:rPr>
              <a:t>	6	1	2</a:t>
            </a:r>
            <a:br>
              <a:rPr lang="bg-BG" sz="2400" dirty="0" smtClean="0">
                <a:solidFill>
                  <a:schemeClr val="tx1"/>
                </a:solidFill>
                <a:latin typeface="Arial" pitchFamily="34" charset="0"/>
                <a:cs typeface="Arial" pitchFamily="34" charset="0"/>
              </a:rPr>
            </a:br>
            <a:r>
              <a:rPr lang="bg-BG" sz="2400" dirty="0" smtClean="0">
                <a:solidFill>
                  <a:schemeClr val="tx1"/>
                </a:solidFill>
                <a:latin typeface="Arial" pitchFamily="34" charset="0"/>
                <a:cs typeface="Arial" pitchFamily="34" charset="0"/>
              </a:rPr>
              <a:t>	</a:t>
            </a:r>
            <a:r>
              <a:rPr lang="bg-BG" sz="2400" b="1" i="1" u="sng" dirty="0" smtClean="0">
                <a:solidFill>
                  <a:schemeClr val="tx1"/>
                </a:solidFill>
                <a:latin typeface="Arial" pitchFamily="34" charset="0"/>
                <a:cs typeface="Arial" pitchFamily="34" charset="0"/>
              </a:rPr>
              <a:t>5</a:t>
            </a:r>
            <a:r>
              <a:rPr lang="bg-BG" sz="2400" dirty="0" smtClean="0">
                <a:solidFill>
                  <a:schemeClr val="tx1"/>
                </a:solidFill>
                <a:latin typeface="Arial" pitchFamily="34" charset="0"/>
                <a:cs typeface="Arial" pitchFamily="34" charset="0"/>
              </a:rPr>
              <a:t>	3	7	4	</a:t>
            </a:r>
            <a:r>
              <a:rPr lang="bg-BG" sz="2400" b="1" i="1" u="sng" dirty="0" smtClean="0">
                <a:solidFill>
                  <a:schemeClr val="tx1"/>
                </a:solidFill>
                <a:latin typeface="Arial" pitchFamily="34" charset="0"/>
                <a:cs typeface="Arial" pitchFamily="34" charset="0"/>
              </a:rPr>
              <a:t>6</a:t>
            </a:r>
            <a:r>
              <a:rPr lang="bg-BG" sz="2400" dirty="0" smtClean="0">
                <a:solidFill>
                  <a:schemeClr val="tx1"/>
                </a:solidFill>
                <a:latin typeface="Arial" pitchFamily="34" charset="0"/>
                <a:cs typeface="Arial" pitchFamily="34" charset="0"/>
              </a:rPr>
              <a:t>	1	2</a:t>
            </a:r>
            <a:br>
              <a:rPr lang="bg-BG" sz="2400" dirty="0" smtClean="0">
                <a:solidFill>
                  <a:schemeClr val="tx1"/>
                </a:solidFill>
                <a:latin typeface="Arial" pitchFamily="34" charset="0"/>
                <a:cs typeface="Arial" pitchFamily="34" charset="0"/>
              </a:rPr>
            </a:br>
            <a:r>
              <a:rPr lang="bg-BG" sz="2400" dirty="0" smtClean="0">
                <a:solidFill>
                  <a:schemeClr val="tx1"/>
                </a:solidFill>
                <a:latin typeface="Arial" pitchFamily="34" charset="0"/>
                <a:cs typeface="Arial" pitchFamily="34" charset="0"/>
              </a:rPr>
              <a:t>	</a:t>
            </a:r>
            <a:r>
              <a:rPr lang="bg-BG" sz="2400" b="1" i="1" u="sng" dirty="0" smtClean="0">
                <a:solidFill>
                  <a:schemeClr val="tx1"/>
                </a:solidFill>
                <a:latin typeface="Arial" pitchFamily="34" charset="0"/>
                <a:cs typeface="Arial" pitchFamily="34" charset="0"/>
              </a:rPr>
              <a:t>6</a:t>
            </a:r>
            <a:r>
              <a:rPr lang="bg-BG" sz="2400" dirty="0" smtClean="0">
                <a:solidFill>
                  <a:schemeClr val="tx1"/>
                </a:solidFill>
                <a:latin typeface="Arial" pitchFamily="34" charset="0"/>
                <a:cs typeface="Arial" pitchFamily="34" charset="0"/>
              </a:rPr>
              <a:t>	3	7	4	5	</a:t>
            </a:r>
            <a:r>
              <a:rPr lang="bg-BG" sz="2400" b="1" i="1" u="sng" dirty="0" smtClean="0">
                <a:solidFill>
                  <a:schemeClr val="tx1"/>
                </a:solidFill>
                <a:latin typeface="Arial" pitchFamily="34" charset="0"/>
                <a:cs typeface="Arial" pitchFamily="34" charset="0"/>
              </a:rPr>
              <a:t>1</a:t>
            </a:r>
            <a:r>
              <a:rPr lang="bg-BG" sz="2400" dirty="0" smtClean="0">
                <a:solidFill>
                  <a:schemeClr val="tx1"/>
                </a:solidFill>
                <a:latin typeface="Arial" pitchFamily="34" charset="0"/>
                <a:cs typeface="Arial" pitchFamily="34" charset="0"/>
              </a:rPr>
              <a:t>	2</a:t>
            </a:r>
            <a:br>
              <a:rPr lang="bg-BG" sz="2400" dirty="0" smtClean="0">
                <a:solidFill>
                  <a:schemeClr val="tx1"/>
                </a:solidFill>
                <a:latin typeface="Arial" pitchFamily="34" charset="0"/>
                <a:cs typeface="Arial" pitchFamily="34" charset="0"/>
              </a:rPr>
            </a:br>
            <a:r>
              <a:rPr lang="bg-BG" sz="2400" dirty="0" smtClean="0">
                <a:solidFill>
                  <a:schemeClr val="tx1"/>
                </a:solidFill>
                <a:latin typeface="Arial" pitchFamily="34" charset="0"/>
                <a:cs typeface="Arial" pitchFamily="34" charset="0"/>
              </a:rPr>
              <a:t>	1	3	7	4	5	6	2</a:t>
            </a:r>
            <a:r>
              <a:rPr lang="bg-BG" sz="2400" dirty="0" smtClean="0">
                <a:solidFill>
                  <a:schemeClr val="tx1"/>
                </a:solidFill>
              </a:rPr>
              <a:t/>
            </a:r>
            <a:br>
              <a:rPr lang="bg-BG" sz="2400" dirty="0" smtClean="0">
                <a:solidFill>
                  <a:schemeClr val="tx1"/>
                </a:solidFill>
              </a:rPr>
            </a:br>
            <a:r>
              <a:rPr lang="bg-BG" sz="2800" dirty="0" smtClean="0">
                <a:solidFill>
                  <a:schemeClr val="tx1"/>
                </a:solidFill>
              </a:rPr>
              <a:t>Сега числото 1 е на мястото си. Продължаваме с </a:t>
            </a:r>
            <a:r>
              <a:rPr lang="bg-BG" sz="2400" dirty="0" smtClean="0">
                <a:solidFill>
                  <a:schemeClr val="tx1"/>
                </a:solidFill>
                <a:latin typeface="Arial" pitchFamily="34" charset="0"/>
                <a:cs typeface="Arial" pitchFamily="34" charset="0"/>
              </a:rPr>
              <a:t>2</a:t>
            </a:r>
            <a:r>
              <a:rPr lang="bg-BG" sz="2400" dirty="0" smtClean="0">
                <a:solidFill>
                  <a:schemeClr val="tx1"/>
                </a:solidFill>
              </a:rPr>
              <a:t>:</a:t>
            </a:r>
            <a:br>
              <a:rPr lang="bg-BG" sz="2400" dirty="0" smtClean="0">
                <a:solidFill>
                  <a:schemeClr val="tx1"/>
                </a:solidFill>
              </a:rPr>
            </a:br>
            <a:r>
              <a:rPr lang="bg-BG" sz="2400" dirty="0" smtClean="0">
                <a:solidFill>
                  <a:schemeClr val="tx1"/>
                </a:solidFill>
              </a:rPr>
              <a:t>	</a:t>
            </a:r>
            <a:r>
              <a:rPr lang="bg-BG" sz="2400" dirty="0" smtClean="0">
                <a:solidFill>
                  <a:schemeClr val="tx1"/>
                </a:solidFill>
                <a:latin typeface="Arial" pitchFamily="34" charset="0"/>
                <a:cs typeface="Arial" pitchFamily="34" charset="0"/>
              </a:rPr>
              <a:t>1	</a:t>
            </a:r>
            <a:r>
              <a:rPr lang="bg-BG" sz="2400" b="1" i="1" u="sng" dirty="0" smtClean="0">
                <a:solidFill>
                  <a:schemeClr val="tx1"/>
                </a:solidFill>
                <a:latin typeface="Arial" pitchFamily="34" charset="0"/>
                <a:cs typeface="Arial" pitchFamily="34" charset="0"/>
              </a:rPr>
              <a:t>3</a:t>
            </a:r>
            <a:r>
              <a:rPr lang="bg-BG" sz="2400" dirty="0" smtClean="0">
                <a:solidFill>
                  <a:schemeClr val="tx1"/>
                </a:solidFill>
                <a:latin typeface="Arial" pitchFamily="34" charset="0"/>
                <a:cs typeface="Arial" pitchFamily="34" charset="0"/>
              </a:rPr>
              <a:t>	</a:t>
            </a:r>
            <a:r>
              <a:rPr lang="bg-BG" sz="2400" b="1" i="1" u="sng" dirty="0" smtClean="0">
                <a:solidFill>
                  <a:schemeClr val="tx1"/>
                </a:solidFill>
                <a:latin typeface="Arial" pitchFamily="34" charset="0"/>
                <a:cs typeface="Arial" pitchFamily="34" charset="0"/>
              </a:rPr>
              <a:t>7</a:t>
            </a:r>
            <a:r>
              <a:rPr lang="bg-BG" sz="2400" dirty="0" smtClean="0">
                <a:solidFill>
                  <a:schemeClr val="tx1"/>
                </a:solidFill>
                <a:latin typeface="Arial" pitchFamily="34" charset="0"/>
                <a:cs typeface="Arial" pitchFamily="34" charset="0"/>
              </a:rPr>
              <a:t>	4	5	6	2</a:t>
            </a:r>
            <a:br>
              <a:rPr lang="bg-BG" sz="2400" dirty="0" smtClean="0">
                <a:solidFill>
                  <a:schemeClr val="tx1"/>
                </a:solidFill>
                <a:latin typeface="Arial" pitchFamily="34" charset="0"/>
                <a:cs typeface="Arial" pitchFamily="34" charset="0"/>
              </a:rPr>
            </a:br>
            <a:r>
              <a:rPr lang="bg-BG" sz="2400" dirty="0" smtClean="0">
                <a:solidFill>
                  <a:schemeClr val="tx1"/>
                </a:solidFill>
                <a:latin typeface="Arial" pitchFamily="34" charset="0"/>
                <a:cs typeface="Arial" pitchFamily="34" charset="0"/>
              </a:rPr>
              <a:t>	1	</a:t>
            </a:r>
            <a:r>
              <a:rPr lang="bg-BG" sz="2400" b="1" i="1" u="sng" dirty="0" smtClean="0">
                <a:solidFill>
                  <a:schemeClr val="tx1"/>
                </a:solidFill>
                <a:latin typeface="Arial" pitchFamily="34" charset="0"/>
                <a:cs typeface="Arial" pitchFamily="34" charset="0"/>
              </a:rPr>
              <a:t>7</a:t>
            </a:r>
            <a:r>
              <a:rPr lang="bg-BG" sz="2400" dirty="0" smtClean="0">
                <a:solidFill>
                  <a:schemeClr val="tx1"/>
                </a:solidFill>
                <a:latin typeface="Arial" pitchFamily="34" charset="0"/>
                <a:cs typeface="Arial" pitchFamily="34" charset="0"/>
              </a:rPr>
              <a:t>	3	4	5	6	</a:t>
            </a:r>
            <a:r>
              <a:rPr lang="bg-BG" sz="2400" b="1" i="1" u="sng" dirty="0" smtClean="0">
                <a:solidFill>
                  <a:schemeClr val="tx1"/>
                </a:solidFill>
                <a:latin typeface="Arial" pitchFamily="34" charset="0"/>
                <a:cs typeface="Arial" pitchFamily="34" charset="0"/>
              </a:rPr>
              <a:t>2</a:t>
            </a:r>
            <a:r>
              <a:rPr lang="bg-BG" sz="2400" dirty="0" smtClean="0">
                <a:solidFill>
                  <a:schemeClr val="tx1"/>
                </a:solidFill>
                <a:latin typeface="Arial" pitchFamily="34" charset="0"/>
                <a:cs typeface="Arial" pitchFamily="34" charset="0"/>
              </a:rPr>
              <a:t/>
            </a:r>
            <a:br>
              <a:rPr lang="bg-BG" sz="2400" dirty="0" smtClean="0">
                <a:solidFill>
                  <a:schemeClr val="tx1"/>
                </a:solidFill>
                <a:latin typeface="Arial" pitchFamily="34" charset="0"/>
                <a:cs typeface="Arial" pitchFamily="34" charset="0"/>
              </a:rPr>
            </a:br>
            <a:r>
              <a:rPr lang="bg-BG" sz="2400" dirty="0" smtClean="0">
                <a:solidFill>
                  <a:schemeClr val="tx1"/>
                </a:solidFill>
                <a:latin typeface="Arial" pitchFamily="34" charset="0"/>
                <a:cs typeface="Arial" pitchFamily="34" charset="0"/>
              </a:rPr>
              <a:t>	1	2	3	4	5	6	7</a:t>
            </a:r>
            <a:endParaRPr lang="bg-BG" sz="2400" dirty="0">
              <a:solidFill>
                <a:schemeClr val="tx1"/>
              </a:solidFill>
              <a:latin typeface="Arial" pitchFamily="34" charset="0"/>
              <a:cs typeface="Arial" pitchFamily="34" charset="0"/>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435608" y="274320"/>
            <a:ext cx="7498080" cy="6251024"/>
          </a:xfrm>
        </p:spPr>
        <p:txBody>
          <a:bodyPr>
            <a:normAutofit/>
          </a:bodyPr>
          <a:lstStyle/>
          <a:p>
            <a:pPr>
              <a:lnSpc>
                <a:spcPct val="120000"/>
              </a:lnSpc>
            </a:pPr>
            <a:r>
              <a:rPr lang="en-US" sz="2800" dirty="0" smtClean="0"/>
              <a:t>	</a:t>
            </a:r>
            <a:r>
              <a:rPr lang="bg-BG" sz="2800" dirty="0" smtClean="0">
                <a:solidFill>
                  <a:schemeClr val="tx1"/>
                </a:solidFill>
              </a:rPr>
              <a:t>Броят на размените не надвишава </a:t>
            </a:r>
            <a:r>
              <a:rPr lang="bg-BG" sz="2800" b="1" i="1" dirty="0" smtClean="0">
                <a:solidFill>
                  <a:schemeClr val="tx1"/>
                </a:solidFill>
              </a:rPr>
              <a:t>n</a:t>
            </a:r>
            <a:r>
              <a:rPr lang="bg-BG" sz="2800" dirty="0" smtClean="0">
                <a:solidFill>
                  <a:schemeClr val="tx1"/>
                </a:solidFill>
              </a:rPr>
              <a:t>. Броят на сравненията не надвишава 2</a:t>
            </a:r>
            <a:r>
              <a:rPr lang="bg-BG" sz="2800" b="1" i="1" dirty="0" smtClean="0">
                <a:solidFill>
                  <a:schemeClr val="tx1"/>
                </a:solidFill>
              </a:rPr>
              <a:t>n</a:t>
            </a:r>
            <a:r>
              <a:rPr lang="bg-BG" sz="2800" dirty="0" smtClean="0">
                <a:solidFill>
                  <a:schemeClr val="tx1"/>
                </a:solidFill>
              </a:rPr>
              <a:t> . </a:t>
            </a:r>
            <a:r>
              <a:rPr lang="en-US" sz="2800" dirty="0" smtClean="0">
                <a:solidFill>
                  <a:schemeClr val="tx1"/>
                </a:solidFill>
              </a:rPr>
              <a:t/>
            </a:r>
            <a:br>
              <a:rPr lang="en-US" sz="2800" dirty="0" smtClean="0">
                <a:solidFill>
                  <a:schemeClr val="tx1"/>
                </a:solidFill>
              </a:rPr>
            </a:br>
            <a:r>
              <a:rPr lang="en-US" sz="2800" dirty="0" smtClean="0">
                <a:solidFill>
                  <a:schemeClr val="tx1"/>
                </a:solidFill>
              </a:rPr>
              <a:t>	</a:t>
            </a:r>
            <a:r>
              <a:rPr lang="bg-BG" sz="2800" dirty="0" smtClean="0">
                <a:solidFill>
                  <a:schemeClr val="tx1"/>
                </a:solidFill>
              </a:rPr>
              <a:t>Защо? </a:t>
            </a:r>
            <a:r>
              <a:rPr lang="en-US" sz="2800" dirty="0" smtClean="0">
                <a:solidFill>
                  <a:schemeClr val="tx1"/>
                </a:solidFill>
              </a:rPr>
              <a:t/>
            </a:r>
            <a:br>
              <a:rPr lang="en-US" sz="2800" dirty="0" smtClean="0">
                <a:solidFill>
                  <a:schemeClr val="tx1"/>
                </a:solidFill>
              </a:rPr>
            </a:br>
            <a:r>
              <a:rPr lang="en-US" sz="2800" dirty="0" smtClean="0">
                <a:solidFill>
                  <a:schemeClr val="tx1"/>
                </a:solidFill>
              </a:rPr>
              <a:t>	</a:t>
            </a:r>
            <a:r>
              <a:rPr lang="bg-BG" sz="2800" dirty="0" smtClean="0">
                <a:solidFill>
                  <a:schemeClr val="tx1"/>
                </a:solidFill>
              </a:rPr>
              <a:t>Защото всеки елемент на пермутацията се преглежда най-много два пъти: веднъж при преминаване по съответния му цикъл и втори път при преминаване през крайната му позиция. В случай, че даден елемент е на мястото си в изходната пермутация, той ще участва само в едно сравнение.</a:t>
            </a:r>
            <a:endParaRPr lang="bg-BG" sz="2800" dirty="0">
              <a:solidFill>
                <a:schemeClr val="tx1"/>
              </a:solidFill>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p:cNvSpPr>
            <a:spLocks noGrp="1"/>
          </p:cNvSpPr>
          <p:nvPr>
            <p:ph type="title"/>
          </p:nvPr>
        </p:nvSpPr>
        <p:spPr>
          <a:xfrm>
            <a:off x="1435608" y="274320"/>
            <a:ext cx="7498080" cy="6179016"/>
          </a:xfrm>
        </p:spPr>
        <p:txBody>
          <a:bodyPr/>
          <a:lstStyle/>
          <a:p>
            <a:r>
              <a:rPr lang="bg-BG" b="1" u="sng" dirty="0" smtClean="0">
                <a:solidFill>
                  <a:schemeClr val="tx1"/>
                </a:solidFill>
              </a:rPr>
              <a:t>Заключение:</a:t>
            </a:r>
            <a:r>
              <a:rPr lang="en-US" b="1" u="sng" dirty="0" smtClean="0">
                <a:solidFill>
                  <a:schemeClr val="tx1"/>
                </a:solidFill>
              </a:rPr>
              <a:t/>
            </a:r>
            <a:br>
              <a:rPr lang="en-US" b="1" u="sng" dirty="0" smtClean="0">
                <a:solidFill>
                  <a:schemeClr val="tx1"/>
                </a:solidFill>
              </a:rPr>
            </a:br>
            <a:r>
              <a:rPr lang="bg-BG" sz="2400" dirty="0" smtClean="0">
                <a:solidFill>
                  <a:schemeClr val="tx1"/>
                </a:solidFill>
              </a:rPr>
              <a:t/>
            </a:r>
            <a:br>
              <a:rPr lang="bg-BG" sz="2400" dirty="0" smtClean="0">
                <a:solidFill>
                  <a:schemeClr val="tx1"/>
                </a:solidFill>
              </a:rPr>
            </a:br>
            <a:r>
              <a:rPr lang="en-US" dirty="0" smtClean="0">
                <a:solidFill>
                  <a:schemeClr val="tx1"/>
                </a:solidFill>
              </a:rPr>
              <a:t>	</a:t>
            </a:r>
            <a:r>
              <a:rPr lang="bg-BG" sz="3200" dirty="0" smtClean="0">
                <a:solidFill>
                  <a:schemeClr val="tx1"/>
                </a:solidFill>
              </a:rPr>
              <a:t>Сортирането чрез трансформация има линейна (или близка към линейната) сложност по време. </a:t>
            </a:r>
            <a:br>
              <a:rPr lang="bg-BG" sz="3200" dirty="0" smtClean="0">
                <a:solidFill>
                  <a:schemeClr val="tx1"/>
                </a:solidFill>
              </a:rPr>
            </a:br>
            <a:r>
              <a:rPr lang="en-US" sz="3200" dirty="0" smtClean="0">
                <a:solidFill>
                  <a:schemeClr val="tx1"/>
                </a:solidFill>
              </a:rPr>
              <a:t>	</a:t>
            </a:r>
            <a:r>
              <a:rPr lang="bg-BG" sz="3200" dirty="0" smtClean="0">
                <a:solidFill>
                  <a:schemeClr val="tx1"/>
                </a:solidFill>
              </a:rPr>
              <a:t>Но!</a:t>
            </a:r>
            <a:r>
              <a:rPr lang="en-US" sz="3200" dirty="0" smtClean="0">
                <a:solidFill>
                  <a:schemeClr val="tx1"/>
                </a:solidFill>
              </a:rPr>
              <a:t> </a:t>
            </a:r>
            <a:r>
              <a:rPr lang="bg-BG" sz="3200" dirty="0" smtClean="0">
                <a:solidFill>
                  <a:schemeClr val="tx1"/>
                </a:solidFill>
              </a:rPr>
              <a:t> Алгоритмите не са универсални и могат да се използват само за определени специфични видове данни.</a:t>
            </a:r>
            <a:endParaRPr lang="bg-BG" sz="3200" dirty="0">
              <a:solidFill>
                <a:schemeClr val="tx1"/>
              </a:solidFill>
            </a:endParaRPr>
          </a:p>
        </p:txBody>
      </p:sp>
      <p:sp>
        <p:nvSpPr>
          <p:cNvPr id="3" name="Контейнер за номер на слайда 2"/>
          <p:cNvSpPr>
            <a:spLocks noGrp="1"/>
          </p:cNvSpPr>
          <p:nvPr>
            <p:ph type="sldNum" sz="quarter" idx="12"/>
          </p:nvPr>
        </p:nvSpPr>
        <p:spPr/>
        <p:txBody>
          <a:bodyPr/>
          <a:lstStyle/>
          <a:p>
            <a:pPr>
              <a:defRPr/>
            </a:pPr>
            <a:fld id="{B7284EC1-C5F9-4279-97D0-7C576E4C1C88}" type="slidenum">
              <a:rPr lang="en-US" smtClean="0"/>
              <a:pPr>
                <a:defRPr/>
              </a:pPr>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1043608" y="620688"/>
            <a:ext cx="7935416" cy="6019800"/>
          </a:xfrm>
        </p:spPr>
        <p:txBody>
          <a:bodyPr>
            <a:normAutofit fontScale="90000"/>
          </a:bodyPr>
          <a:lstStyle/>
          <a:p>
            <a:pPr eaLnBrk="1" fontAlgn="auto" hangingPunct="1">
              <a:spcAft>
                <a:spcPts val="0"/>
              </a:spcAft>
              <a:defRPr/>
            </a:pPr>
            <a:r>
              <a:rPr lang="bg-BG" sz="3200" dirty="0">
                <a:solidFill>
                  <a:schemeClr val="tx2">
                    <a:satMod val="130000"/>
                  </a:schemeClr>
                </a:solidFill>
              </a:rPr>
              <a:t>                       </a:t>
            </a:r>
            <a:r>
              <a:rPr lang="bg-BG" sz="3600" b="1" u="sng" dirty="0">
                <a:solidFill>
                  <a:schemeClr val="tx1"/>
                </a:solidFill>
              </a:rPr>
              <a:t>Паралелно сортиране</a:t>
            </a:r>
            <a:r>
              <a:rPr lang="bg-BG" sz="2400" b="1" dirty="0">
                <a:solidFill>
                  <a:schemeClr val="tx2">
                    <a:satMod val="130000"/>
                  </a:schemeClr>
                </a:solidFill>
              </a:rPr>
              <a:t/>
            </a:r>
            <a:br>
              <a:rPr lang="bg-BG" sz="2400" b="1" dirty="0">
                <a:solidFill>
                  <a:schemeClr val="tx2">
                    <a:satMod val="130000"/>
                  </a:schemeClr>
                </a:solidFill>
              </a:rPr>
            </a:br>
            <a:r>
              <a:rPr lang="bg-BG" sz="2400" b="1" dirty="0">
                <a:solidFill>
                  <a:schemeClr val="tx2">
                    <a:satMod val="130000"/>
                  </a:schemeClr>
                </a:solidFill>
              </a:rPr>
              <a:t/>
            </a:r>
            <a:br>
              <a:rPr lang="bg-BG" sz="2400" b="1" dirty="0">
                <a:solidFill>
                  <a:schemeClr val="tx2">
                    <a:satMod val="130000"/>
                  </a:schemeClr>
                </a:solidFill>
              </a:rPr>
            </a:br>
            <a:r>
              <a:rPr lang="bg-BG" sz="2400" b="1" dirty="0">
                <a:solidFill>
                  <a:schemeClr val="tx2">
                    <a:satMod val="130000"/>
                  </a:schemeClr>
                </a:solidFill>
              </a:rPr>
              <a:t/>
            </a:r>
            <a:br>
              <a:rPr lang="bg-BG" sz="2400" b="1" dirty="0">
                <a:solidFill>
                  <a:schemeClr val="tx2">
                    <a:satMod val="130000"/>
                  </a:schemeClr>
                </a:solidFill>
              </a:rPr>
            </a:br>
            <a:r>
              <a:rPr lang="bg-BG" sz="2400" b="1" dirty="0">
                <a:solidFill>
                  <a:schemeClr val="tx2">
                    <a:satMod val="130000"/>
                  </a:schemeClr>
                </a:solidFill>
              </a:rPr>
              <a:t/>
            </a:r>
            <a:br>
              <a:rPr lang="bg-BG" sz="2400" b="1" dirty="0">
                <a:solidFill>
                  <a:schemeClr val="tx2">
                    <a:satMod val="130000"/>
                  </a:schemeClr>
                </a:solidFill>
              </a:rPr>
            </a:br>
            <a:r>
              <a:rPr lang="bg-BG" sz="2400" b="1" dirty="0">
                <a:solidFill>
                  <a:schemeClr val="tx2">
                    <a:satMod val="130000"/>
                  </a:schemeClr>
                </a:solidFill>
              </a:rPr>
              <a:t/>
            </a:r>
            <a:br>
              <a:rPr lang="bg-BG" sz="2400" b="1" dirty="0">
                <a:solidFill>
                  <a:schemeClr val="tx2">
                    <a:satMod val="130000"/>
                  </a:schemeClr>
                </a:solidFill>
              </a:rPr>
            </a:br>
            <a:r>
              <a:rPr lang="bg-BG" sz="2400" b="1" dirty="0">
                <a:solidFill>
                  <a:schemeClr val="tx2">
                    <a:satMod val="130000"/>
                  </a:schemeClr>
                </a:solidFill>
              </a:rPr>
              <a:t/>
            </a:r>
            <a:br>
              <a:rPr lang="bg-BG" sz="2400" b="1" dirty="0">
                <a:solidFill>
                  <a:schemeClr val="tx2">
                    <a:satMod val="130000"/>
                  </a:schemeClr>
                </a:solidFill>
              </a:rPr>
            </a:br>
            <a:r>
              <a:rPr lang="bg-BG" sz="2400" b="1" dirty="0">
                <a:solidFill>
                  <a:schemeClr val="tx2">
                    <a:satMod val="130000"/>
                  </a:schemeClr>
                </a:solidFill>
              </a:rPr>
              <a:t/>
            </a:r>
            <a:br>
              <a:rPr lang="bg-BG" sz="2400" b="1" dirty="0">
                <a:solidFill>
                  <a:schemeClr val="tx2">
                    <a:satMod val="130000"/>
                  </a:schemeClr>
                </a:solidFill>
              </a:rPr>
            </a:br>
            <a:r>
              <a:rPr lang="bg-BG" sz="2400" b="1" dirty="0">
                <a:solidFill>
                  <a:schemeClr val="tx2">
                    <a:satMod val="130000"/>
                  </a:schemeClr>
                </a:solidFill>
              </a:rPr>
              <a:t/>
            </a:r>
            <a:br>
              <a:rPr lang="bg-BG" sz="2400" b="1" dirty="0">
                <a:solidFill>
                  <a:schemeClr val="tx2">
                    <a:satMod val="130000"/>
                  </a:schemeClr>
                </a:solidFill>
              </a:rPr>
            </a:br>
            <a:r>
              <a:rPr lang="bg-BG" sz="2400" b="1" dirty="0">
                <a:solidFill>
                  <a:schemeClr val="tx2">
                    <a:satMod val="130000"/>
                  </a:schemeClr>
                </a:solidFill>
              </a:rPr>
              <a:t/>
            </a:r>
            <a:br>
              <a:rPr lang="bg-BG" sz="2400" b="1" dirty="0">
                <a:solidFill>
                  <a:schemeClr val="tx2">
                    <a:satMod val="130000"/>
                  </a:schemeClr>
                </a:solidFill>
              </a:rPr>
            </a:br>
            <a:r>
              <a:rPr lang="bg-BG" sz="2400" dirty="0">
                <a:solidFill>
                  <a:schemeClr val="tx1"/>
                </a:solidFill>
              </a:rPr>
              <a:t>Абстрактна машина, представляваща модул за сравнение-размяна или </a:t>
            </a:r>
            <a:r>
              <a:rPr lang="bg-BG" sz="2400" dirty="0" err="1">
                <a:solidFill>
                  <a:schemeClr val="tx1"/>
                </a:solidFill>
              </a:rPr>
              <a:t>компаратор</a:t>
            </a:r>
            <a:r>
              <a:rPr lang="bg-BG" sz="2400" dirty="0">
                <a:solidFill>
                  <a:schemeClr val="tx1"/>
                </a:solidFill>
              </a:rPr>
              <a:t>:</a:t>
            </a:r>
            <a:r>
              <a:rPr lang="bg-BG" sz="2400" dirty="0">
                <a:solidFill>
                  <a:schemeClr val="tx2">
                    <a:satMod val="130000"/>
                  </a:schemeClr>
                </a:solidFill>
              </a:rPr>
              <a:t/>
            </a:r>
            <a:br>
              <a:rPr lang="bg-BG" sz="2400" dirty="0">
                <a:solidFill>
                  <a:schemeClr val="tx2">
                    <a:satMod val="130000"/>
                  </a:schemeClr>
                </a:solidFill>
              </a:rPr>
            </a:br>
            <a:r>
              <a:rPr lang="bg-BG" sz="2400" b="1" dirty="0">
                <a:solidFill>
                  <a:schemeClr val="tx2">
                    <a:satMod val="130000"/>
                  </a:schemeClr>
                </a:solidFill>
              </a:rPr>
              <a:t/>
            </a:r>
            <a:br>
              <a:rPr lang="bg-BG" sz="2400" b="1" dirty="0">
                <a:solidFill>
                  <a:schemeClr val="tx2">
                    <a:satMod val="130000"/>
                  </a:schemeClr>
                </a:solidFill>
              </a:rPr>
            </a:br>
            <a:r>
              <a:rPr lang="bg-BG" sz="2400" b="1" dirty="0">
                <a:solidFill>
                  <a:schemeClr val="tx2">
                    <a:satMod val="130000"/>
                  </a:schemeClr>
                </a:solidFill>
              </a:rPr>
              <a:t/>
            </a:r>
            <a:br>
              <a:rPr lang="bg-BG" sz="2400" b="1" dirty="0">
                <a:solidFill>
                  <a:schemeClr val="tx2">
                    <a:satMod val="130000"/>
                  </a:schemeClr>
                </a:solidFill>
              </a:rPr>
            </a:br>
            <a:r>
              <a:rPr lang="bg-BG" sz="2400" b="1" dirty="0">
                <a:solidFill>
                  <a:schemeClr val="tx2">
                    <a:satMod val="130000"/>
                  </a:schemeClr>
                </a:solidFill>
              </a:rPr>
              <a:t/>
            </a:r>
            <a:br>
              <a:rPr lang="bg-BG" sz="2400" b="1" dirty="0">
                <a:solidFill>
                  <a:schemeClr val="tx2">
                    <a:satMod val="130000"/>
                  </a:schemeClr>
                </a:solidFill>
              </a:rPr>
            </a:br>
            <a:r>
              <a:rPr lang="bg-BG" sz="3200" dirty="0">
                <a:solidFill>
                  <a:schemeClr val="tx2">
                    <a:satMod val="130000"/>
                  </a:schemeClr>
                </a:solidFill>
              </a:rPr>
              <a:t/>
            </a:r>
            <a:br>
              <a:rPr lang="bg-BG" sz="3200" dirty="0">
                <a:solidFill>
                  <a:schemeClr val="tx2">
                    <a:satMod val="130000"/>
                  </a:schemeClr>
                </a:solidFill>
              </a:rPr>
            </a:br>
            <a:r>
              <a:rPr lang="bg-BG" sz="2400" dirty="0">
                <a:solidFill>
                  <a:schemeClr val="tx2">
                    <a:satMod val="130000"/>
                  </a:schemeClr>
                </a:solidFill>
              </a:rPr>
              <a:t/>
            </a:r>
            <a:br>
              <a:rPr lang="bg-BG" sz="2400" dirty="0">
                <a:solidFill>
                  <a:schemeClr val="tx2">
                    <a:satMod val="130000"/>
                  </a:schemeClr>
                </a:solidFill>
              </a:rPr>
            </a:br>
            <a:endParaRPr lang="en-US" dirty="0">
              <a:solidFill>
                <a:schemeClr val="tx2">
                  <a:satMod val="130000"/>
                </a:schemeClr>
              </a:solidFill>
            </a:endParaRPr>
          </a:p>
        </p:txBody>
      </p:sp>
      <p:grpSp>
        <p:nvGrpSpPr>
          <p:cNvPr id="23" name="Group 22"/>
          <p:cNvGrpSpPr/>
          <p:nvPr/>
        </p:nvGrpSpPr>
        <p:grpSpPr>
          <a:xfrm>
            <a:off x="1043608" y="1412776"/>
            <a:ext cx="7924800" cy="1662113"/>
            <a:chOff x="457200" y="1447800"/>
            <a:chExt cx="7924800" cy="1662113"/>
          </a:xfrm>
        </p:grpSpPr>
        <p:grpSp>
          <p:nvGrpSpPr>
            <p:cNvPr id="56323" name="Group 8"/>
            <p:cNvGrpSpPr>
              <a:grpSpLocks/>
            </p:cNvGrpSpPr>
            <p:nvPr/>
          </p:nvGrpSpPr>
          <p:grpSpPr bwMode="auto">
            <a:xfrm>
              <a:off x="457200" y="1447800"/>
              <a:ext cx="3810000" cy="1662113"/>
              <a:chOff x="336" y="240"/>
              <a:chExt cx="2400" cy="1047"/>
            </a:xfrm>
          </p:grpSpPr>
          <p:sp>
            <p:nvSpPr>
              <p:cNvPr id="56341" name="Rectangle 3"/>
              <p:cNvSpPr>
                <a:spLocks noChangeArrowheads="1"/>
              </p:cNvSpPr>
              <p:nvPr/>
            </p:nvSpPr>
            <p:spPr bwMode="auto">
              <a:xfrm>
                <a:off x="336" y="240"/>
                <a:ext cx="2400" cy="912"/>
              </a:xfrm>
              <a:prstGeom prst="rect">
                <a:avLst/>
              </a:prstGeom>
              <a:solidFill>
                <a:schemeClr val="hlink"/>
              </a:solidFill>
              <a:ln w="9525">
                <a:solidFill>
                  <a:schemeClr val="tx1"/>
                </a:solidFill>
                <a:miter lim="800000"/>
                <a:headEnd/>
                <a:tailEnd/>
              </a:ln>
            </p:spPr>
            <p:txBody>
              <a:bodyPr wrap="none" anchor="ctr"/>
              <a:lstStyle/>
              <a:p>
                <a:endParaRPr lang="bg-BG"/>
              </a:p>
            </p:txBody>
          </p:sp>
          <p:sp>
            <p:nvSpPr>
              <p:cNvPr id="56342" name="Text Box 7"/>
              <p:cNvSpPr txBox="1">
                <a:spLocks noChangeArrowheads="1"/>
              </p:cNvSpPr>
              <p:nvPr/>
            </p:nvSpPr>
            <p:spPr bwMode="auto">
              <a:xfrm>
                <a:off x="432" y="288"/>
                <a:ext cx="2208" cy="999"/>
              </a:xfrm>
              <a:prstGeom prst="rect">
                <a:avLst/>
              </a:prstGeom>
              <a:noFill/>
              <a:ln w="9525">
                <a:noFill/>
                <a:miter lim="800000"/>
                <a:headEnd/>
                <a:tailEnd/>
              </a:ln>
            </p:spPr>
            <p:txBody>
              <a:bodyPr>
                <a:spAutoFit/>
              </a:bodyPr>
              <a:lstStyle/>
              <a:p>
                <a:pPr algn="l">
                  <a:spcBef>
                    <a:spcPct val="50000"/>
                  </a:spcBef>
                </a:pPr>
                <a:r>
                  <a:rPr lang="bg-BG" sz="2000"/>
                  <a:t>Многопроцесорни  системи</a:t>
                </a:r>
              </a:p>
              <a:p>
                <a:pPr algn="l">
                  <a:spcBef>
                    <a:spcPct val="50000"/>
                  </a:spcBef>
                </a:pPr>
                <a:r>
                  <a:rPr lang="bg-BG" sz="2000"/>
                  <a:t>Мрежови  технологии</a:t>
                </a:r>
              </a:p>
              <a:p>
                <a:pPr algn="l">
                  <a:spcBef>
                    <a:spcPct val="50000"/>
                  </a:spcBef>
                </a:pPr>
                <a:r>
                  <a:rPr lang="bg-BG" sz="2000"/>
                  <a:t>Специализирани процесори</a:t>
                </a:r>
                <a:r>
                  <a:rPr lang="bg-BG" sz="1800"/>
                  <a:t>	</a:t>
                </a:r>
                <a:endParaRPr lang="en-US" sz="1800" dirty="0"/>
              </a:p>
            </p:txBody>
          </p:sp>
        </p:grpSp>
        <p:grpSp>
          <p:nvGrpSpPr>
            <p:cNvPr id="56324" name="Group 10"/>
            <p:cNvGrpSpPr>
              <a:grpSpLocks/>
            </p:cNvGrpSpPr>
            <p:nvPr/>
          </p:nvGrpSpPr>
          <p:grpSpPr bwMode="auto">
            <a:xfrm>
              <a:off x="5410200" y="1905000"/>
              <a:ext cx="2971800" cy="457200"/>
              <a:chOff x="3648" y="720"/>
              <a:chExt cx="1872" cy="288"/>
            </a:xfrm>
          </p:grpSpPr>
          <p:sp>
            <p:nvSpPr>
              <p:cNvPr id="56339" name="Rectangle 4"/>
              <p:cNvSpPr>
                <a:spLocks noChangeArrowheads="1"/>
              </p:cNvSpPr>
              <p:nvPr/>
            </p:nvSpPr>
            <p:spPr bwMode="auto">
              <a:xfrm>
                <a:off x="3648" y="720"/>
                <a:ext cx="1872" cy="288"/>
              </a:xfrm>
              <a:prstGeom prst="rect">
                <a:avLst/>
              </a:prstGeom>
              <a:solidFill>
                <a:schemeClr val="hlink"/>
              </a:solidFill>
              <a:ln w="9525">
                <a:solidFill>
                  <a:schemeClr val="tx1"/>
                </a:solidFill>
                <a:miter lim="800000"/>
                <a:headEnd/>
                <a:tailEnd/>
              </a:ln>
            </p:spPr>
            <p:txBody>
              <a:bodyPr wrap="none" anchor="ctr"/>
              <a:lstStyle/>
              <a:p>
                <a:endParaRPr lang="bg-BG"/>
              </a:p>
            </p:txBody>
          </p:sp>
          <p:sp>
            <p:nvSpPr>
              <p:cNvPr id="56340" name="Text Box 9"/>
              <p:cNvSpPr txBox="1">
                <a:spLocks noChangeArrowheads="1"/>
              </p:cNvSpPr>
              <p:nvPr/>
            </p:nvSpPr>
            <p:spPr bwMode="auto">
              <a:xfrm>
                <a:off x="3744" y="720"/>
                <a:ext cx="1728" cy="250"/>
              </a:xfrm>
              <a:prstGeom prst="rect">
                <a:avLst/>
              </a:prstGeom>
              <a:noFill/>
              <a:ln w="9525">
                <a:noFill/>
                <a:miter lim="800000"/>
                <a:headEnd/>
                <a:tailEnd/>
              </a:ln>
            </p:spPr>
            <p:txBody>
              <a:bodyPr>
                <a:spAutoFit/>
              </a:bodyPr>
              <a:lstStyle/>
              <a:p>
                <a:pPr algn="l">
                  <a:spcBef>
                    <a:spcPct val="50000"/>
                  </a:spcBef>
                </a:pPr>
                <a:r>
                  <a:rPr lang="bg-BG" sz="2000"/>
                  <a:t>Паралелни алгоритми</a:t>
                </a:r>
                <a:endParaRPr lang="en-US" sz="1200" dirty="0"/>
              </a:p>
            </p:txBody>
          </p:sp>
        </p:grpSp>
        <p:sp>
          <p:nvSpPr>
            <p:cNvPr id="56325" name="Line 11"/>
            <p:cNvSpPr>
              <a:spLocks noChangeShapeType="1"/>
            </p:cNvSpPr>
            <p:nvPr/>
          </p:nvSpPr>
          <p:spPr bwMode="auto">
            <a:xfrm>
              <a:off x="4495800" y="2133600"/>
              <a:ext cx="762000" cy="0"/>
            </a:xfrm>
            <a:prstGeom prst="line">
              <a:avLst/>
            </a:prstGeom>
            <a:noFill/>
            <a:ln w="28575">
              <a:solidFill>
                <a:schemeClr val="tx1"/>
              </a:solidFill>
              <a:round/>
              <a:headEnd type="triangle" w="med" len="med"/>
              <a:tailEnd type="triangle" w="med" len="med"/>
            </a:ln>
          </p:spPr>
          <p:txBody>
            <a:bodyPr wrap="none" anchor="ctr"/>
            <a:lstStyle/>
            <a:p>
              <a:endParaRPr lang="bg-BG"/>
            </a:p>
          </p:txBody>
        </p:sp>
      </p:grpSp>
      <p:grpSp>
        <p:nvGrpSpPr>
          <p:cNvPr id="56326" name="Group 24"/>
          <p:cNvGrpSpPr>
            <a:grpSpLocks/>
          </p:cNvGrpSpPr>
          <p:nvPr/>
        </p:nvGrpSpPr>
        <p:grpSpPr bwMode="auto">
          <a:xfrm>
            <a:off x="2590800" y="4724400"/>
            <a:ext cx="5257800" cy="952500"/>
            <a:chOff x="1632" y="2976"/>
            <a:chExt cx="3312" cy="600"/>
          </a:xfrm>
        </p:grpSpPr>
        <p:grpSp>
          <p:nvGrpSpPr>
            <p:cNvPr id="56328" name="Group 22"/>
            <p:cNvGrpSpPr>
              <a:grpSpLocks/>
            </p:cNvGrpSpPr>
            <p:nvPr/>
          </p:nvGrpSpPr>
          <p:grpSpPr bwMode="auto">
            <a:xfrm>
              <a:off x="1632" y="2976"/>
              <a:ext cx="3312" cy="600"/>
              <a:chOff x="1632" y="2976"/>
              <a:chExt cx="3312" cy="600"/>
            </a:xfrm>
          </p:grpSpPr>
          <p:sp>
            <p:nvSpPr>
              <p:cNvPr id="56330" name="Rectangle 12"/>
              <p:cNvSpPr>
                <a:spLocks noChangeArrowheads="1"/>
              </p:cNvSpPr>
              <p:nvPr/>
            </p:nvSpPr>
            <p:spPr bwMode="auto">
              <a:xfrm>
                <a:off x="2352" y="3072"/>
                <a:ext cx="816" cy="480"/>
              </a:xfrm>
              <a:prstGeom prst="rect">
                <a:avLst/>
              </a:prstGeom>
              <a:noFill/>
              <a:ln w="9525">
                <a:solidFill>
                  <a:schemeClr val="tx1"/>
                </a:solidFill>
                <a:miter lim="800000"/>
                <a:headEnd/>
                <a:tailEnd/>
              </a:ln>
            </p:spPr>
            <p:txBody>
              <a:bodyPr wrap="none" anchor="ctr"/>
              <a:lstStyle/>
              <a:p>
                <a:endParaRPr lang="bg-BG"/>
              </a:p>
            </p:txBody>
          </p:sp>
          <p:sp>
            <p:nvSpPr>
              <p:cNvPr id="56331" name="Line 13"/>
              <p:cNvSpPr>
                <a:spLocks noChangeShapeType="1"/>
              </p:cNvSpPr>
              <p:nvPr/>
            </p:nvSpPr>
            <p:spPr bwMode="auto">
              <a:xfrm>
                <a:off x="1968" y="3168"/>
                <a:ext cx="384" cy="0"/>
              </a:xfrm>
              <a:prstGeom prst="line">
                <a:avLst/>
              </a:prstGeom>
              <a:noFill/>
              <a:ln w="9525">
                <a:solidFill>
                  <a:schemeClr val="tx1"/>
                </a:solidFill>
                <a:round/>
                <a:headEnd/>
                <a:tailEnd type="triangle" w="med" len="med"/>
              </a:ln>
            </p:spPr>
            <p:txBody>
              <a:bodyPr wrap="none" anchor="ctr"/>
              <a:lstStyle/>
              <a:p>
                <a:endParaRPr lang="bg-BG"/>
              </a:p>
            </p:txBody>
          </p:sp>
          <p:sp>
            <p:nvSpPr>
              <p:cNvPr id="56332" name="Line 14"/>
              <p:cNvSpPr>
                <a:spLocks noChangeShapeType="1"/>
              </p:cNvSpPr>
              <p:nvPr/>
            </p:nvSpPr>
            <p:spPr bwMode="auto">
              <a:xfrm>
                <a:off x="1968" y="3440"/>
                <a:ext cx="384" cy="0"/>
              </a:xfrm>
              <a:prstGeom prst="line">
                <a:avLst/>
              </a:prstGeom>
              <a:noFill/>
              <a:ln w="9525">
                <a:solidFill>
                  <a:schemeClr val="tx1"/>
                </a:solidFill>
                <a:round/>
                <a:headEnd/>
                <a:tailEnd type="triangle" w="med" len="med"/>
              </a:ln>
            </p:spPr>
            <p:txBody>
              <a:bodyPr wrap="none" anchor="ctr"/>
              <a:lstStyle/>
              <a:p>
                <a:endParaRPr lang="bg-BG"/>
              </a:p>
            </p:txBody>
          </p:sp>
          <p:sp>
            <p:nvSpPr>
              <p:cNvPr id="56333" name="Text Box 16"/>
              <p:cNvSpPr txBox="1">
                <a:spLocks noChangeArrowheads="1"/>
              </p:cNvSpPr>
              <p:nvPr/>
            </p:nvSpPr>
            <p:spPr bwMode="auto">
              <a:xfrm>
                <a:off x="1632" y="3024"/>
                <a:ext cx="192" cy="288"/>
              </a:xfrm>
              <a:prstGeom prst="rect">
                <a:avLst/>
              </a:prstGeom>
              <a:noFill/>
              <a:ln w="9525">
                <a:noFill/>
                <a:miter lim="800000"/>
                <a:headEnd/>
                <a:tailEnd/>
              </a:ln>
            </p:spPr>
            <p:txBody>
              <a:bodyPr>
                <a:spAutoFit/>
              </a:bodyPr>
              <a:lstStyle/>
              <a:p>
                <a:pPr algn="l">
                  <a:spcBef>
                    <a:spcPct val="50000"/>
                  </a:spcBef>
                </a:pPr>
                <a:r>
                  <a:rPr lang="en-US" dirty="0"/>
                  <a:t>x</a:t>
                </a:r>
              </a:p>
            </p:txBody>
          </p:sp>
          <p:sp>
            <p:nvSpPr>
              <p:cNvPr id="56334" name="Text Box 17"/>
              <p:cNvSpPr txBox="1">
                <a:spLocks noChangeArrowheads="1"/>
              </p:cNvSpPr>
              <p:nvPr/>
            </p:nvSpPr>
            <p:spPr bwMode="auto">
              <a:xfrm>
                <a:off x="1640" y="3272"/>
                <a:ext cx="192" cy="288"/>
              </a:xfrm>
              <a:prstGeom prst="rect">
                <a:avLst/>
              </a:prstGeom>
              <a:noFill/>
              <a:ln w="9525">
                <a:noFill/>
                <a:miter lim="800000"/>
                <a:headEnd/>
                <a:tailEnd/>
              </a:ln>
            </p:spPr>
            <p:txBody>
              <a:bodyPr>
                <a:spAutoFit/>
              </a:bodyPr>
              <a:lstStyle/>
              <a:p>
                <a:pPr algn="l">
                  <a:spcBef>
                    <a:spcPct val="50000"/>
                  </a:spcBef>
                </a:pPr>
                <a:r>
                  <a:rPr lang="en-US" dirty="0"/>
                  <a:t>y</a:t>
                </a:r>
              </a:p>
            </p:txBody>
          </p:sp>
          <p:sp>
            <p:nvSpPr>
              <p:cNvPr id="56335" name="Line 18"/>
              <p:cNvSpPr>
                <a:spLocks noChangeShapeType="1"/>
              </p:cNvSpPr>
              <p:nvPr/>
            </p:nvSpPr>
            <p:spPr bwMode="auto">
              <a:xfrm>
                <a:off x="3168" y="3168"/>
                <a:ext cx="432" cy="0"/>
              </a:xfrm>
              <a:prstGeom prst="line">
                <a:avLst/>
              </a:prstGeom>
              <a:noFill/>
              <a:ln w="9525">
                <a:solidFill>
                  <a:schemeClr val="tx1"/>
                </a:solidFill>
                <a:round/>
                <a:headEnd/>
                <a:tailEnd type="triangle" w="med" len="med"/>
              </a:ln>
            </p:spPr>
            <p:txBody>
              <a:bodyPr wrap="none" anchor="ctr"/>
              <a:lstStyle/>
              <a:p>
                <a:endParaRPr lang="bg-BG"/>
              </a:p>
            </p:txBody>
          </p:sp>
          <p:sp>
            <p:nvSpPr>
              <p:cNvPr id="56336" name="Line 19"/>
              <p:cNvSpPr>
                <a:spLocks noChangeShapeType="1"/>
              </p:cNvSpPr>
              <p:nvPr/>
            </p:nvSpPr>
            <p:spPr bwMode="auto">
              <a:xfrm>
                <a:off x="3168" y="3448"/>
                <a:ext cx="432" cy="0"/>
              </a:xfrm>
              <a:prstGeom prst="line">
                <a:avLst/>
              </a:prstGeom>
              <a:noFill/>
              <a:ln w="9525">
                <a:solidFill>
                  <a:schemeClr val="tx1"/>
                </a:solidFill>
                <a:round/>
                <a:headEnd/>
                <a:tailEnd type="triangle" w="med" len="med"/>
              </a:ln>
            </p:spPr>
            <p:txBody>
              <a:bodyPr wrap="none" anchor="ctr"/>
              <a:lstStyle/>
              <a:p>
                <a:endParaRPr lang="bg-BG"/>
              </a:p>
            </p:txBody>
          </p:sp>
          <p:sp>
            <p:nvSpPr>
              <p:cNvPr id="56337" name="Text Box 20"/>
              <p:cNvSpPr txBox="1">
                <a:spLocks noChangeArrowheads="1"/>
              </p:cNvSpPr>
              <p:nvPr/>
            </p:nvSpPr>
            <p:spPr bwMode="auto">
              <a:xfrm>
                <a:off x="3696" y="2976"/>
                <a:ext cx="1248" cy="288"/>
              </a:xfrm>
              <a:prstGeom prst="rect">
                <a:avLst/>
              </a:prstGeom>
              <a:noFill/>
              <a:ln w="9525">
                <a:noFill/>
                <a:miter lim="800000"/>
                <a:headEnd/>
                <a:tailEnd/>
              </a:ln>
            </p:spPr>
            <p:txBody>
              <a:bodyPr>
                <a:spAutoFit/>
              </a:bodyPr>
              <a:lstStyle/>
              <a:p>
                <a:pPr algn="l">
                  <a:spcBef>
                    <a:spcPct val="50000"/>
                  </a:spcBef>
                </a:pPr>
                <a:r>
                  <a:rPr lang="en-US" dirty="0"/>
                  <a:t>min(x,y)</a:t>
                </a:r>
              </a:p>
            </p:txBody>
          </p:sp>
          <p:sp>
            <p:nvSpPr>
              <p:cNvPr id="56338" name="Text Box 21"/>
              <p:cNvSpPr txBox="1">
                <a:spLocks noChangeArrowheads="1"/>
              </p:cNvSpPr>
              <p:nvPr/>
            </p:nvSpPr>
            <p:spPr bwMode="auto">
              <a:xfrm>
                <a:off x="3696" y="3288"/>
                <a:ext cx="1248" cy="288"/>
              </a:xfrm>
              <a:prstGeom prst="rect">
                <a:avLst/>
              </a:prstGeom>
              <a:noFill/>
              <a:ln w="9525">
                <a:noFill/>
                <a:miter lim="800000"/>
                <a:headEnd/>
                <a:tailEnd/>
              </a:ln>
            </p:spPr>
            <p:txBody>
              <a:bodyPr>
                <a:spAutoFit/>
              </a:bodyPr>
              <a:lstStyle/>
              <a:p>
                <a:pPr algn="l">
                  <a:spcBef>
                    <a:spcPct val="50000"/>
                  </a:spcBef>
                </a:pPr>
                <a:r>
                  <a:rPr lang="en-US" dirty="0"/>
                  <a:t>max(x,y)</a:t>
                </a:r>
              </a:p>
            </p:txBody>
          </p:sp>
        </p:grpSp>
        <p:sp>
          <p:nvSpPr>
            <p:cNvPr id="56329" name="Text Box 23"/>
            <p:cNvSpPr txBox="1">
              <a:spLocks noChangeArrowheads="1"/>
            </p:cNvSpPr>
            <p:nvPr/>
          </p:nvSpPr>
          <p:spPr bwMode="auto">
            <a:xfrm>
              <a:off x="2344" y="3168"/>
              <a:ext cx="912" cy="231"/>
            </a:xfrm>
            <a:prstGeom prst="rect">
              <a:avLst/>
            </a:prstGeom>
            <a:noFill/>
            <a:ln w="9525">
              <a:noFill/>
              <a:miter lim="800000"/>
              <a:headEnd/>
              <a:tailEnd/>
            </a:ln>
          </p:spPr>
          <p:txBody>
            <a:bodyPr>
              <a:spAutoFit/>
            </a:bodyPr>
            <a:lstStyle/>
            <a:p>
              <a:pPr algn="l">
                <a:spcBef>
                  <a:spcPct val="50000"/>
                </a:spcBef>
              </a:pPr>
              <a:r>
                <a:rPr lang="bg-BG" sz="1800"/>
                <a:t>компаратор</a:t>
              </a:r>
              <a:endParaRPr lang="en-US" dirty="0"/>
            </a:p>
          </p:txBody>
        </p:sp>
      </p:grpSp>
      <p:sp>
        <p:nvSpPr>
          <p:cNvPr id="24" name="Slide Number Placeholder 23"/>
          <p:cNvSpPr>
            <a:spLocks noGrp="1"/>
          </p:cNvSpPr>
          <p:nvPr>
            <p:ph type="sldNum" sz="quarter" idx="12"/>
          </p:nvPr>
        </p:nvSpPr>
        <p:spPr/>
        <p:txBody>
          <a:bodyPr/>
          <a:lstStyle/>
          <a:p>
            <a:pPr>
              <a:defRPr/>
            </a:pPr>
            <a:fld id="{0A10EADC-5C58-42A3-A9FE-F8306A97A8BE}" type="slidenum">
              <a:rPr lang="en-US"/>
              <a:pPr>
                <a:defRPr/>
              </a:pPr>
              <a:t>80</a:t>
            </a:fld>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1116013" y="260350"/>
            <a:ext cx="8304212" cy="6248400"/>
          </a:xfrm>
        </p:spPr>
        <p:txBody>
          <a:bodyPr/>
          <a:lstStyle/>
          <a:p>
            <a:pPr eaLnBrk="1" fontAlgn="auto" hangingPunct="1">
              <a:spcAft>
                <a:spcPts val="0"/>
              </a:spcAft>
              <a:defRPr/>
            </a:pPr>
            <a:r>
              <a:rPr lang="en-US" sz="2400" dirty="0">
                <a:solidFill>
                  <a:schemeClr val="tx2">
                    <a:satMod val="130000"/>
                  </a:schemeClr>
                </a:solidFill>
              </a:rPr>
              <a:t>	</a:t>
            </a:r>
            <a:r>
              <a:rPr lang="bg-BG" sz="2400">
                <a:solidFill>
                  <a:schemeClr val="tx1"/>
                </a:solidFill>
              </a:rPr>
              <a:t>Компараторите (броят им не се ограничава) се свързват в сортираща схема или мрежа:</a:t>
            </a:r>
            <a:r>
              <a:rPr lang="en-US" sz="2400" dirty="0">
                <a:solidFill>
                  <a:schemeClr val="tx2">
                    <a:satMod val="130000"/>
                  </a:schemeClr>
                </a:solidFill>
              </a:rPr>
              <a:t/>
            </a:r>
            <a:br>
              <a:rPr lang="en-US" sz="2400" dirty="0">
                <a:solidFill>
                  <a:schemeClr val="tx2">
                    <a:satMod val="130000"/>
                  </a:schemeClr>
                </a:solidFill>
              </a:rPr>
            </a:br>
            <a:r>
              <a:rPr lang="en-US" sz="2400" dirty="0">
                <a:solidFill>
                  <a:schemeClr val="tx2">
                    <a:satMod val="130000"/>
                  </a:schemeClr>
                </a:solidFill>
              </a:rPr>
              <a:t/>
            </a:r>
            <a:br>
              <a:rPr lang="en-US" sz="2400" dirty="0">
                <a:solidFill>
                  <a:schemeClr val="tx2">
                    <a:satMod val="130000"/>
                  </a:schemeClr>
                </a:solidFill>
              </a:rPr>
            </a:br>
            <a:r>
              <a:rPr lang="en-US" sz="2400" dirty="0">
                <a:solidFill>
                  <a:schemeClr val="tx2">
                    <a:satMod val="130000"/>
                  </a:schemeClr>
                </a:solidFill>
              </a:rPr>
              <a:t/>
            </a:r>
            <a:br>
              <a:rPr lang="en-US" sz="2400" dirty="0">
                <a:solidFill>
                  <a:schemeClr val="tx2">
                    <a:satMod val="130000"/>
                  </a:schemeClr>
                </a:solidFill>
              </a:rPr>
            </a:br>
            <a:r>
              <a:rPr lang="en-US" sz="2400" dirty="0">
                <a:solidFill>
                  <a:schemeClr val="tx2">
                    <a:satMod val="130000"/>
                  </a:schemeClr>
                </a:solidFill>
              </a:rPr>
              <a:t/>
            </a:r>
            <a:br>
              <a:rPr lang="en-US" sz="2400" dirty="0">
                <a:solidFill>
                  <a:schemeClr val="tx2">
                    <a:satMod val="130000"/>
                  </a:schemeClr>
                </a:solidFill>
              </a:rPr>
            </a:br>
            <a:r>
              <a:rPr lang="en-US" sz="2400" dirty="0">
                <a:solidFill>
                  <a:schemeClr val="tx2">
                    <a:satMod val="130000"/>
                  </a:schemeClr>
                </a:solidFill>
              </a:rPr>
              <a:t/>
            </a:r>
            <a:br>
              <a:rPr lang="en-US" sz="2400" dirty="0">
                <a:solidFill>
                  <a:schemeClr val="tx2">
                    <a:satMod val="130000"/>
                  </a:schemeClr>
                </a:solidFill>
              </a:rPr>
            </a:br>
            <a:r>
              <a:rPr lang="en-US" sz="2400" dirty="0">
                <a:solidFill>
                  <a:schemeClr val="tx2">
                    <a:satMod val="130000"/>
                  </a:schemeClr>
                </a:solidFill>
              </a:rPr>
              <a:t/>
            </a:r>
            <a:br>
              <a:rPr lang="en-US" sz="2400" dirty="0">
                <a:solidFill>
                  <a:schemeClr val="tx2">
                    <a:satMod val="130000"/>
                  </a:schemeClr>
                </a:solidFill>
              </a:rPr>
            </a:br>
            <a:r>
              <a:rPr lang="en-US" sz="2400" dirty="0">
                <a:solidFill>
                  <a:schemeClr val="tx2">
                    <a:satMod val="130000"/>
                  </a:schemeClr>
                </a:solidFill>
              </a:rPr>
              <a:t/>
            </a:r>
            <a:br>
              <a:rPr lang="en-US" sz="2400" dirty="0">
                <a:solidFill>
                  <a:schemeClr val="tx2">
                    <a:satMod val="130000"/>
                  </a:schemeClr>
                </a:solidFill>
              </a:rPr>
            </a:br>
            <a:r>
              <a:rPr lang="en-US" sz="2400" dirty="0">
                <a:solidFill>
                  <a:schemeClr val="tx2">
                    <a:satMod val="130000"/>
                  </a:schemeClr>
                </a:solidFill>
              </a:rPr>
              <a:t/>
            </a:r>
            <a:br>
              <a:rPr lang="en-US" sz="2400" dirty="0">
                <a:solidFill>
                  <a:schemeClr val="tx2">
                    <a:satMod val="130000"/>
                  </a:schemeClr>
                </a:solidFill>
              </a:rPr>
            </a:br>
            <a:r>
              <a:rPr lang="en-US" sz="2400" dirty="0">
                <a:solidFill>
                  <a:schemeClr val="tx2">
                    <a:satMod val="130000"/>
                  </a:schemeClr>
                </a:solidFill>
              </a:rPr>
              <a:t/>
            </a:r>
            <a:br>
              <a:rPr lang="en-US" sz="2400" dirty="0">
                <a:solidFill>
                  <a:schemeClr val="tx2">
                    <a:satMod val="130000"/>
                  </a:schemeClr>
                </a:solidFill>
              </a:rPr>
            </a:br>
            <a:r>
              <a:rPr lang="en-US" sz="2400" dirty="0">
                <a:solidFill>
                  <a:schemeClr val="tx2">
                    <a:satMod val="130000"/>
                  </a:schemeClr>
                </a:solidFill>
              </a:rPr>
              <a:t/>
            </a:r>
            <a:br>
              <a:rPr lang="en-US" sz="2400" dirty="0">
                <a:solidFill>
                  <a:schemeClr val="tx2">
                    <a:satMod val="130000"/>
                  </a:schemeClr>
                </a:solidFill>
              </a:rPr>
            </a:br>
            <a:r>
              <a:rPr lang="en-US" sz="2400" dirty="0">
                <a:solidFill>
                  <a:schemeClr val="tx2">
                    <a:satMod val="130000"/>
                  </a:schemeClr>
                </a:solidFill>
              </a:rPr>
              <a:t/>
            </a:r>
            <a:br>
              <a:rPr lang="en-US" sz="2400" dirty="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endParaRPr lang="en-US" sz="2400" dirty="0">
              <a:solidFill>
                <a:schemeClr val="tx2">
                  <a:satMod val="130000"/>
                </a:schemeClr>
              </a:solidFill>
            </a:endParaRPr>
          </a:p>
        </p:txBody>
      </p:sp>
      <p:grpSp>
        <p:nvGrpSpPr>
          <p:cNvPr id="57347" name="Group 21"/>
          <p:cNvGrpSpPr>
            <a:grpSpLocks/>
          </p:cNvGrpSpPr>
          <p:nvPr/>
        </p:nvGrpSpPr>
        <p:grpSpPr bwMode="auto">
          <a:xfrm>
            <a:off x="1473200" y="3937000"/>
            <a:ext cx="1143000" cy="838200"/>
            <a:chOff x="432" y="2352"/>
            <a:chExt cx="720" cy="528"/>
          </a:xfrm>
        </p:grpSpPr>
        <p:sp>
          <p:nvSpPr>
            <p:cNvPr id="57489" name="Line 22"/>
            <p:cNvSpPr>
              <a:spLocks noChangeShapeType="1"/>
            </p:cNvSpPr>
            <p:nvPr/>
          </p:nvSpPr>
          <p:spPr bwMode="auto">
            <a:xfrm>
              <a:off x="432" y="2352"/>
              <a:ext cx="720" cy="0"/>
            </a:xfrm>
            <a:prstGeom prst="line">
              <a:avLst/>
            </a:prstGeom>
            <a:noFill/>
            <a:ln w="9525">
              <a:solidFill>
                <a:schemeClr val="tx1"/>
              </a:solidFill>
              <a:round/>
              <a:headEnd/>
              <a:tailEnd/>
            </a:ln>
          </p:spPr>
          <p:txBody>
            <a:bodyPr wrap="none" anchor="ctr"/>
            <a:lstStyle/>
            <a:p>
              <a:endParaRPr lang="bg-BG"/>
            </a:p>
          </p:txBody>
        </p:sp>
        <p:sp>
          <p:nvSpPr>
            <p:cNvPr id="57490" name="Line 23"/>
            <p:cNvSpPr>
              <a:spLocks noChangeShapeType="1"/>
            </p:cNvSpPr>
            <p:nvPr/>
          </p:nvSpPr>
          <p:spPr bwMode="auto">
            <a:xfrm>
              <a:off x="432" y="2528"/>
              <a:ext cx="720" cy="0"/>
            </a:xfrm>
            <a:prstGeom prst="line">
              <a:avLst/>
            </a:prstGeom>
            <a:noFill/>
            <a:ln w="9525">
              <a:solidFill>
                <a:schemeClr val="tx1"/>
              </a:solidFill>
              <a:round/>
              <a:headEnd/>
              <a:tailEnd/>
            </a:ln>
          </p:spPr>
          <p:txBody>
            <a:bodyPr wrap="none" anchor="ctr"/>
            <a:lstStyle/>
            <a:p>
              <a:endParaRPr lang="bg-BG"/>
            </a:p>
          </p:txBody>
        </p:sp>
        <p:sp>
          <p:nvSpPr>
            <p:cNvPr id="57491" name="Line 24"/>
            <p:cNvSpPr>
              <a:spLocks noChangeShapeType="1"/>
            </p:cNvSpPr>
            <p:nvPr/>
          </p:nvSpPr>
          <p:spPr bwMode="auto">
            <a:xfrm>
              <a:off x="432" y="2696"/>
              <a:ext cx="720" cy="0"/>
            </a:xfrm>
            <a:prstGeom prst="line">
              <a:avLst/>
            </a:prstGeom>
            <a:noFill/>
            <a:ln w="9525">
              <a:solidFill>
                <a:schemeClr val="tx1"/>
              </a:solidFill>
              <a:round/>
              <a:headEnd/>
              <a:tailEnd/>
            </a:ln>
          </p:spPr>
          <p:txBody>
            <a:bodyPr wrap="none" anchor="ctr"/>
            <a:lstStyle/>
            <a:p>
              <a:endParaRPr lang="bg-BG"/>
            </a:p>
          </p:txBody>
        </p:sp>
        <p:sp>
          <p:nvSpPr>
            <p:cNvPr id="57492" name="Line 25"/>
            <p:cNvSpPr>
              <a:spLocks noChangeShapeType="1"/>
            </p:cNvSpPr>
            <p:nvPr/>
          </p:nvSpPr>
          <p:spPr bwMode="auto">
            <a:xfrm>
              <a:off x="432" y="2880"/>
              <a:ext cx="720" cy="0"/>
            </a:xfrm>
            <a:prstGeom prst="line">
              <a:avLst/>
            </a:prstGeom>
            <a:noFill/>
            <a:ln w="9525">
              <a:solidFill>
                <a:schemeClr val="tx1"/>
              </a:solidFill>
              <a:round/>
              <a:headEnd/>
              <a:tailEnd/>
            </a:ln>
          </p:spPr>
          <p:txBody>
            <a:bodyPr wrap="none" anchor="ctr"/>
            <a:lstStyle/>
            <a:p>
              <a:endParaRPr lang="bg-BG"/>
            </a:p>
          </p:txBody>
        </p:sp>
      </p:grpSp>
      <p:sp>
        <p:nvSpPr>
          <p:cNvPr id="57348" name="Text Box 26"/>
          <p:cNvSpPr txBox="1">
            <a:spLocks noChangeArrowheads="1"/>
          </p:cNvSpPr>
          <p:nvPr/>
        </p:nvSpPr>
        <p:spPr bwMode="auto">
          <a:xfrm>
            <a:off x="1168400" y="3748088"/>
            <a:ext cx="381000" cy="366712"/>
          </a:xfrm>
          <a:prstGeom prst="rect">
            <a:avLst/>
          </a:prstGeom>
          <a:noFill/>
          <a:ln w="9525">
            <a:noFill/>
            <a:miter lim="800000"/>
            <a:headEnd/>
            <a:tailEnd/>
          </a:ln>
        </p:spPr>
        <p:txBody>
          <a:bodyPr>
            <a:spAutoFit/>
          </a:bodyPr>
          <a:lstStyle/>
          <a:p>
            <a:pPr algn="l">
              <a:spcBef>
                <a:spcPct val="50000"/>
              </a:spcBef>
            </a:pPr>
            <a:r>
              <a:rPr lang="bg-BG" sz="1800"/>
              <a:t>C</a:t>
            </a:r>
            <a:endParaRPr lang="en-US" dirty="0"/>
          </a:p>
        </p:txBody>
      </p:sp>
      <p:sp>
        <p:nvSpPr>
          <p:cNvPr id="57349" name="Text Box 27"/>
          <p:cNvSpPr txBox="1">
            <a:spLocks noChangeArrowheads="1"/>
          </p:cNvSpPr>
          <p:nvPr/>
        </p:nvSpPr>
        <p:spPr bwMode="auto">
          <a:xfrm>
            <a:off x="1168400" y="4610100"/>
            <a:ext cx="381000" cy="366713"/>
          </a:xfrm>
          <a:prstGeom prst="rect">
            <a:avLst/>
          </a:prstGeom>
          <a:noFill/>
          <a:ln w="9525">
            <a:noFill/>
            <a:miter lim="800000"/>
            <a:headEnd/>
            <a:tailEnd/>
          </a:ln>
        </p:spPr>
        <p:txBody>
          <a:bodyPr>
            <a:spAutoFit/>
          </a:bodyPr>
          <a:lstStyle/>
          <a:p>
            <a:pPr algn="l">
              <a:spcBef>
                <a:spcPct val="50000"/>
              </a:spcBef>
            </a:pPr>
            <a:r>
              <a:rPr lang="en-US" sz="1800" dirty="0"/>
              <a:t>A</a:t>
            </a:r>
            <a:endParaRPr lang="en-US" dirty="0"/>
          </a:p>
        </p:txBody>
      </p:sp>
      <p:sp>
        <p:nvSpPr>
          <p:cNvPr id="57350" name="Text Box 28"/>
          <p:cNvSpPr txBox="1">
            <a:spLocks noChangeArrowheads="1"/>
          </p:cNvSpPr>
          <p:nvPr/>
        </p:nvSpPr>
        <p:spPr bwMode="auto">
          <a:xfrm>
            <a:off x="1168400" y="4013200"/>
            <a:ext cx="381000" cy="366713"/>
          </a:xfrm>
          <a:prstGeom prst="rect">
            <a:avLst/>
          </a:prstGeom>
          <a:noFill/>
          <a:ln w="9525">
            <a:noFill/>
            <a:miter lim="800000"/>
            <a:headEnd/>
            <a:tailEnd/>
          </a:ln>
        </p:spPr>
        <p:txBody>
          <a:bodyPr>
            <a:spAutoFit/>
          </a:bodyPr>
          <a:lstStyle/>
          <a:p>
            <a:pPr algn="l">
              <a:spcBef>
                <a:spcPct val="50000"/>
              </a:spcBef>
            </a:pPr>
            <a:r>
              <a:rPr lang="en-US" sz="1800" dirty="0"/>
              <a:t>B</a:t>
            </a:r>
            <a:endParaRPr lang="en-US" dirty="0"/>
          </a:p>
        </p:txBody>
      </p:sp>
      <p:sp>
        <p:nvSpPr>
          <p:cNvPr id="57351" name="Text Box 29"/>
          <p:cNvSpPr txBox="1">
            <a:spLocks noChangeArrowheads="1"/>
          </p:cNvSpPr>
          <p:nvPr/>
        </p:nvSpPr>
        <p:spPr bwMode="auto">
          <a:xfrm>
            <a:off x="1181100" y="4305300"/>
            <a:ext cx="381000" cy="366713"/>
          </a:xfrm>
          <a:prstGeom prst="rect">
            <a:avLst/>
          </a:prstGeom>
          <a:noFill/>
          <a:ln w="9525">
            <a:noFill/>
            <a:miter lim="800000"/>
            <a:headEnd/>
            <a:tailEnd/>
          </a:ln>
        </p:spPr>
        <p:txBody>
          <a:bodyPr>
            <a:spAutoFit/>
          </a:bodyPr>
          <a:lstStyle/>
          <a:p>
            <a:pPr algn="l">
              <a:spcBef>
                <a:spcPct val="50000"/>
              </a:spcBef>
            </a:pPr>
            <a:r>
              <a:rPr lang="bg-BG" sz="1800"/>
              <a:t>D</a:t>
            </a:r>
            <a:endParaRPr lang="en-US" dirty="0"/>
          </a:p>
        </p:txBody>
      </p:sp>
      <p:sp>
        <p:nvSpPr>
          <p:cNvPr id="57352" name="Text Box 30"/>
          <p:cNvSpPr txBox="1">
            <a:spLocks noChangeArrowheads="1"/>
          </p:cNvSpPr>
          <p:nvPr/>
        </p:nvSpPr>
        <p:spPr bwMode="auto">
          <a:xfrm>
            <a:off x="2578100" y="4025900"/>
            <a:ext cx="381000" cy="366713"/>
          </a:xfrm>
          <a:prstGeom prst="rect">
            <a:avLst/>
          </a:prstGeom>
          <a:noFill/>
          <a:ln w="9525">
            <a:noFill/>
            <a:miter lim="800000"/>
            <a:headEnd/>
            <a:tailEnd/>
          </a:ln>
        </p:spPr>
        <p:txBody>
          <a:bodyPr>
            <a:spAutoFit/>
          </a:bodyPr>
          <a:lstStyle/>
          <a:p>
            <a:pPr algn="l">
              <a:spcBef>
                <a:spcPct val="50000"/>
              </a:spcBef>
            </a:pPr>
            <a:r>
              <a:rPr lang="en-US" sz="1800" dirty="0"/>
              <a:t>C</a:t>
            </a:r>
            <a:endParaRPr lang="en-US" dirty="0"/>
          </a:p>
        </p:txBody>
      </p:sp>
      <p:sp>
        <p:nvSpPr>
          <p:cNvPr id="57353" name="Text Box 31"/>
          <p:cNvSpPr txBox="1">
            <a:spLocks noChangeArrowheads="1"/>
          </p:cNvSpPr>
          <p:nvPr/>
        </p:nvSpPr>
        <p:spPr bwMode="auto">
          <a:xfrm>
            <a:off x="2590800" y="4305300"/>
            <a:ext cx="381000" cy="366713"/>
          </a:xfrm>
          <a:prstGeom prst="rect">
            <a:avLst/>
          </a:prstGeom>
          <a:noFill/>
          <a:ln w="9525">
            <a:noFill/>
            <a:miter lim="800000"/>
            <a:headEnd/>
            <a:tailEnd/>
          </a:ln>
        </p:spPr>
        <p:txBody>
          <a:bodyPr>
            <a:spAutoFit/>
          </a:bodyPr>
          <a:lstStyle/>
          <a:p>
            <a:pPr algn="l">
              <a:spcBef>
                <a:spcPct val="50000"/>
              </a:spcBef>
            </a:pPr>
            <a:r>
              <a:rPr lang="bg-BG" sz="1800"/>
              <a:t>D</a:t>
            </a:r>
            <a:endParaRPr lang="en-US" dirty="0"/>
          </a:p>
        </p:txBody>
      </p:sp>
      <p:sp>
        <p:nvSpPr>
          <p:cNvPr id="57354" name="Text Box 32"/>
          <p:cNvSpPr txBox="1">
            <a:spLocks noChangeArrowheads="1"/>
          </p:cNvSpPr>
          <p:nvPr/>
        </p:nvSpPr>
        <p:spPr bwMode="auto">
          <a:xfrm>
            <a:off x="2590800" y="4597400"/>
            <a:ext cx="381000" cy="366713"/>
          </a:xfrm>
          <a:prstGeom prst="rect">
            <a:avLst/>
          </a:prstGeom>
          <a:noFill/>
          <a:ln w="9525">
            <a:noFill/>
            <a:miter lim="800000"/>
            <a:headEnd/>
            <a:tailEnd/>
          </a:ln>
        </p:spPr>
        <p:txBody>
          <a:bodyPr>
            <a:spAutoFit/>
          </a:bodyPr>
          <a:lstStyle/>
          <a:p>
            <a:pPr algn="l">
              <a:spcBef>
                <a:spcPct val="50000"/>
              </a:spcBef>
            </a:pPr>
            <a:r>
              <a:rPr lang="bg-BG" sz="1800"/>
              <a:t>A</a:t>
            </a:r>
            <a:endParaRPr lang="en-US" dirty="0"/>
          </a:p>
        </p:txBody>
      </p:sp>
      <p:sp>
        <p:nvSpPr>
          <p:cNvPr id="57355" name="Text Box 33"/>
          <p:cNvSpPr txBox="1">
            <a:spLocks noChangeArrowheads="1"/>
          </p:cNvSpPr>
          <p:nvPr/>
        </p:nvSpPr>
        <p:spPr bwMode="auto">
          <a:xfrm>
            <a:off x="2578100" y="3746500"/>
            <a:ext cx="381000" cy="366713"/>
          </a:xfrm>
          <a:prstGeom prst="rect">
            <a:avLst/>
          </a:prstGeom>
          <a:noFill/>
          <a:ln w="9525">
            <a:noFill/>
            <a:miter lim="800000"/>
            <a:headEnd/>
            <a:tailEnd/>
          </a:ln>
        </p:spPr>
        <p:txBody>
          <a:bodyPr>
            <a:spAutoFit/>
          </a:bodyPr>
          <a:lstStyle/>
          <a:p>
            <a:pPr algn="l">
              <a:spcBef>
                <a:spcPct val="50000"/>
              </a:spcBef>
            </a:pPr>
            <a:r>
              <a:rPr lang="bg-BG" sz="1800"/>
              <a:t>B</a:t>
            </a:r>
            <a:endParaRPr lang="en-US" dirty="0"/>
          </a:p>
        </p:txBody>
      </p:sp>
      <p:sp>
        <p:nvSpPr>
          <p:cNvPr id="57356" name="Line 34"/>
          <p:cNvSpPr>
            <a:spLocks noChangeShapeType="1"/>
          </p:cNvSpPr>
          <p:nvPr/>
        </p:nvSpPr>
        <p:spPr bwMode="auto">
          <a:xfrm>
            <a:off x="2019300" y="3937000"/>
            <a:ext cx="0" cy="304800"/>
          </a:xfrm>
          <a:prstGeom prst="line">
            <a:avLst/>
          </a:prstGeom>
          <a:noFill/>
          <a:ln w="28575">
            <a:solidFill>
              <a:schemeClr val="accent2"/>
            </a:solidFill>
            <a:round/>
            <a:headEnd/>
            <a:tailEnd/>
          </a:ln>
        </p:spPr>
        <p:txBody>
          <a:bodyPr wrap="none" anchor="ctr"/>
          <a:lstStyle/>
          <a:p>
            <a:endParaRPr lang="bg-BG"/>
          </a:p>
        </p:txBody>
      </p:sp>
      <p:sp>
        <p:nvSpPr>
          <p:cNvPr id="57357" name="Oval 35"/>
          <p:cNvSpPr>
            <a:spLocks noChangeArrowheads="1"/>
          </p:cNvSpPr>
          <p:nvPr/>
        </p:nvSpPr>
        <p:spPr bwMode="auto">
          <a:xfrm>
            <a:off x="1968500" y="3898900"/>
            <a:ext cx="76200" cy="76200"/>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7358" name="Oval 36"/>
          <p:cNvSpPr>
            <a:spLocks noChangeArrowheads="1"/>
          </p:cNvSpPr>
          <p:nvPr/>
        </p:nvSpPr>
        <p:spPr bwMode="auto">
          <a:xfrm>
            <a:off x="1968500" y="4178300"/>
            <a:ext cx="76200" cy="76200"/>
          </a:xfrm>
          <a:prstGeom prst="ellipse">
            <a:avLst/>
          </a:prstGeom>
          <a:solidFill>
            <a:schemeClr val="accent2"/>
          </a:solidFill>
          <a:ln w="9525">
            <a:solidFill>
              <a:schemeClr val="tx1"/>
            </a:solidFill>
            <a:round/>
            <a:headEnd/>
            <a:tailEnd/>
          </a:ln>
        </p:spPr>
        <p:txBody>
          <a:bodyPr wrap="none" anchor="ctr"/>
          <a:lstStyle/>
          <a:p>
            <a:endParaRPr lang="bg-BG"/>
          </a:p>
        </p:txBody>
      </p:sp>
      <p:grpSp>
        <p:nvGrpSpPr>
          <p:cNvPr id="57359" name="Group 105"/>
          <p:cNvGrpSpPr>
            <a:grpSpLocks/>
          </p:cNvGrpSpPr>
          <p:nvPr/>
        </p:nvGrpSpPr>
        <p:grpSpPr bwMode="auto">
          <a:xfrm>
            <a:off x="2844800" y="3746500"/>
            <a:ext cx="1498600" cy="1217613"/>
            <a:chOff x="1584" y="1056"/>
            <a:chExt cx="944" cy="767"/>
          </a:xfrm>
        </p:grpSpPr>
        <p:grpSp>
          <p:nvGrpSpPr>
            <p:cNvPr id="57477" name="Group 38"/>
            <p:cNvGrpSpPr>
              <a:grpSpLocks/>
            </p:cNvGrpSpPr>
            <p:nvPr/>
          </p:nvGrpSpPr>
          <p:grpSpPr bwMode="auto">
            <a:xfrm>
              <a:off x="1584" y="1176"/>
              <a:ext cx="720" cy="528"/>
              <a:chOff x="432" y="2352"/>
              <a:chExt cx="720" cy="528"/>
            </a:xfrm>
          </p:grpSpPr>
          <p:sp>
            <p:nvSpPr>
              <p:cNvPr id="57485" name="Line 39"/>
              <p:cNvSpPr>
                <a:spLocks noChangeShapeType="1"/>
              </p:cNvSpPr>
              <p:nvPr/>
            </p:nvSpPr>
            <p:spPr bwMode="auto">
              <a:xfrm>
                <a:off x="432" y="2352"/>
                <a:ext cx="720" cy="0"/>
              </a:xfrm>
              <a:prstGeom prst="line">
                <a:avLst/>
              </a:prstGeom>
              <a:noFill/>
              <a:ln w="9525">
                <a:solidFill>
                  <a:schemeClr val="tx1"/>
                </a:solidFill>
                <a:round/>
                <a:headEnd/>
                <a:tailEnd/>
              </a:ln>
            </p:spPr>
            <p:txBody>
              <a:bodyPr wrap="none" anchor="ctr"/>
              <a:lstStyle/>
              <a:p>
                <a:endParaRPr lang="bg-BG"/>
              </a:p>
            </p:txBody>
          </p:sp>
          <p:sp>
            <p:nvSpPr>
              <p:cNvPr id="57486" name="Line 40"/>
              <p:cNvSpPr>
                <a:spLocks noChangeShapeType="1"/>
              </p:cNvSpPr>
              <p:nvPr/>
            </p:nvSpPr>
            <p:spPr bwMode="auto">
              <a:xfrm>
                <a:off x="432" y="2528"/>
                <a:ext cx="720" cy="0"/>
              </a:xfrm>
              <a:prstGeom prst="line">
                <a:avLst/>
              </a:prstGeom>
              <a:noFill/>
              <a:ln w="9525">
                <a:solidFill>
                  <a:schemeClr val="tx1"/>
                </a:solidFill>
                <a:round/>
                <a:headEnd/>
                <a:tailEnd/>
              </a:ln>
            </p:spPr>
            <p:txBody>
              <a:bodyPr wrap="none" anchor="ctr"/>
              <a:lstStyle/>
              <a:p>
                <a:endParaRPr lang="bg-BG"/>
              </a:p>
            </p:txBody>
          </p:sp>
          <p:sp>
            <p:nvSpPr>
              <p:cNvPr id="57487" name="Line 41"/>
              <p:cNvSpPr>
                <a:spLocks noChangeShapeType="1"/>
              </p:cNvSpPr>
              <p:nvPr/>
            </p:nvSpPr>
            <p:spPr bwMode="auto">
              <a:xfrm>
                <a:off x="432" y="2696"/>
                <a:ext cx="720" cy="0"/>
              </a:xfrm>
              <a:prstGeom prst="line">
                <a:avLst/>
              </a:prstGeom>
              <a:noFill/>
              <a:ln w="9525">
                <a:solidFill>
                  <a:schemeClr val="tx1"/>
                </a:solidFill>
                <a:round/>
                <a:headEnd/>
                <a:tailEnd/>
              </a:ln>
            </p:spPr>
            <p:txBody>
              <a:bodyPr wrap="none" anchor="ctr"/>
              <a:lstStyle/>
              <a:p>
                <a:endParaRPr lang="bg-BG"/>
              </a:p>
            </p:txBody>
          </p:sp>
          <p:sp>
            <p:nvSpPr>
              <p:cNvPr id="57488" name="Line 42"/>
              <p:cNvSpPr>
                <a:spLocks noChangeShapeType="1"/>
              </p:cNvSpPr>
              <p:nvPr/>
            </p:nvSpPr>
            <p:spPr bwMode="auto">
              <a:xfrm>
                <a:off x="432" y="2880"/>
                <a:ext cx="720" cy="0"/>
              </a:xfrm>
              <a:prstGeom prst="line">
                <a:avLst/>
              </a:prstGeom>
              <a:noFill/>
              <a:ln w="9525">
                <a:solidFill>
                  <a:schemeClr val="tx1"/>
                </a:solidFill>
                <a:round/>
                <a:headEnd/>
                <a:tailEnd/>
              </a:ln>
            </p:spPr>
            <p:txBody>
              <a:bodyPr wrap="none" anchor="ctr"/>
              <a:lstStyle/>
              <a:p>
                <a:endParaRPr lang="bg-BG"/>
              </a:p>
            </p:txBody>
          </p:sp>
        </p:grpSp>
        <p:sp>
          <p:nvSpPr>
            <p:cNvPr id="57478" name="Text Box 47"/>
            <p:cNvSpPr txBox="1">
              <a:spLocks noChangeArrowheads="1"/>
            </p:cNvSpPr>
            <p:nvPr/>
          </p:nvSpPr>
          <p:spPr bwMode="auto">
            <a:xfrm>
              <a:off x="2280" y="1232"/>
              <a:ext cx="240" cy="231"/>
            </a:xfrm>
            <a:prstGeom prst="rect">
              <a:avLst/>
            </a:prstGeom>
            <a:noFill/>
            <a:ln w="9525">
              <a:noFill/>
              <a:miter lim="800000"/>
              <a:headEnd/>
              <a:tailEnd/>
            </a:ln>
          </p:spPr>
          <p:txBody>
            <a:bodyPr>
              <a:spAutoFit/>
            </a:bodyPr>
            <a:lstStyle/>
            <a:p>
              <a:pPr algn="l">
                <a:spcBef>
                  <a:spcPct val="50000"/>
                </a:spcBef>
              </a:pPr>
              <a:r>
                <a:rPr lang="en-US" sz="1800" dirty="0"/>
                <a:t>C</a:t>
              </a:r>
              <a:endParaRPr lang="en-US" dirty="0"/>
            </a:p>
          </p:txBody>
        </p:sp>
        <p:sp>
          <p:nvSpPr>
            <p:cNvPr id="57479" name="Text Box 48"/>
            <p:cNvSpPr txBox="1">
              <a:spLocks noChangeArrowheads="1"/>
            </p:cNvSpPr>
            <p:nvPr/>
          </p:nvSpPr>
          <p:spPr bwMode="auto">
            <a:xfrm>
              <a:off x="2288" y="1408"/>
              <a:ext cx="240" cy="231"/>
            </a:xfrm>
            <a:prstGeom prst="rect">
              <a:avLst/>
            </a:prstGeom>
            <a:noFill/>
            <a:ln w="9525">
              <a:noFill/>
              <a:miter lim="800000"/>
              <a:headEnd/>
              <a:tailEnd/>
            </a:ln>
          </p:spPr>
          <p:txBody>
            <a:bodyPr>
              <a:spAutoFit/>
            </a:bodyPr>
            <a:lstStyle/>
            <a:p>
              <a:pPr algn="l">
                <a:spcBef>
                  <a:spcPct val="50000"/>
                </a:spcBef>
              </a:pPr>
              <a:r>
                <a:rPr lang="bg-BG" sz="1800"/>
                <a:t>А</a:t>
              </a:r>
              <a:endParaRPr lang="en-US" dirty="0"/>
            </a:p>
          </p:txBody>
        </p:sp>
        <p:sp>
          <p:nvSpPr>
            <p:cNvPr id="57480" name="Text Box 49"/>
            <p:cNvSpPr txBox="1">
              <a:spLocks noChangeArrowheads="1"/>
            </p:cNvSpPr>
            <p:nvPr/>
          </p:nvSpPr>
          <p:spPr bwMode="auto">
            <a:xfrm>
              <a:off x="2288" y="1592"/>
              <a:ext cx="240" cy="231"/>
            </a:xfrm>
            <a:prstGeom prst="rect">
              <a:avLst/>
            </a:prstGeom>
            <a:noFill/>
            <a:ln w="9525">
              <a:noFill/>
              <a:miter lim="800000"/>
              <a:headEnd/>
              <a:tailEnd/>
            </a:ln>
          </p:spPr>
          <p:txBody>
            <a:bodyPr>
              <a:spAutoFit/>
            </a:bodyPr>
            <a:lstStyle/>
            <a:p>
              <a:pPr algn="l">
                <a:spcBef>
                  <a:spcPct val="50000"/>
                </a:spcBef>
              </a:pPr>
              <a:r>
                <a:rPr lang="bg-BG" sz="1800"/>
                <a:t>D</a:t>
              </a:r>
              <a:endParaRPr lang="en-US" dirty="0"/>
            </a:p>
          </p:txBody>
        </p:sp>
        <p:sp>
          <p:nvSpPr>
            <p:cNvPr id="57481" name="Text Box 50"/>
            <p:cNvSpPr txBox="1">
              <a:spLocks noChangeArrowheads="1"/>
            </p:cNvSpPr>
            <p:nvPr/>
          </p:nvSpPr>
          <p:spPr bwMode="auto">
            <a:xfrm>
              <a:off x="2280" y="1056"/>
              <a:ext cx="240" cy="231"/>
            </a:xfrm>
            <a:prstGeom prst="rect">
              <a:avLst/>
            </a:prstGeom>
            <a:noFill/>
            <a:ln w="9525">
              <a:noFill/>
              <a:miter lim="800000"/>
              <a:headEnd/>
              <a:tailEnd/>
            </a:ln>
          </p:spPr>
          <p:txBody>
            <a:bodyPr>
              <a:spAutoFit/>
            </a:bodyPr>
            <a:lstStyle/>
            <a:p>
              <a:pPr algn="l">
                <a:spcBef>
                  <a:spcPct val="50000"/>
                </a:spcBef>
              </a:pPr>
              <a:r>
                <a:rPr lang="bg-BG" sz="1800"/>
                <a:t>B</a:t>
              </a:r>
              <a:endParaRPr lang="en-US" dirty="0"/>
            </a:p>
          </p:txBody>
        </p:sp>
        <p:sp>
          <p:nvSpPr>
            <p:cNvPr id="57482" name="Line 51"/>
            <p:cNvSpPr>
              <a:spLocks noChangeShapeType="1"/>
            </p:cNvSpPr>
            <p:nvPr/>
          </p:nvSpPr>
          <p:spPr bwMode="auto">
            <a:xfrm>
              <a:off x="1952" y="1536"/>
              <a:ext cx="0" cy="192"/>
            </a:xfrm>
            <a:prstGeom prst="line">
              <a:avLst/>
            </a:prstGeom>
            <a:noFill/>
            <a:ln w="28575">
              <a:solidFill>
                <a:schemeClr val="accent2"/>
              </a:solidFill>
              <a:round/>
              <a:headEnd/>
              <a:tailEnd/>
            </a:ln>
          </p:spPr>
          <p:txBody>
            <a:bodyPr wrap="none" anchor="ctr"/>
            <a:lstStyle/>
            <a:p>
              <a:endParaRPr lang="bg-BG"/>
            </a:p>
          </p:txBody>
        </p:sp>
        <p:sp>
          <p:nvSpPr>
            <p:cNvPr id="57483" name="Oval 52"/>
            <p:cNvSpPr>
              <a:spLocks noChangeArrowheads="1"/>
            </p:cNvSpPr>
            <p:nvPr/>
          </p:nvSpPr>
          <p:spPr bwMode="auto">
            <a:xfrm>
              <a:off x="1920" y="1496"/>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7484" name="Oval 53"/>
            <p:cNvSpPr>
              <a:spLocks noChangeArrowheads="1"/>
            </p:cNvSpPr>
            <p:nvPr/>
          </p:nvSpPr>
          <p:spPr bwMode="auto">
            <a:xfrm>
              <a:off x="1920" y="168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7360" name="Group 110"/>
          <p:cNvGrpSpPr>
            <a:grpSpLocks/>
          </p:cNvGrpSpPr>
          <p:nvPr/>
        </p:nvGrpSpPr>
        <p:grpSpPr bwMode="auto">
          <a:xfrm>
            <a:off x="7035800" y="3735388"/>
            <a:ext cx="1498600" cy="1217612"/>
            <a:chOff x="4176" y="1049"/>
            <a:chExt cx="944" cy="767"/>
          </a:xfrm>
        </p:grpSpPr>
        <p:sp>
          <p:nvSpPr>
            <p:cNvPr id="57465" name="Line 16"/>
            <p:cNvSpPr>
              <a:spLocks noChangeShapeType="1"/>
            </p:cNvSpPr>
            <p:nvPr/>
          </p:nvSpPr>
          <p:spPr bwMode="auto">
            <a:xfrm>
              <a:off x="4560" y="1344"/>
              <a:ext cx="0" cy="192"/>
            </a:xfrm>
            <a:prstGeom prst="line">
              <a:avLst/>
            </a:prstGeom>
            <a:noFill/>
            <a:ln w="28575">
              <a:solidFill>
                <a:schemeClr val="accent2"/>
              </a:solidFill>
              <a:round/>
              <a:headEnd/>
              <a:tailEnd/>
            </a:ln>
          </p:spPr>
          <p:txBody>
            <a:bodyPr wrap="none" anchor="ctr"/>
            <a:lstStyle/>
            <a:p>
              <a:endParaRPr lang="bg-BG"/>
            </a:p>
          </p:txBody>
        </p:sp>
        <p:grpSp>
          <p:nvGrpSpPr>
            <p:cNvPr id="57466" name="Group 55"/>
            <p:cNvGrpSpPr>
              <a:grpSpLocks/>
            </p:cNvGrpSpPr>
            <p:nvPr/>
          </p:nvGrpSpPr>
          <p:grpSpPr bwMode="auto">
            <a:xfrm>
              <a:off x="4176" y="1169"/>
              <a:ext cx="720" cy="528"/>
              <a:chOff x="432" y="2352"/>
              <a:chExt cx="720" cy="528"/>
            </a:xfrm>
          </p:grpSpPr>
          <p:sp>
            <p:nvSpPr>
              <p:cNvPr id="57473" name="Line 56"/>
              <p:cNvSpPr>
                <a:spLocks noChangeShapeType="1"/>
              </p:cNvSpPr>
              <p:nvPr/>
            </p:nvSpPr>
            <p:spPr bwMode="auto">
              <a:xfrm>
                <a:off x="432" y="2352"/>
                <a:ext cx="720" cy="0"/>
              </a:xfrm>
              <a:prstGeom prst="line">
                <a:avLst/>
              </a:prstGeom>
              <a:noFill/>
              <a:ln w="9525">
                <a:solidFill>
                  <a:schemeClr val="tx1"/>
                </a:solidFill>
                <a:round/>
                <a:headEnd/>
                <a:tailEnd/>
              </a:ln>
            </p:spPr>
            <p:txBody>
              <a:bodyPr wrap="none" anchor="ctr"/>
              <a:lstStyle/>
              <a:p>
                <a:endParaRPr lang="bg-BG"/>
              </a:p>
            </p:txBody>
          </p:sp>
          <p:sp>
            <p:nvSpPr>
              <p:cNvPr id="57474" name="Line 57"/>
              <p:cNvSpPr>
                <a:spLocks noChangeShapeType="1"/>
              </p:cNvSpPr>
              <p:nvPr/>
            </p:nvSpPr>
            <p:spPr bwMode="auto">
              <a:xfrm>
                <a:off x="432" y="2528"/>
                <a:ext cx="720" cy="0"/>
              </a:xfrm>
              <a:prstGeom prst="line">
                <a:avLst/>
              </a:prstGeom>
              <a:noFill/>
              <a:ln w="9525">
                <a:solidFill>
                  <a:schemeClr val="tx1"/>
                </a:solidFill>
                <a:round/>
                <a:headEnd/>
                <a:tailEnd/>
              </a:ln>
            </p:spPr>
            <p:txBody>
              <a:bodyPr wrap="none" anchor="ctr"/>
              <a:lstStyle/>
              <a:p>
                <a:endParaRPr lang="bg-BG"/>
              </a:p>
            </p:txBody>
          </p:sp>
          <p:sp>
            <p:nvSpPr>
              <p:cNvPr id="57475" name="Line 58"/>
              <p:cNvSpPr>
                <a:spLocks noChangeShapeType="1"/>
              </p:cNvSpPr>
              <p:nvPr/>
            </p:nvSpPr>
            <p:spPr bwMode="auto">
              <a:xfrm>
                <a:off x="432" y="2696"/>
                <a:ext cx="720" cy="0"/>
              </a:xfrm>
              <a:prstGeom prst="line">
                <a:avLst/>
              </a:prstGeom>
              <a:noFill/>
              <a:ln w="9525">
                <a:solidFill>
                  <a:schemeClr val="tx1"/>
                </a:solidFill>
                <a:round/>
                <a:headEnd/>
                <a:tailEnd/>
              </a:ln>
            </p:spPr>
            <p:txBody>
              <a:bodyPr wrap="none" anchor="ctr"/>
              <a:lstStyle/>
              <a:p>
                <a:endParaRPr lang="bg-BG"/>
              </a:p>
            </p:txBody>
          </p:sp>
          <p:sp>
            <p:nvSpPr>
              <p:cNvPr id="57476" name="Line 59"/>
              <p:cNvSpPr>
                <a:spLocks noChangeShapeType="1"/>
              </p:cNvSpPr>
              <p:nvPr/>
            </p:nvSpPr>
            <p:spPr bwMode="auto">
              <a:xfrm>
                <a:off x="432" y="2880"/>
                <a:ext cx="720" cy="0"/>
              </a:xfrm>
              <a:prstGeom prst="line">
                <a:avLst/>
              </a:prstGeom>
              <a:noFill/>
              <a:ln w="9525">
                <a:solidFill>
                  <a:schemeClr val="tx1"/>
                </a:solidFill>
                <a:round/>
                <a:headEnd/>
                <a:tailEnd/>
              </a:ln>
            </p:spPr>
            <p:txBody>
              <a:bodyPr wrap="none" anchor="ctr"/>
              <a:lstStyle/>
              <a:p>
                <a:endParaRPr lang="bg-BG"/>
              </a:p>
            </p:txBody>
          </p:sp>
        </p:grpSp>
        <p:sp>
          <p:nvSpPr>
            <p:cNvPr id="57467" name="Text Box 64"/>
            <p:cNvSpPr txBox="1">
              <a:spLocks noChangeArrowheads="1"/>
            </p:cNvSpPr>
            <p:nvPr/>
          </p:nvSpPr>
          <p:spPr bwMode="auto">
            <a:xfrm>
              <a:off x="4872" y="1225"/>
              <a:ext cx="240" cy="231"/>
            </a:xfrm>
            <a:prstGeom prst="rect">
              <a:avLst/>
            </a:prstGeom>
            <a:noFill/>
            <a:ln w="9525">
              <a:noFill/>
              <a:miter lim="800000"/>
              <a:headEnd/>
              <a:tailEnd/>
            </a:ln>
          </p:spPr>
          <p:txBody>
            <a:bodyPr>
              <a:spAutoFit/>
            </a:bodyPr>
            <a:lstStyle/>
            <a:p>
              <a:pPr algn="l">
                <a:spcBef>
                  <a:spcPct val="50000"/>
                </a:spcBef>
              </a:pPr>
              <a:r>
                <a:rPr lang="en-US" sz="1800" dirty="0"/>
                <a:t>B</a:t>
              </a:r>
              <a:endParaRPr lang="en-US" dirty="0"/>
            </a:p>
          </p:txBody>
        </p:sp>
        <p:sp>
          <p:nvSpPr>
            <p:cNvPr id="57468" name="Text Box 65"/>
            <p:cNvSpPr txBox="1">
              <a:spLocks noChangeArrowheads="1"/>
            </p:cNvSpPr>
            <p:nvPr/>
          </p:nvSpPr>
          <p:spPr bwMode="auto">
            <a:xfrm>
              <a:off x="4880" y="1401"/>
              <a:ext cx="240" cy="231"/>
            </a:xfrm>
            <a:prstGeom prst="rect">
              <a:avLst/>
            </a:prstGeom>
            <a:noFill/>
            <a:ln w="9525">
              <a:noFill/>
              <a:miter lim="800000"/>
              <a:headEnd/>
              <a:tailEnd/>
            </a:ln>
          </p:spPr>
          <p:txBody>
            <a:bodyPr>
              <a:spAutoFit/>
            </a:bodyPr>
            <a:lstStyle/>
            <a:p>
              <a:pPr algn="l">
                <a:spcBef>
                  <a:spcPct val="50000"/>
                </a:spcBef>
              </a:pPr>
              <a:r>
                <a:rPr lang="en-US" sz="1800" dirty="0"/>
                <a:t>C</a:t>
              </a:r>
              <a:endParaRPr lang="en-US" dirty="0"/>
            </a:p>
          </p:txBody>
        </p:sp>
        <p:sp>
          <p:nvSpPr>
            <p:cNvPr id="57469" name="Text Box 66"/>
            <p:cNvSpPr txBox="1">
              <a:spLocks noChangeArrowheads="1"/>
            </p:cNvSpPr>
            <p:nvPr/>
          </p:nvSpPr>
          <p:spPr bwMode="auto">
            <a:xfrm>
              <a:off x="4880" y="1585"/>
              <a:ext cx="240" cy="231"/>
            </a:xfrm>
            <a:prstGeom prst="rect">
              <a:avLst/>
            </a:prstGeom>
            <a:noFill/>
            <a:ln w="9525">
              <a:noFill/>
              <a:miter lim="800000"/>
              <a:headEnd/>
              <a:tailEnd/>
            </a:ln>
          </p:spPr>
          <p:txBody>
            <a:bodyPr>
              <a:spAutoFit/>
            </a:bodyPr>
            <a:lstStyle/>
            <a:p>
              <a:pPr algn="l">
                <a:spcBef>
                  <a:spcPct val="50000"/>
                </a:spcBef>
              </a:pPr>
              <a:r>
                <a:rPr lang="bg-BG" sz="1800"/>
                <a:t>D</a:t>
              </a:r>
              <a:endParaRPr lang="en-US" dirty="0"/>
            </a:p>
          </p:txBody>
        </p:sp>
        <p:sp>
          <p:nvSpPr>
            <p:cNvPr id="57470" name="Text Box 67"/>
            <p:cNvSpPr txBox="1">
              <a:spLocks noChangeArrowheads="1"/>
            </p:cNvSpPr>
            <p:nvPr/>
          </p:nvSpPr>
          <p:spPr bwMode="auto">
            <a:xfrm>
              <a:off x="4872" y="1049"/>
              <a:ext cx="240" cy="231"/>
            </a:xfrm>
            <a:prstGeom prst="rect">
              <a:avLst/>
            </a:prstGeom>
            <a:noFill/>
            <a:ln w="9525">
              <a:noFill/>
              <a:miter lim="800000"/>
              <a:headEnd/>
              <a:tailEnd/>
            </a:ln>
          </p:spPr>
          <p:txBody>
            <a:bodyPr>
              <a:spAutoFit/>
            </a:bodyPr>
            <a:lstStyle/>
            <a:p>
              <a:pPr algn="l">
                <a:spcBef>
                  <a:spcPct val="50000"/>
                </a:spcBef>
              </a:pPr>
              <a:r>
                <a:rPr lang="en-US" sz="1800" dirty="0"/>
                <a:t>A</a:t>
              </a:r>
              <a:endParaRPr lang="en-US" dirty="0"/>
            </a:p>
          </p:txBody>
        </p:sp>
        <p:sp>
          <p:nvSpPr>
            <p:cNvPr id="57471" name="Oval 69"/>
            <p:cNvSpPr>
              <a:spLocks noChangeArrowheads="1"/>
            </p:cNvSpPr>
            <p:nvPr/>
          </p:nvSpPr>
          <p:spPr bwMode="auto">
            <a:xfrm>
              <a:off x="4528" y="148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7472" name="Oval 70"/>
            <p:cNvSpPr>
              <a:spLocks noChangeArrowheads="1"/>
            </p:cNvSpPr>
            <p:nvPr/>
          </p:nvSpPr>
          <p:spPr bwMode="auto">
            <a:xfrm>
              <a:off x="4528" y="132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7361" name="Group 107"/>
          <p:cNvGrpSpPr>
            <a:grpSpLocks/>
          </p:cNvGrpSpPr>
          <p:nvPr/>
        </p:nvGrpSpPr>
        <p:grpSpPr bwMode="auto">
          <a:xfrm>
            <a:off x="4216400" y="3735388"/>
            <a:ext cx="1498600" cy="1217612"/>
            <a:chOff x="2448" y="1049"/>
            <a:chExt cx="944" cy="767"/>
          </a:xfrm>
        </p:grpSpPr>
        <p:grpSp>
          <p:nvGrpSpPr>
            <p:cNvPr id="57453" name="Group 72"/>
            <p:cNvGrpSpPr>
              <a:grpSpLocks/>
            </p:cNvGrpSpPr>
            <p:nvPr/>
          </p:nvGrpSpPr>
          <p:grpSpPr bwMode="auto">
            <a:xfrm>
              <a:off x="2448" y="1169"/>
              <a:ext cx="720" cy="528"/>
              <a:chOff x="432" y="2352"/>
              <a:chExt cx="720" cy="528"/>
            </a:xfrm>
          </p:grpSpPr>
          <p:sp>
            <p:nvSpPr>
              <p:cNvPr id="57461" name="Line 73"/>
              <p:cNvSpPr>
                <a:spLocks noChangeShapeType="1"/>
              </p:cNvSpPr>
              <p:nvPr/>
            </p:nvSpPr>
            <p:spPr bwMode="auto">
              <a:xfrm>
                <a:off x="432" y="2352"/>
                <a:ext cx="720" cy="0"/>
              </a:xfrm>
              <a:prstGeom prst="line">
                <a:avLst/>
              </a:prstGeom>
              <a:noFill/>
              <a:ln w="9525">
                <a:solidFill>
                  <a:schemeClr val="tx1"/>
                </a:solidFill>
                <a:round/>
                <a:headEnd/>
                <a:tailEnd/>
              </a:ln>
            </p:spPr>
            <p:txBody>
              <a:bodyPr wrap="none" anchor="ctr"/>
              <a:lstStyle/>
              <a:p>
                <a:endParaRPr lang="bg-BG"/>
              </a:p>
            </p:txBody>
          </p:sp>
          <p:sp>
            <p:nvSpPr>
              <p:cNvPr id="57462" name="Line 74"/>
              <p:cNvSpPr>
                <a:spLocks noChangeShapeType="1"/>
              </p:cNvSpPr>
              <p:nvPr/>
            </p:nvSpPr>
            <p:spPr bwMode="auto">
              <a:xfrm>
                <a:off x="432" y="2528"/>
                <a:ext cx="720" cy="0"/>
              </a:xfrm>
              <a:prstGeom prst="line">
                <a:avLst/>
              </a:prstGeom>
              <a:noFill/>
              <a:ln w="9525">
                <a:solidFill>
                  <a:schemeClr val="tx1"/>
                </a:solidFill>
                <a:round/>
                <a:headEnd/>
                <a:tailEnd/>
              </a:ln>
            </p:spPr>
            <p:txBody>
              <a:bodyPr wrap="none" anchor="ctr"/>
              <a:lstStyle/>
              <a:p>
                <a:endParaRPr lang="bg-BG"/>
              </a:p>
            </p:txBody>
          </p:sp>
          <p:sp>
            <p:nvSpPr>
              <p:cNvPr id="57463" name="Line 75"/>
              <p:cNvSpPr>
                <a:spLocks noChangeShapeType="1"/>
              </p:cNvSpPr>
              <p:nvPr/>
            </p:nvSpPr>
            <p:spPr bwMode="auto">
              <a:xfrm>
                <a:off x="432" y="2696"/>
                <a:ext cx="720" cy="0"/>
              </a:xfrm>
              <a:prstGeom prst="line">
                <a:avLst/>
              </a:prstGeom>
              <a:noFill/>
              <a:ln w="9525">
                <a:solidFill>
                  <a:schemeClr val="tx1"/>
                </a:solidFill>
                <a:round/>
                <a:headEnd/>
                <a:tailEnd/>
              </a:ln>
            </p:spPr>
            <p:txBody>
              <a:bodyPr wrap="none" anchor="ctr"/>
              <a:lstStyle/>
              <a:p>
                <a:endParaRPr lang="bg-BG"/>
              </a:p>
            </p:txBody>
          </p:sp>
          <p:sp>
            <p:nvSpPr>
              <p:cNvPr id="57464" name="Line 76"/>
              <p:cNvSpPr>
                <a:spLocks noChangeShapeType="1"/>
              </p:cNvSpPr>
              <p:nvPr/>
            </p:nvSpPr>
            <p:spPr bwMode="auto">
              <a:xfrm>
                <a:off x="432" y="2880"/>
                <a:ext cx="720" cy="0"/>
              </a:xfrm>
              <a:prstGeom prst="line">
                <a:avLst/>
              </a:prstGeom>
              <a:noFill/>
              <a:ln w="9525">
                <a:solidFill>
                  <a:schemeClr val="tx1"/>
                </a:solidFill>
                <a:round/>
                <a:headEnd/>
                <a:tailEnd/>
              </a:ln>
            </p:spPr>
            <p:txBody>
              <a:bodyPr wrap="none" anchor="ctr"/>
              <a:lstStyle/>
              <a:p>
                <a:endParaRPr lang="bg-BG"/>
              </a:p>
            </p:txBody>
          </p:sp>
        </p:grpSp>
        <p:sp>
          <p:nvSpPr>
            <p:cNvPr id="57454" name="Text Box 81"/>
            <p:cNvSpPr txBox="1">
              <a:spLocks noChangeArrowheads="1"/>
            </p:cNvSpPr>
            <p:nvPr/>
          </p:nvSpPr>
          <p:spPr bwMode="auto">
            <a:xfrm>
              <a:off x="3144" y="1225"/>
              <a:ext cx="240" cy="231"/>
            </a:xfrm>
            <a:prstGeom prst="rect">
              <a:avLst/>
            </a:prstGeom>
            <a:noFill/>
            <a:ln w="9525">
              <a:noFill/>
              <a:miter lim="800000"/>
              <a:headEnd/>
              <a:tailEnd/>
            </a:ln>
          </p:spPr>
          <p:txBody>
            <a:bodyPr>
              <a:spAutoFit/>
            </a:bodyPr>
            <a:lstStyle/>
            <a:p>
              <a:pPr algn="l">
                <a:spcBef>
                  <a:spcPct val="50000"/>
                </a:spcBef>
              </a:pPr>
              <a:r>
                <a:rPr lang="en-US" sz="1800" dirty="0"/>
                <a:t>C</a:t>
              </a:r>
              <a:endParaRPr lang="en-US" dirty="0"/>
            </a:p>
          </p:txBody>
        </p:sp>
        <p:sp>
          <p:nvSpPr>
            <p:cNvPr id="57455" name="Text Box 82"/>
            <p:cNvSpPr txBox="1">
              <a:spLocks noChangeArrowheads="1"/>
            </p:cNvSpPr>
            <p:nvPr/>
          </p:nvSpPr>
          <p:spPr bwMode="auto">
            <a:xfrm>
              <a:off x="3152" y="1401"/>
              <a:ext cx="240" cy="231"/>
            </a:xfrm>
            <a:prstGeom prst="rect">
              <a:avLst/>
            </a:prstGeom>
            <a:noFill/>
            <a:ln w="9525">
              <a:noFill/>
              <a:miter lim="800000"/>
              <a:headEnd/>
              <a:tailEnd/>
            </a:ln>
          </p:spPr>
          <p:txBody>
            <a:bodyPr>
              <a:spAutoFit/>
            </a:bodyPr>
            <a:lstStyle/>
            <a:p>
              <a:pPr algn="l">
                <a:spcBef>
                  <a:spcPct val="50000"/>
                </a:spcBef>
              </a:pPr>
              <a:r>
                <a:rPr lang="bg-BG" sz="1800"/>
                <a:t>B</a:t>
              </a:r>
              <a:endParaRPr lang="en-US" dirty="0"/>
            </a:p>
          </p:txBody>
        </p:sp>
        <p:sp>
          <p:nvSpPr>
            <p:cNvPr id="57456" name="Text Box 83"/>
            <p:cNvSpPr txBox="1">
              <a:spLocks noChangeArrowheads="1"/>
            </p:cNvSpPr>
            <p:nvPr/>
          </p:nvSpPr>
          <p:spPr bwMode="auto">
            <a:xfrm>
              <a:off x="3152" y="1585"/>
              <a:ext cx="240" cy="231"/>
            </a:xfrm>
            <a:prstGeom prst="rect">
              <a:avLst/>
            </a:prstGeom>
            <a:noFill/>
            <a:ln w="9525">
              <a:noFill/>
              <a:miter lim="800000"/>
              <a:headEnd/>
              <a:tailEnd/>
            </a:ln>
          </p:spPr>
          <p:txBody>
            <a:bodyPr>
              <a:spAutoFit/>
            </a:bodyPr>
            <a:lstStyle/>
            <a:p>
              <a:pPr algn="l">
                <a:spcBef>
                  <a:spcPct val="50000"/>
                </a:spcBef>
              </a:pPr>
              <a:r>
                <a:rPr lang="bg-BG" sz="1800"/>
                <a:t>D</a:t>
              </a:r>
              <a:endParaRPr lang="en-US" dirty="0"/>
            </a:p>
          </p:txBody>
        </p:sp>
        <p:sp>
          <p:nvSpPr>
            <p:cNvPr id="57457" name="Text Box 84"/>
            <p:cNvSpPr txBox="1">
              <a:spLocks noChangeArrowheads="1"/>
            </p:cNvSpPr>
            <p:nvPr/>
          </p:nvSpPr>
          <p:spPr bwMode="auto">
            <a:xfrm>
              <a:off x="3144" y="1049"/>
              <a:ext cx="240" cy="231"/>
            </a:xfrm>
            <a:prstGeom prst="rect">
              <a:avLst/>
            </a:prstGeom>
            <a:noFill/>
            <a:ln w="9525">
              <a:noFill/>
              <a:miter lim="800000"/>
              <a:headEnd/>
              <a:tailEnd/>
            </a:ln>
          </p:spPr>
          <p:txBody>
            <a:bodyPr>
              <a:spAutoFit/>
            </a:bodyPr>
            <a:lstStyle/>
            <a:p>
              <a:pPr algn="l">
                <a:spcBef>
                  <a:spcPct val="50000"/>
                </a:spcBef>
              </a:pPr>
              <a:r>
                <a:rPr lang="bg-BG" sz="1800"/>
                <a:t>A</a:t>
              </a:r>
              <a:endParaRPr lang="en-US" dirty="0"/>
            </a:p>
          </p:txBody>
        </p:sp>
        <p:sp>
          <p:nvSpPr>
            <p:cNvPr id="57458" name="Oval 86"/>
            <p:cNvSpPr>
              <a:spLocks noChangeArrowheads="1"/>
            </p:cNvSpPr>
            <p:nvPr/>
          </p:nvSpPr>
          <p:spPr bwMode="auto">
            <a:xfrm>
              <a:off x="2760" y="1145"/>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7459" name="Oval 87"/>
            <p:cNvSpPr>
              <a:spLocks noChangeArrowheads="1"/>
            </p:cNvSpPr>
            <p:nvPr/>
          </p:nvSpPr>
          <p:spPr bwMode="auto">
            <a:xfrm>
              <a:off x="2760" y="148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7460" name="Line 106"/>
            <p:cNvSpPr>
              <a:spLocks noChangeShapeType="1"/>
            </p:cNvSpPr>
            <p:nvPr/>
          </p:nvSpPr>
          <p:spPr bwMode="auto">
            <a:xfrm>
              <a:off x="2784" y="1152"/>
              <a:ext cx="0" cy="384"/>
            </a:xfrm>
            <a:prstGeom prst="line">
              <a:avLst/>
            </a:prstGeom>
            <a:noFill/>
            <a:ln w="28575">
              <a:solidFill>
                <a:schemeClr val="accent2"/>
              </a:solidFill>
              <a:round/>
              <a:headEnd/>
              <a:tailEnd/>
            </a:ln>
          </p:spPr>
          <p:txBody>
            <a:bodyPr wrap="none" anchor="ctr"/>
            <a:lstStyle/>
            <a:p>
              <a:endParaRPr lang="bg-BG"/>
            </a:p>
          </p:txBody>
        </p:sp>
      </p:grpSp>
      <p:grpSp>
        <p:nvGrpSpPr>
          <p:cNvPr id="57362" name="Group 109"/>
          <p:cNvGrpSpPr>
            <a:grpSpLocks/>
          </p:cNvGrpSpPr>
          <p:nvPr/>
        </p:nvGrpSpPr>
        <p:grpSpPr bwMode="auto">
          <a:xfrm>
            <a:off x="5613400" y="3733800"/>
            <a:ext cx="1498600" cy="1217613"/>
            <a:chOff x="3360" y="1032"/>
            <a:chExt cx="944" cy="767"/>
          </a:xfrm>
        </p:grpSpPr>
        <p:grpSp>
          <p:nvGrpSpPr>
            <p:cNvPr id="57441" name="Group 89"/>
            <p:cNvGrpSpPr>
              <a:grpSpLocks/>
            </p:cNvGrpSpPr>
            <p:nvPr/>
          </p:nvGrpSpPr>
          <p:grpSpPr bwMode="auto">
            <a:xfrm>
              <a:off x="3360" y="1152"/>
              <a:ext cx="720" cy="528"/>
              <a:chOff x="432" y="2352"/>
              <a:chExt cx="720" cy="528"/>
            </a:xfrm>
          </p:grpSpPr>
          <p:sp>
            <p:nvSpPr>
              <p:cNvPr id="57449" name="Line 90"/>
              <p:cNvSpPr>
                <a:spLocks noChangeShapeType="1"/>
              </p:cNvSpPr>
              <p:nvPr/>
            </p:nvSpPr>
            <p:spPr bwMode="auto">
              <a:xfrm>
                <a:off x="432" y="2352"/>
                <a:ext cx="720" cy="0"/>
              </a:xfrm>
              <a:prstGeom prst="line">
                <a:avLst/>
              </a:prstGeom>
              <a:noFill/>
              <a:ln w="9525">
                <a:solidFill>
                  <a:schemeClr val="tx1"/>
                </a:solidFill>
                <a:round/>
                <a:headEnd/>
                <a:tailEnd/>
              </a:ln>
            </p:spPr>
            <p:txBody>
              <a:bodyPr wrap="none" anchor="ctr"/>
              <a:lstStyle/>
              <a:p>
                <a:endParaRPr lang="bg-BG"/>
              </a:p>
            </p:txBody>
          </p:sp>
          <p:sp>
            <p:nvSpPr>
              <p:cNvPr id="57450" name="Line 91"/>
              <p:cNvSpPr>
                <a:spLocks noChangeShapeType="1"/>
              </p:cNvSpPr>
              <p:nvPr/>
            </p:nvSpPr>
            <p:spPr bwMode="auto">
              <a:xfrm>
                <a:off x="432" y="2528"/>
                <a:ext cx="720" cy="0"/>
              </a:xfrm>
              <a:prstGeom prst="line">
                <a:avLst/>
              </a:prstGeom>
              <a:noFill/>
              <a:ln w="9525">
                <a:solidFill>
                  <a:schemeClr val="tx1"/>
                </a:solidFill>
                <a:round/>
                <a:headEnd/>
                <a:tailEnd/>
              </a:ln>
            </p:spPr>
            <p:txBody>
              <a:bodyPr wrap="none" anchor="ctr"/>
              <a:lstStyle/>
              <a:p>
                <a:endParaRPr lang="bg-BG"/>
              </a:p>
            </p:txBody>
          </p:sp>
          <p:sp>
            <p:nvSpPr>
              <p:cNvPr id="57451" name="Line 92"/>
              <p:cNvSpPr>
                <a:spLocks noChangeShapeType="1"/>
              </p:cNvSpPr>
              <p:nvPr/>
            </p:nvSpPr>
            <p:spPr bwMode="auto">
              <a:xfrm>
                <a:off x="432" y="2696"/>
                <a:ext cx="720" cy="0"/>
              </a:xfrm>
              <a:prstGeom prst="line">
                <a:avLst/>
              </a:prstGeom>
              <a:noFill/>
              <a:ln w="9525">
                <a:solidFill>
                  <a:schemeClr val="tx1"/>
                </a:solidFill>
                <a:round/>
                <a:headEnd/>
                <a:tailEnd/>
              </a:ln>
            </p:spPr>
            <p:txBody>
              <a:bodyPr wrap="none" anchor="ctr"/>
              <a:lstStyle/>
              <a:p>
                <a:endParaRPr lang="bg-BG"/>
              </a:p>
            </p:txBody>
          </p:sp>
          <p:sp>
            <p:nvSpPr>
              <p:cNvPr id="57452" name="Line 93"/>
              <p:cNvSpPr>
                <a:spLocks noChangeShapeType="1"/>
              </p:cNvSpPr>
              <p:nvPr/>
            </p:nvSpPr>
            <p:spPr bwMode="auto">
              <a:xfrm>
                <a:off x="432" y="2880"/>
                <a:ext cx="720" cy="0"/>
              </a:xfrm>
              <a:prstGeom prst="line">
                <a:avLst/>
              </a:prstGeom>
              <a:noFill/>
              <a:ln w="9525">
                <a:solidFill>
                  <a:schemeClr val="tx1"/>
                </a:solidFill>
                <a:round/>
                <a:headEnd/>
                <a:tailEnd/>
              </a:ln>
            </p:spPr>
            <p:txBody>
              <a:bodyPr wrap="none" anchor="ctr"/>
              <a:lstStyle/>
              <a:p>
                <a:endParaRPr lang="bg-BG"/>
              </a:p>
            </p:txBody>
          </p:sp>
        </p:grpSp>
        <p:sp>
          <p:nvSpPr>
            <p:cNvPr id="57442" name="Text Box 98"/>
            <p:cNvSpPr txBox="1">
              <a:spLocks noChangeArrowheads="1"/>
            </p:cNvSpPr>
            <p:nvPr/>
          </p:nvSpPr>
          <p:spPr bwMode="auto">
            <a:xfrm>
              <a:off x="4056" y="1208"/>
              <a:ext cx="240" cy="231"/>
            </a:xfrm>
            <a:prstGeom prst="rect">
              <a:avLst/>
            </a:prstGeom>
            <a:noFill/>
            <a:ln w="9525">
              <a:noFill/>
              <a:miter lim="800000"/>
              <a:headEnd/>
              <a:tailEnd/>
            </a:ln>
          </p:spPr>
          <p:txBody>
            <a:bodyPr>
              <a:spAutoFit/>
            </a:bodyPr>
            <a:lstStyle/>
            <a:p>
              <a:pPr algn="l">
                <a:spcBef>
                  <a:spcPct val="50000"/>
                </a:spcBef>
              </a:pPr>
              <a:r>
                <a:rPr lang="en-US" sz="1800" dirty="0"/>
                <a:t>C</a:t>
              </a:r>
              <a:endParaRPr lang="en-US" dirty="0"/>
            </a:p>
          </p:txBody>
        </p:sp>
        <p:sp>
          <p:nvSpPr>
            <p:cNvPr id="57443" name="Text Box 99"/>
            <p:cNvSpPr txBox="1">
              <a:spLocks noChangeArrowheads="1"/>
            </p:cNvSpPr>
            <p:nvPr/>
          </p:nvSpPr>
          <p:spPr bwMode="auto">
            <a:xfrm>
              <a:off x="4064" y="1384"/>
              <a:ext cx="240" cy="231"/>
            </a:xfrm>
            <a:prstGeom prst="rect">
              <a:avLst/>
            </a:prstGeom>
            <a:noFill/>
            <a:ln w="9525">
              <a:noFill/>
              <a:miter lim="800000"/>
              <a:headEnd/>
              <a:tailEnd/>
            </a:ln>
          </p:spPr>
          <p:txBody>
            <a:bodyPr>
              <a:spAutoFit/>
            </a:bodyPr>
            <a:lstStyle/>
            <a:p>
              <a:pPr algn="l">
                <a:spcBef>
                  <a:spcPct val="50000"/>
                </a:spcBef>
              </a:pPr>
              <a:r>
                <a:rPr lang="en-US" sz="1800" dirty="0"/>
                <a:t>B</a:t>
              </a:r>
              <a:endParaRPr lang="en-US" dirty="0"/>
            </a:p>
          </p:txBody>
        </p:sp>
        <p:sp>
          <p:nvSpPr>
            <p:cNvPr id="57444" name="Text Box 100"/>
            <p:cNvSpPr txBox="1">
              <a:spLocks noChangeArrowheads="1"/>
            </p:cNvSpPr>
            <p:nvPr/>
          </p:nvSpPr>
          <p:spPr bwMode="auto">
            <a:xfrm>
              <a:off x="4064" y="1568"/>
              <a:ext cx="240" cy="231"/>
            </a:xfrm>
            <a:prstGeom prst="rect">
              <a:avLst/>
            </a:prstGeom>
            <a:noFill/>
            <a:ln w="9525">
              <a:noFill/>
              <a:miter lim="800000"/>
              <a:headEnd/>
              <a:tailEnd/>
            </a:ln>
          </p:spPr>
          <p:txBody>
            <a:bodyPr>
              <a:spAutoFit/>
            </a:bodyPr>
            <a:lstStyle/>
            <a:p>
              <a:pPr algn="l">
                <a:spcBef>
                  <a:spcPct val="50000"/>
                </a:spcBef>
              </a:pPr>
              <a:r>
                <a:rPr lang="bg-BG" sz="1800"/>
                <a:t>D</a:t>
              </a:r>
              <a:endParaRPr lang="en-US" dirty="0"/>
            </a:p>
          </p:txBody>
        </p:sp>
        <p:sp>
          <p:nvSpPr>
            <p:cNvPr id="57445" name="Text Box 101"/>
            <p:cNvSpPr txBox="1">
              <a:spLocks noChangeArrowheads="1"/>
            </p:cNvSpPr>
            <p:nvPr/>
          </p:nvSpPr>
          <p:spPr bwMode="auto">
            <a:xfrm>
              <a:off x="4056" y="1032"/>
              <a:ext cx="240" cy="231"/>
            </a:xfrm>
            <a:prstGeom prst="rect">
              <a:avLst/>
            </a:prstGeom>
            <a:noFill/>
            <a:ln w="9525">
              <a:noFill/>
              <a:miter lim="800000"/>
              <a:headEnd/>
              <a:tailEnd/>
            </a:ln>
          </p:spPr>
          <p:txBody>
            <a:bodyPr>
              <a:spAutoFit/>
            </a:bodyPr>
            <a:lstStyle/>
            <a:p>
              <a:pPr algn="l">
                <a:spcBef>
                  <a:spcPct val="50000"/>
                </a:spcBef>
              </a:pPr>
              <a:r>
                <a:rPr lang="bg-BG" sz="1800"/>
                <a:t>А</a:t>
              </a:r>
              <a:endParaRPr lang="en-US" dirty="0"/>
            </a:p>
          </p:txBody>
        </p:sp>
        <p:sp>
          <p:nvSpPr>
            <p:cNvPr id="57446" name="Oval 103"/>
            <p:cNvSpPr>
              <a:spLocks noChangeArrowheads="1"/>
            </p:cNvSpPr>
            <p:nvPr/>
          </p:nvSpPr>
          <p:spPr bwMode="auto">
            <a:xfrm>
              <a:off x="3672" y="166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7447" name="Oval 104"/>
            <p:cNvSpPr>
              <a:spLocks noChangeArrowheads="1"/>
            </p:cNvSpPr>
            <p:nvPr/>
          </p:nvSpPr>
          <p:spPr bwMode="auto">
            <a:xfrm>
              <a:off x="3672" y="1296"/>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7448" name="Line 108"/>
            <p:cNvSpPr>
              <a:spLocks noChangeShapeType="1"/>
            </p:cNvSpPr>
            <p:nvPr/>
          </p:nvSpPr>
          <p:spPr bwMode="auto">
            <a:xfrm>
              <a:off x="3696" y="1304"/>
              <a:ext cx="0" cy="384"/>
            </a:xfrm>
            <a:prstGeom prst="line">
              <a:avLst/>
            </a:prstGeom>
            <a:noFill/>
            <a:ln w="28575">
              <a:solidFill>
                <a:schemeClr val="accent2"/>
              </a:solidFill>
              <a:round/>
              <a:headEnd/>
              <a:tailEnd/>
            </a:ln>
          </p:spPr>
          <p:txBody>
            <a:bodyPr wrap="none" anchor="ctr"/>
            <a:lstStyle/>
            <a:p>
              <a:endParaRPr lang="bg-BG"/>
            </a:p>
          </p:txBody>
        </p:sp>
      </p:grpSp>
      <p:grpSp>
        <p:nvGrpSpPr>
          <p:cNvPr id="57363" name="Group 113"/>
          <p:cNvGrpSpPr>
            <a:grpSpLocks/>
          </p:cNvGrpSpPr>
          <p:nvPr/>
        </p:nvGrpSpPr>
        <p:grpSpPr bwMode="auto">
          <a:xfrm>
            <a:off x="1143000" y="1905000"/>
            <a:ext cx="7366000" cy="1243013"/>
            <a:chOff x="192" y="1048"/>
            <a:chExt cx="4640" cy="783"/>
          </a:xfrm>
        </p:grpSpPr>
        <p:grpSp>
          <p:nvGrpSpPr>
            <p:cNvPr id="57372" name="Group 114"/>
            <p:cNvGrpSpPr>
              <a:grpSpLocks/>
            </p:cNvGrpSpPr>
            <p:nvPr/>
          </p:nvGrpSpPr>
          <p:grpSpPr bwMode="auto">
            <a:xfrm>
              <a:off x="192" y="1056"/>
              <a:ext cx="1136" cy="775"/>
              <a:chOff x="432" y="2376"/>
              <a:chExt cx="1136" cy="775"/>
            </a:xfrm>
          </p:grpSpPr>
          <p:grpSp>
            <p:nvGrpSpPr>
              <p:cNvPr id="57425" name="Group 115"/>
              <p:cNvGrpSpPr>
                <a:grpSpLocks/>
              </p:cNvGrpSpPr>
              <p:nvPr/>
            </p:nvGrpSpPr>
            <p:grpSpPr bwMode="auto">
              <a:xfrm>
                <a:off x="624" y="2496"/>
                <a:ext cx="720" cy="528"/>
                <a:chOff x="432" y="2352"/>
                <a:chExt cx="720" cy="528"/>
              </a:xfrm>
            </p:grpSpPr>
            <p:sp>
              <p:nvSpPr>
                <p:cNvPr id="57437" name="Line 116"/>
                <p:cNvSpPr>
                  <a:spLocks noChangeShapeType="1"/>
                </p:cNvSpPr>
                <p:nvPr/>
              </p:nvSpPr>
              <p:spPr bwMode="auto">
                <a:xfrm>
                  <a:off x="432" y="2352"/>
                  <a:ext cx="720" cy="0"/>
                </a:xfrm>
                <a:prstGeom prst="line">
                  <a:avLst/>
                </a:prstGeom>
                <a:noFill/>
                <a:ln w="9525">
                  <a:solidFill>
                    <a:schemeClr val="tx1"/>
                  </a:solidFill>
                  <a:round/>
                  <a:headEnd/>
                  <a:tailEnd/>
                </a:ln>
              </p:spPr>
              <p:txBody>
                <a:bodyPr wrap="none" anchor="ctr"/>
                <a:lstStyle/>
                <a:p>
                  <a:endParaRPr lang="bg-BG"/>
                </a:p>
              </p:txBody>
            </p:sp>
            <p:sp>
              <p:nvSpPr>
                <p:cNvPr id="57438" name="Line 117"/>
                <p:cNvSpPr>
                  <a:spLocks noChangeShapeType="1"/>
                </p:cNvSpPr>
                <p:nvPr/>
              </p:nvSpPr>
              <p:spPr bwMode="auto">
                <a:xfrm>
                  <a:off x="432" y="2528"/>
                  <a:ext cx="720" cy="0"/>
                </a:xfrm>
                <a:prstGeom prst="line">
                  <a:avLst/>
                </a:prstGeom>
                <a:noFill/>
                <a:ln w="9525">
                  <a:solidFill>
                    <a:schemeClr val="tx1"/>
                  </a:solidFill>
                  <a:round/>
                  <a:headEnd/>
                  <a:tailEnd/>
                </a:ln>
              </p:spPr>
              <p:txBody>
                <a:bodyPr wrap="none" anchor="ctr"/>
                <a:lstStyle/>
                <a:p>
                  <a:endParaRPr lang="bg-BG"/>
                </a:p>
              </p:txBody>
            </p:sp>
            <p:sp>
              <p:nvSpPr>
                <p:cNvPr id="57439" name="Line 118"/>
                <p:cNvSpPr>
                  <a:spLocks noChangeShapeType="1"/>
                </p:cNvSpPr>
                <p:nvPr/>
              </p:nvSpPr>
              <p:spPr bwMode="auto">
                <a:xfrm>
                  <a:off x="432" y="2696"/>
                  <a:ext cx="720" cy="0"/>
                </a:xfrm>
                <a:prstGeom prst="line">
                  <a:avLst/>
                </a:prstGeom>
                <a:noFill/>
                <a:ln w="9525">
                  <a:solidFill>
                    <a:schemeClr val="tx1"/>
                  </a:solidFill>
                  <a:round/>
                  <a:headEnd/>
                  <a:tailEnd/>
                </a:ln>
              </p:spPr>
              <p:txBody>
                <a:bodyPr wrap="none" anchor="ctr"/>
                <a:lstStyle/>
                <a:p>
                  <a:endParaRPr lang="bg-BG"/>
                </a:p>
              </p:txBody>
            </p:sp>
            <p:sp>
              <p:nvSpPr>
                <p:cNvPr id="57440" name="Line 119"/>
                <p:cNvSpPr>
                  <a:spLocks noChangeShapeType="1"/>
                </p:cNvSpPr>
                <p:nvPr/>
              </p:nvSpPr>
              <p:spPr bwMode="auto">
                <a:xfrm>
                  <a:off x="432" y="2880"/>
                  <a:ext cx="720" cy="0"/>
                </a:xfrm>
                <a:prstGeom prst="line">
                  <a:avLst/>
                </a:prstGeom>
                <a:noFill/>
                <a:ln w="9525">
                  <a:solidFill>
                    <a:schemeClr val="tx1"/>
                  </a:solidFill>
                  <a:round/>
                  <a:headEnd/>
                  <a:tailEnd/>
                </a:ln>
              </p:spPr>
              <p:txBody>
                <a:bodyPr wrap="none" anchor="ctr"/>
                <a:lstStyle/>
                <a:p>
                  <a:endParaRPr lang="bg-BG"/>
                </a:p>
              </p:txBody>
            </p:sp>
          </p:grpSp>
          <p:sp>
            <p:nvSpPr>
              <p:cNvPr id="57426" name="Text Box 120"/>
              <p:cNvSpPr txBox="1">
                <a:spLocks noChangeArrowheads="1"/>
              </p:cNvSpPr>
              <p:nvPr/>
            </p:nvSpPr>
            <p:spPr bwMode="auto">
              <a:xfrm>
                <a:off x="432" y="2377"/>
                <a:ext cx="240" cy="231"/>
              </a:xfrm>
              <a:prstGeom prst="rect">
                <a:avLst/>
              </a:prstGeom>
              <a:noFill/>
              <a:ln w="9525">
                <a:noFill/>
                <a:miter lim="800000"/>
                <a:headEnd/>
                <a:tailEnd/>
              </a:ln>
            </p:spPr>
            <p:txBody>
              <a:bodyPr>
                <a:spAutoFit/>
              </a:bodyPr>
              <a:lstStyle/>
              <a:p>
                <a:pPr algn="l">
                  <a:spcBef>
                    <a:spcPct val="50000"/>
                  </a:spcBef>
                </a:pPr>
                <a:r>
                  <a:rPr lang="bg-BG" sz="1800"/>
                  <a:t>C</a:t>
                </a:r>
                <a:endParaRPr lang="en-US" dirty="0"/>
              </a:p>
            </p:txBody>
          </p:sp>
          <p:sp>
            <p:nvSpPr>
              <p:cNvPr id="57427" name="Text Box 121"/>
              <p:cNvSpPr txBox="1">
                <a:spLocks noChangeArrowheads="1"/>
              </p:cNvSpPr>
              <p:nvPr/>
            </p:nvSpPr>
            <p:spPr bwMode="auto">
              <a:xfrm>
                <a:off x="432" y="2920"/>
                <a:ext cx="240" cy="231"/>
              </a:xfrm>
              <a:prstGeom prst="rect">
                <a:avLst/>
              </a:prstGeom>
              <a:noFill/>
              <a:ln w="9525">
                <a:noFill/>
                <a:miter lim="800000"/>
                <a:headEnd/>
                <a:tailEnd/>
              </a:ln>
            </p:spPr>
            <p:txBody>
              <a:bodyPr>
                <a:spAutoFit/>
              </a:bodyPr>
              <a:lstStyle/>
              <a:p>
                <a:pPr algn="l">
                  <a:spcBef>
                    <a:spcPct val="50000"/>
                  </a:spcBef>
                </a:pPr>
                <a:r>
                  <a:rPr lang="en-US" sz="1800" dirty="0"/>
                  <a:t>A</a:t>
                </a:r>
                <a:endParaRPr lang="en-US" dirty="0"/>
              </a:p>
            </p:txBody>
          </p:sp>
          <p:sp>
            <p:nvSpPr>
              <p:cNvPr id="57428" name="Text Box 122"/>
              <p:cNvSpPr txBox="1">
                <a:spLocks noChangeArrowheads="1"/>
              </p:cNvSpPr>
              <p:nvPr/>
            </p:nvSpPr>
            <p:spPr bwMode="auto">
              <a:xfrm>
                <a:off x="432" y="2544"/>
                <a:ext cx="240" cy="231"/>
              </a:xfrm>
              <a:prstGeom prst="rect">
                <a:avLst/>
              </a:prstGeom>
              <a:noFill/>
              <a:ln w="9525">
                <a:noFill/>
                <a:miter lim="800000"/>
                <a:headEnd/>
                <a:tailEnd/>
              </a:ln>
            </p:spPr>
            <p:txBody>
              <a:bodyPr>
                <a:spAutoFit/>
              </a:bodyPr>
              <a:lstStyle/>
              <a:p>
                <a:pPr algn="l">
                  <a:spcBef>
                    <a:spcPct val="50000"/>
                  </a:spcBef>
                </a:pPr>
                <a:r>
                  <a:rPr lang="en-US" sz="1800" dirty="0"/>
                  <a:t>B</a:t>
                </a:r>
                <a:endParaRPr lang="en-US" dirty="0"/>
              </a:p>
            </p:txBody>
          </p:sp>
          <p:sp>
            <p:nvSpPr>
              <p:cNvPr id="57429" name="Text Box 123"/>
              <p:cNvSpPr txBox="1">
                <a:spLocks noChangeArrowheads="1"/>
              </p:cNvSpPr>
              <p:nvPr/>
            </p:nvSpPr>
            <p:spPr bwMode="auto">
              <a:xfrm>
                <a:off x="440" y="2728"/>
                <a:ext cx="240" cy="231"/>
              </a:xfrm>
              <a:prstGeom prst="rect">
                <a:avLst/>
              </a:prstGeom>
              <a:noFill/>
              <a:ln w="9525">
                <a:noFill/>
                <a:miter lim="800000"/>
                <a:headEnd/>
                <a:tailEnd/>
              </a:ln>
            </p:spPr>
            <p:txBody>
              <a:bodyPr>
                <a:spAutoFit/>
              </a:bodyPr>
              <a:lstStyle/>
              <a:p>
                <a:pPr algn="l">
                  <a:spcBef>
                    <a:spcPct val="50000"/>
                  </a:spcBef>
                </a:pPr>
                <a:r>
                  <a:rPr lang="bg-BG" sz="1800"/>
                  <a:t>D</a:t>
                </a:r>
                <a:endParaRPr lang="en-US" dirty="0"/>
              </a:p>
            </p:txBody>
          </p:sp>
          <p:sp>
            <p:nvSpPr>
              <p:cNvPr id="57430" name="Text Box 124"/>
              <p:cNvSpPr txBox="1">
                <a:spLocks noChangeArrowheads="1"/>
              </p:cNvSpPr>
              <p:nvPr/>
            </p:nvSpPr>
            <p:spPr bwMode="auto">
              <a:xfrm>
                <a:off x="1320" y="2552"/>
                <a:ext cx="240" cy="231"/>
              </a:xfrm>
              <a:prstGeom prst="rect">
                <a:avLst/>
              </a:prstGeom>
              <a:noFill/>
              <a:ln w="9525">
                <a:noFill/>
                <a:miter lim="800000"/>
                <a:headEnd/>
                <a:tailEnd/>
              </a:ln>
            </p:spPr>
            <p:txBody>
              <a:bodyPr>
                <a:spAutoFit/>
              </a:bodyPr>
              <a:lstStyle/>
              <a:p>
                <a:pPr algn="l">
                  <a:spcBef>
                    <a:spcPct val="50000"/>
                  </a:spcBef>
                </a:pPr>
                <a:r>
                  <a:rPr lang="en-US" sz="1800" dirty="0"/>
                  <a:t>C</a:t>
                </a:r>
                <a:endParaRPr lang="en-US" dirty="0"/>
              </a:p>
            </p:txBody>
          </p:sp>
          <p:sp>
            <p:nvSpPr>
              <p:cNvPr id="57431" name="Text Box 125"/>
              <p:cNvSpPr txBox="1">
                <a:spLocks noChangeArrowheads="1"/>
              </p:cNvSpPr>
              <p:nvPr/>
            </p:nvSpPr>
            <p:spPr bwMode="auto">
              <a:xfrm>
                <a:off x="1328" y="2728"/>
                <a:ext cx="240" cy="231"/>
              </a:xfrm>
              <a:prstGeom prst="rect">
                <a:avLst/>
              </a:prstGeom>
              <a:noFill/>
              <a:ln w="9525">
                <a:noFill/>
                <a:miter lim="800000"/>
                <a:headEnd/>
                <a:tailEnd/>
              </a:ln>
            </p:spPr>
            <p:txBody>
              <a:bodyPr>
                <a:spAutoFit/>
              </a:bodyPr>
              <a:lstStyle/>
              <a:p>
                <a:pPr algn="l">
                  <a:spcBef>
                    <a:spcPct val="50000"/>
                  </a:spcBef>
                </a:pPr>
                <a:r>
                  <a:rPr lang="bg-BG" sz="1800"/>
                  <a:t>D</a:t>
                </a:r>
                <a:endParaRPr lang="en-US" dirty="0"/>
              </a:p>
            </p:txBody>
          </p:sp>
          <p:sp>
            <p:nvSpPr>
              <p:cNvPr id="57432" name="Text Box 126"/>
              <p:cNvSpPr txBox="1">
                <a:spLocks noChangeArrowheads="1"/>
              </p:cNvSpPr>
              <p:nvPr/>
            </p:nvSpPr>
            <p:spPr bwMode="auto">
              <a:xfrm>
                <a:off x="1328" y="2912"/>
                <a:ext cx="240" cy="231"/>
              </a:xfrm>
              <a:prstGeom prst="rect">
                <a:avLst/>
              </a:prstGeom>
              <a:noFill/>
              <a:ln w="9525">
                <a:noFill/>
                <a:miter lim="800000"/>
                <a:headEnd/>
                <a:tailEnd/>
              </a:ln>
            </p:spPr>
            <p:txBody>
              <a:bodyPr>
                <a:spAutoFit/>
              </a:bodyPr>
              <a:lstStyle/>
              <a:p>
                <a:pPr algn="l">
                  <a:spcBef>
                    <a:spcPct val="50000"/>
                  </a:spcBef>
                </a:pPr>
                <a:r>
                  <a:rPr lang="bg-BG" sz="1800"/>
                  <a:t>A</a:t>
                </a:r>
                <a:endParaRPr lang="en-US" dirty="0"/>
              </a:p>
            </p:txBody>
          </p:sp>
          <p:sp>
            <p:nvSpPr>
              <p:cNvPr id="57433" name="Text Box 127"/>
              <p:cNvSpPr txBox="1">
                <a:spLocks noChangeArrowheads="1"/>
              </p:cNvSpPr>
              <p:nvPr/>
            </p:nvSpPr>
            <p:spPr bwMode="auto">
              <a:xfrm>
                <a:off x="1320" y="2376"/>
                <a:ext cx="240" cy="231"/>
              </a:xfrm>
              <a:prstGeom prst="rect">
                <a:avLst/>
              </a:prstGeom>
              <a:noFill/>
              <a:ln w="9525">
                <a:noFill/>
                <a:miter lim="800000"/>
                <a:headEnd/>
                <a:tailEnd/>
              </a:ln>
            </p:spPr>
            <p:txBody>
              <a:bodyPr>
                <a:spAutoFit/>
              </a:bodyPr>
              <a:lstStyle/>
              <a:p>
                <a:pPr algn="l">
                  <a:spcBef>
                    <a:spcPct val="50000"/>
                  </a:spcBef>
                </a:pPr>
                <a:r>
                  <a:rPr lang="bg-BG" sz="1800"/>
                  <a:t>B</a:t>
                </a:r>
                <a:endParaRPr lang="en-US" dirty="0"/>
              </a:p>
            </p:txBody>
          </p:sp>
          <p:sp>
            <p:nvSpPr>
              <p:cNvPr id="57434" name="Line 128"/>
              <p:cNvSpPr>
                <a:spLocks noChangeShapeType="1"/>
              </p:cNvSpPr>
              <p:nvPr/>
            </p:nvSpPr>
            <p:spPr bwMode="auto">
              <a:xfrm>
                <a:off x="968" y="2496"/>
                <a:ext cx="0" cy="192"/>
              </a:xfrm>
              <a:prstGeom prst="line">
                <a:avLst/>
              </a:prstGeom>
              <a:noFill/>
              <a:ln w="28575">
                <a:solidFill>
                  <a:schemeClr val="accent2"/>
                </a:solidFill>
                <a:round/>
                <a:headEnd/>
                <a:tailEnd/>
              </a:ln>
            </p:spPr>
            <p:txBody>
              <a:bodyPr wrap="none" anchor="ctr"/>
              <a:lstStyle/>
              <a:p>
                <a:endParaRPr lang="bg-BG"/>
              </a:p>
            </p:txBody>
          </p:sp>
          <p:sp>
            <p:nvSpPr>
              <p:cNvPr id="57435" name="Oval 129"/>
              <p:cNvSpPr>
                <a:spLocks noChangeArrowheads="1"/>
              </p:cNvSpPr>
              <p:nvPr/>
            </p:nvSpPr>
            <p:spPr bwMode="auto">
              <a:xfrm>
                <a:off x="936" y="247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7436" name="Oval 130"/>
              <p:cNvSpPr>
                <a:spLocks noChangeArrowheads="1"/>
              </p:cNvSpPr>
              <p:nvPr/>
            </p:nvSpPr>
            <p:spPr bwMode="auto">
              <a:xfrm>
                <a:off x="936" y="2648"/>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7373" name="Group 131"/>
            <p:cNvGrpSpPr>
              <a:grpSpLocks/>
            </p:cNvGrpSpPr>
            <p:nvPr/>
          </p:nvGrpSpPr>
          <p:grpSpPr bwMode="auto">
            <a:xfrm>
              <a:off x="1248" y="1056"/>
              <a:ext cx="944" cy="767"/>
              <a:chOff x="1584" y="1056"/>
              <a:chExt cx="944" cy="767"/>
            </a:xfrm>
          </p:grpSpPr>
          <p:grpSp>
            <p:nvGrpSpPr>
              <p:cNvPr id="57413" name="Group 132"/>
              <p:cNvGrpSpPr>
                <a:grpSpLocks/>
              </p:cNvGrpSpPr>
              <p:nvPr/>
            </p:nvGrpSpPr>
            <p:grpSpPr bwMode="auto">
              <a:xfrm>
                <a:off x="1584" y="1176"/>
                <a:ext cx="720" cy="528"/>
                <a:chOff x="432" y="2352"/>
                <a:chExt cx="720" cy="528"/>
              </a:xfrm>
            </p:grpSpPr>
            <p:sp>
              <p:nvSpPr>
                <p:cNvPr id="57421" name="Line 133"/>
                <p:cNvSpPr>
                  <a:spLocks noChangeShapeType="1"/>
                </p:cNvSpPr>
                <p:nvPr/>
              </p:nvSpPr>
              <p:spPr bwMode="auto">
                <a:xfrm>
                  <a:off x="432" y="2352"/>
                  <a:ext cx="720" cy="0"/>
                </a:xfrm>
                <a:prstGeom prst="line">
                  <a:avLst/>
                </a:prstGeom>
                <a:noFill/>
                <a:ln w="9525">
                  <a:solidFill>
                    <a:schemeClr val="tx1"/>
                  </a:solidFill>
                  <a:round/>
                  <a:headEnd/>
                  <a:tailEnd/>
                </a:ln>
              </p:spPr>
              <p:txBody>
                <a:bodyPr wrap="none" anchor="ctr"/>
                <a:lstStyle/>
                <a:p>
                  <a:endParaRPr lang="bg-BG"/>
                </a:p>
              </p:txBody>
            </p:sp>
            <p:sp>
              <p:nvSpPr>
                <p:cNvPr id="57422" name="Line 134"/>
                <p:cNvSpPr>
                  <a:spLocks noChangeShapeType="1"/>
                </p:cNvSpPr>
                <p:nvPr/>
              </p:nvSpPr>
              <p:spPr bwMode="auto">
                <a:xfrm>
                  <a:off x="432" y="2528"/>
                  <a:ext cx="720" cy="0"/>
                </a:xfrm>
                <a:prstGeom prst="line">
                  <a:avLst/>
                </a:prstGeom>
                <a:noFill/>
                <a:ln w="9525">
                  <a:solidFill>
                    <a:schemeClr val="tx1"/>
                  </a:solidFill>
                  <a:round/>
                  <a:headEnd/>
                  <a:tailEnd/>
                </a:ln>
              </p:spPr>
              <p:txBody>
                <a:bodyPr wrap="none" anchor="ctr"/>
                <a:lstStyle/>
                <a:p>
                  <a:endParaRPr lang="bg-BG"/>
                </a:p>
              </p:txBody>
            </p:sp>
            <p:sp>
              <p:nvSpPr>
                <p:cNvPr id="57423" name="Line 135"/>
                <p:cNvSpPr>
                  <a:spLocks noChangeShapeType="1"/>
                </p:cNvSpPr>
                <p:nvPr/>
              </p:nvSpPr>
              <p:spPr bwMode="auto">
                <a:xfrm>
                  <a:off x="432" y="2696"/>
                  <a:ext cx="720" cy="0"/>
                </a:xfrm>
                <a:prstGeom prst="line">
                  <a:avLst/>
                </a:prstGeom>
                <a:noFill/>
                <a:ln w="9525">
                  <a:solidFill>
                    <a:schemeClr val="tx1"/>
                  </a:solidFill>
                  <a:round/>
                  <a:headEnd/>
                  <a:tailEnd/>
                </a:ln>
              </p:spPr>
              <p:txBody>
                <a:bodyPr wrap="none" anchor="ctr"/>
                <a:lstStyle/>
                <a:p>
                  <a:endParaRPr lang="bg-BG"/>
                </a:p>
              </p:txBody>
            </p:sp>
            <p:sp>
              <p:nvSpPr>
                <p:cNvPr id="57424" name="Line 136"/>
                <p:cNvSpPr>
                  <a:spLocks noChangeShapeType="1"/>
                </p:cNvSpPr>
                <p:nvPr/>
              </p:nvSpPr>
              <p:spPr bwMode="auto">
                <a:xfrm>
                  <a:off x="432" y="2880"/>
                  <a:ext cx="720" cy="0"/>
                </a:xfrm>
                <a:prstGeom prst="line">
                  <a:avLst/>
                </a:prstGeom>
                <a:noFill/>
                <a:ln w="9525">
                  <a:solidFill>
                    <a:schemeClr val="tx1"/>
                  </a:solidFill>
                  <a:round/>
                  <a:headEnd/>
                  <a:tailEnd/>
                </a:ln>
              </p:spPr>
              <p:txBody>
                <a:bodyPr wrap="none" anchor="ctr"/>
                <a:lstStyle/>
                <a:p>
                  <a:endParaRPr lang="bg-BG"/>
                </a:p>
              </p:txBody>
            </p:sp>
          </p:grpSp>
          <p:sp>
            <p:nvSpPr>
              <p:cNvPr id="57414" name="Text Box 137"/>
              <p:cNvSpPr txBox="1">
                <a:spLocks noChangeArrowheads="1"/>
              </p:cNvSpPr>
              <p:nvPr/>
            </p:nvSpPr>
            <p:spPr bwMode="auto">
              <a:xfrm>
                <a:off x="2280" y="1232"/>
                <a:ext cx="240" cy="231"/>
              </a:xfrm>
              <a:prstGeom prst="rect">
                <a:avLst/>
              </a:prstGeom>
              <a:noFill/>
              <a:ln w="9525">
                <a:noFill/>
                <a:miter lim="800000"/>
                <a:headEnd/>
                <a:tailEnd/>
              </a:ln>
            </p:spPr>
            <p:txBody>
              <a:bodyPr>
                <a:spAutoFit/>
              </a:bodyPr>
              <a:lstStyle/>
              <a:p>
                <a:pPr algn="l">
                  <a:spcBef>
                    <a:spcPct val="50000"/>
                  </a:spcBef>
                </a:pPr>
                <a:r>
                  <a:rPr lang="en-US" sz="1800" dirty="0"/>
                  <a:t>C</a:t>
                </a:r>
                <a:endParaRPr lang="en-US" dirty="0"/>
              </a:p>
            </p:txBody>
          </p:sp>
          <p:sp>
            <p:nvSpPr>
              <p:cNvPr id="57415" name="Text Box 138"/>
              <p:cNvSpPr txBox="1">
                <a:spLocks noChangeArrowheads="1"/>
              </p:cNvSpPr>
              <p:nvPr/>
            </p:nvSpPr>
            <p:spPr bwMode="auto">
              <a:xfrm>
                <a:off x="2288" y="1408"/>
                <a:ext cx="240" cy="231"/>
              </a:xfrm>
              <a:prstGeom prst="rect">
                <a:avLst/>
              </a:prstGeom>
              <a:noFill/>
              <a:ln w="9525">
                <a:noFill/>
                <a:miter lim="800000"/>
                <a:headEnd/>
                <a:tailEnd/>
              </a:ln>
            </p:spPr>
            <p:txBody>
              <a:bodyPr>
                <a:spAutoFit/>
              </a:bodyPr>
              <a:lstStyle/>
              <a:p>
                <a:pPr algn="l">
                  <a:spcBef>
                    <a:spcPct val="50000"/>
                  </a:spcBef>
                </a:pPr>
                <a:r>
                  <a:rPr lang="bg-BG" sz="1800"/>
                  <a:t>А</a:t>
                </a:r>
                <a:endParaRPr lang="en-US" dirty="0"/>
              </a:p>
            </p:txBody>
          </p:sp>
          <p:sp>
            <p:nvSpPr>
              <p:cNvPr id="57416" name="Text Box 139"/>
              <p:cNvSpPr txBox="1">
                <a:spLocks noChangeArrowheads="1"/>
              </p:cNvSpPr>
              <p:nvPr/>
            </p:nvSpPr>
            <p:spPr bwMode="auto">
              <a:xfrm>
                <a:off x="2288" y="1592"/>
                <a:ext cx="240" cy="231"/>
              </a:xfrm>
              <a:prstGeom prst="rect">
                <a:avLst/>
              </a:prstGeom>
              <a:noFill/>
              <a:ln w="9525">
                <a:noFill/>
                <a:miter lim="800000"/>
                <a:headEnd/>
                <a:tailEnd/>
              </a:ln>
            </p:spPr>
            <p:txBody>
              <a:bodyPr>
                <a:spAutoFit/>
              </a:bodyPr>
              <a:lstStyle/>
              <a:p>
                <a:pPr algn="l">
                  <a:spcBef>
                    <a:spcPct val="50000"/>
                  </a:spcBef>
                </a:pPr>
                <a:r>
                  <a:rPr lang="bg-BG" sz="1800"/>
                  <a:t>D</a:t>
                </a:r>
                <a:endParaRPr lang="en-US" dirty="0"/>
              </a:p>
            </p:txBody>
          </p:sp>
          <p:sp>
            <p:nvSpPr>
              <p:cNvPr id="57417" name="Text Box 140"/>
              <p:cNvSpPr txBox="1">
                <a:spLocks noChangeArrowheads="1"/>
              </p:cNvSpPr>
              <p:nvPr/>
            </p:nvSpPr>
            <p:spPr bwMode="auto">
              <a:xfrm>
                <a:off x="2280" y="1056"/>
                <a:ext cx="240" cy="231"/>
              </a:xfrm>
              <a:prstGeom prst="rect">
                <a:avLst/>
              </a:prstGeom>
              <a:noFill/>
              <a:ln w="9525">
                <a:noFill/>
                <a:miter lim="800000"/>
                <a:headEnd/>
                <a:tailEnd/>
              </a:ln>
            </p:spPr>
            <p:txBody>
              <a:bodyPr>
                <a:spAutoFit/>
              </a:bodyPr>
              <a:lstStyle/>
              <a:p>
                <a:pPr algn="l">
                  <a:spcBef>
                    <a:spcPct val="50000"/>
                  </a:spcBef>
                </a:pPr>
                <a:r>
                  <a:rPr lang="bg-BG" sz="1800"/>
                  <a:t>B</a:t>
                </a:r>
                <a:endParaRPr lang="en-US" dirty="0"/>
              </a:p>
            </p:txBody>
          </p:sp>
          <p:sp>
            <p:nvSpPr>
              <p:cNvPr id="57418" name="Line 141"/>
              <p:cNvSpPr>
                <a:spLocks noChangeShapeType="1"/>
              </p:cNvSpPr>
              <p:nvPr/>
            </p:nvSpPr>
            <p:spPr bwMode="auto">
              <a:xfrm>
                <a:off x="1952" y="1536"/>
                <a:ext cx="0" cy="192"/>
              </a:xfrm>
              <a:prstGeom prst="line">
                <a:avLst/>
              </a:prstGeom>
              <a:noFill/>
              <a:ln w="28575">
                <a:solidFill>
                  <a:schemeClr val="accent2"/>
                </a:solidFill>
                <a:round/>
                <a:headEnd/>
                <a:tailEnd/>
              </a:ln>
            </p:spPr>
            <p:txBody>
              <a:bodyPr wrap="none" anchor="ctr"/>
              <a:lstStyle/>
              <a:p>
                <a:endParaRPr lang="bg-BG"/>
              </a:p>
            </p:txBody>
          </p:sp>
          <p:sp>
            <p:nvSpPr>
              <p:cNvPr id="57419" name="Oval 142"/>
              <p:cNvSpPr>
                <a:spLocks noChangeArrowheads="1"/>
              </p:cNvSpPr>
              <p:nvPr/>
            </p:nvSpPr>
            <p:spPr bwMode="auto">
              <a:xfrm>
                <a:off x="1920" y="1496"/>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7420" name="Oval 143"/>
              <p:cNvSpPr>
                <a:spLocks noChangeArrowheads="1"/>
              </p:cNvSpPr>
              <p:nvPr/>
            </p:nvSpPr>
            <p:spPr bwMode="auto">
              <a:xfrm>
                <a:off x="1920" y="168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7374" name="Group 144"/>
            <p:cNvGrpSpPr>
              <a:grpSpLocks/>
            </p:cNvGrpSpPr>
            <p:nvPr/>
          </p:nvGrpSpPr>
          <p:grpSpPr bwMode="auto">
            <a:xfrm>
              <a:off x="3888" y="1049"/>
              <a:ext cx="944" cy="767"/>
              <a:chOff x="4176" y="1049"/>
              <a:chExt cx="944" cy="767"/>
            </a:xfrm>
          </p:grpSpPr>
          <p:sp>
            <p:nvSpPr>
              <p:cNvPr id="57401" name="Line 145"/>
              <p:cNvSpPr>
                <a:spLocks noChangeShapeType="1"/>
              </p:cNvSpPr>
              <p:nvPr/>
            </p:nvSpPr>
            <p:spPr bwMode="auto">
              <a:xfrm>
                <a:off x="4560" y="1344"/>
                <a:ext cx="0" cy="192"/>
              </a:xfrm>
              <a:prstGeom prst="line">
                <a:avLst/>
              </a:prstGeom>
              <a:noFill/>
              <a:ln w="28575">
                <a:solidFill>
                  <a:schemeClr val="accent2"/>
                </a:solidFill>
                <a:round/>
                <a:headEnd/>
                <a:tailEnd/>
              </a:ln>
            </p:spPr>
            <p:txBody>
              <a:bodyPr wrap="none" anchor="ctr"/>
              <a:lstStyle/>
              <a:p>
                <a:endParaRPr lang="bg-BG"/>
              </a:p>
            </p:txBody>
          </p:sp>
          <p:grpSp>
            <p:nvGrpSpPr>
              <p:cNvPr id="57402" name="Group 146"/>
              <p:cNvGrpSpPr>
                <a:grpSpLocks/>
              </p:cNvGrpSpPr>
              <p:nvPr/>
            </p:nvGrpSpPr>
            <p:grpSpPr bwMode="auto">
              <a:xfrm>
                <a:off x="4176" y="1169"/>
                <a:ext cx="720" cy="528"/>
                <a:chOff x="432" y="2352"/>
                <a:chExt cx="720" cy="528"/>
              </a:xfrm>
            </p:grpSpPr>
            <p:sp>
              <p:nvSpPr>
                <p:cNvPr id="57409" name="Line 147"/>
                <p:cNvSpPr>
                  <a:spLocks noChangeShapeType="1"/>
                </p:cNvSpPr>
                <p:nvPr/>
              </p:nvSpPr>
              <p:spPr bwMode="auto">
                <a:xfrm>
                  <a:off x="432" y="2352"/>
                  <a:ext cx="720" cy="0"/>
                </a:xfrm>
                <a:prstGeom prst="line">
                  <a:avLst/>
                </a:prstGeom>
                <a:noFill/>
                <a:ln w="9525">
                  <a:solidFill>
                    <a:schemeClr val="tx1"/>
                  </a:solidFill>
                  <a:round/>
                  <a:headEnd/>
                  <a:tailEnd/>
                </a:ln>
              </p:spPr>
              <p:txBody>
                <a:bodyPr wrap="none" anchor="ctr"/>
                <a:lstStyle/>
                <a:p>
                  <a:endParaRPr lang="bg-BG"/>
                </a:p>
              </p:txBody>
            </p:sp>
            <p:sp>
              <p:nvSpPr>
                <p:cNvPr id="57410" name="Line 148"/>
                <p:cNvSpPr>
                  <a:spLocks noChangeShapeType="1"/>
                </p:cNvSpPr>
                <p:nvPr/>
              </p:nvSpPr>
              <p:spPr bwMode="auto">
                <a:xfrm>
                  <a:off x="432" y="2528"/>
                  <a:ext cx="720" cy="0"/>
                </a:xfrm>
                <a:prstGeom prst="line">
                  <a:avLst/>
                </a:prstGeom>
                <a:noFill/>
                <a:ln w="9525">
                  <a:solidFill>
                    <a:schemeClr val="tx1"/>
                  </a:solidFill>
                  <a:round/>
                  <a:headEnd/>
                  <a:tailEnd/>
                </a:ln>
              </p:spPr>
              <p:txBody>
                <a:bodyPr wrap="none" anchor="ctr"/>
                <a:lstStyle/>
                <a:p>
                  <a:endParaRPr lang="bg-BG"/>
                </a:p>
              </p:txBody>
            </p:sp>
            <p:sp>
              <p:nvSpPr>
                <p:cNvPr id="57411" name="Line 149"/>
                <p:cNvSpPr>
                  <a:spLocks noChangeShapeType="1"/>
                </p:cNvSpPr>
                <p:nvPr/>
              </p:nvSpPr>
              <p:spPr bwMode="auto">
                <a:xfrm>
                  <a:off x="432" y="2696"/>
                  <a:ext cx="720" cy="0"/>
                </a:xfrm>
                <a:prstGeom prst="line">
                  <a:avLst/>
                </a:prstGeom>
                <a:noFill/>
                <a:ln w="9525">
                  <a:solidFill>
                    <a:schemeClr val="tx1"/>
                  </a:solidFill>
                  <a:round/>
                  <a:headEnd/>
                  <a:tailEnd/>
                </a:ln>
              </p:spPr>
              <p:txBody>
                <a:bodyPr wrap="none" anchor="ctr"/>
                <a:lstStyle/>
                <a:p>
                  <a:endParaRPr lang="bg-BG"/>
                </a:p>
              </p:txBody>
            </p:sp>
            <p:sp>
              <p:nvSpPr>
                <p:cNvPr id="57412" name="Line 150"/>
                <p:cNvSpPr>
                  <a:spLocks noChangeShapeType="1"/>
                </p:cNvSpPr>
                <p:nvPr/>
              </p:nvSpPr>
              <p:spPr bwMode="auto">
                <a:xfrm>
                  <a:off x="432" y="2880"/>
                  <a:ext cx="720" cy="0"/>
                </a:xfrm>
                <a:prstGeom prst="line">
                  <a:avLst/>
                </a:prstGeom>
                <a:noFill/>
                <a:ln w="9525">
                  <a:solidFill>
                    <a:schemeClr val="tx1"/>
                  </a:solidFill>
                  <a:round/>
                  <a:headEnd/>
                  <a:tailEnd/>
                </a:ln>
              </p:spPr>
              <p:txBody>
                <a:bodyPr wrap="none" anchor="ctr"/>
                <a:lstStyle/>
                <a:p>
                  <a:endParaRPr lang="bg-BG"/>
                </a:p>
              </p:txBody>
            </p:sp>
          </p:grpSp>
          <p:sp>
            <p:nvSpPr>
              <p:cNvPr id="57403" name="Text Box 151"/>
              <p:cNvSpPr txBox="1">
                <a:spLocks noChangeArrowheads="1"/>
              </p:cNvSpPr>
              <p:nvPr/>
            </p:nvSpPr>
            <p:spPr bwMode="auto">
              <a:xfrm>
                <a:off x="4872" y="1225"/>
                <a:ext cx="240" cy="231"/>
              </a:xfrm>
              <a:prstGeom prst="rect">
                <a:avLst/>
              </a:prstGeom>
              <a:noFill/>
              <a:ln w="9525">
                <a:noFill/>
                <a:miter lim="800000"/>
                <a:headEnd/>
                <a:tailEnd/>
              </a:ln>
            </p:spPr>
            <p:txBody>
              <a:bodyPr>
                <a:spAutoFit/>
              </a:bodyPr>
              <a:lstStyle/>
              <a:p>
                <a:pPr algn="l">
                  <a:spcBef>
                    <a:spcPct val="50000"/>
                  </a:spcBef>
                </a:pPr>
                <a:r>
                  <a:rPr lang="en-US" sz="1800" dirty="0"/>
                  <a:t>B</a:t>
                </a:r>
                <a:endParaRPr lang="en-US" dirty="0"/>
              </a:p>
            </p:txBody>
          </p:sp>
          <p:sp>
            <p:nvSpPr>
              <p:cNvPr id="57404" name="Text Box 152"/>
              <p:cNvSpPr txBox="1">
                <a:spLocks noChangeArrowheads="1"/>
              </p:cNvSpPr>
              <p:nvPr/>
            </p:nvSpPr>
            <p:spPr bwMode="auto">
              <a:xfrm>
                <a:off x="4880" y="1401"/>
                <a:ext cx="240" cy="231"/>
              </a:xfrm>
              <a:prstGeom prst="rect">
                <a:avLst/>
              </a:prstGeom>
              <a:noFill/>
              <a:ln w="9525">
                <a:noFill/>
                <a:miter lim="800000"/>
                <a:headEnd/>
                <a:tailEnd/>
              </a:ln>
            </p:spPr>
            <p:txBody>
              <a:bodyPr>
                <a:spAutoFit/>
              </a:bodyPr>
              <a:lstStyle/>
              <a:p>
                <a:pPr algn="l">
                  <a:spcBef>
                    <a:spcPct val="50000"/>
                  </a:spcBef>
                </a:pPr>
                <a:r>
                  <a:rPr lang="en-US" sz="1800" dirty="0"/>
                  <a:t>C</a:t>
                </a:r>
                <a:endParaRPr lang="en-US" dirty="0"/>
              </a:p>
            </p:txBody>
          </p:sp>
          <p:sp>
            <p:nvSpPr>
              <p:cNvPr id="57405" name="Text Box 153"/>
              <p:cNvSpPr txBox="1">
                <a:spLocks noChangeArrowheads="1"/>
              </p:cNvSpPr>
              <p:nvPr/>
            </p:nvSpPr>
            <p:spPr bwMode="auto">
              <a:xfrm>
                <a:off x="4880" y="1585"/>
                <a:ext cx="240" cy="231"/>
              </a:xfrm>
              <a:prstGeom prst="rect">
                <a:avLst/>
              </a:prstGeom>
              <a:noFill/>
              <a:ln w="9525">
                <a:noFill/>
                <a:miter lim="800000"/>
                <a:headEnd/>
                <a:tailEnd/>
              </a:ln>
            </p:spPr>
            <p:txBody>
              <a:bodyPr>
                <a:spAutoFit/>
              </a:bodyPr>
              <a:lstStyle/>
              <a:p>
                <a:pPr algn="l">
                  <a:spcBef>
                    <a:spcPct val="50000"/>
                  </a:spcBef>
                </a:pPr>
                <a:r>
                  <a:rPr lang="bg-BG" sz="1800"/>
                  <a:t>D</a:t>
                </a:r>
                <a:endParaRPr lang="en-US" dirty="0"/>
              </a:p>
            </p:txBody>
          </p:sp>
          <p:sp>
            <p:nvSpPr>
              <p:cNvPr id="57406" name="Text Box 154"/>
              <p:cNvSpPr txBox="1">
                <a:spLocks noChangeArrowheads="1"/>
              </p:cNvSpPr>
              <p:nvPr/>
            </p:nvSpPr>
            <p:spPr bwMode="auto">
              <a:xfrm>
                <a:off x="4872" y="1049"/>
                <a:ext cx="240" cy="231"/>
              </a:xfrm>
              <a:prstGeom prst="rect">
                <a:avLst/>
              </a:prstGeom>
              <a:noFill/>
              <a:ln w="9525">
                <a:noFill/>
                <a:miter lim="800000"/>
                <a:headEnd/>
                <a:tailEnd/>
              </a:ln>
            </p:spPr>
            <p:txBody>
              <a:bodyPr>
                <a:spAutoFit/>
              </a:bodyPr>
              <a:lstStyle/>
              <a:p>
                <a:pPr algn="l">
                  <a:spcBef>
                    <a:spcPct val="50000"/>
                  </a:spcBef>
                </a:pPr>
                <a:r>
                  <a:rPr lang="en-US" sz="1800" dirty="0"/>
                  <a:t>A</a:t>
                </a:r>
                <a:endParaRPr lang="en-US" dirty="0"/>
              </a:p>
            </p:txBody>
          </p:sp>
          <p:sp>
            <p:nvSpPr>
              <p:cNvPr id="57407" name="Oval 155"/>
              <p:cNvSpPr>
                <a:spLocks noChangeArrowheads="1"/>
              </p:cNvSpPr>
              <p:nvPr/>
            </p:nvSpPr>
            <p:spPr bwMode="auto">
              <a:xfrm>
                <a:off x="4528" y="148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7408" name="Oval 156"/>
              <p:cNvSpPr>
                <a:spLocks noChangeArrowheads="1"/>
              </p:cNvSpPr>
              <p:nvPr/>
            </p:nvSpPr>
            <p:spPr bwMode="auto">
              <a:xfrm>
                <a:off x="4528" y="132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7375" name="Group 157"/>
            <p:cNvGrpSpPr>
              <a:grpSpLocks/>
            </p:cNvGrpSpPr>
            <p:nvPr/>
          </p:nvGrpSpPr>
          <p:grpSpPr bwMode="auto">
            <a:xfrm>
              <a:off x="2112" y="1049"/>
              <a:ext cx="944" cy="767"/>
              <a:chOff x="2448" y="1049"/>
              <a:chExt cx="944" cy="767"/>
            </a:xfrm>
          </p:grpSpPr>
          <p:grpSp>
            <p:nvGrpSpPr>
              <p:cNvPr id="57389" name="Group 158"/>
              <p:cNvGrpSpPr>
                <a:grpSpLocks/>
              </p:cNvGrpSpPr>
              <p:nvPr/>
            </p:nvGrpSpPr>
            <p:grpSpPr bwMode="auto">
              <a:xfrm>
                <a:off x="2448" y="1169"/>
                <a:ext cx="720" cy="528"/>
                <a:chOff x="432" y="2352"/>
                <a:chExt cx="720" cy="528"/>
              </a:xfrm>
            </p:grpSpPr>
            <p:sp>
              <p:nvSpPr>
                <p:cNvPr id="57397" name="Line 159"/>
                <p:cNvSpPr>
                  <a:spLocks noChangeShapeType="1"/>
                </p:cNvSpPr>
                <p:nvPr/>
              </p:nvSpPr>
              <p:spPr bwMode="auto">
                <a:xfrm>
                  <a:off x="432" y="2352"/>
                  <a:ext cx="720" cy="0"/>
                </a:xfrm>
                <a:prstGeom prst="line">
                  <a:avLst/>
                </a:prstGeom>
                <a:noFill/>
                <a:ln w="9525">
                  <a:solidFill>
                    <a:schemeClr val="tx1"/>
                  </a:solidFill>
                  <a:round/>
                  <a:headEnd/>
                  <a:tailEnd/>
                </a:ln>
              </p:spPr>
              <p:txBody>
                <a:bodyPr wrap="none" anchor="ctr"/>
                <a:lstStyle/>
                <a:p>
                  <a:endParaRPr lang="bg-BG"/>
                </a:p>
              </p:txBody>
            </p:sp>
            <p:sp>
              <p:nvSpPr>
                <p:cNvPr id="57398" name="Line 160"/>
                <p:cNvSpPr>
                  <a:spLocks noChangeShapeType="1"/>
                </p:cNvSpPr>
                <p:nvPr/>
              </p:nvSpPr>
              <p:spPr bwMode="auto">
                <a:xfrm>
                  <a:off x="432" y="2528"/>
                  <a:ext cx="720" cy="0"/>
                </a:xfrm>
                <a:prstGeom prst="line">
                  <a:avLst/>
                </a:prstGeom>
                <a:noFill/>
                <a:ln w="9525">
                  <a:solidFill>
                    <a:schemeClr val="tx1"/>
                  </a:solidFill>
                  <a:round/>
                  <a:headEnd/>
                  <a:tailEnd/>
                </a:ln>
              </p:spPr>
              <p:txBody>
                <a:bodyPr wrap="none" anchor="ctr"/>
                <a:lstStyle/>
                <a:p>
                  <a:endParaRPr lang="bg-BG"/>
                </a:p>
              </p:txBody>
            </p:sp>
            <p:sp>
              <p:nvSpPr>
                <p:cNvPr id="57399" name="Line 161"/>
                <p:cNvSpPr>
                  <a:spLocks noChangeShapeType="1"/>
                </p:cNvSpPr>
                <p:nvPr/>
              </p:nvSpPr>
              <p:spPr bwMode="auto">
                <a:xfrm>
                  <a:off x="432" y="2696"/>
                  <a:ext cx="720" cy="0"/>
                </a:xfrm>
                <a:prstGeom prst="line">
                  <a:avLst/>
                </a:prstGeom>
                <a:noFill/>
                <a:ln w="9525">
                  <a:solidFill>
                    <a:schemeClr val="tx1"/>
                  </a:solidFill>
                  <a:round/>
                  <a:headEnd/>
                  <a:tailEnd/>
                </a:ln>
              </p:spPr>
              <p:txBody>
                <a:bodyPr wrap="none" anchor="ctr"/>
                <a:lstStyle/>
                <a:p>
                  <a:endParaRPr lang="bg-BG"/>
                </a:p>
              </p:txBody>
            </p:sp>
            <p:sp>
              <p:nvSpPr>
                <p:cNvPr id="57400" name="Line 162"/>
                <p:cNvSpPr>
                  <a:spLocks noChangeShapeType="1"/>
                </p:cNvSpPr>
                <p:nvPr/>
              </p:nvSpPr>
              <p:spPr bwMode="auto">
                <a:xfrm>
                  <a:off x="432" y="2880"/>
                  <a:ext cx="720" cy="0"/>
                </a:xfrm>
                <a:prstGeom prst="line">
                  <a:avLst/>
                </a:prstGeom>
                <a:noFill/>
                <a:ln w="9525">
                  <a:solidFill>
                    <a:schemeClr val="tx1"/>
                  </a:solidFill>
                  <a:round/>
                  <a:headEnd/>
                  <a:tailEnd/>
                </a:ln>
              </p:spPr>
              <p:txBody>
                <a:bodyPr wrap="none" anchor="ctr"/>
                <a:lstStyle/>
                <a:p>
                  <a:endParaRPr lang="bg-BG"/>
                </a:p>
              </p:txBody>
            </p:sp>
          </p:grpSp>
          <p:sp>
            <p:nvSpPr>
              <p:cNvPr id="57390" name="Text Box 163"/>
              <p:cNvSpPr txBox="1">
                <a:spLocks noChangeArrowheads="1"/>
              </p:cNvSpPr>
              <p:nvPr/>
            </p:nvSpPr>
            <p:spPr bwMode="auto">
              <a:xfrm>
                <a:off x="3144" y="1225"/>
                <a:ext cx="240" cy="231"/>
              </a:xfrm>
              <a:prstGeom prst="rect">
                <a:avLst/>
              </a:prstGeom>
              <a:noFill/>
              <a:ln w="9525">
                <a:noFill/>
                <a:miter lim="800000"/>
                <a:headEnd/>
                <a:tailEnd/>
              </a:ln>
            </p:spPr>
            <p:txBody>
              <a:bodyPr>
                <a:spAutoFit/>
              </a:bodyPr>
              <a:lstStyle/>
              <a:p>
                <a:pPr algn="l">
                  <a:spcBef>
                    <a:spcPct val="50000"/>
                  </a:spcBef>
                </a:pPr>
                <a:r>
                  <a:rPr lang="en-US" sz="1800" dirty="0"/>
                  <a:t>C</a:t>
                </a:r>
                <a:endParaRPr lang="en-US" dirty="0"/>
              </a:p>
            </p:txBody>
          </p:sp>
          <p:sp>
            <p:nvSpPr>
              <p:cNvPr id="57391" name="Text Box 164"/>
              <p:cNvSpPr txBox="1">
                <a:spLocks noChangeArrowheads="1"/>
              </p:cNvSpPr>
              <p:nvPr/>
            </p:nvSpPr>
            <p:spPr bwMode="auto">
              <a:xfrm>
                <a:off x="3152" y="1401"/>
                <a:ext cx="240" cy="231"/>
              </a:xfrm>
              <a:prstGeom prst="rect">
                <a:avLst/>
              </a:prstGeom>
              <a:noFill/>
              <a:ln w="9525">
                <a:noFill/>
                <a:miter lim="800000"/>
                <a:headEnd/>
                <a:tailEnd/>
              </a:ln>
            </p:spPr>
            <p:txBody>
              <a:bodyPr>
                <a:spAutoFit/>
              </a:bodyPr>
              <a:lstStyle/>
              <a:p>
                <a:pPr algn="l">
                  <a:spcBef>
                    <a:spcPct val="50000"/>
                  </a:spcBef>
                </a:pPr>
                <a:r>
                  <a:rPr lang="bg-BG" sz="1800"/>
                  <a:t>B</a:t>
                </a:r>
                <a:endParaRPr lang="en-US" dirty="0"/>
              </a:p>
            </p:txBody>
          </p:sp>
          <p:sp>
            <p:nvSpPr>
              <p:cNvPr id="57392" name="Text Box 165"/>
              <p:cNvSpPr txBox="1">
                <a:spLocks noChangeArrowheads="1"/>
              </p:cNvSpPr>
              <p:nvPr/>
            </p:nvSpPr>
            <p:spPr bwMode="auto">
              <a:xfrm>
                <a:off x="3152" y="1585"/>
                <a:ext cx="240" cy="231"/>
              </a:xfrm>
              <a:prstGeom prst="rect">
                <a:avLst/>
              </a:prstGeom>
              <a:noFill/>
              <a:ln w="9525">
                <a:noFill/>
                <a:miter lim="800000"/>
                <a:headEnd/>
                <a:tailEnd/>
              </a:ln>
            </p:spPr>
            <p:txBody>
              <a:bodyPr>
                <a:spAutoFit/>
              </a:bodyPr>
              <a:lstStyle/>
              <a:p>
                <a:pPr algn="l">
                  <a:spcBef>
                    <a:spcPct val="50000"/>
                  </a:spcBef>
                </a:pPr>
                <a:r>
                  <a:rPr lang="bg-BG" sz="1800"/>
                  <a:t>D</a:t>
                </a:r>
                <a:endParaRPr lang="en-US" dirty="0"/>
              </a:p>
            </p:txBody>
          </p:sp>
          <p:sp>
            <p:nvSpPr>
              <p:cNvPr id="57393" name="Text Box 166"/>
              <p:cNvSpPr txBox="1">
                <a:spLocks noChangeArrowheads="1"/>
              </p:cNvSpPr>
              <p:nvPr/>
            </p:nvSpPr>
            <p:spPr bwMode="auto">
              <a:xfrm>
                <a:off x="3144" y="1049"/>
                <a:ext cx="240" cy="231"/>
              </a:xfrm>
              <a:prstGeom prst="rect">
                <a:avLst/>
              </a:prstGeom>
              <a:noFill/>
              <a:ln w="9525">
                <a:noFill/>
                <a:miter lim="800000"/>
                <a:headEnd/>
                <a:tailEnd/>
              </a:ln>
            </p:spPr>
            <p:txBody>
              <a:bodyPr>
                <a:spAutoFit/>
              </a:bodyPr>
              <a:lstStyle/>
              <a:p>
                <a:pPr algn="l">
                  <a:spcBef>
                    <a:spcPct val="50000"/>
                  </a:spcBef>
                </a:pPr>
                <a:r>
                  <a:rPr lang="bg-BG" sz="1800"/>
                  <a:t>A</a:t>
                </a:r>
                <a:endParaRPr lang="en-US" dirty="0"/>
              </a:p>
            </p:txBody>
          </p:sp>
          <p:sp>
            <p:nvSpPr>
              <p:cNvPr id="57394" name="Oval 167"/>
              <p:cNvSpPr>
                <a:spLocks noChangeArrowheads="1"/>
              </p:cNvSpPr>
              <p:nvPr/>
            </p:nvSpPr>
            <p:spPr bwMode="auto">
              <a:xfrm>
                <a:off x="2760" y="1145"/>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7395" name="Oval 168"/>
              <p:cNvSpPr>
                <a:spLocks noChangeArrowheads="1"/>
              </p:cNvSpPr>
              <p:nvPr/>
            </p:nvSpPr>
            <p:spPr bwMode="auto">
              <a:xfrm>
                <a:off x="2760" y="148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7396" name="Line 169"/>
              <p:cNvSpPr>
                <a:spLocks noChangeShapeType="1"/>
              </p:cNvSpPr>
              <p:nvPr/>
            </p:nvSpPr>
            <p:spPr bwMode="auto">
              <a:xfrm>
                <a:off x="2784" y="1152"/>
                <a:ext cx="0" cy="384"/>
              </a:xfrm>
              <a:prstGeom prst="line">
                <a:avLst/>
              </a:prstGeom>
              <a:noFill/>
              <a:ln w="28575">
                <a:solidFill>
                  <a:schemeClr val="accent2"/>
                </a:solidFill>
                <a:round/>
                <a:headEnd/>
                <a:tailEnd/>
              </a:ln>
            </p:spPr>
            <p:txBody>
              <a:bodyPr wrap="none" anchor="ctr"/>
              <a:lstStyle/>
              <a:p>
                <a:endParaRPr lang="bg-BG"/>
              </a:p>
            </p:txBody>
          </p:sp>
        </p:grpSp>
        <p:grpSp>
          <p:nvGrpSpPr>
            <p:cNvPr id="57376" name="Group 170"/>
            <p:cNvGrpSpPr>
              <a:grpSpLocks/>
            </p:cNvGrpSpPr>
            <p:nvPr/>
          </p:nvGrpSpPr>
          <p:grpSpPr bwMode="auto">
            <a:xfrm>
              <a:off x="2992" y="1048"/>
              <a:ext cx="944" cy="767"/>
              <a:chOff x="3360" y="1032"/>
              <a:chExt cx="944" cy="767"/>
            </a:xfrm>
          </p:grpSpPr>
          <p:grpSp>
            <p:nvGrpSpPr>
              <p:cNvPr id="57377" name="Group 171"/>
              <p:cNvGrpSpPr>
                <a:grpSpLocks/>
              </p:cNvGrpSpPr>
              <p:nvPr/>
            </p:nvGrpSpPr>
            <p:grpSpPr bwMode="auto">
              <a:xfrm>
                <a:off x="3360" y="1152"/>
                <a:ext cx="720" cy="528"/>
                <a:chOff x="432" y="2352"/>
                <a:chExt cx="720" cy="528"/>
              </a:xfrm>
            </p:grpSpPr>
            <p:sp>
              <p:nvSpPr>
                <p:cNvPr id="57385" name="Line 172"/>
                <p:cNvSpPr>
                  <a:spLocks noChangeShapeType="1"/>
                </p:cNvSpPr>
                <p:nvPr/>
              </p:nvSpPr>
              <p:spPr bwMode="auto">
                <a:xfrm>
                  <a:off x="432" y="2352"/>
                  <a:ext cx="720" cy="0"/>
                </a:xfrm>
                <a:prstGeom prst="line">
                  <a:avLst/>
                </a:prstGeom>
                <a:noFill/>
                <a:ln w="9525">
                  <a:solidFill>
                    <a:schemeClr val="tx1"/>
                  </a:solidFill>
                  <a:round/>
                  <a:headEnd/>
                  <a:tailEnd/>
                </a:ln>
              </p:spPr>
              <p:txBody>
                <a:bodyPr wrap="none" anchor="ctr"/>
                <a:lstStyle/>
                <a:p>
                  <a:endParaRPr lang="bg-BG"/>
                </a:p>
              </p:txBody>
            </p:sp>
            <p:sp>
              <p:nvSpPr>
                <p:cNvPr id="57386" name="Line 173"/>
                <p:cNvSpPr>
                  <a:spLocks noChangeShapeType="1"/>
                </p:cNvSpPr>
                <p:nvPr/>
              </p:nvSpPr>
              <p:spPr bwMode="auto">
                <a:xfrm>
                  <a:off x="432" y="2528"/>
                  <a:ext cx="720" cy="0"/>
                </a:xfrm>
                <a:prstGeom prst="line">
                  <a:avLst/>
                </a:prstGeom>
                <a:noFill/>
                <a:ln w="9525">
                  <a:solidFill>
                    <a:schemeClr val="tx1"/>
                  </a:solidFill>
                  <a:round/>
                  <a:headEnd/>
                  <a:tailEnd/>
                </a:ln>
              </p:spPr>
              <p:txBody>
                <a:bodyPr wrap="none" anchor="ctr"/>
                <a:lstStyle/>
                <a:p>
                  <a:endParaRPr lang="bg-BG"/>
                </a:p>
              </p:txBody>
            </p:sp>
            <p:sp>
              <p:nvSpPr>
                <p:cNvPr id="57387" name="Line 174"/>
                <p:cNvSpPr>
                  <a:spLocks noChangeShapeType="1"/>
                </p:cNvSpPr>
                <p:nvPr/>
              </p:nvSpPr>
              <p:spPr bwMode="auto">
                <a:xfrm>
                  <a:off x="432" y="2696"/>
                  <a:ext cx="720" cy="0"/>
                </a:xfrm>
                <a:prstGeom prst="line">
                  <a:avLst/>
                </a:prstGeom>
                <a:noFill/>
                <a:ln w="9525">
                  <a:solidFill>
                    <a:schemeClr val="tx1"/>
                  </a:solidFill>
                  <a:round/>
                  <a:headEnd/>
                  <a:tailEnd/>
                </a:ln>
              </p:spPr>
              <p:txBody>
                <a:bodyPr wrap="none" anchor="ctr"/>
                <a:lstStyle/>
                <a:p>
                  <a:endParaRPr lang="bg-BG"/>
                </a:p>
              </p:txBody>
            </p:sp>
            <p:sp>
              <p:nvSpPr>
                <p:cNvPr id="57388" name="Line 175"/>
                <p:cNvSpPr>
                  <a:spLocks noChangeShapeType="1"/>
                </p:cNvSpPr>
                <p:nvPr/>
              </p:nvSpPr>
              <p:spPr bwMode="auto">
                <a:xfrm>
                  <a:off x="432" y="2880"/>
                  <a:ext cx="720" cy="0"/>
                </a:xfrm>
                <a:prstGeom prst="line">
                  <a:avLst/>
                </a:prstGeom>
                <a:noFill/>
                <a:ln w="9525">
                  <a:solidFill>
                    <a:schemeClr val="tx1"/>
                  </a:solidFill>
                  <a:round/>
                  <a:headEnd/>
                  <a:tailEnd/>
                </a:ln>
              </p:spPr>
              <p:txBody>
                <a:bodyPr wrap="none" anchor="ctr"/>
                <a:lstStyle/>
                <a:p>
                  <a:endParaRPr lang="bg-BG"/>
                </a:p>
              </p:txBody>
            </p:sp>
          </p:grpSp>
          <p:sp>
            <p:nvSpPr>
              <p:cNvPr id="57378" name="Text Box 176"/>
              <p:cNvSpPr txBox="1">
                <a:spLocks noChangeArrowheads="1"/>
              </p:cNvSpPr>
              <p:nvPr/>
            </p:nvSpPr>
            <p:spPr bwMode="auto">
              <a:xfrm>
                <a:off x="4056" y="1208"/>
                <a:ext cx="240" cy="231"/>
              </a:xfrm>
              <a:prstGeom prst="rect">
                <a:avLst/>
              </a:prstGeom>
              <a:noFill/>
              <a:ln w="9525">
                <a:noFill/>
                <a:miter lim="800000"/>
                <a:headEnd/>
                <a:tailEnd/>
              </a:ln>
            </p:spPr>
            <p:txBody>
              <a:bodyPr>
                <a:spAutoFit/>
              </a:bodyPr>
              <a:lstStyle/>
              <a:p>
                <a:pPr algn="l">
                  <a:spcBef>
                    <a:spcPct val="50000"/>
                  </a:spcBef>
                </a:pPr>
                <a:r>
                  <a:rPr lang="en-US" sz="1800" dirty="0"/>
                  <a:t>C</a:t>
                </a:r>
                <a:endParaRPr lang="en-US" dirty="0"/>
              </a:p>
            </p:txBody>
          </p:sp>
          <p:sp>
            <p:nvSpPr>
              <p:cNvPr id="57379" name="Text Box 177"/>
              <p:cNvSpPr txBox="1">
                <a:spLocks noChangeArrowheads="1"/>
              </p:cNvSpPr>
              <p:nvPr/>
            </p:nvSpPr>
            <p:spPr bwMode="auto">
              <a:xfrm>
                <a:off x="4064" y="1384"/>
                <a:ext cx="240" cy="231"/>
              </a:xfrm>
              <a:prstGeom prst="rect">
                <a:avLst/>
              </a:prstGeom>
              <a:noFill/>
              <a:ln w="9525">
                <a:noFill/>
                <a:miter lim="800000"/>
                <a:headEnd/>
                <a:tailEnd/>
              </a:ln>
            </p:spPr>
            <p:txBody>
              <a:bodyPr>
                <a:spAutoFit/>
              </a:bodyPr>
              <a:lstStyle/>
              <a:p>
                <a:pPr algn="l">
                  <a:spcBef>
                    <a:spcPct val="50000"/>
                  </a:spcBef>
                </a:pPr>
                <a:r>
                  <a:rPr lang="en-US" sz="1800" dirty="0"/>
                  <a:t>B</a:t>
                </a:r>
                <a:endParaRPr lang="en-US" dirty="0"/>
              </a:p>
            </p:txBody>
          </p:sp>
          <p:sp>
            <p:nvSpPr>
              <p:cNvPr id="57380" name="Text Box 178"/>
              <p:cNvSpPr txBox="1">
                <a:spLocks noChangeArrowheads="1"/>
              </p:cNvSpPr>
              <p:nvPr/>
            </p:nvSpPr>
            <p:spPr bwMode="auto">
              <a:xfrm>
                <a:off x="4064" y="1568"/>
                <a:ext cx="240" cy="231"/>
              </a:xfrm>
              <a:prstGeom prst="rect">
                <a:avLst/>
              </a:prstGeom>
              <a:noFill/>
              <a:ln w="9525">
                <a:noFill/>
                <a:miter lim="800000"/>
                <a:headEnd/>
                <a:tailEnd/>
              </a:ln>
            </p:spPr>
            <p:txBody>
              <a:bodyPr>
                <a:spAutoFit/>
              </a:bodyPr>
              <a:lstStyle/>
              <a:p>
                <a:pPr algn="l">
                  <a:spcBef>
                    <a:spcPct val="50000"/>
                  </a:spcBef>
                </a:pPr>
                <a:r>
                  <a:rPr lang="bg-BG" sz="1800"/>
                  <a:t>D</a:t>
                </a:r>
                <a:endParaRPr lang="en-US" dirty="0"/>
              </a:p>
            </p:txBody>
          </p:sp>
          <p:sp>
            <p:nvSpPr>
              <p:cNvPr id="57381" name="Text Box 179"/>
              <p:cNvSpPr txBox="1">
                <a:spLocks noChangeArrowheads="1"/>
              </p:cNvSpPr>
              <p:nvPr/>
            </p:nvSpPr>
            <p:spPr bwMode="auto">
              <a:xfrm>
                <a:off x="4056" y="1032"/>
                <a:ext cx="240" cy="231"/>
              </a:xfrm>
              <a:prstGeom prst="rect">
                <a:avLst/>
              </a:prstGeom>
              <a:noFill/>
              <a:ln w="9525">
                <a:noFill/>
                <a:miter lim="800000"/>
                <a:headEnd/>
                <a:tailEnd/>
              </a:ln>
            </p:spPr>
            <p:txBody>
              <a:bodyPr>
                <a:spAutoFit/>
              </a:bodyPr>
              <a:lstStyle/>
              <a:p>
                <a:pPr algn="l">
                  <a:spcBef>
                    <a:spcPct val="50000"/>
                  </a:spcBef>
                </a:pPr>
                <a:r>
                  <a:rPr lang="bg-BG" sz="1800"/>
                  <a:t>А</a:t>
                </a:r>
                <a:endParaRPr lang="en-US" dirty="0"/>
              </a:p>
            </p:txBody>
          </p:sp>
          <p:sp>
            <p:nvSpPr>
              <p:cNvPr id="57382" name="Oval 180"/>
              <p:cNvSpPr>
                <a:spLocks noChangeArrowheads="1"/>
              </p:cNvSpPr>
              <p:nvPr/>
            </p:nvSpPr>
            <p:spPr bwMode="auto">
              <a:xfrm>
                <a:off x="3672" y="166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7383" name="Oval 181"/>
              <p:cNvSpPr>
                <a:spLocks noChangeArrowheads="1"/>
              </p:cNvSpPr>
              <p:nvPr/>
            </p:nvSpPr>
            <p:spPr bwMode="auto">
              <a:xfrm>
                <a:off x="3672" y="1296"/>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7384" name="Line 182"/>
              <p:cNvSpPr>
                <a:spLocks noChangeShapeType="1"/>
              </p:cNvSpPr>
              <p:nvPr/>
            </p:nvSpPr>
            <p:spPr bwMode="auto">
              <a:xfrm>
                <a:off x="3696" y="1304"/>
                <a:ext cx="0" cy="384"/>
              </a:xfrm>
              <a:prstGeom prst="line">
                <a:avLst/>
              </a:prstGeom>
              <a:noFill/>
              <a:ln w="28575">
                <a:solidFill>
                  <a:schemeClr val="accent2"/>
                </a:solidFill>
                <a:round/>
                <a:headEnd/>
                <a:tailEnd/>
              </a:ln>
            </p:spPr>
            <p:txBody>
              <a:bodyPr wrap="none" anchor="ctr"/>
              <a:lstStyle/>
              <a:p>
                <a:endParaRPr lang="bg-BG"/>
              </a:p>
            </p:txBody>
          </p:sp>
        </p:grpSp>
      </p:grpSp>
      <p:sp>
        <p:nvSpPr>
          <p:cNvPr id="57364" name="Rectangle 183"/>
          <p:cNvSpPr>
            <a:spLocks noChangeArrowheads="1"/>
          </p:cNvSpPr>
          <p:nvPr/>
        </p:nvSpPr>
        <p:spPr bwMode="auto">
          <a:xfrm>
            <a:off x="1752600" y="3429000"/>
            <a:ext cx="1905000" cy="1828800"/>
          </a:xfrm>
          <a:prstGeom prst="rect">
            <a:avLst/>
          </a:prstGeom>
          <a:noFill/>
          <a:ln w="9525">
            <a:solidFill>
              <a:srgbClr val="FF0000"/>
            </a:solidFill>
            <a:prstDash val="dash"/>
            <a:miter lim="800000"/>
            <a:headEnd/>
            <a:tailEnd/>
          </a:ln>
        </p:spPr>
        <p:txBody>
          <a:bodyPr wrap="none" anchor="ctr"/>
          <a:lstStyle/>
          <a:p>
            <a:endParaRPr lang="bg-BG"/>
          </a:p>
        </p:txBody>
      </p:sp>
      <p:sp>
        <p:nvSpPr>
          <p:cNvPr id="57365" name="Rectangle 184"/>
          <p:cNvSpPr>
            <a:spLocks noChangeArrowheads="1"/>
          </p:cNvSpPr>
          <p:nvPr/>
        </p:nvSpPr>
        <p:spPr bwMode="auto">
          <a:xfrm>
            <a:off x="4495800" y="3429000"/>
            <a:ext cx="1905000" cy="1828800"/>
          </a:xfrm>
          <a:prstGeom prst="rect">
            <a:avLst/>
          </a:prstGeom>
          <a:noFill/>
          <a:ln w="9525">
            <a:solidFill>
              <a:srgbClr val="FF0000"/>
            </a:solidFill>
            <a:prstDash val="dash"/>
            <a:miter lim="800000"/>
            <a:headEnd/>
            <a:tailEnd/>
          </a:ln>
        </p:spPr>
        <p:txBody>
          <a:bodyPr wrap="none" anchor="ctr"/>
          <a:lstStyle/>
          <a:p>
            <a:endParaRPr lang="bg-BG"/>
          </a:p>
        </p:txBody>
      </p:sp>
      <p:sp>
        <p:nvSpPr>
          <p:cNvPr id="57366" name="Rectangle 185"/>
          <p:cNvSpPr>
            <a:spLocks noChangeArrowheads="1"/>
          </p:cNvSpPr>
          <p:nvPr/>
        </p:nvSpPr>
        <p:spPr bwMode="auto">
          <a:xfrm>
            <a:off x="7315200" y="3429000"/>
            <a:ext cx="685800" cy="1828800"/>
          </a:xfrm>
          <a:prstGeom prst="rect">
            <a:avLst/>
          </a:prstGeom>
          <a:noFill/>
          <a:ln w="9525">
            <a:solidFill>
              <a:srgbClr val="FF0000"/>
            </a:solidFill>
            <a:prstDash val="dash"/>
            <a:miter lim="800000"/>
            <a:headEnd/>
            <a:tailEnd/>
          </a:ln>
        </p:spPr>
        <p:txBody>
          <a:bodyPr wrap="none" anchor="ctr"/>
          <a:lstStyle/>
          <a:p>
            <a:endParaRPr lang="bg-BG"/>
          </a:p>
        </p:txBody>
      </p:sp>
      <p:sp>
        <p:nvSpPr>
          <p:cNvPr id="57367" name="Text Box 186"/>
          <p:cNvSpPr txBox="1">
            <a:spLocks noChangeArrowheads="1"/>
          </p:cNvSpPr>
          <p:nvPr/>
        </p:nvSpPr>
        <p:spPr bwMode="auto">
          <a:xfrm>
            <a:off x="3581400" y="5791200"/>
            <a:ext cx="2438400" cy="457200"/>
          </a:xfrm>
          <a:prstGeom prst="rect">
            <a:avLst/>
          </a:prstGeom>
          <a:noFill/>
          <a:ln w="9525">
            <a:noFill/>
            <a:miter lim="800000"/>
            <a:headEnd/>
            <a:tailEnd/>
          </a:ln>
        </p:spPr>
        <p:txBody>
          <a:bodyPr>
            <a:spAutoFit/>
          </a:bodyPr>
          <a:lstStyle/>
          <a:p>
            <a:pPr algn="l">
              <a:spcBef>
                <a:spcPct val="50000"/>
              </a:spcBef>
            </a:pPr>
            <a:r>
              <a:rPr lang="bg-BG"/>
              <a:t>паралелни фази</a:t>
            </a:r>
            <a:endParaRPr lang="en-US" dirty="0"/>
          </a:p>
        </p:txBody>
      </p:sp>
      <p:sp>
        <p:nvSpPr>
          <p:cNvPr id="57368" name="Line 187"/>
          <p:cNvSpPr>
            <a:spLocks noChangeShapeType="1"/>
          </p:cNvSpPr>
          <p:nvPr/>
        </p:nvSpPr>
        <p:spPr bwMode="auto">
          <a:xfrm flipV="1">
            <a:off x="5486400" y="5334000"/>
            <a:ext cx="2057400" cy="533400"/>
          </a:xfrm>
          <a:prstGeom prst="line">
            <a:avLst/>
          </a:prstGeom>
          <a:noFill/>
          <a:ln w="9525">
            <a:solidFill>
              <a:schemeClr val="tx1"/>
            </a:solidFill>
            <a:round/>
            <a:headEnd/>
            <a:tailEnd type="triangle" w="med" len="med"/>
          </a:ln>
        </p:spPr>
        <p:txBody>
          <a:bodyPr wrap="none" anchor="ctr"/>
          <a:lstStyle/>
          <a:p>
            <a:endParaRPr lang="bg-BG"/>
          </a:p>
        </p:txBody>
      </p:sp>
      <p:sp>
        <p:nvSpPr>
          <p:cNvPr id="57369" name="Line 188"/>
          <p:cNvSpPr>
            <a:spLocks noChangeShapeType="1"/>
          </p:cNvSpPr>
          <p:nvPr/>
        </p:nvSpPr>
        <p:spPr bwMode="auto">
          <a:xfrm flipH="1" flipV="1">
            <a:off x="2590800" y="5334000"/>
            <a:ext cx="1143000" cy="533400"/>
          </a:xfrm>
          <a:prstGeom prst="line">
            <a:avLst/>
          </a:prstGeom>
          <a:noFill/>
          <a:ln w="9525">
            <a:solidFill>
              <a:schemeClr val="tx1"/>
            </a:solidFill>
            <a:round/>
            <a:headEnd/>
            <a:tailEnd type="triangle" w="med" len="med"/>
          </a:ln>
        </p:spPr>
        <p:txBody>
          <a:bodyPr wrap="none" anchor="ctr"/>
          <a:lstStyle/>
          <a:p>
            <a:endParaRPr lang="bg-BG"/>
          </a:p>
        </p:txBody>
      </p:sp>
      <p:sp>
        <p:nvSpPr>
          <p:cNvPr id="57370" name="Line 189"/>
          <p:cNvSpPr>
            <a:spLocks noChangeShapeType="1"/>
          </p:cNvSpPr>
          <p:nvPr/>
        </p:nvSpPr>
        <p:spPr bwMode="auto">
          <a:xfrm flipV="1">
            <a:off x="4648200" y="5334000"/>
            <a:ext cx="685800" cy="533400"/>
          </a:xfrm>
          <a:prstGeom prst="line">
            <a:avLst/>
          </a:prstGeom>
          <a:noFill/>
          <a:ln w="9525">
            <a:solidFill>
              <a:schemeClr val="tx1"/>
            </a:solidFill>
            <a:round/>
            <a:headEnd/>
            <a:tailEnd type="triangle" w="med" len="med"/>
          </a:ln>
        </p:spPr>
        <p:txBody>
          <a:bodyPr wrap="none" anchor="ctr"/>
          <a:lstStyle/>
          <a:p>
            <a:endParaRPr lang="bg-BG"/>
          </a:p>
        </p:txBody>
      </p:sp>
      <p:sp>
        <p:nvSpPr>
          <p:cNvPr id="150" name="Slide Number Placeholder 149"/>
          <p:cNvSpPr>
            <a:spLocks noGrp="1"/>
          </p:cNvSpPr>
          <p:nvPr>
            <p:ph type="sldNum" sz="quarter" idx="12"/>
          </p:nvPr>
        </p:nvSpPr>
        <p:spPr/>
        <p:txBody>
          <a:bodyPr/>
          <a:lstStyle/>
          <a:p>
            <a:pPr>
              <a:defRPr/>
            </a:pPr>
            <a:fld id="{4687905E-C622-45E6-B28E-461164AD43E6}" type="slidenum">
              <a:rPr lang="en-US"/>
              <a:pPr>
                <a:defRPr/>
              </a:pPr>
              <a:t>81</a:t>
            </a:fld>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1115616" y="476672"/>
            <a:ext cx="8028384" cy="5867400"/>
          </a:xfrm>
        </p:spPr>
        <p:txBody>
          <a:bodyPr/>
          <a:lstStyle/>
          <a:p>
            <a:pPr eaLnBrk="1" fontAlgn="auto" hangingPunct="1">
              <a:spcAft>
                <a:spcPts val="0"/>
              </a:spcAft>
              <a:defRPr/>
            </a:pPr>
            <a:r>
              <a:rPr lang="bg-BG" sz="2400">
                <a:solidFill>
                  <a:schemeClr val="tx1"/>
                </a:solidFill>
              </a:rPr>
              <a:t>Сливаща мрежа за сортиране на 8 елемента:</a:t>
            </a:r>
            <a:br>
              <a:rPr lang="bg-BG" sz="2400">
                <a:solidFill>
                  <a:schemeClr val="tx1"/>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endParaRPr lang="en-US" sz="2400" dirty="0">
              <a:solidFill>
                <a:schemeClr val="tx2">
                  <a:satMod val="130000"/>
                </a:schemeClr>
              </a:solidFill>
            </a:endParaRPr>
          </a:p>
        </p:txBody>
      </p:sp>
      <p:grpSp>
        <p:nvGrpSpPr>
          <p:cNvPr id="58371" name="Group 197"/>
          <p:cNvGrpSpPr>
            <a:grpSpLocks/>
          </p:cNvGrpSpPr>
          <p:nvPr/>
        </p:nvGrpSpPr>
        <p:grpSpPr bwMode="auto">
          <a:xfrm>
            <a:off x="1043484" y="2852936"/>
            <a:ext cx="8011616" cy="2473424"/>
            <a:chOff x="192" y="1872"/>
            <a:chExt cx="5442" cy="1632"/>
          </a:xfrm>
        </p:grpSpPr>
        <p:sp>
          <p:nvSpPr>
            <p:cNvPr id="58373" name="Rectangle 196"/>
            <p:cNvSpPr>
              <a:spLocks noChangeArrowheads="1"/>
            </p:cNvSpPr>
            <p:nvPr/>
          </p:nvSpPr>
          <p:spPr bwMode="auto">
            <a:xfrm>
              <a:off x="3648" y="1872"/>
              <a:ext cx="336" cy="1632"/>
            </a:xfrm>
            <a:prstGeom prst="rect">
              <a:avLst/>
            </a:prstGeom>
            <a:solidFill>
              <a:srgbClr val="FFFFFF"/>
            </a:solidFill>
            <a:ln w="9525">
              <a:solidFill>
                <a:srgbClr val="FF0000"/>
              </a:solidFill>
              <a:prstDash val="dash"/>
              <a:miter lim="800000"/>
              <a:headEnd/>
              <a:tailEnd/>
            </a:ln>
          </p:spPr>
          <p:txBody>
            <a:bodyPr wrap="none" anchor="ctr"/>
            <a:lstStyle/>
            <a:p>
              <a:endParaRPr lang="bg-BG"/>
            </a:p>
          </p:txBody>
        </p:sp>
        <p:sp>
          <p:nvSpPr>
            <p:cNvPr id="58374" name="Rectangle 127"/>
            <p:cNvSpPr>
              <a:spLocks noChangeArrowheads="1"/>
            </p:cNvSpPr>
            <p:nvPr/>
          </p:nvSpPr>
          <p:spPr bwMode="auto">
            <a:xfrm>
              <a:off x="5259" y="1872"/>
              <a:ext cx="336" cy="1632"/>
            </a:xfrm>
            <a:prstGeom prst="rect">
              <a:avLst/>
            </a:prstGeom>
            <a:solidFill>
              <a:srgbClr val="FFFFFF"/>
            </a:solidFill>
            <a:ln w="9525">
              <a:solidFill>
                <a:srgbClr val="FF0000"/>
              </a:solidFill>
              <a:prstDash val="dash"/>
              <a:miter lim="800000"/>
              <a:headEnd/>
              <a:tailEnd/>
            </a:ln>
          </p:spPr>
          <p:txBody>
            <a:bodyPr wrap="none" anchor="ctr"/>
            <a:lstStyle/>
            <a:p>
              <a:endParaRPr lang="bg-BG"/>
            </a:p>
          </p:txBody>
        </p:sp>
        <p:sp>
          <p:nvSpPr>
            <p:cNvPr id="58375" name="Rectangle 126"/>
            <p:cNvSpPr>
              <a:spLocks noChangeArrowheads="1"/>
            </p:cNvSpPr>
            <p:nvPr/>
          </p:nvSpPr>
          <p:spPr bwMode="auto">
            <a:xfrm>
              <a:off x="4752" y="1872"/>
              <a:ext cx="432" cy="1632"/>
            </a:xfrm>
            <a:prstGeom prst="rect">
              <a:avLst/>
            </a:prstGeom>
            <a:solidFill>
              <a:srgbClr val="FFFFFF"/>
            </a:solidFill>
            <a:ln w="9525">
              <a:solidFill>
                <a:srgbClr val="FF0000"/>
              </a:solidFill>
              <a:prstDash val="dash"/>
              <a:miter lim="800000"/>
              <a:headEnd/>
              <a:tailEnd/>
            </a:ln>
          </p:spPr>
          <p:txBody>
            <a:bodyPr wrap="none" anchor="ctr"/>
            <a:lstStyle/>
            <a:p>
              <a:endParaRPr lang="bg-BG"/>
            </a:p>
          </p:txBody>
        </p:sp>
        <p:sp>
          <p:nvSpPr>
            <p:cNvPr id="58376" name="Rectangle 125"/>
            <p:cNvSpPr>
              <a:spLocks noChangeArrowheads="1"/>
            </p:cNvSpPr>
            <p:nvPr/>
          </p:nvSpPr>
          <p:spPr bwMode="auto">
            <a:xfrm>
              <a:off x="4176" y="1872"/>
              <a:ext cx="498" cy="1632"/>
            </a:xfrm>
            <a:prstGeom prst="rect">
              <a:avLst/>
            </a:prstGeom>
            <a:solidFill>
              <a:srgbClr val="FFFFFF"/>
            </a:solidFill>
            <a:ln w="9525">
              <a:solidFill>
                <a:srgbClr val="FF0000"/>
              </a:solidFill>
              <a:prstDash val="dash"/>
              <a:miter lim="800000"/>
              <a:headEnd/>
              <a:tailEnd/>
            </a:ln>
          </p:spPr>
          <p:txBody>
            <a:bodyPr wrap="none" anchor="ctr"/>
            <a:lstStyle/>
            <a:p>
              <a:endParaRPr lang="bg-BG"/>
            </a:p>
          </p:txBody>
        </p:sp>
        <p:grpSp>
          <p:nvGrpSpPr>
            <p:cNvPr id="58377" name="Group 12"/>
            <p:cNvGrpSpPr>
              <a:grpSpLocks/>
            </p:cNvGrpSpPr>
            <p:nvPr/>
          </p:nvGrpSpPr>
          <p:grpSpPr bwMode="auto">
            <a:xfrm>
              <a:off x="624" y="2037"/>
              <a:ext cx="912" cy="1344"/>
              <a:chOff x="864" y="1392"/>
              <a:chExt cx="912" cy="1344"/>
            </a:xfrm>
          </p:grpSpPr>
          <p:sp>
            <p:nvSpPr>
              <p:cNvPr id="58517" name="Line 13"/>
              <p:cNvSpPr>
                <a:spLocks noChangeShapeType="1"/>
              </p:cNvSpPr>
              <p:nvPr/>
            </p:nvSpPr>
            <p:spPr bwMode="auto">
              <a:xfrm>
                <a:off x="864" y="1392"/>
                <a:ext cx="912" cy="0"/>
              </a:xfrm>
              <a:prstGeom prst="line">
                <a:avLst/>
              </a:prstGeom>
              <a:noFill/>
              <a:ln w="9525">
                <a:solidFill>
                  <a:schemeClr val="tx1"/>
                </a:solidFill>
                <a:round/>
                <a:headEnd/>
                <a:tailEnd/>
              </a:ln>
            </p:spPr>
            <p:txBody>
              <a:bodyPr wrap="none" anchor="ctr"/>
              <a:lstStyle/>
              <a:p>
                <a:endParaRPr lang="bg-BG"/>
              </a:p>
            </p:txBody>
          </p:sp>
          <p:sp>
            <p:nvSpPr>
              <p:cNvPr id="58518" name="Line 14"/>
              <p:cNvSpPr>
                <a:spLocks noChangeShapeType="1"/>
              </p:cNvSpPr>
              <p:nvPr/>
            </p:nvSpPr>
            <p:spPr bwMode="auto">
              <a:xfrm>
                <a:off x="864" y="1584"/>
                <a:ext cx="912" cy="0"/>
              </a:xfrm>
              <a:prstGeom prst="line">
                <a:avLst/>
              </a:prstGeom>
              <a:noFill/>
              <a:ln w="9525">
                <a:solidFill>
                  <a:schemeClr val="tx1"/>
                </a:solidFill>
                <a:prstDash val="dash"/>
                <a:round/>
                <a:headEnd/>
                <a:tailEnd/>
              </a:ln>
            </p:spPr>
            <p:txBody>
              <a:bodyPr wrap="none" anchor="ctr"/>
              <a:lstStyle/>
              <a:p>
                <a:endParaRPr lang="bg-BG"/>
              </a:p>
            </p:txBody>
          </p:sp>
          <p:sp>
            <p:nvSpPr>
              <p:cNvPr id="58519" name="Line 15"/>
              <p:cNvSpPr>
                <a:spLocks noChangeShapeType="1"/>
              </p:cNvSpPr>
              <p:nvPr/>
            </p:nvSpPr>
            <p:spPr bwMode="auto">
              <a:xfrm>
                <a:off x="864" y="1776"/>
                <a:ext cx="912" cy="0"/>
              </a:xfrm>
              <a:prstGeom prst="line">
                <a:avLst/>
              </a:prstGeom>
              <a:noFill/>
              <a:ln w="9525">
                <a:solidFill>
                  <a:schemeClr val="tx1"/>
                </a:solidFill>
                <a:round/>
                <a:headEnd/>
                <a:tailEnd/>
              </a:ln>
            </p:spPr>
            <p:txBody>
              <a:bodyPr wrap="none" anchor="ctr"/>
              <a:lstStyle/>
              <a:p>
                <a:endParaRPr lang="bg-BG"/>
              </a:p>
            </p:txBody>
          </p:sp>
          <p:sp>
            <p:nvSpPr>
              <p:cNvPr id="58520" name="Line 16"/>
              <p:cNvSpPr>
                <a:spLocks noChangeShapeType="1"/>
              </p:cNvSpPr>
              <p:nvPr/>
            </p:nvSpPr>
            <p:spPr bwMode="auto">
              <a:xfrm>
                <a:off x="864" y="2544"/>
                <a:ext cx="912" cy="0"/>
              </a:xfrm>
              <a:prstGeom prst="line">
                <a:avLst/>
              </a:prstGeom>
              <a:noFill/>
              <a:ln w="9525">
                <a:solidFill>
                  <a:schemeClr val="tx1"/>
                </a:solidFill>
                <a:round/>
                <a:headEnd/>
                <a:tailEnd/>
              </a:ln>
            </p:spPr>
            <p:txBody>
              <a:bodyPr wrap="none" anchor="ctr"/>
              <a:lstStyle/>
              <a:p>
                <a:endParaRPr lang="bg-BG"/>
              </a:p>
            </p:txBody>
          </p:sp>
          <p:sp>
            <p:nvSpPr>
              <p:cNvPr id="58521" name="Line 17"/>
              <p:cNvSpPr>
                <a:spLocks noChangeShapeType="1"/>
              </p:cNvSpPr>
              <p:nvPr/>
            </p:nvSpPr>
            <p:spPr bwMode="auto">
              <a:xfrm>
                <a:off x="864" y="2736"/>
                <a:ext cx="912" cy="0"/>
              </a:xfrm>
              <a:prstGeom prst="line">
                <a:avLst/>
              </a:prstGeom>
              <a:noFill/>
              <a:ln w="9525">
                <a:solidFill>
                  <a:schemeClr val="tx1"/>
                </a:solidFill>
                <a:prstDash val="dash"/>
                <a:round/>
                <a:headEnd/>
                <a:tailEnd/>
              </a:ln>
            </p:spPr>
            <p:txBody>
              <a:bodyPr wrap="none" anchor="ctr"/>
              <a:lstStyle/>
              <a:p>
                <a:endParaRPr lang="bg-BG"/>
              </a:p>
            </p:txBody>
          </p:sp>
          <p:sp>
            <p:nvSpPr>
              <p:cNvPr id="58522" name="Line 18"/>
              <p:cNvSpPr>
                <a:spLocks noChangeShapeType="1"/>
              </p:cNvSpPr>
              <p:nvPr/>
            </p:nvSpPr>
            <p:spPr bwMode="auto">
              <a:xfrm>
                <a:off x="864" y="1968"/>
                <a:ext cx="912" cy="0"/>
              </a:xfrm>
              <a:prstGeom prst="line">
                <a:avLst/>
              </a:prstGeom>
              <a:noFill/>
              <a:ln w="9525">
                <a:solidFill>
                  <a:schemeClr val="tx1"/>
                </a:solidFill>
                <a:prstDash val="dash"/>
                <a:round/>
                <a:headEnd/>
                <a:tailEnd/>
              </a:ln>
            </p:spPr>
            <p:txBody>
              <a:bodyPr wrap="none" anchor="ctr"/>
              <a:lstStyle/>
              <a:p>
                <a:endParaRPr lang="bg-BG"/>
              </a:p>
            </p:txBody>
          </p:sp>
          <p:sp>
            <p:nvSpPr>
              <p:cNvPr id="58523" name="Line 19"/>
              <p:cNvSpPr>
                <a:spLocks noChangeShapeType="1"/>
              </p:cNvSpPr>
              <p:nvPr/>
            </p:nvSpPr>
            <p:spPr bwMode="auto">
              <a:xfrm>
                <a:off x="864" y="2160"/>
                <a:ext cx="912" cy="0"/>
              </a:xfrm>
              <a:prstGeom prst="line">
                <a:avLst/>
              </a:prstGeom>
              <a:noFill/>
              <a:ln w="9525">
                <a:solidFill>
                  <a:schemeClr val="tx1"/>
                </a:solidFill>
                <a:round/>
                <a:headEnd/>
                <a:tailEnd/>
              </a:ln>
            </p:spPr>
            <p:txBody>
              <a:bodyPr wrap="none" anchor="ctr"/>
              <a:lstStyle/>
              <a:p>
                <a:endParaRPr lang="bg-BG"/>
              </a:p>
            </p:txBody>
          </p:sp>
          <p:sp>
            <p:nvSpPr>
              <p:cNvPr id="58524" name="Line 20"/>
              <p:cNvSpPr>
                <a:spLocks noChangeShapeType="1"/>
              </p:cNvSpPr>
              <p:nvPr/>
            </p:nvSpPr>
            <p:spPr bwMode="auto">
              <a:xfrm>
                <a:off x="864" y="2352"/>
                <a:ext cx="912" cy="0"/>
              </a:xfrm>
              <a:prstGeom prst="line">
                <a:avLst/>
              </a:prstGeom>
              <a:noFill/>
              <a:ln w="9525">
                <a:solidFill>
                  <a:schemeClr val="tx1"/>
                </a:solidFill>
                <a:prstDash val="dash"/>
                <a:round/>
                <a:headEnd/>
                <a:tailEnd/>
              </a:ln>
            </p:spPr>
            <p:txBody>
              <a:bodyPr wrap="none" anchor="ctr"/>
              <a:lstStyle/>
              <a:p>
                <a:endParaRPr lang="bg-BG"/>
              </a:p>
            </p:txBody>
          </p:sp>
        </p:grpSp>
        <p:grpSp>
          <p:nvGrpSpPr>
            <p:cNvPr id="58378" name="Group 24"/>
            <p:cNvGrpSpPr>
              <a:grpSpLocks/>
            </p:cNvGrpSpPr>
            <p:nvPr/>
          </p:nvGrpSpPr>
          <p:grpSpPr bwMode="auto">
            <a:xfrm>
              <a:off x="789" y="2016"/>
              <a:ext cx="48" cy="819"/>
              <a:chOff x="1125" y="1467"/>
              <a:chExt cx="48" cy="819"/>
            </a:xfrm>
          </p:grpSpPr>
          <p:sp>
            <p:nvSpPr>
              <p:cNvPr id="58514" name="Line 21"/>
              <p:cNvSpPr>
                <a:spLocks noChangeShapeType="1"/>
              </p:cNvSpPr>
              <p:nvPr/>
            </p:nvSpPr>
            <p:spPr bwMode="auto">
              <a:xfrm>
                <a:off x="1152" y="1488"/>
                <a:ext cx="0" cy="768"/>
              </a:xfrm>
              <a:prstGeom prst="line">
                <a:avLst/>
              </a:prstGeom>
              <a:noFill/>
              <a:ln w="28575">
                <a:solidFill>
                  <a:schemeClr val="accent2"/>
                </a:solidFill>
                <a:round/>
                <a:headEnd/>
                <a:tailEnd/>
              </a:ln>
            </p:spPr>
            <p:txBody>
              <a:bodyPr wrap="none" anchor="ctr"/>
              <a:lstStyle/>
              <a:p>
                <a:endParaRPr lang="bg-BG"/>
              </a:p>
            </p:txBody>
          </p:sp>
          <p:sp>
            <p:nvSpPr>
              <p:cNvPr id="58515" name="Oval 22"/>
              <p:cNvSpPr>
                <a:spLocks noChangeArrowheads="1"/>
              </p:cNvSpPr>
              <p:nvPr/>
            </p:nvSpPr>
            <p:spPr bwMode="auto">
              <a:xfrm>
                <a:off x="1125" y="1467"/>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8516" name="Oval 23"/>
              <p:cNvSpPr>
                <a:spLocks noChangeArrowheads="1"/>
              </p:cNvSpPr>
              <p:nvPr/>
            </p:nvSpPr>
            <p:spPr bwMode="auto">
              <a:xfrm>
                <a:off x="1125" y="2238"/>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8379" name="Group 25"/>
            <p:cNvGrpSpPr>
              <a:grpSpLocks/>
            </p:cNvGrpSpPr>
            <p:nvPr/>
          </p:nvGrpSpPr>
          <p:grpSpPr bwMode="auto">
            <a:xfrm>
              <a:off x="960" y="2391"/>
              <a:ext cx="48" cy="819"/>
              <a:chOff x="1125" y="1467"/>
              <a:chExt cx="48" cy="819"/>
            </a:xfrm>
          </p:grpSpPr>
          <p:sp>
            <p:nvSpPr>
              <p:cNvPr id="58511" name="Line 26"/>
              <p:cNvSpPr>
                <a:spLocks noChangeShapeType="1"/>
              </p:cNvSpPr>
              <p:nvPr/>
            </p:nvSpPr>
            <p:spPr bwMode="auto">
              <a:xfrm>
                <a:off x="1152" y="1488"/>
                <a:ext cx="0" cy="768"/>
              </a:xfrm>
              <a:prstGeom prst="line">
                <a:avLst/>
              </a:prstGeom>
              <a:noFill/>
              <a:ln w="28575">
                <a:solidFill>
                  <a:schemeClr val="accent2"/>
                </a:solidFill>
                <a:round/>
                <a:headEnd/>
                <a:tailEnd/>
              </a:ln>
            </p:spPr>
            <p:txBody>
              <a:bodyPr wrap="none" anchor="ctr"/>
              <a:lstStyle/>
              <a:p>
                <a:endParaRPr lang="bg-BG"/>
              </a:p>
            </p:txBody>
          </p:sp>
          <p:sp>
            <p:nvSpPr>
              <p:cNvPr id="58512" name="Oval 27"/>
              <p:cNvSpPr>
                <a:spLocks noChangeArrowheads="1"/>
              </p:cNvSpPr>
              <p:nvPr/>
            </p:nvSpPr>
            <p:spPr bwMode="auto">
              <a:xfrm>
                <a:off x="1125" y="1467"/>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8513" name="Oval 28"/>
              <p:cNvSpPr>
                <a:spLocks noChangeArrowheads="1"/>
              </p:cNvSpPr>
              <p:nvPr/>
            </p:nvSpPr>
            <p:spPr bwMode="auto">
              <a:xfrm>
                <a:off x="1125" y="2238"/>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8380" name="Group 42"/>
            <p:cNvGrpSpPr>
              <a:grpSpLocks/>
            </p:cNvGrpSpPr>
            <p:nvPr/>
          </p:nvGrpSpPr>
          <p:grpSpPr bwMode="auto">
            <a:xfrm>
              <a:off x="1266" y="2397"/>
              <a:ext cx="48" cy="435"/>
              <a:chOff x="1602" y="1848"/>
              <a:chExt cx="48" cy="435"/>
            </a:xfrm>
          </p:grpSpPr>
          <p:sp>
            <p:nvSpPr>
              <p:cNvPr id="58508" name="Line 29"/>
              <p:cNvSpPr>
                <a:spLocks noChangeShapeType="1"/>
              </p:cNvSpPr>
              <p:nvPr/>
            </p:nvSpPr>
            <p:spPr bwMode="auto">
              <a:xfrm>
                <a:off x="1632" y="1872"/>
                <a:ext cx="0" cy="384"/>
              </a:xfrm>
              <a:prstGeom prst="line">
                <a:avLst/>
              </a:prstGeom>
              <a:noFill/>
              <a:ln w="28575">
                <a:solidFill>
                  <a:schemeClr val="accent2"/>
                </a:solidFill>
                <a:round/>
                <a:headEnd/>
                <a:tailEnd/>
              </a:ln>
            </p:spPr>
            <p:txBody>
              <a:bodyPr wrap="none" anchor="ctr"/>
              <a:lstStyle/>
              <a:p>
                <a:endParaRPr lang="bg-BG"/>
              </a:p>
            </p:txBody>
          </p:sp>
          <p:sp>
            <p:nvSpPr>
              <p:cNvPr id="58509" name="Oval 30"/>
              <p:cNvSpPr>
                <a:spLocks noChangeArrowheads="1"/>
              </p:cNvSpPr>
              <p:nvPr/>
            </p:nvSpPr>
            <p:spPr bwMode="auto">
              <a:xfrm>
                <a:off x="1602" y="1848"/>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510" name="Oval 31"/>
              <p:cNvSpPr>
                <a:spLocks noChangeArrowheads="1"/>
              </p:cNvSpPr>
              <p:nvPr/>
            </p:nvSpPr>
            <p:spPr bwMode="auto">
              <a:xfrm>
                <a:off x="1602" y="2235"/>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58381" name="Group 73"/>
            <p:cNvGrpSpPr>
              <a:grpSpLocks/>
            </p:cNvGrpSpPr>
            <p:nvPr/>
          </p:nvGrpSpPr>
          <p:grpSpPr bwMode="auto">
            <a:xfrm>
              <a:off x="1650" y="2034"/>
              <a:ext cx="912" cy="1365"/>
              <a:chOff x="2352" y="1488"/>
              <a:chExt cx="912" cy="1365"/>
            </a:xfrm>
          </p:grpSpPr>
          <p:sp>
            <p:nvSpPr>
              <p:cNvPr id="58488" name="Line 3"/>
              <p:cNvSpPr>
                <a:spLocks noChangeShapeType="1"/>
              </p:cNvSpPr>
              <p:nvPr/>
            </p:nvSpPr>
            <p:spPr bwMode="auto">
              <a:xfrm>
                <a:off x="2352" y="1680"/>
                <a:ext cx="912" cy="0"/>
              </a:xfrm>
              <a:prstGeom prst="line">
                <a:avLst/>
              </a:prstGeom>
              <a:noFill/>
              <a:ln w="9525">
                <a:solidFill>
                  <a:schemeClr val="tx1"/>
                </a:solidFill>
                <a:round/>
                <a:headEnd/>
                <a:tailEnd/>
              </a:ln>
            </p:spPr>
            <p:txBody>
              <a:bodyPr wrap="none" anchor="ctr"/>
              <a:lstStyle/>
              <a:p>
                <a:endParaRPr lang="bg-BG"/>
              </a:p>
            </p:txBody>
          </p:sp>
          <p:sp>
            <p:nvSpPr>
              <p:cNvPr id="58489" name="Line 4"/>
              <p:cNvSpPr>
                <a:spLocks noChangeShapeType="1"/>
              </p:cNvSpPr>
              <p:nvPr/>
            </p:nvSpPr>
            <p:spPr bwMode="auto">
              <a:xfrm>
                <a:off x="2352" y="1872"/>
                <a:ext cx="912" cy="0"/>
              </a:xfrm>
              <a:prstGeom prst="line">
                <a:avLst/>
              </a:prstGeom>
              <a:noFill/>
              <a:ln w="9525">
                <a:solidFill>
                  <a:schemeClr val="tx1"/>
                </a:solidFill>
                <a:prstDash val="dash"/>
                <a:round/>
                <a:headEnd/>
                <a:tailEnd/>
              </a:ln>
            </p:spPr>
            <p:txBody>
              <a:bodyPr wrap="none" anchor="ctr"/>
              <a:lstStyle/>
              <a:p>
                <a:endParaRPr lang="bg-BG"/>
              </a:p>
            </p:txBody>
          </p:sp>
          <p:sp>
            <p:nvSpPr>
              <p:cNvPr id="58490" name="Line 5"/>
              <p:cNvSpPr>
                <a:spLocks noChangeShapeType="1"/>
              </p:cNvSpPr>
              <p:nvPr/>
            </p:nvSpPr>
            <p:spPr bwMode="auto">
              <a:xfrm>
                <a:off x="2352" y="2064"/>
                <a:ext cx="912" cy="0"/>
              </a:xfrm>
              <a:prstGeom prst="line">
                <a:avLst/>
              </a:prstGeom>
              <a:noFill/>
              <a:ln w="9525">
                <a:solidFill>
                  <a:schemeClr val="tx1"/>
                </a:solidFill>
                <a:round/>
                <a:headEnd/>
                <a:tailEnd/>
              </a:ln>
            </p:spPr>
            <p:txBody>
              <a:bodyPr wrap="none" anchor="ctr"/>
              <a:lstStyle/>
              <a:p>
                <a:endParaRPr lang="bg-BG"/>
              </a:p>
            </p:txBody>
          </p:sp>
          <p:sp>
            <p:nvSpPr>
              <p:cNvPr id="58491" name="Line 7"/>
              <p:cNvSpPr>
                <a:spLocks noChangeShapeType="1"/>
              </p:cNvSpPr>
              <p:nvPr/>
            </p:nvSpPr>
            <p:spPr bwMode="auto">
              <a:xfrm>
                <a:off x="2352" y="1488"/>
                <a:ext cx="912" cy="0"/>
              </a:xfrm>
              <a:prstGeom prst="line">
                <a:avLst/>
              </a:prstGeom>
              <a:noFill/>
              <a:ln w="9525">
                <a:solidFill>
                  <a:schemeClr val="tx1"/>
                </a:solidFill>
                <a:prstDash val="dash"/>
                <a:round/>
                <a:headEnd/>
                <a:tailEnd/>
              </a:ln>
            </p:spPr>
            <p:txBody>
              <a:bodyPr wrap="none" anchor="ctr"/>
              <a:lstStyle/>
              <a:p>
                <a:endParaRPr lang="bg-BG"/>
              </a:p>
            </p:txBody>
          </p:sp>
          <p:sp>
            <p:nvSpPr>
              <p:cNvPr id="58492" name="Line 8"/>
              <p:cNvSpPr>
                <a:spLocks noChangeShapeType="1"/>
              </p:cNvSpPr>
              <p:nvPr/>
            </p:nvSpPr>
            <p:spPr bwMode="auto">
              <a:xfrm>
                <a:off x="2352" y="2256"/>
                <a:ext cx="912" cy="0"/>
              </a:xfrm>
              <a:prstGeom prst="line">
                <a:avLst/>
              </a:prstGeom>
              <a:noFill/>
              <a:ln w="9525">
                <a:solidFill>
                  <a:schemeClr val="tx1"/>
                </a:solidFill>
                <a:prstDash val="dash"/>
                <a:round/>
                <a:headEnd/>
                <a:tailEnd/>
              </a:ln>
            </p:spPr>
            <p:txBody>
              <a:bodyPr wrap="none" anchor="ctr"/>
              <a:lstStyle/>
              <a:p>
                <a:endParaRPr lang="bg-BG"/>
              </a:p>
            </p:txBody>
          </p:sp>
          <p:sp>
            <p:nvSpPr>
              <p:cNvPr id="58493" name="Line 9"/>
              <p:cNvSpPr>
                <a:spLocks noChangeShapeType="1"/>
              </p:cNvSpPr>
              <p:nvPr/>
            </p:nvSpPr>
            <p:spPr bwMode="auto">
              <a:xfrm>
                <a:off x="2352" y="2448"/>
                <a:ext cx="912" cy="0"/>
              </a:xfrm>
              <a:prstGeom prst="line">
                <a:avLst/>
              </a:prstGeom>
              <a:noFill/>
              <a:ln w="9525">
                <a:solidFill>
                  <a:schemeClr val="tx1"/>
                </a:solidFill>
                <a:round/>
                <a:headEnd/>
                <a:tailEnd/>
              </a:ln>
            </p:spPr>
            <p:txBody>
              <a:bodyPr wrap="none" anchor="ctr"/>
              <a:lstStyle/>
              <a:p>
                <a:endParaRPr lang="bg-BG"/>
              </a:p>
            </p:txBody>
          </p:sp>
          <p:sp>
            <p:nvSpPr>
              <p:cNvPr id="58494" name="Line 10"/>
              <p:cNvSpPr>
                <a:spLocks noChangeShapeType="1"/>
              </p:cNvSpPr>
              <p:nvPr/>
            </p:nvSpPr>
            <p:spPr bwMode="auto">
              <a:xfrm>
                <a:off x="2352" y="2640"/>
                <a:ext cx="912" cy="0"/>
              </a:xfrm>
              <a:prstGeom prst="line">
                <a:avLst/>
              </a:prstGeom>
              <a:noFill/>
              <a:ln w="9525">
                <a:solidFill>
                  <a:schemeClr val="tx1"/>
                </a:solidFill>
                <a:prstDash val="dash"/>
                <a:round/>
                <a:headEnd/>
                <a:tailEnd/>
              </a:ln>
            </p:spPr>
            <p:txBody>
              <a:bodyPr wrap="none" anchor="ctr"/>
              <a:lstStyle/>
              <a:p>
                <a:endParaRPr lang="bg-BG"/>
              </a:p>
            </p:txBody>
          </p:sp>
          <p:sp>
            <p:nvSpPr>
              <p:cNvPr id="58495" name="Line 32"/>
              <p:cNvSpPr>
                <a:spLocks noChangeShapeType="1"/>
              </p:cNvSpPr>
              <p:nvPr/>
            </p:nvSpPr>
            <p:spPr bwMode="auto">
              <a:xfrm>
                <a:off x="2352" y="2823"/>
                <a:ext cx="912" cy="0"/>
              </a:xfrm>
              <a:prstGeom prst="line">
                <a:avLst/>
              </a:prstGeom>
              <a:noFill/>
              <a:ln w="9525">
                <a:solidFill>
                  <a:schemeClr val="tx1"/>
                </a:solidFill>
                <a:round/>
                <a:headEnd/>
                <a:tailEnd/>
              </a:ln>
            </p:spPr>
            <p:txBody>
              <a:bodyPr wrap="none" anchor="ctr"/>
              <a:lstStyle/>
              <a:p>
                <a:endParaRPr lang="bg-BG"/>
              </a:p>
            </p:txBody>
          </p:sp>
          <p:grpSp>
            <p:nvGrpSpPr>
              <p:cNvPr id="58496" name="Group 33"/>
              <p:cNvGrpSpPr>
                <a:grpSpLocks/>
              </p:cNvGrpSpPr>
              <p:nvPr/>
            </p:nvGrpSpPr>
            <p:grpSpPr bwMode="auto">
              <a:xfrm>
                <a:off x="2736" y="2034"/>
                <a:ext cx="48" cy="819"/>
                <a:chOff x="1125" y="1467"/>
                <a:chExt cx="48" cy="819"/>
              </a:xfrm>
            </p:grpSpPr>
            <p:sp>
              <p:nvSpPr>
                <p:cNvPr id="58505" name="Line 34"/>
                <p:cNvSpPr>
                  <a:spLocks noChangeShapeType="1"/>
                </p:cNvSpPr>
                <p:nvPr/>
              </p:nvSpPr>
              <p:spPr bwMode="auto">
                <a:xfrm>
                  <a:off x="1152" y="1488"/>
                  <a:ext cx="0" cy="768"/>
                </a:xfrm>
                <a:prstGeom prst="line">
                  <a:avLst/>
                </a:prstGeom>
                <a:noFill/>
                <a:ln w="28575">
                  <a:solidFill>
                    <a:schemeClr val="accent2"/>
                  </a:solidFill>
                  <a:round/>
                  <a:headEnd/>
                  <a:tailEnd/>
                </a:ln>
              </p:spPr>
              <p:txBody>
                <a:bodyPr wrap="none" anchor="ctr"/>
                <a:lstStyle/>
                <a:p>
                  <a:endParaRPr lang="bg-BG"/>
                </a:p>
              </p:txBody>
            </p:sp>
            <p:sp>
              <p:nvSpPr>
                <p:cNvPr id="58506" name="Oval 35"/>
                <p:cNvSpPr>
                  <a:spLocks noChangeArrowheads="1"/>
                </p:cNvSpPr>
                <p:nvPr/>
              </p:nvSpPr>
              <p:spPr bwMode="auto">
                <a:xfrm>
                  <a:off x="1125" y="1467"/>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8507" name="Oval 36"/>
                <p:cNvSpPr>
                  <a:spLocks noChangeArrowheads="1"/>
                </p:cNvSpPr>
                <p:nvPr/>
              </p:nvSpPr>
              <p:spPr bwMode="auto">
                <a:xfrm>
                  <a:off x="1125" y="2238"/>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8497" name="Group 37"/>
              <p:cNvGrpSpPr>
                <a:grpSpLocks/>
              </p:cNvGrpSpPr>
              <p:nvPr/>
            </p:nvGrpSpPr>
            <p:grpSpPr bwMode="auto">
              <a:xfrm>
                <a:off x="2544" y="1650"/>
                <a:ext cx="48" cy="819"/>
                <a:chOff x="1125" y="1467"/>
                <a:chExt cx="48" cy="819"/>
              </a:xfrm>
            </p:grpSpPr>
            <p:sp>
              <p:nvSpPr>
                <p:cNvPr id="58502" name="Line 38"/>
                <p:cNvSpPr>
                  <a:spLocks noChangeShapeType="1"/>
                </p:cNvSpPr>
                <p:nvPr/>
              </p:nvSpPr>
              <p:spPr bwMode="auto">
                <a:xfrm>
                  <a:off x="1152" y="1488"/>
                  <a:ext cx="0" cy="768"/>
                </a:xfrm>
                <a:prstGeom prst="line">
                  <a:avLst/>
                </a:prstGeom>
                <a:noFill/>
                <a:ln w="28575">
                  <a:solidFill>
                    <a:schemeClr val="accent2"/>
                  </a:solidFill>
                  <a:round/>
                  <a:headEnd/>
                  <a:tailEnd/>
                </a:ln>
              </p:spPr>
              <p:txBody>
                <a:bodyPr wrap="none" anchor="ctr"/>
                <a:lstStyle/>
                <a:p>
                  <a:endParaRPr lang="bg-BG"/>
                </a:p>
              </p:txBody>
            </p:sp>
            <p:sp>
              <p:nvSpPr>
                <p:cNvPr id="58503" name="Oval 39"/>
                <p:cNvSpPr>
                  <a:spLocks noChangeArrowheads="1"/>
                </p:cNvSpPr>
                <p:nvPr/>
              </p:nvSpPr>
              <p:spPr bwMode="auto">
                <a:xfrm>
                  <a:off x="1125" y="1467"/>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8504" name="Oval 40"/>
                <p:cNvSpPr>
                  <a:spLocks noChangeArrowheads="1"/>
                </p:cNvSpPr>
                <p:nvPr/>
              </p:nvSpPr>
              <p:spPr bwMode="auto">
                <a:xfrm>
                  <a:off x="1125" y="2238"/>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8498" name="Group 43"/>
              <p:cNvGrpSpPr>
                <a:grpSpLocks/>
              </p:cNvGrpSpPr>
              <p:nvPr/>
            </p:nvGrpSpPr>
            <p:grpSpPr bwMode="auto">
              <a:xfrm>
                <a:off x="3036" y="2034"/>
                <a:ext cx="48" cy="435"/>
                <a:chOff x="1602" y="1848"/>
                <a:chExt cx="48" cy="435"/>
              </a:xfrm>
            </p:grpSpPr>
            <p:sp>
              <p:nvSpPr>
                <p:cNvPr id="58499" name="Line 44"/>
                <p:cNvSpPr>
                  <a:spLocks noChangeShapeType="1"/>
                </p:cNvSpPr>
                <p:nvPr/>
              </p:nvSpPr>
              <p:spPr bwMode="auto">
                <a:xfrm>
                  <a:off x="1632" y="1872"/>
                  <a:ext cx="0" cy="384"/>
                </a:xfrm>
                <a:prstGeom prst="line">
                  <a:avLst/>
                </a:prstGeom>
                <a:noFill/>
                <a:ln w="28575">
                  <a:solidFill>
                    <a:schemeClr val="accent2"/>
                  </a:solidFill>
                  <a:round/>
                  <a:headEnd/>
                  <a:tailEnd/>
                </a:ln>
              </p:spPr>
              <p:txBody>
                <a:bodyPr wrap="none" anchor="ctr"/>
                <a:lstStyle/>
                <a:p>
                  <a:endParaRPr lang="bg-BG"/>
                </a:p>
              </p:txBody>
            </p:sp>
            <p:sp>
              <p:nvSpPr>
                <p:cNvPr id="58500" name="Oval 45"/>
                <p:cNvSpPr>
                  <a:spLocks noChangeArrowheads="1"/>
                </p:cNvSpPr>
                <p:nvPr/>
              </p:nvSpPr>
              <p:spPr bwMode="auto">
                <a:xfrm>
                  <a:off x="1602" y="1848"/>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501" name="Oval 46"/>
                <p:cNvSpPr>
                  <a:spLocks noChangeArrowheads="1"/>
                </p:cNvSpPr>
                <p:nvPr/>
              </p:nvSpPr>
              <p:spPr bwMode="auto">
                <a:xfrm>
                  <a:off x="1602" y="2235"/>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grpSp>
          <p:nvGrpSpPr>
            <p:cNvPr id="58382" name="Group 74"/>
            <p:cNvGrpSpPr>
              <a:grpSpLocks/>
            </p:cNvGrpSpPr>
            <p:nvPr/>
          </p:nvGrpSpPr>
          <p:grpSpPr bwMode="auto">
            <a:xfrm>
              <a:off x="2706" y="2025"/>
              <a:ext cx="345" cy="1335"/>
              <a:chOff x="3552" y="1488"/>
              <a:chExt cx="345" cy="1335"/>
            </a:xfrm>
          </p:grpSpPr>
          <p:sp>
            <p:nvSpPr>
              <p:cNvPr id="58468" name="Line 47"/>
              <p:cNvSpPr>
                <a:spLocks noChangeShapeType="1"/>
              </p:cNvSpPr>
              <p:nvPr/>
            </p:nvSpPr>
            <p:spPr bwMode="auto">
              <a:xfrm>
                <a:off x="3552" y="1488"/>
                <a:ext cx="336" cy="0"/>
              </a:xfrm>
              <a:prstGeom prst="line">
                <a:avLst/>
              </a:prstGeom>
              <a:noFill/>
              <a:ln w="9525">
                <a:solidFill>
                  <a:srgbClr val="000000"/>
                </a:solidFill>
                <a:round/>
                <a:headEnd/>
                <a:tailEnd/>
              </a:ln>
            </p:spPr>
            <p:txBody>
              <a:bodyPr wrap="none" anchor="ctr"/>
              <a:lstStyle/>
              <a:p>
                <a:endParaRPr lang="bg-BG"/>
              </a:p>
            </p:txBody>
          </p:sp>
          <p:sp>
            <p:nvSpPr>
              <p:cNvPr id="58469" name="Line 48"/>
              <p:cNvSpPr>
                <a:spLocks noChangeShapeType="1"/>
              </p:cNvSpPr>
              <p:nvPr/>
            </p:nvSpPr>
            <p:spPr bwMode="auto">
              <a:xfrm>
                <a:off x="3552" y="1680"/>
                <a:ext cx="336" cy="0"/>
              </a:xfrm>
              <a:prstGeom prst="line">
                <a:avLst/>
              </a:prstGeom>
              <a:noFill/>
              <a:ln w="9525">
                <a:solidFill>
                  <a:srgbClr val="000000"/>
                </a:solidFill>
                <a:round/>
                <a:headEnd/>
                <a:tailEnd/>
              </a:ln>
            </p:spPr>
            <p:txBody>
              <a:bodyPr wrap="none" anchor="ctr"/>
              <a:lstStyle/>
              <a:p>
                <a:endParaRPr lang="bg-BG"/>
              </a:p>
            </p:txBody>
          </p:sp>
          <p:sp>
            <p:nvSpPr>
              <p:cNvPr id="58470" name="Line 49"/>
              <p:cNvSpPr>
                <a:spLocks noChangeShapeType="1"/>
              </p:cNvSpPr>
              <p:nvPr/>
            </p:nvSpPr>
            <p:spPr bwMode="auto">
              <a:xfrm>
                <a:off x="3552" y="1872"/>
                <a:ext cx="336" cy="0"/>
              </a:xfrm>
              <a:prstGeom prst="line">
                <a:avLst/>
              </a:prstGeom>
              <a:noFill/>
              <a:ln w="9525">
                <a:solidFill>
                  <a:srgbClr val="000000"/>
                </a:solidFill>
                <a:round/>
                <a:headEnd/>
                <a:tailEnd/>
              </a:ln>
            </p:spPr>
            <p:txBody>
              <a:bodyPr wrap="none" anchor="ctr"/>
              <a:lstStyle/>
              <a:p>
                <a:endParaRPr lang="bg-BG"/>
              </a:p>
            </p:txBody>
          </p:sp>
          <p:sp>
            <p:nvSpPr>
              <p:cNvPr id="58471" name="Line 50"/>
              <p:cNvSpPr>
                <a:spLocks noChangeShapeType="1"/>
              </p:cNvSpPr>
              <p:nvPr/>
            </p:nvSpPr>
            <p:spPr bwMode="auto">
              <a:xfrm>
                <a:off x="3552" y="2064"/>
                <a:ext cx="336" cy="0"/>
              </a:xfrm>
              <a:prstGeom prst="line">
                <a:avLst/>
              </a:prstGeom>
              <a:noFill/>
              <a:ln w="9525">
                <a:solidFill>
                  <a:srgbClr val="000000"/>
                </a:solidFill>
                <a:round/>
                <a:headEnd/>
                <a:tailEnd/>
              </a:ln>
            </p:spPr>
            <p:txBody>
              <a:bodyPr wrap="none" anchor="ctr"/>
              <a:lstStyle/>
              <a:p>
                <a:endParaRPr lang="bg-BG"/>
              </a:p>
            </p:txBody>
          </p:sp>
          <p:sp>
            <p:nvSpPr>
              <p:cNvPr id="58472" name="Line 51"/>
              <p:cNvSpPr>
                <a:spLocks noChangeShapeType="1"/>
              </p:cNvSpPr>
              <p:nvPr/>
            </p:nvSpPr>
            <p:spPr bwMode="auto">
              <a:xfrm>
                <a:off x="3552" y="2256"/>
                <a:ext cx="336" cy="0"/>
              </a:xfrm>
              <a:prstGeom prst="line">
                <a:avLst/>
              </a:prstGeom>
              <a:noFill/>
              <a:ln w="9525">
                <a:solidFill>
                  <a:srgbClr val="000000"/>
                </a:solidFill>
                <a:round/>
                <a:headEnd/>
                <a:tailEnd/>
              </a:ln>
            </p:spPr>
            <p:txBody>
              <a:bodyPr wrap="none" anchor="ctr"/>
              <a:lstStyle/>
              <a:p>
                <a:endParaRPr lang="bg-BG"/>
              </a:p>
            </p:txBody>
          </p:sp>
          <p:sp>
            <p:nvSpPr>
              <p:cNvPr id="58473" name="Line 52"/>
              <p:cNvSpPr>
                <a:spLocks noChangeShapeType="1"/>
              </p:cNvSpPr>
              <p:nvPr/>
            </p:nvSpPr>
            <p:spPr bwMode="auto">
              <a:xfrm>
                <a:off x="3552" y="2448"/>
                <a:ext cx="336" cy="0"/>
              </a:xfrm>
              <a:prstGeom prst="line">
                <a:avLst/>
              </a:prstGeom>
              <a:noFill/>
              <a:ln w="9525">
                <a:solidFill>
                  <a:srgbClr val="000000"/>
                </a:solidFill>
                <a:round/>
                <a:headEnd/>
                <a:tailEnd/>
              </a:ln>
            </p:spPr>
            <p:txBody>
              <a:bodyPr wrap="none" anchor="ctr"/>
              <a:lstStyle/>
              <a:p>
                <a:endParaRPr lang="bg-BG"/>
              </a:p>
            </p:txBody>
          </p:sp>
          <p:sp>
            <p:nvSpPr>
              <p:cNvPr id="58474" name="Line 53"/>
              <p:cNvSpPr>
                <a:spLocks noChangeShapeType="1"/>
              </p:cNvSpPr>
              <p:nvPr/>
            </p:nvSpPr>
            <p:spPr bwMode="auto">
              <a:xfrm>
                <a:off x="3552" y="2640"/>
                <a:ext cx="336" cy="0"/>
              </a:xfrm>
              <a:prstGeom prst="line">
                <a:avLst/>
              </a:prstGeom>
              <a:noFill/>
              <a:ln w="9525">
                <a:solidFill>
                  <a:srgbClr val="000000"/>
                </a:solidFill>
                <a:round/>
                <a:headEnd/>
                <a:tailEnd/>
              </a:ln>
            </p:spPr>
            <p:txBody>
              <a:bodyPr wrap="none" anchor="ctr"/>
              <a:lstStyle/>
              <a:p>
                <a:endParaRPr lang="bg-BG"/>
              </a:p>
            </p:txBody>
          </p:sp>
          <p:sp>
            <p:nvSpPr>
              <p:cNvPr id="58475" name="Line 54"/>
              <p:cNvSpPr>
                <a:spLocks noChangeShapeType="1"/>
              </p:cNvSpPr>
              <p:nvPr/>
            </p:nvSpPr>
            <p:spPr bwMode="auto">
              <a:xfrm>
                <a:off x="3561" y="2823"/>
                <a:ext cx="336" cy="0"/>
              </a:xfrm>
              <a:prstGeom prst="line">
                <a:avLst/>
              </a:prstGeom>
              <a:noFill/>
              <a:ln w="9525">
                <a:solidFill>
                  <a:srgbClr val="000000"/>
                </a:solidFill>
                <a:round/>
                <a:headEnd/>
                <a:tailEnd/>
              </a:ln>
            </p:spPr>
            <p:txBody>
              <a:bodyPr wrap="none" anchor="ctr"/>
              <a:lstStyle/>
              <a:p>
                <a:endParaRPr lang="bg-BG"/>
              </a:p>
            </p:txBody>
          </p:sp>
          <p:grpSp>
            <p:nvGrpSpPr>
              <p:cNvPr id="58476" name="Group 59"/>
              <p:cNvGrpSpPr>
                <a:grpSpLocks/>
              </p:cNvGrpSpPr>
              <p:nvPr/>
            </p:nvGrpSpPr>
            <p:grpSpPr bwMode="auto">
              <a:xfrm>
                <a:off x="3696" y="1662"/>
                <a:ext cx="54" cy="228"/>
                <a:chOff x="3669" y="1662"/>
                <a:chExt cx="54" cy="228"/>
              </a:xfrm>
            </p:grpSpPr>
            <p:sp>
              <p:nvSpPr>
                <p:cNvPr id="58485" name="Line 55"/>
                <p:cNvSpPr>
                  <a:spLocks noChangeShapeType="1"/>
                </p:cNvSpPr>
                <p:nvPr/>
              </p:nvSpPr>
              <p:spPr bwMode="auto">
                <a:xfrm>
                  <a:off x="3696" y="1680"/>
                  <a:ext cx="0" cy="192"/>
                </a:xfrm>
                <a:prstGeom prst="line">
                  <a:avLst/>
                </a:prstGeom>
                <a:noFill/>
                <a:ln w="28575">
                  <a:solidFill>
                    <a:schemeClr val="accent2"/>
                  </a:solidFill>
                  <a:round/>
                  <a:headEnd/>
                  <a:tailEnd/>
                </a:ln>
              </p:spPr>
              <p:txBody>
                <a:bodyPr wrap="none" anchor="ctr"/>
                <a:lstStyle/>
                <a:p>
                  <a:endParaRPr lang="bg-BG"/>
                </a:p>
              </p:txBody>
            </p:sp>
            <p:sp>
              <p:nvSpPr>
                <p:cNvPr id="58486" name="Oval 56"/>
                <p:cNvSpPr>
                  <a:spLocks noChangeArrowheads="1"/>
                </p:cNvSpPr>
                <p:nvPr/>
              </p:nvSpPr>
              <p:spPr bwMode="auto">
                <a:xfrm>
                  <a:off x="3675" y="1662"/>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87" name="Oval 58"/>
                <p:cNvSpPr>
                  <a:spLocks noChangeArrowheads="1"/>
                </p:cNvSpPr>
                <p:nvPr/>
              </p:nvSpPr>
              <p:spPr bwMode="auto">
                <a:xfrm>
                  <a:off x="3669" y="1842"/>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58477" name="Group 60"/>
              <p:cNvGrpSpPr>
                <a:grpSpLocks/>
              </p:cNvGrpSpPr>
              <p:nvPr/>
            </p:nvGrpSpPr>
            <p:grpSpPr bwMode="auto">
              <a:xfrm>
                <a:off x="3696" y="2064"/>
                <a:ext cx="54" cy="228"/>
                <a:chOff x="3669" y="1662"/>
                <a:chExt cx="54" cy="228"/>
              </a:xfrm>
            </p:grpSpPr>
            <p:sp>
              <p:nvSpPr>
                <p:cNvPr id="58482" name="Line 61"/>
                <p:cNvSpPr>
                  <a:spLocks noChangeShapeType="1"/>
                </p:cNvSpPr>
                <p:nvPr/>
              </p:nvSpPr>
              <p:spPr bwMode="auto">
                <a:xfrm>
                  <a:off x="3696" y="1680"/>
                  <a:ext cx="0" cy="192"/>
                </a:xfrm>
                <a:prstGeom prst="line">
                  <a:avLst/>
                </a:prstGeom>
                <a:noFill/>
                <a:ln w="28575">
                  <a:solidFill>
                    <a:schemeClr val="accent2"/>
                  </a:solidFill>
                  <a:round/>
                  <a:headEnd/>
                  <a:tailEnd/>
                </a:ln>
              </p:spPr>
              <p:txBody>
                <a:bodyPr wrap="none" anchor="ctr"/>
                <a:lstStyle/>
                <a:p>
                  <a:endParaRPr lang="bg-BG"/>
                </a:p>
              </p:txBody>
            </p:sp>
            <p:sp>
              <p:nvSpPr>
                <p:cNvPr id="58483" name="Oval 62"/>
                <p:cNvSpPr>
                  <a:spLocks noChangeArrowheads="1"/>
                </p:cNvSpPr>
                <p:nvPr/>
              </p:nvSpPr>
              <p:spPr bwMode="auto">
                <a:xfrm>
                  <a:off x="3675" y="1662"/>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84" name="Oval 63"/>
                <p:cNvSpPr>
                  <a:spLocks noChangeArrowheads="1"/>
                </p:cNvSpPr>
                <p:nvPr/>
              </p:nvSpPr>
              <p:spPr bwMode="auto">
                <a:xfrm>
                  <a:off x="3669" y="1842"/>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58478" name="Group 64"/>
              <p:cNvGrpSpPr>
                <a:grpSpLocks/>
              </p:cNvGrpSpPr>
              <p:nvPr/>
            </p:nvGrpSpPr>
            <p:grpSpPr bwMode="auto">
              <a:xfrm>
                <a:off x="3696" y="2421"/>
                <a:ext cx="54" cy="228"/>
                <a:chOff x="3669" y="1662"/>
                <a:chExt cx="54" cy="228"/>
              </a:xfrm>
            </p:grpSpPr>
            <p:sp>
              <p:nvSpPr>
                <p:cNvPr id="58479" name="Line 65"/>
                <p:cNvSpPr>
                  <a:spLocks noChangeShapeType="1"/>
                </p:cNvSpPr>
                <p:nvPr/>
              </p:nvSpPr>
              <p:spPr bwMode="auto">
                <a:xfrm>
                  <a:off x="3696" y="1680"/>
                  <a:ext cx="0" cy="192"/>
                </a:xfrm>
                <a:prstGeom prst="line">
                  <a:avLst/>
                </a:prstGeom>
                <a:noFill/>
                <a:ln w="28575">
                  <a:solidFill>
                    <a:schemeClr val="accent2"/>
                  </a:solidFill>
                  <a:round/>
                  <a:headEnd/>
                  <a:tailEnd/>
                </a:ln>
              </p:spPr>
              <p:txBody>
                <a:bodyPr wrap="none" anchor="ctr"/>
                <a:lstStyle/>
                <a:p>
                  <a:endParaRPr lang="bg-BG"/>
                </a:p>
              </p:txBody>
            </p:sp>
            <p:sp>
              <p:nvSpPr>
                <p:cNvPr id="58480" name="Oval 66"/>
                <p:cNvSpPr>
                  <a:spLocks noChangeArrowheads="1"/>
                </p:cNvSpPr>
                <p:nvPr/>
              </p:nvSpPr>
              <p:spPr bwMode="auto">
                <a:xfrm>
                  <a:off x="3675" y="1662"/>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81" name="Oval 67"/>
                <p:cNvSpPr>
                  <a:spLocks noChangeArrowheads="1"/>
                </p:cNvSpPr>
                <p:nvPr/>
              </p:nvSpPr>
              <p:spPr bwMode="auto">
                <a:xfrm>
                  <a:off x="3669" y="1842"/>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sp>
          <p:nvSpPr>
            <p:cNvPr id="58383" name="Line 75"/>
            <p:cNvSpPr>
              <a:spLocks noChangeShapeType="1"/>
            </p:cNvSpPr>
            <p:nvPr/>
          </p:nvSpPr>
          <p:spPr bwMode="auto">
            <a:xfrm>
              <a:off x="3618" y="2016"/>
              <a:ext cx="2016" cy="0"/>
            </a:xfrm>
            <a:prstGeom prst="line">
              <a:avLst/>
            </a:prstGeom>
            <a:noFill/>
            <a:ln w="9525">
              <a:solidFill>
                <a:srgbClr val="000000"/>
              </a:solidFill>
              <a:round/>
              <a:headEnd/>
              <a:tailEnd/>
            </a:ln>
          </p:spPr>
          <p:txBody>
            <a:bodyPr wrap="none" anchor="ctr"/>
            <a:lstStyle/>
            <a:p>
              <a:endParaRPr lang="bg-BG"/>
            </a:p>
          </p:txBody>
        </p:sp>
        <p:sp>
          <p:nvSpPr>
            <p:cNvPr id="58384" name="Line 77"/>
            <p:cNvSpPr>
              <a:spLocks noChangeShapeType="1"/>
            </p:cNvSpPr>
            <p:nvPr/>
          </p:nvSpPr>
          <p:spPr bwMode="auto">
            <a:xfrm>
              <a:off x="3618" y="2208"/>
              <a:ext cx="2016" cy="0"/>
            </a:xfrm>
            <a:prstGeom prst="line">
              <a:avLst/>
            </a:prstGeom>
            <a:noFill/>
            <a:ln w="9525">
              <a:solidFill>
                <a:srgbClr val="000000"/>
              </a:solidFill>
              <a:round/>
              <a:headEnd/>
              <a:tailEnd/>
            </a:ln>
          </p:spPr>
          <p:txBody>
            <a:bodyPr wrap="none" anchor="ctr"/>
            <a:lstStyle/>
            <a:p>
              <a:endParaRPr lang="bg-BG"/>
            </a:p>
          </p:txBody>
        </p:sp>
        <p:sp>
          <p:nvSpPr>
            <p:cNvPr id="58385" name="Line 78"/>
            <p:cNvSpPr>
              <a:spLocks noChangeShapeType="1"/>
            </p:cNvSpPr>
            <p:nvPr/>
          </p:nvSpPr>
          <p:spPr bwMode="auto">
            <a:xfrm>
              <a:off x="3618" y="2400"/>
              <a:ext cx="2016" cy="0"/>
            </a:xfrm>
            <a:prstGeom prst="line">
              <a:avLst/>
            </a:prstGeom>
            <a:noFill/>
            <a:ln w="9525">
              <a:solidFill>
                <a:srgbClr val="000000"/>
              </a:solidFill>
              <a:round/>
              <a:headEnd/>
              <a:tailEnd/>
            </a:ln>
          </p:spPr>
          <p:txBody>
            <a:bodyPr wrap="none" anchor="ctr"/>
            <a:lstStyle/>
            <a:p>
              <a:endParaRPr lang="bg-BG"/>
            </a:p>
          </p:txBody>
        </p:sp>
        <p:sp>
          <p:nvSpPr>
            <p:cNvPr id="58386" name="Line 79"/>
            <p:cNvSpPr>
              <a:spLocks noChangeShapeType="1"/>
            </p:cNvSpPr>
            <p:nvPr/>
          </p:nvSpPr>
          <p:spPr bwMode="auto">
            <a:xfrm>
              <a:off x="3618" y="2592"/>
              <a:ext cx="2016" cy="0"/>
            </a:xfrm>
            <a:prstGeom prst="line">
              <a:avLst/>
            </a:prstGeom>
            <a:noFill/>
            <a:ln w="9525">
              <a:solidFill>
                <a:srgbClr val="000000"/>
              </a:solidFill>
              <a:round/>
              <a:headEnd/>
              <a:tailEnd/>
            </a:ln>
          </p:spPr>
          <p:txBody>
            <a:bodyPr wrap="none" anchor="ctr"/>
            <a:lstStyle/>
            <a:p>
              <a:endParaRPr lang="bg-BG"/>
            </a:p>
          </p:txBody>
        </p:sp>
        <p:sp>
          <p:nvSpPr>
            <p:cNvPr id="58387" name="Line 80"/>
            <p:cNvSpPr>
              <a:spLocks noChangeShapeType="1"/>
            </p:cNvSpPr>
            <p:nvPr/>
          </p:nvSpPr>
          <p:spPr bwMode="auto">
            <a:xfrm>
              <a:off x="3618" y="2784"/>
              <a:ext cx="2016" cy="0"/>
            </a:xfrm>
            <a:prstGeom prst="line">
              <a:avLst/>
            </a:prstGeom>
            <a:noFill/>
            <a:ln w="9525">
              <a:solidFill>
                <a:srgbClr val="000000"/>
              </a:solidFill>
              <a:round/>
              <a:headEnd/>
              <a:tailEnd/>
            </a:ln>
          </p:spPr>
          <p:txBody>
            <a:bodyPr wrap="none" anchor="ctr"/>
            <a:lstStyle/>
            <a:p>
              <a:endParaRPr lang="bg-BG"/>
            </a:p>
          </p:txBody>
        </p:sp>
        <p:sp>
          <p:nvSpPr>
            <p:cNvPr id="58388" name="Line 81"/>
            <p:cNvSpPr>
              <a:spLocks noChangeShapeType="1"/>
            </p:cNvSpPr>
            <p:nvPr/>
          </p:nvSpPr>
          <p:spPr bwMode="auto">
            <a:xfrm>
              <a:off x="3618" y="2976"/>
              <a:ext cx="2016" cy="0"/>
            </a:xfrm>
            <a:prstGeom prst="line">
              <a:avLst/>
            </a:prstGeom>
            <a:noFill/>
            <a:ln w="9525">
              <a:solidFill>
                <a:srgbClr val="000000"/>
              </a:solidFill>
              <a:round/>
              <a:headEnd/>
              <a:tailEnd/>
            </a:ln>
          </p:spPr>
          <p:txBody>
            <a:bodyPr wrap="none" anchor="ctr"/>
            <a:lstStyle/>
            <a:p>
              <a:endParaRPr lang="bg-BG"/>
            </a:p>
          </p:txBody>
        </p:sp>
        <p:sp>
          <p:nvSpPr>
            <p:cNvPr id="58389" name="Line 82"/>
            <p:cNvSpPr>
              <a:spLocks noChangeShapeType="1"/>
            </p:cNvSpPr>
            <p:nvPr/>
          </p:nvSpPr>
          <p:spPr bwMode="auto">
            <a:xfrm>
              <a:off x="3618" y="3168"/>
              <a:ext cx="2016" cy="0"/>
            </a:xfrm>
            <a:prstGeom prst="line">
              <a:avLst/>
            </a:prstGeom>
            <a:noFill/>
            <a:ln w="9525">
              <a:solidFill>
                <a:srgbClr val="000000"/>
              </a:solidFill>
              <a:round/>
              <a:headEnd/>
              <a:tailEnd/>
            </a:ln>
          </p:spPr>
          <p:txBody>
            <a:bodyPr wrap="none" anchor="ctr"/>
            <a:lstStyle/>
            <a:p>
              <a:endParaRPr lang="bg-BG"/>
            </a:p>
          </p:txBody>
        </p:sp>
        <p:sp>
          <p:nvSpPr>
            <p:cNvPr id="58390" name="Line 83"/>
            <p:cNvSpPr>
              <a:spLocks noChangeShapeType="1"/>
            </p:cNvSpPr>
            <p:nvPr/>
          </p:nvSpPr>
          <p:spPr bwMode="auto">
            <a:xfrm>
              <a:off x="3618" y="3360"/>
              <a:ext cx="2016" cy="0"/>
            </a:xfrm>
            <a:prstGeom prst="line">
              <a:avLst/>
            </a:prstGeom>
            <a:noFill/>
            <a:ln w="9525">
              <a:solidFill>
                <a:srgbClr val="000000"/>
              </a:solidFill>
              <a:round/>
              <a:headEnd/>
              <a:tailEnd/>
            </a:ln>
          </p:spPr>
          <p:txBody>
            <a:bodyPr wrap="none" anchor="ctr"/>
            <a:lstStyle/>
            <a:p>
              <a:endParaRPr lang="bg-BG"/>
            </a:p>
          </p:txBody>
        </p:sp>
        <p:grpSp>
          <p:nvGrpSpPr>
            <p:cNvPr id="58391" name="Group 89"/>
            <p:cNvGrpSpPr>
              <a:grpSpLocks/>
            </p:cNvGrpSpPr>
            <p:nvPr/>
          </p:nvGrpSpPr>
          <p:grpSpPr bwMode="auto">
            <a:xfrm>
              <a:off x="5403" y="2949"/>
              <a:ext cx="51" cy="228"/>
              <a:chOff x="2109" y="3216"/>
              <a:chExt cx="51" cy="228"/>
            </a:xfrm>
          </p:grpSpPr>
          <p:sp>
            <p:nvSpPr>
              <p:cNvPr id="58465" name="Line 90"/>
              <p:cNvSpPr>
                <a:spLocks noChangeShapeType="1"/>
              </p:cNvSpPr>
              <p:nvPr/>
            </p:nvSpPr>
            <p:spPr bwMode="auto">
              <a:xfrm>
                <a:off x="2139" y="3234"/>
                <a:ext cx="0" cy="192"/>
              </a:xfrm>
              <a:prstGeom prst="line">
                <a:avLst/>
              </a:prstGeom>
              <a:noFill/>
              <a:ln w="28575">
                <a:solidFill>
                  <a:schemeClr val="accent2"/>
                </a:solidFill>
                <a:round/>
                <a:headEnd/>
                <a:tailEnd/>
              </a:ln>
            </p:spPr>
            <p:txBody>
              <a:bodyPr wrap="none" anchor="ctr"/>
              <a:lstStyle/>
              <a:p>
                <a:endParaRPr lang="bg-BG"/>
              </a:p>
            </p:txBody>
          </p:sp>
          <p:sp>
            <p:nvSpPr>
              <p:cNvPr id="58466" name="Oval 91"/>
              <p:cNvSpPr>
                <a:spLocks noChangeArrowheads="1"/>
              </p:cNvSpPr>
              <p:nvPr/>
            </p:nvSpPr>
            <p:spPr bwMode="auto">
              <a:xfrm>
                <a:off x="2109" y="3216"/>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67" name="Oval 92"/>
              <p:cNvSpPr>
                <a:spLocks noChangeArrowheads="1"/>
              </p:cNvSpPr>
              <p:nvPr/>
            </p:nvSpPr>
            <p:spPr bwMode="auto">
              <a:xfrm>
                <a:off x="2112" y="3396"/>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58392" name="Group 93"/>
            <p:cNvGrpSpPr>
              <a:grpSpLocks/>
            </p:cNvGrpSpPr>
            <p:nvPr/>
          </p:nvGrpSpPr>
          <p:grpSpPr bwMode="auto">
            <a:xfrm>
              <a:off x="5403" y="2565"/>
              <a:ext cx="51" cy="228"/>
              <a:chOff x="2109" y="3216"/>
              <a:chExt cx="51" cy="228"/>
            </a:xfrm>
          </p:grpSpPr>
          <p:sp>
            <p:nvSpPr>
              <p:cNvPr id="58462" name="Line 94"/>
              <p:cNvSpPr>
                <a:spLocks noChangeShapeType="1"/>
              </p:cNvSpPr>
              <p:nvPr/>
            </p:nvSpPr>
            <p:spPr bwMode="auto">
              <a:xfrm>
                <a:off x="2139" y="3234"/>
                <a:ext cx="0" cy="192"/>
              </a:xfrm>
              <a:prstGeom prst="line">
                <a:avLst/>
              </a:prstGeom>
              <a:noFill/>
              <a:ln w="28575">
                <a:solidFill>
                  <a:schemeClr val="accent2"/>
                </a:solidFill>
                <a:round/>
                <a:headEnd/>
                <a:tailEnd/>
              </a:ln>
            </p:spPr>
            <p:txBody>
              <a:bodyPr wrap="none" anchor="ctr"/>
              <a:lstStyle/>
              <a:p>
                <a:endParaRPr lang="bg-BG"/>
              </a:p>
            </p:txBody>
          </p:sp>
          <p:sp>
            <p:nvSpPr>
              <p:cNvPr id="58463" name="Oval 95"/>
              <p:cNvSpPr>
                <a:spLocks noChangeArrowheads="1"/>
              </p:cNvSpPr>
              <p:nvPr/>
            </p:nvSpPr>
            <p:spPr bwMode="auto">
              <a:xfrm>
                <a:off x="2109" y="3216"/>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64" name="Oval 96"/>
              <p:cNvSpPr>
                <a:spLocks noChangeArrowheads="1"/>
              </p:cNvSpPr>
              <p:nvPr/>
            </p:nvSpPr>
            <p:spPr bwMode="auto">
              <a:xfrm>
                <a:off x="2112" y="3396"/>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58393" name="Group 97"/>
            <p:cNvGrpSpPr>
              <a:grpSpLocks/>
            </p:cNvGrpSpPr>
            <p:nvPr/>
          </p:nvGrpSpPr>
          <p:grpSpPr bwMode="auto">
            <a:xfrm>
              <a:off x="5403" y="2190"/>
              <a:ext cx="51" cy="228"/>
              <a:chOff x="2109" y="3216"/>
              <a:chExt cx="51" cy="228"/>
            </a:xfrm>
          </p:grpSpPr>
          <p:sp>
            <p:nvSpPr>
              <p:cNvPr id="58459" name="Line 98"/>
              <p:cNvSpPr>
                <a:spLocks noChangeShapeType="1"/>
              </p:cNvSpPr>
              <p:nvPr/>
            </p:nvSpPr>
            <p:spPr bwMode="auto">
              <a:xfrm>
                <a:off x="2139" y="3234"/>
                <a:ext cx="0" cy="192"/>
              </a:xfrm>
              <a:prstGeom prst="line">
                <a:avLst/>
              </a:prstGeom>
              <a:noFill/>
              <a:ln w="28575">
                <a:solidFill>
                  <a:schemeClr val="accent2"/>
                </a:solidFill>
                <a:round/>
                <a:headEnd/>
                <a:tailEnd/>
              </a:ln>
            </p:spPr>
            <p:txBody>
              <a:bodyPr wrap="none" anchor="ctr"/>
              <a:lstStyle/>
              <a:p>
                <a:endParaRPr lang="bg-BG"/>
              </a:p>
            </p:txBody>
          </p:sp>
          <p:sp>
            <p:nvSpPr>
              <p:cNvPr id="58460" name="Oval 99"/>
              <p:cNvSpPr>
                <a:spLocks noChangeArrowheads="1"/>
              </p:cNvSpPr>
              <p:nvPr/>
            </p:nvSpPr>
            <p:spPr bwMode="auto">
              <a:xfrm>
                <a:off x="2109" y="3216"/>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61" name="Oval 100"/>
              <p:cNvSpPr>
                <a:spLocks noChangeArrowheads="1"/>
              </p:cNvSpPr>
              <p:nvPr/>
            </p:nvSpPr>
            <p:spPr bwMode="auto">
              <a:xfrm>
                <a:off x="2112" y="3396"/>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58394" name="Group 101"/>
            <p:cNvGrpSpPr>
              <a:grpSpLocks/>
            </p:cNvGrpSpPr>
            <p:nvPr/>
          </p:nvGrpSpPr>
          <p:grpSpPr bwMode="auto">
            <a:xfrm>
              <a:off x="4416" y="2370"/>
              <a:ext cx="48" cy="819"/>
              <a:chOff x="1125" y="1467"/>
              <a:chExt cx="48" cy="819"/>
            </a:xfrm>
          </p:grpSpPr>
          <p:sp>
            <p:nvSpPr>
              <p:cNvPr id="58456" name="Line 102"/>
              <p:cNvSpPr>
                <a:spLocks noChangeShapeType="1"/>
              </p:cNvSpPr>
              <p:nvPr/>
            </p:nvSpPr>
            <p:spPr bwMode="auto">
              <a:xfrm>
                <a:off x="1152" y="1488"/>
                <a:ext cx="0" cy="768"/>
              </a:xfrm>
              <a:prstGeom prst="line">
                <a:avLst/>
              </a:prstGeom>
              <a:noFill/>
              <a:ln w="28575">
                <a:solidFill>
                  <a:schemeClr val="accent2"/>
                </a:solidFill>
                <a:round/>
                <a:headEnd/>
                <a:tailEnd/>
              </a:ln>
            </p:spPr>
            <p:txBody>
              <a:bodyPr wrap="none" anchor="ctr"/>
              <a:lstStyle/>
              <a:p>
                <a:endParaRPr lang="bg-BG"/>
              </a:p>
            </p:txBody>
          </p:sp>
          <p:sp>
            <p:nvSpPr>
              <p:cNvPr id="58457" name="Oval 103"/>
              <p:cNvSpPr>
                <a:spLocks noChangeArrowheads="1"/>
              </p:cNvSpPr>
              <p:nvPr/>
            </p:nvSpPr>
            <p:spPr bwMode="auto">
              <a:xfrm>
                <a:off x="1125" y="1467"/>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8458" name="Oval 104"/>
              <p:cNvSpPr>
                <a:spLocks noChangeArrowheads="1"/>
              </p:cNvSpPr>
              <p:nvPr/>
            </p:nvSpPr>
            <p:spPr bwMode="auto">
              <a:xfrm>
                <a:off x="1125" y="2238"/>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8395" name="Group 105"/>
            <p:cNvGrpSpPr>
              <a:grpSpLocks/>
            </p:cNvGrpSpPr>
            <p:nvPr/>
          </p:nvGrpSpPr>
          <p:grpSpPr bwMode="auto">
            <a:xfrm>
              <a:off x="4512" y="2544"/>
              <a:ext cx="48" cy="819"/>
              <a:chOff x="1125" y="1467"/>
              <a:chExt cx="48" cy="819"/>
            </a:xfrm>
          </p:grpSpPr>
          <p:sp>
            <p:nvSpPr>
              <p:cNvPr id="58453" name="Line 106"/>
              <p:cNvSpPr>
                <a:spLocks noChangeShapeType="1"/>
              </p:cNvSpPr>
              <p:nvPr/>
            </p:nvSpPr>
            <p:spPr bwMode="auto">
              <a:xfrm>
                <a:off x="1152" y="1488"/>
                <a:ext cx="0" cy="768"/>
              </a:xfrm>
              <a:prstGeom prst="line">
                <a:avLst/>
              </a:prstGeom>
              <a:noFill/>
              <a:ln w="28575">
                <a:solidFill>
                  <a:schemeClr val="accent2"/>
                </a:solidFill>
                <a:round/>
                <a:headEnd/>
                <a:tailEnd/>
              </a:ln>
            </p:spPr>
            <p:txBody>
              <a:bodyPr wrap="none" anchor="ctr"/>
              <a:lstStyle/>
              <a:p>
                <a:endParaRPr lang="bg-BG"/>
              </a:p>
            </p:txBody>
          </p:sp>
          <p:sp>
            <p:nvSpPr>
              <p:cNvPr id="58454" name="Oval 107"/>
              <p:cNvSpPr>
                <a:spLocks noChangeArrowheads="1"/>
              </p:cNvSpPr>
              <p:nvPr/>
            </p:nvSpPr>
            <p:spPr bwMode="auto">
              <a:xfrm>
                <a:off x="1125" y="1467"/>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8455" name="Oval 108"/>
              <p:cNvSpPr>
                <a:spLocks noChangeArrowheads="1"/>
              </p:cNvSpPr>
              <p:nvPr/>
            </p:nvSpPr>
            <p:spPr bwMode="auto">
              <a:xfrm>
                <a:off x="1125" y="2238"/>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8396" name="Group 109"/>
            <p:cNvGrpSpPr>
              <a:grpSpLocks/>
            </p:cNvGrpSpPr>
            <p:nvPr/>
          </p:nvGrpSpPr>
          <p:grpSpPr bwMode="auto">
            <a:xfrm>
              <a:off x="4320" y="2178"/>
              <a:ext cx="48" cy="819"/>
              <a:chOff x="1125" y="1467"/>
              <a:chExt cx="48" cy="819"/>
            </a:xfrm>
          </p:grpSpPr>
          <p:sp>
            <p:nvSpPr>
              <p:cNvPr id="58450" name="Line 110"/>
              <p:cNvSpPr>
                <a:spLocks noChangeShapeType="1"/>
              </p:cNvSpPr>
              <p:nvPr/>
            </p:nvSpPr>
            <p:spPr bwMode="auto">
              <a:xfrm>
                <a:off x="1152" y="1488"/>
                <a:ext cx="0" cy="768"/>
              </a:xfrm>
              <a:prstGeom prst="line">
                <a:avLst/>
              </a:prstGeom>
              <a:noFill/>
              <a:ln w="28575">
                <a:solidFill>
                  <a:schemeClr val="accent2"/>
                </a:solidFill>
                <a:round/>
                <a:headEnd/>
                <a:tailEnd/>
              </a:ln>
            </p:spPr>
            <p:txBody>
              <a:bodyPr wrap="none" anchor="ctr"/>
              <a:lstStyle/>
              <a:p>
                <a:endParaRPr lang="bg-BG"/>
              </a:p>
            </p:txBody>
          </p:sp>
          <p:sp>
            <p:nvSpPr>
              <p:cNvPr id="58451" name="Oval 111"/>
              <p:cNvSpPr>
                <a:spLocks noChangeArrowheads="1"/>
              </p:cNvSpPr>
              <p:nvPr/>
            </p:nvSpPr>
            <p:spPr bwMode="auto">
              <a:xfrm>
                <a:off x="1125" y="1467"/>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8452" name="Oval 112"/>
              <p:cNvSpPr>
                <a:spLocks noChangeArrowheads="1"/>
              </p:cNvSpPr>
              <p:nvPr/>
            </p:nvSpPr>
            <p:spPr bwMode="auto">
              <a:xfrm>
                <a:off x="1125" y="2238"/>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8397" name="Group 113"/>
            <p:cNvGrpSpPr>
              <a:grpSpLocks/>
            </p:cNvGrpSpPr>
            <p:nvPr/>
          </p:nvGrpSpPr>
          <p:grpSpPr bwMode="auto">
            <a:xfrm>
              <a:off x="4224" y="1998"/>
              <a:ext cx="48" cy="819"/>
              <a:chOff x="1125" y="1467"/>
              <a:chExt cx="48" cy="819"/>
            </a:xfrm>
          </p:grpSpPr>
          <p:sp>
            <p:nvSpPr>
              <p:cNvPr id="58447" name="Line 114"/>
              <p:cNvSpPr>
                <a:spLocks noChangeShapeType="1"/>
              </p:cNvSpPr>
              <p:nvPr/>
            </p:nvSpPr>
            <p:spPr bwMode="auto">
              <a:xfrm>
                <a:off x="1152" y="1488"/>
                <a:ext cx="0" cy="768"/>
              </a:xfrm>
              <a:prstGeom prst="line">
                <a:avLst/>
              </a:prstGeom>
              <a:noFill/>
              <a:ln w="28575">
                <a:solidFill>
                  <a:schemeClr val="accent2"/>
                </a:solidFill>
                <a:round/>
                <a:headEnd/>
                <a:tailEnd/>
              </a:ln>
            </p:spPr>
            <p:txBody>
              <a:bodyPr wrap="none" anchor="ctr"/>
              <a:lstStyle/>
              <a:p>
                <a:endParaRPr lang="bg-BG"/>
              </a:p>
            </p:txBody>
          </p:sp>
          <p:sp>
            <p:nvSpPr>
              <p:cNvPr id="58448" name="Oval 115"/>
              <p:cNvSpPr>
                <a:spLocks noChangeArrowheads="1"/>
              </p:cNvSpPr>
              <p:nvPr/>
            </p:nvSpPr>
            <p:spPr bwMode="auto">
              <a:xfrm>
                <a:off x="1125" y="1467"/>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8449" name="Oval 116"/>
              <p:cNvSpPr>
                <a:spLocks noChangeArrowheads="1"/>
              </p:cNvSpPr>
              <p:nvPr/>
            </p:nvSpPr>
            <p:spPr bwMode="auto">
              <a:xfrm>
                <a:off x="1125" y="2238"/>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8398" name="Group 117"/>
            <p:cNvGrpSpPr>
              <a:grpSpLocks/>
            </p:cNvGrpSpPr>
            <p:nvPr/>
          </p:nvGrpSpPr>
          <p:grpSpPr bwMode="auto">
            <a:xfrm>
              <a:off x="5040" y="2544"/>
              <a:ext cx="48" cy="435"/>
              <a:chOff x="1602" y="1848"/>
              <a:chExt cx="48" cy="435"/>
            </a:xfrm>
          </p:grpSpPr>
          <p:sp>
            <p:nvSpPr>
              <p:cNvPr id="58444" name="Line 118"/>
              <p:cNvSpPr>
                <a:spLocks noChangeShapeType="1"/>
              </p:cNvSpPr>
              <p:nvPr/>
            </p:nvSpPr>
            <p:spPr bwMode="auto">
              <a:xfrm>
                <a:off x="1632" y="1872"/>
                <a:ext cx="0" cy="384"/>
              </a:xfrm>
              <a:prstGeom prst="line">
                <a:avLst/>
              </a:prstGeom>
              <a:noFill/>
              <a:ln w="28575">
                <a:solidFill>
                  <a:schemeClr val="accent2"/>
                </a:solidFill>
                <a:round/>
                <a:headEnd/>
                <a:tailEnd/>
              </a:ln>
            </p:spPr>
            <p:txBody>
              <a:bodyPr wrap="none" anchor="ctr"/>
              <a:lstStyle/>
              <a:p>
                <a:endParaRPr lang="bg-BG"/>
              </a:p>
            </p:txBody>
          </p:sp>
          <p:sp>
            <p:nvSpPr>
              <p:cNvPr id="58445" name="Oval 119"/>
              <p:cNvSpPr>
                <a:spLocks noChangeArrowheads="1"/>
              </p:cNvSpPr>
              <p:nvPr/>
            </p:nvSpPr>
            <p:spPr bwMode="auto">
              <a:xfrm>
                <a:off x="1602" y="1848"/>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46" name="Oval 120"/>
              <p:cNvSpPr>
                <a:spLocks noChangeArrowheads="1"/>
              </p:cNvSpPr>
              <p:nvPr/>
            </p:nvSpPr>
            <p:spPr bwMode="auto">
              <a:xfrm>
                <a:off x="1602" y="2235"/>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58399" name="Group 121"/>
            <p:cNvGrpSpPr>
              <a:grpSpLocks/>
            </p:cNvGrpSpPr>
            <p:nvPr/>
          </p:nvGrpSpPr>
          <p:grpSpPr bwMode="auto">
            <a:xfrm>
              <a:off x="4896" y="2352"/>
              <a:ext cx="48" cy="435"/>
              <a:chOff x="1602" y="1848"/>
              <a:chExt cx="48" cy="435"/>
            </a:xfrm>
          </p:grpSpPr>
          <p:sp>
            <p:nvSpPr>
              <p:cNvPr id="58441" name="Line 122"/>
              <p:cNvSpPr>
                <a:spLocks noChangeShapeType="1"/>
              </p:cNvSpPr>
              <p:nvPr/>
            </p:nvSpPr>
            <p:spPr bwMode="auto">
              <a:xfrm>
                <a:off x="1632" y="1872"/>
                <a:ext cx="0" cy="384"/>
              </a:xfrm>
              <a:prstGeom prst="line">
                <a:avLst/>
              </a:prstGeom>
              <a:noFill/>
              <a:ln w="28575">
                <a:solidFill>
                  <a:schemeClr val="accent2"/>
                </a:solidFill>
                <a:round/>
                <a:headEnd/>
                <a:tailEnd/>
              </a:ln>
            </p:spPr>
            <p:txBody>
              <a:bodyPr wrap="none" anchor="ctr"/>
              <a:lstStyle/>
              <a:p>
                <a:endParaRPr lang="bg-BG"/>
              </a:p>
            </p:txBody>
          </p:sp>
          <p:sp>
            <p:nvSpPr>
              <p:cNvPr id="58442" name="Oval 123"/>
              <p:cNvSpPr>
                <a:spLocks noChangeArrowheads="1"/>
              </p:cNvSpPr>
              <p:nvPr/>
            </p:nvSpPr>
            <p:spPr bwMode="auto">
              <a:xfrm>
                <a:off x="1602" y="1848"/>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43" name="Oval 124"/>
              <p:cNvSpPr>
                <a:spLocks noChangeArrowheads="1"/>
              </p:cNvSpPr>
              <p:nvPr/>
            </p:nvSpPr>
            <p:spPr bwMode="auto">
              <a:xfrm>
                <a:off x="1602" y="2235"/>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58400" name="Group 154"/>
            <p:cNvGrpSpPr>
              <a:grpSpLocks/>
            </p:cNvGrpSpPr>
            <p:nvPr/>
          </p:nvGrpSpPr>
          <p:grpSpPr bwMode="auto">
            <a:xfrm>
              <a:off x="192" y="2016"/>
              <a:ext cx="345" cy="1377"/>
              <a:chOff x="192" y="2046"/>
              <a:chExt cx="345" cy="1377"/>
            </a:xfrm>
          </p:grpSpPr>
          <p:sp>
            <p:nvSpPr>
              <p:cNvPr id="58417" name="Line 130"/>
              <p:cNvSpPr>
                <a:spLocks noChangeShapeType="1"/>
              </p:cNvSpPr>
              <p:nvPr/>
            </p:nvSpPr>
            <p:spPr bwMode="auto">
              <a:xfrm>
                <a:off x="192" y="2064"/>
                <a:ext cx="336" cy="0"/>
              </a:xfrm>
              <a:prstGeom prst="line">
                <a:avLst/>
              </a:prstGeom>
              <a:noFill/>
              <a:ln w="9525">
                <a:solidFill>
                  <a:srgbClr val="000000"/>
                </a:solidFill>
                <a:round/>
                <a:headEnd/>
                <a:tailEnd/>
              </a:ln>
            </p:spPr>
            <p:txBody>
              <a:bodyPr wrap="none" anchor="ctr"/>
              <a:lstStyle/>
              <a:p>
                <a:endParaRPr lang="bg-BG"/>
              </a:p>
            </p:txBody>
          </p:sp>
          <p:sp>
            <p:nvSpPr>
              <p:cNvPr id="58418" name="Line 131"/>
              <p:cNvSpPr>
                <a:spLocks noChangeShapeType="1"/>
              </p:cNvSpPr>
              <p:nvPr/>
            </p:nvSpPr>
            <p:spPr bwMode="auto">
              <a:xfrm>
                <a:off x="192" y="2256"/>
                <a:ext cx="336" cy="0"/>
              </a:xfrm>
              <a:prstGeom prst="line">
                <a:avLst/>
              </a:prstGeom>
              <a:noFill/>
              <a:ln w="9525">
                <a:solidFill>
                  <a:srgbClr val="000000"/>
                </a:solidFill>
                <a:round/>
                <a:headEnd/>
                <a:tailEnd/>
              </a:ln>
            </p:spPr>
            <p:txBody>
              <a:bodyPr wrap="none" anchor="ctr"/>
              <a:lstStyle/>
              <a:p>
                <a:endParaRPr lang="bg-BG"/>
              </a:p>
            </p:txBody>
          </p:sp>
          <p:sp>
            <p:nvSpPr>
              <p:cNvPr id="58419" name="Line 132"/>
              <p:cNvSpPr>
                <a:spLocks noChangeShapeType="1"/>
              </p:cNvSpPr>
              <p:nvPr/>
            </p:nvSpPr>
            <p:spPr bwMode="auto">
              <a:xfrm>
                <a:off x="192" y="2448"/>
                <a:ext cx="336" cy="0"/>
              </a:xfrm>
              <a:prstGeom prst="line">
                <a:avLst/>
              </a:prstGeom>
              <a:noFill/>
              <a:ln w="9525">
                <a:solidFill>
                  <a:srgbClr val="000000"/>
                </a:solidFill>
                <a:round/>
                <a:headEnd/>
                <a:tailEnd/>
              </a:ln>
            </p:spPr>
            <p:txBody>
              <a:bodyPr wrap="none" anchor="ctr"/>
              <a:lstStyle/>
              <a:p>
                <a:endParaRPr lang="bg-BG"/>
              </a:p>
            </p:txBody>
          </p:sp>
          <p:sp>
            <p:nvSpPr>
              <p:cNvPr id="58420" name="Line 133"/>
              <p:cNvSpPr>
                <a:spLocks noChangeShapeType="1"/>
              </p:cNvSpPr>
              <p:nvPr/>
            </p:nvSpPr>
            <p:spPr bwMode="auto">
              <a:xfrm>
                <a:off x="192" y="2640"/>
                <a:ext cx="336" cy="0"/>
              </a:xfrm>
              <a:prstGeom prst="line">
                <a:avLst/>
              </a:prstGeom>
              <a:noFill/>
              <a:ln w="9525">
                <a:solidFill>
                  <a:srgbClr val="000000"/>
                </a:solidFill>
                <a:round/>
                <a:headEnd/>
                <a:tailEnd/>
              </a:ln>
            </p:spPr>
            <p:txBody>
              <a:bodyPr wrap="none" anchor="ctr"/>
              <a:lstStyle/>
              <a:p>
                <a:endParaRPr lang="bg-BG"/>
              </a:p>
            </p:txBody>
          </p:sp>
          <p:sp>
            <p:nvSpPr>
              <p:cNvPr id="58421" name="Line 134"/>
              <p:cNvSpPr>
                <a:spLocks noChangeShapeType="1"/>
              </p:cNvSpPr>
              <p:nvPr/>
            </p:nvSpPr>
            <p:spPr bwMode="auto">
              <a:xfrm>
                <a:off x="192" y="2823"/>
                <a:ext cx="336" cy="0"/>
              </a:xfrm>
              <a:prstGeom prst="line">
                <a:avLst/>
              </a:prstGeom>
              <a:noFill/>
              <a:ln w="9525">
                <a:solidFill>
                  <a:srgbClr val="000000"/>
                </a:solidFill>
                <a:round/>
                <a:headEnd/>
                <a:tailEnd/>
              </a:ln>
            </p:spPr>
            <p:txBody>
              <a:bodyPr wrap="none" anchor="ctr"/>
              <a:lstStyle/>
              <a:p>
                <a:endParaRPr lang="bg-BG"/>
              </a:p>
            </p:txBody>
          </p:sp>
          <p:sp>
            <p:nvSpPr>
              <p:cNvPr id="58422" name="Line 135"/>
              <p:cNvSpPr>
                <a:spLocks noChangeShapeType="1"/>
              </p:cNvSpPr>
              <p:nvPr/>
            </p:nvSpPr>
            <p:spPr bwMode="auto">
              <a:xfrm>
                <a:off x="192" y="3024"/>
                <a:ext cx="336" cy="0"/>
              </a:xfrm>
              <a:prstGeom prst="line">
                <a:avLst/>
              </a:prstGeom>
              <a:noFill/>
              <a:ln w="9525">
                <a:solidFill>
                  <a:srgbClr val="000000"/>
                </a:solidFill>
                <a:round/>
                <a:headEnd/>
                <a:tailEnd/>
              </a:ln>
            </p:spPr>
            <p:txBody>
              <a:bodyPr wrap="none" anchor="ctr"/>
              <a:lstStyle/>
              <a:p>
                <a:endParaRPr lang="bg-BG"/>
              </a:p>
            </p:txBody>
          </p:sp>
          <p:sp>
            <p:nvSpPr>
              <p:cNvPr id="58423" name="Line 136"/>
              <p:cNvSpPr>
                <a:spLocks noChangeShapeType="1"/>
              </p:cNvSpPr>
              <p:nvPr/>
            </p:nvSpPr>
            <p:spPr bwMode="auto">
              <a:xfrm>
                <a:off x="192" y="3216"/>
                <a:ext cx="336" cy="0"/>
              </a:xfrm>
              <a:prstGeom prst="line">
                <a:avLst/>
              </a:prstGeom>
              <a:noFill/>
              <a:ln w="9525">
                <a:solidFill>
                  <a:srgbClr val="000000"/>
                </a:solidFill>
                <a:round/>
                <a:headEnd/>
                <a:tailEnd/>
              </a:ln>
            </p:spPr>
            <p:txBody>
              <a:bodyPr wrap="none" anchor="ctr"/>
              <a:lstStyle/>
              <a:p>
                <a:endParaRPr lang="bg-BG"/>
              </a:p>
            </p:txBody>
          </p:sp>
          <p:sp>
            <p:nvSpPr>
              <p:cNvPr id="58424" name="Line 137"/>
              <p:cNvSpPr>
                <a:spLocks noChangeShapeType="1"/>
              </p:cNvSpPr>
              <p:nvPr/>
            </p:nvSpPr>
            <p:spPr bwMode="auto">
              <a:xfrm>
                <a:off x="201" y="3399"/>
                <a:ext cx="336" cy="0"/>
              </a:xfrm>
              <a:prstGeom prst="line">
                <a:avLst/>
              </a:prstGeom>
              <a:noFill/>
              <a:ln w="9525">
                <a:solidFill>
                  <a:srgbClr val="000000"/>
                </a:solidFill>
                <a:round/>
                <a:headEnd/>
                <a:tailEnd/>
              </a:ln>
            </p:spPr>
            <p:txBody>
              <a:bodyPr wrap="none" anchor="ctr"/>
              <a:lstStyle/>
              <a:p>
                <a:endParaRPr lang="bg-BG"/>
              </a:p>
            </p:txBody>
          </p:sp>
          <p:grpSp>
            <p:nvGrpSpPr>
              <p:cNvPr id="58425" name="Group 138"/>
              <p:cNvGrpSpPr>
                <a:grpSpLocks/>
              </p:cNvGrpSpPr>
              <p:nvPr/>
            </p:nvGrpSpPr>
            <p:grpSpPr bwMode="auto">
              <a:xfrm>
                <a:off x="327" y="2046"/>
                <a:ext cx="54" cy="228"/>
                <a:chOff x="3669" y="1662"/>
                <a:chExt cx="54" cy="228"/>
              </a:xfrm>
            </p:grpSpPr>
            <p:sp>
              <p:nvSpPr>
                <p:cNvPr id="58438" name="Line 139"/>
                <p:cNvSpPr>
                  <a:spLocks noChangeShapeType="1"/>
                </p:cNvSpPr>
                <p:nvPr/>
              </p:nvSpPr>
              <p:spPr bwMode="auto">
                <a:xfrm>
                  <a:off x="3696" y="1680"/>
                  <a:ext cx="0" cy="192"/>
                </a:xfrm>
                <a:prstGeom prst="line">
                  <a:avLst/>
                </a:prstGeom>
                <a:noFill/>
                <a:ln w="28575">
                  <a:solidFill>
                    <a:schemeClr val="accent2"/>
                  </a:solidFill>
                  <a:round/>
                  <a:headEnd/>
                  <a:tailEnd/>
                </a:ln>
              </p:spPr>
              <p:txBody>
                <a:bodyPr wrap="none" anchor="ctr"/>
                <a:lstStyle/>
                <a:p>
                  <a:endParaRPr lang="bg-BG"/>
                </a:p>
              </p:txBody>
            </p:sp>
            <p:sp>
              <p:nvSpPr>
                <p:cNvPr id="58439" name="Oval 140"/>
                <p:cNvSpPr>
                  <a:spLocks noChangeArrowheads="1"/>
                </p:cNvSpPr>
                <p:nvPr/>
              </p:nvSpPr>
              <p:spPr bwMode="auto">
                <a:xfrm>
                  <a:off x="3675" y="1662"/>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40" name="Oval 141"/>
                <p:cNvSpPr>
                  <a:spLocks noChangeArrowheads="1"/>
                </p:cNvSpPr>
                <p:nvPr/>
              </p:nvSpPr>
              <p:spPr bwMode="auto">
                <a:xfrm>
                  <a:off x="3669" y="1842"/>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58426" name="Group 142"/>
              <p:cNvGrpSpPr>
                <a:grpSpLocks/>
              </p:cNvGrpSpPr>
              <p:nvPr/>
            </p:nvGrpSpPr>
            <p:grpSpPr bwMode="auto">
              <a:xfrm>
                <a:off x="327" y="2427"/>
                <a:ext cx="54" cy="228"/>
                <a:chOff x="3669" y="1662"/>
                <a:chExt cx="54" cy="228"/>
              </a:xfrm>
            </p:grpSpPr>
            <p:sp>
              <p:nvSpPr>
                <p:cNvPr id="58435" name="Line 143"/>
                <p:cNvSpPr>
                  <a:spLocks noChangeShapeType="1"/>
                </p:cNvSpPr>
                <p:nvPr/>
              </p:nvSpPr>
              <p:spPr bwMode="auto">
                <a:xfrm>
                  <a:off x="3696" y="1680"/>
                  <a:ext cx="0" cy="192"/>
                </a:xfrm>
                <a:prstGeom prst="line">
                  <a:avLst/>
                </a:prstGeom>
                <a:noFill/>
                <a:ln w="28575">
                  <a:solidFill>
                    <a:schemeClr val="accent2"/>
                  </a:solidFill>
                  <a:round/>
                  <a:headEnd/>
                  <a:tailEnd/>
                </a:ln>
              </p:spPr>
              <p:txBody>
                <a:bodyPr wrap="none" anchor="ctr"/>
                <a:lstStyle/>
                <a:p>
                  <a:endParaRPr lang="bg-BG"/>
                </a:p>
              </p:txBody>
            </p:sp>
            <p:sp>
              <p:nvSpPr>
                <p:cNvPr id="58436" name="Oval 144"/>
                <p:cNvSpPr>
                  <a:spLocks noChangeArrowheads="1"/>
                </p:cNvSpPr>
                <p:nvPr/>
              </p:nvSpPr>
              <p:spPr bwMode="auto">
                <a:xfrm>
                  <a:off x="3675" y="1662"/>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37" name="Oval 145"/>
                <p:cNvSpPr>
                  <a:spLocks noChangeArrowheads="1"/>
                </p:cNvSpPr>
                <p:nvPr/>
              </p:nvSpPr>
              <p:spPr bwMode="auto">
                <a:xfrm>
                  <a:off x="3669" y="1842"/>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58427" name="Group 146"/>
              <p:cNvGrpSpPr>
                <a:grpSpLocks/>
              </p:cNvGrpSpPr>
              <p:nvPr/>
            </p:nvGrpSpPr>
            <p:grpSpPr bwMode="auto">
              <a:xfrm>
                <a:off x="336" y="2811"/>
                <a:ext cx="54" cy="228"/>
                <a:chOff x="3669" y="1662"/>
                <a:chExt cx="54" cy="228"/>
              </a:xfrm>
            </p:grpSpPr>
            <p:sp>
              <p:nvSpPr>
                <p:cNvPr id="58432" name="Line 147"/>
                <p:cNvSpPr>
                  <a:spLocks noChangeShapeType="1"/>
                </p:cNvSpPr>
                <p:nvPr/>
              </p:nvSpPr>
              <p:spPr bwMode="auto">
                <a:xfrm>
                  <a:off x="3696" y="1680"/>
                  <a:ext cx="0" cy="192"/>
                </a:xfrm>
                <a:prstGeom prst="line">
                  <a:avLst/>
                </a:prstGeom>
                <a:noFill/>
                <a:ln w="28575">
                  <a:solidFill>
                    <a:schemeClr val="accent2"/>
                  </a:solidFill>
                  <a:round/>
                  <a:headEnd/>
                  <a:tailEnd/>
                </a:ln>
              </p:spPr>
              <p:txBody>
                <a:bodyPr wrap="none" anchor="ctr"/>
                <a:lstStyle/>
                <a:p>
                  <a:endParaRPr lang="bg-BG"/>
                </a:p>
              </p:txBody>
            </p:sp>
            <p:sp>
              <p:nvSpPr>
                <p:cNvPr id="58433" name="Oval 148"/>
                <p:cNvSpPr>
                  <a:spLocks noChangeArrowheads="1"/>
                </p:cNvSpPr>
                <p:nvPr/>
              </p:nvSpPr>
              <p:spPr bwMode="auto">
                <a:xfrm>
                  <a:off x="3675" y="1662"/>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34" name="Oval 149"/>
                <p:cNvSpPr>
                  <a:spLocks noChangeArrowheads="1"/>
                </p:cNvSpPr>
                <p:nvPr/>
              </p:nvSpPr>
              <p:spPr bwMode="auto">
                <a:xfrm>
                  <a:off x="3669" y="1842"/>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58428" name="Group 150"/>
              <p:cNvGrpSpPr>
                <a:grpSpLocks/>
              </p:cNvGrpSpPr>
              <p:nvPr/>
            </p:nvGrpSpPr>
            <p:grpSpPr bwMode="auto">
              <a:xfrm>
                <a:off x="336" y="3195"/>
                <a:ext cx="54" cy="228"/>
                <a:chOff x="3669" y="1662"/>
                <a:chExt cx="54" cy="228"/>
              </a:xfrm>
            </p:grpSpPr>
            <p:sp>
              <p:nvSpPr>
                <p:cNvPr id="58429" name="Line 151"/>
                <p:cNvSpPr>
                  <a:spLocks noChangeShapeType="1"/>
                </p:cNvSpPr>
                <p:nvPr/>
              </p:nvSpPr>
              <p:spPr bwMode="auto">
                <a:xfrm>
                  <a:off x="3696" y="1680"/>
                  <a:ext cx="0" cy="192"/>
                </a:xfrm>
                <a:prstGeom prst="line">
                  <a:avLst/>
                </a:prstGeom>
                <a:noFill/>
                <a:ln w="28575">
                  <a:solidFill>
                    <a:schemeClr val="accent2"/>
                  </a:solidFill>
                  <a:round/>
                  <a:headEnd/>
                  <a:tailEnd/>
                </a:ln>
              </p:spPr>
              <p:txBody>
                <a:bodyPr wrap="none" anchor="ctr"/>
                <a:lstStyle/>
                <a:p>
                  <a:endParaRPr lang="bg-BG"/>
                </a:p>
              </p:txBody>
            </p:sp>
            <p:sp>
              <p:nvSpPr>
                <p:cNvPr id="58430" name="Oval 152"/>
                <p:cNvSpPr>
                  <a:spLocks noChangeArrowheads="1"/>
                </p:cNvSpPr>
                <p:nvPr/>
              </p:nvSpPr>
              <p:spPr bwMode="auto">
                <a:xfrm>
                  <a:off x="3675" y="1662"/>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31" name="Oval 153"/>
                <p:cNvSpPr>
                  <a:spLocks noChangeArrowheads="1"/>
                </p:cNvSpPr>
                <p:nvPr/>
              </p:nvSpPr>
              <p:spPr bwMode="auto">
                <a:xfrm>
                  <a:off x="3669" y="1842"/>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grpSp>
          <p:nvGrpSpPr>
            <p:cNvPr id="58401" name="Group 180"/>
            <p:cNvGrpSpPr>
              <a:grpSpLocks/>
            </p:cNvGrpSpPr>
            <p:nvPr/>
          </p:nvGrpSpPr>
          <p:grpSpPr bwMode="auto">
            <a:xfrm>
              <a:off x="3801" y="1986"/>
              <a:ext cx="51" cy="228"/>
              <a:chOff x="2109" y="3216"/>
              <a:chExt cx="51" cy="228"/>
            </a:xfrm>
          </p:grpSpPr>
          <p:sp>
            <p:nvSpPr>
              <p:cNvPr id="58414" name="Line 181"/>
              <p:cNvSpPr>
                <a:spLocks noChangeShapeType="1"/>
              </p:cNvSpPr>
              <p:nvPr/>
            </p:nvSpPr>
            <p:spPr bwMode="auto">
              <a:xfrm>
                <a:off x="2139" y="3234"/>
                <a:ext cx="0" cy="192"/>
              </a:xfrm>
              <a:prstGeom prst="line">
                <a:avLst/>
              </a:prstGeom>
              <a:noFill/>
              <a:ln w="28575">
                <a:solidFill>
                  <a:schemeClr val="accent2"/>
                </a:solidFill>
                <a:round/>
                <a:headEnd/>
                <a:tailEnd/>
              </a:ln>
            </p:spPr>
            <p:txBody>
              <a:bodyPr wrap="none" anchor="ctr"/>
              <a:lstStyle/>
              <a:p>
                <a:endParaRPr lang="bg-BG"/>
              </a:p>
            </p:txBody>
          </p:sp>
          <p:sp>
            <p:nvSpPr>
              <p:cNvPr id="58415" name="Oval 182"/>
              <p:cNvSpPr>
                <a:spLocks noChangeArrowheads="1"/>
              </p:cNvSpPr>
              <p:nvPr/>
            </p:nvSpPr>
            <p:spPr bwMode="auto">
              <a:xfrm>
                <a:off x="2109" y="3216"/>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16" name="Oval 183"/>
              <p:cNvSpPr>
                <a:spLocks noChangeArrowheads="1"/>
              </p:cNvSpPr>
              <p:nvPr/>
            </p:nvSpPr>
            <p:spPr bwMode="auto">
              <a:xfrm>
                <a:off x="2112" y="3396"/>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58402" name="Group 184"/>
            <p:cNvGrpSpPr>
              <a:grpSpLocks/>
            </p:cNvGrpSpPr>
            <p:nvPr/>
          </p:nvGrpSpPr>
          <p:grpSpPr bwMode="auto">
            <a:xfrm>
              <a:off x="3801" y="2382"/>
              <a:ext cx="51" cy="228"/>
              <a:chOff x="2109" y="3216"/>
              <a:chExt cx="51" cy="228"/>
            </a:xfrm>
          </p:grpSpPr>
          <p:sp>
            <p:nvSpPr>
              <p:cNvPr id="58411" name="Line 185"/>
              <p:cNvSpPr>
                <a:spLocks noChangeShapeType="1"/>
              </p:cNvSpPr>
              <p:nvPr/>
            </p:nvSpPr>
            <p:spPr bwMode="auto">
              <a:xfrm>
                <a:off x="2139" y="3234"/>
                <a:ext cx="0" cy="192"/>
              </a:xfrm>
              <a:prstGeom prst="line">
                <a:avLst/>
              </a:prstGeom>
              <a:noFill/>
              <a:ln w="28575">
                <a:solidFill>
                  <a:schemeClr val="accent2"/>
                </a:solidFill>
                <a:round/>
                <a:headEnd/>
                <a:tailEnd/>
              </a:ln>
            </p:spPr>
            <p:txBody>
              <a:bodyPr wrap="none" anchor="ctr"/>
              <a:lstStyle/>
              <a:p>
                <a:endParaRPr lang="bg-BG"/>
              </a:p>
            </p:txBody>
          </p:sp>
          <p:sp>
            <p:nvSpPr>
              <p:cNvPr id="58412" name="Oval 186"/>
              <p:cNvSpPr>
                <a:spLocks noChangeArrowheads="1"/>
              </p:cNvSpPr>
              <p:nvPr/>
            </p:nvSpPr>
            <p:spPr bwMode="auto">
              <a:xfrm>
                <a:off x="2109" y="3216"/>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13" name="Oval 187"/>
              <p:cNvSpPr>
                <a:spLocks noChangeArrowheads="1"/>
              </p:cNvSpPr>
              <p:nvPr/>
            </p:nvSpPr>
            <p:spPr bwMode="auto">
              <a:xfrm>
                <a:off x="2112" y="3396"/>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58403" name="Group 188"/>
            <p:cNvGrpSpPr>
              <a:grpSpLocks/>
            </p:cNvGrpSpPr>
            <p:nvPr/>
          </p:nvGrpSpPr>
          <p:grpSpPr bwMode="auto">
            <a:xfrm>
              <a:off x="3801" y="2754"/>
              <a:ext cx="51" cy="228"/>
              <a:chOff x="2109" y="3216"/>
              <a:chExt cx="51" cy="228"/>
            </a:xfrm>
          </p:grpSpPr>
          <p:sp>
            <p:nvSpPr>
              <p:cNvPr id="58408" name="Line 189"/>
              <p:cNvSpPr>
                <a:spLocks noChangeShapeType="1"/>
              </p:cNvSpPr>
              <p:nvPr/>
            </p:nvSpPr>
            <p:spPr bwMode="auto">
              <a:xfrm>
                <a:off x="2139" y="3234"/>
                <a:ext cx="0" cy="192"/>
              </a:xfrm>
              <a:prstGeom prst="line">
                <a:avLst/>
              </a:prstGeom>
              <a:noFill/>
              <a:ln w="28575">
                <a:solidFill>
                  <a:schemeClr val="accent2"/>
                </a:solidFill>
                <a:round/>
                <a:headEnd/>
                <a:tailEnd/>
              </a:ln>
            </p:spPr>
            <p:txBody>
              <a:bodyPr wrap="none" anchor="ctr"/>
              <a:lstStyle/>
              <a:p>
                <a:endParaRPr lang="bg-BG"/>
              </a:p>
            </p:txBody>
          </p:sp>
          <p:sp>
            <p:nvSpPr>
              <p:cNvPr id="58409" name="Oval 190"/>
              <p:cNvSpPr>
                <a:spLocks noChangeArrowheads="1"/>
              </p:cNvSpPr>
              <p:nvPr/>
            </p:nvSpPr>
            <p:spPr bwMode="auto">
              <a:xfrm>
                <a:off x="2109" y="3216"/>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10" name="Oval 191"/>
              <p:cNvSpPr>
                <a:spLocks noChangeArrowheads="1"/>
              </p:cNvSpPr>
              <p:nvPr/>
            </p:nvSpPr>
            <p:spPr bwMode="auto">
              <a:xfrm>
                <a:off x="2112" y="3396"/>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58404" name="Group 192"/>
            <p:cNvGrpSpPr>
              <a:grpSpLocks/>
            </p:cNvGrpSpPr>
            <p:nvPr/>
          </p:nvGrpSpPr>
          <p:grpSpPr bwMode="auto">
            <a:xfrm>
              <a:off x="3801" y="3147"/>
              <a:ext cx="51" cy="228"/>
              <a:chOff x="2109" y="3216"/>
              <a:chExt cx="51" cy="228"/>
            </a:xfrm>
          </p:grpSpPr>
          <p:sp>
            <p:nvSpPr>
              <p:cNvPr id="58405" name="Line 193"/>
              <p:cNvSpPr>
                <a:spLocks noChangeShapeType="1"/>
              </p:cNvSpPr>
              <p:nvPr/>
            </p:nvSpPr>
            <p:spPr bwMode="auto">
              <a:xfrm>
                <a:off x="2139" y="3234"/>
                <a:ext cx="0" cy="192"/>
              </a:xfrm>
              <a:prstGeom prst="line">
                <a:avLst/>
              </a:prstGeom>
              <a:noFill/>
              <a:ln w="28575">
                <a:solidFill>
                  <a:schemeClr val="accent2"/>
                </a:solidFill>
                <a:round/>
                <a:headEnd/>
                <a:tailEnd/>
              </a:ln>
            </p:spPr>
            <p:txBody>
              <a:bodyPr wrap="none" anchor="ctr"/>
              <a:lstStyle/>
              <a:p>
                <a:endParaRPr lang="bg-BG"/>
              </a:p>
            </p:txBody>
          </p:sp>
          <p:sp>
            <p:nvSpPr>
              <p:cNvPr id="58406" name="Oval 194"/>
              <p:cNvSpPr>
                <a:spLocks noChangeArrowheads="1"/>
              </p:cNvSpPr>
              <p:nvPr/>
            </p:nvSpPr>
            <p:spPr bwMode="auto">
              <a:xfrm>
                <a:off x="2109" y="3216"/>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58407" name="Oval 195"/>
              <p:cNvSpPr>
                <a:spLocks noChangeArrowheads="1"/>
              </p:cNvSpPr>
              <p:nvPr/>
            </p:nvSpPr>
            <p:spPr bwMode="auto">
              <a:xfrm>
                <a:off x="2112" y="3396"/>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sp>
        <p:nvSpPr>
          <p:cNvPr id="158" name="Slide Number Placeholder 157"/>
          <p:cNvSpPr>
            <a:spLocks noGrp="1"/>
          </p:cNvSpPr>
          <p:nvPr>
            <p:ph type="sldNum" sz="quarter" idx="12"/>
          </p:nvPr>
        </p:nvSpPr>
        <p:spPr/>
        <p:txBody>
          <a:bodyPr/>
          <a:lstStyle/>
          <a:p>
            <a:pPr>
              <a:defRPr/>
            </a:pPr>
            <a:fld id="{978C11DC-1761-4725-8943-2FF3DAB4FE0B}" type="slidenum">
              <a:rPr lang="en-US"/>
              <a:pPr>
                <a:defRPr/>
              </a:pPr>
              <a:t>82</a:t>
            </a:fld>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228600" y="228600"/>
            <a:ext cx="8534400" cy="6248400"/>
          </a:xfrm>
        </p:spPr>
        <p:txBody>
          <a:bodyPr>
            <a:normAutofit fontScale="90000"/>
          </a:bodyPr>
          <a:lstStyle/>
          <a:p>
            <a:pPr eaLnBrk="1" fontAlgn="auto" hangingPunct="1">
              <a:spcAft>
                <a:spcPts val="0"/>
              </a:spcAft>
              <a:defRPr/>
            </a:pP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t>
            </a:r>
            <a:r>
              <a:rPr lang="bg-BG" sz="2400">
                <a:solidFill>
                  <a:schemeClr val="tx1"/>
                </a:solidFill>
              </a:rPr>
              <a:t> Сливаща мрежа за сортиране на 16 елемента:</a:t>
            </a:r>
            <a:br>
              <a:rPr lang="bg-BG" sz="2400">
                <a:solidFill>
                  <a:schemeClr val="tx1"/>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endParaRPr lang="en-US" dirty="0">
              <a:solidFill>
                <a:schemeClr val="tx2">
                  <a:satMod val="130000"/>
                </a:schemeClr>
              </a:solidFill>
            </a:endParaRPr>
          </a:p>
        </p:txBody>
      </p:sp>
      <p:grpSp>
        <p:nvGrpSpPr>
          <p:cNvPr id="59395" name="Group 383"/>
          <p:cNvGrpSpPr>
            <a:grpSpLocks/>
          </p:cNvGrpSpPr>
          <p:nvPr/>
        </p:nvGrpSpPr>
        <p:grpSpPr bwMode="auto">
          <a:xfrm>
            <a:off x="1186160" y="2060848"/>
            <a:ext cx="7668344" cy="2736304"/>
            <a:chOff x="288" y="1296"/>
            <a:chExt cx="5088" cy="1782"/>
          </a:xfrm>
        </p:grpSpPr>
        <p:grpSp>
          <p:nvGrpSpPr>
            <p:cNvPr id="59397" name="Group 37"/>
            <p:cNvGrpSpPr>
              <a:grpSpLocks/>
            </p:cNvGrpSpPr>
            <p:nvPr/>
          </p:nvGrpSpPr>
          <p:grpSpPr bwMode="auto">
            <a:xfrm>
              <a:off x="3264" y="1454"/>
              <a:ext cx="2064" cy="1441"/>
              <a:chOff x="336" y="816"/>
              <a:chExt cx="864" cy="1440"/>
            </a:xfrm>
          </p:grpSpPr>
          <p:sp>
            <p:nvSpPr>
              <p:cNvPr id="59734" name="Line 38"/>
              <p:cNvSpPr>
                <a:spLocks noChangeShapeType="1"/>
              </p:cNvSpPr>
              <p:nvPr/>
            </p:nvSpPr>
            <p:spPr bwMode="auto">
              <a:xfrm>
                <a:off x="336" y="816"/>
                <a:ext cx="864" cy="0"/>
              </a:xfrm>
              <a:prstGeom prst="line">
                <a:avLst/>
              </a:prstGeom>
              <a:noFill/>
              <a:ln w="9525">
                <a:solidFill>
                  <a:schemeClr val="tx1"/>
                </a:solidFill>
                <a:round/>
                <a:headEnd/>
                <a:tailEnd/>
              </a:ln>
            </p:spPr>
            <p:txBody>
              <a:bodyPr wrap="none" anchor="ctr"/>
              <a:lstStyle/>
              <a:p>
                <a:endParaRPr lang="bg-BG"/>
              </a:p>
            </p:txBody>
          </p:sp>
          <p:sp>
            <p:nvSpPr>
              <p:cNvPr id="59735" name="Line 39"/>
              <p:cNvSpPr>
                <a:spLocks noChangeShapeType="1"/>
              </p:cNvSpPr>
              <p:nvPr/>
            </p:nvSpPr>
            <p:spPr bwMode="auto">
              <a:xfrm>
                <a:off x="336" y="912"/>
                <a:ext cx="864" cy="0"/>
              </a:xfrm>
              <a:prstGeom prst="line">
                <a:avLst/>
              </a:prstGeom>
              <a:noFill/>
              <a:ln w="9525">
                <a:solidFill>
                  <a:schemeClr val="tx1"/>
                </a:solidFill>
                <a:round/>
                <a:headEnd/>
                <a:tailEnd/>
              </a:ln>
            </p:spPr>
            <p:txBody>
              <a:bodyPr wrap="none" anchor="ctr"/>
              <a:lstStyle/>
              <a:p>
                <a:endParaRPr lang="bg-BG"/>
              </a:p>
            </p:txBody>
          </p:sp>
          <p:sp>
            <p:nvSpPr>
              <p:cNvPr id="59736" name="Line 40"/>
              <p:cNvSpPr>
                <a:spLocks noChangeShapeType="1"/>
              </p:cNvSpPr>
              <p:nvPr/>
            </p:nvSpPr>
            <p:spPr bwMode="auto">
              <a:xfrm>
                <a:off x="336" y="1008"/>
                <a:ext cx="864" cy="0"/>
              </a:xfrm>
              <a:prstGeom prst="line">
                <a:avLst/>
              </a:prstGeom>
              <a:noFill/>
              <a:ln w="9525">
                <a:solidFill>
                  <a:schemeClr val="tx1"/>
                </a:solidFill>
                <a:round/>
                <a:headEnd/>
                <a:tailEnd/>
              </a:ln>
            </p:spPr>
            <p:txBody>
              <a:bodyPr wrap="none" anchor="ctr"/>
              <a:lstStyle/>
              <a:p>
                <a:endParaRPr lang="bg-BG"/>
              </a:p>
            </p:txBody>
          </p:sp>
          <p:sp>
            <p:nvSpPr>
              <p:cNvPr id="59737" name="Line 41"/>
              <p:cNvSpPr>
                <a:spLocks noChangeShapeType="1"/>
              </p:cNvSpPr>
              <p:nvPr/>
            </p:nvSpPr>
            <p:spPr bwMode="auto">
              <a:xfrm>
                <a:off x="336" y="1104"/>
                <a:ext cx="864" cy="0"/>
              </a:xfrm>
              <a:prstGeom prst="line">
                <a:avLst/>
              </a:prstGeom>
              <a:noFill/>
              <a:ln w="9525">
                <a:solidFill>
                  <a:schemeClr val="tx1"/>
                </a:solidFill>
                <a:round/>
                <a:headEnd/>
                <a:tailEnd/>
              </a:ln>
            </p:spPr>
            <p:txBody>
              <a:bodyPr wrap="none" anchor="ctr"/>
              <a:lstStyle/>
              <a:p>
                <a:endParaRPr lang="bg-BG"/>
              </a:p>
            </p:txBody>
          </p:sp>
          <p:sp>
            <p:nvSpPr>
              <p:cNvPr id="59738" name="Line 42"/>
              <p:cNvSpPr>
                <a:spLocks noChangeShapeType="1"/>
              </p:cNvSpPr>
              <p:nvPr/>
            </p:nvSpPr>
            <p:spPr bwMode="auto">
              <a:xfrm>
                <a:off x="336" y="1200"/>
                <a:ext cx="864" cy="0"/>
              </a:xfrm>
              <a:prstGeom prst="line">
                <a:avLst/>
              </a:prstGeom>
              <a:noFill/>
              <a:ln w="9525">
                <a:solidFill>
                  <a:schemeClr val="tx1"/>
                </a:solidFill>
                <a:round/>
                <a:headEnd/>
                <a:tailEnd/>
              </a:ln>
            </p:spPr>
            <p:txBody>
              <a:bodyPr wrap="none" anchor="ctr"/>
              <a:lstStyle/>
              <a:p>
                <a:endParaRPr lang="bg-BG"/>
              </a:p>
            </p:txBody>
          </p:sp>
          <p:sp>
            <p:nvSpPr>
              <p:cNvPr id="59739" name="Line 43"/>
              <p:cNvSpPr>
                <a:spLocks noChangeShapeType="1"/>
              </p:cNvSpPr>
              <p:nvPr/>
            </p:nvSpPr>
            <p:spPr bwMode="auto">
              <a:xfrm>
                <a:off x="336" y="1296"/>
                <a:ext cx="864" cy="0"/>
              </a:xfrm>
              <a:prstGeom prst="line">
                <a:avLst/>
              </a:prstGeom>
              <a:noFill/>
              <a:ln w="9525">
                <a:solidFill>
                  <a:schemeClr val="tx1"/>
                </a:solidFill>
                <a:round/>
                <a:headEnd/>
                <a:tailEnd/>
              </a:ln>
            </p:spPr>
            <p:txBody>
              <a:bodyPr wrap="none" anchor="ctr"/>
              <a:lstStyle/>
              <a:p>
                <a:endParaRPr lang="bg-BG"/>
              </a:p>
            </p:txBody>
          </p:sp>
          <p:sp>
            <p:nvSpPr>
              <p:cNvPr id="59740" name="Line 44"/>
              <p:cNvSpPr>
                <a:spLocks noChangeShapeType="1"/>
              </p:cNvSpPr>
              <p:nvPr/>
            </p:nvSpPr>
            <p:spPr bwMode="auto">
              <a:xfrm>
                <a:off x="336" y="1392"/>
                <a:ext cx="864" cy="0"/>
              </a:xfrm>
              <a:prstGeom prst="line">
                <a:avLst/>
              </a:prstGeom>
              <a:noFill/>
              <a:ln w="9525">
                <a:solidFill>
                  <a:schemeClr val="tx1"/>
                </a:solidFill>
                <a:round/>
                <a:headEnd/>
                <a:tailEnd/>
              </a:ln>
            </p:spPr>
            <p:txBody>
              <a:bodyPr wrap="none" anchor="ctr"/>
              <a:lstStyle/>
              <a:p>
                <a:endParaRPr lang="bg-BG"/>
              </a:p>
            </p:txBody>
          </p:sp>
          <p:sp>
            <p:nvSpPr>
              <p:cNvPr id="59741" name="Line 45"/>
              <p:cNvSpPr>
                <a:spLocks noChangeShapeType="1"/>
              </p:cNvSpPr>
              <p:nvPr/>
            </p:nvSpPr>
            <p:spPr bwMode="auto">
              <a:xfrm>
                <a:off x="336" y="1488"/>
                <a:ext cx="864" cy="0"/>
              </a:xfrm>
              <a:prstGeom prst="line">
                <a:avLst/>
              </a:prstGeom>
              <a:noFill/>
              <a:ln w="9525">
                <a:solidFill>
                  <a:schemeClr val="tx1"/>
                </a:solidFill>
                <a:round/>
                <a:headEnd/>
                <a:tailEnd/>
              </a:ln>
            </p:spPr>
            <p:txBody>
              <a:bodyPr wrap="none" anchor="ctr"/>
              <a:lstStyle/>
              <a:p>
                <a:endParaRPr lang="bg-BG"/>
              </a:p>
            </p:txBody>
          </p:sp>
          <p:sp>
            <p:nvSpPr>
              <p:cNvPr id="59742" name="Line 46"/>
              <p:cNvSpPr>
                <a:spLocks noChangeShapeType="1"/>
              </p:cNvSpPr>
              <p:nvPr/>
            </p:nvSpPr>
            <p:spPr bwMode="auto">
              <a:xfrm>
                <a:off x="336" y="1584"/>
                <a:ext cx="864" cy="0"/>
              </a:xfrm>
              <a:prstGeom prst="line">
                <a:avLst/>
              </a:prstGeom>
              <a:noFill/>
              <a:ln w="9525">
                <a:solidFill>
                  <a:schemeClr val="tx1"/>
                </a:solidFill>
                <a:round/>
                <a:headEnd/>
                <a:tailEnd/>
              </a:ln>
            </p:spPr>
            <p:txBody>
              <a:bodyPr wrap="none" anchor="ctr"/>
              <a:lstStyle/>
              <a:p>
                <a:endParaRPr lang="bg-BG"/>
              </a:p>
            </p:txBody>
          </p:sp>
          <p:sp>
            <p:nvSpPr>
              <p:cNvPr id="59743" name="Line 47"/>
              <p:cNvSpPr>
                <a:spLocks noChangeShapeType="1"/>
              </p:cNvSpPr>
              <p:nvPr/>
            </p:nvSpPr>
            <p:spPr bwMode="auto">
              <a:xfrm>
                <a:off x="336" y="1680"/>
                <a:ext cx="864" cy="0"/>
              </a:xfrm>
              <a:prstGeom prst="line">
                <a:avLst/>
              </a:prstGeom>
              <a:noFill/>
              <a:ln w="9525">
                <a:solidFill>
                  <a:schemeClr val="tx1"/>
                </a:solidFill>
                <a:round/>
                <a:headEnd/>
                <a:tailEnd/>
              </a:ln>
            </p:spPr>
            <p:txBody>
              <a:bodyPr wrap="none" anchor="ctr"/>
              <a:lstStyle/>
              <a:p>
                <a:endParaRPr lang="bg-BG"/>
              </a:p>
            </p:txBody>
          </p:sp>
          <p:sp>
            <p:nvSpPr>
              <p:cNvPr id="59744" name="Line 48"/>
              <p:cNvSpPr>
                <a:spLocks noChangeShapeType="1"/>
              </p:cNvSpPr>
              <p:nvPr/>
            </p:nvSpPr>
            <p:spPr bwMode="auto">
              <a:xfrm>
                <a:off x="336" y="1776"/>
                <a:ext cx="864" cy="0"/>
              </a:xfrm>
              <a:prstGeom prst="line">
                <a:avLst/>
              </a:prstGeom>
              <a:noFill/>
              <a:ln w="9525">
                <a:solidFill>
                  <a:schemeClr val="tx1"/>
                </a:solidFill>
                <a:round/>
                <a:headEnd/>
                <a:tailEnd/>
              </a:ln>
            </p:spPr>
            <p:txBody>
              <a:bodyPr wrap="none" anchor="ctr"/>
              <a:lstStyle/>
              <a:p>
                <a:endParaRPr lang="bg-BG"/>
              </a:p>
            </p:txBody>
          </p:sp>
          <p:sp>
            <p:nvSpPr>
              <p:cNvPr id="59745" name="Line 49"/>
              <p:cNvSpPr>
                <a:spLocks noChangeShapeType="1"/>
              </p:cNvSpPr>
              <p:nvPr/>
            </p:nvSpPr>
            <p:spPr bwMode="auto">
              <a:xfrm>
                <a:off x="336" y="1872"/>
                <a:ext cx="864" cy="0"/>
              </a:xfrm>
              <a:prstGeom prst="line">
                <a:avLst/>
              </a:prstGeom>
              <a:noFill/>
              <a:ln w="9525">
                <a:solidFill>
                  <a:schemeClr val="tx1"/>
                </a:solidFill>
                <a:round/>
                <a:headEnd/>
                <a:tailEnd/>
              </a:ln>
            </p:spPr>
            <p:txBody>
              <a:bodyPr wrap="none" anchor="ctr"/>
              <a:lstStyle/>
              <a:p>
                <a:endParaRPr lang="bg-BG"/>
              </a:p>
            </p:txBody>
          </p:sp>
          <p:sp>
            <p:nvSpPr>
              <p:cNvPr id="59746" name="Line 50"/>
              <p:cNvSpPr>
                <a:spLocks noChangeShapeType="1"/>
              </p:cNvSpPr>
              <p:nvPr/>
            </p:nvSpPr>
            <p:spPr bwMode="auto">
              <a:xfrm>
                <a:off x="336" y="1968"/>
                <a:ext cx="864" cy="0"/>
              </a:xfrm>
              <a:prstGeom prst="line">
                <a:avLst/>
              </a:prstGeom>
              <a:noFill/>
              <a:ln w="9525">
                <a:solidFill>
                  <a:schemeClr val="tx1"/>
                </a:solidFill>
                <a:round/>
                <a:headEnd/>
                <a:tailEnd/>
              </a:ln>
            </p:spPr>
            <p:txBody>
              <a:bodyPr wrap="none" anchor="ctr"/>
              <a:lstStyle/>
              <a:p>
                <a:endParaRPr lang="bg-BG"/>
              </a:p>
            </p:txBody>
          </p:sp>
          <p:sp>
            <p:nvSpPr>
              <p:cNvPr id="59747" name="Line 51"/>
              <p:cNvSpPr>
                <a:spLocks noChangeShapeType="1"/>
              </p:cNvSpPr>
              <p:nvPr/>
            </p:nvSpPr>
            <p:spPr bwMode="auto">
              <a:xfrm>
                <a:off x="336" y="2064"/>
                <a:ext cx="864" cy="0"/>
              </a:xfrm>
              <a:prstGeom prst="line">
                <a:avLst/>
              </a:prstGeom>
              <a:noFill/>
              <a:ln w="9525">
                <a:solidFill>
                  <a:schemeClr val="tx1"/>
                </a:solidFill>
                <a:round/>
                <a:headEnd/>
                <a:tailEnd/>
              </a:ln>
            </p:spPr>
            <p:txBody>
              <a:bodyPr wrap="none" anchor="ctr"/>
              <a:lstStyle/>
              <a:p>
                <a:endParaRPr lang="bg-BG"/>
              </a:p>
            </p:txBody>
          </p:sp>
          <p:sp>
            <p:nvSpPr>
              <p:cNvPr id="59748" name="Line 52"/>
              <p:cNvSpPr>
                <a:spLocks noChangeShapeType="1"/>
              </p:cNvSpPr>
              <p:nvPr/>
            </p:nvSpPr>
            <p:spPr bwMode="auto">
              <a:xfrm>
                <a:off x="336" y="2160"/>
                <a:ext cx="864" cy="0"/>
              </a:xfrm>
              <a:prstGeom prst="line">
                <a:avLst/>
              </a:prstGeom>
              <a:noFill/>
              <a:ln w="9525">
                <a:solidFill>
                  <a:schemeClr val="tx1"/>
                </a:solidFill>
                <a:round/>
                <a:headEnd/>
                <a:tailEnd/>
              </a:ln>
            </p:spPr>
            <p:txBody>
              <a:bodyPr wrap="none" anchor="ctr"/>
              <a:lstStyle/>
              <a:p>
                <a:endParaRPr lang="bg-BG"/>
              </a:p>
            </p:txBody>
          </p:sp>
          <p:sp>
            <p:nvSpPr>
              <p:cNvPr id="59749" name="Line 53"/>
              <p:cNvSpPr>
                <a:spLocks noChangeShapeType="1"/>
              </p:cNvSpPr>
              <p:nvPr/>
            </p:nvSpPr>
            <p:spPr bwMode="auto">
              <a:xfrm>
                <a:off x="336" y="2256"/>
                <a:ext cx="864" cy="0"/>
              </a:xfrm>
              <a:prstGeom prst="line">
                <a:avLst/>
              </a:prstGeom>
              <a:noFill/>
              <a:ln w="9525">
                <a:solidFill>
                  <a:schemeClr val="tx1"/>
                </a:solidFill>
                <a:round/>
                <a:headEnd/>
                <a:tailEnd/>
              </a:ln>
            </p:spPr>
            <p:txBody>
              <a:bodyPr wrap="none" anchor="ctr"/>
              <a:lstStyle/>
              <a:p>
                <a:endParaRPr lang="bg-BG"/>
              </a:p>
            </p:txBody>
          </p:sp>
        </p:grpSp>
        <p:grpSp>
          <p:nvGrpSpPr>
            <p:cNvPr id="59398" name="Group 297"/>
            <p:cNvGrpSpPr>
              <a:grpSpLocks/>
            </p:cNvGrpSpPr>
            <p:nvPr/>
          </p:nvGrpSpPr>
          <p:grpSpPr bwMode="auto">
            <a:xfrm>
              <a:off x="3585" y="1440"/>
              <a:ext cx="1659" cy="1472"/>
              <a:chOff x="3333" y="1440"/>
              <a:chExt cx="1659" cy="1472"/>
            </a:xfrm>
          </p:grpSpPr>
          <p:grpSp>
            <p:nvGrpSpPr>
              <p:cNvPr id="59633" name="Group 184"/>
              <p:cNvGrpSpPr>
                <a:grpSpLocks/>
              </p:cNvGrpSpPr>
              <p:nvPr/>
            </p:nvGrpSpPr>
            <p:grpSpPr bwMode="auto">
              <a:xfrm>
                <a:off x="3753" y="2114"/>
                <a:ext cx="54" cy="798"/>
                <a:chOff x="400" y="784"/>
                <a:chExt cx="56" cy="824"/>
              </a:xfrm>
            </p:grpSpPr>
            <p:sp>
              <p:nvSpPr>
                <p:cNvPr id="59731" name="Line 185"/>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732" name="Oval 186"/>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733" name="Oval 187"/>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34" name="Group 188"/>
              <p:cNvGrpSpPr>
                <a:grpSpLocks/>
              </p:cNvGrpSpPr>
              <p:nvPr/>
            </p:nvGrpSpPr>
            <p:grpSpPr bwMode="auto">
              <a:xfrm>
                <a:off x="3692" y="2021"/>
                <a:ext cx="54" cy="798"/>
                <a:chOff x="400" y="784"/>
                <a:chExt cx="56" cy="824"/>
              </a:xfrm>
            </p:grpSpPr>
            <p:sp>
              <p:nvSpPr>
                <p:cNvPr id="59728" name="Line 189"/>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729" name="Oval 190"/>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730" name="Oval 191"/>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35" name="Group 192"/>
              <p:cNvGrpSpPr>
                <a:grpSpLocks/>
              </p:cNvGrpSpPr>
              <p:nvPr/>
            </p:nvGrpSpPr>
            <p:grpSpPr bwMode="auto">
              <a:xfrm>
                <a:off x="3631" y="1928"/>
                <a:ext cx="53" cy="798"/>
                <a:chOff x="400" y="784"/>
                <a:chExt cx="56" cy="824"/>
              </a:xfrm>
            </p:grpSpPr>
            <p:sp>
              <p:nvSpPr>
                <p:cNvPr id="59725" name="Line 193"/>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726" name="Oval 194"/>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727" name="Oval 195"/>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36" name="Group 196"/>
              <p:cNvGrpSpPr>
                <a:grpSpLocks/>
              </p:cNvGrpSpPr>
              <p:nvPr/>
            </p:nvGrpSpPr>
            <p:grpSpPr bwMode="auto">
              <a:xfrm>
                <a:off x="3577" y="1835"/>
                <a:ext cx="54" cy="798"/>
                <a:chOff x="400" y="784"/>
                <a:chExt cx="56" cy="824"/>
              </a:xfrm>
            </p:grpSpPr>
            <p:sp>
              <p:nvSpPr>
                <p:cNvPr id="59722" name="Line 197"/>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723" name="Oval 198"/>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724" name="Oval 199"/>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37" name="Group 200"/>
              <p:cNvGrpSpPr>
                <a:grpSpLocks/>
              </p:cNvGrpSpPr>
              <p:nvPr/>
            </p:nvGrpSpPr>
            <p:grpSpPr bwMode="auto">
              <a:xfrm>
                <a:off x="3516" y="1727"/>
                <a:ext cx="54" cy="798"/>
                <a:chOff x="400" y="784"/>
                <a:chExt cx="56" cy="824"/>
              </a:xfrm>
            </p:grpSpPr>
            <p:sp>
              <p:nvSpPr>
                <p:cNvPr id="59719" name="Line 201"/>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720" name="Oval 202"/>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721" name="Oval 203"/>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38" name="Group 204"/>
              <p:cNvGrpSpPr>
                <a:grpSpLocks/>
              </p:cNvGrpSpPr>
              <p:nvPr/>
            </p:nvGrpSpPr>
            <p:grpSpPr bwMode="auto">
              <a:xfrm>
                <a:off x="3455" y="1641"/>
                <a:ext cx="54" cy="798"/>
                <a:chOff x="400" y="784"/>
                <a:chExt cx="56" cy="824"/>
              </a:xfrm>
            </p:grpSpPr>
            <p:sp>
              <p:nvSpPr>
                <p:cNvPr id="59716" name="Line 205"/>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717" name="Oval 206"/>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718" name="Oval 207"/>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39" name="Group 208"/>
              <p:cNvGrpSpPr>
                <a:grpSpLocks/>
              </p:cNvGrpSpPr>
              <p:nvPr/>
            </p:nvGrpSpPr>
            <p:grpSpPr bwMode="auto">
              <a:xfrm>
                <a:off x="3394" y="1541"/>
                <a:ext cx="53" cy="798"/>
                <a:chOff x="400" y="784"/>
                <a:chExt cx="56" cy="824"/>
              </a:xfrm>
            </p:grpSpPr>
            <p:sp>
              <p:nvSpPr>
                <p:cNvPr id="59713" name="Line 209"/>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714" name="Oval 210"/>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715" name="Oval 211"/>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40" name="Group 212"/>
              <p:cNvGrpSpPr>
                <a:grpSpLocks/>
              </p:cNvGrpSpPr>
              <p:nvPr/>
            </p:nvGrpSpPr>
            <p:grpSpPr bwMode="auto">
              <a:xfrm>
                <a:off x="3333" y="1440"/>
                <a:ext cx="53" cy="798"/>
                <a:chOff x="400" y="784"/>
                <a:chExt cx="56" cy="824"/>
              </a:xfrm>
            </p:grpSpPr>
            <p:sp>
              <p:nvSpPr>
                <p:cNvPr id="59710" name="Line 213"/>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711" name="Oval 214"/>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712" name="Oval 215"/>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41" name="Group 222"/>
              <p:cNvGrpSpPr>
                <a:grpSpLocks/>
              </p:cNvGrpSpPr>
              <p:nvPr/>
            </p:nvGrpSpPr>
            <p:grpSpPr bwMode="auto">
              <a:xfrm>
                <a:off x="4242" y="2021"/>
                <a:ext cx="46" cy="418"/>
                <a:chOff x="1840" y="2560"/>
                <a:chExt cx="48" cy="432"/>
              </a:xfrm>
            </p:grpSpPr>
            <p:sp>
              <p:nvSpPr>
                <p:cNvPr id="59707" name="Line 217"/>
                <p:cNvSpPr>
                  <a:spLocks noChangeShapeType="1"/>
                </p:cNvSpPr>
                <p:nvPr/>
              </p:nvSpPr>
              <p:spPr bwMode="auto">
                <a:xfrm>
                  <a:off x="1872" y="2592"/>
                  <a:ext cx="0" cy="384"/>
                </a:xfrm>
                <a:prstGeom prst="line">
                  <a:avLst/>
                </a:prstGeom>
                <a:noFill/>
                <a:ln w="28575">
                  <a:solidFill>
                    <a:schemeClr val="accent2"/>
                  </a:solidFill>
                  <a:round/>
                  <a:headEnd/>
                  <a:tailEnd/>
                </a:ln>
              </p:spPr>
              <p:txBody>
                <a:bodyPr wrap="none" anchor="ctr"/>
                <a:lstStyle/>
                <a:p>
                  <a:endParaRPr lang="bg-BG"/>
                </a:p>
              </p:txBody>
            </p:sp>
            <p:sp>
              <p:nvSpPr>
                <p:cNvPr id="59708" name="Oval 220"/>
                <p:cNvSpPr>
                  <a:spLocks noChangeArrowheads="1"/>
                </p:cNvSpPr>
                <p:nvPr/>
              </p:nvSpPr>
              <p:spPr bwMode="auto">
                <a:xfrm>
                  <a:off x="1840" y="294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709" name="Oval 221"/>
                <p:cNvSpPr>
                  <a:spLocks noChangeArrowheads="1"/>
                </p:cNvSpPr>
                <p:nvPr/>
              </p:nvSpPr>
              <p:spPr bwMode="auto">
                <a:xfrm>
                  <a:off x="1840" y="2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42" name="Group 223"/>
              <p:cNvGrpSpPr>
                <a:grpSpLocks/>
              </p:cNvGrpSpPr>
              <p:nvPr/>
            </p:nvGrpSpPr>
            <p:grpSpPr bwMode="auto">
              <a:xfrm>
                <a:off x="4174" y="1928"/>
                <a:ext cx="46" cy="418"/>
                <a:chOff x="1840" y="2560"/>
                <a:chExt cx="48" cy="432"/>
              </a:xfrm>
            </p:grpSpPr>
            <p:sp>
              <p:nvSpPr>
                <p:cNvPr id="59704" name="Line 224"/>
                <p:cNvSpPr>
                  <a:spLocks noChangeShapeType="1"/>
                </p:cNvSpPr>
                <p:nvPr/>
              </p:nvSpPr>
              <p:spPr bwMode="auto">
                <a:xfrm>
                  <a:off x="1872" y="2592"/>
                  <a:ext cx="0" cy="384"/>
                </a:xfrm>
                <a:prstGeom prst="line">
                  <a:avLst/>
                </a:prstGeom>
                <a:noFill/>
                <a:ln w="28575">
                  <a:solidFill>
                    <a:schemeClr val="accent2"/>
                  </a:solidFill>
                  <a:round/>
                  <a:headEnd/>
                  <a:tailEnd/>
                </a:ln>
              </p:spPr>
              <p:txBody>
                <a:bodyPr wrap="none" anchor="ctr"/>
                <a:lstStyle/>
                <a:p>
                  <a:endParaRPr lang="bg-BG"/>
                </a:p>
              </p:txBody>
            </p:sp>
            <p:sp>
              <p:nvSpPr>
                <p:cNvPr id="59705" name="Oval 225"/>
                <p:cNvSpPr>
                  <a:spLocks noChangeArrowheads="1"/>
                </p:cNvSpPr>
                <p:nvPr/>
              </p:nvSpPr>
              <p:spPr bwMode="auto">
                <a:xfrm>
                  <a:off x="1840" y="294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706" name="Oval 226"/>
                <p:cNvSpPr>
                  <a:spLocks noChangeArrowheads="1"/>
                </p:cNvSpPr>
                <p:nvPr/>
              </p:nvSpPr>
              <p:spPr bwMode="auto">
                <a:xfrm>
                  <a:off x="1840" y="2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43" name="Group 227"/>
              <p:cNvGrpSpPr>
                <a:grpSpLocks/>
              </p:cNvGrpSpPr>
              <p:nvPr/>
            </p:nvGrpSpPr>
            <p:grpSpPr bwMode="auto">
              <a:xfrm>
                <a:off x="4105" y="1835"/>
                <a:ext cx="46" cy="418"/>
                <a:chOff x="1840" y="2560"/>
                <a:chExt cx="48" cy="432"/>
              </a:xfrm>
            </p:grpSpPr>
            <p:sp>
              <p:nvSpPr>
                <p:cNvPr id="59701" name="Line 228"/>
                <p:cNvSpPr>
                  <a:spLocks noChangeShapeType="1"/>
                </p:cNvSpPr>
                <p:nvPr/>
              </p:nvSpPr>
              <p:spPr bwMode="auto">
                <a:xfrm>
                  <a:off x="1872" y="2592"/>
                  <a:ext cx="0" cy="384"/>
                </a:xfrm>
                <a:prstGeom prst="line">
                  <a:avLst/>
                </a:prstGeom>
                <a:noFill/>
                <a:ln w="28575">
                  <a:solidFill>
                    <a:schemeClr val="accent2"/>
                  </a:solidFill>
                  <a:round/>
                  <a:headEnd/>
                  <a:tailEnd/>
                </a:ln>
              </p:spPr>
              <p:txBody>
                <a:bodyPr wrap="none" anchor="ctr"/>
                <a:lstStyle/>
                <a:p>
                  <a:endParaRPr lang="bg-BG"/>
                </a:p>
              </p:txBody>
            </p:sp>
            <p:sp>
              <p:nvSpPr>
                <p:cNvPr id="59702" name="Oval 229"/>
                <p:cNvSpPr>
                  <a:spLocks noChangeArrowheads="1"/>
                </p:cNvSpPr>
                <p:nvPr/>
              </p:nvSpPr>
              <p:spPr bwMode="auto">
                <a:xfrm>
                  <a:off x="1840" y="294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703" name="Oval 230"/>
                <p:cNvSpPr>
                  <a:spLocks noChangeArrowheads="1"/>
                </p:cNvSpPr>
                <p:nvPr/>
              </p:nvSpPr>
              <p:spPr bwMode="auto">
                <a:xfrm>
                  <a:off x="1840" y="2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44" name="Group 231"/>
              <p:cNvGrpSpPr>
                <a:grpSpLocks/>
              </p:cNvGrpSpPr>
              <p:nvPr/>
            </p:nvGrpSpPr>
            <p:grpSpPr bwMode="auto">
              <a:xfrm>
                <a:off x="4044" y="1742"/>
                <a:ext cx="46" cy="419"/>
                <a:chOff x="1840" y="2560"/>
                <a:chExt cx="48" cy="432"/>
              </a:xfrm>
            </p:grpSpPr>
            <p:sp>
              <p:nvSpPr>
                <p:cNvPr id="59698" name="Line 232"/>
                <p:cNvSpPr>
                  <a:spLocks noChangeShapeType="1"/>
                </p:cNvSpPr>
                <p:nvPr/>
              </p:nvSpPr>
              <p:spPr bwMode="auto">
                <a:xfrm>
                  <a:off x="1872" y="2592"/>
                  <a:ext cx="0" cy="384"/>
                </a:xfrm>
                <a:prstGeom prst="line">
                  <a:avLst/>
                </a:prstGeom>
                <a:noFill/>
                <a:ln w="28575">
                  <a:solidFill>
                    <a:schemeClr val="accent2"/>
                  </a:solidFill>
                  <a:round/>
                  <a:headEnd/>
                  <a:tailEnd/>
                </a:ln>
              </p:spPr>
              <p:txBody>
                <a:bodyPr wrap="none" anchor="ctr"/>
                <a:lstStyle/>
                <a:p>
                  <a:endParaRPr lang="bg-BG"/>
                </a:p>
              </p:txBody>
            </p:sp>
            <p:sp>
              <p:nvSpPr>
                <p:cNvPr id="59699" name="Oval 233"/>
                <p:cNvSpPr>
                  <a:spLocks noChangeArrowheads="1"/>
                </p:cNvSpPr>
                <p:nvPr/>
              </p:nvSpPr>
              <p:spPr bwMode="auto">
                <a:xfrm>
                  <a:off x="1840" y="294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700" name="Oval 234"/>
                <p:cNvSpPr>
                  <a:spLocks noChangeArrowheads="1"/>
                </p:cNvSpPr>
                <p:nvPr/>
              </p:nvSpPr>
              <p:spPr bwMode="auto">
                <a:xfrm>
                  <a:off x="1840" y="2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45" name="Group 235"/>
              <p:cNvGrpSpPr>
                <a:grpSpLocks/>
              </p:cNvGrpSpPr>
              <p:nvPr/>
            </p:nvGrpSpPr>
            <p:grpSpPr bwMode="auto">
              <a:xfrm>
                <a:off x="4564" y="2501"/>
                <a:ext cx="45" cy="217"/>
                <a:chOff x="936" y="992"/>
                <a:chExt cx="48" cy="224"/>
              </a:xfrm>
            </p:grpSpPr>
            <p:sp>
              <p:nvSpPr>
                <p:cNvPr id="59695" name="Oval 236"/>
                <p:cNvSpPr>
                  <a:spLocks noChangeArrowheads="1"/>
                </p:cNvSpPr>
                <p:nvPr/>
              </p:nvSpPr>
              <p:spPr bwMode="auto">
                <a:xfrm>
                  <a:off x="936" y="99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96" name="Oval 237"/>
                <p:cNvSpPr>
                  <a:spLocks noChangeArrowheads="1"/>
                </p:cNvSpPr>
                <p:nvPr/>
              </p:nvSpPr>
              <p:spPr bwMode="auto">
                <a:xfrm>
                  <a:off x="936" y="116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97" name="Line 238"/>
                <p:cNvSpPr>
                  <a:spLocks noChangeShapeType="1"/>
                </p:cNvSpPr>
                <p:nvPr/>
              </p:nvSpPr>
              <p:spPr bwMode="auto">
                <a:xfrm>
                  <a:off x="960" y="1008"/>
                  <a:ext cx="0" cy="192"/>
                </a:xfrm>
                <a:prstGeom prst="line">
                  <a:avLst/>
                </a:prstGeom>
                <a:noFill/>
                <a:ln w="28575">
                  <a:solidFill>
                    <a:schemeClr val="accent2"/>
                  </a:solidFill>
                  <a:round/>
                  <a:headEnd/>
                  <a:tailEnd/>
                </a:ln>
              </p:spPr>
              <p:txBody>
                <a:bodyPr wrap="none" anchor="ctr"/>
                <a:lstStyle/>
                <a:p>
                  <a:endParaRPr lang="bg-BG"/>
                </a:p>
              </p:txBody>
            </p:sp>
          </p:grpSp>
          <p:grpSp>
            <p:nvGrpSpPr>
              <p:cNvPr id="59646" name="Group 239"/>
              <p:cNvGrpSpPr>
                <a:grpSpLocks/>
              </p:cNvGrpSpPr>
              <p:nvPr/>
            </p:nvGrpSpPr>
            <p:grpSpPr bwMode="auto">
              <a:xfrm>
                <a:off x="4502" y="2408"/>
                <a:ext cx="46" cy="217"/>
                <a:chOff x="936" y="992"/>
                <a:chExt cx="48" cy="224"/>
              </a:xfrm>
            </p:grpSpPr>
            <p:sp>
              <p:nvSpPr>
                <p:cNvPr id="59692" name="Oval 240"/>
                <p:cNvSpPr>
                  <a:spLocks noChangeArrowheads="1"/>
                </p:cNvSpPr>
                <p:nvPr/>
              </p:nvSpPr>
              <p:spPr bwMode="auto">
                <a:xfrm>
                  <a:off x="936" y="99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93" name="Oval 241"/>
                <p:cNvSpPr>
                  <a:spLocks noChangeArrowheads="1"/>
                </p:cNvSpPr>
                <p:nvPr/>
              </p:nvSpPr>
              <p:spPr bwMode="auto">
                <a:xfrm>
                  <a:off x="936" y="116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94" name="Line 242"/>
                <p:cNvSpPr>
                  <a:spLocks noChangeShapeType="1"/>
                </p:cNvSpPr>
                <p:nvPr/>
              </p:nvSpPr>
              <p:spPr bwMode="auto">
                <a:xfrm>
                  <a:off x="960" y="1008"/>
                  <a:ext cx="0" cy="192"/>
                </a:xfrm>
                <a:prstGeom prst="line">
                  <a:avLst/>
                </a:prstGeom>
                <a:noFill/>
                <a:ln w="28575">
                  <a:solidFill>
                    <a:schemeClr val="accent2"/>
                  </a:solidFill>
                  <a:round/>
                  <a:headEnd/>
                  <a:tailEnd/>
                </a:ln>
              </p:spPr>
              <p:txBody>
                <a:bodyPr wrap="none" anchor="ctr"/>
                <a:lstStyle/>
                <a:p>
                  <a:endParaRPr lang="bg-BG"/>
                </a:p>
              </p:txBody>
            </p:sp>
          </p:grpSp>
          <p:grpSp>
            <p:nvGrpSpPr>
              <p:cNvPr id="59647" name="Group 243"/>
              <p:cNvGrpSpPr>
                <a:grpSpLocks/>
              </p:cNvGrpSpPr>
              <p:nvPr/>
            </p:nvGrpSpPr>
            <p:grpSpPr bwMode="auto">
              <a:xfrm>
                <a:off x="4502" y="2021"/>
                <a:ext cx="46" cy="217"/>
                <a:chOff x="936" y="992"/>
                <a:chExt cx="48" cy="224"/>
              </a:xfrm>
            </p:grpSpPr>
            <p:sp>
              <p:nvSpPr>
                <p:cNvPr id="59689" name="Oval 244"/>
                <p:cNvSpPr>
                  <a:spLocks noChangeArrowheads="1"/>
                </p:cNvSpPr>
                <p:nvPr/>
              </p:nvSpPr>
              <p:spPr bwMode="auto">
                <a:xfrm>
                  <a:off x="936" y="99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90" name="Oval 245"/>
                <p:cNvSpPr>
                  <a:spLocks noChangeArrowheads="1"/>
                </p:cNvSpPr>
                <p:nvPr/>
              </p:nvSpPr>
              <p:spPr bwMode="auto">
                <a:xfrm>
                  <a:off x="936" y="116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91" name="Line 246"/>
                <p:cNvSpPr>
                  <a:spLocks noChangeShapeType="1"/>
                </p:cNvSpPr>
                <p:nvPr/>
              </p:nvSpPr>
              <p:spPr bwMode="auto">
                <a:xfrm>
                  <a:off x="960" y="1008"/>
                  <a:ext cx="0" cy="192"/>
                </a:xfrm>
                <a:prstGeom prst="line">
                  <a:avLst/>
                </a:prstGeom>
                <a:noFill/>
                <a:ln w="28575">
                  <a:solidFill>
                    <a:schemeClr val="accent2"/>
                  </a:solidFill>
                  <a:round/>
                  <a:headEnd/>
                  <a:tailEnd/>
                </a:ln>
              </p:spPr>
              <p:txBody>
                <a:bodyPr wrap="none" anchor="ctr"/>
                <a:lstStyle/>
                <a:p>
                  <a:endParaRPr lang="bg-BG"/>
                </a:p>
              </p:txBody>
            </p:sp>
          </p:grpSp>
          <p:grpSp>
            <p:nvGrpSpPr>
              <p:cNvPr id="59648" name="Group 247"/>
              <p:cNvGrpSpPr>
                <a:grpSpLocks/>
              </p:cNvGrpSpPr>
              <p:nvPr/>
            </p:nvGrpSpPr>
            <p:grpSpPr bwMode="auto">
              <a:xfrm>
                <a:off x="4571" y="2130"/>
                <a:ext cx="46" cy="216"/>
                <a:chOff x="936" y="992"/>
                <a:chExt cx="48" cy="224"/>
              </a:xfrm>
            </p:grpSpPr>
            <p:sp>
              <p:nvSpPr>
                <p:cNvPr id="59686" name="Oval 248"/>
                <p:cNvSpPr>
                  <a:spLocks noChangeArrowheads="1"/>
                </p:cNvSpPr>
                <p:nvPr/>
              </p:nvSpPr>
              <p:spPr bwMode="auto">
                <a:xfrm>
                  <a:off x="936" y="99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87" name="Oval 249"/>
                <p:cNvSpPr>
                  <a:spLocks noChangeArrowheads="1"/>
                </p:cNvSpPr>
                <p:nvPr/>
              </p:nvSpPr>
              <p:spPr bwMode="auto">
                <a:xfrm>
                  <a:off x="936" y="116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88" name="Line 250"/>
                <p:cNvSpPr>
                  <a:spLocks noChangeShapeType="1"/>
                </p:cNvSpPr>
                <p:nvPr/>
              </p:nvSpPr>
              <p:spPr bwMode="auto">
                <a:xfrm>
                  <a:off x="960" y="1008"/>
                  <a:ext cx="0" cy="192"/>
                </a:xfrm>
                <a:prstGeom prst="line">
                  <a:avLst/>
                </a:prstGeom>
                <a:noFill/>
                <a:ln w="28575">
                  <a:solidFill>
                    <a:schemeClr val="accent2"/>
                  </a:solidFill>
                  <a:round/>
                  <a:headEnd/>
                  <a:tailEnd/>
                </a:ln>
              </p:spPr>
              <p:txBody>
                <a:bodyPr wrap="none" anchor="ctr"/>
                <a:lstStyle/>
                <a:p>
                  <a:endParaRPr lang="bg-BG"/>
                </a:p>
              </p:txBody>
            </p:sp>
          </p:grpSp>
          <p:grpSp>
            <p:nvGrpSpPr>
              <p:cNvPr id="59649" name="Group 251"/>
              <p:cNvGrpSpPr>
                <a:grpSpLocks/>
              </p:cNvGrpSpPr>
              <p:nvPr/>
            </p:nvGrpSpPr>
            <p:grpSpPr bwMode="auto">
              <a:xfrm>
                <a:off x="4571" y="1734"/>
                <a:ext cx="46" cy="217"/>
                <a:chOff x="936" y="992"/>
                <a:chExt cx="48" cy="224"/>
              </a:xfrm>
            </p:grpSpPr>
            <p:sp>
              <p:nvSpPr>
                <p:cNvPr id="59683" name="Oval 252"/>
                <p:cNvSpPr>
                  <a:spLocks noChangeArrowheads="1"/>
                </p:cNvSpPr>
                <p:nvPr/>
              </p:nvSpPr>
              <p:spPr bwMode="auto">
                <a:xfrm>
                  <a:off x="936" y="99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84" name="Oval 253"/>
                <p:cNvSpPr>
                  <a:spLocks noChangeArrowheads="1"/>
                </p:cNvSpPr>
                <p:nvPr/>
              </p:nvSpPr>
              <p:spPr bwMode="auto">
                <a:xfrm>
                  <a:off x="936" y="116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85" name="Line 254"/>
                <p:cNvSpPr>
                  <a:spLocks noChangeShapeType="1"/>
                </p:cNvSpPr>
                <p:nvPr/>
              </p:nvSpPr>
              <p:spPr bwMode="auto">
                <a:xfrm>
                  <a:off x="960" y="1008"/>
                  <a:ext cx="0" cy="192"/>
                </a:xfrm>
                <a:prstGeom prst="line">
                  <a:avLst/>
                </a:prstGeom>
                <a:noFill/>
                <a:ln w="28575">
                  <a:solidFill>
                    <a:schemeClr val="accent2"/>
                  </a:solidFill>
                  <a:round/>
                  <a:headEnd/>
                  <a:tailEnd/>
                </a:ln>
              </p:spPr>
              <p:txBody>
                <a:bodyPr wrap="none" anchor="ctr"/>
                <a:lstStyle/>
                <a:p>
                  <a:endParaRPr lang="bg-BG"/>
                </a:p>
              </p:txBody>
            </p:sp>
          </p:grpSp>
          <p:grpSp>
            <p:nvGrpSpPr>
              <p:cNvPr id="59650" name="Group 255"/>
              <p:cNvGrpSpPr>
                <a:grpSpLocks/>
              </p:cNvGrpSpPr>
              <p:nvPr/>
            </p:nvGrpSpPr>
            <p:grpSpPr bwMode="auto">
              <a:xfrm>
                <a:off x="4502" y="1649"/>
                <a:ext cx="46" cy="217"/>
                <a:chOff x="936" y="992"/>
                <a:chExt cx="48" cy="224"/>
              </a:xfrm>
            </p:grpSpPr>
            <p:sp>
              <p:nvSpPr>
                <p:cNvPr id="59680" name="Oval 256"/>
                <p:cNvSpPr>
                  <a:spLocks noChangeArrowheads="1"/>
                </p:cNvSpPr>
                <p:nvPr/>
              </p:nvSpPr>
              <p:spPr bwMode="auto">
                <a:xfrm>
                  <a:off x="936" y="99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81" name="Oval 257"/>
                <p:cNvSpPr>
                  <a:spLocks noChangeArrowheads="1"/>
                </p:cNvSpPr>
                <p:nvPr/>
              </p:nvSpPr>
              <p:spPr bwMode="auto">
                <a:xfrm>
                  <a:off x="936" y="116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82" name="Line 258"/>
                <p:cNvSpPr>
                  <a:spLocks noChangeShapeType="1"/>
                </p:cNvSpPr>
                <p:nvPr/>
              </p:nvSpPr>
              <p:spPr bwMode="auto">
                <a:xfrm>
                  <a:off x="960" y="1008"/>
                  <a:ext cx="0" cy="192"/>
                </a:xfrm>
                <a:prstGeom prst="line">
                  <a:avLst/>
                </a:prstGeom>
                <a:noFill/>
                <a:ln w="28575">
                  <a:solidFill>
                    <a:schemeClr val="accent2"/>
                  </a:solidFill>
                  <a:round/>
                  <a:headEnd/>
                  <a:tailEnd/>
                </a:ln>
              </p:spPr>
              <p:txBody>
                <a:bodyPr wrap="none" anchor="ctr"/>
                <a:lstStyle/>
                <a:p>
                  <a:endParaRPr lang="bg-BG"/>
                </a:p>
              </p:txBody>
            </p:sp>
          </p:grpSp>
          <p:grpSp>
            <p:nvGrpSpPr>
              <p:cNvPr id="59651" name="Group 260"/>
              <p:cNvGrpSpPr>
                <a:grpSpLocks/>
              </p:cNvGrpSpPr>
              <p:nvPr/>
            </p:nvGrpSpPr>
            <p:grpSpPr bwMode="auto">
              <a:xfrm>
                <a:off x="4946" y="1548"/>
                <a:ext cx="46" cy="1271"/>
                <a:chOff x="3336" y="840"/>
                <a:chExt cx="48" cy="1312"/>
              </a:xfrm>
            </p:grpSpPr>
            <p:grpSp>
              <p:nvGrpSpPr>
                <p:cNvPr id="59652" name="Group 261"/>
                <p:cNvGrpSpPr>
                  <a:grpSpLocks/>
                </p:cNvGrpSpPr>
                <p:nvPr/>
              </p:nvGrpSpPr>
              <p:grpSpPr bwMode="auto">
                <a:xfrm>
                  <a:off x="3336" y="840"/>
                  <a:ext cx="48" cy="160"/>
                  <a:chOff x="3384" y="2800"/>
                  <a:chExt cx="48" cy="160"/>
                </a:xfrm>
              </p:grpSpPr>
              <p:sp>
                <p:nvSpPr>
                  <p:cNvPr id="59677" name="Oval 262"/>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78" name="Oval 263"/>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79" name="Line 264"/>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653" name="Group 265"/>
                <p:cNvGrpSpPr>
                  <a:grpSpLocks/>
                </p:cNvGrpSpPr>
                <p:nvPr/>
              </p:nvGrpSpPr>
              <p:grpSpPr bwMode="auto">
                <a:xfrm>
                  <a:off x="3336" y="1032"/>
                  <a:ext cx="48" cy="160"/>
                  <a:chOff x="3384" y="2800"/>
                  <a:chExt cx="48" cy="160"/>
                </a:xfrm>
              </p:grpSpPr>
              <p:sp>
                <p:nvSpPr>
                  <p:cNvPr id="59674" name="Oval 266"/>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75" name="Oval 267"/>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76" name="Line 268"/>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654" name="Group 269"/>
                <p:cNvGrpSpPr>
                  <a:grpSpLocks/>
                </p:cNvGrpSpPr>
                <p:nvPr/>
              </p:nvGrpSpPr>
              <p:grpSpPr bwMode="auto">
                <a:xfrm>
                  <a:off x="3336" y="1224"/>
                  <a:ext cx="48" cy="160"/>
                  <a:chOff x="3384" y="2800"/>
                  <a:chExt cx="48" cy="160"/>
                </a:xfrm>
              </p:grpSpPr>
              <p:sp>
                <p:nvSpPr>
                  <p:cNvPr id="59671" name="Oval 270"/>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72" name="Oval 271"/>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73" name="Line 272"/>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655" name="Group 273"/>
                <p:cNvGrpSpPr>
                  <a:grpSpLocks/>
                </p:cNvGrpSpPr>
                <p:nvPr/>
              </p:nvGrpSpPr>
              <p:grpSpPr bwMode="auto">
                <a:xfrm>
                  <a:off x="3336" y="1416"/>
                  <a:ext cx="48" cy="160"/>
                  <a:chOff x="3384" y="2800"/>
                  <a:chExt cx="48" cy="160"/>
                </a:xfrm>
              </p:grpSpPr>
              <p:sp>
                <p:nvSpPr>
                  <p:cNvPr id="59668" name="Oval 274"/>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69" name="Oval 275"/>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70" name="Line 276"/>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656" name="Group 277"/>
                <p:cNvGrpSpPr>
                  <a:grpSpLocks/>
                </p:cNvGrpSpPr>
                <p:nvPr/>
              </p:nvGrpSpPr>
              <p:grpSpPr bwMode="auto">
                <a:xfrm>
                  <a:off x="3336" y="1608"/>
                  <a:ext cx="48" cy="160"/>
                  <a:chOff x="3384" y="2800"/>
                  <a:chExt cx="48" cy="160"/>
                </a:xfrm>
              </p:grpSpPr>
              <p:sp>
                <p:nvSpPr>
                  <p:cNvPr id="59665" name="Oval 278"/>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66" name="Oval 279"/>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67" name="Line 280"/>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657" name="Group 281"/>
                <p:cNvGrpSpPr>
                  <a:grpSpLocks/>
                </p:cNvGrpSpPr>
                <p:nvPr/>
              </p:nvGrpSpPr>
              <p:grpSpPr bwMode="auto">
                <a:xfrm>
                  <a:off x="3336" y="1800"/>
                  <a:ext cx="48" cy="160"/>
                  <a:chOff x="3384" y="2800"/>
                  <a:chExt cx="48" cy="160"/>
                </a:xfrm>
              </p:grpSpPr>
              <p:sp>
                <p:nvSpPr>
                  <p:cNvPr id="59662" name="Oval 282"/>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63" name="Oval 283"/>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64" name="Line 284"/>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658" name="Group 285"/>
                <p:cNvGrpSpPr>
                  <a:grpSpLocks/>
                </p:cNvGrpSpPr>
                <p:nvPr/>
              </p:nvGrpSpPr>
              <p:grpSpPr bwMode="auto">
                <a:xfrm>
                  <a:off x="3336" y="1992"/>
                  <a:ext cx="48" cy="160"/>
                  <a:chOff x="3384" y="2800"/>
                  <a:chExt cx="48" cy="160"/>
                </a:xfrm>
              </p:grpSpPr>
              <p:sp>
                <p:nvSpPr>
                  <p:cNvPr id="59659" name="Oval 286"/>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60" name="Oval 287"/>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61" name="Line 288"/>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grpSp>
        <p:sp>
          <p:nvSpPr>
            <p:cNvPr id="59399" name="Rectangle 292"/>
            <p:cNvSpPr>
              <a:spLocks noChangeArrowheads="1"/>
            </p:cNvSpPr>
            <p:nvPr/>
          </p:nvSpPr>
          <p:spPr bwMode="auto">
            <a:xfrm>
              <a:off x="3552" y="1296"/>
              <a:ext cx="528" cy="1776"/>
            </a:xfrm>
            <a:prstGeom prst="rect">
              <a:avLst/>
            </a:prstGeom>
            <a:noFill/>
            <a:ln w="9525">
              <a:solidFill>
                <a:srgbClr val="FF0000"/>
              </a:solidFill>
              <a:prstDash val="dash"/>
              <a:miter lim="800000"/>
              <a:headEnd/>
              <a:tailEnd/>
            </a:ln>
          </p:spPr>
          <p:txBody>
            <a:bodyPr wrap="none" anchor="ctr"/>
            <a:lstStyle/>
            <a:p>
              <a:endParaRPr lang="bg-BG"/>
            </a:p>
          </p:txBody>
        </p:sp>
        <p:sp>
          <p:nvSpPr>
            <p:cNvPr id="59400" name="Rectangle 294"/>
            <p:cNvSpPr>
              <a:spLocks noChangeArrowheads="1"/>
            </p:cNvSpPr>
            <p:nvPr/>
          </p:nvSpPr>
          <p:spPr bwMode="auto">
            <a:xfrm>
              <a:off x="4137" y="1296"/>
              <a:ext cx="464" cy="1776"/>
            </a:xfrm>
            <a:prstGeom prst="rect">
              <a:avLst/>
            </a:prstGeom>
            <a:noFill/>
            <a:ln w="9525">
              <a:solidFill>
                <a:srgbClr val="FF0000"/>
              </a:solidFill>
              <a:prstDash val="dash"/>
              <a:miter lim="800000"/>
              <a:headEnd/>
              <a:tailEnd/>
            </a:ln>
          </p:spPr>
          <p:txBody>
            <a:bodyPr wrap="none" anchor="ctr"/>
            <a:lstStyle/>
            <a:p>
              <a:endParaRPr lang="bg-BG"/>
            </a:p>
          </p:txBody>
        </p:sp>
        <p:sp>
          <p:nvSpPr>
            <p:cNvPr id="59401" name="Rectangle 295"/>
            <p:cNvSpPr>
              <a:spLocks noChangeArrowheads="1"/>
            </p:cNvSpPr>
            <p:nvPr/>
          </p:nvSpPr>
          <p:spPr bwMode="auto">
            <a:xfrm>
              <a:off x="4656" y="1302"/>
              <a:ext cx="336" cy="1776"/>
            </a:xfrm>
            <a:prstGeom prst="rect">
              <a:avLst/>
            </a:prstGeom>
            <a:noFill/>
            <a:ln w="9525">
              <a:solidFill>
                <a:srgbClr val="FF0000"/>
              </a:solidFill>
              <a:prstDash val="dash"/>
              <a:miter lim="800000"/>
              <a:headEnd/>
              <a:tailEnd/>
            </a:ln>
          </p:spPr>
          <p:txBody>
            <a:bodyPr wrap="none" anchor="ctr"/>
            <a:lstStyle/>
            <a:p>
              <a:endParaRPr lang="bg-BG"/>
            </a:p>
          </p:txBody>
        </p:sp>
        <p:sp>
          <p:nvSpPr>
            <p:cNvPr id="59402" name="Rectangle 296"/>
            <p:cNvSpPr>
              <a:spLocks noChangeArrowheads="1"/>
            </p:cNvSpPr>
            <p:nvPr/>
          </p:nvSpPr>
          <p:spPr bwMode="auto">
            <a:xfrm>
              <a:off x="5040" y="1296"/>
              <a:ext cx="336" cy="1776"/>
            </a:xfrm>
            <a:prstGeom prst="rect">
              <a:avLst/>
            </a:prstGeom>
            <a:noFill/>
            <a:ln w="9525">
              <a:solidFill>
                <a:srgbClr val="FF0000"/>
              </a:solidFill>
              <a:prstDash val="dash"/>
              <a:miter lim="800000"/>
              <a:headEnd/>
              <a:tailEnd/>
            </a:ln>
          </p:spPr>
          <p:txBody>
            <a:bodyPr wrap="none" anchor="ctr"/>
            <a:lstStyle/>
            <a:p>
              <a:endParaRPr lang="bg-BG"/>
            </a:p>
          </p:txBody>
        </p:sp>
        <p:grpSp>
          <p:nvGrpSpPr>
            <p:cNvPr id="59403" name="Group 349"/>
            <p:cNvGrpSpPr>
              <a:grpSpLocks/>
            </p:cNvGrpSpPr>
            <p:nvPr/>
          </p:nvGrpSpPr>
          <p:grpSpPr bwMode="auto">
            <a:xfrm>
              <a:off x="288" y="1405"/>
              <a:ext cx="2727" cy="1507"/>
              <a:chOff x="288" y="1405"/>
              <a:chExt cx="2727" cy="1507"/>
            </a:xfrm>
          </p:grpSpPr>
          <p:grpSp>
            <p:nvGrpSpPr>
              <p:cNvPr id="59437" name="Group 289"/>
              <p:cNvGrpSpPr>
                <a:grpSpLocks/>
              </p:cNvGrpSpPr>
              <p:nvPr/>
            </p:nvGrpSpPr>
            <p:grpSpPr bwMode="auto">
              <a:xfrm>
                <a:off x="720" y="1413"/>
                <a:ext cx="864" cy="1472"/>
                <a:chOff x="336" y="784"/>
                <a:chExt cx="864" cy="1472"/>
              </a:xfrm>
            </p:grpSpPr>
            <p:sp>
              <p:nvSpPr>
                <p:cNvPr id="59583" name="Line 3"/>
                <p:cNvSpPr>
                  <a:spLocks noChangeShapeType="1"/>
                </p:cNvSpPr>
                <p:nvPr/>
              </p:nvSpPr>
              <p:spPr bwMode="auto">
                <a:xfrm>
                  <a:off x="336" y="816"/>
                  <a:ext cx="864" cy="0"/>
                </a:xfrm>
                <a:prstGeom prst="line">
                  <a:avLst/>
                </a:prstGeom>
                <a:noFill/>
                <a:ln w="9525">
                  <a:solidFill>
                    <a:schemeClr val="tx1"/>
                  </a:solidFill>
                  <a:round/>
                  <a:headEnd/>
                  <a:tailEnd/>
                </a:ln>
              </p:spPr>
              <p:txBody>
                <a:bodyPr wrap="none" anchor="ctr"/>
                <a:lstStyle/>
                <a:p>
                  <a:endParaRPr lang="bg-BG"/>
                </a:p>
              </p:txBody>
            </p:sp>
            <p:sp>
              <p:nvSpPr>
                <p:cNvPr id="59584" name="Line 4"/>
                <p:cNvSpPr>
                  <a:spLocks noChangeShapeType="1"/>
                </p:cNvSpPr>
                <p:nvPr/>
              </p:nvSpPr>
              <p:spPr bwMode="auto">
                <a:xfrm>
                  <a:off x="336" y="912"/>
                  <a:ext cx="864" cy="0"/>
                </a:xfrm>
                <a:prstGeom prst="line">
                  <a:avLst/>
                </a:prstGeom>
                <a:noFill/>
                <a:ln w="9525">
                  <a:solidFill>
                    <a:schemeClr val="tx1"/>
                  </a:solidFill>
                  <a:prstDash val="dash"/>
                  <a:round/>
                  <a:headEnd/>
                  <a:tailEnd/>
                </a:ln>
              </p:spPr>
              <p:txBody>
                <a:bodyPr wrap="none" anchor="ctr"/>
                <a:lstStyle/>
                <a:p>
                  <a:endParaRPr lang="bg-BG"/>
                </a:p>
              </p:txBody>
            </p:sp>
            <p:sp>
              <p:nvSpPr>
                <p:cNvPr id="59585" name="Line 5"/>
                <p:cNvSpPr>
                  <a:spLocks noChangeShapeType="1"/>
                </p:cNvSpPr>
                <p:nvPr/>
              </p:nvSpPr>
              <p:spPr bwMode="auto">
                <a:xfrm>
                  <a:off x="336" y="1008"/>
                  <a:ext cx="864" cy="0"/>
                </a:xfrm>
                <a:prstGeom prst="line">
                  <a:avLst/>
                </a:prstGeom>
                <a:noFill/>
                <a:ln w="9525">
                  <a:solidFill>
                    <a:schemeClr val="tx1"/>
                  </a:solidFill>
                  <a:round/>
                  <a:headEnd/>
                  <a:tailEnd/>
                </a:ln>
              </p:spPr>
              <p:txBody>
                <a:bodyPr wrap="none" anchor="ctr"/>
                <a:lstStyle/>
                <a:p>
                  <a:endParaRPr lang="bg-BG"/>
                </a:p>
              </p:txBody>
            </p:sp>
            <p:sp>
              <p:nvSpPr>
                <p:cNvPr id="59586" name="Line 6"/>
                <p:cNvSpPr>
                  <a:spLocks noChangeShapeType="1"/>
                </p:cNvSpPr>
                <p:nvPr/>
              </p:nvSpPr>
              <p:spPr bwMode="auto">
                <a:xfrm>
                  <a:off x="336" y="1104"/>
                  <a:ext cx="864" cy="0"/>
                </a:xfrm>
                <a:prstGeom prst="line">
                  <a:avLst/>
                </a:prstGeom>
                <a:noFill/>
                <a:ln w="9525">
                  <a:solidFill>
                    <a:schemeClr val="tx1"/>
                  </a:solidFill>
                  <a:prstDash val="dash"/>
                  <a:round/>
                  <a:headEnd/>
                  <a:tailEnd/>
                </a:ln>
              </p:spPr>
              <p:txBody>
                <a:bodyPr wrap="none" anchor="ctr"/>
                <a:lstStyle/>
                <a:p>
                  <a:endParaRPr lang="bg-BG"/>
                </a:p>
              </p:txBody>
            </p:sp>
            <p:sp>
              <p:nvSpPr>
                <p:cNvPr id="59587" name="Line 7"/>
                <p:cNvSpPr>
                  <a:spLocks noChangeShapeType="1"/>
                </p:cNvSpPr>
                <p:nvPr/>
              </p:nvSpPr>
              <p:spPr bwMode="auto">
                <a:xfrm>
                  <a:off x="336" y="1200"/>
                  <a:ext cx="864" cy="0"/>
                </a:xfrm>
                <a:prstGeom prst="line">
                  <a:avLst/>
                </a:prstGeom>
                <a:noFill/>
                <a:ln w="9525">
                  <a:solidFill>
                    <a:schemeClr val="tx1"/>
                  </a:solidFill>
                  <a:round/>
                  <a:headEnd/>
                  <a:tailEnd/>
                </a:ln>
              </p:spPr>
              <p:txBody>
                <a:bodyPr wrap="none" anchor="ctr"/>
                <a:lstStyle/>
                <a:p>
                  <a:endParaRPr lang="bg-BG"/>
                </a:p>
              </p:txBody>
            </p:sp>
            <p:sp>
              <p:nvSpPr>
                <p:cNvPr id="59588" name="Line 8"/>
                <p:cNvSpPr>
                  <a:spLocks noChangeShapeType="1"/>
                </p:cNvSpPr>
                <p:nvPr/>
              </p:nvSpPr>
              <p:spPr bwMode="auto">
                <a:xfrm>
                  <a:off x="336" y="1296"/>
                  <a:ext cx="864" cy="0"/>
                </a:xfrm>
                <a:prstGeom prst="line">
                  <a:avLst/>
                </a:prstGeom>
                <a:noFill/>
                <a:ln w="9525">
                  <a:solidFill>
                    <a:schemeClr val="tx1"/>
                  </a:solidFill>
                  <a:prstDash val="dash"/>
                  <a:round/>
                  <a:headEnd/>
                  <a:tailEnd/>
                </a:ln>
              </p:spPr>
              <p:txBody>
                <a:bodyPr wrap="none" anchor="ctr"/>
                <a:lstStyle/>
                <a:p>
                  <a:endParaRPr lang="bg-BG"/>
                </a:p>
              </p:txBody>
            </p:sp>
            <p:sp>
              <p:nvSpPr>
                <p:cNvPr id="59589" name="Line 9"/>
                <p:cNvSpPr>
                  <a:spLocks noChangeShapeType="1"/>
                </p:cNvSpPr>
                <p:nvPr/>
              </p:nvSpPr>
              <p:spPr bwMode="auto">
                <a:xfrm>
                  <a:off x="336" y="1392"/>
                  <a:ext cx="864" cy="0"/>
                </a:xfrm>
                <a:prstGeom prst="line">
                  <a:avLst/>
                </a:prstGeom>
                <a:noFill/>
                <a:ln w="9525">
                  <a:solidFill>
                    <a:schemeClr val="tx1"/>
                  </a:solidFill>
                  <a:round/>
                  <a:headEnd/>
                  <a:tailEnd/>
                </a:ln>
              </p:spPr>
              <p:txBody>
                <a:bodyPr wrap="none" anchor="ctr"/>
                <a:lstStyle/>
                <a:p>
                  <a:endParaRPr lang="bg-BG"/>
                </a:p>
              </p:txBody>
            </p:sp>
            <p:sp>
              <p:nvSpPr>
                <p:cNvPr id="59590" name="Line 10"/>
                <p:cNvSpPr>
                  <a:spLocks noChangeShapeType="1"/>
                </p:cNvSpPr>
                <p:nvPr/>
              </p:nvSpPr>
              <p:spPr bwMode="auto">
                <a:xfrm>
                  <a:off x="336" y="1488"/>
                  <a:ext cx="864" cy="0"/>
                </a:xfrm>
                <a:prstGeom prst="line">
                  <a:avLst/>
                </a:prstGeom>
                <a:noFill/>
                <a:ln w="9525">
                  <a:solidFill>
                    <a:schemeClr val="tx1"/>
                  </a:solidFill>
                  <a:prstDash val="dash"/>
                  <a:round/>
                  <a:headEnd/>
                  <a:tailEnd/>
                </a:ln>
              </p:spPr>
              <p:txBody>
                <a:bodyPr wrap="none" anchor="ctr"/>
                <a:lstStyle/>
                <a:p>
                  <a:endParaRPr lang="bg-BG"/>
                </a:p>
              </p:txBody>
            </p:sp>
            <p:sp>
              <p:nvSpPr>
                <p:cNvPr id="59591" name="Line 11"/>
                <p:cNvSpPr>
                  <a:spLocks noChangeShapeType="1"/>
                </p:cNvSpPr>
                <p:nvPr/>
              </p:nvSpPr>
              <p:spPr bwMode="auto">
                <a:xfrm>
                  <a:off x="336" y="1584"/>
                  <a:ext cx="864" cy="0"/>
                </a:xfrm>
                <a:prstGeom prst="line">
                  <a:avLst/>
                </a:prstGeom>
                <a:noFill/>
                <a:ln w="9525">
                  <a:solidFill>
                    <a:schemeClr val="tx1"/>
                  </a:solidFill>
                  <a:round/>
                  <a:headEnd/>
                  <a:tailEnd/>
                </a:ln>
              </p:spPr>
              <p:txBody>
                <a:bodyPr wrap="none" anchor="ctr"/>
                <a:lstStyle/>
                <a:p>
                  <a:endParaRPr lang="bg-BG"/>
                </a:p>
              </p:txBody>
            </p:sp>
            <p:sp>
              <p:nvSpPr>
                <p:cNvPr id="59592" name="Line 12"/>
                <p:cNvSpPr>
                  <a:spLocks noChangeShapeType="1"/>
                </p:cNvSpPr>
                <p:nvPr/>
              </p:nvSpPr>
              <p:spPr bwMode="auto">
                <a:xfrm>
                  <a:off x="336" y="1680"/>
                  <a:ext cx="864" cy="0"/>
                </a:xfrm>
                <a:prstGeom prst="line">
                  <a:avLst/>
                </a:prstGeom>
                <a:noFill/>
                <a:ln w="9525">
                  <a:solidFill>
                    <a:schemeClr val="tx1"/>
                  </a:solidFill>
                  <a:prstDash val="dash"/>
                  <a:round/>
                  <a:headEnd/>
                  <a:tailEnd/>
                </a:ln>
              </p:spPr>
              <p:txBody>
                <a:bodyPr wrap="none" anchor="ctr"/>
                <a:lstStyle/>
                <a:p>
                  <a:endParaRPr lang="bg-BG"/>
                </a:p>
              </p:txBody>
            </p:sp>
            <p:sp>
              <p:nvSpPr>
                <p:cNvPr id="59593" name="Line 13"/>
                <p:cNvSpPr>
                  <a:spLocks noChangeShapeType="1"/>
                </p:cNvSpPr>
                <p:nvPr/>
              </p:nvSpPr>
              <p:spPr bwMode="auto">
                <a:xfrm>
                  <a:off x="336" y="1776"/>
                  <a:ext cx="864" cy="0"/>
                </a:xfrm>
                <a:prstGeom prst="line">
                  <a:avLst/>
                </a:prstGeom>
                <a:noFill/>
                <a:ln w="9525">
                  <a:solidFill>
                    <a:schemeClr val="tx1"/>
                  </a:solidFill>
                  <a:round/>
                  <a:headEnd/>
                  <a:tailEnd/>
                </a:ln>
              </p:spPr>
              <p:txBody>
                <a:bodyPr wrap="none" anchor="ctr"/>
                <a:lstStyle/>
                <a:p>
                  <a:endParaRPr lang="bg-BG"/>
                </a:p>
              </p:txBody>
            </p:sp>
            <p:sp>
              <p:nvSpPr>
                <p:cNvPr id="59594" name="Line 14"/>
                <p:cNvSpPr>
                  <a:spLocks noChangeShapeType="1"/>
                </p:cNvSpPr>
                <p:nvPr/>
              </p:nvSpPr>
              <p:spPr bwMode="auto">
                <a:xfrm>
                  <a:off x="336" y="1872"/>
                  <a:ext cx="864" cy="0"/>
                </a:xfrm>
                <a:prstGeom prst="line">
                  <a:avLst/>
                </a:prstGeom>
                <a:noFill/>
                <a:ln w="9525">
                  <a:solidFill>
                    <a:schemeClr val="tx1"/>
                  </a:solidFill>
                  <a:prstDash val="dash"/>
                  <a:round/>
                  <a:headEnd/>
                  <a:tailEnd/>
                </a:ln>
              </p:spPr>
              <p:txBody>
                <a:bodyPr wrap="none" anchor="ctr"/>
                <a:lstStyle/>
                <a:p>
                  <a:endParaRPr lang="bg-BG"/>
                </a:p>
              </p:txBody>
            </p:sp>
            <p:sp>
              <p:nvSpPr>
                <p:cNvPr id="59595" name="Line 15"/>
                <p:cNvSpPr>
                  <a:spLocks noChangeShapeType="1"/>
                </p:cNvSpPr>
                <p:nvPr/>
              </p:nvSpPr>
              <p:spPr bwMode="auto">
                <a:xfrm>
                  <a:off x="336" y="1968"/>
                  <a:ext cx="864" cy="0"/>
                </a:xfrm>
                <a:prstGeom prst="line">
                  <a:avLst/>
                </a:prstGeom>
                <a:noFill/>
                <a:ln w="9525">
                  <a:solidFill>
                    <a:schemeClr val="tx1"/>
                  </a:solidFill>
                  <a:round/>
                  <a:headEnd/>
                  <a:tailEnd/>
                </a:ln>
              </p:spPr>
              <p:txBody>
                <a:bodyPr wrap="none" anchor="ctr"/>
                <a:lstStyle/>
                <a:p>
                  <a:endParaRPr lang="bg-BG"/>
                </a:p>
              </p:txBody>
            </p:sp>
            <p:sp>
              <p:nvSpPr>
                <p:cNvPr id="59596" name="Line 16"/>
                <p:cNvSpPr>
                  <a:spLocks noChangeShapeType="1"/>
                </p:cNvSpPr>
                <p:nvPr/>
              </p:nvSpPr>
              <p:spPr bwMode="auto">
                <a:xfrm>
                  <a:off x="336" y="2064"/>
                  <a:ext cx="864" cy="0"/>
                </a:xfrm>
                <a:prstGeom prst="line">
                  <a:avLst/>
                </a:prstGeom>
                <a:noFill/>
                <a:ln w="9525">
                  <a:solidFill>
                    <a:schemeClr val="tx1"/>
                  </a:solidFill>
                  <a:prstDash val="dash"/>
                  <a:round/>
                  <a:headEnd/>
                  <a:tailEnd/>
                </a:ln>
              </p:spPr>
              <p:txBody>
                <a:bodyPr wrap="none" anchor="ctr"/>
                <a:lstStyle/>
                <a:p>
                  <a:endParaRPr lang="bg-BG"/>
                </a:p>
              </p:txBody>
            </p:sp>
            <p:sp>
              <p:nvSpPr>
                <p:cNvPr id="59597" name="Line 17"/>
                <p:cNvSpPr>
                  <a:spLocks noChangeShapeType="1"/>
                </p:cNvSpPr>
                <p:nvPr/>
              </p:nvSpPr>
              <p:spPr bwMode="auto">
                <a:xfrm>
                  <a:off x="336" y="2160"/>
                  <a:ext cx="864" cy="0"/>
                </a:xfrm>
                <a:prstGeom prst="line">
                  <a:avLst/>
                </a:prstGeom>
                <a:noFill/>
                <a:ln w="9525">
                  <a:solidFill>
                    <a:schemeClr val="tx1"/>
                  </a:solidFill>
                  <a:round/>
                  <a:headEnd/>
                  <a:tailEnd/>
                </a:ln>
              </p:spPr>
              <p:txBody>
                <a:bodyPr wrap="none" anchor="ctr"/>
                <a:lstStyle/>
                <a:p>
                  <a:endParaRPr lang="bg-BG"/>
                </a:p>
              </p:txBody>
            </p:sp>
            <p:sp>
              <p:nvSpPr>
                <p:cNvPr id="59598" name="Line 18"/>
                <p:cNvSpPr>
                  <a:spLocks noChangeShapeType="1"/>
                </p:cNvSpPr>
                <p:nvPr/>
              </p:nvSpPr>
              <p:spPr bwMode="auto">
                <a:xfrm>
                  <a:off x="336" y="2256"/>
                  <a:ext cx="864" cy="0"/>
                </a:xfrm>
                <a:prstGeom prst="line">
                  <a:avLst/>
                </a:prstGeom>
                <a:noFill/>
                <a:ln w="9525">
                  <a:solidFill>
                    <a:schemeClr val="tx1"/>
                  </a:solidFill>
                  <a:prstDash val="dash"/>
                  <a:round/>
                  <a:headEnd/>
                  <a:tailEnd/>
                </a:ln>
              </p:spPr>
              <p:txBody>
                <a:bodyPr wrap="none" anchor="ctr"/>
                <a:lstStyle/>
                <a:p>
                  <a:endParaRPr lang="bg-BG"/>
                </a:p>
              </p:txBody>
            </p:sp>
            <p:grpSp>
              <p:nvGrpSpPr>
                <p:cNvPr id="59599" name="Group 70"/>
                <p:cNvGrpSpPr>
                  <a:grpSpLocks/>
                </p:cNvGrpSpPr>
                <p:nvPr/>
              </p:nvGrpSpPr>
              <p:grpSpPr bwMode="auto">
                <a:xfrm>
                  <a:off x="400" y="784"/>
                  <a:ext cx="56" cy="824"/>
                  <a:chOff x="400" y="784"/>
                  <a:chExt cx="56" cy="824"/>
                </a:xfrm>
              </p:grpSpPr>
              <p:sp>
                <p:nvSpPr>
                  <p:cNvPr id="59630" name="Line 54"/>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631" name="Oval 58"/>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32" name="Oval 59"/>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00" name="Group 71"/>
                <p:cNvGrpSpPr>
                  <a:grpSpLocks/>
                </p:cNvGrpSpPr>
                <p:nvPr/>
              </p:nvGrpSpPr>
              <p:grpSpPr bwMode="auto">
                <a:xfrm>
                  <a:off x="608" y="1368"/>
                  <a:ext cx="56" cy="824"/>
                  <a:chOff x="400" y="784"/>
                  <a:chExt cx="56" cy="824"/>
                </a:xfrm>
              </p:grpSpPr>
              <p:sp>
                <p:nvSpPr>
                  <p:cNvPr id="59627" name="Line 72"/>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628" name="Oval 73"/>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29" name="Oval 74"/>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01" name="Group 75"/>
                <p:cNvGrpSpPr>
                  <a:grpSpLocks/>
                </p:cNvGrpSpPr>
                <p:nvPr/>
              </p:nvGrpSpPr>
              <p:grpSpPr bwMode="auto">
                <a:xfrm>
                  <a:off x="464" y="976"/>
                  <a:ext cx="56" cy="824"/>
                  <a:chOff x="400" y="784"/>
                  <a:chExt cx="56" cy="824"/>
                </a:xfrm>
              </p:grpSpPr>
              <p:sp>
                <p:nvSpPr>
                  <p:cNvPr id="59624" name="Line 76"/>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625" name="Oval 77"/>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26" name="Oval 78"/>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602" name="Group 79"/>
                <p:cNvGrpSpPr>
                  <a:grpSpLocks/>
                </p:cNvGrpSpPr>
                <p:nvPr/>
              </p:nvGrpSpPr>
              <p:grpSpPr bwMode="auto">
                <a:xfrm>
                  <a:off x="536" y="1176"/>
                  <a:ext cx="56" cy="824"/>
                  <a:chOff x="400" y="784"/>
                  <a:chExt cx="56" cy="824"/>
                </a:xfrm>
              </p:grpSpPr>
              <p:sp>
                <p:nvSpPr>
                  <p:cNvPr id="59621" name="Line 80"/>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622" name="Oval 81"/>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23" name="Oval 82"/>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sp>
              <p:nvSpPr>
                <p:cNvPr id="59603" name="Line 83"/>
                <p:cNvSpPr>
                  <a:spLocks noChangeShapeType="1"/>
                </p:cNvSpPr>
                <p:nvPr/>
              </p:nvSpPr>
              <p:spPr bwMode="auto">
                <a:xfrm>
                  <a:off x="768" y="1008"/>
                  <a:ext cx="0" cy="384"/>
                </a:xfrm>
                <a:prstGeom prst="line">
                  <a:avLst/>
                </a:prstGeom>
                <a:noFill/>
                <a:ln w="28575">
                  <a:solidFill>
                    <a:schemeClr val="accent2"/>
                  </a:solidFill>
                  <a:round/>
                  <a:headEnd/>
                  <a:tailEnd/>
                </a:ln>
              </p:spPr>
              <p:txBody>
                <a:bodyPr wrap="none" anchor="ctr"/>
                <a:lstStyle/>
                <a:p>
                  <a:endParaRPr lang="bg-BG"/>
                </a:p>
              </p:txBody>
            </p:sp>
            <p:sp>
              <p:nvSpPr>
                <p:cNvPr id="59604" name="Line 84"/>
                <p:cNvSpPr>
                  <a:spLocks noChangeShapeType="1"/>
                </p:cNvSpPr>
                <p:nvPr/>
              </p:nvSpPr>
              <p:spPr bwMode="auto">
                <a:xfrm>
                  <a:off x="848" y="1584"/>
                  <a:ext cx="0" cy="384"/>
                </a:xfrm>
                <a:prstGeom prst="line">
                  <a:avLst/>
                </a:prstGeom>
                <a:noFill/>
                <a:ln w="28575">
                  <a:solidFill>
                    <a:schemeClr val="accent2"/>
                  </a:solidFill>
                  <a:round/>
                  <a:headEnd/>
                  <a:tailEnd/>
                </a:ln>
              </p:spPr>
              <p:txBody>
                <a:bodyPr wrap="none" anchor="ctr"/>
                <a:lstStyle/>
                <a:p>
                  <a:endParaRPr lang="bg-BG"/>
                </a:p>
              </p:txBody>
            </p:sp>
            <p:grpSp>
              <p:nvGrpSpPr>
                <p:cNvPr id="59605" name="Group 86"/>
                <p:cNvGrpSpPr>
                  <a:grpSpLocks/>
                </p:cNvGrpSpPr>
                <p:nvPr/>
              </p:nvGrpSpPr>
              <p:grpSpPr bwMode="auto">
                <a:xfrm>
                  <a:off x="936" y="992"/>
                  <a:ext cx="48" cy="224"/>
                  <a:chOff x="936" y="992"/>
                  <a:chExt cx="48" cy="224"/>
                </a:xfrm>
              </p:grpSpPr>
              <p:sp>
                <p:nvSpPr>
                  <p:cNvPr id="59618" name="Oval 66"/>
                  <p:cNvSpPr>
                    <a:spLocks noChangeArrowheads="1"/>
                  </p:cNvSpPr>
                  <p:nvPr/>
                </p:nvSpPr>
                <p:spPr bwMode="auto">
                  <a:xfrm>
                    <a:off x="936" y="99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19" name="Oval 67"/>
                  <p:cNvSpPr>
                    <a:spLocks noChangeArrowheads="1"/>
                  </p:cNvSpPr>
                  <p:nvPr/>
                </p:nvSpPr>
                <p:spPr bwMode="auto">
                  <a:xfrm>
                    <a:off x="936" y="116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20" name="Line 85"/>
                  <p:cNvSpPr>
                    <a:spLocks noChangeShapeType="1"/>
                  </p:cNvSpPr>
                  <p:nvPr/>
                </p:nvSpPr>
                <p:spPr bwMode="auto">
                  <a:xfrm>
                    <a:off x="960" y="1008"/>
                    <a:ext cx="0" cy="192"/>
                  </a:xfrm>
                  <a:prstGeom prst="line">
                    <a:avLst/>
                  </a:prstGeom>
                  <a:noFill/>
                  <a:ln w="28575">
                    <a:solidFill>
                      <a:schemeClr val="accent2"/>
                    </a:solidFill>
                    <a:round/>
                    <a:headEnd/>
                    <a:tailEnd/>
                  </a:ln>
                </p:spPr>
                <p:txBody>
                  <a:bodyPr wrap="none" anchor="ctr"/>
                  <a:lstStyle/>
                  <a:p>
                    <a:endParaRPr lang="bg-BG"/>
                  </a:p>
                </p:txBody>
              </p:sp>
            </p:grpSp>
            <p:grpSp>
              <p:nvGrpSpPr>
                <p:cNvPr id="59606" name="Group 87"/>
                <p:cNvGrpSpPr>
                  <a:grpSpLocks/>
                </p:cNvGrpSpPr>
                <p:nvPr/>
              </p:nvGrpSpPr>
              <p:grpSpPr bwMode="auto">
                <a:xfrm>
                  <a:off x="1024" y="1560"/>
                  <a:ext cx="48" cy="224"/>
                  <a:chOff x="936" y="992"/>
                  <a:chExt cx="48" cy="224"/>
                </a:xfrm>
              </p:grpSpPr>
              <p:sp>
                <p:nvSpPr>
                  <p:cNvPr id="59615" name="Oval 88"/>
                  <p:cNvSpPr>
                    <a:spLocks noChangeArrowheads="1"/>
                  </p:cNvSpPr>
                  <p:nvPr/>
                </p:nvSpPr>
                <p:spPr bwMode="auto">
                  <a:xfrm>
                    <a:off x="936" y="99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16" name="Oval 89"/>
                  <p:cNvSpPr>
                    <a:spLocks noChangeArrowheads="1"/>
                  </p:cNvSpPr>
                  <p:nvPr/>
                </p:nvSpPr>
                <p:spPr bwMode="auto">
                  <a:xfrm>
                    <a:off x="936" y="116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17" name="Line 90"/>
                  <p:cNvSpPr>
                    <a:spLocks noChangeShapeType="1"/>
                  </p:cNvSpPr>
                  <p:nvPr/>
                </p:nvSpPr>
                <p:spPr bwMode="auto">
                  <a:xfrm>
                    <a:off x="960" y="1008"/>
                    <a:ext cx="0" cy="192"/>
                  </a:xfrm>
                  <a:prstGeom prst="line">
                    <a:avLst/>
                  </a:prstGeom>
                  <a:noFill/>
                  <a:ln w="28575">
                    <a:solidFill>
                      <a:schemeClr val="accent2"/>
                    </a:solidFill>
                    <a:round/>
                    <a:headEnd/>
                    <a:tailEnd/>
                  </a:ln>
                </p:spPr>
                <p:txBody>
                  <a:bodyPr wrap="none" anchor="ctr"/>
                  <a:lstStyle/>
                  <a:p>
                    <a:endParaRPr lang="bg-BG"/>
                  </a:p>
                </p:txBody>
              </p:sp>
            </p:grpSp>
            <p:grpSp>
              <p:nvGrpSpPr>
                <p:cNvPr id="59607" name="Group 91"/>
                <p:cNvGrpSpPr>
                  <a:grpSpLocks/>
                </p:cNvGrpSpPr>
                <p:nvPr/>
              </p:nvGrpSpPr>
              <p:grpSpPr bwMode="auto">
                <a:xfrm>
                  <a:off x="1112" y="1952"/>
                  <a:ext cx="48" cy="224"/>
                  <a:chOff x="936" y="992"/>
                  <a:chExt cx="48" cy="224"/>
                </a:xfrm>
              </p:grpSpPr>
              <p:sp>
                <p:nvSpPr>
                  <p:cNvPr id="59612" name="Oval 92"/>
                  <p:cNvSpPr>
                    <a:spLocks noChangeArrowheads="1"/>
                  </p:cNvSpPr>
                  <p:nvPr/>
                </p:nvSpPr>
                <p:spPr bwMode="auto">
                  <a:xfrm>
                    <a:off x="936" y="99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13" name="Oval 93"/>
                  <p:cNvSpPr>
                    <a:spLocks noChangeArrowheads="1"/>
                  </p:cNvSpPr>
                  <p:nvPr/>
                </p:nvSpPr>
                <p:spPr bwMode="auto">
                  <a:xfrm>
                    <a:off x="936" y="116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14" name="Line 94"/>
                  <p:cNvSpPr>
                    <a:spLocks noChangeShapeType="1"/>
                  </p:cNvSpPr>
                  <p:nvPr/>
                </p:nvSpPr>
                <p:spPr bwMode="auto">
                  <a:xfrm>
                    <a:off x="960" y="1008"/>
                    <a:ext cx="0" cy="192"/>
                  </a:xfrm>
                  <a:prstGeom prst="line">
                    <a:avLst/>
                  </a:prstGeom>
                  <a:noFill/>
                  <a:ln w="28575">
                    <a:solidFill>
                      <a:schemeClr val="accent2"/>
                    </a:solidFill>
                    <a:round/>
                    <a:headEnd/>
                    <a:tailEnd/>
                  </a:ln>
                </p:spPr>
                <p:txBody>
                  <a:bodyPr wrap="none" anchor="ctr"/>
                  <a:lstStyle/>
                  <a:p>
                    <a:endParaRPr lang="bg-BG"/>
                  </a:p>
                </p:txBody>
              </p:sp>
            </p:grpSp>
            <p:sp>
              <p:nvSpPr>
                <p:cNvPr id="59608" name="Oval 99"/>
                <p:cNvSpPr>
                  <a:spLocks noChangeArrowheads="1"/>
                </p:cNvSpPr>
                <p:nvPr/>
              </p:nvSpPr>
              <p:spPr bwMode="auto">
                <a:xfrm>
                  <a:off x="816" y="195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09" name="Oval 100"/>
                <p:cNvSpPr>
                  <a:spLocks noChangeArrowheads="1"/>
                </p:cNvSpPr>
                <p:nvPr/>
              </p:nvSpPr>
              <p:spPr bwMode="auto">
                <a:xfrm>
                  <a:off x="824" y="155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10" name="Oval 101"/>
                <p:cNvSpPr>
                  <a:spLocks noChangeArrowheads="1"/>
                </p:cNvSpPr>
                <p:nvPr/>
              </p:nvSpPr>
              <p:spPr bwMode="auto">
                <a:xfrm>
                  <a:off x="744" y="136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611" name="Oval 102"/>
                <p:cNvSpPr>
                  <a:spLocks noChangeArrowheads="1"/>
                </p:cNvSpPr>
                <p:nvPr/>
              </p:nvSpPr>
              <p:spPr bwMode="auto">
                <a:xfrm>
                  <a:off x="744" y="984"/>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438" name="Group 155"/>
              <p:cNvGrpSpPr>
                <a:grpSpLocks/>
              </p:cNvGrpSpPr>
              <p:nvPr/>
            </p:nvGrpSpPr>
            <p:grpSpPr bwMode="auto">
              <a:xfrm>
                <a:off x="1665" y="1440"/>
                <a:ext cx="864" cy="1464"/>
                <a:chOff x="2112" y="944"/>
                <a:chExt cx="864" cy="1464"/>
              </a:xfrm>
            </p:grpSpPr>
            <p:sp>
              <p:nvSpPr>
                <p:cNvPr id="59533" name="Line 105"/>
                <p:cNvSpPr>
                  <a:spLocks noChangeShapeType="1"/>
                </p:cNvSpPr>
                <p:nvPr/>
              </p:nvSpPr>
              <p:spPr bwMode="auto">
                <a:xfrm>
                  <a:off x="2112" y="2384"/>
                  <a:ext cx="864" cy="0"/>
                </a:xfrm>
                <a:prstGeom prst="line">
                  <a:avLst/>
                </a:prstGeom>
                <a:noFill/>
                <a:ln w="9525">
                  <a:solidFill>
                    <a:schemeClr val="tx1"/>
                  </a:solidFill>
                  <a:round/>
                  <a:headEnd/>
                  <a:tailEnd/>
                </a:ln>
              </p:spPr>
              <p:txBody>
                <a:bodyPr wrap="none" anchor="ctr"/>
                <a:lstStyle/>
                <a:p>
                  <a:endParaRPr lang="bg-BG"/>
                </a:p>
              </p:txBody>
            </p:sp>
            <p:sp>
              <p:nvSpPr>
                <p:cNvPr id="59534" name="Line 106"/>
                <p:cNvSpPr>
                  <a:spLocks noChangeShapeType="1"/>
                </p:cNvSpPr>
                <p:nvPr/>
              </p:nvSpPr>
              <p:spPr bwMode="auto">
                <a:xfrm>
                  <a:off x="2112" y="944"/>
                  <a:ext cx="864" cy="0"/>
                </a:xfrm>
                <a:prstGeom prst="line">
                  <a:avLst/>
                </a:prstGeom>
                <a:noFill/>
                <a:ln w="9525">
                  <a:solidFill>
                    <a:schemeClr val="tx1"/>
                  </a:solidFill>
                  <a:prstDash val="dash"/>
                  <a:round/>
                  <a:headEnd/>
                  <a:tailEnd/>
                </a:ln>
              </p:spPr>
              <p:txBody>
                <a:bodyPr wrap="none" anchor="ctr"/>
                <a:lstStyle/>
                <a:p>
                  <a:endParaRPr lang="bg-BG"/>
                </a:p>
              </p:txBody>
            </p:sp>
            <p:sp>
              <p:nvSpPr>
                <p:cNvPr id="59535" name="Line 107"/>
                <p:cNvSpPr>
                  <a:spLocks noChangeShapeType="1"/>
                </p:cNvSpPr>
                <p:nvPr/>
              </p:nvSpPr>
              <p:spPr bwMode="auto">
                <a:xfrm>
                  <a:off x="2112" y="1040"/>
                  <a:ext cx="864" cy="0"/>
                </a:xfrm>
                <a:prstGeom prst="line">
                  <a:avLst/>
                </a:prstGeom>
                <a:noFill/>
                <a:ln w="9525">
                  <a:solidFill>
                    <a:schemeClr val="tx1"/>
                  </a:solidFill>
                  <a:round/>
                  <a:headEnd/>
                  <a:tailEnd/>
                </a:ln>
              </p:spPr>
              <p:txBody>
                <a:bodyPr wrap="none" anchor="ctr"/>
                <a:lstStyle/>
                <a:p>
                  <a:endParaRPr lang="bg-BG"/>
                </a:p>
              </p:txBody>
            </p:sp>
            <p:sp>
              <p:nvSpPr>
                <p:cNvPr id="59536" name="Line 108"/>
                <p:cNvSpPr>
                  <a:spLocks noChangeShapeType="1"/>
                </p:cNvSpPr>
                <p:nvPr/>
              </p:nvSpPr>
              <p:spPr bwMode="auto">
                <a:xfrm>
                  <a:off x="2112" y="1136"/>
                  <a:ext cx="864" cy="0"/>
                </a:xfrm>
                <a:prstGeom prst="line">
                  <a:avLst/>
                </a:prstGeom>
                <a:noFill/>
                <a:ln w="9525">
                  <a:solidFill>
                    <a:schemeClr val="tx1"/>
                  </a:solidFill>
                  <a:prstDash val="dash"/>
                  <a:round/>
                  <a:headEnd/>
                  <a:tailEnd/>
                </a:ln>
              </p:spPr>
              <p:txBody>
                <a:bodyPr wrap="none" anchor="ctr"/>
                <a:lstStyle/>
                <a:p>
                  <a:endParaRPr lang="bg-BG"/>
                </a:p>
              </p:txBody>
            </p:sp>
            <p:sp>
              <p:nvSpPr>
                <p:cNvPr id="59537" name="Line 109"/>
                <p:cNvSpPr>
                  <a:spLocks noChangeShapeType="1"/>
                </p:cNvSpPr>
                <p:nvPr/>
              </p:nvSpPr>
              <p:spPr bwMode="auto">
                <a:xfrm>
                  <a:off x="2112" y="1232"/>
                  <a:ext cx="864" cy="0"/>
                </a:xfrm>
                <a:prstGeom prst="line">
                  <a:avLst/>
                </a:prstGeom>
                <a:noFill/>
                <a:ln w="9525">
                  <a:solidFill>
                    <a:schemeClr val="tx1"/>
                  </a:solidFill>
                  <a:round/>
                  <a:headEnd/>
                  <a:tailEnd/>
                </a:ln>
              </p:spPr>
              <p:txBody>
                <a:bodyPr wrap="none" anchor="ctr"/>
                <a:lstStyle/>
                <a:p>
                  <a:endParaRPr lang="bg-BG"/>
                </a:p>
              </p:txBody>
            </p:sp>
            <p:sp>
              <p:nvSpPr>
                <p:cNvPr id="59538" name="Line 110"/>
                <p:cNvSpPr>
                  <a:spLocks noChangeShapeType="1"/>
                </p:cNvSpPr>
                <p:nvPr/>
              </p:nvSpPr>
              <p:spPr bwMode="auto">
                <a:xfrm>
                  <a:off x="2112" y="1328"/>
                  <a:ext cx="864" cy="0"/>
                </a:xfrm>
                <a:prstGeom prst="line">
                  <a:avLst/>
                </a:prstGeom>
                <a:noFill/>
                <a:ln w="9525">
                  <a:solidFill>
                    <a:schemeClr val="tx1"/>
                  </a:solidFill>
                  <a:prstDash val="dash"/>
                  <a:round/>
                  <a:headEnd/>
                  <a:tailEnd/>
                </a:ln>
              </p:spPr>
              <p:txBody>
                <a:bodyPr wrap="none" anchor="ctr"/>
                <a:lstStyle/>
                <a:p>
                  <a:endParaRPr lang="bg-BG"/>
                </a:p>
              </p:txBody>
            </p:sp>
            <p:sp>
              <p:nvSpPr>
                <p:cNvPr id="59539" name="Line 111"/>
                <p:cNvSpPr>
                  <a:spLocks noChangeShapeType="1"/>
                </p:cNvSpPr>
                <p:nvPr/>
              </p:nvSpPr>
              <p:spPr bwMode="auto">
                <a:xfrm>
                  <a:off x="2112" y="1424"/>
                  <a:ext cx="864" cy="0"/>
                </a:xfrm>
                <a:prstGeom prst="line">
                  <a:avLst/>
                </a:prstGeom>
                <a:noFill/>
                <a:ln w="9525">
                  <a:solidFill>
                    <a:schemeClr val="tx1"/>
                  </a:solidFill>
                  <a:round/>
                  <a:headEnd/>
                  <a:tailEnd/>
                </a:ln>
              </p:spPr>
              <p:txBody>
                <a:bodyPr wrap="none" anchor="ctr"/>
                <a:lstStyle/>
                <a:p>
                  <a:endParaRPr lang="bg-BG"/>
                </a:p>
              </p:txBody>
            </p:sp>
            <p:sp>
              <p:nvSpPr>
                <p:cNvPr id="59540" name="Line 112"/>
                <p:cNvSpPr>
                  <a:spLocks noChangeShapeType="1"/>
                </p:cNvSpPr>
                <p:nvPr/>
              </p:nvSpPr>
              <p:spPr bwMode="auto">
                <a:xfrm>
                  <a:off x="2112" y="1520"/>
                  <a:ext cx="864" cy="0"/>
                </a:xfrm>
                <a:prstGeom prst="line">
                  <a:avLst/>
                </a:prstGeom>
                <a:noFill/>
                <a:ln w="9525">
                  <a:solidFill>
                    <a:schemeClr val="tx1"/>
                  </a:solidFill>
                  <a:prstDash val="dash"/>
                  <a:round/>
                  <a:headEnd/>
                  <a:tailEnd/>
                </a:ln>
              </p:spPr>
              <p:txBody>
                <a:bodyPr wrap="none" anchor="ctr"/>
                <a:lstStyle/>
                <a:p>
                  <a:endParaRPr lang="bg-BG"/>
                </a:p>
              </p:txBody>
            </p:sp>
            <p:sp>
              <p:nvSpPr>
                <p:cNvPr id="59541" name="Line 113"/>
                <p:cNvSpPr>
                  <a:spLocks noChangeShapeType="1"/>
                </p:cNvSpPr>
                <p:nvPr/>
              </p:nvSpPr>
              <p:spPr bwMode="auto">
                <a:xfrm>
                  <a:off x="2112" y="1616"/>
                  <a:ext cx="864" cy="0"/>
                </a:xfrm>
                <a:prstGeom prst="line">
                  <a:avLst/>
                </a:prstGeom>
                <a:noFill/>
                <a:ln w="9525">
                  <a:solidFill>
                    <a:schemeClr val="tx1"/>
                  </a:solidFill>
                  <a:round/>
                  <a:headEnd/>
                  <a:tailEnd/>
                </a:ln>
              </p:spPr>
              <p:txBody>
                <a:bodyPr wrap="none" anchor="ctr"/>
                <a:lstStyle/>
                <a:p>
                  <a:endParaRPr lang="bg-BG"/>
                </a:p>
              </p:txBody>
            </p:sp>
            <p:sp>
              <p:nvSpPr>
                <p:cNvPr id="59542" name="Line 114"/>
                <p:cNvSpPr>
                  <a:spLocks noChangeShapeType="1"/>
                </p:cNvSpPr>
                <p:nvPr/>
              </p:nvSpPr>
              <p:spPr bwMode="auto">
                <a:xfrm>
                  <a:off x="2112" y="1712"/>
                  <a:ext cx="864" cy="0"/>
                </a:xfrm>
                <a:prstGeom prst="line">
                  <a:avLst/>
                </a:prstGeom>
                <a:noFill/>
                <a:ln w="9525">
                  <a:solidFill>
                    <a:schemeClr val="tx1"/>
                  </a:solidFill>
                  <a:prstDash val="dash"/>
                  <a:round/>
                  <a:headEnd/>
                  <a:tailEnd/>
                </a:ln>
              </p:spPr>
              <p:txBody>
                <a:bodyPr wrap="none" anchor="ctr"/>
                <a:lstStyle/>
                <a:p>
                  <a:endParaRPr lang="bg-BG"/>
                </a:p>
              </p:txBody>
            </p:sp>
            <p:sp>
              <p:nvSpPr>
                <p:cNvPr id="59543" name="Line 115"/>
                <p:cNvSpPr>
                  <a:spLocks noChangeShapeType="1"/>
                </p:cNvSpPr>
                <p:nvPr/>
              </p:nvSpPr>
              <p:spPr bwMode="auto">
                <a:xfrm>
                  <a:off x="2112" y="1808"/>
                  <a:ext cx="864" cy="0"/>
                </a:xfrm>
                <a:prstGeom prst="line">
                  <a:avLst/>
                </a:prstGeom>
                <a:noFill/>
                <a:ln w="9525">
                  <a:solidFill>
                    <a:schemeClr val="tx1"/>
                  </a:solidFill>
                  <a:round/>
                  <a:headEnd/>
                  <a:tailEnd/>
                </a:ln>
              </p:spPr>
              <p:txBody>
                <a:bodyPr wrap="none" anchor="ctr"/>
                <a:lstStyle/>
                <a:p>
                  <a:endParaRPr lang="bg-BG"/>
                </a:p>
              </p:txBody>
            </p:sp>
            <p:sp>
              <p:nvSpPr>
                <p:cNvPr id="59544" name="Line 116"/>
                <p:cNvSpPr>
                  <a:spLocks noChangeShapeType="1"/>
                </p:cNvSpPr>
                <p:nvPr/>
              </p:nvSpPr>
              <p:spPr bwMode="auto">
                <a:xfrm>
                  <a:off x="2112" y="1904"/>
                  <a:ext cx="864" cy="0"/>
                </a:xfrm>
                <a:prstGeom prst="line">
                  <a:avLst/>
                </a:prstGeom>
                <a:noFill/>
                <a:ln w="9525">
                  <a:solidFill>
                    <a:schemeClr val="tx1"/>
                  </a:solidFill>
                  <a:prstDash val="dash"/>
                  <a:round/>
                  <a:headEnd/>
                  <a:tailEnd/>
                </a:ln>
              </p:spPr>
              <p:txBody>
                <a:bodyPr wrap="none" anchor="ctr"/>
                <a:lstStyle/>
                <a:p>
                  <a:endParaRPr lang="bg-BG"/>
                </a:p>
              </p:txBody>
            </p:sp>
            <p:sp>
              <p:nvSpPr>
                <p:cNvPr id="59545" name="Line 117"/>
                <p:cNvSpPr>
                  <a:spLocks noChangeShapeType="1"/>
                </p:cNvSpPr>
                <p:nvPr/>
              </p:nvSpPr>
              <p:spPr bwMode="auto">
                <a:xfrm>
                  <a:off x="2112" y="2000"/>
                  <a:ext cx="864" cy="0"/>
                </a:xfrm>
                <a:prstGeom prst="line">
                  <a:avLst/>
                </a:prstGeom>
                <a:noFill/>
                <a:ln w="9525">
                  <a:solidFill>
                    <a:schemeClr val="tx1"/>
                  </a:solidFill>
                  <a:round/>
                  <a:headEnd/>
                  <a:tailEnd/>
                </a:ln>
              </p:spPr>
              <p:txBody>
                <a:bodyPr wrap="none" anchor="ctr"/>
                <a:lstStyle/>
                <a:p>
                  <a:endParaRPr lang="bg-BG"/>
                </a:p>
              </p:txBody>
            </p:sp>
            <p:sp>
              <p:nvSpPr>
                <p:cNvPr id="59546" name="Line 118"/>
                <p:cNvSpPr>
                  <a:spLocks noChangeShapeType="1"/>
                </p:cNvSpPr>
                <p:nvPr/>
              </p:nvSpPr>
              <p:spPr bwMode="auto">
                <a:xfrm>
                  <a:off x="2112" y="2096"/>
                  <a:ext cx="864" cy="0"/>
                </a:xfrm>
                <a:prstGeom prst="line">
                  <a:avLst/>
                </a:prstGeom>
                <a:noFill/>
                <a:ln w="9525">
                  <a:solidFill>
                    <a:schemeClr val="tx1"/>
                  </a:solidFill>
                  <a:prstDash val="dash"/>
                  <a:round/>
                  <a:headEnd/>
                  <a:tailEnd/>
                </a:ln>
              </p:spPr>
              <p:txBody>
                <a:bodyPr wrap="none" anchor="ctr"/>
                <a:lstStyle/>
                <a:p>
                  <a:endParaRPr lang="bg-BG"/>
                </a:p>
              </p:txBody>
            </p:sp>
            <p:sp>
              <p:nvSpPr>
                <p:cNvPr id="59547" name="Line 119"/>
                <p:cNvSpPr>
                  <a:spLocks noChangeShapeType="1"/>
                </p:cNvSpPr>
                <p:nvPr/>
              </p:nvSpPr>
              <p:spPr bwMode="auto">
                <a:xfrm>
                  <a:off x="2112" y="2192"/>
                  <a:ext cx="864" cy="0"/>
                </a:xfrm>
                <a:prstGeom prst="line">
                  <a:avLst/>
                </a:prstGeom>
                <a:noFill/>
                <a:ln w="9525">
                  <a:solidFill>
                    <a:schemeClr val="tx1"/>
                  </a:solidFill>
                  <a:round/>
                  <a:headEnd/>
                  <a:tailEnd/>
                </a:ln>
              </p:spPr>
              <p:txBody>
                <a:bodyPr wrap="none" anchor="ctr"/>
                <a:lstStyle/>
                <a:p>
                  <a:endParaRPr lang="bg-BG"/>
                </a:p>
              </p:txBody>
            </p:sp>
            <p:sp>
              <p:nvSpPr>
                <p:cNvPr id="59548" name="Line 120"/>
                <p:cNvSpPr>
                  <a:spLocks noChangeShapeType="1"/>
                </p:cNvSpPr>
                <p:nvPr/>
              </p:nvSpPr>
              <p:spPr bwMode="auto">
                <a:xfrm>
                  <a:off x="2112" y="2288"/>
                  <a:ext cx="864" cy="0"/>
                </a:xfrm>
                <a:prstGeom prst="line">
                  <a:avLst/>
                </a:prstGeom>
                <a:noFill/>
                <a:ln w="9525">
                  <a:solidFill>
                    <a:schemeClr val="tx1"/>
                  </a:solidFill>
                  <a:prstDash val="dash"/>
                  <a:round/>
                  <a:headEnd/>
                  <a:tailEnd/>
                </a:ln>
              </p:spPr>
              <p:txBody>
                <a:bodyPr wrap="none" anchor="ctr"/>
                <a:lstStyle/>
                <a:p>
                  <a:endParaRPr lang="bg-BG"/>
                </a:p>
              </p:txBody>
            </p:sp>
            <p:grpSp>
              <p:nvGrpSpPr>
                <p:cNvPr id="59549" name="Group 121"/>
                <p:cNvGrpSpPr>
                  <a:grpSpLocks/>
                </p:cNvGrpSpPr>
                <p:nvPr/>
              </p:nvGrpSpPr>
              <p:grpSpPr bwMode="auto">
                <a:xfrm>
                  <a:off x="2392" y="1584"/>
                  <a:ext cx="56" cy="824"/>
                  <a:chOff x="400" y="784"/>
                  <a:chExt cx="56" cy="824"/>
                </a:xfrm>
              </p:grpSpPr>
              <p:sp>
                <p:nvSpPr>
                  <p:cNvPr id="59580" name="Line 122"/>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581" name="Oval 123"/>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82" name="Oval 124"/>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550" name="Group 125"/>
                <p:cNvGrpSpPr>
                  <a:grpSpLocks/>
                </p:cNvGrpSpPr>
                <p:nvPr/>
              </p:nvGrpSpPr>
              <p:grpSpPr bwMode="auto">
                <a:xfrm>
                  <a:off x="2320" y="1400"/>
                  <a:ext cx="56" cy="824"/>
                  <a:chOff x="400" y="784"/>
                  <a:chExt cx="56" cy="824"/>
                </a:xfrm>
              </p:grpSpPr>
              <p:sp>
                <p:nvSpPr>
                  <p:cNvPr id="59577" name="Line 126"/>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578" name="Oval 127"/>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79" name="Oval 128"/>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551" name="Group 129"/>
                <p:cNvGrpSpPr>
                  <a:grpSpLocks/>
                </p:cNvGrpSpPr>
                <p:nvPr/>
              </p:nvGrpSpPr>
              <p:grpSpPr bwMode="auto">
                <a:xfrm>
                  <a:off x="2176" y="1008"/>
                  <a:ext cx="56" cy="824"/>
                  <a:chOff x="400" y="784"/>
                  <a:chExt cx="56" cy="824"/>
                </a:xfrm>
              </p:grpSpPr>
              <p:sp>
                <p:nvSpPr>
                  <p:cNvPr id="59574" name="Line 130"/>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575" name="Oval 131"/>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76" name="Oval 132"/>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552" name="Group 133"/>
                <p:cNvGrpSpPr>
                  <a:grpSpLocks/>
                </p:cNvGrpSpPr>
                <p:nvPr/>
              </p:nvGrpSpPr>
              <p:grpSpPr bwMode="auto">
                <a:xfrm>
                  <a:off x="2248" y="1208"/>
                  <a:ext cx="56" cy="824"/>
                  <a:chOff x="400" y="784"/>
                  <a:chExt cx="56" cy="824"/>
                </a:xfrm>
              </p:grpSpPr>
              <p:sp>
                <p:nvSpPr>
                  <p:cNvPr id="59571" name="Line 134"/>
                  <p:cNvSpPr>
                    <a:spLocks noChangeShapeType="1"/>
                  </p:cNvSpPr>
                  <p:nvPr/>
                </p:nvSpPr>
                <p:spPr bwMode="auto">
                  <a:xfrm>
                    <a:off x="432" y="816"/>
                    <a:ext cx="0" cy="768"/>
                  </a:xfrm>
                  <a:prstGeom prst="line">
                    <a:avLst/>
                  </a:prstGeom>
                  <a:noFill/>
                  <a:ln w="28575">
                    <a:solidFill>
                      <a:schemeClr val="accent2"/>
                    </a:solidFill>
                    <a:round/>
                    <a:headEnd/>
                    <a:tailEnd/>
                  </a:ln>
                </p:spPr>
                <p:txBody>
                  <a:bodyPr wrap="none" anchor="ctr"/>
                  <a:lstStyle/>
                  <a:p>
                    <a:endParaRPr lang="bg-BG"/>
                  </a:p>
                </p:txBody>
              </p:sp>
              <p:sp>
                <p:nvSpPr>
                  <p:cNvPr id="59572" name="Oval 135"/>
                  <p:cNvSpPr>
                    <a:spLocks noChangeArrowheads="1"/>
                  </p:cNvSpPr>
                  <p:nvPr/>
                </p:nvSpPr>
                <p:spPr bwMode="auto">
                  <a:xfrm>
                    <a:off x="408" y="7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73" name="Oval 136"/>
                  <p:cNvSpPr>
                    <a:spLocks noChangeArrowheads="1"/>
                  </p:cNvSpPr>
                  <p:nvPr/>
                </p:nvSpPr>
                <p:spPr bwMode="auto">
                  <a:xfrm>
                    <a:off x="400" y="1560"/>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sp>
              <p:nvSpPr>
                <p:cNvPr id="59553" name="Line 137"/>
                <p:cNvSpPr>
                  <a:spLocks noChangeShapeType="1"/>
                </p:cNvSpPr>
                <p:nvPr/>
              </p:nvSpPr>
              <p:spPr bwMode="auto">
                <a:xfrm>
                  <a:off x="2592" y="1248"/>
                  <a:ext cx="0" cy="384"/>
                </a:xfrm>
                <a:prstGeom prst="line">
                  <a:avLst/>
                </a:prstGeom>
                <a:noFill/>
                <a:ln w="28575">
                  <a:solidFill>
                    <a:schemeClr val="accent2"/>
                  </a:solidFill>
                  <a:round/>
                  <a:headEnd/>
                  <a:tailEnd/>
                </a:ln>
              </p:spPr>
              <p:txBody>
                <a:bodyPr wrap="none" anchor="ctr"/>
                <a:lstStyle/>
                <a:p>
                  <a:endParaRPr lang="bg-BG"/>
                </a:p>
              </p:txBody>
            </p:sp>
            <p:sp>
              <p:nvSpPr>
                <p:cNvPr id="59554" name="Line 138"/>
                <p:cNvSpPr>
                  <a:spLocks noChangeShapeType="1"/>
                </p:cNvSpPr>
                <p:nvPr/>
              </p:nvSpPr>
              <p:spPr bwMode="auto">
                <a:xfrm>
                  <a:off x="2664" y="1808"/>
                  <a:ext cx="0" cy="384"/>
                </a:xfrm>
                <a:prstGeom prst="line">
                  <a:avLst/>
                </a:prstGeom>
                <a:noFill/>
                <a:ln w="28575">
                  <a:solidFill>
                    <a:schemeClr val="accent2"/>
                  </a:solidFill>
                  <a:round/>
                  <a:headEnd/>
                  <a:tailEnd/>
                </a:ln>
              </p:spPr>
              <p:txBody>
                <a:bodyPr wrap="none" anchor="ctr"/>
                <a:lstStyle/>
                <a:p>
                  <a:endParaRPr lang="bg-BG"/>
                </a:p>
              </p:txBody>
            </p:sp>
            <p:grpSp>
              <p:nvGrpSpPr>
                <p:cNvPr id="59555" name="Group 139"/>
                <p:cNvGrpSpPr>
                  <a:grpSpLocks/>
                </p:cNvGrpSpPr>
                <p:nvPr/>
              </p:nvGrpSpPr>
              <p:grpSpPr bwMode="auto">
                <a:xfrm>
                  <a:off x="2792" y="1216"/>
                  <a:ext cx="48" cy="224"/>
                  <a:chOff x="936" y="992"/>
                  <a:chExt cx="48" cy="224"/>
                </a:xfrm>
              </p:grpSpPr>
              <p:sp>
                <p:nvSpPr>
                  <p:cNvPr id="59568" name="Oval 140"/>
                  <p:cNvSpPr>
                    <a:spLocks noChangeArrowheads="1"/>
                  </p:cNvSpPr>
                  <p:nvPr/>
                </p:nvSpPr>
                <p:spPr bwMode="auto">
                  <a:xfrm>
                    <a:off x="936" y="99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69" name="Oval 141"/>
                  <p:cNvSpPr>
                    <a:spLocks noChangeArrowheads="1"/>
                  </p:cNvSpPr>
                  <p:nvPr/>
                </p:nvSpPr>
                <p:spPr bwMode="auto">
                  <a:xfrm>
                    <a:off x="936" y="116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70" name="Line 142"/>
                  <p:cNvSpPr>
                    <a:spLocks noChangeShapeType="1"/>
                  </p:cNvSpPr>
                  <p:nvPr/>
                </p:nvSpPr>
                <p:spPr bwMode="auto">
                  <a:xfrm>
                    <a:off x="960" y="1008"/>
                    <a:ext cx="0" cy="192"/>
                  </a:xfrm>
                  <a:prstGeom prst="line">
                    <a:avLst/>
                  </a:prstGeom>
                  <a:noFill/>
                  <a:ln w="28575">
                    <a:solidFill>
                      <a:schemeClr val="accent2"/>
                    </a:solidFill>
                    <a:round/>
                    <a:headEnd/>
                    <a:tailEnd/>
                  </a:ln>
                </p:spPr>
                <p:txBody>
                  <a:bodyPr wrap="none" anchor="ctr"/>
                  <a:lstStyle/>
                  <a:p>
                    <a:endParaRPr lang="bg-BG"/>
                  </a:p>
                </p:txBody>
              </p:sp>
            </p:grpSp>
            <p:grpSp>
              <p:nvGrpSpPr>
                <p:cNvPr id="59556" name="Group 143"/>
                <p:cNvGrpSpPr>
                  <a:grpSpLocks/>
                </p:cNvGrpSpPr>
                <p:nvPr/>
              </p:nvGrpSpPr>
              <p:grpSpPr bwMode="auto">
                <a:xfrm>
                  <a:off x="2840" y="1592"/>
                  <a:ext cx="48" cy="224"/>
                  <a:chOff x="936" y="992"/>
                  <a:chExt cx="48" cy="224"/>
                </a:xfrm>
              </p:grpSpPr>
              <p:sp>
                <p:nvSpPr>
                  <p:cNvPr id="59565" name="Oval 144"/>
                  <p:cNvSpPr>
                    <a:spLocks noChangeArrowheads="1"/>
                  </p:cNvSpPr>
                  <p:nvPr/>
                </p:nvSpPr>
                <p:spPr bwMode="auto">
                  <a:xfrm>
                    <a:off x="936" y="99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66" name="Oval 145"/>
                  <p:cNvSpPr>
                    <a:spLocks noChangeArrowheads="1"/>
                  </p:cNvSpPr>
                  <p:nvPr/>
                </p:nvSpPr>
                <p:spPr bwMode="auto">
                  <a:xfrm>
                    <a:off x="936" y="116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67" name="Line 146"/>
                  <p:cNvSpPr>
                    <a:spLocks noChangeShapeType="1"/>
                  </p:cNvSpPr>
                  <p:nvPr/>
                </p:nvSpPr>
                <p:spPr bwMode="auto">
                  <a:xfrm>
                    <a:off x="960" y="1008"/>
                    <a:ext cx="0" cy="192"/>
                  </a:xfrm>
                  <a:prstGeom prst="line">
                    <a:avLst/>
                  </a:prstGeom>
                  <a:noFill/>
                  <a:ln w="28575">
                    <a:solidFill>
                      <a:schemeClr val="accent2"/>
                    </a:solidFill>
                    <a:round/>
                    <a:headEnd/>
                    <a:tailEnd/>
                  </a:ln>
                </p:spPr>
                <p:txBody>
                  <a:bodyPr wrap="none" anchor="ctr"/>
                  <a:lstStyle/>
                  <a:p>
                    <a:endParaRPr lang="bg-BG"/>
                  </a:p>
                </p:txBody>
              </p:sp>
            </p:grpSp>
            <p:grpSp>
              <p:nvGrpSpPr>
                <p:cNvPr id="59557" name="Group 147"/>
                <p:cNvGrpSpPr>
                  <a:grpSpLocks/>
                </p:cNvGrpSpPr>
                <p:nvPr/>
              </p:nvGrpSpPr>
              <p:grpSpPr bwMode="auto">
                <a:xfrm>
                  <a:off x="2888" y="1984"/>
                  <a:ext cx="48" cy="224"/>
                  <a:chOff x="936" y="992"/>
                  <a:chExt cx="48" cy="224"/>
                </a:xfrm>
              </p:grpSpPr>
              <p:sp>
                <p:nvSpPr>
                  <p:cNvPr id="59562" name="Oval 148"/>
                  <p:cNvSpPr>
                    <a:spLocks noChangeArrowheads="1"/>
                  </p:cNvSpPr>
                  <p:nvPr/>
                </p:nvSpPr>
                <p:spPr bwMode="auto">
                  <a:xfrm>
                    <a:off x="936" y="99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63" name="Oval 149"/>
                  <p:cNvSpPr>
                    <a:spLocks noChangeArrowheads="1"/>
                  </p:cNvSpPr>
                  <p:nvPr/>
                </p:nvSpPr>
                <p:spPr bwMode="auto">
                  <a:xfrm>
                    <a:off x="936" y="1168"/>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64" name="Line 150"/>
                  <p:cNvSpPr>
                    <a:spLocks noChangeShapeType="1"/>
                  </p:cNvSpPr>
                  <p:nvPr/>
                </p:nvSpPr>
                <p:spPr bwMode="auto">
                  <a:xfrm>
                    <a:off x="960" y="1008"/>
                    <a:ext cx="0" cy="192"/>
                  </a:xfrm>
                  <a:prstGeom prst="line">
                    <a:avLst/>
                  </a:prstGeom>
                  <a:noFill/>
                  <a:ln w="28575">
                    <a:solidFill>
                      <a:schemeClr val="accent2"/>
                    </a:solidFill>
                    <a:round/>
                    <a:headEnd/>
                    <a:tailEnd/>
                  </a:ln>
                </p:spPr>
                <p:txBody>
                  <a:bodyPr wrap="none" anchor="ctr"/>
                  <a:lstStyle/>
                  <a:p>
                    <a:endParaRPr lang="bg-BG"/>
                  </a:p>
                </p:txBody>
              </p:sp>
            </p:grpSp>
            <p:sp>
              <p:nvSpPr>
                <p:cNvPr id="59558" name="Oval 151"/>
                <p:cNvSpPr>
                  <a:spLocks noChangeArrowheads="1"/>
                </p:cNvSpPr>
                <p:nvPr/>
              </p:nvSpPr>
              <p:spPr bwMode="auto">
                <a:xfrm>
                  <a:off x="2640" y="216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59" name="Oval 152"/>
                <p:cNvSpPr>
                  <a:spLocks noChangeArrowheads="1"/>
                </p:cNvSpPr>
                <p:nvPr/>
              </p:nvSpPr>
              <p:spPr bwMode="auto">
                <a:xfrm>
                  <a:off x="2640" y="1776"/>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60" name="Oval 153"/>
                <p:cNvSpPr>
                  <a:spLocks noChangeArrowheads="1"/>
                </p:cNvSpPr>
                <p:nvPr/>
              </p:nvSpPr>
              <p:spPr bwMode="auto">
                <a:xfrm>
                  <a:off x="2560" y="1584"/>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61" name="Oval 154"/>
                <p:cNvSpPr>
                  <a:spLocks noChangeArrowheads="1"/>
                </p:cNvSpPr>
                <p:nvPr/>
              </p:nvSpPr>
              <p:spPr bwMode="auto">
                <a:xfrm>
                  <a:off x="2568" y="1216"/>
                  <a:ext cx="48" cy="48"/>
                </a:xfrm>
                <a:prstGeom prst="ellipse">
                  <a:avLst/>
                </a:prstGeom>
                <a:solidFill>
                  <a:schemeClr val="accent2"/>
                </a:solidFill>
                <a:ln w="9525">
                  <a:solidFill>
                    <a:schemeClr val="tx1"/>
                  </a:solidFill>
                  <a:round/>
                  <a:headEnd/>
                  <a:tailEnd/>
                </a:ln>
              </p:spPr>
              <p:txBody>
                <a:bodyPr wrap="none" anchor="ctr"/>
                <a:lstStyle/>
                <a:p>
                  <a:endParaRPr lang="bg-BG"/>
                </a:p>
              </p:txBody>
            </p:sp>
          </p:grpSp>
          <p:grpSp>
            <p:nvGrpSpPr>
              <p:cNvPr id="59439" name="Group 290"/>
              <p:cNvGrpSpPr>
                <a:grpSpLocks/>
              </p:cNvGrpSpPr>
              <p:nvPr/>
            </p:nvGrpSpPr>
            <p:grpSpPr bwMode="auto">
              <a:xfrm>
                <a:off x="2646" y="1446"/>
                <a:ext cx="369" cy="1440"/>
                <a:chOff x="3120" y="776"/>
                <a:chExt cx="480" cy="1440"/>
              </a:xfrm>
            </p:grpSpPr>
            <p:sp>
              <p:nvSpPr>
                <p:cNvPr id="59488" name="Line 21"/>
                <p:cNvSpPr>
                  <a:spLocks noChangeShapeType="1"/>
                </p:cNvSpPr>
                <p:nvPr/>
              </p:nvSpPr>
              <p:spPr bwMode="auto">
                <a:xfrm>
                  <a:off x="3120" y="776"/>
                  <a:ext cx="480" cy="0"/>
                </a:xfrm>
                <a:prstGeom prst="line">
                  <a:avLst/>
                </a:prstGeom>
                <a:noFill/>
                <a:ln w="9525">
                  <a:solidFill>
                    <a:schemeClr val="tx1"/>
                  </a:solidFill>
                  <a:round/>
                  <a:headEnd/>
                  <a:tailEnd/>
                </a:ln>
              </p:spPr>
              <p:txBody>
                <a:bodyPr wrap="none" anchor="ctr"/>
                <a:lstStyle/>
                <a:p>
                  <a:endParaRPr lang="bg-BG"/>
                </a:p>
              </p:txBody>
            </p:sp>
            <p:sp>
              <p:nvSpPr>
                <p:cNvPr id="59489" name="Line 22"/>
                <p:cNvSpPr>
                  <a:spLocks noChangeShapeType="1"/>
                </p:cNvSpPr>
                <p:nvPr/>
              </p:nvSpPr>
              <p:spPr bwMode="auto">
                <a:xfrm>
                  <a:off x="3120" y="872"/>
                  <a:ext cx="480" cy="0"/>
                </a:xfrm>
                <a:prstGeom prst="line">
                  <a:avLst/>
                </a:prstGeom>
                <a:noFill/>
                <a:ln w="9525">
                  <a:solidFill>
                    <a:schemeClr val="tx1"/>
                  </a:solidFill>
                  <a:round/>
                  <a:headEnd/>
                  <a:tailEnd/>
                </a:ln>
              </p:spPr>
              <p:txBody>
                <a:bodyPr wrap="none" anchor="ctr"/>
                <a:lstStyle/>
                <a:p>
                  <a:endParaRPr lang="bg-BG"/>
                </a:p>
              </p:txBody>
            </p:sp>
            <p:sp>
              <p:nvSpPr>
                <p:cNvPr id="59490" name="Line 23"/>
                <p:cNvSpPr>
                  <a:spLocks noChangeShapeType="1"/>
                </p:cNvSpPr>
                <p:nvPr/>
              </p:nvSpPr>
              <p:spPr bwMode="auto">
                <a:xfrm>
                  <a:off x="3120" y="968"/>
                  <a:ext cx="480" cy="0"/>
                </a:xfrm>
                <a:prstGeom prst="line">
                  <a:avLst/>
                </a:prstGeom>
                <a:noFill/>
                <a:ln w="9525">
                  <a:solidFill>
                    <a:schemeClr val="tx1"/>
                  </a:solidFill>
                  <a:round/>
                  <a:headEnd/>
                  <a:tailEnd/>
                </a:ln>
              </p:spPr>
              <p:txBody>
                <a:bodyPr wrap="none" anchor="ctr"/>
                <a:lstStyle/>
                <a:p>
                  <a:endParaRPr lang="bg-BG"/>
                </a:p>
              </p:txBody>
            </p:sp>
            <p:sp>
              <p:nvSpPr>
                <p:cNvPr id="59491" name="Line 24"/>
                <p:cNvSpPr>
                  <a:spLocks noChangeShapeType="1"/>
                </p:cNvSpPr>
                <p:nvPr/>
              </p:nvSpPr>
              <p:spPr bwMode="auto">
                <a:xfrm>
                  <a:off x="3120" y="1064"/>
                  <a:ext cx="480" cy="0"/>
                </a:xfrm>
                <a:prstGeom prst="line">
                  <a:avLst/>
                </a:prstGeom>
                <a:noFill/>
                <a:ln w="9525">
                  <a:solidFill>
                    <a:schemeClr val="tx1"/>
                  </a:solidFill>
                  <a:round/>
                  <a:headEnd/>
                  <a:tailEnd/>
                </a:ln>
              </p:spPr>
              <p:txBody>
                <a:bodyPr wrap="none" anchor="ctr"/>
                <a:lstStyle/>
                <a:p>
                  <a:endParaRPr lang="bg-BG"/>
                </a:p>
              </p:txBody>
            </p:sp>
            <p:sp>
              <p:nvSpPr>
                <p:cNvPr id="59492" name="Line 25"/>
                <p:cNvSpPr>
                  <a:spLocks noChangeShapeType="1"/>
                </p:cNvSpPr>
                <p:nvPr/>
              </p:nvSpPr>
              <p:spPr bwMode="auto">
                <a:xfrm>
                  <a:off x="3120" y="1160"/>
                  <a:ext cx="480" cy="0"/>
                </a:xfrm>
                <a:prstGeom prst="line">
                  <a:avLst/>
                </a:prstGeom>
                <a:noFill/>
                <a:ln w="9525">
                  <a:solidFill>
                    <a:schemeClr val="tx1"/>
                  </a:solidFill>
                  <a:round/>
                  <a:headEnd/>
                  <a:tailEnd/>
                </a:ln>
              </p:spPr>
              <p:txBody>
                <a:bodyPr wrap="none" anchor="ctr"/>
                <a:lstStyle/>
                <a:p>
                  <a:endParaRPr lang="bg-BG"/>
                </a:p>
              </p:txBody>
            </p:sp>
            <p:sp>
              <p:nvSpPr>
                <p:cNvPr id="59493" name="Line 26"/>
                <p:cNvSpPr>
                  <a:spLocks noChangeShapeType="1"/>
                </p:cNvSpPr>
                <p:nvPr/>
              </p:nvSpPr>
              <p:spPr bwMode="auto">
                <a:xfrm>
                  <a:off x="3120" y="1256"/>
                  <a:ext cx="480" cy="0"/>
                </a:xfrm>
                <a:prstGeom prst="line">
                  <a:avLst/>
                </a:prstGeom>
                <a:noFill/>
                <a:ln w="9525">
                  <a:solidFill>
                    <a:schemeClr val="tx1"/>
                  </a:solidFill>
                  <a:round/>
                  <a:headEnd/>
                  <a:tailEnd/>
                </a:ln>
              </p:spPr>
              <p:txBody>
                <a:bodyPr wrap="none" anchor="ctr"/>
                <a:lstStyle/>
                <a:p>
                  <a:endParaRPr lang="bg-BG"/>
                </a:p>
              </p:txBody>
            </p:sp>
            <p:sp>
              <p:nvSpPr>
                <p:cNvPr id="59494" name="Line 27"/>
                <p:cNvSpPr>
                  <a:spLocks noChangeShapeType="1"/>
                </p:cNvSpPr>
                <p:nvPr/>
              </p:nvSpPr>
              <p:spPr bwMode="auto">
                <a:xfrm>
                  <a:off x="3120" y="1352"/>
                  <a:ext cx="480" cy="0"/>
                </a:xfrm>
                <a:prstGeom prst="line">
                  <a:avLst/>
                </a:prstGeom>
                <a:noFill/>
                <a:ln w="9525">
                  <a:solidFill>
                    <a:schemeClr val="tx1"/>
                  </a:solidFill>
                  <a:round/>
                  <a:headEnd/>
                  <a:tailEnd/>
                </a:ln>
              </p:spPr>
              <p:txBody>
                <a:bodyPr wrap="none" anchor="ctr"/>
                <a:lstStyle/>
                <a:p>
                  <a:endParaRPr lang="bg-BG"/>
                </a:p>
              </p:txBody>
            </p:sp>
            <p:sp>
              <p:nvSpPr>
                <p:cNvPr id="59495" name="Line 28"/>
                <p:cNvSpPr>
                  <a:spLocks noChangeShapeType="1"/>
                </p:cNvSpPr>
                <p:nvPr/>
              </p:nvSpPr>
              <p:spPr bwMode="auto">
                <a:xfrm>
                  <a:off x="3120" y="1448"/>
                  <a:ext cx="480" cy="0"/>
                </a:xfrm>
                <a:prstGeom prst="line">
                  <a:avLst/>
                </a:prstGeom>
                <a:noFill/>
                <a:ln w="9525">
                  <a:solidFill>
                    <a:schemeClr val="tx1"/>
                  </a:solidFill>
                  <a:round/>
                  <a:headEnd/>
                  <a:tailEnd/>
                </a:ln>
              </p:spPr>
              <p:txBody>
                <a:bodyPr wrap="none" anchor="ctr"/>
                <a:lstStyle/>
                <a:p>
                  <a:endParaRPr lang="bg-BG"/>
                </a:p>
              </p:txBody>
            </p:sp>
            <p:sp>
              <p:nvSpPr>
                <p:cNvPr id="59496" name="Line 29"/>
                <p:cNvSpPr>
                  <a:spLocks noChangeShapeType="1"/>
                </p:cNvSpPr>
                <p:nvPr/>
              </p:nvSpPr>
              <p:spPr bwMode="auto">
                <a:xfrm>
                  <a:off x="3120" y="1544"/>
                  <a:ext cx="480" cy="0"/>
                </a:xfrm>
                <a:prstGeom prst="line">
                  <a:avLst/>
                </a:prstGeom>
                <a:noFill/>
                <a:ln w="9525">
                  <a:solidFill>
                    <a:schemeClr val="tx1"/>
                  </a:solidFill>
                  <a:round/>
                  <a:headEnd/>
                  <a:tailEnd/>
                </a:ln>
              </p:spPr>
              <p:txBody>
                <a:bodyPr wrap="none" anchor="ctr"/>
                <a:lstStyle/>
                <a:p>
                  <a:endParaRPr lang="bg-BG"/>
                </a:p>
              </p:txBody>
            </p:sp>
            <p:sp>
              <p:nvSpPr>
                <p:cNvPr id="59497" name="Line 30"/>
                <p:cNvSpPr>
                  <a:spLocks noChangeShapeType="1"/>
                </p:cNvSpPr>
                <p:nvPr/>
              </p:nvSpPr>
              <p:spPr bwMode="auto">
                <a:xfrm>
                  <a:off x="3120" y="1640"/>
                  <a:ext cx="480" cy="0"/>
                </a:xfrm>
                <a:prstGeom prst="line">
                  <a:avLst/>
                </a:prstGeom>
                <a:noFill/>
                <a:ln w="9525">
                  <a:solidFill>
                    <a:schemeClr val="tx1"/>
                  </a:solidFill>
                  <a:round/>
                  <a:headEnd/>
                  <a:tailEnd/>
                </a:ln>
              </p:spPr>
              <p:txBody>
                <a:bodyPr wrap="none" anchor="ctr"/>
                <a:lstStyle/>
                <a:p>
                  <a:endParaRPr lang="bg-BG"/>
                </a:p>
              </p:txBody>
            </p:sp>
            <p:sp>
              <p:nvSpPr>
                <p:cNvPr id="59498" name="Line 31"/>
                <p:cNvSpPr>
                  <a:spLocks noChangeShapeType="1"/>
                </p:cNvSpPr>
                <p:nvPr/>
              </p:nvSpPr>
              <p:spPr bwMode="auto">
                <a:xfrm>
                  <a:off x="3120" y="1736"/>
                  <a:ext cx="480" cy="0"/>
                </a:xfrm>
                <a:prstGeom prst="line">
                  <a:avLst/>
                </a:prstGeom>
                <a:noFill/>
                <a:ln w="9525">
                  <a:solidFill>
                    <a:schemeClr val="tx1"/>
                  </a:solidFill>
                  <a:round/>
                  <a:headEnd/>
                  <a:tailEnd/>
                </a:ln>
              </p:spPr>
              <p:txBody>
                <a:bodyPr wrap="none" anchor="ctr"/>
                <a:lstStyle/>
                <a:p>
                  <a:endParaRPr lang="bg-BG"/>
                </a:p>
              </p:txBody>
            </p:sp>
            <p:sp>
              <p:nvSpPr>
                <p:cNvPr id="59499" name="Line 32"/>
                <p:cNvSpPr>
                  <a:spLocks noChangeShapeType="1"/>
                </p:cNvSpPr>
                <p:nvPr/>
              </p:nvSpPr>
              <p:spPr bwMode="auto">
                <a:xfrm>
                  <a:off x="3120" y="1832"/>
                  <a:ext cx="480" cy="0"/>
                </a:xfrm>
                <a:prstGeom prst="line">
                  <a:avLst/>
                </a:prstGeom>
                <a:noFill/>
                <a:ln w="9525">
                  <a:solidFill>
                    <a:schemeClr val="tx1"/>
                  </a:solidFill>
                  <a:round/>
                  <a:headEnd/>
                  <a:tailEnd/>
                </a:ln>
              </p:spPr>
              <p:txBody>
                <a:bodyPr wrap="none" anchor="ctr"/>
                <a:lstStyle/>
                <a:p>
                  <a:endParaRPr lang="bg-BG"/>
                </a:p>
              </p:txBody>
            </p:sp>
            <p:sp>
              <p:nvSpPr>
                <p:cNvPr id="59500" name="Line 33"/>
                <p:cNvSpPr>
                  <a:spLocks noChangeShapeType="1"/>
                </p:cNvSpPr>
                <p:nvPr/>
              </p:nvSpPr>
              <p:spPr bwMode="auto">
                <a:xfrm>
                  <a:off x="3120" y="1928"/>
                  <a:ext cx="480" cy="0"/>
                </a:xfrm>
                <a:prstGeom prst="line">
                  <a:avLst/>
                </a:prstGeom>
                <a:noFill/>
                <a:ln w="9525">
                  <a:solidFill>
                    <a:schemeClr val="tx1"/>
                  </a:solidFill>
                  <a:round/>
                  <a:headEnd/>
                  <a:tailEnd/>
                </a:ln>
              </p:spPr>
              <p:txBody>
                <a:bodyPr wrap="none" anchor="ctr"/>
                <a:lstStyle/>
                <a:p>
                  <a:endParaRPr lang="bg-BG"/>
                </a:p>
              </p:txBody>
            </p:sp>
            <p:sp>
              <p:nvSpPr>
                <p:cNvPr id="59501" name="Line 34"/>
                <p:cNvSpPr>
                  <a:spLocks noChangeShapeType="1"/>
                </p:cNvSpPr>
                <p:nvPr/>
              </p:nvSpPr>
              <p:spPr bwMode="auto">
                <a:xfrm>
                  <a:off x="3120" y="2024"/>
                  <a:ext cx="480" cy="0"/>
                </a:xfrm>
                <a:prstGeom prst="line">
                  <a:avLst/>
                </a:prstGeom>
                <a:noFill/>
                <a:ln w="9525">
                  <a:solidFill>
                    <a:schemeClr val="tx1"/>
                  </a:solidFill>
                  <a:round/>
                  <a:headEnd/>
                  <a:tailEnd/>
                </a:ln>
              </p:spPr>
              <p:txBody>
                <a:bodyPr wrap="none" anchor="ctr"/>
                <a:lstStyle/>
                <a:p>
                  <a:endParaRPr lang="bg-BG"/>
                </a:p>
              </p:txBody>
            </p:sp>
            <p:sp>
              <p:nvSpPr>
                <p:cNvPr id="59502" name="Line 35"/>
                <p:cNvSpPr>
                  <a:spLocks noChangeShapeType="1"/>
                </p:cNvSpPr>
                <p:nvPr/>
              </p:nvSpPr>
              <p:spPr bwMode="auto">
                <a:xfrm>
                  <a:off x="3120" y="2120"/>
                  <a:ext cx="480" cy="0"/>
                </a:xfrm>
                <a:prstGeom prst="line">
                  <a:avLst/>
                </a:prstGeom>
                <a:noFill/>
                <a:ln w="9525">
                  <a:solidFill>
                    <a:schemeClr val="tx1"/>
                  </a:solidFill>
                  <a:round/>
                  <a:headEnd/>
                  <a:tailEnd/>
                </a:ln>
              </p:spPr>
              <p:txBody>
                <a:bodyPr wrap="none" anchor="ctr"/>
                <a:lstStyle/>
                <a:p>
                  <a:endParaRPr lang="bg-BG"/>
                </a:p>
              </p:txBody>
            </p:sp>
            <p:sp>
              <p:nvSpPr>
                <p:cNvPr id="59503" name="Line 36"/>
                <p:cNvSpPr>
                  <a:spLocks noChangeShapeType="1"/>
                </p:cNvSpPr>
                <p:nvPr/>
              </p:nvSpPr>
              <p:spPr bwMode="auto">
                <a:xfrm>
                  <a:off x="3120" y="2216"/>
                  <a:ext cx="480" cy="0"/>
                </a:xfrm>
                <a:prstGeom prst="line">
                  <a:avLst/>
                </a:prstGeom>
                <a:noFill/>
                <a:ln w="9525">
                  <a:solidFill>
                    <a:schemeClr val="tx1"/>
                  </a:solidFill>
                  <a:round/>
                  <a:headEnd/>
                  <a:tailEnd/>
                </a:ln>
              </p:spPr>
              <p:txBody>
                <a:bodyPr wrap="none" anchor="ctr"/>
                <a:lstStyle/>
                <a:p>
                  <a:endParaRPr lang="bg-BG"/>
                </a:p>
              </p:txBody>
            </p:sp>
            <p:grpSp>
              <p:nvGrpSpPr>
                <p:cNvPr id="59504" name="Group 259"/>
                <p:cNvGrpSpPr>
                  <a:grpSpLocks/>
                </p:cNvGrpSpPr>
                <p:nvPr/>
              </p:nvGrpSpPr>
              <p:grpSpPr bwMode="auto">
                <a:xfrm>
                  <a:off x="3336" y="840"/>
                  <a:ext cx="48" cy="1312"/>
                  <a:chOff x="3336" y="840"/>
                  <a:chExt cx="48" cy="1312"/>
                </a:xfrm>
              </p:grpSpPr>
              <p:grpSp>
                <p:nvGrpSpPr>
                  <p:cNvPr id="59505" name="Group 158"/>
                  <p:cNvGrpSpPr>
                    <a:grpSpLocks/>
                  </p:cNvGrpSpPr>
                  <p:nvPr/>
                </p:nvGrpSpPr>
                <p:grpSpPr bwMode="auto">
                  <a:xfrm>
                    <a:off x="3336" y="840"/>
                    <a:ext cx="48" cy="160"/>
                    <a:chOff x="3384" y="2800"/>
                    <a:chExt cx="48" cy="160"/>
                  </a:xfrm>
                </p:grpSpPr>
                <p:sp>
                  <p:nvSpPr>
                    <p:cNvPr id="59530" name="Oval 97"/>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31" name="Oval 98"/>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32" name="Line 157"/>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506" name="Group 159"/>
                  <p:cNvGrpSpPr>
                    <a:grpSpLocks/>
                  </p:cNvGrpSpPr>
                  <p:nvPr/>
                </p:nvGrpSpPr>
                <p:grpSpPr bwMode="auto">
                  <a:xfrm>
                    <a:off x="3336" y="1032"/>
                    <a:ext cx="48" cy="160"/>
                    <a:chOff x="3384" y="2800"/>
                    <a:chExt cx="48" cy="160"/>
                  </a:xfrm>
                </p:grpSpPr>
                <p:sp>
                  <p:nvSpPr>
                    <p:cNvPr id="59527" name="Oval 160"/>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28" name="Oval 161"/>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29" name="Line 162"/>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507" name="Group 163"/>
                  <p:cNvGrpSpPr>
                    <a:grpSpLocks/>
                  </p:cNvGrpSpPr>
                  <p:nvPr/>
                </p:nvGrpSpPr>
                <p:grpSpPr bwMode="auto">
                  <a:xfrm>
                    <a:off x="3336" y="1224"/>
                    <a:ext cx="48" cy="160"/>
                    <a:chOff x="3384" y="2800"/>
                    <a:chExt cx="48" cy="160"/>
                  </a:xfrm>
                </p:grpSpPr>
                <p:sp>
                  <p:nvSpPr>
                    <p:cNvPr id="59524" name="Oval 164"/>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25" name="Oval 165"/>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26" name="Line 166"/>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508" name="Group 167"/>
                  <p:cNvGrpSpPr>
                    <a:grpSpLocks/>
                  </p:cNvGrpSpPr>
                  <p:nvPr/>
                </p:nvGrpSpPr>
                <p:grpSpPr bwMode="auto">
                  <a:xfrm>
                    <a:off x="3336" y="1416"/>
                    <a:ext cx="48" cy="160"/>
                    <a:chOff x="3384" y="2800"/>
                    <a:chExt cx="48" cy="160"/>
                  </a:xfrm>
                </p:grpSpPr>
                <p:sp>
                  <p:nvSpPr>
                    <p:cNvPr id="59521" name="Oval 168"/>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22" name="Oval 169"/>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23" name="Line 170"/>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509" name="Group 171"/>
                  <p:cNvGrpSpPr>
                    <a:grpSpLocks/>
                  </p:cNvGrpSpPr>
                  <p:nvPr/>
                </p:nvGrpSpPr>
                <p:grpSpPr bwMode="auto">
                  <a:xfrm>
                    <a:off x="3336" y="1608"/>
                    <a:ext cx="48" cy="160"/>
                    <a:chOff x="3384" y="2800"/>
                    <a:chExt cx="48" cy="160"/>
                  </a:xfrm>
                </p:grpSpPr>
                <p:sp>
                  <p:nvSpPr>
                    <p:cNvPr id="59518" name="Oval 172"/>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19" name="Oval 173"/>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20" name="Line 174"/>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510" name="Group 175"/>
                  <p:cNvGrpSpPr>
                    <a:grpSpLocks/>
                  </p:cNvGrpSpPr>
                  <p:nvPr/>
                </p:nvGrpSpPr>
                <p:grpSpPr bwMode="auto">
                  <a:xfrm>
                    <a:off x="3336" y="1800"/>
                    <a:ext cx="48" cy="160"/>
                    <a:chOff x="3384" y="2800"/>
                    <a:chExt cx="48" cy="160"/>
                  </a:xfrm>
                </p:grpSpPr>
                <p:sp>
                  <p:nvSpPr>
                    <p:cNvPr id="59515" name="Oval 176"/>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16" name="Oval 177"/>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17" name="Line 178"/>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511" name="Group 179"/>
                  <p:cNvGrpSpPr>
                    <a:grpSpLocks/>
                  </p:cNvGrpSpPr>
                  <p:nvPr/>
                </p:nvGrpSpPr>
                <p:grpSpPr bwMode="auto">
                  <a:xfrm>
                    <a:off x="3336" y="1992"/>
                    <a:ext cx="48" cy="160"/>
                    <a:chOff x="3384" y="2800"/>
                    <a:chExt cx="48" cy="160"/>
                  </a:xfrm>
                </p:grpSpPr>
                <p:sp>
                  <p:nvSpPr>
                    <p:cNvPr id="59512" name="Oval 180"/>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13" name="Oval 181"/>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514" name="Line 182"/>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grpSp>
          <p:sp>
            <p:nvSpPr>
              <p:cNvPr id="59440" name="Line 299"/>
              <p:cNvSpPr>
                <a:spLocks noChangeShapeType="1"/>
              </p:cNvSpPr>
              <p:nvPr/>
            </p:nvSpPr>
            <p:spPr bwMode="auto">
              <a:xfrm>
                <a:off x="288" y="1440"/>
                <a:ext cx="369" cy="0"/>
              </a:xfrm>
              <a:prstGeom prst="line">
                <a:avLst/>
              </a:prstGeom>
              <a:noFill/>
              <a:ln w="9525">
                <a:solidFill>
                  <a:schemeClr val="tx1"/>
                </a:solidFill>
                <a:round/>
                <a:headEnd/>
                <a:tailEnd/>
              </a:ln>
            </p:spPr>
            <p:txBody>
              <a:bodyPr wrap="none" anchor="ctr"/>
              <a:lstStyle/>
              <a:p>
                <a:endParaRPr lang="bg-BG"/>
              </a:p>
            </p:txBody>
          </p:sp>
          <p:sp>
            <p:nvSpPr>
              <p:cNvPr id="59441" name="Line 300"/>
              <p:cNvSpPr>
                <a:spLocks noChangeShapeType="1"/>
              </p:cNvSpPr>
              <p:nvPr/>
            </p:nvSpPr>
            <p:spPr bwMode="auto">
              <a:xfrm>
                <a:off x="288" y="1536"/>
                <a:ext cx="369" cy="0"/>
              </a:xfrm>
              <a:prstGeom prst="line">
                <a:avLst/>
              </a:prstGeom>
              <a:noFill/>
              <a:ln w="9525">
                <a:solidFill>
                  <a:schemeClr val="tx1"/>
                </a:solidFill>
                <a:round/>
                <a:headEnd/>
                <a:tailEnd/>
              </a:ln>
            </p:spPr>
            <p:txBody>
              <a:bodyPr wrap="none" anchor="ctr"/>
              <a:lstStyle/>
              <a:p>
                <a:endParaRPr lang="bg-BG"/>
              </a:p>
            </p:txBody>
          </p:sp>
          <p:sp>
            <p:nvSpPr>
              <p:cNvPr id="59442" name="Line 301"/>
              <p:cNvSpPr>
                <a:spLocks noChangeShapeType="1"/>
              </p:cNvSpPr>
              <p:nvPr/>
            </p:nvSpPr>
            <p:spPr bwMode="auto">
              <a:xfrm>
                <a:off x="288" y="1632"/>
                <a:ext cx="369" cy="0"/>
              </a:xfrm>
              <a:prstGeom prst="line">
                <a:avLst/>
              </a:prstGeom>
              <a:noFill/>
              <a:ln w="9525">
                <a:solidFill>
                  <a:schemeClr val="tx1"/>
                </a:solidFill>
                <a:round/>
                <a:headEnd/>
                <a:tailEnd/>
              </a:ln>
            </p:spPr>
            <p:txBody>
              <a:bodyPr wrap="none" anchor="ctr"/>
              <a:lstStyle/>
              <a:p>
                <a:endParaRPr lang="bg-BG"/>
              </a:p>
            </p:txBody>
          </p:sp>
          <p:sp>
            <p:nvSpPr>
              <p:cNvPr id="59443" name="Line 302"/>
              <p:cNvSpPr>
                <a:spLocks noChangeShapeType="1"/>
              </p:cNvSpPr>
              <p:nvPr/>
            </p:nvSpPr>
            <p:spPr bwMode="auto">
              <a:xfrm>
                <a:off x="288" y="1728"/>
                <a:ext cx="369" cy="0"/>
              </a:xfrm>
              <a:prstGeom prst="line">
                <a:avLst/>
              </a:prstGeom>
              <a:noFill/>
              <a:ln w="9525">
                <a:solidFill>
                  <a:schemeClr val="tx1"/>
                </a:solidFill>
                <a:round/>
                <a:headEnd/>
                <a:tailEnd/>
              </a:ln>
            </p:spPr>
            <p:txBody>
              <a:bodyPr wrap="none" anchor="ctr"/>
              <a:lstStyle/>
              <a:p>
                <a:endParaRPr lang="bg-BG"/>
              </a:p>
            </p:txBody>
          </p:sp>
          <p:sp>
            <p:nvSpPr>
              <p:cNvPr id="59444" name="Line 303"/>
              <p:cNvSpPr>
                <a:spLocks noChangeShapeType="1"/>
              </p:cNvSpPr>
              <p:nvPr/>
            </p:nvSpPr>
            <p:spPr bwMode="auto">
              <a:xfrm>
                <a:off x="288" y="1824"/>
                <a:ext cx="369" cy="0"/>
              </a:xfrm>
              <a:prstGeom prst="line">
                <a:avLst/>
              </a:prstGeom>
              <a:noFill/>
              <a:ln w="9525">
                <a:solidFill>
                  <a:schemeClr val="tx1"/>
                </a:solidFill>
                <a:round/>
                <a:headEnd/>
                <a:tailEnd/>
              </a:ln>
            </p:spPr>
            <p:txBody>
              <a:bodyPr wrap="none" anchor="ctr"/>
              <a:lstStyle/>
              <a:p>
                <a:endParaRPr lang="bg-BG"/>
              </a:p>
            </p:txBody>
          </p:sp>
          <p:sp>
            <p:nvSpPr>
              <p:cNvPr id="59445" name="Line 304"/>
              <p:cNvSpPr>
                <a:spLocks noChangeShapeType="1"/>
              </p:cNvSpPr>
              <p:nvPr/>
            </p:nvSpPr>
            <p:spPr bwMode="auto">
              <a:xfrm>
                <a:off x="288" y="1920"/>
                <a:ext cx="369" cy="0"/>
              </a:xfrm>
              <a:prstGeom prst="line">
                <a:avLst/>
              </a:prstGeom>
              <a:noFill/>
              <a:ln w="9525">
                <a:solidFill>
                  <a:schemeClr val="tx1"/>
                </a:solidFill>
                <a:round/>
                <a:headEnd/>
                <a:tailEnd/>
              </a:ln>
            </p:spPr>
            <p:txBody>
              <a:bodyPr wrap="none" anchor="ctr"/>
              <a:lstStyle/>
              <a:p>
                <a:endParaRPr lang="bg-BG"/>
              </a:p>
            </p:txBody>
          </p:sp>
          <p:sp>
            <p:nvSpPr>
              <p:cNvPr id="59446" name="Line 305"/>
              <p:cNvSpPr>
                <a:spLocks noChangeShapeType="1"/>
              </p:cNvSpPr>
              <p:nvPr/>
            </p:nvSpPr>
            <p:spPr bwMode="auto">
              <a:xfrm>
                <a:off x="288" y="2016"/>
                <a:ext cx="369" cy="0"/>
              </a:xfrm>
              <a:prstGeom prst="line">
                <a:avLst/>
              </a:prstGeom>
              <a:noFill/>
              <a:ln w="9525">
                <a:solidFill>
                  <a:schemeClr val="tx1"/>
                </a:solidFill>
                <a:round/>
                <a:headEnd/>
                <a:tailEnd/>
              </a:ln>
            </p:spPr>
            <p:txBody>
              <a:bodyPr wrap="none" anchor="ctr"/>
              <a:lstStyle/>
              <a:p>
                <a:endParaRPr lang="bg-BG"/>
              </a:p>
            </p:txBody>
          </p:sp>
          <p:sp>
            <p:nvSpPr>
              <p:cNvPr id="59447" name="Line 306"/>
              <p:cNvSpPr>
                <a:spLocks noChangeShapeType="1"/>
              </p:cNvSpPr>
              <p:nvPr/>
            </p:nvSpPr>
            <p:spPr bwMode="auto">
              <a:xfrm>
                <a:off x="288" y="2112"/>
                <a:ext cx="369" cy="0"/>
              </a:xfrm>
              <a:prstGeom prst="line">
                <a:avLst/>
              </a:prstGeom>
              <a:noFill/>
              <a:ln w="9525">
                <a:solidFill>
                  <a:schemeClr val="tx1"/>
                </a:solidFill>
                <a:round/>
                <a:headEnd/>
                <a:tailEnd/>
              </a:ln>
            </p:spPr>
            <p:txBody>
              <a:bodyPr wrap="none" anchor="ctr"/>
              <a:lstStyle/>
              <a:p>
                <a:endParaRPr lang="bg-BG"/>
              </a:p>
            </p:txBody>
          </p:sp>
          <p:sp>
            <p:nvSpPr>
              <p:cNvPr id="59448" name="Line 307"/>
              <p:cNvSpPr>
                <a:spLocks noChangeShapeType="1"/>
              </p:cNvSpPr>
              <p:nvPr/>
            </p:nvSpPr>
            <p:spPr bwMode="auto">
              <a:xfrm>
                <a:off x="288" y="2208"/>
                <a:ext cx="369" cy="0"/>
              </a:xfrm>
              <a:prstGeom prst="line">
                <a:avLst/>
              </a:prstGeom>
              <a:noFill/>
              <a:ln w="9525">
                <a:solidFill>
                  <a:schemeClr val="tx1"/>
                </a:solidFill>
                <a:round/>
                <a:headEnd/>
                <a:tailEnd/>
              </a:ln>
            </p:spPr>
            <p:txBody>
              <a:bodyPr wrap="none" anchor="ctr"/>
              <a:lstStyle/>
              <a:p>
                <a:endParaRPr lang="bg-BG"/>
              </a:p>
            </p:txBody>
          </p:sp>
          <p:sp>
            <p:nvSpPr>
              <p:cNvPr id="59449" name="Line 308"/>
              <p:cNvSpPr>
                <a:spLocks noChangeShapeType="1"/>
              </p:cNvSpPr>
              <p:nvPr/>
            </p:nvSpPr>
            <p:spPr bwMode="auto">
              <a:xfrm>
                <a:off x="288" y="2304"/>
                <a:ext cx="369" cy="0"/>
              </a:xfrm>
              <a:prstGeom prst="line">
                <a:avLst/>
              </a:prstGeom>
              <a:noFill/>
              <a:ln w="9525">
                <a:solidFill>
                  <a:schemeClr val="tx1"/>
                </a:solidFill>
                <a:round/>
                <a:headEnd/>
                <a:tailEnd/>
              </a:ln>
            </p:spPr>
            <p:txBody>
              <a:bodyPr wrap="none" anchor="ctr"/>
              <a:lstStyle/>
              <a:p>
                <a:endParaRPr lang="bg-BG"/>
              </a:p>
            </p:txBody>
          </p:sp>
          <p:sp>
            <p:nvSpPr>
              <p:cNvPr id="59450" name="Line 309"/>
              <p:cNvSpPr>
                <a:spLocks noChangeShapeType="1"/>
              </p:cNvSpPr>
              <p:nvPr/>
            </p:nvSpPr>
            <p:spPr bwMode="auto">
              <a:xfrm>
                <a:off x="288" y="2400"/>
                <a:ext cx="369" cy="0"/>
              </a:xfrm>
              <a:prstGeom prst="line">
                <a:avLst/>
              </a:prstGeom>
              <a:noFill/>
              <a:ln w="9525">
                <a:solidFill>
                  <a:schemeClr val="tx1"/>
                </a:solidFill>
                <a:round/>
                <a:headEnd/>
                <a:tailEnd/>
              </a:ln>
            </p:spPr>
            <p:txBody>
              <a:bodyPr wrap="none" anchor="ctr"/>
              <a:lstStyle/>
              <a:p>
                <a:endParaRPr lang="bg-BG"/>
              </a:p>
            </p:txBody>
          </p:sp>
          <p:sp>
            <p:nvSpPr>
              <p:cNvPr id="59451" name="Line 310"/>
              <p:cNvSpPr>
                <a:spLocks noChangeShapeType="1"/>
              </p:cNvSpPr>
              <p:nvPr/>
            </p:nvSpPr>
            <p:spPr bwMode="auto">
              <a:xfrm>
                <a:off x="288" y="2496"/>
                <a:ext cx="369" cy="0"/>
              </a:xfrm>
              <a:prstGeom prst="line">
                <a:avLst/>
              </a:prstGeom>
              <a:noFill/>
              <a:ln w="9525">
                <a:solidFill>
                  <a:schemeClr val="tx1"/>
                </a:solidFill>
                <a:round/>
                <a:headEnd/>
                <a:tailEnd/>
              </a:ln>
            </p:spPr>
            <p:txBody>
              <a:bodyPr wrap="none" anchor="ctr"/>
              <a:lstStyle/>
              <a:p>
                <a:endParaRPr lang="bg-BG"/>
              </a:p>
            </p:txBody>
          </p:sp>
          <p:sp>
            <p:nvSpPr>
              <p:cNvPr id="59452" name="Line 311"/>
              <p:cNvSpPr>
                <a:spLocks noChangeShapeType="1"/>
              </p:cNvSpPr>
              <p:nvPr/>
            </p:nvSpPr>
            <p:spPr bwMode="auto">
              <a:xfrm>
                <a:off x="288" y="2592"/>
                <a:ext cx="369" cy="0"/>
              </a:xfrm>
              <a:prstGeom prst="line">
                <a:avLst/>
              </a:prstGeom>
              <a:noFill/>
              <a:ln w="9525">
                <a:solidFill>
                  <a:schemeClr val="tx1"/>
                </a:solidFill>
                <a:round/>
                <a:headEnd/>
                <a:tailEnd/>
              </a:ln>
            </p:spPr>
            <p:txBody>
              <a:bodyPr wrap="none" anchor="ctr"/>
              <a:lstStyle/>
              <a:p>
                <a:endParaRPr lang="bg-BG"/>
              </a:p>
            </p:txBody>
          </p:sp>
          <p:sp>
            <p:nvSpPr>
              <p:cNvPr id="59453" name="Line 312"/>
              <p:cNvSpPr>
                <a:spLocks noChangeShapeType="1"/>
              </p:cNvSpPr>
              <p:nvPr/>
            </p:nvSpPr>
            <p:spPr bwMode="auto">
              <a:xfrm>
                <a:off x="288" y="2688"/>
                <a:ext cx="369" cy="0"/>
              </a:xfrm>
              <a:prstGeom prst="line">
                <a:avLst/>
              </a:prstGeom>
              <a:noFill/>
              <a:ln w="9525">
                <a:solidFill>
                  <a:schemeClr val="tx1"/>
                </a:solidFill>
                <a:round/>
                <a:headEnd/>
                <a:tailEnd/>
              </a:ln>
            </p:spPr>
            <p:txBody>
              <a:bodyPr wrap="none" anchor="ctr"/>
              <a:lstStyle/>
              <a:p>
                <a:endParaRPr lang="bg-BG"/>
              </a:p>
            </p:txBody>
          </p:sp>
          <p:sp>
            <p:nvSpPr>
              <p:cNvPr id="59454" name="Line 313"/>
              <p:cNvSpPr>
                <a:spLocks noChangeShapeType="1"/>
              </p:cNvSpPr>
              <p:nvPr/>
            </p:nvSpPr>
            <p:spPr bwMode="auto">
              <a:xfrm>
                <a:off x="288" y="2784"/>
                <a:ext cx="369" cy="0"/>
              </a:xfrm>
              <a:prstGeom prst="line">
                <a:avLst/>
              </a:prstGeom>
              <a:noFill/>
              <a:ln w="9525">
                <a:solidFill>
                  <a:schemeClr val="tx1"/>
                </a:solidFill>
                <a:round/>
                <a:headEnd/>
                <a:tailEnd/>
              </a:ln>
            </p:spPr>
            <p:txBody>
              <a:bodyPr wrap="none" anchor="ctr"/>
              <a:lstStyle/>
              <a:p>
                <a:endParaRPr lang="bg-BG"/>
              </a:p>
            </p:txBody>
          </p:sp>
          <p:sp>
            <p:nvSpPr>
              <p:cNvPr id="59455" name="Line 314"/>
              <p:cNvSpPr>
                <a:spLocks noChangeShapeType="1"/>
              </p:cNvSpPr>
              <p:nvPr/>
            </p:nvSpPr>
            <p:spPr bwMode="auto">
              <a:xfrm>
                <a:off x="288" y="2880"/>
                <a:ext cx="369" cy="0"/>
              </a:xfrm>
              <a:prstGeom prst="line">
                <a:avLst/>
              </a:prstGeom>
              <a:noFill/>
              <a:ln w="9525">
                <a:solidFill>
                  <a:schemeClr val="tx1"/>
                </a:solidFill>
                <a:round/>
                <a:headEnd/>
                <a:tailEnd/>
              </a:ln>
            </p:spPr>
            <p:txBody>
              <a:bodyPr wrap="none" anchor="ctr"/>
              <a:lstStyle/>
              <a:p>
                <a:endParaRPr lang="bg-BG"/>
              </a:p>
            </p:txBody>
          </p:sp>
          <p:grpSp>
            <p:nvGrpSpPr>
              <p:cNvPr id="59456" name="Group 316"/>
              <p:cNvGrpSpPr>
                <a:grpSpLocks/>
              </p:cNvGrpSpPr>
              <p:nvPr/>
            </p:nvGrpSpPr>
            <p:grpSpPr bwMode="auto">
              <a:xfrm>
                <a:off x="454" y="1405"/>
                <a:ext cx="37" cy="160"/>
                <a:chOff x="3384" y="2800"/>
                <a:chExt cx="48" cy="160"/>
              </a:xfrm>
            </p:grpSpPr>
            <p:sp>
              <p:nvSpPr>
                <p:cNvPr id="59485" name="Oval 317"/>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86" name="Oval 318"/>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87" name="Line 319"/>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457" name="Group 320"/>
              <p:cNvGrpSpPr>
                <a:grpSpLocks/>
              </p:cNvGrpSpPr>
              <p:nvPr/>
            </p:nvGrpSpPr>
            <p:grpSpPr bwMode="auto">
              <a:xfrm>
                <a:off x="454" y="1597"/>
                <a:ext cx="37" cy="160"/>
                <a:chOff x="3384" y="2800"/>
                <a:chExt cx="48" cy="160"/>
              </a:xfrm>
            </p:grpSpPr>
            <p:sp>
              <p:nvSpPr>
                <p:cNvPr id="59482" name="Oval 321"/>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83" name="Oval 322"/>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84" name="Line 323"/>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458" name="Group 324"/>
              <p:cNvGrpSpPr>
                <a:grpSpLocks/>
              </p:cNvGrpSpPr>
              <p:nvPr/>
            </p:nvGrpSpPr>
            <p:grpSpPr bwMode="auto">
              <a:xfrm>
                <a:off x="454" y="1789"/>
                <a:ext cx="37" cy="160"/>
                <a:chOff x="3384" y="2800"/>
                <a:chExt cx="48" cy="160"/>
              </a:xfrm>
            </p:grpSpPr>
            <p:sp>
              <p:nvSpPr>
                <p:cNvPr id="59479" name="Oval 325"/>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80" name="Oval 326"/>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81" name="Line 327"/>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459" name="Group 328"/>
              <p:cNvGrpSpPr>
                <a:grpSpLocks/>
              </p:cNvGrpSpPr>
              <p:nvPr/>
            </p:nvGrpSpPr>
            <p:grpSpPr bwMode="auto">
              <a:xfrm>
                <a:off x="454" y="1981"/>
                <a:ext cx="37" cy="160"/>
                <a:chOff x="3384" y="2800"/>
                <a:chExt cx="48" cy="160"/>
              </a:xfrm>
            </p:grpSpPr>
            <p:sp>
              <p:nvSpPr>
                <p:cNvPr id="59476" name="Oval 329"/>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77" name="Oval 330"/>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78" name="Line 331"/>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460" name="Group 332"/>
              <p:cNvGrpSpPr>
                <a:grpSpLocks/>
              </p:cNvGrpSpPr>
              <p:nvPr/>
            </p:nvGrpSpPr>
            <p:grpSpPr bwMode="auto">
              <a:xfrm>
                <a:off x="454" y="2173"/>
                <a:ext cx="37" cy="160"/>
                <a:chOff x="3384" y="2800"/>
                <a:chExt cx="48" cy="160"/>
              </a:xfrm>
            </p:grpSpPr>
            <p:sp>
              <p:nvSpPr>
                <p:cNvPr id="59473" name="Oval 333"/>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74" name="Oval 334"/>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75" name="Line 335"/>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461" name="Group 336"/>
              <p:cNvGrpSpPr>
                <a:grpSpLocks/>
              </p:cNvGrpSpPr>
              <p:nvPr/>
            </p:nvGrpSpPr>
            <p:grpSpPr bwMode="auto">
              <a:xfrm>
                <a:off x="454" y="2365"/>
                <a:ext cx="37" cy="160"/>
                <a:chOff x="3384" y="2800"/>
                <a:chExt cx="48" cy="160"/>
              </a:xfrm>
            </p:grpSpPr>
            <p:sp>
              <p:nvSpPr>
                <p:cNvPr id="59470" name="Oval 337"/>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71" name="Oval 338"/>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72" name="Line 339"/>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462" name="Group 340"/>
              <p:cNvGrpSpPr>
                <a:grpSpLocks/>
              </p:cNvGrpSpPr>
              <p:nvPr/>
            </p:nvGrpSpPr>
            <p:grpSpPr bwMode="auto">
              <a:xfrm>
                <a:off x="454" y="2557"/>
                <a:ext cx="37" cy="160"/>
                <a:chOff x="3384" y="2800"/>
                <a:chExt cx="48" cy="160"/>
              </a:xfrm>
            </p:grpSpPr>
            <p:sp>
              <p:nvSpPr>
                <p:cNvPr id="59467" name="Oval 341"/>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68" name="Oval 342"/>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69" name="Line 343"/>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463" name="Group 345"/>
              <p:cNvGrpSpPr>
                <a:grpSpLocks/>
              </p:cNvGrpSpPr>
              <p:nvPr/>
            </p:nvGrpSpPr>
            <p:grpSpPr bwMode="auto">
              <a:xfrm>
                <a:off x="451" y="2752"/>
                <a:ext cx="37" cy="160"/>
                <a:chOff x="3384" y="2800"/>
                <a:chExt cx="48" cy="160"/>
              </a:xfrm>
            </p:grpSpPr>
            <p:sp>
              <p:nvSpPr>
                <p:cNvPr id="59464" name="Oval 346"/>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65" name="Oval 347"/>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66" name="Line 348"/>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grpSp>
          <p:nvGrpSpPr>
            <p:cNvPr id="59404" name="Group 350"/>
            <p:cNvGrpSpPr>
              <a:grpSpLocks/>
            </p:cNvGrpSpPr>
            <p:nvPr/>
          </p:nvGrpSpPr>
          <p:grpSpPr bwMode="auto">
            <a:xfrm>
              <a:off x="3360" y="1422"/>
              <a:ext cx="37" cy="160"/>
              <a:chOff x="3384" y="2800"/>
              <a:chExt cx="48" cy="160"/>
            </a:xfrm>
          </p:grpSpPr>
          <p:sp>
            <p:nvSpPr>
              <p:cNvPr id="59434" name="Oval 351"/>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35" name="Oval 352"/>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36" name="Line 353"/>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405" name="Group 354"/>
            <p:cNvGrpSpPr>
              <a:grpSpLocks/>
            </p:cNvGrpSpPr>
            <p:nvPr/>
          </p:nvGrpSpPr>
          <p:grpSpPr bwMode="auto">
            <a:xfrm>
              <a:off x="3360" y="1827"/>
              <a:ext cx="48" cy="120"/>
              <a:chOff x="3384" y="2800"/>
              <a:chExt cx="48" cy="160"/>
            </a:xfrm>
          </p:grpSpPr>
          <p:sp>
            <p:nvSpPr>
              <p:cNvPr id="59431" name="Oval 355"/>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32" name="Oval 356"/>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33" name="Line 357"/>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406" name="Group 358"/>
            <p:cNvGrpSpPr>
              <a:grpSpLocks/>
            </p:cNvGrpSpPr>
            <p:nvPr/>
          </p:nvGrpSpPr>
          <p:grpSpPr bwMode="auto">
            <a:xfrm>
              <a:off x="3360" y="1632"/>
              <a:ext cx="48" cy="144"/>
              <a:chOff x="3384" y="2800"/>
              <a:chExt cx="48" cy="160"/>
            </a:xfrm>
          </p:grpSpPr>
          <p:sp>
            <p:nvSpPr>
              <p:cNvPr id="59428" name="Oval 359"/>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29" name="Oval 360"/>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30" name="Line 361"/>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407" name="Group 362"/>
            <p:cNvGrpSpPr>
              <a:grpSpLocks/>
            </p:cNvGrpSpPr>
            <p:nvPr/>
          </p:nvGrpSpPr>
          <p:grpSpPr bwMode="auto">
            <a:xfrm>
              <a:off x="3360" y="2004"/>
              <a:ext cx="48" cy="144"/>
              <a:chOff x="3384" y="2800"/>
              <a:chExt cx="48" cy="160"/>
            </a:xfrm>
          </p:grpSpPr>
          <p:sp>
            <p:nvSpPr>
              <p:cNvPr id="59425" name="Oval 363"/>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26" name="Oval 364"/>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27" name="Line 365"/>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408" name="Group 366"/>
            <p:cNvGrpSpPr>
              <a:grpSpLocks/>
            </p:cNvGrpSpPr>
            <p:nvPr/>
          </p:nvGrpSpPr>
          <p:grpSpPr bwMode="auto">
            <a:xfrm>
              <a:off x="3360" y="2208"/>
              <a:ext cx="48" cy="144"/>
              <a:chOff x="3384" y="2800"/>
              <a:chExt cx="48" cy="160"/>
            </a:xfrm>
          </p:grpSpPr>
          <p:sp>
            <p:nvSpPr>
              <p:cNvPr id="59422" name="Oval 367"/>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23" name="Oval 368"/>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24" name="Line 369"/>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409" name="Group 370"/>
            <p:cNvGrpSpPr>
              <a:grpSpLocks/>
            </p:cNvGrpSpPr>
            <p:nvPr/>
          </p:nvGrpSpPr>
          <p:grpSpPr bwMode="auto">
            <a:xfrm>
              <a:off x="3360" y="2400"/>
              <a:ext cx="48" cy="144"/>
              <a:chOff x="3384" y="2800"/>
              <a:chExt cx="48" cy="160"/>
            </a:xfrm>
          </p:grpSpPr>
          <p:sp>
            <p:nvSpPr>
              <p:cNvPr id="59419" name="Oval 371"/>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20" name="Oval 372"/>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21" name="Line 373"/>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410" name="Group 374"/>
            <p:cNvGrpSpPr>
              <a:grpSpLocks/>
            </p:cNvGrpSpPr>
            <p:nvPr/>
          </p:nvGrpSpPr>
          <p:grpSpPr bwMode="auto">
            <a:xfrm>
              <a:off x="3360" y="2592"/>
              <a:ext cx="48" cy="144"/>
              <a:chOff x="3384" y="2800"/>
              <a:chExt cx="48" cy="160"/>
            </a:xfrm>
          </p:grpSpPr>
          <p:sp>
            <p:nvSpPr>
              <p:cNvPr id="59416" name="Oval 375"/>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17" name="Oval 376"/>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18" name="Line 377"/>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grpSp>
          <p:nvGrpSpPr>
            <p:cNvPr id="59411" name="Group 378"/>
            <p:cNvGrpSpPr>
              <a:grpSpLocks/>
            </p:cNvGrpSpPr>
            <p:nvPr/>
          </p:nvGrpSpPr>
          <p:grpSpPr bwMode="auto">
            <a:xfrm>
              <a:off x="3360" y="2781"/>
              <a:ext cx="48" cy="144"/>
              <a:chOff x="3384" y="2800"/>
              <a:chExt cx="48" cy="160"/>
            </a:xfrm>
          </p:grpSpPr>
          <p:sp>
            <p:nvSpPr>
              <p:cNvPr id="59413" name="Oval 379"/>
              <p:cNvSpPr>
                <a:spLocks noChangeArrowheads="1"/>
              </p:cNvSpPr>
              <p:nvPr/>
            </p:nvSpPr>
            <p:spPr bwMode="auto">
              <a:xfrm>
                <a:off x="3384" y="2912"/>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14" name="Oval 380"/>
              <p:cNvSpPr>
                <a:spLocks noChangeArrowheads="1"/>
              </p:cNvSpPr>
              <p:nvPr/>
            </p:nvSpPr>
            <p:spPr bwMode="auto">
              <a:xfrm>
                <a:off x="3384" y="2800"/>
                <a:ext cx="48" cy="48"/>
              </a:xfrm>
              <a:prstGeom prst="ellipse">
                <a:avLst/>
              </a:prstGeom>
              <a:solidFill>
                <a:schemeClr val="accent2"/>
              </a:solidFill>
              <a:ln w="9525">
                <a:solidFill>
                  <a:schemeClr val="tx1"/>
                </a:solidFill>
                <a:round/>
                <a:headEnd/>
                <a:tailEnd/>
              </a:ln>
            </p:spPr>
            <p:txBody>
              <a:bodyPr wrap="none" anchor="ctr"/>
              <a:lstStyle/>
              <a:p>
                <a:endParaRPr lang="bg-BG"/>
              </a:p>
            </p:txBody>
          </p:sp>
          <p:sp>
            <p:nvSpPr>
              <p:cNvPr id="59415" name="Line 381"/>
              <p:cNvSpPr>
                <a:spLocks noChangeShapeType="1"/>
              </p:cNvSpPr>
              <p:nvPr/>
            </p:nvSpPr>
            <p:spPr bwMode="auto">
              <a:xfrm>
                <a:off x="3408" y="2832"/>
                <a:ext cx="0" cy="96"/>
              </a:xfrm>
              <a:prstGeom prst="line">
                <a:avLst/>
              </a:prstGeom>
              <a:noFill/>
              <a:ln w="28575">
                <a:solidFill>
                  <a:schemeClr val="accent2"/>
                </a:solidFill>
                <a:round/>
                <a:headEnd/>
                <a:tailEnd/>
              </a:ln>
            </p:spPr>
            <p:txBody>
              <a:bodyPr wrap="none" anchor="ctr"/>
              <a:lstStyle/>
              <a:p>
                <a:endParaRPr lang="bg-BG"/>
              </a:p>
            </p:txBody>
          </p:sp>
        </p:grpSp>
        <p:sp>
          <p:nvSpPr>
            <p:cNvPr id="59412" name="Rectangle 382"/>
            <p:cNvSpPr>
              <a:spLocks noChangeArrowheads="1"/>
            </p:cNvSpPr>
            <p:nvPr/>
          </p:nvSpPr>
          <p:spPr bwMode="auto">
            <a:xfrm>
              <a:off x="3264" y="1296"/>
              <a:ext cx="240" cy="1776"/>
            </a:xfrm>
            <a:prstGeom prst="rect">
              <a:avLst/>
            </a:prstGeom>
            <a:noFill/>
            <a:ln w="9525">
              <a:solidFill>
                <a:srgbClr val="FF0000"/>
              </a:solidFill>
              <a:prstDash val="dash"/>
              <a:miter lim="800000"/>
              <a:headEnd/>
              <a:tailEnd/>
            </a:ln>
          </p:spPr>
          <p:txBody>
            <a:bodyPr wrap="none" anchor="ctr"/>
            <a:lstStyle/>
            <a:p>
              <a:endParaRPr lang="bg-BG"/>
            </a:p>
          </p:txBody>
        </p:sp>
      </p:grpSp>
      <p:sp>
        <p:nvSpPr>
          <p:cNvPr id="359" name="Slide Number Placeholder 358"/>
          <p:cNvSpPr>
            <a:spLocks noGrp="1"/>
          </p:cNvSpPr>
          <p:nvPr>
            <p:ph type="sldNum" sz="quarter" idx="12"/>
          </p:nvPr>
        </p:nvSpPr>
        <p:spPr/>
        <p:txBody>
          <a:bodyPr/>
          <a:lstStyle/>
          <a:p>
            <a:pPr>
              <a:defRPr/>
            </a:pPr>
            <a:fld id="{AB6564DB-E189-4D60-94EF-CF89CDC71014}" type="slidenum">
              <a:rPr lang="en-US"/>
              <a:pPr>
                <a:defRPr/>
              </a:pPr>
              <a:t>83</a:t>
            </a:fld>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685800" y="609600"/>
            <a:ext cx="7772400" cy="5791200"/>
          </a:xfrm>
        </p:spPr>
        <p:txBody>
          <a:bodyPr/>
          <a:lstStyle/>
          <a:p>
            <a:pPr eaLnBrk="1" fontAlgn="auto" hangingPunct="1">
              <a:spcAft>
                <a:spcPts val="0"/>
              </a:spcAft>
              <a:defRPr/>
            </a:pPr>
            <a:r>
              <a:rPr lang="bg-BG" sz="2400" smtClean="0">
                <a:solidFill>
                  <a:schemeClr val="tx1"/>
                </a:solidFill>
              </a:rPr>
              <a:t>	</a:t>
            </a:r>
            <a:r>
              <a:rPr lang="en-US" sz="2400" dirty="0" smtClean="0">
                <a:solidFill>
                  <a:schemeClr val="tx1"/>
                </a:solidFill>
              </a:rPr>
              <a:t>С</a:t>
            </a:r>
            <a:r>
              <a:rPr lang="bg-BG" sz="2400">
                <a:solidFill>
                  <a:schemeClr val="tx1"/>
                </a:solidFill>
              </a:rPr>
              <a:t>ортираща схема за</a:t>
            </a:r>
            <a:r>
              <a:rPr lang="bg-BG">
                <a:solidFill>
                  <a:schemeClr val="tx1"/>
                </a:solidFill>
              </a:rPr>
              <a:t> </a:t>
            </a:r>
            <a:r>
              <a:rPr lang="bg-BG" sz="2400">
                <a:solidFill>
                  <a:schemeClr val="tx1"/>
                </a:solidFill>
              </a:rPr>
              <a:t>сортирането чрез вмъкване:</a:t>
            </a:r>
            <a:br>
              <a:rPr lang="bg-BG" sz="2400">
                <a:solidFill>
                  <a:schemeClr val="tx1"/>
                </a:solidFill>
              </a:rPr>
            </a:br>
            <a:r>
              <a:rPr lang="en-US" sz="2400" dirty="0">
                <a:solidFill>
                  <a:schemeClr val="tx2">
                    <a:satMod val="130000"/>
                  </a:schemeClr>
                </a:solidFill>
              </a:rPr>
              <a:t/>
            </a:r>
            <a:br>
              <a:rPr lang="en-US" sz="2400" dirty="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endParaRPr lang="en-US" dirty="0">
              <a:solidFill>
                <a:schemeClr val="tx2">
                  <a:satMod val="130000"/>
                </a:schemeClr>
              </a:solidFill>
            </a:endParaRPr>
          </a:p>
        </p:txBody>
      </p:sp>
      <p:grpSp>
        <p:nvGrpSpPr>
          <p:cNvPr id="60419" name="Group 145"/>
          <p:cNvGrpSpPr>
            <a:grpSpLocks/>
          </p:cNvGrpSpPr>
          <p:nvPr/>
        </p:nvGrpSpPr>
        <p:grpSpPr bwMode="auto">
          <a:xfrm>
            <a:off x="1390650" y="1814513"/>
            <a:ext cx="7124700" cy="4157662"/>
            <a:chOff x="876" y="1143"/>
            <a:chExt cx="4488" cy="2619"/>
          </a:xfrm>
        </p:grpSpPr>
        <p:sp>
          <p:nvSpPr>
            <p:cNvPr id="60421" name="Line 3"/>
            <p:cNvSpPr>
              <a:spLocks noChangeShapeType="1"/>
            </p:cNvSpPr>
            <p:nvPr/>
          </p:nvSpPr>
          <p:spPr bwMode="auto">
            <a:xfrm>
              <a:off x="1104" y="1296"/>
              <a:ext cx="3888" cy="0"/>
            </a:xfrm>
            <a:prstGeom prst="line">
              <a:avLst/>
            </a:prstGeom>
            <a:noFill/>
            <a:ln w="9525">
              <a:solidFill>
                <a:srgbClr val="000000"/>
              </a:solidFill>
              <a:round/>
              <a:headEnd/>
              <a:tailEnd/>
            </a:ln>
          </p:spPr>
          <p:txBody>
            <a:bodyPr wrap="none" anchor="ctr"/>
            <a:lstStyle/>
            <a:p>
              <a:endParaRPr lang="bg-BG"/>
            </a:p>
          </p:txBody>
        </p:sp>
        <p:sp>
          <p:nvSpPr>
            <p:cNvPr id="60422" name="Line 4"/>
            <p:cNvSpPr>
              <a:spLocks noChangeShapeType="1"/>
            </p:cNvSpPr>
            <p:nvPr/>
          </p:nvSpPr>
          <p:spPr bwMode="auto">
            <a:xfrm>
              <a:off x="1104" y="1632"/>
              <a:ext cx="3888" cy="0"/>
            </a:xfrm>
            <a:prstGeom prst="line">
              <a:avLst/>
            </a:prstGeom>
            <a:noFill/>
            <a:ln w="9525">
              <a:solidFill>
                <a:srgbClr val="000000"/>
              </a:solidFill>
              <a:round/>
              <a:headEnd/>
              <a:tailEnd/>
            </a:ln>
          </p:spPr>
          <p:txBody>
            <a:bodyPr wrap="none" anchor="ctr"/>
            <a:lstStyle/>
            <a:p>
              <a:endParaRPr lang="bg-BG"/>
            </a:p>
          </p:txBody>
        </p:sp>
        <p:sp>
          <p:nvSpPr>
            <p:cNvPr id="60423" name="Line 5"/>
            <p:cNvSpPr>
              <a:spLocks noChangeShapeType="1"/>
            </p:cNvSpPr>
            <p:nvPr/>
          </p:nvSpPr>
          <p:spPr bwMode="auto">
            <a:xfrm>
              <a:off x="1104" y="1968"/>
              <a:ext cx="3888" cy="0"/>
            </a:xfrm>
            <a:prstGeom prst="line">
              <a:avLst/>
            </a:prstGeom>
            <a:noFill/>
            <a:ln w="9525">
              <a:solidFill>
                <a:srgbClr val="000000"/>
              </a:solidFill>
              <a:round/>
              <a:headEnd/>
              <a:tailEnd/>
            </a:ln>
          </p:spPr>
          <p:txBody>
            <a:bodyPr wrap="none" anchor="ctr"/>
            <a:lstStyle/>
            <a:p>
              <a:endParaRPr lang="bg-BG"/>
            </a:p>
          </p:txBody>
        </p:sp>
        <p:sp>
          <p:nvSpPr>
            <p:cNvPr id="60424" name="Line 6"/>
            <p:cNvSpPr>
              <a:spLocks noChangeShapeType="1"/>
            </p:cNvSpPr>
            <p:nvPr/>
          </p:nvSpPr>
          <p:spPr bwMode="auto">
            <a:xfrm>
              <a:off x="1104" y="2304"/>
              <a:ext cx="3888" cy="0"/>
            </a:xfrm>
            <a:prstGeom prst="line">
              <a:avLst/>
            </a:prstGeom>
            <a:noFill/>
            <a:ln w="9525">
              <a:solidFill>
                <a:srgbClr val="000000"/>
              </a:solidFill>
              <a:round/>
              <a:headEnd/>
              <a:tailEnd/>
            </a:ln>
          </p:spPr>
          <p:txBody>
            <a:bodyPr wrap="none" anchor="ctr"/>
            <a:lstStyle/>
            <a:p>
              <a:endParaRPr lang="bg-BG"/>
            </a:p>
          </p:txBody>
        </p:sp>
        <p:sp>
          <p:nvSpPr>
            <p:cNvPr id="60425" name="Line 7"/>
            <p:cNvSpPr>
              <a:spLocks noChangeShapeType="1"/>
            </p:cNvSpPr>
            <p:nvPr/>
          </p:nvSpPr>
          <p:spPr bwMode="auto">
            <a:xfrm>
              <a:off x="1104" y="2640"/>
              <a:ext cx="3888" cy="0"/>
            </a:xfrm>
            <a:prstGeom prst="line">
              <a:avLst/>
            </a:prstGeom>
            <a:noFill/>
            <a:ln w="9525">
              <a:solidFill>
                <a:srgbClr val="000000"/>
              </a:solidFill>
              <a:round/>
              <a:headEnd/>
              <a:tailEnd/>
            </a:ln>
          </p:spPr>
          <p:txBody>
            <a:bodyPr wrap="none" anchor="ctr"/>
            <a:lstStyle/>
            <a:p>
              <a:endParaRPr lang="bg-BG"/>
            </a:p>
          </p:txBody>
        </p:sp>
        <p:sp>
          <p:nvSpPr>
            <p:cNvPr id="60426" name="Line 8"/>
            <p:cNvSpPr>
              <a:spLocks noChangeShapeType="1"/>
            </p:cNvSpPr>
            <p:nvPr/>
          </p:nvSpPr>
          <p:spPr bwMode="auto">
            <a:xfrm>
              <a:off x="1104" y="2976"/>
              <a:ext cx="3888" cy="0"/>
            </a:xfrm>
            <a:prstGeom prst="line">
              <a:avLst/>
            </a:prstGeom>
            <a:noFill/>
            <a:ln w="9525">
              <a:solidFill>
                <a:srgbClr val="000000"/>
              </a:solidFill>
              <a:round/>
              <a:headEnd/>
              <a:tailEnd/>
            </a:ln>
          </p:spPr>
          <p:txBody>
            <a:bodyPr wrap="none" anchor="ctr"/>
            <a:lstStyle/>
            <a:p>
              <a:endParaRPr lang="bg-BG"/>
            </a:p>
          </p:txBody>
        </p:sp>
        <p:sp>
          <p:nvSpPr>
            <p:cNvPr id="60427" name="Line 9"/>
            <p:cNvSpPr>
              <a:spLocks noChangeShapeType="1"/>
            </p:cNvSpPr>
            <p:nvPr/>
          </p:nvSpPr>
          <p:spPr bwMode="auto">
            <a:xfrm>
              <a:off x="1104" y="3312"/>
              <a:ext cx="3888" cy="0"/>
            </a:xfrm>
            <a:prstGeom prst="line">
              <a:avLst/>
            </a:prstGeom>
            <a:noFill/>
            <a:ln w="9525">
              <a:solidFill>
                <a:srgbClr val="000000"/>
              </a:solidFill>
              <a:round/>
              <a:headEnd/>
              <a:tailEnd/>
            </a:ln>
          </p:spPr>
          <p:txBody>
            <a:bodyPr wrap="none" anchor="ctr"/>
            <a:lstStyle/>
            <a:p>
              <a:endParaRPr lang="bg-BG"/>
            </a:p>
          </p:txBody>
        </p:sp>
        <p:sp>
          <p:nvSpPr>
            <p:cNvPr id="60428" name="Line 10"/>
            <p:cNvSpPr>
              <a:spLocks noChangeShapeType="1"/>
            </p:cNvSpPr>
            <p:nvPr/>
          </p:nvSpPr>
          <p:spPr bwMode="auto">
            <a:xfrm>
              <a:off x="1104" y="3648"/>
              <a:ext cx="3888" cy="0"/>
            </a:xfrm>
            <a:prstGeom prst="line">
              <a:avLst/>
            </a:prstGeom>
            <a:noFill/>
            <a:ln w="9525">
              <a:solidFill>
                <a:srgbClr val="000000"/>
              </a:solidFill>
              <a:round/>
              <a:headEnd/>
              <a:tailEnd/>
            </a:ln>
          </p:spPr>
          <p:txBody>
            <a:bodyPr wrap="none" anchor="ctr"/>
            <a:lstStyle/>
            <a:p>
              <a:endParaRPr lang="bg-BG"/>
            </a:p>
          </p:txBody>
        </p:sp>
        <p:grpSp>
          <p:nvGrpSpPr>
            <p:cNvPr id="60429" name="Group 14"/>
            <p:cNvGrpSpPr>
              <a:grpSpLocks/>
            </p:cNvGrpSpPr>
            <p:nvPr/>
          </p:nvGrpSpPr>
          <p:grpSpPr bwMode="auto">
            <a:xfrm>
              <a:off x="2898" y="1275"/>
              <a:ext cx="48" cy="393"/>
              <a:chOff x="2898" y="1275"/>
              <a:chExt cx="48" cy="393"/>
            </a:xfrm>
          </p:grpSpPr>
          <p:sp>
            <p:nvSpPr>
              <p:cNvPr id="60554" name="Line 11"/>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55" name="Oval 12"/>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56" name="Oval 13"/>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30" name="Group 15"/>
            <p:cNvGrpSpPr>
              <a:grpSpLocks/>
            </p:cNvGrpSpPr>
            <p:nvPr/>
          </p:nvGrpSpPr>
          <p:grpSpPr bwMode="auto">
            <a:xfrm>
              <a:off x="2640" y="2940"/>
              <a:ext cx="48" cy="393"/>
              <a:chOff x="2898" y="1275"/>
              <a:chExt cx="48" cy="393"/>
            </a:xfrm>
          </p:grpSpPr>
          <p:sp>
            <p:nvSpPr>
              <p:cNvPr id="60551" name="Line 16"/>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52" name="Oval 17"/>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53" name="Oval 18"/>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31" name="Group 19"/>
            <p:cNvGrpSpPr>
              <a:grpSpLocks/>
            </p:cNvGrpSpPr>
            <p:nvPr/>
          </p:nvGrpSpPr>
          <p:grpSpPr bwMode="auto">
            <a:xfrm>
              <a:off x="2640" y="2265"/>
              <a:ext cx="48" cy="393"/>
              <a:chOff x="2898" y="1275"/>
              <a:chExt cx="48" cy="393"/>
            </a:xfrm>
          </p:grpSpPr>
          <p:sp>
            <p:nvSpPr>
              <p:cNvPr id="60548" name="Line 20"/>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49" name="Oval 21"/>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50" name="Oval 22"/>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32" name="Group 23"/>
            <p:cNvGrpSpPr>
              <a:grpSpLocks/>
            </p:cNvGrpSpPr>
            <p:nvPr/>
          </p:nvGrpSpPr>
          <p:grpSpPr bwMode="auto">
            <a:xfrm>
              <a:off x="2640" y="1611"/>
              <a:ext cx="48" cy="393"/>
              <a:chOff x="2898" y="1275"/>
              <a:chExt cx="48" cy="393"/>
            </a:xfrm>
          </p:grpSpPr>
          <p:sp>
            <p:nvSpPr>
              <p:cNvPr id="60545" name="Line 24"/>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46" name="Oval 25"/>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47" name="Oval 26"/>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33" name="Group 27"/>
            <p:cNvGrpSpPr>
              <a:grpSpLocks/>
            </p:cNvGrpSpPr>
            <p:nvPr/>
          </p:nvGrpSpPr>
          <p:grpSpPr bwMode="auto">
            <a:xfrm>
              <a:off x="2940" y="3282"/>
              <a:ext cx="48" cy="393"/>
              <a:chOff x="2898" y="1275"/>
              <a:chExt cx="48" cy="393"/>
            </a:xfrm>
          </p:grpSpPr>
          <p:sp>
            <p:nvSpPr>
              <p:cNvPr id="60542" name="Line 28"/>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43" name="Oval 29"/>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44" name="Oval 30"/>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34" name="Group 31"/>
            <p:cNvGrpSpPr>
              <a:grpSpLocks/>
            </p:cNvGrpSpPr>
            <p:nvPr/>
          </p:nvGrpSpPr>
          <p:grpSpPr bwMode="auto">
            <a:xfrm>
              <a:off x="2928" y="2601"/>
              <a:ext cx="48" cy="393"/>
              <a:chOff x="2898" y="1275"/>
              <a:chExt cx="48" cy="393"/>
            </a:xfrm>
          </p:grpSpPr>
          <p:sp>
            <p:nvSpPr>
              <p:cNvPr id="60539" name="Line 32"/>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40" name="Oval 33"/>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41" name="Oval 34"/>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35" name="Group 35"/>
            <p:cNvGrpSpPr>
              <a:grpSpLocks/>
            </p:cNvGrpSpPr>
            <p:nvPr/>
          </p:nvGrpSpPr>
          <p:grpSpPr bwMode="auto">
            <a:xfrm>
              <a:off x="2919" y="1929"/>
              <a:ext cx="48" cy="393"/>
              <a:chOff x="2898" y="1275"/>
              <a:chExt cx="48" cy="393"/>
            </a:xfrm>
          </p:grpSpPr>
          <p:sp>
            <p:nvSpPr>
              <p:cNvPr id="60536" name="Line 36"/>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37" name="Oval 37"/>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38" name="Oval 38"/>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36" name="Group 39"/>
            <p:cNvGrpSpPr>
              <a:grpSpLocks/>
            </p:cNvGrpSpPr>
            <p:nvPr/>
          </p:nvGrpSpPr>
          <p:grpSpPr bwMode="auto">
            <a:xfrm>
              <a:off x="3219" y="2943"/>
              <a:ext cx="48" cy="393"/>
              <a:chOff x="2898" y="1275"/>
              <a:chExt cx="48" cy="393"/>
            </a:xfrm>
          </p:grpSpPr>
          <p:sp>
            <p:nvSpPr>
              <p:cNvPr id="60533" name="Line 40"/>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34" name="Oval 41"/>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35" name="Oval 42"/>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37" name="Group 43"/>
            <p:cNvGrpSpPr>
              <a:grpSpLocks/>
            </p:cNvGrpSpPr>
            <p:nvPr/>
          </p:nvGrpSpPr>
          <p:grpSpPr bwMode="auto">
            <a:xfrm>
              <a:off x="3171" y="1602"/>
              <a:ext cx="48" cy="393"/>
              <a:chOff x="2898" y="1275"/>
              <a:chExt cx="48" cy="393"/>
            </a:xfrm>
          </p:grpSpPr>
          <p:sp>
            <p:nvSpPr>
              <p:cNvPr id="60530" name="Line 44"/>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31" name="Oval 45"/>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32" name="Oval 46"/>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38" name="Group 47"/>
            <p:cNvGrpSpPr>
              <a:grpSpLocks/>
            </p:cNvGrpSpPr>
            <p:nvPr/>
          </p:nvGrpSpPr>
          <p:grpSpPr bwMode="auto">
            <a:xfrm>
              <a:off x="3207" y="2274"/>
              <a:ext cx="48" cy="393"/>
              <a:chOff x="2898" y="1275"/>
              <a:chExt cx="48" cy="393"/>
            </a:xfrm>
          </p:grpSpPr>
          <p:sp>
            <p:nvSpPr>
              <p:cNvPr id="60527" name="Line 48"/>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28" name="Oval 49"/>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29" name="Oval 50"/>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39" name="Group 51"/>
            <p:cNvGrpSpPr>
              <a:grpSpLocks/>
            </p:cNvGrpSpPr>
            <p:nvPr/>
          </p:nvGrpSpPr>
          <p:grpSpPr bwMode="auto">
            <a:xfrm>
              <a:off x="3504" y="2592"/>
              <a:ext cx="48" cy="393"/>
              <a:chOff x="2898" y="1275"/>
              <a:chExt cx="48" cy="393"/>
            </a:xfrm>
          </p:grpSpPr>
          <p:sp>
            <p:nvSpPr>
              <p:cNvPr id="60524" name="Line 52"/>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25" name="Oval 53"/>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26" name="Oval 54"/>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40" name="Group 59"/>
            <p:cNvGrpSpPr>
              <a:grpSpLocks/>
            </p:cNvGrpSpPr>
            <p:nvPr/>
          </p:nvGrpSpPr>
          <p:grpSpPr bwMode="auto">
            <a:xfrm>
              <a:off x="3480" y="1266"/>
              <a:ext cx="48" cy="393"/>
              <a:chOff x="2898" y="1275"/>
              <a:chExt cx="48" cy="393"/>
            </a:xfrm>
          </p:grpSpPr>
          <p:sp>
            <p:nvSpPr>
              <p:cNvPr id="60521" name="Line 60"/>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22" name="Oval 61"/>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23" name="Oval 62"/>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41" name="Group 63"/>
            <p:cNvGrpSpPr>
              <a:grpSpLocks/>
            </p:cNvGrpSpPr>
            <p:nvPr/>
          </p:nvGrpSpPr>
          <p:grpSpPr bwMode="auto">
            <a:xfrm>
              <a:off x="2349" y="1275"/>
              <a:ext cx="48" cy="393"/>
              <a:chOff x="2898" y="1275"/>
              <a:chExt cx="48" cy="393"/>
            </a:xfrm>
          </p:grpSpPr>
          <p:sp>
            <p:nvSpPr>
              <p:cNvPr id="60518" name="Line 64"/>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19" name="Oval 65"/>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20" name="Oval 66"/>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42" name="Group 67"/>
            <p:cNvGrpSpPr>
              <a:grpSpLocks/>
            </p:cNvGrpSpPr>
            <p:nvPr/>
          </p:nvGrpSpPr>
          <p:grpSpPr bwMode="auto">
            <a:xfrm>
              <a:off x="3501" y="1929"/>
              <a:ext cx="48" cy="393"/>
              <a:chOff x="2898" y="1275"/>
              <a:chExt cx="48" cy="393"/>
            </a:xfrm>
          </p:grpSpPr>
          <p:sp>
            <p:nvSpPr>
              <p:cNvPr id="60515" name="Line 68"/>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16" name="Oval 69"/>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17" name="Oval 70"/>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43" name="Group 71"/>
            <p:cNvGrpSpPr>
              <a:grpSpLocks/>
            </p:cNvGrpSpPr>
            <p:nvPr/>
          </p:nvGrpSpPr>
          <p:grpSpPr bwMode="auto">
            <a:xfrm>
              <a:off x="2364" y="2604"/>
              <a:ext cx="48" cy="393"/>
              <a:chOff x="2898" y="1275"/>
              <a:chExt cx="48" cy="393"/>
            </a:xfrm>
          </p:grpSpPr>
          <p:sp>
            <p:nvSpPr>
              <p:cNvPr id="60512" name="Line 72"/>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13" name="Oval 73"/>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14" name="Oval 74"/>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44" name="Group 75"/>
            <p:cNvGrpSpPr>
              <a:grpSpLocks/>
            </p:cNvGrpSpPr>
            <p:nvPr/>
          </p:nvGrpSpPr>
          <p:grpSpPr bwMode="auto">
            <a:xfrm>
              <a:off x="2352" y="1938"/>
              <a:ext cx="48" cy="393"/>
              <a:chOff x="2898" y="1275"/>
              <a:chExt cx="48" cy="393"/>
            </a:xfrm>
          </p:grpSpPr>
          <p:sp>
            <p:nvSpPr>
              <p:cNvPr id="60509" name="Line 76"/>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10" name="Oval 77"/>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11" name="Oval 78"/>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45" name="Group 79"/>
            <p:cNvGrpSpPr>
              <a:grpSpLocks/>
            </p:cNvGrpSpPr>
            <p:nvPr/>
          </p:nvGrpSpPr>
          <p:grpSpPr bwMode="auto">
            <a:xfrm>
              <a:off x="2076" y="1602"/>
              <a:ext cx="48" cy="393"/>
              <a:chOff x="2898" y="1275"/>
              <a:chExt cx="48" cy="393"/>
            </a:xfrm>
          </p:grpSpPr>
          <p:sp>
            <p:nvSpPr>
              <p:cNvPr id="60506" name="Line 80"/>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07" name="Oval 81"/>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08" name="Oval 82"/>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46" name="Group 83"/>
            <p:cNvGrpSpPr>
              <a:grpSpLocks/>
            </p:cNvGrpSpPr>
            <p:nvPr/>
          </p:nvGrpSpPr>
          <p:grpSpPr bwMode="auto">
            <a:xfrm>
              <a:off x="2076" y="2265"/>
              <a:ext cx="48" cy="393"/>
              <a:chOff x="2898" y="1275"/>
              <a:chExt cx="48" cy="393"/>
            </a:xfrm>
          </p:grpSpPr>
          <p:sp>
            <p:nvSpPr>
              <p:cNvPr id="60503" name="Line 84"/>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04" name="Oval 85"/>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05" name="Oval 86"/>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47" name="Group 87"/>
            <p:cNvGrpSpPr>
              <a:grpSpLocks/>
            </p:cNvGrpSpPr>
            <p:nvPr/>
          </p:nvGrpSpPr>
          <p:grpSpPr bwMode="auto">
            <a:xfrm>
              <a:off x="1812" y="1269"/>
              <a:ext cx="48" cy="393"/>
              <a:chOff x="2898" y="1275"/>
              <a:chExt cx="48" cy="393"/>
            </a:xfrm>
          </p:grpSpPr>
          <p:sp>
            <p:nvSpPr>
              <p:cNvPr id="60500" name="Line 88"/>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501" name="Oval 89"/>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502" name="Oval 90"/>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48" name="Group 91"/>
            <p:cNvGrpSpPr>
              <a:grpSpLocks/>
            </p:cNvGrpSpPr>
            <p:nvPr/>
          </p:nvGrpSpPr>
          <p:grpSpPr bwMode="auto">
            <a:xfrm>
              <a:off x="1812" y="1938"/>
              <a:ext cx="48" cy="393"/>
              <a:chOff x="2898" y="1275"/>
              <a:chExt cx="48" cy="393"/>
            </a:xfrm>
          </p:grpSpPr>
          <p:sp>
            <p:nvSpPr>
              <p:cNvPr id="60497" name="Line 92"/>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498" name="Oval 93"/>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499" name="Oval 94"/>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49" name="Group 95"/>
            <p:cNvGrpSpPr>
              <a:grpSpLocks/>
            </p:cNvGrpSpPr>
            <p:nvPr/>
          </p:nvGrpSpPr>
          <p:grpSpPr bwMode="auto">
            <a:xfrm>
              <a:off x="1278" y="1275"/>
              <a:ext cx="48" cy="393"/>
              <a:chOff x="2898" y="1275"/>
              <a:chExt cx="48" cy="393"/>
            </a:xfrm>
          </p:grpSpPr>
          <p:sp>
            <p:nvSpPr>
              <p:cNvPr id="60494" name="Line 96"/>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495" name="Oval 97"/>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496" name="Oval 98"/>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50" name="Group 99"/>
            <p:cNvGrpSpPr>
              <a:grpSpLocks/>
            </p:cNvGrpSpPr>
            <p:nvPr/>
          </p:nvGrpSpPr>
          <p:grpSpPr bwMode="auto">
            <a:xfrm>
              <a:off x="1536" y="1602"/>
              <a:ext cx="48" cy="393"/>
              <a:chOff x="2898" y="1275"/>
              <a:chExt cx="48" cy="393"/>
            </a:xfrm>
          </p:grpSpPr>
          <p:sp>
            <p:nvSpPr>
              <p:cNvPr id="60491" name="Line 100"/>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492" name="Oval 101"/>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493" name="Oval 102"/>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51" name="Group 103"/>
            <p:cNvGrpSpPr>
              <a:grpSpLocks/>
            </p:cNvGrpSpPr>
            <p:nvPr/>
          </p:nvGrpSpPr>
          <p:grpSpPr bwMode="auto">
            <a:xfrm>
              <a:off x="3804" y="1602"/>
              <a:ext cx="48" cy="393"/>
              <a:chOff x="2898" y="1275"/>
              <a:chExt cx="48" cy="393"/>
            </a:xfrm>
          </p:grpSpPr>
          <p:sp>
            <p:nvSpPr>
              <p:cNvPr id="60488" name="Line 104"/>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489" name="Oval 105"/>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490" name="Oval 106"/>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52" name="Group 107"/>
            <p:cNvGrpSpPr>
              <a:grpSpLocks/>
            </p:cNvGrpSpPr>
            <p:nvPr/>
          </p:nvGrpSpPr>
          <p:grpSpPr bwMode="auto">
            <a:xfrm>
              <a:off x="3807" y="2265"/>
              <a:ext cx="48" cy="393"/>
              <a:chOff x="2898" y="1275"/>
              <a:chExt cx="48" cy="393"/>
            </a:xfrm>
          </p:grpSpPr>
          <p:sp>
            <p:nvSpPr>
              <p:cNvPr id="60485" name="Line 108"/>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486" name="Oval 109"/>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487" name="Oval 110"/>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53" name="Group 111"/>
            <p:cNvGrpSpPr>
              <a:grpSpLocks/>
            </p:cNvGrpSpPr>
            <p:nvPr/>
          </p:nvGrpSpPr>
          <p:grpSpPr bwMode="auto">
            <a:xfrm>
              <a:off x="4101" y="1275"/>
              <a:ext cx="48" cy="393"/>
              <a:chOff x="2898" y="1275"/>
              <a:chExt cx="48" cy="393"/>
            </a:xfrm>
          </p:grpSpPr>
          <p:sp>
            <p:nvSpPr>
              <p:cNvPr id="60482" name="Line 112"/>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483" name="Oval 113"/>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484" name="Oval 114"/>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54" name="Group 115"/>
            <p:cNvGrpSpPr>
              <a:grpSpLocks/>
            </p:cNvGrpSpPr>
            <p:nvPr/>
          </p:nvGrpSpPr>
          <p:grpSpPr bwMode="auto">
            <a:xfrm>
              <a:off x="4101" y="1938"/>
              <a:ext cx="48" cy="393"/>
              <a:chOff x="2898" y="1275"/>
              <a:chExt cx="48" cy="393"/>
            </a:xfrm>
          </p:grpSpPr>
          <p:sp>
            <p:nvSpPr>
              <p:cNvPr id="60479" name="Line 116"/>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480" name="Oval 117"/>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481" name="Oval 118"/>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55" name="Group 119"/>
            <p:cNvGrpSpPr>
              <a:grpSpLocks/>
            </p:cNvGrpSpPr>
            <p:nvPr/>
          </p:nvGrpSpPr>
          <p:grpSpPr bwMode="auto">
            <a:xfrm>
              <a:off x="4398" y="1596"/>
              <a:ext cx="48" cy="393"/>
              <a:chOff x="2898" y="1275"/>
              <a:chExt cx="48" cy="393"/>
            </a:xfrm>
          </p:grpSpPr>
          <p:sp>
            <p:nvSpPr>
              <p:cNvPr id="60476" name="Line 120"/>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477" name="Oval 121"/>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478" name="Oval 122"/>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grpSp>
          <p:nvGrpSpPr>
            <p:cNvPr id="60456" name="Group 123"/>
            <p:cNvGrpSpPr>
              <a:grpSpLocks/>
            </p:cNvGrpSpPr>
            <p:nvPr/>
          </p:nvGrpSpPr>
          <p:grpSpPr bwMode="auto">
            <a:xfrm>
              <a:off x="4713" y="1275"/>
              <a:ext cx="48" cy="393"/>
              <a:chOff x="2898" y="1275"/>
              <a:chExt cx="48" cy="393"/>
            </a:xfrm>
          </p:grpSpPr>
          <p:sp>
            <p:nvSpPr>
              <p:cNvPr id="60473" name="Line 124"/>
              <p:cNvSpPr>
                <a:spLocks noChangeShapeType="1"/>
              </p:cNvSpPr>
              <p:nvPr/>
            </p:nvSpPr>
            <p:spPr bwMode="auto">
              <a:xfrm>
                <a:off x="2928" y="1296"/>
                <a:ext cx="0" cy="336"/>
              </a:xfrm>
              <a:prstGeom prst="line">
                <a:avLst/>
              </a:prstGeom>
              <a:noFill/>
              <a:ln w="28575">
                <a:solidFill>
                  <a:schemeClr val="accent2"/>
                </a:solidFill>
                <a:round/>
                <a:headEnd/>
                <a:tailEnd/>
              </a:ln>
            </p:spPr>
            <p:txBody>
              <a:bodyPr wrap="none" anchor="ctr"/>
              <a:lstStyle/>
              <a:p>
                <a:endParaRPr lang="bg-BG"/>
              </a:p>
            </p:txBody>
          </p:sp>
          <p:sp>
            <p:nvSpPr>
              <p:cNvPr id="60474" name="Oval 125"/>
              <p:cNvSpPr>
                <a:spLocks noChangeArrowheads="1"/>
              </p:cNvSpPr>
              <p:nvPr/>
            </p:nvSpPr>
            <p:spPr bwMode="auto">
              <a:xfrm>
                <a:off x="2898" y="1275"/>
                <a:ext cx="48" cy="48"/>
              </a:xfrm>
              <a:prstGeom prst="ellipse">
                <a:avLst/>
              </a:prstGeom>
              <a:solidFill>
                <a:schemeClr val="accent2"/>
              </a:solidFill>
              <a:ln w="9525">
                <a:solidFill>
                  <a:srgbClr val="000000"/>
                </a:solidFill>
                <a:round/>
                <a:headEnd/>
                <a:tailEnd/>
              </a:ln>
            </p:spPr>
            <p:txBody>
              <a:bodyPr wrap="none" anchor="ctr"/>
              <a:lstStyle/>
              <a:p>
                <a:endParaRPr lang="bg-BG"/>
              </a:p>
            </p:txBody>
          </p:sp>
          <p:sp>
            <p:nvSpPr>
              <p:cNvPr id="60475" name="Oval 126"/>
              <p:cNvSpPr>
                <a:spLocks noChangeArrowheads="1"/>
              </p:cNvSpPr>
              <p:nvPr/>
            </p:nvSpPr>
            <p:spPr bwMode="auto">
              <a:xfrm>
                <a:off x="2898" y="1620"/>
                <a:ext cx="48" cy="48"/>
              </a:xfrm>
              <a:prstGeom prst="ellipse">
                <a:avLst/>
              </a:prstGeom>
              <a:solidFill>
                <a:schemeClr val="accent2"/>
              </a:solidFill>
              <a:ln w="9525">
                <a:solidFill>
                  <a:srgbClr val="000000"/>
                </a:solidFill>
                <a:round/>
                <a:headEnd/>
                <a:tailEnd/>
              </a:ln>
            </p:spPr>
            <p:txBody>
              <a:bodyPr wrap="none" anchor="ctr"/>
              <a:lstStyle/>
              <a:p>
                <a:endParaRPr lang="bg-BG"/>
              </a:p>
            </p:txBody>
          </p:sp>
        </p:grpSp>
        <p:sp>
          <p:nvSpPr>
            <p:cNvPr id="60457" name="Text Box 129"/>
            <p:cNvSpPr txBox="1">
              <a:spLocks noChangeArrowheads="1"/>
            </p:cNvSpPr>
            <p:nvPr/>
          </p:nvSpPr>
          <p:spPr bwMode="auto">
            <a:xfrm>
              <a:off x="876" y="1143"/>
              <a:ext cx="265" cy="288"/>
            </a:xfrm>
            <a:prstGeom prst="rect">
              <a:avLst/>
            </a:prstGeom>
            <a:noFill/>
            <a:ln w="9525">
              <a:noFill/>
              <a:miter lim="800000"/>
              <a:headEnd/>
              <a:tailEnd/>
            </a:ln>
          </p:spPr>
          <p:txBody>
            <a:bodyPr wrap="none" anchor="ctr">
              <a:spAutoFit/>
            </a:bodyPr>
            <a:lstStyle/>
            <a:p>
              <a:pPr>
                <a:spcBef>
                  <a:spcPct val="50000"/>
                </a:spcBef>
              </a:pPr>
              <a:r>
                <a:rPr lang="en-US" dirty="0"/>
                <a:t>a</a:t>
              </a:r>
              <a:r>
                <a:rPr lang="en-US" b="1" baseline="-25000" dirty="0"/>
                <a:t>1</a:t>
              </a:r>
              <a:endParaRPr lang="en-US" dirty="0"/>
            </a:p>
          </p:txBody>
        </p:sp>
        <p:sp>
          <p:nvSpPr>
            <p:cNvPr id="60458" name="Text Box 130"/>
            <p:cNvSpPr txBox="1">
              <a:spLocks noChangeArrowheads="1"/>
            </p:cNvSpPr>
            <p:nvPr/>
          </p:nvSpPr>
          <p:spPr bwMode="auto">
            <a:xfrm>
              <a:off x="888" y="1788"/>
              <a:ext cx="265" cy="288"/>
            </a:xfrm>
            <a:prstGeom prst="rect">
              <a:avLst/>
            </a:prstGeom>
            <a:noFill/>
            <a:ln w="9525">
              <a:noFill/>
              <a:miter lim="800000"/>
              <a:headEnd/>
              <a:tailEnd/>
            </a:ln>
          </p:spPr>
          <p:txBody>
            <a:bodyPr wrap="none" anchor="ctr">
              <a:spAutoFit/>
            </a:bodyPr>
            <a:lstStyle/>
            <a:p>
              <a:pPr>
                <a:spcBef>
                  <a:spcPct val="50000"/>
                </a:spcBef>
              </a:pPr>
              <a:r>
                <a:rPr lang="en-US" dirty="0"/>
                <a:t>a</a:t>
              </a:r>
              <a:r>
                <a:rPr lang="en-US" b="1" baseline="-25000" dirty="0"/>
                <a:t>3</a:t>
              </a:r>
              <a:endParaRPr lang="en-US" dirty="0"/>
            </a:p>
          </p:txBody>
        </p:sp>
        <p:sp>
          <p:nvSpPr>
            <p:cNvPr id="60459" name="Text Box 131"/>
            <p:cNvSpPr txBox="1">
              <a:spLocks noChangeArrowheads="1"/>
            </p:cNvSpPr>
            <p:nvPr/>
          </p:nvSpPr>
          <p:spPr bwMode="auto">
            <a:xfrm>
              <a:off x="879" y="1461"/>
              <a:ext cx="265" cy="288"/>
            </a:xfrm>
            <a:prstGeom prst="rect">
              <a:avLst/>
            </a:prstGeom>
            <a:noFill/>
            <a:ln w="9525">
              <a:noFill/>
              <a:miter lim="800000"/>
              <a:headEnd/>
              <a:tailEnd/>
            </a:ln>
          </p:spPr>
          <p:txBody>
            <a:bodyPr wrap="none" anchor="ctr">
              <a:spAutoFit/>
            </a:bodyPr>
            <a:lstStyle/>
            <a:p>
              <a:pPr>
                <a:spcBef>
                  <a:spcPct val="50000"/>
                </a:spcBef>
              </a:pPr>
              <a:r>
                <a:rPr lang="en-US" dirty="0"/>
                <a:t>a</a:t>
              </a:r>
              <a:r>
                <a:rPr lang="en-US" b="1" baseline="-25000" dirty="0"/>
                <a:t>2</a:t>
              </a:r>
              <a:endParaRPr lang="en-US" dirty="0"/>
            </a:p>
          </p:txBody>
        </p:sp>
        <p:sp>
          <p:nvSpPr>
            <p:cNvPr id="60460" name="Text Box 132"/>
            <p:cNvSpPr txBox="1">
              <a:spLocks noChangeArrowheads="1"/>
            </p:cNvSpPr>
            <p:nvPr/>
          </p:nvSpPr>
          <p:spPr bwMode="auto">
            <a:xfrm>
              <a:off x="897" y="2133"/>
              <a:ext cx="265" cy="288"/>
            </a:xfrm>
            <a:prstGeom prst="rect">
              <a:avLst/>
            </a:prstGeom>
            <a:noFill/>
            <a:ln w="9525">
              <a:noFill/>
              <a:miter lim="800000"/>
              <a:headEnd/>
              <a:tailEnd/>
            </a:ln>
          </p:spPr>
          <p:txBody>
            <a:bodyPr wrap="none" anchor="ctr">
              <a:spAutoFit/>
            </a:bodyPr>
            <a:lstStyle/>
            <a:p>
              <a:pPr>
                <a:spcBef>
                  <a:spcPct val="50000"/>
                </a:spcBef>
              </a:pPr>
              <a:r>
                <a:rPr lang="en-US" dirty="0"/>
                <a:t>a</a:t>
              </a:r>
              <a:r>
                <a:rPr lang="en-US" b="1" baseline="-25000" dirty="0"/>
                <a:t>4</a:t>
              </a:r>
              <a:endParaRPr lang="en-US" dirty="0"/>
            </a:p>
          </p:txBody>
        </p:sp>
        <p:sp>
          <p:nvSpPr>
            <p:cNvPr id="60461" name="Text Box 133"/>
            <p:cNvSpPr txBox="1">
              <a:spLocks noChangeArrowheads="1"/>
            </p:cNvSpPr>
            <p:nvPr/>
          </p:nvSpPr>
          <p:spPr bwMode="auto">
            <a:xfrm>
              <a:off x="5035" y="1152"/>
              <a:ext cx="276" cy="288"/>
            </a:xfrm>
            <a:prstGeom prst="rect">
              <a:avLst/>
            </a:prstGeom>
            <a:noFill/>
            <a:ln w="9525">
              <a:noFill/>
              <a:miter lim="800000"/>
              <a:headEnd/>
              <a:tailEnd/>
            </a:ln>
          </p:spPr>
          <p:txBody>
            <a:bodyPr wrap="none" anchor="ctr">
              <a:spAutoFit/>
            </a:bodyPr>
            <a:lstStyle/>
            <a:p>
              <a:pPr>
                <a:spcBef>
                  <a:spcPct val="50000"/>
                </a:spcBef>
              </a:pPr>
              <a:r>
                <a:rPr lang="en-US" dirty="0"/>
                <a:t>b</a:t>
              </a:r>
              <a:r>
                <a:rPr lang="en-US" b="1" baseline="-25000" dirty="0"/>
                <a:t>1</a:t>
              </a:r>
              <a:endParaRPr lang="en-US" dirty="0"/>
            </a:p>
          </p:txBody>
        </p:sp>
        <p:sp>
          <p:nvSpPr>
            <p:cNvPr id="60462" name="Text Box 134"/>
            <p:cNvSpPr txBox="1">
              <a:spLocks noChangeArrowheads="1"/>
            </p:cNvSpPr>
            <p:nvPr/>
          </p:nvSpPr>
          <p:spPr bwMode="auto">
            <a:xfrm>
              <a:off x="5043" y="1479"/>
              <a:ext cx="276" cy="288"/>
            </a:xfrm>
            <a:prstGeom prst="rect">
              <a:avLst/>
            </a:prstGeom>
            <a:noFill/>
            <a:ln w="9525">
              <a:noFill/>
              <a:miter lim="800000"/>
              <a:headEnd/>
              <a:tailEnd/>
            </a:ln>
          </p:spPr>
          <p:txBody>
            <a:bodyPr wrap="none" anchor="ctr">
              <a:spAutoFit/>
            </a:bodyPr>
            <a:lstStyle/>
            <a:p>
              <a:pPr>
                <a:spcBef>
                  <a:spcPct val="50000"/>
                </a:spcBef>
              </a:pPr>
              <a:r>
                <a:rPr lang="en-US" dirty="0"/>
                <a:t>b</a:t>
              </a:r>
              <a:r>
                <a:rPr lang="en-US" b="1" baseline="-25000" dirty="0"/>
                <a:t>2</a:t>
              </a:r>
              <a:endParaRPr lang="en-US" dirty="0"/>
            </a:p>
          </p:txBody>
        </p:sp>
        <p:sp>
          <p:nvSpPr>
            <p:cNvPr id="60463" name="Text Box 135"/>
            <p:cNvSpPr txBox="1">
              <a:spLocks noChangeArrowheads="1"/>
            </p:cNvSpPr>
            <p:nvPr/>
          </p:nvSpPr>
          <p:spPr bwMode="auto">
            <a:xfrm>
              <a:off x="5046" y="1824"/>
              <a:ext cx="276" cy="288"/>
            </a:xfrm>
            <a:prstGeom prst="rect">
              <a:avLst/>
            </a:prstGeom>
            <a:noFill/>
            <a:ln w="9525">
              <a:noFill/>
              <a:miter lim="800000"/>
              <a:headEnd/>
              <a:tailEnd/>
            </a:ln>
          </p:spPr>
          <p:txBody>
            <a:bodyPr wrap="none" anchor="ctr">
              <a:spAutoFit/>
            </a:bodyPr>
            <a:lstStyle/>
            <a:p>
              <a:pPr>
                <a:spcBef>
                  <a:spcPct val="50000"/>
                </a:spcBef>
              </a:pPr>
              <a:r>
                <a:rPr lang="en-US" dirty="0"/>
                <a:t>b</a:t>
              </a:r>
              <a:r>
                <a:rPr lang="en-US" b="1" baseline="-25000" dirty="0"/>
                <a:t>3</a:t>
              </a:r>
              <a:endParaRPr lang="en-US" dirty="0"/>
            </a:p>
          </p:txBody>
        </p:sp>
        <p:sp>
          <p:nvSpPr>
            <p:cNvPr id="60464" name="Text Box 136"/>
            <p:cNvSpPr txBox="1">
              <a:spLocks noChangeArrowheads="1"/>
            </p:cNvSpPr>
            <p:nvPr/>
          </p:nvSpPr>
          <p:spPr bwMode="auto">
            <a:xfrm>
              <a:off x="5056" y="2160"/>
              <a:ext cx="276" cy="288"/>
            </a:xfrm>
            <a:prstGeom prst="rect">
              <a:avLst/>
            </a:prstGeom>
            <a:noFill/>
            <a:ln w="9525">
              <a:noFill/>
              <a:miter lim="800000"/>
              <a:headEnd/>
              <a:tailEnd/>
            </a:ln>
          </p:spPr>
          <p:txBody>
            <a:bodyPr wrap="none" anchor="ctr">
              <a:spAutoFit/>
            </a:bodyPr>
            <a:lstStyle/>
            <a:p>
              <a:pPr>
                <a:spcBef>
                  <a:spcPct val="50000"/>
                </a:spcBef>
              </a:pPr>
              <a:r>
                <a:rPr lang="en-US" dirty="0"/>
                <a:t>b</a:t>
              </a:r>
              <a:r>
                <a:rPr lang="en-US" b="1" baseline="-25000" dirty="0"/>
                <a:t>4</a:t>
              </a:r>
              <a:endParaRPr lang="en-US" dirty="0"/>
            </a:p>
          </p:txBody>
        </p:sp>
        <p:sp>
          <p:nvSpPr>
            <p:cNvPr id="60465" name="Text Box 137"/>
            <p:cNvSpPr txBox="1">
              <a:spLocks noChangeArrowheads="1"/>
            </p:cNvSpPr>
            <p:nvPr/>
          </p:nvSpPr>
          <p:spPr bwMode="auto">
            <a:xfrm>
              <a:off x="5064" y="2496"/>
              <a:ext cx="276" cy="288"/>
            </a:xfrm>
            <a:prstGeom prst="rect">
              <a:avLst/>
            </a:prstGeom>
            <a:noFill/>
            <a:ln w="9525">
              <a:noFill/>
              <a:miter lim="800000"/>
              <a:headEnd/>
              <a:tailEnd/>
            </a:ln>
          </p:spPr>
          <p:txBody>
            <a:bodyPr wrap="none" anchor="ctr">
              <a:spAutoFit/>
            </a:bodyPr>
            <a:lstStyle/>
            <a:p>
              <a:pPr>
                <a:spcBef>
                  <a:spcPct val="50000"/>
                </a:spcBef>
              </a:pPr>
              <a:r>
                <a:rPr lang="en-US" dirty="0"/>
                <a:t>b</a:t>
              </a:r>
              <a:r>
                <a:rPr lang="en-US" b="1" baseline="-25000" dirty="0"/>
                <a:t>5</a:t>
              </a:r>
              <a:endParaRPr lang="en-US" dirty="0"/>
            </a:p>
          </p:txBody>
        </p:sp>
        <p:sp>
          <p:nvSpPr>
            <p:cNvPr id="60466" name="Text Box 138"/>
            <p:cNvSpPr txBox="1">
              <a:spLocks noChangeArrowheads="1"/>
            </p:cNvSpPr>
            <p:nvPr/>
          </p:nvSpPr>
          <p:spPr bwMode="auto">
            <a:xfrm>
              <a:off x="906" y="2490"/>
              <a:ext cx="265" cy="288"/>
            </a:xfrm>
            <a:prstGeom prst="rect">
              <a:avLst/>
            </a:prstGeom>
            <a:noFill/>
            <a:ln w="9525">
              <a:noFill/>
              <a:miter lim="800000"/>
              <a:headEnd/>
              <a:tailEnd/>
            </a:ln>
          </p:spPr>
          <p:txBody>
            <a:bodyPr wrap="none" anchor="ctr">
              <a:spAutoFit/>
            </a:bodyPr>
            <a:lstStyle/>
            <a:p>
              <a:pPr>
                <a:spcBef>
                  <a:spcPct val="50000"/>
                </a:spcBef>
              </a:pPr>
              <a:r>
                <a:rPr lang="en-US" dirty="0"/>
                <a:t>a</a:t>
              </a:r>
              <a:r>
                <a:rPr lang="en-US" b="1" baseline="-25000" dirty="0"/>
                <a:t>5</a:t>
              </a:r>
              <a:endParaRPr lang="en-US" dirty="0"/>
            </a:p>
          </p:txBody>
        </p:sp>
        <p:sp>
          <p:nvSpPr>
            <p:cNvPr id="60467" name="Text Box 139"/>
            <p:cNvSpPr txBox="1">
              <a:spLocks noChangeArrowheads="1"/>
            </p:cNvSpPr>
            <p:nvPr/>
          </p:nvSpPr>
          <p:spPr bwMode="auto">
            <a:xfrm>
              <a:off x="5073" y="2832"/>
              <a:ext cx="276" cy="288"/>
            </a:xfrm>
            <a:prstGeom prst="rect">
              <a:avLst/>
            </a:prstGeom>
            <a:noFill/>
            <a:ln w="9525">
              <a:noFill/>
              <a:miter lim="800000"/>
              <a:headEnd/>
              <a:tailEnd/>
            </a:ln>
          </p:spPr>
          <p:txBody>
            <a:bodyPr wrap="none" anchor="ctr">
              <a:spAutoFit/>
            </a:bodyPr>
            <a:lstStyle/>
            <a:p>
              <a:pPr>
                <a:spcBef>
                  <a:spcPct val="50000"/>
                </a:spcBef>
              </a:pPr>
              <a:r>
                <a:rPr lang="en-US" dirty="0"/>
                <a:t>b</a:t>
              </a:r>
              <a:r>
                <a:rPr lang="en-US" b="1" baseline="-25000" dirty="0"/>
                <a:t>6</a:t>
              </a:r>
              <a:endParaRPr lang="en-US" dirty="0"/>
            </a:p>
          </p:txBody>
        </p:sp>
        <p:sp>
          <p:nvSpPr>
            <p:cNvPr id="60468" name="Text Box 140"/>
            <p:cNvSpPr txBox="1">
              <a:spLocks noChangeArrowheads="1"/>
            </p:cNvSpPr>
            <p:nvPr/>
          </p:nvSpPr>
          <p:spPr bwMode="auto">
            <a:xfrm>
              <a:off x="906" y="2802"/>
              <a:ext cx="265" cy="288"/>
            </a:xfrm>
            <a:prstGeom prst="rect">
              <a:avLst/>
            </a:prstGeom>
            <a:noFill/>
            <a:ln w="9525">
              <a:noFill/>
              <a:miter lim="800000"/>
              <a:headEnd/>
              <a:tailEnd/>
            </a:ln>
          </p:spPr>
          <p:txBody>
            <a:bodyPr wrap="none" anchor="ctr">
              <a:spAutoFit/>
            </a:bodyPr>
            <a:lstStyle/>
            <a:p>
              <a:pPr>
                <a:spcBef>
                  <a:spcPct val="50000"/>
                </a:spcBef>
              </a:pPr>
              <a:r>
                <a:rPr lang="en-US" dirty="0"/>
                <a:t>a</a:t>
              </a:r>
              <a:r>
                <a:rPr lang="en-US" b="1" baseline="-25000" dirty="0"/>
                <a:t>6</a:t>
              </a:r>
              <a:endParaRPr lang="en-US" dirty="0"/>
            </a:p>
          </p:txBody>
        </p:sp>
        <p:sp>
          <p:nvSpPr>
            <p:cNvPr id="60469" name="Text Box 141"/>
            <p:cNvSpPr txBox="1">
              <a:spLocks noChangeArrowheads="1"/>
            </p:cNvSpPr>
            <p:nvPr/>
          </p:nvSpPr>
          <p:spPr bwMode="auto">
            <a:xfrm>
              <a:off x="894" y="3132"/>
              <a:ext cx="265" cy="288"/>
            </a:xfrm>
            <a:prstGeom prst="rect">
              <a:avLst/>
            </a:prstGeom>
            <a:noFill/>
            <a:ln w="9525">
              <a:noFill/>
              <a:miter lim="800000"/>
              <a:headEnd/>
              <a:tailEnd/>
            </a:ln>
          </p:spPr>
          <p:txBody>
            <a:bodyPr wrap="none" anchor="ctr">
              <a:spAutoFit/>
            </a:bodyPr>
            <a:lstStyle/>
            <a:p>
              <a:pPr>
                <a:spcBef>
                  <a:spcPct val="50000"/>
                </a:spcBef>
              </a:pPr>
              <a:r>
                <a:rPr lang="en-US" dirty="0"/>
                <a:t>a</a:t>
              </a:r>
              <a:r>
                <a:rPr lang="en-US" b="1" baseline="-25000" dirty="0"/>
                <a:t>7</a:t>
              </a:r>
              <a:endParaRPr lang="en-US" dirty="0"/>
            </a:p>
          </p:txBody>
        </p:sp>
        <p:sp>
          <p:nvSpPr>
            <p:cNvPr id="60470" name="Text Box 142"/>
            <p:cNvSpPr txBox="1">
              <a:spLocks noChangeArrowheads="1"/>
            </p:cNvSpPr>
            <p:nvPr/>
          </p:nvSpPr>
          <p:spPr bwMode="auto">
            <a:xfrm>
              <a:off x="888" y="3471"/>
              <a:ext cx="265" cy="288"/>
            </a:xfrm>
            <a:prstGeom prst="rect">
              <a:avLst/>
            </a:prstGeom>
            <a:noFill/>
            <a:ln w="9525">
              <a:noFill/>
              <a:miter lim="800000"/>
              <a:headEnd/>
              <a:tailEnd/>
            </a:ln>
          </p:spPr>
          <p:txBody>
            <a:bodyPr wrap="none" anchor="ctr">
              <a:spAutoFit/>
            </a:bodyPr>
            <a:lstStyle/>
            <a:p>
              <a:pPr>
                <a:spcBef>
                  <a:spcPct val="50000"/>
                </a:spcBef>
              </a:pPr>
              <a:r>
                <a:rPr lang="en-US" dirty="0"/>
                <a:t>a</a:t>
              </a:r>
              <a:r>
                <a:rPr lang="en-US" b="1" baseline="-25000" dirty="0"/>
                <a:t>8</a:t>
              </a:r>
              <a:endParaRPr lang="en-US" dirty="0"/>
            </a:p>
          </p:txBody>
        </p:sp>
        <p:sp>
          <p:nvSpPr>
            <p:cNvPr id="60471" name="Text Box 143"/>
            <p:cNvSpPr txBox="1">
              <a:spLocks noChangeArrowheads="1"/>
            </p:cNvSpPr>
            <p:nvPr/>
          </p:nvSpPr>
          <p:spPr bwMode="auto">
            <a:xfrm>
              <a:off x="5079" y="3138"/>
              <a:ext cx="276" cy="288"/>
            </a:xfrm>
            <a:prstGeom prst="rect">
              <a:avLst/>
            </a:prstGeom>
            <a:noFill/>
            <a:ln w="9525">
              <a:noFill/>
              <a:miter lim="800000"/>
              <a:headEnd/>
              <a:tailEnd/>
            </a:ln>
          </p:spPr>
          <p:txBody>
            <a:bodyPr wrap="none" anchor="ctr">
              <a:spAutoFit/>
            </a:bodyPr>
            <a:lstStyle/>
            <a:p>
              <a:pPr>
                <a:spcBef>
                  <a:spcPct val="50000"/>
                </a:spcBef>
              </a:pPr>
              <a:r>
                <a:rPr lang="en-US" dirty="0"/>
                <a:t>b</a:t>
              </a:r>
              <a:r>
                <a:rPr lang="en-US" b="1" baseline="-25000" dirty="0"/>
                <a:t>7</a:t>
              </a:r>
              <a:endParaRPr lang="en-US" dirty="0"/>
            </a:p>
          </p:txBody>
        </p:sp>
        <p:sp>
          <p:nvSpPr>
            <p:cNvPr id="60472" name="Text Box 144"/>
            <p:cNvSpPr txBox="1">
              <a:spLocks noChangeArrowheads="1"/>
            </p:cNvSpPr>
            <p:nvPr/>
          </p:nvSpPr>
          <p:spPr bwMode="auto">
            <a:xfrm>
              <a:off x="5088" y="3474"/>
              <a:ext cx="276" cy="288"/>
            </a:xfrm>
            <a:prstGeom prst="rect">
              <a:avLst/>
            </a:prstGeom>
            <a:noFill/>
            <a:ln w="9525">
              <a:noFill/>
              <a:miter lim="800000"/>
              <a:headEnd/>
              <a:tailEnd/>
            </a:ln>
          </p:spPr>
          <p:txBody>
            <a:bodyPr wrap="none" anchor="ctr">
              <a:spAutoFit/>
            </a:bodyPr>
            <a:lstStyle/>
            <a:p>
              <a:pPr>
                <a:spcBef>
                  <a:spcPct val="50000"/>
                </a:spcBef>
              </a:pPr>
              <a:r>
                <a:rPr lang="en-US" dirty="0"/>
                <a:t>b</a:t>
              </a:r>
              <a:r>
                <a:rPr lang="en-US" b="1" baseline="-25000" dirty="0"/>
                <a:t>8</a:t>
              </a:r>
              <a:endParaRPr lang="en-US" dirty="0"/>
            </a:p>
          </p:txBody>
        </p:sp>
      </p:grpSp>
      <p:sp>
        <p:nvSpPr>
          <p:cNvPr id="142" name="Slide Number Placeholder 141"/>
          <p:cNvSpPr>
            <a:spLocks noGrp="1"/>
          </p:cNvSpPr>
          <p:nvPr>
            <p:ph type="sldNum" sz="quarter" idx="12"/>
          </p:nvPr>
        </p:nvSpPr>
        <p:spPr/>
        <p:txBody>
          <a:bodyPr/>
          <a:lstStyle/>
          <a:p>
            <a:pPr>
              <a:defRPr/>
            </a:pPr>
            <a:fld id="{435D321A-9687-4260-8BCF-ECFFA20905C8}" type="slidenum">
              <a:rPr lang="en-US"/>
              <a:pPr>
                <a:defRPr/>
              </a:pPr>
              <a:t>84</a:t>
            </a:fld>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type="title"/>
          </p:nvPr>
        </p:nvSpPr>
        <p:spPr>
          <a:xfrm>
            <a:off x="1001713" y="0"/>
            <a:ext cx="8142287" cy="6858000"/>
          </a:xfrm>
        </p:spPr>
        <p:txBody>
          <a:bodyPr>
            <a:normAutofit fontScale="90000"/>
          </a:bodyPr>
          <a:lstStyle/>
          <a:p>
            <a:pPr eaLnBrk="1" fontAlgn="auto" hangingPunct="1">
              <a:spcAft>
                <a:spcPts val="0"/>
              </a:spcAft>
              <a:defRPr/>
            </a:pPr>
            <a:r>
              <a:rPr lang="en-US" sz="2000" dirty="0">
                <a:solidFill>
                  <a:schemeClr val="tx2">
                    <a:satMod val="130000"/>
                  </a:schemeClr>
                </a:solidFill>
              </a:rPr>
              <a:t>	</a:t>
            </a:r>
            <a:r>
              <a:rPr lang="bg-BG" sz="2400" u="sng">
                <a:solidFill>
                  <a:schemeClr val="tx1"/>
                </a:solidFill>
              </a:rPr>
              <a:t>Външно сортиране</a:t>
            </a:r>
            <a:br>
              <a:rPr lang="bg-BG" sz="2400" u="sng">
                <a:solidFill>
                  <a:schemeClr val="tx1"/>
                </a:solidFill>
              </a:rPr>
            </a:br>
            <a:r>
              <a:rPr lang="bg-BG" sz="800">
                <a:solidFill>
                  <a:schemeClr val="tx1"/>
                </a:solidFill>
              </a:rPr>
              <a:t/>
            </a:r>
            <a:br>
              <a:rPr lang="bg-BG" sz="800">
                <a:solidFill>
                  <a:schemeClr val="tx1"/>
                </a:solidFill>
              </a:rPr>
            </a:br>
            <a:r>
              <a:rPr lang="bg-BG" sz="2000">
                <a:solidFill>
                  <a:schemeClr val="tx1"/>
                </a:solidFill>
              </a:rPr>
              <a:t>	Разгледаните методи за сортиране са предназначени за подреждане на масиви от данни, намиращи се в ОП. Но бихме могли да подреждаме и файлове, намиращи се на някакъв външен носител. За тази цел са необходими алгоритми за външно сортиране. </a:t>
            </a:r>
            <a:br>
              <a:rPr lang="bg-BG" sz="2000">
                <a:solidFill>
                  <a:schemeClr val="tx1"/>
                </a:solidFill>
              </a:rPr>
            </a:br>
            <a:r>
              <a:rPr lang="bg-BG" sz="2000">
                <a:solidFill>
                  <a:schemeClr val="tx1"/>
                </a:solidFill>
              </a:rPr>
              <a:t>	Разликата между методите за вътрешно и външно сортиране е по-скоро прагматична, отколкото фундаментална. Т.</a:t>
            </a:r>
            <a:r>
              <a:rPr lang="en-US" sz="2000" dirty="0">
                <a:solidFill>
                  <a:schemeClr val="tx1"/>
                </a:solidFill>
              </a:rPr>
              <a:t> </a:t>
            </a:r>
            <a:r>
              <a:rPr lang="bg-BG" sz="2000">
                <a:solidFill>
                  <a:schemeClr val="tx1"/>
                </a:solidFill>
              </a:rPr>
              <a:t>к. С/С++ позволява работа с файлове в режим на произволен достъп, бихме могли да адаптираме вече разгледаните методи и за файлове. Но трябва да се имат предвид няколко момента:</a:t>
            </a:r>
            <a:br>
              <a:rPr lang="bg-BG" sz="2000">
                <a:solidFill>
                  <a:schemeClr val="tx1"/>
                </a:solidFill>
              </a:rPr>
            </a:br>
            <a:r>
              <a:rPr lang="bg-BG" sz="2000">
                <a:solidFill>
                  <a:schemeClr val="tx1"/>
                </a:solidFill>
              </a:rPr>
              <a:t>- Повечето методи за вътрешно сортиране сортират </a:t>
            </a:r>
            <a:r>
              <a:rPr lang="en-US" sz="2000" i="1" dirty="0">
                <a:solidFill>
                  <a:schemeClr val="tx1"/>
                </a:solidFill>
              </a:rPr>
              <a:t>in situ</a:t>
            </a:r>
            <a:r>
              <a:rPr lang="en-US" sz="2000" dirty="0">
                <a:solidFill>
                  <a:schemeClr val="tx1"/>
                </a:solidFill>
              </a:rPr>
              <a:t> </a:t>
            </a:r>
            <a:r>
              <a:rPr lang="bg-BG" sz="2000">
                <a:solidFill>
                  <a:schemeClr val="tx1"/>
                </a:solidFill>
              </a:rPr>
              <a:t>(на място), т. е. използват само един масив. Както данните, които трябва да бъдат сортирани, така и подредените вече данни са в този масив и не са нужни временни масиви. От друга страна, външните методи обикновено не са толкова икономични по отношение на паметта, а използват няколко файла.</a:t>
            </a:r>
            <a:br>
              <a:rPr lang="bg-BG" sz="2000">
                <a:solidFill>
                  <a:schemeClr val="tx1"/>
                </a:solidFill>
              </a:rPr>
            </a:br>
            <a:r>
              <a:rPr lang="bg-BG" sz="2000">
                <a:solidFill>
                  <a:schemeClr val="tx1"/>
                </a:solidFill>
              </a:rPr>
              <a:t>- Последователния достъп до елементите на масив обикновено не е по-бърз от произволния достъп до масив. Това не е така при файловете, т. к. при последователния достъп до файлове големи количества данни могат да бъдат съхранявани в буфер. Така че използването на последователен достъп при външно сортиране може да се окаже по-бързо.</a:t>
            </a:r>
            <a:endParaRPr lang="en-US" sz="2000" dirty="0">
              <a:solidFill>
                <a:schemeClr val="tx1"/>
              </a:solidFill>
            </a:endParaRPr>
          </a:p>
        </p:txBody>
      </p:sp>
      <p:sp>
        <p:nvSpPr>
          <p:cNvPr id="5" name="Slide Number Placeholder 4"/>
          <p:cNvSpPr>
            <a:spLocks noGrp="1"/>
          </p:cNvSpPr>
          <p:nvPr>
            <p:ph type="sldNum" sz="quarter" idx="12"/>
          </p:nvPr>
        </p:nvSpPr>
        <p:spPr/>
        <p:txBody>
          <a:bodyPr/>
          <a:lstStyle/>
          <a:p>
            <a:pPr>
              <a:defRPr/>
            </a:pPr>
            <a:fld id="{50F901AA-0A0B-4B40-B73C-D35DDEA83E75}" type="slidenum">
              <a:rPr lang="en-US"/>
              <a:pPr>
                <a:defRPr/>
              </a:pPr>
              <a:t>85</a:t>
            </a:fld>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1141413" y="404813"/>
            <a:ext cx="8002587" cy="6235700"/>
          </a:xfrm>
        </p:spPr>
        <p:txBody>
          <a:bodyPr>
            <a:normAutofit fontScale="90000"/>
          </a:bodyPr>
          <a:lstStyle/>
          <a:p>
            <a:pPr eaLnBrk="1" fontAlgn="auto" hangingPunct="1">
              <a:spcAft>
                <a:spcPts val="0"/>
              </a:spcAft>
              <a:defRPr/>
            </a:pPr>
            <a:r>
              <a:rPr lang="bg-BG" sz="2400" dirty="0">
                <a:solidFill>
                  <a:schemeClr val="tx2">
                    <a:satMod val="130000"/>
                  </a:schemeClr>
                </a:solidFill>
              </a:rPr>
              <a:t>	</a:t>
            </a:r>
            <a:r>
              <a:rPr lang="bg-BG" sz="2400" u="sng" dirty="0">
                <a:solidFill>
                  <a:schemeClr val="tx1"/>
                </a:solidFill>
              </a:rPr>
              <a:t>Балансирано </a:t>
            </a:r>
            <a:r>
              <a:rPr lang="bg-BG" sz="2400" u="sng" dirty="0" err="1">
                <a:solidFill>
                  <a:schemeClr val="tx1"/>
                </a:solidFill>
              </a:rPr>
              <a:t>многоходово</a:t>
            </a:r>
            <a:r>
              <a:rPr lang="bg-BG" sz="2400" u="sng" dirty="0">
                <a:solidFill>
                  <a:schemeClr val="tx1"/>
                </a:solidFill>
              </a:rPr>
              <a:t> сливане или  BMM</a:t>
            </a:r>
            <a:br>
              <a:rPr lang="bg-BG" sz="2400" u="sng" dirty="0">
                <a:solidFill>
                  <a:schemeClr val="tx1"/>
                </a:solidFill>
              </a:rPr>
            </a:br>
            <a:r>
              <a:rPr lang="bg-BG" sz="2400" dirty="0">
                <a:solidFill>
                  <a:schemeClr val="tx1"/>
                </a:solidFill>
              </a:rPr>
              <a:t>		</a:t>
            </a:r>
            <a:r>
              <a:rPr lang="bg-BG" sz="2400" u="sng" dirty="0">
                <a:solidFill>
                  <a:schemeClr val="tx1"/>
                </a:solidFill>
              </a:rPr>
              <a:t>(</a:t>
            </a:r>
            <a:r>
              <a:rPr lang="en-US" sz="2400" u="sng" dirty="0">
                <a:solidFill>
                  <a:schemeClr val="tx1"/>
                </a:solidFill>
              </a:rPr>
              <a:t>Balanced </a:t>
            </a:r>
            <a:r>
              <a:rPr lang="en-US" sz="2400" u="sng" dirty="0" err="1">
                <a:solidFill>
                  <a:schemeClr val="tx1"/>
                </a:solidFill>
              </a:rPr>
              <a:t>multiway</a:t>
            </a:r>
            <a:r>
              <a:rPr lang="en-US" sz="2400" u="sng" dirty="0">
                <a:solidFill>
                  <a:schemeClr val="tx1"/>
                </a:solidFill>
              </a:rPr>
              <a:t> merging)</a:t>
            </a:r>
            <a:br>
              <a:rPr lang="en-US" sz="2400" u="sng" dirty="0">
                <a:solidFill>
                  <a:schemeClr val="tx1"/>
                </a:solidFill>
              </a:rPr>
            </a:br>
            <a:r>
              <a:rPr lang="bg-BG" sz="2400" dirty="0">
                <a:solidFill>
                  <a:schemeClr val="tx1"/>
                </a:solidFill>
              </a:rPr>
              <a:t/>
            </a:r>
            <a:br>
              <a:rPr lang="bg-BG" sz="2400" dirty="0">
                <a:solidFill>
                  <a:schemeClr val="tx1"/>
                </a:solidFill>
              </a:rPr>
            </a:br>
            <a:r>
              <a:rPr lang="bg-BG" sz="2400" dirty="0">
                <a:solidFill>
                  <a:schemeClr val="tx1"/>
                </a:solidFill>
              </a:rPr>
              <a:t>	</a:t>
            </a:r>
            <a:r>
              <a:rPr lang="bg-BG" sz="2200" dirty="0">
                <a:solidFill>
                  <a:schemeClr val="tx1"/>
                </a:solidFill>
              </a:rPr>
              <a:t>6 временни файла или ленти:</a:t>
            </a:r>
            <a:br>
              <a:rPr lang="bg-BG" sz="2200" dirty="0">
                <a:solidFill>
                  <a:schemeClr val="tx1"/>
                </a:solidFill>
              </a:rPr>
            </a:br>
            <a:r>
              <a:rPr lang="bg-BG" sz="2200" dirty="0">
                <a:solidFill>
                  <a:schemeClr val="tx1"/>
                </a:solidFill>
              </a:rPr>
              <a:t>		- 3 за вход</a:t>
            </a:r>
            <a:br>
              <a:rPr lang="bg-BG" sz="2200" dirty="0">
                <a:solidFill>
                  <a:schemeClr val="tx1"/>
                </a:solidFill>
              </a:rPr>
            </a:br>
            <a:r>
              <a:rPr lang="bg-BG" sz="2200" dirty="0">
                <a:solidFill>
                  <a:schemeClr val="tx1"/>
                </a:solidFill>
              </a:rPr>
              <a:t>		- 3 за изход	</a:t>
            </a:r>
            <a:br>
              <a:rPr lang="bg-BG" sz="2200" dirty="0">
                <a:solidFill>
                  <a:schemeClr val="tx1"/>
                </a:solidFill>
              </a:rPr>
            </a:br>
            <a:r>
              <a:rPr lang="bg-BG" sz="2200" dirty="0">
                <a:solidFill>
                  <a:schemeClr val="tx1"/>
                </a:solidFill>
              </a:rPr>
              <a:t>	Входният файл съдържа следните данни:</a:t>
            </a:r>
            <a:r>
              <a:rPr lang="bg-BG" sz="2200" dirty="0">
                <a:solidFill>
                  <a:schemeClr val="tx2">
                    <a:satMod val="130000"/>
                  </a:schemeClr>
                </a:solidFill>
              </a:rPr>
              <a:t/>
            </a:r>
            <a:br>
              <a:rPr lang="bg-BG" sz="2200" dirty="0">
                <a:solidFill>
                  <a:schemeClr val="tx2">
                    <a:satMod val="130000"/>
                  </a:schemeClr>
                </a:solidFill>
              </a:rPr>
            </a:br>
            <a:r>
              <a:rPr lang="bg-BG" sz="2200" dirty="0">
                <a:solidFill>
                  <a:schemeClr val="tx2">
                    <a:satMod val="130000"/>
                  </a:schemeClr>
                </a:solidFill>
              </a:rPr>
              <a:t> </a:t>
            </a:r>
            <a:r>
              <a:rPr lang="en-US" sz="2200" dirty="0">
                <a:solidFill>
                  <a:schemeClr val="tx2">
                    <a:satMod val="130000"/>
                  </a:schemeClr>
                </a:solidFill>
              </a:rPr>
              <a:t>  </a:t>
            </a:r>
            <a:r>
              <a:rPr lang="en-US" sz="2200" dirty="0" err="1">
                <a:solidFill>
                  <a:srgbClr val="C00000"/>
                </a:solidFill>
              </a:rPr>
              <a:t>hereisyourbooktheoneyourthousandsoflettershaveaskedmetopublish</a:t>
            </a:r>
            <a:r>
              <a:rPr lang="en-US" sz="2200" dirty="0">
                <a:solidFill>
                  <a:srgbClr val="C00000"/>
                </a:solidFill>
              </a:rPr>
              <a:t/>
            </a:r>
            <a:br>
              <a:rPr lang="en-US" sz="2200" dirty="0">
                <a:solidFill>
                  <a:srgbClr val="C00000"/>
                </a:solidFill>
              </a:rPr>
            </a:br>
            <a:r>
              <a:rPr lang="en-US" sz="2200" dirty="0">
                <a:solidFill>
                  <a:schemeClr val="tx2">
                    <a:satMod val="130000"/>
                  </a:schemeClr>
                </a:solidFill>
              </a:rPr>
              <a:t/>
            </a:r>
            <a:br>
              <a:rPr lang="en-US" sz="2200" dirty="0">
                <a:solidFill>
                  <a:schemeClr val="tx2">
                    <a:satMod val="130000"/>
                  </a:schemeClr>
                </a:solidFill>
              </a:rPr>
            </a:br>
            <a:r>
              <a:rPr lang="en-US" sz="2200" dirty="0">
                <a:solidFill>
                  <a:schemeClr val="tx2">
                    <a:satMod val="130000"/>
                  </a:schemeClr>
                </a:solidFill>
              </a:rPr>
              <a:t>	</a:t>
            </a:r>
            <a:r>
              <a:rPr lang="en-US" sz="2200" dirty="0">
                <a:solidFill>
                  <a:schemeClr val="tx1"/>
                </a:solidFill>
              </a:rPr>
              <a:t>N=5</a:t>
            </a:r>
            <a:r>
              <a:rPr lang="en-US" sz="2200" dirty="0">
                <a:solidFill>
                  <a:schemeClr val="tx2">
                    <a:satMod val="130000"/>
                  </a:schemeClr>
                </a:solidFill>
              </a:rPr>
              <a:t/>
            </a:r>
            <a:br>
              <a:rPr lang="en-US" sz="2200" dirty="0">
                <a:solidFill>
                  <a:schemeClr val="tx2">
                    <a:satMod val="130000"/>
                  </a:schemeClr>
                </a:solidFill>
              </a:rPr>
            </a:br>
            <a:r>
              <a:rPr lang="en-US" sz="2200" dirty="0">
                <a:solidFill>
                  <a:schemeClr val="tx2">
                    <a:satMod val="130000"/>
                  </a:schemeClr>
                </a:solidFill>
              </a:rPr>
              <a:t/>
            </a:r>
            <a:br>
              <a:rPr lang="en-US" sz="2200" dirty="0">
                <a:solidFill>
                  <a:schemeClr val="tx2">
                    <a:satMod val="130000"/>
                  </a:schemeClr>
                </a:solidFill>
              </a:rPr>
            </a:br>
            <a:r>
              <a:rPr lang="en-US" sz="2200" dirty="0" err="1">
                <a:solidFill>
                  <a:srgbClr val="C00000"/>
                </a:solidFill>
              </a:rPr>
              <a:t>herei</a:t>
            </a:r>
            <a:r>
              <a:rPr lang="en-US" sz="2200" dirty="0">
                <a:solidFill>
                  <a:srgbClr val="C00000"/>
                </a:solidFill>
              </a:rPr>
              <a:t>  </a:t>
            </a:r>
            <a:r>
              <a:rPr lang="en-US" sz="2200" dirty="0" err="1">
                <a:solidFill>
                  <a:srgbClr val="C00000"/>
                </a:solidFill>
              </a:rPr>
              <a:t>syour</a:t>
            </a:r>
            <a:r>
              <a:rPr lang="en-US" sz="2200" dirty="0">
                <a:solidFill>
                  <a:srgbClr val="C00000"/>
                </a:solidFill>
              </a:rPr>
              <a:t>   </a:t>
            </a:r>
            <a:r>
              <a:rPr lang="en-US" sz="2200" dirty="0" err="1">
                <a:solidFill>
                  <a:srgbClr val="C00000"/>
                </a:solidFill>
              </a:rPr>
              <a:t>bookt</a:t>
            </a:r>
            <a:r>
              <a:rPr lang="en-US" sz="2200" dirty="0">
                <a:solidFill>
                  <a:srgbClr val="C00000"/>
                </a:solidFill>
              </a:rPr>
              <a:t>   </a:t>
            </a:r>
            <a:r>
              <a:rPr lang="en-US" sz="2200" dirty="0" err="1">
                <a:solidFill>
                  <a:srgbClr val="C00000"/>
                </a:solidFill>
              </a:rPr>
              <a:t>heone</a:t>
            </a:r>
            <a:r>
              <a:rPr lang="en-US" sz="2200" dirty="0">
                <a:solidFill>
                  <a:srgbClr val="C00000"/>
                </a:solidFill>
              </a:rPr>
              <a:t>  </a:t>
            </a:r>
            <a:r>
              <a:rPr lang="en-US" sz="2200" dirty="0" err="1">
                <a:solidFill>
                  <a:srgbClr val="C00000"/>
                </a:solidFill>
              </a:rPr>
              <a:t>yourt</a:t>
            </a:r>
            <a:r>
              <a:rPr lang="en-US" sz="2200" dirty="0">
                <a:solidFill>
                  <a:srgbClr val="C00000"/>
                </a:solidFill>
              </a:rPr>
              <a:t>  </a:t>
            </a:r>
            <a:r>
              <a:rPr lang="en-US" sz="2200" dirty="0" err="1">
                <a:solidFill>
                  <a:srgbClr val="C00000"/>
                </a:solidFill>
              </a:rPr>
              <a:t>housa</a:t>
            </a:r>
            <a:r>
              <a:rPr lang="en-US" sz="2200" dirty="0">
                <a:solidFill>
                  <a:srgbClr val="C00000"/>
                </a:solidFill>
              </a:rPr>
              <a:t>   </a:t>
            </a:r>
            <a:r>
              <a:rPr lang="en-US" sz="2200" dirty="0" err="1">
                <a:solidFill>
                  <a:srgbClr val="C00000"/>
                </a:solidFill>
              </a:rPr>
              <a:t>ndsof</a:t>
            </a:r>
            <a:r>
              <a:rPr lang="en-US" sz="2200" dirty="0">
                <a:solidFill>
                  <a:srgbClr val="C00000"/>
                </a:solidFill>
              </a:rPr>
              <a:t>  </a:t>
            </a:r>
            <a:r>
              <a:rPr lang="en-US" sz="2200" dirty="0" err="1">
                <a:solidFill>
                  <a:srgbClr val="C00000"/>
                </a:solidFill>
              </a:rPr>
              <a:t>lette</a:t>
            </a:r>
            <a:r>
              <a:rPr lang="en-US" sz="2200" dirty="0">
                <a:solidFill>
                  <a:srgbClr val="C00000"/>
                </a:solidFill>
              </a:rPr>
              <a:t>   </a:t>
            </a:r>
            <a:r>
              <a:rPr lang="en-US" sz="2200" dirty="0" err="1">
                <a:solidFill>
                  <a:srgbClr val="C00000"/>
                </a:solidFill>
              </a:rPr>
              <a:t>rshav</a:t>
            </a:r>
            <a:r>
              <a:rPr lang="en-US" sz="2200" dirty="0">
                <a:solidFill>
                  <a:srgbClr val="C00000"/>
                </a:solidFill>
              </a:rPr>
              <a:t>  </a:t>
            </a:r>
            <a:r>
              <a:rPr lang="en-US" sz="2200" dirty="0" err="1">
                <a:solidFill>
                  <a:srgbClr val="C00000"/>
                </a:solidFill>
              </a:rPr>
              <a:t>easke</a:t>
            </a:r>
            <a:r>
              <a:rPr lang="en-US" sz="2200" dirty="0">
                <a:solidFill>
                  <a:srgbClr val="C00000"/>
                </a:solidFill>
              </a:rPr>
              <a:t>  </a:t>
            </a:r>
            <a:r>
              <a:rPr lang="en-US" sz="2200" dirty="0" err="1">
                <a:solidFill>
                  <a:srgbClr val="C00000"/>
                </a:solidFill>
              </a:rPr>
              <a:t>dmeto</a:t>
            </a:r>
            <a:r>
              <a:rPr lang="en-US" sz="2200" dirty="0">
                <a:solidFill>
                  <a:srgbClr val="C00000"/>
                </a:solidFill>
              </a:rPr>
              <a:t>  </a:t>
            </a:r>
            <a:r>
              <a:rPr lang="en-US" sz="2200" dirty="0" err="1">
                <a:solidFill>
                  <a:srgbClr val="C00000"/>
                </a:solidFill>
              </a:rPr>
              <a:t>publi</a:t>
            </a:r>
            <a:r>
              <a:rPr lang="en-US" sz="2200" dirty="0">
                <a:solidFill>
                  <a:srgbClr val="C00000"/>
                </a:solidFill>
              </a:rPr>
              <a:t>  </a:t>
            </a:r>
            <a:r>
              <a:rPr lang="en-US" sz="2200" dirty="0" err="1">
                <a:solidFill>
                  <a:srgbClr val="C00000"/>
                </a:solidFill>
              </a:rPr>
              <a:t>sh</a:t>
            </a:r>
            <a:r>
              <a:rPr lang="en-US" sz="2200" dirty="0">
                <a:solidFill>
                  <a:schemeClr val="accent2"/>
                </a:solidFill>
              </a:rPr>
              <a:t/>
            </a:r>
            <a:br>
              <a:rPr lang="en-US" sz="2200" dirty="0">
                <a:solidFill>
                  <a:schemeClr val="accent2"/>
                </a:solidFill>
              </a:rPr>
            </a:br>
            <a:r>
              <a:rPr lang="en-US" sz="2200" dirty="0">
                <a:solidFill>
                  <a:schemeClr val="accent2"/>
                </a:solidFill>
              </a:rPr>
              <a:t/>
            </a:r>
            <a:br>
              <a:rPr lang="en-US" sz="2200" dirty="0">
                <a:solidFill>
                  <a:schemeClr val="accent2"/>
                </a:solidFill>
              </a:rPr>
            </a:br>
            <a:r>
              <a:rPr lang="en-US" sz="2200" dirty="0">
                <a:solidFill>
                  <a:schemeClr val="accent2"/>
                </a:solidFill>
              </a:rPr>
              <a:t>	</a:t>
            </a:r>
            <a:r>
              <a:rPr lang="bg-BG" sz="2200" dirty="0">
                <a:solidFill>
                  <a:schemeClr val="tx1"/>
                </a:solidFill>
              </a:rPr>
              <a:t>Лента 0:  </a:t>
            </a:r>
            <a:r>
              <a:rPr lang="en-US" sz="2200" dirty="0" err="1">
                <a:solidFill>
                  <a:srgbClr val="C00000"/>
                </a:solidFill>
              </a:rPr>
              <a:t>eehir</a:t>
            </a:r>
            <a:r>
              <a:rPr lang="en-US" sz="2200" dirty="0">
                <a:solidFill>
                  <a:srgbClr val="C00000"/>
                </a:solidFill>
              </a:rPr>
              <a:t>     </a:t>
            </a:r>
            <a:r>
              <a:rPr lang="en-US" sz="2200" dirty="0" err="1">
                <a:solidFill>
                  <a:srgbClr val="C00000"/>
                </a:solidFill>
              </a:rPr>
              <a:t>eehno</a:t>
            </a:r>
            <a:r>
              <a:rPr lang="en-US" sz="2200" dirty="0">
                <a:solidFill>
                  <a:srgbClr val="C00000"/>
                </a:solidFill>
              </a:rPr>
              <a:t>     </a:t>
            </a:r>
            <a:r>
              <a:rPr lang="en-US" sz="2200" dirty="0" err="1">
                <a:solidFill>
                  <a:srgbClr val="C00000"/>
                </a:solidFill>
              </a:rPr>
              <a:t>dfnos</a:t>
            </a:r>
            <a:r>
              <a:rPr lang="en-US" sz="2200" dirty="0">
                <a:solidFill>
                  <a:srgbClr val="C00000"/>
                </a:solidFill>
              </a:rPr>
              <a:t>    </a:t>
            </a:r>
            <a:r>
              <a:rPr lang="en-US" sz="2200" dirty="0" err="1">
                <a:solidFill>
                  <a:srgbClr val="C00000"/>
                </a:solidFill>
              </a:rPr>
              <a:t>aeeks</a:t>
            </a:r>
            <a:r>
              <a:rPr lang="bg-BG" sz="2200" dirty="0">
                <a:solidFill>
                  <a:srgbClr val="C00000"/>
                </a:solidFill>
              </a:rPr>
              <a:t> </a:t>
            </a:r>
            <a:r>
              <a:rPr lang="en-US" sz="2200" dirty="0">
                <a:solidFill>
                  <a:srgbClr val="C00000"/>
                </a:solidFill>
              </a:rPr>
              <a:t> </a:t>
            </a:r>
            <a:r>
              <a:rPr lang="bg-BG" sz="2200" dirty="0">
                <a:solidFill>
                  <a:srgbClr val="C00000"/>
                </a:solidFill>
              </a:rPr>
              <a:t>  </a:t>
            </a:r>
            <a:r>
              <a:rPr lang="en-US" sz="2200" dirty="0" err="1">
                <a:solidFill>
                  <a:srgbClr val="C00000"/>
                </a:solidFill>
              </a:rPr>
              <a:t>hs</a:t>
            </a:r>
            <a:r>
              <a:rPr lang="en-US" sz="2200" dirty="0">
                <a:solidFill>
                  <a:schemeClr val="accent2"/>
                </a:solidFill>
              </a:rPr>
              <a:t/>
            </a:r>
            <a:br>
              <a:rPr lang="en-US" sz="2200" dirty="0">
                <a:solidFill>
                  <a:schemeClr val="accent2"/>
                </a:solidFill>
              </a:rPr>
            </a:br>
            <a:r>
              <a:rPr lang="bg-BG" sz="2200" dirty="0">
                <a:solidFill>
                  <a:schemeClr val="accent2"/>
                </a:solidFill>
              </a:rPr>
              <a:t>	</a:t>
            </a:r>
            <a:r>
              <a:rPr lang="bg-BG" sz="2200" dirty="0">
                <a:solidFill>
                  <a:schemeClr val="tx1"/>
                </a:solidFill>
              </a:rPr>
              <a:t>Лента 1:</a:t>
            </a:r>
            <a:r>
              <a:rPr lang="bg-BG" sz="2200" dirty="0">
                <a:solidFill>
                  <a:schemeClr val="accent2"/>
                </a:solidFill>
              </a:rPr>
              <a:t>  </a:t>
            </a:r>
            <a:r>
              <a:rPr lang="en-US" sz="2200" dirty="0" err="1">
                <a:solidFill>
                  <a:srgbClr val="C00000"/>
                </a:solidFill>
              </a:rPr>
              <a:t>orsuy</a:t>
            </a:r>
            <a:r>
              <a:rPr lang="bg-BG" sz="2200" dirty="0">
                <a:solidFill>
                  <a:srgbClr val="C00000"/>
                </a:solidFill>
              </a:rPr>
              <a:t>  </a:t>
            </a:r>
            <a:r>
              <a:rPr lang="en-US" sz="2200" dirty="0">
                <a:solidFill>
                  <a:srgbClr val="C00000"/>
                </a:solidFill>
              </a:rPr>
              <a:t>  </a:t>
            </a:r>
            <a:r>
              <a:rPr lang="en-US" sz="2200" dirty="0" err="1">
                <a:solidFill>
                  <a:srgbClr val="C00000"/>
                </a:solidFill>
              </a:rPr>
              <a:t>ortuy</a:t>
            </a:r>
            <a:r>
              <a:rPr lang="en-US" sz="2200" dirty="0">
                <a:solidFill>
                  <a:srgbClr val="C00000"/>
                </a:solidFill>
              </a:rPr>
              <a:t>      </a:t>
            </a:r>
            <a:r>
              <a:rPr lang="en-US" sz="2200" dirty="0" err="1">
                <a:solidFill>
                  <a:srgbClr val="C00000"/>
                </a:solidFill>
              </a:rPr>
              <a:t>eeltt</a:t>
            </a:r>
            <a:r>
              <a:rPr lang="en-US" sz="2200" dirty="0">
                <a:solidFill>
                  <a:srgbClr val="C00000"/>
                </a:solidFill>
              </a:rPr>
              <a:t>      </a:t>
            </a:r>
            <a:r>
              <a:rPr lang="en-US" sz="2200" dirty="0" err="1">
                <a:solidFill>
                  <a:srgbClr val="C00000"/>
                </a:solidFill>
              </a:rPr>
              <a:t>demot</a:t>
            </a:r>
            <a:r>
              <a:rPr lang="bg-BG" sz="2200" dirty="0">
                <a:solidFill>
                  <a:schemeClr val="accent2"/>
                </a:solidFill>
              </a:rPr>
              <a:t/>
            </a:r>
            <a:br>
              <a:rPr lang="bg-BG" sz="2200" dirty="0">
                <a:solidFill>
                  <a:schemeClr val="accent2"/>
                </a:solidFill>
              </a:rPr>
            </a:br>
            <a:r>
              <a:rPr lang="bg-BG" sz="2200" dirty="0">
                <a:solidFill>
                  <a:schemeClr val="accent2"/>
                </a:solidFill>
              </a:rPr>
              <a:t>  </a:t>
            </a:r>
            <a:r>
              <a:rPr lang="en-US" sz="2200" dirty="0">
                <a:solidFill>
                  <a:schemeClr val="accent2"/>
                </a:solidFill>
              </a:rPr>
              <a:t> </a:t>
            </a:r>
            <a:r>
              <a:rPr lang="bg-BG" sz="2200" dirty="0">
                <a:solidFill>
                  <a:schemeClr val="accent2"/>
                </a:solidFill>
              </a:rPr>
              <a:t> </a:t>
            </a:r>
            <a:r>
              <a:rPr lang="en-US" sz="2200" dirty="0">
                <a:solidFill>
                  <a:schemeClr val="accent2"/>
                </a:solidFill>
              </a:rPr>
              <a:t> </a:t>
            </a:r>
            <a:r>
              <a:rPr lang="bg-BG" sz="2200" dirty="0">
                <a:solidFill>
                  <a:schemeClr val="accent2"/>
                </a:solidFill>
              </a:rPr>
              <a:t>  	</a:t>
            </a:r>
            <a:r>
              <a:rPr lang="bg-BG" sz="2200" dirty="0">
                <a:solidFill>
                  <a:schemeClr val="tx1"/>
                </a:solidFill>
              </a:rPr>
              <a:t>Лента 2:</a:t>
            </a:r>
            <a:r>
              <a:rPr lang="bg-BG" sz="2200" dirty="0">
                <a:solidFill>
                  <a:schemeClr val="accent2"/>
                </a:solidFill>
              </a:rPr>
              <a:t> </a:t>
            </a:r>
            <a:r>
              <a:rPr lang="en-US" sz="2200" dirty="0">
                <a:solidFill>
                  <a:schemeClr val="accent2"/>
                </a:solidFill>
              </a:rPr>
              <a:t> </a:t>
            </a:r>
            <a:r>
              <a:rPr lang="en-US" sz="2200" dirty="0" err="1">
                <a:solidFill>
                  <a:srgbClr val="C00000"/>
                </a:solidFill>
              </a:rPr>
              <a:t>bkoot</a:t>
            </a:r>
            <a:r>
              <a:rPr lang="en-US" sz="2200" dirty="0">
                <a:solidFill>
                  <a:srgbClr val="C00000"/>
                </a:solidFill>
              </a:rPr>
              <a:t>    </a:t>
            </a:r>
            <a:r>
              <a:rPr lang="en-US" sz="2200" dirty="0" err="1">
                <a:solidFill>
                  <a:srgbClr val="C00000"/>
                </a:solidFill>
              </a:rPr>
              <a:t>ahosu</a:t>
            </a:r>
            <a:r>
              <a:rPr lang="en-US" sz="2200" dirty="0">
                <a:solidFill>
                  <a:srgbClr val="C00000"/>
                </a:solidFill>
              </a:rPr>
              <a:t>     </a:t>
            </a:r>
            <a:r>
              <a:rPr lang="en-US" sz="2200" dirty="0" err="1">
                <a:solidFill>
                  <a:srgbClr val="C00000"/>
                </a:solidFill>
              </a:rPr>
              <a:t>ahrsv</a:t>
            </a:r>
            <a:r>
              <a:rPr lang="en-US" sz="2200" dirty="0">
                <a:solidFill>
                  <a:srgbClr val="C00000"/>
                </a:solidFill>
              </a:rPr>
              <a:t>     </a:t>
            </a:r>
            <a:r>
              <a:rPr lang="en-US" sz="2200" dirty="0" err="1">
                <a:solidFill>
                  <a:srgbClr val="C00000"/>
                </a:solidFill>
              </a:rPr>
              <a:t>bilpu</a:t>
            </a:r>
            <a:endParaRPr lang="en-US" sz="2200" dirty="0">
              <a:solidFill>
                <a:srgbClr val="C00000"/>
              </a:solidFill>
            </a:endParaRPr>
          </a:p>
        </p:txBody>
      </p:sp>
      <p:sp>
        <p:nvSpPr>
          <p:cNvPr id="5" name="Slide Number Placeholder 4"/>
          <p:cNvSpPr>
            <a:spLocks noGrp="1"/>
          </p:cNvSpPr>
          <p:nvPr>
            <p:ph type="sldNum" sz="quarter" idx="12"/>
          </p:nvPr>
        </p:nvSpPr>
        <p:spPr/>
        <p:txBody>
          <a:bodyPr/>
          <a:lstStyle/>
          <a:p>
            <a:pPr>
              <a:defRPr/>
            </a:pPr>
            <a:fld id="{955F04BE-B4EB-4EE9-AE75-A18BA8456B40}" type="slidenum">
              <a:rPr lang="en-US"/>
              <a:pPr>
                <a:defRPr/>
              </a:pPr>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304800" y="609600"/>
            <a:ext cx="8458200" cy="6019800"/>
          </a:xfrm>
        </p:spPr>
        <p:txBody>
          <a:bodyPr/>
          <a:lstStyle/>
          <a:p>
            <a:pPr eaLnBrk="1" fontAlgn="auto" hangingPunct="1">
              <a:spcAft>
                <a:spcPts val="0"/>
              </a:spcAft>
              <a:defRPr/>
            </a:pPr>
            <a:r>
              <a:rPr lang="bg-BG" sz="2200">
                <a:solidFill>
                  <a:schemeClr val="tx1"/>
                </a:solidFill>
              </a:rPr>
              <a:t>	Лента 0:</a:t>
            </a:r>
            <a:r>
              <a:rPr lang="bg-BG" sz="2200">
                <a:solidFill>
                  <a:schemeClr val="accent2"/>
                </a:solidFill>
              </a:rPr>
              <a:t>  </a:t>
            </a:r>
            <a:r>
              <a:rPr lang="en-US" sz="2200">
                <a:solidFill>
                  <a:srgbClr val="C00000"/>
                </a:solidFill>
              </a:rPr>
              <a:t>eehir     eehno     dfnos    aeeks</a:t>
            </a:r>
            <a:r>
              <a:rPr lang="bg-BG" sz="2200">
                <a:solidFill>
                  <a:srgbClr val="C00000"/>
                </a:solidFill>
              </a:rPr>
              <a:t> </a:t>
            </a:r>
            <a:r>
              <a:rPr lang="en-US" sz="2200">
                <a:solidFill>
                  <a:srgbClr val="C00000"/>
                </a:solidFill>
              </a:rPr>
              <a:t> </a:t>
            </a:r>
            <a:r>
              <a:rPr lang="bg-BG" sz="2200">
                <a:solidFill>
                  <a:srgbClr val="C00000"/>
                </a:solidFill>
              </a:rPr>
              <a:t>  </a:t>
            </a:r>
            <a:r>
              <a:rPr lang="en-US" sz="2200">
                <a:solidFill>
                  <a:srgbClr val="C00000"/>
                </a:solidFill>
              </a:rPr>
              <a:t>hs</a:t>
            </a:r>
            <a:r>
              <a:rPr lang="en-US" sz="2200">
                <a:solidFill>
                  <a:schemeClr val="accent2"/>
                </a:solidFill>
              </a:rPr>
              <a:t/>
            </a:r>
            <a:br>
              <a:rPr lang="en-US" sz="2200">
                <a:solidFill>
                  <a:schemeClr val="accent2"/>
                </a:solidFill>
              </a:rPr>
            </a:br>
            <a:r>
              <a:rPr lang="bg-BG" sz="2200">
                <a:solidFill>
                  <a:schemeClr val="accent2"/>
                </a:solidFill>
              </a:rPr>
              <a:t>	</a:t>
            </a:r>
            <a:r>
              <a:rPr lang="bg-BG" sz="2200">
                <a:solidFill>
                  <a:schemeClr val="tx1"/>
                </a:solidFill>
              </a:rPr>
              <a:t>Лента 1:</a:t>
            </a:r>
            <a:r>
              <a:rPr lang="bg-BG" sz="2200">
                <a:solidFill>
                  <a:schemeClr val="accent2"/>
                </a:solidFill>
              </a:rPr>
              <a:t>  </a:t>
            </a:r>
            <a:r>
              <a:rPr lang="en-US" sz="2200">
                <a:solidFill>
                  <a:srgbClr val="C00000"/>
                </a:solidFill>
              </a:rPr>
              <a:t>orsuy</a:t>
            </a:r>
            <a:r>
              <a:rPr lang="bg-BG" sz="2200">
                <a:solidFill>
                  <a:srgbClr val="C00000"/>
                </a:solidFill>
              </a:rPr>
              <a:t>  </a:t>
            </a:r>
            <a:r>
              <a:rPr lang="en-US" sz="2200">
                <a:solidFill>
                  <a:srgbClr val="C00000"/>
                </a:solidFill>
              </a:rPr>
              <a:t>  ortuy      eeltt      demot</a:t>
            </a:r>
            <a:r>
              <a:rPr lang="bg-BG" sz="2200">
                <a:solidFill>
                  <a:schemeClr val="accent2"/>
                </a:solidFill>
              </a:rPr>
              <a:t/>
            </a:r>
            <a:br>
              <a:rPr lang="bg-BG" sz="2200">
                <a:solidFill>
                  <a:schemeClr val="accent2"/>
                </a:solidFill>
              </a:rPr>
            </a:br>
            <a:r>
              <a:rPr lang="bg-BG" sz="2200">
                <a:solidFill>
                  <a:schemeClr val="accent2"/>
                </a:solidFill>
              </a:rPr>
              <a:t>  </a:t>
            </a:r>
            <a:r>
              <a:rPr lang="en-US" sz="2200">
                <a:solidFill>
                  <a:schemeClr val="accent2"/>
                </a:solidFill>
              </a:rPr>
              <a:t> </a:t>
            </a:r>
            <a:r>
              <a:rPr lang="bg-BG" sz="2200">
                <a:solidFill>
                  <a:schemeClr val="accent2"/>
                </a:solidFill>
              </a:rPr>
              <a:t> </a:t>
            </a:r>
            <a:r>
              <a:rPr lang="en-US" sz="2200">
                <a:solidFill>
                  <a:schemeClr val="accent2"/>
                </a:solidFill>
              </a:rPr>
              <a:t> </a:t>
            </a:r>
            <a:r>
              <a:rPr lang="bg-BG" sz="2200">
                <a:solidFill>
                  <a:schemeClr val="accent2"/>
                </a:solidFill>
              </a:rPr>
              <a:t>  	</a:t>
            </a:r>
            <a:r>
              <a:rPr lang="bg-BG" sz="2200">
                <a:solidFill>
                  <a:schemeClr val="tx1"/>
                </a:solidFill>
              </a:rPr>
              <a:t>Лента 2:</a:t>
            </a:r>
            <a:r>
              <a:rPr lang="bg-BG" sz="2200">
                <a:solidFill>
                  <a:schemeClr val="accent2"/>
                </a:solidFill>
              </a:rPr>
              <a:t> </a:t>
            </a:r>
            <a:r>
              <a:rPr lang="en-US" sz="2200">
                <a:solidFill>
                  <a:schemeClr val="accent2"/>
                </a:solidFill>
              </a:rPr>
              <a:t> </a:t>
            </a:r>
            <a:r>
              <a:rPr lang="en-US" sz="2200">
                <a:solidFill>
                  <a:srgbClr val="C00000"/>
                </a:solidFill>
              </a:rPr>
              <a:t>bkoot    ahosu     ahrsv     bilpu</a:t>
            </a:r>
            <a:r>
              <a:rPr lang="en-US" sz="2200">
                <a:solidFill>
                  <a:schemeClr val="accent2"/>
                </a:solidFill>
              </a:rPr>
              <a:t/>
            </a:r>
            <a:br>
              <a:rPr lang="en-US" sz="2200">
                <a:solidFill>
                  <a:schemeClr val="accent2"/>
                </a:solidFill>
              </a:rPr>
            </a:br>
            <a:r>
              <a:rPr lang="en-US" sz="2200">
                <a:solidFill>
                  <a:schemeClr val="accent2"/>
                </a:solidFill>
              </a:rPr>
              <a:t/>
            </a:r>
            <a:br>
              <a:rPr lang="en-US" sz="2200">
                <a:solidFill>
                  <a:schemeClr val="accent2"/>
                </a:solidFill>
              </a:rPr>
            </a:br>
            <a:r>
              <a:rPr lang="en-US" sz="2200">
                <a:solidFill>
                  <a:schemeClr val="tx1"/>
                </a:solidFill>
              </a:rPr>
              <a:t>a[0]=</a:t>
            </a:r>
            <a:r>
              <a:rPr lang="en-US" sz="2200">
                <a:solidFill>
                  <a:srgbClr val="C00000"/>
                </a:solidFill>
              </a:rPr>
              <a:t>e</a:t>
            </a:r>
            <a:r>
              <a:rPr lang="en-US" sz="2200">
                <a:solidFill>
                  <a:schemeClr val="accent2"/>
                </a:solidFill>
              </a:rPr>
              <a:t>  </a:t>
            </a:r>
            <a:r>
              <a:rPr lang="en-US" sz="2200">
                <a:solidFill>
                  <a:schemeClr val="tx1"/>
                </a:solidFill>
              </a:rPr>
              <a:t>a[1]=</a:t>
            </a:r>
            <a:r>
              <a:rPr lang="en-US" sz="2200">
                <a:solidFill>
                  <a:srgbClr val="C00000"/>
                </a:solidFill>
              </a:rPr>
              <a:t>o </a:t>
            </a:r>
            <a:r>
              <a:rPr lang="en-US" sz="2200">
                <a:solidFill>
                  <a:schemeClr val="accent2"/>
                </a:solidFill>
              </a:rPr>
              <a:t> </a:t>
            </a:r>
            <a:r>
              <a:rPr lang="en-US" sz="2200">
                <a:solidFill>
                  <a:schemeClr val="tx1"/>
                </a:solidFill>
              </a:rPr>
              <a:t>a[2]=</a:t>
            </a:r>
            <a:r>
              <a:rPr lang="en-US" sz="2200">
                <a:solidFill>
                  <a:srgbClr val="C00000"/>
                </a:solidFill>
              </a:rPr>
              <a:t>b</a:t>
            </a:r>
            <a:r>
              <a:rPr lang="en-US" sz="2200">
                <a:solidFill>
                  <a:schemeClr val="accent2"/>
                </a:solidFill>
              </a:rPr>
              <a:t>  </a:t>
            </a:r>
            <a:r>
              <a:rPr lang="en-US" sz="2200">
                <a:solidFill>
                  <a:schemeClr val="tx1"/>
                </a:solidFill>
              </a:rPr>
              <a:t>a[2]=</a:t>
            </a:r>
            <a:r>
              <a:rPr lang="en-US" sz="2200">
                <a:solidFill>
                  <a:srgbClr val="C00000"/>
                </a:solidFill>
              </a:rPr>
              <a:t>k</a:t>
            </a:r>
            <a:r>
              <a:rPr lang="en-US" sz="2200">
                <a:solidFill>
                  <a:schemeClr val="accent2"/>
                </a:solidFill>
              </a:rPr>
              <a:t/>
            </a:r>
            <a:br>
              <a:rPr lang="en-US" sz="2200">
                <a:solidFill>
                  <a:schemeClr val="accent2"/>
                </a:solidFill>
              </a:rPr>
            </a:br>
            <a:r>
              <a:rPr lang="en-US" sz="2200">
                <a:solidFill>
                  <a:schemeClr val="accent2"/>
                </a:solidFill>
              </a:rPr>
              <a:t/>
            </a:r>
            <a:br>
              <a:rPr lang="en-US" sz="2200">
                <a:solidFill>
                  <a:schemeClr val="accent2"/>
                </a:solidFill>
              </a:rPr>
            </a:br>
            <a:r>
              <a:rPr lang="en-US" sz="2200">
                <a:solidFill>
                  <a:schemeClr val="accent2"/>
                </a:solidFill>
              </a:rPr>
              <a:t> 	</a:t>
            </a:r>
            <a:r>
              <a:rPr lang="bg-BG" sz="2200">
                <a:solidFill>
                  <a:schemeClr val="tx1"/>
                </a:solidFill>
              </a:rPr>
              <a:t>Лента 3</a:t>
            </a:r>
            <a:r>
              <a:rPr lang="bg-BG" sz="2200">
                <a:solidFill>
                  <a:srgbClr val="C00000"/>
                </a:solidFill>
              </a:rPr>
              <a:t>:  b</a:t>
            </a:r>
            <a:r>
              <a:rPr lang="en-US" sz="2200">
                <a:solidFill>
                  <a:srgbClr val="C00000"/>
                </a:solidFill>
              </a:rPr>
              <a:t>eehikooorrstuy   abdeeeiklmopstu</a:t>
            </a:r>
            <a:r>
              <a:rPr lang="en-US" sz="2200">
                <a:solidFill>
                  <a:schemeClr val="accent2"/>
                </a:solidFill>
              </a:rPr>
              <a:t/>
            </a:r>
            <a:br>
              <a:rPr lang="en-US" sz="2200">
                <a:solidFill>
                  <a:schemeClr val="accent2"/>
                </a:solidFill>
              </a:rPr>
            </a:br>
            <a:r>
              <a:rPr lang="bg-BG" sz="2200">
                <a:solidFill>
                  <a:schemeClr val="accent2"/>
                </a:solidFill>
              </a:rPr>
              <a:t>	</a:t>
            </a:r>
            <a:r>
              <a:rPr lang="bg-BG" sz="2200">
                <a:solidFill>
                  <a:schemeClr val="tx1"/>
                </a:solidFill>
              </a:rPr>
              <a:t>Лента 4</a:t>
            </a:r>
            <a:r>
              <a:rPr lang="bg-BG" sz="2200">
                <a:solidFill>
                  <a:srgbClr val="C00000"/>
                </a:solidFill>
              </a:rPr>
              <a:t>:  </a:t>
            </a:r>
            <a:r>
              <a:rPr lang="en-US" sz="2200">
                <a:solidFill>
                  <a:srgbClr val="C00000"/>
                </a:solidFill>
              </a:rPr>
              <a:t>aeehhnooorstuuy    hs</a:t>
            </a:r>
            <a:r>
              <a:rPr lang="bg-BG" sz="2200">
                <a:solidFill>
                  <a:schemeClr val="accent2"/>
                </a:solidFill>
              </a:rPr>
              <a:t/>
            </a:r>
            <a:br>
              <a:rPr lang="bg-BG" sz="2200">
                <a:solidFill>
                  <a:schemeClr val="accent2"/>
                </a:solidFill>
              </a:rPr>
            </a:br>
            <a:r>
              <a:rPr lang="bg-BG" sz="2200">
                <a:solidFill>
                  <a:schemeClr val="accent2"/>
                </a:solidFill>
              </a:rPr>
              <a:t>  </a:t>
            </a:r>
            <a:r>
              <a:rPr lang="en-US" sz="2200">
                <a:solidFill>
                  <a:schemeClr val="accent2"/>
                </a:solidFill>
              </a:rPr>
              <a:t> </a:t>
            </a:r>
            <a:r>
              <a:rPr lang="bg-BG" sz="2200">
                <a:solidFill>
                  <a:schemeClr val="accent2"/>
                </a:solidFill>
              </a:rPr>
              <a:t> </a:t>
            </a:r>
            <a:r>
              <a:rPr lang="en-US" sz="2200">
                <a:solidFill>
                  <a:schemeClr val="accent2"/>
                </a:solidFill>
              </a:rPr>
              <a:t> </a:t>
            </a:r>
            <a:r>
              <a:rPr lang="bg-BG" sz="2200">
                <a:solidFill>
                  <a:schemeClr val="accent2"/>
                </a:solidFill>
              </a:rPr>
              <a:t>  	</a:t>
            </a:r>
            <a:r>
              <a:rPr lang="bg-BG" sz="2200">
                <a:solidFill>
                  <a:schemeClr val="tx1"/>
                </a:solidFill>
              </a:rPr>
              <a:t>Лента 5:</a:t>
            </a:r>
            <a:r>
              <a:rPr lang="bg-BG" sz="2200">
                <a:solidFill>
                  <a:schemeClr val="accent2"/>
                </a:solidFill>
              </a:rPr>
              <a:t> </a:t>
            </a:r>
            <a:r>
              <a:rPr lang="en-US" sz="2200">
                <a:solidFill>
                  <a:schemeClr val="accent2"/>
                </a:solidFill>
              </a:rPr>
              <a:t> </a:t>
            </a:r>
            <a:r>
              <a:rPr lang="en-US" sz="2200">
                <a:solidFill>
                  <a:srgbClr val="C00000"/>
                </a:solidFill>
              </a:rPr>
              <a:t>adeefhlnorssttv</a:t>
            </a:r>
            <a:r>
              <a:rPr lang="en-US" sz="2200">
                <a:solidFill>
                  <a:schemeClr val="accent2"/>
                </a:solidFill>
              </a:rPr>
              <a:t/>
            </a:r>
            <a:br>
              <a:rPr lang="en-US" sz="2200">
                <a:solidFill>
                  <a:schemeClr val="accent2"/>
                </a:solidFill>
              </a:rPr>
            </a:br>
            <a:r>
              <a:rPr lang="en-US" sz="2200">
                <a:solidFill>
                  <a:schemeClr val="accent2"/>
                </a:solidFill>
              </a:rPr>
              <a:t/>
            </a:r>
            <a:br>
              <a:rPr lang="en-US" sz="2200">
                <a:solidFill>
                  <a:schemeClr val="accent2"/>
                </a:solidFill>
              </a:rPr>
            </a:br>
            <a:r>
              <a:rPr lang="en-US" sz="2200">
                <a:solidFill>
                  <a:schemeClr val="accent2"/>
                </a:solidFill>
              </a:rPr>
              <a:t> 	</a:t>
            </a:r>
            <a:r>
              <a:rPr lang="bg-BG" sz="2200">
                <a:solidFill>
                  <a:schemeClr val="tx1"/>
                </a:solidFill>
              </a:rPr>
              <a:t>Лента 0:</a:t>
            </a:r>
            <a:r>
              <a:rPr lang="bg-BG" sz="2200">
                <a:solidFill>
                  <a:schemeClr val="accent2"/>
                </a:solidFill>
              </a:rPr>
              <a:t>  </a:t>
            </a:r>
            <a:r>
              <a:rPr lang="en-US" sz="2200">
                <a:solidFill>
                  <a:srgbClr val="C00000"/>
                </a:solidFill>
              </a:rPr>
              <a:t>aabdeeeeeefhhhhiklnnooooooorrrrssssttttuuuvyy</a:t>
            </a:r>
            <a:r>
              <a:rPr lang="en-US" sz="2200">
                <a:solidFill>
                  <a:schemeClr val="accent2"/>
                </a:solidFill>
              </a:rPr>
              <a:t/>
            </a:r>
            <a:br>
              <a:rPr lang="en-US" sz="2200">
                <a:solidFill>
                  <a:schemeClr val="accent2"/>
                </a:solidFill>
              </a:rPr>
            </a:br>
            <a:r>
              <a:rPr lang="bg-BG" sz="2200">
                <a:solidFill>
                  <a:schemeClr val="accent2"/>
                </a:solidFill>
              </a:rPr>
              <a:t>	</a:t>
            </a:r>
            <a:r>
              <a:rPr lang="bg-BG" sz="2200">
                <a:solidFill>
                  <a:schemeClr val="tx1"/>
                </a:solidFill>
              </a:rPr>
              <a:t>Лента 1</a:t>
            </a:r>
            <a:r>
              <a:rPr lang="bg-BG" sz="2200">
                <a:solidFill>
                  <a:srgbClr val="C00000"/>
                </a:solidFill>
              </a:rPr>
              <a:t>:  </a:t>
            </a:r>
            <a:r>
              <a:rPr lang="en-US" sz="2200">
                <a:solidFill>
                  <a:srgbClr val="C00000"/>
                </a:solidFill>
              </a:rPr>
              <a:t>abdeeehiklmopsstu</a:t>
            </a:r>
            <a:r>
              <a:rPr lang="bg-BG" sz="2200">
                <a:solidFill>
                  <a:schemeClr val="accent2"/>
                </a:solidFill>
              </a:rPr>
              <a:t/>
            </a:r>
            <a:br>
              <a:rPr lang="bg-BG" sz="2200">
                <a:solidFill>
                  <a:schemeClr val="accent2"/>
                </a:solidFill>
              </a:rPr>
            </a:br>
            <a:r>
              <a:rPr lang="bg-BG" sz="2200">
                <a:solidFill>
                  <a:schemeClr val="accent2"/>
                </a:solidFill>
              </a:rPr>
              <a:t>  </a:t>
            </a:r>
            <a:r>
              <a:rPr lang="en-US" sz="2200">
                <a:solidFill>
                  <a:schemeClr val="accent2"/>
                </a:solidFill>
              </a:rPr>
              <a:t> </a:t>
            </a:r>
            <a:r>
              <a:rPr lang="bg-BG" sz="2200">
                <a:solidFill>
                  <a:schemeClr val="accent2"/>
                </a:solidFill>
              </a:rPr>
              <a:t> </a:t>
            </a:r>
            <a:r>
              <a:rPr lang="en-US" sz="2200">
                <a:solidFill>
                  <a:schemeClr val="accent2"/>
                </a:solidFill>
              </a:rPr>
              <a:t> </a:t>
            </a:r>
            <a:r>
              <a:rPr lang="bg-BG" sz="2200">
                <a:solidFill>
                  <a:schemeClr val="accent2"/>
                </a:solidFill>
              </a:rPr>
              <a:t>  	</a:t>
            </a:r>
            <a:r>
              <a:rPr lang="bg-BG" sz="2200">
                <a:solidFill>
                  <a:schemeClr val="tx1"/>
                </a:solidFill>
              </a:rPr>
              <a:t>Лента 2:</a:t>
            </a:r>
            <a:br>
              <a:rPr lang="bg-BG" sz="2200">
                <a:solidFill>
                  <a:schemeClr val="tx1"/>
                </a:solidFill>
              </a:rPr>
            </a:br>
            <a:r>
              <a:rPr lang="en-US" sz="2200">
                <a:solidFill>
                  <a:schemeClr val="tx1"/>
                </a:solidFill>
              </a:rPr>
              <a:t/>
            </a:r>
            <a:br>
              <a:rPr lang="en-US" sz="2200">
                <a:solidFill>
                  <a:schemeClr val="tx1"/>
                </a:solidFill>
              </a:rPr>
            </a:br>
            <a:r>
              <a:rPr lang="bg-BG" sz="2200">
                <a:solidFill>
                  <a:schemeClr val="tx1"/>
                </a:solidFill>
              </a:rPr>
              <a:t>Окончателен резултат</a:t>
            </a:r>
            <a:r>
              <a:rPr lang="en-US" sz="2200">
                <a:solidFill>
                  <a:schemeClr val="tx1"/>
                </a:solidFill>
              </a:rPr>
              <a:t>  (</a:t>
            </a:r>
            <a:r>
              <a:rPr lang="bg-BG" sz="2200">
                <a:solidFill>
                  <a:schemeClr val="tx1"/>
                </a:solidFill>
              </a:rPr>
              <a:t>Лента </a:t>
            </a:r>
            <a:r>
              <a:rPr lang="en-US" sz="2200">
                <a:solidFill>
                  <a:schemeClr val="tx1"/>
                </a:solidFill>
              </a:rPr>
              <a:t>3)</a:t>
            </a:r>
            <a:r>
              <a:rPr lang="bg-BG" sz="2200">
                <a:solidFill>
                  <a:schemeClr val="tx1"/>
                </a:solidFill>
              </a:rPr>
              <a:t>:  </a:t>
            </a:r>
            <a:r>
              <a:rPr lang="en-US" sz="2200">
                <a:solidFill>
                  <a:schemeClr val="tx1"/>
                </a:solidFill>
              </a:rPr>
              <a:t> </a:t>
            </a:r>
            <a:br>
              <a:rPr lang="en-US" sz="2200">
                <a:solidFill>
                  <a:schemeClr val="tx1"/>
                </a:solidFill>
              </a:rPr>
            </a:br>
            <a:r>
              <a:rPr lang="en-US" sz="2200">
                <a:solidFill>
                  <a:schemeClr val="tx1"/>
                </a:solidFill>
              </a:rPr>
              <a:t>    </a:t>
            </a:r>
            <a:r>
              <a:rPr lang="en-US" sz="2200">
                <a:solidFill>
                  <a:srgbClr val="C00000"/>
                </a:solidFill>
              </a:rPr>
              <a:t>aaabbddeeeeeeeeefhhhhhiikkllmnnooooooooprrrrsssssstttttuuuuvyy</a:t>
            </a:r>
          </a:p>
        </p:txBody>
      </p:sp>
      <p:sp>
        <p:nvSpPr>
          <p:cNvPr id="63491" name="Line 3"/>
          <p:cNvSpPr>
            <a:spLocks noChangeShapeType="1"/>
          </p:cNvSpPr>
          <p:nvPr/>
        </p:nvSpPr>
        <p:spPr bwMode="auto">
          <a:xfrm flipH="1">
            <a:off x="2514600" y="2590800"/>
            <a:ext cx="304800" cy="457200"/>
          </a:xfrm>
          <a:prstGeom prst="line">
            <a:avLst/>
          </a:prstGeom>
          <a:noFill/>
          <a:ln w="9525">
            <a:solidFill>
              <a:srgbClr val="FF0000"/>
            </a:solidFill>
            <a:round/>
            <a:headEnd/>
            <a:tailEnd type="triangle" w="med" len="med"/>
          </a:ln>
        </p:spPr>
        <p:txBody>
          <a:bodyPr wrap="none" anchor="ctr"/>
          <a:lstStyle/>
          <a:p>
            <a:endParaRPr lang="bg-BG"/>
          </a:p>
        </p:txBody>
      </p:sp>
      <p:sp>
        <p:nvSpPr>
          <p:cNvPr id="63492" name="Line 4"/>
          <p:cNvSpPr>
            <a:spLocks noChangeShapeType="1"/>
          </p:cNvSpPr>
          <p:nvPr/>
        </p:nvSpPr>
        <p:spPr bwMode="auto">
          <a:xfrm>
            <a:off x="2667000" y="1905000"/>
            <a:ext cx="990600" cy="457200"/>
          </a:xfrm>
          <a:prstGeom prst="line">
            <a:avLst/>
          </a:prstGeom>
          <a:noFill/>
          <a:ln w="9525">
            <a:solidFill>
              <a:srgbClr val="FF0000"/>
            </a:solidFill>
            <a:round/>
            <a:headEnd/>
            <a:tailEnd type="triangle" w="med" len="med"/>
          </a:ln>
        </p:spPr>
        <p:txBody>
          <a:bodyPr wrap="none" anchor="ctr"/>
          <a:lstStyle/>
          <a:p>
            <a:endParaRPr lang="bg-BG"/>
          </a:p>
        </p:txBody>
      </p:sp>
      <p:sp>
        <p:nvSpPr>
          <p:cNvPr id="7" name="Slide Number Placeholder 6"/>
          <p:cNvSpPr>
            <a:spLocks noGrp="1"/>
          </p:cNvSpPr>
          <p:nvPr>
            <p:ph type="sldNum" sz="quarter" idx="12"/>
          </p:nvPr>
        </p:nvSpPr>
        <p:spPr/>
        <p:txBody>
          <a:bodyPr/>
          <a:lstStyle/>
          <a:p>
            <a:pPr>
              <a:defRPr/>
            </a:pPr>
            <a:fld id="{17D2E032-7030-4AB5-9D69-0A0035CB2D99}" type="slidenum">
              <a:rPr lang="en-US"/>
              <a:pPr>
                <a:defRPr/>
              </a:pPr>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116013" y="620713"/>
            <a:ext cx="7794625" cy="6237287"/>
          </a:xfrm>
        </p:spPr>
        <p:txBody>
          <a:bodyPr>
            <a:normAutofit fontScale="90000"/>
          </a:bodyPr>
          <a:lstStyle/>
          <a:p>
            <a:pPr eaLnBrk="1" fontAlgn="auto" hangingPunct="1">
              <a:lnSpc>
                <a:spcPct val="120000"/>
              </a:lnSpc>
              <a:spcAft>
                <a:spcPts val="0"/>
              </a:spcAft>
              <a:defRPr/>
            </a:pPr>
            <a:r>
              <a:rPr lang="en-US" sz="2000" b="1">
                <a:solidFill>
                  <a:schemeClr val="tx1"/>
                </a:solidFill>
              </a:rPr>
              <a:t>		     </a:t>
            </a:r>
            <a:r>
              <a:rPr lang="bg-BG" sz="2000" b="1">
                <a:solidFill>
                  <a:schemeClr val="tx1"/>
                </a:solidFill>
              </a:rPr>
              <a:t>АЛГОРИТМИ  ЗА  ТЪРСЕНЕ</a:t>
            </a:r>
            <a:br>
              <a:rPr lang="bg-BG" sz="2000" b="1">
                <a:solidFill>
                  <a:schemeClr val="tx1"/>
                </a:solidFill>
              </a:rPr>
            </a:br>
            <a:r>
              <a:rPr lang="bg-BG" sz="2200" b="1">
                <a:solidFill>
                  <a:schemeClr val="tx1"/>
                </a:solidFill>
              </a:rPr>
              <a:t/>
            </a:r>
            <a:br>
              <a:rPr lang="bg-BG" sz="2200" b="1">
                <a:solidFill>
                  <a:schemeClr val="tx1"/>
                </a:solidFill>
              </a:rPr>
            </a:br>
            <a:r>
              <a:rPr lang="bg-BG" sz="2200" b="1">
                <a:solidFill>
                  <a:schemeClr val="tx1"/>
                </a:solidFill>
              </a:rPr>
              <a:t>	</a:t>
            </a:r>
            <a:r>
              <a:rPr lang="bg-BG" sz="2200">
                <a:solidFill>
                  <a:schemeClr val="tx1"/>
                </a:solidFill>
              </a:rPr>
              <a:t>Алгоритмите за търсене, също както и разгледаните алгоритми за сортиране, се явяват най-често срещани съставни части на системно и потребителско програмно осигуряване. </a:t>
            </a:r>
            <a:r>
              <a:rPr lang="bg-BG" sz="2200" i="1">
                <a:solidFill>
                  <a:schemeClr val="tx1"/>
                </a:solidFill>
              </a:rPr>
              <a:t>Търсенето</a:t>
            </a:r>
            <a:r>
              <a:rPr lang="bg-BG" sz="2200">
                <a:solidFill>
                  <a:schemeClr val="tx1"/>
                </a:solidFill>
              </a:rPr>
              <a:t> е процес на преглеждане на неподредена или подредена по определен ключ или ключове съвкупност от данни. Търсенето, както и сортирането на данни, може да бъде вътрешно, когато данните са разположени в оперативната памет, и външно, когато данните или част от тях се намира на някакъв външен носител.</a:t>
            </a:r>
            <a:br>
              <a:rPr lang="bg-BG" sz="2200">
                <a:solidFill>
                  <a:schemeClr val="tx1"/>
                </a:solidFill>
              </a:rPr>
            </a:br>
            <a:r>
              <a:rPr lang="bg-BG" sz="2200">
                <a:solidFill>
                  <a:schemeClr val="tx1"/>
                </a:solidFill>
              </a:rPr>
              <a:t>	Ние ще се ограничим с разглеждането на алгоритми за вътрешно търсене. Данните в примерите представляват цели числа, организирани в масив, или както е прието да се нарича - в таблица. Таблицата може да бъде подредена или неподредена. </a:t>
            </a:r>
            <a:br>
              <a:rPr lang="bg-BG" sz="2200">
                <a:solidFill>
                  <a:schemeClr val="tx1"/>
                </a:solidFill>
              </a:rPr>
            </a:br>
            <a:r>
              <a:rPr lang="bg-BG" sz="2200">
                <a:solidFill>
                  <a:schemeClr val="tx1"/>
                </a:solidFill>
              </a:rPr>
              <a:t>	Максималната сложност на алгоритмите за търсене е </a:t>
            </a:r>
            <a:r>
              <a:rPr lang="bg-BG" sz="2200" b="1" i="1">
                <a:solidFill>
                  <a:schemeClr val="tx1"/>
                </a:solidFill>
              </a:rPr>
              <a:t>O(n)</a:t>
            </a:r>
            <a:r>
              <a:rPr lang="bg-BG" sz="2200">
                <a:solidFill>
                  <a:schemeClr val="tx1"/>
                </a:solidFill>
              </a:rPr>
              <a:t>. Това е очевидно, т. к. максималният брой необходими сравнения е </a:t>
            </a:r>
            <a:r>
              <a:rPr lang="bg-BG" sz="2200" b="1" i="1">
                <a:solidFill>
                  <a:schemeClr val="tx1"/>
                </a:solidFill>
              </a:rPr>
              <a:t>n</a:t>
            </a:r>
            <a:r>
              <a:rPr lang="bg-BG" sz="2200">
                <a:solidFill>
                  <a:schemeClr val="tx1"/>
                </a:solidFill>
              </a:rPr>
              <a:t>.</a:t>
            </a:r>
            <a:r>
              <a:rPr lang="bg-BG">
                <a:solidFill>
                  <a:schemeClr val="tx1"/>
                </a:solidFill>
              </a:rPr>
              <a:t/>
            </a:r>
            <a:br>
              <a:rPr lang="bg-BG">
                <a:solidFill>
                  <a:schemeClr val="tx1"/>
                </a:solidFill>
              </a:rPr>
            </a:br>
            <a:endParaRPr lang="bg-BG">
              <a:solidFill>
                <a:schemeClr val="tx1"/>
              </a:solidFill>
            </a:endParaRPr>
          </a:p>
        </p:txBody>
      </p:sp>
      <p:sp>
        <p:nvSpPr>
          <p:cNvPr id="5" name="Slide Number Placeholder 4"/>
          <p:cNvSpPr>
            <a:spLocks noGrp="1"/>
          </p:cNvSpPr>
          <p:nvPr>
            <p:ph type="sldNum" sz="quarter" idx="12"/>
          </p:nvPr>
        </p:nvSpPr>
        <p:spPr/>
        <p:txBody>
          <a:bodyPr/>
          <a:lstStyle/>
          <a:p>
            <a:pPr>
              <a:defRPr/>
            </a:pPr>
            <a:fld id="{381232AC-DAC2-4AF4-8CD9-4649462D4CC3}" type="slidenum">
              <a:rPr lang="en-US"/>
              <a:pPr>
                <a:defRPr/>
              </a:pPr>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3"/>
          <p:cNvSpPr>
            <a:spLocks noGrp="1" noChangeArrowheads="1"/>
          </p:cNvSpPr>
          <p:nvPr>
            <p:ph type="title"/>
          </p:nvPr>
        </p:nvSpPr>
        <p:spPr>
          <a:xfrm>
            <a:off x="1116013" y="260350"/>
            <a:ext cx="7848600" cy="6400800"/>
          </a:xfrm>
        </p:spPr>
        <p:txBody>
          <a:bodyPr>
            <a:normAutofit fontScale="90000"/>
          </a:bodyPr>
          <a:lstStyle/>
          <a:p>
            <a:pPr eaLnBrk="1" fontAlgn="auto" hangingPunct="1">
              <a:lnSpc>
                <a:spcPct val="110000"/>
              </a:lnSpc>
              <a:spcAft>
                <a:spcPts val="0"/>
              </a:spcAft>
              <a:defRPr/>
            </a:pPr>
            <a:r>
              <a:rPr lang="en-US" sz="2000" i="1">
                <a:solidFill>
                  <a:schemeClr val="tx1"/>
                </a:solidFill>
              </a:rPr>
              <a:t>1. </a:t>
            </a:r>
            <a:r>
              <a:rPr lang="bg-BG" sz="2000" i="1">
                <a:solidFill>
                  <a:schemeClr val="tx1"/>
                </a:solidFill>
              </a:rPr>
              <a:t>Линейно (последователно) търсене (Linear Search, Sequential Search)</a:t>
            </a:r>
            <a:br>
              <a:rPr lang="bg-BG" sz="2000" i="1">
                <a:solidFill>
                  <a:schemeClr val="tx1"/>
                </a:solidFill>
              </a:rPr>
            </a:br>
            <a:r>
              <a:rPr lang="bg-BG" sz="800">
                <a:solidFill>
                  <a:schemeClr val="tx1"/>
                </a:solidFill>
              </a:rPr>
              <a:t/>
            </a:r>
            <a:br>
              <a:rPr lang="bg-BG" sz="800">
                <a:solidFill>
                  <a:schemeClr val="tx1"/>
                </a:solidFill>
              </a:rPr>
            </a:br>
            <a:r>
              <a:rPr lang="bg-BG" sz="2000">
                <a:solidFill>
                  <a:schemeClr val="tx1"/>
                </a:solidFill>
                <a:latin typeface="Courier New" pitchFamily="49" charset="-52"/>
              </a:rPr>
              <a:t>int seq_search(int a[], int k)</a:t>
            </a:r>
            <a:br>
              <a:rPr lang="bg-BG" sz="2000">
                <a:solidFill>
                  <a:schemeClr val="tx1"/>
                </a:solidFill>
                <a:latin typeface="Courier New" pitchFamily="49" charset="-52"/>
              </a:rPr>
            </a:br>
            <a:r>
              <a:rPr lang="bg-BG" sz="2000">
                <a:solidFill>
                  <a:schemeClr val="tx1"/>
                </a:solidFill>
                <a:latin typeface="Courier New" pitchFamily="49" charset="-52"/>
              </a:rPr>
              <a:t>// a[] - неподредена последователност от цели числа</a:t>
            </a:r>
            <a:br>
              <a:rPr lang="bg-BG" sz="2000">
                <a:solidFill>
                  <a:schemeClr val="tx1"/>
                </a:solidFill>
                <a:latin typeface="Courier New" pitchFamily="49" charset="-52"/>
              </a:rPr>
            </a:br>
            <a:r>
              <a:rPr lang="bg-BG" sz="2000">
                <a:solidFill>
                  <a:schemeClr val="tx1"/>
                </a:solidFill>
                <a:latin typeface="Courier New" pitchFamily="49" charset="-52"/>
              </a:rPr>
              <a:t>// k - търсената стойност</a:t>
            </a:r>
            <a:br>
              <a:rPr lang="bg-BG" sz="2000">
                <a:solidFill>
                  <a:schemeClr val="tx1"/>
                </a:solidFill>
                <a:latin typeface="Courier New" pitchFamily="49" charset="-52"/>
              </a:rPr>
            </a:br>
            <a:r>
              <a:rPr lang="bg-BG" sz="2000">
                <a:solidFill>
                  <a:schemeClr val="tx1"/>
                </a:solidFill>
                <a:latin typeface="Courier New" pitchFamily="49" charset="-52"/>
              </a:rPr>
              <a:t>{   int i=0;	//работна променлива-индекс </a:t>
            </a:r>
            <a:br>
              <a:rPr lang="bg-BG" sz="2000">
                <a:solidFill>
                  <a:schemeClr val="tx1"/>
                </a:solidFill>
                <a:latin typeface="Courier New" pitchFamily="49" charset="-52"/>
              </a:rPr>
            </a:br>
            <a:r>
              <a:rPr lang="bg-BG" sz="2000">
                <a:solidFill>
                  <a:schemeClr val="tx1"/>
                </a:solidFill>
                <a:latin typeface="Courier New" pitchFamily="49" charset="-52"/>
              </a:rPr>
              <a:t>    while ((a[i]!=k)&amp;&amp;(i&lt;num))  //num - броят на </a:t>
            </a:r>
            <a:br>
              <a:rPr lang="bg-BG" sz="2000">
                <a:solidFill>
                  <a:schemeClr val="tx1"/>
                </a:solidFill>
                <a:latin typeface="Courier New" pitchFamily="49" charset="-52"/>
              </a:rPr>
            </a:br>
            <a:r>
              <a:rPr lang="bg-BG" sz="2000">
                <a:solidFill>
                  <a:schemeClr val="tx1"/>
                </a:solidFill>
                <a:latin typeface="Courier New" pitchFamily="49" charset="-52"/>
              </a:rPr>
              <a:t> 			i++; 	</a:t>
            </a:r>
            <a:r>
              <a:rPr lang="bg-BG" sz="2000" smtClean="0">
                <a:solidFill>
                  <a:schemeClr val="tx1"/>
                </a:solidFill>
                <a:latin typeface="Courier New" pitchFamily="49" charset="-52"/>
              </a:rPr>
              <a:t>     //</a:t>
            </a:r>
            <a:r>
              <a:rPr lang="bg-BG" sz="2000">
                <a:solidFill>
                  <a:schemeClr val="tx1"/>
                </a:solidFill>
                <a:latin typeface="Courier New" pitchFamily="49" charset="-52"/>
              </a:rPr>
              <a:t>елементите  </a:t>
            </a:r>
            <a:br>
              <a:rPr lang="bg-BG" sz="2000">
                <a:solidFill>
                  <a:schemeClr val="tx1"/>
                </a:solidFill>
                <a:latin typeface="Courier New" pitchFamily="49" charset="-52"/>
              </a:rPr>
            </a:br>
            <a:r>
              <a:rPr lang="bg-BG" sz="2000">
                <a:solidFill>
                  <a:schemeClr val="tx1"/>
                </a:solidFill>
                <a:latin typeface="Courier New" pitchFamily="49" charset="-52"/>
              </a:rPr>
              <a:t>    if (a[i]==k)      return 1; //елементът е намерен	 </a:t>
            </a:r>
            <a:br>
              <a:rPr lang="bg-BG" sz="2000">
                <a:solidFill>
                  <a:schemeClr val="tx1"/>
                </a:solidFill>
                <a:latin typeface="Courier New" pitchFamily="49" charset="-52"/>
              </a:rPr>
            </a:br>
            <a:r>
              <a:rPr lang="bg-BG" sz="2000">
                <a:solidFill>
                  <a:schemeClr val="tx1"/>
                </a:solidFill>
                <a:latin typeface="Courier New" pitchFamily="49" charset="-52"/>
              </a:rPr>
              <a:t>       else return 0;	     </a:t>
            </a:r>
            <a:r>
              <a:rPr lang="bg-BG" sz="2000" smtClean="0">
                <a:solidFill>
                  <a:schemeClr val="tx1"/>
                </a:solidFill>
                <a:latin typeface="Courier New" pitchFamily="49" charset="-52"/>
              </a:rPr>
              <a:t>//</a:t>
            </a:r>
            <a:r>
              <a:rPr lang="bg-BG" sz="2000">
                <a:solidFill>
                  <a:schemeClr val="tx1"/>
                </a:solidFill>
                <a:latin typeface="Courier New" pitchFamily="49" charset="-52"/>
              </a:rPr>
              <a:t>елементът не е намерен</a:t>
            </a:r>
            <a:br>
              <a:rPr lang="bg-BG" sz="2000">
                <a:solidFill>
                  <a:schemeClr val="tx1"/>
                </a:solidFill>
                <a:latin typeface="Courier New" pitchFamily="49" charset="-52"/>
              </a:rPr>
            </a:br>
            <a:r>
              <a:rPr lang="bg-BG" sz="2000">
                <a:solidFill>
                  <a:schemeClr val="tx1"/>
                </a:solidFill>
                <a:latin typeface="Courier New" pitchFamily="49" charset="-52"/>
              </a:rPr>
              <a:t>}</a:t>
            </a:r>
            <a:r>
              <a:rPr lang="bg-BG" sz="2000">
                <a:solidFill>
                  <a:schemeClr val="tx2">
                    <a:satMod val="130000"/>
                  </a:schemeClr>
                </a:solidFill>
                <a:latin typeface="Courier New" pitchFamily="49" charset="-52"/>
              </a:rPr>
              <a:t/>
            </a:r>
            <a:br>
              <a:rPr lang="bg-BG" sz="2000">
                <a:solidFill>
                  <a:schemeClr val="tx2">
                    <a:satMod val="130000"/>
                  </a:schemeClr>
                </a:solidFill>
                <a:latin typeface="Courier New" pitchFamily="49" charset="-52"/>
              </a:rPr>
            </a:br>
            <a:r>
              <a:rPr lang="bg-BG" sz="2000">
                <a:solidFill>
                  <a:schemeClr val="tx2">
                    <a:satMod val="130000"/>
                  </a:schemeClr>
                </a:solidFill>
                <a:latin typeface="Courier New" pitchFamily="49" charset="-52"/>
              </a:rPr>
              <a:t>	</a:t>
            </a:r>
            <a:r>
              <a:rPr lang="bg-BG" sz="2000">
                <a:solidFill>
                  <a:schemeClr val="tx1"/>
                </a:solidFill>
              </a:rPr>
              <a:t>Ако търсенето е успешно, средният брой на извършваните сравнения е </a:t>
            </a:r>
            <a:r>
              <a:rPr lang="bg-BG" sz="2000" b="1" i="1">
                <a:solidFill>
                  <a:schemeClr val="tx1"/>
                </a:solidFill>
              </a:rPr>
              <a:t>n/2</a:t>
            </a:r>
            <a:r>
              <a:rPr lang="bg-BG" sz="2000">
                <a:solidFill>
                  <a:schemeClr val="tx1"/>
                </a:solidFill>
              </a:rPr>
              <a:t>, ако предположим, че търсеният елемент равновероятно може на се намира на произволно място в масива (</a:t>
            </a:r>
            <a:r>
              <a:rPr lang="bg-BG" sz="2000" b="1" i="1">
                <a:solidFill>
                  <a:schemeClr val="tx1"/>
                </a:solidFill>
              </a:rPr>
              <a:t>n</a:t>
            </a:r>
            <a:r>
              <a:rPr lang="bg-BG" sz="2000">
                <a:solidFill>
                  <a:schemeClr val="tx1"/>
                </a:solidFill>
              </a:rPr>
              <a:t> - броят на елементите в масива). В най-лошия случай са необходими </a:t>
            </a:r>
            <a:r>
              <a:rPr lang="bg-BG" sz="2000" b="1" i="1">
                <a:solidFill>
                  <a:schemeClr val="tx1"/>
                </a:solidFill>
              </a:rPr>
              <a:t>n</a:t>
            </a:r>
            <a:r>
              <a:rPr lang="bg-BG" sz="2000">
                <a:solidFill>
                  <a:schemeClr val="tx1"/>
                </a:solidFill>
              </a:rPr>
              <a:t> операции за сравнение, ако търсенето е неуспешно. </a:t>
            </a:r>
            <a:br>
              <a:rPr lang="bg-BG" sz="2000">
                <a:solidFill>
                  <a:schemeClr val="tx1"/>
                </a:solidFill>
              </a:rPr>
            </a:br>
            <a:r>
              <a:rPr lang="bg-BG" sz="2000">
                <a:solidFill>
                  <a:schemeClr val="tx1"/>
                </a:solidFill>
              </a:rPr>
              <a:t>	Максималната сложност на алгоритъма е </a:t>
            </a:r>
            <a:r>
              <a:rPr lang="bg-BG" sz="2000" b="1" i="1">
                <a:solidFill>
                  <a:schemeClr val="tx1"/>
                </a:solidFill>
              </a:rPr>
              <a:t>O(n)</a:t>
            </a:r>
            <a:r>
              <a:rPr lang="bg-BG" sz="2000">
                <a:solidFill>
                  <a:schemeClr val="tx1"/>
                </a:solidFill>
              </a:rPr>
              <a:t> в случая, ако търсеният елемент е последен или не е включен в таблицата. Минималната сложност е </a:t>
            </a:r>
            <a:r>
              <a:rPr lang="bg-BG" sz="2000" b="1" i="1">
                <a:solidFill>
                  <a:schemeClr val="tx1"/>
                </a:solidFill>
              </a:rPr>
              <a:t>О(1)</a:t>
            </a:r>
            <a:r>
              <a:rPr lang="bg-BG" sz="2000">
                <a:solidFill>
                  <a:schemeClr val="tx1"/>
                </a:solidFill>
              </a:rPr>
              <a:t>, ако търсеният елемент е първи в таблицата.</a:t>
            </a:r>
            <a:br>
              <a:rPr lang="bg-BG" sz="2000">
                <a:solidFill>
                  <a:schemeClr val="tx1"/>
                </a:solidFill>
              </a:rPr>
            </a:br>
            <a:endParaRPr lang="bg-BG" sz="2000">
              <a:solidFill>
                <a:schemeClr val="tx1"/>
              </a:solidFill>
            </a:endParaRPr>
          </a:p>
        </p:txBody>
      </p:sp>
      <p:sp>
        <p:nvSpPr>
          <p:cNvPr id="5" name="Slide Number Placeholder 4"/>
          <p:cNvSpPr>
            <a:spLocks noGrp="1"/>
          </p:cNvSpPr>
          <p:nvPr>
            <p:ph type="sldNum" sz="quarter" idx="12"/>
          </p:nvPr>
        </p:nvSpPr>
        <p:spPr/>
        <p:txBody>
          <a:bodyPr/>
          <a:lstStyle/>
          <a:p>
            <a:pPr>
              <a:defRPr/>
            </a:pPr>
            <a:fld id="{ABAA8DA7-3672-4F22-87CB-7AD9C3771B40}" type="slidenum">
              <a:rPr lang="en-US"/>
              <a:pPr>
                <a:defRPr/>
              </a:pPr>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title"/>
          </p:nvPr>
        </p:nvSpPr>
        <p:spPr>
          <a:xfrm>
            <a:off x="1116013" y="404813"/>
            <a:ext cx="7848600" cy="6019800"/>
          </a:xfrm>
        </p:spPr>
        <p:txBody>
          <a:bodyPr>
            <a:normAutofit fontScale="90000"/>
          </a:bodyPr>
          <a:lstStyle/>
          <a:p>
            <a:pPr eaLnBrk="1" fontAlgn="auto" hangingPunct="1">
              <a:spcAft>
                <a:spcPts val="0"/>
              </a:spcAft>
              <a:defRPr/>
            </a:pPr>
            <a:r>
              <a:rPr lang="en-AU" sz="2200" i="1">
                <a:solidFill>
                  <a:schemeClr val="tx1"/>
                </a:solidFill>
              </a:rPr>
              <a:t>2.</a:t>
            </a:r>
            <a:r>
              <a:rPr lang="en-US" sz="2200" i="1">
                <a:solidFill>
                  <a:schemeClr val="tx1"/>
                </a:solidFill>
              </a:rPr>
              <a:t> </a:t>
            </a:r>
            <a:r>
              <a:rPr lang="bg-BG" sz="2200" i="1">
                <a:solidFill>
                  <a:schemeClr val="tx1"/>
                </a:solidFill>
              </a:rPr>
              <a:t>Линейно (последователно) търсене в подредена таблица (Ordered Table Searching)</a:t>
            </a:r>
            <a:r>
              <a:rPr lang="bg-BG" sz="2000" i="1">
                <a:solidFill>
                  <a:schemeClr val="tx1"/>
                </a:solidFill>
              </a:rPr>
              <a:t/>
            </a:r>
            <a:br>
              <a:rPr lang="bg-BG" sz="2000" i="1">
                <a:solidFill>
                  <a:schemeClr val="tx1"/>
                </a:solidFill>
              </a:rPr>
            </a:br>
            <a:r>
              <a:rPr lang="bg-BG" sz="800">
                <a:solidFill>
                  <a:schemeClr val="tx1"/>
                </a:solidFill>
              </a:rPr>
              <a:t/>
            </a:r>
            <a:br>
              <a:rPr lang="bg-BG" sz="800">
                <a:solidFill>
                  <a:schemeClr val="tx1"/>
                </a:solidFill>
              </a:rPr>
            </a:br>
            <a:r>
              <a:rPr lang="bg-BG" sz="2200">
                <a:solidFill>
                  <a:schemeClr val="tx1"/>
                </a:solidFill>
              </a:rPr>
              <a:t>	Ако таблицата съдържа подредени данни, не е необходимо да се преглежда цялата последователност. Търсенето може да бъде прекратено предварително.</a:t>
            </a:r>
            <a:r>
              <a:rPr lang="bg-BG" sz="2000">
                <a:solidFill>
                  <a:schemeClr val="tx1"/>
                </a:solidFill>
              </a:rPr>
              <a:t/>
            </a:r>
            <a:br>
              <a:rPr lang="bg-BG" sz="2000">
                <a:solidFill>
                  <a:schemeClr val="tx1"/>
                </a:solidFill>
              </a:rPr>
            </a:br>
            <a:r>
              <a:rPr lang="bg-BG" sz="800">
                <a:solidFill>
                  <a:schemeClr val="tx1"/>
                </a:solidFill>
              </a:rPr>
              <a:t/>
            </a:r>
            <a:br>
              <a:rPr lang="bg-BG" sz="800">
                <a:solidFill>
                  <a:schemeClr val="tx1"/>
                </a:solidFill>
              </a:rPr>
            </a:br>
            <a:r>
              <a:rPr lang="bg-BG" sz="2000">
                <a:solidFill>
                  <a:schemeClr val="tx1"/>
                </a:solidFill>
                <a:latin typeface="Courier New" pitchFamily="49" charset="-52"/>
              </a:rPr>
              <a:t>int seq_order_search(int a[], int k) //a[] - подредена</a:t>
            </a:r>
            <a:br>
              <a:rPr lang="bg-BG" sz="2000">
                <a:solidFill>
                  <a:schemeClr val="tx1"/>
                </a:solidFill>
                <a:latin typeface="Courier New" pitchFamily="49" charset="-52"/>
              </a:rPr>
            </a:br>
            <a:r>
              <a:rPr lang="bg-BG" sz="2000">
                <a:solidFill>
                  <a:schemeClr val="tx1"/>
                </a:solidFill>
                <a:latin typeface="Courier New" pitchFamily="49" charset="-52"/>
              </a:rPr>
              <a:t>			    //последователност от цели числа</a:t>
            </a:r>
            <a:br>
              <a:rPr lang="bg-BG" sz="2000">
                <a:solidFill>
                  <a:schemeClr val="tx1"/>
                </a:solidFill>
                <a:latin typeface="Courier New" pitchFamily="49" charset="-52"/>
              </a:rPr>
            </a:br>
            <a:r>
              <a:rPr lang="bg-BG" sz="2000">
                <a:solidFill>
                  <a:schemeClr val="tx1"/>
                </a:solidFill>
                <a:latin typeface="Courier New" pitchFamily="49" charset="-52"/>
              </a:rPr>
              <a:t>                      </a:t>
            </a:r>
            <a:r>
              <a:rPr lang="bg-BG" sz="2000" smtClean="0">
                <a:solidFill>
                  <a:schemeClr val="tx1"/>
                </a:solidFill>
                <a:latin typeface="Courier New" pitchFamily="49" charset="-52"/>
              </a:rPr>
              <a:t>  //</a:t>
            </a:r>
            <a:r>
              <a:rPr lang="bg-BG" sz="2000">
                <a:solidFill>
                  <a:schemeClr val="tx1"/>
                </a:solidFill>
                <a:latin typeface="Courier New" pitchFamily="49" charset="-52"/>
              </a:rPr>
              <a:t>k - търсената стойност</a:t>
            </a:r>
            <a:br>
              <a:rPr lang="bg-BG" sz="2000">
                <a:solidFill>
                  <a:schemeClr val="tx1"/>
                </a:solidFill>
                <a:latin typeface="Courier New" pitchFamily="49" charset="-52"/>
              </a:rPr>
            </a:br>
            <a:r>
              <a:rPr lang="bg-BG" sz="2000">
                <a:solidFill>
                  <a:schemeClr val="tx1"/>
                </a:solidFill>
                <a:latin typeface="Courier New" pitchFamily="49" charset="-52"/>
              </a:rPr>
              <a:t>{   int i=0; 	    </a:t>
            </a:r>
            <a:r>
              <a:rPr lang="bg-BG" sz="2000" smtClean="0">
                <a:solidFill>
                  <a:schemeClr val="tx1"/>
                </a:solidFill>
                <a:latin typeface="Courier New" pitchFamily="49" charset="-52"/>
              </a:rPr>
              <a:t>       //</a:t>
            </a:r>
            <a:r>
              <a:rPr lang="bg-BG" sz="2000">
                <a:solidFill>
                  <a:schemeClr val="tx1"/>
                </a:solidFill>
                <a:latin typeface="Courier New" pitchFamily="49" charset="-52"/>
              </a:rPr>
              <a:t>работна променлива-индекс </a:t>
            </a:r>
            <a:br>
              <a:rPr lang="bg-BG" sz="2000">
                <a:solidFill>
                  <a:schemeClr val="tx1"/>
                </a:solidFill>
                <a:latin typeface="Courier New" pitchFamily="49" charset="-52"/>
              </a:rPr>
            </a:br>
            <a:r>
              <a:rPr lang="bg-BG" sz="2000">
                <a:solidFill>
                  <a:schemeClr val="tx1"/>
                </a:solidFill>
                <a:latin typeface="Courier New" pitchFamily="49" charset="-52"/>
              </a:rPr>
              <a:t>    while ((a[i]&lt;k)&amp;&amp;(i&lt;n)) i++;  </a:t>
            </a:r>
            <a:r>
              <a:rPr lang="bg-BG" sz="2000" smtClean="0">
                <a:solidFill>
                  <a:schemeClr val="tx1"/>
                </a:solidFill>
                <a:latin typeface="Courier New" pitchFamily="49" charset="-52"/>
              </a:rPr>
              <a:t> //</a:t>
            </a:r>
            <a:r>
              <a:rPr lang="bg-BG" sz="2000">
                <a:solidFill>
                  <a:schemeClr val="tx1"/>
                </a:solidFill>
                <a:latin typeface="Courier New" pitchFamily="49" charset="-52"/>
              </a:rPr>
              <a:t>n  - броят на </a:t>
            </a:r>
            <a:br>
              <a:rPr lang="bg-BG" sz="2000">
                <a:solidFill>
                  <a:schemeClr val="tx1"/>
                </a:solidFill>
                <a:latin typeface="Courier New" pitchFamily="49" charset="-52"/>
              </a:rPr>
            </a:br>
            <a:r>
              <a:rPr lang="bg-BG" sz="2000">
                <a:solidFill>
                  <a:schemeClr val="tx1"/>
                </a:solidFill>
                <a:latin typeface="Courier New" pitchFamily="49" charset="-52"/>
              </a:rPr>
              <a:t>    if (a[i]==k) 	    		 </a:t>
            </a:r>
            <a:r>
              <a:rPr lang="bg-BG" sz="2000" smtClean="0">
                <a:solidFill>
                  <a:schemeClr val="tx1"/>
                </a:solidFill>
                <a:latin typeface="Courier New" pitchFamily="49" charset="-52"/>
              </a:rPr>
              <a:t>//</a:t>
            </a:r>
            <a:r>
              <a:rPr lang="bg-BG" sz="2000">
                <a:solidFill>
                  <a:schemeClr val="tx1"/>
                </a:solidFill>
                <a:latin typeface="Courier New" pitchFamily="49" charset="-52"/>
              </a:rPr>
              <a:t>елементите </a:t>
            </a:r>
            <a:br>
              <a:rPr lang="bg-BG" sz="2000">
                <a:solidFill>
                  <a:schemeClr val="tx1"/>
                </a:solidFill>
                <a:latin typeface="Courier New" pitchFamily="49" charset="-52"/>
              </a:rPr>
            </a:br>
            <a:r>
              <a:rPr lang="bg-BG" sz="2000">
                <a:solidFill>
                  <a:schemeClr val="tx1"/>
                </a:solidFill>
                <a:latin typeface="Courier New" pitchFamily="49" charset="-52"/>
              </a:rPr>
              <a:t>        return 1;			 </a:t>
            </a:r>
            <a:r>
              <a:rPr lang="bg-BG" sz="2000" smtClean="0">
                <a:solidFill>
                  <a:schemeClr val="tx1"/>
                </a:solidFill>
                <a:latin typeface="Courier New" pitchFamily="49" charset="-52"/>
              </a:rPr>
              <a:t>//</a:t>
            </a:r>
            <a:r>
              <a:rPr lang="bg-BG" sz="2000">
                <a:solidFill>
                  <a:schemeClr val="tx1"/>
                </a:solidFill>
                <a:latin typeface="Courier New" pitchFamily="49" charset="-52"/>
              </a:rPr>
              <a:t>елементът е намерен</a:t>
            </a:r>
            <a:br>
              <a:rPr lang="bg-BG" sz="2000">
                <a:solidFill>
                  <a:schemeClr val="tx1"/>
                </a:solidFill>
                <a:latin typeface="Courier New" pitchFamily="49" charset="-52"/>
              </a:rPr>
            </a:br>
            <a:r>
              <a:rPr lang="bg-BG" sz="2000">
                <a:solidFill>
                  <a:schemeClr val="tx1"/>
                </a:solidFill>
                <a:latin typeface="Courier New" pitchFamily="49" charset="-52"/>
              </a:rPr>
              <a:t>		else return 0</a:t>
            </a:r>
            <a:r>
              <a:rPr lang="bg-BG" sz="2000" smtClean="0">
                <a:solidFill>
                  <a:schemeClr val="tx1"/>
                </a:solidFill>
                <a:latin typeface="Courier New" pitchFamily="49" charset="-52"/>
              </a:rPr>
              <a:t>;    //</a:t>
            </a:r>
            <a:r>
              <a:rPr lang="bg-BG" sz="2000">
                <a:solidFill>
                  <a:schemeClr val="tx1"/>
                </a:solidFill>
                <a:latin typeface="Courier New" pitchFamily="49" charset="-52"/>
              </a:rPr>
              <a:t>елементът не е намерен</a:t>
            </a:r>
            <a:br>
              <a:rPr lang="bg-BG" sz="2000">
                <a:solidFill>
                  <a:schemeClr val="tx1"/>
                </a:solidFill>
                <a:latin typeface="Courier New" pitchFamily="49" charset="-52"/>
              </a:rPr>
            </a:br>
            <a:r>
              <a:rPr lang="bg-BG" sz="2000">
                <a:solidFill>
                  <a:schemeClr val="tx1"/>
                </a:solidFill>
                <a:latin typeface="Courier New" pitchFamily="49" charset="-52"/>
              </a:rPr>
              <a:t>}</a:t>
            </a:r>
            <a:r>
              <a:rPr lang="bg-BG" sz="2000">
                <a:solidFill>
                  <a:schemeClr val="tx2">
                    <a:satMod val="130000"/>
                  </a:schemeClr>
                </a:solidFill>
                <a:latin typeface="Courier New" pitchFamily="49" charset="-52"/>
              </a:rPr>
              <a:t/>
            </a:r>
            <a:br>
              <a:rPr lang="bg-BG" sz="2000">
                <a:solidFill>
                  <a:schemeClr val="tx2">
                    <a:satMod val="130000"/>
                  </a:schemeClr>
                </a:solidFill>
                <a:latin typeface="Courier New" pitchFamily="49" charset="-52"/>
              </a:rPr>
            </a:br>
            <a:r>
              <a:rPr lang="bg-BG" sz="2000">
                <a:solidFill>
                  <a:schemeClr val="tx2">
                    <a:satMod val="130000"/>
                  </a:schemeClr>
                </a:solidFill>
                <a:latin typeface="Courier New" pitchFamily="49" charset="-52"/>
              </a:rPr>
              <a:t>	</a:t>
            </a:r>
            <a:r>
              <a:rPr lang="bg-BG" sz="2200">
                <a:solidFill>
                  <a:schemeClr val="tx1"/>
                </a:solidFill>
              </a:rPr>
              <a:t>Търсенето се прекратява при достигането на търсения елемент или първия по-голям от него, което означава, че елементът не е включен в таблицата. Броят на необходимите сравнения в случай на неуспешно търсене намалява средно до </a:t>
            </a:r>
            <a:r>
              <a:rPr lang="bg-BG" sz="2200" b="1" i="1">
                <a:solidFill>
                  <a:schemeClr val="tx1"/>
                </a:solidFill>
              </a:rPr>
              <a:t>n/2</a:t>
            </a:r>
            <a:r>
              <a:rPr lang="bg-BG" sz="2200">
                <a:solidFill>
                  <a:schemeClr val="tx1"/>
                </a:solidFill>
                <a:latin typeface="Courier New" pitchFamily="49" charset="-52"/>
              </a:rPr>
              <a:t>.</a:t>
            </a:r>
          </a:p>
        </p:txBody>
      </p:sp>
      <p:sp>
        <p:nvSpPr>
          <p:cNvPr id="5" name="Slide Number Placeholder 4"/>
          <p:cNvSpPr>
            <a:spLocks noGrp="1"/>
          </p:cNvSpPr>
          <p:nvPr>
            <p:ph type="sldNum" sz="quarter" idx="12"/>
          </p:nvPr>
        </p:nvSpPr>
        <p:spPr/>
        <p:txBody>
          <a:bodyPr/>
          <a:lstStyle/>
          <a:p>
            <a:pPr>
              <a:defRPr/>
            </a:pPr>
            <a:fld id="{5684EDE6-4626-4018-91CF-A530251D2194}" type="slidenum">
              <a:rPr lang="en-US"/>
              <a:pPr>
                <a:defRPr/>
              </a:pPr>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3"/>
          <p:cNvSpPr>
            <a:spLocks noGrp="1" noChangeArrowheads="1"/>
          </p:cNvSpPr>
          <p:nvPr>
            <p:ph type="title"/>
          </p:nvPr>
        </p:nvSpPr>
        <p:spPr>
          <a:xfrm>
            <a:off x="1131888" y="260350"/>
            <a:ext cx="8012112" cy="6400800"/>
          </a:xfrm>
        </p:spPr>
        <p:txBody>
          <a:bodyPr>
            <a:normAutofit fontScale="90000"/>
          </a:bodyPr>
          <a:lstStyle/>
          <a:p>
            <a:pPr eaLnBrk="1" fontAlgn="auto" hangingPunct="1">
              <a:spcAft>
                <a:spcPts val="0"/>
              </a:spcAft>
              <a:defRPr/>
            </a:pPr>
            <a:r>
              <a:rPr lang="en-US" sz="2000" i="1">
                <a:solidFill>
                  <a:schemeClr val="tx1"/>
                </a:solidFill>
              </a:rPr>
              <a:t>3. </a:t>
            </a:r>
            <a:r>
              <a:rPr lang="bg-BG" sz="2000" i="1">
                <a:solidFill>
                  <a:schemeClr val="tx1"/>
                </a:solidFill>
              </a:rPr>
              <a:t>Последователно търсене с преподреждане</a:t>
            </a:r>
            <a:br>
              <a:rPr lang="bg-BG" sz="2000" i="1">
                <a:solidFill>
                  <a:schemeClr val="tx1"/>
                </a:solidFill>
              </a:rPr>
            </a:br>
            <a:r>
              <a:rPr lang="bg-BG" sz="800" i="1">
                <a:solidFill>
                  <a:schemeClr val="tx1"/>
                </a:solidFill>
              </a:rPr>
              <a:t/>
            </a:r>
            <a:br>
              <a:rPr lang="bg-BG" sz="800" i="1">
                <a:solidFill>
                  <a:schemeClr val="tx1"/>
                </a:solidFill>
              </a:rPr>
            </a:br>
            <a:r>
              <a:rPr lang="bg-BG" sz="2000" i="1">
                <a:solidFill>
                  <a:schemeClr val="tx1"/>
                </a:solidFill>
              </a:rPr>
              <a:t>	</a:t>
            </a:r>
            <a:r>
              <a:rPr lang="bg-BG" sz="2000">
                <a:solidFill>
                  <a:schemeClr val="tx1"/>
                </a:solidFill>
              </a:rPr>
              <a:t>Ако разполагаме с предварителна информация  относно вероятността за достъп до всеки от елементите, бихме могли да ги подредим така, че най-често търсеният да бъде в началото на масива, следващия - непосредствено след него и т. н. Използването на подобна стратегия е особено ефективно при силно неравномерно разпределение, при което малък брой елементи се търсят с много голяма вероятност.</a:t>
            </a:r>
            <a:br>
              <a:rPr lang="bg-BG" sz="2000">
                <a:solidFill>
                  <a:schemeClr val="tx1"/>
                </a:solidFill>
              </a:rPr>
            </a:br>
            <a:r>
              <a:rPr lang="bg-BG" sz="2000">
                <a:solidFill>
                  <a:schemeClr val="tx1"/>
                </a:solidFill>
              </a:rPr>
              <a:t>	В случай, че не разполагаме с такава предварителна информация, бихме могли сами да си я получим с помощта на прости статистически наблюдения: достатъчно е към всеки елемент да добавим брояч на достъп до него. При всяко ново търсене ще актуализираме брояча на търсения елемент. Елементите са наредени по своите броячи, така след актуализацията </a:t>
            </a:r>
            <a:br>
              <a:rPr lang="bg-BG" sz="2000">
                <a:solidFill>
                  <a:schemeClr val="tx1"/>
                </a:solidFill>
              </a:rPr>
            </a:br>
            <a:r>
              <a:rPr lang="bg-BG" sz="2000">
                <a:solidFill>
                  <a:schemeClr val="tx1"/>
                </a:solidFill>
              </a:rPr>
              <a:t>той ще мине по-напред в списъка. Т. к. в списъка може да има многократно дублиране на честотите на достъп, в случай на размяна се налага съответно сравнение и със съседните елементи, докато се намери точната позиция, съответстваща на новата честота на елемента. Реорганизацията става за време, пропорционално на </a:t>
            </a:r>
            <a:r>
              <a:rPr lang="en-US" sz="2000" b="1" i="1">
                <a:solidFill>
                  <a:schemeClr val="tx1"/>
                </a:solidFill>
              </a:rPr>
              <a:t>n</a:t>
            </a:r>
            <a:r>
              <a:rPr lang="bg-BG" sz="2000">
                <a:solidFill>
                  <a:schemeClr val="tx1"/>
                </a:solidFill>
              </a:rPr>
              <a:t>, като в най-лошия случай може да се наложи последния елемент в масива да стане първи, разменяйки се последователно с всички преди него</a:t>
            </a:r>
            <a:r>
              <a:rPr lang="en-US" sz="2000">
                <a:solidFill>
                  <a:schemeClr val="tx1"/>
                </a:solidFill>
              </a:rPr>
              <a:t>. </a:t>
            </a:r>
            <a:r>
              <a:rPr lang="bg-BG" sz="2000" smtClean="0">
                <a:solidFill>
                  <a:schemeClr val="tx1"/>
                </a:solidFill>
              </a:rPr>
              <a:t> Повече </a:t>
            </a:r>
            <a:r>
              <a:rPr lang="bg-BG" sz="2000">
                <a:solidFill>
                  <a:schemeClr val="tx1"/>
                </a:solidFill>
              </a:rPr>
              <a:t>информация -  </a:t>
            </a:r>
            <a:r>
              <a:rPr lang="bg-BG" sz="2000">
                <a:solidFill>
                  <a:srgbClr val="C00000"/>
                </a:solidFill>
              </a:rPr>
              <a:t>Н. Уирт. </a:t>
            </a:r>
            <a:r>
              <a:rPr lang="bg-BG" sz="2000" i="1">
                <a:solidFill>
                  <a:srgbClr val="C00000"/>
                </a:solidFill>
              </a:rPr>
              <a:t>“Алгоритми + Структури от данни = Програми”,</a:t>
            </a:r>
            <a:r>
              <a:rPr lang="bg-BG" sz="2000">
                <a:solidFill>
                  <a:srgbClr val="C00000"/>
                </a:solidFill>
              </a:rPr>
              <a:t> Техника, 1988</a:t>
            </a:r>
            <a:r>
              <a:rPr lang="en-US" sz="2000">
                <a:solidFill>
                  <a:srgbClr val="C00000"/>
                </a:solidFill>
              </a:rPr>
              <a:t>.</a:t>
            </a:r>
          </a:p>
        </p:txBody>
      </p:sp>
      <p:sp>
        <p:nvSpPr>
          <p:cNvPr id="5" name="Slide Number Placeholder 4"/>
          <p:cNvSpPr>
            <a:spLocks noGrp="1"/>
          </p:cNvSpPr>
          <p:nvPr>
            <p:ph type="sldNum" sz="quarter" idx="12"/>
          </p:nvPr>
        </p:nvSpPr>
        <p:spPr/>
        <p:txBody>
          <a:bodyPr/>
          <a:lstStyle/>
          <a:p>
            <a:pPr>
              <a:defRPr/>
            </a:pPr>
            <a:fld id="{C4EF6215-9044-4B0A-979F-BA549BD24D1B}" type="slidenum">
              <a:rPr lang="en-US"/>
              <a:pPr>
                <a:defRPr/>
              </a:pPr>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p:cNvSpPr>
            <a:spLocks noGrp="1" noChangeArrowheads="1"/>
          </p:cNvSpPr>
          <p:nvPr>
            <p:ph type="title"/>
          </p:nvPr>
        </p:nvSpPr>
        <p:spPr>
          <a:xfrm>
            <a:off x="1116013" y="152400"/>
            <a:ext cx="7799387" cy="6477000"/>
          </a:xfrm>
        </p:spPr>
        <p:txBody>
          <a:bodyPr/>
          <a:lstStyle/>
          <a:p>
            <a:pPr eaLnBrk="1" fontAlgn="auto" hangingPunct="1">
              <a:spcAft>
                <a:spcPts val="0"/>
              </a:spcAft>
              <a:defRPr/>
            </a:pPr>
            <a:r>
              <a:rPr lang="en-US" sz="2000">
                <a:solidFill>
                  <a:schemeClr val="tx2">
                    <a:satMod val="130000"/>
                  </a:schemeClr>
                </a:solidFill>
              </a:rPr>
              <a:t>	</a:t>
            </a:r>
            <a:r>
              <a:rPr lang="bg-BG" sz="2000">
                <a:solidFill>
                  <a:schemeClr val="tx1"/>
                </a:solidFill>
              </a:rPr>
              <a:t>Предложената схема с поддържане на броячи е доста тромава и изисква допълнителна памет от порядъка на </a:t>
            </a:r>
            <a:r>
              <a:rPr lang="en-AU" sz="2000" b="1" i="1">
                <a:solidFill>
                  <a:schemeClr val="tx1"/>
                </a:solidFill>
              </a:rPr>
              <a:t>n</a:t>
            </a:r>
            <a:r>
              <a:rPr lang="bg-BG" sz="2000">
                <a:solidFill>
                  <a:schemeClr val="tx1"/>
                </a:solidFill>
                <a:latin typeface="Courier New" pitchFamily="49" charset="-52"/>
              </a:rPr>
              <a:t>,</a:t>
            </a:r>
            <a:r>
              <a:rPr lang="bg-BG" sz="2000">
                <a:solidFill>
                  <a:schemeClr val="tx1"/>
                </a:solidFill>
              </a:rPr>
              <a:t>но тя би могла да се оптимизира. В този случай се оказва изключително ефективно прилагането на една проста стратегия за реорганизация, не изискваща поддържане на броячи и водене на статистика. Вместо това, при всяко успешно търсене на елемент той се поставя в началото на масива. Разбира се, тази стратегия не ни гарантира оптимално подреждане на елементите съгласно честотата им на достъп, но пък е лесна за поддържане и достатъчно ефективна. Реорганизацията на масива става сравнително бързо, и колкото по-често е осъществяван достъп до даден елемент, с толкова по-голяма вероятност той ще се намира сред първите елементи на масива:</a:t>
            </a:r>
            <a:r>
              <a:rPr lang="bg-BG" sz="1000">
                <a:solidFill>
                  <a:schemeClr val="tx1"/>
                </a:solidFill>
              </a:rPr>
              <a:t/>
            </a:r>
            <a:br>
              <a:rPr lang="bg-BG" sz="1000">
                <a:solidFill>
                  <a:schemeClr val="tx1"/>
                </a:solidFill>
              </a:rPr>
            </a:br>
            <a:r>
              <a:rPr lang="bg-BG" sz="1000">
                <a:solidFill>
                  <a:schemeClr val="tx1"/>
                </a:solidFill>
              </a:rPr>
              <a:t/>
            </a:r>
            <a:br>
              <a:rPr lang="bg-BG" sz="1000">
                <a:solidFill>
                  <a:schemeClr val="tx1"/>
                </a:solidFill>
              </a:rPr>
            </a:br>
            <a:r>
              <a:rPr lang="en-US" sz="2000" i="1">
                <a:solidFill>
                  <a:schemeClr val="tx1"/>
                </a:solidFill>
              </a:rPr>
              <a:t>int search_reordering(int a[], int k)</a:t>
            </a:r>
            <a:br>
              <a:rPr lang="en-US" sz="2000" i="1">
                <a:solidFill>
                  <a:schemeClr val="tx1"/>
                </a:solidFill>
              </a:rPr>
            </a:br>
            <a:r>
              <a:rPr lang="en-US" sz="2000" i="1">
                <a:solidFill>
                  <a:schemeClr val="tx1"/>
                </a:solidFill>
              </a:rPr>
              <a:t>{ </a:t>
            </a:r>
            <a:br>
              <a:rPr lang="en-US" sz="2000" i="1">
                <a:solidFill>
                  <a:schemeClr val="tx1"/>
                </a:solidFill>
              </a:rPr>
            </a:br>
            <a:r>
              <a:rPr lang="en-US" sz="2000" i="1">
                <a:solidFill>
                  <a:schemeClr val="tx1"/>
                </a:solidFill>
              </a:rPr>
              <a:t>   int rab, i=0;</a:t>
            </a:r>
            <a:br>
              <a:rPr lang="en-US" sz="2000" i="1">
                <a:solidFill>
                  <a:schemeClr val="tx1"/>
                </a:solidFill>
              </a:rPr>
            </a:br>
            <a:r>
              <a:rPr lang="en-US" sz="2000" i="1">
                <a:solidFill>
                  <a:schemeClr val="tx1"/>
                </a:solidFill>
              </a:rPr>
              <a:t>   while ((a[i]!=k)&amp;&amp;(i&lt;num)) i++;</a:t>
            </a:r>
            <a:br>
              <a:rPr lang="en-US" sz="2000" i="1">
                <a:solidFill>
                  <a:schemeClr val="tx1"/>
                </a:solidFill>
              </a:rPr>
            </a:br>
            <a:r>
              <a:rPr lang="en-US" sz="2000" i="1">
                <a:solidFill>
                  <a:schemeClr val="tx1"/>
                </a:solidFill>
              </a:rPr>
              <a:t>   if (a[i]==k)</a:t>
            </a:r>
            <a:br>
              <a:rPr lang="en-US" sz="2000" i="1">
                <a:solidFill>
                  <a:schemeClr val="tx1"/>
                </a:solidFill>
              </a:rPr>
            </a:br>
            <a:r>
              <a:rPr lang="en-US" sz="2000" i="1">
                <a:solidFill>
                  <a:schemeClr val="tx1"/>
                </a:solidFill>
              </a:rPr>
              <a:t>      {rab=a[0]; a[0]=a[i]; a[i]=rab; return </a:t>
            </a:r>
            <a:r>
              <a:rPr lang="en-US" sz="2000" i="1">
                <a:solidFill>
                  <a:schemeClr val="tx1"/>
                </a:solidFill>
                <a:latin typeface="Arial" pitchFamily="34" charset="0"/>
                <a:cs typeface="Arial" pitchFamily="34" charset="0"/>
              </a:rPr>
              <a:t>1</a:t>
            </a:r>
            <a:r>
              <a:rPr lang="en-US" sz="2000" i="1">
                <a:solidFill>
                  <a:schemeClr val="tx1"/>
                </a:solidFill>
              </a:rPr>
              <a:t>;} </a:t>
            </a:r>
            <a:br>
              <a:rPr lang="en-US" sz="2000" i="1">
                <a:solidFill>
                  <a:schemeClr val="tx1"/>
                </a:solidFill>
              </a:rPr>
            </a:br>
            <a:r>
              <a:rPr lang="en-US" sz="2000" i="1">
                <a:solidFill>
                  <a:schemeClr val="tx1"/>
                </a:solidFill>
              </a:rPr>
              <a:t>     else   return 0;</a:t>
            </a:r>
            <a:br>
              <a:rPr lang="en-US" sz="2000" i="1">
                <a:solidFill>
                  <a:schemeClr val="tx1"/>
                </a:solidFill>
              </a:rPr>
            </a:br>
            <a:r>
              <a:rPr lang="en-US" sz="2000" i="1">
                <a:solidFill>
                  <a:schemeClr val="tx1"/>
                </a:solidFill>
              </a:rPr>
              <a:t>}</a:t>
            </a:r>
            <a:r>
              <a:rPr lang="en-US" sz="2000">
                <a:solidFill>
                  <a:schemeClr val="tx1"/>
                </a:solidFill>
              </a:rPr>
              <a:t>    </a:t>
            </a:r>
            <a:r>
              <a:rPr lang="bg-BG" sz="2000">
                <a:solidFill>
                  <a:schemeClr val="tx1"/>
                </a:solidFill>
              </a:rPr>
              <a:t>  </a:t>
            </a:r>
            <a:endParaRPr lang="en-US" sz="2000" b="1">
              <a:solidFill>
                <a:schemeClr val="tx1"/>
              </a:solidFill>
              <a:latin typeface="Courier New" pitchFamily="49" charset="-52"/>
            </a:endParaRPr>
          </a:p>
        </p:txBody>
      </p:sp>
      <p:sp>
        <p:nvSpPr>
          <p:cNvPr id="5" name="Slide Number Placeholder 4"/>
          <p:cNvSpPr>
            <a:spLocks noGrp="1"/>
          </p:cNvSpPr>
          <p:nvPr>
            <p:ph type="sldNum" sz="quarter" idx="12"/>
          </p:nvPr>
        </p:nvSpPr>
        <p:spPr/>
        <p:txBody>
          <a:bodyPr/>
          <a:lstStyle/>
          <a:p>
            <a:pPr>
              <a:defRPr/>
            </a:pPr>
            <a:fld id="{502D3CFF-9B78-458D-B0CD-E9C194F3728A}" type="slidenum">
              <a:rPr lang="en-US"/>
              <a:pPr>
                <a:defRPr/>
              </a:pPr>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116013" y="0"/>
            <a:ext cx="7794625" cy="6477000"/>
          </a:xfrm>
        </p:spPr>
        <p:txBody>
          <a:bodyPr>
            <a:normAutofit fontScale="90000"/>
          </a:bodyPr>
          <a:lstStyle/>
          <a:p>
            <a:pPr eaLnBrk="1" fontAlgn="auto" hangingPunct="1">
              <a:spcAft>
                <a:spcPts val="0"/>
              </a:spcAft>
              <a:defRPr/>
            </a:pPr>
            <a:r>
              <a:rPr lang="en-US" sz="2000" i="1">
                <a:solidFill>
                  <a:schemeClr val="tx1"/>
                </a:solidFill>
              </a:rPr>
              <a:t>4. </a:t>
            </a:r>
            <a:r>
              <a:rPr lang="bg-BG" sz="2000" i="1">
                <a:solidFill>
                  <a:schemeClr val="tx1"/>
                </a:solidFill>
              </a:rPr>
              <a:t>Търсене със стъпка. Квадратично търсене</a:t>
            </a:r>
            <a:br>
              <a:rPr lang="bg-BG" sz="2000" i="1">
                <a:solidFill>
                  <a:schemeClr val="tx1"/>
                </a:solidFill>
              </a:rPr>
            </a:br>
            <a:r>
              <a:rPr lang="bg-BG" sz="800" i="1">
                <a:solidFill>
                  <a:schemeClr val="tx1"/>
                </a:solidFill>
              </a:rPr>
              <a:t/>
            </a:r>
            <a:br>
              <a:rPr lang="bg-BG" sz="800" i="1">
                <a:solidFill>
                  <a:schemeClr val="tx1"/>
                </a:solidFill>
              </a:rPr>
            </a:br>
            <a:r>
              <a:rPr lang="bg-BG" sz="2000" i="1">
                <a:solidFill>
                  <a:schemeClr val="tx1"/>
                </a:solidFill>
              </a:rPr>
              <a:t>	</a:t>
            </a:r>
            <a:r>
              <a:rPr lang="bg-BG" sz="2000">
                <a:solidFill>
                  <a:schemeClr val="tx1"/>
                </a:solidFill>
              </a:rPr>
              <a:t>Ако сравним</a:t>
            </a:r>
            <a:r>
              <a:rPr lang="bg-BG" sz="2000" i="1">
                <a:solidFill>
                  <a:schemeClr val="tx1"/>
                </a:solidFill>
              </a:rPr>
              <a:t>  </a:t>
            </a:r>
            <a:r>
              <a:rPr lang="bg-BG" sz="2000">
                <a:solidFill>
                  <a:schemeClr val="tx1"/>
                </a:solidFill>
              </a:rPr>
              <a:t>първите два алгоритъма за търсене (последователно търсене и последователно търсене в подреден масив/таблица), то може да се каже, че вторият алгоритъм не използва достатъчно пълноценно наредбата на елементите. Ще поправим тази грешка, възприемайки следния подход. Нека изберем някаква стъпка  </a:t>
            </a:r>
            <a:r>
              <a:rPr lang="en-US" sz="2000" b="1" i="1">
                <a:solidFill>
                  <a:schemeClr val="tx1"/>
                </a:solidFill>
              </a:rPr>
              <a:t>k</a:t>
            </a:r>
            <a:r>
              <a:rPr lang="bg-BG" sz="2000">
                <a:solidFill>
                  <a:schemeClr val="tx1"/>
                </a:solidFill>
              </a:rPr>
              <a:t>  и последователно извършим проверка дали търсеният елемент е по-голям от първия елемент в масива, от (</a:t>
            </a:r>
            <a:r>
              <a:rPr lang="en-US" sz="2000" b="1" i="1">
                <a:solidFill>
                  <a:schemeClr val="tx1"/>
                </a:solidFill>
              </a:rPr>
              <a:t>k</a:t>
            </a:r>
            <a:r>
              <a:rPr lang="bg-BG" sz="2000">
                <a:solidFill>
                  <a:schemeClr val="tx1"/>
                </a:solidFill>
              </a:rPr>
              <a:t> +1)-ия елемент, от (2</a:t>
            </a:r>
            <a:r>
              <a:rPr lang="en-US" sz="2000" b="1" i="1">
                <a:solidFill>
                  <a:schemeClr val="tx1"/>
                </a:solidFill>
              </a:rPr>
              <a:t>k</a:t>
            </a:r>
            <a:r>
              <a:rPr lang="bg-BG" sz="2000">
                <a:solidFill>
                  <a:schemeClr val="tx1"/>
                </a:solidFill>
              </a:rPr>
              <a:t> +1)-ия елемент, от (3</a:t>
            </a:r>
            <a:r>
              <a:rPr lang="en-US" sz="2000" b="1" i="1">
                <a:solidFill>
                  <a:schemeClr val="tx1"/>
                </a:solidFill>
              </a:rPr>
              <a:t>k</a:t>
            </a:r>
            <a:r>
              <a:rPr lang="bg-BG" sz="2000">
                <a:solidFill>
                  <a:schemeClr val="tx1"/>
                </a:solidFill>
              </a:rPr>
              <a:t> +1)-ия елемент и т. н. Процесът приключва  при достигане на елемент, по-голям или равен на търсения </a:t>
            </a:r>
            <a:r>
              <a:rPr lang="en-US" sz="2000" b="1" i="1">
                <a:solidFill>
                  <a:schemeClr val="tx1"/>
                </a:solidFill>
              </a:rPr>
              <a:t>x</a:t>
            </a:r>
            <a:r>
              <a:rPr lang="bg-BG" sz="2000">
                <a:solidFill>
                  <a:schemeClr val="tx1"/>
                </a:solidFill>
              </a:rPr>
              <a:t>, или на края на масива.</a:t>
            </a:r>
            <a:br>
              <a:rPr lang="bg-BG" sz="2000">
                <a:solidFill>
                  <a:schemeClr val="tx1"/>
                </a:solidFill>
              </a:rPr>
            </a:br>
            <a:r>
              <a:rPr lang="bg-BG" sz="2000">
                <a:solidFill>
                  <a:schemeClr val="tx1"/>
                </a:solidFill>
              </a:rPr>
              <a:t>	Да разгледаме по-внимателно горната схема (която се нарича </a:t>
            </a:r>
            <a:r>
              <a:rPr lang="bg-BG" sz="2000" i="1">
                <a:solidFill>
                  <a:schemeClr val="tx1"/>
                </a:solidFill>
              </a:rPr>
              <a:t>търсене със стъпка</a:t>
            </a:r>
            <a:r>
              <a:rPr lang="bg-BG" sz="2000">
                <a:solidFill>
                  <a:schemeClr val="tx1"/>
                </a:solidFill>
              </a:rPr>
              <a:t>). Нека предположим, че, прилагайки я, сме достигнали до елемент, по-голям от </a:t>
            </a:r>
            <a:r>
              <a:rPr lang="en-US" sz="2000" b="1" i="1">
                <a:solidFill>
                  <a:schemeClr val="tx1"/>
                </a:solidFill>
              </a:rPr>
              <a:t>x</a:t>
            </a:r>
            <a:r>
              <a:rPr lang="bg-BG" sz="2000">
                <a:solidFill>
                  <a:schemeClr val="tx1"/>
                </a:solidFill>
              </a:rPr>
              <a:t> . Сега можем да използваме последователно търсене в интервала, определен от последните две проби. В случай, че сме били излезли извън масива, можем да използваме последователно търсене от предишната проба до края на масива. Подобен подход води до силно съкращаване на броя на елементите, които се преглеждат от последователно търсене. Изложеният метод е обобщение на линейното търсене (</a:t>
            </a:r>
            <a:r>
              <a:rPr lang="en-US" sz="2000" b="1" i="1">
                <a:solidFill>
                  <a:schemeClr val="tx1"/>
                </a:solidFill>
              </a:rPr>
              <a:t>k=</a:t>
            </a:r>
            <a:r>
              <a:rPr lang="bg-BG" sz="2000">
                <a:solidFill>
                  <a:schemeClr val="tx1"/>
                </a:solidFill>
              </a:rPr>
              <a:t>1</a:t>
            </a:r>
            <a:r>
              <a:rPr lang="bg-BG" sz="2000" i="1">
                <a:solidFill>
                  <a:schemeClr val="tx1"/>
                </a:solidFill>
              </a:rPr>
              <a:t>)</a:t>
            </a:r>
            <a:r>
              <a:rPr lang="bg-BG" sz="2000">
                <a:solidFill>
                  <a:schemeClr val="tx1"/>
                </a:solidFill>
              </a:rPr>
              <a:t>:</a:t>
            </a:r>
            <a:br>
              <a:rPr lang="bg-BG" sz="2000">
                <a:solidFill>
                  <a:schemeClr val="tx1"/>
                </a:solidFill>
              </a:rPr>
            </a:br>
            <a:r>
              <a:rPr lang="en-US" sz="2000" smtClean="0">
                <a:solidFill>
                  <a:schemeClr val="tx1"/>
                </a:solidFill>
              </a:rPr>
              <a:t>a[1]</a:t>
            </a:r>
            <a:r>
              <a:rPr lang="bg-BG" sz="2000" smtClean="0">
                <a:solidFill>
                  <a:schemeClr val="tx1"/>
                </a:solidFill>
              </a:rPr>
              <a:t>   </a:t>
            </a:r>
            <a:r>
              <a:rPr lang="en-US" sz="2000" smtClean="0">
                <a:solidFill>
                  <a:schemeClr val="tx1"/>
                </a:solidFill>
              </a:rPr>
              <a:t>a[2</a:t>
            </a:r>
            <a:r>
              <a:rPr lang="en-US" sz="2000">
                <a:solidFill>
                  <a:schemeClr val="tx1"/>
                </a:solidFill>
              </a:rPr>
              <a:t>]	</a:t>
            </a:r>
            <a:r>
              <a:rPr lang="bg-BG" sz="2000" smtClean="0">
                <a:solidFill>
                  <a:schemeClr val="tx1"/>
                </a:solidFill>
              </a:rPr>
              <a:t> </a:t>
            </a:r>
            <a:r>
              <a:rPr lang="en-US" sz="2000" smtClean="0">
                <a:solidFill>
                  <a:schemeClr val="tx1"/>
                </a:solidFill>
              </a:rPr>
              <a:t>a[3]</a:t>
            </a:r>
            <a:r>
              <a:rPr lang="bg-BG" sz="2000" smtClean="0">
                <a:solidFill>
                  <a:schemeClr val="tx1"/>
                </a:solidFill>
              </a:rPr>
              <a:t> </a:t>
            </a:r>
            <a:r>
              <a:rPr lang="en-US" sz="2000" smtClean="0">
                <a:solidFill>
                  <a:schemeClr val="tx1"/>
                </a:solidFill>
              </a:rPr>
              <a:t>…</a:t>
            </a:r>
            <a:r>
              <a:rPr lang="bg-BG" sz="2000" smtClean="0">
                <a:solidFill>
                  <a:schemeClr val="tx1"/>
                </a:solidFill>
              </a:rPr>
              <a:t> </a:t>
            </a:r>
            <a:r>
              <a:rPr lang="en-US" sz="2000" smtClean="0">
                <a:solidFill>
                  <a:schemeClr val="tx1"/>
                </a:solidFill>
              </a:rPr>
              <a:t>a[k+</a:t>
            </a:r>
            <a:r>
              <a:rPr lang="bg-BG" sz="2000">
                <a:solidFill>
                  <a:schemeClr val="tx1"/>
                </a:solidFill>
              </a:rPr>
              <a:t>1</a:t>
            </a:r>
            <a:r>
              <a:rPr lang="en-US" sz="2000">
                <a:solidFill>
                  <a:schemeClr val="tx1"/>
                </a:solidFill>
              </a:rPr>
              <a:t>] </a:t>
            </a:r>
            <a:r>
              <a:rPr lang="en-US" sz="2000" smtClean="0">
                <a:solidFill>
                  <a:schemeClr val="tx1"/>
                </a:solidFill>
              </a:rPr>
              <a:t>   </a:t>
            </a:r>
            <a:r>
              <a:rPr lang="bg-BG" sz="2000" smtClean="0">
                <a:solidFill>
                  <a:schemeClr val="tx1"/>
                </a:solidFill>
              </a:rPr>
              <a:t> </a:t>
            </a:r>
            <a:r>
              <a:rPr lang="en-US" sz="2000" smtClean="0">
                <a:solidFill>
                  <a:schemeClr val="tx1"/>
                </a:solidFill>
              </a:rPr>
              <a:t>...</a:t>
            </a:r>
            <a:r>
              <a:rPr lang="bg-BG" sz="2000" smtClean="0">
                <a:solidFill>
                  <a:schemeClr val="tx1"/>
                </a:solidFill>
              </a:rPr>
              <a:t> </a:t>
            </a:r>
            <a:r>
              <a:rPr lang="en-US" sz="2000" smtClean="0">
                <a:solidFill>
                  <a:schemeClr val="tx1"/>
                </a:solidFill>
              </a:rPr>
              <a:t>    a[2k+</a:t>
            </a:r>
            <a:r>
              <a:rPr lang="bg-BG" sz="2000">
                <a:solidFill>
                  <a:schemeClr val="tx1"/>
                </a:solidFill>
              </a:rPr>
              <a:t>1</a:t>
            </a:r>
            <a:r>
              <a:rPr lang="en-US" sz="2000" smtClean="0">
                <a:solidFill>
                  <a:schemeClr val="tx1"/>
                </a:solidFill>
              </a:rPr>
              <a:t>]</a:t>
            </a:r>
            <a:r>
              <a:rPr lang="bg-BG" sz="2000" smtClean="0">
                <a:solidFill>
                  <a:schemeClr val="tx1"/>
                </a:solidFill>
              </a:rPr>
              <a:t> </a:t>
            </a:r>
            <a:r>
              <a:rPr lang="en-US" sz="2000" smtClean="0">
                <a:solidFill>
                  <a:schemeClr val="tx1"/>
                </a:solidFill>
              </a:rPr>
              <a:t>  a[2k+2] …  a[3k+</a:t>
            </a:r>
            <a:r>
              <a:rPr lang="bg-BG" sz="2000" smtClean="0">
                <a:solidFill>
                  <a:schemeClr val="tx1"/>
                </a:solidFill>
              </a:rPr>
              <a:t> 1 </a:t>
            </a:r>
            <a:r>
              <a:rPr lang="en-US" sz="2000" smtClean="0">
                <a:solidFill>
                  <a:schemeClr val="tx1"/>
                </a:solidFill>
              </a:rPr>
              <a:t>] ….  </a:t>
            </a:r>
            <a:r>
              <a:rPr lang="bg-BG" sz="2000" smtClean="0">
                <a:solidFill>
                  <a:schemeClr val="tx1"/>
                </a:solidFill>
              </a:rPr>
              <a:t>a</a:t>
            </a:r>
            <a:r>
              <a:rPr lang="en-US" sz="2000">
                <a:solidFill>
                  <a:schemeClr val="tx1"/>
                </a:solidFill>
              </a:rPr>
              <a:t>[n]</a:t>
            </a:r>
          </a:p>
        </p:txBody>
      </p:sp>
      <p:sp>
        <p:nvSpPr>
          <p:cNvPr id="69635" name="Arc 16"/>
          <p:cNvSpPr>
            <a:spLocks/>
          </p:cNvSpPr>
          <p:nvPr/>
        </p:nvSpPr>
        <p:spPr bwMode="auto">
          <a:xfrm flipH="1" flipV="1">
            <a:off x="1187450" y="6092825"/>
            <a:ext cx="1871663" cy="555625"/>
          </a:xfrm>
          <a:custGeom>
            <a:avLst/>
            <a:gdLst>
              <a:gd name="T0" fmla="*/ 0 w 43170"/>
              <a:gd name="T1" fmla="*/ 11131120 h 21600"/>
              <a:gd name="T2" fmla="*/ 152014512 w 43170"/>
              <a:gd name="T3" fmla="*/ 11750759 h 21600"/>
              <a:gd name="T4" fmla="*/ 75954433 w 43170"/>
              <a:gd name="T5" fmla="*/ 11750759 h 21600"/>
              <a:gd name="T6" fmla="*/ 0 60000 65536"/>
              <a:gd name="T7" fmla="*/ 0 60000 65536"/>
              <a:gd name="T8" fmla="*/ 0 60000 65536"/>
              <a:gd name="T9" fmla="*/ 0 w 43170"/>
              <a:gd name="T10" fmla="*/ 0 h 21600"/>
              <a:gd name="T11" fmla="*/ 43170 w 43170"/>
              <a:gd name="T12" fmla="*/ 21600 h 21600"/>
            </a:gdLst>
            <a:ahLst/>
            <a:cxnLst>
              <a:cxn ang="T6">
                <a:pos x="T0" y="T1"/>
              </a:cxn>
              <a:cxn ang="T7">
                <a:pos x="T2" y="T3"/>
              </a:cxn>
              <a:cxn ang="T8">
                <a:pos x="T4" y="T5"/>
              </a:cxn>
            </a:cxnLst>
            <a:rect l="T9" t="T10" r="T11" b="T12"/>
            <a:pathLst>
              <a:path w="43170" h="21600" fill="none" extrusionOk="0">
                <a:moveTo>
                  <a:pt x="0" y="20461"/>
                </a:moveTo>
                <a:cubicBezTo>
                  <a:pt x="605" y="8990"/>
                  <a:pt x="10083" y="-1"/>
                  <a:pt x="21570" y="0"/>
                </a:cubicBezTo>
                <a:cubicBezTo>
                  <a:pt x="33499" y="0"/>
                  <a:pt x="43170" y="9670"/>
                  <a:pt x="43170" y="21600"/>
                </a:cubicBezTo>
              </a:path>
              <a:path w="43170" h="21600" stroke="0" extrusionOk="0">
                <a:moveTo>
                  <a:pt x="0" y="20461"/>
                </a:moveTo>
                <a:cubicBezTo>
                  <a:pt x="605" y="8990"/>
                  <a:pt x="10083" y="-1"/>
                  <a:pt x="21570" y="0"/>
                </a:cubicBezTo>
                <a:cubicBezTo>
                  <a:pt x="33499" y="0"/>
                  <a:pt x="43170" y="9670"/>
                  <a:pt x="43170" y="21600"/>
                </a:cubicBezTo>
                <a:lnTo>
                  <a:pt x="21570" y="21600"/>
                </a:lnTo>
                <a:close/>
              </a:path>
            </a:pathLst>
          </a:custGeom>
          <a:noFill/>
          <a:ln w="9525">
            <a:solidFill>
              <a:schemeClr val="tx1"/>
            </a:solidFill>
            <a:round/>
            <a:headEnd/>
            <a:tailEnd/>
          </a:ln>
        </p:spPr>
        <p:txBody>
          <a:bodyPr wrap="none" anchor="ctr"/>
          <a:lstStyle/>
          <a:p>
            <a:endParaRPr lang="bg-BG"/>
          </a:p>
        </p:txBody>
      </p:sp>
      <p:sp>
        <p:nvSpPr>
          <p:cNvPr id="69636" name="Arc 17"/>
          <p:cNvSpPr>
            <a:spLocks/>
          </p:cNvSpPr>
          <p:nvPr/>
        </p:nvSpPr>
        <p:spPr bwMode="auto">
          <a:xfrm flipH="1" flipV="1">
            <a:off x="3059113" y="6092825"/>
            <a:ext cx="1584325" cy="531813"/>
          </a:xfrm>
          <a:custGeom>
            <a:avLst/>
            <a:gdLst>
              <a:gd name="T0" fmla="*/ 0 w 43170"/>
              <a:gd name="T1" fmla="*/ 10679688 h 21600"/>
              <a:gd name="T2" fmla="*/ 69848063 w 43170"/>
              <a:gd name="T3" fmla="*/ 11274204 h 21600"/>
              <a:gd name="T4" fmla="*/ 34899757 w 43170"/>
              <a:gd name="T5" fmla="*/ 11274204 h 21600"/>
              <a:gd name="T6" fmla="*/ 0 60000 65536"/>
              <a:gd name="T7" fmla="*/ 0 60000 65536"/>
              <a:gd name="T8" fmla="*/ 0 60000 65536"/>
              <a:gd name="T9" fmla="*/ 0 w 43170"/>
              <a:gd name="T10" fmla="*/ 0 h 21600"/>
              <a:gd name="T11" fmla="*/ 43170 w 43170"/>
              <a:gd name="T12" fmla="*/ 21600 h 21600"/>
            </a:gdLst>
            <a:ahLst/>
            <a:cxnLst>
              <a:cxn ang="T6">
                <a:pos x="T0" y="T1"/>
              </a:cxn>
              <a:cxn ang="T7">
                <a:pos x="T2" y="T3"/>
              </a:cxn>
              <a:cxn ang="T8">
                <a:pos x="T4" y="T5"/>
              </a:cxn>
            </a:cxnLst>
            <a:rect l="T9" t="T10" r="T11" b="T12"/>
            <a:pathLst>
              <a:path w="43170" h="21600" fill="none" extrusionOk="0">
                <a:moveTo>
                  <a:pt x="0" y="20461"/>
                </a:moveTo>
                <a:cubicBezTo>
                  <a:pt x="605" y="8990"/>
                  <a:pt x="10083" y="-1"/>
                  <a:pt x="21570" y="0"/>
                </a:cubicBezTo>
                <a:cubicBezTo>
                  <a:pt x="33499" y="0"/>
                  <a:pt x="43170" y="9670"/>
                  <a:pt x="43170" y="21600"/>
                </a:cubicBezTo>
              </a:path>
              <a:path w="43170" h="21600" stroke="0" extrusionOk="0">
                <a:moveTo>
                  <a:pt x="0" y="20461"/>
                </a:moveTo>
                <a:cubicBezTo>
                  <a:pt x="605" y="8990"/>
                  <a:pt x="10083" y="-1"/>
                  <a:pt x="21570" y="0"/>
                </a:cubicBezTo>
                <a:cubicBezTo>
                  <a:pt x="33499" y="0"/>
                  <a:pt x="43170" y="9670"/>
                  <a:pt x="43170" y="21600"/>
                </a:cubicBezTo>
                <a:lnTo>
                  <a:pt x="21570" y="21600"/>
                </a:lnTo>
                <a:close/>
              </a:path>
            </a:pathLst>
          </a:custGeom>
          <a:noFill/>
          <a:ln w="9525">
            <a:solidFill>
              <a:schemeClr val="tx1"/>
            </a:solidFill>
            <a:round/>
            <a:headEnd/>
            <a:tailEnd/>
          </a:ln>
        </p:spPr>
        <p:txBody>
          <a:bodyPr wrap="none" anchor="ctr"/>
          <a:lstStyle/>
          <a:p>
            <a:endParaRPr lang="bg-BG"/>
          </a:p>
        </p:txBody>
      </p:sp>
      <p:sp>
        <p:nvSpPr>
          <p:cNvPr id="69637" name="Arc 18"/>
          <p:cNvSpPr>
            <a:spLocks/>
          </p:cNvSpPr>
          <p:nvPr/>
        </p:nvSpPr>
        <p:spPr bwMode="auto">
          <a:xfrm flipH="1" flipV="1">
            <a:off x="4716463" y="6097588"/>
            <a:ext cx="1687512" cy="458787"/>
          </a:xfrm>
          <a:custGeom>
            <a:avLst/>
            <a:gdLst>
              <a:gd name="T0" fmla="*/ 0 w 43170"/>
              <a:gd name="T1" fmla="*/ 9230878 h 21600"/>
              <a:gd name="T2" fmla="*/ 74398838 w 43170"/>
              <a:gd name="T3" fmla="*/ 9744741 h 21600"/>
              <a:gd name="T4" fmla="*/ 37173563 w 43170"/>
              <a:gd name="T5" fmla="*/ 9744741 h 21600"/>
              <a:gd name="T6" fmla="*/ 0 60000 65536"/>
              <a:gd name="T7" fmla="*/ 0 60000 65536"/>
              <a:gd name="T8" fmla="*/ 0 60000 65536"/>
              <a:gd name="T9" fmla="*/ 0 w 43170"/>
              <a:gd name="T10" fmla="*/ 0 h 21600"/>
              <a:gd name="T11" fmla="*/ 43170 w 43170"/>
              <a:gd name="T12" fmla="*/ 21600 h 21600"/>
            </a:gdLst>
            <a:ahLst/>
            <a:cxnLst>
              <a:cxn ang="T6">
                <a:pos x="T0" y="T1"/>
              </a:cxn>
              <a:cxn ang="T7">
                <a:pos x="T2" y="T3"/>
              </a:cxn>
              <a:cxn ang="T8">
                <a:pos x="T4" y="T5"/>
              </a:cxn>
            </a:cxnLst>
            <a:rect l="T9" t="T10" r="T11" b="T12"/>
            <a:pathLst>
              <a:path w="43170" h="21600" fill="none" extrusionOk="0">
                <a:moveTo>
                  <a:pt x="0" y="20461"/>
                </a:moveTo>
                <a:cubicBezTo>
                  <a:pt x="605" y="8990"/>
                  <a:pt x="10083" y="-1"/>
                  <a:pt x="21570" y="0"/>
                </a:cubicBezTo>
                <a:cubicBezTo>
                  <a:pt x="33499" y="0"/>
                  <a:pt x="43170" y="9670"/>
                  <a:pt x="43170" y="21600"/>
                </a:cubicBezTo>
              </a:path>
              <a:path w="43170" h="21600" stroke="0" extrusionOk="0">
                <a:moveTo>
                  <a:pt x="0" y="20461"/>
                </a:moveTo>
                <a:cubicBezTo>
                  <a:pt x="605" y="8990"/>
                  <a:pt x="10083" y="-1"/>
                  <a:pt x="21570" y="0"/>
                </a:cubicBezTo>
                <a:cubicBezTo>
                  <a:pt x="33499" y="0"/>
                  <a:pt x="43170" y="9670"/>
                  <a:pt x="43170" y="21600"/>
                </a:cubicBezTo>
                <a:lnTo>
                  <a:pt x="21570" y="21600"/>
                </a:lnTo>
                <a:close/>
              </a:path>
            </a:pathLst>
          </a:custGeom>
          <a:noFill/>
          <a:ln w="9525">
            <a:solidFill>
              <a:schemeClr val="tx1"/>
            </a:solidFill>
            <a:round/>
            <a:headEnd/>
            <a:tailEnd/>
          </a:ln>
        </p:spPr>
        <p:txBody>
          <a:bodyPr wrap="none" anchor="ctr"/>
          <a:lstStyle/>
          <a:p>
            <a:endParaRPr lang="bg-BG"/>
          </a:p>
        </p:txBody>
      </p:sp>
      <p:sp>
        <p:nvSpPr>
          <p:cNvPr id="8" name="Slide Number Placeholder 7"/>
          <p:cNvSpPr>
            <a:spLocks noGrp="1"/>
          </p:cNvSpPr>
          <p:nvPr>
            <p:ph type="sldNum" sz="quarter" idx="12"/>
          </p:nvPr>
        </p:nvSpPr>
        <p:spPr/>
        <p:txBody>
          <a:bodyPr/>
          <a:lstStyle/>
          <a:p>
            <a:pPr>
              <a:defRPr/>
            </a:pPr>
            <a:fld id="{1032B014-22B3-4AE0-8D0F-8AEC30CF5D95}" type="slidenum">
              <a:rPr lang="en-US"/>
              <a:pPr>
                <a:defRPr/>
              </a:pPr>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1116013" y="228600"/>
            <a:ext cx="8027987" cy="6324600"/>
          </a:xfrm>
        </p:spPr>
        <p:txBody>
          <a:bodyPr>
            <a:normAutofit fontScale="90000"/>
          </a:bodyPr>
          <a:lstStyle/>
          <a:p>
            <a:pPr eaLnBrk="1" fontAlgn="auto" hangingPunct="1">
              <a:lnSpc>
                <a:spcPct val="120000"/>
              </a:lnSpc>
              <a:spcAft>
                <a:spcPts val="0"/>
              </a:spcAft>
              <a:defRPr/>
            </a:pPr>
            <a:r>
              <a:rPr lang="bg-BG" sz="2000">
                <a:solidFill>
                  <a:schemeClr val="tx1"/>
                </a:solidFill>
              </a:rPr>
              <a:t>	В описания горе метод търсенето започва от първия елемент (или </a:t>
            </a:r>
            <a:r>
              <a:rPr lang="en-US" sz="2000" b="1">
                <a:solidFill>
                  <a:schemeClr val="tx1"/>
                </a:solidFill>
              </a:rPr>
              <a:t>a[</a:t>
            </a:r>
            <a:r>
              <a:rPr lang="en-US" sz="2000">
                <a:solidFill>
                  <a:schemeClr val="tx1"/>
                </a:solidFill>
                <a:latin typeface="Arial" pitchFamily="34" charset="0"/>
                <a:cs typeface="Arial" pitchFamily="34" charset="0"/>
              </a:rPr>
              <a:t>1</a:t>
            </a:r>
            <a:r>
              <a:rPr lang="en-US" sz="2000" b="1">
                <a:solidFill>
                  <a:schemeClr val="tx1"/>
                </a:solidFill>
              </a:rPr>
              <a:t>]</a:t>
            </a:r>
            <a:r>
              <a:rPr lang="en-US" sz="2000">
                <a:solidFill>
                  <a:schemeClr val="tx1"/>
                </a:solidFill>
              </a:rPr>
              <a:t>)</a:t>
            </a:r>
            <a:r>
              <a:rPr lang="en-US" sz="2000" b="1">
                <a:solidFill>
                  <a:schemeClr val="tx1"/>
                </a:solidFill>
              </a:rPr>
              <a:t>.</a:t>
            </a:r>
            <a:r>
              <a:rPr lang="en-US" sz="2000">
                <a:solidFill>
                  <a:schemeClr val="tx1"/>
                </a:solidFill>
              </a:rPr>
              <a:t> Д</a:t>
            </a:r>
            <a:r>
              <a:rPr lang="bg-BG" sz="2000">
                <a:solidFill>
                  <a:schemeClr val="tx1"/>
                </a:solidFill>
              </a:rPr>
              <a:t>оказано е, че този избор, както и </a:t>
            </a:r>
            <a:r>
              <a:rPr lang="en-US" sz="2000" b="1">
                <a:solidFill>
                  <a:schemeClr val="tx1"/>
                </a:solidFill>
              </a:rPr>
              <a:t>a[</a:t>
            </a:r>
            <a:r>
              <a:rPr lang="en-US" sz="2000" b="1" i="1">
                <a:solidFill>
                  <a:schemeClr val="tx1"/>
                </a:solidFill>
              </a:rPr>
              <a:t>n</a:t>
            </a:r>
            <a:r>
              <a:rPr lang="en-US" sz="2000" b="1">
                <a:solidFill>
                  <a:schemeClr val="tx1"/>
                </a:solidFill>
              </a:rPr>
              <a:t>]</a:t>
            </a:r>
            <a:r>
              <a:rPr lang="bg-BG" sz="2000" b="1">
                <a:solidFill>
                  <a:schemeClr val="tx1"/>
                </a:solidFill>
              </a:rPr>
              <a:t>,</a:t>
            </a:r>
            <a:r>
              <a:rPr lang="bg-BG" sz="2000">
                <a:solidFill>
                  <a:schemeClr val="tx1"/>
                </a:solidFill>
              </a:rPr>
              <a:t> е лош, понеже носи минимална информация. Много по-удачно е да се започне направо с  </a:t>
            </a:r>
            <a:r>
              <a:rPr lang="en-US" sz="2000" b="1">
                <a:solidFill>
                  <a:schemeClr val="tx1"/>
                </a:solidFill>
              </a:rPr>
              <a:t>a[</a:t>
            </a:r>
            <a:r>
              <a:rPr lang="en-US" sz="2000" b="1" i="1">
                <a:solidFill>
                  <a:schemeClr val="tx1"/>
                </a:solidFill>
              </a:rPr>
              <a:t>k</a:t>
            </a:r>
            <a:r>
              <a:rPr lang="en-US" sz="2000" b="1">
                <a:solidFill>
                  <a:schemeClr val="tx1"/>
                </a:solidFill>
              </a:rPr>
              <a:t>]</a:t>
            </a:r>
            <a:r>
              <a:rPr lang="bg-BG" sz="2000" b="1">
                <a:solidFill>
                  <a:schemeClr val="tx1"/>
                </a:solidFill>
              </a:rPr>
              <a:t>.</a:t>
            </a:r>
            <a:r>
              <a:rPr lang="bg-BG" sz="2000">
                <a:solidFill>
                  <a:schemeClr val="tx1"/>
                </a:solidFill>
              </a:rPr>
              <a:t> (Пак се вижда, че при </a:t>
            </a:r>
            <a:r>
              <a:rPr lang="en-US" sz="2000" b="1" i="1">
                <a:solidFill>
                  <a:schemeClr val="tx1"/>
                </a:solidFill>
              </a:rPr>
              <a:t>k</a:t>
            </a:r>
            <a:r>
              <a:rPr lang="bg-BG" sz="2000">
                <a:solidFill>
                  <a:schemeClr val="tx1"/>
                </a:solidFill>
              </a:rPr>
              <a:t> =</a:t>
            </a:r>
            <a:r>
              <a:rPr lang="bg-BG" sz="2000" b="1">
                <a:solidFill>
                  <a:schemeClr val="tx1"/>
                </a:solidFill>
                <a:latin typeface="Arial" pitchFamily="34" charset="0"/>
                <a:cs typeface="Arial" pitchFamily="34" charset="0"/>
              </a:rPr>
              <a:t>1</a:t>
            </a:r>
            <a:r>
              <a:rPr lang="bg-BG" sz="2000">
                <a:solidFill>
                  <a:schemeClr val="tx1"/>
                </a:solidFill>
              </a:rPr>
              <a:t> се получава линейно търсене.)</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Каква е ефективността на описания метод при фиксирано </a:t>
            </a:r>
            <a:r>
              <a:rPr lang="en-US" sz="2000" b="1" i="1">
                <a:solidFill>
                  <a:schemeClr val="tx1"/>
                </a:solidFill>
              </a:rPr>
              <a:t>k </a:t>
            </a:r>
            <a:r>
              <a:rPr lang="bg-BG" sz="2000">
                <a:solidFill>
                  <a:schemeClr val="tx1"/>
                </a:solidFill>
              </a:rPr>
              <a:t> и кой е най-лошия случай? Ясно е, че линейното търсене има еднаква цена за всички интервали от вида </a:t>
            </a:r>
            <a:r>
              <a:rPr lang="en-US" sz="2000" b="1">
                <a:solidFill>
                  <a:schemeClr val="tx1"/>
                </a:solidFill>
              </a:rPr>
              <a:t>[a</a:t>
            </a:r>
            <a:r>
              <a:rPr lang="en-US" sz="2000">
                <a:solidFill>
                  <a:schemeClr val="tx1"/>
                </a:solidFill>
              </a:rPr>
              <a:t>[</a:t>
            </a:r>
            <a:r>
              <a:rPr lang="en-US" sz="2000" b="1">
                <a:solidFill>
                  <a:schemeClr val="tx1"/>
                </a:solidFill>
              </a:rPr>
              <a:t>i</a:t>
            </a:r>
            <a:r>
              <a:rPr lang="en-US" sz="2000">
                <a:solidFill>
                  <a:schemeClr val="tx1"/>
                </a:solidFill>
              </a:rPr>
              <a:t>*</a:t>
            </a:r>
            <a:r>
              <a:rPr lang="en-US" sz="2000" b="1">
                <a:solidFill>
                  <a:schemeClr val="tx1"/>
                </a:solidFill>
              </a:rPr>
              <a:t>k</a:t>
            </a:r>
            <a:r>
              <a:rPr lang="en-US" sz="2000">
                <a:solidFill>
                  <a:schemeClr val="tx1"/>
                </a:solidFill>
              </a:rPr>
              <a:t>+</a:t>
            </a:r>
            <a:r>
              <a:rPr lang="en-US" sz="2000" b="1">
                <a:solidFill>
                  <a:schemeClr val="tx1"/>
                </a:solidFill>
                <a:latin typeface="Arial" pitchFamily="34" charset="0"/>
                <a:cs typeface="Arial" pitchFamily="34" charset="0"/>
              </a:rPr>
              <a:t>1</a:t>
            </a:r>
            <a:r>
              <a:rPr lang="en-US" sz="2000">
                <a:solidFill>
                  <a:schemeClr val="tx1"/>
                </a:solidFill>
              </a:rPr>
              <a:t>], </a:t>
            </a:r>
            <a:r>
              <a:rPr lang="en-US" sz="2000" b="1">
                <a:solidFill>
                  <a:schemeClr val="tx1"/>
                </a:solidFill>
              </a:rPr>
              <a:t>a</a:t>
            </a:r>
            <a:r>
              <a:rPr lang="en-US" sz="2000">
                <a:solidFill>
                  <a:schemeClr val="tx1"/>
                </a:solidFill>
              </a:rPr>
              <a:t>[(</a:t>
            </a:r>
            <a:r>
              <a:rPr lang="en-US" sz="2000" b="1">
                <a:solidFill>
                  <a:schemeClr val="tx1"/>
                </a:solidFill>
              </a:rPr>
              <a:t>i</a:t>
            </a:r>
            <a:r>
              <a:rPr lang="en-US" sz="2000">
                <a:solidFill>
                  <a:schemeClr val="tx1"/>
                </a:solidFill>
              </a:rPr>
              <a:t>+</a:t>
            </a:r>
            <a:r>
              <a:rPr lang="en-US" sz="2000" b="1">
                <a:solidFill>
                  <a:schemeClr val="tx1"/>
                </a:solidFill>
                <a:latin typeface="Arial" pitchFamily="34" charset="0"/>
                <a:cs typeface="Arial" pitchFamily="34" charset="0"/>
              </a:rPr>
              <a:t>1</a:t>
            </a:r>
            <a:r>
              <a:rPr lang="en-US" sz="2000">
                <a:solidFill>
                  <a:schemeClr val="tx1"/>
                </a:solidFill>
              </a:rPr>
              <a:t>)*</a:t>
            </a:r>
            <a:r>
              <a:rPr lang="en-US" sz="2000" b="1">
                <a:solidFill>
                  <a:schemeClr val="tx1"/>
                </a:solidFill>
              </a:rPr>
              <a:t>k</a:t>
            </a:r>
            <a:r>
              <a:rPr lang="en-US" sz="2000">
                <a:solidFill>
                  <a:schemeClr val="tx1"/>
                </a:solidFill>
              </a:rPr>
              <a:t>]</a:t>
            </a:r>
            <a:r>
              <a:rPr lang="en-US" sz="2000" b="1">
                <a:solidFill>
                  <a:schemeClr val="tx1"/>
                </a:solidFill>
              </a:rPr>
              <a:t>]</a:t>
            </a:r>
            <a:r>
              <a:rPr lang="en-US" sz="2000">
                <a:solidFill>
                  <a:schemeClr val="tx1"/>
                </a:solidFill>
              </a:rPr>
              <a:t>, </a:t>
            </a:r>
            <a:r>
              <a:rPr lang="en-US" sz="2000" smtClean="0">
                <a:solidFill>
                  <a:schemeClr val="tx1"/>
                </a:solidFill>
              </a:rPr>
              <a:t> т</a:t>
            </a:r>
            <a:r>
              <a:rPr lang="bg-BG" sz="2000">
                <a:solidFill>
                  <a:schemeClr val="tx1"/>
                </a:solidFill>
              </a:rPr>
              <a:t>. к. се извършва върху еднакъв брой елементи. Изключение може да прави единствено последния интервал, който евентуално може да съдържа по-малко от </a:t>
            </a:r>
            <a:r>
              <a:rPr lang="en-US" sz="2000" b="1" i="1">
                <a:solidFill>
                  <a:schemeClr val="tx1"/>
                </a:solidFill>
              </a:rPr>
              <a:t>k</a:t>
            </a:r>
            <a:r>
              <a:rPr lang="bg-BG" sz="2000">
                <a:solidFill>
                  <a:schemeClr val="tx1"/>
                </a:solidFill>
              </a:rPr>
              <a:t>  елементи. В най-лошия случай търсения елемент е в последния интервал, което означава, че ще бъдат необходими </a:t>
            </a:r>
            <a:r>
              <a:rPr lang="en-US" sz="2000" b="1">
                <a:solidFill>
                  <a:schemeClr val="tx1"/>
                </a:solidFill>
              </a:rPr>
              <a:t>[n/k]</a:t>
            </a:r>
            <a:r>
              <a:rPr lang="bg-BG" sz="2000">
                <a:solidFill>
                  <a:schemeClr val="tx1"/>
                </a:solidFill>
              </a:rPr>
              <a:t> сравнения, за</a:t>
            </a:r>
            <a:r>
              <a:rPr lang="en-US" sz="2000">
                <a:solidFill>
                  <a:schemeClr val="tx1"/>
                </a:solidFill>
              </a:rPr>
              <a:t> </a:t>
            </a:r>
            <a:r>
              <a:rPr lang="bg-BG" sz="2000">
                <a:solidFill>
                  <a:schemeClr val="tx1"/>
                </a:solidFill>
              </a:rPr>
              <a:t>да определим нужния ни интервал, в който да приложим линейното търсене. Към тях следва да се добави дължината на интервала, която при </a:t>
            </a:r>
            <a:r>
              <a:rPr lang="en-US" sz="2000" b="1" i="1">
                <a:solidFill>
                  <a:schemeClr val="tx1"/>
                </a:solidFill>
              </a:rPr>
              <a:t>n</a:t>
            </a:r>
            <a:r>
              <a:rPr lang="en-US" sz="2000">
                <a:solidFill>
                  <a:schemeClr val="tx1"/>
                </a:solidFill>
              </a:rPr>
              <a:t>,</a:t>
            </a:r>
            <a:r>
              <a:rPr lang="bg-BG" sz="2000">
                <a:solidFill>
                  <a:schemeClr val="tx1"/>
                </a:solidFill>
              </a:rPr>
              <a:t> кратно на </a:t>
            </a:r>
            <a:r>
              <a:rPr lang="en-US" sz="2000">
                <a:solidFill>
                  <a:schemeClr val="tx1"/>
                </a:solidFill>
              </a:rPr>
              <a:t> </a:t>
            </a:r>
            <a:r>
              <a:rPr lang="en-US" sz="2000" b="1" i="1">
                <a:solidFill>
                  <a:schemeClr val="tx1"/>
                </a:solidFill>
              </a:rPr>
              <a:t>k</a:t>
            </a:r>
            <a:r>
              <a:rPr lang="en-US" sz="2000">
                <a:solidFill>
                  <a:schemeClr val="tx1"/>
                </a:solidFill>
              </a:rPr>
              <a:t>,</a:t>
            </a:r>
            <a:r>
              <a:rPr lang="bg-BG" sz="2000">
                <a:solidFill>
                  <a:schemeClr val="tx1"/>
                </a:solidFill>
              </a:rPr>
              <a:t> е </a:t>
            </a:r>
            <a:r>
              <a:rPr lang="en-US" sz="2000">
                <a:solidFill>
                  <a:schemeClr val="tx1"/>
                </a:solidFill>
              </a:rPr>
              <a:t> </a:t>
            </a:r>
            <a:r>
              <a:rPr lang="en-US" sz="2000" b="1" i="1">
                <a:solidFill>
                  <a:schemeClr val="tx1"/>
                </a:solidFill>
              </a:rPr>
              <a:t>k</a:t>
            </a:r>
            <a:r>
              <a:rPr lang="en-US" sz="2000">
                <a:solidFill>
                  <a:schemeClr val="tx1"/>
                </a:solidFill>
              </a:rPr>
              <a:t>-</a:t>
            </a:r>
            <a:r>
              <a:rPr lang="en-US" sz="2000">
                <a:solidFill>
                  <a:schemeClr val="tx1"/>
                </a:solidFill>
                <a:latin typeface="Arial" pitchFamily="34" charset="0"/>
                <a:cs typeface="Arial" pitchFamily="34" charset="0"/>
              </a:rPr>
              <a:t>1</a:t>
            </a:r>
            <a:r>
              <a:rPr lang="en-US" sz="2000">
                <a:solidFill>
                  <a:schemeClr val="tx1"/>
                </a:solidFill>
              </a:rPr>
              <a:t>.</a:t>
            </a:r>
            <a:r>
              <a:rPr lang="bg-BG" sz="2000">
                <a:solidFill>
                  <a:schemeClr val="tx1"/>
                </a:solidFill>
              </a:rPr>
              <a:t> </a:t>
            </a:r>
            <a:r>
              <a:rPr lang="en-US" sz="2000" smtClean="0">
                <a:solidFill>
                  <a:schemeClr val="tx1"/>
                </a:solidFill>
              </a:rPr>
              <a:t> </a:t>
            </a:r>
            <a:r>
              <a:rPr lang="bg-BG" sz="2000" smtClean="0">
                <a:solidFill>
                  <a:schemeClr val="tx1"/>
                </a:solidFill>
              </a:rPr>
              <a:t>Оттук </a:t>
            </a:r>
            <a:r>
              <a:rPr lang="bg-BG" sz="2000">
                <a:solidFill>
                  <a:schemeClr val="tx1"/>
                </a:solidFill>
              </a:rPr>
              <a:t>следва, че в най-лошия случай при търсене със стъпка </a:t>
            </a:r>
            <a:r>
              <a:rPr lang="en-US" sz="2000" b="1" i="1">
                <a:solidFill>
                  <a:schemeClr val="tx1"/>
                </a:solidFill>
              </a:rPr>
              <a:t>k</a:t>
            </a:r>
            <a:r>
              <a:rPr lang="bg-BG" sz="2000">
                <a:solidFill>
                  <a:schemeClr val="tx1"/>
                </a:solidFill>
              </a:rPr>
              <a:t>  се извършват не повече от </a:t>
            </a:r>
            <a:r>
              <a:rPr lang="en-US" sz="2000">
                <a:solidFill>
                  <a:schemeClr val="tx1"/>
                </a:solidFill>
              </a:rPr>
              <a:t> </a:t>
            </a:r>
            <a:r>
              <a:rPr lang="en-US" sz="2000" b="1">
                <a:solidFill>
                  <a:schemeClr val="tx1"/>
                </a:solidFill>
              </a:rPr>
              <a:t>[n/k]</a:t>
            </a:r>
            <a:r>
              <a:rPr lang="bg-BG" sz="2000">
                <a:solidFill>
                  <a:schemeClr val="tx1"/>
                </a:solidFill>
              </a:rPr>
              <a:t> + </a:t>
            </a:r>
            <a:r>
              <a:rPr lang="en-US" sz="2000" b="1" i="1">
                <a:solidFill>
                  <a:schemeClr val="tx1"/>
                </a:solidFill>
              </a:rPr>
              <a:t>k </a:t>
            </a:r>
            <a:r>
              <a:rPr lang="bg-BG" sz="2000">
                <a:solidFill>
                  <a:schemeClr val="tx1"/>
                </a:solidFill>
              </a:rPr>
              <a:t>- </a:t>
            </a:r>
            <a:r>
              <a:rPr lang="bg-BG" sz="2000" b="1">
                <a:solidFill>
                  <a:schemeClr val="tx1"/>
                </a:solidFill>
                <a:latin typeface="Arial" pitchFamily="34" charset="0"/>
                <a:cs typeface="Arial" pitchFamily="34" charset="0"/>
              </a:rPr>
              <a:t>1</a:t>
            </a:r>
            <a:r>
              <a:rPr lang="bg-BG" sz="2000" b="1" i="1">
                <a:solidFill>
                  <a:schemeClr val="tx1"/>
                </a:solidFill>
                <a:latin typeface="Arial" pitchFamily="34" charset="0"/>
                <a:cs typeface="Arial" pitchFamily="34" charset="0"/>
              </a:rPr>
              <a:t> </a:t>
            </a:r>
            <a:r>
              <a:rPr lang="bg-BG" sz="2000">
                <a:solidFill>
                  <a:schemeClr val="tx1"/>
                </a:solidFill>
              </a:rPr>
              <a:t>сравнения.</a:t>
            </a:r>
            <a:endParaRPr lang="en-US" sz="2000">
              <a:solidFill>
                <a:schemeClr val="tx1"/>
              </a:solidFill>
            </a:endParaRPr>
          </a:p>
        </p:txBody>
      </p:sp>
      <p:sp>
        <p:nvSpPr>
          <p:cNvPr id="5" name="Slide Number Placeholder 4"/>
          <p:cNvSpPr>
            <a:spLocks noGrp="1"/>
          </p:cNvSpPr>
          <p:nvPr>
            <p:ph type="sldNum" sz="quarter" idx="12"/>
          </p:nvPr>
        </p:nvSpPr>
        <p:spPr/>
        <p:txBody>
          <a:bodyPr/>
          <a:lstStyle/>
          <a:p>
            <a:pPr>
              <a:defRPr/>
            </a:pPr>
            <a:fld id="{459CF603-2AF6-43A7-B99A-12E1B883BAAE}" type="slidenum">
              <a:rPr lang="en-US"/>
              <a:pPr>
                <a:defRPr/>
              </a:pPr>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1116013" y="228600"/>
            <a:ext cx="7799387" cy="6477000"/>
          </a:xfrm>
        </p:spPr>
        <p:txBody>
          <a:bodyPr>
            <a:normAutofit fontScale="90000"/>
          </a:bodyPr>
          <a:lstStyle/>
          <a:p>
            <a:pPr eaLnBrk="1" fontAlgn="auto" hangingPunct="1">
              <a:spcAft>
                <a:spcPts val="0"/>
              </a:spcAft>
              <a:defRPr/>
            </a:pPr>
            <a:r>
              <a:rPr lang="bg-BG" sz="2000">
                <a:solidFill>
                  <a:schemeClr val="tx1"/>
                </a:solidFill>
              </a:rPr>
              <a:t>Примерна реализация на описания алгоритъм:</a:t>
            </a:r>
            <a:br>
              <a:rPr lang="bg-BG" sz="2000">
                <a:solidFill>
                  <a:schemeClr val="tx1"/>
                </a:solidFill>
              </a:rPr>
            </a:br>
            <a:r>
              <a:rPr lang="bg-BG" sz="800">
                <a:solidFill>
                  <a:schemeClr val="tx1"/>
                </a:solidFill>
              </a:rPr>
              <a:t/>
            </a:r>
            <a:br>
              <a:rPr lang="bg-BG" sz="800">
                <a:solidFill>
                  <a:schemeClr val="tx1"/>
                </a:solidFill>
              </a:rPr>
            </a:br>
            <a:r>
              <a:rPr lang="en-US" sz="2000" i="1">
                <a:solidFill>
                  <a:schemeClr val="tx1"/>
                </a:solidFill>
              </a:rPr>
              <a:t>unsigned seq_search(unsigned lf, unsigned rt, int key)</a:t>
            </a:r>
            <a:br>
              <a:rPr lang="en-US" sz="2000" i="1">
                <a:solidFill>
                  <a:schemeClr val="tx1"/>
                </a:solidFill>
              </a:rPr>
            </a:br>
            <a:r>
              <a:rPr lang="en-US" sz="2000" i="1">
                <a:solidFill>
                  <a:schemeClr val="tx1"/>
                </a:solidFill>
              </a:rPr>
              <a:t>{ while (lf&lt;rt)</a:t>
            </a:r>
            <a:br>
              <a:rPr lang="en-US" sz="2000" i="1">
                <a:solidFill>
                  <a:schemeClr val="tx1"/>
                </a:solidFill>
              </a:rPr>
            </a:br>
            <a:r>
              <a:rPr lang="en-US" sz="2000" i="1">
                <a:solidFill>
                  <a:schemeClr val="tx1"/>
                </a:solidFill>
              </a:rPr>
              <a:t>       if (a[lf++]==key])	</a:t>
            </a:r>
            <a:br>
              <a:rPr lang="en-US" sz="2000" i="1">
                <a:solidFill>
                  <a:schemeClr val="tx1"/>
                </a:solidFill>
              </a:rPr>
            </a:br>
            <a:r>
              <a:rPr lang="en-US" sz="2000" i="1">
                <a:solidFill>
                  <a:schemeClr val="tx1"/>
                </a:solidFill>
              </a:rPr>
              <a:t>            return lf-</a:t>
            </a:r>
            <a:r>
              <a:rPr lang="en-US" sz="2000" i="1">
                <a:solidFill>
                  <a:schemeClr val="tx1"/>
                </a:solidFill>
                <a:latin typeface="Arial" pitchFamily="34" charset="0"/>
                <a:cs typeface="Arial" pitchFamily="34" charset="0"/>
              </a:rPr>
              <a:t>1</a:t>
            </a:r>
            <a:r>
              <a:rPr lang="en-US" sz="2000" i="1">
                <a:solidFill>
                  <a:schemeClr val="tx1"/>
                </a:solidFill>
              </a:rPr>
              <a:t>; 	</a:t>
            </a:r>
            <a:r>
              <a:rPr lang="en-US" sz="2000" i="1" smtClean="0">
                <a:solidFill>
                  <a:schemeClr val="tx1"/>
                </a:solidFill>
              </a:rPr>
              <a:t>	</a:t>
            </a:r>
            <a:r>
              <a:rPr lang="bg-BG" sz="2000" i="1" smtClean="0">
                <a:solidFill>
                  <a:schemeClr val="tx1"/>
                </a:solidFill>
              </a:rPr>
              <a:t>//</a:t>
            </a:r>
            <a:r>
              <a:rPr lang="bg-BG" sz="2000" i="1">
                <a:solidFill>
                  <a:schemeClr val="tx1"/>
                </a:solidFill>
              </a:rPr>
              <a:t>елементът е намерен</a:t>
            </a:r>
            <a:r>
              <a:rPr lang="en-US" sz="2000" i="1">
                <a:solidFill>
                  <a:schemeClr val="tx1"/>
                </a:solidFill>
              </a:rPr>
              <a:t> </a:t>
            </a:r>
            <a:br>
              <a:rPr lang="en-US" sz="2000" i="1">
                <a:solidFill>
                  <a:schemeClr val="tx1"/>
                </a:solidFill>
              </a:rPr>
            </a:br>
            <a:r>
              <a:rPr lang="en-US" sz="2000" i="1">
                <a:solidFill>
                  <a:schemeClr val="tx1"/>
                </a:solidFill>
              </a:rPr>
              <a:t>   return -</a:t>
            </a:r>
            <a:r>
              <a:rPr lang="en-US" sz="2000" i="1">
                <a:solidFill>
                  <a:schemeClr val="tx1"/>
                </a:solidFill>
                <a:latin typeface="Arial" pitchFamily="34" charset="0"/>
                <a:cs typeface="Arial" pitchFamily="34" charset="0"/>
              </a:rPr>
              <a:t>1</a:t>
            </a:r>
            <a:r>
              <a:rPr lang="en-US" sz="2000" i="1">
                <a:solidFill>
                  <a:schemeClr val="tx1"/>
                </a:solidFill>
              </a:rPr>
              <a:t>; 	</a:t>
            </a:r>
            <a:r>
              <a:rPr lang="bg-BG" sz="2000" i="1">
                <a:solidFill>
                  <a:schemeClr val="tx1"/>
                </a:solidFill>
              </a:rPr>
              <a:t>	</a:t>
            </a:r>
            <a:r>
              <a:rPr lang="en-US" sz="2000" i="1">
                <a:solidFill>
                  <a:schemeClr val="tx1"/>
                </a:solidFill>
              </a:rPr>
              <a:t>// </a:t>
            </a:r>
            <a:r>
              <a:rPr lang="bg-BG" sz="2000" i="1">
                <a:solidFill>
                  <a:schemeClr val="tx1"/>
                </a:solidFill>
              </a:rPr>
              <a:t>елементът не е намерен</a:t>
            </a:r>
            <a:br>
              <a:rPr lang="bg-BG" sz="2000" i="1">
                <a:solidFill>
                  <a:schemeClr val="tx1"/>
                </a:solidFill>
              </a:rPr>
            </a:br>
            <a:r>
              <a:rPr lang="en-US" sz="2000" i="1">
                <a:solidFill>
                  <a:schemeClr val="tx1"/>
                </a:solidFill>
              </a:rPr>
              <a:t>}</a:t>
            </a:r>
            <a:br>
              <a:rPr lang="en-US" sz="2000" i="1">
                <a:solidFill>
                  <a:schemeClr val="tx1"/>
                </a:solidFill>
              </a:rPr>
            </a:br>
            <a:r>
              <a:rPr lang="en-US" sz="2000" i="1">
                <a:solidFill>
                  <a:schemeClr val="tx1"/>
                </a:solidFill>
              </a:rPr>
              <a:t>unsigned jmp_search(int key, unsigned step)</a:t>
            </a:r>
            <a:br>
              <a:rPr lang="en-US" sz="2000" i="1">
                <a:solidFill>
                  <a:schemeClr val="tx1"/>
                </a:solidFill>
              </a:rPr>
            </a:br>
            <a:r>
              <a:rPr lang="en-US" sz="2000" i="1">
                <a:solidFill>
                  <a:schemeClr val="tx1"/>
                </a:solidFill>
              </a:rPr>
              <a:t>{ unsigned ind;</a:t>
            </a:r>
            <a:br>
              <a:rPr lang="en-US" sz="2000" i="1">
                <a:solidFill>
                  <a:schemeClr val="tx1"/>
                </a:solidFill>
              </a:rPr>
            </a:br>
            <a:r>
              <a:rPr lang="en-US" sz="2000" i="1">
                <a:solidFill>
                  <a:schemeClr val="tx1"/>
                </a:solidFill>
              </a:rPr>
              <a:t>   for (ind=0; ind&lt;n&amp;&amp;a[ind]&lt;key; ind+=step);</a:t>
            </a:r>
            <a:br>
              <a:rPr lang="en-US" sz="2000" i="1">
                <a:solidFill>
                  <a:schemeClr val="tx1"/>
                </a:solidFill>
              </a:rPr>
            </a:br>
            <a:r>
              <a:rPr lang="en-US" sz="2000" i="1">
                <a:solidFill>
                  <a:schemeClr val="tx1"/>
                </a:solidFill>
              </a:rPr>
              <a:t>   return  seq_search(ind+</a:t>
            </a:r>
            <a:r>
              <a:rPr lang="en-US" sz="2000" i="1">
                <a:solidFill>
                  <a:schemeClr val="tx1"/>
                </a:solidFill>
                <a:latin typeface="Arial" pitchFamily="34" charset="0"/>
                <a:cs typeface="Arial" pitchFamily="34" charset="0"/>
              </a:rPr>
              <a:t>1</a:t>
            </a:r>
            <a:r>
              <a:rPr lang="en-US" sz="2000" i="1">
                <a:solidFill>
                  <a:schemeClr val="tx1"/>
                </a:solidFill>
              </a:rPr>
              <a:t>&lt;step ? 0 : ind+1- step, n&lt;ind ? n: ind, key);</a:t>
            </a:r>
            <a:br>
              <a:rPr lang="en-US" sz="2000" i="1">
                <a:solidFill>
                  <a:schemeClr val="tx1"/>
                </a:solidFill>
              </a:rPr>
            </a:br>
            <a:r>
              <a:rPr lang="en-US" sz="2000" i="1">
                <a:solidFill>
                  <a:schemeClr val="tx1"/>
                </a:solidFill>
              </a:rPr>
              <a:t>}</a:t>
            </a:r>
            <a:r>
              <a:rPr lang="bg-BG" sz="2000" i="1">
                <a:solidFill>
                  <a:schemeClr val="tx1"/>
                </a:solidFill>
              </a:rPr>
              <a:t>       </a:t>
            </a:r>
            <a:br>
              <a:rPr lang="bg-BG" sz="2000" i="1">
                <a:solidFill>
                  <a:schemeClr val="tx1"/>
                </a:solidFill>
              </a:rPr>
            </a:br>
            <a:r>
              <a:rPr lang="bg-BG" sz="2000" i="1">
                <a:solidFill>
                  <a:schemeClr val="tx1"/>
                </a:solidFill>
              </a:rPr>
              <a:t>	</a:t>
            </a:r>
            <a:r>
              <a:rPr lang="bg-BG" sz="2000">
                <a:solidFill>
                  <a:schemeClr val="tx1"/>
                </a:solidFill>
              </a:rPr>
              <a:t>Максимален брой сравнения при различни стойности на  </a:t>
            </a:r>
            <a:r>
              <a:rPr lang="bg-BG" sz="2000" b="1" i="1">
                <a:solidFill>
                  <a:schemeClr val="tx1"/>
                </a:solidFill>
              </a:rPr>
              <a:t>n</a:t>
            </a:r>
            <a:r>
              <a:rPr lang="en-US" sz="2000">
                <a:solidFill>
                  <a:schemeClr val="tx1"/>
                </a:solidFill>
              </a:rPr>
              <a:t> </a:t>
            </a:r>
            <a:r>
              <a:rPr lang="bg-BG" sz="2000">
                <a:solidFill>
                  <a:schemeClr val="tx1"/>
                </a:solidFill>
              </a:rPr>
              <a:t>и </a:t>
            </a:r>
            <a:r>
              <a:rPr lang="en-US" sz="2000" b="1" i="1">
                <a:solidFill>
                  <a:schemeClr val="tx1"/>
                </a:solidFill>
              </a:rPr>
              <a:t>k</a:t>
            </a:r>
            <a:r>
              <a:rPr lang="en-US" sz="2000">
                <a:solidFill>
                  <a:schemeClr val="tx1"/>
                </a:solidFill>
              </a:rPr>
              <a:t>:</a:t>
            </a:r>
            <a:r>
              <a:rPr lang="bg-BG" sz="2000">
                <a:solidFill>
                  <a:schemeClr val="tx1"/>
                </a:solidFill>
              </a:rPr>
              <a:t/>
            </a:r>
            <a:br>
              <a:rPr lang="bg-BG" sz="2000">
                <a:solidFill>
                  <a:schemeClr val="tx1"/>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endParaRPr lang="en-US" sz="2000">
              <a:solidFill>
                <a:schemeClr val="tx2">
                  <a:satMod val="130000"/>
                </a:schemeClr>
              </a:solidFill>
            </a:endParaRPr>
          </a:p>
        </p:txBody>
      </p:sp>
      <p:graphicFrame>
        <p:nvGraphicFramePr>
          <p:cNvPr id="4098" name="Object 4"/>
          <p:cNvGraphicFramePr>
            <a:graphicFrameLocks noChangeAspect="1"/>
          </p:cNvGraphicFramePr>
          <p:nvPr/>
        </p:nvGraphicFramePr>
        <p:xfrm>
          <a:off x="1331913" y="4221163"/>
          <a:ext cx="7324725" cy="2233612"/>
        </p:xfrm>
        <a:graphic>
          <a:graphicData uri="http://schemas.openxmlformats.org/presentationml/2006/ole">
            <mc:AlternateContent xmlns:mc="http://schemas.openxmlformats.org/markup-compatibility/2006">
              <mc:Choice xmlns:v="urn:schemas-microsoft-com:vml" Requires="v">
                <p:oleObj spid="_x0000_s4101" name="Document" r:id="rId4" imgW="5629656" imgH="1816608" progId="Word.Document.8">
                  <p:embed/>
                </p:oleObj>
              </mc:Choice>
              <mc:Fallback>
                <p:oleObj name="Document" r:id="rId4" imgW="5629656" imgH="1816608" progId="Word.Document.8">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4221163"/>
                        <a:ext cx="7324725" cy="223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Slide Number Placeholder 5"/>
          <p:cNvSpPr>
            <a:spLocks noGrp="1"/>
          </p:cNvSpPr>
          <p:nvPr>
            <p:ph type="sldNum" sz="quarter" idx="12"/>
          </p:nvPr>
        </p:nvSpPr>
        <p:spPr/>
        <p:txBody>
          <a:bodyPr/>
          <a:lstStyle/>
          <a:p>
            <a:pPr>
              <a:defRPr/>
            </a:pPr>
            <a:fld id="{2679972B-F5EF-4ABE-AC4D-905F73825D52}" type="slidenum">
              <a:rPr lang="en-US"/>
              <a:pPr>
                <a:defRPr/>
              </a:pPr>
              <a:t>95</a:t>
            </a:fld>
            <a:endParaRPr lang="en-US"/>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type="title"/>
          </p:nvPr>
        </p:nvSpPr>
        <p:spPr>
          <a:xfrm>
            <a:off x="1042988" y="381000"/>
            <a:ext cx="7921625" cy="6477000"/>
          </a:xfrm>
        </p:spPr>
        <p:txBody>
          <a:bodyPr>
            <a:normAutofit fontScale="90000"/>
          </a:bodyPr>
          <a:lstStyle/>
          <a:p>
            <a:pPr eaLnBrk="1" fontAlgn="auto" hangingPunct="1">
              <a:spcAft>
                <a:spcPts val="0"/>
              </a:spcAft>
              <a:defRPr/>
            </a:pPr>
            <a:r>
              <a:rPr lang="en-US" sz="2000">
                <a:solidFill>
                  <a:schemeClr val="tx2">
                    <a:satMod val="130000"/>
                  </a:schemeClr>
                </a:solidFill>
              </a:rPr>
              <a:t>	</a:t>
            </a:r>
            <a:r>
              <a:rPr lang="bg-BG" sz="2000">
                <a:solidFill>
                  <a:schemeClr val="tx1"/>
                </a:solidFill>
              </a:rPr>
              <a:t>От таблицата се вижда, че най-добрите стойности на </a:t>
            </a:r>
            <a:r>
              <a:rPr lang="en-US" sz="2000" b="1" i="1">
                <a:solidFill>
                  <a:schemeClr val="tx1"/>
                </a:solidFill>
              </a:rPr>
              <a:t>k</a:t>
            </a:r>
            <a:r>
              <a:rPr lang="bg-BG" sz="2000">
                <a:solidFill>
                  <a:schemeClr val="tx1"/>
                </a:solidFill>
              </a:rPr>
              <a:t> са близки до </a:t>
            </a:r>
            <a:r>
              <a:rPr lang="en-US" sz="2000" b="1" i="1">
                <a:solidFill>
                  <a:schemeClr val="tx1"/>
                </a:solidFill>
              </a:rPr>
              <a:t>n/2</a:t>
            </a:r>
            <a:r>
              <a:rPr lang="bg-BG" sz="2000">
                <a:solidFill>
                  <a:schemeClr val="tx1"/>
                </a:solidFill>
              </a:rPr>
              <a:t>, т. е. са разположени в средата на съответния ред на таблицата или непосредствено вляво от нея. За да определим по-точно, кои стойности на  </a:t>
            </a:r>
            <a:r>
              <a:rPr lang="en-US" sz="2000" b="1" i="1">
                <a:solidFill>
                  <a:schemeClr val="tx1"/>
                </a:solidFill>
              </a:rPr>
              <a:t>k</a:t>
            </a:r>
            <a:r>
              <a:rPr lang="bg-BG" sz="2000">
                <a:solidFill>
                  <a:schemeClr val="tx1"/>
                </a:solidFill>
              </a:rPr>
              <a:t>  са най-добри и как зависят от  </a:t>
            </a:r>
            <a:r>
              <a:rPr lang="en-US" sz="2000" b="1" i="1">
                <a:solidFill>
                  <a:schemeClr val="tx1"/>
                </a:solidFill>
              </a:rPr>
              <a:t>n</a:t>
            </a:r>
            <a:r>
              <a:rPr lang="bg-BG" sz="2000">
                <a:solidFill>
                  <a:schemeClr val="tx1"/>
                </a:solidFill>
              </a:rPr>
              <a:t> , следва да определим  при каква зависимост между </a:t>
            </a:r>
            <a:r>
              <a:rPr lang="en-US" sz="2000" b="1" i="1">
                <a:solidFill>
                  <a:schemeClr val="tx1"/>
                </a:solidFill>
              </a:rPr>
              <a:t>k</a:t>
            </a:r>
            <a:r>
              <a:rPr lang="bg-BG" sz="2000">
                <a:solidFill>
                  <a:schemeClr val="tx1"/>
                </a:solidFill>
              </a:rPr>
              <a:t>  и </a:t>
            </a:r>
            <a:r>
              <a:rPr lang="en-US" sz="2000" b="1" i="1">
                <a:solidFill>
                  <a:schemeClr val="tx1"/>
                </a:solidFill>
              </a:rPr>
              <a:t>n</a:t>
            </a:r>
            <a:r>
              <a:rPr lang="bg-BG" sz="2000">
                <a:solidFill>
                  <a:schemeClr val="tx1"/>
                </a:solidFill>
              </a:rPr>
              <a:t> функцията </a:t>
            </a:r>
            <a:r>
              <a:rPr lang="en-US" sz="2000" b="1" i="1">
                <a:solidFill>
                  <a:schemeClr val="tx1"/>
                </a:solidFill>
              </a:rPr>
              <a:t>f(k)</a:t>
            </a:r>
            <a:r>
              <a:rPr lang="bg-BG" sz="2000">
                <a:solidFill>
                  <a:schemeClr val="tx1"/>
                </a:solidFill>
              </a:rPr>
              <a:t> приема минимална стойност:</a:t>
            </a:r>
            <a:br>
              <a:rPr lang="bg-BG" sz="2000">
                <a:solidFill>
                  <a:schemeClr val="tx1"/>
                </a:solidFill>
              </a:rPr>
            </a:br>
            <a:r>
              <a:rPr lang="bg-BG" sz="800">
                <a:solidFill>
                  <a:schemeClr val="tx1"/>
                </a:solidFill>
              </a:rPr>
              <a:t/>
            </a:r>
            <a:br>
              <a:rPr lang="bg-BG" sz="800">
                <a:solidFill>
                  <a:schemeClr val="tx1"/>
                </a:solidFill>
              </a:rPr>
            </a:br>
            <a:r>
              <a:rPr lang="bg-BG" sz="2000">
                <a:solidFill>
                  <a:schemeClr val="tx1"/>
                </a:solidFill>
              </a:rPr>
              <a:t>	</a:t>
            </a:r>
            <a:r>
              <a:rPr lang="en-US" sz="2000">
                <a:solidFill>
                  <a:schemeClr val="tx1"/>
                </a:solidFill>
              </a:rPr>
              <a:t>		</a:t>
            </a:r>
            <a:r>
              <a:rPr lang="en-US" sz="2000" b="1" i="1">
                <a:solidFill>
                  <a:schemeClr val="tx1"/>
                </a:solidFill>
              </a:rPr>
              <a:t>f(k)=[n/k] + k - </a:t>
            </a:r>
            <a:r>
              <a:rPr lang="en-US" sz="2000" b="1" i="1">
                <a:solidFill>
                  <a:schemeClr val="tx1"/>
                </a:solidFill>
                <a:latin typeface="Arial" pitchFamily="34" charset="0"/>
                <a:cs typeface="Arial" pitchFamily="34" charset="0"/>
              </a:rPr>
              <a:t>1</a:t>
            </a:r>
            <a:r>
              <a:rPr lang="bg-BG" sz="2000" b="1" i="1">
                <a:solidFill>
                  <a:schemeClr val="tx1"/>
                </a:solidFill>
              </a:rPr>
              <a:t/>
            </a:r>
            <a:br>
              <a:rPr lang="bg-BG" sz="2000" b="1" i="1">
                <a:solidFill>
                  <a:schemeClr val="tx1"/>
                </a:solidFill>
              </a:rPr>
            </a:br>
            <a:r>
              <a:rPr lang="bg-BG" sz="800">
                <a:solidFill>
                  <a:schemeClr val="tx1"/>
                </a:solidFill>
              </a:rPr>
              <a:t> </a:t>
            </a:r>
            <a:br>
              <a:rPr lang="bg-BG" sz="800">
                <a:solidFill>
                  <a:schemeClr val="tx1"/>
                </a:solidFill>
              </a:rPr>
            </a:br>
            <a:r>
              <a:rPr lang="bg-BG" sz="2000">
                <a:solidFill>
                  <a:schemeClr val="tx1"/>
                </a:solidFill>
              </a:rPr>
              <a:t>Може да се докаже (чрез изследване на знака на втората производна), че това е стойността </a:t>
            </a:r>
            <a:r>
              <a:rPr lang="en-US" sz="2000" b="1" i="1">
                <a:solidFill>
                  <a:schemeClr val="tx1"/>
                </a:solidFill>
              </a:rPr>
              <a:t>k</a:t>
            </a:r>
            <a:r>
              <a:rPr lang="en-US" sz="2000">
                <a:solidFill>
                  <a:schemeClr val="tx1"/>
                </a:solidFill>
              </a:rPr>
              <a:t>=</a:t>
            </a:r>
            <a:r>
              <a:rPr lang="en-US" sz="2000" b="1" i="1">
                <a:solidFill>
                  <a:schemeClr val="tx1"/>
                </a:solidFill>
                <a:sym typeface="SymbolProp BT" pitchFamily="18" charset="2"/>
              </a:rPr>
              <a:t></a:t>
            </a:r>
            <a:r>
              <a:rPr lang="en-US" sz="2000" b="1" i="1">
                <a:solidFill>
                  <a:schemeClr val="tx1"/>
                </a:solidFill>
                <a:sym typeface="GreekMathSymbols" pitchFamily="2" charset="2"/>
              </a:rPr>
              <a:t>n</a:t>
            </a:r>
            <a:r>
              <a:rPr lang="en-US" sz="2000">
                <a:solidFill>
                  <a:schemeClr val="tx1"/>
                </a:solidFill>
                <a:sym typeface="GreekMathSymbols" pitchFamily="2" charset="2"/>
              </a:rPr>
              <a:t>. </a:t>
            </a:r>
            <a:r>
              <a:rPr lang="bg-BG" sz="2000">
                <a:solidFill>
                  <a:schemeClr val="tx1"/>
                </a:solidFill>
              </a:rPr>
              <a:t>Тогава </a:t>
            </a:r>
            <a:r>
              <a:rPr lang="en-US" sz="2000" b="1" i="1">
                <a:solidFill>
                  <a:schemeClr val="tx1"/>
                </a:solidFill>
              </a:rPr>
              <a:t>f(k)=2 </a:t>
            </a:r>
            <a:r>
              <a:rPr lang="en-US" sz="2000" b="1" i="1">
                <a:solidFill>
                  <a:schemeClr val="tx1"/>
                </a:solidFill>
                <a:sym typeface="SymbolProp BT" pitchFamily="18" charset="2"/>
              </a:rPr>
              <a:t></a:t>
            </a:r>
            <a:r>
              <a:rPr lang="en-US" sz="2000" b="1" i="1">
                <a:solidFill>
                  <a:schemeClr val="tx1"/>
                </a:solidFill>
                <a:sym typeface="GreekMathSymbols" pitchFamily="2" charset="2"/>
              </a:rPr>
              <a:t>n +</a:t>
            </a:r>
            <a:r>
              <a:rPr lang="en-US" sz="2000">
                <a:solidFill>
                  <a:schemeClr val="tx1"/>
                </a:solidFill>
                <a:latin typeface="Arial" pitchFamily="34" charset="0"/>
                <a:cs typeface="Arial" pitchFamily="34" charset="0"/>
                <a:sym typeface="GreekMathSymbols" pitchFamily="2" charset="2"/>
              </a:rPr>
              <a:t>1</a:t>
            </a:r>
            <a:r>
              <a:rPr lang="en-US" sz="2000">
                <a:solidFill>
                  <a:schemeClr val="tx1"/>
                </a:solidFill>
                <a:sym typeface="GreekMathSymbols" pitchFamily="2" charset="2"/>
              </a:rPr>
              <a:t>.</a:t>
            </a:r>
            <a:r>
              <a:rPr lang="bg-BG" sz="2000">
                <a:solidFill>
                  <a:schemeClr val="tx1"/>
                </a:solidFill>
                <a:sym typeface="GreekMathSymbols" pitchFamily="2" charset="2"/>
              </a:rPr>
              <a:t> </a:t>
            </a:r>
            <a:r>
              <a:rPr lang="bg-BG" sz="2000">
                <a:solidFill>
                  <a:schemeClr val="tx1"/>
                </a:solidFill>
              </a:rPr>
              <a:t>В този случай търсенето се нарича </a:t>
            </a:r>
            <a:r>
              <a:rPr lang="bg-BG" sz="2000" i="1">
                <a:solidFill>
                  <a:schemeClr val="tx1"/>
                </a:solidFill>
              </a:rPr>
              <a:t>квадратично</a:t>
            </a:r>
            <a:r>
              <a:rPr lang="bg-BG" sz="2000">
                <a:solidFill>
                  <a:schemeClr val="tx1"/>
                </a:solidFill>
              </a:rPr>
              <a:t>.</a:t>
            </a:r>
            <a:br>
              <a:rPr lang="bg-BG" sz="2000">
                <a:solidFill>
                  <a:schemeClr val="tx1"/>
                </a:solidFill>
              </a:rPr>
            </a:br>
            <a:r>
              <a:rPr lang="bg-BG" sz="2000">
                <a:solidFill>
                  <a:schemeClr val="tx1"/>
                </a:solidFill>
              </a:rPr>
              <a:t>	Постигнахме съществено подобрение - от </a:t>
            </a:r>
            <a:r>
              <a:rPr lang="en-US" sz="2000" b="1" i="1">
                <a:solidFill>
                  <a:schemeClr val="tx1"/>
                </a:solidFill>
              </a:rPr>
              <a:t>n</a:t>
            </a:r>
            <a:r>
              <a:rPr lang="en-US" sz="2000">
                <a:solidFill>
                  <a:schemeClr val="tx1"/>
                </a:solidFill>
              </a:rPr>
              <a:t> </a:t>
            </a:r>
            <a:r>
              <a:rPr lang="bg-BG" sz="2000">
                <a:solidFill>
                  <a:schemeClr val="tx1"/>
                </a:solidFill>
              </a:rPr>
              <a:t>до </a:t>
            </a:r>
            <a:r>
              <a:rPr lang="en-US" sz="2000" b="1" i="1">
                <a:solidFill>
                  <a:schemeClr val="tx1"/>
                </a:solidFill>
                <a:sym typeface="SymbolProp BT" pitchFamily="18" charset="2"/>
              </a:rPr>
              <a:t></a:t>
            </a:r>
            <a:r>
              <a:rPr lang="en-US" sz="2000" b="1" i="1">
                <a:solidFill>
                  <a:schemeClr val="tx1"/>
                </a:solidFill>
                <a:sym typeface="GreekMathSymbols" pitchFamily="2" charset="2"/>
              </a:rPr>
              <a:t>n</a:t>
            </a:r>
            <a:r>
              <a:rPr lang="bg-BG" sz="2000">
                <a:solidFill>
                  <a:schemeClr val="tx1"/>
                </a:solidFill>
              </a:rPr>
              <a:t> . Бихме ли да постигнем повече? Да, ако след определяне на интервала, преди да извършим последователно търсене, ще приложим търсене с някаква нова стъпка </a:t>
            </a:r>
            <a:r>
              <a:rPr lang="en-US" sz="2000" b="1" i="1">
                <a:solidFill>
                  <a:schemeClr val="tx1"/>
                </a:solidFill>
              </a:rPr>
              <a:t>m</a:t>
            </a:r>
            <a:r>
              <a:rPr lang="en-US" sz="2000">
                <a:solidFill>
                  <a:schemeClr val="tx1"/>
                </a:solidFill>
              </a:rPr>
              <a:t> (</a:t>
            </a:r>
            <a:r>
              <a:rPr lang="en-US" sz="2000">
                <a:solidFill>
                  <a:schemeClr val="tx1"/>
                </a:solidFill>
                <a:latin typeface="Arial" pitchFamily="34" charset="0"/>
                <a:cs typeface="Arial" pitchFamily="34" charset="0"/>
              </a:rPr>
              <a:t>1</a:t>
            </a:r>
            <a:r>
              <a:rPr lang="en-US" sz="2000">
                <a:solidFill>
                  <a:schemeClr val="tx1"/>
                </a:solidFill>
              </a:rPr>
              <a:t>&lt;</a:t>
            </a:r>
            <a:r>
              <a:rPr lang="en-US" sz="2000" b="1" i="1">
                <a:solidFill>
                  <a:schemeClr val="tx1"/>
                </a:solidFill>
              </a:rPr>
              <a:t>m</a:t>
            </a:r>
            <a:r>
              <a:rPr lang="en-US" sz="2000">
                <a:solidFill>
                  <a:schemeClr val="tx1"/>
                </a:solidFill>
              </a:rPr>
              <a:t>&lt;</a:t>
            </a:r>
            <a:r>
              <a:rPr lang="en-US" sz="2000" b="1" i="1">
                <a:solidFill>
                  <a:schemeClr val="tx1"/>
                </a:solidFill>
              </a:rPr>
              <a:t>k</a:t>
            </a:r>
            <a:r>
              <a:rPr lang="en-US" sz="2000">
                <a:solidFill>
                  <a:schemeClr val="tx1"/>
                </a:solidFill>
              </a:rPr>
              <a:t>)</a:t>
            </a:r>
            <a:r>
              <a:rPr lang="bg-BG" sz="2000">
                <a:solidFill>
                  <a:schemeClr val="tx1"/>
                </a:solidFill>
              </a:rPr>
              <a:t> и едва след това последователно търсене. Това подобрение има смисъл, ако дължината на интервала след първото търсене със стъпка  </a:t>
            </a:r>
            <a:r>
              <a:rPr lang="en-US" sz="2000" b="1" i="1">
                <a:solidFill>
                  <a:schemeClr val="tx1"/>
                </a:solidFill>
              </a:rPr>
              <a:t>k </a:t>
            </a:r>
            <a:r>
              <a:rPr lang="bg-BG" sz="2000">
                <a:solidFill>
                  <a:schemeClr val="tx1"/>
                </a:solidFill>
              </a:rPr>
              <a:t>е голяма.  Първият интервал се определя с не повече от  </a:t>
            </a:r>
            <a:r>
              <a:rPr lang="en-US" sz="2000" b="1" i="1">
                <a:solidFill>
                  <a:schemeClr val="tx1"/>
                </a:solidFill>
              </a:rPr>
              <a:t>k </a:t>
            </a:r>
            <a:r>
              <a:rPr lang="bg-BG" sz="2000">
                <a:solidFill>
                  <a:schemeClr val="tx1"/>
                </a:solidFill>
              </a:rPr>
              <a:t>сравнения, вторият - с не повече от</a:t>
            </a:r>
            <a:r>
              <a:rPr lang="bg-BG" sz="2000" b="1" i="1">
                <a:solidFill>
                  <a:schemeClr val="tx1"/>
                </a:solidFill>
              </a:rPr>
              <a:t> </a:t>
            </a:r>
            <a:r>
              <a:rPr lang="en-US" sz="2000" b="1" i="1">
                <a:solidFill>
                  <a:schemeClr val="tx1"/>
                </a:solidFill>
              </a:rPr>
              <a:t>m </a:t>
            </a:r>
            <a:r>
              <a:rPr lang="bg-BG" sz="2000" b="1" i="1">
                <a:solidFill>
                  <a:schemeClr val="tx1"/>
                </a:solidFill>
              </a:rPr>
              <a:t> </a:t>
            </a:r>
            <a:r>
              <a:rPr lang="bg-BG" sz="2000">
                <a:solidFill>
                  <a:schemeClr val="tx1"/>
                </a:solidFill>
              </a:rPr>
              <a:t>сравнения, и накрая не повече от </a:t>
            </a:r>
            <a:r>
              <a:rPr lang="bg-BG" sz="2000" b="1" i="1">
                <a:solidFill>
                  <a:schemeClr val="tx1"/>
                </a:solidFill>
              </a:rPr>
              <a:t> </a:t>
            </a:r>
            <a:r>
              <a:rPr lang="en-US" sz="2000" b="1" i="1">
                <a:solidFill>
                  <a:schemeClr val="tx1"/>
                </a:solidFill>
              </a:rPr>
              <a:t>n/(k*m)</a:t>
            </a:r>
            <a:r>
              <a:rPr lang="bg-BG" sz="2000">
                <a:solidFill>
                  <a:schemeClr val="tx1"/>
                </a:solidFill>
              </a:rPr>
              <a:t> сравнения за последователното търсене. Можем да образуваме нова функция, която да минимизираме и ще получим </a:t>
            </a:r>
            <a:r>
              <a:rPr lang="en-US" sz="2000" b="1" i="1">
                <a:solidFill>
                  <a:schemeClr val="tx1"/>
                </a:solidFill>
              </a:rPr>
              <a:t>k</a:t>
            </a:r>
            <a:r>
              <a:rPr lang="en-US" sz="2000">
                <a:solidFill>
                  <a:schemeClr val="tx1"/>
                </a:solidFill>
              </a:rPr>
              <a:t>=</a:t>
            </a:r>
            <a:r>
              <a:rPr lang="en-US" sz="2000" b="1" i="1">
                <a:solidFill>
                  <a:schemeClr val="tx1"/>
                </a:solidFill>
              </a:rPr>
              <a:t>m</a:t>
            </a:r>
            <a:r>
              <a:rPr lang="en-US" sz="2000">
                <a:solidFill>
                  <a:schemeClr val="tx1"/>
                </a:solidFill>
              </a:rPr>
              <a:t>=</a:t>
            </a:r>
            <a:r>
              <a:rPr lang="en-US" sz="2000" b="1" i="1">
                <a:solidFill>
                  <a:schemeClr val="tx1"/>
                </a:solidFill>
              </a:rPr>
              <a:t>n</a:t>
            </a:r>
            <a:r>
              <a:rPr lang="en-US" sz="2000">
                <a:solidFill>
                  <a:schemeClr val="tx1"/>
                </a:solidFill>
              </a:rPr>
              <a:t>/(</a:t>
            </a:r>
            <a:r>
              <a:rPr lang="en-US" sz="2000" b="1" i="1">
                <a:solidFill>
                  <a:schemeClr val="tx1"/>
                </a:solidFill>
              </a:rPr>
              <a:t>k</a:t>
            </a:r>
            <a:r>
              <a:rPr lang="en-US" sz="2000">
                <a:solidFill>
                  <a:schemeClr val="tx1"/>
                </a:solidFill>
              </a:rPr>
              <a:t>*</a:t>
            </a:r>
            <a:r>
              <a:rPr lang="en-US" sz="2000" b="1" i="1">
                <a:solidFill>
                  <a:schemeClr val="tx1"/>
                </a:solidFill>
              </a:rPr>
              <a:t>m</a:t>
            </a:r>
            <a:r>
              <a:rPr lang="en-US" sz="2000">
                <a:solidFill>
                  <a:schemeClr val="tx1"/>
                </a:solidFill>
              </a:rPr>
              <a:t>)</a:t>
            </a:r>
            <a:r>
              <a:rPr lang="bg-BG" sz="2000">
                <a:solidFill>
                  <a:schemeClr val="tx1"/>
                </a:solidFill>
              </a:rPr>
              <a:t>, откъдето </a:t>
            </a:r>
            <a:r>
              <a:rPr lang="en-US" sz="2000" b="1" i="1">
                <a:solidFill>
                  <a:schemeClr val="tx1"/>
                </a:solidFill>
              </a:rPr>
              <a:t> n</a:t>
            </a:r>
            <a:r>
              <a:rPr lang="en-US" sz="2000">
                <a:solidFill>
                  <a:schemeClr val="tx1"/>
                </a:solidFill>
              </a:rPr>
              <a:t>=</a:t>
            </a:r>
            <a:r>
              <a:rPr lang="en-US" sz="2000" b="1" i="1">
                <a:solidFill>
                  <a:schemeClr val="tx1"/>
                </a:solidFill>
              </a:rPr>
              <a:t>k</a:t>
            </a:r>
            <a:r>
              <a:rPr lang="en-US" sz="2000" b="1" i="1" baseline="30000">
                <a:solidFill>
                  <a:schemeClr val="tx1"/>
                </a:solidFill>
              </a:rPr>
              <a:t>3</a:t>
            </a:r>
            <a:r>
              <a:rPr lang="en-US" sz="2000">
                <a:solidFill>
                  <a:schemeClr val="tx1"/>
                </a:solidFill>
              </a:rPr>
              <a:t>.</a:t>
            </a:r>
            <a:r>
              <a:rPr lang="bg-BG" sz="2000">
                <a:solidFill>
                  <a:schemeClr val="tx1"/>
                </a:solidFill>
              </a:rPr>
              <a:t>  За по-големи подробности </a:t>
            </a:r>
            <a:r>
              <a:rPr lang="bg-BG" sz="2000" smtClean="0">
                <a:solidFill>
                  <a:schemeClr val="tx1"/>
                </a:solidFill>
              </a:rPr>
              <a:t>– в книгата на Преслав </a:t>
            </a:r>
            <a:r>
              <a:rPr lang="bg-BG" sz="2000">
                <a:solidFill>
                  <a:schemeClr val="tx1"/>
                </a:solidFill>
              </a:rPr>
              <a:t>Наков, Панайот Добриков. </a:t>
            </a:r>
            <a:r>
              <a:rPr lang="bg-BG" sz="2000" i="1">
                <a:solidFill>
                  <a:schemeClr val="tx1"/>
                </a:solidFill>
              </a:rPr>
              <a:t>Програмиране = ++Алгоритми</a:t>
            </a:r>
            <a:r>
              <a:rPr lang="bg-BG" sz="2000">
                <a:solidFill>
                  <a:schemeClr val="tx1"/>
                </a:solidFill>
              </a:rPr>
              <a:t>, </a:t>
            </a:r>
            <a:r>
              <a:rPr lang="en-US" sz="2000">
                <a:solidFill>
                  <a:schemeClr val="tx1"/>
                </a:solidFill>
              </a:rPr>
              <a:t>TpoTeam Co., </a:t>
            </a:r>
            <a:r>
              <a:rPr lang="bg-BG" sz="2000">
                <a:solidFill>
                  <a:schemeClr val="tx1"/>
                </a:solidFill>
              </a:rPr>
              <a:t>София,</a:t>
            </a:r>
            <a:r>
              <a:rPr lang="en-US" sz="2000">
                <a:solidFill>
                  <a:schemeClr val="tx1"/>
                </a:solidFill>
              </a:rPr>
              <a:t> 2002.</a:t>
            </a:r>
            <a:r>
              <a:rPr lang="bg-BG" sz="2000">
                <a:solidFill>
                  <a:schemeClr val="tx1"/>
                </a:solidFill>
              </a:rPr>
              <a:t> </a:t>
            </a:r>
            <a:r>
              <a:rPr lang="bg-BG" sz="2000">
                <a:solidFill>
                  <a:schemeClr val="tx2">
                    <a:satMod val="130000"/>
                  </a:schemeClr>
                </a:solidFill>
              </a:rPr>
              <a:t/>
            </a:r>
            <a:br>
              <a:rPr lang="bg-BG" sz="2000">
                <a:solidFill>
                  <a:schemeClr val="tx2">
                    <a:satMod val="130000"/>
                  </a:schemeClr>
                </a:solidFill>
              </a:rPr>
            </a:br>
            <a:endParaRPr lang="en-US" sz="2000">
              <a:solidFill>
                <a:schemeClr val="tx2">
                  <a:satMod val="130000"/>
                </a:schemeClr>
              </a:solidFill>
              <a:sym typeface="GreekMathSymbols" pitchFamily="2" charset="2"/>
            </a:endParaRPr>
          </a:p>
        </p:txBody>
      </p:sp>
      <p:sp>
        <p:nvSpPr>
          <p:cNvPr id="5" name="Slide Number Placeholder 4"/>
          <p:cNvSpPr>
            <a:spLocks noGrp="1"/>
          </p:cNvSpPr>
          <p:nvPr>
            <p:ph type="sldNum" sz="quarter" idx="12"/>
          </p:nvPr>
        </p:nvSpPr>
        <p:spPr/>
        <p:txBody>
          <a:bodyPr/>
          <a:lstStyle/>
          <a:p>
            <a:pPr>
              <a:defRPr/>
            </a:pPr>
            <a:fld id="{DD7C2DC3-1673-4DC5-A091-1B51E5F80C14}" type="slidenum">
              <a:rPr lang="en-US"/>
              <a:pPr>
                <a:defRPr/>
              </a:pPr>
              <a:t>96</a:t>
            </a:fld>
            <a:endParaRPr lang="en-US"/>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3"/>
          <p:cNvSpPr>
            <a:spLocks noGrp="1" noChangeArrowheads="1"/>
          </p:cNvSpPr>
          <p:nvPr>
            <p:ph type="title"/>
          </p:nvPr>
        </p:nvSpPr>
        <p:spPr>
          <a:xfrm>
            <a:off x="1052513" y="381000"/>
            <a:ext cx="8091487" cy="6477000"/>
          </a:xfrm>
        </p:spPr>
        <p:txBody>
          <a:bodyPr>
            <a:normAutofit fontScale="90000"/>
          </a:bodyPr>
          <a:lstStyle/>
          <a:p>
            <a:pPr eaLnBrk="1" fontAlgn="auto" hangingPunct="1">
              <a:lnSpc>
                <a:spcPct val="90000"/>
              </a:lnSpc>
              <a:spcAft>
                <a:spcPts val="0"/>
              </a:spcAft>
              <a:defRPr/>
            </a:pPr>
            <a:r>
              <a:rPr lang="bg-BG" sz="2000" i="1">
                <a:solidFill>
                  <a:schemeClr val="tx1"/>
                </a:solidFill>
                <a:latin typeface="Arial" pitchFamily="34" charset="0"/>
                <a:cs typeface="Arial" pitchFamily="34" charset="0"/>
              </a:rPr>
              <a:t>5.</a:t>
            </a:r>
            <a:r>
              <a:rPr lang="bg-BG" sz="2000" i="1">
                <a:solidFill>
                  <a:schemeClr val="tx1"/>
                </a:solidFill>
              </a:rPr>
              <a:t> Двоично търсене (Binary Search, Logarithmic Search</a:t>
            </a:r>
            <a:r>
              <a:rPr lang="bg-BG" sz="2000" b="1" i="1">
                <a:solidFill>
                  <a:schemeClr val="tx1"/>
                </a:solidFill>
              </a:rPr>
              <a:t>)</a:t>
            </a:r>
            <a:r>
              <a:rPr lang="bg-BG" sz="800" b="1">
                <a:solidFill>
                  <a:schemeClr val="tx1"/>
                </a:solidFill>
              </a:rPr>
              <a:t/>
            </a:r>
            <a:br>
              <a:rPr lang="bg-BG" sz="800" b="1">
                <a:solidFill>
                  <a:schemeClr val="tx1"/>
                </a:solidFill>
              </a:rPr>
            </a:br>
            <a:r>
              <a:rPr lang="bg-BG" sz="800" b="1">
                <a:solidFill>
                  <a:schemeClr val="tx1"/>
                </a:solidFill>
              </a:rPr>
              <a:t/>
            </a:r>
            <a:br>
              <a:rPr lang="bg-BG" sz="800" b="1">
                <a:solidFill>
                  <a:schemeClr val="tx1"/>
                </a:solidFill>
              </a:rPr>
            </a:br>
            <a:r>
              <a:rPr lang="bg-BG" sz="2000" b="1">
                <a:solidFill>
                  <a:schemeClr val="tx1"/>
                </a:solidFill>
              </a:rPr>
              <a:t>	</a:t>
            </a:r>
            <a:r>
              <a:rPr lang="bg-BG" sz="2000">
                <a:solidFill>
                  <a:schemeClr val="tx1"/>
                </a:solidFill>
              </a:rPr>
              <a:t>В случай на голям брой елементи и голям брой търсения е удобно използването на </a:t>
            </a:r>
            <a:r>
              <a:rPr lang="bg-BG" sz="2000" i="1">
                <a:solidFill>
                  <a:schemeClr val="tx1"/>
                </a:solidFill>
              </a:rPr>
              <a:t>двоично търсене</a:t>
            </a:r>
            <a:r>
              <a:rPr lang="bg-BG" sz="2000">
                <a:solidFill>
                  <a:schemeClr val="tx1"/>
                </a:solidFill>
              </a:rPr>
              <a:t>.  Двоичното търсене е още един добър пример на принципа "разделяй и владей" и използва идеята, позната от пирамидалното сортиране . Обикновено се прилага към подреден масив/ таблица. Методът е рекурсивен. Търсената стойност </a:t>
            </a:r>
            <a:r>
              <a:rPr lang="bg-BG" sz="2000" b="1" i="1">
                <a:solidFill>
                  <a:schemeClr val="tx1"/>
                </a:solidFill>
              </a:rPr>
              <a:t>k</a:t>
            </a:r>
            <a:r>
              <a:rPr lang="bg-BG" sz="2000">
                <a:solidFill>
                  <a:schemeClr val="tx1"/>
                </a:solidFill>
              </a:rPr>
              <a:t> се сравнява с ключа на средния елемент в таблицата. Ако елементът е по-голям, търсенето продължава в дясната част от таблицата, в противен случай - в лявата. При съвпадение търсенето се прекратява. На всяка стъпка размерът на полето за търсене се съкращава приблизително двойно:</a:t>
            </a:r>
            <a:br>
              <a:rPr lang="bg-BG" sz="2000">
                <a:solidFill>
                  <a:schemeClr val="tx1"/>
                </a:solidFill>
              </a:rPr>
            </a:br>
            <a:r>
              <a:rPr lang="bg-BG" sz="800">
                <a:solidFill>
                  <a:schemeClr val="tx1"/>
                </a:solidFill>
              </a:rPr>
              <a:t/>
            </a:r>
            <a:br>
              <a:rPr lang="bg-BG" sz="800">
                <a:solidFill>
                  <a:schemeClr val="tx1"/>
                </a:solidFill>
              </a:rPr>
            </a:br>
            <a:r>
              <a:rPr lang="bg-BG" sz="2000">
                <a:solidFill>
                  <a:schemeClr val="tx1"/>
                </a:solidFill>
                <a:latin typeface="Courier New" pitchFamily="49" charset="-52"/>
              </a:rPr>
              <a:t>int Bin_search(int a[], int lf, int rt, int k)</a:t>
            </a:r>
            <a:br>
              <a:rPr lang="bg-BG" sz="2000">
                <a:solidFill>
                  <a:schemeClr val="tx1"/>
                </a:solidFill>
                <a:latin typeface="Courier New" pitchFamily="49" charset="-52"/>
              </a:rPr>
            </a:br>
            <a:r>
              <a:rPr lang="bg-BG" sz="2000">
                <a:solidFill>
                  <a:schemeClr val="tx1"/>
                </a:solidFill>
                <a:latin typeface="Courier New" pitchFamily="49" charset="-52"/>
              </a:rPr>
              <a:t>// a[] - подредена последователност от num цели числа</a:t>
            </a:r>
            <a:br>
              <a:rPr lang="bg-BG" sz="2000">
                <a:solidFill>
                  <a:schemeClr val="tx1"/>
                </a:solidFill>
                <a:latin typeface="Courier New" pitchFamily="49" charset="-52"/>
              </a:rPr>
            </a:br>
            <a:r>
              <a:rPr lang="bg-BG" sz="2000">
                <a:solidFill>
                  <a:schemeClr val="tx1"/>
                </a:solidFill>
                <a:latin typeface="Courier New" pitchFamily="49" charset="-52"/>
              </a:rPr>
              <a:t>// k - търсената стойност</a:t>
            </a:r>
            <a:br>
              <a:rPr lang="bg-BG" sz="2000">
                <a:solidFill>
                  <a:schemeClr val="tx1"/>
                </a:solidFill>
                <a:latin typeface="Courier New" pitchFamily="49" charset="-52"/>
              </a:rPr>
            </a:br>
            <a:r>
              <a:rPr lang="bg-BG" sz="2000">
                <a:solidFill>
                  <a:schemeClr val="tx1"/>
                </a:solidFill>
                <a:latin typeface="Courier New" pitchFamily="49" charset="-52"/>
              </a:rPr>
              <a:t>// lf - left - лявата граница на индекса</a:t>
            </a:r>
            <a:br>
              <a:rPr lang="bg-BG" sz="2000">
                <a:solidFill>
                  <a:schemeClr val="tx1"/>
                </a:solidFill>
                <a:latin typeface="Courier New" pitchFamily="49" charset="-52"/>
              </a:rPr>
            </a:br>
            <a:r>
              <a:rPr lang="bg-BG" sz="2000">
                <a:solidFill>
                  <a:schemeClr val="tx1"/>
                </a:solidFill>
                <a:latin typeface="Courier New" pitchFamily="49" charset="-52"/>
              </a:rPr>
              <a:t>// rt - right - дясната граница на индекса</a:t>
            </a:r>
            <a:br>
              <a:rPr lang="bg-BG" sz="2000">
                <a:solidFill>
                  <a:schemeClr val="tx1"/>
                </a:solidFill>
                <a:latin typeface="Courier New" pitchFamily="49" charset="-52"/>
              </a:rPr>
            </a:br>
            <a:r>
              <a:rPr lang="bg-BG" sz="2000">
                <a:solidFill>
                  <a:schemeClr val="tx1"/>
                </a:solidFill>
                <a:latin typeface="Courier New" pitchFamily="49" charset="-52"/>
              </a:rPr>
              <a:t>// Обръщението към функцията изглежда така: </a:t>
            </a:r>
            <a:br>
              <a:rPr lang="bg-BG" sz="2000">
                <a:solidFill>
                  <a:schemeClr val="tx1"/>
                </a:solidFill>
                <a:latin typeface="Courier New" pitchFamily="49" charset="-52"/>
              </a:rPr>
            </a:br>
            <a:r>
              <a:rPr lang="bg-BG" sz="2000">
                <a:solidFill>
                  <a:schemeClr val="tx1"/>
                </a:solidFill>
                <a:latin typeface="Courier New" pitchFamily="49" charset="-52"/>
              </a:rPr>
              <a:t>// Bin_search(a,0,num,k)</a:t>
            </a:r>
            <a:br>
              <a:rPr lang="bg-BG" sz="2000">
                <a:solidFill>
                  <a:schemeClr val="tx1"/>
                </a:solidFill>
                <a:latin typeface="Courier New" pitchFamily="49" charset="-52"/>
              </a:rPr>
            </a:br>
            <a:r>
              <a:rPr lang="bg-BG" sz="2000">
                <a:solidFill>
                  <a:schemeClr val="tx1"/>
                </a:solidFill>
                <a:latin typeface="Courier New" pitchFamily="49" charset="-52"/>
              </a:rPr>
              <a:t>{  if (lf&gt;rt) return 0;  int m=(lf+rt)/2; </a:t>
            </a:r>
            <a:br>
              <a:rPr lang="bg-BG" sz="2000">
                <a:solidFill>
                  <a:schemeClr val="tx1"/>
                </a:solidFill>
                <a:latin typeface="Courier New" pitchFamily="49" charset="-52"/>
              </a:rPr>
            </a:br>
            <a:r>
              <a:rPr lang="bg-BG" sz="2000">
                <a:solidFill>
                  <a:schemeClr val="tx1"/>
                </a:solidFill>
                <a:latin typeface="Courier New" pitchFamily="49" charset="-52"/>
              </a:rPr>
              <a:t>   if (a[m]==k) return a[m];  </a:t>
            </a:r>
            <a:br>
              <a:rPr lang="bg-BG" sz="2000">
                <a:solidFill>
                  <a:schemeClr val="tx1"/>
                </a:solidFill>
                <a:latin typeface="Courier New" pitchFamily="49" charset="-52"/>
              </a:rPr>
            </a:br>
            <a:r>
              <a:rPr lang="bg-BG" sz="2000">
                <a:solidFill>
                  <a:schemeClr val="tx1"/>
                </a:solidFill>
                <a:latin typeface="Courier New" pitchFamily="49" charset="-52"/>
              </a:rPr>
              <a:t>   if (lf==rt) return 0;  </a:t>
            </a:r>
            <a:br>
              <a:rPr lang="bg-BG" sz="2000">
                <a:solidFill>
                  <a:schemeClr val="tx1"/>
                </a:solidFill>
                <a:latin typeface="Courier New" pitchFamily="49" charset="-52"/>
              </a:rPr>
            </a:br>
            <a:r>
              <a:rPr lang="bg-BG" sz="2000">
                <a:solidFill>
                  <a:schemeClr val="tx1"/>
                </a:solidFill>
                <a:latin typeface="Courier New" pitchFamily="49" charset="-52"/>
              </a:rPr>
              <a:t>   if(a[m]&gt;k) return Bin_search(a, lf, m-1, k);  </a:t>
            </a:r>
            <a:br>
              <a:rPr lang="bg-BG" sz="2000">
                <a:solidFill>
                  <a:schemeClr val="tx1"/>
                </a:solidFill>
                <a:latin typeface="Courier New" pitchFamily="49" charset="-52"/>
              </a:rPr>
            </a:br>
            <a:r>
              <a:rPr lang="bg-BG" sz="2000">
                <a:solidFill>
                  <a:schemeClr val="tx1"/>
                </a:solidFill>
                <a:latin typeface="Courier New" pitchFamily="49" charset="-52"/>
              </a:rPr>
              <a:t>       else   return Bin_search(a, m+1, rt, k);</a:t>
            </a:r>
            <a:br>
              <a:rPr lang="bg-BG" sz="2000">
                <a:solidFill>
                  <a:schemeClr val="tx1"/>
                </a:solidFill>
                <a:latin typeface="Courier New" pitchFamily="49" charset="-52"/>
              </a:rPr>
            </a:br>
            <a:r>
              <a:rPr lang="bg-BG" sz="2000">
                <a:solidFill>
                  <a:schemeClr val="tx1"/>
                </a:solidFill>
                <a:latin typeface="Courier New" pitchFamily="49" charset="-52"/>
              </a:rPr>
              <a:t>}</a:t>
            </a:r>
            <a:br>
              <a:rPr lang="bg-BG" sz="2000">
                <a:solidFill>
                  <a:schemeClr val="tx1"/>
                </a:solidFill>
                <a:latin typeface="Courier New" pitchFamily="49" charset="-52"/>
              </a:rPr>
            </a:br>
            <a:endParaRPr lang="bg-BG" sz="2000">
              <a:solidFill>
                <a:schemeClr val="tx1"/>
              </a:solidFill>
              <a:latin typeface="Courier New" pitchFamily="49" charset="-52"/>
            </a:endParaRPr>
          </a:p>
        </p:txBody>
      </p:sp>
      <p:sp>
        <p:nvSpPr>
          <p:cNvPr id="5" name="Slide Number Placeholder 4"/>
          <p:cNvSpPr>
            <a:spLocks noGrp="1"/>
          </p:cNvSpPr>
          <p:nvPr>
            <p:ph type="sldNum" sz="quarter" idx="12"/>
          </p:nvPr>
        </p:nvSpPr>
        <p:spPr/>
        <p:txBody>
          <a:bodyPr/>
          <a:lstStyle/>
          <a:p>
            <a:pPr>
              <a:defRPr/>
            </a:pPr>
            <a:fld id="{BF3FB547-D40A-45F1-870A-BC45FF9794ED}" type="slidenum">
              <a:rPr lang="en-US"/>
              <a:pPr>
                <a:defRPr/>
              </a:pPr>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type="title"/>
          </p:nvPr>
        </p:nvSpPr>
        <p:spPr>
          <a:xfrm>
            <a:off x="1116013" y="188913"/>
            <a:ext cx="7867650" cy="6400800"/>
          </a:xfrm>
        </p:spPr>
        <p:txBody>
          <a:bodyPr/>
          <a:lstStyle/>
          <a:p>
            <a:pPr eaLnBrk="1" fontAlgn="auto" hangingPunct="1">
              <a:lnSpc>
                <a:spcPct val="110000"/>
              </a:lnSpc>
              <a:spcAft>
                <a:spcPts val="0"/>
              </a:spcAft>
              <a:defRPr/>
            </a:pPr>
            <a:r>
              <a:rPr lang="en-US" sz="2000">
                <a:solidFill>
                  <a:schemeClr val="tx1"/>
                </a:solidFill>
              </a:rPr>
              <a:t>	</a:t>
            </a:r>
            <a:r>
              <a:rPr lang="bg-BG" sz="2000">
                <a:solidFill>
                  <a:schemeClr val="tx1"/>
                </a:solidFill>
              </a:rPr>
              <a:t>Ситуацията </a:t>
            </a:r>
            <a:r>
              <a:rPr lang="bg-BG" sz="2000" b="1">
                <a:solidFill>
                  <a:schemeClr val="tx1"/>
                </a:solidFill>
              </a:rPr>
              <a:t>lf=rt</a:t>
            </a:r>
            <a:r>
              <a:rPr lang="bg-BG" sz="2000">
                <a:solidFill>
                  <a:schemeClr val="tx1"/>
                </a:solidFill>
              </a:rPr>
              <a:t> отговаря на листата на дървото. Алгоритъмът предполага максимум [</a:t>
            </a:r>
            <a:r>
              <a:rPr lang="bg-BG" sz="2000" b="1">
                <a:solidFill>
                  <a:schemeClr val="tx1"/>
                </a:solidFill>
              </a:rPr>
              <a:t>log</a:t>
            </a:r>
            <a:r>
              <a:rPr lang="bg-BG" sz="2000" b="1" baseline="-25000">
                <a:solidFill>
                  <a:schemeClr val="tx1"/>
                </a:solidFill>
              </a:rPr>
              <a:t>2</a:t>
            </a:r>
            <a:r>
              <a:rPr lang="bg-BG" sz="2000" b="1">
                <a:solidFill>
                  <a:schemeClr val="tx1"/>
                </a:solidFill>
              </a:rPr>
              <a:t>n</a:t>
            </a:r>
            <a:r>
              <a:rPr lang="bg-BG" sz="2000">
                <a:solidFill>
                  <a:schemeClr val="tx1"/>
                </a:solidFill>
              </a:rPr>
              <a:t>] +</a:t>
            </a:r>
            <a:r>
              <a:rPr lang="bg-BG" sz="2000">
                <a:solidFill>
                  <a:schemeClr val="tx1"/>
                </a:solidFill>
                <a:latin typeface="Arial" pitchFamily="34" charset="0"/>
                <a:cs typeface="Arial" pitchFamily="34" charset="0"/>
              </a:rPr>
              <a:t>1 </a:t>
            </a:r>
            <a:r>
              <a:rPr lang="bg-BG" sz="2000">
                <a:solidFill>
                  <a:schemeClr val="tx1"/>
                </a:solidFill>
              </a:rPr>
              <a:t>сравнения. Сложността на алгоритъма е </a:t>
            </a:r>
            <a:r>
              <a:rPr lang="bg-BG" sz="2000" b="1">
                <a:solidFill>
                  <a:schemeClr val="tx1"/>
                </a:solidFill>
              </a:rPr>
              <a:t>O(log n).</a:t>
            </a:r>
            <a:r>
              <a:rPr lang="bg-BG" sz="2000">
                <a:solidFill>
                  <a:schemeClr val="tx1"/>
                </a:solidFill>
              </a:rPr>
              <a:t/>
            </a:r>
            <a:br>
              <a:rPr lang="bg-BG" sz="2000">
                <a:solidFill>
                  <a:schemeClr val="tx1"/>
                </a:solidFill>
              </a:rPr>
            </a:br>
            <a:r>
              <a:rPr lang="bg-BG" sz="2000">
                <a:solidFill>
                  <a:schemeClr val="tx1"/>
                </a:solidFill>
              </a:rPr>
              <a:t>	Основният недостатък на двоичното търсене е тежката операция деление, извършвана на всяка стъпка от изпълнението на алгоритъма. </a:t>
            </a:r>
            <a:r>
              <a:rPr lang="bg-BG" sz="800">
                <a:solidFill>
                  <a:schemeClr val="tx1"/>
                </a:solidFill>
              </a:rPr>
              <a:t/>
            </a:r>
            <a:br>
              <a:rPr lang="bg-BG" sz="800">
                <a:solidFill>
                  <a:schemeClr val="tx1"/>
                </a:solidFill>
              </a:rPr>
            </a:br>
            <a:r>
              <a:rPr lang="bg-BG" sz="800">
                <a:solidFill>
                  <a:schemeClr val="tx1"/>
                </a:solidFill>
              </a:rPr>
              <a:t/>
            </a:r>
            <a:br>
              <a:rPr lang="bg-BG" sz="800">
                <a:solidFill>
                  <a:schemeClr val="tx1"/>
                </a:solidFill>
              </a:rPr>
            </a:br>
            <a:r>
              <a:rPr lang="bg-BG" sz="2000">
                <a:solidFill>
                  <a:schemeClr val="tx1"/>
                </a:solidFill>
              </a:rPr>
              <a:t>	Реализацията му на С/С++ позволява да се избегне тази операция, като делението на </a:t>
            </a:r>
            <a:r>
              <a:rPr lang="bg-BG" sz="2000">
                <a:solidFill>
                  <a:schemeClr val="tx1"/>
                </a:solidFill>
                <a:latin typeface="Arial" pitchFamily="34" charset="0"/>
                <a:cs typeface="Arial" pitchFamily="34" charset="0"/>
              </a:rPr>
              <a:t>2</a:t>
            </a:r>
            <a:r>
              <a:rPr lang="bg-BG" sz="2000">
                <a:solidFill>
                  <a:schemeClr val="tx1"/>
                </a:solidFill>
              </a:rPr>
              <a:t> се извършва с изместване на делимото с една позиция надясно, т. е. редът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t>
            </a:r>
            <a:r>
              <a:rPr lang="bg-BG" sz="2000">
                <a:solidFill>
                  <a:schemeClr val="tx1"/>
                </a:solidFill>
                <a:latin typeface="Courier New" pitchFamily="49" charset="-52"/>
              </a:rPr>
              <a:t>int m=(lf+rt)/2;</a:t>
            </a:r>
            <a:br>
              <a:rPr lang="bg-BG" sz="2000">
                <a:solidFill>
                  <a:schemeClr val="tx1"/>
                </a:solidFill>
                <a:latin typeface="Courier New" pitchFamily="49" charset="-52"/>
              </a:rPr>
            </a:br>
            <a:r>
              <a:rPr lang="bg-BG" sz="2000">
                <a:solidFill>
                  <a:schemeClr val="tx1"/>
                </a:solidFill>
                <a:latin typeface="Courier New" pitchFamily="49" charset="-52"/>
              </a:rPr>
              <a:t/>
            </a:r>
            <a:br>
              <a:rPr lang="bg-BG" sz="2000">
                <a:solidFill>
                  <a:schemeClr val="tx1"/>
                </a:solidFill>
                <a:latin typeface="Courier New" pitchFamily="49" charset="-52"/>
              </a:rPr>
            </a:br>
            <a:r>
              <a:rPr lang="bg-BG" sz="2000">
                <a:solidFill>
                  <a:schemeClr val="tx1"/>
                </a:solidFill>
              </a:rPr>
              <a:t>следва да се замени с:</a:t>
            </a:r>
            <a:br>
              <a:rPr lang="bg-BG" sz="2000">
                <a:solidFill>
                  <a:schemeClr val="tx1"/>
                </a:solidFill>
              </a:rPr>
            </a:br>
            <a:r>
              <a:rPr lang="bg-BG" sz="2000">
                <a:solidFill>
                  <a:schemeClr val="tx1"/>
                </a:solidFill>
                <a:latin typeface="Arial" charset="0"/>
              </a:rPr>
              <a:t>		</a:t>
            </a:r>
            <a:br>
              <a:rPr lang="bg-BG" sz="2000">
                <a:solidFill>
                  <a:schemeClr val="tx1"/>
                </a:solidFill>
                <a:latin typeface="Arial" charset="0"/>
              </a:rPr>
            </a:br>
            <a:r>
              <a:rPr lang="bg-BG" sz="2000">
                <a:solidFill>
                  <a:schemeClr val="tx1"/>
                </a:solidFill>
                <a:latin typeface="Arial" charset="0"/>
              </a:rPr>
              <a:t>                          </a:t>
            </a:r>
            <a:r>
              <a:rPr lang="bg-BG" sz="2000">
                <a:solidFill>
                  <a:schemeClr val="tx1"/>
                </a:solidFill>
                <a:latin typeface="Courier New" pitchFamily="49" charset="-52"/>
              </a:rPr>
              <a:t>int m=(lf+rt)&gt;&gt;1;</a:t>
            </a:r>
          </a:p>
        </p:txBody>
      </p:sp>
      <p:sp>
        <p:nvSpPr>
          <p:cNvPr id="5" name="Slide Number Placeholder 4"/>
          <p:cNvSpPr>
            <a:spLocks noGrp="1"/>
          </p:cNvSpPr>
          <p:nvPr>
            <p:ph type="sldNum" sz="quarter" idx="12"/>
          </p:nvPr>
        </p:nvSpPr>
        <p:spPr/>
        <p:txBody>
          <a:bodyPr/>
          <a:lstStyle/>
          <a:p>
            <a:pPr>
              <a:defRPr/>
            </a:pPr>
            <a:fld id="{5ADB1E75-AABA-4477-A5D3-6070DF614438}" type="slidenum">
              <a:rPr lang="en-US"/>
              <a:pPr>
                <a:defRPr/>
              </a:pPr>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Grp="1" noChangeArrowheads="1"/>
          </p:cNvSpPr>
          <p:nvPr>
            <p:ph type="title"/>
          </p:nvPr>
        </p:nvSpPr>
        <p:spPr>
          <a:xfrm>
            <a:off x="984250" y="188913"/>
            <a:ext cx="8159750" cy="6324600"/>
          </a:xfrm>
        </p:spPr>
        <p:txBody>
          <a:bodyPr>
            <a:normAutofit fontScale="90000"/>
          </a:bodyPr>
          <a:lstStyle/>
          <a:p>
            <a:pPr eaLnBrk="1" fontAlgn="auto" hangingPunct="1">
              <a:spcAft>
                <a:spcPts val="0"/>
              </a:spcAft>
              <a:defRPr/>
            </a:pPr>
            <a:r>
              <a:rPr lang="en-US" sz="2000">
                <a:solidFill>
                  <a:schemeClr val="tx1"/>
                </a:solidFill>
              </a:rPr>
              <a:t>	</a:t>
            </a:r>
            <a:r>
              <a:rPr lang="bg-BG" sz="2000">
                <a:solidFill>
                  <a:schemeClr val="tx1"/>
                </a:solidFill>
              </a:rPr>
              <a:t>Описаният процес е рекурсивен. На практика обаче на всяка стъпка се разглежда точно един от двата подмасива. Вземайки предвид това, не е трудно да реализираме итеративно решение:</a:t>
            </a:r>
            <a:br>
              <a:rPr lang="bg-BG" sz="2000">
                <a:solidFill>
                  <a:schemeClr val="tx1"/>
                </a:solidFill>
              </a:rPr>
            </a:br>
            <a:r>
              <a:rPr lang="bg-BG" sz="1000">
                <a:solidFill>
                  <a:schemeClr val="tx1"/>
                </a:solidFill>
              </a:rPr>
              <a:t/>
            </a:r>
            <a:br>
              <a:rPr lang="bg-BG" sz="1000">
                <a:solidFill>
                  <a:schemeClr val="tx1"/>
                </a:solidFill>
              </a:rPr>
            </a:br>
            <a:r>
              <a:rPr lang="en-US" sz="2000">
                <a:solidFill>
                  <a:schemeClr val="tx1"/>
                </a:solidFill>
              </a:rPr>
              <a:t>int bin_search (int  k)</a:t>
            </a:r>
            <a:br>
              <a:rPr lang="en-US" sz="2000">
                <a:solidFill>
                  <a:schemeClr val="tx1"/>
                </a:solidFill>
              </a:rPr>
            </a:br>
            <a:r>
              <a:rPr lang="en-US" sz="2000">
                <a:solidFill>
                  <a:schemeClr val="tx1"/>
                </a:solidFill>
              </a:rPr>
              <a:t>{</a:t>
            </a:r>
            <a:br>
              <a:rPr lang="en-US" sz="2000">
                <a:solidFill>
                  <a:schemeClr val="tx1"/>
                </a:solidFill>
              </a:rPr>
            </a:br>
            <a:r>
              <a:rPr lang="en-US" sz="2000">
                <a:solidFill>
                  <a:schemeClr val="tx1"/>
                </a:solidFill>
              </a:rPr>
              <a:t>     int lf=0, rt=n-1, m;</a:t>
            </a:r>
            <a:br>
              <a:rPr lang="en-US" sz="2000">
                <a:solidFill>
                  <a:schemeClr val="tx1"/>
                </a:solidFill>
              </a:rPr>
            </a:br>
            <a:r>
              <a:rPr lang="en-US" sz="2000">
                <a:solidFill>
                  <a:schemeClr val="tx1"/>
                </a:solidFill>
              </a:rPr>
              <a:t>     while (lf &lt;=rt)</a:t>
            </a:r>
            <a:br>
              <a:rPr lang="en-US" sz="2000">
                <a:solidFill>
                  <a:schemeClr val="tx1"/>
                </a:solidFill>
              </a:rPr>
            </a:br>
            <a:r>
              <a:rPr lang="en-US" sz="2000">
                <a:solidFill>
                  <a:schemeClr val="tx1"/>
                </a:solidFill>
              </a:rPr>
              <a:t>         {</a:t>
            </a:r>
            <a:br>
              <a:rPr lang="en-US" sz="2000">
                <a:solidFill>
                  <a:schemeClr val="tx1"/>
                </a:solidFill>
              </a:rPr>
            </a:br>
            <a:r>
              <a:rPr lang="en-US" sz="2000">
                <a:solidFill>
                  <a:schemeClr val="tx1"/>
                </a:solidFill>
              </a:rPr>
              <a:t>              m = (lf + rt)&gt;&gt;1;</a:t>
            </a:r>
            <a:br>
              <a:rPr lang="en-US" sz="2000">
                <a:solidFill>
                  <a:schemeClr val="tx1"/>
                </a:solidFill>
              </a:rPr>
            </a:br>
            <a:r>
              <a:rPr lang="en-US" sz="2000">
                <a:solidFill>
                  <a:schemeClr val="tx1"/>
                </a:solidFill>
              </a:rPr>
              <a:t>              if (k &lt;a[m])</a:t>
            </a:r>
            <a:br>
              <a:rPr lang="en-US" sz="2000">
                <a:solidFill>
                  <a:schemeClr val="tx1"/>
                </a:solidFill>
              </a:rPr>
            </a:br>
            <a:r>
              <a:rPr lang="en-US" sz="2000">
                <a:solidFill>
                  <a:schemeClr val="tx1"/>
                </a:solidFill>
              </a:rPr>
              <a:t>                  rt = m - 1;</a:t>
            </a:r>
            <a:br>
              <a:rPr lang="en-US" sz="2000">
                <a:solidFill>
                  <a:schemeClr val="tx1"/>
                </a:solidFill>
              </a:rPr>
            </a:br>
            <a:r>
              <a:rPr lang="en-US" sz="2000">
                <a:solidFill>
                  <a:schemeClr val="tx1"/>
                </a:solidFill>
              </a:rPr>
              <a:t>                     else  if (k&gt;a[m])</a:t>
            </a:r>
            <a:br>
              <a:rPr lang="en-US" sz="2000">
                <a:solidFill>
                  <a:schemeClr val="tx1"/>
                </a:solidFill>
              </a:rPr>
            </a:br>
            <a:r>
              <a:rPr lang="en-US" sz="2000">
                <a:solidFill>
                  <a:schemeClr val="tx1"/>
                </a:solidFill>
              </a:rPr>
              <a:t>                                   lf =  m + 1;</a:t>
            </a:r>
            <a:br>
              <a:rPr lang="en-US" sz="2000">
                <a:solidFill>
                  <a:schemeClr val="tx1"/>
                </a:solidFill>
              </a:rPr>
            </a:br>
            <a:r>
              <a:rPr lang="en-US" sz="2000">
                <a:solidFill>
                  <a:schemeClr val="tx1"/>
                </a:solidFill>
              </a:rPr>
              <a:t>                                         else return m; </a:t>
            </a:r>
            <a:r>
              <a:rPr lang="bg-BG" sz="2000">
                <a:solidFill>
                  <a:schemeClr val="tx1"/>
                </a:solidFill>
              </a:rPr>
              <a:t> // </a:t>
            </a:r>
            <a:r>
              <a:rPr lang="en-US" sz="2000">
                <a:solidFill>
                  <a:schemeClr val="tx1"/>
                </a:solidFill>
              </a:rPr>
              <a:t>m - </a:t>
            </a:r>
            <a:r>
              <a:rPr lang="bg-BG" sz="2000">
                <a:solidFill>
                  <a:schemeClr val="tx1"/>
                </a:solidFill>
              </a:rPr>
              <a:t>индекс на намерения елемент</a:t>
            </a:r>
            <a:r>
              <a:rPr lang="en-US" sz="2000">
                <a:solidFill>
                  <a:schemeClr val="tx1"/>
                </a:solidFill>
              </a:rPr>
              <a:t/>
            </a:r>
            <a:br>
              <a:rPr lang="en-US" sz="2000">
                <a:solidFill>
                  <a:schemeClr val="tx1"/>
                </a:solidFill>
              </a:rPr>
            </a:br>
            <a:r>
              <a:rPr lang="en-US" sz="2000">
                <a:solidFill>
                  <a:schemeClr val="tx1"/>
                </a:solidFill>
              </a:rPr>
              <a:t>          }</a:t>
            </a:r>
            <a:br>
              <a:rPr lang="en-US" sz="2000">
                <a:solidFill>
                  <a:schemeClr val="tx1"/>
                </a:solidFill>
              </a:rPr>
            </a:br>
            <a:r>
              <a:rPr lang="en-US" sz="2000">
                <a:solidFill>
                  <a:schemeClr val="tx1"/>
                </a:solidFill>
              </a:rPr>
              <a:t>       return (-1); </a:t>
            </a:r>
            <a:r>
              <a:rPr lang="bg-BG" sz="2000">
                <a:solidFill>
                  <a:schemeClr val="tx1"/>
                </a:solidFill>
              </a:rPr>
              <a:t>         </a:t>
            </a:r>
            <a:r>
              <a:rPr lang="bg-BG" sz="2000" smtClean="0">
                <a:solidFill>
                  <a:schemeClr val="tx1"/>
                </a:solidFill>
              </a:rPr>
              <a:t>		     </a:t>
            </a:r>
            <a:r>
              <a:rPr lang="bg-BG" sz="2000">
                <a:solidFill>
                  <a:schemeClr val="tx1"/>
                </a:solidFill>
              </a:rPr>
              <a:t>// елементът не е намерен</a:t>
            </a:r>
            <a:r>
              <a:rPr lang="en-US" sz="2000">
                <a:solidFill>
                  <a:schemeClr val="tx1"/>
                </a:solidFill>
              </a:rPr>
              <a:t/>
            </a:r>
            <a:br>
              <a:rPr lang="en-US" sz="2000">
                <a:solidFill>
                  <a:schemeClr val="tx1"/>
                </a:solidFill>
              </a:rPr>
            </a:br>
            <a:r>
              <a:rPr lang="en-US" sz="2000">
                <a:solidFill>
                  <a:schemeClr val="tx1"/>
                </a:solidFill>
              </a:rPr>
              <a:t>}</a:t>
            </a:r>
            <a:br>
              <a:rPr lang="en-US" sz="2000">
                <a:solidFill>
                  <a:schemeClr val="tx1"/>
                </a:solidFill>
              </a:rPr>
            </a:br>
            <a:r>
              <a:rPr lang="en-US" sz="2000">
                <a:solidFill>
                  <a:schemeClr val="tx1"/>
                </a:solidFill>
              </a:rPr>
              <a:t>	</a:t>
            </a:r>
            <a:r>
              <a:rPr lang="bg-BG" sz="2000">
                <a:solidFill>
                  <a:schemeClr val="tx1"/>
                </a:solidFill>
              </a:rPr>
              <a:t>Възможни са и други подобрения на алгоритъма, които могат да се намерят в </a:t>
            </a:r>
            <a:r>
              <a:rPr lang="bg-BG" sz="2000" smtClean="0">
                <a:solidFill>
                  <a:schemeClr val="tx1"/>
                </a:solidFill>
              </a:rPr>
              <a:t>книгата на Преслав </a:t>
            </a:r>
            <a:r>
              <a:rPr lang="bg-BG" sz="2000">
                <a:solidFill>
                  <a:schemeClr val="tx1"/>
                </a:solidFill>
              </a:rPr>
              <a:t>Наков, Панайот Добриков. </a:t>
            </a:r>
            <a:r>
              <a:rPr lang="bg-BG" sz="2000" i="1">
                <a:solidFill>
                  <a:schemeClr val="tx1"/>
                </a:solidFill>
              </a:rPr>
              <a:t>Програмиране = ++Алгоритми</a:t>
            </a:r>
            <a:r>
              <a:rPr lang="bg-BG" sz="2000">
                <a:solidFill>
                  <a:schemeClr val="tx1"/>
                </a:solidFill>
              </a:rPr>
              <a:t>, </a:t>
            </a:r>
            <a:r>
              <a:rPr lang="en-US" sz="2000">
                <a:solidFill>
                  <a:schemeClr val="tx1"/>
                </a:solidFill>
              </a:rPr>
              <a:t>TpoTeam Co., </a:t>
            </a:r>
            <a:r>
              <a:rPr lang="bg-BG" sz="2000">
                <a:solidFill>
                  <a:schemeClr val="tx1"/>
                </a:solidFill>
              </a:rPr>
              <a:t>София,</a:t>
            </a:r>
            <a:r>
              <a:rPr lang="en-US" sz="2000">
                <a:solidFill>
                  <a:schemeClr val="tx1"/>
                </a:solidFill>
              </a:rPr>
              <a:t> 2002.</a:t>
            </a:r>
            <a:r>
              <a:rPr lang="bg-BG" sz="2000">
                <a:solidFill>
                  <a:schemeClr val="tx1"/>
                </a:solidFill>
              </a:rPr>
              <a:t> </a:t>
            </a:r>
            <a:endParaRPr lang="en-US" sz="2000">
              <a:solidFill>
                <a:schemeClr val="tx1"/>
              </a:solidFill>
            </a:endParaRPr>
          </a:p>
        </p:txBody>
      </p:sp>
      <p:sp>
        <p:nvSpPr>
          <p:cNvPr id="5" name="Slide Number Placeholder 4"/>
          <p:cNvSpPr>
            <a:spLocks noGrp="1"/>
          </p:cNvSpPr>
          <p:nvPr>
            <p:ph type="sldNum" sz="quarter" idx="12"/>
          </p:nvPr>
        </p:nvSpPr>
        <p:spPr/>
        <p:txBody>
          <a:bodyPr/>
          <a:lstStyle/>
          <a:p>
            <a:pPr>
              <a:defRPr/>
            </a:pPr>
            <a:fld id="{4A98037E-9040-4175-AE3C-EA30D09460D6}" type="slidenum">
              <a:rPr lang="en-US"/>
              <a:pPr>
                <a:defRPr/>
              </a:pPr>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p:cNvSpPr>
            <a:spLocks noGrp="1" noChangeArrowheads="1"/>
          </p:cNvSpPr>
          <p:nvPr>
            <p:ph type="title"/>
          </p:nvPr>
        </p:nvSpPr>
        <p:spPr>
          <a:xfrm>
            <a:off x="1116013" y="260350"/>
            <a:ext cx="8027987" cy="6597650"/>
          </a:xfrm>
        </p:spPr>
        <p:txBody>
          <a:bodyPr>
            <a:normAutofit fontScale="90000"/>
          </a:bodyPr>
          <a:lstStyle/>
          <a:p>
            <a:pPr eaLnBrk="1" fontAlgn="auto" hangingPunct="1">
              <a:spcAft>
                <a:spcPts val="0"/>
              </a:spcAft>
              <a:defRPr/>
            </a:pPr>
            <a:r>
              <a:rPr lang="en-US" sz="2000" i="1">
                <a:solidFill>
                  <a:schemeClr val="tx1"/>
                </a:solidFill>
              </a:rPr>
              <a:t>6</a:t>
            </a:r>
            <a:r>
              <a:rPr lang="bg-BG" sz="2000" i="1">
                <a:solidFill>
                  <a:schemeClr val="tx1"/>
                </a:solidFill>
              </a:rPr>
              <a:t>.</a:t>
            </a:r>
            <a:r>
              <a:rPr lang="en-US" sz="2000" i="1">
                <a:solidFill>
                  <a:schemeClr val="tx1"/>
                </a:solidFill>
              </a:rPr>
              <a:t> </a:t>
            </a:r>
            <a:r>
              <a:rPr lang="bg-BG" sz="2000" i="1">
                <a:solidFill>
                  <a:schemeClr val="tx1"/>
                </a:solidFill>
              </a:rPr>
              <a:t>Фибоначиево търсене</a:t>
            </a:r>
            <a:br>
              <a:rPr lang="bg-BG" sz="2000" i="1">
                <a:solidFill>
                  <a:schemeClr val="tx1"/>
                </a:solidFill>
              </a:rPr>
            </a:br>
            <a:r>
              <a:rPr lang="bg-BG" sz="800" b="1">
                <a:solidFill>
                  <a:schemeClr val="tx1"/>
                </a:solidFill>
              </a:rPr>
              <a:t/>
            </a:r>
            <a:br>
              <a:rPr lang="bg-BG" sz="800" b="1">
                <a:solidFill>
                  <a:schemeClr val="tx1"/>
                </a:solidFill>
              </a:rPr>
            </a:br>
            <a:r>
              <a:rPr lang="bg-BG" sz="2000">
                <a:solidFill>
                  <a:schemeClr val="tx1"/>
                </a:solidFill>
              </a:rPr>
              <a:t>	Представлява модификация на двоичното търсене. За разлика от двоичното търсене, тук за сравнение се избира не средния елемент в масива, а елемент с индекс </a:t>
            </a:r>
            <a:r>
              <a:rPr lang="bg-BG" sz="2000" b="1" i="1">
                <a:solidFill>
                  <a:schemeClr val="tx1"/>
                </a:solidFill>
              </a:rPr>
              <a:t>F</a:t>
            </a:r>
            <a:r>
              <a:rPr lang="bg-BG" sz="2000" b="1" i="1" baseline="-25000">
                <a:solidFill>
                  <a:schemeClr val="tx1"/>
                </a:solidFill>
              </a:rPr>
              <a:t>k-1</a:t>
            </a:r>
            <a:r>
              <a:rPr lang="bg-BG" sz="2000">
                <a:solidFill>
                  <a:schemeClr val="tx1"/>
                </a:solidFill>
              </a:rPr>
              <a:t>, като се има предвид, че броят на елементите в масива  </a:t>
            </a:r>
            <a:r>
              <a:rPr lang="bg-BG" sz="2000" b="1" i="1">
                <a:solidFill>
                  <a:schemeClr val="tx1"/>
                </a:solidFill>
              </a:rPr>
              <a:t>n</a:t>
            </a:r>
            <a:r>
              <a:rPr lang="bg-BG" sz="2000" b="1">
                <a:solidFill>
                  <a:schemeClr val="tx1"/>
                </a:solidFill>
              </a:rPr>
              <a:t> = </a:t>
            </a:r>
            <a:r>
              <a:rPr lang="bg-BG" sz="2000" b="1" i="1">
                <a:solidFill>
                  <a:schemeClr val="tx1"/>
                </a:solidFill>
              </a:rPr>
              <a:t>F</a:t>
            </a:r>
            <a:r>
              <a:rPr lang="bg-BG" sz="2000" b="1" i="1" baseline="-25000">
                <a:solidFill>
                  <a:schemeClr val="tx1"/>
                </a:solidFill>
              </a:rPr>
              <a:t>k</a:t>
            </a:r>
            <a:r>
              <a:rPr lang="bg-BG" sz="2000" b="1" i="1">
                <a:solidFill>
                  <a:schemeClr val="tx1"/>
                </a:solidFill>
              </a:rPr>
              <a:t>-</a:t>
            </a:r>
            <a:r>
              <a:rPr lang="bg-BG" sz="2000" b="1" i="1">
                <a:solidFill>
                  <a:schemeClr val="tx1"/>
                </a:solidFill>
                <a:latin typeface="Arial" pitchFamily="34" charset="0"/>
                <a:cs typeface="Arial" pitchFamily="34" charset="0"/>
              </a:rPr>
              <a:t>1</a:t>
            </a:r>
            <a:r>
              <a:rPr lang="bg-BG" sz="2000">
                <a:solidFill>
                  <a:schemeClr val="tx1"/>
                </a:solidFill>
              </a:rPr>
              <a:t>. </a:t>
            </a:r>
            <a:br>
              <a:rPr lang="bg-BG" sz="2000">
                <a:solidFill>
                  <a:schemeClr val="tx1"/>
                </a:solidFill>
              </a:rPr>
            </a:br>
            <a:r>
              <a:rPr lang="bg-BG" sz="2000">
                <a:solidFill>
                  <a:schemeClr val="tx1"/>
                </a:solidFill>
              </a:rPr>
              <a:t>	Числата на Фибоначи се задават с рекурентната формула:</a:t>
            </a:r>
            <a:br>
              <a:rPr lang="bg-BG" sz="2000">
                <a:solidFill>
                  <a:schemeClr val="tx1"/>
                </a:solidFill>
              </a:rPr>
            </a:br>
            <a:r>
              <a:rPr lang="bg-BG" sz="1000">
                <a:solidFill>
                  <a:schemeClr val="tx1"/>
                </a:solidFill>
              </a:rPr>
              <a:t/>
            </a:r>
            <a:br>
              <a:rPr lang="bg-BG" sz="1000">
                <a:solidFill>
                  <a:schemeClr val="tx1"/>
                </a:solidFill>
              </a:rPr>
            </a:br>
            <a:r>
              <a:rPr lang="bg-BG" sz="2000">
                <a:solidFill>
                  <a:schemeClr val="tx1"/>
                </a:solidFill>
              </a:rPr>
              <a:t> 		</a:t>
            </a:r>
            <a:r>
              <a:rPr lang="bg-BG" sz="2000" b="1" i="1">
                <a:solidFill>
                  <a:schemeClr val="tx1"/>
                </a:solidFill>
              </a:rPr>
              <a:t>F</a:t>
            </a:r>
            <a:r>
              <a:rPr lang="bg-BG" sz="2000" b="1" i="1" baseline="-25000">
                <a:solidFill>
                  <a:schemeClr val="tx1"/>
                </a:solidFill>
              </a:rPr>
              <a:t>0</a:t>
            </a:r>
            <a:r>
              <a:rPr lang="bg-BG" sz="2000">
                <a:solidFill>
                  <a:schemeClr val="tx1"/>
                </a:solidFill>
              </a:rPr>
              <a:t> =0 , </a:t>
            </a:r>
            <a:r>
              <a:rPr lang="bg-BG" sz="2000" b="1" i="1">
                <a:solidFill>
                  <a:schemeClr val="tx1"/>
                </a:solidFill>
              </a:rPr>
              <a:t>F</a:t>
            </a:r>
            <a:r>
              <a:rPr lang="bg-BG" sz="2000" b="1" i="1" baseline="-25000">
                <a:solidFill>
                  <a:schemeClr val="tx1"/>
                </a:solidFill>
              </a:rPr>
              <a:t>1</a:t>
            </a:r>
            <a:r>
              <a:rPr lang="bg-BG" sz="2000">
                <a:solidFill>
                  <a:schemeClr val="tx1"/>
                </a:solidFill>
              </a:rPr>
              <a:t> = </a:t>
            </a:r>
            <a:r>
              <a:rPr lang="bg-BG" sz="2000">
                <a:solidFill>
                  <a:schemeClr val="tx1"/>
                </a:solidFill>
                <a:latin typeface="Arial" pitchFamily="34" charset="0"/>
                <a:cs typeface="Arial" pitchFamily="34" charset="0"/>
              </a:rPr>
              <a:t>1</a:t>
            </a:r>
            <a:r>
              <a:rPr lang="bg-BG" sz="2000">
                <a:solidFill>
                  <a:schemeClr val="tx1"/>
                </a:solidFill>
              </a:rPr>
              <a:t>, </a:t>
            </a:r>
            <a:r>
              <a:rPr lang="bg-BG" sz="2000" b="1" i="1">
                <a:solidFill>
                  <a:schemeClr val="tx1"/>
                </a:solidFill>
              </a:rPr>
              <a:t>F</a:t>
            </a:r>
            <a:r>
              <a:rPr lang="bg-BG" sz="2000" b="1" i="1" baseline="-25000">
                <a:solidFill>
                  <a:schemeClr val="tx1"/>
                </a:solidFill>
              </a:rPr>
              <a:t>n</a:t>
            </a:r>
            <a:r>
              <a:rPr lang="bg-BG" sz="2000">
                <a:solidFill>
                  <a:schemeClr val="tx1"/>
                </a:solidFill>
              </a:rPr>
              <a:t> = </a:t>
            </a:r>
            <a:r>
              <a:rPr lang="bg-BG" sz="2000" b="1" i="1">
                <a:solidFill>
                  <a:schemeClr val="tx1"/>
                </a:solidFill>
              </a:rPr>
              <a:t>F</a:t>
            </a:r>
            <a:r>
              <a:rPr lang="bg-BG" sz="2000" b="1" i="1" baseline="-25000">
                <a:solidFill>
                  <a:schemeClr val="tx1"/>
                </a:solidFill>
              </a:rPr>
              <a:t>n-1</a:t>
            </a:r>
            <a:r>
              <a:rPr lang="bg-BG" sz="2000">
                <a:solidFill>
                  <a:schemeClr val="tx1"/>
                </a:solidFill>
              </a:rPr>
              <a:t> + </a:t>
            </a:r>
            <a:r>
              <a:rPr lang="bg-BG" sz="2000" b="1" i="1">
                <a:solidFill>
                  <a:schemeClr val="tx1"/>
                </a:solidFill>
              </a:rPr>
              <a:t>F</a:t>
            </a:r>
            <a:r>
              <a:rPr lang="bg-BG" sz="2000" b="1" i="1" baseline="-25000">
                <a:solidFill>
                  <a:schemeClr val="tx1"/>
                </a:solidFill>
              </a:rPr>
              <a:t>n-2 </a:t>
            </a:r>
            <a:r>
              <a:rPr lang="bg-BG" sz="2000" baseline="-25000">
                <a:solidFill>
                  <a:schemeClr val="tx1"/>
                </a:solidFill>
              </a:rPr>
              <a:t> </a:t>
            </a:r>
            <a:r>
              <a:rPr lang="bg-BG" sz="2000">
                <a:solidFill>
                  <a:schemeClr val="tx1"/>
                </a:solidFill>
              </a:rPr>
              <a:t>, </a:t>
            </a:r>
            <a:r>
              <a:rPr lang="bg-BG" sz="2000" b="1" i="1">
                <a:solidFill>
                  <a:schemeClr val="tx1"/>
                </a:solidFill>
              </a:rPr>
              <a:t>n&gt;=</a:t>
            </a:r>
            <a:r>
              <a:rPr lang="bg-BG" sz="2000" b="1" i="1">
                <a:solidFill>
                  <a:schemeClr val="tx1"/>
                </a:solidFill>
                <a:latin typeface="Arial" pitchFamily="34" charset="0"/>
                <a:cs typeface="Arial" pitchFamily="34" charset="0"/>
              </a:rPr>
              <a:t>2</a:t>
            </a:r>
            <a:r>
              <a:rPr lang="bg-BG" sz="2000">
                <a:solidFill>
                  <a:schemeClr val="tx1"/>
                </a:solidFill>
                <a:latin typeface="Arial" pitchFamily="34" charset="0"/>
                <a:cs typeface="Arial" pitchFamily="34" charset="0"/>
              </a:rPr>
              <a:t> </a:t>
            </a:r>
            <a:r>
              <a:rPr lang="bg-BG" sz="1000">
                <a:solidFill>
                  <a:schemeClr val="tx1"/>
                </a:solidFill>
              </a:rPr>
              <a:t/>
            </a:r>
            <a:br>
              <a:rPr lang="bg-BG" sz="1000">
                <a:solidFill>
                  <a:schemeClr val="tx1"/>
                </a:solidFill>
              </a:rPr>
            </a:br>
            <a:r>
              <a:rPr lang="bg-BG" sz="1000">
                <a:solidFill>
                  <a:schemeClr val="tx1"/>
                </a:solidFill>
              </a:rPr>
              <a:t/>
            </a:r>
            <a:br>
              <a:rPr lang="bg-BG" sz="1000">
                <a:solidFill>
                  <a:schemeClr val="tx1"/>
                </a:solidFill>
              </a:rPr>
            </a:br>
            <a:r>
              <a:rPr lang="bg-BG" sz="2000">
                <a:solidFill>
                  <a:schemeClr val="tx1"/>
                </a:solidFill>
              </a:rPr>
              <a:t>	На първа стъпка сравняваме търсената стойност </a:t>
            </a:r>
            <a:r>
              <a:rPr lang="bg-BG" sz="2000" b="1" i="1">
                <a:solidFill>
                  <a:schemeClr val="tx1"/>
                </a:solidFill>
              </a:rPr>
              <a:t>key</a:t>
            </a:r>
            <a:r>
              <a:rPr lang="bg-BG" sz="2000" i="1">
                <a:solidFill>
                  <a:schemeClr val="tx1"/>
                </a:solidFill>
              </a:rPr>
              <a:t> </a:t>
            </a:r>
            <a:r>
              <a:rPr lang="bg-BG" sz="2000">
                <a:solidFill>
                  <a:schemeClr val="tx1"/>
                </a:solidFill>
              </a:rPr>
              <a:t>с </a:t>
            </a:r>
            <a:r>
              <a:rPr lang="bg-BG" sz="2000" b="1" i="1">
                <a:solidFill>
                  <a:schemeClr val="tx1"/>
                </a:solidFill>
              </a:rPr>
              <a:t>а</a:t>
            </a:r>
            <a:r>
              <a:rPr lang="bg-BG" sz="2000">
                <a:solidFill>
                  <a:schemeClr val="tx1"/>
                </a:solidFill>
              </a:rPr>
              <a:t>[</a:t>
            </a:r>
            <a:r>
              <a:rPr lang="bg-BG" sz="2000" b="1" i="1">
                <a:solidFill>
                  <a:schemeClr val="tx1"/>
                </a:solidFill>
              </a:rPr>
              <a:t>F</a:t>
            </a:r>
            <a:r>
              <a:rPr lang="bg-BG" sz="2000" b="1" i="1" baseline="-25000">
                <a:solidFill>
                  <a:schemeClr val="tx1"/>
                </a:solidFill>
              </a:rPr>
              <a:t>k-1</a:t>
            </a:r>
            <a:r>
              <a:rPr lang="bg-BG" sz="2000">
                <a:solidFill>
                  <a:schemeClr val="tx1"/>
                </a:solidFill>
              </a:rPr>
              <a:t>]. В случай на равенство търсенето приключва успешно. Ако </a:t>
            </a:r>
            <a:r>
              <a:rPr lang="bg-BG" sz="2000" b="1" i="1">
                <a:solidFill>
                  <a:schemeClr val="tx1"/>
                </a:solidFill>
              </a:rPr>
              <a:t>key </a:t>
            </a:r>
            <a:r>
              <a:rPr lang="bg-BG" sz="2000" b="1">
                <a:solidFill>
                  <a:schemeClr val="tx1"/>
                </a:solidFill>
              </a:rPr>
              <a:t>&lt; </a:t>
            </a:r>
            <a:r>
              <a:rPr lang="bg-BG" sz="2000" b="1" i="1">
                <a:solidFill>
                  <a:schemeClr val="tx1"/>
                </a:solidFill>
              </a:rPr>
              <a:t>а</a:t>
            </a:r>
            <a:r>
              <a:rPr lang="bg-BG" sz="2000">
                <a:solidFill>
                  <a:schemeClr val="tx1"/>
                </a:solidFill>
              </a:rPr>
              <a:t>[</a:t>
            </a:r>
            <a:r>
              <a:rPr lang="bg-BG" sz="2000" b="1" i="1">
                <a:solidFill>
                  <a:schemeClr val="tx1"/>
                </a:solidFill>
              </a:rPr>
              <a:t>F</a:t>
            </a:r>
            <a:r>
              <a:rPr lang="bg-BG" sz="2000" b="1" i="1" baseline="-25000">
                <a:solidFill>
                  <a:schemeClr val="tx1"/>
                </a:solidFill>
              </a:rPr>
              <a:t>k-1</a:t>
            </a:r>
            <a:r>
              <a:rPr lang="bg-BG" sz="2000">
                <a:solidFill>
                  <a:schemeClr val="tx1"/>
                </a:solidFill>
              </a:rPr>
              <a:t>], на следващата стъпка се разглеждат елементите с индексите </a:t>
            </a:r>
            <a:r>
              <a:rPr lang="bg-BG" sz="2000" b="1" i="1">
                <a:solidFill>
                  <a:schemeClr val="tx1"/>
                </a:solidFill>
                <a:latin typeface="Arial" pitchFamily="34" charset="0"/>
                <a:cs typeface="Arial" pitchFamily="34" charset="0"/>
              </a:rPr>
              <a:t>0, 1, 2,</a:t>
            </a:r>
            <a:r>
              <a:rPr lang="bg-BG" sz="2000">
                <a:solidFill>
                  <a:schemeClr val="tx1"/>
                </a:solidFill>
              </a:rPr>
              <a:t> …,</a:t>
            </a:r>
            <a:r>
              <a:rPr lang="bg-BG" sz="2000" b="1" i="1">
                <a:solidFill>
                  <a:schemeClr val="tx1"/>
                </a:solidFill>
              </a:rPr>
              <a:t> F</a:t>
            </a:r>
            <a:r>
              <a:rPr lang="bg-BG" sz="2000" b="1" i="1" baseline="-25000">
                <a:solidFill>
                  <a:schemeClr val="tx1"/>
                </a:solidFill>
              </a:rPr>
              <a:t>k-1</a:t>
            </a:r>
            <a:r>
              <a:rPr lang="bg-BG" sz="2000">
                <a:solidFill>
                  <a:schemeClr val="tx1"/>
                </a:solidFill>
              </a:rPr>
              <a:t>-</a:t>
            </a:r>
            <a:r>
              <a:rPr lang="bg-BG" sz="2000">
                <a:solidFill>
                  <a:schemeClr val="tx1"/>
                </a:solidFill>
                <a:latin typeface="Arial" pitchFamily="34" charset="0"/>
                <a:cs typeface="Arial" pitchFamily="34" charset="0"/>
              </a:rPr>
              <a:t>1</a:t>
            </a:r>
            <a:r>
              <a:rPr lang="bg-BG" sz="2000">
                <a:solidFill>
                  <a:schemeClr val="tx1"/>
                </a:solidFill>
              </a:rPr>
              <a:t>. Ако пък </a:t>
            </a:r>
            <a:r>
              <a:rPr lang="bg-BG" sz="2000" b="1" i="1">
                <a:solidFill>
                  <a:schemeClr val="tx1"/>
                </a:solidFill>
              </a:rPr>
              <a:t>key </a:t>
            </a:r>
            <a:r>
              <a:rPr lang="bg-BG" sz="2000" b="1">
                <a:solidFill>
                  <a:schemeClr val="tx1"/>
                </a:solidFill>
              </a:rPr>
              <a:t>&gt; </a:t>
            </a:r>
            <a:r>
              <a:rPr lang="bg-BG" sz="2000" b="1" i="1">
                <a:solidFill>
                  <a:schemeClr val="tx1"/>
                </a:solidFill>
              </a:rPr>
              <a:t>а</a:t>
            </a:r>
            <a:r>
              <a:rPr lang="bg-BG" sz="2000">
                <a:solidFill>
                  <a:schemeClr val="tx1"/>
                </a:solidFill>
              </a:rPr>
              <a:t>[</a:t>
            </a:r>
            <a:r>
              <a:rPr lang="bg-BG" sz="2000" b="1" i="1">
                <a:solidFill>
                  <a:schemeClr val="tx1"/>
                </a:solidFill>
              </a:rPr>
              <a:t>F</a:t>
            </a:r>
            <a:r>
              <a:rPr lang="bg-BG" sz="2000" b="1" i="1" baseline="-25000">
                <a:solidFill>
                  <a:schemeClr val="tx1"/>
                </a:solidFill>
              </a:rPr>
              <a:t>k-1</a:t>
            </a:r>
            <a:r>
              <a:rPr lang="bg-BG" sz="2000">
                <a:solidFill>
                  <a:schemeClr val="tx1"/>
                </a:solidFill>
              </a:rPr>
              <a:t>], разглежданите елементи ще имат индекси </a:t>
            </a:r>
            <a:r>
              <a:rPr lang="bg-BG" sz="2000" b="1" i="1">
                <a:solidFill>
                  <a:schemeClr val="tx1"/>
                </a:solidFill>
              </a:rPr>
              <a:t>F</a:t>
            </a:r>
            <a:r>
              <a:rPr lang="bg-BG" sz="2000" b="1" i="1" baseline="-25000">
                <a:solidFill>
                  <a:schemeClr val="tx1"/>
                </a:solidFill>
              </a:rPr>
              <a:t>k-1</a:t>
            </a:r>
            <a:r>
              <a:rPr lang="bg-BG" sz="2000" b="1">
                <a:solidFill>
                  <a:schemeClr val="tx1"/>
                </a:solidFill>
              </a:rPr>
              <a:t>+</a:t>
            </a:r>
            <a:r>
              <a:rPr lang="bg-BG" sz="2000" b="1">
                <a:solidFill>
                  <a:schemeClr val="tx1"/>
                </a:solidFill>
                <a:latin typeface="Arial" pitchFamily="34" charset="0"/>
                <a:cs typeface="Arial" pitchFamily="34" charset="0"/>
              </a:rPr>
              <a:t>1</a:t>
            </a:r>
            <a:r>
              <a:rPr lang="bg-BG" sz="2000" b="1">
                <a:solidFill>
                  <a:schemeClr val="tx1"/>
                </a:solidFill>
              </a:rPr>
              <a:t>,   </a:t>
            </a:r>
            <a:r>
              <a:rPr lang="bg-BG" sz="2000" b="1" i="1">
                <a:solidFill>
                  <a:schemeClr val="tx1"/>
                </a:solidFill>
              </a:rPr>
              <a:t>F</a:t>
            </a:r>
            <a:r>
              <a:rPr lang="bg-BG" sz="2000" b="1" i="1" baseline="-25000">
                <a:solidFill>
                  <a:schemeClr val="tx1"/>
                </a:solidFill>
              </a:rPr>
              <a:t>k-1</a:t>
            </a:r>
            <a:r>
              <a:rPr lang="bg-BG" sz="2000" b="1">
                <a:solidFill>
                  <a:schemeClr val="tx1"/>
                </a:solidFill>
              </a:rPr>
              <a:t>+</a:t>
            </a:r>
            <a:r>
              <a:rPr lang="bg-BG" sz="2000" b="1">
                <a:solidFill>
                  <a:schemeClr val="tx1"/>
                </a:solidFill>
                <a:latin typeface="Arial" pitchFamily="34" charset="0"/>
                <a:cs typeface="Arial" pitchFamily="34" charset="0"/>
              </a:rPr>
              <a:t>2</a:t>
            </a:r>
            <a:r>
              <a:rPr lang="bg-BG" sz="2000" b="1">
                <a:solidFill>
                  <a:schemeClr val="tx1"/>
                </a:solidFill>
              </a:rPr>
              <a:t>, </a:t>
            </a:r>
            <a:r>
              <a:rPr lang="bg-BG" sz="2000">
                <a:solidFill>
                  <a:schemeClr val="tx1"/>
                </a:solidFill>
              </a:rPr>
              <a:t>…</a:t>
            </a:r>
            <a:r>
              <a:rPr lang="bg-BG" sz="2000" b="1">
                <a:solidFill>
                  <a:schemeClr val="tx1"/>
                </a:solidFill>
              </a:rPr>
              <a:t>, </a:t>
            </a:r>
            <a:r>
              <a:rPr lang="bg-BG" sz="2000" b="1" i="1">
                <a:solidFill>
                  <a:schemeClr val="tx1"/>
                </a:solidFill>
              </a:rPr>
              <a:t>n</a:t>
            </a:r>
            <a:r>
              <a:rPr lang="bg-BG" sz="2000">
                <a:solidFill>
                  <a:schemeClr val="tx1"/>
                </a:solidFill>
              </a:rPr>
              <a:t>.  В първия случай за следващата стъпка получаваме последователност с дължина </a:t>
            </a:r>
            <a:r>
              <a:rPr lang="bg-BG" sz="2000" b="1" i="1">
                <a:solidFill>
                  <a:schemeClr val="tx1"/>
                </a:solidFill>
              </a:rPr>
              <a:t>F</a:t>
            </a:r>
            <a:r>
              <a:rPr lang="bg-BG" sz="2000" b="1" i="1" baseline="-25000">
                <a:solidFill>
                  <a:schemeClr val="tx1"/>
                </a:solidFill>
              </a:rPr>
              <a:t>k-1</a:t>
            </a:r>
            <a:r>
              <a:rPr lang="bg-BG" sz="2000">
                <a:solidFill>
                  <a:schemeClr val="tx1"/>
                </a:solidFill>
              </a:rPr>
              <a:t>  - </a:t>
            </a:r>
            <a:r>
              <a:rPr lang="bg-BG" sz="2000">
                <a:solidFill>
                  <a:schemeClr val="tx1"/>
                </a:solidFill>
                <a:latin typeface="Arial" pitchFamily="34" charset="0"/>
                <a:cs typeface="Arial" pitchFamily="34" charset="0"/>
              </a:rPr>
              <a:t>1</a:t>
            </a:r>
            <a:r>
              <a:rPr lang="bg-BG" sz="2000">
                <a:solidFill>
                  <a:schemeClr val="tx1"/>
                </a:solidFill>
              </a:rPr>
              <a:t>, а във втория - </a:t>
            </a:r>
            <a:r>
              <a:rPr lang="bg-BG" sz="2000" b="1" i="1">
                <a:solidFill>
                  <a:schemeClr val="tx1"/>
                </a:solidFill>
              </a:rPr>
              <a:t>F</a:t>
            </a:r>
            <a:r>
              <a:rPr lang="bg-BG" sz="2000" b="1" i="1" baseline="-25000">
                <a:solidFill>
                  <a:schemeClr val="tx1"/>
                </a:solidFill>
              </a:rPr>
              <a:t>k-2</a:t>
            </a:r>
            <a:r>
              <a:rPr lang="bg-BG" sz="2000">
                <a:solidFill>
                  <a:schemeClr val="tx1"/>
                </a:solidFill>
              </a:rPr>
              <a:t>  - </a:t>
            </a:r>
            <a:r>
              <a:rPr lang="bg-BG" sz="2000">
                <a:solidFill>
                  <a:schemeClr val="tx1"/>
                </a:solidFill>
                <a:latin typeface="Arial" pitchFamily="34" charset="0"/>
                <a:cs typeface="Arial" pitchFamily="34" charset="0"/>
              </a:rPr>
              <a:t>1</a:t>
            </a:r>
            <a:r>
              <a:rPr lang="bg-BG" sz="2000">
                <a:solidFill>
                  <a:schemeClr val="tx1"/>
                </a:solidFill>
              </a:rPr>
              <a:t>.  Процесът се повтаря върху неотхвърлената част до намиране на търсения елемент или до достигане на празната последователност. </a:t>
            </a:r>
            <a:r>
              <a:rPr lang="bg-BG" sz="1000">
                <a:solidFill>
                  <a:schemeClr val="tx1"/>
                </a:solidFill>
              </a:rPr>
              <a:t/>
            </a:r>
            <a:br>
              <a:rPr lang="bg-BG" sz="1000">
                <a:solidFill>
                  <a:schemeClr val="tx1"/>
                </a:solidFill>
              </a:rPr>
            </a:br>
            <a:r>
              <a:rPr lang="bg-BG" sz="1000">
                <a:solidFill>
                  <a:schemeClr val="tx1"/>
                </a:solidFill>
              </a:rPr>
              <a:t/>
            </a:r>
            <a:br>
              <a:rPr lang="bg-BG" sz="1000">
                <a:solidFill>
                  <a:schemeClr val="tx1"/>
                </a:solidFill>
              </a:rPr>
            </a:br>
            <a:r>
              <a:rPr lang="bg-BG" sz="2000">
                <a:solidFill>
                  <a:schemeClr val="tx1"/>
                </a:solidFill>
              </a:rPr>
              <a:t>По-детайлно описание на алгоритъма може да се намери в </a:t>
            </a:r>
            <a:r>
              <a:rPr lang="bg-BG" sz="2000" smtClean="0">
                <a:solidFill>
                  <a:schemeClr val="tx1"/>
                </a:solidFill>
              </a:rPr>
              <a:t>книгата на Преслав </a:t>
            </a:r>
            <a:r>
              <a:rPr lang="bg-BG" sz="2000">
                <a:solidFill>
                  <a:schemeClr val="tx1"/>
                </a:solidFill>
              </a:rPr>
              <a:t>Наков, Панайот Добриков. </a:t>
            </a:r>
            <a:r>
              <a:rPr lang="bg-BG" sz="2000" i="1">
                <a:solidFill>
                  <a:schemeClr val="tx1"/>
                </a:solidFill>
              </a:rPr>
              <a:t>Програмиране = ++Алгоритми</a:t>
            </a:r>
            <a:r>
              <a:rPr lang="bg-BG" sz="2000">
                <a:solidFill>
                  <a:schemeClr val="tx1"/>
                </a:solidFill>
              </a:rPr>
              <a:t>, TpoTeam Co., София, 2002. </a:t>
            </a:r>
            <a:br>
              <a:rPr lang="bg-BG" sz="2000">
                <a:solidFill>
                  <a:schemeClr val="tx1"/>
                </a:solidFill>
              </a:rPr>
            </a:br>
            <a:r>
              <a:rPr lang="en-AU" sz="2000">
                <a:solidFill>
                  <a:schemeClr val="tx1"/>
                </a:solidFill>
              </a:rPr>
              <a:t/>
            </a:r>
            <a:br>
              <a:rPr lang="en-AU" sz="2000">
                <a:solidFill>
                  <a:schemeClr val="tx1"/>
                </a:solidFill>
              </a:rPr>
            </a:br>
            <a:endParaRPr lang="en-US" sz="2000">
              <a:solidFill>
                <a:schemeClr val="tx2">
                  <a:satMod val="130000"/>
                </a:schemeClr>
              </a:solidFill>
              <a:latin typeface="Courier New" pitchFamily="49" charset="-52"/>
            </a:endParaRPr>
          </a:p>
        </p:txBody>
      </p:sp>
      <p:sp>
        <p:nvSpPr>
          <p:cNvPr id="5" name="Slide Number Placeholder 4"/>
          <p:cNvSpPr>
            <a:spLocks noGrp="1"/>
          </p:cNvSpPr>
          <p:nvPr>
            <p:ph type="sldNum" sz="quarter" idx="12"/>
          </p:nvPr>
        </p:nvSpPr>
        <p:spPr/>
        <p:txBody>
          <a:bodyPr/>
          <a:lstStyle/>
          <a:p>
            <a:pPr>
              <a:defRPr/>
            </a:pPr>
            <a:fld id="{F52E0B06-E714-40FE-8B27-6F86AF9A30BF}" type="slidenum">
              <a:rPr lang="en-US"/>
              <a:pPr>
                <a:defRPr/>
              </a:pPr>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ChangeArrowheads="1"/>
          </p:cNvSpPr>
          <p:nvPr/>
        </p:nvSpPr>
        <p:spPr bwMode="auto">
          <a:xfrm>
            <a:off x="1187450" y="404813"/>
            <a:ext cx="7799388" cy="6172200"/>
          </a:xfrm>
          <a:prstGeom prst="rect">
            <a:avLst/>
          </a:prstGeom>
          <a:noFill/>
          <a:ln w="9525">
            <a:noFill/>
            <a:miter lim="800000"/>
            <a:headEnd/>
            <a:tailEnd/>
          </a:ln>
        </p:spPr>
        <p:txBody>
          <a:bodyPr anchor="ctr"/>
          <a:lstStyle/>
          <a:p>
            <a:pPr algn="l"/>
            <a:r>
              <a:rPr lang="bg-BG" sz="2000"/>
              <a:t>Една възможна реализация на Фибоначиево търсене изглежда така </a:t>
            </a:r>
            <a:br>
              <a:rPr lang="bg-BG" sz="2000"/>
            </a:br>
            <a:r>
              <a:rPr lang="bg-BG" sz="2000"/>
              <a:t>Функция за търсене на числата на Фибоначи:</a:t>
            </a:r>
            <a:br>
              <a:rPr lang="bg-BG" sz="2000"/>
            </a:br>
            <a:r>
              <a:rPr lang="bg-BG" sz="2000"/>
              <a:t/>
            </a:r>
            <a:br>
              <a:rPr lang="bg-BG" sz="2000"/>
            </a:br>
            <a:r>
              <a:rPr lang="bg-BG" sz="2000">
                <a:latin typeface="Courier New" pitchFamily="49" charset="-52"/>
              </a:rPr>
              <a:t>int fib[n];	   </a:t>
            </a:r>
            <a:r>
              <a:rPr lang="bg-BG" sz="1800">
                <a:latin typeface="Courier New" pitchFamily="49" charset="-52"/>
              </a:rPr>
              <a:t>//помощен масив, в който се съхраняват </a:t>
            </a:r>
            <a:r>
              <a:rPr lang="bg-BG" sz="2000">
                <a:latin typeface="Courier New" pitchFamily="49" charset="-52"/>
              </a:rPr>
              <a:t/>
            </a:r>
            <a:br>
              <a:rPr lang="bg-BG" sz="2000">
                <a:latin typeface="Courier New" pitchFamily="49" charset="-52"/>
              </a:rPr>
            </a:br>
            <a:r>
              <a:rPr lang="bg-BG" sz="2000">
                <a:latin typeface="Courier New" pitchFamily="49" charset="-52"/>
              </a:rPr>
              <a:t>                      </a:t>
            </a:r>
            <a:r>
              <a:rPr lang="bg-BG" sz="1800">
                <a:latin typeface="Courier New" pitchFamily="49" charset="-52"/>
              </a:rPr>
              <a:t>//числата на Фибоначи</a:t>
            </a:r>
            <a:r>
              <a:rPr lang="bg-BG" sz="2000">
                <a:latin typeface="Courier New" pitchFamily="49" charset="-52"/>
              </a:rPr>
              <a:t/>
            </a:r>
            <a:br>
              <a:rPr lang="bg-BG" sz="2000">
                <a:latin typeface="Courier New" pitchFamily="49" charset="-52"/>
              </a:rPr>
            </a:br>
            <a:r>
              <a:rPr lang="bg-BG" sz="2000">
                <a:latin typeface="Courier New" pitchFamily="49" charset="-52"/>
              </a:rPr>
              <a:t>int findFib(int n)    </a:t>
            </a:r>
            <a:r>
              <a:rPr lang="bg-BG" sz="1800">
                <a:latin typeface="Courier New" pitchFamily="49" charset="-52"/>
              </a:rPr>
              <a:t>//функция за търсене на числата </a:t>
            </a:r>
            <a:r>
              <a:rPr lang="bg-BG" sz="2000">
                <a:latin typeface="Courier New" pitchFamily="49" charset="-52"/>
              </a:rPr>
              <a:t/>
            </a:r>
            <a:br>
              <a:rPr lang="bg-BG" sz="2000">
                <a:latin typeface="Courier New" pitchFamily="49" charset="-52"/>
              </a:rPr>
            </a:br>
            <a:r>
              <a:rPr lang="bg-BG" sz="2000">
                <a:latin typeface="Courier New" pitchFamily="49" charset="-52"/>
              </a:rPr>
              <a:t>{  int k;  fib[0]=0; fib[1]=1;  </a:t>
            </a:r>
            <a:br>
              <a:rPr lang="bg-BG" sz="2000">
                <a:latin typeface="Courier New" pitchFamily="49" charset="-52"/>
              </a:rPr>
            </a:br>
            <a:r>
              <a:rPr lang="bg-BG" sz="2000">
                <a:latin typeface="Courier New" pitchFamily="49" charset="-52"/>
              </a:rPr>
              <a:t>   for (k=2; ;k++)</a:t>
            </a:r>
            <a:br>
              <a:rPr lang="bg-BG" sz="2000">
                <a:latin typeface="Courier New" pitchFamily="49" charset="-52"/>
              </a:rPr>
            </a:br>
            <a:r>
              <a:rPr lang="bg-BG" sz="2000">
                <a:latin typeface="Courier New" pitchFamily="49" charset="-52"/>
              </a:rPr>
              <a:t>     if ((fib[k]=fib[k-1]+fib[k-2]) &gt; n)</a:t>
            </a:r>
            <a:br>
              <a:rPr lang="bg-BG" sz="2000">
                <a:latin typeface="Courier New" pitchFamily="49" charset="-52"/>
              </a:rPr>
            </a:br>
            <a:r>
              <a:rPr lang="bg-BG" sz="2000">
                <a:latin typeface="Courier New" pitchFamily="49" charset="-52"/>
              </a:rPr>
              <a:t>	return k-1;</a:t>
            </a:r>
            <a:br>
              <a:rPr lang="bg-BG" sz="2000">
                <a:latin typeface="Courier New" pitchFamily="49" charset="-52"/>
              </a:rPr>
            </a:br>
            <a:r>
              <a:rPr lang="bg-BG" sz="2000">
                <a:latin typeface="Courier New" pitchFamily="49" charset="-52"/>
              </a:rPr>
              <a:t>  return 0;</a:t>
            </a:r>
            <a:br>
              <a:rPr lang="bg-BG" sz="2000">
                <a:latin typeface="Courier New" pitchFamily="49" charset="-52"/>
              </a:rPr>
            </a:br>
            <a:r>
              <a:rPr lang="bg-BG" sz="2000">
                <a:solidFill>
                  <a:schemeClr val="tx2"/>
                </a:solidFill>
                <a:latin typeface="Courier New" pitchFamily="49" charset="-52"/>
              </a:rPr>
              <a:t>}</a:t>
            </a:r>
            <a:r>
              <a:rPr lang="bg-BG" sz="1000">
                <a:solidFill>
                  <a:schemeClr val="tx2"/>
                </a:solidFill>
                <a:latin typeface="Courier New" pitchFamily="49" charset="-52"/>
              </a:rPr>
              <a:t/>
            </a:r>
            <a:br>
              <a:rPr lang="bg-BG" sz="1000">
                <a:solidFill>
                  <a:schemeClr val="tx2"/>
                </a:solidFill>
                <a:latin typeface="Courier New" pitchFamily="49" charset="-52"/>
              </a:rPr>
            </a:br>
            <a:r>
              <a:rPr lang="bg-BG" sz="1000">
                <a:solidFill>
                  <a:schemeClr val="tx2"/>
                </a:solidFill>
                <a:latin typeface="Courier New" pitchFamily="49" charset="-52"/>
              </a:rPr>
              <a:t/>
            </a:r>
            <a:br>
              <a:rPr lang="bg-BG" sz="1000">
                <a:solidFill>
                  <a:schemeClr val="tx2"/>
                </a:solidFill>
                <a:latin typeface="Courier New" pitchFamily="49" charset="-52"/>
              </a:rPr>
            </a:br>
            <a:r>
              <a:rPr lang="bg-BG" sz="2000"/>
              <a:t>Функция за Фибоначиево търсене:</a:t>
            </a:r>
            <a:r>
              <a:rPr lang="bg-BG" sz="2000">
                <a:solidFill>
                  <a:schemeClr val="tx2"/>
                </a:solidFill>
                <a:latin typeface="Courier New" pitchFamily="49" charset="-52"/>
              </a:rPr>
              <a:t> </a:t>
            </a:r>
            <a:br>
              <a:rPr lang="bg-BG" sz="2000">
                <a:solidFill>
                  <a:schemeClr val="tx2"/>
                </a:solidFill>
                <a:latin typeface="Courier New" pitchFamily="49" charset="-52"/>
              </a:rPr>
            </a:br>
            <a:r>
              <a:rPr lang="en-US" sz="2000">
                <a:latin typeface="Courier New" pitchFamily="49" charset="-52"/>
              </a:rPr>
              <a:t>int fibsearch(int key, int n)</a:t>
            </a:r>
            <a:r>
              <a:rPr lang="bg-BG" sz="2000">
                <a:latin typeface="Courier New" pitchFamily="49" charset="-52"/>
              </a:rPr>
              <a:t>  </a:t>
            </a:r>
            <a:r>
              <a:rPr lang="bg-BG" sz="1800">
                <a:latin typeface="Courier New" pitchFamily="49" charset="-52"/>
              </a:rPr>
              <a:t>//Фибоначиево търсене</a:t>
            </a:r>
            <a:r>
              <a:rPr lang="bg-BG" sz="2000">
                <a:latin typeface="Courier New" pitchFamily="49" charset="-52"/>
              </a:rPr>
              <a:t/>
            </a:r>
            <a:br>
              <a:rPr lang="bg-BG" sz="2000">
                <a:latin typeface="Courier New" pitchFamily="49" charset="-52"/>
              </a:rPr>
            </a:br>
            <a:r>
              <a:rPr lang="en-US" sz="2000">
                <a:latin typeface="Courier New" pitchFamily="49" charset="-52"/>
              </a:rPr>
              <a:t>{</a:t>
            </a:r>
            <a:r>
              <a:rPr lang="bg-BG" sz="2000">
                <a:latin typeface="Courier New" pitchFamily="49" charset="-52"/>
              </a:rPr>
              <a:t> </a:t>
            </a:r>
            <a:r>
              <a:rPr lang="en-US" sz="2000">
                <a:latin typeface="Courier New" pitchFamily="49" charset="-52"/>
              </a:rPr>
              <a:t>int p, q, r, k;</a:t>
            </a:r>
            <a:br>
              <a:rPr lang="en-US" sz="2000">
                <a:latin typeface="Courier New" pitchFamily="49" charset="-52"/>
              </a:rPr>
            </a:br>
            <a:r>
              <a:rPr lang="en-US" sz="2000">
                <a:latin typeface="Courier New" pitchFamily="49" charset="-52"/>
              </a:rPr>
              <a:t>  k=findFib(n);</a:t>
            </a:r>
            <a:br>
              <a:rPr lang="en-US" sz="2000">
                <a:latin typeface="Courier New" pitchFamily="49" charset="-52"/>
              </a:rPr>
            </a:br>
            <a:r>
              <a:rPr lang="en-US" sz="2000">
                <a:latin typeface="Courier New" pitchFamily="49" charset="-52"/>
              </a:rPr>
              <a:t>  p=fib[k-1]; q=fib[k-2]; r=fib[k-3];</a:t>
            </a:r>
            <a:br>
              <a:rPr lang="en-US" sz="2000">
                <a:latin typeface="Courier New" pitchFamily="49" charset="-52"/>
              </a:rPr>
            </a:br>
            <a:r>
              <a:rPr lang="en-US" sz="2000">
                <a:latin typeface="Courier New" pitchFamily="49" charset="-52"/>
              </a:rPr>
              <a:t>  if (key&gt;a[p]) p+=n-fib[k]+1;</a:t>
            </a:r>
            <a:r>
              <a:rPr lang="en-US" sz="2000">
                <a:solidFill>
                  <a:schemeClr val="tx2"/>
                </a:solidFill>
                <a:latin typeface="Courier New" pitchFamily="49" charset="-52"/>
              </a:rPr>
              <a:t/>
            </a:r>
            <a:br>
              <a:rPr lang="en-US" sz="2000">
                <a:solidFill>
                  <a:schemeClr val="tx2"/>
                </a:solidFill>
                <a:latin typeface="Courier New" pitchFamily="49" charset="-52"/>
              </a:rPr>
            </a:br>
            <a:endParaRPr lang="en-US" sz="1600">
              <a:solidFill>
                <a:schemeClr val="tx2"/>
              </a:solidFill>
              <a:latin typeface="Courier New" pitchFamily="49" charset="-52"/>
            </a:endParaRPr>
          </a:p>
        </p:txBody>
      </p:sp>
      <p:sp>
        <p:nvSpPr>
          <p:cNvPr id="5" name="Slide Number Placeholder 4"/>
          <p:cNvSpPr>
            <a:spLocks noGrp="1"/>
          </p:cNvSpPr>
          <p:nvPr>
            <p:ph type="sldNum" sz="quarter" idx="12"/>
          </p:nvPr>
        </p:nvSpPr>
        <p:spPr/>
        <p:txBody>
          <a:bodyPr/>
          <a:lstStyle/>
          <a:p>
            <a:pPr>
              <a:defRPr/>
            </a:pPr>
            <a:fld id="{946B991D-2172-4EC0-B570-106212B44FE7}" type="slidenum">
              <a:rPr lang="en-US"/>
              <a:pPr>
                <a:defRPr/>
              </a:pPr>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ChangeArrowheads="1"/>
          </p:cNvSpPr>
          <p:nvPr/>
        </p:nvSpPr>
        <p:spPr bwMode="auto">
          <a:xfrm>
            <a:off x="1060450" y="404813"/>
            <a:ext cx="8083550" cy="6172200"/>
          </a:xfrm>
          <a:prstGeom prst="rect">
            <a:avLst/>
          </a:prstGeom>
          <a:noFill/>
          <a:ln w="9525">
            <a:noFill/>
            <a:miter lim="800000"/>
            <a:headEnd/>
            <a:tailEnd/>
          </a:ln>
        </p:spPr>
        <p:txBody>
          <a:bodyPr anchor="ctr"/>
          <a:lstStyle/>
          <a:p>
            <a:pPr algn="l">
              <a:lnSpc>
                <a:spcPct val="110000"/>
              </a:lnSpc>
            </a:pPr>
            <a:r>
              <a:rPr lang="bg-BG" sz="2000">
                <a:latin typeface="Courier New" pitchFamily="49" charset="-52"/>
              </a:rPr>
              <a:t/>
            </a:r>
            <a:br>
              <a:rPr lang="bg-BG" sz="2000">
                <a:latin typeface="Courier New" pitchFamily="49" charset="-52"/>
              </a:rPr>
            </a:br>
            <a:r>
              <a:rPr lang="bg-BG" sz="2000">
                <a:latin typeface="Courier New" pitchFamily="49" charset="-52"/>
              </a:rPr>
              <a:t> </a:t>
            </a:r>
            <a:r>
              <a:rPr lang="en-US" sz="2000">
                <a:latin typeface="Courier New" pitchFamily="49" charset="-52"/>
              </a:rPr>
              <a:t>while (p&gt;0)</a:t>
            </a:r>
            <a:br>
              <a:rPr lang="en-US" sz="2000">
                <a:latin typeface="Courier New" pitchFamily="49" charset="-52"/>
              </a:rPr>
            </a:br>
            <a:r>
              <a:rPr lang="en-US" sz="2000">
                <a:latin typeface="Courier New" pitchFamily="49" charset="-52"/>
              </a:rPr>
              <a:t>    if (key==a[p])</a:t>
            </a:r>
            <a:r>
              <a:rPr lang="bg-BG" sz="2000">
                <a:latin typeface="Courier New" pitchFamily="49" charset="-52"/>
              </a:rPr>
              <a:t>   </a:t>
            </a:r>
            <a:r>
              <a:rPr lang="en-US" sz="2000">
                <a:latin typeface="Courier New" pitchFamily="49" charset="-52"/>
              </a:rPr>
              <a:t>return p;</a:t>
            </a:r>
            <a:br>
              <a:rPr lang="en-US" sz="2000">
                <a:latin typeface="Courier New" pitchFamily="49" charset="-52"/>
              </a:rPr>
            </a:br>
            <a:r>
              <a:rPr lang="en-US" sz="2000">
                <a:latin typeface="Courier New" pitchFamily="49" charset="-52"/>
              </a:rPr>
              <a:t>	 else</a:t>
            </a:r>
            <a:br>
              <a:rPr lang="en-US" sz="2000">
                <a:latin typeface="Courier New" pitchFamily="49" charset="-52"/>
              </a:rPr>
            </a:br>
            <a:r>
              <a:rPr lang="en-US" sz="2000">
                <a:latin typeface="Courier New" pitchFamily="49" charset="-52"/>
              </a:rPr>
              <a:t>	   if (key&lt;a[p])</a:t>
            </a:r>
            <a:br>
              <a:rPr lang="en-US" sz="2000">
                <a:latin typeface="Courier New" pitchFamily="49" charset="-52"/>
              </a:rPr>
            </a:br>
            <a:r>
              <a:rPr lang="en-US" sz="2000">
                <a:latin typeface="Courier New" pitchFamily="49" charset="-52"/>
              </a:rPr>
              <a:t>	     if (0==r)  p=0;</a:t>
            </a:r>
            <a:br>
              <a:rPr lang="en-US" sz="2000">
                <a:latin typeface="Courier New" pitchFamily="49" charset="-52"/>
              </a:rPr>
            </a:br>
            <a:r>
              <a:rPr lang="en-US" sz="2000">
                <a:latin typeface="Courier New" pitchFamily="49" charset="-52"/>
              </a:rPr>
              <a:t>	       else</a:t>
            </a:r>
            <a:br>
              <a:rPr lang="en-US" sz="2000">
                <a:latin typeface="Courier New" pitchFamily="49" charset="-52"/>
              </a:rPr>
            </a:br>
            <a:r>
              <a:rPr lang="en-US" sz="2000">
                <a:latin typeface="Courier New" pitchFamily="49" charset="-52"/>
              </a:rPr>
              <a:t>		{ int t; p-=r; t=q; q=r;  r=t-r;}</a:t>
            </a:r>
            <a:br>
              <a:rPr lang="en-US" sz="2000">
                <a:latin typeface="Courier New" pitchFamily="49" charset="-52"/>
              </a:rPr>
            </a:br>
            <a:r>
              <a:rPr lang="en-US" sz="2000">
                <a:latin typeface="Courier New" pitchFamily="49" charset="-52"/>
              </a:rPr>
              <a:t>	    else</a:t>
            </a:r>
            <a:br>
              <a:rPr lang="en-US" sz="2000">
                <a:latin typeface="Courier New" pitchFamily="49" charset="-52"/>
              </a:rPr>
            </a:br>
            <a:r>
              <a:rPr lang="en-US" sz="2000">
                <a:latin typeface="Courier New" pitchFamily="49" charset="-52"/>
              </a:rPr>
              <a:t>		if (1==q) p=0;</a:t>
            </a:r>
            <a:br>
              <a:rPr lang="en-US" sz="2000">
                <a:latin typeface="Courier New" pitchFamily="49" charset="-52"/>
              </a:rPr>
            </a:br>
            <a:r>
              <a:rPr lang="en-US" sz="2000">
                <a:latin typeface="Courier New" pitchFamily="49" charset="-52"/>
              </a:rPr>
              <a:t>		  else</a:t>
            </a:r>
            <a:br>
              <a:rPr lang="en-US" sz="2000">
                <a:latin typeface="Courier New" pitchFamily="49" charset="-52"/>
              </a:rPr>
            </a:br>
            <a:r>
              <a:rPr lang="en-US" sz="2000">
                <a:latin typeface="Courier New" pitchFamily="49" charset="-52"/>
              </a:rPr>
              <a:t>		 </a:t>
            </a:r>
            <a:r>
              <a:rPr lang="bg-BG" sz="2000">
                <a:latin typeface="Courier New" pitchFamily="49" charset="-52"/>
              </a:rPr>
              <a:t>  </a:t>
            </a:r>
            <a:r>
              <a:rPr lang="en-US" sz="2000">
                <a:latin typeface="Courier New" pitchFamily="49" charset="-52"/>
              </a:rPr>
              <a:t>{ p+=r;  q-=r;  r-=q; }</a:t>
            </a:r>
            <a:br>
              <a:rPr lang="en-US" sz="2000">
                <a:latin typeface="Courier New" pitchFamily="49" charset="-52"/>
              </a:rPr>
            </a:br>
            <a:r>
              <a:rPr lang="en-US" sz="2000">
                <a:latin typeface="Courier New" pitchFamily="49" charset="-52"/>
              </a:rPr>
              <a:t>	   </a:t>
            </a:r>
            <a:r>
              <a:rPr lang="bg-BG" sz="2000">
                <a:latin typeface="Courier New" pitchFamily="49" charset="-52"/>
              </a:rPr>
              <a:t>     </a:t>
            </a:r>
            <a:r>
              <a:rPr lang="en-US" sz="2000">
                <a:latin typeface="Courier New" pitchFamily="49" charset="-52"/>
              </a:rPr>
              <a:t>return 0;</a:t>
            </a:r>
            <a:br>
              <a:rPr lang="en-US" sz="2000">
                <a:latin typeface="Courier New" pitchFamily="49" charset="-52"/>
              </a:rPr>
            </a:br>
            <a:r>
              <a:rPr lang="en-US" sz="2000">
                <a:latin typeface="Courier New" pitchFamily="49" charset="-52"/>
              </a:rPr>
              <a:t>}</a:t>
            </a:r>
            <a:r>
              <a:rPr lang="bg-BG" sz="2000">
                <a:latin typeface="Courier New" pitchFamily="49" charset="-52"/>
              </a:rPr>
              <a:t/>
            </a:r>
            <a:br>
              <a:rPr lang="bg-BG" sz="2000">
                <a:latin typeface="Courier New" pitchFamily="49" charset="-52"/>
              </a:rPr>
            </a:br>
            <a:r>
              <a:rPr lang="bg-BG" sz="2000">
                <a:latin typeface="Courier New" pitchFamily="49" charset="-52"/>
              </a:rPr>
              <a:t>	</a:t>
            </a:r>
            <a:r>
              <a:rPr lang="bg-BG" sz="2000"/>
              <a:t>Алгоритъмът не съдържа операцията деление, но ефективността му не е по-голяма от тази на двоичното търсене. На практика алгоритъмът на Фибоначиево търсене изгражда балансирано дърво, което в най-лошия случай с 45% е по-високо от дървото на двоичното търсене. </a:t>
            </a:r>
            <a:br>
              <a:rPr lang="bg-BG" sz="2000"/>
            </a:br>
            <a:endParaRPr lang="bg-BG" sz="1800"/>
          </a:p>
        </p:txBody>
      </p:sp>
      <p:sp>
        <p:nvSpPr>
          <p:cNvPr id="5" name="Slide Number Placeholder 4"/>
          <p:cNvSpPr>
            <a:spLocks noGrp="1"/>
          </p:cNvSpPr>
          <p:nvPr>
            <p:ph type="sldNum" sz="quarter" idx="12"/>
          </p:nvPr>
        </p:nvSpPr>
        <p:spPr/>
        <p:txBody>
          <a:bodyPr/>
          <a:lstStyle/>
          <a:p>
            <a:pPr>
              <a:defRPr/>
            </a:pPr>
            <a:fld id="{1E2AAF2C-5296-4388-93D6-A142B0C095F4}" type="slidenum">
              <a:rPr lang="en-US"/>
              <a:pPr>
                <a:defRPr/>
              </a:pPr>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16013" y="620713"/>
            <a:ext cx="7848600" cy="5791200"/>
          </a:xfrm>
        </p:spPr>
        <p:txBody>
          <a:bodyPr>
            <a:normAutofit fontScale="90000"/>
          </a:bodyPr>
          <a:lstStyle/>
          <a:p>
            <a:pPr eaLnBrk="1" fontAlgn="auto" hangingPunct="1">
              <a:lnSpc>
                <a:spcPct val="110000"/>
              </a:lnSpc>
              <a:spcAft>
                <a:spcPts val="0"/>
              </a:spcAft>
              <a:defRPr/>
            </a:pPr>
            <a:r>
              <a:rPr lang="en-US" sz="2000" i="1">
                <a:solidFill>
                  <a:schemeClr val="tx1"/>
                </a:solidFill>
              </a:rPr>
              <a:t>7. </a:t>
            </a:r>
            <a:r>
              <a:rPr lang="bg-BG" sz="2000" i="1">
                <a:solidFill>
                  <a:schemeClr val="tx1"/>
                </a:solidFill>
              </a:rPr>
              <a:t>Интерполационно търсене</a:t>
            </a:r>
            <a:br>
              <a:rPr lang="bg-BG" sz="2000" i="1">
                <a:solidFill>
                  <a:schemeClr val="tx1"/>
                </a:solidFill>
              </a:rPr>
            </a:br>
            <a:r>
              <a:rPr lang="bg-BG" sz="2000" b="1">
                <a:solidFill>
                  <a:schemeClr val="tx1"/>
                </a:solidFill>
              </a:rPr>
              <a:t/>
            </a:r>
            <a:br>
              <a:rPr lang="bg-BG" sz="2000" b="1">
                <a:solidFill>
                  <a:schemeClr val="tx1"/>
                </a:solidFill>
              </a:rPr>
            </a:br>
            <a:r>
              <a:rPr lang="bg-BG" sz="2000">
                <a:solidFill>
                  <a:schemeClr val="tx1"/>
                </a:solidFill>
              </a:rPr>
              <a:t>	Подходът също така представлява модификация на двоичното търсене, при което масивът се дели на две равни части и индексът на сравняваният елемент се изчислява като</a:t>
            </a:r>
            <a:br>
              <a:rPr lang="bg-BG" sz="2000">
                <a:solidFill>
                  <a:schemeClr val="tx1"/>
                </a:solidFill>
              </a:rPr>
            </a:br>
            <a:r>
              <a:rPr lang="bg-BG" sz="2000">
                <a:solidFill>
                  <a:schemeClr val="tx1"/>
                </a:solidFill>
              </a:rPr>
              <a:t>                      </a:t>
            </a:r>
            <a:r>
              <a:rPr lang="bg-BG" sz="2000" b="1" i="1">
                <a:solidFill>
                  <a:schemeClr val="tx1"/>
                </a:solidFill>
              </a:rPr>
              <a:t>m</a:t>
            </a:r>
            <a:r>
              <a:rPr lang="bg-BG" sz="2000" b="1">
                <a:solidFill>
                  <a:schemeClr val="tx1"/>
                </a:solidFill>
              </a:rPr>
              <a:t> = (</a:t>
            </a:r>
            <a:r>
              <a:rPr lang="bg-BG" sz="2000" b="1" i="1">
                <a:solidFill>
                  <a:schemeClr val="tx1"/>
                </a:solidFill>
              </a:rPr>
              <a:t>lf</a:t>
            </a:r>
            <a:r>
              <a:rPr lang="bg-BG" sz="2000" b="1">
                <a:solidFill>
                  <a:schemeClr val="tx1"/>
                </a:solidFill>
              </a:rPr>
              <a:t>+</a:t>
            </a:r>
            <a:r>
              <a:rPr lang="bg-BG" sz="2000" b="1" i="1">
                <a:solidFill>
                  <a:schemeClr val="tx1"/>
                </a:solidFill>
              </a:rPr>
              <a:t>rt</a:t>
            </a:r>
            <a:r>
              <a:rPr lang="bg-BG" sz="2000" b="1">
                <a:solidFill>
                  <a:schemeClr val="tx1"/>
                </a:solidFill>
              </a:rPr>
              <a:t>) / 2</a:t>
            </a:r>
            <a:r>
              <a:rPr lang="bg-BG" sz="2000">
                <a:solidFill>
                  <a:schemeClr val="tx1"/>
                </a:solidFill>
              </a:rPr>
              <a:t>  	(</a:t>
            </a:r>
            <a:r>
              <a:rPr lang="bg-BG" sz="2000" b="1" i="1">
                <a:solidFill>
                  <a:schemeClr val="tx1"/>
                </a:solidFill>
              </a:rPr>
              <a:t>lf</a:t>
            </a:r>
            <a:r>
              <a:rPr lang="bg-BG" sz="2000" b="1">
                <a:solidFill>
                  <a:schemeClr val="tx1"/>
                </a:solidFill>
              </a:rPr>
              <a:t> </a:t>
            </a:r>
            <a:r>
              <a:rPr lang="bg-BG" sz="2000">
                <a:solidFill>
                  <a:schemeClr val="tx1"/>
                </a:solidFill>
              </a:rPr>
              <a:t>- левия индекс,</a:t>
            </a:r>
            <a:r>
              <a:rPr lang="bg-BG" sz="2000" b="1">
                <a:solidFill>
                  <a:schemeClr val="tx1"/>
                </a:solidFill>
              </a:rPr>
              <a:t> </a:t>
            </a:r>
            <a:r>
              <a:rPr lang="bg-BG" sz="2000" b="1" i="1">
                <a:solidFill>
                  <a:schemeClr val="tx1"/>
                </a:solidFill>
              </a:rPr>
              <a:t>rt</a:t>
            </a:r>
            <a:r>
              <a:rPr lang="bg-BG" sz="2000">
                <a:solidFill>
                  <a:schemeClr val="tx1"/>
                </a:solidFill>
              </a:rPr>
              <a:t> - десния индекс)</a:t>
            </a:r>
            <a:br>
              <a:rPr lang="bg-BG" sz="2000">
                <a:solidFill>
                  <a:schemeClr val="tx1"/>
                </a:solidFill>
              </a:rPr>
            </a:br>
            <a:r>
              <a:rPr lang="bg-BG" sz="2000">
                <a:solidFill>
                  <a:schemeClr val="tx1"/>
                </a:solidFill>
              </a:rPr>
              <a:t>			или</a:t>
            </a:r>
            <a:br>
              <a:rPr lang="bg-BG" sz="2000">
                <a:solidFill>
                  <a:schemeClr val="tx1"/>
                </a:solidFill>
              </a:rPr>
            </a:br>
            <a:r>
              <a:rPr lang="bg-BG" sz="2000">
                <a:solidFill>
                  <a:schemeClr val="tx1"/>
                </a:solidFill>
              </a:rPr>
              <a:t>	       </a:t>
            </a:r>
            <a:r>
              <a:rPr lang="bg-BG" sz="2000" b="1" i="1">
                <a:solidFill>
                  <a:schemeClr val="tx1"/>
                </a:solidFill>
              </a:rPr>
              <a:t>m</a:t>
            </a:r>
            <a:r>
              <a:rPr lang="bg-BG" sz="2000" b="1">
                <a:solidFill>
                  <a:schemeClr val="tx1"/>
                </a:solidFill>
              </a:rPr>
              <a:t> = </a:t>
            </a:r>
            <a:r>
              <a:rPr lang="bg-BG" sz="2000" b="1" i="1">
                <a:solidFill>
                  <a:schemeClr val="tx1"/>
                </a:solidFill>
              </a:rPr>
              <a:t>lf</a:t>
            </a:r>
            <a:r>
              <a:rPr lang="bg-BG" sz="2000" b="1">
                <a:solidFill>
                  <a:schemeClr val="tx1"/>
                </a:solidFill>
              </a:rPr>
              <a:t> + (</a:t>
            </a:r>
            <a:r>
              <a:rPr lang="bg-BG" sz="2000" b="1" i="1">
                <a:solidFill>
                  <a:schemeClr val="tx1"/>
                </a:solidFill>
              </a:rPr>
              <a:t>rt</a:t>
            </a:r>
            <a:r>
              <a:rPr lang="bg-BG" sz="2000" b="1">
                <a:solidFill>
                  <a:schemeClr val="tx1"/>
                </a:solidFill>
              </a:rPr>
              <a:t>-</a:t>
            </a:r>
            <a:r>
              <a:rPr lang="bg-BG" sz="2000" b="1" i="1">
                <a:solidFill>
                  <a:schemeClr val="tx1"/>
                </a:solidFill>
              </a:rPr>
              <a:t>lf</a:t>
            </a:r>
            <a:r>
              <a:rPr lang="bg-BG" sz="2000" b="1">
                <a:solidFill>
                  <a:schemeClr val="tx1"/>
                </a:solidFill>
              </a:rPr>
              <a:t>) / 2</a:t>
            </a:r>
            <a:br>
              <a:rPr lang="bg-BG" sz="2000" b="1">
                <a:solidFill>
                  <a:schemeClr val="tx1"/>
                </a:solidFill>
              </a:rPr>
            </a:br>
            <a:r>
              <a:rPr lang="bg-BG" sz="2000">
                <a:solidFill>
                  <a:schemeClr val="tx1"/>
                </a:solidFill>
              </a:rPr>
              <a:t>	Получената формула показва, че следващата позиция на разделяне на интервала се получава, като към началото му добавим половината от дължината му.</a:t>
            </a:r>
            <a:br>
              <a:rPr lang="bg-BG" sz="2000">
                <a:solidFill>
                  <a:schemeClr val="tx1"/>
                </a:solidFill>
              </a:rPr>
            </a:br>
            <a:r>
              <a:rPr lang="bg-BG" sz="2000">
                <a:solidFill>
                  <a:schemeClr val="tx1"/>
                </a:solidFill>
              </a:rPr>
              <a:t>	Знаейки търсената стойност </a:t>
            </a:r>
            <a:r>
              <a:rPr lang="bg-BG" sz="2000" b="1" i="1">
                <a:solidFill>
                  <a:schemeClr val="tx1"/>
                </a:solidFill>
              </a:rPr>
              <a:t>key</a:t>
            </a:r>
            <a:r>
              <a:rPr lang="bg-BG" sz="2000">
                <a:solidFill>
                  <a:schemeClr val="tx1"/>
                </a:solidFill>
              </a:rPr>
              <a:t>, ние можем да потърсим позицията й по следната интерполационна формула:</a:t>
            </a:r>
            <a:br>
              <a:rPr lang="bg-BG" sz="2000">
                <a:solidFill>
                  <a:schemeClr val="tx1"/>
                </a:solidFill>
              </a:rPr>
            </a:br>
            <a:r>
              <a:rPr lang="bg-BG" sz="2000">
                <a:solidFill>
                  <a:schemeClr val="tx1"/>
                </a:solidFill>
              </a:rPr>
              <a:t>	       </a:t>
            </a:r>
            <a:r>
              <a:rPr lang="bg-BG" sz="2000" b="1" i="1">
                <a:solidFill>
                  <a:schemeClr val="tx1"/>
                </a:solidFill>
              </a:rPr>
              <a:t>m</a:t>
            </a:r>
            <a:r>
              <a:rPr lang="bg-BG" sz="2000" b="1">
                <a:solidFill>
                  <a:schemeClr val="tx1"/>
                </a:solidFill>
              </a:rPr>
              <a:t> = </a:t>
            </a:r>
            <a:r>
              <a:rPr lang="bg-BG" sz="2000" b="1" i="1">
                <a:solidFill>
                  <a:schemeClr val="tx1"/>
                </a:solidFill>
              </a:rPr>
              <a:t>lf</a:t>
            </a:r>
            <a:r>
              <a:rPr lang="bg-BG" sz="2000" b="1">
                <a:solidFill>
                  <a:schemeClr val="tx1"/>
                </a:solidFill>
              </a:rPr>
              <a:t> + </a:t>
            </a:r>
            <a:r>
              <a:rPr lang="bg-BG" sz="2000" b="1" i="1">
                <a:solidFill>
                  <a:schemeClr val="tx1"/>
                </a:solidFill>
              </a:rPr>
              <a:t>k</a:t>
            </a:r>
            <a:r>
              <a:rPr lang="bg-BG" sz="2000" b="1">
                <a:solidFill>
                  <a:schemeClr val="tx1"/>
                </a:solidFill>
              </a:rPr>
              <a:t>*(</a:t>
            </a:r>
            <a:r>
              <a:rPr lang="bg-BG" sz="2000" b="1" i="1">
                <a:solidFill>
                  <a:schemeClr val="tx1"/>
                </a:solidFill>
              </a:rPr>
              <a:t>rt</a:t>
            </a:r>
            <a:r>
              <a:rPr lang="bg-BG" sz="2000" b="1">
                <a:solidFill>
                  <a:schemeClr val="tx1"/>
                </a:solidFill>
              </a:rPr>
              <a:t> - </a:t>
            </a:r>
            <a:r>
              <a:rPr lang="bg-BG" sz="2000" b="1" i="1">
                <a:solidFill>
                  <a:schemeClr val="tx1"/>
                </a:solidFill>
              </a:rPr>
              <a:t>lf</a:t>
            </a:r>
            <a:r>
              <a:rPr lang="bg-BG" sz="2000" b="1">
                <a:solidFill>
                  <a:schemeClr val="tx1"/>
                </a:solidFill>
              </a:rPr>
              <a:t>)</a:t>
            </a:r>
            <a:r>
              <a:rPr lang="bg-BG" sz="2000">
                <a:solidFill>
                  <a:schemeClr val="tx1"/>
                </a:solidFill>
              </a:rPr>
              <a:t>,     </a:t>
            </a:r>
            <a:br>
              <a:rPr lang="bg-BG" sz="2000">
                <a:solidFill>
                  <a:schemeClr val="tx1"/>
                </a:solidFill>
              </a:rPr>
            </a:br>
            <a:r>
              <a:rPr lang="bg-BG" sz="2000">
                <a:solidFill>
                  <a:schemeClr val="tx1"/>
                </a:solidFill>
              </a:rPr>
              <a:t>                        където	</a:t>
            </a:r>
            <a:r>
              <a:rPr lang="bg-BG" sz="2000" b="1" i="1">
                <a:solidFill>
                  <a:schemeClr val="tx1"/>
                </a:solidFill>
              </a:rPr>
              <a:t>k</a:t>
            </a:r>
            <a:r>
              <a:rPr lang="bg-BG" sz="2000" b="1">
                <a:solidFill>
                  <a:schemeClr val="tx1"/>
                </a:solidFill>
              </a:rPr>
              <a:t> = (</a:t>
            </a:r>
            <a:r>
              <a:rPr lang="bg-BG" sz="2000" b="1" i="1">
                <a:solidFill>
                  <a:schemeClr val="tx1"/>
                </a:solidFill>
              </a:rPr>
              <a:t>key</a:t>
            </a:r>
            <a:r>
              <a:rPr lang="bg-BG" sz="2000" b="1">
                <a:solidFill>
                  <a:schemeClr val="tx1"/>
                </a:solidFill>
              </a:rPr>
              <a:t> - </a:t>
            </a:r>
            <a:r>
              <a:rPr lang="bg-BG" sz="2000" b="1" i="1">
                <a:solidFill>
                  <a:schemeClr val="tx1"/>
                </a:solidFill>
              </a:rPr>
              <a:t>a</a:t>
            </a:r>
            <a:r>
              <a:rPr lang="bg-BG" sz="2000" b="1">
                <a:solidFill>
                  <a:schemeClr val="tx1"/>
                </a:solidFill>
              </a:rPr>
              <a:t>[</a:t>
            </a:r>
            <a:r>
              <a:rPr lang="bg-BG" sz="2000" b="1" i="1">
                <a:solidFill>
                  <a:schemeClr val="tx1"/>
                </a:solidFill>
              </a:rPr>
              <a:t>lf</a:t>
            </a:r>
            <a:r>
              <a:rPr lang="bg-BG" sz="2000" b="1">
                <a:solidFill>
                  <a:schemeClr val="tx1"/>
                </a:solidFill>
              </a:rPr>
              <a:t>]) / (</a:t>
            </a:r>
            <a:r>
              <a:rPr lang="bg-BG" sz="2000" b="1" i="1">
                <a:solidFill>
                  <a:schemeClr val="tx1"/>
                </a:solidFill>
              </a:rPr>
              <a:t>a</a:t>
            </a:r>
            <a:r>
              <a:rPr lang="bg-BG" sz="2000" b="1">
                <a:solidFill>
                  <a:schemeClr val="tx1"/>
                </a:solidFill>
              </a:rPr>
              <a:t>[</a:t>
            </a:r>
            <a:r>
              <a:rPr lang="bg-BG" sz="2000" b="1" i="1">
                <a:solidFill>
                  <a:schemeClr val="tx1"/>
                </a:solidFill>
              </a:rPr>
              <a:t>rt</a:t>
            </a:r>
            <a:r>
              <a:rPr lang="bg-BG" sz="2000" b="1">
                <a:solidFill>
                  <a:schemeClr val="tx1"/>
                </a:solidFill>
              </a:rPr>
              <a:t>] - </a:t>
            </a:r>
            <a:r>
              <a:rPr lang="bg-BG" sz="2000" b="1" i="1">
                <a:solidFill>
                  <a:schemeClr val="tx1"/>
                </a:solidFill>
              </a:rPr>
              <a:t>a</a:t>
            </a:r>
            <a:r>
              <a:rPr lang="bg-BG" sz="2000" b="1">
                <a:solidFill>
                  <a:schemeClr val="tx1"/>
                </a:solidFill>
              </a:rPr>
              <a:t>[</a:t>
            </a:r>
            <a:r>
              <a:rPr lang="bg-BG" sz="2000" b="1" i="1">
                <a:solidFill>
                  <a:schemeClr val="tx1"/>
                </a:solidFill>
              </a:rPr>
              <a:t>lf</a:t>
            </a:r>
            <a:r>
              <a:rPr lang="bg-BG" sz="2000" b="1" smtClean="0">
                <a:solidFill>
                  <a:schemeClr val="tx1"/>
                </a:solidFill>
              </a:rPr>
              <a:t>])</a:t>
            </a:r>
            <a:br>
              <a:rPr lang="bg-BG" sz="2000" b="1" smtClean="0">
                <a:solidFill>
                  <a:schemeClr val="tx1"/>
                </a:solidFill>
              </a:rPr>
            </a:br>
            <a:r>
              <a:rPr lang="bg-BG" sz="2000">
                <a:solidFill>
                  <a:schemeClr val="tx1"/>
                </a:solidFill>
              </a:rPr>
              <a:t/>
            </a:r>
            <a:br>
              <a:rPr lang="bg-BG" sz="2000">
                <a:solidFill>
                  <a:schemeClr val="tx1"/>
                </a:solidFill>
              </a:rPr>
            </a:br>
            <a:r>
              <a:rPr lang="bg-BG" sz="2000">
                <a:solidFill>
                  <a:schemeClr val="tx1"/>
                </a:solidFill>
              </a:rPr>
              <a:t>	Коефициентът </a:t>
            </a:r>
            <a:r>
              <a:rPr lang="bg-BG" sz="2000" b="1" i="1">
                <a:solidFill>
                  <a:schemeClr val="tx1"/>
                </a:solidFill>
              </a:rPr>
              <a:t>k</a:t>
            </a:r>
            <a:r>
              <a:rPr lang="bg-BG" sz="2000">
                <a:solidFill>
                  <a:schemeClr val="tx1"/>
                </a:solidFill>
              </a:rPr>
              <a:t> замества константата </a:t>
            </a:r>
            <a:r>
              <a:rPr lang="bg-BG" sz="2000" b="1">
                <a:solidFill>
                  <a:schemeClr val="tx1"/>
                </a:solidFill>
                <a:latin typeface="Arial" pitchFamily="34" charset="0"/>
                <a:cs typeface="Arial" pitchFamily="34" charset="0"/>
              </a:rPr>
              <a:t>1/2</a:t>
            </a:r>
            <a:r>
              <a:rPr lang="bg-BG" sz="2000">
                <a:solidFill>
                  <a:schemeClr val="tx1"/>
                </a:solidFill>
                <a:latin typeface="Arial" pitchFamily="34" charset="0"/>
                <a:cs typeface="Arial" pitchFamily="34" charset="0"/>
              </a:rPr>
              <a:t> (</a:t>
            </a:r>
            <a:r>
              <a:rPr lang="bg-BG" sz="2000">
                <a:solidFill>
                  <a:schemeClr val="tx1"/>
                </a:solidFill>
              </a:rPr>
              <a:t>в двоичното търсене) и ни дава приблизителната позиция на търсения елемент в разглеждания интервал.</a:t>
            </a:r>
            <a:br>
              <a:rPr lang="bg-BG" sz="2000">
                <a:solidFill>
                  <a:schemeClr val="tx1"/>
                </a:solidFill>
              </a:rPr>
            </a:br>
            <a:endParaRPr lang="bg-BG">
              <a:solidFill>
                <a:schemeClr val="tx1"/>
              </a:solidFill>
            </a:endParaRPr>
          </a:p>
        </p:txBody>
      </p:sp>
      <p:sp>
        <p:nvSpPr>
          <p:cNvPr id="5" name="Slide Number Placeholder 4"/>
          <p:cNvSpPr>
            <a:spLocks noGrp="1"/>
          </p:cNvSpPr>
          <p:nvPr>
            <p:ph type="sldNum" sz="quarter" idx="12"/>
          </p:nvPr>
        </p:nvSpPr>
        <p:spPr/>
        <p:txBody>
          <a:bodyPr/>
          <a:lstStyle/>
          <a:p>
            <a:pPr>
              <a:defRPr/>
            </a:pPr>
            <a:fld id="{3912C3CA-A705-403F-9395-FBDDA2173F48}" type="slidenum">
              <a:rPr lang="en-US"/>
              <a:pPr>
                <a:defRPr/>
              </a:pPr>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844550" y="620713"/>
            <a:ext cx="8299450" cy="5867400"/>
          </a:xfrm>
        </p:spPr>
        <p:txBody>
          <a:bodyPr>
            <a:normAutofit fontScale="90000"/>
          </a:bodyPr>
          <a:lstStyle/>
          <a:p>
            <a:pPr eaLnBrk="1" fontAlgn="auto" hangingPunct="1">
              <a:lnSpc>
                <a:spcPct val="90000"/>
              </a:lnSpc>
              <a:spcAft>
                <a:spcPts val="0"/>
              </a:spcAft>
              <a:defRPr/>
            </a:pPr>
            <a:r>
              <a:rPr lang="bg-BG" sz="1800">
                <a:solidFill>
                  <a:schemeClr val="tx1"/>
                </a:solidFill>
              </a:rPr>
              <a:t>Функция за интерполационно търсене:</a:t>
            </a:r>
            <a:br>
              <a:rPr lang="bg-BG" sz="1800">
                <a:solidFill>
                  <a:schemeClr val="tx1"/>
                </a:solidFill>
              </a:rPr>
            </a:br>
            <a:r>
              <a:rPr lang="bg-BG" sz="1800">
                <a:solidFill>
                  <a:schemeClr val="tx1"/>
                </a:solidFill>
              </a:rPr>
              <a:t/>
            </a:r>
            <a:br>
              <a:rPr lang="bg-BG" sz="1800">
                <a:solidFill>
                  <a:schemeClr val="tx1"/>
                </a:solidFill>
              </a:rPr>
            </a:br>
            <a:r>
              <a:rPr lang="bg-BG" sz="1800">
                <a:solidFill>
                  <a:schemeClr val="tx1"/>
                </a:solidFill>
                <a:latin typeface="Courier New" pitchFamily="49" charset="-52"/>
              </a:rPr>
              <a:t>int inter_search(int key, int num)</a:t>
            </a:r>
            <a:br>
              <a:rPr lang="bg-BG" sz="1800">
                <a:solidFill>
                  <a:schemeClr val="tx1"/>
                </a:solidFill>
                <a:latin typeface="Courier New" pitchFamily="49" charset="-52"/>
              </a:rPr>
            </a:br>
            <a:r>
              <a:rPr lang="en-US" sz="1800">
                <a:solidFill>
                  <a:schemeClr val="tx1"/>
                </a:solidFill>
                <a:latin typeface="Courier New" pitchFamily="49" charset="-52"/>
              </a:rPr>
              <a:t>{  unsigned lf, rt, m;</a:t>
            </a:r>
            <a:r>
              <a:rPr lang="bg-BG" sz="1800">
                <a:solidFill>
                  <a:schemeClr val="tx1"/>
                </a:solidFill>
                <a:latin typeface="Courier New" pitchFamily="49" charset="-52"/>
              </a:rPr>
              <a:t>//lf - началния индекс в интервала </a:t>
            </a:r>
            <a:br>
              <a:rPr lang="bg-BG" sz="1800">
                <a:solidFill>
                  <a:schemeClr val="tx1"/>
                </a:solidFill>
                <a:latin typeface="Courier New" pitchFamily="49" charset="-52"/>
              </a:rPr>
            </a:br>
            <a:r>
              <a:rPr lang="bg-BG" sz="1800">
                <a:solidFill>
                  <a:schemeClr val="tx1"/>
                </a:solidFill>
                <a:latin typeface="Courier New" pitchFamily="49" charset="-52"/>
              </a:rPr>
              <a:t>			  //rt - крайния индекс в интервала </a:t>
            </a:r>
            <a:br>
              <a:rPr lang="bg-BG" sz="1800">
                <a:solidFill>
                  <a:schemeClr val="tx1"/>
                </a:solidFill>
                <a:latin typeface="Courier New" pitchFamily="49" charset="-52"/>
              </a:rPr>
            </a:br>
            <a:r>
              <a:rPr lang="bg-BG" sz="1800">
                <a:solidFill>
                  <a:schemeClr val="tx1"/>
                </a:solidFill>
                <a:latin typeface="Courier New" pitchFamily="49" charset="-52"/>
              </a:rPr>
              <a:t>			  //m - индекса на сравнявания елемент</a:t>
            </a:r>
            <a:r>
              <a:rPr lang="en-US" sz="1800">
                <a:solidFill>
                  <a:schemeClr val="tx1"/>
                </a:solidFill>
                <a:latin typeface="Courier New" pitchFamily="49" charset="-52"/>
              </a:rPr>
              <a:t> </a:t>
            </a:r>
            <a:r>
              <a:rPr lang="bg-BG" sz="1800">
                <a:solidFill>
                  <a:schemeClr val="tx1"/>
                </a:solidFill>
                <a:latin typeface="Courier New" pitchFamily="49" charset="-52"/>
              </a:rPr>
              <a:t/>
            </a:r>
            <a:br>
              <a:rPr lang="bg-BG" sz="1800">
                <a:solidFill>
                  <a:schemeClr val="tx1"/>
                </a:solidFill>
                <a:latin typeface="Courier New" pitchFamily="49" charset="-52"/>
              </a:rPr>
            </a:br>
            <a:r>
              <a:rPr lang="en-US" sz="1800">
                <a:solidFill>
                  <a:schemeClr val="tx1"/>
                </a:solidFill>
                <a:latin typeface="Courier New" pitchFamily="49" charset="-52"/>
              </a:rPr>
              <a:t> </a:t>
            </a:r>
            <a:r>
              <a:rPr lang="bg-BG" sz="1800">
                <a:solidFill>
                  <a:schemeClr val="tx1"/>
                </a:solidFill>
                <a:latin typeface="Courier New" pitchFamily="49" charset="-52"/>
              </a:rPr>
              <a:t>  </a:t>
            </a:r>
            <a:r>
              <a:rPr lang="en-US" sz="1800">
                <a:solidFill>
                  <a:schemeClr val="tx1"/>
                </a:solidFill>
                <a:latin typeface="Courier New" pitchFamily="49" charset="-52"/>
              </a:rPr>
              <a:t>float k;</a:t>
            </a:r>
            <a:r>
              <a:rPr lang="bg-BG" sz="1800">
                <a:solidFill>
                  <a:schemeClr val="tx1"/>
                </a:solidFill>
                <a:latin typeface="Courier New" pitchFamily="49" charset="-52"/>
              </a:rPr>
              <a:t>		  //коефициент</a:t>
            </a:r>
            <a:r>
              <a:rPr lang="en-US" sz="1800">
                <a:solidFill>
                  <a:schemeClr val="tx1"/>
                </a:solidFill>
                <a:latin typeface="Courier New" pitchFamily="49" charset="-52"/>
              </a:rPr>
              <a:t>  lf=0; rt=num-1;</a:t>
            </a:r>
            <a:br>
              <a:rPr lang="en-US" sz="1800">
                <a:solidFill>
                  <a:schemeClr val="tx1"/>
                </a:solidFill>
                <a:latin typeface="Courier New" pitchFamily="49" charset="-52"/>
              </a:rPr>
            </a:br>
            <a:r>
              <a:rPr lang="en-US" sz="1800">
                <a:solidFill>
                  <a:schemeClr val="tx1"/>
                </a:solidFill>
                <a:latin typeface="Courier New" pitchFamily="49" charset="-52"/>
              </a:rPr>
              <a:t> </a:t>
            </a:r>
            <a:r>
              <a:rPr lang="bg-BG" sz="1800">
                <a:solidFill>
                  <a:schemeClr val="tx1"/>
                </a:solidFill>
                <a:latin typeface="Courier New" pitchFamily="49" charset="-52"/>
              </a:rPr>
              <a:t> </a:t>
            </a:r>
            <a:r>
              <a:rPr lang="en-US" sz="1800">
                <a:solidFill>
                  <a:schemeClr val="tx1"/>
                </a:solidFill>
                <a:latin typeface="Courier New" pitchFamily="49" charset="-52"/>
              </a:rPr>
              <a:t> while (lf&lt;=rt)</a:t>
            </a:r>
            <a:br>
              <a:rPr lang="en-US" sz="1800">
                <a:solidFill>
                  <a:schemeClr val="tx1"/>
                </a:solidFill>
                <a:latin typeface="Courier New" pitchFamily="49" charset="-52"/>
              </a:rPr>
            </a:br>
            <a:r>
              <a:rPr lang="en-US" sz="1800">
                <a:solidFill>
                  <a:schemeClr val="tx1"/>
                </a:solidFill>
                <a:latin typeface="Courier New" pitchFamily="49" charset="-52"/>
              </a:rPr>
              <a:t>  </a:t>
            </a:r>
            <a:r>
              <a:rPr lang="bg-BG" sz="1800">
                <a:solidFill>
                  <a:schemeClr val="tx1"/>
                </a:solidFill>
                <a:latin typeface="Courier New" pitchFamily="49" charset="-52"/>
              </a:rPr>
              <a:t> </a:t>
            </a:r>
            <a:r>
              <a:rPr lang="en-US" sz="1800">
                <a:solidFill>
                  <a:schemeClr val="tx1"/>
                </a:solidFill>
                <a:latin typeface="Courier New" pitchFamily="49" charset="-52"/>
              </a:rPr>
              <a:t>{</a:t>
            </a:r>
            <a:br>
              <a:rPr lang="en-US" sz="1800">
                <a:solidFill>
                  <a:schemeClr val="tx1"/>
                </a:solidFill>
                <a:latin typeface="Courier New" pitchFamily="49" charset="-52"/>
              </a:rPr>
            </a:br>
            <a:r>
              <a:rPr lang="en-US" sz="1800">
                <a:solidFill>
                  <a:schemeClr val="tx1"/>
                </a:solidFill>
                <a:latin typeface="Courier New" pitchFamily="49" charset="-52"/>
              </a:rPr>
              <a:t>    if (a[rt]==a[lf])</a:t>
            </a:r>
            <a:br>
              <a:rPr lang="en-US" sz="1800">
                <a:solidFill>
                  <a:schemeClr val="tx1"/>
                </a:solidFill>
                <a:latin typeface="Courier New" pitchFamily="49" charset="-52"/>
              </a:rPr>
            </a:br>
            <a:r>
              <a:rPr lang="en-US" sz="1800">
                <a:solidFill>
                  <a:schemeClr val="tx1"/>
                </a:solidFill>
                <a:latin typeface="Courier New" pitchFamily="49" charset="-52"/>
              </a:rPr>
              <a:t>	if (a[lf]==key)</a:t>
            </a:r>
            <a:br>
              <a:rPr lang="en-US" sz="1800">
                <a:solidFill>
                  <a:schemeClr val="tx1"/>
                </a:solidFill>
                <a:latin typeface="Courier New" pitchFamily="49" charset="-52"/>
              </a:rPr>
            </a:br>
            <a:r>
              <a:rPr lang="en-US" sz="1800">
                <a:solidFill>
                  <a:schemeClr val="tx1"/>
                </a:solidFill>
                <a:latin typeface="Courier New" pitchFamily="49" charset="-52"/>
              </a:rPr>
              <a:t>	   return lf;</a:t>
            </a:r>
            <a:r>
              <a:rPr lang="bg-BG" sz="1800">
                <a:solidFill>
                  <a:schemeClr val="tx1"/>
                </a:solidFill>
                <a:latin typeface="Courier New" pitchFamily="49" charset="-52"/>
              </a:rPr>
              <a:t>		//елементът е намерен</a:t>
            </a:r>
            <a:br>
              <a:rPr lang="bg-BG" sz="1800">
                <a:solidFill>
                  <a:schemeClr val="tx1"/>
                </a:solidFill>
                <a:latin typeface="Courier New" pitchFamily="49" charset="-52"/>
              </a:rPr>
            </a:br>
            <a:r>
              <a:rPr lang="en-US" sz="1800">
                <a:solidFill>
                  <a:schemeClr val="tx1"/>
                </a:solidFill>
                <a:latin typeface="Courier New" pitchFamily="49" charset="-52"/>
              </a:rPr>
              <a:t>	else</a:t>
            </a:r>
            <a:br>
              <a:rPr lang="en-US" sz="1800">
                <a:solidFill>
                  <a:schemeClr val="tx1"/>
                </a:solidFill>
                <a:latin typeface="Courier New" pitchFamily="49" charset="-52"/>
              </a:rPr>
            </a:br>
            <a:r>
              <a:rPr lang="en-US" sz="1800">
                <a:solidFill>
                  <a:schemeClr val="tx1"/>
                </a:solidFill>
                <a:latin typeface="Courier New" pitchFamily="49" charset="-52"/>
              </a:rPr>
              <a:t>	   return 0;</a:t>
            </a:r>
            <a:r>
              <a:rPr lang="bg-BG" sz="1800">
                <a:solidFill>
                  <a:schemeClr val="tx1"/>
                </a:solidFill>
                <a:latin typeface="Courier New" pitchFamily="49" charset="-52"/>
              </a:rPr>
              <a:t>		//елементът не е намерен</a:t>
            </a:r>
            <a:br>
              <a:rPr lang="bg-BG" sz="1800">
                <a:solidFill>
                  <a:schemeClr val="tx1"/>
                </a:solidFill>
                <a:latin typeface="Courier New" pitchFamily="49" charset="-52"/>
              </a:rPr>
            </a:br>
            <a:r>
              <a:rPr lang="en-US" sz="1800">
                <a:solidFill>
                  <a:schemeClr val="tx1"/>
                </a:solidFill>
                <a:latin typeface="Courier New" pitchFamily="49" charset="-52"/>
              </a:rPr>
              <a:t>    k=(float) (key-a[lf])/(a[rt]-a[lf]);</a:t>
            </a:r>
            <a:r>
              <a:rPr lang="bg-BG" sz="1800">
                <a:solidFill>
                  <a:schemeClr val="tx1"/>
                </a:solidFill>
                <a:latin typeface="Courier New" pitchFamily="49" charset="-52"/>
              </a:rPr>
              <a:t> //коефициент на </a:t>
            </a:r>
            <a:br>
              <a:rPr lang="bg-BG" sz="1800">
                <a:solidFill>
                  <a:schemeClr val="tx1"/>
                </a:solidFill>
                <a:latin typeface="Courier New" pitchFamily="49" charset="-52"/>
              </a:rPr>
            </a:br>
            <a:r>
              <a:rPr lang="bg-BG" sz="1800">
                <a:solidFill>
                  <a:schemeClr val="tx1"/>
                </a:solidFill>
                <a:latin typeface="Courier New" pitchFamily="49" charset="-52"/>
              </a:rPr>
              <a:t>                                         //позицията</a:t>
            </a:r>
            <a:br>
              <a:rPr lang="bg-BG" sz="1800">
                <a:solidFill>
                  <a:schemeClr val="tx1"/>
                </a:solidFill>
                <a:latin typeface="Courier New" pitchFamily="49" charset="-52"/>
              </a:rPr>
            </a:br>
            <a:r>
              <a:rPr lang="en-US" sz="1800">
                <a:solidFill>
                  <a:schemeClr val="tx1"/>
                </a:solidFill>
                <a:latin typeface="Courier New" pitchFamily="49" charset="-52"/>
              </a:rPr>
              <a:t>    if (k&lt;0||k&gt;1)</a:t>
            </a:r>
            <a:br>
              <a:rPr lang="en-US" sz="1800">
                <a:solidFill>
                  <a:schemeClr val="tx1"/>
                </a:solidFill>
                <a:latin typeface="Courier New" pitchFamily="49" charset="-52"/>
              </a:rPr>
            </a:br>
            <a:r>
              <a:rPr lang="en-US" sz="1800">
                <a:solidFill>
                  <a:schemeClr val="tx1"/>
                </a:solidFill>
                <a:latin typeface="Courier New" pitchFamily="49" charset="-52"/>
              </a:rPr>
              <a:t>      return 0;</a:t>
            </a:r>
            <a:r>
              <a:rPr lang="bg-BG" sz="1800">
                <a:solidFill>
                  <a:schemeClr val="tx1"/>
                </a:solidFill>
                <a:latin typeface="Courier New" pitchFamily="49" charset="-52"/>
              </a:rPr>
              <a:t>			   //елементът не е намерен</a:t>
            </a:r>
            <a:br>
              <a:rPr lang="bg-BG" sz="1800">
                <a:solidFill>
                  <a:schemeClr val="tx1"/>
                </a:solidFill>
                <a:latin typeface="Courier New" pitchFamily="49" charset="-52"/>
              </a:rPr>
            </a:br>
            <a:r>
              <a:rPr lang="en-US" sz="1800">
                <a:solidFill>
                  <a:schemeClr val="tx1"/>
                </a:solidFill>
                <a:latin typeface="Courier New" pitchFamily="49" charset="-52"/>
              </a:rPr>
              <a:t>    m=(unsigned)(lf+k*(rt-lf)+0.5);</a:t>
            </a:r>
            <a:br>
              <a:rPr lang="en-US" sz="1800">
                <a:solidFill>
                  <a:schemeClr val="tx1"/>
                </a:solidFill>
                <a:latin typeface="Courier New" pitchFamily="49" charset="-52"/>
              </a:rPr>
            </a:br>
            <a:r>
              <a:rPr lang="en-US" sz="1800">
                <a:solidFill>
                  <a:schemeClr val="tx1"/>
                </a:solidFill>
                <a:latin typeface="Courier New" pitchFamily="49" charset="-52"/>
              </a:rPr>
              <a:t>    if (key&lt;a[m])</a:t>
            </a:r>
            <a:br>
              <a:rPr lang="en-US" sz="1800">
                <a:solidFill>
                  <a:schemeClr val="tx1"/>
                </a:solidFill>
                <a:latin typeface="Courier New" pitchFamily="49" charset="-52"/>
              </a:rPr>
            </a:br>
            <a:r>
              <a:rPr lang="en-US" sz="1800">
                <a:solidFill>
                  <a:schemeClr val="tx1"/>
                </a:solidFill>
                <a:latin typeface="Courier New" pitchFamily="49" charset="-52"/>
              </a:rPr>
              <a:t>       rt=m-1;</a:t>
            </a:r>
            <a:br>
              <a:rPr lang="en-US" sz="1800">
                <a:solidFill>
                  <a:schemeClr val="tx1"/>
                </a:solidFill>
                <a:latin typeface="Courier New" pitchFamily="49" charset="-52"/>
              </a:rPr>
            </a:br>
            <a:r>
              <a:rPr lang="en-US" sz="1800">
                <a:solidFill>
                  <a:schemeClr val="tx1"/>
                </a:solidFill>
                <a:latin typeface="Courier New" pitchFamily="49" charset="-52"/>
              </a:rPr>
              <a:t>     else  if(key&gt;a[m])</a:t>
            </a:r>
            <a:br>
              <a:rPr lang="en-US" sz="1800">
                <a:solidFill>
                  <a:schemeClr val="tx1"/>
                </a:solidFill>
                <a:latin typeface="Courier New" pitchFamily="49" charset="-52"/>
              </a:rPr>
            </a:br>
            <a:r>
              <a:rPr lang="en-US" sz="1800">
                <a:solidFill>
                  <a:schemeClr val="tx1"/>
                </a:solidFill>
                <a:latin typeface="Courier New" pitchFamily="49" charset="-52"/>
              </a:rPr>
              <a:t>	      lf=m+1;</a:t>
            </a:r>
            <a:br>
              <a:rPr lang="en-US" sz="1800">
                <a:solidFill>
                  <a:schemeClr val="tx1"/>
                </a:solidFill>
                <a:latin typeface="Courier New" pitchFamily="49" charset="-52"/>
              </a:rPr>
            </a:br>
            <a:r>
              <a:rPr lang="en-US" sz="1800">
                <a:solidFill>
                  <a:schemeClr val="tx1"/>
                </a:solidFill>
                <a:latin typeface="Courier New" pitchFamily="49" charset="-52"/>
              </a:rPr>
              <a:t>	      else  return m;</a:t>
            </a:r>
            <a:r>
              <a:rPr lang="bg-BG" sz="1800">
                <a:solidFill>
                  <a:schemeClr val="tx1"/>
                </a:solidFill>
                <a:latin typeface="Courier New" pitchFamily="49" charset="-52"/>
              </a:rPr>
              <a:t>	   //елементът е намерен</a:t>
            </a:r>
            <a:br>
              <a:rPr lang="bg-BG" sz="1800">
                <a:solidFill>
                  <a:schemeClr val="tx1"/>
                </a:solidFill>
                <a:latin typeface="Courier New" pitchFamily="49" charset="-52"/>
              </a:rPr>
            </a:br>
            <a:r>
              <a:rPr lang="en-US" sz="1800">
                <a:solidFill>
                  <a:schemeClr val="tx1"/>
                </a:solidFill>
                <a:latin typeface="Courier New" pitchFamily="49" charset="-52"/>
              </a:rPr>
              <a:t>  }</a:t>
            </a:r>
            <a:br>
              <a:rPr lang="en-US" sz="1800">
                <a:solidFill>
                  <a:schemeClr val="tx1"/>
                </a:solidFill>
                <a:latin typeface="Courier New" pitchFamily="49" charset="-52"/>
              </a:rPr>
            </a:br>
            <a:r>
              <a:rPr lang="en-US" sz="1800">
                <a:solidFill>
                  <a:schemeClr val="tx1"/>
                </a:solidFill>
                <a:latin typeface="Courier New" pitchFamily="49" charset="-52"/>
              </a:rPr>
              <a:t> return 0;</a:t>
            </a:r>
            <a:r>
              <a:rPr lang="bg-BG" sz="1800">
                <a:solidFill>
                  <a:schemeClr val="tx1"/>
                </a:solidFill>
                <a:latin typeface="Courier New" pitchFamily="49" charset="-52"/>
              </a:rPr>
              <a:t>			</a:t>
            </a:r>
            <a:r>
              <a:rPr lang="bg-BG" sz="1800" smtClean="0">
                <a:solidFill>
                  <a:schemeClr val="tx1"/>
                </a:solidFill>
                <a:latin typeface="Courier New" pitchFamily="49" charset="-52"/>
              </a:rPr>
              <a:t>   //</a:t>
            </a:r>
            <a:r>
              <a:rPr lang="bg-BG" sz="1800">
                <a:solidFill>
                  <a:schemeClr val="tx1"/>
                </a:solidFill>
                <a:latin typeface="Courier New" pitchFamily="49" charset="-52"/>
              </a:rPr>
              <a:t>елементът не е намерен</a:t>
            </a:r>
            <a:br>
              <a:rPr lang="bg-BG" sz="1800">
                <a:solidFill>
                  <a:schemeClr val="tx1"/>
                </a:solidFill>
                <a:latin typeface="Courier New" pitchFamily="49" charset="-52"/>
              </a:rPr>
            </a:br>
            <a:r>
              <a:rPr lang="en-US" sz="1800">
                <a:solidFill>
                  <a:schemeClr val="tx1"/>
                </a:solidFill>
                <a:latin typeface="Courier New" pitchFamily="49" charset="-52"/>
              </a:rPr>
              <a:t>}</a:t>
            </a:r>
            <a:r>
              <a:rPr lang="en-US" sz="1800">
                <a:solidFill>
                  <a:schemeClr val="tx2">
                    <a:satMod val="130000"/>
                  </a:schemeClr>
                </a:solidFill>
                <a:latin typeface="Courier New" pitchFamily="49" charset="-52"/>
              </a:rPr>
              <a:t/>
            </a:r>
            <a:br>
              <a:rPr lang="en-US" sz="1800">
                <a:solidFill>
                  <a:schemeClr val="tx2">
                    <a:satMod val="130000"/>
                  </a:schemeClr>
                </a:solidFill>
                <a:latin typeface="Courier New" pitchFamily="49" charset="-52"/>
              </a:rPr>
            </a:br>
            <a:r>
              <a:rPr lang="en-AU" sz="1800">
                <a:solidFill>
                  <a:schemeClr val="tx1"/>
                </a:solidFill>
                <a:latin typeface="Courier New" pitchFamily="49" charset="-52"/>
              </a:rPr>
              <a:t/>
            </a:r>
            <a:br>
              <a:rPr lang="en-AU" sz="1800">
                <a:solidFill>
                  <a:schemeClr val="tx1"/>
                </a:solidFill>
                <a:latin typeface="Courier New" pitchFamily="49" charset="-52"/>
              </a:rPr>
            </a:br>
            <a:r>
              <a:rPr lang="en-AU" sz="1800">
                <a:solidFill>
                  <a:schemeClr val="tx1"/>
                </a:solidFill>
              </a:rPr>
              <a:t>	</a:t>
            </a:r>
            <a:endParaRPr lang="en-US">
              <a:solidFill>
                <a:schemeClr val="tx1"/>
              </a:solidFill>
            </a:endParaRPr>
          </a:p>
        </p:txBody>
      </p:sp>
      <p:sp>
        <p:nvSpPr>
          <p:cNvPr id="5" name="Slide Number Placeholder 4"/>
          <p:cNvSpPr>
            <a:spLocks noGrp="1"/>
          </p:cNvSpPr>
          <p:nvPr>
            <p:ph type="sldNum" sz="quarter" idx="12"/>
          </p:nvPr>
        </p:nvSpPr>
        <p:spPr/>
        <p:txBody>
          <a:bodyPr/>
          <a:lstStyle/>
          <a:p>
            <a:pPr>
              <a:defRPr/>
            </a:pPr>
            <a:fld id="{206EADE3-9CD3-4C94-9EBC-7C449DE3E250}" type="slidenum">
              <a:rPr lang="en-US"/>
              <a:pPr>
                <a:defRPr/>
              </a:pPr>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116013" y="981075"/>
            <a:ext cx="7772400" cy="4876800"/>
          </a:xfrm>
        </p:spPr>
        <p:txBody>
          <a:bodyPr/>
          <a:lstStyle/>
          <a:p>
            <a:pPr eaLnBrk="1" fontAlgn="auto" hangingPunct="1">
              <a:lnSpc>
                <a:spcPct val="130000"/>
              </a:lnSpc>
              <a:spcAft>
                <a:spcPts val="0"/>
              </a:spcAft>
              <a:defRPr/>
            </a:pPr>
            <a:r>
              <a:rPr lang="bg-BG" sz="1800">
                <a:solidFill>
                  <a:schemeClr val="tx1"/>
                </a:solidFill>
              </a:rPr>
              <a:t>	</a:t>
            </a:r>
            <a:r>
              <a:rPr lang="bg-BG" sz="2000">
                <a:solidFill>
                  <a:schemeClr val="tx1"/>
                </a:solidFill>
              </a:rPr>
              <a:t>Методът е реализуем, когато ключовите стойности са числа или могат лесно да се интерпретират като такива, така че коефициента  </a:t>
            </a:r>
            <a:r>
              <a:rPr lang="bg-BG" sz="2000" b="1" i="1">
                <a:solidFill>
                  <a:schemeClr val="tx1"/>
                </a:solidFill>
              </a:rPr>
              <a:t>k</a:t>
            </a:r>
            <a:r>
              <a:rPr lang="bg-BG" sz="2000">
                <a:solidFill>
                  <a:schemeClr val="tx1"/>
                </a:solidFill>
              </a:rPr>
              <a:t>  да попада в интервала </a:t>
            </a:r>
            <a:r>
              <a:rPr lang="bg-BG" sz="2000" b="1">
                <a:solidFill>
                  <a:schemeClr val="tx1"/>
                </a:solidFill>
                <a:latin typeface="Courier New" pitchFamily="49" charset="-52"/>
              </a:rPr>
              <a:t>[0, 1].</a:t>
            </a:r>
            <a:r>
              <a:rPr lang="bg-BG" sz="2000">
                <a:solidFill>
                  <a:schemeClr val="tx1"/>
                </a:solidFill>
                <a:latin typeface="Courier New" pitchFamily="49" charset="-52"/>
              </a:rPr>
              <a:t/>
            </a:r>
            <a:br>
              <a:rPr lang="bg-BG" sz="2000">
                <a:solidFill>
                  <a:schemeClr val="tx1"/>
                </a:solidFill>
                <a:latin typeface="Courier New" pitchFamily="49" charset="-52"/>
              </a:rPr>
            </a:br>
            <a:r>
              <a:rPr lang="bg-BG" sz="2000">
                <a:solidFill>
                  <a:schemeClr val="tx1"/>
                </a:solidFill>
              </a:rPr>
              <a:t>	Алгоритъмът е добър при равномерно разпределение на стойностите в масива. Тогава интерполационното търсене извършва по-малко от   </a:t>
            </a:r>
            <a:r>
              <a:rPr lang="bg-BG" sz="2000" b="1" i="1">
                <a:solidFill>
                  <a:schemeClr val="tx1"/>
                </a:solidFill>
              </a:rPr>
              <a:t>Log</a:t>
            </a:r>
            <a:r>
              <a:rPr lang="bg-BG" sz="2000" b="1" i="1" baseline="-25000">
                <a:solidFill>
                  <a:schemeClr val="tx1"/>
                </a:solidFill>
              </a:rPr>
              <a:t>2</a:t>
            </a:r>
            <a:r>
              <a:rPr lang="bg-BG" sz="2000" b="1" i="1">
                <a:solidFill>
                  <a:schemeClr val="tx1"/>
                </a:solidFill>
              </a:rPr>
              <a:t>(log</a:t>
            </a:r>
            <a:r>
              <a:rPr lang="bg-BG" sz="2000" b="1" i="1" baseline="-25000">
                <a:solidFill>
                  <a:schemeClr val="tx1"/>
                </a:solidFill>
              </a:rPr>
              <a:t>2</a:t>
            </a:r>
            <a:r>
              <a:rPr lang="bg-BG" sz="2000" b="1" i="1">
                <a:solidFill>
                  <a:schemeClr val="tx1"/>
                </a:solidFill>
              </a:rPr>
              <a:t> n) + </a:t>
            </a:r>
            <a:r>
              <a:rPr lang="bg-BG" sz="2000" b="1" i="1">
                <a:solidFill>
                  <a:schemeClr val="tx1"/>
                </a:solidFill>
                <a:latin typeface="Arial" pitchFamily="34" charset="0"/>
                <a:cs typeface="Arial" pitchFamily="34" charset="0"/>
              </a:rPr>
              <a:t>1</a:t>
            </a:r>
            <a:r>
              <a:rPr lang="bg-BG" sz="2000">
                <a:solidFill>
                  <a:schemeClr val="tx1"/>
                </a:solidFill>
              </a:rPr>
              <a:t> сравнения както при успешно, така и при неуспешно търсене. Препоръчва се при големи обеми данни и големи по размер ключове, когато сравненията отнемат много време.</a:t>
            </a:r>
            <a:r>
              <a:rPr lang="bg-BG">
                <a:solidFill>
                  <a:schemeClr val="tx1"/>
                </a:solidFill>
              </a:rPr>
              <a:t/>
            </a:r>
            <a:br>
              <a:rPr lang="bg-BG">
                <a:solidFill>
                  <a:schemeClr val="tx1"/>
                </a:solidFill>
              </a:rPr>
            </a:br>
            <a:endParaRPr lang="bg-BG">
              <a:solidFill>
                <a:schemeClr val="tx1"/>
              </a:solidFill>
            </a:endParaRPr>
          </a:p>
        </p:txBody>
      </p:sp>
      <p:sp>
        <p:nvSpPr>
          <p:cNvPr id="5" name="Slide Number Placeholder 4"/>
          <p:cNvSpPr>
            <a:spLocks noGrp="1"/>
          </p:cNvSpPr>
          <p:nvPr>
            <p:ph type="sldNum" sz="quarter" idx="12"/>
          </p:nvPr>
        </p:nvSpPr>
        <p:spPr/>
        <p:txBody>
          <a:bodyPr/>
          <a:lstStyle/>
          <a:p>
            <a:pPr>
              <a:defRPr/>
            </a:pPr>
            <a:fld id="{F825EF8C-5F64-47AE-8501-0B4E6309CD79}" type="slidenum">
              <a:rPr lang="en-US"/>
              <a:pPr>
                <a:defRPr/>
              </a:pPr>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ChangeArrowheads="1"/>
          </p:cNvSpPr>
          <p:nvPr/>
        </p:nvSpPr>
        <p:spPr bwMode="auto">
          <a:xfrm>
            <a:off x="971600" y="838200"/>
            <a:ext cx="8011616" cy="6019800"/>
          </a:xfrm>
          <a:prstGeom prst="rect">
            <a:avLst/>
          </a:prstGeom>
          <a:noFill/>
          <a:ln w="9525">
            <a:noFill/>
            <a:miter lim="800000"/>
            <a:headEnd/>
            <a:tailEnd/>
          </a:ln>
        </p:spPr>
        <p:txBody>
          <a:bodyPr anchor="ctr"/>
          <a:lstStyle/>
          <a:p>
            <a:pPr algn="l">
              <a:lnSpc>
                <a:spcPct val="120000"/>
              </a:lnSpc>
            </a:pPr>
            <a:r>
              <a:rPr lang="bg-BG" sz="2000" b="1"/>
              <a:t>                              АЛГОРИТМИ  ЗА  ХЕШИРАНЕ</a:t>
            </a:r>
            <a:br>
              <a:rPr lang="bg-BG" sz="2000" b="1"/>
            </a:br>
            <a:r>
              <a:rPr lang="bg-BG" sz="1000" b="1"/>
              <a:t/>
            </a:r>
            <a:br>
              <a:rPr lang="bg-BG" sz="1000" b="1"/>
            </a:br>
            <a:r>
              <a:rPr lang="bg-BG" sz="2000" b="1"/>
              <a:t>	</a:t>
            </a:r>
            <a:r>
              <a:rPr lang="bg-BG" sz="2000"/>
              <a:t>Разгледаните методи за търсене предполагат, че търсеният елемент се съхранява в таблица и за откриването му е необходимо да се организира преглеждане на определена част от таблицата или в най-лошия случай - на цялата таблица.</a:t>
            </a:r>
            <a:br>
              <a:rPr lang="bg-BG" sz="2000"/>
            </a:br>
            <a:r>
              <a:rPr lang="bg-BG" sz="2000"/>
              <a:t>	</a:t>
            </a:r>
            <a:r>
              <a:rPr lang="bg-BG" sz="2000" i="1"/>
              <a:t>Хеширането</a:t>
            </a:r>
            <a:r>
              <a:rPr lang="bg-BG" sz="2000"/>
              <a:t> е метод за организация на таблицата, осигуряващ бързо намиране на търсения елемент и таблично преобразуване.</a:t>
            </a:r>
            <a:br>
              <a:rPr lang="bg-BG" sz="2000"/>
            </a:br>
            <a:r>
              <a:rPr lang="bg-BG" sz="2000"/>
              <a:t>	Разполагането на елементи в таблицата, която се нарича </a:t>
            </a:r>
            <a:r>
              <a:rPr lang="bg-BG" sz="2000" i="1"/>
              <a:t>хеш-таблица</a:t>
            </a:r>
            <a:r>
              <a:rPr lang="bg-BG" sz="2000"/>
              <a:t>, се осъществява чрез специално преобразуване на техните ключове. Всеки елемент на хеш-таблицата се характеризира с две полета - ключ </a:t>
            </a:r>
            <a:r>
              <a:rPr lang="bg-BG" sz="2000" b="1" i="1"/>
              <a:t>key</a:t>
            </a:r>
            <a:r>
              <a:rPr lang="bg-BG" sz="2000"/>
              <a:t> и данни </a:t>
            </a:r>
            <a:r>
              <a:rPr lang="bg-BG" sz="2000" b="1" i="1"/>
              <a:t>data</a:t>
            </a:r>
            <a:r>
              <a:rPr lang="bg-BG" sz="2000"/>
              <a:t>. Ключът на елемента може да бъде произволна структура, идентифицираща го уникално. Функцията, която трансформира ключ в табличен индекс, се нарича</a:t>
            </a:r>
            <a:r>
              <a:rPr lang="bg-BG" sz="2000" i="1"/>
              <a:t> хеш-функция</a:t>
            </a:r>
            <a:r>
              <a:rPr lang="bg-BG" sz="2000"/>
              <a:t>. Тя трябва да отговаря на две основни условия: да не отнема много изчислително време и да дава стойности, които относително равномерно покриват цялото множество индекси в хеш-таблицата. </a:t>
            </a:r>
            <a:br>
              <a:rPr lang="bg-BG" sz="2000"/>
            </a:br>
            <a:endParaRPr lang="en-US" sz="4400">
              <a:latin typeface="Arial" charset="0"/>
            </a:endParaRPr>
          </a:p>
        </p:txBody>
      </p:sp>
      <p:sp>
        <p:nvSpPr>
          <p:cNvPr id="5" name="Slide Number Placeholder 4"/>
          <p:cNvSpPr>
            <a:spLocks noGrp="1"/>
          </p:cNvSpPr>
          <p:nvPr>
            <p:ph type="sldNum" sz="quarter" idx="12"/>
          </p:nvPr>
        </p:nvSpPr>
        <p:spPr/>
        <p:txBody>
          <a:bodyPr/>
          <a:lstStyle/>
          <a:p>
            <a:pPr>
              <a:defRPr/>
            </a:pPr>
            <a:fld id="{695B7E29-A8E6-4553-8396-0D700E34CD6A}" type="slidenum">
              <a:rPr lang="en-US"/>
              <a:pPr>
                <a:defRPr/>
              </a:pPr>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462960"/>
            <a:ext cx="8100392" cy="6395040"/>
          </a:xfrm>
        </p:spPr>
        <p:txBody>
          <a:bodyPr>
            <a:normAutofit fontScale="90000"/>
          </a:bodyPr>
          <a:lstStyle/>
          <a:p>
            <a:r>
              <a:rPr lang="bg-BG" sz="2200" smtClean="0">
                <a:solidFill>
                  <a:schemeClr val="tx1"/>
                </a:solidFill>
              </a:rPr>
              <a:t>Когато ключът е целочислен, най-често хеш-функциите </a:t>
            </a:r>
            <a:r>
              <a:rPr lang="bg-BG" sz="2200" b="1" i="1" smtClean="0">
                <a:solidFill>
                  <a:schemeClr val="tx1"/>
                </a:solidFill>
              </a:rPr>
              <a:t>H(K)</a:t>
            </a:r>
            <a:r>
              <a:rPr lang="bg-BG" sz="2200" smtClean="0">
                <a:solidFill>
                  <a:schemeClr val="tx1"/>
                </a:solidFill>
              </a:rPr>
              <a:t> се задават като остатък от деление на ключа </a:t>
            </a:r>
            <a:r>
              <a:rPr lang="bg-BG" sz="2200" b="1" i="1" smtClean="0">
                <a:solidFill>
                  <a:schemeClr val="tx1"/>
                </a:solidFill>
              </a:rPr>
              <a:t>К</a:t>
            </a:r>
            <a:r>
              <a:rPr lang="bg-BG" sz="2200" smtClean="0">
                <a:solidFill>
                  <a:schemeClr val="tx1"/>
                </a:solidFill>
              </a:rPr>
              <a:t> върху </a:t>
            </a:r>
            <a:r>
              <a:rPr lang="bg-BG" sz="2200" b="1" i="1" smtClean="0">
                <a:solidFill>
                  <a:schemeClr val="tx1"/>
                </a:solidFill>
              </a:rPr>
              <a:t>М</a:t>
            </a:r>
            <a:r>
              <a:rPr lang="bg-BG" sz="2200" smtClean="0">
                <a:solidFill>
                  <a:schemeClr val="tx1"/>
                </a:solidFill>
              </a:rPr>
              <a:t>, което определя размера на таблицата:</a:t>
            </a:r>
            <a:br>
              <a:rPr lang="bg-BG" sz="2200" smtClean="0">
                <a:solidFill>
                  <a:schemeClr val="tx1"/>
                </a:solidFill>
              </a:rPr>
            </a:br>
            <a:r>
              <a:rPr lang="bg-BG" sz="2200" smtClean="0">
                <a:solidFill>
                  <a:schemeClr val="tx1"/>
                </a:solidFill>
              </a:rPr>
              <a:t>		</a:t>
            </a:r>
            <a:r>
              <a:rPr lang="bg-BG" sz="2200" b="1" i="1" smtClean="0">
                <a:solidFill>
                  <a:schemeClr val="tx1"/>
                </a:solidFill>
              </a:rPr>
              <a:t>H</a:t>
            </a:r>
            <a:r>
              <a:rPr lang="bg-BG" sz="2200" smtClean="0">
                <a:solidFill>
                  <a:schemeClr val="tx1"/>
                </a:solidFill>
              </a:rPr>
              <a:t>(</a:t>
            </a:r>
            <a:r>
              <a:rPr lang="bg-BG" sz="2200" b="1" i="1" smtClean="0">
                <a:solidFill>
                  <a:schemeClr val="tx1"/>
                </a:solidFill>
              </a:rPr>
              <a:t>K</a:t>
            </a:r>
            <a:r>
              <a:rPr lang="bg-BG" sz="2200" smtClean="0">
                <a:solidFill>
                  <a:schemeClr val="tx1"/>
                </a:solidFill>
              </a:rPr>
              <a:t>)= </a:t>
            </a:r>
            <a:r>
              <a:rPr lang="bg-BG" sz="2200" b="1" i="1" smtClean="0">
                <a:solidFill>
                  <a:schemeClr val="tx1"/>
                </a:solidFill>
              </a:rPr>
              <a:t>K mod M</a:t>
            </a:r>
            <a:r>
              <a:rPr lang="bg-BG" sz="2200" smtClean="0">
                <a:solidFill>
                  <a:schemeClr val="tx1"/>
                </a:solidFill>
              </a:rPr>
              <a:t>		</a:t>
            </a:r>
            <a:r>
              <a:rPr lang="bg-BG" sz="2200" i="1" smtClean="0">
                <a:solidFill>
                  <a:schemeClr val="tx1"/>
                </a:solidFill>
                <a:latin typeface="Arial" pitchFamily="34" charset="0"/>
                <a:cs typeface="Arial" pitchFamily="34" charset="0"/>
              </a:rPr>
              <a:t>0</a:t>
            </a:r>
            <a:r>
              <a:rPr lang="bg-BG" sz="2200" smtClean="0">
                <a:solidFill>
                  <a:schemeClr val="tx1"/>
                </a:solidFill>
              </a:rPr>
              <a:t>&lt;= </a:t>
            </a:r>
            <a:r>
              <a:rPr lang="bg-BG" sz="2200" b="1" i="1" smtClean="0">
                <a:solidFill>
                  <a:schemeClr val="tx1"/>
                </a:solidFill>
              </a:rPr>
              <a:t>H</a:t>
            </a:r>
            <a:r>
              <a:rPr lang="bg-BG" sz="2200" smtClean="0">
                <a:solidFill>
                  <a:schemeClr val="tx1"/>
                </a:solidFill>
              </a:rPr>
              <a:t>(</a:t>
            </a:r>
            <a:r>
              <a:rPr lang="bg-BG" sz="2200" b="1" i="1" smtClean="0">
                <a:solidFill>
                  <a:schemeClr val="tx1"/>
                </a:solidFill>
              </a:rPr>
              <a:t>K</a:t>
            </a:r>
            <a:r>
              <a:rPr lang="bg-BG" sz="2200" b="1" i="1" baseline="-25000" smtClean="0">
                <a:solidFill>
                  <a:schemeClr val="tx1"/>
                </a:solidFill>
              </a:rPr>
              <a:t>i</a:t>
            </a:r>
            <a:r>
              <a:rPr lang="bg-BG" sz="2200" smtClean="0">
                <a:solidFill>
                  <a:schemeClr val="tx1"/>
                </a:solidFill>
              </a:rPr>
              <a:t>)&lt;= </a:t>
            </a:r>
            <a:r>
              <a:rPr lang="bg-BG" sz="2200" b="1" i="1" smtClean="0">
                <a:solidFill>
                  <a:schemeClr val="tx1"/>
                </a:solidFill>
              </a:rPr>
              <a:t>M</a:t>
            </a:r>
            <a:r>
              <a:rPr lang="bg-BG" sz="2200" smtClean="0">
                <a:solidFill>
                  <a:schemeClr val="tx1"/>
                </a:solidFill>
              </a:rPr>
              <a:t>-</a:t>
            </a:r>
            <a:r>
              <a:rPr lang="bg-BG" sz="2200" i="1" smtClean="0">
                <a:solidFill>
                  <a:schemeClr val="tx1"/>
                </a:solidFill>
                <a:latin typeface="Arial" pitchFamily="34" charset="0"/>
                <a:cs typeface="Arial" pitchFamily="34" charset="0"/>
              </a:rPr>
              <a:t>1</a:t>
            </a:r>
            <a:r>
              <a:rPr lang="bg-BG" sz="2200" smtClean="0">
                <a:solidFill>
                  <a:schemeClr val="tx1"/>
                </a:solidFill>
              </a:rPr>
              <a:t/>
            </a:r>
            <a:br>
              <a:rPr lang="bg-BG" sz="2200" smtClean="0">
                <a:solidFill>
                  <a:schemeClr val="tx1"/>
                </a:solidFill>
              </a:rPr>
            </a:br>
            <a:r>
              <a:rPr lang="bg-BG" sz="2200" smtClean="0">
                <a:solidFill>
                  <a:schemeClr val="tx1"/>
                </a:solidFill>
              </a:rPr>
              <a:t>В случая, когато ключовете са символни низове, те се преобразуват в цели положителни числа чрез сумиране на ASCII-кодовете на влизащите в тях символи. Съществуват и други класически хеш-функции, които могат да с видят в специализираната литература.</a:t>
            </a:r>
            <a:r>
              <a:rPr lang="en-US" sz="2200" smtClean="0">
                <a:solidFill>
                  <a:schemeClr val="tx1"/>
                </a:solidFill>
              </a:rPr>
              <a:t/>
            </a:r>
            <a:br>
              <a:rPr lang="en-US" sz="2200" smtClean="0">
                <a:solidFill>
                  <a:schemeClr val="tx1"/>
                </a:solidFill>
              </a:rPr>
            </a:br>
            <a:r>
              <a:rPr lang="bg-BG" sz="2200" smtClean="0">
                <a:solidFill>
                  <a:schemeClr val="tx1"/>
                </a:solidFill>
              </a:rPr>
              <a:t>Хеширането е процес, при който по зададен ключ на елемента се определя неговия адрес в хеш-таблицата: </a:t>
            </a:r>
            <a:r>
              <a:rPr lang="bg-BG" sz="1800" smtClean="0"/>
              <a:t>				               	</a:t>
            </a:r>
            <a:r>
              <a:rPr lang="en-US" sz="1800" smtClean="0">
                <a:solidFill>
                  <a:schemeClr val="tx1"/>
                </a:solidFill>
              </a:rPr>
              <a:t/>
            </a:r>
            <a:br>
              <a:rPr lang="en-US" sz="1800" smtClean="0">
                <a:solidFill>
                  <a:schemeClr val="tx1"/>
                </a:solidFill>
              </a:rPr>
            </a:br>
            <a:r>
              <a:rPr lang="en-US" sz="1800" smtClean="0">
                <a:solidFill>
                  <a:schemeClr val="tx1"/>
                </a:solidFill>
              </a:rPr>
              <a:t/>
            </a:r>
            <a:br>
              <a:rPr lang="en-US" sz="1800" smtClean="0">
                <a:solidFill>
                  <a:schemeClr val="tx1"/>
                </a:solidFill>
              </a:rPr>
            </a:br>
            <a:r>
              <a:rPr lang="en-US" sz="1800" smtClean="0">
                <a:solidFill>
                  <a:schemeClr val="tx1"/>
                </a:solidFill>
              </a:rPr>
              <a:t/>
            </a:r>
            <a:br>
              <a:rPr lang="en-US" sz="1800" smtClean="0">
                <a:solidFill>
                  <a:schemeClr val="tx1"/>
                </a:solidFill>
              </a:rPr>
            </a:br>
            <a:r>
              <a:rPr lang="en-US" sz="1800" smtClean="0">
                <a:solidFill>
                  <a:schemeClr val="tx1"/>
                </a:solidFill>
              </a:rPr>
              <a:t/>
            </a:r>
            <a:br>
              <a:rPr lang="en-US" sz="1800" smtClean="0">
                <a:solidFill>
                  <a:schemeClr val="tx1"/>
                </a:solidFill>
              </a:rPr>
            </a:br>
            <a:r>
              <a:rPr lang="en-US" sz="1800" smtClean="0">
                <a:solidFill>
                  <a:schemeClr val="tx1"/>
                </a:solidFill>
              </a:rPr>
              <a:t/>
            </a:r>
            <a:br>
              <a:rPr lang="en-US" sz="1800" smtClean="0">
                <a:solidFill>
                  <a:schemeClr val="tx1"/>
                </a:solidFill>
              </a:rPr>
            </a:br>
            <a:r>
              <a:rPr lang="en-US" sz="1800" smtClean="0">
                <a:solidFill>
                  <a:schemeClr val="tx1"/>
                </a:solidFill>
              </a:rPr>
              <a:t/>
            </a:r>
            <a:br>
              <a:rPr lang="en-US" sz="1800" smtClean="0">
                <a:solidFill>
                  <a:schemeClr val="tx1"/>
                </a:solidFill>
              </a:rPr>
            </a:br>
            <a:r>
              <a:rPr lang="en-US" sz="1800" smtClean="0">
                <a:solidFill>
                  <a:schemeClr val="tx1"/>
                </a:solidFill>
              </a:rPr>
              <a:t/>
            </a:r>
            <a:br>
              <a:rPr lang="en-US" sz="1800" smtClean="0">
                <a:solidFill>
                  <a:schemeClr val="tx1"/>
                </a:solidFill>
              </a:rPr>
            </a:br>
            <a:r>
              <a:rPr lang="en-US" sz="1800" smtClean="0">
                <a:solidFill>
                  <a:schemeClr val="tx1"/>
                </a:solidFill>
              </a:rPr>
              <a:t/>
            </a:r>
            <a:br>
              <a:rPr lang="en-US" sz="1800" smtClean="0">
                <a:solidFill>
                  <a:schemeClr val="tx1"/>
                </a:solidFill>
              </a:rPr>
            </a:br>
            <a:r>
              <a:rPr lang="en-US" sz="1800" smtClean="0"/>
              <a:t/>
            </a:r>
            <a:br>
              <a:rPr lang="en-US" sz="1800" smtClean="0"/>
            </a:br>
            <a:r>
              <a:rPr lang="en-US" sz="1800" smtClean="0"/>
              <a:t/>
            </a:r>
            <a:br>
              <a:rPr lang="en-US" sz="1800" smtClean="0"/>
            </a:br>
            <a:r>
              <a:rPr lang="en-US" sz="1800" smtClean="0"/>
              <a:t/>
            </a:r>
            <a:br>
              <a:rPr lang="en-US" sz="1800" smtClean="0"/>
            </a:br>
            <a:r>
              <a:rPr lang="en-US" sz="1800" smtClean="0"/>
              <a:t/>
            </a:r>
            <a:br>
              <a:rPr lang="en-US" sz="1800" smtClean="0"/>
            </a:br>
            <a:r>
              <a:rPr lang="en-US" sz="1800" smtClean="0"/>
              <a:t/>
            </a:r>
            <a:br>
              <a:rPr lang="en-US" sz="1800" smtClean="0"/>
            </a:br>
            <a:r>
              <a:rPr lang="en-US" sz="1800" smtClean="0"/>
              <a:t/>
            </a:r>
            <a:br>
              <a:rPr lang="en-US" sz="1800" smtClean="0"/>
            </a:br>
            <a:endParaRPr lang="bg-BG" sz="1800"/>
          </a:p>
        </p:txBody>
      </p:sp>
      <p:sp>
        <p:nvSpPr>
          <p:cNvPr id="3" name="Slide Number Placeholder 2"/>
          <p:cNvSpPr>
            <a:spLocks noGrp="1"/>
          </p:cNvSpPr>
          <p:nvPr>
            <p:ph type="sldNum" sz="quarter" idx="12"/>
          </p:nvPr>
        </p:nvSpPr>
        <p:spPr/>
        <p:txBody>
          <a:bodyPr/>
          <a:lstStyle/>
          <a:p>
            <a:pPr>
              <a:defRPr/>
            </a:pPr>
            <a:fld id="{B7284EC1-C5F9-4279-97D0-7C576E4C1C88}" type="slidenum">
              <a:rPr lang="en-US" smtClean="0"/>
              <a:pPr>
                <a:defRPr/>
              </a:pPr>
              <a:t>107</a:t>
            </a:fld>
            <a:endParaRPr lang="en-US"/>
          </a:p>
        </p:txBody>
      </p:sp>
      <p:grpSp>
        <p:nvGrpSpPr>
          <p:cNvPr id="17" name="Group 16"/>
          <p:cNvGrpSpPr/>
          <p:nvPr/>
        </p:nvGrpSpPr>
        <p:grpSpPr>
          <a:xfrm>
            <a:off x="4870450" y="4441825"/>
            <a:ext cx="4110038" cy="2022475"/>
            <a:chOff x="4921250" y="4327525"/>
            <a:chExt cx="4110038" cy="2022475"/>
          </a:xfrm>
        </p:grpSpPr>
        <p:sp>
          <p:nvSpPr>
            <p:cNvPr id="18" name="Text Box 16"/>
            <p:cNvSpPr txBox="1">
              <a:spLocks noChangeArrowheads="1"/>
            </p:cNvSpPr>
            <p:nvPr/>
          </p:nvSpPr>
          <p:spPr bwMode="auto">
            <a:xfrm>
              <a:off x="4953000" y="4556125"/>
              <a:ext cx="838200" cy="346075"/>
            </a:xfrm>
            <a:prstGeom prst="rect">
              <a:avLst/>
            </a:prstGeom>
            <a:noFill/>
            <a:ln w="9525">
              <a:solidFill>
                <a:schemeClr val="tx1"/>
              </a:solidFill>
              <a:miter lim="800000"/>
              <a:headEnd/>
              <a:tailEnd/>
            </a:ln>
          </p:spPr>
          <p:txBody>
            <a:bodyPr>
              <a:spAutoFit/>
            </a:bodyPr>
            <a:lstStyle/>
            <a:p>
              <a:pPr algn="l">
                <a:spcBef>
                  <a:spcPct val="50000"/>
                </a:spcBef>
              </a:pPr>
              <a:r>
                <a:rPr lang="bg-BG" sz="1600"/>
                <a:t>Ключ 1</a:t>
              </a:r>
              <a:endParaRPr lang="en-US"/>
            </a:p>
          </p:txBody>
        </p:sp>
        <p:sp>
          <p:nvSpPr>
            <p:cNvPr id="19" name="Text Box 17"/>
            <p:cNvSpPr txBox="1">
              <a:spLocks noChangeArrowheads="1"/>
            </p:cNvSpPr>
            <p:nvPr/>
          </p:nvSpPr>
          <p:spPr bwMode="auto">
            <a:xfrm>
              <a:off x="4953000" y="5013325"/>
              <a:ext cx="838200" cy="346075"/>
            </a:xfrm>
            <a:prstGeom prst="rect">
              <a:avLst/>
            </a:prstGeom>
            <a:noFill/>
            <a:ln w="9525">
              <a:solidFill>
                <a:schemeClr val="tx1"/>
              </a:solidFill>
              <a:miter lim="800000"/>
              <a:headEnd/>
              <a:tailEnd/>
            </a:ln>
          </p:spPr>
          <p:txBody>
            <a:bodyPr>
              <a:spAutoFit/>
            </a:bodyPr>
            <a:lstStyle/>
            <a:p>
              <a:pPr algn="l">
                <a:spcBef>
                  <a:spcPct val="50000"/>
                </a:spcBef>
              </a:pPr>
              <a:r>
                <a:rPr lang="bg-BG" sz="1600"/>
                <a:t>Ключ 2</a:t>
              </a:r>
              <a:endParaRPr lang="en-US"/>
            </a:p>
          </p:txBody>
        </p:sp>
        <p:sp>
          <p:nvSpPr>
            <p:cNvPr id="20" name="Text Box 18"/>
            <p:cNvSpPr txBox="1">
              <a:spLocks noChangeArrowheads="1"/>
            </p:cNvSpPr>
            <p:nvPr/>
          </p:nvSpPr>
          <p:spPr bwMode="auto">
            <a:xfrm>
              <a:off x="4921250" y="5792788"/>
              <a:ext cx="895350" cy="376237"/>
            </a:xfrm>
            <a:prstGeom prst="rect">
              <a:avLst/>
            </a:prstGeom>
            <a:noFill/>
            <a:ln w="9525">
              <a:solidFill>
                <a:schemeClr val="tx1"/>
              </a:solidFill>
              <a:miter lim="800000"/>
              <a:headEnd/>
              <a:tailEnd/>
            </a:ln>
          </p:spPr>
          <p:txBody>
            <a:bodyPr>
              <a:spAutoFit/>
            </a:bodyPr>
            <a:lstStyle/>
            <a:p>
              <a:pPr algn="l">
                <a:spcBef>
                  <a:spcPct val="50000"/>
                </a:spcBef>
              </a:pPr>
              <a:r>
                <a:rPr lang="bg-BG" sz="1600"/>
                <a:t>Ключ </a:t>
              </a:r>
              <a:r>
                <a:rPr lang="bg-BG" sz="1800"/>
                <a:t>n</a:t>
              </a:r>
              <a:endParaRPr lang="en-US"/>
            </a:p>
          </p:txBody>
        </p:sp>
        <p:sp>
          <p:nvSpPr>
            <p:cNvPr id="21" name="Text Box 19"/>
            <p:cNvSpPr txBox="1">
              <a:spLocks noChangeArrowheads="1"/>
            </p:cNvSpPr>
            <p:nvPr/>
          </p:nvSpPr>
          <p:spPr bwMode="auto">
            <a:xfrm>
              <a:off x="5168900" y="5394325"/>
              <a:ext cx="546100" cy="336550"/>
            </a:xfrm>
            <a:prstGeom prst="rect">
              <a:avLst/>
            </a:prstGeom>
            <a:noFill/>
            <a:ln w="9525">
              <a:noFill/>
              <a:miter lim="800000"/>
              <a:headEnd/>
              <a:tailEnd/>
            </a:ln>
          </p:spPr>
          <p:txBody>
            <a:bodyPr>
              <a:spAutoFit/>
            </a:bodyPr>
            <a:lstStyle/>
            <a:p>
              <a:pPr algn="l">
                <a:spcBef>
                  <a:spcPct val="50000"/>
                </a:spcBef>
              </a:pPr>
              <a:r>
                <a:rPr lang="bg-BG" sz="1600"/>
                <a:t>… </a:t>
              </a:r>
              <a:endParaRPr lang="en-US"/>
            </a:p>
          </p:txBody>
        </p:sp>
        <p:sp>
          <p:nvSpPr>
            <p:cNvPr id="22" name="Oval 20"/>
            <p:cNvSpPr>
              <a:spLocks noChangeArrowheads="1"/>
            </p:cNvSpPr>
            <p:nvPr/>
          </p:nvSpPr>
          <p:spPr bwMode="auto">
            <a:xfrm>
              <a:off x="6026150" y="4935538"/>
              <a:ext cx="1676400" cy="533400"/>
            </a:xfrm>
            <a:prstGeom prst="ellipse">
              <a:avLst/>
            </a:prstGeom>
            <a:noFill/>
            <a:ln w="9525">
              <a:solidFill>
                <a:schemeClr val="tx1"/>
              </a:solidFill>
              <a:round/>
              <a:headEnd/>
              <a:tailEnd/>
            </a:ln>
          </p:spPr>
          <p:txBody>
            <a:bodyPr wrap="none" anchor="ctr"/>
            <a:lstStyle/>
            <a:p>
              <a:endParaRPr lang="bg-BG"/>
            </a:p>
          </p:txBody>
        </p:sp>
        <p:sp>
          <p:nvSpPr>
            <p:cNvPr id="23" name="Text Box 21"/>
            <p:cNvSpPr txBox="1">
              <a:spLocks noChangeArrowheads="1"/>
            </p:cNvSpPr>
            <p:nvPr/>
          </p:nvSpPr>
          <p:spPr bwMode="auto">
            <a:xfrm>
              <a:off x="6096000" y="4989513"/>
              <a:ext cx="1676400" cy="366712"/>
            </a:xfrm>
            <a:prstGeom prst="rect">
              <a:avLst/>
            </a:prstGeom>
            <a:noFill/>
            <a:ln w="9525">
              <a:noFill/>
              <a:miter lim="800000"/>
              <a:headEnd/>
              <a:tailEnd/>
            </a:ln>
          </p:spPr>
          <p:txBody>
            <a:bodyPr>
              <a:spAutoFit/>
            </a:bodyPr>
            <a:lstStyle/>
            <a:p>
              <a:pPr algn="l">
                <a:spcBef>
                  <a:spcPct val="50000"/>
                </a:spcBef>
              </a:pPr>
              <a:r>
                <a:rPr lang="en-US" sz="1800"/>
                <a:t>Х</a:t>
              </a:r>
              <a:r>
                <a:rPr lang="bg-BG" sz="1800"/>
                <a:t>еш-функция</a:t>
              </a:r>
              <a:endParaRPr lang="en-US" sz="1800"/>
            </a:p>
          </p:txBody>
        </p:sp>
        <p:sp>
          <p:nvSpPr>
            <p:cNvPr id="24" name="Line 22"/>
            <p:cNvSpPr>
              <a:spLocks noChangeShapeType="1"/>
            </p:cNvSpPr>
            <p:nvPr/>
          </p:nvSpPr>
          <p:spPr bwMode="auto">
            <a:xfrm>
              <a:off x="5791200" y="4743450"/>
              <a:ext cx="609600" cy="228600"/>
            </a:xfrm>
            <a:prstGeom prst="line">
              <a:avLst/>
            </a:prstGeom>
            <a:noFill/>
            <a:ln w="9525">
              <a:solidFill>
                <a:schemeClr val="tx1"/>
              </a:solidFill>
              <a:round/>
              <a:headEnd/>
              <a:tailEnd type="triangle" w="med" len="med"/>
            </a:ln>
          </p:spPr>
          <p:txBody>
            <a:bodyPr wrap="none" anchor="ctr"/>
            <a:lstStyle/>
            <a:p>
              <a:endParaRPr lang="bg-BG"/>
            </a:p>
          </p:txBody>
        </p:sp>
        <p:sp>
          <p:nvSpPr>
            <p:cNvPr id="25" name="Line 23"/>
            <p:cNvSpPr>
              <a:spLocks noChangeShapeType="1"/>
            </p:cNvSpPr>
            <p:nvPr/>
          </p:nvSpPr>
          <p:spPr bwMode="auto">
            <a:xfrm flipV="1">
              <a:off x="5815013" y="5411788"/>
              <a:ext cx="609600" cy="609600"/>
            </a:xfrm>
            <a:prstGeom prst="line">
              <a:avLst/>
            </a:prstGeom>
            <a:noFill/>
            <a:ln w="9525">
              <a:solidFill>
                <a:schemeClr val="tx1"/>
              </a:solidFill>
              <a:round/>
              <a:headEnd/>
              <a:tailEnd type="triangle" w="med" len="med"/>
            </a:ln>
          </p:spPr>
          <p:txBody>
            <a:bodyPr wrap="none" anchor="ctr"/>
            <a:lstStyle/>
            <a:p>
              <a:endParaRPr lang="bg-BG"/>
            </a:p>
          </p:txBody>
        </p:sp>
        <p:sp>
          <p:nvSpPr>
            <p:cNvPr id="26" name="Line 24"/>
            <p:cNvSpPr>
              <a:spLocks noChangeShapeType="1"/>
            </p:cNvSpPr>
            <p:nvPr/>
          </p:nvSpPr>
          <p:spPr bwMode="auto">
            <a:xfrm>
              <a:off x="5791200" y="5165725"/>
              <a:ext cx="228600" cy="0"/>
            </a:xfrm>
            <a:prstGeom prst="line">
              <a:avLst/>
            </a:prstGeom>
            <a:noFill/>
            <a:ln w="9525">
              <a:solidFill>
                <a:schemeClr val="tx1"/>
              </a:solidFill>
              <a:round/>
              <a:headEnd/>
              <a:tailEnd type="triangle" w="med" len="med"/>
            </a:ln>
          </p:spPr>
          <p:txBody>
            <a:bodyPr wrap="none" anchor="ctr"/>
            <a:lstStyle/>
            <a:p>
              <a:endParaRPr lang="bg-BG"/>
            </a:p>
          </p:txBody>
        </p:sp>
        <p:sp>
          <p:nvSpPr>
            <p:cNvPr id="27" name="Text Box 25"/>
            <p:cNvSpPr txBox="1">
              <a:spLocks noChangeArrowheads="1"/>
            </p:cNvSpPr>
            <p:nvPr/>
          </p:nvSpPr>
          <p:spPr bwMode="auto">
            <a:xfrm>
              <a:off x="7924800" y="4327525"/>
              <a:ext cx="914400" cy="346075"/>
            </a:xfrm>
            <a:prstGeom prst="rect">
              <a:avLst/>
            </a:prstGeom>
            <a:noFill/>
            <a:ln w="9525">
              <a:solidFill>
                <a:schemeClr val="tx1"/>
              </a:solidFill>
              <a:miter lim="800000"/>
              <a:headEnd/>
              <a:tailEnd/>
            </a:ln>
          </p:spPr>
          <p:txBody>
            <a:bodyPr>
              <a:spAutoFit/>
            </a:bodyPr>
            <a:lstStyle/>
            <a:p>
              <a:pPr algn="l">
                <a:spcBef>
                  <a:spcPct val="50000"/>
                </a:spcBef>
              </a:pPr>
              <a:r>
                <a:rPr lang="bg-BG" sz="1600"/>
                <a:t>Адрес 0</a:t>
              </a:r>
              <a:endParaRPr lang="en-US" sz="1600"/>
            </a:p>
          </p:txBody>
        </p:sp>
        <p:sp>
          <p:nvSpPr>
            <p:cNvPr id="28" name="Text Box 26"/>
            <p:cNvSpPr txBox="1">
              <a:spLocks noChangeArrowheads="1"/>
            </p:cNvSpPr>
            <p:nvPr/>
          </p:nvSpPr>
          <p:spPr bwMode="auto">
            <a:xfrm>
              <a:off x="7942263" y="4760913"/>
              <a:ext cx="914400" cy="346075"/>
            </a:xfrm>
            <a:prstGeom prst="rect">
              <a:avLst/>
            </a:prstGeom>
            <a:noFill/>
            <a:ln w="9525">
              <a:solidFill>
                <a:schemeClr val="tx1"/>
              </a:solidFill>
              <a:miter lim="800000"/>
              <a:headEnd/>
              <a:tailEnd/>
            </a:ln>
          </p:spPr>
          <p:txBody>
            <a:bodyPr>
              <a:spAutoFit/>
            </a:bodyPr>
            <a:lstStyle/>
            <a:p>
              <a:pPr algn="l">
                <a:spcBef>
                  <a:spcPct val="50000"/>
                </a:spcBef>
              </a:pPr>
              <a:r>
                <a:rPr lang="bg-BG" sz="1600"/>
                <a:t>Адрес 1</a:t>
              </a:r>
              <a:endParaRPr lang="en-US" sz="1600"/>
            </a:p>
          </p:txBody>
        </p:sp>
        <p:sp>
          <p:nvSpPr>
            <p:cNvPr id="29" name="Text Box 27"/>
            <p:cNvSpPr txBox="1">
              <a:spLocks noChangeArrowheads="1"/>
            </p:cNvSpPr>
            <p:nvPr/>
          </p:nvSpPr>
          <p:spPr bwMode="auto">
            <a:xfrm>
              <a:off x="7942263" y="5241925"/>
              <a:ext cx="914400" cy="346075"/>
            </a:xfrm>
            <a:prstGeom prst="rect">
              <a:avLst/>
            </a:prstGeom>
            <a:noFill/>
            <a:ln w="9525">
              <a:solidFill>
                <a:schemeClr val="tx1"/>
              </a:solidFill>
              <a:miter lim="800000"/>
              <a:headEnd/>
              <a:tailEnd/>
            </a:ln>
          </p:spPr>
          <p:txBody>
            <a:bodyPr>
              <a:spAutoFit/>
            </a:bodyPr>
            <a:lstStyle/>
            <a:p>
              <a:pPr algn="l">
                <a:spcBef>
                  <a:spcPct val="50000"/>
                </a:spcBef>
              </a:pPr>
              <a:r>
                <a:rPr lang="bg-BG" sz="1600"/>
                <a:t>Адрес 2</a:t>
              </a:r>
              <a:endParaRPr lang="en-US" sz="1600"/>
            </a:p>
          </p:txBody>
        </p:sp>
        <p:sp>
          <p:nvSpPr>
            <p:cNvPr id="30" name="Text Box 28"/>
            <p:cNvSpPr txBox="1">
              <a:spLocks noChangeArrowheads="1"/>
            </p:cNvSpPr>
            <p:nvPr/>
          </p:nvSpPr>
          <p:spPr bwMode="auto">
            <a:xfrm>
              <a:off x="7877175" y="6003925"/>
              <a:ext cx="1143000" cy="346075"/>
            </a:xfrm>
            <a:prstGeom prst="rect">
              <a:avLst/>
            </a:prstGeom>
            <a:noFill/>
            <a:ln w="9525">
              <a:solidFill>
                <a:schemeClr val="tx1"/>
              </a:solidFill>
              <a:miter lim="800000"/>
              <a:headEnd/>
              <a:tailEnd/>
            </a:ln>
          </p:spPr>
          <p:txBody>
            <a:bodyPr>
              <a:spAutoFit/>
            </a:bodyPr>
            <a:lstStyle/>
            <a:p>
              <a:pPr algn="l">
                <a:spcBef>
                  <a:spcPct val="50000"/>
                </a:spcBef>
              </a:pPr>
              <a:r>
                <a:rPr lang="bg-BG" sz="1600"/>
                <a:t>Адрес М-1</a:t>
              </a:r>
              <a:endParaRPr lang="en-US" sz="1600"/>
            </a:p>
          </p:txBody>
        </p:sp>
        <p:sp>
          <p:nvSpPr>
            <p:cNvPr id="31" name="Text Box 29"/>
            <p:cNvSpPr txBox="1">
              <a:spLocks noChangeArrowheads="1"/>
            </p:cNvSpPr>
            <p:nvPr/>
          </p:nvSpPr>
          <p:spPr bwMode="auto">
            <a:xfrm>
              <a:off x="8193088" y="5465763"/>
              <a:ext cx="838200" cy="457200"/>
            </a:xfrm>
            <a:prstGeom prst="rect">
              <a:avLst/>
            </a:prstGeom>
            <a:noFill/>
            <a:ln w="9525">
              <a:noFill/>
              <a:miter lim="800000"/>
              <a:headEnd/>
              <a:tailEnd/>
            </a:ln>
          </p:spPr>
          <p:txBody>
            <a:bodyPr>
              <a:spAutoFit/>
            </a:bodyPr>
            <a:lstStyle/>
            <a:p>
              <a:pPr algn="l">
                <a:spcBef>
                  <a:spcPct val="50000"/>
                </a:spcBef>
              </a:pPr>
              <a:r>
                <a:rPr lang="en-US"/>
                <a:t>.</a:t>
              </a:r>
              <a:r>
                <a:rPr lang="bg-BG"/>
                <a:t>..</a:t>
              </a:r>
              <a:endParaRPr lang="en-US"/>
            </a:p>
          </p:txBody>
        </p:sp>
        <p:sp>
          <p:nvSpPr>
            <p:cNvPr id="32" name="Line 30"/>
            <p:cNvSpPr>
              <a:spLocks noChangeShapeType="1"/>
            </p:cNvSpPr>
            <p:nvPr/>
          </p:nvSpPr>
          <p:spPr bwMode="auto">
            <a:xfrm flipV="1">
              <a:off x="7086600" y="4556125"/>
              <a:ext cx="838200" cy="381000"/>
            </a:xfrm>
            <a:prstGeom prst="line">
              <a:avLst/>
            </a:prstGeom>
            <a:noFill/>
            <a:ln w="9525">
              <a:solidFill>
                <a:schemeClr val="tx1"/>
              </a:solidFill>
              <a:round/>
              <a:headEnd/>
              <a:tailEnd type="triangle" w="med" len="med"/>
            </a:ln>
          </p:spPr>
          <p:txBody>
            <a:bodyPr wrap="none" anchor="ctr"/>
            <a:lstStyle/>
            <a:p>
              <a:endParaRPr lang="bg-BG"/>
            </a:p>
          </p:txBody>
        </p:sp>
        <p:sp>
          <p:nvSpPr>
            <p:cNvPr id="33" name="Line 31"/>
            <p:cNvSpPr>
              <a:spLocks noChangeShapeType="1"/>
            </p:cNvSpPr>
            <p:nvPr/>
          </p:nvSpPr>
          <p:spPr bwMode="auto">
            <a:xfrm flipV="1">
              <a:off x="7637463" y="4937125"/>
              <a:ext cx="304800" cy="152400"/>
            </a:xfrm>
            <a:prstGeom prst="line">
              <a:avLst/>
            </a:prstGeom>
            <a:noFill/>
            <a:ln w="9525">
              <a:solidFill>
                <a:schemeClr val="tx1"/>
              </a:solidFill>
              <a:round/>
              <a:headEnd/>
              <a:tailEnd type="triangle" w="med" len="med"/>
            </a:ln>
          </p:spPr>
          <p:txBody>
            <a:bodyPr wrap="none" anchor="ctr"/>
            <a:lstStyle/>
            <a:p>
              <a:endParaRPr lang="bg-BG"/>
            </a:p>
          </p:txBody>
        </p:sp>
        <p:sp>
          <p:nvSpPr>
            <p:cNvPr id="34" name="Line 32"/>
            <p:cNvSpPr>
              <a:spLocks noChangeShapeType="1"/>
            </p:cNvSpPr>
            <p:nvPr/>
          </p:nvSpPr>
          <p:spPr bwMode="auto">
            <a:xfrm>
              <a:off x="7696200" y="5318125"/>
              <a:ext cx="228600" cy="76200"/>
            </a:xfrm>
            <a:prstGeom prst="line">
              <a:avLst/>
            </a:prstGeom>
            <a:noFill/>
            <a:ln w="9525">
              <a:solidFill>
                <a:schemeClr val="tx1"/>
              </a:solidFill>
              <a:round/>
              <a:headEnd/>
              <a:tailEnd type="triangle" w="med" len="med"/>
            </a:ln>
          </p:spPr>
          <p:txBody>
            <a:bodyPr wrap="none" anchor="ctr"/>
            <a:lstStyle/>
            <a:p>
              <a:endParaRPr lang="bg-BG"/>
            </a:p>
          </p:txBody>
        </p:sp>
        <p:sp>
          <p:nvSpPr>
            <p:cNvPr id="35" name="Line 33"/>
            <p:cNvSpPr>
              <a:spLocks noChangeShapeType="1"/>
            </p:cNvSpPr>
            <p:nvPr/>
          </p:nvSpPr>
          <p:spPr bwMode="auto">
            <a:xfrm>
              <a:off x="7204075" y="5470525"/>
              <a:ext cx="685800" cy="685800"/>
            </a:xfrm>
            <a:prstGeom prst="line">
              <a:avLst/>
            </a:prstGeom>
            <a:noFill/>
            <a:ln w="9525">
              <a:solidFill>
                <a:schemeClr val="tx1"/>
              </a:solidFill>
              <a:round/>
              <a:headEnd/>
              <a:tailEnd type="triangle" w="med" len="med"/>
            </a:ln>
          </p:spPr>
          <p:txBody>
            <a:bodyPr wrap="none" anchor="ctr"/>
            <a:lstStyle/>
            <a:p>
              <a:endParaRPr lang="bg-BG"/>
            </a:p>
          </p:txBody>
        </p:sp>
      </p:grpSp>
      <p:grpSp>
        <p:nvGrpSpPr>
          <p:cNvPr id="49" name="Group 48"/>
          <p:cNvGrpSpPr/>
          <p:nvPr/>
        </p:nvGrpSpPr>
        <p:grpSpPr>
          <a:xfrm>
            <a:off x="1234108" y="3573016"/>
            <a:ext cx="2404492" cy="3064406"/>
            <a:chOff x="1234108" y="3573016"/>
            <a:chExt cx="2404492" cy="3064406"/>
          </a:xfrm>
        </p:grpSpPr>
        <p:grpSp>
          <p:nvGrpSpPr>
            <p:cNvPr id="46" name="Group 45"/>
            <p:cNvGrpSpPr/>
            <p:nvPr/>
          </p:nvGrpSpPr>
          <p:grpSpPr>
            <a:xfrm>
              <a:off x="1907704" y="3573016"/>
              <a:ext cx="1730896" cy="3029436"/>
              <a:chOff x="1907704" y="3573016"/>
              <a:chExt cx="1730896" cy="3029436"/>
            </a:xfrm>
          </p:grpSpPr>
          <p:grpSp>
            <p:nvGrpSpPr>
              <p:cNvPr id="4" name="Group 3"/>
              <p:cNvGrpSpPr>
                <a:grpSpLocks/>
              </p:cNvGrpSpPr>
              <p:nvPr/>
            </p:nvGrpSpPr>
            <p:grpSpPr bwMode="auto">
              <a:xfrm>
                <a:off x="1907704" y="3645024"/>
                <a:ext cx="1730896" cy="2928391"/>
                <a:chOff x="1200" y="2193"/>
                <a:chExt cx="1248" cy="2016"/>
              </a:xfrm>
            </p:grpSpPr>
            <p:sp>
              <p:nvSpPr>
                <p:cNvPr id="5" name="Rectangle 4"/>
                <p:cNvSpPr>
                  <a:spLocks noChangeArrowheads="1"/>
                </p:cNvSpPr>
                <p:nvPr/>
              </p:nvSpPr>
              <p:spPr bwMode="auto">
                <a:xfrm>
                  <a:off x="1200" y="2193"/>
                  <a:ext cx="1248" cy="2016"/>
                </a:xfrm>
                <a:prstGeom prst="rect">
                  <a:avLst/>
                </a:prstGeom>
                <a:noFill/>
                <a:ln w="9525">
                  <a:solidFill>
                    <a:schemeClr val="tx1"/>
                  </a:solidFill>
                  <a:miter lim="800000"/>
                  <a:headEnd/>
                  <a:tailEnd/>
                </a:ln>
              </p:spPr>
              <p:txBody>
                <a:bodyPr wrap="none" anchor="ctr"/>
                <a:lstStyle/>
                <a:p>
                  <a:endParaRPr lang="bg-BG"/>
                </a:p>
              </p:txBody>
            </p:sp>
            <p:sp>
              <p:nvSpPr>
                <p:cNvPr id="6" name="Line 5"/>
                <p:cNvSpPr>
                  <a:spLocks noChangeShapeType="1"/>
                </p:cNvSpPr>
                <p:nvPr/>
              </p:nvSpPr>
              <p:spPr bwMode="auto">
                <a:xfrm flipH="1">
                  <a:off x="1799" y="2193"/>
                  <a:ext cx="0" cy="2016"/>
                </a:xfrm>
                <a:prstGeom prst="line">
                  <a:avLst/>
                </a:prstGeom>
                <a:noFill/>
                <a:ln w="9525">
                  <a:solidFill>
                    <a:schemeClr val="tx1"/>
                  </a:solidFill>
                  <a:round/>
                  <a:headEnd/>
                  <a:tailEnd/>
                </a:ln>
              </p:spPr>
              <p:txBody>
                <a:bodyPr wrap="none" anchor="ctr"/>
                <a:lstStyle/>
                <a:p>
                  <a:endParaRPr lang="bg-BG"/>
                </a:p>
              </p:txBody>
            </p:sp>
            <p:sp>
              <p:nvSpPr>
                <p:cNvPr id="7" name="Line 6"/>
                <p:cNvSpPr>
                  <a:spLocks noChangeShapeType="1"/>
                </p:cNvSpPr>
                <p:nvPr/>
              </p:nvSpPr>
              <p:spPr bwMode="auto">
                <a:xfrm>
                  <a:off x="1200" y="2544"/>
                  <a:ext cx="1248" cy="0"/>
                </a:xfrm>
                <a:prstGeom prst="line">
                  <a:avLst/>
                </a:prstGeom>
                <a:noFill/>
                <a:ln w="9525">
                  <a:solidFill>
                    <a:schemeClr val="tx1"/>
                  </a:solidFill>
                  <a:round/>
                  <a:headEnd/>
                  <a:tailEnd/>
                </a:ln>
              </p:spPr>
              <p:txBody>
                <a:bodyPr wrap="none" anchor="ctr"/>
                <a:lstStyle/>
                <a:p>
                  <a:endParaRPr lang="bg-BG"/>
                </a:p>
              </p:txBody>
            </p:sp>
            <p:sp>
              <p:nvSpPr>
                <p:cNvPr id="8" name="Line 7"/>
                <p:cNvSpPr>
                  <a:spLocks noChangeShapeType="1"/>
                </p:cNvSpPr>
                <p:nvPr/>
              </p:nvSpPr>
              <p:spPr bwMode="auto">
                <a:xfrm>
                  <a:off x="1200" y="2747"/>
                  <a:ext cx="1248" cy="0"/>
                </a:xfrm>
                <a:prstGeom prst="line">
                  <a:avLst/>
                </a:prstGeom>
                <a:noFill/>
                <a:ln w="9525">
                  <a:solidFill>
                    <a:schemeClr val="tx1"/>
                  </a:solidFill>
                  <a:round/>
                  <a:headEnd/>
                  <a:tailEnd/>
                </a:ln>
              </p:spPr>
              <p:txBody>
                <a:bodyPr wrap="none" anchor="ctr"/>
                <a:lstStyle/>
                <a:p>
                  <a:endParaRPr lang="bg-BG"/>
                </a:p>
              </p:txBody>
            </p:sp>
            <p:sp>
              <p:nvSpPr>
                <p:cNvPr id="9" name="Line 8"/>
                <p:cNvSpPr>
                  <a:spLocks noChangeShapeType="1"/>
                </p:cNvSpPr>
                <p:nvPr/>
              </p:nvSpPr>
              <p:spPr bwMode="auto">
                <a:xfrm>
                  <a:off x="1200" y="2931"/>
                  <a:ext cx="1248" cy="0"/>
                </a:xfrm>
                <a:prstGeom prst="line">
                  <a:avLst/>
                </a:prstGeom>
                <a:noFill/>
                <a:ln w="9525">
                  <a:solidFill>
                    <a:schemeClr val="tx1"/>
                  </a:solidFill>
                  <a:round/>
                  <a:headEnd/>
                  <a:tailEnd/>
                </a:ln>
              </p:spPr>
              <p:txBody>
                <a:bodyPr wrap="none" anchor="ctr"/>
                <a:lstStyle/>
                <a:p>
                  <a:endParaRPr lang="bg-BG"/>
                </a:p>
              </p:txBody>
            </p:sp>
            <p:sp>
              <p:nvSpPr>
                <p:cNvPr id="10" name="Line 9"/>
                <p:cNvSpPr>
                  <a:spLocks noChangeShapeType="1"/>
                </p:cNvSpPr>
                <p:nvPr/>
              </p:nvSpPr>
              <p:spPr bwMode="auto">
                <a:xfrm>
                  <a:off x="1200" y="3704"/>
                  <a:ext cx="1248" cy="0"/>
                </a:xfrm>
                <a:prstGeom prst="line">
                  <a:avLst/>
                </a:prstGeom>
                <a:noFill/>
                <a:ln w="9525">
                  <a:solidFill>
                    <a:schemeClr val="tx1"/>
                  </a:solidFill>
                  <a:round/>
                  <a:headEnd/>
                  <a:tailEnd/>
                </a:ln>
              </p:spPr>
              <p:txBody>
                <a:bodyPr wrap="none" anchor="ctr"/>
                <a:lstStyle/>
                <a:p>
                  <a:endParaRPr lang="bg-BG"/>
                </a:p>
              </p:txBody>
            </p:sp>
            <p:sp>
              <p:nvSpPr>
                <p:cNvPr id="11" name="Line 10"/>
                <p:cNvSpPr>
                  <a:spLocks noChangeShapeType="1"/>
                </p:cNvSpPr>
                <p:nvPr/>
              </p:nvSpPr>
              <p:spPr bwMode="auto">
                <a:xfrm>
                  <a:off x="1200" y="4036"/>
                  <a:ext cx="1248" cy="0"/>
                </a:xfrm>
                <a:prstGeom prst="line">
                  <a:avLst/>
                </a:prstGeom>
                <a:noFill/>
                <a:ln w="9525">
                  <a:solidFill>
                    <a:schemeClr val="tx1"/>
                  </a:solidFill>
                  <a:round/>
                  <a:headEnd/>
                  <a:tailEnd/>
                </a:ln>
              </p:spPr>
              <p:txBody>
                <a:bodyPr wrap="none" anchor="ctr"/>
                <a:lstStyle/>
                <a:p>
                  <a:endParaRPr lang="bg-BG"/>
                </a:p>
              </p:txBody>
            </p:sp>
            <p:sp>
              <p:nvSpPr>
                <p:cNvPr id="12" name="Line 11"/>
                <p:cNvSpPr>
                  <a:spLocks noChangeShapeType="1"/>
                </p:cNvSpPr>
                <p:nvPr/>
              </p:nvSpPr>
              <p:spPr bwMode="auto">
                <a:xfrm>
                  <a:off x="1200" y="3109"/>
                  <a:ext cx="1248" cy="0"/>
                </a:xfrm>
                <a:prstGeom prst="line">
                  <a:avLst/>
                </a:prstGeom>
                <a:noFill/>
                <a:ln w="9525">
                  <a:solidFill>
                    <a:schemeClr val="tx1"/>
                  </a:solidFill>
                  <a:round/>
                  <a:headEnd/>
                  <a:tailEnd/>
                </a:ln>
              </p:spPr>
              <p:txBody>
                <a:bodyPr wrap="none" anchor="ctr"/>
                <a:lstStyle/>
                <a:p>
                  <a:endParaRPr lang="bg-BG"/>
                </a:p>
              </p:txBody>
            </p:sp>
            <p:sp>
              <p:nvSpPr>
                <p:cNvPr id="13" name="Line 12"/>
                <p:cNvSpPr>
                  <a:spLocks noChangeShapeType="1"/>
                </p:cNvSpPr>
                <p:nvPr/>
              </p:nvSpPr>
              <p:spPr bwMode="auto">
                <a:xfrm>
                  <a:off x="1200" y="3323"/>
                  <a:ext cx="1248" cy="0"/>
                </a:xfrm>
                <a:prstGeom prst="line">
                  <a:avLst/>
                </a:prstGeom>
                <a:noFill/>
                <a:ln w="9525">
                  <a:solidFill>
                    <a:schemeClr val="tx1"/>
                  </a:solidFill>
                  <a:round/>
                  <a:headEnd/>
                  <a:tailEnd/>
                </a:ln>
              </p:spPr>
              <p:txBody>
                <a:bodyPr wrap="none" anchor="ctr"/>
                <a:lstStyle/>
                <a:p>
                  <a:endParaRPr lang="bg-BG"/>
                </a:p>
              </p:txBody>
            </p:sp>
            <p:sp>
              <p:nvSpPr>
                <p:cNvPr id="14" name="Line 13"/>
                <p:cNvSpPr>
                  <a:spLocks noChangeShapeType="1"/>
                </p:cNvSpPr>
                <p:nvPr/>
              </p:nvSpPr>
              <p:spPr bwMode="auto">
                <a:xfrm>
                  <a:off x="1200" y="2374"/>
                  <a:ext cx="1248" cy="0"/>
                </a:xfrm>
                <a:prstGeom prst="line">
                  <a:avLst/>
                </a:prstGeom>
                <a:noFill/>
                <a:ln w="9525">
                  <a:solidFill>
                    <a:schemeClr val="tx1"/>
                  </a:solidFill>
                  <a:round/>
                  <a:headEnd/>
                  <a:tailEnd/>
                </a:ln>
              </p:spPr>
              <p:txBody>
                <a:bodyPr wrap="none" anchor="ctr"/>
                <a:lstStyle/>
                <a:p>
                  <a:endParaRPr lang="bg-BG"/>
                </a:p>
              </p:txBody>
            </p:sp>
            <p:sp>
              <p:nvSpPr>
                <p:cNvPr id="15" name="Line 14"/>
                <p:cNvSpPr>
                  <a:spLocks noChangeShapeType="1"/>
                </p:cNvSpPr>
                <p:nvPr/>
              </p:nvSpPr>
              <p:spPr bwMode="auto">
                <a:xfrm>
                  <a:off x="1200" y="3504"/>
                  <a:ext cx="1248" cy="0"/>
                </a:xfrm>
                <a:prstGeom prst="line">
                  <a:avLst/>
                </a:prstGeom>
                <a:noFill/>
                <a:ln w="9525">
                  <a:solidFill>
                    <a:schemeClr val="tx1"/>
                  </a:solidFill>
                  <a:round/>
                  <a:headEnd/>
                  <a:tailEnd/>
                </a:ln>
              </p:spPr>
              <p:txBody>
                <a:bodyPr wrap="none" anchor="ctr"/>
                <a:lstStyle/>
                <a:p>
                  <a:endParaRPr lang="bg-BG"/>
                </a:p>
              </p:txBody>
            </p:sp>
            <p:sp>
              <p:nvSpPr>
                <p:cNvPr id="16" name="Line 15"/>
                <p:cNvSpPr>
                  <a:spLocks noChangeShapeType="1"/>
                </p:cNvSpPr>
                <p:nvPr/>
              </p:nvSpPr>
              <p:spPr bwMode="auto">
                <a:xfrm>
                  <a:off x="1200" y="3888"/>
                  <a:ext cx="1248" cy="0"/>
                </a:xfrm>
                <a:prstGeom prst="line">
                  <a:avLst/>
                </a:prstGeom>
                <a:noFill/>
                <a:ln w="9525">
                  <a:solidFill>
                    <a:schemeClr val="tx1"/>
                  </a:solidFill>
                  <a:round/>
                  <a:headEnd/>
                  <a:tailEnd/>
                </a:ln>
              </p:spPr>
              <p:txBody>
                <a:bodyPr wrap="none" anchor="ctr"/>
                <a:lstStyle/>
                <a:p>
                  <a:endParaRPr lang="bg-BG"/>
                </a:p>
              </p:txBody>
            </p:sp>
          </p:grpSp>
          <p:sp>
            <p:nvSpPr>
              <p:cNvPr id="36" name="TextBox 35"/>
              <p:cNvSpPr txBox="1"/>
              <p:nvPr/>
            </p:nvSpPr>
            <p:spPr>
              <a:xfrm>
                <a:off x="1979712" y="4144888"/>
                <a:ext cx="720080" cy="338554"/>
              </a:xfrm>
              <a:prstGeom prst="rect">
                <a:avLst/>
              </a:prstGeom>
              <a:noFill/>
            </p:spPr>
            <p:txBody>
              <a:bodyPr wrap="square" rtlCol="0">
                <a:spAutoFit/>
              </a:bodyPr>
              <a:lstStyle/>
              <a:p>
                <a:r>
                  <a:rPr lang="bg-BG" sz="1600" b="1" i="1" smtClean="0"/>
                  <a:t>H(K</a:t>
                </a:r>
                <a:r>
                  <a:rPr lang="bg-BG" sz="1600" b="1" i="1" baseline="-25000" smtClean="0"/>
                  <a:t>i</a:t>
                </a:r>
                <a:r>
                  <a:rPr lang="bg-BG" sz="1600" b="1" i="1" smtClean="0"/>
                  <a:t>)</a:t>
                </a:r>
                <a:endParaRPr lang="bg-BG" sz="1600"/>
              </a:p>
            </p:txBody>
          </p:sp>
          <p:sp>
            <p:nvSpPr>
              <p:cNvPr id="37" name="TextBox 36"/>
              <p:cNvSpPr txBox="1"/>
              <p:nvPr/>
            </p:nvSpPr>
            <p:spPr>
              <a:xfrm>
                <a:off x="2843808" y="4149080"/>
                <a:ext cx="720080" cy="338554"/>
              </a:xfrm>
              <a:prstGeom prst="rect">
                <a:avLst/>
              </a:prstGeom>
              <a:noFill/>
            </p:spPr>
            <p:txBody>
              <a:bodyPr wrap="square" rtlCol="0">
                <a:spAutoFit/>
              </a:bodyPr>
              <a:lstStyle/>
              <a:p>
                <a:r>
                  <a:rPr lang="bg-BG" sz="1600" b="1" i="1" smtClean="0"/>
                  <a:t>А(</a:t>
                </a:r>
                <a:r>
                  <a:rPr lang="en-US" sz="1600" b="1" i="1" smtClean="0"/>
                  <a:t>i</a:t>
                </a:r>
                <a:r>
                  <a:rPr lang="bg-BG" sz="1600" b="1" i="1" smtClean="0"/>
                  <a:t>)</a:t>
                </a:r>
                <a:endParaRPr lang="bg-BG" sz="1600"/>
              </a:p>
            </p:txBody>
          </p:sp>
          <p:sp>
            <p:nvSpPr>
              <p:cNvPr id="38" name="TextBox 37"/>
              <p:cNvSpPr txBox="1"/>
              <p:nvPr/>
            </p:nvSpPr>
            <p:spPr>
              <a:xfrm>
                <a:off x="1954312" y="4995788"/>
                <a:ext cx="720080" cy="338554"/>
              </a:xfrm>
              <a:prstGeom prst="rect">
                <a:avLst/>
              </a:prstGeom>
              <a:noFill/>
            </p:spPr>
            <p:txBody>
              <a:bodyPr wrap="square" rtlCol="0">
                <a:spAutoFit/>
              </a:bodyPr>
              <a:lstStyle/>
              <a:p>
                <a:r>
                  <a:rPr lang="bg-BG" sz="1600" b="1" i="1" smtClean="0"/>
                  <a:t>H(K</a:t>
                </a:r>
                <a:r>
                  <a:rPr lang="en-US" sz="1600" b="1" i="1" baseline="-25000" smtClean="0"/>
                  <a:t>j</a:t>
                </a:r>
                <a:r>
                  <a:rPr lang="bg-BG" sz="1600" b="1" i="1" smtClean="0"/>
                  <a:t>)</a:t>
                </a:r>
                <a:endParaRPr lang="bg-BG" sz="1600"/>
              </a:p>
            </p:txBody>
          </p:sp>
          <p:sp>
            <p:nvSpPr>
              <p:cNvPr id="39" name="TextBox 38"/>
              <p:cNvSpPr txBox="1"/>
              <p:nvPr/>
            </p:nvSpPr>
            <p:spPr>
              <a:xfrm>
                <a:off x="1979712" y="5809456"/>
                <a:ext cx="720080" cy="338554"/>
              </a:xfrm>
              <a:prstGeom prst="rect">
                <a:avLst/>
              </a:prstGeom>
              <a:noFill/>
            </p:spPr>
            <p:txBody>
              <a:bodyPr wrap="square" rtlCol="0">
                <a:spAutoFit/>
              </a:bodyPr>
              <a:lstStyle/>
              <a:p>
                <a:r>
                  <a:rPr lang="bg-BG" sz="1600" b="1" i="1" smtClean="0"/>
                  <a:t>H(K</a:t>
                </a:r>
                <a:r>
                  <a:rPr lang="en-US" sz="1600" b="1" i="1" baseline="-25000" smtClean="0"/>
                  <a:t>m</a:t>
                </a:r>
                <a:r>
                  <a:rPr lang="bg-BG" sz="1600" b="1" i="1" smtClean="0"/>
                  <a:t>)</a:t>
                </a:r>
                <a:endParaRPr lang="bg-BG" sz="1600"/>
              </a:p>
            </p:txBody>
          </p:sp>
          <p:sp>
            <p:nvSpPr>
              <p:cNvPr id="40" name="TextBox 39"/>
              <p:cNvSpPr txBox="1"/>
              <p:nvPr/>
            </p:nvSpPr>
            <p:spPr>
              <a:xfrm>
                <a:off x="2856508" y="4991968"/>
                <a:ext cx="720080" cy="338554"/>
              </a:xfrm>
              <a:prstGeom prst="rect">
                <a:avLst/>
              </a:prstGeom>
              <a:noFill/>
            </p:spPr>
            <p:txBody>
              <a:bodyPr wrap="square" rtlCol="0">
                <a:spAutoFit/>
              </a:bodyPr>
              <a:lstStyle/>
              <a:p>
                <a:r>
                  <a:rPr lang="bg-BG" sz="1600" b="1" i="1" smtClean="0"/>
                  <a:t>А(</a:t>
                </a:r>
                <a:r>
                  <a:rPr lang="en-US" sz="1600" b="1" i="1" smtClean="0"/>
                  <a:t>j</a:t>
                </a:r>
                <a:r>
                  <a:rPr lang="bg-BG" sz="1600" b="1" i="1" smtClean="0"/>
                  <a:t>)</a:t>
                </a:r>
                <a:endParaRPr lang="bg-BG" sz="1600"/>
              </a:p>
            </p:txBody>
          </p:sp>
          <p:sp>
            <p:nvSpPr>
              <p:cNvPr id="41" name="TextBox 40"/>
              <p:cNvSpPr txBox="1"/>
              <p:nvPr/>
            </p:nvSpPr>
            <p:spPr>
              <a:xfrm>
                <a:off x="2843808" y="5805264"/>
                <a:ext cx="720080" cy="338554"/>
              </a:xfrm>
              <a:prstGeom prst="rect">
                <a:avLst/>
              </a:prstGeom>
              <a:noFill/>
            </p:spPr>
            <p:txBody>
              <a:bodyPr wrap="square" rtlCol="0">
                <a:spAutoFit/>
              </a:bodyPr>
              <a:lstStyle/>
              <a:p>
                <a:r>
                  <a:rPr lang="bg-BG" sz="1600" b="1" i="1" smtClean="0"/>
                  <a:t>А(</a:t>
                </a:r>
                <a:r>
                  <a:rPr lang="en-US" sz="1600" b="1" i="1" smtClean="0"/>
                  <a:t>m</a:t>
                </a:r>
                <a:r>
                  <a:rPr lang="bg-BG" sz="1600" b="1" i="1" smtClean="0"/>
                  <a:t>)</a:t>
                </a:r>
                <a:endParaRPr lang="bg-BG" sz="1600"/>
              </a:p>
            </p:txBody>
          </p:sp>
          <p:sp>
            <p:nvSpPr>
              <p:cNvPr id="42" name="TextBox 41"/>
              <p:cNvSpPr txBox="1"/>
              <p:nvPr/>
            </p:nvSpPr>
            <p:spPr>
              <a:xfrm>
                <a:off x="2051720" y="3573016"/>
                <a:ext cx="1368152" cy="369332"/>
              </a:xfrm>
              <a:prstGeom prst="rect">
                <a:avLst/>
              </a:prstGeom>
              <a:noFill/>
            </p:spPr>
            <p:txBody>
              <a:bodyPr wrap="square" rtlCol="0">
                <a:spAutoFit/>
              </a:bodyPr>
              <a:lstStyle/>
              <a:p>
                <a:r>
                  <a:rPr lang="en-US" sz="1800" smtClean="0"/>
                  <a:t>…           …</a:t>
                </a:r>
                <a:endParaRPr lang="bg-BG" sz="1800"/>
              </a:p>
            </p:txBody>
          </p:sp>
          <p:sp>
            <p:nvSpPr>
              <p:cNvPr id="43" name="TextBox 42"/>
              <p:cNvSpPr txBox="1"/>
              <p:nvPr/>
            </p:nvSpPr>
            <p:spPr>
              <a:xfrm>
                <a:off x="2051720" y="3801616"/>
                <a:ext cx="1368152" cy="369332"/>
              </a:xfrm>
              <a:prstGeom prst="rect">
                <a:avLst/>
              </a:prstGeom>
              <a:noFill/>
            </p:spPr>
            <p:txBody>
              <a:bodyPr wrap="square" rtlCol="0">
                <a:spAutoFit/>
              </a:bodyPr>
              <a:lstStyle/>
              <a:p>
                <a:r>
                  <a:rPr lang="en-US" sz="1800" smtClean="0"/>
                  <a:t>…           …</a:t>
                </a:r>
                <a:endParaRPr lang="bg-BG" sz="1800"/>
              </a:p>
            </p:txBody>
          </p:sp>
          <p:sp>
            <p:nvSpPr>
              <p:cNvPr id="44" name="TextBox 43"/>
              <p:cNvSpPr txBox="1"/>
              <p:nvPr/>
            </p:nvSpPr>
            <p:spPr>
              <a:xfrm>
                <a:off x="2123728" y="5517232"/>
                <a:ext cx="1368152" cy="369332"/>
              </a:xfrm>
              <a:prstGeom prst="rect">
                <a:avLst/>
              </a:prstGeom>
              <a:noFill/>
            </p:spPr>
            <p:txBody>
              <a:bodyPr wrap="square" rtlCol="0">
                <a:spAutoFit/>
              </a:bodyPr>
              <a:lstStyle/>
              <a:p>
                <a:r>
                  <a:rPr lang="en-US" sz="1800" smtClean="0"/>
                  <a:t>…           …</a:t>
                </a:r>
                <a:endParaRPr lang="bg-BG" sz="1800"/>
              </a:p>
            </p:txBody>
          </p:sp>
          <p:sp>
            <p:nvSpPr>
              <p:cNvPr id="45" name="TextBox 44"/>
              <p:cNvSpPr txBox="1"/>
              <p:nvPr/>
            </p:nvSpPr>
            <p:spPr>
              <a:xfrm>
                <a:off x="2077120" y="6233120"/>
                <a:ext cx="1368152" cy="369332"/>
              </a:xfrm>
              <a:prstGeom prst="rect">
                <a:avLst/>
              </a:prstGeom>
              <a:noFill/>
            </p:spPr>
            <p:txBody>
              <a:bodyPr wrap="square" rtlCol="0">
                <a:spAutoFit/>
              </a:bodyPr>
              <a:lstStyle/>
              <a:p>
                <a:r>
                  <a:rPr lang="en-US" sz="1800" smtClean="0"/>
                  <a:t>…           …</a:t>
                </a:r>
                <a:endParaRPr lang="bg-BG" sz="1800"/>
              </a:p>
            </p:txBody>
          </p:sp>
        </p:grpSp>
        <p:sp>
          <p:nvSpPr>
            <p:cNvPr id="47" name="TextBox 46"/>
            <p:cNvSpPr txBox="1"/>
            <p:nvPr/>
          </p:nvSpPr>
          <p:spPr>
            <a:xfrm>
              <a:off x="1403648" y="3573016"/>
              <a:ext cx="432048" cy="400110"/>
            </a:xfrm>
            <a:prstGeom prst="rect">
              <a:avLst/>
            </a:prstGeom>
            <a:noFill/>
          </p:spPr>
          <p:txBody>
            <a:bodyPr wrap="square" rtlCol="0">
              <a:spAutoFit/>
            </a:bodyPr>
            <a:lstStyle/>
            <a:p>
              <a:r>
                <a:rPr lang="en-US" sz="2000" smtClean="0"/>
                <a:t>0</a:t>
              </a:r>
              <a:endParaRPr lang="bg-BG" sz="2000"/>
            </a:p>
          </p:txBody>
        </p:sp>
        <p:sp>
          <p:nvSpPr>
            <p:cNvPr id="48" name="TextBox 47"/>
            <p:cNvSpPr txBox="1"/>
            <p:nvPr/>
          </p:nvSpPr>
          <p:spPr>
            <a:xfrm>
              <a:off x="1234108" y="6237312"/>
              <a:ext cx="720080" cy="400110"/>
            </a:xfrm>
            <a:prstGeom prst="rect">
              <a:avLst/>
            </a:prstGeom>
            <a:noFill/>
          </p:spPr>
          <p:txBody>
            <a:bodyPr wrap="square" rtlCol="0">
              <a:spAutoFit/>
            </a:bodyPr>
            <a:lstStyle/>
            <a:p>
              <a:r>
                <a:rPr lang="en-US" sz="2000" smtClean="0"/>
                <a:t>M-1</a:t>
              </a:r>
              <a:endParaRPr lang="bg-BG" sz="2000"/>
            </a:p>
          </p:txBody>
        </p:sp>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ChangeArrowheads="1"/>
          </p:cNvSpPr>
          <p:nvPr/>
        </p:nvSpPr>
        <p:spPr bwMode="auto">
          <a:xfrm>
            <a:off x="556444" y="260648"/>
            <a:ext cx="8676456" cy="6248400"/>
          </a:xfrm>
          <a:prstGeom prst="rect">
            <a:avLst/>
          </a:prstGeom>
          <a:noFill/>
          <a:ln w="9525">
            <a:noFill/>
            <a:miter lim="800000"/>
            <a:headEnd/>
            <a:tailEnd/>
          </a:ln>
        </p:spPr>
        <p:txBody>
          <a:bodyPr anchor="ctr"/>
          <a:lstStyle/>
          <a:p>
            <a:pPr algn="l"/>
            <a:r>
              <a:rPr lang="bg-BG" sz="2000">
                <a:latin typeface="Arial" charset="0"/>
              </a:rPr>
              <a:t>	</a:t>
            </a:r>
            <a:r>
              <a:rPr lang="bg-BG" sz="2000"/>
              <a:t>Методът е много бърз, т. к. осигурява директен достъп до търсения елемент чрез неговата хеш-функция. При използването на този подход следва да очакваме константно време за операциите </a:t>
            </a:r>
            <a:r>
              <a:rPr lang="bg-BG" sz="2000" i="1"/>
              <a:t>търсене</a:t>
            </a:r>
            <a:r>
              <a:rPr lang="bg-BG" sz="2000"/>
              <a:t> и </a:t>
            </a:r>
            <a:r>
              <a:rPr lang="bg-BG" sz="2000" i="1"/>
              <a:t>вмъкване</a:t>
            </a:r>
            <a:r>
              <a:rPr lang="bg-BG" sz="2000"/>
              <a:t> в таблицата, независимо какъв е нейния размер.</a:t>
            </a:r>
            <a:br>
              <a:rPr lang="bg-BG" sz="2000"/>
            </a:br>
            <a:r>
              <a:rPr lang="bg-BG" sz="2000"/>
              <a:t>	Някои автори дефинират хеш-таблицата като структура от данни, за която е характерен директен достъп до елементите, независимо от типа им. </a:t>
            </a:r>
            <a:br>
              <a:rPr lang="bg-BG" sz="2000"/>
            </a:br>
            <a:r>
              <a:rPr lang="bg-BG" sz="2000"/>
              <a:t>              Например,  таблица, съдържаща информация за имена и факултетни номера на студенти от една студентска група. Факултетните номера уникално определят всеки елемент в </a:t>
            </a:r>
            <a:r>
              <a:rPr lang="bg-BG" sz="2000" smtClean="0"/>
              <a:t>таблицата, </a:t>
            </a:r>
            <a:r>
              <a:rPr lang="bg-BG" sz="2000"/>
              <a:t>затова се използват като ключове:</a:t>
            </a:r>
            <a:br>
              <a:rPr lang="bg-BG" sz="2000"/>
            </a:br>
            <a:r>
              <a:rPr lang="bg-BG" sz="2000"/>
              <a:t/>
            </a:r>
            <a:br>
              <a:rPr lang="bg-BG" sz="2000"/>
            </a:br>
            <a:r>
              <a:rPr lang="bg-BG" sz="2000"/>
              <a:t/>
            </a:r>
            <a:br>
              <a:rPr lang="bg-BG" sz="2000"/>
            </a:br>
            <a:r>
              <a:rPr lang="bg-BG" sz="2000"/>
              <a:t/>
            </a:r>
            <a:br>
              <a:rPr lang="bg-BG" sz="2000"/>
            </a:br>
            <a:r>
              <a:rPr lang="bg-BG" sz="2000"/>
              <a:t/>
            </a:r>
            <a:br>
              <a:rPr lang="bg-BG" sz="2000"/>
            </a:br>
            <a:r>
              <a:rPr lang="bg-BG" sz="2000"/>
              <a:t/>
            </a:r>
            <a:br>
              <a:rPr lang="bg-BG" sz="2000"/>
            </a:br>
            <a:r>
              <a:rPr lang="bg-BG" sz="2000"/>
              <a:t/>
            </a:r>
            <a:br>
              <a:rPr lang="bg-BG" sz="2000"/>
            </a:br>
            <a:r>
              <a:rPr lang="en-US" sz="2000"/>
              <a:t/>
            </a:r>
            <a:br>
              <a:rPr lang="en-US" sz="2000"/>
            </a:br>
            <a:r>
              <a:rPr lang="bg-BG" sz="2000"/>
              <a:t>	Хеширането обаче притежава един съществен недостатък. Нека да предположим, че съществуват два елемента </a:t>
            </a:r>
            <a:r>
              <a:rPr lang="bg-BG" sz="2000" b="1" i="1"/>
              <a:t>A[i]</a:t>
            </a:r>
            <a:r>
              <a:rPr lang="bg-BG" sz="2000"/>
              <a:t> и </a:t>
            </a:r>
            <a:r>
              <a:rPr lang="bg-BG" sz="2000" b="1" i="1"/>
              <a:t>A[j]</a:t>
            </a:r>
            <a:r>
              <a:rPr lang="bg-BG" sz="2000"/>
              <a:t> с ключове </a:t>
            </a:r>
            <a:r>
              <a:rPr lang="bg-BG" sz="2000" b="1" i="1"/>
              <a:t>K</a:t>
            </a:r>
            <a:r>
              <a:rPr lang="bg-BG" sz="2000" b="1" i="1" baseline="-25000"/>
              <a:t>i</a:t>
            </a:r>
            <a:r>
              <a:rPr lang="bg-BG" sz="2000" b="1" i="1"/>
              <a:t> </a:t>
            </a:r>
            <a:r>
              <a:rPr lang="bg-BG" sz="2000"/>
              <a:t>и </a:t>
            </a:r>
            <a:r>
              <a:rPr lang="bg-BG" sz="2000" b="1" i="1"/>
              <a:t>K</a:t>
            </a:r>
            <a:r>
              <a:rPr lang="bg-BG" sz="2000" b="1" i="1" baseline="-25000"/>
              <a:t>j</a:t>
            </a:r>
            <a:r>
              <a:rPr lang="bg-BG" sz="2000" b="1" i="1"/>
              <a:t>,</a:t>
            </a:r>
            <a:r>
              <a:rPr lang="bg-BG" sz="2000"/>
              <a:t> които имат една и съща стойност на хеш-функцията: </a:t>
            </a:r>
            <a:r>
              <a:rPr lang="bg-BG" sz="2000" b="1" i="1"/>
              <a:t>H(K</a:t>
            </a:r>
            <a:r>
              <a:rPr lang="bg-BG" sz="2000" b="1" i="1" baseline="-25000"/>
              <a:t>i</a:t>
            </a:r>
            <a:r>
              <a:rPr lang="bg-BG" sz="2000" b="1" i="1"/>
              <a:t>)</a:t>
            </a:r>
            <a:r>
              <a:rPr lang="bg-BG" sz="2000"/>
              <a:t>= </a:t>
            </a:r>
            <a:r>
              <a:rPr lang="bg-BG" sz="2000" b="1" i="1"/>
              <a:t>H(K</a:t>
            </a:r>
            <a:r>
              <a:rPr lang="bg-BG" sz="2000" b="1" i="1" baseline="-25000"/>
              <a:t>j</a:t>
            </a:r>
            <a:r>
              <a:rPr lang="bg-BG" sz="2000" b="1" i="1"/>
              <a:t>)</a:t>
            </a:r>
            <a:r>
              <a:rPr lang="bg-BG" sz="2000"/>
              <a:t>. Това означава, че двата елемента би трябвало да се запишат с един и същи индекс в хеш-таблицата, което не е възможно. Подобна ситуация се нарича </a:t>
            </a:r>
            <a:r>
              <a:rPr lang="bg-BG" sz="2000" i="1"/>
              <a:t>колизия</a:t>
            </a:r>
            <a:r>
              <a:rPr lang="bg-BG" sz="2000"/>
              <a:t>. </a:t>
            </a:r>
            <a:endParaRPr lang="en-US" sz="2000">
              <a:latin typeface="Arial" charset="0"/>
            </a:endParaRPr>
          </a:p>
        </p:txBody>
      </p:sp>
      <p:grpSp>
        <p:nvGrpSpPr>
          <p:cNvPr id="41" name="Group 40"/>
          <p:cNvGrpSpPr/>
          <p:nvPr/>
        </p:nvGrpSpPr>
        <p:grpSpPr>
          <a:xfrm>
            <a:off x="1309688" y="3048000"/>
            <a:ext cx="7596187" cy="2178050"/>
            <a:chOff x="369888" y="3048000"/>
            <a:chExt cx="7596187" cy="2178050"/>
          </a:xfrm>
        </p:grpSpPr>
        <p:grpSp>
          <p:nvGrpSpPr>
            <p:cNvPr id="83971" name="Group 3"/>
            <p:cNvGrpSpPr>
              <a:grpSpLocks/>
            </p:cNvGrpSpPr>
            <p:nvPr/>
          </p:nvGrpSpPr>
          <p:grpSpPr bwMode="auto">
            <a:xfrm>
              <a:off x="2209800" y="3048000"/>
              <a:ext cx="3559175" cy="2030413"/>
              <a:chOff x="849" y="1902"/>
              <a:chExt cx="2242" cy="1279"/>
            </a:xfrm>
          </p:grpSpPr>
          <p:sp>
            <p:nvSpPr>
              <p:cNvPr id="83985" name="Rectangle 4"/>
              <p:cNvSpPr>
                <a:spLocks noChangeArrowheads="1"/>
              </p:cNvSpPr>
              <p:nvPr/>
            </p:nvSpPr>
            <p:spPr bwMode="auto">
              <a:xfrm>
                <a:off x="864" y="1920"/>
                <a:ext cx="2208" cy="1248"/>
              </a:xfrm>
              <a:prstGeom prst="rect">
                <a:avLst/>
              </a:prstGeom>
              <a:noFill/>
              <a:ln w="9525">
                <a:solidFill>
                  <a:schemeClr val="tx1"/>
                </a:solidFill>
                <a:miter lim="800000"/>
                <a:headEnd/>
                <a:tailEnd/>
              </a:ln>
            </p:spPr>
            <p:txBody>
              <a:bodyPr wrap="none" anchor="ctr"/>
              <a:lstStyle/>
              <a:p>
                <a:endParaRPr lang="bg-BG"/>
              </a:p>
            </p:txBody>
          </p:sp>
          <p:sp>
            <p:nvSpPr>
              <p:cNvPr id="83986" name="Text Box 5"/>
              <p:cNvSpPr txBox="1">
                <a:spLocks noChangeArrowheads="1"/>
              </p:cNvSpPr>
              <p:nvPr/>
            </p:nvSpPr>
            <p:spPr bwMode="auto">
              <a:xfrm>
                <a:off x="1093" y="1902"/>
                <a:ext cx="576" cy="231"/>
              </a:xfrm>
              <a:prstGeom prst="rect">
                <a:avLst/>
              </a:prstGeom>
              <a:noFill/>
              <a:ln w="9525">
                <a:noFill/>
                <a:miter lim="800000"/>
                <a:headEnd/>
                <a:tailEnd/>
              </a:ln>
            </p:spPr>
            <p:txBody>
              <a:bodyPr>
                <a:spAutoFit/>
              </a:bodyPr>
              <a:lstStyle/>
              <a:p>
                <a:pPr algn="l">
                  <a:spcBef>
                    <a:spcPct val="50000"/>
                  </a:spcBef>
                </a:pPr>
                <a:r>
                  <a:rPr lang="en-US" sz="1800"/>
                  <a:t>02</a:t>
                </a:r>
                <a:r>
                  <a:rPr lang="bg-BG" sz="1800"/>
                  <a:t>6760</a:t>
                </a:r>
                <a:endParaRPr lang="en-US" sz="1800"/>
              </a:p>
            </p:txBody>
          </p:sp>
          <p:sp>
            <p:nvSpPr>
              <p:cNvPr id="83987" name="Text Box 6"/>
              <p:cNvSpPr txBox="1">
                <a:spLocks noChangeArrowheads="1"/>
              </p:cNvSpPr>
              <p:nvPr/>
            </p:nvSpPr>
            <p:spPr bwMode="auto">
              <a:xfrm>
                <a:off x="1584" y="1909"/>
                <a:ext cx="1488" cy="231"/>
              </a:xfrm>
              <a:prstGeom prst="rect">
                <a:avLst/>
              </a:prstGeom>
              <a:noFill/>
              <a:ln w="9525">
                <a:noFill/>
                <a:miter lim="800000"/>
                <a:headEnd/>
                <a:tailEnd/>
              </a:ln>
            </p:spPr>
            <p:txBody>
              <a:bodyPr>
                <a:spAutoFit/>
              </a:bodyPr>
              <a:lstStyle/>
              <a:p>
                <a:pPr algn="l">
                  <a:spcBef>
                    <a:spcPct val="50000"/>
                  </a:spcBef>
                </a:pPr>
                <a:r>
                  <a:rPr lang="bg-BG" sz="1800"/>
                  <a:t>Иван Иванов Иванов</a:t>
                </a:r>
                <a:endParaRPr lang="en-US" sz="1800"/>
              </a:p>
            </p:txBody>
          </p:sp>
          <p:sp>
            <p:nvSpPr>
              <p:cNvPr id="83988" name="Line 7"/>
              <p:cNvSpPr>
                <a:spLocks noChangeShapeType="1"/>
              </p:cNvSpPr>
              <p:nvPr/>
            </p:nvSpPr>
            <p:spPr bwMode="auto">
              <a:xfrm>
                <a:off x="1606" y="1920"/>
                <a:ext cx="0" cy="1248"/>
              </a:xfrm>
              <a:prstGeom prst="line">
                <a:avLst/>
              </a:prstGeom>
              <a:noFill/>
              <a:ln w="9525">
                <a:solidFill>
                  <a:schemeClr val="tx1"/>
                </a:solidFill>
                <a:round/>
                <a:headEnd/>
                <a:tailEnd/>
              </a:ln>
            </p:spPr>
            <p:txBody>
              <a:bodyPr wrap="none" anchor="ctr"/>
              <a:lstStyle/>
              <a:p>
                <a:endParaRPr lang="bg-BG"/>
              </a:p>
            </p:txBody>
          </p:sp>
          <p:sp>
            <p:nvSpPr>
              <p:cNvPr id="83989" name="Line 8"/>
              <p:cNvSpPr>
                <a:spLocks noChangeShapeType="1"/>
              </p:cNvSpPr>
              <p:nvPr/>
            </p:nvSpPr>
            <p:spPr bwMode="auto">
              <a:xfrm>
                <a:off x="864" y="2112"/>
                <a:ext cx="2208" cy="0"/>
              </a:xfrm>
              <a:prstGeom prst="line">
                <a:avLst/>
              </a:prstGeom>
              <a:noFill/>
              <a:ln w="9525">
                <a:solidFill>
                  <a:schemeClr val="tx1"/>
                </a:solidFill>
                <a:round/>
                <a:headEnd/>
                <a:tailEnd/>
              </a:ln>
            </p:spPr>
            <p:txBody>
              <a:bodyPr wrap="none" anchor="ctr"/>
              <a:lstStyle/>
              <a:p>
                <a:endParaRPr lang="bg-BG"/>
              </a:p>
            </p:txBody>
          </p:sp>
          <p:sp>
            <p:nvSpPr>
              <p:cNvPr id="83990" name="Line 9"/>
              <p:cNvSpPr>
                <a:spLocks noChangeShapeType="1"/>
              </p:cNvSpPr>
              <p:nvPr/>
            </p:nvSpPr>
            <p:spPr bwMode="auto">
              <a:xfrm>
                <a:off x="864" y="2352"/>
                <a:ext cx="2208" cy="0"/>
              </a:xfrm>
              <a:prstGeom prst="line">
                <a:avLst/>
              </a:prstGeom>
              <a:noFill/>
              <a:ln w="9525">
                <a:solidFill>
                  <a:schemeClr val="tx1"/>
                </a:solidFill>
                <a:round/>
                <a:headEnd/>
                <a:tailEnd/>
              </a:ln>
            </p:spPr>
            <p:txBody>
              <a:bodyPr wrap="none" anchor="ctr"/>
              <a:lstStyle/>
              <a:p>
                <a:endParaRPr lang="bg-BG"/>
              </a:p>
            </p:txBody>
          </p:sp>
          <p:sp>
            <p:nvSpPr>
              <p:cNvPr id="83991" name="Line 10"/>
              <p:cNvSpPr>
                <a:spLocks noChangeShapeType="1"/>
              </p:cNvSpPr>
              <p:nvPr/>
            </p:nvSpPr>
            <p:spPr bwMode="auto">
              <a:xfrm>
                <a:off x="1104" y="2784"/>
                <a:ext cx="1968" cy="0"/>
              </a:xfrm>
              <a:prstGeom prst="line">
                <a:avLst/>
              </a:prstGeom>
              <a:noFill/>
              <a:ln w="9525">
                <a:solidFill>
                  <a:schemeClr val="tx1"/>
                </a:solidFill>
                <a:round/>
                <a:headEnd/>
                <a:tailEnd/>
              </a:ln>
            </p:spPr>
            <p:txBody>
              <a:bodyPr wrap="none" anchor="ctr"/>
              <a:lstStyle/>
              <a:p>
                <a:endParaRPr lang="bg-BG"/>
              </a:p>
            </p:txBody>
          </p:sp>
          <p:sp>
            <p:nvSpPr>
              <p:cNvPr id="83992" name="Line 11"/>
              <p:cNvSpPr>
                <a:spLocks noChangeShapeType="1"/>
              </p:cNvSpPr>
              <p:nvPr/>
            </p:nvSpPr>
            <p:spPr bwMode="auto">
              <a:xfrm>
                <a:off x="1104" y="2976"/>
                <a:ext cx="1968" cy="0"/>
              </a:xfrm>
              <a:prstGeom prst="line">
                <a:avLst/>
              </a:prstGeom>
              <a:noFill/>
              <a:ln w="9525">
                <a:solidFill>
                  <a:schemeClr val="tx1"/>
                </a:solidFill>
                <a:round/>
                <a:headEnd/>
                <a:tailEnd/>
              </a:ln>
            </p:spPr>
            <p:txBody>
              <a:bodyPr wrap="none" anchor="ctr"/>
              <a:lstStyle/>
              <a:p>
                <a:endParaRPr lang="bg-BG"/>
              </a:p>
            </p:txBody>
          </p:sp>
          <p:sp>
            <p:nvSpPr>
              <p:cNvPr id="83993" name="Text Box 12"/>
              <p:cNvSpPr txBox="1">
                <a:spLocks noChangeArrowheads="1"/>
              </p:cNvSpPr>
              <p:nvPr/>
            </p:nvSpPr>
            <p:spPr bwMode="auto">
              <a:xfrm>
                <a:off x="886" y="1905"/>
                <a:ext cx="240" cy="231"/>
              </a:xfrm>
              <a:prstGeom prst="rect">
                <a:avLst/>
              </a:prstGeom>
              <a:noFill/>
              <a:ln w="9525">
                <a:noFill/>
                <a:miter lim="800000"/>
                <a:headEnd/>
                <a:tailEnd/>
              </a:ln>
            </p:spPr>
            <p:txBody>
              <a:bodyPr>
                <a:spAutoFit/>
              </a:bodyPr>
              <a:lstStyle/>
              <a:p>
                <a:pPr algn="l">
                  <a:spcBef>
                    <a:spcPct val="50000"/>
                  </a:spcBef>
                </a:pPr>
                <a:r>
                  <a:rPr lang="bg-BG" sz="1800"/>
                  <a:t>0</a:t>
                </a:r>
                <a:endParaRPr lang="en-US" sz="1800"/>
              </a:p>
            </p:txBody>
          </p:sp>
          <p:sp>
            <p:nvSpPr>
              <p:cNvPr id="83994" name="Text Box 13"/>
              <p:cNvSpPr txBox="1">
                <a:spLocks noChangeArrowheads="1"/>
              </p:cNvSpPr>
              <p:nvPr/>
            </p:nvSpPr>
            <p:spPr bwMode="auto">
              <a:xfrm>
                <a:off x="871" y="2950"/>
                <a:ext cx="288" cy="231"/>
              </a:xfrm>
              <a:prstGeom prst="rect">
                <a:avLst/>
              </a:prstGeom>
              <a:noFill/>
              <a:ln w="9525">
                <a:noFill/>
                <a:miter lim="800000"/>
                <a:headEnd/>
                <a:tailEnd/>
              </a:ln>
            </p:spPr>
            <p:txBody>
              <a:bodyPr>
                <a:spAutoFit/>
              </a:bodyPr>
              <a:lstStyle/>
              <a:p>
                <a:pPr algn="l">
                  <a:spcBef>
                    <a:spcPct val="50000"/>
                  </a:spcBef>
                </a:pPr>
                <a:r>
                  <a:rPr lang="bg-BG" sz="1800"/>
                  <a:t>29</a:t>
                </a:r>
                <a:endParaRPr lang="en-US" sz="1800"/>
              </a:p>
            </p:txBody>
          </p:sp>
          <p:sp>
            <p:nvSpPr>
              <p:cNvPr id="83995" name="Text Box 14"/>
              <p:cNvSpPr txBox="1">
                <a:spLocks noChangeArrowheads="1"/>
              </p:cNvSpPr>
              <p:nvPr/>
            </p:nvSpPr>
            <p:spPr bwMode="auto">
              <a:xfrm>
                <a:off x="857" y="2762"/>
                <a:ext cx="288" cy="231"/>
              </a:xfrm>
              <a:prstGeom prst="rect">
                <a:avLst/>
              </a:prstGeom>
              <a:noFill/>
              <a:ln w="9525">
                <a:noFill/>
                <a:miter lim="800000"/>
                <a:headEnd/>
                <a:tailEnd/>
              </a:ln>
            </p:spPr>
            <p:txBody>
              <a:bodyPr>
                <a:spAutoFit/>
              </a:bodyPr>
              <a:lstStyle/>
              <a:p>
                <a:pPr algn="l">
                  <a:spcBef>
                    <a:spcPct val="50000"/>
                  </a:spcBef>
                </a:pPr>
                <a:r>
                  <a:rPr lang="bg-BG" sz="1800"/>
                  <a:t>28</a:t>
                </a:r>
                <a:endParaRPr lang="en-US" sz="1800"/>
              </a:p>
            </p:txBody>
          </p:sp>
          <p:sp>
            <p:nvSpPr>
              <p:cNvPr id="83996" name="Text Box 15"/>
              <p:cNvSpPr txBox="1">
                <a:spLocks noChangeArrowheads="1"/>
              </p:cNvSpPr>
              <p:nvPr/>
            </p:nvSpPr>
            <p:spPr bwMode="auto">
              <a:xfrm>
                <a:off x="1089" y="2950"/>
                <a:ext cx="576" cy="231"/>
              </a:xfrm>
              <a:prstGeom prst="rect">
                <a:avLst/>
              </a:prstGeom>
              <a:noFill/>
              <a:ln w="9525">
                <a:noFill/>
                <a:miter lim="800000"/>
                <a:headEnd/>
                <a:tailEnd/>
              </a:ln>
            </p:spPr>
            <p:txBody>
              <a:bodyPr>
                <a:spAutoFit/>
              </a:bodyPr>
              <a:lstStyle/>
              <a:p>
                <a:pPr algn="l">
                  <a:spcBef>
                    <a:spcPct val="50000"/>
                  </a:spcBef>
                </a:pPr>
                <a:r>
                  <a:rPr lang="en-US" sz="1800"/>
                  <a:t>02</a:t>
                </a:r>
                <a:r>
                  <a:rPr lang="bg-BG" sz="1800"/>
                  <a:t>6819</a:t>
                </a:r>
                <a:endParaRPr lang="en-US" sz="1800"/>
              </a:p>
            </p:txBody>
          </p:sp>
          <p:sp>
            <p:nvSpPr>
              <p:cNvPr id="83997" name="Text Box 16"/>
              <p:cNvSpPr txBox="1">
                <a:spLocks noChangeArrowheads="1"/>
              </p:cNvSpPr>
              <p:nvPr/>
            </p:nvSpPr>
            <p:spPr bwMode="auto">
              <a:xfrm>
                <a:off x="1089" y="2762"/>
                <a:ext cx="576" cy="231"/>
              </a:xfrm>
              <a:prstGeom prst="rect">
                <a:avLst/>
              </a:prstGeom>
              <a:noFill/>
              <a:ln w="9525">
                <a:noFill/>
                <a:miter lim="800000"/>
                <a:headEnd/>
                <a:tailEnd/>
              </a:ln>
            </p:spPr>
            <p:txBody>
              <a:bodyPr>
                <a:spAutoFit/>
              </a:bodyPr>
              <a:lstStyle/>
              <a:p>
                <a:pPr algn="l">
                  <a:spcBef>
                    <a:spcPct val="50000"/>
                  </a:spcBef>
                </a:pPr>
                <a:r>
                  <a:rPr lang="en-US" sz="1800"/>
                  <a:t>02</a:t>
                </a:r>
                <a:r>
                  <a:rPr lang="bg-BG" sz="1800"/>
                  <a:t>6728</a:t>
                </a:r>
                <a:endParaRPr lang="en-US" sz="1800"/>
              </a:p>
            </p:txBody>
          </p:sp>
          <p:sp>
            <p:nvSpPr>
              <p:cNvPr id="83998" name="Text Box 17"/>
              <p:cNvSpPr txBox="1">
                <a:spLocks noChangeArrowheads="1"/>
              </p:cNvSpPr>
              <p:nvPr/>
            </p:nvSpPr>
            <p:spPr bwMode="auto">
              <a:xfrm>
                <a:off x="1211" y="2544"/>
                <a:ext cx="325" cy="231"/>
              </a:xfrm>
              <a:prstGeom prst="rect">
                <a:avLst/>
              </a:prstGeom>
              <a:noFill/>
              <a:ln w="9525">
                <a:noFill/>
                <a:miter lim="800000"/>
                <a:headEnd/>
                <a:tailEnd/>
              </a:ln>
            </p:spPr>
            <p:txBody>
              <a:bodyPr>
                <a:spAutoFit/>
              </a:bodyPr>
              <a:lstStyle/>
              <a:p>
                <a:pPr algn="l">
                  <a:spcBef>
                    <a:spcPct val="50000"/>
                  </a:spcBef>
                </a:pPr>
                <a:r>
                  <a:rPr lang="en-US" sz="1800"/>
                  <a:t>… </a:t>
                </a:r>
              </a:p>
            </p:txBody>
          </p:sp>
          <p:sp>
            <p:nvSpPr>
              <p:cNvPr id="83999" name="Text Box 18"/>
              <p:cNvSpPr txBox="1">
                <a:spLocks noChangeArrowheads="1"/>
              </p:cNvSpPr>
              <p:nvPr/>
            </p:nvSpPr>
            <p:spPr bwMode="auto">
              <a:xfrm>
                <a:off x="1207" y="2112"/>
                <a:ext cx="325" cy="231"/>
              </a:xfrm>
              <a:prstGeom prst="rect">
                <a:avLst/>
              </a:prstGeom>
              <a:noFill/>
              <a:ln w="9525">
                <a:noFill/>
                <a:miter lim="800000"/>
                <a:headEnd/>
                <a:tailEnd/>
              </a:ln>
            </p:spPr>
            <p:txBody>
              <a:bodyPr>
                <a:spAutoFit/>
              </a:bodyPr>
              <a:lstStyle/>
              <a:p>
                <a:pPr algn="l">
                  <a:spcBef>
                    <a:spcPct val="50000"/>
                  </a:spcBef>
                </a:pPr>
                <a:r>
                  <a:rPr lang="en-US" sz="1800"/>
                  <a:t>… </a:t>
                </a:r>
              </a:p>
            </p:txBody>
          </p:sp>
          <p:sp>
            <p:nvSpPr>
              <p:cNvPr id="84000" name="Text Box 19"/>
              <p:cNvSpPr txBox="1">
                <a:spLocks noChangeArrowheads="1"/>
              </p:cNvSpPr>
              <p:nvPr/>
            </p:nvSpPr>
            <p:spPr bwMode="auto">
              <a:xfrm>
                <a:off x="1603" y="2762"/>
                <a:ext cx="1488" cy="231"/>
              </a:xfrm>
              <a:prstGeom prst="rect">
                <a:avLst/>
              </a:prstGeom>
              <a:noFill/>
              <a:ln w="9525">
                <a:noFill/>
                <a:miter lim="800000"/>
                <a:headEnd/>
                <a:tailEnd/>
              </a:ln>
            </p:spPr>
            <p:txBody>
              <a:bodyPr>
                <a:spAutoFit/>
              </a:bodyPr>
              <a:lstStyle/>
              <a:p>
                <a:pPr algn="l">
                  <a:spcBef>
                    <a:spcPct val="50000"/>
                  </a:spcBef>
                </a:pPr>
                <a:r>
                  <a:rPr lang="bg-BG" sz="1800"/>
                  <a:t>Ана Илиева Илиева</a:t>
                </a:r>
                <a:endParaRPr lang="en-US" sz="1800"/>
              </a:p>
            </p:txBody>
          </p:sp>
          <p:sp>
            <p:nvSpPr>
              <p:cNvPr id="84001" name="Text Box 20"/>
              <p:cNvSpPr txBox="1">
                <a:spLocks noChangeArrowheads="1"/>
              </p:cNvSpPr>
              <p:nvPr/>
            </p:nvSpPr>
            <p:spPr bwMode="auto">
              <a:xfrm>
                <a:off x="1595" y="2939"/>
                <a:ext cx="1488" cy="231"/>
              </a:xfrm>
              <a:prstGeom prst="rect">
                <a:avLst/>
              </a:prstGeom>
              <a:noFill/>
              <a:ln w="9525">
                <a:noFill/>
                <a:miter lim="800000"/>
                <a:headEnd/>
                <a:tailEnd/>
              </a:ln>
            </p:spPr>
            <p:txBody>
              <a:bodyPr>
                <a:spAutoFit/>
              </a:bodyPr>
              <a:lstStyle/>
              <a:p>
                <a:pPr algn="l">
                  <a:spcBef>
                    <a:spcPct val="50000"/>
                  </a:spcBef>
                </a:pPr>
                <a:r>
                  <a:rPr lang="bg-BG" sz="1800"/>
                  <a:t>Петър Тодоров Пеев</a:t>
                </a:r>
                <a:endParaRPr lang="en-US" sz="1800"/>
              </a:p>
            </p:txBody>
          </p:sp>
          <p:sp>
            <p:nvSpPr>
              <p:cNvPr id="84002" name="Line 21"/>
              <p:cNvSpPr>
                <a:spLocks noChangeShapeType="1"/>
              </p:cNvSpPr>
              <p:nvPr/>
            </p:nvSpPr>
            <p:spPr bwMode="auto">
              <a:xfrm>
                <a:off x="1104" y="1920"/>
                <a:ext cx="0" cy="1248"/>
              </a:xfrm>
              <a:prstGeom prst="line">
                <a:avLst/>
              </a:prstGeom>
              <a:noFill/>
              <a:ln w="9525">
                <a:solidFill>
                  <a:schemeClr val="tx1"/>
                </a:solidFill>
                <a:round/>
                <a:headEnd/>
                <a:tailEnd/>
              </a:ln>
            </p:spPr>
            <p:txBody>
              <a:bodyPr wrap="none" anchor="ctr"/>
              <a:lstStyle/>
              <a:p>
                <a:endParaRPr lang="bg-BG"/>
              </a:p>
            </p:txBody>
          </p:sp>
          <p:sp>
            <p:nvSpPr>
              <p:cNvPr id="84003" name="Line 22"/>
              <p:cNvSpPr>
                <a:spLocks noChangeShapeType="1"/>
              </p:cNvSpPr>
              <p:nvPr/>
            </p:nvSpPr>
            <p:spPr bwMode="auto">
              <a:xfrm>
                <a:off x="864" y="2544"/>
                <a:ext cx="2208" cy="0"/>
              </a:xfrm>
              <a:prstGeom prst="line">
                <a:avLst/>
              </a:prstGeom>
              <a:noFill/>
              <a:ln w="9525">
                <a:solidFill>
                  <a:schemeClr val="tx1"/>
                </a:solidFill>
                <a:round/>
                <a:headEnd/>
                <a:tailEnd/>
              </a:ln>
            </p:spPr>
            <p:txBody>
              <a:bodyPr wrap="none" anchor="ctr"/>
              <a:lstStyle/>
              <a:p>
                <a:endParaRPr lang="bg-BG"/>
              </a:p>
            </p:txBody>
          </p:sp>
          <p:sp>
            <p:nvSpPr>
              <p:cNvPr id="84004" name="Line 23"/>
              <p:cNvSpPr>
                <a:spLocks noChangeShapeType="1"/>
              </p:cNvSpPr>
              <p:nvPr/>
            </p:nvSpPr>
            <p:spPr bwMode="auto">
              <a:xfrm>
                <a:off x="864" y="2784"/>
                <a:ext cx="2208" cy="0"/>
              </a:xfrm>
              <a:prstGeom prst="line">
                <a:avLst/>
              </a:prstGeom>
              <a:noFill/>
              <a:ln w="9525">
                <a:solidFill>
                  <a:schemeClr val="tx1"/>
                </a:solidFill>
                <a:round/>
                <a:headEnd/>
                <a:tailEnd/>
              </a:ln>
            </p:spPr>
            <p:txBody>
              <a:bodyPr wrap="none" anchor="ctr"/>
              <a:lstStyle/>
              <a:p>
                <a:endParaRPr lang="bg-BG"/>
              </a:p>
            </p:txBody>
          </p:sp>
          <p:sp>
            <p:nvSpPr>
              <p:cNvPr id="84005" name="Line 24"/>
              <p:cNvSpPr>
                <a:spLocks noChangeShapeType="1"/>
              </p:cNvSpPr>
              <p:nvPr/>
            </p:nvSpPr>
            <p:spPr bwMode="auto">
              <a:xfrm>
                <a:off x="864" y="2976"/>
                <a:ext cx="2208" cy="0"/>
              </a:xfrm>
              <a:prstGeom prst="line">
                <a:avLst/>
              </a:prstGeom>
              <a:noFill/>
              <a:ln w="9525">
                <a:solidFill>
                  <a:schemeClr val="tx1"/>
                </a:solidFill>
                <a:round/>
                <a:headEnd/>
                <a:tailEnd/>
              </a:ln>
            </p:spPr>
            <p:txBody>
              <a:bodyPr wrap="none" anchor="ctr"/>
              <a:lstStyle/>
              <a:p>
                <a:endParaRPr lang="bg-BG"/>
              </a:p>
            </p:txBody>
          </p:sp>
          <p:sp>
            <p:nvSpPr>
              <p:cNvPr id="84006" name="Text Box 25"/>
              <p:cNvSpPr txBox="1">
                <a:spLocks noChangeArrowheads="1"/>
              </p:cNvSpPr>
              <p:nvPr/>
            </p:nvSpPr>
            <p:spPr bwMode="auto">
              <a:xfrm>
                <a:off x="849" y="2326"/>
                <a:ext cx="288" cy="231"/>
              </a:xfrm>
              <a:prstGeom prst="rect">
                <a:avLst/>
              </a:prstGeom>
              <a:noFill/>
              <a:ln w="9525">
                <a:noFill/>
                <a:miter lim="800000"/>
                <a:headEnd/>
                <a:tailEnd/>
              </a:ln>
            </p:spPr>
            <p:txBody>
              <a:bodyPr>
                <a:spAutoFit/>
              </a:bodyPr>
              <a:lstStyle/>
              <a:p>
                <a:pPr algn="l">
                  <a:spcBef>
                    <a:spcPct val="50000"/>
                  </a:spcBef>
                </a:pPr>
                <a:r>
                  <a:rPr lang="bg-BG" sz="1800"/>
                  <a:t>15</a:t>
                </a:r>
                <a:endParaRPr lang="en-US" sz="1800"/>
              </a:p>
            </p:txBody>
          </p:sp>
          <p:sp>
            <p:nvSpPr>
              <p:cNvPr id="84007" name="Text Box 26"/>
              <p:cNvSpPr txBox="1">
                <a:spLocks noChangeArrowheads="1"/>
              </p:cNvSpPr>
              <p:nvPr/>
            </p:nvSpPr>
            <p:spPr bwMode="auto">
              <a:xfrm>
                <a:off x="1093" y="2341"/>
                <a:ext cx="576" cy="231"/>
              </a:xfrm>
              <a:prstGeom prst="rect">
                <a:avLst/>
              </a:prstGeom>
              <a:noFill/>
              <a:ln w="9525">
                <a:noFill/>
                <a:miter lim="800000"/>
                <a:headEnd/>
                <a:tailEnd/>
              </a:ln>
            </p:spPr>
            <p:txBody>
              <a:bodyPr>
                <a:spAutoFit/>
              </a:bodyPr>
              <a:lstStyle/>
              <a:p>
                <a:pPr algn="l">
                  <a:spcBef>
                    <a:spcPct val="50000"/>
                  </a:spcBef>
                </a:pPr>
                <a:r>
                  <a:rPr lang="en-US" sz="1800"/>
                  <a:t>02</a:t>
                </a:r>
                <a:r>
                  <a:rPr lang="bg-BG" sz="1800"/>
                  <a:t>6775</a:t>
                </a:r>
                <a:endParaRPr lang="en-US" sz="1800"/>
              </a:p>
            </p:txBody>
          </p:sp>
          <p:sp>
            <p:nvSpPr>
              <p:cNvPr id="84008" name="Text Box 27"/>
              <p:cNvSpPr txBox="1">
                <a:spLocks noChangeArrowheads="1"/>
              </p:cNvSpPr>
              <p:nvPr/>
            </p:nvSpPr>
            <p:spPr bwMode="auto">
              <a:xfrm>
                <a:off x="1577" y="2330"/>
                <a:ext cx="1488" cy="231"/>
              </a:xfrm>
              <a:prstGeom prst="rect">
                <a:avLst/>
              </a:prstGeom>
              <a:noFill/>
              <a:ln w="9525">
                <a:noFill/>
                <a:miter lim="800000"/>
                <a:headEnd/>
                <a:tailEnd/>
              </a:ln>
            </p:spPr>
            <p:txBody>
              <a:bodyPr>
                <a:spAutoFit/>
              </a:bodyPr>
              <a:lstStyle/>
              <a:p>
                <a:pPr algn="l">
                  <a:spcBef>
                    <a:spcPct val="50000"/>
                  </a:spcBef>
                </a:pPr>
                <a:r>
                  <a:rPr lang="bg-BG" sz="1800"/>
                  <a:t>Вяра Янкова  Павлова</a:t>
                </a:r>
                <a:endParaRPr lang="en-US" sz="1800"/>
              </a:p>
            </p:txBody>
          </p:sp>
        </p:grpSp>
        <p:sp>
          <p:nvSpPr>
            <p:cNvPr id="83972" name="Text Box 28"/>
            <p:cNvSpPr txBox="1">
              <a:spLocks noChangeArrowheads="1"/>
            </p:cNvSpPr>
            <p:nvPr/>
          </p:nvSpPr>
          <p:spPr bwMode="auto">
            <a:xfrm>
              <a:off x="381000" y="3048000"/>
              <a:ext cx="1512888" cy="519113"/>
            </a:xfrm>
            <a:prstGeom prst="rect">
              <a:avLst/>
            </a:prstGeom>
            <a:noFill/>
            <a:ln w="9525">
              <a:noFill/>
              <a:miter lim="800000"/>
              <a:headEnd/>
              <a:tailEnd/>
            </a:ln>
          </p:spPr>
          <p:txBody>
            <a:bodyPr>
              <a:spAutoFit/>
            </a:bodyPr>
            <a:lstStyle/>
            <a:p>
              <a:pPr algn="l">
                <a:spcBef>
                  <a:spcPct val="50000"/>
                </a:spcBef>
              </a:pPr>
              <a:r>
                <a:rPr lang="bg-BG" sz="1800"/>
                <a:t>026760 % 30</a:t>
              </a:r>
              <a:br>
                <a:rPr lang="bg-BG" sz="1800"/>
              </a:br>
              <a:endParaRPr lang="en-US" sz="1000"/>
            </a:p>
          </p:txBody>
        </p:sp>
        <p:sp>
          <p:nvSpPr>
            <p:cNvPr id="83973" name="Line 29"/>
            <p:cNvSpPr>
              <a:spLocks noChangeShapeType="1"/>
            </p:cNvSpPr>
            <p:nvPr/>
          </p:nvSpPr>
          <p:spPr bwMode="auto">
            <a:xfrm>
              <a:off x="1752600" y="3200400"/>
              <a:ext cx="381000" cy="0"/>
            </a:xfrm>
            <a:prstGeom prst="line">
              <a:avLst/>
            </a:prstGeom>
            <a:noFill/>
            <a:ln w="9525">
              <a:solidFill>
                <a:schemeClr val="tx1"/>
              </a:solidFill>
              <a:round/>
              <a:headEnd/>
              <a:tailEnd type="triangle" w="med" len="med"/>
            </a:ln>
          </p:spPr>
          <p:txBody>
            <a:bodyPr wrap="none" anchor="ctr"/>
            <a:lstStyle/>
            <a:p>
              <a:endParaRPr lang="bg-BG"/>
            </a:p>
          </p:txBody>
        </p:sp>
        <p:sp>
          <p:nvSpPr>
            <p:cNvPr id="83974" name="Text Box 30"/>
            <p:cNvSpPr txBox="1">
              <a:spLocks noChangeArrowheads="1"/>
            </p:cNvSpPr>
            <p:nvPr/>
          </p:nvSpPr>
          <p:spPr bwMode="auto">
            <a:xfrm>
              <a:off x="369888" y="3692525"/>
              <a:ext cx="1512887" cy="519113"/>
            </a:xfrm>
            <a:prstGeom prst="rect">
              <a:avLst/>
            </a:prstGeom>
            <a:noFill/>
            <a:ln w="9525">
              <a:noFill/>
              <a:miter lim="800000"/>
              <a:headEnd/>
              <a:tailEnd/>
            </a:ln>
          </p:spPr>
          <p:txBody>
            <a:bodyPr>
              <a:spAutoFit/>
            </a:bodyPr>
            <a:lstStyle/>
            <a:p>
              <a:pPr algn="l">
                <a:spcBef>
                  <a:spcPct val="50000"/>
                </a:spcBef>
              </a:pPr>
              <a:r>
                <a:rPr lang="bg-BG" sz="1800"/>
                <a:t>026775 % 30</a:t>
              </a:r>
              <a:br>
                <a:rPr lang="bg-BG" sz="1800"/>
              </a:br>
              <a:endParaRPr lang="en-US" sz="1000"/>
            </a:p>
          </p:txBody>
        </p:sp>
        <p:sp>
          <p:nvSpPr>
            <p:cNvPr id="83975" name="Line 31"/>
            <p:cNvSpPr>
              <a:spLocks noChangeShapeType="1"/>
            </p:cNvSpPr>
            <p:nvPr/>
          </p:nvSpPr>
          <p:spPr bwMode="auto">
            <a:xfrm>
              <a:off x="1758950" y="3886200"/>
              <a:ext cx="381000" cy="0"/>
            </a:xfrm>
            <a:prstGeom prst="line">
              <a:avLst/>
            </a:prstGeom>
            <a:noFill/>
            <a:ln w="9525">
              <a:solidFill>
                <a:schemeClr val="tx1"/>
              </a:solidFill>
              <a:round/>
              <a:headEnd/>
              <a:tailEnd type="triangle" w="med" len="med"/>
            </a:ln>
          </p:spPr>
          <p:txBody>
            <a:bodyPr wrap="none" anchor="ctr"/>
            <a:lstStyle/>
            <a:p>
              <a:endParaRPr lang="bg-BG"/>
            </a:p>
          </p:txBody>
        </p:sp>
        <p:sp>
          <p:nvSpPr>
            <p:cNvPr id="83976" name="Text Box 32"/>
            <p:cNvSpPr txBox="1">
              <a:spLocks noChangeArrowheads="1"/>
            </p:cNvSpPr>
            <p:nvPr/>
          </p:nvSpPr>
          <p:spPr bwMode="auto">
            <a:xfrm>
              <a:off x="376238" y="4406900"/>
              <a:ext cx="1512887" cy="519113"/>
            </a:xfrm>
            <a:prstGeom prst="rect">
              <a:avLst/>
            </a:prstGeom>
            <a:noFill/>
            <a:ln w="9525">
              <a:noFill/>
              <a:miter lim="800000"/>
              <a:headEnd/>
              <a:tailEnd/>
            </a:ln>
          </p:spPr>
          <p:txBody>
            <a:bodyPr>
              <a:spAutoFit/>
            </a:bodyPr>
            <a:lstStyle/>
            <a:p>
              <a:pPr algn="l">
                <a:spcBef>
                  <a:spcPct val="50000"/>
                </a:spcBef>
              </a:pPr>
              <a:r>
                <a:rPr lang="bg-BG" sz="1800"/>
                <a:t>026728 % 30</a:t>
              </a:r>
              <a:br>
                <a:rPr lang="bg-BG" sz="1800"/>
              </a:br>
              <a:endParaRPr lang="en-US" sz="1000"/>
            </a:p>
          </p:txBody>
        </p:sp>
        <p:sp>
          <p:nvSpPr>
            <p:cNvPr id="83977" name="Text Box 33"/>
            <p:cNvSpPr txBox="1">
              <a:spLocks noChangeArrowheads="1"/>
            </p:cNvSpPr>
            <p:nvPr/>
          </p:nvSpPr>
          <p:spPr bwMode="auto">
            <a:xfrm>
              <a:off x="381000" y="4706938"/>
              <a:ext cx="1512888" cy="519112"/>
            </a:xfrm>
            <a:prstGeom prst="rect">
              <a:avLst/>
            </a:prstGeom>
            <a:noFill/>
            <a:ln w="9525">
              <a:noFill/>
              <a:miter lim="800000"/>
              <a:headEnd/>
              <a:tailEnd/>
            </a:ln>
          </p:spPr>
          <p:txBody>
            <a:bodyPr>
              <a:spAutoFit/>
            </a:bodyPr>
            <a:lstStyle/>
            <a:p>
              <a:pPr algn="l">
                <a:spcBef>
                  <a:spcPct val="50000"/>
                </a:spcBef>
              </a:pPr>
              <a:r>
                <a:rPr lang="bg-BG" sz="1800"/>
                <a:t>026819 % 30</a:t>
              </a:r>
              <a:br>
                <a:rPr lang="bg-BG" sz="1800"/>
              </a:br>
              <a:endParaRPr lang="en-US" sz="1000"/>
            </a:p>
          </p:txBody>
        </p:sp>
        <p:sp>
          <p:nvSpPr>
            <p:cNvPr id="83978" name="Line 34"/>
            <p:cNvSpPr>
              <a:spLocks noChangeShapeType="1"/>
            </p:cNvSpPr>
            <p:nvPr/>
          </p:nvSpPr>
          <p:spPr bwMode="auto">
            <a:xfrm>
              <a:off x="1752600" y="4595813"/>
              <a:ext cx="381000" cy="0"/>
            </a:xfrm>
            <a:prstGeom prst="line">
              <a:avLst/>
            </a:prstGeom>
            <a:noFill/>
            <a:ln w="9525">
              <a:solidFill>
                <a:schemeClr val="tx1"/>
              </a:solidFill>
              <a:round/>
              <a:headEnd/>
              <a:tailEnd type="triangle" w="med" len="med"/>
            </a:ln>
          </p:spPr>
          <p:txBody>
            <a:bodyPr wrap="none" anchor="ctr"/>
            <a:lstStyle/>
            <a:p>
              <a:endParaRPr lang="bg-BG"/>
            </a:p>
          </p:txBody>
        </p:sp>
        <p:sp>
          <p:nvSpPr>
            <p:cNvPr id="83979" name="Line 35"/>
            <p:cNvSpPr>
              <a:spLocks noChangeShapeType="1"/>
            </p:cNvSpPr>
            <p:nvPr/>
          </p:nvSpPr>
          <p:spPr bwMode="auto">
            <a:xfrm>
              <a:off x="1752600" y="4876800"/>
              <a:ext cx="381000" cy="0"/>
            </a:xfrm>
            <a:prstGeom prst="line">
              <a:avLst/>
            </a:prstGeom>
            <a:noFill/>
            <a:ln w="9525">
              <a:solidFill>
                <a:schemeClr val="tx1"/>
              </a:solidFill>
              <a:round/>
              <a:headEnd/>
              <a:tailEnd type="triangle" w="med" len="med"/>
            </a:ln>
          </p:spPr>
          <p:txBody>
            <a:bodyPr wrap="none" anchor="ctr"/>
            <a:lstStyle/>
            <a:p>
              <a:endParaRPr lang="bg-BG"/>
            </a:p>
          </p:txBody>
        </p:sp>
        <p:sp>
          <p:nvSpPr>
            <p:cNvPr id="83980" name="Text Box 36"/>
            <p:cNvSpPr txBox="1">
              <a:spLocks noChangeArrowheads="1"/>
            </p:cNvSpPr>
            <p:nvPr/>
          </p:nvSpPr>
          <p:spPr bwMode="auto">
            <a:xfrm>
              <a:off x="533400" y="3248025"/>
              <a:ext cx="1066800" cy="457200"/>
            </a:xfrm>
            <a:prstGeom prst="rect">
              <a:avLst/>
            </a:prstGeom>
            <a:noFill/>
            <a:ln w="9525">
              <a:noFill/>
              <a:miter lim="800000"/>
              <a:headEnd/>
              <a:tailEnd/>
            </a:ln>
          </p:spPr>
          <p:txBody>
            <a:bodyPr>
              <a:spAutoFit/>
            </a:bodyPr>
            <a:lstStyle/>
            <a:p>
              <a:pPr algn="l">
                <a:spcBef>
                  <a:spcPct val="50000"/>
                </a:spcBef>
              </a:pPr>
              <a:r>
                <a:rPr lang="en-US"/>
                <a:t>.</a:t>
              </a:r>
              <a:r>
                <a:rPr lang="bg-BG"/>
                <a:t>..</a:t>
              </a:r>
              <a:endParaRPr lang="en-US"/>
            </a:p>
          </p:txBody>
        </p:sp>
        <p:sp>
          <p:nvSpPr>
            <p:cNvPr id="83981" name="Text Box 37"/>
            <p:cNvSpPr txBox="1">
              <a:spLocks noChangeArrowheads="1"/>
            </p:cNvSpPr>
            <p:nvPr/>
          </p:nvSpPr>
          <p:spPr bwMode="auto">
            <a:xfrm>
              <a:off x="533400" y="3962400"/>
              <a:ext cx="1066800" cy="457200"/>
            </a:xfrm>
            <a:prstGeom prst="rect">
              <a:avLst/>
            </a:prstGeom>
            <a:noFill/>
            <a:ln w="9525">
              <a:noFill/>
              <a:miter lim="800000"/>
              <a:headEnd/>
              <a:tailEnd/>
            </a:ln>
          </p:spPr>
          <p:txBody>
            <a:bodyPr>
              <a:spAutoFit/>
            </a:bodyPr>
            <a:lstStyle/>
            <a:p>
              <a:pPr algn="l">
                <a:spcBef>
                  <a:spcPct val="50000"/>
                </a:spcBef>
              </a:pPr>
              <a:r>
                <a:rPr lang="en-US"/>
                <a:t>.</a:t>
              </a:r>
              <a:r>
                <a:rPr lang="bg-BG"/>
                <a:t>..</a:t>
              </a:r>
              <a:endParaRPr lang="en-US"/>
            </a:p>
          </p:txBody>
        </p:sp>
        <p:sp>
          <p:nvSpPr>
            <p:cNvPr id="83982" name="Text Box 38"/>
            <p:cNvSpPr txBox="1">
              <a:spLocks noChangeArrowheads="1"/>
            </p:cNvSpPr>
            <p:nvPr/>
          </p:nvSpPr>
          <p:spPr bwMode="auto">
            <a:xfrm>
              <a:off x="6019800" y="3581400"/>
              <a:ext cx="1905000" cy="519113"/>
            </a:xfrm>
            <a:prstGeom prst="rect">
              <a:avLst/>
            </a:prstGeom>
            <a:noFill/>
            <a:ln w="9525">
              <a:noFill/>
              <a:miter lim="800000"/>
              <a:headEnd/>
              <a:tailEnd/>
            </a:ln>
          </p:spPr>
          <p:txBody>
            <a:bodyPr>
              <a:spAutoFit/>
            </a:bodyPr>
            <a:lstStyle/>
            <a:p>
              <a:pPr algn="l">
                <a:spcBef>
                  <a:spcPct val="50000"/>
                </a:spcBef>
              </a:pPr>
              <a:r>
                <a:rPr lang="bg-BG" sz="1800"/>
                <a:t>026733 % 30 = 3</a:t>
              </a:r>
              <a:br>
                <a:rPr lang="bg-BG" sz="1800"/>
              </a:br>
              <a:endParaRPr lang="en-US" sz="1000"/>
            </a:p>
          </p:txBody>
        </p:sp>
        <p:sp>
          <p:nvSpPr>
            <p:cNvPr id="83983" name="Text Box 39"/>
            <p:cNvSpPr txBox="1">
              <a:spLocks noChangeArrowheads="1"/>
            </p:cNvSpPr>
            <p:nvPr/>
          </p:nvSpPr>
          <p:spPr bwMode="auto">
            <a:xfrm>
              <a:off x="6015038" y="4000500"/>
              <a:ext cx="1951037" cy="519113"/>
            </a:xfrm>
            <a:prstGeom prst="rect">
              <a:avLst/>
            </a:prstGeom>
            <a:noFill/>
            <a:ln w="9525">
              <a:noFill/>
              <a:miter lim="800000"/>
              <a:headEnd/>
              <a:tailEnd/>
            </a:ln>
          </p:spPr>
          <p:txBody>
            <a:bodyPr>
              <a:spAutoFit/>
            </a:bodyPr>
            <a:lstStyle/>
            <a:p>
              <a:pPr algn="l">
                <a:spcBef>
                  <a:spcPct val="50000"/>
                </a:spcBef>
              </a:pPr>
              <a:r>
                <a:rPr lang="bg-BG" sz="1800"/>
                <a:t>026793 % 30 = 3</a:t>
              </a:r>
              <a:br>
                <a:rPr lang="bg-BG" sz="1800"/>
              </a:br>
              <a:endParaRPr lang="en-US" sz="1000"/>
            </a:p>
          </p:txBody>
        </p:sp>
      </p:grpSp>
      <p:sp>
        <p:nvSpPr>
          <p:cNvPr id="42" name="Slide Number Placeholder 41"/>
          <p:cNvSpPr>
            <a:spLocks noGrp="1"/>
          </p:cNvSpPr>
          <p:nvPr>
            <p:ph type="sldNum" sz="quarter" idx="12"/>
          </p:nvPr>
        </p:nvSpPr>
        <p:spPr/>
        <p:txBody>
          <a:bodyPr/>
          <a:lstStyle/>
          <a:p>
            <a:pPr>
              <a:defRPr/>
            </a:pPr>
            <a:fld id="{312D5531-C979-4C7E-9AC0-8F8EB91782FD}" type="slidenum">
              <a:rPr lang="en-US"/>
              <a:pPr>
                <a:defRPr/>
              </a:pPr>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ChangeArrowheads="1"/>
          </p:cNvSpPr>
          <p:nvPr/>
        </p:nvSpPr>
        <p:spPr bwMode="auto">
          <a:xfrm>
            <a:off x="122238" y="158750"/>
            <a:ext cx="9021762" cy="6629400"/>
          </a:xfrm>
          <a:prstGeom prst="rect">
            <a:avLst/>
          </a:prstGeom>
          <a:noFill/>
          <a:ln w="9525">
            <a:noFill/>
            <a:miter lim="800000"/>
            <a:headEnd/>
            <a:tailEnd/>
          </a:ln>
        </p:spPr>
        <p:txBody>
          <a:bodyPr anchor="ctr"/>
          <a:lstStyle/>
          <a:p>
            <a:pPr algn="l"/>
            <a:r>
              <a:rPr lang="bg-BG" sz="2000"/>
              <a:t>	От тук следва, че е изключително важен начина, по който се избира хеш-функция. Хеш-функцията трябва да минимизира броя на възможните колизии и да разпределя елементите равномерно в таблицата. Ако таблицата съществено по-голяма от реалния брой елементи, това ще намали вероятността от възникване на колизии, но използването й ще бъде неефективно от гледна точка на заетата памет.</a:t>
            </a:r>
            <a:br>
              <a:rPr lang="bg-BG" sz="2000"/>
            </a:br>
            <a:r>
              <a:rPr lang="bg-BG" sz="800"/>
              <a:t/>
            </a:r>
            <a:br>
              <a:rPr lang="bg-BG" sz="800"/>
            </a:br>
            <a:r>
              <a:rPr lang="bg-BG" sz="2000"/>
              <a:t>	</a:t>
            </a:r>
            <a:r>
              <a:rPr lang="bg-BG" sz="2000" i="1" u="sng"/>
              <a:t>Класически хеш-функции</a:t>
            </a:r>
            <a:r>
              <a:rPr lang="bg-BG" sz="2000"/>
              <a:t/>
            </a:r>
            <a:br>
              <a:rPr lang="bg-BG" sz="2000"/>
            </a:br>
            <a:r>
              <a:rPr lang="bg-BG" sz="800"/>
              <a:t/>
            </a:r>
            <a:br>
              <a:rPr lang="bg-BG" sz="800"/>
            </a:br>
            <a:r>
              <a:rPr lang="bg-BG" sz="2000"/>
              <a:t>	Дали даден избор на хеш-функция е удачен се определя от две неща: тя  не трябва да отнема много изчислително време и трябва да разпределя елементите колкото може по-равномерно в различните адреси на таблицата. Нека ключовете са цели числа. Ако не са , ще приемем вече споменатото правило: за ключове-символни низове ще сумираме </a:t>
            </a:r>
            <a:r>
              <a:rPr lang="en-US" sz="2000"/>
              <a:t>ASCII</a:t>
            </a:r>
            <a:r>
              <a:rPr lang="bg-BG" sz="2000"/>
              <a:t>-кодовете на влизащите в тях символи. </a:t>
            </a:r>
            <a:br>
              <a:rPr lang="bg-BG" sz="2000"/>
            </a:br>
            <a:r>
              <a:rPr lang="bg-BG" sz="2000"/>
              <a:t>	Нека е дадена хеш-таблица с капацитет </a:t>
            </a:r>
            <a:r>
              <a:rPr lang="en-US" sz="2000" b="1" i="1"/>
              <a:t>n</a:t>
            </a:r>
            <a:r>
              <a:rPr lang="en-US" sz="2000"/>
              <a:t> </a:t>
            </a:r>
            <a:r>
              <a:rPr lang="bg-BG" sz="2000"/>
              <a:t>и елемент с ключ</a:t>
            </a:r>
            <a:r>
              <a:rPr lang="en-US" sz="2000"/>
              <a:t> </a:t>
            </a:r>
            <a:r>
              <a:rPr lang="en-US" sz="2000" b="1" i="1"/>
              <a:t>k</a:t>
            </a:r>
            <a:r>
              <a:rPr lang="en-US" sz="2000"/>
              <a:t>.</a:t>
            </a:r>
            <a:r>
              <a:rPr lang="bg-BG" sz="2000"/>
              <a:t> Най-често срещаните в практиката хеш-функции (върху целочислен ключ) са следните:</a:t>
            </a:r>
            <a:br>
              <a:rPr lang="bg-BG" sz="2000"/>
            </a:br>
            <a:r>
              <a:rPr lang="bg-BG" sz="2000"/>
              <a:t>- </a:t>
            </a:r>
            <a:r>
              <a:rPr lang="bg-BG" sz="2000" i="1"/>
              <a:t>Остатък при деление с размера на таблицата</a:t>
            </a:r>
            <a:r>
              <a:rPr lang="bg-BG" sz="2000"/>
              <a:t/>
            </a:r>
            <a:br>
              <a:rPr lang="bg-BG" sz="2000"/>
            </a:br>
            <a:r>
              <a:rPr lang="bg-BG" sz="2000"/>
              <a:t>Това е прост и доста ефективен начин за хеширане: ключът  </a:t>
            </a:r>
            <a:r>
              <a:rPr lang="en-US" sz="2000"/>
              <a:t> </a:t>
            </a:r>
            <a:r>
              <a:rPr lang="en-US" sz="2000" b="1" i="1"/>
              <a:t>k</a:t>
            </a:r>
            <a:r>
              <a:rPr lang="en-US" sz="2000"/>
              <a:t> </a:t>
            </a:r>
            <a:r>
              <a:rPr lang="bg-BG" sz="2000" b="1" i="1"/>
              <a:t> </a:t>
            </a:r>
            <a:r>
              <a:rPr lang="bg-BG" sz="2000"/>
              <a:t>се разделя целочислено на </a:t>
            </a:r>
            <a:r>
              <a:rPr lang="en-US" sz="2000" b="1" i="1"/>
              <a:t>n </a:t>
            </a:r>
            <a:r>
              <a:rPr lang="bg-BG" sz="2000"/>
              <a:t> и се взема остатъкът от делението. При този подход не е удачно </a:t>
            </a:r>
            <a:r>
              <a:rPr lang="en-US" sz="2000" b="1" i="1"/>
              <a:t>n</a:t>
            </a:r>
            <a:r>
              <a:rPr lang="bg-BG" sz="2000"/>
              <a:t> да бъде степен на 2, т. к. в този случай хеш-кодът се определя от младшите битове на </a:t>
            </a:r>
            <a:r>
              <a:rPr lang="en-US" sz="2000" b="1" i="1"/>
              <a:t>k</a:t>
            </a:r>
            <a:r>
              <a:rPr lang="bg-BG" sz="2000"/>
              <a:t>. Добре е хеш-кода да зависи от всички битове на ключа. За тази цел за  </a:t>
            </a:r>
            <a:r>
              <a:rPr lang="en-US" sz="2000" b="1" i="1"/>
              <a:t>n</a:t>
            </a:r>
            <a:r>
              <a:rPr lang="bg-BG" sz="2000"/>
              <a:t>  най-често се избира просто число. </a:t>
            </a:r>
            <a:endParaRPr lang="en-US" sz="2000"/>
          </a:p>
        </p:txBody>
      </p:sp>
      <p:sp>
        <p:nvSpPr>
          <p:cNvPr id="5" name="Slide Number Placeholder 4"/>
          <p:cNvSpPr>
            <a:spLocks noGrp="1"/>
          </p:cNvSpPr>
          <p:nvPr>
            <p:ph type="sldNum" sz="quarter" idx="12"/>
          </p:nvPr>
        </p:nvSpPr>
        <p:spPr/>
        <p:txBody>
          <a:bodyPr/>
          <a:lstStyle/>
          <a:p>
            <a:pPr>
              <a:defRPr/>
            </a:pPr>
            <a:fld id="{7BEF9A0E-3E05-4927-B653-39F84A259331}" type="slidenum">
              <a:rPr lang="en-US"/>
              <a:pPr>
                <a:defRPr/>
              </a:pPr>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ChangeArrowheads="1"/>
          </p:cNvSpPr>
          <p:nvPr/>
        </p:nvSpPr>
        <p:spPr bwMode="auto">
          <a:xfrm>
            <a:off x="467420" y="260648"/>
            <a:ext cx="8686800" cy="6400800"/>
          </a:xfrm>
          <a:prstGeom prst="rect">
            <a:avLst/>
          </a:prstGeom>
          <a:noFill/>
          <a:ln w="9525">
            <a:noFill/>
            <a:miter lim="800000"/>
            <a:headEnd/>
            <a:tailEnd/>
          </a:ln>
        </p:spPr>
        <p:txBody>
          <a:bodyPr anchor="ctr"/>
          <a:lstStyle/>
          <a:p>
            <a:pPr algn="l"/>
            <a:r>
              <a:rPr lang="en-US" sz="2000" i="1"/>
              <a:t>-</a:t>
            </a:r>
            <a:r>
              <a:rPr lang="bg-BG" sz="2000" i="1"/>
              <a:t> Мултипликативно хеширане</a:t>
            </a:r>
            <a:br>
              <a:rPr lang="bg-BG" sz="2000" i="1"/>
            </a:br>
            <a:r>
              <a:rPr lang="bg-BG" sz="2000"/>
              <a:t>Това е друг широко разпространен начин. Избира се реална константа </a:t>
            </a:r>
            <a:r>
              <a:rPr lang="en-US" sz="2000" b="1" i="1"/>
              <a:t>b</a:t>
            </a:r>
            <a:r>
              <a:rPr lang="bg-BG" sz="2000"/>
              <a:t>:</a:t>
            </a:r>
            <a:br>
              <a:rPr lang="bg-BG" sz="2000"/>
            </a:br>
            <a:r>
              <a:rPr lang="bg-BG" sz="2000"/>
              <a:t>				0 &lt; </a:t>
            </a:r>
            <a:r>
              <a:rPr lang="en-US" sz="2000" b="1" i="1"/>
              <a:t>b</a:t>
            </a:r>
            <a:r>
              <a:rPr lang="bg-BG" sz="2000"/>
              <a:t> &lt;1</a:t>
            </a:r>
            <a:br>
              <a:rPr lang="bg-BG" sz="2000"/>
            </a:br>
            <a:r>
              <a:rPr lang="bg-BG" sz="2000"/>
              <a:t>За даден ключ  </a:t>
            </a:r>
            <a:r>
              <a:rPr lang="en-US" sz="2000" b="1" i="1"/>
              <a:t>k  </a:t>
            </a:r>
            <a:r>
              <a:rPr lang="bg-BG" sz="2000"/>
              <a:t>хеш-функцията има вид:</a:t>
            </a:r>
            <a:br>
              <a:rPr lang="bg-BG" sz="2000"/>
            </a:br>
            <a:r>
              <a:rPr lang="bg-BG" sz="2000"/>
              <a:t>	</a:t>
            </a:r>
            <a:r>
              <a:rPr lang="en-US" sz="2000"/>
              <a:t>		      </a:t>
            </a:r>
            <a:r>
              <a:rPr lang="en-US" sz="2000" b="1" i="1"/>
              <a:t>H(k)</a:t>
            </a:r>
            <a:r>
              <a:rPr lang="en-US" sz="2000"/>
              <a:t> = [</a:t>
            </a:r>
            <a:r>
              <a:rPr lang="en-US" sz="2000" b="1" i="1"/>
              <a:t>n</a:t>
            </a:r>
            <a:r>
              <a:rPr lang="en-US" sz="2000"/>
              <a:t> * {</a:t>
            </a:r>
            <a:r>
              <a:rPr lang="en-US" sz="2000" b="1" i="1"/>
              <a:t>k </a:t>
            </a:r>
            <a:r>
              <a:rPr lang="en-US" sz="2000"/>
              <a:t>* </a:t>
            </a:r>
            <a:r>
              <a:rPr lang="en-US" sz="2000" b="1" i="1"/>
              <a:t>b</a:t>
            </a:r>
            <a:r>
              <a:rPr lang="en-US" sz="2000"/>
              <a:t>}]</a:t>
            </a:r>
            <a:br>
              <a:rPr lang="en-US" sz="2000"/>
            </a:br>
            <a:r>
              <a:rPr lang="bg-BG" sz="2000"/>
              <a:t>Тук </a:t>
            </a:r>
            <a:r>
              <a:rPr lang="en-US" sz="2000"/>
              <a:t>{</a:t>
            </a:r>
            <a:r>
              <a:rPr lang="en-US" sz="2000" b="1" i="1"/>
              <a:t>k </a:t>
            </a:r>
            <a:r>
              <a:rPr lang="en-US" sz="2000"/>
              <a:t>* </a:t>
            </a:r>
            <a:r>
              <a:rPr lang="en-US" sz="2000" b="1" i="1"/>
              <a:t>b</a:t>
            </a:r>
            <a:r>
              <a:rPr lang="en-US" sz="2000"/>
              <a:t>}</a:t>
            </a:r>
            <a:r>
              <a:rPr lang="bg-BG" sz="2000"/>
              <a:t> означава дробната част на реалното число, т. е. </a:t>
            </a:r>
            <a:r>
              <a:rPr lang="en-US" sz="2000" b="1" i="1"/>
              <a:t>k </a:t>
            </a:r>
            <a:r>
              <a:rPr lang="en-US" sz="2000"/>
              <a:t>* </a:t>
            </a:r>
            <a:r>
              <a:rPr lang="en-US" sz="2000" b="1" i="1"/>
              <a:t>b</a:t>
            </a:r>
            <a:r>
              <a:rPr lang="bg-BG" sz="2000"/>
              <a:t> - </a:t>
            </a:r>
            <a:r>
              <a:rPr lang="en-US" sz="2000"/>
              <a:t>[</a:t>
            </a:r>
            <a:r>
              <a:rPr lang="en-US" sz="2000" b="1" i="1"/>
              <a:t>k </a:t>
            </a:r>
            <a:r>
              <a:rPr lang="en-US" sz="2000"/>
              <a:t>* </a:t>
            </a:r>
            <a:r>
              <a:rPr lang="en-US" sz="2000" b="1" i="1"/>
              <a:t>b</a:t>
            </a:r>
            <a:r>
              <a:rPr lang="en-US" sz="2000"/>
              <a:t>].</a:t>
            </a:r>
            <a:r>
              <a:rPr lang="bg-BG" sz="2000"/>
              <a:t/>
            </a:r>
            <a:br>
              <a:rPr lang="bg-BG" sz="2000"/>
            </a:br>
            <a:r>
              <a:rPr lang="bg-BG" sz="1000"/>
              <a:t/>
            </a:r>
            <a:br>
              <a:rPr lang="bg-BG" sz="1000"/>
            </a:br>
            <a:r>
              <a:rPr lang="bg-BG" sz="2000"/>
              <a:t>	Въпреки, че изборът  на константата  </a:t>
            </a:r>
            <a:r>
              <a:rPr lang="en-US" sz="2000" b="1" i="1"/>
              <a:t>b</a:t>
            </a:r>
            <a:r>
              <a:rPr lang="bg-BG" sz="2000"/>
              <a:t>  (при ограничението 0 &lt; </a:t>
            </a:r>
            <a:r>
              <a:rPr lang="en-US" sz="2000" b="1" i="1"/>
              <a:t>b</a:t>
            </a:r>
            <a:r>
              <a:rPr lang="bg-BG" sz="2000"/>
              <a:t> &lt;1) е произволен, за някои стойности практическите резултати са добри. Д. Кнут (</a:t>
            </a:r>
            <a:r>
              <a:rPr lang="en-US" sz="2000"/>
              <a:t>D. Knuth. </a:t>
            </a:r>
            <a:r>
              <a:rPr lang="en-US" sz="2000" i="1"/>
              <a:t>The Art of Computer Programming. Volume 3: Sorting and Searching</a:t>
            </a:r>
            <a:r>
              <a:rPr lang="en-US" sz="2000"/>
              <a:t>, second edition, Addison-Wesley, Reading, MA, 1998</a:t>
            </a:r>
            <a:r>
              <a:rPr lang="bg-BG" sz="2000"/>
              <a:t>) предлага за  </a:t>
            </a:r>
            <a:r>
              <a:rPr lang="en-US" sz="2000" b="1" i="1"/>
              <a:t>b</a:t>
            </a:r>
            <a:r>
              <a:rPr lang="bg-BG" sz="2000"/>
              <a:t> да се използва златното сечение:</a:t>
            </a:r>
            <a:br>
              <a:rPr lang="bg-BG" sz="2000"/>
            </a:br>
            <a:r>
              <a:rPr lang="bg-BG" sz="2000"/>
              <a:t/>
            </a:r>
            <a:br>
              <a:rPr lang="bg-BG" sz="2000"/>
            </a:br>
            <a:r>
              <a:rPr lang="bg-BG" sz="2000"/>
              <a:t/>
            </a:r>
            <a:br>
              <a:rPr lang="bg-BG" sz="2000"/>
            </a:br>
            <a:r>
              <a:rPr lang="bg-BG" sz="2000" i="1"/>
              <a:t>- Хеш-функции върху части от ключа</a:t>
            </a:r>
            <a:br>
              <a:rPr lang="bg-BG" sz="2000" i="1"/>
            </a:br>
            <a:r>
              <a:rPr lang="bg-BG" sz="2000"/>
              <a:t>1. Извличане на цифри</a:t>
            </a:r>
            <a:br>
              <a:rPr lang="bg-BG" sz="2000"/>
            </a:br>
            <a:r>
              <a:rPr lang="bg-BG" sz="2000"/>
              <a:t>    При тази схема от ключа се извличат само цифри, намиращи се на определени позиции (например - първата, третата и петата цифра от числото). Така за ключовете  123659, 425435, 546754, 676576 ще получим хеш-адреси съответно 135, 453, 565 и 667. В този случай </a:t>
            </a:r>
            <a:r>
              <a:rPr lang="en-US" sz="2000" b="1" i="1"/>
              <a:t>n</a:t>
            </a:r>
            <a:r>
              <a:rPr lang="bg-BG" sz="2000"/>
              <a:t> трябва да е 1000. Методът е добър, когато числата не съдържат много повтарящи се цифри.</a:t>
            </a:r>
            <a:endParaRPr lang="en-US" sz="2000"/>
          </a:p>
        </p:txBody>
      </p:sp>
      <p:graphicFrame>
        <p:nvGraphicFramePr>
          <p:cNvPr id="5122" name="Object 3"/>
          <p:cNvGraphicFramePr>
            <a:graphicFrameLocks noChangeAspect="1"/>
          </p:cNvGraphicFramePr>
          <p:nvPr/>
        </p:nvGraphicFramePr>
        <p:xfrm>
          <a:off x="3200400" y="3657600"/>
          <a:ext cx="3124200" cy="685800"/>
        </p:xfrm>
        <a:graphic>
          <a:graphicData uri="http://schemas.openxmlformats.org/presentationml/2006/ole">
            <mc:AlternateContent xmlns:mc="http://schemas.openxmlformats.org/markup-compatibility/2006">
              <mc:Choice xmlns:v="urn:schemas-microsoft-com:vml" Requires="v">
                <p:oleObj spid="_x0000_s5125" name="Equation" r:id="rId3" imgW="1790700" imgH="393700" progId="">
                  <p:embed/>
                </p:oleObj>
              </mc:Choice>
              <mc:Fallback>
                <p:oleObj name="Equation" r:id="rId3" imgW="1790700" imgH="393700" progId="">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3657600"/>
                        <a:ext cx="31242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2"/>
          </p:nvPr>
        </p:nvSpPr>
        <p:spPr/>
        <p:txBody>
          <a:bodyPr/>
          <a:lstStyle/>
          <a:p>
            <a:pPr>
              <a:defRPr/>
            </a:pPr>
            <a:fld id="{D6897E90-D581-49D8-832C-C68A05ADB106}" type="slidenum">
              <a:rPr lang="en-US"/>
              <a:pPr>
                <a:defRPr/>
              </a:pPr>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ChangeArrowheads="1"/>
          </p:cNvSpPr>
          <p:nvPr/>
        </p:nvSpPr>
        <p:spPr bwMode="auto">
          <a:xfrm>
            <a:off x="304800" y="228600"/>
            <a:ext cx="8610600" cy="6400800"/>
          </a:xfrm>
          <a:prstGeom prst="rect">
            <a:avLst/>
          </a:prstGeom>
          <a:noFill/>
          <a:ln w="9525">
            <a:noFill/>
            <a:miter lim="800000"/>
            <a:headEnd/>
            <a:tailEnd/>
          </a:ln>
        </p:spPr>
        <p:txBody>
          <a:bodyPr anchor="ctr"/>
          <a:lstStyle/>
          <a:p>
            <a:pPr algn="l">
              <a:lnSpc>
                <a:spcPct val="90000"/>
              </a:lnSpc>
            </a:pPr>
            <a:r>
              <a:rPr lang="en-US" sz="2000"/>
              <a:t> </a:t>
            </a:r>
            <a:r>
              <a:rPr lang="bg-BG" sz="2000"/>
              <a:t> 2. Сгъване</a:t>
            </a:r>
            <a:br>
              <a:rPr lang="bg-BG" sz="2000"/>
            </a:br>
            <a:r>
              <a:rPr lang="bg-BG" sz="2000"/>
              <a:t>  Този метод се прилага най-често, когато ключовете са много големи числа. Възможни са разновидности, но като цяло всички се основават на разделяне на ключа на части и извършване на някакви аритметични действия върху получените части. Например, числото може да се раздели на две (или три и повече) части и сумата от получените числа да определя хеш-адреса.</a:t>
            </a:r>
            <a:br>
              <a:rPr lang="bg-BG" sz="2000"/>
            </a:br>
            <a:r>
              <a:rPr lang="bg-BG" sz="2000"/>
              <a:t/>
            </a:r>
            <a:br>
              <a:rPr lang="bg-BG" sz="2000"/>
            </a:br>
            <a:r>
              <a:rPr lang="bg-BG" sz="2000"/>
              <a:t>  3. Повдигане на средата в квадрат</a:t>
            </a:r>
            <a:br>
              <a:rPr lang="bg-BG" sz="2000"/>
            </a:br>
            <a:r>
              <a:rPr lang="bg-BG" sz="2000"/>
              <a:t>  Тази схема се основава на извличане на средните </a:t>
            </a:r>
            <a:r>
              <a:rPr lang="bg-BG" sz="2000" b="1" i="1"/>
              <a:t>р</a:t>
            </a:r>
            <a:r>
              <a:rPr lang="bg-BG" sz="2000"/>
              <a:t> цифри на ключа и повдигането им  в квадрат. Например,  за ключа 125657134280980 средните три цифри са 134, квадратът на числото е 17956. Ако резултатът надхвърля </a:t>
            </a:r>
            <a:r>
              <a:rPr lang="en-US" sz="2000" b="1" i="1"/>
              <a:t>n</a:t>
            </a:r>
            <a:r>
              <a:rPr lang="bg-BG" sz="2000"/>
              <a:t>, се премахват първите няколко значещи цифри. Например, ако </a:t>
            </a:r>
            <a:r>
              <a:rPr lang="en-US" sz="2000" b="1" i="1"/>
              <a:t>n</a:t>
            </a:r>
            <a:r>
              <a:rPr lang="bg-BG" sz="2000"/>
              <a:t> =10001, то от 17956 се премахва първата цифра и полученият хеш-адрес е 7956. (Последната операция не е еквивалента на намиране на остатъка при деление на </a:t>
            </a:r>
            <a:r>
              <a:rPr lang="en-US" sz="2000" b="1" i="1"/>
              <a:t>n</a:t>
            </a:r>
            <a:r>
              <a:rPr lang="bg-BG" sz="2000"/>
              <a:t>.)  </a:t>
            </a:r>
            <a:r>
              <a:rPr lang="bg-BG" sz="1000"/>
              <a:t/>
            </a:r>
            <a:br>
              <a:rPr lang="bg-BG" sz="1000"/>
            </a:br>
            <a:r>
              <a:rPr lang="bg-BG" sz="1000"/>
              <a:t/>
            </a:r>
            <a:br>
              <a:rPr lang="bg-BG" sz="1000"/>
            </a:br>
            <a:r>
              <a:rPr lang="bg-BG" sz="2000" i="1"/>
              <a:t>- Хеш-функции върху символни низове</a:t>
            </a:r>
            <a:br>
              <a:rPr lang="bg-BG" sz="2000" i="1"/>
            </a:br>
            <a:r>
              <a:rPr lang="bg-BG" sz="2000"/>
              <a:t>Символните низове  са най-често хешираният тип данни. Намирането на добра хеш-функция за тях е сериозен проблем. Ще използваме следната схема:</a:t>
            </a:r>
            <a:br>
              <a:rPr lang="bg-BG" sz="2000"/>
            </a:br>
            <a:r>
              <a:rPr lang="en-US" sz="2000" i="1"/>
              <a:t>result = </a:t>
            </a:r>
            <a:r>
              <a:rPr lang="bg-BG" sz="2000" i="1"/>
              <a:t>инициализиране();</a:t>
            </a:r>
            <a:br>
              <a:rPr lang="bg-BG" sz="2000" i="1"/>
            </a:br>
            <a:r>
              <a:rPr lang="en-US" sz="2000" i="1"/>
              <a:t>while (c = </a:t>
            </a:r>
            <a:r>
              <a:rPr lang="bg-BG" sz="2000" i="1"/>
              <a:t>следващ_символ)</a:t>
            </a:r>
            <a:br>
              <a:rPr lang="bg-BG" sz="2000" i="1"/>
            </a:br>
            <a:r>
              <a:rPr lang="en-US" sz="2000" i="1"/>
              <a:t>   </a:t>
            </a:r>
            <a:r>
              <a:rPr lang="bg-BG" sz="2000" i="1"/>
              <a:t> </a:t>
            </a:r>
            <a:r>
              <a:rPr lang="en-US" sz="2000" i="1"/>
              <a:t>{result=</a:t>
            </a:r>
            <a:r>
              <a:rPr lang="bg-BG" sz="2000" i="1"/>
              <a:t>комбиниране (</a:t>
            </a:r>
            <a:r>
              <a:rPr lang="en-US" sz="2000" i="1"/>
              <a:t>result, c); result=</a:t>
            </a:r>
            <a:r>
              <a:rPr lang="bg-BG" sz="2000" i="1"/>
              <a:t>вътрешно_модифициране(</a:t>
            </a:r>
            <a:r>
              <a:rPr lang="en-US" sz="2000" i="1"/>
              <a:t>result);}</a:t>
            </a:r>
            <a:br>
              <a:rPr lang="en-US" sz="2000" i="1"/>
            </a:br>
            <a:r>
              <a:rPr lang="en-US" sz="2000" i="1"/>
              <a:t>result=</a:t>
            </a:r>
            <a:r>
              <a:rPr lang="bg-BG" sz="2000" i="1"/>
              <a:t>допълнително_модифициране (</a:t>
            </a:r>
            <a:r>
              <a:rPr lang="en-US" sz="2000" i="1"/>
              <a:t>result);</a:t>
            </a:r>
            <a:endParaRPr lang="en-US" sz="2000"/>
          </a:p>
        </p:txBody>
      </p:sp>
      <p:sp>
        <p:nvSpPr>
          <p:cNvPr id="5" name="Slide Number Placeholder 4"/>
          <p:cNvSpPr>
            <a:spLocks noGrp="1"/>
          </p:cNvSpPr>
          <p:nvPr>
            <p:ph type="sldNum" sz="quarter" idx="12"/>
          </p:nvPr>
        </p:nvSpPr>
        <p:spPr/>
        <p:txBody>
          <a:bodyPr/>
          <a:lstStyle/>
          <a:p>
            <a:pPr>
              <a:defRPr/>
            </a:pPr>
            <a:fld id="{9B76B0D1-22FE-40A9-B289-BD30157B5BA5}" type="slidenum">
              <a:rPr lang="en-US"/>
              <a:pPr>
                <a:defRPr/>
              </a:pPr>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ChangeArrowheads="1"/>
          </p:cNvSpPr>
          <p:nvPr/>
        </p:nvSpPr>
        <p:spPr bwMode="auto">
          <a:xfrm>
            <a:off x="304800" y="228600"/>
            <a:ext cx="8610600" cy="6400800"/>
          </a:xfrm>
          <a:prstGeom prst="rect">
            <a:avLst/>
          </a:prstGeom>
          <a:noFill/>
          <a:ln w="9525">
            <a:noFill/>
            <a:miter lim="800000"/>
            <a:headEnd/>
            <a:tailEnd/>
          </a:ln>
        </p:spPr>
        <p:txBody>
          <a:bodyPr anchor="ctr"/>
          <a:lstStyle/>
          <a:p>
            <a:pPr algn="l">
              <a:lnSpc>
                <a:spcPct val="90000"/>
              </a:lnSpc>
            </a:pPr>
            <a:r>
              <a:rPr lang="en-US" sz="2000"/>
              <a:t> </a:t>
            </a:r>
            <a:r>
              <a:rPr lang="bg-BG" sz="2000"/>
              <a:t> 2. Сгъване</a:t>
            </a:r>
            <a:br>
              <a:rPr lang="bg-BG" sz="2000"/>
            </a:br>
            <a:r>
              <a:rPr lang="bg-BG" sz="2000"/>
              <a:t>  Този метод се прилага най-често, когато ключовете са много големи числа. Възможни са разновидности, но като цяло всички се основават на разделяне на ключа на части и извършване на някакви аритметични действия върху получените части. Например, числото може да се раздели на две (или три и повече) части и сумата от получените числа да определя хеш-адреса.</a:t>
            </a:r>
            <a:br>
              <a:rPr lang="bg-BG" sz="2000"/>
            </a:br>
            <a:r>
              <a:rPr lang="bg-BG" sz="2000"/>
              <a:t/>
            </a:r>
            <a:br>
              <a:rPr lang="bg-BG" sz="2000"/>
            </a:br>
            <a:r>
              <a:rPr lang="bg-BG" sz="2000"/>
              <a:t>  3. Повдигане на средата в квадрат</a:t>
            </a:r>
            <a:br>
              <a:rPr lang="bg-BG" sz="2000"/>
            </a:br>
            <a:r>
              <a:rPr lang="bg-BG" sz="2000"/>
              <a:t>  Тази схема се основава на извличане на средните </a:t>
            </a:r>
            <a:r>
              <a:rPr lang="bg-BG" sz="2000" b="1" i="1"/>
              <a:t>р</a:t>
            </a:r>
            <a:r>
              <a:rPr lang="bg-BG" sz="2000"/>
              <a:t> цифри на ключа и повдигането им  в квадрат. Например,  за ключа 125657134280980 средните три цифри са 134, квадратът на числото е 17956. Ако резултатът надхвърля </a:t>
            </a:r>
            <a:r>
              <a:rPr lang="en-US" sz="2000" b="1" i="1"/>
              <a:t>n</a:t>
            </a:r>
            <a:r>
              <a:rPr lang="bg-BG" sz="2000"/>
              <a:t>, се премахват първите няколко значещи цифри. Например, ако </a:t>
            </a:r>
            <a:r>
              <a:rPr lang="en-US" sz="2000" b="1" i="1"/>
              <a:t>n</a:t>
            </a:r>
            <a:r>
              <a:rPr lang="bg-BG" sz="2000"/>
              <a:t> =10001, то от 17956 се премахва първата цифра и полученият хеш-адрес е 7956. (Последната операция не е еквивалента на намиране на остатъка при деление на </a:t>
            </a:r>
            <a:r>
              <a:rPr lang="en-US" sz="2000" b="1" i="1"/>
              <a:t>n</a:t>
            </a:r>
            <a:r>
              <a:rPr lang="bg-BG" sz="2000"/>
              <a:t>.)  </a:t>
            </a:r>
            <a:r>
              <a:rPr lang="bg-BG" sz="1000"/>
              <a:t/>
            </a:r>
            <a:br>
              <a:rPr lang="bg-BG" sz="1000"/>
            </a:br>
            <a:r>
              <a:rPr lang="bg-BG" sz="1000"/>
              <a:t/>
            </a:r>
            <a:br>
              <a:rPr lang="bg-BG" sz="1000"/>
            </a:br>
            <a:r>
              <a:rPr lang="bg-BG" sz="2000" i="1"/>
              <a:t>- Хеш-функции върху символни низове</a:t>
            </a:r>
            <a:br>
              <a:rPr lang="bg-BG" sz="2000" i="1"/>
            </a:br>
            <a:r>
              <a:rPr lang="bg-BG" sz="2000"/>
              <a:t>Символните низове  са най-често хешираният тип данни. Намирането на добра хеш-функция за тях е сериозен проблем. Ще използваме следната схема:</a:t>
            </a:r>
            <a:br>
              <a:rPr lang="bg-BG" sz="2000"/>
            </a:br>
            <a:r>
              <a:rPr lang="en-US" sz="2000" i="1"/>
              <a:t>result = </a:t>
            </a:r>
            <a:r>
              <a:rPr lang="bg-BG" sz="2000" i="1"/>
              <a:t>инициализиране();</a:t>
            </a:r>
            <a:br>
              <a:rPr lang="bg-BG" sz="2000" i="1"/>
            </a:br>
            <a:r>
              <a:rPr lang="en-US" sz="2000" i="1"/>
              <a:t>while (c = </a:t>
            </a:r>
            <a:r>
              <a:rPr lang="bg-BG" sz="2000" i="1"/>
              <a:t>следващ_символ)</a:t>
            </a:r>
            <a:br>
              <a:rPr lang="bg-BG" sz="2000" i="1"/>
            </a:br>
            <a:r>
              <a:rPr lang="en-US" sz="2000" i="1"/>
              <a:t>   </a:t>
            </a:r>
            <a:r>
              <a:rPr lang="bg-BG" sz="2000" i="1"/>
              <a:t> </a:t>
            </a:r>
            <a:r>
              <a:rPr lang="en-US" sz="2000" i="1"/>
              <a:t>{result=</a:t>
            </a:r>
            <a:r>
              <a:rPr lang="bg-BG" sz="2000" i="1"/>
              <a:t>комбиниране (</a:t>
            </a:r>
            <a:r>
              <a:rPr lang="en-US" sz="2000" i="1"/>
              <a:t>result, c); result=</a:t>
            </a:r>
            <a:r>
              <a:rPr lang="bg-BG" sz="2000" i="1"/>
              <a:t>вътрешно_модифициране(</a:t>
            </a:r>
            <a:r>
              <a:rPr lang="en-US" sz="2000" i="1"/>
              <a:t>result);}</a:t>
            </a:r>
            <a:br>
              <a:rPr lang="en-US" sz="2000" i="1"/>
            </a:br>
            <a:r>
              <a:rPr lang="en-US" sz="2000" i="1"/>
              <a:t>result=</a:t>
            </a:r>
            <a:r>
              <a:rPr lang="bg-BG" sz="2000" i="1"/>
              <a:t>допълнително_модифициране (</a:t>
            </a:r>
            <a:r>
              <a:rPr lang="en-US" sz="2000" i="1"/>
              <a:t>result);</a:t>
            </a:r>
            <a:endParaRPr lang="en-US" sz="2000"/>
          </a:p>
        </p:txBody>
      </p:sp>
      <p:sp>
        <p:nvSpPr>
          <p:cNvPr id="5" name="Slide Number Placeholder 4"/>
          <p:cNvSpPr>
            <a:spLocks noGrp="1"/>
          </p:cNvSpPr>
          <p:nvPr>
            <p:ph type="sldNum" sz="quarter" idx="12"/>
          </p:nvPr>
        </p:nvSpPr>
        <p:spPr/>
        <p:txBody>
          <a:bodyPr/>
          <a:lstStyle/>
          <a:p>
            <a:pPr>
              <a:defRPr/>
            </a:pPr>
            <a:fld id="{6F5F5055-880C-42EA-AD21-BB9D7B48797E}" type="slidenum">
              <a:rPr lang="en-US"/>
              <a:pPr>
                <a:defRPr/>
              </a:pPr>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ChangeArrowheads="1"/>
          </p:cNvSpPr>
          <p:nvPr/>
        </p:nvSpPr>
        <p:spPr bwMode="auto">
          <a:xfrm>
            <a:off x="228600" y="228600"/>
            <a:ext cx="8610600" cy="6400800"/>
          </a:xfrm>
          <a:prstGeom prst="rect">
            <a:avLst/>
          </a:prstGeom>
          <a:noFill/>
          <a:ln w="9525">
            <a:noFill/>
            <a:miter lim="800000"/>
            <a:headEnd/>
            <a:tailEnd/>
          </a:ln>
        </p:spPr>
        <p:txBody>
          <a:bodyPr anchor="ctr"/>
          <a:lstStyle/>
          <a:p>
            <a:pPr algn="l"/>
            <a:r>
              <a:rPr lang="bg-BG" sz="2000"/>
              <a:t>Адитивно хеширане е най-често разпространеното (класическо), но за съжаление най-неефективното хеширане. Сумират се </a:t>
            </a:r>
            <a:r>
              <a:rPr lang="en-US" sz="2000"/>
              <a:t>ASCII</a:t>
            </a:r>
            <a:r>
              <a:rPr lang="bg-BG" sz="2000"/>
              <a:t>-кодовете на символите и сумата се взета по модул размера на масива:</a:t>
            </a:r>
            <a:br>
              <a:rPr lang="bg-BG" sz="2000"/>
            </a:br>
            <a:r>
              <a:rPr lang="en-US" sz="2000" i="1"/>
              <a:t>unsigned long hash_function(const char *key, unsigned long size)</a:t>
            </a:r>
            <a:br>
              <a:rPr lang="en-US" sz="2000" i="1"/>
            </a:br>
            <a:r>
              <a:rPr lang="en-US" sz="2000" i="1"/>
              <a:t>{ unsigned long result = 0;</a:t>
            </a:r>
            <a:br>
              <a:rPr lang="en-US" sz="2000" i="1"/>
            </a:br>
            <a:r>
              <a:rPr lang="en-US" sz="2000" i="1"/>
              <a:t>   while (*key)</a:t>
            </a:r>
            <a:br>
              <a:rPr lang="en-US" sz="2000" i="1"/>
            </a:br>
            <a:r>
              <a:rPr lang="en-US" sz="2000" i="1"/>
              <a:t>     result+=(unsigned char) *key++;</a:t>
            </a:r>
            <a:br>
              <a:rPr lang="en-US" sz="2000" i="1"/>
            </a:br>
            <a:r>
              <a:rPr lang="en-US" sz="2000" i="1"/>
              <a:t>   return result % size;</a:t>
            </a:r>
            <a:br>
              <a:rPr lang="en-US" sz="2000" i="1"/>
            </a:br>
            <a:r>
              <a:rPr lang="en-US" sz="2000" i="1"/>
              <a:t>}</a:t>
            </a:r>
            <a:br>
              <a:rPr lang="en-US" sz="2000" i="1"/>
            </a:br>
            <a:r>
              <a:rPr lang="bg-BG" sz="2000"/>
              <a:t>Обикновено в дължината на низа се включва сумата, за да може изрично да влияе на хеш-кода:</a:t>
            </a:r>
            <a:br>
              <a:rPr lang="bg-BG" sz="2000"/>
            </a:br>
            <a:r>
              <a:rPr lang="en-US" sz="2000" i="1"/>
              <a:t>unsigned long hash_function(const char *key, unsigned long size)</a:t>
            </a:r>
            <a:br>
              <a:rPr lang="en-US" sz="2000" i="1"/>
            </a:br>
            <a:r>
              <a:rPr lang="en-US" sz="2000" i="1"/>
              <a:t>{ unsigned long result = strlen(key);</a:t>
            </a:r>
            <a:br>
              <a:rPr lang="en-US" sz="2000" i="1"/>
            </a:br>
            <a:r>
              <a:rPr lang="en-US" sz="2000" i="1"/>
              <a:t>   while (*key)</a:t>
            </a:r>
            <a:br>
              <a:rPr lang="en-US" sz="2000" i="1"/>
            </a:br>
            <a:r>
              <a:rPr lang="en-US" sz="2000" i="1"/>
              <a:t>     result+=(unsigned char) *key++;</a:t>
            </a:r>
            <a:br>
              <a:rPr lang="en-US" sz="2000" i="1"/>
            </a:br>
            <a:r>
              <a:rPr lang="en-US" sz="2000" i="1"/>
              <a:t>   return result % size;</a:t>
            </a:r>
            <a:br>
              <a:rPr lang="en-US" sz="2000" i="1"/>
            </a:br>
            <a:r>
              <a:rPr lang="en-US" sz="2000" i="1"/>
              <a:t>}</a:t>
            </a:r>
            <a:br>
              <a:rPr lang="en-US" sz="2000" i="1"/>
            </a:br>
            <a:r>
              <a:rPr lang="bg-BG" sz="2000"/>
              <a:t>Дължината на символния низ</a:t>
            </a:r>
            <a:r>
              <a:rPr lang="bg-BG" sz="2000" i="1"/>
              <a:t> </a:t>
            </a:r>
            <a:r>
              <a:rPr lang="bg-BG" sz="2000"/>
              <a:t>би могла да се подава като параметър, което спестява обръщението към функцията </a:t>
            </a:r>
            <a:r>
              <a:rPr lang="en-US" sz="2000" i="1"/>
              <a:t>strlen(key)</a:t>
            </a:r>
            <a:r>
              <a:rPr lang="bg-BG" sz="2000" i="1"/>
              <a:t>.</a:t>
            </a:r>
            <a:r>
              <a:rPr lang="en-US" sz="2000" i="1"/>
              <a:t> </a:t>
            </a:r>
            <a:r>
              <a:rPr lang="bg-BG" sz="2000"/>
              <a:t>Или</a:t>
            </a:r>
            <a:r>
              <a:rPr lang="bg-BG" sz="2000" i="1"/>
              <a:t> </a:t>
            </a:r>
            <a:r>
              <a:rPr lang="bg-BG" sz="2000"/>
              <a:t>просто да се получи като разлика между текущата позиция преди и след обхождането на низа:</a:t>
            </a:r>
            <a:r>
              <a:rPr lang="bg-BG" sz="2000" i="1"/>
              <a:t> </a:t>
            </a:r>
            <a:endParaRPr lang="en-US" sz="2000" i="1"/>
          </a:p>
        </p:txBody>
      </p:sp>
      <p:sp>
        <p:nvSpPr>
          <p:cNvPr id="5" name="Slide Number Placeholder 4"/>
          <p:cNvSpPr>
            <a:spLocks noGrp="1"/>
          </p:cNvSpPr>
          <p:nvPr>
            <p:ph type="sldNum" sz="quarter" idx="12"/>
          </p:nvPr>
        </p:nvSpPr>
        <p:spPr/>
        <p:txBody>
          <a:bodyPr/>
          <a:lstStyle/>
          <a:p>
            <a:pPr>
              <a:defRPr/>
            </a:pPr>
            <a:fld id="{D776AE77-350A-4573-9466-ABB80A869C45}" type="slidenum">
              <a:rPr lang="en-US"/>
              <a:pPr>
                <a:defRPr/>
              </a:pPr>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227013" y="228600"/>
            <a:ext cx="8686800" cy="6400800"/>
          </a:xfrm>
          <a:prstGeom prst="rect">
            <a:avLst/>
          </a:prstGeom>
          <a:noFill/>
          <a:ln w="9525">
            <a:noFill/>
            <a:miter lim="800000"/>
            <a:headEnd/>
            <a:tailEnd/>
          </a:ln>
        </p:spPr>
        <p:txBody>
          <a:bodyPr anchor="ctr"/>
          <a:lstStyle/>
          <a:p>
            <a:pPr algn="l">
              <a:lnSpc>
                <a:spcPct val="90000"/>
              </a:lnSpc>
            </a:pPr>
            <a:r>
              <a:rPr lang="en-US" sz="2000" i="1"/>
              <a:t>unsigned long hash_function(const char *key, unsigned long size)</a:t>
            </a:r>
            <a:br>
              <a:rPr lang="en-US" sz="2000" i="1"/>
            </a:br>
            <a:r>
              <a:rPr lang="en-US" sz="2000" i="1"/>
              <a:t>{ </a:t>
            </a:r>
            <a:r>
              <a:rPr lang="bg-BG" sz="2000" i="1"/>
              <a:t> </a:t>
            </a:r>
            <a:r>
              <a:rPr lang="en-US" sz="2000" i="1"/>
              <a:t>const char * save_key=key;</a:t>
            </a:r>
            <a:br>
              <a:rPr lang="en-US" sz="2000" i="1"/>
            </a:br>
            <a:r>
              <a:rPr lang="bg-BG" sz="2000" i="1"/>
              <a:t>   </a:t>
            </a:r>
            <a:r>
              <a:rPr lang="en-US" sz="2000" i="1"/>
              <a:t>unsigned long result = 0;</a:t>
            </a:r>
            <a:br>
              <a:rPr lang="en-US" sz="2000" i="1"/>
            </a:br>
            <a:r>
              <a:rPr lang="en-US" sz="2000" i="1"/>
              <a:t>   while (*key)</a:t>
            </a:r>
            <a:br>
              <a:rPr lang="en-US" sz="2000" i="1"/>
            </a:br>
            <a:r>
              <a:rPr lang="en-US" sz="2000" i="1"/>
              <a:t>      result+=(unsigned char) *key++;</a:t>
            </a:r>
            <a:br>
              <a:rPr lang="en-US" sz="2000" i="1"/>
            </a:br>
            <a:r>
              <a:rPr lang="en-US" sz="2000" i="1"/>
              <a:t>   result +=save_key - key;  </a:t>
            </a:r>
            <a:br>
              <a:rPr lang="en-US" sz="2000" i="1"/>
            </a:br>
            <a:r>
              <a:rPr lang="en-US" sz="2000" i="1"/>
              <a:t>   return result % size;</a:t>
            </a:r>
            <a:br>
              <a:rPr lang="en-US" sz="2000" i="1"/>
            </a:br>
            <a:r>
              <a:rPr lang="en-US" sz="2000" i="1"/>
              <a:t>}</a:t>
            </a:r>
            <a:br>
              <a:rPr lang="en-US" sz="2000" i="1"/>
            </a:br>
            <a:r>
              <a:rPr lang="bg-BG" sz="2000"/>
              <a:t>Размерът на масива най-често се избира да бъде просто число. Понякога обаче се използва масив с размер степен на 2, при което последния ред може да се опрости до:</a:t>
            </a:r>
            <a:br>
              <a:rPr lang="bg-BG" sz="2000"/>
            </a:br>
            <a:r>
              <a:rPr lang="bg-BG" sz="2000"/>
              <a:t> </a:t>
            </a:r>
            <a:r>
              <a:rPr lang="en-US" sz="2000"/>
              <a:t> </a:t>
            </a:r>
            <a:r>
              <a:rPr lang="en-US" sz="2000" i="1"/>
              <a:t>return result &amp; (size - 1);</a:t>
            </a:r>
            <a:br>
              <a:rPr lang="en-US" sz="2000" i="1"/>
            </a:br>
            <a:r>
              <a:rPr lang="en-US" sz="1000" i="1"/>
              <a:t/>
            </a:r>
            <a:br>
              <a:rPr lang="en-US" sz="1000" i="1"/>
            </a:br>
            <a:r>
              <a:rPr lang="bg-BG" sz="2000"/>
              <a:t>Други</a:t>
            </a:r>
            <a:r>
              <a:rPr lang="bg-BG" sz="2000" i="1"/>
              <a:t> </a:t>
            </a:r>
            <a:r>
              <a:rPr lang="bg-BG" sz="2000"/>
              <a:t>подходи при работа със символни низове:</a:t>
            </a:r>
            <a:br>
              <a:rPr lang="bg-BG" sz="2000"/>
            </a:br>
            <a:r>
              <a:rPr lang="bg-BG" sz="2000"/>
              <a:t>- ротирано хеширане (вместо сумиране се използват само поразредени </a:t>
            </a:r>
            <a:br>
              <a:rPr lang="bg-BG" sz="2000"/>
            </a:br>
            <a:r>
              <a:rPr lang="bg-BG" sz="2000"/>
              <a:t>   операции. Размерът на масива трябва да бъде просто число.);</a:t>
            </a:r>
            <a:br>
              <a:rPr lang="bg-BG" sz="2000"/>
            </a:br>
            <a:r>
              <a:rPr lang="bg-BG" sz="2000"/>
              <a:t>- хеширане едно по едно (вариация на горното, но с допълнителни </a:t>
            </a:r>
            <a:br>
              <a:rPr lang="bg-BG" sz="2000"/>
            </a:br>
            <a:r>
              <a:rPr lang="en-US" sz="2000"/>
              <a:t>  </a:t>
            </a:r>
            <a:r>
              <a:rPr lang="bg-BG" sz="2000"/>
              <a:t>манипулации върху </a:t>
            </a:r>
            <a:r>
              <a:rPr lang="en-US" sz="2000" i="1"/>
              <a:t>result</a:t>
            </a:r>
            <a:r>
              <a:rPr lang="en-US" sz="2000"/>
              <a:t>);</a:t>
            </a:r>
            <a:br>
              <a:rPr lang="en-US" sz="2000"/>
            </a:br>
            <a:r>
              <a:rPr lang="en-US" sz="2000"/>
              <a:t>- </a:t>
            </a:r>
            <a:r>
              <a:rPr lang="bg-BG" sz="2000"/>
              <a:t>хеширане по Пиърсън (използва допълнителен масив, съдържащ</a:t>
            </a:r>
            <a:br>
              <a:rPr lang="bg-BG" sz="2000"/>
            </a:br>
            <a:r>
              <a:rPr lang="bg-BG" sz="2000"/>
              <a:t>   пермутации на числата от 0 до 255. Полученият хеш-код е еднобайтов: от 0</a:t>
            </a:r>
            <a:br>
              <a:rPr lang="bg-BG" sz="2000"/>
            </a:br>
            <a:r>
              <a:rPr lang="bg-BG" sz="2000"/>
              <a:t>   до 255. По-голям код може да се получи, ако функцията се извиква няколко</a:t>
            </a:r>
            <a:br>
              <a:rPr lang="bg-BG" sz="2000"/>
            </a:br>
            <a:r>
              <a:rPr lang="bg-BG" sz="2000"/>
              <a:t>   пъти с различни масиви, при което всяко извикване ще дава един байт от</a:t>
            </a:r>
            <a:br>
              <a:rPr lang="bg-BG" sz="2000"/>
            </a:br>
            <a:r>
              <a:rPr lang="bg-BG" sz="2000"/>
              <a:t>   резултата;</a:t>
            </a:r>
            <a:r>
              <a:rPr lang="en-US" sz="2000"/>
              <a:t> </a:t>
            </a:r>
            <a:endParaRPr lang="en-US" sz="2000" i="1"/>
          </a:p>
        </p:txBody>
      </p:sp>
      <p:sp>
        <p:nvSpPr>
          <p:cNvPr id="5" name="Slide Number Placeholder 4"/>
          <p:cNvSpPr>
            <a:spLocks noGrp="1"/>
          </p:cNvSpPr>
          <p:nvPr>
            <p:ph type="sldNum" sz="quarter" idx="12"/>
          </p:nvPr>
        </p:nvSpPr>
        <p:spPr/>
        <p:txBody>
          <a:bodyPr/>
          <a:lstStyle/>
          <a:p>
            <a:pPr>
              <a:defRPr/>
            </a:pPr>
            <a:fld id="{BC88B789-62A7-44F0-B262-1D5994D0DC44}" type="slidenum">
              <a:rPr lang="en-US"/>
              <a:pPr>
                <a:defRPr/>
              </a:pPr>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975792" y="188640"/>
            <a:ext cx="8168208" cy="6468616"/>
          </a:xfrm>
          <a:prstGeom prst="rect">
            <a:avLst/>
          </a:prstGeom>
          <a:noFill/>
          <a:ln w="9525">
            <a:noFill/>
            <a:miter lim="800000"/>
            <a:headEnd/>
            <a:tailEnd/>
          </a:ln>
        </p:spPr>
        <p:txBody>
          <a:bodyPr anchor="ctr"/>
          <a:lstStyle/>
          <a:p>
            <a:pPr algn="l">
              <a:lnSpc>
                <a:spcPct val="130000"/>
              </a:lnSpc>
            </a:pPr>
            <a:r>
              <a:rPr lang="en-US" sz="2000"/>
              <a:t>-</a:t>
            </a:r>
            <a:r>
              <a:rPr lang="bg-BG" sz="2000"/>
              <a:t> хеширане по </a:t>
            </a:r>
            <a:r>
              <a:rPr lang="en-US" sz="2000"/>
              <a:t>CRC</a:t>
            </a:r>
            <a:r>
              <a:rPr lang="bg-BG" sz="2000"/>
              <a:t> (стойностите в масива се генерират като псевдослучайна</a:t>
            </a:r>
            <a:br>
              <a:rPr lang="bg-BG" sz="2000"/>
            </a:br>
            <a:r>
              <a:rPr lang="bg-BG" sz="2000"/>
              <a:t>  двоична последователност, удовлетворяваща определени условия);</a:t>
            </a:r>
            <a:br>
              <a:rPr lang="bg-BG" sz="2000"/>
            </a:br>
            <a:r>
              <a:rPr lang="bg-BG" sz="2000"/>
              <a:t>- други класически хеш-функции. </a:t>
            </a:r>
            <a:br>
              <a:rPr lang="bg-BG" sz="2000"/>
            </a:br>
            <a:r>
              <a:rPr lang="bg-BG" sz="2000"/>
              <a:t>	За по-големи подробности - Преслав Наков, Панайот Добриков. </a:t>
            </a:r>
            <a:r>
              <a:rPr lang="bg-BG" sz="2000" i="1"/>
              <a:t>Програмиране = ++Алгоритми</a:t>
            </a:r>
            <a:r>
              <a:rPr lang="bg-BG" sz="2000"/>
              <a:t>, </a:t>
            </a:r>
            <a:r>
              <a:rPr lang="en-US" sz="2000"/>
              <a:t>TpoTeam</a:t>
            </a:r>
            <a:r>
              <a:rPr lang="bg-BG" sz="2000"/>
              <a:t> </a:t>
            </a:r>
            <a:r>
              <a:rPr lang="en-US" sz="2000"/>
              <a:t>Co., </a:t>
            </a:r>
            <a:r>
              <a:rPr lang="bg-BG" sz="2000"/>
              <a:t>София,</a:t>
            </a:r>
            <a:r>
              <a:rPr lang="en-US" sz="2000"/>
              <a:t> 2002.</a:t>
            </a:r>
            <a:br>
              <a:rPr lang="en-US" sz="2000"/>
            </a:br>
            <a:r>
              <a:rPr lang="bg-BG" sz="1000"/>
              <a:t/>
            </a:r>
            <a:br>
              <a:rPr lang="bg-BG" sz="1000"/>
            </a:br>
            <a:r>
              <a:rPr lang="en-US" sz="2000" smtClean="0"/>
              <a:t>     </a:t>
            </a:r>
            <a:r>
              <a:rPr lang="bg-BG" sz="2000" smtClean="0"/>
              <a:t>Каквато </a:t>
            </a:r>
            <a:r>
              <a:rPr lang="bg-BG" sz="2000"/>
              <a:t>и хеш-функция да изберем, в най-лошия случай тя ще предизвика </a:t>
            </a:r>
            <a:r>
              <a:rPr lang="en-US" sz="2000" b="1" i="1"/>
              <a:t>n</a:t>
            </a:r>
            <a:r>
              <a:rPr lang="bg-BG" sz="2000"/>
              <a:t> колизии, където </a:t>
            </a:r>
            <a:r>
              <a:rPr lang="en-US" sz="2000" b="1" i="1"/>
              <a:t>n</a:t>
            </a:r>
            <a:r>
              <a:rPr lang="bg-BG" sz="2000"/>
              <a:t> е размерът на хеш-таблицата. В най-добрия случай ще възникнат 0 колизии. За да се предпазим от колизии, трябва да гарантираме равномерно разпределение на множеството от допустимите стойности на ключовете върху множеството от индексите на масива/таблицата. Тогава вероятността за съпоставяне на един и същи индекс в масива за два различни ключа, т. е. за възникване на колизия, ще бъде 1/ </a:t>
            </a:r>
            <a:r>
              <a:rPr lang="en-US" sz="2000" b="1" i="1"/>
              <a:t>n</a:t>
            </a:r>
            <a:r>
              <a:rPr lang="bg-BG" sz="2000"/>
              <a:t> .</a:t>
            </a:r>
            <a:br>
              <a:rPr lang="bg-BG" sz="2000"/>
            </a:br>
            <a:r>
              <a:rPr lang="en-US" sz="2000" smtClean="0"/>
              <a:t>      </a:t>
            </a:r>
            <a:r>
              <a:rPr lang="bg-BG" sz="2000" smtClean="0"/>
              <a:t>Една </a:t>
            </a:r>
            <a:r>
              <a:rPr lang="bg-BG" sz="2000"/>
              <a:t>от възможностите е да се комбинират няколко хеш-функции, които разпределят елементите равномерно.</a:t>
            </a:r>
            <a:br>
              <a:rPr lang="bg-BG" sz="2000"/>
            </a:br>
            <a:r>
              <a:rPr lang="en-US" sz="2000" smtClean="0"/>
              <a:t>         </a:t>
            </a:r>
            <a:r>
              <a:rPr lang="bg-BG" sz="2000" smtClean="0"/>
              <a:t>И </a:t>
            </a:r>
            <a:r>
              <a:rPr lang="bg-BG" sz="2000"/>
              <a:t>все пак, как да се справим с колизиите, когато те възникват?</a:t>
            </a:r>
            <a:endParaRPr lang="en-US" sz="2000"/>
          </a:p>
        </p:txBody>
      </p:sp>
      <p:sp>
        <p:nvSpPr>
          <p:cNvPr id="5" name="Slide Number Placeholder 4"/>
          <p:cNvSpPr>
            <a:spLocks noGrp="1"/>
          </p:cNvSpPr>
          <p:nvPr>
            <p:ph type="sldNum" sz="quarter" idx="12"/>
          </p:nvPr>
        </p:nvSpPr>
        <p:spPr/>
        <p:txBody>
          <a:bodyPr/>
          <a:lstStyle/>
          <a:p>
            <a:pPr>
              <a:defRPr/>
            </a:pPr>
            <a:fld id="{A71CBE2C-C7C7-43F3-BB53-19BA93DF517A}" type="slidenum">
              <a:rPr lang="en-US"/>
              <a:pPr>
                <a:defRPr/>
              </a:pPr>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1030784" y="48940"/>
            <a:ext cx="8011616" cy="6840760"/>
          </a:xfrm>
          <a:prstGeom prst="rect">
            <a:avLst/>
          </a:prstGeom>
          <a:noFill/>
          <a:ln w="9525">
            <a:noFill/>
            <a:miter lim="800000"/>
            <a:headEnd/>
            <a:tailEnd/>
          </a:ln>
        </p:spPr>
        <p:txBody>
          <a:bodyPr anchor="ctr"/>
          <a:lstStyle/>
          <a:p>
            <a:pPr algn="l"/>
            <a:r>
              <a:rPr lang="bg-BG" b="1" i="1"/>
              <a:t>Справяне с </a:t>
            </a:r>
            <a:r>
              <a:rPr lang="bg-BG" b="1" i="1" smtClean="0"/>
              <a:t>колизии</a:t>
            </a:r>
            <a:r>
              <a:rPr lang="bg-BG" sz="1000"/>
              <a:t/>
            </a:r>
            <a:br>
              <a:rPr lang="bg-BG" sz="1000"/>
            </a:br>
            <a:r>
              <a:rPr lang="bg-BG" sz="1000"/>
              <a:t>	</a:t>
            </a:r>
            <a:r>
              <a:rPr lang="bg-BG" sz="2000"/>
              <a:t>Нека е дадена хеш-таблица с размер </a:t>
            </a:r>
            <a:r>
              <a:rPr lang="en-US" sz="2000" b="1" i="1"/>
              <a:t>n</a:t>
            </a:r>
            <a:r>
              <a:rPr lang="bg-BG" sz="2000" b="1" i="1"/>
              <a:t>=</a:t>
            </a:r>
            <a:r>
              <a:rPr lang="bg-BG" sz="2000"/>
              <a:t>10.</a:t>
            </a:r>
            <a:br>
              <a:rPr lang="bg-BG" sz="2000"/>
            </a:br>
            <a:r>
              <a:rPr lang="bg-BG" sz="2000"/>
              <a:t>Ще използваме проста хеш-функция, която се основава на извличане на цифри - първата цифра на ключа ще дава хеш-адреса на елемента. Например, искаме да включим в таблицата елементите 234, 235, 567, 123, 534 и 647.</a:t>
            </a:r>
            <a:br>
              <a:rPr lang="bg-BG" sz="2000"/>
            </a:br>
            <a:r>
              <a:rPr lang="bg-BG" sz="1000"/>
              <a:t>	</a:t>
            </a:r>
            <a:r>
              <a:rPr lang="bg-BG" sz="2000"/>
              <a:t>Всички методи условно могат да бъдат разделени на две групи:</a:t>
            </a:r>
            <a:br>
              <a:rPr lang="bg-BG" sz="2000"/>
            </a:br>
            <a:r>
              <a:rPr lang="bg-BG" sz="2000"/>
              <a:t>   	- затворено хеширане</a:t>
            </a:r>
            <a:br>
              <a:rPr lang="bg-BG" sz="2000"/>
            </a:br>
            <a:r>
              <a:rPr lang="bg-BG" sz="2000"/>
              <a:t>   	- отворено хеширане</a:t>
            </a:r>
            <a:br>
              <a:rPr lang="bg-BG" sz="2000"/>
            </a:br>
            <a:r>
              <a:rPr lang="bg-BG" sz="2000"/>
              <a:t> </a:t>
            </a:r>
            <a:r>
              <a:rPr lang="bg-BG" sz="2000" u="sng"/>
              <a:t>Затворено хеширане</a:t>
            </a:r>
            <a:r>
              <a:rPr lang="bg-BG" sz="2000"/>
              <a:t>	</a:t>
            </a:r>
            <a:br>
              <a:rPr lang="bg-BG" sz="2000"/>
            </a:br>
            <a:r>
              <a:rPr lang="bg-BG" sz="2000" i="1"/>
              <a:t>1. Линейно пробване</a:t>
            </a:r>
            <a:r>
              <a:rPr lang="bg-BG" sz="2000"/>
              <a:t/>
            </a:r>
            <a:br>
              <a:rPr lang="bg-BG" sz="2000"/>
            </a:br>
            <a:r>
              <a:rPr lang="bg-BG" sz="2000"/>
              <a:t>	При този подход разполагаме с едно основно място, където се съхраняват данните (</a:t>
            </a:r>
            <a:r>
              <a:rPr lang="en-US" sz="2000" b="1" i="1"/>
              <a:t>n </a:t>
            </a:r>
            <a:r>
              <a:rPr lang="bg-BG" sz="2000"/>
              <a:t>слота).</a:t>
            </a:r>
            <a:r>
              <a:rPr lang="bg-BG" sz="2000" b="1" i="1"/>
              <a:t> </a:t>
            </a:r>
            <a:r>
              <a:rPr lang="bg-BG" sz="2000"/>
              <a:t>Когато настъпи колизия, пробвам последователно да променяме получения хеш-адрес, докато стигнем до свободен слот (вход в таблицата). Промяната се прави по предварително дефинирана схема.</a:t>
            </a:r>
            <a:br>
              <a:rPr lang="bg-BG" sz="2000"/>
            </a:br>
            <a:r>
              <a:rPr lang="bg-BG" sz="2000"/>
              <a:t>	Например, възможно е да увеличаваме адреса с някакво естествено число </a:t>
            </a:r>
            <a:r>
              <a:rPr lang="en-US" sz="2000" b="1" i="1"/>
              <a:t>s  </a:t>
            </a:r>
            <a:r>
              <a:rPr lang="en-US" sz="2000"/>
              <a:t>(0 &lt; </a:t>
            </a:r>
            <a:r>
              <a:rPr lang="en-US" sz="2000" b="1" i="1"/>
              <a:t>s</a:t>
            </a:r>
            <a:r>
              <a:rPr lang="en-US" sz="2000"/>
              <a:t> &lt; </a:t>
            </a:r>
            <a:r>
              <a:rPr lang="en-US" sz="2000" b="1" i="1"/>
              <a:t>n</a:t>
            </a:r>
            <a:r>
              <a:rPr lang="en-US" sz="2000"/>
              <a:t>). </a:t>
            </a:r>
            <a:r>
              <a:rPr lang="bg-BG" sz="2000" b="1" i="1"/>
              <a:t> </a:t>
            </a:r>
            <a:r>
              <a:rPr lang="bg-BG" sz="2000"/>
              <a:t>Ако адресът стане равен на </a:t>
            </a:r>
            <a:r>
              <a:rPr lang="en-US" sz="2000" b="1" i="1"/>
              <a:t>n</a:t>
            </a:r>
            <a:r>
              <a:rPr lang="en-US" sz="2000"/>
              <a:t>,</a:t>
            </a:r>
            <a:r>
              <a:rPr lang="bg-BG" sz="2000" b="1" i="1"/>
              <a:t> </a:t>
            </a:r>
            <a:r>
              <a:rPr lang="en-US" sz="2000" b="1" i="1"/>
              <a:t> </a:t>
            </a:r>
            <a:r>
              <a:rPr lang="bg-BG" sz="2000"/>
              <a:t>щ</a:t>
            </a:r>
            <a:r>
              <a:rPr lang="en-US" sz="2000"/>
              <a:t>е</a:t>
            </a:r>
            <a:r>
              <a:rPr lang="bg-BG" sz="2000"/>
              <a:t> продължим търсенето в началото на хеш-таблицата, като вземаме остатъка по модул </a:t>
            </a:r>
            <a:r>
              <a:rPr lang="en-US" sz="2000" b="1" i="1"/>
              <a:t>n</a:t>
            </a:r>
            <a:r>
              <a:rPr lang="en-US" sz="2000"/>
              <a:t>.</a:t>
            </a:r>
            <a:r>
              <a:rPr lang="bg-BG" sz="2000" b="1" i="1"/>
              <a:t> </a:t>
            </a:r>
            <a:r>
              <a:rPr lang="bg-BG" sz="2000"/>
              <a:t>За да може при подобно увеличаване да се обходят всички адреси на хеш-таблицата, трябва</a:t>
            </a:r>
            <a:r>
              <a:rPr lang="bg-BG" sz="2000" b="1" i="1"/>
              <a:t> </a:t>
            </a:r>
            <a:r>
              <a:rPr lang="en-US" sz="2000" b="1" i="1"/>
              <a:t>n </a:t>
            </a:r>
            <a:r>
              <a:rPr lang="bg-BG" sz="2000"/>
              <a:t>и</a:t>
            </a:r>
            <a:r>
              <a:rPr lang="bg-BG" sz="2000" b="1" i="1"/>
              <a:t> </a:t>
            </a:r>
            <a:r>
              <a:rPr lang="en-US" sz="2000" b="1" i="1"/>
              <a:t>s </a:t>
            </a:r>
            <a:r>
              <a:rPr lang="bg-BG" sz="2000" b="1" i="1"/>
              <a:t> </a:t>
            </a:r>
            <a:r>
              <a:rPr lang="bg-BG" sz="2000"/>
              <a:t>да бъдат взаимно прости, т. е. НГОД(</a:t>
            </a:r>
            <a:r>
              <a:rPr lang="en-US" sz="2000" b="1" i="1"/>
              <a:t>n </a:t>
            </a:r>
            <a:r>
              <a:rPr lang="bg-BG" sz="2000"/>
              <a:t>,</a:t>
            </a:r>
            <a:r>
              <a:rPr lang="bg-BG" sz="2000" b="1" i="1"/>
              <a:t> </a:t>
            </a:r>
            <a:r>
              <a:rPr lang="en-US" sz="2000" b="1" i="1"/>
              <a:t>s </a:t>
            </a:r>
            <a:r>
              <a:rPr lang="bg-BG" sz="2000"/>
              <a:t>)=1.</a:t>
            </a:r>
            <a:endParaRPr lang="en-US" sz="2000"/>
          </a:p>
        </p:txBody>
      </p:sp>
      <p:sp>
        <p:nvSpPr>
          <p:cNvPr id="5" name="Slide Number Placeholder 4"/>
          <p:cNvSpPr>
            <a:spLocks noGrp="1"/>
          </p:cNvSpPr>
          <p:nvPr>
            <p:ph type="sldNum" sz="quarter" idx="12"/>
          </p:nvPr>
        </p:nvSpPr>
        <p:spPr/>
        <p:txBody>
          <a:bodyPr/>
          <a:lstStyle/>
          <a:p>
            <a:pPr>
              <a:defRPr/>
            </a:pPr>
            <a:fld id="{AAC51BDD-DF10-4C3E-ABBA-DB91D6DA150A}" type="slidenum">
              <a:rPr lang="en-US"/>
              <a:pPr>
                <a:defRPr/>
              </a:pPr>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ChangeArrowheads="1"/>
          </p:cNvSpPr>
          <p:nvPr/>
        </p:nvSpPr>
        <p:spPr bwMode="auto">
          <a:xfrm>
            <a:off x="1001192" y="381000"/>
            <a:ext cx="8015808" cy="6248400"/>
          </a:xfrm>
          <a:prstGeom prst="rect">
            <a:avLst/>
          </a:prstGeom>
          <a:noFill/>
          <a:ln w="9525">
            <a:noFill/>
            <a:miter lim="800000"/>
            <a:headEnd/>
            <a:tailEnd/>
          </a:ln>
        </p:spPr>
        <p:txBody>
          <a:bodyPr anchor="ctr"/>
          <a:lstStyle/>
          <a:p>
            <a:pPr algn="l"/>
            <a:r>
              <a:rPr lang="en-US" sz="2000">
                <a:solidFill>
                  <a:schemeClr val="tx2"/>
                </a:solidFill>
              </a:rPr>
              <a:t>	</a:t>
            </a:r>
            <a:r>
              <a:rPr lang="bg-BG" sz="2000"/>
              <a:t>Очевидно, при този подход не могат да се включват повече елементи, колкото е капацитетът на хеш-таблицата. И когато тя се препълни, е необходимо разширяване  (заделяне на памет за по-голям масив и освобождаване на заетата от текущия масив памет). На практика запълването на таблицата при този вид хеширане не трябва да превишава 1/2.	</a:t>
            </a:r>
            <a:br>
              <a:rPr lang="bg-BG" sz="2000"/>
            </a:br>
            <a:r>
              <a:rPr lang="bg-BG" sz="2000"/>
              <a:t>	Последователно включване на елементи с разрешаване на колизиите чрез линейно пробване със стъпка 1:  </a:t>
            </a:r>
            <a:r>
              <a:rPr lang="bg-BG" sz="1000">
                <a:solidFill>
                  <a:schemeClr val="tx2"/>
                </a:solidFill>
              </a:rPr>
              <a:t>	</a:t>
            </a:r>
            <a:br>
              <a:rPr lang="bg-BG" sz="1000">
                <a:solidFill>
                  <a:schemeClr val="tx2"/>
                </a:solidFill>
              </a:rPr>
            </a:br>
            <a:r>
              <a:rPr lang="bg-BG" sz="1000">
                <a:solidFill>
                  <a:schemeClr val="tx2"/>
                </a:solidFill>
              </a:rPr>
              <a:t/>
            </a:r>
            <a:br>
              <a:rPr lang="bg-BG" sz="1000">
                <a:solidFill>
                  <a:schemeClr val="tx2"/>
                </a:solidFill>
              </a:rPr>
            </a:br>
            <a:r>
              <a:rPr lang="bg-BG" sz="2000">
                <a:solidFill>
                  <a:schemeClr val="tx2"/>
                </a:solidFill>
              </a:rPr>
              <a:t/>
            </a:r>
            <a:br>
              <a:rPr lang="bg-BG" sz="2000">
                <a:solidFill>
                  <a:schemeClr val="tx2"/>
                </a:solidFill>
              </a:rPr>
            </a:br>
            <a:r>
              <a:rPr lang="bg-BG" sz="2000">
                <a:solidFill>
                  <a:schemeClr val="tx2"/>
                </a:solidFill>
              </a:rPr>
              <a:t/>
            </a:r>
            <a:br>
              <a:rPr lang="bg-BG" sz="2000">
                <a:solidFill>
                  <a:schemeClr val="tx2"/>
                </a:solidFill>
              </a:rPr>
            </a:br>
            <a:r>
              <a:rPr lang="bg-BG" sz="2000">
                <a:solidFill>
                  <a:schemeClr val="tx2"/>
                </a:solidFill>
              </a:rPr>
              <a:t/>
            </a:r>
            <a:br>
              <a:rPr lang="bg-BG" sz="2000">
                <a:solidFill>
                  <a:schemeClr val="tx2"/>
                </a:solidFill>
              </a:rPr>
            </a:br>
            <a:r>
              <a:rPr lang="bg-BG" sz="2000">
                <a:solidFill>
                  <a:schemeClr val="tx2"/>
                </a:solidFill>
              </a:rPr>
              <a:t/>
            </a:r>
            <a:br>
              <a:rPr lang="bg-BG" sz="2000">
                <a:solidFill>
                  <a:schemeClr val="tx2"/>
                </a:solidFill>
              </a:rPr>
            </a:br>
            <a:r>
              <a:rPr lang="bg-BG" sz="2000">
                <a:solidFill>
                  <a:schemeClr val="tx2"/>
                </a:solidFill>
              </a:rPr>
              <a:t/>
            </a:r>
            <a:br>
              <a:rPr lang="bg-BG" sz="2000">
                <a:solidFill>
                  <a:schemeClr val="tx2"/>
                </a:solidFill>
              </a:rPr>
            </a:br>
            <a:r>
              <a:rPr lang="bg-BG" sz="2000">
                <a:solidFill>
                  <a:schemeClr val="tx2"/>
                </a:solidFill>
              </a:rPr>
              <a:t/>
            </a:r>
            <a:br>
              <a:rPr lang="bg-BG" sz="2000">
                <a:solidFill>
                  <a:schemeClr val="tx2"/>
                </a:solidFill>
              </a:rPr>
            </a:br>
            <a:r>
              <a:rPr lang="bg-BG" sz="2000">
                <a:solidFill>
                  <a:schemeClr val="tx2"/>
                </a:solidFill>
              </a:rPr>
              <a:t/>
            </a:r>
            <a:br>
              <a:rPr lang="bg-BG" sz="2000">
                <a:solidFill>
                  <a:schemeClr val="tx2"/>
                </a:solidFill>
              </a:rPr>
            </a:br>
            <a:r>
              <a:rPr lang="bg-BG" sz="2000">
                <a:solidFill>
                  <a:schemeClr val="tx2"/>
                </a:solidFill>
              </a:rPr>
              <a:t/>
            </a:r>
            <a:br>
              <a:rPr lang="bg-BG" sz="2000">
                <a:solidFill>
                  <a:schemeClr val="tx2"/>
                </a:solidFill>
              </a:rPr>
            </a:br>
            <a:r>
              <a:rPr lang="bg-BG" sz="2000">
                <a:solidFill>
                  <a:schemeClr val="tx2"/>
                </a:solidFill>
              </a:rPr>
              <a:t/>
            </a:r>
            <a:br>
              <a:rPr lang="bg-BG" sz="2000">
                <a:solidFill>
                  <a:schemeClr val="tx2"/>
                </a:solidFill>
              </a:rPr>
            </a:br>
            <a:r>
              <a:rPr lang="bg-BG" sz="2000">
                <a:solidFill>
                  <a:schemeClr val="tx2"/>
                </a:solidFill>
              </a:rPr>
              <a:t>	</a:t>
            </a:r>
            <a:br>
              <a:rPr lang="bg-BG" sz="2000">
                <a:solidFill>
                  <a:schemeClr val="tx2"/>
                </a:solidFill>
              </a:rPr>
            </a:br>
            <a:r>
              <a:rPr lang="bg-BG" sz="1000">
                <a:solidFill>
                  <a:schemeClr val="tx2"/>
                </a:solidFill>
              </a:rPr>
              <a:t>	</a:t>
            </a:r>
            <a:br>
              <a:rPr lang="bg-BG" sz="1000">
                <a:solidFill>
                  <a:schemeClr val="tx2"/>
                </a:solidFill>
              </a:rPr>
            </a:br>
            <a:r>
              <a:rPr lang="bg-BG" sz="1000">
                <a:solidFill>
                  <a:schemeClr val="tx2"/>
                </a:solidFill>
              </a:rPr>
              <a:t/>
            </a:r>
            <a:br>
              <a:rPr lang="bg-BG" sz="1000">
                <a:solidFill>
                  <a:schemeClr val="tx2"/>
                </a:solidFill>
              </a:rPr>
            </a:br>
            <a:r>
              <a:rPr lang="bg-BG" sz="1000">
                <a:solidFill>
                  <a:schemeClr val="tx2"/>
                </a:solidFill>
              </a:rPr>
              <a:t>	</a:t>
            </a:r>
            <a:br>
              <a:rPr lang="bg-BG" sz="1000">
                <a:solidFill>
                  <a:schemeClr val="tx2"/>
                </a:solidFill>
              </a:rPr>
            </a:br>
            <a:r>
              <a:rPr lang="bg-BG" sz="1000">
                <a:solidFill>
                  <a:schemeClr val="tx2"/>
                </a:solidFill>
              </a:rPr>
              <a:t/>
            </a:r>
            <a:br>
              <a:rPr lang="bg-BG" sz="1000">
                <a:solidFill>
                  <a:schemeClr val="tx2"/>
                </a:solidFill>
              </a:rPr>
            </a:br>
            <a:r>
              <a:rPr lang="bg-BG" sz="1000">
                <a:solidFill>
                  <a:schemeClr val="tx2"/>
                </a:solidFill>
              </a:rPr>
              <a:t>	</a:t>
            </a:r>
            <a:endParaRPr lang="en-US" sz="2000">
              <a:solidFill>
                <a:schemeClr val="tx2"/>
              </a:solidFill>
            </a:endParaRPr>
          </a:p>
        </p:txBody>
      </p:sp>
      <p:grpSp>
        <p:nvGrpSpPr>
          <p:cNvPr id="92163" name="Group 131"/>
          <p:cNvGrpSpPr>
            <a:grpSpLocks/>
          </p:cNvGrpSpPr>
          <p:nvPr/>
        </p:nvGrpSpPr>
        <p:grpSpPr bwMode="auto">
          <a:xfrm>
            <a:off x="965200" y="2852936"/>
            <a:ext cx="8039100" cy="3686175"/>
            <a:chOff x="288" y="1768"/>
            <a:chExt cx="5064" cy="2322"/>
          </a:xfrm>
        </p:grpSpPr>
        <p:sp>
          <p:nvSpPr>
            <p:cNvPr id="92165" name="Text Box 98"/>
            <p:cNvSpPr txBox="1">
              <a:spLocks noChangeArrowheads="1"/>
            </p:cNvSpPr>
            <p:nvPr/>
          </p:nvSpPr>
          <p:spPr bwMode="auto">
            <a:xfrm>
              <a:off x="1384" y="1776"/>
              <a:ext cx="432" cy="250"/>
            </a:xfrm>
            <a:prstGeom prst="rect">
              <a:avLst/>
            </a:prstGeom>
            <a:noFill/>
            <a:ln w="9525">
              <a:noFill/>
              <a:miter lim="800000"/>
              <a:headEnd/>
              <a:tailEnd/>
            </a:ln>
          </p:spPr>
          <p:txBody>
            <a:bodyPr>
              <a:spAutoFit/>
            </a:bodyPr>
            <a:lstStyle/>
            <a:p>
              <a:pPr algn="l">
                <a:spcBef>
                  <a:spcPct val="50000"/>
                </a:spcBef>
              </a:pPr>
              <a:r>
                <a:rPr lang="en-US" sz="2000"/>
                <a:t>2</a:t>
              </a:r>
              <a:r>
                <a:rPr lang="bg-BG" sz="2000"/>
                <a:t>34</a:t>
              </a:r>
              <a:endParaRPr lang="en-US"/>
            </a:p>
          </p:txBody>
        </p:sp>
        <p:sp>
          <p:nvSpPr>
            <p:cNvPr id="92166" name="Text Box 103"/>
            <p:cNvSpPr txBox="1">
              <a:spLocks noChangeArrowheads="1"/>
            </p:cNvSpPr>
            <p:nvPr/>
          </p:nvSpPr>
          <p:spPr bwMode="auto">
            <a:xfrm>
              <a:off x="2096" y="1768"/>
              <a:ext cx="432" cy="250"/>
            </a:xfrm>
            <a:prstGeom prst="rect">
              <a:avLst/>
            </a:prstGeom>
            <a:noFill/>
            <a:ln w="9525">
              <a:noFill/>
              <a:miter lim="800000"/>
              <a:headEnd/>
              <a:tailEnd/>
            </a:ln>
          </p:spPr>
          <p:txBody>
            <a:bodyPr>
              <a:spAutoFit/>
            </a:bodyPr>
            <a:lstStyle/>
            <a:p>
              <a:pPr algn="l">
                <a:spcBef>
                  <a:spcPct val="50000"/>
                </a:spcBef>
              </a:pPr>
              <a:r>
                <a:rPr lang="en-US" sz="2000"/>
                <a:t>2</a:t>
              </a:r>
              <a:r>
                <a:rPr lang="bg-BG" sz="2000"/>
                <a:t>35</a:t>
              </a:r>
              <a:endParaRPr lang="en-US"/>
            </a:p>
          </p:txBody>
        </p:sp>
        <p:sp>
          <p:nvSpPr>
            <p:cNvPr id="92167" name="Text Box 107"/>
            <p:cNvSpPr txBox="1">
              <a:spLocks noChangeArrowheads="1"/>
            </p:cNvSpPr>
            <p:nvPr/>
          </p:nvSpPr>
          <p:spPr bwMode="auto">
            <a:xfrm>
              <a:off x="2816" y="1776"/>
              <a:ext cx="432" cy="250"/>
            </a:xfrm>
            <a:prstGeom prst="rect">
              <a:avLst/>
            </a:prstGeom>
            <a:noFill/>
            <a:ln w="9525">
              <a:noFill/>
              <a:miter lim="800000"/>
              <a:headEnd/>
              <a:tailEnd/>
            </a:ln>
          </p:spPr>
          <p:txBody>
            <a:bodyPr>
              <a:spAutoFit/>
            </a:bodyPr>
            <a:lstStyle/>
            <a:p>
              <a:pPr algn="l">
                <a:spcBef>
                  <a:spcPct val="50000"/>
                </a:spcBef>
              </a:pPr>
              <a:r>
                <a:rPr lang="en-US" sz="2000"/>
                <a:t>5</a:t>
              </a:r>
              <a:r>
                <a:rPr lang="bg-BG" sz="2000"/>
                <a:t>67</a:t>
              </a:r>
              <a:endParaRPr lang="en-US"/>
            </a:p>
          </p:txBody>
        </p:sp>
        <p:sp>
          <p:nvSpPr>
            <p:cNvPr id="92168" name="Text Box 110"/>
            <p:cNvSpPr txBox="1">
              <a:spLocks noChangeArrowheads="1"/>
            </p:cNvSpPr>
            <p:nvPr/>
          </p:nvSpPr>
          <p:spPr bwMode="auto">
            <a:xfrm>
              <a:off x="3528" y="1776"/>
              <a:ext cx="432" cy="250"/>
            </a:xfrm>
            <a:prstGeom prst="rect">
              <a:avLst/>
            </a:prstGeom>
            <a:noFill/>
            <a:ln w="9525">
              <a:noFill/>
              <a:miter lim="800000"/>
              <a:headEnd/>
              <a:tailEnd/>
            </a:ln>
          </p:spPr>
          <p:txBody>
            <a:bodyPr>
              <a:spAutoFit/>
            </a:bodyPr>
            <a:lstStyle/>
            <a:p>
              <a:pPr algn="l">
                <a:spcBef>
                  <a:spcPct val="50000"/>
                </a:spcBef>
              </a:pPr>
              <a:r>
                <a:rPr lang="en-US" sz="2000"/>
                <a:t>5</a:t>
              </a:r>
              <a:r>
                <a:rPr lang="bg-BG" sz="2000"/>
                <a:t>34</a:t>
              </a:r>
              <a:endParaRPr lang="en-US"/>
            </a:p>
          </p:txBody>
        </p:sp>
        <p:sp>
          <p:nvSpPr>
            <p:cNvPr id="92169" name="Text Box 116"/>
            <p:cNvSpPr txBox="1">
              <a:spLocks noChangeArrowheads="1"/>
            </p:cNvSpPr>
            <p:nvPr/>
          </p:nvSpPr>
          <p:spPr bwMode="auto">
            <a:xfrm>
              <a:off x="4248" y="1776"/>
              <a:ext cx="432" cy="250"/>
            </a:xfrm>
            <a:prstGeom prst="rect">
              <a:avLst/>
            </a:prstGeom>
            <a:noFill/>
            <a:ln w="9525">
              <a:noFill/>
              <a:miter lim="800000"/>
              <a:headEnd/>
              <a:tailEnd/>
            </a:ln>
          </p:spPr>
          <p:txBody>
            <a:bodyPr>
              <a:spAutoFit/>
            </a:bodyPr>
            <a:lstStyle/>
            <a:p>
              <a:pPr algn="l">
                <a:spcBef>
                  <a:spcPct val="50000"/>
                </a:spcBef>
              </a:pPr>
              <a:r>
                <a:rPr lang="en-US" sz="2000"/>
                <a:t>1</a:t>
              </a:r>
              <a:r>
                <a:rPr lang="bg-BG" sz="2000"/>
                <a:t>23</a:t>
              </a:r>
              <a:endParaRPr lang="en-US"/>
            </a:p>
          </p:txBody>
        </p:sp>
        <p:sp>
          <p:nvSpPr>
            <p:cNvPr id="92170" name="Rectangle 5"/>
            <p:cNvSpPr>
              <a:spLocks noChangeArrowheads="1"/>
            </p:cNvSpPr>
            <p:nvPr/>
          </p:nvSpPr>
          <p:spPr bwMode="auto">
            <a:xfrm>
              <a:off x="628" y="1983"/>
              <a:ext cx="480" cy="2064"/>
            </a:xfrm>
            <a:prstGeom prst="rect">
              <a:avLst/>
            </a:prstGeom>
            <a:noFill/>
            <a:ln w="9525">
              <a:solidFill>
                <a:schemeClr val="tx1"/>
              </a:solidFill>
              <a:miter lim="800000"/>
              <a:headEnd/>
              <a:tailEnd/>
            </a:ln>
          </p:spPr>
          <p:txBody>
            <a:bodyPr wrap="none" anchor="ctr"/>
            <a:lstStyle/>
            <a:p>
              <a:endParaRPr lang="bg-BG"/>
            </a:p>
          </p:txBody>
        </p:sp>
        <p:sp>
          <p:nvSpPr>
            <p:cNvPr id="92171" name="Line 6"/>
            <p:cNvSpPr>
              <a:spLocks noChangeShapeType="1"/>
            </p:cNvSpPr>
            <p:nvPr/>
          </p:nvSpPr>
          <p:spPr bwMode="auto">
            <a:xfrm>
              <a:off x="628" y="2803"/>
              <a:ext cx="480" cy="0"/>
            </a:xfrm>
            <a:prstGeom prst="line">
              <a:avLst/>
            </a:prstGeom>
            <a:noFill/>
            <a:ln w="9525">
              <a:solidFill>
                <a:schemeClr val="tx1"/>
              </a:solidFill>
              <a:round/>
              <a:headEnd/>
              <a:tailEnd/>
            </a:ln>
          </p:spPr>
          <p:txBody>
            <a:bodyPr wrap="none" anchor="ctr"/>
            <a:lstStyle/>
            <a:p>
              <a:endParaRPr lang="bg-BG"/>
            </a:p>
          </p:txBody>
        </p:sp>
        <p:sp>
          <p:nvSpPr>
            <p:cNvPr id="92172" name="Line 7"/>
            <p:cNvSpPr>
              <a:spLocks noChangeShapeType="1"/>
            </p:cNvSpPr>
            <p:nvPr/>
          </p:nvSpPr>
          <p:spPr bwMode="auto">
            <a:xfrm>
              <a:off x="628" y="2193"/>
              <a:ext cx="480" cy="0"/>
            </a:xfrm>
            <a:prstGeom prst="line">
              <a:avLst/>
            </a:prstGeom>
            <a:noFill/>
            <a:ln w="9525">
              <a:solidFill>
                <a:schemeClr val="tx1"/>
              </a:solidFill>
              <a:round/>
              <a:headEnd/>
              <a:tailEnd/>
            </a:ln>
          </p:spPr>
          <p:txBody>
            <a:bodyPr wrap="none" anchor="ctr"/>
            <a:lstStyle/>
            <a:p>
              <a:endParaRPr lang="bg-BG"/>
            </a:p>
          </p:txBody>
        </p:sp>
        <p:sp>
          <p:nvSpPr>
            <p:cNvPr id="92173" name="Line 8"/>
            <p:cNvSpPr>
              <a:spLocks noChangeShapeType="1"/>
            </p:cNvSpPr>
            <p:nvPr/>
          </p:nvSpPr>
          <p:spPr bwMode="auto">
            <a:xfrm>
              <a:off x="635" y="2400"/>
              <a:ext cx="480" cy="0"/>
            </a:xfrm>
            <a:prstGeom prst="line">
              <a:avLst/>
            </a:prstGeom>
            <a:noFill/>
            <a:ln w="9525">
              <a:solidFill>
                <a:schemeClr val="tx1"/>
              </a:solidFill>
              <a:round/>
              <a:headEnd/>
              <a:tailEnd/>
            </a:ln>
          </p:spPr>
          <p:txBody>
            <a:bodyPr wrap="none" anchor="ctr"/>
            <a:lstStyle/>
            <a:p>
              <a:endParaRPr lang="bg-BG"/>
            </a:p>
          </p:txBody>
        </p:sp>
        <p:sp>
          <p:nvSpPr>
            <p:cNvPr id="92174" name="Line 9"/>
            <p:cNvSpPr>
              <a:spLocks noChangeShapeType="1"/>
            </p:cNvSpPr>
            <p:nvPr/>
          </p:nvSpPr>
          <p:spPr bwMode="auto">
            <a:xfrm>
              <a:off x="628" y="2600"/>
              <a:ext cx="480" cy="0"/>
            </a:xfrm>
            <a:prstGeom prst="line">
              <a:avLst/>
            </a:prstGeom>
            <a:noFill/>
            <a:ln w="9525">
              <a:solidFill>
                <a:schemeClr val="tx1"/>
              </a:solidFill>
              <a:round/>
              <a:headEnd/>
              <a:tailEnd/>
            </a:ln>
          </p:spPr>
          <p:txBody>
            <a:bodyPr wrap="none" anchor="ctr"/>
            <a:lstStyle/>
            <a:p>
              <a:endParaRPr lang="bg-BG"/>
            </a:p>
          </p:txBody>
        </p:sp>
        <p:sp>
          <p:nvSpPr>
            <p:cNvPr id="92175" name="Line 10"/>
            <p:cNvSpPr>
              <a:spLocks noChangeShapeType="1"/>
            </p:cNvSpPr>
            <p:nvPr/>
          </p:nvSpPr>
          <p:spPr bwMode="auto">
            <a:xfrm>
              <a:off x="628" y="3014"/>
              <a:ext cx="480" cy="0"/>
            </a:xfrm>
            <a:prstGeom prst="line">
              <a:avLst/>
            </a:prstGeom>
            <a:noFill/>
            <a:ln w="9525">
              <a:solidFill>
                <a:schemeClr val="tx1"/>
              </a:solidFill>
              <a:round/>
              <a:headEnd/>
              <a:tailEnd/>
            </a:ln>
          </p:spPr>
          <p:txBody>
            <a:bodyPr wrap="none" anchor="ctr"/>
            <a:lstStyle/>
            <a:p>
              <a:endParaRPr lang="bg-BG"/>
            </a:p>
          </p:txBody>
        </p:sp>
        <p:sp>
          <p:nvSpPr>
            <p:cNvPr id="92176" name="Line 11"/>
            <p:cNvSpPr>
              <a:spLocks noChangeShapeType="1"/>
            </p:cNvSpPr>
            <p:nvPr/>
          </p:nvSpPr>
          <p:spPr bwMode="auto">
            <a:xfrm>
              <a:off x="643" y="3423"/>
              <a:ext cx="480" cy="0"/>
            </a:xfrm>
            <a:prstGeom prst="line">
              <a:avLst/>
            </a:prstGeom>
            <a:noFill/>
            <a:ln w="9525">
              <a:solidFill>
                <a:schemeClr val="tx1"/>
              </a:solidFill>
              <a:round/>
              <a:headEnd/>
              <a:tailEnd/>
            </a:ln>
          </p:spPr>
          <p:txBody>
            <a:bodyPr wrap="none" anchor="ctr"/>
            <a:lstStyle/>
            <a:p>
              <a:endParaRPr lang="bg-BG"/>
            </a:p>
          </p:txBody>
        </p:sp>
        <p:sp>
          <p:nvSpPr>
            <p:cNvPr id="92177" name="Line 13"/>
            <p:cNvSpPr>
              <a:spLocks noChangeShapeType="1"/>
            </p:cNvSpPr>
            <p:nvPr/>
          </p:nvSpPr>
          <p:spPr bwMode="auto">
            <a:xfrm>
              <a:off x="632" y="3829"/>
              <a:ext cx="480" cy="0"/>
            </a:xfrm>
            <a:prstGeom prst="line">
              <a:avLst/>
            </a:prstGeom>
            <a:noFill/>
            <a:ln w="9525">
              <a:solidFill>
                <a:schemeClr val="tx1"/>
              </a:solidFill>
              <a:round/>
              <a:headEnd/>
              <a:tailEnd/>
            </a:ln>
          </p:spPr>
          <p:txBody>
            <a:bodyPr wrap="none" anchor="ctr"/>
            <a:lstStyle/>
            <a:p>
              <a:endParaRPr lang="bg-BG"/>
            </a:p>
          </p:txBody>
        </p:sp>
        <p:sp>
          <p:nvSpPr>
            <p:cNvPr id="92178" name="Line 14"/>
            <p:cNvSpPr>
              <a:spLocks noChangeShapeType="1"/>
            </p:cNvSpPr>
            <p:nvPr/>
          </p:nvSpPr>
          <p:spPr bwMode="auto">
            <a:xfrm>
              <a:off x="643" y="3637"/>
              <a:ext cx="480" cy="0"/>
            </a:xfrm>
            <a:prstGeom prst="line">
              <a:avLst/>
            </a:prstGeom>
            <a:noFill/>
            <a:ln w="9525">
              <a:solidFill>
                <a:schemeClr val="tx1"/>
              </a:solidFill>
              <a:round/>
              <a:headEnd/>
              <a:tailEnd/>
            </a:ln>
          </p:spPr>
          <p:txBody>
            <a:bodyPr wrap="none" anchor="ctr"/>
            <a:lstStyle/>
            <a:p>
              <a:endParaRPr lang="bg-BG"/>
            </a:p>
          </p:txBody>
        </p:sp>
        <p:sp>
          <p:nvSpPr>
            <p:cNvPr id="92179" name="Text Box 15"/>
            <p:cNvSpPr txBox="1">
              <a:spLocks noChangeArrowheads="1"/>
            </p:cNvSpPr>
            <p:nvPr/>
          </p:nvSpPr>
          <p:spPr bwMode="auto">
            <a:xfrm>
              <a:off x="1381" y="2389"/>
              <a:ext cx="432" cy="250"/>
            </a:xfrm>
            <a:prstGeom prst="rect">
              <a:avLst/>
            </a:prstGeom>
            <a:noFill/>
            <a:ln w="9525">
              <a:noFill/>
              <a:miter lim="800000"/>
              <a:headEnd/>
              <a:tailEnd/>
            </a:ln>
          </p:spPr>
          <p:txBody>
            <a:bodyPr>
              <a:spAutoFit/>
            </a:bodyPr>
            <a:lstStyle/>
            <a:p>
              <a:pPr algn="l">
                <a:spcBef>
                  <a:spcPct val="50000"/>
                </a:spcBef>
              </a:pPr>
              <a:r>
                <a:rPr lang="en-US" sz="2000">
                  <a:solidFill>
                    <a:srgbClr val="C00000"/>
                  </a:solidFill>
                </a:rPr>
                <a:t>2</a:t>
              </a:r>
              <a:r>
                <a:rPr lang="bg-BG" sz="2000">
                  <a:solidFill>
                    <a:srgbClr val="C00000"/>
                  </a:solidFill>
                </a:rPr>
                <a:t>34</a:t>
              </a:r>
              <a:endParaRPr lang="en-US">
                <a:solidFill>
                  <a:srgbClr val="C00000"/>
                </a:solidFill>
              </a:endParaRPr>
            </a:p>
          </p:txBody>
        </p:sp>
        <p:sp>
          <p:nvSpPr>
            <p:cNvPr id="92180" name="Rectangle 17"/>
            <p:cNvSpPr>
              <a:spLocks noChangeArrowheads="1"/>
            </p:cNvSpPr>
            <p:nvPr/>
          </p:nvSpPr>
          <p:spPr bwMode="auto">
            <a:xfrm>
              <a:off x="1322" y="1983"/>
              <a:ext cx="480" cy="2064"/>
            </a:xfrm>
            <a:prstGeom prst="rect">
              <a:avLst/>
            </a:prstGeom>
            <a:noFill/>
            <a:ln w="9525">
              <a:solidFill>
                <a:schemeClr val="tx1"/>
              </a:solidFill>
              <a:miter lim="800000"/>
              <a:headEnd/>
              <a:tailEnd/>
            </a:ln>
          </p:spPr>
          <p:txBody>
            <a:bodyPr wrap="none" anchor="ctr"/>
            <a:lstStyle/>
            <a:p>
              <a:endParaRPr lang="bg-BG"/>
            </a:p>
          </p:txBody>
        </p:sp>
        <p:sp>
          <p:nvSpPr>
            <p:cNvPr id="92181" name="Line 18"/>
            <p:cNvSpPr>
              <a:spLocks noChangeShapeType="1"/>
            </p:cNvSpPr>
            <p:nvPr/>
          </p:nvSpPr>
          <p:spPr bwMode="auto">
            <a:xfrm>
              <a:off x="1322" y="2803"/>
              <a:ext cx="480" cy="0"/>
            </a:xfrm>
            <a:prstGeom prst="line">
              <a:avLst/>
            </a:prstGeom>
            <a:noFill/>
            <a:ln w="9525">
              <a:solidFill>
                <a:schemeClr val="tx1"/>
              </a:solidFill>
              <a:round/>
              <a:headEnd/>
              <a:tailEnd/>
            </a:ln>
          </p:spPr>
          <p:txBody>
            <a:bodyPr wrap="none" anchor="ctr"/>
            <a:lstStyle/>
            <a:p>
              <a:endParaRPr lang="bg-BG"/>
            </a:p>
          </p:txBody>
        </p:sp>
        <p:sp>
          <p:nvSpPr>
            <p:cNvPr id="92182" name="Line 19"/>
            <p:cNvSpPr>
              <a:spLocks noChangeShapeType="1"/>
            </p:cNvSpPr>
            <p:nvPr/>
          </p:nvSpPr>
          <p:spPr bwMode="auto">
            <a:xfrm>
              <a:off x="1322" y="2193"/>
              <a:ext cx="480" cy="0"/>
            </a:xfrm>
            <a:prstGeom prst="line">
              <a:avLst/>
            </a:prstGeom>
            <a:noFill/>
            <a:ln w="9525">
              <a:solidFill>
                <a:schemeClr val="tx1"/>
              </a:solidFill>
              <a:round/>
              <a:headEnd/>
              <a:tailEnd/>
            </a:ln>
          </p:spPr>
          <p:txBody>
            <a:bodyPr wrap="none" anchor="ctr"/>
            <a:lstStyle/>
            <a:p>
              <a:endParaRPr lang="bg-BG"/>
            </a:p>
          </p:txBody>
        </p:sp>
        <p:sp>
          <p:nvSpPr>
            <p:cNvPr id="92183" name="Line 20"/>
            <p:cNvSpPr>
              <a:spLocks noChangeShapeType="1"/>
            </p:cNvSpPr>
            <p:nvPr/>
          </p:nvSpPr>
          <p:spPr bwMode="auto">
            <a:xfrm>
              <a:off x="1329" y="2400"/>
              <a:ext cx="480" cy="0"/>
            </a:xfrm>
            <a:prstGeom prst="line">
              <a:avLst/>
            </a:prstGeom>
            <a:noFill/>
            <a:ln w="9525">
              <a:solidFill>
                <a:schemeClr val="tx1"/>
              </a:solidFill>
              <a:round/>
              <a:headEnd/>
              <a:tailEnd/>
            </a:ln>
          </p:spPr>
          <p:txBody>
            <a:bodyPr wrap="none" anchor="ctr"/>
            <a:lstStyle/>
            <a:p>
              <a:endParaRPr lang="bg-BG"/>
            </a:p>
          </p:txBody>
        </p:sp>
        <p:sp>
          <p:nvSpPr>
            <p:cNvPr id="92184" name="Line 21"/>
            <p:cNvSpPr>
              <a:spLocks noChangeShapeType="1"/>
            </p:cNvSpPr>
            <p:nvPr/>
          </p:nvSpPr>
          <p:spPr bwMode="auto">
            <a:xfrm>
              <a:off x="1322" y="2600"/>
              <a:ext cx="480" cy="0"/>
            </a:xfrm>
            <a:prstGeom prst="line">
              <a:avLst/>
            </a:prstGeom>
            <a:noFill/>
            <a:ln w="9525">
              <a:solidFill>
                <a:schemeClr val="tx1"/>
              </a:solidFill>
              <a:round/>
              <a:headEnd/>
              <a:tailEnd/>
            </a:ln>
          </p:spPr>
          <p:txBody>
            <a:bodyPr wrap="none" anchor="ctr"/>
            <a:lstStyle/>
            <a:p>
              <a:endParaRPr lang="bg-BG"/>
            </a:p>
          </p:txBody>
        </p:sp>
        <p:sp>
          <p:nvSpPr>
            <p:cNvPr id="92185" name="Line 22"/>
            <p:cNvSpPr>
              <a:spLocks noChangeShapeType="1"/>
            </p:cNvSpPr>
            <p:nvPr/>
          </p:nvSpPr>
          <p:spPr bwMode="auto">
            <a:xfrm>
              <a:off x="1322" y="3014"/>
              <a:ext cx="480" cy="0"/>
            </a:xfrm>
            <a:prstGeom prst="line">
              <a:avLst/>
            </a:prstGeom>
            <a:noFill/>
            <a:ln w="9525">
              <a:solidFill>
                <a:schemeClr val="tx1"/>
              </a:solidFill>
              <a:round/>
              <a:headEnd/>
              <a:tailEnd/>
            </a:ln>
          </p:spPr>
          <p:txBody>
            <a:bodyPr wrap="none" anchor="ctr"/>
            <a:lstStyle/>
            <a:p>
              <a:endParaRPr lang="bg-BG"/>
            </a:p>
          </p:txBody>
        </p:sp>
        <p:sp>
          <p:nvSpPr>
            <p:cNvPr id="92186" name="Line 23"/>
            <p:cNvSpPr>
              <a:spLocks noChangeShapeType="1"/>
            </p:cNvSpPr>
            <p:nvPr/>
          </p:nvSpPr>
          <p:spPr bwMode="auto">
            <a:xfrm>
              <a:off x="1329" y="3423"/>
              <a:ext cx="480" cy="0"/>
            </a:xfrm>
            <a:prstGeom prst="line">
              <a:avLst/>
            </a:prstGeom>
            <a:noFill/>
            <a:ln w="9525">
              <a:solidFill>
                <a:schemeClr val="tx1"/>
              </a:solidFill>
              <a:round/>
              <a:headEnd/>
              <a:tailEnd/>
            </a:ln>
          </p:spPr>
          <p:txBody>
            <a:bodyPr wrap="none" anchor="ctr"/>
            <a:lstStyle/>
            <a:p>
              <a:endParaRPr lang="bg-BG"/>
            </a:p>
          </p:txBody>
        </p:sp>
        <p:sp>
          <p:nvSpPr>
            <p:cNvPr id="92187" name="Line 25"/>
            <p:cNvSpPr>
              <a:spLocks noChangeShapeType="1"/>
            </p:cNvSpPr>
            <p:nvPr/>
          </p:nvSpPr>
          <p:spPr bwMode="auto">
            <a:xfrm>
              <a:off x="1326" y="3829"/>
              <a:ext cx="480" cy="0"/>
            </a:xfrm>
            <a:prstGeom prst="line">
              <a:avLst/>
            </a:prstGeom>
            <a:noFill/>
            <a:ln w="9525">
              <a:solidFill>
                <a:schemeClr val="tx1"/>
              </a:solidFill>
              <a:round/>
              <a:headEnd/>
              <a:tailEnd/>
            </a:ln>
          </p:spPr>
          <p:txBody>
            <a:bodyPr wrap="none" anchor="ctr"/>
            <a:lstStyle/>
            <a:p>
              <a:endParaRPr lang="bg-BG"/>
            </a:p>
          </p:txBody>
        </p:sp>
        <p:sp>
          <p:nvSpPr>
            <p:cNvPr id="92188" name="Line 26"/>
            <p:cNvSpPr>
              <a:spLocks noChangeShapeType="1"/>
            </p:cNvSpPr>
            <p:nvPr/>
          </p:nvSpPr>
          <p:spPr bwMode="auto">
            <a:xfrm>
              <a:off x="1329" y="3637"/>
              <a:ext cx="480" cy="0"/>
            </a:xfrm>
            <a:prstGeom prst="line">
              <a:avLst/>
            </a:prstGeom>
            <a:noFill/>
            <a:ln w="9525">
              <a:solidFill>
                <a:schemeClr val="tx1"/>
              </a:solidFill>
              <a:round/>
              <a:headEnd/>
              <a:tailEnd/>
            </a:ln>
          </p:spPr>
          <p:txBody>
            <a:bodyPr wrap="none" anchor="ctr"/>
            <a:lstStyle/>
            <a:p>
              <a:endParaRPr lang="bg-BG"/>
            </a:p>
          </p:txBody>
        </p:sp>
        <p:sp>
          <p:nvSpPr>
            <p:cNvPr id="92189" name="Rectangle 28"/>
            <p:cNvSpPr>
              <a:spLocks noChangeArrowheads="1"/>
            </p:cNvSpPr>
            <p:nvPr/>
          </p:nvSpPr>
          <p:spPr bwMode="auto">
            <a:xfrm>
              <a:off x="2020" y="1983"/>
              <a:ext cx="480" cy="2064"/>
            </a:xfrm>
            <a:prstGeom prst="rect">
              <a:avLst/>
            </a:prstGeom>
            <a:noFill/>
            <a:ln w="9525">
              <a:solidFill>
                <a:schemeClr val="tx1"/>
              </a:solidFill>
              <a:miter lim="800000"/>
              <a:headEnd/>
              <a:tailEnd/>
            </a:ln>
          </p:spPr>
          <p:txBody>
            <a:bodyPr wrap="none" anchor="ctr"/>
            <a:lstStyle/>
            <a:p>
              <a:endParaRPr lang="bg-BG"/>
            </a:p>
          </p:txBody>
        </p:sp>
        <p:sp>
          <p:nvSpPr>
            <p:cNvPr id="92190" name="Line 29"/>
            <p:cNvSpPr>
              <a:spLocks noChangeShapeType="1"/>
            </p:cNvSpPr>
            <p:nvPr/>
          </p:nvSpPr>
          <p:spPr bwMode="auto">
            <a:xfrm>
              <a:off x="2020" y="2803"/>
              <a:ext cx="480" cy="0"/>
            </a:xfrm>
            <a:prstGeom prst="line">
              <a:avLst/>
            </a:prstGeom>
            <a:noFill/>
            <a:ln w="9525">
              <a:solidFill>
                <a:schemeClr val="tx1"/>
              </a:solidFill>
              <a:round/>
              <a:headEnd/>
              <a:tailEnd/>
            </a:ln>
          </p:spPr>
          <p:txBody>
            <a:bodyPr wrap="none" anchor="ctr"/>
            <a:lstStyle/>
            <a:p>
              <a:endParaRPr lang="bg-BG"/>
            </a:p>
          </p:txBody>
        </p:sp>
        <p:sp>
          <p:nvSpPr>
            <p:cNvPr id="92191" name="Line 30"/>
            <p:cNvSpPr>
              <a:spLocks noChangeShapeType="1"/>
            </p:cNvSpPr>
            <p:nvPr/>
          </p:nvSpPr>
          <p:spPr bwMode="auto">
            <a:xfrm>
              <a:off x="2020" y="2193"/>
              <a:ext cx="480" cy="0"/>
            </a:xfrm>
            <a:prstGeom prst="line">
              <a:avLst/>
            </a:prstGeom>
            <a:noFill/>
            <a:ln w="9525">
              <a:solidFill>
                <a:schemeClr val="tx1"/>
              </a:solidFill>
              <a:round/>
              <a:headEnd/>
              <a:tailEnd/>
            </a:ln>
          </p:spPr>
          <p:txBody>
            <a:bodyPr wrap="none" anchor="ctr"/>
            <a:lstStyle/>
            <a:p>
              <a:endParaRPr lang="bg-BG"/>
            </a:p>
          </p:txBody>
        </p:sp>
        <p:sp>
          <p:nvSpPr>
            <p:cNvPr id="92192" name="Line 31"/>
            <p:cNvSpPr>
              <a:spLocks noChangeShapeType="1"/>
            </p:cNvSpPr>
            <p:nvPr/>
          </p:nvSpPr>
          <p:spPr bwMode="auto">
            <a:xfrm>
              <a:off x="2027" y="2400"/>
              <a:ext cx="480" cy="0"/>
            </a:xfrm>
            <a:prstGeom prst="line">
              <a:avLst/>
            </a:prstGeom>
            <a:noFill/>
            <a:ln w="9525">
              <a:solidFill>
                <a:schemeClr val="tx1"/>
              </a:solidFill>
              <a:round/>
              <a:headEnd/>
              <a:tailEnd/>
            </a:ln>
          </p:spPr>
          <p:txBody>
            <a:bodyPr wrap="none" anchor="ctr"/>
            <a:lstStyle/>
            <a:p>
              <a:endParaRPr lang="bg-BG"/>
            </a:p>
          </p:txBody>
        </p:sp>
        <p:sp>
          <p:nvSpPr>
            <p:cNvPr id="92193" name="Line 32"/>
            <p:cNvSpPr>
              <a:spLocks noChangeShapeType="1"/>
            </p:cNvSpPr>
            <p:nvPr/>
          </p:nvSpPr>
          <p:spPr bwMode="auto">
            <a:xfrm>
              <a:off x="2020" y="2600"/>
              <a:ext cx="480" cy="0"/>
            </a:xfrm>
            <a:prstGeom prst="line">
              <a:avLst/>
            </a:prstGeom>
            <a:noFill/>
            <a:ln w="9525">
              <a:solidFill>
                <a:schemeClr val="tx1"/>
              </a:solidFill>
              <a:round/>
              <a:headEnd/>
              <a:tailEnd/>
            </a:ln>
          </p:spPr>
          <p:txBody>
            <a:bodyPr wrap="none" anchor="ctr"/>
            <a:lstStyle/>
            <a:p>
              <a:endParaRPr lang="bg-BG"/>
            </a:p>
          </p:txBody>
        </p:sp>
        <p:sp>
          <p:nvSpPr>
            <p:cNvPr id="92194" name="Line 33"/>
            <p:cNvSpPr>
              <a:spLocks noChangeShapeType="1"/>
            </p:cNvSpPr>
            <p:nvPr/>
          </p:nvSpPr>
          <p:spPr bwMode="auto">
            <a:xfrm>
              <a:off x="2020" y="3014"/>
              <a:ext cx="480" cy="0"/>
            </a:xfrm>
            <a:prstGeom prst="line">
              <a:avLst/>
            </a:prstGeom>
            <a:noFill/>
            <a:ln w="9525">
              <a:solidFill>
                <a:schemeClr val="tx1"/>
              </a:solidFill>
              <a:round/>
              <a:headEnd/>
              <a:tailEnd/>
            </a:ln>
          </p:spPr>
          <p:txBody>
            <a:bodyPr wrap="none" anchor="ctr"/>
            <a:lstStyle/>
            <a:p>
              <a:endParaRPr lang="bg-BG"/>
            </a:p>
          </p:txBody>
        </p:sp>
        <p:sp>
          <p:nvSpPr>
            <p:cNvPr id="92195" name="Line 34"/>
            <p:cNvSpPr>
              <a:spLocks noChangeShapeType="1"/>
            </p:cNvSpPr>
            <p:nvPr/>
          </p:nvSpPr>
          <p:spPr bwMode="auto">
            <a:xfrm>
              <a:off x="2035" y="3423"/>
              <a:ext cx="480" cy="0"/>
            </a:xfrm>
            <a:prstGeom prst="line">
              <a:avLst/>
            </a:prstGeom>
            <a:noFill/>
            <a:ln w="9525">
              <a:solidFill>
                <a:schemeClr val="tx1"/>
              </a:solidFill>
              <a:round/>
              <a:headEnd/>
              <a:tailEnd/>
            </a:ln>
          </p:spPr>
          <p:txBody>
            <a:bodyPr wrap="none" anchor="ctr"/>
            <a:lstStyle/>
            <a:p>
              <a:endParaRPr lang="bg-BG"/>
            </a:p>
          </p:txBody>
        </p:sp>
        <p:sp>
          <p:nvSpPr>
            <p:cNvPr id="92196" name="Line 36"/>
            <p:cNvSpPr>
              <a:spLocks noChangeShapeType="1"/>
            </p:cNvSpPr>
            <p:nvPr/>
          </p:nvSpPr>
          <p:spPr bwMode="auto">
            <a:xfrm>
              <a:off x="2024" y="3829"/>
              <a:ext cx="480" cy="0"/>
            </a:xfrm>
            <a:prstGeom prst="line">
              <a:avLst/>
            </a:prstGeom>
            <a:noFill/>
            <a:ln w="9525">
              <a:solidFill>
                <a:schemeClr val="tx1"/>
              </a:solidFill>
              <a:round/>
              <a:headEnd/>
              <a:tailEnd/>
            </a:ln>
          </p:spPr>
          <p:txBody>
            <a:bodyPr wrap="none" anchor="ctr"/>
            <a:lstStyle/>
            <a:p>
              <a:endParaRPr lang="bg-BG"/>
            </a:p>
          </p:txBody>
        </p:sp>
        <p:sp>
          <p:nvSpPr>
            <p:cNvPr id="92197" name="Line 37"/>
            <p:cNvSpPr>
              <a:spLocks noChangeShapeType="1"/>
            </p:cNvSpPr>
            <p:nvPr/>
          </p:nvSpPr>
          <p:spPr bwMode="auto">
            <a:xfrm>
              <a:off x="2035" y="3637"/>
              <a:ext cx="480" cy="0"/>
            </a:xfrm>
            <a:prstGeom prst="line">
              <a:avLst/>
            </a:prstGeom>
            <a:noFill/>
            <a:ln w="9525">
              <a:solidFill>
                <a:schemeClr val="tx1"/>
              </a:solidFill>
              <a:round/>
              <a:headEnd/>
              <a:tailEnd/>
            </a:ln>
          </p:spPr>
          <p:txBody>
            <a:bodyPr wrap="none" anchor="ctr"/>
            <a:lstStyle/>
            <a:p>
              <a:endParaRPr lang="bg-BG"/>
            </a:p>
          </p:txBody>
        </p:sp>
        <p:sp>
          <p:nvSpPr>
            <p:cNvPr id="92198" name="Rectangle 39"/>
            <p:cNvSpPr>
              <a:spLocks noChangeArrowheads="1"/>
            </p:cNvSpPr>
            <p:nvPr/>
          </p:nvSpPr>
          <p:spPr bwMode="auto">
            <a:xfrm>
              <a:off x="3460" y="1983"/>
              <a:ext cx="480" cy="2064"/>
            </a:xfrm>
            <a:prstGeom prst="rect">
              <a:avLst/>
            </a:prstGeom>
            <a:noFill/>
            <a:ln w="9525">
              <a:solidFill>
                <a:schemeClr val="tx1"/>
              </a:solidFill>
              <a:miter lim="800000"/>
              <a:headEnd/>
              <a:tailEnd/>
            </a:ln>
          </p:spPr>
          <p:txBody>
            <a:bodyPr wrap="none" anchor="ctr"/>
            <a:lstStyle/>
            <a:p>
              <a:endParaRPr lang="bg-BG"/>
            </a:p>
          </p:txBody>
        </p:sp>
        <p:sp>
          <p:nvSpPr>
            <p:cNvPr id="92199" name="Line 40"/>
            <p:cNvSpPr>
              <a:spLocks noChangeShapeType="1"/>
            </p:cNvSpPr>
            <p:nvPr/>
          </p:nvSpPr>
          <p:spPr bwMode="auto">
            <a:xfrm>
              <a:off x="3460" y="2803"/>
              <a:ext cx="480" cy="0"/>
            </a:xfrm>
            <a:prstGeom prst="line">
              <a:avLst/>
            </a:prstGeom>
            <a:noFill/>
            <a:ln w="9525">
              <a:solidFill>
                <a:schemeClr val="tx1"/>
              </a:solidFill>
              <a:round/>
              <a:headEnd/>
              <a:tailEnd/>
            </a:ln>
          </p:spPr>
          <p:txBody>
            <a:bodyPr wrap="none" anchor="ctr"/>
            <a:lstStyle/>
            <a:p>
              <a:endParaRPr lang="bg-BG"/>
            </a:p>
          </p:txBody>
        </p:sp>
        <p:sp>
          <p:nvSpPr>
            <p:cNvPr id="92200" name="Line 41"/>
            <p:cNvSpPr>
              <a:spLocks noChangeShapeType="1"/>
            </p:cNvSpPr>
            <p:nvPr/>
          </p:nvSpPr>
          <p:spPr bwMode="auto">
            <a:xfrm>
              <a:off x="3460" y="2193"/>
              <a:ext cx="480" cy="0"/>
            </a:xfrm>
            <a:prstGeom prst="line">
              <a:avLst/>
            </a:prstGeom>
            <a:noFill/>
            <a:ln w="9525">
              <a:solidFill>
                <a:schemeClr val="tx1"/>
              </a:solidFill>
              <a:round/>
              <a:headEnd/>
              <a:tailEnd/>
            </a:ln>
          </p:spPr>
          <p:txBody>
            <a:bodyPr wrap="none" anchor="ctr"/>
            <a:lstStyle/>
            <a:p>
              <a:endParaRPr lang="bg-BG"/>
            </a:p>
          </p:txBody>
        </p:sp>
        <p:sp>
          <p:nvSpPr>
            <p:cNvPr id="92201" name="Line 42"/>
            <p:cNvSpPr>
              <a:spLocks noChangeShapeType="1"/>
            </p:cNvSpPr>
            <p:nvPr/>
          </p:nvSpPr>
          <p:spPr bwMode="auto">
            <a:xfrm>
              <a:off x="3467" y="2400"/>
              <a:ext cx="480" cy="0"/>
            </a:xfrm>
            <a:prstGeom prst="line">
              <a:avLst/>
            </a:prstGeom>
            <a:noFill/>
            <a:ln w="9525">
              <a:solidFill>
                <a:schemeClr val="tx1"/>
              </a:solidFill>
              <a:round/>
              <a:headEnd/>
              <a:tailEnd/>
            </a:ln>
          </p:spPr>
          <p:txBody>
            <a:bodyPr wrap="none" anchor="ctr"/>
            <a:lstStyle/>
            <a:p>
              <a:endParaRPr lang="bg-BG"/>
            </a:p>
          </p:txBody>
        </p:sp>
        <p:sp>
          <p:nvSpPr>
            <p:cNvPr id="92202" name="Line 43"/>
            <p:cNvSpPr>
              <a:spLocks noChangeShapeType="1"/>
            </p:cNvSpPr>
            <p:nvPr/>
          </p:nvSpPr>
          <p:spPr bwMode="auto">
            <a:xfrm>
              <a:off x="3460" y="2600"/>
              <a:ext cx="480" cy="0"/>
            </a:xfrm>
            <a:prstGeom prst="line">
              <a:avLst/>
            </a:prstGeom>
            <a:noFill/>
            <a:ln w="9525">
              <a:solidFill>
                <a:schemeClr val="tx1"/>
              </a:solidFill>
              <a:round/>
              <a:headEnd/>
              <a:tailEnd/>
            </a:ln>
          </p:spPr>
          <p:txBody>
            <a:bodyPr wrap="none" anchor="ctr"/>
            <a:lstStyle/>
            <a:p>
              <a:endParaRPr lang="bg-BG"/>
            </a:p>
          </p:txBody>
        </p:sp>
        <p:sp>
          <p:nvSpPr>
            <p:cNvPr id="92203" name="Line 44"/>
            <p:cNvSpPr>
              <a:spLocks noChangeShapeType="1"/>
            </p:cNvSpPr>
            <p:nvPr/>
          </p:nvSpPr>
          <p:spPr bwMode="auto">
            <a:xfrm>
              <a:off x="3460" y="3014"/>
              <a:ext cx="480" cy="0"/>
            </a:xfrm>
            <a:prstGeom prst="line">
              <a:avLst/>
            </a:prstGeom>
            <a:noFill/>
            <a:ln w="9525">
              <a:solidFill>
                <a:schemeClr val="tx1"/>
              </a:solidFill>
              <a:round/>
              <a:headEnd/>
              <a:tailEnd/>
            </a:ln>
          </p:spPr>
          <p:txBody>
            <a:bodyPr wrap="none" anchor="ctr"/>
            <a:lstStyle/>
            <a:p>
              <a:endParaRPr lang="bg-BG"/>
            </a:p>
          </p:txBody>
        </p:sp>
        <p:sp>
          <p:nvSpPr>
            <p:cNvPr id="92204" name="Line 45"/>
            <p:cNvSpPr>
              <a:spLocks noChangeShapeType="1"/>
            </p:cNvSpPr>
            <p:nvPr/>
          </p:nvSpPr>
          <p:spPr bwMode="auto">
            <a:xfrm>
              <a:off x="3475" y="3423"/>
              <a:ext cx="480" cy="0"/>
            </a:xfrm>
            <a:prstGeom prst="line">
              <a:avLst/>
            </a:prstGeom>
            <a:noFill/>
            <a:ln w="9525">
              <a:solidFill>
                <a:schemeClr val="tx1"/>
              </a:solidFill>
              <a:round/>
              <a:headEnd/>
              <a:tailEnd/>
            </a:ln>
          </p:spPr>
          <p:txBody>
            <a:bodyPr wrap="none" anchor="ctr"/>
            <a:lstStyle/>
            <a:p>
              <a:endParaRPr lang="bg-BG"/>
            </a:p>
          </p:txBody>
        </p:sp>
        <p:sp>
          <p:nvSpPr>
            <p:cNvPr id="92205" name="Line 47"/>
            <p:cNvSpPr>
              <a:spLocks noChangeShapeType="1"/>
            </p:cNvSpPr>
            <p:nvPr/>
          </p:nvSpPr>
          <p:spPr bwMode="auto">
            <a:xfrm>
              <a:off x="3464" y="3829"/>
              <a:ext cx="480" cy="0"/>
            </a:xfrm>
            <a:prstGeom prst="line">
              <a:avLst/>
            </a:prstGeom>
            <a:noFill/>
            <a:ln w="9525">
              <a:solidFill>
                <a:schemeClr val="tx1"/>
              </a:solidFill>
              <a:round/>
              <a:headEnd/>
              <a:tailEnd/>
            </a:ln>
          </p:spPr>
          <p:txBody>
            <a:bodyPr wrap="none" anchor="ctr"/>
            <a:lstStyle/>
            <a:p>
              <a:endParaRPr lang="bg-BG"/>
            </a:p>
          </p:txBody>
        </p:sp>
        <p:sp>
          <p:nvSpPr>
            <p:cNvPr id="92206" name="Line 48"/>
            <p:cNvSpPr>
              <a:spLocks noChangeShapeType="1"/>
            </p:cNvSpPr>
            <p:nvPr/>
          </p:nvSpPr>
          <p:spPr bwMode="auto">
            <a:xfrm>
              <a:off x="3475" y="3637"/>
              <a:ext cx="480" cy="0"/>
            </a:xfrm>
            <a:prstGeom prst="line">
              <a:avLst/>
            </a:prstGeom>
            <a:noFill/>
            <a:ln w="9525">
              <a:solidFill>
                <a:schemeClr val="tx1"/>
              </a:solidFill>
              <a:round/>
              <a:headEnd/>
              <a:tailEnd/>
            </a:ln>
          </p:spPr>
          <p:txBody>
            <a:bodyPr wrap="none" anchor="ctr"/>
            <a:lstStyle/>
            <a:p>
              <a:endParaRPr lang="bg-BG"/>
            </a:p>
          </p:txBody>
        </p:sp>
        <p:sp>
          <p:nvSpPr>
            <p:cNvPr id="92207" name="Rectangle 50"/>
            <p:cNvSpPr>
              <a:spLocks noChangeArrowheads="1"/>
            </p:cNvSpPr>
            <p:nvPr/>
          </p:nvSpPr>
          <p:spPr bwMode="auto">
            <a:xfrm>
              <a:off x="4180" y="1983"/>
              <a:ext cx="480" cy="2064"/>
            </a:xfrm>
            <a:prstGeom prst="rect">
              <a:avLst/>
            </a:prstGeom>
            <a:noFill/>
            <a:ln w="9525">
              <a:solidFill>
                <a:schemeClr val="tx1"/>
              </a:solidFill>
              <a:miter lim="800000"/>
              <a:headEnd/>
              <a:tailEnd/>
            </a:ln>
          </p:spPr>
          <p:txBody>
            <a:bodyPr wrap="none" anchor="ctr"/>
            <a:lstStyle/>
            <a:p>
              <a:endParaRPr lang="bg-BG"/>
            </a:p>
          </p:txBody>
        </p:sp>
        <p:sp>
          <p:nvSpPr>
            <p:cNvPr id="92208" name="Line 51"/>
            <p:cNvSpPr>
              <a:spLocks noChangeShapeType="1"/>
            </p:cNvSpPr>
            <p:nvPr/>
          </p:nvSpPr>
          <p:spPr bwMode="auto">
            <a:xfrm>
              <a:off x="4180" y="2803"/>
              <a:ext cx="480" cy="0"/>
            </a:xfrm>
            <a:prstGeom prst="line">
              <a:avLst/>
            </a:prstGeom>
            <a:noFill/>
            <a:ln w="9525">
              <a:solidFill>
                <a:schemeClr val="tx1"/>
              </a:solidFill>
              <a:round/>
              <a:headEnd/>
              <a:tailEnd/>
            </a:ln>
          </p:spPr>
          <p:txBody>
            <a:bodyPr wrap="none" anchor="ctr"/>
            <a:lstStyle/>
            <a:p>
              <a:endParaRPr lang="bg-BG"/>
            </a:p>
          </p:txBody>
        </p:sp>
        <p:sp>
          <p:nvSpPr>
            <p:cNvPr id="92209" name="Line 52"/>
            <p:cNvSpPr>
              <a:spLocks noChangeShapeType="1"/>
            </p:cNvSpPr>
            <p:nvPr/>
          </p:nvSpPr>
          <p:spPr bwMode="auto">
            <a:xfrm>
              <a:off x="4180" y="2193"/>
              <a:ext cx="480" cy="0"/>
            </a:xfrm>
            <a:prstGeom prst="line">
              <a:avLst/>
            </a:prstGeom>
            <a:noFill/>
            <a:ln w="9525">
              <a:solidFill>
                <a:schemeClr val="tx1"/>
              </a:solidFill>
              <a:round/>
              <a:headEnd/>
              <a:tailEnd/>
            </a:ln>
          </p:spPr>
          <p:txBody>
            <a:bodyPr wrap="none" anchor="ctr"/>
            <a:lstStyle/>
            <a:p>
              <a:endParaRPr lang="bg-BG"/>
            </a:p>
          </p:txBody>
        </p:sp>
        <p:sp>
          <p:nvSpPr>
            <p:cNvPr id="92210" name="Line 53"/>
            <p:cNvSpPr>
              <a:spLocks noChangeShapeType="1"/>
            </p:cNvSpPr>
            <p:nvPr/>
          </p:nvSpPr>
          <p:spPr bwMode="auto">
            <a:xfrm>
              <a:off x="4187" y="2400"/>
              <a:ext cx="480" cy="0"/>
            </a:xfrm>
            <a:prstGeom prst="line">
              <a:avLst/>
            </a:prstGeom>
            <a:noFill/>
            <a:ln w="9525">
              <a:solidFill>
                <a:schemeClr val="tx1"/>
              </a:solidFill>
              <a:round/>
              <a:headEnd/>
              <a:tailEnd/>
            </a:ln>
          </p:spPr>
          <p:txBody>
            <a:bodyPr wrap="none" anchor="ctr"/>
            <a:lstStyle/>
            <a:p>
              <a:endParaRPr lang="bg-BG"/>
            </a:p>
          </p:txBody>
        </p:sp>
        <p:sp>
          <p:nvSpPr>
            <p:cNvPr id="92211" name="Line 54"/>
            <p:cNvSpPr>
              <a:spLocks noChangeShapeType="1"/>
            </p:cNvSpPr>
            <p:nvPr/>
          </p:nvSpPr>
          <p:spPr bwMode="auto">
            <a:xfrm>
              <a:off x="4180" y="2600"/>
              <a:ext cx="480" cy="0"/>
            </a:xfrm>
            <a:prstGeom prst="line">
              <a:avLst/>
            </a:prstGeom>
            <a:noFill/>
            <a:ln w="9525">
              <a:solidFill>
                <a:schemeClr val="tx1"/>
              </a:solidFill>
              <a:round/>
              <a:headEnd/>
              <a:tailEnd/>
            </a:ln>
          </p:spPr>
          <p:txBody>
            <a:bodyPr wrap="none" anchor="ctr"/>
            <a:lstStyle/>
            <a:p>
              <a:endParaRPr lang="bg-BG"/>
            </a:p>
          </p:txBody>
        </p:sp>
        <p:sp>
          <p:nvSpPr>
            <p:cNvPr id="92212" name="Line 55"/>
            <p:cNvSpPr>
              <a:spLocks noChangeShapeType="1"/>
            </p:cNvSpPr>
            <p:nvPr/>
          </p:nvSpPr>
          <p:spPr bwMode="auto">
            <a:xfrm>
              <a:off x="4180" y="3014"/>
              <a:ext cx="480" cy="0"/>
            </a:xfrm>
            <a:prstGeom prst="line">
              <a:avLst/>
            </a:prstGeom>
            <a:noFill/>
            <a:ln w="9525">
              <a:solidFill>
                <a:schemeClr val="tx1"/>
              </a:solidFill>
              <a:round/>
              <a:headEnd/>
              <a:tailEnd/>
            </a:ln>
          </p:spPr>
          <p:txBody>
            <a:bodyPr wrap="none" anchor="ctr"/>
            <a:lstStyle/>
            <a:p>
              <a:endParaRPr lang="bg-BG"/>
            </a:p>
          </p:txBody>
        </p:sp>
        <p:sp>
          <p:nvSpPr>
            <p:cNvPr id="92213" name="Line 56"/>
            <p:cNvSpPr>
              <a:spLocks noChangeShapeType="1"/>
            </p:cNvSpPr>
            <p:nvPr/>
          </p:nvSpPr>
          <p:spPr bwMode="auto">
            <a:xfrm>
              <a:off x="4195" y="3423"/>
              <a:ext cx="480" cy="0"/>
            </a:xfrm>
            <a:prstGeom prst="line">
              <a:avLst/>
            </a:prstGeom>
            <a:noFill/>
            <a:ln w="9525">
              <a:solidFill>
                <a:schemeClr val="tx1"/>
              </a:solidFill>
              <a:round/>
              <a:headEnd/>
              <a:tailEnd/>
            </a:ln>
          </p:spPr>
          <p:txBody>
            <a:bodyPr wrap="none" anchor="ctr"/>
            <a:lstStyle/>
            <a:p>
              <a:endParaRPr lang="bg-BG"/>
            </a:p>
          </p:txBody>
        </p:sp>
        <p:sp>
          <p:nvSpPr>
            <p:cNvPr id="92214" name="Line 58"/>
            <p:cNvSpPr>
              <a:spLocks noChangeShapeType="1"/>
            </p:cNvSpPr>
            <p:nvPr/>
          </p:nvSpPr>
          <p:spPr bwMode="auto">
            <a:xfrm>
              <a:off x="4184" y="3829"/>
              <a:ext cx="480" cy="0"/>
            </a:xfrm>
            <a:prstGeom prst="line">
              <a:avLst/>
            </a:prstGeom>
            <a:noFill/>
            <a:ln w="9525">
              <a:solidFill>
                <a:schemeClr val="tx1"/>
              </a:solidFill>
              <a:round/>
              <a:headEnd/>
              <a:tailEnd/>
            </a:ln>
          </p:spPr>
          <p:txBody>
            <a:bodyPr wrap="none" anchor="ctr"/>
            <a:lstStyle/>
            <a:p>
              <a:endParaRPr lang="bg-BG"/>
            </a:p>
          </p:txBody>
        </p:sp>
        <p:sp>
          <p:nvSpPr>
            <p:cNvPr id="92215" name="Line 59"/>
            <p:cNvSpPr>
              <a:spLocks noChangeShapeType="1"/>
            </p:cNvSpPr>
            <p:nvPr/>
          </p:nvSpPr>
          <p:spPr bwMode="auto">
            <a:xfrm>
              <a:off x="4195" y="3637"/>
              <a:ext cx="480" cy="0"/>
            </a:xfrm>
            <a:prstGeom prst="line">
              <a:avLst/>
            </a:prstGeom>
            <a:noFill/>
            <a:ln w="9525">
              <a:solidFill>
                <a:schemeClr val="tx1"/>
              </a:solidFill>
              <a:round/>
              <a:headEnd/>
              <a:tailEnd/>
            </a:ln>
          </p:spPr>
          <p:txBody>
            <a:bodyPr wrap="none" anchor="ctr"/>
            <a:lstStyle/>
            <a:p>
              <a:endParaRPr lang="bg-BG"/>
            </a:p>
          </p:txBody>
        </p:sp>
        <p:sp>
          <p:nvSpPr>
            <p:cNvPr id="92216" name="Rectangle 61"/>
            <p:cNvSpPr>
              <a:spLocks noChangeArrowheads="1"/>
            </p:cNvSpPr>
            <p:nvPr/>
          </p:nvSpPr>
          <p:spPr bwMode="auto">
            <a:xfrm>
              <a:off x="2740" y="1983"/>
              <a:ext cx="480" cy="2064"/>
            </a:xfrm>
            <a:prstGeom prst="rect">
              <a:avLst/>
            </a:prstGeom>
            <a:noFill/>
            <a:ln w="9525">
              <a:solidFill>
                <a:schemeClr val="tx1"/>
              </a:solidFill>
              <a:miter lim="800000"/>
              <a:headEnd/>
              <a:tailEnd/>
            </a:ln>
          </p:spPr>
          <p:txBody>
            <a:bodyPr wrap="none" anchor="ctr"/>
            <a:lstStyle/>
            <a:p>
              <a:endParaRPr lang="bg-BG"/>
            </a:p>
          </p:txBody>
        </p:sp>
        <p:sp>
          <p:nvSpPr>
            <p:cNvPr id="92217" name="Line 62"/>
            <p:cNvSpPr>
              <a:spLocks noChangeShapeType="1"/>
            </p:cNvSpPr>
            <p:nvPr/>
          </p:nvSpPr>
          <p:spPr bwMode="auto">
            <a:xfrm>
              <a:off x="2740" y="2803"/>
              <a:ext cx="480" cy="0"/>
            </a:xfrm>
            <a:prstGeom prst="line">
              <a:avLst/>
            </a:prstGeom>
            <a:noFill/>
            <a:ln w="9525">
              <a:solidFill>
                <a:schemeClr val="tx1"/>
              </a:solidFill>
              <a:round/>
              <a:headEnd/>
              <a:tailEnd/>
            </a:ln>
          </p:spPr>
          <p:txBody>
            <a:bodyPr wrap="none" anchor="ctr"/>
            <a:lstStyle/>
            <a:p>
              <a:endParaRPr lang="bg-BG"/>
            </a:p>
          </p:txBody>
        </p:sp>
        <p:sp>
          <p:nvSpPr>
            <p:cNvPr id="92218" name="Line 63"/>
            <p:cNvSpPr>
              <a:spLocks noChangeShapeType="1"/>
            </p:cNvSpPr>
            <p:nvPr/>
          </p:nvSpPr>
          <p:spPr bwMode="auto">
            <a:xfrm>
              <a:off x="2740" y="2193"/>
              <a:ext cx="480" cy="0"/>
            </a:xfrm>
            <a:prstGeom prst="line">
              <a:avLst/>
            </a:prstGeom>
            <a:noFill/>
            <a:ln w="9525">
              <a:solidFill>
                <a:schemeClr val="tx1"/>
              </a:solidFill>
              <a:round/>
              <a:headEnd/>
              <a:tailEnd/>
            </a:ln>
          </p:spPr>
          <p:txBody>
            <a:bodyPr wrap="none" anchor="ctr"/>
            <a:lstStyle/>
            <a:p>
              <a:endParaRPr lang="bg-BG"/>
            </a:p>
          </p:txBody>
        </p:sp>
        <p:sp>
          <p:nvSpPr>
            <p:cNvPr id="92219" name="Line 64"/>
            <p:cNvSpPr>
              <a:spLocks noChangeShapeType="1"/>
            </p:cNvSpPr>
            <p:nvPr/>
          </p:nvSpPr>
          <p:spPr bwMode="auto">
            <a:xfrm>
              <a:off x="2747" y="2400"/>
              <a:ext cx="480" cy="0"/>
            </a:xfrm>
            <a:prstGeom prst="line">
              <a:avLst/>
            </a:prstGeom>
            <a:noFill/>
            <a:ln w="9525">
              <a:solidFill>
                <a:schemeClr val="tx1"/>
              </a:solidFill>
              <a:round/>
              <a:headEnd/>
              <a:tailEnd/>
            </a:ln>
          </p:spPr>
          <p:txBody>
            <a:bodyPr wrap="none" anchor="ctr"/>
            <a:lstStyle/>
            <a:p>
              <a:endParaRPr lang="bg-BG"/>
            </a:p>
          </p:txBody>
        </p:sp>
        <p:sp>
          <p:nvSpPr>
            <p:cNvPr id="92220" name="Line 65"/>
            <p:cNvSpPr>
              <a:spLocks noChangeShapeType="1"/>
            </p:cNvSpPr>
            <p:nvPr/>
          </p:nvSpPr>
          <p:spPr bwMode="auto">
            <a:xfrm>
              <a:off x="2740" y="2600"/>
              <a:ext cx="480" cy="0"/>
            </a:xfrm>
            <a:prstGeom prst="line">
              <a:avLst/>
            </a:prstGeom>
            <a:noFill/>
            <a:ln w="9525">
              <a:solidFill>
                <a:schemeClr val="tx1"/>
              </a:solidFill>
              <a:round/>
              <a:headEnd/>
              <a:tailEnd/>
            </a:ln>
          </p:spPr>
          <p:txBody>
            <a:bodyPr wrap="none" anchor="ctr"/>
            <a:lstStyle/>
            <a:p>
              <a:endParaRPr lang="bg-BG"/>
            </a:p>
          </p:txBody>
        </p:sp>
        <p:sp>
          <p:nvSpPr>
            <p:cNvPr id="92221" name="Line 66"/>
            <p:cNvSpPr>
              <a:spLocks noChangeShapeType="1"/>
            </p:cNvSpPr>
            <p:nvPr/>
          </p:nvSpPr>
          <p:spPr bwMode="auto">
            <a:xfrm>
              <a:off x="2740" y="3014"/>
              <a:ext cx="480" cy="0"/>
            </a:xfrm>
            <a:prstGeom prst="line">
              <a:avLst/>
            </a:prstGeom>
            <a:noFill/>
            <a:ln w="9525">
              <a:solidFill>
                <a:schemeClr val="tx1"/>
              </a:solidFill>
              <a:round/>
              <a:headEnd/>
              <a:tailEnd/>
            </a:ln>
          </p:spPr>
          <p:txBody>
            <a:bodyPr wrap="none" anchor="ctr"/>
            <a:lstStyle/>
            <a:p>
              <a:endParaRPr lang="bg-BG"/>
            </a:p>
          </p:txBody>
        </p:sp>
        <p:sp>
          <p:nvSpPr>
            <p:cNvPr id="92222" name="Line 67"/>
            <p:cNvSpPr>
              <a:spLocks noChangeShapeType="1"/>
            </p:cNvSpPr>
            <p:nvPr/>
          </p:nvSpPr>
          <p:spPr bwMode="auto">
            <a:xfrm>
              <a:off x="2755" y="3423"/>
              <a:ext cx="480" cy="0"/>
            </a:xfrm>
            <a:prstGeom prst="line">
              <a:avLst/>
            </a:prstGeom>
            <a:noFill/>
            <a:ln w="9525">
              <a:solidFill>
                <a:schemeClr val="tx1"/>
              </a:solidFill>
              <a:round/>
              <a:headEnd/>
              <a:tailEnd/>
            </a:ln>
          </p:spPr>
          <p:txBody>
            <a:bodyPr wrap="none" anchor="ctr"/>
            <a:lstStyle/>
            <a:p>
              <a:endParaRPr lang="bg-BG"/>
            </a:p>
          </p:txBody>
        </p:sp>
        <p:sp>
          <p:nvSpPr>
            <p:cNvPr id="92223" name="Line 69"/>
            <p:cNvSpPr>
              <a:spLocks noChangeShapeType="1"/>
            </p:cNvSpPr>
            <p:nvPr/>
          </p:nvSpPr>
          <p:spPr bwMode="auto">
            <a:xfrm>
              <a:off x="2744" y="3829"/>
              <a:ext cx="480" cy="0"/>
            </a:xfrm>
            <a:prstGeom prst="line">
              <a:avLst/>
            </a:prstGeom>
            <a:noFill/>
            <a:ln w="9525">
              <a:solidFill>
                <a:schemeClr val="tx1"/>
              </a:solidFill>
              <a:round/>
              <a:headEnd/>
              <a:tailEnd/>
            </a:ln>
          </p:spPr>
          <p:txBody>
            <a:bodyPr wrap="none" anchor="ctr"/>
            <a:lstStyle/>
            <a:p>
              <a:endParaRPr lang="bg-BG"/>
            </a:p>
          </p:txBody>
        </p:sp>
        <p:sp>
          <p:nvSpPr>
            <p:cNvPr id="92224" name="Line 70"/>
            <p:cNvSpPr>
              <a:spLocks noChangeShapeType="1"/>
            </p:cNvSpPr>
            <p:nvPr/>
          </p:nvSpPr>
          <p:spPr bwMode="auto">
            <a:xfrm>
              <a:off x="2755" y="3637"/>
              <a:ext cx="480" cy="0"/>
            </a:xfrm>
            <a:prstGeom prst="line">
              <a:avLst/>
            </a:prstGeom>
            <a:noFill/>
            <a:ln w="9525">
              <a:solidFill>
                <a:schemeClr val="tx1"/>
              </a:solidFill>
              <a:round/>
              <a:headEnd/>
              <a:tailEnd/>
            </a:ln>
          </p:spPr>
          <p:txBody>
            <a:bodyPr wrap="none" anchor="ctr"/>
            <a:lstStyle/>
            <a:p>
              <a:endParaRPr lang="bg-BG"/>
            </a:p>
          </p:txBody>
        </p:sp>
        <p:sp>
          <p:nvSpPr>
            <p:cNvPr id="92225" name="Rectangle 72"/>
            <p:cNvSpPr>
              <a:spLocks noChangeArrowheads="1"/>
            </p:cNvSpPr>
            <p:nvPr/>
          </p:nvSpPr>
          <p:spPr bwMode="auto">
            <a:xfrm>
              <a:off x="4852" y="1983"/>
              <a:ext cx="480" cy="2064"/>
            </a:xfrm>
            <a:prstGeom prst="rect">
              <a:avLst/>
            </a:prstGeom>
            <a:noFill/>
            <a:ln w="9525">
              <a:solidFill>
                <a:schemeClr val="tx1"/>
              </a:solidFill>
              <a:miter lim="800000"/>
              <a:headEnd/>
              <a:tailEnd/>
            </a:ln>
          </p:spPr>
          <p:txBody>
            <a:bodyPr wrap="none" anchor="ctr"/>
            <a:lstStyle/>
            <a:p>
              <a:endParaRPr lang="bg-BG"/>
            </a:p>
          </p:txBody>
        </p:sp>
        <p:sp>
          <p:nvSpPr>
            <p:cNvPr id="92226" name="Line 73"/>
            <p:cNvSpPr>
              <a:spLocks noChangeShapeType="1"/>
            </p:cNvSpPr>
            <p:nvPr/>
          </p:nvSpPr>
          <p:spPr bwMode="auto">
            <a:xfrm>
              <a:off x="4852" y="2803"/>
              <a:ext cx="480" cy="0"/>
            </a:xfrm>
            <a:prstGeom prst="line">
              <a:avLst/>
            </a:prstGeom>
            <a:noFill/>
            <a:ln w="9525">
              <a:solidFill>
                <a:schemeClr val="tx1"/>
              </a:solidFill>
              <a:round/>
              <a:headEnd/>
              <a:tailEnd/>
            </a:ln>
          </p:spPr>
          <p:txBody>
            <a:bodyPr wrap="none" anchor="ctr"/>
            <a:lstStyle/>
            <a:p>
              <a:endParaRPr lang="bg-BG"/>
            </a:p>
          </p:txBody>
        </p:sp>
        <p:sp>
          <p:nvSpPr>
            <p:cNvPr id="92227" name="Line 74"/>
            <p:cNvSpPr>
              <a:spLocks noChangeShapeType="1"/>
            </p:cNvSpPr>
            <p:nvPr/>
          </p:nvSpPr>
          <p:spPr bwMode="auto">
            <a:xfrm>
              <a:off x="4852" y="2193"/>
              <a:ext cx="480" cy="0"/>
            </a:xfrm>
            <a:prstGeom prst="line">
              <a:avLst/>
            </a:prstGeom>
            <a:noFill/>
            <a:ln w="9525">
              <a:solidFill>
                <a:schemeClr val="tx1"/>
              </a:solidFill>
              <a:round/>
              <a:headEnd/>
              <a:tailEnd/>
            </a:ln>
          </p:spPr>
          <p:txBody>
            <a:bodyPr wrap="none" anchor="ctr"/>
            <a:lstStyle/>
            <a:p>
              <a:endParaRPr lang="bg-BG"/>
            </a:p>
          </p:txBody>
        </p:sp>
        <p:sp>
          <p:nvSpPr>
            <p:cNvPr id="92228" name="Line 75"/>
            <p:cNvSpPr>
              <a:spLocks noChangeShapeType="1"/>
            </p:cNvSpPr>
            <p:nvPr/>
          </p:nvSpPr>
          <p:spPr bwMode="auto">
            <a:xfrm>
              <a:off x="4859" y="2400"/>
              <a:ext cx="480" cy="0"/>
            </a:xfrm>
            <a:prstGeom prst="line">
              <a:avLst/>
            </a:prstGeom>
            <a:noFill/>
            <a:ln w="9525">
              <a:solidFill>
                <a:schemeClr val="tx1"/>
              </a:solidFill>
              <a:round/>
              <a:headEnd/>
              <a:tailEnd/>
            </a:ln>
          </p:spPr>
          <p:txBody>
            <a:bodyPr wrap="none" anchor="ctr"/>
            <a:lstStyle/>
            <a:p>
              <a:endParaRPr lang="bg-BG"/>
            </a:p>
          </p:txBody>
        </p:sp>
        <p:sp>
          <p:nvSpPr>
            <p:cNvPr id="92229" name="Line 76"/>
            <p:cNvSpPr>
              <a:spLocks noChangeShapeType="1"/>
            </p:cNvSpPr>
            <p:nvPr/>
          </p:nvSpPr>
          <p:spPr bwMode="auto">
            <a:xfrm>
              <a:off x="4852" y="2600"/>
              <a:ext cx="480" cy="0"/>
            </a:xfrm>
            <a:prstGeom prst="line">
              <a:avLst/>
            </a:prstGeom>
            <a:noFill/>
            <a:ln w="9525">
              <a:solidFill>
                <a:schemeClr val="tx1"/>
              </a:solidFill>
              <a:round/>
              <a:headEnd/>
              <a:tailEnd/>
            </a:ln>
          </p:spPr>
          <p:txBody>
            <a:bodyPr wrap="none" anchor="ctr"/>
            <a:lstStyle/>
            <a:p>
              <a:endParaRPr lang="bg-BG"/>
            </a:p>
          </p:txBody>
        </p:sp>
        <p:sp>
          <p:nvSpPr>
            <p:cNvPr id="92230" name="Line 77"/>
            <p:cNvSpPr>
              <a:spLocks noChangeShapeType="1"/>
            </p:cNvSpPr>
            <p:nvPr/>
          </p:nvSpPr>
          <p:spPr bwMode="auto">
            <a:xfrm>
              <a:off x="4852" y="3014"/>
              <a:ext cx="480" cy="0"/>
            </a:xfrm>
            <a:prstGeom prst="line">
              <a:avLst/>
            </a:prstGeom>
            <a:noFill/>
            <a:ln w="9525">
              <a:solidFill>
                <a:schemeClr val="tx1"/>
              </a:solidFill>
              <a:round/>
              <a:headEnd/>
              <a:tailEnd/>
            </a:ln>
          </p:spPr>
          <p:txBody>
            <a:bodyPr wrap="none" anchor="ctr"/>
            <a:lstStyle/>
            <a:p>
              <a:endParaRPr lang="bg-BG"/>
            </a:p>
          </p:txBody>
        </p:sp>
        <p:sp>
          <p:nvSpPr>
            <p:cNvPr id="92231" name="Line 78"/>
            <p:cNvSpPr>
              <a:spLocks noChangeShapeType="1"/>
            </p:cNvSpPr>
            <p:nvPr/>
          </p:nvSpPr>
          <p:spPr bwMode="auto">
            <a:xfrm>
              <a:off x="4867" y="3423"/>
              <a:ext cx="480" cy="0"/>
            </a:xfrm>
            <a:prstGeom prst="line">
              <a:avLst/>
            </a:prstGeom>
            <a:noFill/>
            <a:ln w="9525">
              <a:solidFill>
                <a:schemeClr val="tx1"/>
              </a:solidFill>
              <a:round/>
              <a:headEnd/>
              <a:tailEnd/>
            </a:ln>
          </p:spPr>
          <p:txBody>
            <a:bodyPr wrap="none" anchor="ctr"/>
            <a:lstStyle/>
            <a:p>
              <a:endParaRPr lang="bg-BG"/>
            </a:p>
          </p:txBody>
        </p:sp>
        <p:sp>
          <p:nvSpPr>
            <p:cNvPr id="92232" name="Line 80"/>
            <p:cNvSpPr>
              <a:spLocks noChangeShapeType="1"/>
            </p:cNvSpPr>
            <p:nvPr/>
          </p:nvSpPr>
          <p:spPr bwMode="auto">
            <a:xfrm>
              <a:off x="4856" y="3829"/>
              <a:ext cx="480" cy="0"/>
            </a:xfrm>
            <a:prstGeom prst="line">
              <a:avLst/>
            </a:prstGeom>
            <a:noFill/>
            <a:ln w="9525">
              <a:solidFill>
                <a:schemeClr val="tx1"/>
              </a:solidFill>
              <a:round/>
              <a:headEnd/>
              <a:tailEnd/>
            </a:ln>
          </p:spPr>
          <p:txBody>
            <a:bodyPr wrap="none" anchor="ctr"/>
            <a:lstStyle/>
            <a:p>
              <a:endParaRPr lang="bg-BG"/>
            </a:p>
          </p:txBody>
        </p:sp>
        <p:sp>
          <p:nvSpPr>
            <p:cNvPr id="92233" name="Line 81"/>
            <p:cNvSpPr>
              <a:spLocks noChangeShapeType="1"/>
            </p:cNvSpPr>
            <p:nvPr/>
          </p:nvSpPr>
          <p:spPr bwMode="auto">
            <a:xfrm>
              <a:off x="4867" y="3637"/>
              <a:ext cx="480" cy="0"/>
            </a:xfrm>
            <a:prstGeom prst="line">
              <a:avLst/>
            </a:prstGeom>
            <a:noFill/>
            <a:ln w="9525">
              <a:solidFill>
                <a:schemeClr val="tx1"/>
              </a:solidFill>
              <a:round/>
              <a:headEnd/>
              <a:tailEnd/>
            </a:ln>
          </p:spPr>
          <p:txBody>
            <a:bodyPr wrap="none" anchor="ctr"/>
            <a:lstStyle/>
            <a:p>
              <a:endParaRPr lang="bg-BG"/>
            </a:p>
          </p:txBody>
        </p:sp>
        <p:sp>
          <p:nvSpPr>
            <p:cNvPr id="92234" name="Text Box 82"/>
            <p:cNvSpPr txBox="1">
              <a:spLocks noChangeArrowheads="1"/>
            </p:cNvSpPr>
            <p:nvPr/>
          </p:nvSpPr>
          <p:spPr bwMode="auto">
            <a:xfrm>
              <a:off x="310" y="1983"/>
              <a:ext cx="226" cy="250"/>
            </a:xfrm>
            <a:prstGeom prst="rect">
              <a:avLst/>
            </a:prstGeom>
            <a:noFill/>
            <a:ln w="9525">
              <a:noFill/>
              <a:miter lim="800000"/>
              <a:headEnd/>
              <a:tailEnd/>
            </a:ln>
          </p:spPr>
          <p:txBody>
            <a:bodyPr>
              <a:spAutoFit/>
            </a:bodyPr>
            <a:lstStyle/>
            <a:p>
              <a:pPr algn="l">
                <a:spcBef>
                  <a:spcPct val="50000"/>
                </a:spcBef>
              </a:pPr>
              <a:r>
                <a:rPr lang="en-US" sz="2000"/>
                <a:t>0</a:t>
              </a:r>
              <a:endParaRPr lang="en-US"/>
            </a:p>
          </p:txBody>
        </p:sp>
        <p:sp>
          <p:nvSpPr>
            <p:cNvPr id="92235" name="Text Box 83"/>
            <p:cNvSpPr txBox="1">
              <a:spLocks noChangeArrowheads="1"/>
            </p:cNvSpPr>
            <p:nvPr/>
          </p:nvSpPr>
          <p:spPr bwMode="auto">
            <a:xfrm>
              <a:off x="303" y="2581"/>
              <a:ext cx="226" cy="250"/>
            </a:xfrm>
            <a:prstGeom prst="rect">
              <a:avLst/>
            </a:prstGeom>
            <a:noFill/>
            <a:ln w="9525">
              <a:noFill/>
              <a:miter lim="800000"/>
              <a:headEnd/>
              <a:tailEnd/>
            </a:ln>
          </p:spPr>
          <p:txBody>
            <a:bodyPr>
              <a:spAutoFit/>
            </a:bodyPr>
            <a:lstStyle/>
            <a:p>
              <a:pPr algn="l">
                <a:spcBef>
                  <a:spcPct val="50000"/>
                </a:spcBef>
              </a:pPr>
              <a:r>
                <a:rPr lang="en-US" sz="2000"/>
                <a:t>3</a:t>
              </a:r>
              <a:endParaRPr lang="en-US"/>
            </a:p>
          </p:txBody>
        </p:sp>
        <p:sp>
          <p:nvSpPr>
            <p:cNvPr id="92236" name="Text Box 84"/>
            <p:cNvSpPr txBox="1">
              <a:spLocks noChangeArrowheads="1"/>
            </p:cNvSpPr>
            <p:nvPr/>
          </p:nvSpPr>
          <p:spPr bwMode="auto">
            <a:xfrm>
              <a:off x="303" y="2784"/>
              <a:ext cx="226" cy="250"/>
            </a:xfrm>
            <a:prstGeom prst="rect">
              <a:avLst/>
            </a:prstGeom>
            <a:noFill/>
            <a:ln w="9525">
              <a:noFill/>
              <a:miter lim="800000"/>
              <a:headEnd/>
              <a:tailEnd/>
            </a:ln>
          </p:spPr>
          <p:txBody>
            <a:bodyPr>
              <a:spAutoFit/>
            </a:bodyPr>
            <a:lstStyle/>
            <a:p>
              <a:pPr algn="l">
                <a:spcBef>
                  <a:spcPct val="50000"/>
                </a:spcBef>
              </a:pPr>
              <a:r>
                <a:rPr lang="en-US" sz="2000"/>
                <a:t>4</a:t>
              </a:r>
              <a:endParaRPr lang="en-US"/>
            </a:p>
          </p:txBody>
        </p:sp>
        <p:sp>
          <p:nvSpPr>
            <p:cNvPr id="92237" name="Text Box 85"/>
            <p:cNvSpPr txBox="1">
              <a:spLocks noChangeArrowheads="1"/>
            </p:cNvSpPr>
            <p:nvPr/>
          </p:nvSpPr>
          <p:spPr bwMode="auto">
            <a:xfrm>
              <a:off x="303" y="2991"/>
              <a:ext cx="226" cy="250"/>
            </a:xfrm>
            <a:prstGeom prst="rect">
              <a:avLst/>
            </a:prstGeom>
            <a:noFill/>
            <a:ln w="9525">
              <a:noFill/>
              <a:miter lim="800000"/>
              <a:headEnd/>
              <a:tailEnd/>
            </a:ln>
          </p:spPr>
          <p:txBody>
            <a:bodyPr>
              <a:spAutoFit/>
            </a:bodyPr>
            <a:lstStyle/>
            <a:p>
              <a:pPr algn="l">
                <a:spcBef>
                  <a:spcPct val="50000"/>
                </a:spcBef>
              </a:pPr>
              <a:r>
                <a:rPr lang="en-US" sz="2000"/>
                <a:t>5</a:t>
              </a:r>
              <a:endParaRPr lang="en-US"/>
            </a:p>
          </p:txBody>
        </p:sp>
        <p:sp>
          <p:nvSpPr>
            <p:cNvPr id="92238" name="Text Box 86"/>
            <p:cNvSpPr txBox="1">
              <a:spLocks noChangeArrowheads="1"/>
            </p:cNvSpPr>
            <p:nvPr/>
          </p:nvSpPr>
          <p:spPr bwMode="auto">
            <a:xfrm>
              <a:off x="299" y="3190"/>
              <a:ext cx="226" cy="250"/>
            </a:xfrm>
            <a:prstGeom prst="rect">
              <a:avLst/>
            </a:prstGeom>
            <a:noFill/>
            <a:ln w="9525">
              <a:noFill/>
              <a:miter lim="800000"/>
              <a:headEnd/>
              <a:tailEnd/>
            </a:ln>
          </p:spPr>
          <p:txBody>
            <a:bodyPr>
              <a:spAutoFit/>
            </a:bodyPr>
            <a:lstStyle/>
            <a:p>
              <a:pPr algn="l">
                <a:spcBef>
                  <a:spcPct val="50000"/>
                </a:spcBef>
              </a:pPr>
              <a:r>
                <a:rPr lang="en-US" sz="2000"/>
                <a:t>6</a:t>
              </a:r>
              <a:endParaRPr lang="en-US"/>
            </a:p>
          </p:txBody>
        </p:sp>
        <p:sp>
          <p:nvSpPr>
            <p:cNvPr id="92239" name="Text Box 87"/>
            <p:cNvSpPr txBox="1">
              <a:spLocks noChangeArrowheads="1"/>
            </p:cNvSpPr>
            <p:nvPr/>
          </p:nvSpPr>
          <p:spPr bwMode="auto">
            <a:xfrm>
              <a:off x="292" y="3397"/>
              <a:ext cx="226" cy="250"/>
            </a:xfrm>
            <a:prstGeom prst="rect">
              <a:avLst/>
            </a:prstGeom>
            <a:noFill/>
            <a:ln w="9525">
              <a:noFill/>
              <a:miter lim="800000"/>
              <a:headEnd/>
              <a:tailEnd/>
            </a:ln>
          </p:spPr>
          <p:txBody>
            <a:bodyPr>
              <a:spAutoFit/>
            </a:bodyPr>
            <a:lstStyle/>
            <a:p>
              <a:pPr algn="l">
                <a:spcBef>
                  <a:spcPct val="50000"/>
                </a:spcBef>
              </a:pPr>
              <a:r>
                <a:rPr lang="en-US" sz="2000"/>
                <a:t>7</a:t>
              </a:r>
              <a:endParaRPr lang="en-US"/>
            </a:p>
          </p:txBody>
        </p:sp>
        <p:sp>
          <p:nvSpPr>
            <p:cNvPr id="92240" name="Text Box 88"/>
            <p:cNvSpPr txBox="1">
              <a:spLocks noChangeArrowheads="1"/>
            </p:cNvSpPr>
            <p:nvPr/>
          </p:nvSpPr>
          <p:spPr bwMode="auto">
            <a:xfrm>
              <a:off x="288" y="3633"/>
              <a:ext cx="226" cy="250"/>
            </a:xfrm>
            <a:prstGeom prst="rect">
              <a:avLst/>
            </a:prstGeom>
            <a:noFill/>
            <a:ln w="9525">
              <a:noFill/>
              <a:miter lim="800000"/>
              <a:headEnd/>
              <a:tailEnd/>
            </a:ln>
          </p:spPr>
          <p:txBody>
            <a:bodyPr>
              <a:spAutoFit/>
            </a:bodyPr>
            <a:lstStyle/>
            <a:p>
              <a:pPr algn="l">
                <a:spcBef>
                  <a:spcPct val="50000"/>
                </a:spcBef>
              </a:pPr>
              <a:r>
                <a:rPr lang="en-US" sz="2000"/>
                <a:t>8</a:t>
              </a:r>
              <a:endParaRPr lang="en-US"/>
            </a:p>
          </p:txBody>
        </p:sp>
        <p:sp>
          <p:nvSpPr>
            <p:cNvPr id="92241" name="Text Box 89"/>
            <p:cNvSpPr txBox="1">
              <a:spLocks noChangeArrowheads="1"/>
            </p:cNvSpPr>
            <p:nvPr/>
          </p:nvSpPr>
          <p:spPr bwMode="auto">
            <a:xfrm>
              <a:off x="292" y="3840"/>
              <a:ext cx="226" cy="250"/>
            </a:xfrm>
            <a:prstGeom prst="rect">
              <a:avLst/>
            </a:prstGeom>
            <a:noFill/>
            <a:ln w="9525">
              <a:noFill/>
              <a:miter lim="800000"/>
              <a:headEnd/>
              <a:tailEnd/>
            </a:ln>
          </p:spPr>
          <p:txBody>
            <a:bodyPr>
              <a:spAutoFit/>
            </a:bodyPr>
            <a:lstStyle/>
            <a:p>
              <a:pPr algn="l">
                <a:spcBef>
                  <a:spcPct val="50000"/>
                </a:spcBef>
              </a:pPr>
              <a:r>
                <a:rPr lang="en-US" sz="2000"/>
                <a:t>9</a:t>
              </a:r>
              <a:endParaRPr lang="en-US"/>
            </a:p>
          </p:txBody>
        </p:sp>
        <p:sp>
          <p:nvSpPr>
            <p:cNvPr id="92242" name="Text Box 90"/>
            <p:cNvSpPr txBox="1">
              <a:spLocks noChangeArrowheads="1"/>
            </p:cNvSpPr>
            <p:nvPr/>
          </p:nvSpPr>
          <p:spPr bwMode="auto">
            <a:xfrm>
              <a:off x="314" y="2182"/>
              <a:ext cx="226" cy="250"/>
            </a:xfrm>
            <a:prstGeom prst="rect">
              <a:avLst/>
            </a:prstGeom>
            <a:noFill/>
            <a:ln w="9525">
              <a:noFill/>
              <a:miter lim="800000"/>
              <a:headEnd/>
              <a:tailEnd/>
            </a:ln>
          </p:spPr>
          <p:txBody>
            <a:bodyPr>
              <a:spAutoFit/>
            </a:bodyPr>
            <a:lstStyle/>
            <a:p>
              <a:pPr algn="l">
                <a:spcBef>
                  <a:spcPct val="50000"/>
                </a:spcBef>
              </a:pPr>
              <a:r>
                <a:rPr lang="en-US" sz="2000"/>
                <a:t>1</a:t>
              </a:r>
              <a:endParaRPr lang="en-US"/>
            </a:p>
          </p:txBody>
        </p:sp>
        <p:sp>
          <p:nvSpPr>
            <p:cNvPr id="92243" name="Text Box 91"/>
            <p:cNvSpPr txBox="1">
              <a:spLocks noChangeArrowheads="1"/>
            </p:cNvSpPr>
            <p:nvPr/>
          </p:nvSpPr>
          <p:spPr bwMode="auto">
            <a:xfrm>
              <a:off x="303" y="2393"/>
              <a:ext cx="226" cy="250"/>
            </a:xfrm>
            <a:prstGeom prst="rect">
              <a:avLst/>
            </a:prstGeom>
            <a:noFill/>
            <a:ln w="9525">
              <a:noFill/>
              <a:miter lim="800000"/>
              <a:headEnd/>
              <a:tailEnd/>
            </a:ln>
          </p:spPr>
          <p:txBody>
            <a:bodyPr>
              <a:spAutoFit/>
            </a:bodyPr>
            <a:lstStyle/>
            <a:p>
              <a:pPr algn="l">
                <a:spcBef>
                  <a:spcPct val="50000"/>
                </a:spcBef>
              </a:pPr>
              <a:r>
                <a:rPr lang="en-US" sz="2000"/>
                <a:t>2</a:t>
              </a:r>
              <a:endParaRPr lang="en-US"/>
            </a:p>
          </p:txBody>
        </p:sp>
        <p:sp>
          <p:nvSpPr>
            <p:cNvPr id="92244" name="Text Box 92"/>
            <p:cNvSpPr txBox="1">
              <a:spLocks noChangeArrowheads="1"/>
            </p:cNvSpPr>
            <p:nvPr/>
          </p:nvSpPr>
          <p:spPr bwMode="auto">
            <a:xfrm>
              <a:off x="3515" y="2371"/>
              <a:ext cx="432" cy="250"/>
            </a:xfrm>
            <a:prstGeom prst="rect">
              <a:avLst/>
            </a:prstGeom>
            <a:noFill/>
            <a:ln w="9525">
              <a:noFill/>
              <a:miter lim="800000"/>
              <a:headEnd/>
              <a:tailEnd/>
            </a:ln>
          </p:spPr>
          <p:txBody>
            <a:bodyPr>
              <a:spAutoFit/>
            </a:bodyPr>
            <a:lstStyle/>
            <a:p>
              <a:pPr algn="l">
                <a:spcBef>
                  <a:spcPct val="50000"/>
                </a:spcBef>
              </a:pPr>
              <a:r>
                <a:rPr lang="en-US" sz="2000"/>
                <a:t>2</a:t>
              </a:r>
              <a:r>
                <a:rPr lang="bg-BG" sz="2000"/>
                <a:t>34</a:t>
              </a:r>
              <a:endParaRPr lang="en-US"/>
            </a:p>
          </p:txBody>
        </p:sp>
        <p:sp>
          <p:nvSpPr>
            <p:cNvPr id="92245" name="Text Box 93"/>
            <p:cNvSpPr txBox="1">
              <a:spLocks noChangeArrowheads="1"/>
            </p:cNvSpPr>
            <p:nvPr/>
          </p:nvSpPr>
          <p:spPr bwMode="auto">
            <a:xfrm>
              <a:off x="2806" y="2378"/>
              <a:ext cx="432" cy="250"/>
            </a:xfrm>
            <a:prstGeom prst="rect">
              <a:avLst/>
            </a:prstGeom>
            <a:noFill/>
            <a:ln w="9525">
              <a:noFill/>
              <a:miter lim="800000"/>
              <a:headEnd/>
              <a:tailEnd/>
            </a:ln>
          </p:spPr>
          <p:txBody>
            <a:bodyPr>
              <a:spAutoFit/>
            </a:bodyPr>
            <a:lstStyle/>
            <a:p>
              <a:pPr algn="l">
                <a:spcBef>
                  <a:spcPct val="50000"/>
                </a:spcBef>
              </a:pPr>
              <a:r>
                <a:rPr lang="en-US" sz="2000"/>
                <a:t>2</a:t>
              </a:r>
              <a:r>
                <a:rPr lang="bg-BG" sz="2000"/>
                <a:t>34</a:t>
              </a:r>
              <a:endParaRPr lang="en-US"/>
            </a:p>
          </p:txBody>
        </p:sp>
        <p:sp>
          <p:nvSpPr>
            <p:cNvPr id="92246" name="Text Box 94"/>
            <p:cNvSpPr txBox="1">
              <a:spLocks noChangeArrowheads="1"/>
            </p:cNvSpPr>
            <p:nvPr/>
          </p:nvSpPr>
          <p:spPr bwMode="auto">
            <a:xfrm>
              <a:off x="2075" y="2371"/>
              <a:ext cx="432" cy="250"/>
            </a:xfrm>
            <a:prstGeom prst="rect">
              <a:avLst/>
            </a:prstGeom>
            <a:noFill/>
            <a:ln w="9525">
              <a:noFill/>
              <a:miter lim="800000"/>
              <a:headEnd/>
              <a:tailEnd/>
            </a:ln>
          </p:spPr>
          <p:txBody>
            <a:bodyPr>
              <a:spAutoFit/>
            </a:bodyPr>
            <a:lstStyle/>
            <a:p>
              <a:pPr algn="l">
                <a:spcBef>
                  <a:spcPct val="50000"/>
                </a:spcBef>
              </a:pPr>
              <a:r>
                <a:rPr lang="en-US" sz="2000"/>
                <a:t>2</a:t>
              </a:r>
              <a:r>
                <a:rPr lang="bg-BG" sz="2000"/>
                <a:t>34</a:t>
              </a:r>
              <a:endParaRPr lang="en-US"/>
            </a:p>
          </p:txBody>
        </p:sp>
        <p:sp>
          <p:nvSpPr>
            <p:cNvPr id="92247" name="Text Box 95"/>
            <p:cNvSpPr txBox="1">
              <a:spLocks noChangeArrowheads="1"/>
            </p:cNvSpPr>
            <p:nvPr/>
          </p:nvSpPr>
          <p:spPr bwMode="auto">
            <a:xfrm>
              <a:off x="4911" y="2378"/>
              <a:ext cx="432" cy="250"/>
            </a:xfrm>
            <a:prstGeom prst="rect">
              <a:avLst/>
            </a:prstGeom>
            <a:noFill/>
            <a:ln w="9525">
              <a:noFill/>
              <a:miter lim="800000"/>
              <a:headEnd/>
              <a:tailEnd/>
            </a:ln>
          </p:spPr>
          <p:txBody>
            <a:bodyPr>
              <a:spAutoFit/>
            </a:bodyPr>
            <a:lstStyle/>
            <a:p>
              <a:pPr algn="l">
                <a:spcBef>
                  <a:spcPct val="50000"/>
                </a:spcBef>
              </a:pPr>
              <a:r>
                <a:rPr lang="en-US" sz="2000"/>
                <a:t>2</a:t>
              </a:r>
              <a:r>
                <a:rPr lang="bg-BG" sz="2000"/>
                <a:t>34</a:t>
              </a:r>
              <a:endParaRPr lang="en-US"/>
            </a:p>
          </p:txBody>
        </p:sp>
        <p:sp>
          <p:nvSpPr>
            <p:cNvPr id="92248" name="Text Box 96"/>
            <p:cNvSpPr txBox="1">
              <a:spLocks noChangeArrowheads="1"/>
            </p:cNvSpPr>
            <p:nvPr/>
          </p:nvSpPr>
          <p:spPr bwMode="auto">
            <a:xfrm>
              <a:off x="4250" y="2371"/>
              <a:ext cx="432" cy="250"/>
            </a:xfrm>
            <a:prstGeom prst="rect">
              <a:avLst/>
            </a:prstGeom>
            <a:noFill/>
            <a:ln w="9525">
              <a:noFill/>
              <a:miter lim="800000"/>
              <a:headEnd/>
              <a:tailEnd/>
            </a:ln>
          </p:spPr>
          <p:txBody>
            <a:bodyPr>
              <a:spAutoFit/>
            </a:bodyPr>
            <a:lstStyle/>
            <a:p>
              <a:pPr algn="l">
                <a:spcBef>
                  <a:spcPct val="50000"/>
                </a:spcBef>
              </a:pPr>
              <a:r>
                <a:rPr lang="en-US" sz="2000"/>
                <a:t>2</a:t>
              </a:r>
              <a:r>
                <a:rPr lang="bg-BG" sz="2000"/>
                <a:t>34</a:t>
              </a:r>
              <a:endParaRPr lang="en-US"/>
            </a:p>
          </p:txBody>
        </p:sp>
        <p:sp>
          <p:nvSpPr>
            <p:cNvPr id="92249" name="Text Box 97"/>
            <p:cNvSpPr txBox="1">
              <a:spLocks noChangeArrowheads="1"/>
            </p:cNvSpPr>
            <p:nvPr/>
          </p:nvSpPr>
          <p:spPr bwMode="auto">
            <a:xfrm>
              <a:off x="2083" y="2574"/>
              <a:ext cx="432" cy="250"/>
            </a:xfrm>
            <a:prstGeom prst="rect">
              <a:avLst/>
            </a:prstGeom>
            <a:noFill/>
            <a:ln w="9525">
              <a:noFill/>
              <a:miter lim="800000"/>
              <a:headEnd/>
              <a:tailEnd/>
            </a:ln>
          </p:spPr>
          <p:txBody>
            <a:bodyPr>
              <a:spAutoFit/>
            </a:bodyPr>
            <a:lstStyle/>
            <a:p>
              <a:pPr algn="l">
                <a:spcBef>
                  <a:spcPct val="50000"/>
                </a:spcBef>
              </a:pPr>
              <a:r>
                <a:rPr lang="en-US" sz="2000">
                  <a:solidFill>
                    <a:srgbClr val="C00000"/>
                  </a:solidFill>
                </a:rPr>
                <a:t>2</a:t>
              </a:r>
              <a:r>
                <a:rPr lang="bg-BG" sz="2000">
                  <a:solidFill>
                    <a:srgbClr val="C00000"/>
                  </a:solidFill>
                </a:rPr>
                <a:t>35</a:t>
              </a:r>
              <a:endParaRPr lang="en-US">
                <a:solidFill>
                  <a:srgbClr val="C00000"/>
                </a:solidFill>
              </a:endParaRPr>
            </a:p>
          </p:txBody>
        </p:sp>
        <p:sp>
          <p:nvSpPr>
            <p:cNvPr id="92250" name="Text Box 99"/>
            <p:cNvSpPr txBox="1">
              <a:spLocks noChangeArrowheads="1"/>
            </p:cNvSpPr>
            <p:nvPr/>
          </p:nvSpPr>
          <p:spPr bwMode="auto">
            <a:xfrm>
              <a:off x="4911" y="2570"/>
              <a:ext cx="432" cy="250"/>
            </a:xfrm>
            <a:prstGeom prst="rect">
              <a:avLst/>
            </a:prstGeom>
            <a:noFill/>
            <a:ln w="9525">
              <a:noFill/>
              <a:miter lim="800000"/>
              <a:headEnd/>
              <a:tailEnd/>
            </a:ln>
          </p:spPr>
          <p:txBody>
            <a:bodyPr>
              <a:spAutoFit/>
            </a:bodyPr>
            <a:lstStyle/>
            <a:p>
              <a:pPr algn="l">
                <a:spcBef>
                  <a:spcPct val="50000"/>
                </a:spcBef>
              </a:pPr>
              <a:r>
                <a:rPr lang="en-US" sz="2000"/>
                <a:t>2</a:t>
              </a:r>
              <a:r>
                <a:rPr lang="bg-BG" sz="2000"/>
                <a:t>35</a:t>
              </a:r>
              <a:endParaRPr lang="en-US"/>
            </a:p>
          </p:txBody>
        </p:sp>
        <p:sp>
          <p:nvSpPr>
            <p:cNvPr id="92251" name="Text Box 100"/>
            <p:cNvSpPr txBox="1">
              <a:spLocks noChangeArrowheads="1"/>
            </p:cNvSpPr>
            <p:nvPr/>
          </p:nvSpPr>
          <p:spPr bwMode="auto">
            <a:xfrm>
              <a:off x="4261" y="2585"/>
              <a:ext cx="432" cy="250"/>
            </a:xfrm>
            <a:prstGeom prst="rect">
              <a:avLst/>
            </a:prstGeom>
            <a:noFill/>
            <a:ln w="9525">
              <a:noFill/>
              <a:miter lim="800000"/>
              <a:headEnd/>
              <a:tailEnd/>
            </a:ln>
          </p:spPr>
          <p:txBody>
            <a:bodyPr>
              <a:spAutoFit/>
            </a:bodyPr>
            <a:lstStyle/>
            <a:p>
              <a:pPr algn="l">
                <a:spcBef>
                  <a:spcPct val="50000"/>
                </a:spcBef>
              </a:pPr>
              <a:r>
                <a:rPr lang="en-US" sz="2000"/>
                <a:t>2</a:t>
              </a:r>
              <a:r>
                <a:rPr lang="bg-BG" sz="2000"/>
                <a:t>35</a:t>
              </a:r>
              <a:endParaRPr lang="en-US"/>
            </a:p>
          </p:txBody>
        </p:sp>
        <p:sp>
          <p:nvSpPr>
            <p:cNvPr id="92252" name="Text Box 101"/>
            <p:cNvSpPr txBox="1">
              <a:spLocks noChangeArrowheads="1"/>
            </p:cNvSpPr>
            <p:nvPr/>
          </p:nvSpPr>
          <p:spPr bwMode="auto">
            <a:xfrm>
              <a:off x="3519" y="2570"/>
              <a:ext cx="432" cy="250"/>
            </a:xfrm>
            <a:prstGeom prst="rect">
              <a:avLst/>
            </a:prstGeom>
            <a:noFill/>
            <a:ln w="9525">
              <a:noFill/>
              <a:miter lim="800000"/>
              <a:headEnd/>
              <a:tailEnd/>
            </a:ln>
          </p:spPr>
          <p:txBody>
            <a:bodyPr>
              <a:spAutoFit/>
            </a:bodyPr>
            <a:lstStyle/>
            <a:p>
              <a:pPr algn="l">
                <a:spcBef>
                  <a:spcPct val="50000"/>
                </a:spcBef>
              </a:pPr>
              <a:r>
                <a:rPr lang="en-US" sz="2000"/>
                <a:t>2</a:t>
              </a:r>
              <a:r>
                <a:rPr lang="bg-BG" sz="2000"/>
                <a:t>35</a:t>
              </a:r>
              <a:endParaRPr lang="en-US"/>
            </a:p>
          </p:txBody>
        </p:sp>
        <p:sp>
          <p:nvSpPr>
            <p:cNvPr id="92253" name="Text Box 102"/>
            <p:cNvSpPr txBox="1">
              <a:spLocks noChangeArrowheads="1"/>
            </p:cNvSpPr>
            <p:nvPr/>
          </p:nvSpPr>
          <p:spPr bwMode="auto">
            <a:xfrm>
              <a:off x="2795" y="2581"/>
              <a:ext cx="432" cy="250"/>
            </a:xfrm>
            <a:prstGeom prst="rect">
              <a:avLst/>
            </a:prstGeom>
            <a:noFill/>
            <a:ln w="9525">
              <a:noFill/>
              <a:miter lim="800000"/>
              <a:headEnd/>
              <a:tailEnd/>
            </a:ln>
          </p:spPr>
          <p:txBody>
            <a:bodyPr>
              <a:spAutoFit/>
            </a:bodyPr>
            <a:lstStyle/>
            <a:p>
              <a:pPr algn="l">
                <a:spcBef>
                  <a:spcPct val="50000"/>
                </a:spcBef>
              </a:pPr>
              <a:r>
                <a:rPr lang="en-US" sz="2000"/>
                <a:t>2</a:t>
              </a:r>
              <a:r>
                <a:rPr lang="bg-BG" sz="2000"/>
                <a:t>35</a:t>
              </a:r>
              <a:endParaRPr lang="en-US"/>
            </a:p>
          </p:txBody>
        </p:sp>
        <p:sp>
          <p:nvSpPr>
            <p:cNvPr id="92254" name="Text Box 104"/>
            <p:cNvSpPr txBox="1">
              <a:spLocks noChangeArrowheads="1"/>
            </p:cNvSpPr>
            <p:nvPr/>
          </p:nvSpPr>
          <p:spPr bwMode="auto">
            <a:xfrm>
              <a:off x="2799" y="2991"/>
              <a:ext cx="432" cy="250"/>
            </a:xfrm>
            <a:prstGeom prst="rect">
              <a:avLst/>
            </a:prstGeom>
            <a:noFill/>
            <a:ln w="9525">
              <a:noFill/>
              <a:miter lim="800000"/>
              <a:headEnd/>
              <a:tailEnd/>
            </a:ln>
          </p:spPr>
          <p:txBody>
            <a:bodyPr>
              <a:spAutoFit/>
            </a:bodyPr>
            <a:lstStyle/>
            <a:p>
              <a:pPr algn="l">
                <a:spcBef>
                  <a:spcPct val="50000"/>
                </a:spcBef>
              </a:pPr>
              <a:r>
                <a:rPr lang="en-US" sz="2000">
                  <a:solidFill>
                    <a:srgbClr val="C00000"/>
                  </a:solidFill>
                </a:rPr>
                <a:t>5</a:t>
              </a:r>
              <a:r>
                <a:rPr lang="bg-BG" sz="2000">
                  <a:solidFill>
                    <a:srgbClr val="C00000"/>
                  </a:solidFill>
                </a:rPr>
                <a:t>67</a:t>
              </a:r>
              <a:endParaRPr lang="en-US">
                <a:solidFill>
                  <a:srgbClr val="C00000"/>
                </a:solidFill>
              </a:endParaRPr>
            </a:p>
          </p:txBody>
        </p:sp>
        <p:sp>
          <p:nvSpPr>
            <p:cNvPr id="92255" name="Text Box 105"/>
            <p:cNvSpPr txBox="1">
              <a:spLocks noChangeArrowheads="1"/>
            </p:cNvSpPr>
            <p:nvPr/>
          </p:nvSpPr>
          <p:spPr bwMode="auto">
            <a:xfrm>
              <a:off x="4920" y="2992"/>
              <a:ext cx="432" cy="250"/>
            </a:xfrm>
            <a:prstGeom prst="rect">
              <a:avLst/>
            </a:prstGeom>
            <a:noFill/>
            <a:ln w="9525">
              <a:noFill/>
              <a:miter lim="800000"/>
              <a:headEnd/>
              <a:tailEnd/>
            </a:ln>
          </p:spPr>
          <p:txBody>
            <a:bodyPr>
              <a:spAutoFit/>
            </a:bodyPr>
            <a:lstStyle/>
            <a:p>
              <a:pPr algn="l">
                <a:spcBef>
                  <a:spcPct val="50000"/>
                </a:spcBef>
              </a:pPr>
              <a:r>
                <a:rPr lang="en-US" sz="2000"/>
                <a:t>5</a:t>
              </a:r>
              <a:r>
                <a:rPr lang="bg-BG" sz="2000"/>
                <a:t>67</a:t>
              </a:r>
              <a:endParaRPr lang="en-US"/>
            </a:p>
          </p:txBody>
        </p:sp>
        <p:sp>
          <p:nvSpPr>
            <p:cNvPr id="92256" name="Text Box 106"/>
            <p:cNvSpPr txBox="1">
              <a:spLocks noChangeArrowheads="1"/>
            </p:cNvSpPr>
            <p:nvPr/>
          </p:nvSpPr>
          <p:spPr bwMode="auto">
            <a:xfrm>
              <a:off x="4248" y="2992"/>
              <a:ext cx="432" cy="250"/>
            </a:xfrm>
            <a:prstGeom prst="rect">
              <a:avLst/>
            </a:prstGeom>
            <a:noFill/>
            <a:ln w="9525">
              <a:noFill/>
              <a:miter lim="800000"/>
              <a:headEnd/>
              <a:tailEnd/>
            </a:ln>
          </p:spPr>
          <p:txBody>
            <a:bodyPr>
              <a:spAutoFit/>
            </a:bodyPr>
            <a:lstStyle/>
            <a:p>
              <a:pPr algn="l">
                <a:spcBef>
                  <a:spcPct val="50000"/>
                </a:spcBef>
              </a:pPr>
              <a:r>
                <a:rPr lang="en-US" sz="2000"/>
                <a:t>5</a:t>
              </a:r>
              <a:r>
                <a:rPr lang="bg-BG" sz="2000"/>
                <a:t>67</a:t>
              </a:r>
              <a:endParaRPr lang="en-US"/>
            </a:p>
          </p:txBody>
        </p:sp>
        <p:sp>
          <p:nvSpPr>
            <p:cNvPr id="92257" name="Text Box 108"/>
            <p:cNvSpPr txBox="1">
              <a:spLocks noChangeArrowheads="1"/>
            </p:cNvSpPr>
            <p:nvPr/>
          </p:nvSpPr>
          <p:spPr bwMode="auto">
            <a:xfrm>
              <a:off x="3520" y="2984"/>
              <a:ext cx="432" cy="250"/>
            </a:xfrm>
            <a:prstGeom prst="rect">
              <a:avLst/>
            </a:prstGeom>
            <a:noFill/>
            <a:ln w="9525">
              <a:noFill/>
              <a:miter lim="800000"/>
              <a:headEnd/>
              <a:tailEnd/>
            </a:ln>
          </p:spPr>
          <p:txBody>
            <a:bodyPr>
              <a:spAutoFit/>
            </a:bodyPr>
            <a:lstStyle/>
            <a:p>
              <a:pPr algn="l">
                <a:spcBef>
                  <a:spcPct val="50000"/>
                </a:spcBef>
              </a:pPr>
              <a:r>
                <a:rPr lang="en-US" sz="2000"/>
                <a:t>5</a:t>
              </a:r>
              <a:r>
                <a:rPr lang="bg-BG" sz="2000"/>
                <a:t>67</a:t>
              </a:r>
              <a:endParaRPr lang="en-US"/>
            </a:p>
          </p:txBody>
        </p:sp>
        <p:sp>
          <p:nvSpPr>
            <p:cNvPr id="92258" name="Text Box 109"/>
            <p:cNvSpPr txBox="1">
              <a:spLocks noChangeArrowheads="1"/>
            </p:cNvSpPr>
            <p:nvPr/>
          </p:nvSpPr>
          <p:spPr bwMode="auto">
            <a:xfrm>
              <a:off x="3520" y="3192"/>
              <a:ext cx="432" cy="250"/>
            </a:xfrm>
            <a:prstGeom prst="rect">
              <a:avLst/>
            </a:prstGeom>
            <a:noFill/>
            <a:ln w="9525">
              <a:noFill/>
              <a:miter lim="800000"/>
              <a:headEnd/>
              <a:tailEnd/>
            </a:ln>
          </p:spPr>
          <p:txBody>
            <a:bodyPr>
              <a:spAutoFit/>
            </a:bodyPr>
            <a:lstStyle/>
            <a:p>
              <a:pPr algn="l">
                <a:spcBef>
                  <a:spcPct val="50000"/>
                </a:spcBef>
              </a:pPr>
              <a:r>
                <a:rPr lang="en-US" sz="2000">
                  <a:solidFill>
                    <a:srgbClr val="C00000"/>
                  </a:solidFill>
                </a:rPr>
                <a:t>5</a:t>
              </a:r>
              <a:r>
                <a:rPr lang="bg-BG" sz="2000">
                  <a:solidFill>
                    <a:srgbClr val="C00000"/>
                  </a:solidFill>
                </a:rPr>
                <a:t>34</a:t>
              </a:r>
              <a:endParaRPr lang="en-US">
                <a:solidFill>
                  <a:srgbClr val="C00000"/>
                </a:solidFill>
              </a:endParaRPr>
            </a:p>
          </p:txBody>
        </p:sp>
        <p:sp>
          <p:nvSpPr>
            <p:cNvPr id="92259" name="Text Box 111"/>
            <p:cNvSpPr txBox="1">
              <a:spLocks noChangeArrowheads="1"/>
            </p:cNvSpPr>
            <p:nvPr/>
          </p:nvSpPr>
          <p:spPr bwMode="auto">
            <a:xfrm>
              <a:off x="4920" y="3192"/>
              <a:ext cx="432" cy="250"/>
            </a:xfrm>
            <a:prstGeom prst="rect">
              <a:avLst/>
            </a:prstGeom>
            <a:noFill/>
            <a:ln w="9525">
              <a:noFill/>
              <a:miter lim="800000"/>
              <a:headEnd/>
              <a:tailEnd/>
            </a:ln>
          </p:spPr>
          <p:txBody>
            <a:bodyPr>
              <a:spAutoFit/>
            </a:bodyPr>
            <a:lstStyle/>
            <a:p>
              <a:pPr algn="l">
                <a:spcBef>
                  <a:spcPct val="50000"/>
                </a:spcBef>
              </a:pPr>
              <a:r>
                <a:rPr lang="en-US" sz="2000"/>
                <a:t>5</a:t>
              </a:r>
              <a:r>
                <a:rPr lang="bg-BG" sz="2000"/>
                <a:t>34</a:t>
              </a:r>
              <a:endParaRPr lang="en-US"/>
            </a:p>
          </p:txBody>
        </p:sp>
        <p:sp>
          <p:nvSpPr>
            <p:cNvPr id="92260" name="Text Box 112"/>
            <p:cNvSpPr txBox="1">
              <a:spLocks noChangeArrowheads="1"/>
            </p:cNvSpPr>
            <p:nvPr/>
          </p:nvSpPr>
          <p:spPr bwMode="auto">
            <a:xfrm>
              <a:off x="4248" y="3192"/>
              <a:ext cx="432" cy="250"/>
            </a:xfrm>
            <a:prstGeom prst="rect">
              <a:avLst/>
            </a:prstGeom>
            <a:noFill/>
            <a:ln w="9525">
              <a:noFill/>
              <a:miter lim="800000"/>
              <a:headEnd/>
              <a:tailEnd/>
            </a:ln>
          </p:spPr>
          <p:txBody>
            <a:bodyPr>
              <a:spAutoFit/>
            </a:bodyPr>
            <a:lstStyle/>
            <a:p>
              <a:pPr algn="l">
                <a:spcBef>
                  <a:spcPct val="50000"/>
                </a:spcBef>
              </a:pPr>
              <a:r>
                <a:rPr lang="en-US" sz="2000"/>
                <a:t>5</a:t>
              </a:r>
              <a:r>
                <a:rPr lang="bg-BG" sz="2000"/>
                <a:t>34</a:t>
              </a:r>
              <a:endParaRPr lang="en-US"/>
            </a:p>
          </p:txBody>
        </p:sp>
        <p:sp>
          <p:nvSpPr>
            <p:cNvPr id="92261" name="Line 113"/>
            <p:cNvSpPr>
              <a:spLocks noChangeShapeType="1"/>
            </p:cNvSpPr>
            <p:nvPr/>
          </p:nvSpPr>
          <p:spPr bwMode="auto">
            <a:xfrm>
              <a:off x="2400" y="2470"/>
              <a:ext cx="0" cy="240"/>
            </a:xfrm>
            <a:prstGeom prst="line">
              <a:avLst/>
            </a:prstGeom>
            <a:noFill/>
            <a:ln w="9525">
              <a:solidFill>
                <a:schemeClr val="tx1"/>
              </a:solidFill>
              <a:round/>
              <a:headEnd/>
              <a:tailEnd type="triangle" w="med" len="med"/>
            </a:ln>
          </p:spPr>
          <p:txBody>
            <a:bodyPr wrap="none" anchor="ctr"/>
            <a:lstStyle/>
            <a:p>
              <a:endParaRPr lang="bg-BG"/>
            </a:p>
          </p:txBody>
        </p:sp>
        <p:sp>
          <p:nvSpPr>
            <p:cNvPr id="92262" name="Text Box 115"/>
            <p:cNvSpPr txBox="1">
              <a:spLocks noChangeArrowheads="1"/>
            </p:cNvSpPr>
            <p:nvPr/>
          </p:nvSpPr>
          <p:spPr bwMode="auto">
            <a:xfrm>
              <a:off x="4246" y="2175"/>
              <a:ext cx="432" cy="250"/>
            </a:xfrm>
            <a:prstGeom prst="rect">
              <a:avLst/>
            </a:prstGeom>
            <a:noFill/>
            <a:ln w="9525">
              <a:noFill/>
              <a:miter lim="800000"/>
              <a:headEnd/>
              <a:tailEnd/>
            </a:ln>
          </p:spPr>
          <p:txBody>
            <a:bodyPr>
              <a:spAutoFit/>
            </a:bodyPr>
            <a:lstStyle/>
            <a:p>
              <a:pPr algn="l">
                <a:spcBef>
                  <a:spcPct val="50000"/>
                </a:spcBef>
              </a:pPr>
              <a:r>
                <a:rPr lang="en-US" sz="2000">
                  <a:solidFill>
                    <a:srgbClr val="C00000"/>
                  </a:solidFill>
                </a:rPr>
                <a:t>1</a:t>
              </a:r>
              <a:r>
                <a:rPr lang="bg-BG" sz="2000">
                  <a:solidFill>
                    <a:srgbClr val="C00000"/>
                  </a:solidFill>
                </a:rPr>
                <a:t>23</a:t>
              </a:r>
              <a:endParaRPr lang="en-US">
                <a:solidFill>
                  <a:srgbClr val="C00000"/>
                </a:solidFill>
              </a:endParaRPr>
            </a:p>
          </p:txBody>
        </p:sp>
        <p:sp>
          <p:nvSpPr>
            <p:cNvPr id="92263" name="Text Box 117"/>
            <p:cNvSpPr txBox="1">
              <a:spLocks noChangeArrowheads="1"/>
            </p:cNvSpPr>
            <p:nvPr/>
          </p:nvSpPr>
          <p:spPr bwMode="auto">
            <a:xfrm>
              <a:off x="4889" y="2175"/>
              <a:ext cx="432" cy="250"/>
            </a:xfrm>
            <a:prstGeom prst="rect">
              <a:avLst/>
            </a:prstGeom>
            <a:noFill/>
            <a:ln w="9525">
              <a:noFill/>
              <a:miter lim="800000"/>
              <a:headEnd/>
              <a:tailEnd/>
            </a:ln>
          </p:spPr>
          <p:txBody>
            <a:bodyPr>
              <a:spAutoFit/>
            </a:bodyPr>
            <a:lstStyle/>
            <a:p>
              <a:pPr algn="l">
                <a:spcBef>
                  <a:spcPct val="50000"/>
                </a:spcBef>
              </a:pPr>
              <a:r>
                <a:rPr lang="en-US" sz="2000"/>
                <a:t>1</a:t>
              </a:r>
              <a:r>
                <a:rPr lang="bg-BG" sz="2000"/>
                <a:t>23</a:t>
              </a:r>
              <a:endParaRPr lang="en-US"/>
            </a:p>
          </p:txBody>
        </p:sp>
        <p:sp>
          <p:nvSpPr>
            <p:cNvPr id="92264" name="Text Box 118"/>
            <p:cNvSpPr txBox="1">
              <a:spLocks noChangeArrowheads="1"/>
            </p:cNvSpPr>
            <p:nvPr/>
          </p:nvSpPr>
          <p:spPr bwMode="auto">
            <a:xfrm>
              <a:off x="4920" y="3408"/>
              <a:ext cx="432" cy="250"/>
            </a:xfrm>
            <a:prstGeom prst="rect">
              <a:avLst/>
            </a:prstGeom>
            <a:noFill/>
            <a:ln w="9525">
              <a:noFill/>
              <a:miter lim="800000"/>
              <a:headEnd/>
              <a:tailEnd/>
            </a:ln>
          </p:spPr>
          <p:txBody>
            <a:bodyPr>
              <a:spAutoFit/>
            </a:bodyPr>
            <a:lstStyle/>
            <a:p>
              <a:pPr algn="l">
                <a:spcBef>
                  <a:spcPct val="50000"/>
                </a:spcBef>
              </a:pPr>
              <a:r>
                <a:rPr lang="en-US" sz="2000">
                  <a:solidFill>
                    <a:srgbClr val="C00000"/>
                  </a:solidFill>
                </a:rPr>
                <a:t>6</a:t>
              </a:r>
              <a:r>
                <a:rPr lang="bg-BG" sz="2000">
                  <a:solidFill>
                    <a:srgbClr val="C00000"/>
                  </a:solidFill>
                </a:rPr>
                <a:t>47</a:t>
              </a:r>
              <a:endParaRPr lang="en-US">
                <a:solidFill>
                  <a:srgbClr val="C00000"/>
                </a:solidFill>
              </a:endParaRPr>
            </a:p>
          </p:txBody>
        </p:sp>
        <p:sp>
          <p:nvSpPr>
            <p:cNvPr id="92265" name="Text Box 119"/>
            <p:cNvSpPr txBox="1">
              <a:spLocks noChangeArrowheads="1"/>
            </p:cNvSpPr>
            <p:nvPr/>
          </p:nvSpPr>
          <p:spPr bwMode="auto">
            <a:xfrm>
              <a:off x="4900" y="1776"/>
              <a:ext cx="432" cy="250"/>
            </a:xfrm>
            <a:prstGeom prst="rect">
              <a:avLst/>
            </a:prstGeom>
            <a:noFill/>
            <a:ln w="9525">
              <a:noFill/>
              <a:miter lim="800000"/>
              <a:headEnd/>
              <a:tailEnd/>
            </a:ln>
          </p:spPr>
          <p:txBody>
            <a:bodyPr>
              <a:spAutoFit/>
            </a:bodyPr>
            <a:lstStyle/>
            <a:p>
              <a:pPr algn="l">
                <a:spcBef>
                  <a:spcPct val="50000"/>
                </a:spcBef>
              </a:pPr>
              <a:r>
                <a:rPr lang="en-US" sz="2000"/>
                <a:t>6</a:t>
              </a:r>
              <a:r>
                <a:rPr lang="bg-BG" sz="2000"/>
                <a:t>47</a:t>
              </a:r>
              <a:endParaRPr lang="en-US"/>
            </a:p>
          </p:txBody>
        </p:sp>
        <p:sp>
          <p:nvSpPr>
            <p:cNvPr id="92266" name="Line 121"/>
            <p:cNvSpPr>
              <a:spLocks noChangeShapeType="1"/>
            </p:cNvSpPr>
            <p:nvPr/>
          </p:nvSpPr>
          <p:spPr bwMode="auto">
            <a:xfrm>
              <a:off x="5232" y="3294"/>
              <a:ext cx="0" cy="240"/>
            </a:xfrm>
            <a:prstGeom prst="line">
              <a:avLst/>
            </a:prstGeom>
            <a:noFill/>
            <a:ln w="9525">
              <a:solidFill>
                <a:schemeClr val="tx1"/>
              </a:solidFill>
              <a:round/>
              <a:headEnd/>
              <a:tailEnd type="triangle" w="med" len="med"/>
            </a:ln>
          </p:spPr>
          <p:txBody>
            <a:bodyPr wrap="none" anchor="ctr"/>
            <a:lstStyle/>
            <a:p>
              <a:endParaRPr lang="bg-BG"/>
            </a:p>
          </p:txBody>
        </p:sp>
        <p:sp>
          <p:nvSpPr>
            <p:cNvPr id="92267" name="Line 122"/>
            <p:cNvSpPr>
              <a:spLocks noChangeShapeType="1"/>
            </p:cNvSpPr>
            <p:nvPr/>
          </p:nvSpPr>
          <p:spPr bwMode="auto">
            <a:xfrm>
              <a:off x="3840" y="3094"/>
              <a:ext cx="0" cy="240"/>
            </a:xfrm>
            <a:prstGeom prst="line">
              <a:avLst/>
            </a:prstGeom>
            <a:noFill/>
            <a:ln w="9525">
              <a:solidFill>
                <a:schemeClr val="tx1"/>
              </a:solidFill>
              <a:round/>
              <a:headEnd/>
              <a:tailEnd type="triangle" w="med" len="med"/>
            </a:ln>
          </p:spPr>
          <p:txBody>
            <a:bodyPr wrap="none" anchor="ctr"/>
            <a:lstStyle/>
            <a:p>
              <a:endParaRPr lang="bg-BG"/>
            </a:p>
          </p:txBody>
        </p:sp>
        <p:sp>
          <p:nvSpPr>
            <p:cNvPr id="92268" name="Line 124"/>
            <p:cNvSpPr>
              <a:spLocks noChangeShapeType="1"/>
            </p:cNvSpPr>
            <p:nvPr/>
          </p:nvSpPr>
          <p:spPr bwMode="auto">
            <a:xfrm>
              <a:off x="1320" y="3224"/>
              <a:ext cx="480" cy="0"/>
            </a:xfrm>
            <a:prstGeom prst="line">
              <a:avLst/>
            </a:prstGeom>
            <a:noFill/>
            <a:ln w="9525">
              <a:solidFill>
                <a:schemeClr val="tx1"/>
              </a:solidFill>
              <a:round/>
              <a:headEnd/>
              <a:tailEnd/>
            </a:ln>
          </p:spPr>
          <p:txBody>
            <a:bodyPr wrap="none" anchor="ctr"/>
            <a:lstStyle/>
            <a:p>
              <a:endParaRPr lang="bg-BG"/>
            </a:p>
          </p:txBody>
        </p:sp>
        <p:sp>
          <p:nvSpPr>
            <p:cNvPr id="92269" name="Line 125"/>
            <p:cNvSpPr>
              <a:spLocks noChangeShapeType="1"/>
            </p:cNvSpPr>
            <p:nvPr/>
          </p:nvSpPr>
          <p:spPr bwMode="auto">
            <a:xfrm>
              <a:off x="624" y="3216"/>
              <a:ext cx="480" cy="0"/>
            </a:xfrm>
            <a:prstGeom prst="line">
              <a:avLst/>
            </a:prstGeom>
            <a:noFill/>
            <a:ln w="9525">
              <a:solidFill>
                <a:schemeClr val="tx1"/>
              </a:solidFill>
              <a:round/>
              <a:headEnd/>
              <a:tailEnd/>
            </a:ln>
          </p:spPr>
          <p:txBody>
            <a:bodyPr wrap="none" anchor="ctr"/>
            <a:lstStyle/>
            <a:p>
              <a:endParaRPr lang="bg-BG"/>
            </a:p>
          </p:txBody>
        </p:sp>
        <p:sp>
          <p:nvSpPr>
            <p:cNvPr id="92270" name="Line 126"/>
            <p:cNvSpPr>
              <a:spLocks noChangeShapeType="1"/>
            </p:cNvSpPr>
            <p:nvPr/>
          </p:nvSpPr>
          <p:spPr bwMode="auto">
            <a:xfrm>
              <a:off x="2024" y="3216"/>
              <a:ext cx="480" cy="0"/>
            </a:xfrm>
            <a:prstGeom prst="line">
              <a:avLst/>
            </a:prstGeom>
            <a:noFill/>
            <a:ln w="9525">
              <a:solidFill>
                <a:schemeClr val="tx1"/>
              </a:solidFill>
              <a:round/>
              <a:headEnd/>
              <a:tailEnd/>
            </a:ln>
          </p:spPr>
          <p:txBody>
            <a:bodyPr wrap="none" anchor="ctr"/>
            <a:lstStyle/>
            <a:p>
              <a:endParaRPr lang="bg-BG"/>
            </a:p>
          </p:txBody>
        </p:sp>
        <p:sp>
          <p:nvSpPr>
            <p:cNvPr id="92271" name="Line 127"/>
            <p:cNvSpPr>
              <a:spLocks noChangeShapeType="1"/>
            </p:cNvSpPr>
            <p:nvPr/>
          </p:nvSpPr>
          <p:spPr bwMode="auto">
            <a:xfrm>
              <a:off x="2744" y="3224"/>
              <a:ext cx="480" cy="0"/>
            </a:xfrm>
            <a:prstGeom prst="line">
              <a:avLst/>
            </a:prstGeom>
            <a:noFill/>
            <a:ln w="9525">
              <a:solidFill>
                <a:schemeClr val="tx1"/>
              </a:solidFill>
              <a:round/>
              <a:headEnd/>
              <a:tailEnd/>
            </a:ln>
          </p:spPr>
          <p:txBody>
            <a:bodyPr wrap="none" anchor="ctr"/>
            <a:lstStyle/>
            <a:p>
              <a:endParaRPr lang="bg-BG"/>
            </a:p>
          </p:txBody>
        </p:sp>
        <p:sp>
          <p:nvSpPr>
            <p:cNvPr id="92272" name="Line 128"/>
            <p:cNvSpPr>
              <a:spLocks noChangeShapeType="1"/>
            </p:cNvSpPr>
            <p:nvPr/>
          </p:nvSpPr>
          <p:spPr bwMode="auto">
            <a:xfrm>
              <a:off x="3456" y="3216"/>
              <a:ext cx="480" cy="0"/>
            </a:xfrm>
            <a:prstGeom prst="line">
              <a:avLst/>
            </a:prstGeom>
            <a:noFill/>
            <a:ln w="9525">
              <a:solidFill>
                <a:schemeClr val="tx1"/>
              </a:solidFill>
              <a:round/>
              <a:headEnd/>
              <a:tailEnd/>
            </a:ln>
          </p:spPr>
          <p:txBody>
            <a:bodyPr wrap="none" anchor="ctr"/>
            <a:lstStyle/>
            <a:p>
              <a:endParaRPr lang="bg-BG"/>
            </a:p>
          </p:txBody>
        </p:sp>
        <p:sp>
          <p:nvSpPr>
            <p:cNvPr id="92273" name="Line 129"/>
            <p:cNvSpPr>
              <a:spLocks noChangeShapeType="1"/>
            </p:cNvSpPr>
            <p:nvPr/>
          </p:nvSpPr>
          <p:spPr bwMode="auto">
            <a:xfrm>
              <a:off x="4184" y="3224"/>
              <a:ext cx="480" cy="0"/>
            </a:xfrm>
            <a:prstGeom prst="line">
              <a:avLst/>
            </a:prstGeom>
            <a:noFill/>
            <a:ln w="9525">
              <a:solidFill>
                <a:schemeClr val="tx1"/>
              </a:solidFill>
              <a:round/>
              <a:headEnd/>
              <a:tailEnd/>
            </a:ln>
          </p:spPr>
          <p:txBody>
            <a:bodyPr wrap="none" anchor="ctr"/>
            <a:lstStyle/>
            <a:p>
              <a:endParaRPr lang="bg-BG"/>
            </a:p>
          </p:txBody>
        </p:sp>
        <p:sp>
          <p:nvSpPr>
            <p:cNvPr id="92274" name="Line 130"/>
            <p:cNvSpPr>
              <a:spLocks noChangeShapeType="1"/>
            </p:cNvSpPr>
            <p:nvPr/>
          </p:nvSpPr>
          <p:spPr bwMode="auto">
            <a:xfrm>
              <a:off x="4848" y="3216"/>
              <a:ext cx="480" cy="0"/>
            </a:xfrm>
            <a:prstGeom prst="line">
              <a:avLst/>
            </a:prstGeom>
            <a:noFill/>
            <a:ln w="9525">
              <a:solidFill>
                <a:schemeClr val="tx1"/>
              </a:solidFill>
              <a:round/>
              <a:headEnd/>
              <a:tailEnd/>
            </a:ln>
          </p:spPr>
          <p:txBody>
            <a:bodyPr wrap="none" anchor="ctr"/>
            <a:lstStyle/>
            <a:p>
              <a:endParaRPr lang="bg-BG"/>
            </a:p>
          </p:txBody>
        </p:sp>
      </p:grpSp>
      <p:sp>
        <p:nvSpPr>
          <p:cNvPr id="116" name="Slide Number Placeholder 115"/>
          <p:cNvSpPr>
            <a:spLocks noGrp="1"/>
          </p:cNvSpPr>
          <p:nvPr>
            <p:ph type="sldNum" sz="quarter" idx="12"/>
          </p:nvPr>
        </p:nvSpPr>
        <p:spPr/>
        <p:txBody>
          <a:bodyPr/>
          <a:lstStyle/>
          <a:p>
            <a:pPr>
              <a:defRPr/>
            </a:pPr>
            <a:fld id="{8049B1F3-C1E3-4A64-B292-2B975E09819B}" type="slidenum">
              <a:rPr lang="en-US"/>
              <a:pPr>
                <a:defRPr/>
              </a:pPr>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971600" y="480740"/>
            <a:ext cx="8172400" cy="6400800"/>
          </a:xfrm>
          <a:prstGeom prst="rect">
            <a:avLst/>
          </a:prstGeom>
          <a:noFill/>
          <a:ln w="9525">
            <a:noFill/>
            <a:miter lim="800000"/>
            <a:headEnd/>
            <a:tailEnd/>
          </a:ln>
        </p:spPr>
        <p:txBody>
          <a:bodyPr anchor="ctr"/>
          <a:lstStyle/>
          <a:p>
            <a:pPr algn="l">
              <a:lnSpc>
                <a:spcPct val="120000"/>
              </a:lnSpc>
            </a:pPr>
            <a:r>
              <a:rPr lang="en-US" sz="2000" smtClean="0"/>
              <a:t>     </a:t>
            </a:r>
            <a:r>
              <a:rPr lang="bg-BG" sz="2000" smtClean="0"/>
              <a:t>При </a:t>
            </a:r>
            <a:r>
              <a:rPr lang="bg-BG" sz="2000"/>
              <a:t>търсенето на елемент по ключ се процедира по аналогичен начин - първо се изчислява хеш-адресът  с помощта на хеш-функцията и в случай, че не се попадне на търсения ключ, се прави линейно пробване.</a:t>
            </a:r>
            <a:br>
              <a:rPr lang="bg-BG" sz="2000"/>
            </a:br>
            <a:r>
              <a:rPr lang="en-US" sz="2000" smtClean="0"/>
              <a:t>     </a:t>
            </a:r>
            <a:r>
              <a:rPr lang="bg-BG" sz="2000" smtClean="0"/>
              <a:t>Линейното </a:t>
            </a:r>
            <a:r>
              <a:rPr lang="bg-BG" sz="2000"/>
              <a:t>пробване се състои в променяне на адреса с 1, докато се стигне до търсеният елемент (като се предполага, че ключът е в таблицата).</a:t>
            </a:r>
            <a:br>
              <a:rPr lang="bg-BG" sz="2000"/>
            </a:br>
            <a:r>
              <a:rPr lang="en-US" sz="2000" smtClean="0"/>
              <a:t>      </a:t>
            </a:r>
            <a:r>
              <a:rPr lang="bg-BG" sz="2000" smtClean="0"/>
              <a:t>В </a:t>
            </a:r>
            <a:r>
              <a:rPr lang="bg-BG" sz="2000"/>
              <a:t>този случай можем да попаднем на ключове, при които хеширането да се окаже неефективно. Например, когато елементите образуват групи с близки хеш-кодове (т. н. клъстери). Тогава в процеса на разрешаване на колизия възникват серия нови (вторични) колизии.</a:t>
            </a:r>
            <a:br>
              <a:rPr lang="bg-BG" sz="2000"/>
            </a:br>
            <a:r>
              <a:rPr lang="bg-BG" sz="1000"/>
              <a:t/>
            </a:r>
            <a:br>
              <a:rPr lang="bg-BG" sz="1000"/>
            </a:br>
            <a:r>
              <a:rPr lang="bg-BG" sz="2000" i="1"/>
              <a:t>2. Квадратично пробване</a:t>
            </a:r>
            <a:r>
              <a:rPr lang="bg-BG" sz="2000"/>
              <a:t/>
            </a:r>
            <a:br>
              <a:rPr lang="bg-BG" sz="2000"/>
            </a:br>
            <a:r>
              <a:rPr lang="bg-BG" sz="2000"/>
              <a:t>	 При квадратичното пробване се използва стъпка от вида</a:t>
            </a:r>
            <a:br>
              <a:rPr lang="bg-BG" sz="2000"/>
            </a:br>
            <a:r>
              <a:rPr lang="bg-BG" sz="2000"/>
              <a:t>			</a:t>
            </a:r>
            <a:r>
              <a:rPr lang="en-US" sz="2000" b="1" i="1"/>
              <a:t>c</a:t>
            </a:r>
            <a:r>
              <a:rPr lang="en-US" sz="2000" b="1" i="1" baseline="-25000"/>
              <a:t>1</a:t>
            </a:r>
            <a:r>
              <a:rPr lang="en-US" sz="2000" b="1" i="1"/>
              <a:t>i + c</a:t>
            </a:r>
            <a:r>
              <a:rPr lang="en-US" sz="2000" b="1" i="1" baseline="-25000"/>
              <a:t>2</a:t>
            </a:r>
            <a:r>
              <a:rPr lang="en-US" sz="2000" b="1" i="1"/>
              <a:t>i</a:t>
            </a:r>
            <a:r>
              <a:rPr lang="bg-BG" sz="2000" b="1" i="1"/>
              <a:t> </a:t>
            </a:r>
            <a:r>
              <a:rPr lang="en-US" sz="2000" b="1" i="1" baseline="30000"/>
              <a:t>2</a:t>
            </a:r>
            <a:r>
              <a:rPr lang="en-US" sz="2000" b="1" i="1"/>
              <a:t>  </a:t>
            </a:r>
            <a:r>
              <a:rPr lang="bg-BG" sz="2000"/>
              <a:t>при</a:t>
            </a:r>
            <a:r>
              <a:rPr lang="en-US" sz="2000" b="1" i="1"/>
              <a:t>  c</a:t>
            </a:r>
            <a:r>
              <a:rPr lang="en-US" sz="2000" b="1" i="1" baseline="-25000"/>
              <a:t>2</a:t>
            </a:r>
            <a:r>
              <a:rPr lang="en-US" sz="2000" b="1" i="1"/>
              <a:t>&lt;&gt;0</a:t>
            </a:r>
            <a:r>
              <a:rPr lang="en-US" sz="2000"/>
              <a:t/>
            </a:r>
            <a:br>
              <a:rPr lang="en-US" sz="2000"/>
            </a:br>
            <a:r>
              <a:rPr lang="en-US" sz="2000" smtClean="0"/>
              <a:t>     </a:t>
            </a:r>
            <a:r>
              <a:rPr lang="bg-BG" sz="2000" smtClean="0"/>
              <a:t>Отместването </a:t>
            </a:r>
            <a:r>
              <a:rPr lang="bg-BG" sz="2000"/>
              <a:t>зависи квадратично от поредния номер на пробата  </a:t>
            </a:r>
            <a:r>
              <a:rPr lang="en-US" sz="2200" b="1" i="1" smtClean="0"/>
              <a:t>i</a:t>
            </a:r>
            <a:r>
              <a:rPr lang="bg-BG" sz="2000" smtClean="0"/>
              <a:t>. </a:t>
            </a:r>
            <a:r>
              <a:rPr lang="bg-BG" sz="2000"/>
              <a:t>Този метод работи  значително  по-ефективно от линейното пробване, въпреки че и при него може да възникне вторично струпване на ключове (клъстери). Основният му проблем е, че не гарантира обхождане на цялата таблица</a:t>
            </a:r>
            <a:r>
              <a:rPr lang="bg-BG" sz="2000">
                <a:solidFill>
                  <a:schemeClr val="tx2"/>
                </a:solidFill>
              </a:rPr>
              <a:t>.</a:t>
            </a:r>
            <a:br>
              <a:rPr lang="bg-BG" sz="2000">
                <a:solidFill>
                  <a:schemeClr val="tx2"/>
                </a:solidFill>
              </a:rPr>
            </a:br>
            <a:r>
              <a:rPr lang="bg-BG" sz="1000">
                <a:solidFill>
                  <a:schemeClr val="tx2"/>
                </a:solidFill>
              </a:rPr>
              <a:t/>
            </a:r>
            <a:br>
              <a:rPr lang="bg-BG" sz="1000">
                <a:solidFill>
                  <a:schemeClr val="tx2"/>
                </a:solidFill>
              </a:rPr>
            </a:br>
            <a:endParaRPr lang="en-US" sz="2000">
              <a:solidFill>
                <a:schemeClr val="tx2"/>
              </a:solidFill>
            </a:endParaRPr>
          </a:p>
        </p:txBody>
      </p:sp>
      <p:sp>
        <p:nvSpPr>
          <p:cNvPr id="5" name="Slide Number Placeholder 4"/>
          <p:cNvSpPr>
            <a:spLocks noGrp="1"/>
          </p:cNvSpPr>
          <p:nvPr>
            <p:ph type="sldNum" sz="quarter" idx="12"/>
          </p:nvPr>
        </p:nvSpPr>
        <p:spPr/>
        <p:txBody>
          <a:bodyPr/>
          <a:lstStyle/>
          <a:p>
            <a:pPr>
              <a:defRPr/>
            </a:pPr>
            <a:fld id="{A6FE2C53-EF81-41DF-9538-0590AA2A6B68}" type="slidenum">
              <a:rPr lang="en-US"/>
              <a:pPr>
                <a:defRPr/>
              </a:pPr>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1115616" y="260648"/>
            <a:ext cx="8028384" cy="6336704"/>
          </a:xfrm>
        </p:spPr>
        <p:txBody>
          <a:bodyPr>
            <a:normAutofit fontScale="90000"/>
          </a:bodyPr>
          <a:lstStyle/>
          <a:p>
            <a:pPr eaLnBrk="1" fontAlgn="auto" hangingPunct="1">
              <a:spcAft>
                <a:spcPts val="0"/>
              </a:spcAft>
              <a:defRPr/>
            </a:pPr>
            <a:r>
              <a:rPr lang="bg-BG" sz="2000" i="1">
                <a:solidFill>
                  <a:schemeClr val="tx1"/>
                </a:solidFill>
              </a:rPr>
              <a:t>3. Двойно хеширане</a:t>
            </a:r>
            <a:r>
              <a:rPr lang="bg-BG" sz="2000">
                <a:solidFill>
                  <a:schemeClr val="tx1"/>
                </a:solidFill>
              </a:rPr>
              <a:t/>
            </a:r>
            <a:br>
              <a:rPr lang="bg-BG" sz="2000">
                <a:solidFill>
                  <a:schemeClr val="tx1"/>
                </a:solidFill>
              </a:rPr>
            </a:br>
            <a:r>
              <a:rPr lang="bg-BG" sz="2000">
                <a:solidFill>
                  <a:schemeClr val="tx1"/>
                </a:solidFill>
              </a:rPr>
              <a:t>	Двойното хеширане е подобно на вече разгледаните методи, но използва две хеш-функции:</a:t>
            </a:r>
            <a:br>
              <a:rPr lang="bg-BG" sz="2000">
                <a:solidFill>
                  <a:schemeClr val="tx1"/>
                </a:solidFill>
              </a:rPr>
            </a:br>
            <a:r>
              <a:rPr lang="bg-BG" sz="800">
                <a:solidFill>
                  <a:schemeClr val="tx1"/>
                </a:solidFill>
              </a:rPr>
              <a:t>	</a:t>
            </a:r>
            <a:r>
              <a:rPr lang="en-US" sz="800">
                <a:solidFill>
                  <a:schemeClr val="tx1"/>
                </a:solidFill>
              </a:rPr>
              <a:t>		</a:t>
            </a:r>
            <a:r>
              <a:rPr lang="de-DE" sz="2000" b="1" i="1">
                <a:solidFill>
                  <a:schemeClr val="tx1"/>
                </a:solidFill>
              </a:rPr>
              <a:t>h</a:t>
            </a:r>
            <a:r>
              <a:rPr lang="en-US" sz="2000" b="1" i="1">
                <a:solidFill>
                  <a:schemeClr val="tx1"/>
                </a:solidFill>
              </a:rPr>
              <a:t>(k, i)= h</a:t>
            </a:r>
            <a:r>
              <a:rPr lang="en-US" sz="2000" b="1" i="1" baseline="-25000">
                <a:solidFill>
                  <a:schemeClr val="tx1"/>
                </a:solidFill>
                <a:latin typeface="Arial" pitchFamily="34" charset="0"/>
                <a:cs typeface="Arial" pitchFamily="34" charset="0"/>
              </a:rPr>
              <a:t>1</a:t>
            </a:r>
            <a:r>
              <a:rPr lang="en-US" sz="2000" b="1" i="1">
                <a:solidFill>
                  <a:schemeClr val="tx1"/>
                </a:solidFill>
              </a:rPr>
              <a:t>(k) + i*h</a:t>
            </a:r>
            <a:r>
              <a:rPr lang="en-US" sz="2000" b="1" i="1" baseline="-25000">
                <a:solidFill>
                  <a:schemeClr val="tx1"/>
                </a:solidFill>
              </a:rPr>
              <a:t>2</a:t>
            </a:r>
            <a:r>
              <a:rPr lang="en-US" sz="2000" b="1" i="1">
                <a:solidFill>
                  <a:schemeClr val="tx1"/>
                </a:solidFill>
              </a:rPr>
              <a:t>(k)</a:t>
            </a:r>
            <a:r>
              <a:rPr lang="en-US" sz="2000">
                <a:solidFill>
                  <a:schemeClr val="tx1"/>
                </a:solidFill>
              </a:rPr>
              <a:t/>
            </a:r>
            <a:br>
              <a:rPr lang="en-US" sz="2000">
                <a:solidFill>
                  <a:schemeClr val="tx1"/>
                </a:solidFill>
              </a:rPr>
            </a:br>
            <a:r>
              <a:rPr lang="bg-BG" sz="2000">
                <a:solidFill>
                  <a:schemeClr val="tx1"/>
                </a:solidFill>
              </a:rPr>
              <a:t>Тук </a:t>
            </a:r>
            <a:r>
              <a:rPr lang="en-US" sz="2000" b="1" i="1">
                <a:solidFill>
                  <a:schemeClr val="tx1"/>
                </a:solidFill>
              </a:rPr>
              <a:t>i</a:t>
            </a:r>
            <a:r>
              <a:rPr lang="bg-BG" sz="2000" b="1" i="1">
                <a:solidFill>
                  <a:schemeClr val="tx1"/>
                </a:solidFill>
              </a:rPr>
              <a:t> </a:t>
            </a:r>
            <a:r>
              <a:rPr lang="bg-BG" sz="2000">
                <a:solidFill>
                  <a:schemeClr val="tx1"/>
                </a:solidFill>
              </a:rPr>
              <a:t>е номерът на пробата след първата колизия. Втората хеш-функция се използва само в случаите, когато резултатът от първата води до колизия. Като ключ при повторно хеширане може да се използва както оригиналния ключ на елемента, така и хеш-адресът, получен при прилагане на първата хеш-функция.</a:t>
            </a:r>
            <a:br>
              <a:rPr lang="bg-BG" sz="2000">
                <a:solidFill>
                  <a:schemeClr val="tx1"/>
                </a:solidFill>
              </a:rPr>
            </a:br>
            <a:r>
              <a:rPr lang="bg-BG" sz="2000">
                <a:solidFill>
                  <a:schemeClr val="tx1"/>
                </a:solidFill>
              </a:rPr>
              <a:t/>
            </a:r>
            <a:br>
              <a:rPr lang="bg-BG" sz="2000">
                <a:solidFill>
                  <a:schemeClr val="tx1"/>
                </a:solidFill>
              </a:rPr>
            </a:br>
            <a:r>
              <a:rPr lang="bg-BG" sz="2000" i="1">
                <a:solidFill>
                  <a:schemeClr val="tx1"/>
                </a:solidFill>
              </a:rPr>
              <a:t>4. Рехеширане</a:t>
            </a:r>
            <a:r>
              <a:rPr lang="bg-BG" sz="2000">
                <a:solidFill>
                  <a:schemeClr val="tx1"/>
                </a:solidFill>
              </a:rPr>
              <a:t/>
            </a:r>
            <a:br>
              <a:rPr lang="bg-BG" sz="2000">
                <a:solidFill>
                  <a:schemeClr val="tx1"/>
                </a:solidFill>
              </a:rPr>
            </a:br>
            <a:r>
              <a:rPr lang="bg-BG" sz="2000">
                <a:solidFill>
                  <a:schemeClr val="tx1"/>
                </a:solidFill>
              </a:rPr>
              <a:t>	Прилага се при голямо запълване на таблицата (над 1/2). Създава се нова хеш-таблица с двойно по-голям размер (обикновено се взема първото просто число, по-голямо от 2</a:t>
            </a:r>
            <a:r>
              <a:rPr lang="en-US" sz="2000">
                <a:solidFill>
                  <a:schemeClr val="tx1"/>
                </a:solidFill>
              </a:rPr>
              <a:t>n</a:t>
            </a:r>
            <a:r>
              <a:rPr lang="bg-BG" sz="2000">
                <a:solidFill>
                  <a:schemeClr val="tx1"/>
                </a:solidFill>
              </a:rPr>
              <a:t>). В новата таблица се прехвърлят ключовете от първата.</a:t>
            </a:r>
            <a:br>
              <a:rPr lang="bg-BG" sz="2000">
                <a:solidFill>
                  <a:schemeClr val="tx1"/>
                </a:solidFill>
              </a:rPr>
            </a:br>
            <a:r>
              <a:rPr lang="bg-BG" sz="2000">
                <a:solidFill>
                  <a:schemeClr val="tx1"/>
                </a:solidFill>
              </a:rPr>
              <a:t/>
            </a:r>
            <a:br>
              <a:rPr lang="bg-BG" sz="2000">
                <a:solidFill>
                  <a:schemeClr val="tx1"/>
                </a:solidFill>
              </a:rPr>
            </a:br>
            <a:r>
              <a:rPr lang="bg-BG" sz="2000" i="1">
                <a:solidFill>
                  <a:schemeClr val="tx1"/>
                </a:solidFill>
              </a:rPr>
              <a:t>5. Разширено хеширане</a:t>
            </a:r>
            <a:r>
              <a:rPr lang="bg-BG" sz="2000">
                <a:solidFill>
                  <a:schemeClr val="tx1"/>
                </a:solidFill>
              </a:rPr>
              <a:t/>
            </a:r>
            <a:br>
              <a:rPr lang="bg-BG" sz="2000">
                <a:solidFill>
                  <a:schemeClr val="tx1"/>
                </a:solidFill>
              </a:rPr>
            </a:br>
            <a:r>
              <a:rPr lang="bg-BG" sz="2000">
                <a:solidFill>
                  <a:schemeClr val="tx1"/>
                </a:solidFill>
              </a:rPr>
              <a:t>	Използва се тогава, когато хеш-таблицата не може да се помести в оперативната памет.  В този случай таблицата се зарежда в ОП на част (по блокове). Хеширането трябва да е такова, че да има минимален среден брой обръщения към външна памет при търсене на ключ в таблицата.</a:t>
            </a: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t>
            </a:r>
            <a:endParaRPr lang="en-US" sz="2000">
              <a:solidFill>
                <a:schemeClr val="tx2">
                  <a:satMod val="130000"/>
                </a:schemeClr>
              </a:solidFill>
            </a:endParaRPr>
          </a:p>
        </p:txBody>
      </p:sp>
      <p:sp>
        <p:nvSpPr>
          <p:cNvPr id="5" name="Slide Number Placeholder 4"/>
          <p:cNvSpPr>
            <a:spLocks noGrp="1"/>
          </p:cNvSpPr>
          <p:nvPr>
            <p:ph type="sldNum" sz="quarter" idx="12"/>
          </p:nvPr>
        </p:nvSpPr>
        <p:spPr/>
        <p:txBody>
          <a:bodyPr/>
          <a:lstStyle/>
          <a:p>
            <a:pPr>
              <a:defRPr/>
            </a:pPr>
            <a:fld id="{1E24493E-6FA7-4D74-A39A-801465506C08}" type="slidenum">
              <a:rPr lang="en-US"/>
              <a:pPr>
                <a:defRPr/>
              </a:pPr>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ChangeArrowheads="1"/>
          </p:cNvSpPr>
          <p:nvPr/>
        </p:nvSpPr>
        <p:spPr bwMode="auto">
          <a:xfrm>
            <a:off x="1043608" y="260648"/>
            <a:ext cx="8100392" cy="6248400"/>
          </a:xfrm>
          <a:prstGeom prst="rect">
            <a:avLst/>
          </a:prstGeom>
          <a:noFill/>
          <a:ln w="9525">
            <a:noFill/>
            <a:miter lim="800000"/>
            <a:headEnd/>
            <a:tailEnd/>
          </a:ln>
        </p:spPr>
        <p:txBody>
          <a:bodyPr anchor="ctr"/>
          <a:lstStyle/>
          <a:p>
            <a:pPr algn="l"/>
            <a:r>
              <a:rPr lang="bg-BG" sz="2000" u="sng"/>
              <a:t>Отворено хеширане</a:t>
            </a:r>
            <a:r>
              <a:rPr lang="bg-BG" sz="2000"/>
              <a:t>	</a:t>
            </a:r>
            <a:br>
              <a:rPr lang="bg-BG" sz="2000"/>
            </a:br>
            <a:r>
              <a:rPr lang="bg-BG" sz="2000" i="1"/>
              <a:t>1. Допълнителна памет за колизии</a:t>
            </a:r>
            <a:r>
              <a:rPr lang="bg-BG" sz="2000"/>
              <a:t/>
            </a:r>
            <a:br>
              <a:rPr lang="bg-BG" sz="2000"/>
            </a:br>
            <a:r>
              <a:rPr lang="bg-BG" sz="2000"/>
              <a:t>	При тази схема се отделя допълнителна памет за обработване на колизии. Всеки елемент, попаднал в колизия, се разполага на първото свободно място в допълнително отделената памет:</a:t>
            </a:r>
            <a:br>
              <a:rPr lang="bg-BG" sz="2000"/>
            </a:br>
            <a:r>
              <a:rPr lang="bg-BG" sz="2000"/>
              <a:t/>
            </a:r>
            <a:br>
              <a:rPr lang="bg-BG" sz="2000"/>
            </a:br>
            <a:r>
              <a:rPr lang="bg-BG" sz="2000"/>
              <a:t/>
            </a:r>
            <a:br>
              <a:rPr lang="bg-BG" sz="2000"/>
            </a:br>
            <a:r>
              <a:rPr lang="bg-BG" sz="2000"/>
              <a:t/>
            </a:r>
            <a:br>
              <a:rPr lang="bg-BG" sz="2000"/>
            </a:br>
            <a:r>
              <a:rPr lang="bg-BG" sz="2000"/>
              <a:t/>
            </a:r>
            <a:br>
              <a:rPr lang="bg-BG" sz="2000"/>
            </a:br>
            <a:r>
              <a:rPr lang="bg-BG" sz="2000"/>
              <a:t/>
            </a:r>
            <a:br>
              <a:rPr lang="bg-BG" sz="2000"/>
            </a:br>
            <a:r>
              <a:rPr lang="bg-BG" sz="2000"/>
              <a:t/>
            </a:r>
            <a:br>
              <a:rPr lang="bg-BG" sz="2000"/>
            </a:br>
            <a:r>
              <a:rPr lang="bg-BG" sz="2000"/>
              <a:t/>
            </a:r>
            <a:br>
              <a:rPr lang="bg-BG" sz="2000"/>
            </a:br>
            <a:r>
              <a:rPr lang="bg-BG" sz="2000"/>
              <a:t/>
            </a:r>
            <a:br>
              <a:rPr lang="bg-BG" sz="2000"/>
            </a:br>
            <a:r>
              <a:rPr lang="bg-BG" sz="2000"/>
              <a:t/>
            </a:r>
            <a:br>
              <a:rPr lang="bg-BG" sz="2000"/>
            </a:br>
            <a:r>
              <a:rPr lang="bg-BG" sz="2000"/>
              <a:t/>
            </a:r>
            <a:br>
              <a:rPr lang="bg-BG" sz="2000"/>
            </a:br>
            <a:r>
              <a:rPr lang="bg-BG" sz="2000"/>
              <a:t/>
            </a:r>
            <a:br>
              <a:rPr lang="bg-BG" sz="2000"/>
            </a:br>
            <a:r>
              <a:rPr lang="bg-BG" sz="2000"/>
              <a:t/>
            </a:r>
            <a:br>
              <a:rPr lang="bg-BG" sz="2000"/>
            </a:br>
            <a:r>
              <a:rPr lang="bg-BG" sz="2000"/>
              <a:t/>
            </a:r>
            <a:br>
              <a:rPr lang="bg-BG" sz="2000"/>
            </a:br>
            <a:r>
              <a:rPr lang="bg-BG" sz="2000"/>
              <a:t>	При търсене в хеш-таблицата първо се проверява адресът, получен чрез хеш-функцията. Ако елементът с търсения ключ не е там, се претърсва цялата допълнителна памет.</a:t>
            </a:r>
            <a:endParaRPr lang="en-US" sz="2000"/>
          </a:p>
        </p:txBody>
      </p:sp>
      <p:grpSp>
        <p:nvGrpSpPr>
          <p:cNvPr id="95235" name="Group 158"/>
          <p:cNvGrpSpPr>
            <a:grpSpLocks/>
          </p:cNvGrpSpPr>
          <p:nvPr/>
        </p:nvGrpSpPr>
        <p:grpSpPr bwMode="auto">
          <a:xfrm>
            <a:off x="903412" y="1700808"/>
            <a:ext cx="8077200" cy="3925888"/>
            <a:chOff x="144" y="1104"/>
            <a:chExt cx="5088" cy="2473"/>
          </a:xfrm>
        </p:grpSpPr>
        <p:sp>
          <p:nvSpPr>
            <p:cNvPr id="95237" name="Rectangle 5"/>
            <p:cNvSpPr>
              <a:spLocks noChangeArrowheads="1"/>
            </p:cNvSpPr>
            <p:nvPr/>
          </p:nvSpPr>
          <p:spPr bwMode="auto">
            <a:xfrm>
              <a:off x="531" y="1305"/>
              <a:ext cx="478" cy="1767"/>
            </a:xfrm>
            <a:prstGeom prst="rect">
              <a:avLst/>
            </a:prstGeom>
            <a:noFill/>
            <a:ln w="9525">
              <a:solidFill>
                <a:schemeClr val="tx1"/>
              </a:solidFill>
              <a:miter lim="800000"/>
              <a:headEnd/>
              <a:tailEnd/>
            </a:ln>
          </p:spPr>
          <p:txBody>
            <a:bodyPr wrap="none" anchor="ctr"/>
            <a:lstStyle/>
            <a:p>
              <a:endParaRPr lang="bg-BG"/>
            </a:p>
          </p:txBody>
        </p:sp>
        <p:sp>
          <p:nvSpPr>
            <p:cNvPr id="95238" name="Line 6"/>
            <p:cNvSpPr>
              <a:spLocks noChangeShapeType="1"/>
            </p:cNvSpPr>
            <p:nvPr/>
          </p:nvSpPr>
          <p:spPr bwMode="auto">
            <a:xfrm>
              <a:off x="531" y="2007"/>
              <a:ext cx="478" cy="0"/>
            </a:xfrm>
            <a:prstGeom prst="line">
              <a:avLst/>
            </a:prstGeom>
            <a:noFill/>
            <a:ln w="9525">
              <a:solidFill>
                <a:schemeClr val="tx1"/>
              </a:solidFill>
              <a:round/>
              <a:headEnd/>
              <a:tailEnd/>
            </a:ln>
          </p:spPr>
          <p:txBody>
            <a:bodyPr wrap="none" anchor="ctr"/>
            <a:lstStyle/>
            <a:p>
              <a:endParaRPr lang="bg-BG"/>
            </a:p>
          </p:txBody>
        </p:sp>
        <p:sp>
          <p:nvSpPr>
            <p:cNvPr id="95239" name="Line 7"/>
            <p:cNvSpPr>
              <a:spLocks noChangeShapeType="1"/>
            </p:cNvSpPr>
            <p:nvPr/>
          </p:nvSpPr>
          <p:spPr bwMode="auto">
            <a:xfrm>
              <a:off x="531" y="1485"/>
              <a:ext cx="478" cy="0"/>
            </a:xfrm>
            <a:prstGeom prst="line">
              <a:avLst/>
            </a:prstGeom>
            <a:noFill/>
            <a:ln w="9525">
              <a:solidFill>
                <a:schemeClr val="tx1"/>
              </a:solidFill>
              <a:round/>
              <a:headEnd/>
              <a:tailEnd/>
            </a:ln>
          </p:spPr>
          <p:txBody>
            <a:bodyPr wrap="none" anchor="ctr"/>
            <a:lstStyle/>
            <a:p>
              <a:endParaRPr lang="bg-BG"/>
            </a:p>
          </p:txBody>
        </p:sp>
        <p:sp>
          <p:nvSpPr>
            <p:cNvPr id="95240" name="Line 8"/>
            <p:cNvSpPr>
              <a:spLocks noChangeShapeType="1"/>
            </p:cNvSpPr>
            <p:nvPr/>
          </p:nvSpPr>
          <p:spPr bwMode="auto">
            <a:xfrm>
              <a:off x="538" y="1662"/>
              <a:ext cx="478" cy="0"/>
            </a:xfrm>
            <a:prstGeom prst="line">
              <a:avLst/>
            </a:prstGeom>
            <a:noFill/>
            <a:ln w="9525">
              <a:solidFill>
                <a:schemeClr val="tx1"/>
              </a:solidFill>
              <a:round/>
              <a:headEnd/>
              <a:tailEnd/>
            </a:ln>
          </p:spPr>
          <p:txBody>
            <a:bodyPr wrap="none" anchor="ctr"/>
            <a:lstStyle/>
            <a:p>
              <a:endParaRPr lang="bg-BG"/>
            </a:p>
          </p:txBody>
        </p:sp>
        <p:sp>
          <p:nvSpPr>
            <p:cNvPr id="95241" name="Line 9"/>
            <p:cNvSpPr>
              <a:spLocks noChangeShapeType="1"/>
            </p:cNvSpPr>
            <p:nvPr/>
          </p:nvSpPr>
          <p:spPr bwMode="auto">
            <a:xfrm>
              <a:off x="531" y="1833"/>
              <a:ext cx="478" cy="0"/>
            </a:xfrm>
            <a:prstGeom prst="line">
              <a:avLst/>
            </a:prstGeom>
            <a:noFill/>
            <a:ln w="9525">
              <a:solidFill>
                <a:schemeClr val="tx1"/>
              </a:solidFill>
              <a:round/>
              <a:headEnd/>
              <a:tailEnd/>
            </a:ln>
          </p:spPr>
          <p:txBody>
            <a:bodyPr wrap="none" anchor="ctr"/>
            <a:lstStyle/>
            <a:p>
              <a:endParaRPr lang="bg-BG"/>
            </a:p>
          </p:txBody>
        </p:sp>
        <p:sp>
          <p:nvSpPr>
            <p:cNvPr id="95242" name="Line 11"/>
            <p:cNvSpPr>
              <a:spLocks noChangeShapeType="1"/>
            </p:cNvSpPr>
            <p:nvPr/>
          </p:nvSpPr>
          <p:spPr bwMode="auto">
            <a:xfrm>
              <a:off x="546" y="2538"/>
              <a:ext cx="478" cy="0"/>
            </a:xfrm>
            <a:prstGeom prst="line">
              <a:avLst/>
            </a:prstGeom>
            <a:noFill/>
            <a:ln w="9525">
              <a:solidFill>
                <a:schemeClr val="tx1"/>
              </a:solidFill>
              <a:round/>
              <a:headEnd/>
              <a:tailEnd/>
            </a:ln>
          </p:spPr>
          <p:txBody>
            <a:bodyPr wrap="none" anchor="ctr"/>
            <a:lstStyle/>
            <a:p>
              <a:endParaRPr lang="bg-BG"/>
            </a:p>
          </p:txBody>
        </p:sp>
        <p:sp>
          <p:nvSpPr>
            <p:cNvPr id="95243" name="Line 13"/>
            <p:cNvSpPr>
              <a:spLocks noChangeShapeType="1"/>
            </p:cNvSpPr>
            <p:nvPr/>
          </p:nvSpPr>
          <p:spPr bwMode="auto">
            <a:xfrm>
              <a:off x="535" y="2885"/>
              <a:ext cx="478" cy="0"/>
            </a:xfrm>
            <a:prstGeom prst="line">
              <a:avLst/>
            </a:prstGeom>
            <a:noFill/>
            <a:ln w="9525">
              <a:solidFill>
                <a:schemeClr val="tx1"/>
              </a:solidFill>
              <a:round/>
              <a:headEnd/>
              <a:tailEnd/>
            </a:ln>
          </p:spPr>
          <p:txBody>
            <a:bodyPr wrap="none" anchor="ctr"/>
            <a:lstStyle/>
            <a:p>
              <a:endParaRPr lang="bg-BG"/>
            </a:p>
          </p:txBody>
        </p:sp>
        <p:sp>
          <p:nvSpPr>
            <p:cNvPr id="95244" name="Line 14"/>
            <p:cNvSpPr>
              <a:spLocks noChangeShapeType="1"/>
            </p:cNvSpPr>
            <p:nvPr/>
          </p:nvSpPr>
          <p:spPr bwMode="auto">
            <a:xfrm>
              <a:off x="546" y="2721"/>
              <a:ext cx="478" cy="0"/>
            </a:xfrm>
            <a:prstGeom prst="line">
              <a:avLst/>
            </a:prstGeom>
            <a:noFill/>
            <a:ln w="9525">
              <a:solidFill>
                <a:schemeClr val="tx1"/>
              </a:solidFill>
              <a:round/>
              <a:headEnd/>
              <a:tailEnd/>
            </a:ln>
          </p:spPr>
          <p:txBody>
            <a:bodyPr wrap="none" anchor="ctr"/>
            <a:lstStyle/>
            <a:p>
              <a:endParaRPr lang="bg-BG"/>
            </a:p>
          </p:txBody>
        </p:sp>
        <p:sp>
          <p:nvSpPr>
            <p:cNvPr id="95245" name="Text Box 15"/>
            <p:cNvSpPr txBox="1">
              <a:spLocks noChangeArrowheads="1"/>
            </p:cNvSpPr>
            <p:nvPr/>
          </p:nvSpPr>
          <p:spPr bwMode="auto">
            <a:xfrm>
              <a:off x="1281" y="1655"/>
              <a:ext cx="430" cy="250"/>
            </a:xfrm>
            <a:prstGeom prst="rect">
              <a:avLst/>
            </a:prstGeom>
            <a:noFill/>
            <a:ln w="9525">
              <a:noFill/>
              <a:miter lim="800000"/>
              <a:headEnd/>
              <a:tailEnd/>
            </a:ln>
          </p:spPr>
          <p:txBody>
            <a:bodyPr>
              <a:spAutoFit/>
            </a:bodyPr>
            <a:lstStyle/>
            <a:p>
              <a:pPr algn="l">
                <a:spcBef>
                  <a:spcPct val="50000"/>
                </a:spcBef>
              </a:pPr>
              <a:r>
                <a:rPr lang="en-US" sz="2000">
                  <a:solidFill>
                    <a:srgbClr val="C00000"/>
                  </a:solidFill>
                </a:rPr>
                <a:t>2</a:t>
              </a:r>
              <a:r>
                <a:rPr lang="bg-BG" sz="2000">
                  <a:solidFill>
                    <a:srgbClr val="C00000"/>
                  </a:solidFill>
                </a:rPr>
                <a:t>34</a:t>
              </a:r>
              <a:endParaRPr lang="en-US">
                <a:solidFill>
                  <a:srgbClr val="C00000"/>
                </a:solidFill>
              </a:endParaRPr>
            </a:p>
          </p:txBody>
        </p:sp>
        <p:sp>
          <p:nvSpPr>
            <p:cNvPr id="95246" name="Rectangle 17"/>
            <p:cNvSpPr>
              <a:spLocks noChangeArrowheads="1"/>
            </p:cNvSpPr>
            <p:nvPr/>
          </p:nvSpPr>
          <p:spPr bwMode="auto">
            <a:xfrm>
              <a:off x="1222" y="1305"/>
              <a:ext cx="478" cy="1779"/>
            </a:xfrm>
            <a:prstGeom prst="rect">
              <a:avLst/>
            </a:prstGeom>
            <a:noFill/>
            <a:ln w="9525">
              <a:solidFill>
                <a:schemeClr val="tx1"/>
              </a:solidFill>
              <a:miter lim="800000"/>
              <a:headEnd/>
              <a:tailEnd/>
            </a:ln>
          </p:spPr>
          <p:txBody>
            <a:bodyPr wrap="none" anchor="ctr"/>
            <a:lstStyle/>
            <a:p>
              <a:endParaRPr lang="bg-BG"/>
            </a:p>
          </p:txBody>
        </p:sp>
        <p:sp>
          <p:nvSpPr>
            <p:cNvPr id="95247" name="Line 18"/>
            <p:cNvSpPr>
              <a:spLocks noChangeShapeType="1"/>
            </p:cNvSpPr>
            <p:nvPr/>
          </p:nvSpPr>
          <p:spPr bwMode="auto">
            <a:xfrm>
              <a:off x="1222" y="2012"/>
              <a:ext cx="458" cy="4"/>
            </a:xfrm>
            <a:prstGeom prst="line">
              <a:avLst/>
            </a:prstGeom>
            <a:noFill/>
            <a:ln w="9525">
              <a:solidFill>
                <a:schemeClr val="tx1"/>
              </a:solidFill>
              <a:round/>
              <a:headEnd/>
              <a:tailEnd/>
            </a:ln>
          </p:spPr>
          <p:txBody>
            <a:bodyPr wrap="none" anchor="ctr"/>
            <a:lstStyle/>
            <a:p>
              <a:endParaRPr lang="bg-BG"/>
            </a:p>
          </p:txBody>
        </p:sp>
        <p:sp>
          <p:nvSpPr>
            <p:cNvPr id="95248" name="Line 19"/>
            <p:cNvSpPr>
              <a:spLocks noChangeShapeType="1"/>
            </p:cNvSpPr>
            <p:nvPr/>
          </p:nvSpPr>
          <p:spPr bwMode="auto">
            <a:xfrm>
              <a:off x="1222" y="1486"/>
              <a:ext cx="478" cy="0"/>
            </a:xfrm>
            <a:prstGeom prst="line">
              <a:avLst/>
            </a:prstGeom>
            <a:noFill/>
            <a:ln w="9525">
              <a:solidFill>
                <a:schemeClr val="tx1"/>
              </a:solidFill>
              <a:round/>
              <a:headEnd/>
              <a:tailEnd/>
            </a:ln>
          </p:spPr>
          <p:txBody>
            <a:bodyPr wrap="none" anchor="ctr"/>
            <a:lstStyle/>
            <a:p>
              <a:endParaRPr lang="bg-BG"/>
            </a:p>
          </p:txBody>
        </p:sp>
        <p:sp>
          <p:nvSpPr>
            <p:cNvPr id="95249" name="Line 20"/>
            <p:cNvSpPr>
              <a:spLocks noChangeShapeType="1"/>
            </p:cNvSpPr>
            <p:nvPr/>
          </p:nvSpPr>
          <p:spPr bwMode="auto">
            <a:xfrm>
              <a:off x="1229" y="1664"/>
              <a:ext cx="478" cy="0"/>
            </a:xfrm>
            <a:prstGeom prst="line">
              <a:avLst/>
            </a:prstGeom>
            <a:noFill/>
            <a:ln w="9525">
              <a:solidFill>
                <a:schemeClr val="tx1"/>
              </a:solidFill>
              <a:round/>
              <a:headEnd/>
              <a:tailEnd/>
            </a:ln>
          </p:spPr>
          <p:txBody>
            <a:bodyPr wrap="none" anchor="ctr"/>
            <a:lstStyle/>
            <a:p>
              <a:endParaRPr lang="bg-BG"/>
            </a:p>
          </p:txBody>
        </p:sp>
        <p:sp>
          <p:nvSpPr>
            <p:cNvPr id="95250" name="Line 21"/>
            <p:cNvSpPr>
              <a:spLocks noChangeShapeType="1"/>
            </p:cNvSpPr>
            <p:nvPr/>
          </p:nvSpPr>
          <p:spPr bwMode="auto">
            <a:xfrm>
              <a:off x="1222" y="1837"/>
              <a:ext cx="478" cy="0"/>
            </a:xfrm>
            <a:prstGeom prst="line">
              <a:avLst/>
            </a:prstGeom>
            <a:noFill/>
            <a:ln w="9525">
              <a:solidFill>
                <a:schemeClr val="tx1"/>
              </a:solidFill>
              <a:round/>
              <a:headEnd/>
              <a:tailEnd/>
            </a:ln>
          </p:spPr>
          <p:txBody>
            <a:bodyPr wrap="none" anchor="ctr"/>
            <a:lstStyle/>
            <a:p>
              <a:endParaRPr lang="bg-BG"/>
            </a:p>
          </p:txBody>
        </p:sp>
        <p:sp>
          <p:nvSpPr>
            <p:cNvPr id="95251" name="Line 22"/>
            <p:cNvSpPr>
              <a:spLocks noChangeShapeType="1"/>
            </p:cNvSpPr>
            <p:nvPr/>
          </p:nvSpPr>
          <p:spPr bwMode="auto">
            <a:xfrm>
              <a:off x="1222" y="2194"/>
              <a:ext cx="478" cy="0"/>
            </a:xfrm>
            <a:prstGeom prst="line">
              <a:avLst/>
            </a:prstGeom>
            <a:noFill/>
            <a:ln w="9525">
              <a:solidFill>
                <a:schemeClr val="tx1"/>
              </a:solidFill>
              <a:round/>
              <a:headEnd/>
              <a:tailEnd/>
            </a:ln>
          </p:spPr>
          <p:txBody>
            <a:bodyPr wrap="none" anchor="ctr"/>
            <a:lstStyle/>
            <a:p>
              <a:endParaRPr lang="bg-BG"/>
            </a:p>
          </p:txBody>
        </p:sp>
        <p:sp>
          <p:nvSpPr>
            <p:cNvPr id="95252" name="Line 23"/>
            <p:cNvSpPr>
              <a:spLocks noChangeShapeType="1"/>
            </p:cNvSpPr>
            <p:nvPr/>
          </p:nvSpPr>
          <p:spPr bwMode="auto">
            <a:xfrm>
              <a:off x="1237" y="2546"/>
              <a:ext cx="478" cy="0"/>
            </a:xfrm>
            <a:prstGeom prst="line">
              <a:avLst/>
            </a:prstGeom>
            <a:noFill/>
            <a:ln w="9525">
              <a:solidFill>
                <a:schemeClr val="tx1"/>
              </a:solidFill>
              <a:round/>
              <a:headEnd/>
              <a:tailEnd/>
            </a:ln>
          </p:spPr>
          <p:txBody>
            <a:bodyPr wrap="none" anchor="ctr"/>
            <a:lstStyle/>
            <a:p>
              <a:endParaRPr lang="bg-BG"/>
            </a:p>
          </p:txBody>
        </p:sp>
        <p:sp>
          <p:nvSpPr>
            <p:cNvPr id="95253" name="Line 24"/>
            <p:cNvSpPr>
              <a:spLocks noChangeShapeType="1"/>
            </p:cNvSpPr>
            <p:nvPr/>
          </p:nvSpPr>
          <p:spPr bwMode="auto">
            <a:xfrm>
              <a:off x="1222" y="2371"/>
              <a:ext cx="478" cy="0"/>
            </a:xfrm>
            <a:prstGeom prst="line">
              <a:avLst/>
            </a:prstGeom>
            <a:noFill/>
            <a:ln w="9525">
              <a:solidFill>
                <a:schemeClr val="tx1"/>
              </a:solidFill>
              <a:round/>
              <a:headEnd/>
              <a:tailEnd/>
            </a:ln>
          </p:spPr>
          <p:txBody>
            <a:bodyPr wrap="none" anchor="ctr"/>
            <a:lstStyle/>
            <a:p>
              <a:endParaRPr lang="bg-BG"/>
            </a:p>
          </p:txBody>
        </p:sp>
        <p:sp>
          <p:nvSpPr>
            <p:cNvPr id="95254" name="Line 25"/>
            <p:cNvSpPr>
              <a:spLocks noChangeShapeType="1"/>
            </p:cNvSpPr>
            <p:nvPr/>
          </p:nvSpPr>
          <p:spPr bwMode="auto">
            <a:xfrm>
              <a:off x="1226" y="2896"/>
              <a:ext cx="478" cy="0"/>
            </a:xfrm>
            <a:prstGeom prst="line">
              <a:avLst/>
            </a:prstGeom>
            <a:noFill/>
            <a:ln w="9525">
              <a:solidFill>
                <a:schemeClr val="tx1"/>
              </a:solidFill>
              <a:round/>
              <a:headEnd/>
              <a:tailEnd/>
            </a:ln>
          </p:spPr>
          <p:txBody>
            <a:bodyPr wrap="none" anchor="ctr"/>
            <a:lstStyle/>
            <a:p>
              <a:endParaRPr lang="bg-BG"/>
            </a:p>
          </p:txBody>
        </p:sp>
        <p:sp>
          <p:nvSpPr>
            <p:cNvPr id="95255" name="Line 26"/>
            <p:cNvSpPr>
              <a:spLocks noChangeShapeType="1"/>
            </p:cNvSpPr>
            <p:nvPr/>
          </p:nvSpPr>
          <p:spPr bwMode="auto">
            <a:xfrm>
              <a:off x="1237" y="2731"/>
              <a:ext cx="478" cy="0"/>
            </a:xfrm>
            <a:prstGeom prst="line">
              <a:avLst/>
            </a:prstGeom>
            <a:noFill/>
            <a:ln w="9525">
              <a:solidFill>
                <a:schemeClr val="tx1"/>
              </a:solidFill>
              <a:round/>
              <a:headEnd/>
              <a:tailEnd/>
            </a:ln>
          </p:spPr>
          <p:txBody>
            <a:bodyPr wrap="none" anchor="ctr"/>
            <a:lstStyle/>
            <a:p>
              <a:endParaRPr lang="bg-BG"/>
            </a:p>
          </p:txBody>
        </p:sp>
        <p:sp>
          <p:nvSpPr>
            <p:cNvPr id="95256" name="Rectangle 28"/>
            <p:cNvSpPr>
              <a:spLocks noChangeArrowheads="1"/>
            </p:cNvSpPr>
            <p:nvPr/>
          </p:nvSpPr>
          <p:spPr bwMode="auto">
            <a:xfrm>
              <a:off x="1917" y="1305"/>
              <a:ext cx="479" cy="1779"/>
            </a:xfrm>
            <a:prstGeom prst="rect">
              <a:avLst/>
            </a:prstGeom>
            <a:noFill/>
            <a:ln w="9525">
              <a:solidFill>
                <a:schemeClr val="tx1"/>
              </a:solidFill>
              <a:miter lim="800000"/>
              <a:headEnd/>
              <a:tailEnd/>
            </a:ln>
          </p:spPr>
          <p:txBody>
            <a:bodyPr wrap="none" anchor="ctr"/>
            <a:lstStyle/>
            <a:p>
              <a:endParaRPr lang="bg-BG"/>
            </a:p>
          </p:txBody>
        </p:sp>
        <p:sp>
          <p:nvSpPr>
            <p:cNvPr id="95257" name="Line 29"/>
            <p:cNvSpPr>
              <a:spLocks noChangeShapeType="1"/>
            </p:cNvSpPr>
            <p:nvPr/>
          </p:nvSpPr>
          <p:spPr bwMode="auto">
            <a:xfrm>
              <a:off x="1917" y="2012"/>
              <a:ext cx="483" cy="4"/>
            </a:xfrm>
            <a:prstGeom prst="line">
              <a:avLst/>
            </a:prstGeom>
            <a:noFill/>
            <a:ln w="9525">
              <a:solidFill>
                <a:schemeClr val="tx1"/>
              </a:solidFill>
              <a:round/>
              <a:headEnd/>
              <a:tailEnd/>
            </a:ln>
          </p:spPr>
          <p:txBody>
            <a:bodyPr wrap="none" anchor="ctr"/>
            <a:lstStyle/>
            <a:p>
              <a:endParaRPr lang="bg-BG"/>
            </a:p>
          </p:txBody>
        </p:sp>
        <p:sp>
          <p:nvSpPr>
            <p:cNvPr id="95258" name="Line 30"/>
            <p:cNvSpPr>
              <a:spLocks noChangeShapeType="1"/>
            </p:cNvSpPr>
            <p:nvPr/>
          </p:nvSpPr>
          <p:spPr bwMode="auto">
            <a:xfrm>
              <a:off x="1917" y="1486"/>
              <a:ext cx="479" cy="0"/>
            </a:xfrm>
            <a:prstGeom prst="line">
              <a:avLst/>
            </a:prstGeom>
            <a:noFill/>
            <a:ln w="9525">
              <a:solidFill>
                <a:schemeClr val="tx1"/>
              </a:solidFill>
              <a:round/>
              <a:headEnd/>
              <a:tailEnd/>
            </a:ln>
          </p:spPr>
          <p:txBody>
            <a:bodyPr wrap="none" anchor="ctr"/>
            <a:lstStyle/>
            <a:p>
              <a:endParaRPr lang="bg-BG"/>
            </a:p>
          </p:txBody>
        </p:sp>
        <p:sp>
          <p:nvSpPr>
            <p:cNvPr id="95259" name="Line 31"/>
            <p:cNvSpPr>
              <a:spLocks noChangeShapeType="1"/>
            </p:cNvSpPr>
            <p:nvPr/>
          </p:nvSpPr>
          <p:spPr bwMode="auto">
            <a:xfrm>
              <a:off x="1924" y="1664"/>
              <a:ext cx="479" cy="0"/>
            </a:xfrm>
            <a:prstGeom prst="line">
              <a:avLst/>
            </a:prstGeom>
            <a:noFill/>
            <a:ln w="9525">
              <a:solidFill>
                <a:schemeClr val="tx1"/>
              </a:solidFill>
              <a:round/>
              <a:headEnd/>
              <a:tailEnd/>
            </a:ln>
          </p:spPr>
          <p:txBody>
            <a:bodyPr wrap="none" anchor="ctr"/>
            <a:lstStyle/>
            <a:p>
              <a:endParaRPr lang="bg-BG"/>
            </a:p>
          </p:txBody>
        </p:sp>
        <p:sp>
          <p:nvSpPr>
            <p:cNvPr id="95260" name="Line 32"/>
            <p:cNvSpPr>
              <a:spLocks noChangeShapeType="1"/>
            </p:cNvSpPr>
            <p:nvPr/>
          </p:nvSpPr>
          <p:spPr bwMode="auto">
            <a:xfrm>
              <a:off x="1917" y="1837"/>
              <a:ext cx="479" cy="0"/>
            </a:xfrm>
            <a:prstGeom prst="line">
              <a:avLst/>
            </a:prstGeom>
            <a:noFill/>
            <a:ln w="9525">
              <a:solidFill>
                <a:schemeClr val="tx1"/>
              </a:solidFill>
              <a:round/>
              <a:headEnd/>
              <a:tailEnd/>
            </a:ln>
          </p:spPr>
          <p:txBody>
            <a:bodyPr wrap="none" anchor="ctr"/>
            <a:lstStyle/>
            <a:p>
              <a:endParaRPr lang="bg-BG"/>
            </a:p>
          </p:txBody>
        </p:sp>
        <p:sp>
          <p:nvSpPr>
            <p:cNvPr id="95261" name="Line 33"/>
            <p:cNvSpPr>
              <a:spLocks noChangeShapeType="1"/>
            </p:cNvSpPr>
            <p:nvPr/>
          </p:nvSpPr>
          <p:spPr bwMode="auto">
            <a:xfrm>
              <a:off x="1917" y="2194"/>
              <a:ext cx="479" cy="0"/>
            </a:xfrm>
            <a:prstGeom prst="line">
              <a:avLst/>
            </a:prstGeom>
            <a:noFill/>
            <a:ln w="9525">
              <a:solidFill>
                <a:schemeClr val="tx1"/>
              </a:solidFill>
              <a:round/>
              <a:headEnd/>
              <a:tailEnd/>
            </a:ln>
          </p:spPr>
          <p:txBody>
            <a:bodyPr wrap="none" anchor="ctr"/>
            <a:lstStyle/>
            <a:p>
              <a:endParaRPr lang="bg-BG"/>
            </a:p>
          </p:txBody>
        </p:sp>
        <p:sp>
          <p:nvSpPr>
            <p:cNvPr id="95262" name="Line 34"/>
            <p:cNvSpPr>
              <a:spLocks noChangeShapeType="1"/>
            </p:cNvSpPr>
            <p:nvPr/>
          </p:nvSpPr>
          <p:spPr bwMode="auto">
            <a:xfrm>
              <a:off x="1932" y="2546"/>
              <a:ext cx="479" cy="0"/>
            </a:xfrm>
            <a:prstGeom prst="line">
              <a:avLst/>
            </a:prstGeom>
            <a:noFill/>
            <a:ln w="9525">
              <a:solidFill>
                <a:schemeClr val="tx1"/>
              </a:solidFill>
              <a:round/>
              <a:headEnd/>
              <a:tailEnd/>
            </a:ln>
          </p:spPr>
          <p:txBody>
            <a:bodyPr wrap="none" anchor="ctr"/>
            <a:lstStyle/>
            <a:p>
              <a:endParaRPr lang="bg-BG"/>
            </a:p>
          </p:txBody>
        </p:sp>
        <p:sp>
          <p:nvSpPr>
            <p:cNvPr id="95263" name="Line 35"/>
            <p:cNvSpPr>
              <a:spLocks noChangeShapeType="1"/>
            </p:cNvSpPr>
            <p:nvPr/>
          </p:nvSpPr>
          <p:spPr bwMode="auto">
            <a:xfrm>
              <a:off x="1917" y="2371"/>
              <a:ext cx="479" cy="0"/>
            </a:xfrm>
            <a:prstGeom prst="line">
              <a:avLst/>
            </a:prstGeom>
            <a:noFill/>
            <a:ln w="9525">
              <a:solidFill>
                <a:schemeClr val="tx1"/>
              </a:solidFill>
              <a:round/>
              <a:headEnd/>
              <a:tailEnd/>
            </a:ln>
          </p:spPr>
          <p:txBody>
            <a:bodyPr wrap="none" anchor="ctr"/>
            <a:lstStyle/>
            <a:p>
              <a:endParaRPr lang="bg-BG"/>
            </a:p>
          </p:txBody>
        </p:sp>
        <p:sp>
          <p:nvSpPr>
            <p:cNvPr id="95264" name="Line 36"/>
            <p:cNvSpPr>
              <a:spLocks noChangeShapeType="1"/>
            </p:cNvSpPr>
            <p:nvPr/>
          </p:nvSpPr>
          <p:spPr bwMode="auto">
            <a:xfrm>
              <a:off x="1921" y="2896"/>
              <a:ext cx="479" cy="0"/>
            </a:xfrm>
            <a:prstGeom prst="line">
              <a:avLst/>
            </a:prstGeom>
            <a:noFill/>
            <a:ln w="9525">
              <a:solidFill>
                <a:schemeClr val="tx1"/>
              </a:solidFill>
              <a:round/>
              <a:headEnd/>
              <a:tailEnd/>
            </a:ln>
          </p:spPr>
          <p:txBody>
            <a:bodyPr wrap="none" anchor="ctr"/>
            <a:lstStyle/>
            <a:p>
              <a:endParaRPr lang="bg-BG"/>
            </a:p>
          </p:txBody>
        </p:sp>
        <p:sp>
          <p:nvSpPr>
            <p:cNvPr id="95265" name="Line 37"/>
            <p:cNvSpPr>
              <a:spLocks noChangeShapeType="1"/>
            </p:cNvSpPr>
            <p:nvPr/>
          </p:nvSpPr>
          <p:spPr bwMode="auto">
            <a:xfrm>
              <a:off x="1932" y="2731"/>
              <a:ext cx="479" cy="0"/>
            </a:xfrm>
            <a:prstGeom prst="line">
              <a:avLst/>
            </a:prstGeom>
            <a:noFill/>
            <a:ln w="9525">
              <a:solidFill>
                <a:schemeClr val="tx1"/>
              </a:solidFill>
              <a:round/>
              <a:headEnd/>
              <a:tailEnd/>
            </a:ln>
          </p:spPr>
          <p:txBody>
            <a:bodyPr wrap="none" anchor="ctr"/>
            <a:lstStyle/>
            <a:p>
              <a:endParaRPr lang="bg-BG"/>
            </a:p>
          </p:txBody>
        </p:sp>
        <p:sp>
          <p:nvSpPr>
            <p:cNvPr id="95266" name="Rectangle 39"/>
            <p:cNvSpPr>
              <a:spLocks noChangeArrowheads="1"/>
            </p:cNvSpPr>
            <p:nvPr/>
          </p:nvSpPr>
          <p:spPr bwMode="auto">
            <a:xfrm>
              <a:off x="3352" y="1305"/>
              <a:ext cx="478" cy="1779"/>
            </a:xfrm>
            <a:prstGeom prst="rect">
              <a:avLst/>
            </a:prstGeom>
            <a:noFill/>
            <a:ln w="9525">
              <a:solidFill>
                <a:schemeClr val="tx1"/>
              </a:solidFill>
              <a:miter lim="800000"/>
              <a:headEnd/>
              <a:tailEnd/>
            </a:ln>
          </p:spPr>
          <p:txBody>
            <a:bodyPr wrap="none" anchor="ctr"/>
            <a:lstStyle/>
            <a:p>
              <a:endParaRPr lang="bg-BG"/>
            </a:p>
          </p:txBody>
        </p:sp>
        <p:sp>
          <p:nvSpPr>
            <p:cNvPr id="95267" name="Line 40"/>
            <p:cNvSpPr>
              <a:spLocks noChangeShapeType="1"/>
            </p:cNvSpPr>
            <p:nvPr/>
          </p:nvSpPr>
          <p:spPr bwMode="auto">
            <a:xfrm>
              <a:off x="3352" y="2012"/>
              <a:ext cx="488" cy="4"/>
            </a:xfrm>
            <a:prstGeom prst="line">
              <a:avLst/>
            </a:prstGeom>
            <a:noFill/>
            <a:ln w="9525">
              <a:solidFill>
                <a:schemeClr val="tx1"/>
              </a:solidFill>
              <a:round/>
              <a:headEnd/>
              <a:tailEnd/>
            </a:ln>
          </p:spPr>
          <p:txBody>
            <a:bodyPr wrap="none" anchor="ctr"/>
            <a:lstStyle/>
            <a:p>
              <a:endParaRPr lang="bg-BG"/>
            </a:p>
          </p:txBody>
        </p:sp>
        <p:sp>
          <p:nvSpPr>
            <p:cNvPr id="95268" name="Line 41"/>
            <p:cNvSpPr>
              <a:spLocks noChangeShapeType="1"/>
            </p:cNvSpPr>
            <p:nvPr/>
          </p:nvSpPr>
          <p:spPr bwMode="auto">
            <a:xfrm>
              <a:off x="3352" y="1486"/>
              <a:ext cx="478" cy="0"/>
            </a:xfrm>
            <a:prstGeom prst="line">
              <a:avLst/>
            </a:prstGeom>
            <a:noFill/>
            <a:ln w="9525">
              <a:solidFill>
                <a:schemeClr val="tx1"/>
              </a:solidFill>
              <a:round/>
              <a:headEnd/>
              <a:tailEnd/>
            </a:ln>
          </p:spPr>
          <p:txBody>
            <a:bodyPr wrap="none" anchor="ctr"/>
            <a:lstStyle/>
            <a:p>
              <a:endParaRPr lang="bg-BG"/>
            </a:p>
          </p:txBody>
        </p:sp>
        <p:sp>
          <p:nvSpPr>
            <p:cNvPr id="95269" name="Line 42"/>
            <p:cNvSpPr>
              <a:spLocks noChangeShapeType="1"/>
            </p:cNvSpPr>
            <p:nvPr/>
          </p:nvSpPr>
          <p:spPr bwMode="auto">
            <a:xfrm>
              <a:off x="3359" y="1664"/>
              <a:ext cx="478" cy="0"/>
            </a:xfrm>
            <a:prstGeom prst="line">
              <a:avLst/>
            </a:prstGeom>
            <a:noFill/>
            <a:ln w="9525">
              <a:solidFill>
                <a:schemeClr val="tx1"/>
              </a:solidFill>
              <a:round/>
              <a:headEnd/>
              <a:tailEnd/>
            </a:ln>
          </p:spPr>
          <p:txBody>
            <a:bodyPr wrap="none" anchor="ctr"/>
            <a:lstStyle/>
            <a:p>
              <a:endParaRPr lang="bg-BG"/>
            </a:p>
          </p:txBody>
        </p:sp>
        <p:sp>
          <p:nvSpPr>
            <p:cNvPr id="95270" name="Line 43"/>
            <p:cNvSpPr>
              <a:spLocks noChangeShapeType="1"/>
            </p:cNvSpPr>
            <p:nvPr/>
          </p:nvSpPr>
          <p:spPr bwMode="auto">
            <a:xfrm>
              <a:off x="3352" y="1837"/>
              <a:ext cx="478" cy="0"/>
            </a:xfrm>
            <a:prstGeom prst="line">
              <a:avLst/>
            </a:prstGeom>
            <a:noFill/>
            <a:ln w="9525">
              <a:solidFill>
                <a:schemeClr val="tx1"/>
              </a:solidFill>
              <a:round/>
              <a:headEnd/>
              <a:tailEnd/>
            </a:ln>
          </p:spPr>
          <p:txBody>
            <a:bodyPr wrap="none" anchor="ctr"/>
            <a:lstStyle/>
            <a:p>
              <a:endParaRPr lang="bg-BG"/>
            </a:p>
          </p:txBody>
        </p:sp>
        <p:sp>
          <p:nvSpPr>
            <p:cNvPr id="95271" name="Line 44"/>
            <p:cNvSpPr>
              <a:spLocks noChangeShapeType="1"/>
            </p:cNvSpPr>
            <p:nvPr/>
          </p:nvSpPr>
          <p:spPr bwMode="auto">
            <a:xfrm>
              <a:off x="3352" y="2194"/>
              <a:ext cx="478" cy="0"/>
            </a:xfrm>
            <a:prstGeom prst="line">
              <a:avLst/>
            </a:prstGeom>
            <a:noFill/>
            <a:ln w="9525">
              <a:solidFill>
                <a:schemeClr val="tx1"/>
              </a:solidFill>
              <a:round/>
              <a:headEnd/>
              <a:tailEnd/>
            </a:ln>
          </p:spPr>
          <p:txBody>
            <a:bodyPr wrap="none" anchor="ctr"/>
            <a:lstStyle/>
            <a:p>
              <a:endParaRPr lang="bg-BG"/>
            </a:p>
          </p:txBody>
        </p:sp>
        <p:sp>
          <p:nvSpPr>
            <p:cNvPr id="95272" name="Line 45"/>
            <p:cNvSpPr>
              <a:spLocks noChangeShapeType="1"/>
            </p:cNvSpPr>
            <p:nvPr/>
          </p:nvSpPr>
          <p:spPr bwMode="auto">
            <a:xfrm>
              <a:off x="3367" y="2546"/>
              <a:ext cx="478" cy="0"/>
            </a:xfrm>
            <a:prstGeom prst="line">
              <a:avLst/>
            </a:prstGeom>
            <a:noFill/>
            <a:ln w="9525">
              <a:solidFill>
                <a:schemeClr val="tx1"/>
              </a:solidFill>
              <a:round/>
              <a:headEnd/>
              <a:tailEnd/>
            </a:ln>
          </p:spPr>
          <p:txBody>
            <a:bodyPr wrap="none" anchor="ctr"/>
            <a:lstStyle/>
            <a:p>
              <a:endParaRPr lang="bg-BG"/>
            </a:p>
          </p:txBody>
        </p:sp>
        <p:sp>
          <p:nvSpPr>
            <p:cNvPr id="95273" name="Line 46"/>
            <p:cNvSpPr>
              <a:spLocks noChangeShapeType="1"/>
            </p:cNvSpPr>
            <p:nvPr/>
          </p:nvSpPr>
          <p:spPr bwMode="auto">
            <a:xfrm>
              <a:off x="3352" y="2371"/>
              <a:ext cx="478" cy="0"/>
            </a:xfrm>
            <a:prstGeom prst="line">
              <a:avLst/>
            </a:prstGeom>
            <a:noFill/>
            <a:ln w="9525">
              <a:solidFill>
                <a:schemeClr val="tx1"/>
              </a:solidFill>
              <a:round/>
              <a:headEnd/>
              <a:tailEnd/>
            </a:ln>
          </p:spPr>
          <p:txBody>
            <a:bodyPr wrap="none" anchor="ctr"/>
            <a:lstStyle/>
            <a:p>
              <a:endParaRPr lang="bg-BG"/>
            </a:p>
          </p:txBody>
        </p:sp>
        <p:sp>
          <p:nvSpPr>
            <p:cNvPr id="95274" name="Line 47"/>
            <p:cNvSpPr>
              <a:spLocks noChangeShapeType="1"/>
            </p:cNvSpPr>
            <p:nvPr/>
          </p:nvSpPr>
          <p:spPr bwMode="auto">
            <a:xfrm>
              <a:off x="3356" y="2896"/>
              <a:ext cx="478" cy="0"/>
            </a:xfrm>
            <a:prstGeom prst="line">
              <a:avLst/>
            </a:prstGeom>
            <a:noFill/>
            <a:ln w="9525">
              <a:solidFill>
                <a:schemeClr val="tx1"/>
              </a:solidFill>
              <a:round/>
              <a:headEnd/>
              <a:tailEnd/>
            </a:ln>
          </p:spPr>
          <p:txBody>
            <a:bodyPr wrap="none" anchor="ctr"/>
            <a:lstStyle/>
            <a:p>
              <a:endParaRPr lang="bg-BG"/>
            </a:p>
          </p:txBody>
        </p:sp>
        <p:sp>
          <p:nvSpPr>
            <p:cNvPr id="95275" name="Line 48"/>
            <p:cNvSpPr>
              <a:spLocks noChangeShapeType="1"/>
            </p:cNvSpPr>
            <p:nvPr/>
          </p:nvSpPr>
          <p:spPr bwMode="auto">
            <a:xfrm>
              <a:off x="3367" y="2731"/>
              <a:ext cx="478" cy="0"/>
            </a:xfrm>
            <a:prstGeom prst="line">
              <a:avLst/>
            </a:prstGeom>
            <a:noFill/>
            <a:ln w="9525">
              <a:solidFill>
                <a:schemeClr val="tx1"/>
              </a:solidFill>
              <a:round/>
              <a:headEnd/>
              <a:tailEnd/>
            </a:ln>
          </p:spPr>
          <p:txBody>
            <a:bodyPr wrap="none" anchor="ctr"/>
            <a:lstStyle/>
            <a:p>
              <a:endParaRPr lang="bg-BG"/>
            </a:p>
          </p:txBody>
        </p:sp>
        <p:sp>
          <p:nvSpPr>
            <p:cNvPr id="95276" name="Rectangle 50"/>
            <p:cNvSpPr>
              <a:spLocks noChangeArrowheads="1"/>
            </p:cNvSpPr>
            <p:nvPr/>
          </p:nvSpPr>
          <p:spPr bwMode="auto">
            <a:xfrm>
              <a:off x="4069" y="1305"/>
              <a:ext cx="479" cy="1779"/>
            </a:xfrm>
            <a:prstGeom prst="rect">
              <a:avLst/>
            </a:prstGeom>
            <a:noFill/>
            <a:ln w="9525">
              <a:solidFill>
                <a:schemeClr val="tx1"/>
              </a:solidFill>
              <a:miter lim="800000"/>
              <a:headEnd/>
              <a:tailEnd/>
            </a:ln>
          </p:spPr>
          <p:txBody>
            <a:bodyPr wrap="none" anchor="ctr"/>
            <a:lstStyle/>
            <a:p>
              <a:endParaRPr lang="bg-BG"/>
            </a:p>
          </p:txBody>
        </p:sp>
        <p:sp>
          <p:nvSpPr>
            <p:cNvPr id="95277" name="Line 51"/>
            <p:cNvSpPr>
              <a:spLocks noChangeShapeType="1"/>
            </p:cNvSpPr>
            <p:nvPr/>
          </p:nvSpPr>
          <p:spPr bwMode="auto">
            <a:xfrm>
              <a:off x="4069" y="2012"/>
              <a:ext cx="491" cy="4"/>
            </a:xfrm>
            <a:prstGeom prst="line">
              <a:avLst/>
            </a:prstGeom>
            <a:noFill/>
            <a:ln w="9525">
              <a:solidFill>
                <a:schemeClr val="tx1"/>
              </a:solidFill>
              <a:round/>
              <a:headEnd/>
              <a:tailEnd/>
            </a:ln>
          </p:spPr>
          <p:txBody>
            <a:bodyPr wrap="none" anchor="ctr"/>
            <a:lstStyle/>
            <a:p>
              <a:endParaRPr lang="bg-BG"/>
            </a:p>
          </p:txBody>
        </p:sp>
        <p:sp>
          <p:nvSpPr>
            <p:cNvPr id="95278" name="Line 52"/>
            <p:cNvSpPr>
              <a:spLocks noChangeShapeType="1"/>
            </p:cNvSpPr>
            <p:nvPr/>
          </p:nvSpPr>
          <p:spPr bwMode="auto">
            <a:xfrm>
              <a:off x="4069" y="1486"/>
              <a:ext cx="479" cy="0"/>
            </a:xfrm>
            <a:prstGeom prst="line">
              <a:avLst/>
            </a:prstGeom>
            <a:noFill/>
            <a:ln w="9525">
              <a:solidFill>
                <a:schemeClr val="tx1"/>
              </a:solidFill>
              <a:round/>
              <a:headEnd/>
              <a:tailEnd/>
            </a:ln>
          </p:spPr>
          <p:txBody>
            <a:bodyPr wrap="none" anchor="ctr"/>
            <a:lstStyle/>
            <a:p>
              <a:endParaRPr lang="bg-BG"/>
            </a:p>
          </p:txBody>
        </p:sp>
        <p:sp>
          <p:nvSpPr>
            <p:cNvPr id="95279" name="Line 53"/>
            <p:cNvSpPr>
              <a:spLocks noChangeShapeType="1"/>
            </p:cNvSpPr>
            <p:nvPr/>
          </p:nvSpPr>
          <p:spPr bwMode="auto">
            <a:xfrm>
              <a:off x="4076" y="1664"/>
              <a:ext cx="479" cy="0"/>
            </a:xfrm>
            <a:prstGeom prst="line">
              <a:avLst/>
            </a:prstGeom>
            <a:noFill/>
            <a:ln w="9525">
              <a:solidFill>
                <a:schemeClr val="tx1"/>
              </a:solidFill>
              <a:round/>
              <a:headEnd/>
              <a:tailEnd/>
            </a:ln>
          </p:spPr>
          <p:txBody>
            <a:bodyPr wrap="none" anchor="ctr"/>
            <a:lstStyle/>
            <a:p>
              <a:endParaRPr lang="bg-BG"/>
            </a:p>
          </p:txBody>
        </p:sp>
        <p:sp>
          <p:nvSpPr>
            <p:cNvPr id="95280" name="Line 54"/>
            <p:cNvSpPr>
              <a:spLocks noChangeShapeType="1"/>
            </p:cNvSpPr>
            <p:nvPr/>
          </p:nvSpPr>
          <p:spPr bwMode="auto">
            <a:xfrm>
              <a:off x="4069" y="1837"/>
              <a:ext cx="479" cy="0"/>
            </a:xfrm>
            <a:prstGeom prst="line">
              <a:avLst/>
            </a:prstGeom>
            <a:noFill/>
            <a:ln w="9525">
              <a:solidFill>
                <a:schemeClr val="tx1"/>
              </a:solidFill>
              <a:round/>
              <a:headEnd/>
              <a:tailEnd/>
            </a:ln>
          </p:spPr>
          <p:txBody>
            <a:bodyPr wrap="none" anchor="ctr"/>
            <a:lstStyle/>
            <a:p>
              <a:endParaRPr lang="bg-BG"/>
            </a:p>
          </p:txBody>
        </p:sp>
        <p:sp>
          <p:nvSpPr>
            <p:cNvPr id="95281" name="Line 55"/>
            <p:cNvSpPr>
              <a:spLocks noChangeShapeType="1"/>
            </p:cNvSpPr>
            <p:nvPr/>
          </p:nvSpPr>
          <p:spPr bwMode="auto">
            <a:xfrm>
              <a:off x="4069" y="2194"/>
              <a:ext cx="479" cy="0"/>
            </a:xfrm>
            <a:prstGeom prst="line">
              <a:avLst/>
            </a:prstGeom>
            <a:noFill/>
            <a:ln w="9525">
              <a:solidFill>
                <a:schemeClr val="tx1"/>
              </a:solidFill>
              <a:round/>
              <a:headEnd/>
              <a:tailEnd/>
            </a:ln>
          </p:spPr>
          <p:txBody>
            <a:bodyPr wrap="none" anchor="ctr"/>
            <a:lstStyle/>
            <a:p>
              <a:endParaRPr lang="bg-BG"/>
            </a:p>
          </p:txBody>
        </p:sp>
        <p:sp>
          <p:nvSpPr>
            <p:cNvPr id="95282" name="Line 56"/>
            <p:cNvSpPr>
              <a:spLocks noChangeShapeType="1"/>
            </p:cNvSpPr>
            <p:nvPr/>
          </p:nvSpPr>
          <p:spPr bwMode="auto">
            <a:xfrm>
              <a:off x="4084" y="2546"/>
              <a:ext cx="479" cy="0"/>
            </a:xfrm>
            <a:prstGeom prst="line">
              <a:avLst/>
            </a:prstGeom>
            <a:noFill/>
            <a:ln w="9525">
              <a:solidFill>
                <a:schemeClr val="tx1"/>
              </a:solidFill>
              <a:round/>
              <a:headEnd/>
              <a:tailEnd/>
            </a:ln>
          </p:spPr>
          <p:txBody>
            <a:bodyPr wrap="none" anchor="ctr"/>
            <a:lstStyle/>
            <a:p>
              <a:endParaRPr lang="bg-BG"/>
            </a:p>
          </p:txBody>
        </p:sp>
        <p:sp>
          <p:nvSpPr>
            <p:cNvPr id="95283" name="Line 57"/>
            <p:cNvSpPr>
              <a:spLocks noChangeShapeType="1"/>
            </p:cNvSpPr>
            <p:nvPr/>
          </p:nvSpPr>
          <p:spPr bwMode="auto">
            <a:xfrm>
              <a:off x="4069" y="2371"/>
              <a:ext cx="479" cy="0"/>
            </a:xfrm>
            <a:prstGeom prst="line">
              <a:avLst/>
            </a:prstGeom>
            <a:noFill/>
            <a:ln w="9525">
              <a:solidFill>
                <a:schemeClr val="tx1"/>
              </a:solidFill>
              <a:round/>
              <a:headEnd/>
              <a:tailEnd/>
            </a:ln>
          </p:spPr>
          <p:txBody>
            <a:bodyPr wrap="none" anchor="ctr"/>
            <a:lstStyle/>
            <a:p>
              <a:endParaRPr lang="bg-BG"/>
            </a:p>
          </p:txBody>
        </p:sp>
        <p:sp>
          <p:nvSpPr>
            <p:cNvPr id="95284" name="Line 58"/>
            <p:cNvSpPr>
              <a:spLocks noChangeShapeType="1"/>
            </p:cNvSpPr>
            <p:nvPr/>
          </p:nvSpPr>
          <p:spPr bwMode="auto">
            <a:xfrm>
              <a:off x="4073" y="2896"/>
              <a:ext cx="479" cy="0"/>
            </a:xfrm>
            <a:prstGeom prst="line">
              <a:avLst/>
            </a:prstGeom>
            <a:noFill/>
            <a:ln w="9525">
              <a:solidFill>
                <a:schemeClr val="tx1"/>
              </a:solidFill>
              <a:round/>
              <a:headEnd/>
              <a:tailEnd/>
            </a:ln>
          </p:spPr>
          <p:txBody>
            <a:bodyPr wrap="none" anchor="ctr"/>
            <a:lstStyle/>
            <a:p>
              <a:endParaRPr lang="bg-BG"/>
            </a:p>
          </p:txBody>
        </p:sp>
        <p:sp>
          <p:nvSpPr>
            <p:cNvPr id="95285" name="Line 59"/>
            <p:cNvSpPr>
              <a:spLocks noChangeShapeType="1"/>
            </p:cNvSpPr>
            <p:nvPr/>
          </p:nvSpPr>
          <p:spPr bwMode="auto">
            <a:xfrm>
              <a:off x="4084" y="2731"/>
              <a:ext cx="479" cy="0"/>
            </a:xfrm>
            <a:prstGeom prst="line">
              <a:avLst/>
            </a:prstGeom>
            <a:noFill/>
            <a:ln w="9525">
              <a:solidFill>
                <a:schemeClr val="tx1"/>
              </a:solidFill>
              <a:round/>
              <a:headEnd/>
              <a:tailEnd/>
            </a:ln>
          </p:spPr>
          <p:txBody>
            <a:bodyPr wrap="none" anchor="ctr"/>
            <a:lstStyle/>
            <a:p>
              <a:endParaRPr lang="bg-BG"/>
            </a:p>
          </p:txBody>
        </p:sp>
        <p:sp>
          <p:nvSpPr>
            <p:cNvPr id="95286" name="Rectangle 61"/>
            <p:cNvSpPr>
              <a:spLocks noChangeArrowheads="1"/>
            </p:cNvSpPr>
            <p:nvPr/>
          </p:nvSpPr>
          <p:spPr bwMode="auto">
            <a:xfrm>
              <a:off x="2635" y="1305"/>
              <a:ext cx="478" cy="1779"/>
            </a:xfrm>
            <a:prstGeom prst="rect">
              <a:avLst/>
            </a:prstGeom>
            <a:noFill/>
            <a:ln w="9525">
              <a:solidFill>
                <a:schemeClr val="tx1"/>
              </a:solidFill>
              <a:miter lim="800000"/>
              <a:headEnd/>
              <a:tailEnd/>
            </a:ln>
          </p:spPr>
          <p:txBody>
            <a:bodyPr wrap="none" anchor="ctr"/>
            <a:lstStyle/>
            <a:p>
              <a:endParaRPr lang="bg-BG"/>
            </a:p>
          </p:txBody>
        </p:sp>
        <p:sp>
          <p:nvSpPr>
            <p:cNvPr id="95287" name="Line 62"/>
            <p:cNvSpPr>
              <a:spLocks noChangeShapeType="1"/>
            </p:cNvSpPr>
            <p:nvPr/>
          </p:nvSpPr>
          <p:spPr bwMode="auto">
            <a:xfrm>
              <a:off x="2635" y="2012"/>
              <a:ext cx="485" cy="4"/>
            </a:xfrm>
            <a:prstGeom prst="line">
              <a:avLst/>
            </a:prstGeom>
            <a:noFill/>
            <a:ln w="9525">
              <a:solidFill>
                <a:schemeClr val="tx1"/>
              </a:solidFill>
              <a:round/>
              <a:headEnd/>
              <a:tailEnd/>
            </a:ln>
          </p:spPr>
          <p:txBody>
            <a:bodyPr wrap="none" anchor="ctr"/>
            <a:lstStyle/>
            <a:p>
              <a:endParaRPr lang="bg-BG"/>
            </a:p>
          </p:txBody>
        </p:sp>
        <p:sp>
          <p:nvSpPr>
            <p:cNvPr id="95288" name="Line 63"/>
            <p:cNvSpPr>
              <a:spLocks noChangeShapeType="1"/>
            </p:cNvSpPr>
            <p:nvPr/>
          </p:nvSpPr>
          <p:spPr bwMode="auto">
            <a:xfrm>
              <a:off x="2635" y="1486"/>
              <a:ext cx="478" cy="0"/>
            </a:xfrm>
            <a:prstGeom prst="line">
              <a:avLst/>
            </a:prstGeom>
            <a:noFill/>
            <a:ln w="9525">
              <a:solidFill>
                <a:schemeClr val="tx1"/>
              </a:solidFill>
              <a:round/>
              <a:headEnd/>
              <a:tailEnd/>
            </a:ln>
          </p:spPr>
          <p:txBody>
            <a:bodyPr wrap="none" anchor="ctr"/>
            <a:lstStyle/>
            <a:p>
              <a:endParaRPr lang="bg-BG"/>
            </a:p>
          </p:txBody>
        </p:sp>
        <p:sp>
          <p:nvSpPr>
            <p:cNvPr id="95289" name="Line 64"/>
            <p:cNvSpPr>
              <a:spLocks noChangeShapeType="1"/>
            </p:cNvSpPr>
            <p:nvPr/>
          </p:nvSpPr>
          <p:spPr bwMode="auto">
            <a:xfrm>
              <a:off x="2642" y="1664"/>
              <a:ext cx="478" cy="0"/>
            </a:xfrm>
            <a:prstGeom prst="line">
              <a:avLst/>
            </a:prstGeom>
            <a:noFill/>
            <a:ln w="9525">
              <a:solidFill>
                <a:schemeClr val="tx1"/>
              </a:solidFill>
              <a:round/>
              <a:headEnd/>
              <a:tailEnd/>
            </a:ln>
          </p:spPr>
          <p:txBody>
            <a:bodyPr wrap="none" anchor="ctr"/>
            <a:lstStyle/>
            <a:p>
              <a:endParaRPr lang="bg-BG"/>
            </a:p>
          </p:txBody>
        </p:sp>
        <p:sp>
          <p:nvSpPr>
            <p:cNvPr id="95290" name="Line 65"/>
            <p:cNvSpPr>
              <a:spLocks noChangeShapeType="1"/>
            </p:cNvSpPr>
            <p:nvPr/>
          </p:nvSpPr>
          <p:spPr bwMode="auto">
            <a:xfrm>
              <a:off x="2635" y="1837"/>
              <a:ext cx="478" cy="0"/>
            </a:xfrm>
            <a:prstGeom prst="line">
              <a:avLst/>
            </a:prstGeom>
            <a:noFill/>
            <a:ln w="9525">
              <a:solidFill>
                <a:schemeClr val="tx1"/>
              </a:solidFill>
              <a:round/>
              <a:headEnd/>
              <a:tailEnd/>
            </a:ln>
          </p:spPr>
          <p:txBody>
            <a:bodyPr wrap="none" anchor="ctr"/>
            <a:lstStyle/>
            <a:p>
              <a:endParaRPr lang="bg-BG"/>
            </a:p>
          </p:txBody>
        </p:sp>
        <p:sp>
          <p:nvSpPr>
            <p:cNvPr id="95291" name="Line 66"/>
            <p:cNvSpPr>
              <a:spLocks noChangeShapeType="1"/>
            </p:cNvSpPr>
            <p:nvPr/>
          </p:nvSpPr>
          <p:spPr bwMode="auto">
            <a:xfrm>
              <a:off x="2635" y="2194"/>
              <a:ext cx="478" cy="0"/>
            </a:xfrm>
            <a:prstGeom prst="line">
              <a:avLst/>
            </a:prstGeom>
            <a:noFill/>
            <a:ln w="9525">
              <a:solidFill>
                <a:schemeClr val="tx1"/>
              </a:solidFill>
              <a:round/>
              <a:headEnd/>
              <a:tailEnd/>
            </a:ln>
          </p:spPr>
          <p:txBody>
            <a:bodyPr wrap="none" anchor="ctr"/>
            <a:lstStyle/>
            <a:p>
              <a:endParaRPr lang="bg-BG"/>
            </a:p>
          </p:txBody>
        </p:sp>
        <p:sp>
          <p:nvSpPr>
            <p:cNvPr id="95292" name="Line 67"/>
            <p:cNvSpPr>
              <a:spLocks noChangeShapeType="1"/>
            </p:cNvSpPr>
            <p:nvPr/>
          </p:nvSpPr>
          <p:spPr bwMode="auto">
            <a:xfrm>
              <a:off x="2650" y="2546"/>
              <a:ext cx="478" cy="0"/>
            </a:xfrm>
            <a:prstGeom prst="line">
              <a:avLst/>
            </a:prstGeom>
            <a:noFill/>
            <a:ln w="9525">
              <a:solidFill>
                <a:schemeClr val="tx1"/>
              </a:solidFill>
              <a:round/>
              <a:headEnd/>
              <a:tailEnd/>
            </a:ln>
          </p:spPr>
          <p:txBody>
            <a:bodyPr wrap="none" anchor="ctr"/>
            <a:lstStyle/>
            <a:p>
              <a:endParaRPr lang="bg-BG"/>
            </a:p>
          </p:txBody>
        </p:sp>
        <p:sp>
          <p:nvSpPr>
            <p:cNvPr id="95293" name="Line 68"/>
            <p:cNvSpPr>
              <a:spLocks noChangeShapeType="1"/>
            </p:cNvSpPr>
            <p:nvPr/>
          </p:nvSpPr>
          <p:spPr bwMode="auto">
            <a:xfrm>
              <a:off x="2635" y="2371"/>
              <a:ext cx="478" cy="0"/>
            </a:xfrm>
            <a:prstGeom prst="line">
              <a:avLst/>
            </a:prstGeom>
            <a:noFill/>
            <a:ln w="9525">
              <a:solidFill>
                <a:schemeClr val="tx1"/>
              </a:solidFill>
              <a:round/>
              <a:headEnd/>
              <a:tailEnd/>
            </a:ln>
          </p:spPr>
          <p:txBody>
            <a:bodyPr wrap="none" anchor="ctr"/>
            <a:lstStyle/>
            <a:p>
              <a:endParaRPr lang="bg-BG"/>
            </a:p>
          </p:txBody>
        </p:sp>
        <p:sp>
          <p:nvSpPr>
            <p:cNvPr id="95294" name="Line 69"/>
            <p:cNvSpPr>
              <a:spLocks noChangeShapeType="1"/>
            </p:cNvSpPr>
            <p:nvPr/>
          </p:nvSpPr>
          <p:spPr bwMode="auto">
            <a:xfrm>
              <a:off x="2639" y="2896"/>
              <a:ext cx="478" cy="0"/>
            </a:xfrm>
            <a:prstGeom prst="line">
              <a:avLst/>
            </a:prstGeom>
            <a:noFill/>
            <a:ln w="9525">
              <a:solidFill>
                <a:schemeClr val="tx1"/>
              </a:solidFill>
              <a:round/>
              <a:headEnd/>
              <a:tailEnd/>
            </a:ln>
          </p:spPr>
          <p:txBody>
            <a:bodyPr wrap="none" anchor="ctr"/>
            <a:lstStyle/>
            <a:p>
              <a:endParaRPr lang="bg-BG"/>
            </a:p>
          </p:txBody>
        </p:sp>
        <p:sp>
          <p:nvSpPr>
            <p:cNvPr id="95295" name="Line 70"/>
            <p:cNvSpPr>
              <a:spLocks noChangeShapeType="1"/>
            </p:cNvSpPr>
            <p:nvPr/>
          </p:nvSpPr>
          <p:spPr bwMode="auto">
            <a:xfrm>
              <a:off x="2650" y="2731"/>
              <a:ext cx="478" cy="0"/>
            </a:xfrm>
            <a:prstGeom prst="line">
              <a:avLst/>
            </a:prstGeom>
            <a:noFill/>
            <a:ln w="9525">
              <a:solidFill>
                <a:schemeClr val="tx1"/>
              </a:solidFill>
              <a:round/>
              <a:headEnd/>
              <a:tailEnd/>
            </a:ln>
          </p:spPr>
          <p:txBody>
            <a:bodyPr wrap="none" anchor="ctr"/>
            <a:lstStyle/>
            <a:p>
              <a:endParaRPr lang="bg-BG"/>
            </a:p>
          </p:txBody>
        </p:sp>
        <p:sp>
          <p:nvSpPr>
            <p:cNvPr id="95296" name="Rectangle 72"/>
            <p:cNvSpPr>
              <a:spLocks noChangeArrowheads="1"/>
            </p:cNvSpPr>
            <p:nvPr/>
          </p:nvSpPr>
          <p:spPr bwMode="auto">
            <a:xfrm>
              <a:off x="4739" y="1305"/>
              <a:ext cx="478" cy="1779"/>
            </a:xfrm>
            <a:prstGeom prst="rect">
              <a:avLst/>
            </a:prstGeom>
            <a:noFill/>
            <a:ln w="9525">
              <a:solidFill>
                <a:schemeClr val="tx1"/>
              </a:solidFill>
              <a:miter lim="800000"/>
              <a:headEnd/>
              <a:tailEnd/>
            </a:ln>
          </p:spPr>
          <p:txBody>
            <a:bodyPr wrap="none" anchor="ctr"/>
            <a:lstStyle/>
            <a:p>
              <a:endParaRPr lang="bg-BG"/>
            </a:p>
          </p:txBody>
        </p:sp>
        <p:sp>
          <p:nvSpPr>
            <p:cNvPr id="95297" name="Line 73"/>
            <p:cNvSpPr>
              <a:spLocks noChangeShapeType="1"/>
            </p:cNvSpPr>
            <p:nvPr/>
          </p:nvSpPr>
          <p:spPr bwMode="auto">
            <a:xfrm>
              <a:off x="4739" y="2012"/>
              <a:ext cx="493" cy="4"/>
            </a:xfrm>
            <a:prstGeom prst="line">
              <a:avLst/>
            </a:prstGeom>
            <a:noFill/>
            <a:ln w="9525">
              <a:solidFill>
                <a:schemeClr val="tx1"/>
              </a:solidFill>
              <a:round/>
              <a:headEnd/>
              <a:tailEnd/>
            </a:ln>
          </p:spPr>
          <p:txBody>
            <a:bodyPr wrap="none" anchor="ctr"/>
            <a:lstStyle/>
            <a:p>
              <a:endParaRPr lang="bg-BG"/>
            </a:p>
          </p:txBody>
        </p:sp>
        <p:sp>
          <p:nvSpPr>
            <p:cNvPr id="95298" name="Line 74"/>
            <p:cNvSpPr>
              <a:spLocks noChangeShapeType="1"/>
            </p:cNvSpPr>
            <p:nvPr/>
          </p:nvSpPr>
          <p:spPr bwMode="auto">
            <a:xfrm>
              <a:off x="4739" y="1486"/>
              <a:ext cx="478" cy="0"/>
            </a:xfrm>
            <a:prstGeom prst="line">
              <a:avLst/>
            </a:prstGeom>
            <a:noFill/>
            <a:ln w="9525">
              <a:solidFill>
                <a:schemeClr val="tx1"/>
              </a:solidFill>
              <a:round/>
              <a:headEnd/>
              <a:tailEnd/>
            </a:ln>
          </p:spPr>
          <p:txBody>
            <a:bodyPr wrap="none" anchor="ctr"/>
            <a:lstStyle/>
            <a:p>
              <a:endParaRPr lang="bg-BG"/>
            </a:p>
          </p:txBody>
        </p:sp>
        <p:sp>
          <p:nvSpPr>
            <p:cNvPr id="95299" name="Line 75"/>
            <p:cNvSpPr>
              <a:spLocks noChangeShapeType="1"/>
            </p:cNvSpPr>
            <p:nvPr/>
          </p:nvSpPr>
          <p:spPr bwMode="auto">
            <a:xfrm>
              <a:off x="4746" y="1664"/>
              <a:ext cx="478" cy="0"/>
            </a:xfrm>
            <a:prstGeom prst="line">
              <a:avLst/>
            </a:prstGeom>
            <a:noFill/>
            <a:ln w="9525">
              <a:solidFill>
                <a:schemeClr val="tx1"/>
              </a:solidFill>
              <a:round/>
              <a:headEnd/>
              <a:tailEnd/>
            </a:ln>
          </p:spPr>
          <p:txBody>
            <a:bodyPr wrap="none" anchor="ctr"/>
            <a:lstStyle/>
            <a:p>
              <a:endParaRPr lang="bg-BG"/>
            </a:p>
          </p:txBody>
        </p:sp>
        <p:sp>
          <p:nvSpPr>
            <p:cNvPr id="95300" name="Line 76"/>
            <p:cNvSpPr>
              <a:spLocks noChangeShapeType="1"/>
            </p:cNvSpPr>
            <p:nvPr/>
          </p:nvSpPr>
          <p:spPr bwMode="auto">
            <a:xfrm>
              <a:off x="4739" y="1837"/>
              <a:ext cx="478" cy="0"/>
            </a:xfrm>
            <a:prstGeom prst="line">
              <a:avLst/>
            </a:prstGeom>
            <a:noFill/>
            <a:ln w="9525">
              <a:solidFill>
                <a:schemeClr val="tx1"/>
              </a:solidFill>
              <a:round/>
              <a:headEnd/>
              <a:tailEnd/>
            </a:ln>
          </p:spPr>
          <p:txBody>
            <a:bodyPr wrap="none" anchor="ctr"/>
            <a:lstStyle/>
            <a:p>
              <a:endParaRPr lang="bg-BG"/>
            </a:p>
          </p:txBody>
        </p:sp>
        <p:sp>
          <p:nvSpPr>
            <p:cNvPr id="95301" name="Line 77"/>
            <p:cNvSpPr>
              <a:spLocks noChangeShapeType="1"/>
            </p:cNvSpPr>
            <p:nvPr/>
          </p:nvSpPr>
          <p:spPr bwMode="auto">
            <a:xfrm>
              <a:off x="4739" y="2194"/>
              <a:ext cx="478" cy="0"/>
            </a:xfrm>
            <a:prstGeom prst="line">
              <a:avLst/>
            </a:prstGeom>
            <a:noFill/>
            <a:ln w="9525">
              <a:solidFill>
                <a:schemeClr val="tx1"/>
              </a:solidFill>
              <a:round/>
              <a:headEnd/>
              <a:tailEnd/>
            </a:ln>
          </p:spPr>
          <p:txBody>
            <a:bodyPr wrap="none" anchor="ctr"/>
            <a:lstStyle/>
            <a:p>
              <a:endParaRPr lang="bg-BG"/>
            </a:p>
          </p:txBody>
        </p:sp>
        <p:sp>
          <p:nvSpPr>
            <p:cNvPr id="95302" name="Line 78"/>
            <p:cNvSpPr>
              <a:spLocks noChangeShapeType="1"/>
            </p:cNvSpPr>
            <p:nvPr/>
          </p:nvSpPr>
          <p:spPr bwMode="auto">
            <a:xfrm>
              <a:off x="4754" y="2546"/>
              <a:ext cx="478" cy="0"/>
            </a:xfrm>
            <a:prstGeom prst="line">
              <a:avLst/>
            </a:prstGeom>
            <a:noFill/>
            <a:ln w="9525">
              <a:solidFill>
                <a:schemeClr val="tx1"/>
              </a:solidFill>
              <a:round/>
              <a:headEnd/>
              <a:tailEnd/>
            </a:ln>
          </p:spPr>
          <p:txBody>
            <a:bodyPr wrap="none" anchor="ctr"/>
            <a:lstStyle/>
            <a:p>
              <a:endParaRPr lang="bg-BG"/>
            </a:p>
          </p:txBody>
        </p:sp>
        <p:sp>
          <p:nvSpPr>
            <p:cNvPr id="95303" name="Line 79"/>
            <p:cNvSpPr>
              <a:spLocks noChangeShapeType="1"/>
            </p:cNvSpPr>
            <p:nvPr/>
          </p:nvSpPr>
          <p:spPr bwMode="auto">
            <a:xfrm>
              <a:off x="4739" y="2371"/>
              <a:ext cx="478" cy="0"/>
            </a:xfrm>
            <a:prstGeom prst="line">
              <a:avLst/>
            </a:prstGeom>
            <a:noFill/>
            <a:ln w="9525">
              <a:solidFill>
                <a:schemeClr val="tx1"/>
              </a:solidFill>
              <a:round/>
              <a:headEnd/>
              <a:tailEnd/>
            </a:ln>
          </p:spPr>
          <p:txBody>
            <a:bodyPr wrap="none" anchor="ctr"/>
            <a:lstStyle/>
            <a:p>
              <a:endParaRPr lang="bg-BG"/>
            </a:p>
          </p:txBody>
        </p:sp>
        <p:sp>
          <p:nvSpPr>
            <p:cNvPr id="95304" name="Line 80"/>
            <p:cNvSpPr>
              <a:spLocks noChangeShapeType="1"/>
            </p:cNvSpPr>
            <p:nvPr/>
          </p:nvSpPr>
          <p:spPr bwMode="auto">
            <a:xfrm>
              <a:off x="4743" y="2896"/>
              <a:ext cx="478" cy="0"/>
            </a:xfrm>
            <a:prstGeom prst="line">
              <a:avLst/>
            </a:prstGeom>
            <a:noFill/>
            <a:ln w="9525">
              <a:solidFill>
                <a:schemeClr val="tx1"/>
              </a:solidFill>
              <a:round/>
              <a:headEnd/>
              <a:tailEnd/>
            </a:ln>
          </p:spPr>
          <p:txBody>
            <a:bodyPr wrap="none" anchor="ctr"/>
            <a:lstStyle/>
            <a:p>
              <a:endParaRPr lang="bg-BG"/>
            </a:p>
          </p:txBody>
        </p:sp>
        <p:sp>
          <p:nvSpPr>
            <p:cNvPr id="95305" name="Line 81"/>
            <p:cNvSpPr>
              <a:spLocks noChangeShapeType="1"/>
            </p:cNvSpPr>
            <p:nvPr/>
          </p:nvSpPr>
          <p:spPr bwMode="auto">
            <a:xfrm>
              <a:off x="4754" y="2731"/>
              <a:ext cx="478" cy="0"/>
            </a:xfrm>
            <a:prstGeom prst="line">
              <a:avLst/>
            </a:prstGeom>
            <a:noFill/>
            <a:ln w="9525">
              <a:solidFill>
                <a:schemeClr val="tx1"/>
              </a:solidFill>
              <a:round/>
              <a:headEnd/>
              <a:tailEnd/>
            </a:ln>
          </p:spPr>
          <p:txBody>
            <a:bodyPr wrap="none" anchor="ctr"/>
            <a:lstStyle/>
            <a:p>
              <a:endParaRPr lang="bg-BG"/>
            </a:p>
          </p:txBody>
        </p:sp>
        <p:sp>
          <p:nvSpPr>
            <p:cNvPr id="95306" name="Text Box 82"/>
            <p:cNvSpPr txBox="1">
              <a:spLocks noChangeArrowheads="1"/>
            </p:cNvSpPr>
            <p:nvPr/>
          </p:nvSpPr>
          <p:spPr bwMode="auto">
            <a:xfrm>
              <a:off x="214" y="1305"/>
              <a:ext cx="225" cy="250"/>
            </a:xfrm>
            <a:prstGeom prst="rect">
              <a:avLst/>
            </a:prstGeom>
            <a:noFill/>
            <a:ln w="9525">
              <a:noFill/>
              <a:miter lim="800000"/>
              <a:headEnd/>
              <a:tailEnd/>
            </a:ln>
          </p:spPr>
          <p:txBody>
            <a:bodyPr>
              <a:spAutoFit/>
            </a:bodyPr>
            <a:lstStyle/>
            <a:p>
              <a:pPr algn="l">
                <a:spcBef>
                  <a:spcPct val="50000"/>
                </a:spcBef>
              </a:pPr>
              <a:r>
                <a:rPr lang="en-US" sz="2000"/>
                <a:t>0</a:t>
              </a:r>
              <a:endParaRPr lang="en-US"/>
            </a:p>
          </p:txBody>
        </p:sp>
        <p:sp>
          <p:nvSpPr>
            <p:cNvPr id="95307" name="Text Box 83"/>
            <p:cNvSpPr txBox="1">
              <a:spLocks noChangeArrowheads="1"/>
            </p:cNvSpPr>
            <p:nvPr/>
          </p:nvSpPr>
          <p:spPr bwMode="auto">
            <a:xfrm>
              <a:off x="207" y="1820"/>
              <a:ext cx="225" cy="250"/>
            </a:xfrm>
            <a:prstGeom prst="rect">
              <a:avLst/>
            </a:prstGeom>
            <a:noFill/>
            <a:ln w="9525">
              <a:noFill/>
              <a:miter lim="800000"/>
              <a:headEnd/>
              <a:tailEnd/>
            </a:ln>
          </p:spPr>
          <p:txBody>
            <a:bodyPr>
              <a:spAutoFit/>
            </a:bodyPr>
            <a:lstStyle/>
            <a:p>
              <a:pPr algn="l">
                <a:spcBef>
                  <a:spcPct val="50000"/>
                </a:spcBef>
              </a:pPr>
              <a:r>
                <a:rPr lang="en-US" sz="2000"/>
                <a:t>3</a:t>
              </a:r>
              <a:endParaRPr lang="en-US"/>
            </a:p>
          </p:txBody>
        </p:sp>
        <p:sp>
          <p:nvSpPr>
            <p:cNvPr id="95308" name="Text Box 84"/>
            <p:cNvSpPr txBox="1">
              <a:spLocks noChangeArrowheads="1"/>
            </p:cNvSpPr>
            <p:nvPr/>
          </p:nvSpPr>
          <p:spPr bwMode="auto">
            <a:xfrm>
              <a:off x="207" y="1995"/>
              <a:ext cx="225" cy="250"/>
            </a:xfrm>
            <a:prstGeom prst="rect">
              <a:avLst/>
            </a:prstGeom>
            <a:noFill/>
            <a:ln w="9525">
              <a:noFill/>
              <a:miter lim="800000"/>
              <a:headEnd/>
              <a:tailEnd/>
            </a:ln>
          </p:spPr>
          <p:txBody>
            <a:bodyPr>
              <a:spAutoFit/>
            </a:bodyPr>
            <a:lstStyle/>
            <a:p>
              <a:pPr algn="l">
                <a:spcBef>
                  <a:spcPct val="50000"/>
                </a:spcBef>
              </a:pPr>
              <a:r>
                <a:rPr lang="en-US" sz="2000"/>
                <a:t>4</a:t>
              </a:r>
              <a:endParaRPr lang="en-US"/>
            </a:p>
          </p:txBody>
        </p:sp>
        <p:sp>
          <p:nvSpPr>
            <p:cNvPr id="95309" name="Text Box 85"/>
            <p:cNvSpPr txBox="1">
              <a:spLocks noChangeArrowheads="1"/>
            </p:cNvSpPr>
            <p:nvPr/>
          </p:nvSpPr>
          <p:spPr bwMode="auto">
            <a:xfrm>
              <a:off x="207" y="2174"/>
              <a:ext cx="225" cy="250"/>
            </a:xfrm>
            <a:prstGeom prst="rect">
              <a:avLst/>
            </a:prstGeom>
            <a:noFill/>
            <a:ln w="9525">
              <a:noFill/>
              <a:miter lim="800000"/>
              <a:headEnd/>
              <a:tailEnd/>
            </a:ln>
          </p:spPr>
          <p:txBody>
            <a:bodyPr>
              <a:spAutoFit/>
            </a:bodyPr>
            <a:lstStyle/>
            <a:p>
              <a:pPr algn="l">
                <a:spcBef>
                  <a:spcPct val="50000"/>
                </a:spcBef>
              </a:pPr>
              <a:r>
                <a:rPr lang="en-US" sz="2000"/>
                <a:t>5</a:t>
              </a:r>
              <a:endParaRPr lang="en-US"/>
            </a:p>
          </p:txBody>
        </p:sp>
        <p:sp>
          <p:nvSpPr>
            <p:cNvPr id="95310" name="Text Box 86"/>
            <p:cNvSpPr txBox="1">
              <a:spLocks noChangeArrowheads="1"/>
            </p:cNvSpPr>
            <p:nvPr/>
          </p:nvSpPr>
          <p:spPr bwMode="auto">
            <a:xfrm>
              <a:off x="203" y="2345"/>
              <a:ext cx="225" cy="250"/>
            </a:xfrm>
            <a:prstGeom prst="rect">
              <a:avLst/>
            </a:prstGeom>
            <a:noFill/>
            <a:ln w="9525">
              <a:noFill/>
              <a:miter lim="800000"/>
              <a:headEnd/>
              <a:tailEnd/>
            </a:ln>
          </p:spPr>
          <p:txBody>
            <a:bodyPr>
              <a:spAutoFit/>
            </a:bodyPr>
            <a:lstStyle/>
            <a:p>
              <a:pPr algn="l">
                <a:spcBef>
                  <a:spcPct val="50000"/>
                </a:spcBef>
              </a:pPr>
              <a:r>
                <a:rPr lang="en-US" sz="2000"/>
                <a:t>6</a:t>
              </a:r>
              <a:endParaRPr lang="en-US"/>
            </a:p>
          </p:txBody>
        </p:sp>
        <p:sp>
          <p:nvSpPr>
            <p:cNvPr id="95311" name="Text Box 87"/>
            <p:cNvSpPr txBox="1">
              <a:spLocks noChangeArrowheads="1"/>
            </p:cNvSpPr>
            <p:nvPr/>
          </p:nvSpPr>
          <p:spPr bwMode="auto">
            <a:xfrm>
              <a:off x="196" y="2524"/>
              <a:ext cx="225" cy="250"/>
            </a:xfrm>
            <a:prstGeom prst="rect">
              <a:avLst/>
            </a:prstGeom>
            <a:noFill/>
            <a:ln w="9525">
              <a:noFill/>
              <a:miter lim="800000"/>
              <a:headEnd/>
              <a:tailEnd/>
            </a:ln>
          </p:spPr>
          <p:txBody>
            <a:bodyPr>
              <a:spAutoFit/>
            </a:bodyPr>
            <a:lstStyle/>
            <a:p>
              <a:pPr algn="l">
                <a:spcBef>
                  <a:spcPct val="50000"/>
                </a:spcBef>
              </a:pPr>
              <a:r>
                <a:rPr lang="en-US" sz="2000"/>
                <a:t>7</a:t>
              </a:r>
              <a:endParaRPr lang="en-US"/>
            </a:p>
          </p:txBody>
        </p:sp>
        <p:sp>
          <p:nvSpPr>
            <p:cNvPr id="95312" name="Text Box 88"/>
            <p:cNvSpPr txBox="1">
              <a:spLocks noChangeArrowheads="1"/>
            </p:cNvSpPr>
            <p:nvPr/>
          </p:nvSpPr>
          <p:spPr bwMode="auto">
            <a:xfrm>
              <a:off x="192" y="2727"/>
              <a:ext cx="225" cy="250"/>
            </a:xfrm>
            <a:prstGeom prst="rect">
              <a:avLst/>
            </a:prstGeom>
            <a:noFill/>
            <a:ln w="9525">
              <a:noFill/>
              <a:miter lim="800000"/>
              <a:headEnd/>
              <a:tailEnd/>
            </a:ln>
          </p:spPr>
          <p:txBody>
            <a:bodyPr>
              <a:spAutoFit/>
            </a:bodyPr>
            <a:lstStyle/>
            <a:p>
              <a:pPr algn="l">
                <a:spcBef>
                  <a:spcPct val="50000"/>
                </a:spcBef>
              </a:pPr>
              <a:r>
                <a:rPr lang="en-US" sz="2000"/>
                <a:t>8</a:t>
              </a:r>
              <a:endParaRPr lang="en-US"/>
            </a:p>
          </p:txBody>
        </p:sp>
        <p:sp>
          <p:nvSpPr>
            <p:cNvPr id="95313" name="Text Box 89"/>
            <p:cNvSpPr txBox="1">
              <a:spLocks noChangeArrowheads="1"/>
            </p:cNvSpPr>
            <p:nvPr/>
          </p:nvSpPr>
          <p:spPr bwMode="auto">
            <a:xfrm>
              <a:off x="196" y="2906"/>
              <a:ext cx="225" cy="250"/>
            </a:xfrm>
            <a:prstGeom prst="rect">
              <a:avLst/>
            </a:prstGeom>
            <a:noFill/>
            <a:ln w="9525">
              <a:noFill/>
              <a:miter lim="800000"/>
              <a:headEnd/>
              <a:tailEnd/>
            </a:ln>
          </p:spPr>
          <p:txBody>
            <a:bodyPr>
              <a:spAutoFit/>
            </a:bodyPr>
            <a:lstStyle/>
            <a:p>
              <a:pPr algn="l">
                <a:spcBef>
                  <a:spcPct val="50000"/>
                </a:spcBef>
              </a:pPr>
              <a:r>
                <a:rPr lang="en-US" sz="2000"/>
                <a:t>9</a:t>
              </a:r>
              <a:endParaRPr lang="en-US"/>
            </a:p>
          </p:txBody>
        </p:sp>
        <p:sp>
          <p:nvSpPr>
            <p:cNvPr id="95314" name="Text Box 90"/>
            <p:cNvSpPr txBox="1">
              <a:spLocks noChangeArrowheads="1"/>
            </p:cNvSpPr>
            <p:nvPr/>
          </p:nvSpPr>
          <p:spPr bwMode="auto">
            <a:xfrm>
              <a:off x="218" y="1476"/>
              <a:ext cx="225" cy="250"/>
            </a:xfrm>
            <a:prstGeom prst="rect">
              <a:avLst/>
            </a:prstGeom>
            <a:noFill/>
            <a:ln w="9525">
              <a:noFill/>
              <a:miter lim="800000"/>
              <a:headEnd/>
              <a:tailEnd/>
            </a:ln>
          </p:spPr>
          <p:txBody>
            <a:bodyPr>
              <a:spAutoFit/>
            </a:bodyPr>
            <a:lstStyle/>
            <a:p>
              <a:pPr algn="l">
                <a:spcBef>
                  <a:spcPct val="50000"/>
                </a:spcBef>
              </a:pPr>
              <a:r>
                <a:rPr lang="en-US" sz="2000"/>
                <a:t>1</a:t>
              </a:r>
              <a:endParaRPr lang="en-US"/>
            </a:p>
          </p:txBody>
        </p:sp>
        <p:sp>
          <p:nvSpPr>
            <p:cNvPr id="95315" name="Text Box 91"/>
            <p:cNvSpPr txBox="1">
              <a:spLocks noChangeArrowheads="1"/>
            </p:cNvSpPr>
            <p:nvPr/>
          </p:nvSpPr>
          <p:spPr bwMode="auto">
            <a:xfrm>
              <a:off x="207" y="1658"/>
              <a:ext cx="225" cy="250"/>
            </a:xfrm>
            <a:prstGeom prst="rect">
              <a:avLst/>
            </a:prstGeom>
            <a:noFill/>
            <a:ln w="9525">
              <a:noFill/>
              <a:miter lim="800000"/>
              <a:headEnd/>
              <a:tailEnd/>
            </a:ln>
          </p:spPr>
          <p:txBody>
            <a:bodyPr>
              <a:spAutoFit/>
            </a:bodyPr>
            <a:lstStyle/>
            <a:p>
              <a:pPr algn="l">
                <a:spcBef>
                  <a:spcPct val="50000"/>
                </a:spcBef>
              </a:pPr>
              <a:r>
                <a:rPr lang="en-US" sz="2000"/>
                <a:t>2</a:t>
              </a:r>
              <a:endParaRPr lang="en-US"/>
            </a:p>
          </p:txBody>
        </p:sp>
        <p:sp>
          <p:nvSpPr>
            <p:cNvPr id="95316" name="Text Box 92"/>
            <p:cNvSpPr txBox="1">
              <a:spLocks noChangeArrowheads="1"/>
            </p:cNvSpPr>
            <p:nvPr/>
          </p:nvSpPr>
          <p:spPr bwMode="auto">
            <a:xfrm>
              <a:off x="3407" y="1639"/>
              <a:ext cx="430" cy="250"/>
            </a:xfrm>
            <a:prstGeom prst="rect">
              <a:avLst/>
            </a:prstGeom>
            <a:noFill/>
            <a:ln w="9525">
              <a:noFill/>
              <a:miter lim="800000"/>
              <a:headEnd/>
              <a:tailEnd/>
            </a:ln>
          </p:spPr>
          <p:txBody>
            <a:bodyPr>
              <a:spAutoFit/>
            </a:bodyPr>
            <a:lstStyle/>
            <a:p>
              <a:pPr algn="l">
                <a:spcBef>
                  <a:spcPct val="50000"/>
                </a:spcBef>
              </a:pPr>
              <a:r>
                <a:rPr lang="en-US" sz="2000"/>
                <a:t>2</a:t>
              </a:r>
              <a:r>
                <a:rPr lang="bg-BG" sz="2000"/>
                <a:t>34</a:t>
              </a:r>
              <a:endParaRPr lang="en-US"/>
            </a:p>
          </p:txBody>
        </p:sp>
        <p:sp>
          <p:nvSpPr>
            <p:cNvPr id="95317" name="Text Box 93"/>
            <p:cNvSpPr txBox="1">
              <a:spLocks noChangeArrowheads="1"/>
            </p:cNvSpPr>
            <p:nvPr/>
          </p:nvSpPr>
          <p:spPr bwMode="auto">
            <a:xfrm>
              <a:off x="2701" y="1645"/>
              <a:ext cx="430" cy="250"/>
            </a:xfrm>
            <a:prstGeom prst="rect">
              <a:avLst/>
            </a:prstGeom>
            <a:noFill/>
            <a:ln w="9525">
              <a:noFill/>
              <a:miter lim="800000"/>
              <a:headEnd/>
              <a:tailEnd/>
            </a:ln>
          </p:spPr>
          <p:txBody>
            <a:bodyPr>
              <a:spAutoFit/>
            </a:bodyPr>
            <a:lstStyle/>
            <a:p>
              <a:pPr algn="l">
                <a:spcBef>
                  <a:spcPct val="50000"/>
                </a:spcBef>
              </a:pPr>
              <a:r>
                <a:rPr lang="en-US" sz="2000"/>
                <a:t>2</a:t>
              </a:r>
              <a:r>
                <a:rPr lang="bg-BG" sz="2000"/>
                <a:t>34</a:t>
              </a:r>
              <a:endParaRPr lang="en-US"/>
            </a:p>
          </p:txBody>
        </p:sp>
        <p:sp>
          <p:nvSpPr>
            <p:cNvPr id="95318" name="Text Box 94"/>
            <p:cNvSpPr txBox="1">
              <a:spLocks noChangeArrowheads="1"/>
            </p:cNvSpPr>
            <p:nvPr/>
          </p:nvSpPr>
          <p:spPr bwMode="auto">
            <a:xfrm>
              <a:off x="1972" y="1639"/>
              <a:ext cx="431" cy="250"/>
            </a:xfrm>
            <a:prstGeom prst="rect">
              <a:avLst/>
            </a:prstGeom>
            <a:noFill/>
            <a:ln w="9525">
              <a:noFill/>
              <a:miter lim="800000"/>
              <a:headEnd/>
              <a:tailEnd/>
            </a:ln>
          </p:spPr>
          <p:txBody>
            <a:bodyPr>
              <a:spAutoFit/>
            </a:bodyPr>
            <a:lstStyle/>
            <a:p>
              <a:pPr algn="l">
                <a:spcBef>
                  <a:spcPct val="50000"/>
                </a:spcBef>
              </a:pPr>
              <a:r>
                <a:rPr lang="en-US" sz="2000"/>
                <a:t>2</a:t>
              </a:r>
              <a:r>
                <a:rPr lang="bg-BG" sz="2000"/>
                <a:t>34</a:t>
              </a:r>
              <a:endParaRPr lang="en-US"/>
            </a:p>
          </p:txBody>
        </p:sp>
        <p:sp>
          <p:nvSpPr>
            <p:cNvPr id="95319" name="Text Box 95"/>
            <p:cNvSpPr txBox="1">
              <a:spLocks noChangeArrowheads="1"/>
            </p:cNvSpPr>
            <p:nvPr/>
          </p:nvSpPr>
          <p:spPr bwMode="auto">
            <a:xfrm>
              <a:off x="4798" y="1645"/>
              <a:ext cx="430" cy="250"/>
            </a:xfrm>
            <a:prstGeom prst="rect">
              <a:avLst/>
            </a:prstGeom>
            <a:noFill/>
            <a:ln w="9525">
              <a:noFill/>
              <a:miter lim="800000"/>
              <a:headEnd/>
              <a:tailEnd/>
            </a:ln>
          </p:spPr>
          <p:txBody>
            <a:bodyPr>
              <a:spAutoFit/>
            </a:bodyPr>
            <a:lstStyle/>
            <a:p>
              <a:pPr algn="l">
                <a:spcBef>
                  <a:spcPct val="50000"/>
                </a:spcBef>
              </a:pPr>
              <a:r>
                <a:rPr lang="en-US" sz="2000"/>
                <a:t>2</a:t>
              </a:r>
              <a:r>
                <a:rPr lang="bg-BG" sz="2000"/>
                <a:t>34</a:t>
              </a:r>
              <a:endParaRPr lang="en-US"/>
            </a:p>
          </p:txBody>
        </p:sp>
        <p:sp>
          <p:nvSpPr>
            <p:cNvPr id="95320" name="Text Box 96"/>
            <p:cNvSpPr txBox="1">
              <a:spLocks noChangeArrowheads="1"/>
            </p:cNvSpPr>
            <p:nvPr/>
          </p:nvSpPr>
          <p:spPr bwMode="auto">
            <a:xfrm>
              <a:off x="4139" y="1639"/>
              <a:ext cx="430" cy="250"/>
            </a:xfrm>
            <a:prstGeom prst="rect">
              <a:avLst/>
            </a:prstGeom>
            <a:noFill/>
            <a:ln w="9525">
              <a:noFill/>
              <a:miter lim="800000"/>
              <a:headEnd/>
              <a:tailEnd/>
            </a:ln>
          </p:spPr>
          <p:txBody>
            <a:bodyPr>
              <a:spAutoFit/>
            </a:bodyPr>
            <a:lstStyle/>
            <a:p>
              <a:pPr algn="l">
                <a:spcBef>
                  <a:spcPct val="50000"/>
                </a:spcBef>
              </a:pPr>
              <a:r>
                <a:rPr lang="en-US" sz="2000"/>
                <a:t>2</a:t>
              </a:r>
              <a:r>
                <a:rPr lang="bg-BG" sz="2000"/>
                <a:t>34</a:t>
              </a:r>
              <a:endParaRPr lang="en-US"/>
            </a:p>
          </p:txBody>
        </p:sp>
        <p:sp>
          <p:nvSpPr>
            <p:cNvPr id="95321" name="Text Box 97"/>
            <p:cNvSpPr txBox="1">
              <a:spLocks noChangeArrowheads="1"/>
            </p:cNvSpPr>
            <p:nvPr/>
          </p:nvSpPr>
          <p:spPr bwMode="auto">
            <a:xfrm>
              <a:off x="1292" y="1104"/>
              <a:ext cx="430" cy="250"/>
            </a:xfrm>
            <a:prstGeom prst="rect">
              <a:avLst/>
            </a:prstGeom>
            <a:noFill/>
            <a:ln w="9525">
              <a:noFill/>
              <a:miter lim="800000"/>
              <a:headEnd/>
              <a:tailEnd/>
            </a:ln>
          </p:spPr>
          <p:txBody>
            <a:bodyPr>
              <a:spAutoFit/>
            </a:bodyPr>
            <a:lstStyle/>
            <a:p>
              <a:pPr algn="l">
                <a:spcBef>
                  <a:spcPct val="50000"/>
                </a:spcBef>
              </a:pPr>
              <a:r>
                <a:rPr lang="en-US" sz="2000"/>
                <a:t>2</a:t>
              </a:r>
              <a:r>
                <a:rPr lang="bg-BG" sz="2000"/>
                <a:t>34</a:t>
              </a:r>
              <a:endParaRPr lang="en-US"/>
            </a:p>
          </p:txBody>
        </p:sp>
        <p:sp>
          <p:nvSpPr>
            <p:cNvPr id="95322" name="Text Box 98"/>
            <p:cNvSpPr txBox="1">
              <a:spLocks noChangeArrowheads="1"/>
            </p:cNvSpPr>
            <p:nvPr/>
          </p:nvSpPr>
          <p:spPr bwMode="auto">
            <a:xfrm>
              <a:off x="1987" y="1107"/>
              <a:ext cx="431" cy="250"/>
            </a:xfrm>
            <a:prstGeom prst="rect">
              <a:avLst/>
            </a:prstGeom>
            <a:noFill/>
            <a:ln w="9525">
              <a:noFill/>
              <a:miter lim="800000"/>
              <a:headEnd/>
              <a:tailEnd/>
            </a:ln>
          </p:spPr>
          <p:txBody>
            <a:bodyPr>
              <a:spAutoFit/>
            </a:bodyPr>
            <a:lstStyle/>
            <a:p>
              <a:pPr algn="l">
                <a:spcBef>
                  <a:spcPct val="50000"/>
                </a:spcBef>
              </a:pPr>
              <a:r>
                <a:rPr lang="en-US" sz="2000"/>
                <a:t>2</a:t>
              </a:r>
              <a:r>
                <a:rPr lang="bg-BG" sz="2000"/>
                <a:t>35</a:t>
              </a:r>
              <a:endParaRPr lang="en-US"/>
            </a:p>
          </p:txBody>
        </p:sp>
        <p:sp>
          <p:nvSpPr>
            <p:cNvPr id="95323" name="Text Box 99"/>
            <p:cNvSpPr txBox="1">
              <a:spLocks noChangeArrowheads="1"/>
            </p:cNvSpPr>
            <p:nvPr/>
          </p:nvSpPr>
          <p:spPr bwMode="auto">
            <a:xfrm>
              <a:off x="2694" y="2174"/>
              <a:ext cx="430" cy="250"/>
            </a:xfrm>
            <a:prstGeom prst="rect">
              <a:avLst/>
            </a:prstGeom>
            <a:noFill/>
            <a:ln w="9525">
              <a:noFill/>
              <a:miter lim="800000"/>
              <a:headEnd/>
              <a:tailEnd/>
            </a:ln>
          </p:spPr>
          <p:txBody>
            <a:bodyPr>
              <a:spAutoFit/>
            </a:bodyPr>
            <a:lstStyle/>
            <a:p>
              <a:pPr algn="l">
                <a:spcBef>
                  <a:spcPct val="50000"/>
                </a:spcBef>
              </a:pPr>
              <a:r>
                <a:rPr lang="en-US" sz="2000">
                  <a:solidFill>
                    <a:srgbClr val="C00000"/>
                  </a:solidFill>
                </a:rPr>
                <a:t>5</a:t>
              </a:r>
              <a:r>
                <a:rPr lang="bg-BG" sz="2000">
                  <a:solidFill>
                    <a:srgbClr val="C00000"/>
                  </a:solidFill>
                </a:rPr>
                <a:t>67</a:t>
              </a:r>
              <a:endParaRPr lang="en-US">
                <a:solidFill>
                  <a:srgbClr val="C00000"/>
                </a:solidFill>
              </a:endParaRPr>
            </a:p>
          </p:txBody>
        </p:sp>
        <p:sp>
          <p:nvSpPr>
            <p:cNvPr id="95324" name="Text Box 100"/>
            <p:cNvSpPr txBox="1">
              <a:spLocks noChangeArrowheads="1"/>
            </p:cNvSpPr>
            <p:nvPr/>
          </p:nvSpPr>
          <p:spPr bwMode="auto">
            <a:xfrm>
              <a:off x="4794" y="2174"/>
              <a:ext cx="430" cy="250"/>
            </a:xfrm>
            <a:prstGeom prst="rect">
              <a:avLst/>
            </a:prstGeom>
            <a:noFill/>
            <a:ln w="9525">
              <a:noFill/>
              <a:miter lim="800000"/>
              <a:headEnd/>
              <a:tailEnd/>
            </a:ln>
          </p:spPr>
          <p:txBody>
            <a:bodyPr>
              <a:spAutoFit/>
            </a:bodyPr>
            <a:lstStyle/>
            <a:p>
              <a:pPr algn="l">
                <a:spcBef>
                  <a:spcPct val="50000"/>
                </a:spcBef>
              </a:pPr>
              <a:r>
                <a:rPr lang="en-US" sz="2000"/>
                <a:t>5</a:t>
              </a:r>
              <a:r>
                <a:rPr lang="bg-BG" sz="2000"/>
                <a:t>67</a:t>
              </a:r>
              <a:endParaRPr lang="en-US"/>
            </a:p>
          </p:txBody>
        </p:sp>
        <p:sp>
          <p:nvSpPr>
            <p:cNvPr id="95325" name="Text Box 101"/>
            <p:cNvSpPr txBox="1">
              <a:spLocks noChangeArrowheads="1"/>
            </p:cNvSpPr>
            <p:nvPr/>
          </p:nvSpPr>
          <p:spPr bwMode="auto">
            <a:xfrm>
              <a:off x="4120" y="2177"/>
              <a:ext cx="431" cy="250"/>
            </a:xfrm>
            <a:prstGeom prst="rect">
              <a:avLst/>
            </a:prstGeom>
            <a:noFill/>
            <a:ln w="9525">
              <a:noFill/>
              <a:miter lim="800000"/>
              <a:headEnd/>
              <a:tailEnd/>
            </a:ln>
          </p:spPr>
          <p:txBody>
            <a:bodyPr>
              <a:spAutoFit/>
            </a:bodyPr>
            <a:lstStyle/>
            <a:p>
              <a:pPr algn="l">
                <a:spcBef>
                  <a:spcPct val="50000"/>
                </a:spcBef>
              </a:pPr>
              <a:r>
                <a:rPr lang="en-US" sz="2000"/>
                <a:t>5</a:t>
              </a:r>
              <a:r>
                <a:rPr lang="bg-BG" sz="2000"/>
                <a:t>67</a:t>
              </a:r>
              <a:endParaRPr lang="en-US"/>
            </a:p>
          </p:txBody>
        </p:sp>
        <p:sp>
          <p:nvSpPr>
            <p:cNvPr id="95326" name="Text Box 102"/>
            <p:cNvSpPr txBox="1">
              <a:spLocks noChangeArrowheads="1"/>
            </p:cNvSpPr>
            <p:nvPr/>
          </p:nvSpPr>
          <p:spPr bwMode="auto">
            <a:xfrm>
              <a:off x="2679" y="1111"/>
              <a:ext cx="430" cy="250"/>
            </a:xfrm>
            <a:prstGeom prst="rect">
              <a:avLst/>
            </a:prstGeom>
            <a:noFill/>
            <a:ln w="9525">
              <a:noFill/>
              <a:miter lim="800000"/>
              <a:headEnd/>
              <a:tailEnd/>
            </a:ln>
          </p:spPr>
          <p:txBody>
            <a:bodyPr>
              <a:spAutoFit/>
            </a:bodyPr>
            <a:lstStyle/>
            <a:p>
              <a:pPr algn="l">
                <a:spcBef>
                  <a:spcPct val="50000"/>
                </a:spcBef>
              </a:pPr>
              <a:r>
                <a:rPr lang="en-US" sz="2000"/>
                <a:t>5</a:t>
              </a:r>
              <a:r>
                <a:rPr lang="bg-BG" sz="2000"/>
                <a:t>67</a:t>
              </a:r>
              <a:endParaRPr lang="en-US"/>
            </a:p>
          </p:txBody>
        </p:sp>
        <p:sp>
          <p:nvSpPr>
            <p:cNvPr id="95327" name="Text Box 103"/>
            <p:cNvSpPr txBox="1">
              <a:spLocks noChangeArrowheads="1"/>
            </p:cNvSpPr>
            <p:nvPr/>
          </p:nvSpPr>
          <p:spPr bwMode="auto">
            <a:xfrm>
              <a:off x="3400" y="2174"/>
              <a:ext cx="430" cy="250"/>
            </a:xfrm>
            <a:prstGeom prst="rect">
              <a:avLst/>
            </a:prstGeom>
            <a:noFill/>
            <a:ln w="9525">
              <a:noFill/>
              <a:miter lim="800000"/>
              <a:headEnd/>
              <a:tailEnd/>
            </a:ln>
          </p:spPr>
          <p:txBody>
            <a:bodyPr>
              <a:spAutoFit/>
            </a:bodyPr>
            <a:lstStyle/>
            <a:p>
              <a:pPr algn="l">
                <a:spcBef>
                  <a:spcPct val="50000"/>
                </a:spcBef>
              </a:pPr>
              <a:r>
                <a:rPr lang="en-US" sz="2000"/>
                <a:t>5</a:t>
              </a:r>
              <a:r>
                <a:rPr lang="bg-BG" sz="2000"/>
                <a:t>67</a:t>
              </a:r>
              <a:endParaRPr lang="en-US"/>
            </a:p>
          </p:txBody>
        </p:sp>
        <p:sp>
          <p:nvSpPr>
            <p:cNvPr id="95328" name="Text Box 104"/>
            <p:cNvSpPr txBox="1">
              <a:spLocks noChangeArrowheads="1"/>
            </p:cNvSpPr>
            <p:nvPr/>
          </p:nvSpPr>
          <p:spPr bwMode="auto">
            <a:xfrm>
              <a:off x="3418" y="1117"/>
              <a:ext cx="430" cy="250"/>
            </a:xfrm>
            <a:prstGeom prst="rect">
              <a:avLst/>
            </a:prstGeom>
            <a:noFill/>
            <a:ln w="9525">
              <a:noFill/>
              <a:miter lim="800000"/>
              <a:headEnd/>
              <a:tailEnd/>
            </a:ln>
          </p:spPr>
          <p:txBody>
            <a:bodyPr>
              <a:spAutoFit/>
            </a:bodyPr>
            <a:lstStyle/>
            <a:p>
              <a:pPr algn="l">
                <a:spcBef>
                  <a:spcPct val="50000"/>
                </a:spcBef>
              </a:pPr>
              <a:r>
                <a:rPr lang="en-US" sz="2000"/>
                <a:t>5</a:t>
              </a:r>
              <a:r>
                <a:rPr lang="bg-BG" sz="2000"/>
                <a:t>34</a:t>
              </a:r>
              <a:endParaRPr lang="en-US"/>
            </a:p>
          </p:txBody>
        </p:sp>
        <p:sp>
          <p:nvSpPr>
            <p:cNvPr id="95329" name="Text Box 105"/>
            <p:cNvSpPr txBox="1">
              <a:spLocks noChangeArrowheads="1"/>
            </p:cNvSpPr>
            <p:nvPr/>
          </p:nvSpPr>
          <p:spPr bwMode="auto">
            <a:xfrm>
              <a:off x="4135" y="1470"/>
              <a:ext cx="431" cy="250"/>
            </a:xfrm>
            <a:prstGeom prst="rect">
              <a:avLst/>
            </a:prstGeom>
            <a:noFill/>
            <a:ln w="9525">
              <a:noFill/>
              <a:miter lim="800000"/>
              <a:headEnd/>
              <a:tailEnd/>
            </a:ln>
          </p:spPr>
          <p:txBody>
            <a:bodyPr>
              <a:spAutoFit/>
            </a:bodyPr>
            <a:lstStyle/>
            <a:p>
              <a:pPr algn="l">
                <a:spcBef>
                  <a:spcPct val="50000"/>
                </a:spcBef>
              </a:pPr>
              <a:r>
                <a:rPr lang="en-US" sz="2000">
                  <a:solidFill>
                    <a:srgbClr val="C00000"/>
                  </a:solidFill>
                </a:rPr>
                <a:t>1</a:t>
              </a:r>
              <a:r>
                <a:rPr lang="bg-BG" sz="2000">
                  <a:solidFill>
                    <a:srgbClr val="C00000"/>
                  </a:solidFill>
                </a:rPr>
                <a:t>23</a:t>
              </a:r>
              <a:endParaRPr lang="en-US">
                <a:solidFill>
                  <a:srgbClr val="C00000"/>
                </a:solidFill>
              </a:endParaRPr>
            </a:p>
          </p:txBody>
        </p:sp>
        <p:sp>
          <p:nvSpPr>
            <p:cNvPr id="95330" name="Text Box 106"/>
            <p:cNvSpPr txBox="1">
              <a:spLocks noChangeArrowheads="1"/>
            </p:cNvSpPr>
            <p:nvPr/>
          </p:nvSpPr>
          <p:spPr bwMode="auto">
            <a:xfrm>
              <a:off x="4117" y="1117"/>
              <a:ext cx="431" cy="250"/>
            </a:xfrm>
            <a:prstGeom prst="rect">
              <a:avLst/>
            </a:prstGeom>
            <a:noFill/>
            <a:ln w="9525">
              <a:noFill/>
              <a:miter lim="800000"/>
              <a:headEnd/>
              <a:tailEnd/>
            </a:ln>
          </p:spPr>
          <p:txBody>
            <a:bodyPr>
              <a:spAutoFit/>
            </a:bodyPr>
            <a:lstStyle/>
            <a:p>
              <a:pPr algn="l">
                <a:spcBef>
                  <a:spcPct val="50000"/>
                </a:spcBef>
              </a:pPr>
              <a:r>
                <a:rPr lang="en-US" sz="2000"/>
                <a:t>1</a:t>
              </a:r>
              <a:r>
                <a:rPr lang="bg-BG" sz="2000"/>
                <a:t>23</a:t>
              </a:r>
              <a:endParaRPr lang="en-US"/>
            </a:p>
          </p:txBody>
        </p:sp>
        <p:sp>
          <p:nvSpPr>
            <p:cNvPr id="95331" name="Text Box 107"/>
            <p:cNvSpPr txBox="1">
              <a:spLocks noChangeArrowheads="1"/>
            </p:cNvSpPr>
            <p:nvPr/>
          </p:nvSpPr>
          <p:spPr bwMode="auto">
            <a:xfrm>
              <a:off x="4776" y="1470"/>
              <a:ext cx="430" cy="250"/>
            </a:xfrm>
            <a:prstGeom prst="rect">
              <a:avLst/>
            </a:prstGeom>
            <a:noFill/>
            <a:ln w="9525">
              <a:noFill/>
              <a:miter lim="800000"/>
              <a:headEnd/>
              <a:tailEnd/>
            </a:ln>
          </p:spPr>
          <p:txBody>
            <a:bodyPr>
              <a:spAutoFit/>
            </a:bodyPr>
            <a:lstStyle/>
            <a:p>
              <a:pPr algn="l">
                <a:spcBef>
                  <a:spcPct val="50000"/>
                </a:spcBef>
              </a:pPr>
              <a:r>
                <a:rPr lang="en-US" sz="2000"/>
                <a:t>1</a:t>
              </a:r>
              <a:r>
                <a:rPr lang="bg-BG" sz="2000"/>
                <a:t>23</a:t>
              </a:r>
              <a:endParaRPr lang="en-US"/>
            </a:p>
          </p:txBody>
        </p:sp>
        <p:sp>
          <p:nvSpPr>
            <p:cNvPr id="95332" name="Text Box 108"/>
            <p:cNvSpPr txBox="1">
              <a:spLocks noChangeArrowheads="1"/>
            </p:cNvSpPr>
            <p:nvPr/>
          </p:nvSpPr>
          <p:spPr bwMode="auto">
            <a:xfrm>
              <a:off x="4800" y="2341"/>
              <a:ext cx="430" cy="250"/>
            </a:xfrm>
            <a:prstGeom prst="rect">
              <a:avLst/>
            </a:prstGeom>
            <a:noFill/>
            <a:ln w="9525">
              <a:noFill/>
              <a:miter lim="800000"/>
              <a:headEnd/>
              <a:tailEnd/>
            </a:ln>
          </p:spPr>
          <p:txBody>
            <a:bodyPr>
              <a:spAutoFit/>
            </a:bodyPr>
            <a:lstStyle/>
            <a:p>
              <a:pPr algn="l">
                <a:spcBef>
                  <a:spcPct val="50000"/>
                </a:spcBef>
              </a:pPr>
              <a:r>
                <a:rPr lang="en-US" sz="2000">
                  <a:solidFill>
                    <a:srgbClr val="C00000"/>
                  </a:solidFill>
                </a:rPr>
                <a:t>6</a:t>
              </a:r>
              <a:r>
                <a:rPr lang="bg-BG" sz="2000">
                  <a:solidFill>
                    <a:srgbClr val="C00000"/>
                  </a:solidFill>
                </a:rPr>
                <a:t>47</a:t>
              </a:r>
              <a:endParaRPr lang="en-US">
                <a:solidFill>
                  <a:srgbClr val="C00000"/>
                </a:solidFill>
              </a:endParaRPr>
            </a:p>
          </p:txBody>
        </p:sp>
        <p:sp>
          <p:nvSpPr>
            <p:cNvPr id="95333" name="Text Box 109"/>
            <p:cNvSpPr txBox="1">
              <a:spLocks noChangeArrowheads="1"/>
            </p:cNvSpPr>
            <p:nvPr/>
          </p:nvSpPr>
          <p:spPr bwMode="auto">
            <a:xfrm>
              <a:off x="4787" y="1126"/>
              <a:ext cx="430" cy="250"/>
            </a:xfrm>
            <a:prstGeom prst="rect">
              <a:avLst/>
            </a:prstGeom>
            <a:noFill/>
            <a:ln w="9525">
              <a:noFill/>
              <a:miter lim="800000"/>
              <a:headEnd/>
              <a:tailEnd/>
            </a:ln>
          </p:spPr>
          <p:txBody>
            <a:bodyPr>
              <a:spAutoFit/>
            </a:bodyPr>
            <a:lstStyle/>
            <a:p>
              <a:pPr algn="l">
                <a:spcBef>
                  <a:spcPct val="50000"/>
                </a:spcBef>
              </a:pPr>
              <a:r>
                <a:rPr lang="en-US" sz="2000"/>
                <a:t>6</a:t>
              </a:r>
              <a:r>
                <a:rPr lang="bg-BG" sz="2000"/>
                <a:t>47</a:t>
              </a:r>
              <a:endParaRPr lang="en-US"/>
            </a:p>
          </p:txBody>
        </p:sp>
        <p:grpSp>
          <p:nvGrpSpPr>
            <p:cNvPr id="95334" name="Group 110"/>
            <p:cNvGrpSpPr>
              <a:grpSpLocks/>
            </p:cNvGrpSpPr>
            <p:nvPr/>
          </p:nvGrpSpPr>
          <p:grpSpPr bwMode="auto">
            <a:xfrm>
              <a:off x="539" y="3076"/>
              <a:ext cx="480" cy="476"/>
              <a:chOff x="539" y="3076"/>
              <a:chExt cx="480" cy="476"/>
            </a:xfrm>
          </p:grpSpPr>
          <p:sp>
            <p:nvSpPr>
              <p:cNvPr id="95379" name="Rectangle 111"/>
              <p:cNvSpPr>
                <a:spLocks noChangeArrowheads="1"/>
              </p:cNvSpPr>
              <p:nvPr/>
            </p:nvSpPr>
            <p:spPr bwMode="auto">
              <a:xfrm>
                <a:off x="539" y="3076"/>
                <a:ext cx="469" cy="476"/>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95380" name="Line 112"/>
              <p:cNvSpPr>
                <a:spLocks noChangeShapeType="1"/>
              </p:cNvSpPr>
              <p:nvPr/>
            </p:nvSpPr>
            <p:spPr bwMode="auto">
              <a:xfrm>
                <a:off x="539" y="3227"/>
                <a:ext cx="480" cy="0"/>
              </a:xfrm>
              <a:prstGeom prst="line">
                <a:avLst/>
              </a:prstGeom>
              <a:noFill/>
              <a:ln w="9525">
                <a:solidFill>
                  <a:schemeClr val="tx1"/>
                </a:solidFill>
                <a:round/>
                <a:headEnd/>
                <a:tailEnd/>
              </a:ln>
            </p:spPr>
            <p:txBody>
              <a:bodyPr wrap="none" anchor="ctr"/>
              <a:lstStyle/>
              <a:p>
                <a:endParaRPr lang="bg-BG"/>
              </a:p>
            </p:txBody>
          </p:sp>
          <p:sp>
            <p:nvSpPr>
              <p:cNvPr id="95381" name="Line 113"/>
              <p:cNvSpPr>
                <a:spLocks noChangeShapeType="1"/>
              </p:cNvSpPr>
              <p:nvPr/>
            </p:nvSpPr>
            <p:spPr bwMode="auto">
              <a:xfrm>
                <a:off x="539" y="3397"/>
                <a:ext cx="480" cy="0"/>
              </a:xfrm>
              <a:prstGeom prst="line">
                <a:avLst/>
              </a:prstGeom>
              <a:noFill/>
              <a:ln w="9525">
                <a:solidFill>
                  <a:schemeClr val="tx1"/>
                </a:solidFill>
                <a:round/>
                <a:headEnd/>
                <a:tailEnd/>
              </a:ln>
            </p:spPr>
            <p:txBody>
              <a:bodyPr wrap="none" anchor="ctr"/>
              <a:lstStyle/>
              <a:p>
                <a:endParaRPr lang="bg-BG"/>
              </a:p>
            </p:txBody>
          </p:sp>
        </p:grpSp>
        <p:sp>
          <p:nvSpPr>
            <p:cNvPr id="95335" name="Text Box 114"/>
            <p:cNvSpPr txBox="1">
              <a:spLocks noChangeArrowheads="1"/>
            </p:cNvSpPr>
            <p:nvPr/>
          </p:nvSpPr>
          <p:spPr bwMode="auto">
            <a:xfrm>
              <a:off x="144" y="3024"/>
              <a:ext cx="384" cy="250"/>
            </a:xfrm>
            <a:prstGeom prst="rect">
              <a:avLst/>
            </a:prstGeom>
            <a:noFill/>
            <a:ln w="9525">
              <a:noFill/>
              <a:miter lim="800000"/>
              <a:headEnd/>
              <a:tailEnd/>
            </a:ln>
          </p:spPr>
          <p:txBody>
            <a:bodyPr>
              <a:spAutoFit/>
            </a:bodyPr>
            <a:lstStyle/>
            <a:p>
              <a:pPr algn="l">
                <a:spcBef>
                  <a:spcPct val="50000"/>
                </a:spcBef>
              </a:pPr>
              <a:r>
                <a:rPr lang="en-US" sz="2000"/>
                <a:t>1</a:t>
              </a:r>
              <a:r>
                <a:rPr lang="bg-BG" sz="2000"/>
                <a:t>0</a:t>
              </a:r>
              <a:endParaRPr lang="en-US"/>
            </a:p>
          </p:txBody>
        </p:sp>
        <p:sp>
          <p:nvSpPr>
            <p:cNvPr id="95336" name="Text Box 115"/>
            <p:cNvSpPr txBox="1">
              <a:spLocks noChangeArrowheads="1"/>
            </p:cNvSpPr>
            <p:nvPr/>
          </p:nvSpPr>
          <p:spPr bwMode="auto">
            <a:xfrm>
              <a:off x="159" y="3175"/>
              <a:ext cx="336" cy="250"/>
            </a:xfrm>
            <a:prstGeom prst="rect">
              <a:avLst/>
            </a:prstGeom>
            <a:noFill/>
            <a:ln w="9525">
              <a:noFill/>
              <a:miter lim="800000"/>
              <a:headEnd/>
              <a:tailEnd/>
            </a:ln>
          </p:spPr>
          <p:txBody>
            <a:bodyPr>
              <a:spAutoFit/>
            </a:bodyPr>
            <a:lstStyle/>
            <a:p>
              <a:pPr algn="l">
                <a:spcBef>
                  <a:spcPct val="50000"/>
                </a:spcBef>
              </a:pPr>
              <a:r>
                <a:rPr lang="en-US" sz="2000"/>
                <a:t>1</a:t>
              </a:r>
              <a:r>
                <a:rPr lang="bg-BG" sz="2000"/>
                <a:t>1</a:t>
              </a:r>
              <a:endParaRPr lang="en-US"/>
            </a:p>
          </p:txBody>
        </p:sp>
        <p:sp>
          <p:nvSpPr>
            <p:cNvPr id="95337" name="Text Box 116"/>
            <p:cNvSpPr txBox="1">
              <a:spLocks noChangeArrowheads="1"/>
            </p:cNvSpPr>
            <p:nvPr/>
          </p:nvSpPr>
          <p:spPr bwMode="auto">
            <a:xfrm>
              <a:off x="170" y="3312"/>
              <a:ext cx="288" cy="250"/>
            </a:xfrm>
            <a:prstGeom prst="rect">
              <a:avLst/>
            </a:prstGeom>
            <a:noFill/>
            <a:ln w="9525">
              <a:noFill/>
              <a:miter lim="800000"/>
              <a:headEnd/>
              <a:tailEnd/>
            </a:ln>
          </p:spPr>
          <p:txBody>
            <a:bodyPr>
              <a:spAutoFit/>
            </a:bodyPr>
            <a:lstStyle/>
            <a:p>
              <a:pPr algn="l">
                <a:spcBef>
                  <a:spcPct val="50000"/>
                </a:spcBef>
              </a:pPr>
              <a:r>
                <a:rPr lang="en-US" sz="2000"/>
                <a:t>.</a:t>
              </a:r>
              <a:r>
                <a:rPr lang="bg-BG" sz="2000"/>
                <a:t>..</a:t>
              </a:r>
              <a:endParaRPr lang="en-US"/>
            </a:p>
          </p:txBody>
        </p:sp>
        <p:grpSp>
          <p:nvGrpSpPr>
            <p:cNvPr id="95338" name="Group 117"/>
            <p:cNvGrpSpPr>
              <a:grpSpLocks/>
            </p:cNvGrpSpPr>
            <p:nvPr/>
          </p:nvGrpSpPr>
          <p:grpSpPr bwMode="auto">
            <a:xfrm>
              <a:off x="3356" y="3094"/>
              <a:ext cx="480" cy="476"/>
              <a:chOff x="539" y="3076"/>
              <a:chExt cx="480" cy="476"/>
            </a:xfrm>
          </p:grpSpPr>
          <p:sp>
            <p:nvSpPr>
              <p:cNvPr id="95376" name="Rectangle 118"/>
              <p:cNvSpPr>
                <a:spLocks noChangeArrowheads="1"/>
              </p:cNvSpPr>
              <p:nvPr/>
            </p:nvSpPr>
            <p:spPr bwMode="auto">
              <a:xfrm>
                <a:off x="539" y="3076"/>
                <a:ext cx="469" cy="476"/>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95377" name="Line 119"/>
              <p:cNvSpPr>
                <a:spLocks noChangeShapeType="1"/>
              </p:cNvSpPr>
              <p:nvPr/>
            </p:nvSpPr>
            <p:spPr bwMode="auto">
              <a:xfrm>
                <a:off x="539" y="3227"/>
                <a:ext cx="480" cy="0"/>
              </a:xfrm>
              <a:prstGeom prst="line">
                <a:avLst/>
              </a:prstGeom>
              <a:noFill/>
              <a:ln w="9525">
                <a:solidFill>
                  <a:schemeClr val="tx1"/>
                </a:solidFill>
                <a:round/>
                <a:headEnd/>
                <a:tailEnd/>
              </a:ln>
            </p:spPr>
            <p:txBody>
              <a:bodyPr wrap="none" anchor="ctr"/>
              <a:lstStyle/>
              <a:p>
                <a:endParaRPr lang="bg-BG"/>
              </a:p>
            </p:txBody>
          </p:sp>
          <p:sp>
            <p:nvSpPr>
              <p:cNvPr id="95378" name="Line 120"/>
              <p:cNvSpPr>
                <a:spLocks noChangeShapeType="1"/>
              </p:cNvSpPr>
              <p:nvPr/>
            </p:nvSpPr>
            <p:spPr bwMode="auto">
              <a:xfrm>
                <a:off x="539" y="3397"/>
                <a:ext cx="480" cy="0"/>
              </a:xfrm>
              <a:prstGeom prst="line">
                <a:avLst/>
              </a:prstGeom>
              <a:noFill/>
              <a:ln w="9525">
                <a:solidFill>
                  <a:schemeClr val="tx1"/>
                </a:solidFill>
                <a:round/>
                <a:headEnd/>
                <a:tailEnd/>
              </a:ln>
            </p:spPr>
            <p:txBody>
              <a:bodyPr wrap="none" anchor="ctr"/>
              <a:lstStyle/>
              <a:p>
                <a:endParaRPr lang="bg-BG"/>
              </a:p>
            </p:txBody>
          </p:sp>
        </p:grpSp>
        <p:grpSp>
          <p:nvGrpSpPr>
            <p:cNvPr id="95339" name="Group 121"/>
            <p:cNvGrpSpPr>
              <a:grpSpLocks/>
            </p:cNvGrpSpPr>
            <p:nvPr/>
          </p:nvGrpSpPr>
          <p:grpSpPr bwMode="auto">
            <a:xfrm>
              <a:off x="1226" y="3072"/>
              <a:ext cx="480" cy="476"/>
              <a:chOff x="539" y="3076"/>
              <a:chExt cx="480" cy="476"/>
            </a:xfrm>
          </p:grpSpPr>
          <p:sp>
            <p:nvSpPr>
              <p:cNvPr id="95373" name="Rectangle 122"/>
              <p:cNvSpPr>
                <a:spLocks noChangeArrowheads="1"/>
              </p:cNvSpPr>
              <p:nvPr/>
            </p:nvSpPr>
            <p:spPr bwMode="auto">
              <a:xfrm>
                <a:off x="539" y="3076"/>
                <a:ext cx="469" cy="476"/>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95374" name="Line 123"/>
              <p:cNvSpPr>
                <a:spLocks noChangeShapeType="1"/>
              </p:cNvSpPr>
              <p:nvPr/>
            </p:nvSpPr>
            <p:spPr bwMode="auto">
              <a:xfrm>
                <a:off x="539" y="3227"/>
                <a:ext cx="480" cy="0"/>
              </a:xfrm>
              <a:prstGeom prst="line">
                <a:avLst/>
              </a:prstGeom>
              <a:noFill/>
              <a:ln w="9525">
                <a:solidFill>
                  <a:schemeClr val="tx1"/>
                </a:solidFill>
                <a:round/>
                <a:headEnd/>
                <a:tailEnd/>
              </a:ln>
            </p:spPr>
            <p:txBody>
              <a:bodyPr wrap="none" anchor="ctr"/>
              <a:lstStyle/>
              <a:p>
                <a:endParaRPr lang="bg-BG"/>
              </a:p>
            </p:txBody>
          </p:sp>
          <p:sp>
            <p:nvSpPr>
              <p:cNvPr id="95375" name="Line 124"/>
              <p:cNvSpPr>
                <a:spLocks noChangeShapeType="1"/>
              </p:cNvSpPr>
              <p:nvPr/>
            </p:nvSpPr>
            <p:spPr bwMode="auto">
              <a:xfrm>
                <a:off x="539" y="3397"/>
                <a:ext cx="480" cy="0"/>
              </a:xfrm>
              <a:prstGeom prst="line">
                <a:avLst/>
              </a:prstGeom>
              <a:noFill/>
              <a:ln w="9525">
                <a:solidFill>
                  <a:schemeClr val="tx1"/>
                </a:solidFill>
                <a:round/>
                <a:headEnd/>
                <a:tailEnd/>
              </a:ln>
            </p:spPr>
            <p:txBody>
              <a:bodyPr wrap="none" anchor="ctr"/>
              <a:lstStyle/>
              <a:p>
                <a:endParaRPr lang="bg-BG"/>
              </a:p>
            </p:txBody>
          </p:sp>
        </p:grpSp>
        <p:grpSp>
          <p:nvGrpSpPr>
            <p:cNvPr id="95340" name="Group 125"/>
            <p:cNvGrpSpPr>
              <a:grpSpLocks/>
            </p:cNvGrpSpPr>
            <p:nvPr/>
          </p:nvGrpSpPr>
          <p:grpSpPr bwMode="auto">
            <a:xfrm>
              <a:off x="1920" y="3083"/>
              <a:ext cx="480" cy="476"/>
              <a:chOff x="539" y="3076"/>
              <a:chExt cx="480" cy="476"/>
            </a:xfrm>
          </p:grpSpPr>
          <p:sp>
            <p:nvSpPr>
              <p:cNvPr id="95370" name="Rectangle 126"/>
              <p:cNvSpPr>
                <a:spLocks noChangeArrowheads="1"/>
              </p:cNvSpPr>
              <p:nvPr/>
            </p:nvSpPr>
            <p:spPr bwMode="auto">
              <a:xfrm>
                <a:off x="539" y="3076"/>
                <a:ext cx="469" cy="476"/>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95371" name="Line 127"/>
              <p:cNvSpPr>
                <a:spLocks noChangeShapeType="1"/>
              </p:cNvSpPr>
              <p:nvPr/>
            </p:nvSpPr>
            <p:spPr bwMode="auto">
              <a:xfrm>
                <a:off x="539" y="3227"/>
                <a:ext cx="480" cy="0"/>
              </a:xfrm>
              <a:prstGeom prst="line">
                <a:avLst/>
              </a:prstGeom>
              <a:noFill/>
              <a:ln w="9525">
                <a:solidFill>
                  <a:schemeClr val="tx1"/>
                </a:solidFill>
                <a:round/>
                <a:headEnd/>
                <a:tailEnd/>
              </a:ln>
            </p:spPr>
            <p:txBody>
              <a:bodyPr wrap="none" anchor="ctr"/>
              <a:lstStyle/>
              <a:p>
                <a:endParaRPr lang="bg-BG"/>
              </a:p>
            </p:txBody>
          </p:sp>
          <p:sp>
            <p:nvSpPr>
              <p:cNvPr id="95372" name="Line 128"/>
              <p:cNvSpPr>
                <a:spLocks noChangeShapeType="1"/>
              </p:cNvSpPr>
              <p:nvPr/>
            </p:nvSpPr>
            <p:spPr bwMode="auto">
              <a:xfrm>
                <a:off x="539" y="3397"/>
                <a:ext cx="480" cy="0"/>
              </a:xfrm>
              <a:prstGeom prst="line">
                <a:avLst/>
              </a:prstGeom>
              <a:noFill/>
              <a:ln w="9525">
                <a:solidFill>
                  <a:schemeClr val="tx1"/>
                </a:solidFill>
                <a:round/>
                <a:headEnd/>
                <a:tailEnd/>
              </a:ln>
            </p:spPr>
            <p:txBody>
              <a:bodyPr wrap="none" anchor="ctr"/>
              <a:lstStyle/>
              <a:p>
                <a:endParaRPr lang="bg-BG"/>
              </a:p>
            </p:txBody>
          </p:sp>
        </p:grpSp>
        <p:grpSp>
          <p:nvGrpSpPr>
            <p:cNvPr id="95341" name="Group 129"/>
            <p:cNvGrpSpPr>
              <a:grpSpLocks/>
            </p:cNvGrpSpPr>
            <p:nvPr/>
          </p:nvGrpSpPr>
          <p:grpSpPr bwMode="auto">
            <a:xfrm>
              <a:off x="2640" y="3083"/>
              <a:ext cx="480" cy="476"/>
              <a:chOff x="539" y="3076"/>
              <a:chExt cx="480" cy="476"/>
            </a:xfrm>
          </p:grpSpPr>
          <p:sp>
            <p:nvSpPr>
              <p:cNvPr id="95367" name="Rectangle 130"/>
              <p:cNvSpPr>
                <a:spLocks noChangeArrowheads="1"/>
              </p:cNvSpPr>
              <p:nvPr/>
            </p:nvSpPr>
            <p:spPr bwMode="auto">
              <a:xfrm>
                <a:off x="539" y="3076"/>
                <a:ext cx="469" cy="476"/>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95368" name="Line 131"/>
              <p:cNvSpPr>
                <a:spLocks noChangeShapeType="1"/>
              </p:cNvSpPr>
              <p:nvPr/>
            </p:nvSpPr>
            <p:spPr bwMode="auto">
              <a:xfrm>
                <a:off x="539" y="3227"/>
                <a:ext cx="480" cy="0"/>
              </a:xfrm>
              <a:prstGeom prst="line">
                <a:avLst/>
              </a:prstGeom>
              <a:noFill/>
              <a:ln w="9525">
                <a:solidFill>
                  <a:schemeClr val="tx1"/>
                </a:solidFill>
                <a:round/>
                <a:headEnd/>
                <a:tailEnd/>
              </a:ln>
            </p:spPr>
            <p:txBody>
              <a:bodyPr wrap="none" anchor="ctr"/>
              <a:lstStyle/>
              <a:p>
                <a:endParaRPr lang="bg-BG"/>
              </a:p>
            </p:txBody>
          </p:sp>
          <p:sp>
            <p:nvSpPr>
              <p:cNvPr id="95369" name="Line 132"/>
              <p:cNvSpPr>
                <a:spLocks noChangeShapeType="1"/>
              </p:cNvSpPr>
              <p:nvPr/>
            </p:nvSpPr>
            <p:spPr bwMode="auto">
              <a:xfrm>
                <a:off x="539" y="3397"/>
                <a:ext cx="480" cy="0"/>
              </a:xfrm>
              <a:prstGeom prst="line">
                <a:avLst/>
              </a:prstGeom>
              <a:noFill/>
              <a:ln w="9525">
                <a:solidFill>
                  <a:schemeClr val="tx1"/>
                </a:solidFill>
                <a:round/>
                <a:headEnd/>
                <a:tailEnd/>
              </a:ln>
            </p:spPr>
            <p:txBody>
              <a:bodyPr wrap="none" anchor="ctr"/>
              <a:lstStyle/>
              <a:p>
                <a:endParaRPr lang="bg-BG"/>
              </a:p>
            </p:txBody>
          </p:sp>
        </p:grpSp>
        <p:grpSp>
          <p:nvGrpSpPr>
            <p:cNvPr id="95342" name="Group 133"/>
            <p:cNvGrpSpPr>
              <a:grpSpLocks/>
            </p:cNvGrpSpPr>
            <p:nvPr/>
          </p:nvGrpSpPr>
          <p:grpSpPr bwMode="auto">
            <a:xfrm>
              <a:off x="4080" y="3083"/>
              <a:ext cx="480" cy="476"/>
              <a:chOff x="539" y="3076"/>
              <a:chExt cx="480" cy="476"/>
            </a:xfrm>
          </p:grpSpPr>
          <p:sp>
            <p:nvSpPr>
              <p:cNvPr id="95364" name="Rectangle 134"/>
              <p:cNvSpPr>
                <a:spLocks noChangeArrowheads="1"/>
              </p:cNvSpPr>
              <p:nvPr/>
            </p:nvSpPr>
            <p:spPr bwMode="auto">
              <a:xfrm>
                <a:off x="539" y="3076"/>
                <a:ext cx="469" cy="476"/>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95365" name="Line 135"/>
              <p:cNvSpPr>
                <a:spLocks noChangeShapeType="1"/>
              </p:cNvSpPr>
              <p:nvPr/>
            </p:nvSpPr>
            <p:spPr bwMode="auto">
              <a:xfrm>
                <a:off x="539" y="3227"/>
                <a:ext cx="480" cy="0"/>
              </a:xfrm>
              <a:prstGeom prst="line">
                <a:avLst/>
              </a:prstGeom>
              <a:noFill/>
              <a:ln w="9525">
                <a:solidFill>
                  <a:schemeClr val="tx1"/>
                </a:solidFill>
                <a:round/>
                <a:headEnd/>
                <a:tailEnd/>
              </a:ln>
            </p:spPr>
            <p:txBody>
              <a:bodyPr wrap="none" anchor="ctr"/>
              <a:lstStyle/>
              <a:p>
                <a:endParaRPr lang="bg-BG"/>
              </a:p>
            </p:txBody>
          </p:sp>
          <p:sp>
            <p:nvSpPr>
              <p:cNvPr id="95366" name="Line 136"/>
              <p:cNvSpPr>
                <a:spLocks noChangeShapeType="1"/>
              </p:cNvSpPr>
              <p:nvPr/>
            </p:nvSpPr>
            <p:spPr bwMode="auto">
              <a:xfrm>
                <a:off x="539" y="3397"/>
                <a:ext cx="480" cy="0"/>
              </a:xfrm>
              <a:prstGeom prst="line">
                <a:avLst/>
              </a:prstGeom>
              <a:noFill/>
              <a:ln w="9525">
                <a:solidFill>
                  <a:schemeClr val="tx1"/>
                </a:solidFill>
                <a:round/>
                <a:headEnd/>
                <a:tailEnd/>
              </a:ln>
            </p:spPr>
            <p:txBody>
              <a:bodyPr wrap="none" anchor="ctr"/>
              <a:lstStyle/>
              <a:p>
                <a:endParaRPr lang="bg-BG"/>
              </a:p>
            </p:txBody>
          </p:sp>
        </p:grpSp>
        <p:grpSp>
          <p:nvGrpSpPr>
            <p:cNvPr id="95343" name="Group 137"/>
            <p:cNvGrpSpPr>
              <a:grpSpLocks/>
            </p:cNvGrpSpPr>
            <p:nvPr/>
          </p:nvGrpSpPr>
          <p:grpSpPr bwMode="auto">
            <a:xfrm>
              <a:off x="4741" y="3072"/>
              <a:ext cx="480" cy="476"/>
              <a:chOff x="539" y="3076"/>
              <a:chExt cx="480" cy="476"/>
            </a:xfrm>
          </p:grpSpPr>
          <p:sp>
            <p:nvSpPr>
              <p:cNvPr id="95361" name="Rectangle 138"/>
              <p:cNvSpPr>
                <a:spLocks noChangeArrowheads="1"/>
              </p:cNvSpPr>
              <p:nvPr/>
            </p:nvSpPr>
            <p:spPr bwMode="auto">
              <a:xfrm>
                <a:off x="539" y="3076"/>
                <a:ext cx="469" cy="476"/>
              </a:xfrm>
              <a:prstGeom prst="rect">
                <a:avLst/>
              </a:prstGeom>
              <a:solidFill>
                <a:schemeClr val="folHlink"/>
              </a:solidFill>
              <a:ln w="9525">
                <a:solidFill>
                  <a:schemeClr val="tx1"/>
                </a:solidFill>
                <a:miter lim="800000"/>
                <a:headEnd/>
                <a:tailEnd/>
              </a:ln>
            </p:spPr>
            <p:txBody>
              <a:bodyPr wrap="none" anchor="ctr"/>
              <a:lstStyle/>
              <a:p>
                <a:endParaRPr lang="bg-BG"/>
              </a:p>
            </p:txBody>
          </p:sp>
          <p:sp>
            <p:nvSpPr>
              <p:cNvPr id="95362" name="Line 139"/>
              <p:cNvSpPr>
                <a:spLocks noChangeShapeType="1"/>
              </p:cNvSpPr>
              <p:nvPr/>
            </p:nvSpPr>
            <p:spPr bwMode="auto">
              <a:xfrm>
                <a:off x="539" y="3227"/>
                <a:ext cx="480" cy="0"/>
              </a:xfrm>
              <a:prstGeom prst="line">
                <a:avLst/>
              </a:prstGeom>
              <a:noFill/>
              <a:ln w="9525">
                <a:solidFill>
                  <a:schemeClr val="tx1"/>
                </a:solidFill>
                <a:round/>
                <a:headEnd/>
                <a:tailEnd/>
              </a:ln>
            </p:spPr>
            <p:txBody>
              <a:bodyPr wrap="none" anchor="ctr"/>
              <a:lstStyle/>
              <a:p>
                <a:endParaRPr lang="bg-BG"/>
              </a:p>
            </p:txBody>
          </p:sp>
          <p:sp>
            <p:nvSpPr>
              <p:cNvPr id="95363" name="Line 140"/>
              <p:cNvSpPr>
                <a:spLocks noChangeShapeType="1"/>
              </p:cNvSpPr>
              <p:nvPr/>
            </p:nvSpPr>
            <p:spPr bwMode="auto">
              <a:xfrm>
                <a:off x="539" y="3397"/>
                <a:ext cx="480" cy="0"/>
              </a:xfrm>
              <a:prstGeom prst="line">
                <a:avLst/>
              </a:prstGeom>
              <a:noFill/>
              <a:ln w="9525">
                <a:solidFill>
                  <a:schemeClr val="tx1"/>
                </a:solidFill>
                <a:round/>
                <a:headEnd/>
                <a:tailEnd/>
              </a:ln>
            </p:spPr>
            <p:txBody>
              <a:bodyPr wrap="none" anchor="ctr"/>
              <a:lstStyle/>
              <a:p>
                <a:endParaRPr lang="bg-BG"/>
              </a:p>
            </p:txBody>
          </p:sp>
        </p:grpSp>
        <p:sp>
          <p:nvSpPr>
            <p:cNvPr id="95344" name="Text Box 141"/>
            <p:cNvSpPr txBox="1">
              <a:spLocks noChangeArrowheads="1"/>
            </p:cNvSpPr>
            <p:nvPr/>
          </p:nvSpPr>
          <p:spPr bwMode="auto">
            <a:xfrm>
              <a:off x="1968" y="3035"/>
              <a:ext cx="431" cy="250"/>
            </a:xfrm>
            <a:prstGeom prst="rect">
              <a:avLst/>
            </a:prstGeom>
            <a:noFill/>
            <a:ln w="9525">
              <a:noFill/>
              <a:miter lim="800000"/>
              <a:headEnd/>
              <a:tailEnd/>
            </a:ln>
          </p:spPr>
          <p:txBody>
            <a:bodyPr>
              <a:spAutoFit/>
            </a:bodyPr>
            <a:lstStyle/>
            <a:p>
              <a:pPr algn="l">
                <a:spcBef>
                  <a:spcPct val="50000"/>
                </a:spcBef>
              </a:pPr>
              <a:r>
                <a:rPr lang="en-US" sz="2000">
                  <a:solidFill>
                    <a:srgbClr val="C00000"/>
                  </a:solidFill>
                </a:rPr>
                <a:t>2</a:t>
              </a:r>
              <a:r>
                <a:rPr lang="bg-BG" sz="2000">
                  <a:solidFill>
                    <a:srgbClr val="C00000"/>
                  </a:solidFill>
                </a:rPr>
                <a:t>35</a:t>
              </a:r>
              <a:endParaRPr lang="en-US">
                <a:solidFill>
                  <a:srgbClr val="C00000"/>
                </a:solidFill>
              </a:endParaRPr>
            </a:p>
          </p:txBody>
        </p:sp>
        <p:sp>
          <p:nvSpPr>
            <p:cNvPr id="95345" name="Text Box 142"/>
            <p:cNvSpPr txBox="1">
              <a:spLocks noChangeArrowheads="1"/>
            </p:cNvSpPr>
            <p:nvPr/>
          </p:nvSpPr>
          <p:spPr bwMode="auto">
            <a:xfrm>
              <a:off x="4205" y="3316"/>
              <a:ext cx="288" cy="250"/>
            </a:xfrm>
            <a:prstGeom prst="rect">
              <a:avLst/>
            </a:prstGeom>
            <a:noFill/>
            <a:ln w="9525">
              <a:noFill/>
              <a:miter lim="800000"/>
              <a:headEnd/>
              <a:tailEnd/>
            </a:ln>
          </p:spPr>
          <p:txBody>
            <a:bodyPr>
              <a:spAutoFit/>
            </a:bodyPr>
            <a:lstStyle/>
            <a:p>
              <a:pPr algn="l">
                <a:spcBef>
                  <a:spcPct val="50000"/>
                </a:spcBef>
              </a:pPr>
              <a:r>
                <a:rPr lang="en-US" sz="2000"/>
                <a:t>.</a:t>
              </a:r>
              <a:r>
                <a:rPr lang="bg-BG" sz="2000"/>
                <a:t>..</a:t>
              </a:r>
              <a:endParaRPr lang="en-US"/>
            </a:p>
          </p:txBody>
        </p:sp>
        <p:sp>
          <p:nvSpPr>
            <p:cNvPr id="95346" name="Text Box 143"/>
            <p:cNvSpPr txBox="1">
              <a:spLocks noChangeArrowheads="1"/>
            </p:cNvSpPr>
            <p:nvPr/>
          </p:nvSpPr>
          <p:spPr bwMode="auto">
            <a:xfrm>
              <a:off x="3482" y="3327"/>
              <a:ext cx="288" cy="250"/>
            </a:xfrm>
            <a:prstGeom prst="rect">
              <a:avLst/>
            </a:prstGeom>
            <a:noFill/>
            <a:ln w="9525">
              <a:noFill/>
              <a:miter lim="800000"/>
              <a:headEnd/>
              <a:tailEnd/>
            </a:ln>
          </p:spPr>
          <p:txBody>
            <a:bodyPr>
              <a:spAutoFit/>
            </a:bodyPr>
            <a:lstStyle/>
            <a:p>
              <a:pPr algn="l">
                <a:spcBef>
                  <a:spcPct val="50000"/>
                </a:spcBef>
              </a:pPr>
              <a:r>
                <a:rPr lang="en-US" sz="2000"/>
                <a:t>.</a:t>
              </a:r>
              <a:r>
                <a:rPr lang="bg-BG" sz="2000"/>
                <a:t>..</a:t>
              </a:r>
              <a:endParaRPr lang="en-US"/>
            </a:p>
          </p:txBody>
        </p:sp>
        <p:sp>
          <p:nvSpPr>
            <p:cNvPr id="95347" name="Text Box 144"/>
            <p:cNvSpPr txBox="1">
              <a:spLocks noChangeArrowheads="1"/>
            </p:cNvSpPr>
            <p:nvPr/>
          </p:nvSpPr>
          <p:spPr bwMode="auto">
            <a:xfrm>
              <a:off x="2758" y="3312"/>
              <a:ext cx="288" cy="250"/>
            </a:xfrm>
            <a:prstGeom prst="rect">
              <a:avLst/>
            </a:prstGeom>
            <a:noFill/>
            <a:ln w="9525">
              <a:noFill/>
              <a:miter lim="800000"/>
              <a:headEnd/>
              <a:tailEnd/>
            </a:ln>
          </p:spPr>
          <p:txBody>
            <a:bodyPr>
              <a:spAutoFit/>
            </a:bodyPr>
            <a:lstStyle/>
            <a:p>
              <a:pPr algn="l">
                <a:spcBef>
                  <a:spcPct val="50000"/>
                </a:spcBef>
              </a:pPr>
              <a:r>
                <a:rPr lang="en-US" sz="2000"/>
                <a:t>.</a:t>
              </a:r>
              <a:r>
                <a:rPr lang="bg-BG" sz="2000"/>
                <a:t>..</a:t>
              </a:r>
              <a:endParaRPr lang="en-US"/>
            </a:p>
          </p:txBody>
        </p:sp>
        <p:sp>
          <p:nvSpPr>
            <p:cNvPr id="95348" name="Text Box 145"/>
            <p:cNvSpPr txBox="1">
              <a:spLocks noChangeArrowheads="1"/>
            </p:cNvSpPr>
            <p:nvPr/>
          </p:nvSpPr>
          <p:spPr bwMode="auto">
            <a:xfrm>
              <a:off x="2038" y="3327"/>
              <a:ext cx="288" cy="250"/>
            </a:xfrm>
            <a:prstGeom prst="rect">
              <a:avLst/>
            </a:prstGeom>
            <a:noFill/>
            <a:ln w="9525">
              <a:noFill/>
              <a:miter lim="800000"/>
              <a:headEnd/>
              <a:tailEnd/>
            </a:ln>
          </p:spPr>
          <p:txBody>
            <a:bodyPr>
              <a:spAutoFit/>
            </a:bodyPr>
            <a:lstStyle/>
            <a:p>
              <a:pPr algn="l">
                <a:spcBef>
                  <a:spcPct val="50000"/>
                </a:spcBef>
              </a:pPr>
              <a:r>
                <a:rPr lang="en-US" sz="2000"/>
                <a:t>.</a:t>
              </a:r>
              <a:r>
                <a:rPr lang="bg-BG" sz="2000"/>
                <a:t>..</a:t>
              </a:r>
              <a:endParaRPr lang="en-US"/>
            </a:p>
          </p:txBody>
        </p:sp>
        <p:sp>
          <p:nvSpPr>
            <p:cNvPr id="95349" name="Text Box 146"/>
            <p:cNvSpPr txBox="1">
              <a:spLocks noChangeArrowheads="1"/>
            </p:cNvSpPr>
            <p:nvPr/>
          </p:nvSpPr>
          <p:spPr bwMode="auto">
            <a:xfrm>
              <a:off x="1344" y="3316"/>
              <a:ext cx="288" cy="250"/>
            </a:xfrm>
            <a:prstGeom prst="rect">
              <a:avLst/>
            </a:prstGeom>
            <a:noFill/>
            <a:ln w="9525">
              <a:noFill/>
              <a:miter lim="800000"/>
              <a:headEnd/>
              <a:tailEnd/>
            </a:ln>
          </p:spPr>
          <p:txBody>
            <a:bodyPr>
              <a:spAutoFit/>
            </a:bodyPr>
            <a:lstStyle/>
            <a:p>
              <a:pPr algn="l">
                <a:spcBef>
                  <a:spcPct val="50000"/>
                </a:spcBef>
              </a:pPr>
              <a:r>
                <a:rPr lang="en-US" sz="2000"/>
                <a:t>.</a:t>
              </a:r>
              <a:r>
                <a:rPr lang="bg-BG" sz="2000"/>
                <a:t>..</a:t>
              </a:r>
              <a:endParaRPr lang="en-US"/>
            </a:p>
          </p:txBody>
        </p:sp>
        <p:sp>
          <p:nvSpPr>
            <p:cNvPr id="95350" name="Text Box 147"/>
            <p:cNvSpPr txBox="1">
              <a:spLocks noChangeArrowheads="1"/>
            </p:cNvSpPr>
            <p:nvPr/>
          </p:nvSpPr>
          <p:spPr bwMode="auto">
            <a:xfrm>
              <a:off x="4859" y="3305"/>
              <a:ext cx="288" cy="250"/>
            </a:xfrm>
            <a:prstGeom prst="rect">
              <a:avLst/>
            </a:prstGeom>
            <a:noFill/>
            <a:ln w="9525">
              <a:noFill/>
              <a:miter lim="800000"/>
              <a:headEnd/>
              <a:tailEnd/>
            </a:ln>
          </p:spPr>
          <p:txBody>
            <a:bodyPr>
              <a:spAutoFit/>
            </a:bodyPr>
            <a:lstStyle/>
            <a:p>
              <a:pPr algn="l">
                <a:spcBef>
                  <a:spcPct val="50000"/>
                </a:spcBef>
              </a:pPr>
              <a:r>
                <a:rPr lang="en-US" sz="2000"/>
                <a:t>.</a:t>
              </a:r>
              <a:r>
                <a:rPr lang="bg-BG" sz="2000"/>
                <a:t>..</a:t>
              </a:r>
              <a:endParaRPr lang="en-US"/>
            </a:p>
          </p:txBody>
        </p:sp>
        <p:sp>
          <p:nvSpPr>
            <p:cNvPr id="95351" name="Text Box 148"/>
            <p:cNvSpPr txBox="1">
              <a:spLocks noChangeArrowheads="1"/>
            </p:cNvSpPr>
            <p:nvPr/>
          </p:nvSpPr>
          <p:spPr bwMode="auto">
            <a:xfrm>
              <a:off x="657" y="3323"/>
              <a:ext cx="288" cy="250"/>
            </a:xfrm>
            <a:prstGeom prst="rect">
              <a:avLst/>
            </a:prstGeom>
            <a:noFill/>
            <a:ln w="9525">
              <a:noFill/>
              <a:miter lim="800000"/>
              <a:headEnd/>
              <a:tailEnd/>
            </a:ln>
          </p:spPr>
          <p:txBody>
            <a:bodyPr>
              <a:spAutoFit/>
            </a:bodyPr>
            <a:lstStyle/>
            <a:p>
              <a:pPr algn="l">
                <a:spcBef>
                  <a:spcPct val="50000"/>
                </a:spcBef>
              </a:pPr>
              <a:r>
                <a:rPr lang="en-US" sz="2000"/>
                <a:t>.</a:t>
              </a:r>
              <a:r>
                <a:rPr lang="bg-BG" sz="2000"/>
                <a:t>..</a:t>
              </a:r>
              <a:endParaRPr lang="en-US"/>
            </a:p>
          </p:txBody>
        </p:sp>
        <p:sp>
          <p:nvSpPr>
            <p:cNvPr id="95352" name="Text Box 149"/>
            <p:cNvSpPr txBox="1">
              <a:spLocks noChangeArrowheads="1"/>
            </p:cNvSpPr>
            <p:nvPr/>
          </p:nvSpPr>
          <p:spPr bwMode="auto">
            <a:xfrm>
              <a:off x="3408" y="3216"/>
              <a:ext cx="430" cy="250"/>
            </a:xfrm>
            <a:prstGeom prst="rect">
              <a:avLst/>
            </a:prstGeom>
            <a:noFill/>
            <a:ln w="9525">
              <a:noFill/>
              <a:miter lim="800000"/>
              <a:headEnd/>
              <a:tailEnd/>
            </a:ln>
          </p:spPr>
          <p:txBody>
            <a:bodyPr>
              <a:spAutoFit/>
            </a:bodyPr>
            <a:lstStyle/>
            <a:p>
              <a:pPr algn="l">
                <a:spcBef>
                  <a:spcPct val="50000"/>
                </a:spcBef>
              </a:pPr>
              <a:r>
                <a:rPr lang="en-US" sz="2000">
                  <a:solidFill>
                    <a:srgbClr val="C00000"/>
                  </a:solidFill>
                </a:rPr>
                <a:t>5</a:t>
              </a:r>
              <a:r>
                <a:rPr lang="bg-BG" sz="2000">
                  <a:solidFill>
                    <a:srgbClr val="C00000"/>
                  </a:solidFill>
                </a:rPr>
                <a:t>34</a:t>
              </a:r>
              <a:endParaRPr lang="en-US">
                <a:solidFill>
                  <a:srgbClr val="C00000"/>
                </a:solidFill>
              </a:endParaRPr>
            </a:p>
          </p:txBody>
        </p:sp>
        <p:sp>
          <p:nvSpPr>
            <p:cNvPr id="95353" name="Text Box 150"/>
            <p:cNvSpPr txBox="1">
              <a:spLocks noChangeArrowheads="1"/>
            </p:cNvSpPr>
            <p:nvPr/>
          </p:nvSpPr>
          <p:spPr bwMode="auto">
            <a:xfrm>
              <a:off x="2688" y="3035"/>
              <a:ext cx="430" cy="250"/>
            </a:xfrm>
            <a:prstGeom prst="rect">
              <a:avLst/>
            </a:prstGeom>
            <a:noFill/>
            <a:ln w="9525">
              <a:noFill/>
              <a:miter lim="800000"/>
              <a:headEnd/>
              <a:tailEnd/>
            </a:ln>
          </p:spPr>
          <p:txBody>
            <a:bodyPr>
              <a:spAutoFit/>
            </a:bodyPr>
            <a:lstStyle/>
            <a:p>
              <a:pPr algn="l">
                <a:spcBef>
                  <a:spcPct val="50000"/>
                </a:spcBef>
              </a:pPr>
              <a:r>
                <a:rPr lang="en-US" sz="2000"/>
                <a:t>2</a:t>
              </a:r>
              <a:r>
                <a:rPr lang="bg-BG" sz="2000"/>
                <a:t>35</a:t>
              </a:r>
              <a:endParaRPr lang="en-US"/>
            </a:p>
          </p:txBody>
        </p:sp>
        <p:sp>
          <p:nvSpPr>
            <p:cNvPr id="95354" name="Text Box 151"/>
            <p:cNvSpPr txBox="1">
              <a:spLocks noChangeArrowheads="1"/>
            </p:cNvSpPr>
            <p:nvPr/>
          </p:nvSpPr>
          <p:spPr bwMode="auto">
            <a:xfrm>
              <a:off x="3415" y="3046"/>
              <a:ext cx="430" cy="250"/>
            </a:xfrm>
            <a:prstGeom prst="rect">
              <a:avLst/>
            </a:prstGeom>
            <a:noFill/>
            <a:ln w="9525">
              <a:noFill/>
              <a:miter lim="800000"/>
              <a:headEnd/>
              <a:tailEnd/>
            </a:ln>
          </p:spPr>
          <p:txBody>
            <a:bodyPr>
              <a:spAutoFit/>
            </a:bodyPr>
            <a:lstStyle/>
            <a:p>
              <a:pPr algn="l">
                <a:spcBef>
                  <a:spcPct val="50000"/>
                </a:spcBef>
              </a:pPr>
              <a:r>
                <a:rPr lang="en-US" sz="2000"/>
                <a:t>2</a:t>
              </a:r>
              <a:r>
                <a:rPr lang="bg-BG" sz="2000"/>
                <a:t>35</a:t>
              </a:r>
              <a:endParaRPr lang="en-US"/>
            </a:p>
          </p:txBody>
        </p:sp>
        <p:sp>
          <p:nvSpPr>
            <p:cNvPr id="95355" name="Text Box 152"/>
            <p:cNvSpPr txBox="1">
              <a:spLocks noChangeArrowheads="1"/>
            </p:cNvSpPr>
            <p:nvPr/>
          </p:nvSpPr>
          <p:spPr bwMode="auto">
            <a:xfrm>
              <a:off x="4135" y="3035"/>
              <a:ext cx="458" cy="250"/>
            </a:xfrm>
            <a:prstGeom prst="rect">
              <a:avLst/>
            </a:prstGeom>
            <a:noFill/>
            <a:ln w="9525">
              <a:noFill/>
              <a:miter lim="800000"/>
              <a:headEnd/>
              <a:tailEnd/>
            </a:ln>
          </p:spPr>
          <p:txBody>
            <a:bodyPr>
              <a:spAutoFit/>
            </a:bodyPr>
            <a:lstStyle/>
            <a:p>
              <a:pPr algn="l">
                <a:spcBef>
                  <a:spcPct val="50000"/>
                </a:spcBef>
              </a:pPr>
              <a:r>
                <a:rPr lang="en-US" sz="2000"/>
                <a:t>2</a:t>
              </a:r>
              <a:r>
                <a:rPr lang="bg-BG" sz="2000"/>
                <a:t>35</a:t>
              </a:r>
              <a:endParaRPr lang="en-US"/>
            </a:p>
          </p:txBody>
        </p:sp>
        <p:sp>
          <p:nvSpPr>
            <p:cNvPr id="95356" name="Text Box 153"/>
            <p:cNvSpPr txBox="1">
              <a:spLocks noChangeArrowheads="1"/>
            </p:cNvSpPr>
            <p:nvPr/>
          </p:nvSpPr>
          <p:spPr bwMode="auto">
            <a:xfrm>
              <a:off x="4139" y="3183"/>
              <a:ext cx="431" cy="250"/>
            </a:xfrm>
            <a:prstGeom prst="rect">
              <a:avLst/>
            </a:prstGeom>
            <a:noFill/>
            <a:ln w="9525">
              <a:noFill/>
              <a:miter lim="800000"/>
              <a:headEnd/>
              <a:tailEnd/>
            </a:ln>
          </p:spPr>
          <p:txBody>
            <a:bodyPr>
              <a:spAutoFit/>
            </a:bodyPr>
            <a:lstStyle/>
            <a:p>
              <a:pPr algn="l">
                <a:spcBef>
                  <a:spcPct val="50000"/>
                </a:spcBef>
              </a:pPr>
              <a:r>
                <a:rPr lang="en-US" sz="2000"/>
                <a:t>5</a:t>
              </a:r>
              <a:r>
                <a:rPr lang="bg-BG" sz="2000"/>
                <a:t>34</a:t>
              </a:r>
              <a:endParaRPr lang="en-US"/>
            </a:p>
          </p:txBody>
        </p:sp>
        <p:sp>
          <p:nvSpPr>
            <p:cNvPr id="95357" name="Text Box 154"/>
            <p:cNvSpPr txBox="1">
              <a:spLocks noChangeArrowheads="1"/>
            </p:cNvSpPr>
            <p:nvPr/>
          </p:nvSpPr>
          <p:spPr bwMode="auto">
            <a:xfrm>
              <a:off x="4800" y="3179"/>
              <a:ext cx="430" cy="250"/>
            </a:xfrm>
            <a:prstGeom prst="rect">
              <a:avLst/>
            </a:prstGeom>
            <a:noFill/>
            <a:ln w="9525">
              <a:noFill/>
              <a:miter lim="800000"/>
              <a:headEnd/>
              <a:tailEnd/>
            </a:ln>
          </p:spPr>
          <p:txBody>
            <a:bodyPr>
              <a:spAutoFit/>
            </a:bodyPr>
            <a:lstStyle/>
            <a:p>
              <a:pPr algn="l">
                <a:spcBef>
                  <a:spcPct val="50000"/>
                </a:spcBef>
              </a:pPr>
              <a:r>
                <a:rPr lang="en-US" sz="2000"/>
                <a:t>5</a:t>
              </a:r>
              <a:r>
                <a:rPr lang="bg-BG" sz="2000"/>
                <a:t>34</a:t>
              </a:r>
              <a:endParaRPr lang="en-US"/>
            </a:p>
          </p:txBody>
        </p:sp>
        <p:sp>
          <p:nvSpPr>
            <p:cNvPr id="95358" name="Text Box 155"/>
            <p:cNvSpPr txBox="1">
              <a:spLocks noChangeArrowheads="1"/>
            </p:cNvSpPr>
            <p:nvPr/>
          </p:nvSpPr>
          <p:spPr bwMode="auto">
            <a:xfrm>
              <a:off x="4800" y="3024"/>
              <a:ext cx="430" cy="250"/>
            </a:xfrm>
            <a:prstGeom prst="rect">
              <a:avLst/>
            </a:prstGeom>
            <a:noFill/>
            <a:ln w="9525">
              <a:noFill/>
              <a:miter lim="800000"/>
              <a:headEnd/>
              <a:tailEnd/>
            </a:ln>
          </p:spPr>
          <p:txBody>
            <a:bodyPr>
              <a:spAutoFit/>
            </a:bodyPr>
            <a:lstStyle/>
            <a:p>
              <a:pPr algn="l">
                <a:spcBef>
                  <a:spcPct val="50000"/>
                </a:spcBef>
              </a:pPr>
              <a:r>
                <a:rPr lang="en-US" sz="2000"/>
                <a:t>2</a:t>
              </a:r>
              <a:r>
                <a:rPr lang="bg-BG" sz="2000"/>
                <a:t>35</a:t>
              </a:r>
              <a:endParaRPr lang="en-US"/>
            </a:p>
          </p:txBody>
        </p:sp>
        <p:sp>
          <p:nvSpPr>
            <p:cNvPr id="95359" name="Line 156"/>
            <p:cNvSpPr>
              <a:spLocks noChangeShapeType="1"/>
            </p:cNvSpPr>
            <p:nvPr/>
          </p:nvSpPr>
          <p:spPr bwMode="auto">
            <a:xfrm>
              <a:off x="528" y="2192"/>
              <a:ext cx="478" cy="0"/>
            </a:xfrm>
            <a:prstGeom prst="line">
              <a:avLst/>
            </a:prstGeom>
            <a:noFill/>
            <a:ln w="9525">
              <a:solidFill>
                <a:schemeClr val="tx1"/>
              </a:solidFill>
              <a:round/>
              <a:headEnd/>
              <a:tailEnd/>
            </a:ln>
          </p:spPr>
          <p:txBody>
            <a:bodyPr wrap="none" anchor="ctr"/>
            <a:lstStyle/>
            <a:p>
              <a:endParaRPr lang="bg-BG"/>
            </a:p>
          </p:txBody>
        </p:sp>
        <p:sp>
          <p:nvSpPr>
            <p:cNvPr id="95360" name="Line 157"/>
            <p:cNvSpPr>
              <a:spLocks noChangeShapeType="1"/>
            </p:cNvSpPr>
            <p:nvPr/>
          </p:nvSpPr>
          <p:spPr bwMode="auto">
            <a:xfrm>
              <a:off x="528" y="2368"/>
              <a:ext cx="478" cy="0"/>
            </a:xfrm>
            <a:prstGeom prst="line">
              <a:avLst/>
            </a:prstGeom>
            <a:noFill/>
            <a:ln w="9525">
              <a:solidFill>
                <a:schemeClr val="tx1"/>
              </a:solidFill>
              <a:round/>
              <a:headEnd/>
              <a:tailEnd/>
            </a:ln>
          </p:spPr>
          <p:txBody>
            <a:bodyPr wrap="none" anchor="ctr"/>
            <a:lstStyle/>
            <a:p>
              <a:endParaRPr lang="bg-BG"/>
            </a:p>
          </p:txBody>
        </p:sp>
      </p:grpSp>
      <p:sp>
        <p:nvSpPr>
          <p:cNvPr id="151" name="Slide Number Placeholder 150"/>
          <p:cNvSpPr>
            <a:spLocks noGrp="1"/>
          </p:cNvSpPr>
          <p:nvPr>
            <p:ph type="sldNum" sz="quarter" idx="12"/>
          </p:nvPr>
        </p:nvSpPr>
        <p:spPr/>
        <p:txBody>
          <a:bodyPr/>
          <a:lstStyle/>
          <a:p>
            <a:pPr>
              <a:defRPr/>
            </a:pPr>
            <a:fld id="{5A0BE595-4F1E-4BA7-B0AB-C0FE1EC73DB6}" type="slidenum">
              <a:rPr lang="en-US"/>
              <a:pPr>
                <a:defRPr/>
              </a:pPr>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ChangeArrowheads="1"/>
          </p:cNvSpPr>
          <p:nvPr/>
        </p:nvSpPr>
        <p:spPr bwMode="auto">
          <a:xfrm>
            <a:off x="622300" y="863600"/>
            <a:ext cx="8686800" cy="6248400"/>
          </a:xfrm>
          <a:prstGeom prst="rect">
            <a:avLst/>
          </a:prstGeom>
          <a:noFill/>
          <a:ln w="9525">
            <a:noFill/>
            <a:miter lim="800000"/>
            <a:headEnd/>
            <a:tailEnd/>
          </a:ln>
        </p:spPr>
        <p:txBody>
          <a:bodyPr anchor="ctr"/>
          <a:lstStyle/>
          <a:p>
            <a:pPr algn="l"/>
            <a:r>
              <a:rPr lang="en-US" sz="2000" i="1"/>
              <a:t>2</a:t>
            </a:r>
            <a:r>
              <a:rPr lang="bg-BG" sz="2000" i="1"/>
              <a:t>. Списък на препълванията</a:t>
            </a:r>
            <a:r>
              <a:rPr lang="bg-BG" sz="2000"/>
              <a:t/>
            </a:r>
            <a:br>
              <a:rPr lang="bg-BG" sz="2000"/>
            </a:br>
            <a:r>
              <a:rPr lang="bg-BG" sz="2000"/>
              <a:t>	Възможно е да се използва и динамично заделяна памет (</a:t>
            </a:r>
            <a:r>
              <a:rPr lang="en-US" sz="2000" i="1"/>
              <a:t>heap</a:t>
            </a:r>
            <a:r>
              <a:rPr lang="en-US" sz="2000"/>
              <a:t>)</a:t>
            </a:r>
            <a:r>
              <a:rPr lang="bg-BG" sz="2000"/>
              <a:t>. Елементите със съвпадащи хеш-адреси се разполагат в списъци на препълванията. Всеки слот на  хеш-таблицата е указател към динамичен списък, съдържащ само членове на съответния клас синоними. Самата хеш-таблица е масив от указатели. При включване на нов елемент той се добавя в началото на списъка, намиращ се на слота, определен от хеш-функцията. Проблемът с колизии отпада.</a:t>
            </a:r>
            <a:br>
              <a:rPr lang="bg-BG" sz="2000"/>
            </a:br>
            <a:r>
              <a:rPr lang="en-US" sz="2000"/>
              <a:t/>
            </a:r>
            <a:br>
              <a:rPr lang="en-US" sz="2000"/>
            </a:br>
            <a:r>
              <a:rPr lang="en-US" sz="2000"/>
              <a:t>				</a:t>
            </a:r>
            <a:r>
              <a:rPr lang="bg-BG" sz="2000"/>
              <a:t>            При търсене се преглежда списъкът,</a:t>
            </a:r>
            <a:r>
              <a:rPr lang="en-US" sz="2000"/>
              <a:t/>
            </a:r>
            <a:br>
              <a:rPr lang="en-US" sz="2000"/>
            </a:br>
            <a:r>
              <a:rPr lang="bg-BG" sz="2000"/>
              <a:t>                                                                      определен от хеш-функцията.  					             Сложността на операцията търсене </a:t>
            </a:r>
            <a:br>
              <a:rPr lang="bg-BG" sz="2000"/>
            </a:br>
            <a:r>
              <a:rPr lang="bg-BG" sz="2000"/>
              <a:t>                                                                       зависи от броя на елементите, с </a:t>
            </a:r>
            <a:br>
              <a:rPr lang="bg-BG" sz="2000"/>
            </a:br>
            <a:r>
              <a:rPr lang="bg-BG" sz="2000"/>
              <a:t>                                                                       които дадения е в колизия, т. е. от </a:t>
            </a:r>
            <a:br>
              <a:rPr lang="bg-BG" sz="2000"/>
            </a:br>
            <a:r>
              <a:rPr lang="bg-BG" sz="2000"/>
              <a:t>                                                                       дължината на съответния списък.							</a:t>
            </a:r>
            <a:br>
              <a:rPr lang="bg-BG" sz="2000"/>
            </a:br>
            <a:r>
              <a:rPr lang="bg-BG" sz="2000"/>
              <a:t/>
            </a:r>
            <a:br>
              <a:rPr lang="bg-BG" sz="2000"/>
            </a:br>
            <a:r>
              <a:rPr lang="bg-BG" sz="2000"/>
              <a:t>				 </a:t>
            </a:r>
            <a:r>
              <a:rPr lang="en-US" sz="2000"/>
              <a:t>             </a:t>
            </a:r>
            <a:r>
              <a:rPr lang="bg-BG" sz="2000"/>
              <a:t>Елементите могат да се пазят и в </a:t>
            </a:r>
            <a:br>
              <a:rPr lang="bg-BG" sz="2000"/>
            </a:br>
            <a:r>
              <a:rPr lang="en-US" sz="2000"/>
              <a:t>                                                                        </a:t>
            </a:r>
            <a:r>
              <a:rPr lang="bg-BG" sz="2000"/>
              <a:t>друга динамична структура,  </a:t>
            </a:r>
            <a:br>
              <a:rPr lang="bg-BG" sz="2000"/>
            </a:br>
            <a:r>
              <a:rPr lang="en-US" sz="2000"/>
              <a:t>                                                                </a:t>
            </a:r>
            <a:r>
              <a:rPr lang="bg-BG" sz="2000"/>
              <a:t>        например - в </a:t>
            </a:r>
            <a:r>
              <a:rPr lang="en-US" sz="2000"/>
              <a:t>BST.</a:t>
            </a:r>
            <a:r>
              <a:rPr lang="bg-BG" sz="2000">
                <a:solidFill>
                  <a:schemeClr val="tx2"/>
                </a:solidFill>
              </a:rPr>
              <a:t/>
            </a:r>
            <a:br>
              <a:rPr lang="bg-BG" sz="2000">
                <a:solidFill>
                  <a:schemeClr val="tx2"/>
                </a:solidFill>
              </a:rPr>
            </a:br>
            <a:r>
              <a:rPr lang="bg-BG" sz="2000">
                <a:solidFill>
                  <a:schemeClr val="tx2"/>
                </a:solidFill>
              </a:rPr>
              <a:t/>
            </a:r>
            <a:br>
              <a:rPr lang="bg-BG" sz="2000">
                <a:solidFill>
                  <a:schemeClr val="tx2"/>
                </a:solidFill>
              </a:rPr>
            </a:br>
            <a:r>
              <a:rPr lang="bg-BG" sz="2000">
                <a:solidFill>
                  <a:schemeClr val="tx2"/>
                </a:solidFill>
              </a:rPr>
              <a:t/>
            </a:r>
            <a:br>
              <a:rPr lang="bg-BG" sz="2000">
                <a:solidFill>
                  <a:schemeClr val="tx2"/>
                </a:solidFill>
              </a:rPr>
            </a:br>
            <a:r>
              <a:rPr lang="bg-BG" sz="2000">
                <a:solidFill>
                  <a:schemeClr val="tx2"/>
                </a:solidFill>
              </a:rPr>
              <a:t/>
            </a:r>
            <a:br>
              <a:rPr lang="bg-BG" sz="2000">
                <a:solidFill>
                  <a:schemeClr val="tx2"/>
                </a:solidFill>
              </a:rPr>
            </a:br>
            <a:r>
              <a:rPr lang="bg-BG" sz="2000">
                <a:solidFill>
                  <a:schemeClr val="tx2"/>
                </a:solidFill>
              </a:rPr>
              <a:t/>
            </a:r>
            <a:br>
              <a:rPr lang="bg-BG" sz="2000">
                <a:solidFill>
                  <a:schemeClr val="tx2"/>
                </a:solidFill>
              </a:rPr>
            </a:br>
            <a:endParaRPr lang="en-US" sz="2000">
              <a:solidFill>
                <a:schemeClr val="tx2"/>
              </a:solidFill>
            </a:endParaRPr>
          </a:p>
        </p:txBody>
      </p:sp>
      <p:grpSp>
        <p:nvGrpSpPr>
          <p:cNvPr id="96259" name="Group 3"/>
          <p:cNvGrpSpPr>
            <a:grpSpLocks/>
          </p:cNvGrpSpPr>
          <p:nvPr/>
        </p:nvGrpSpPr>
        <p:grpSpPr bwMode="auto">
          <a:xfrm>
            <a:off x="958850" y="2792413"/>
            <a:ext cx="3975100" cy="3883025"/>
            <a:chOff x="332" y="1776"/>
            <a:chExt cx="2504" cy="2446"/>
          </a:xfrm>
        </p:grpSpPr>
        <p:sp>
          <p:nvSpPr>
            <p:cNvPr id="96261" name="Rectangle 4"/>
            <p:cNvSpPr>
              <a:spLocks noChangeArrowheads="1"/>
            </p:cNvSpPr>
            <p:nvPr/>
          </p:nvSpPr>
          <p:spPr bwMode="auto">
            <a:xfrm>
              <a:off x="1104" y="2064"/>
              <a:ext cx="576" cy="192"/>
            </a:xfrm>
            <a:prstGeom prst="rect">
              <a:avLst/>
            </a:prstGeom>
            <a:noFill/>
            <a:ln w="9525">
              <a:solidFill>
                <a:schemeClr val="tx1"/>
              </a:solidFill>
              <a:miter lim="800000"/>
              <a:headEnd/>
              <a:tailEnd/>
            </a:ln>
          </p:spPr>
          <p:txBody>
            <a:bodyPr wrap="none" anchor="ctr"/>
            <a:lstStyle/>
            <a:p>
              <a:endParaRPr lang="bg-BG"/>
            </a:p>
          </p:txBody>
        </p:sp>
        <p:sp>
          <p:nvSpPr>
            <p:cNvPr id="96262" name="Text Box 5"/>
            <p:cNvSpPr txBox="1">
              <a:spLocks noChangeArrowheads="1"/>
            </p:cNvSpPr>
            <p:nvPr/>
          </p:nvSpPr>
          <p:spPr bwMode="auto">
            <a:xfrm>
              <a:off x="332" y="2020"/>
              <a:ext cx="672" cy="231"/>
            </a:xfrm>
            <a:prstGeom prst="rect">
              <a:avLst/>
            </a:prstGeom>
            <a:noFill/>
            <a:ln w="9525">
              <a:noFill/>
              <a:miter lim="800000"/>
              <a:headEnd/>
              <a:tailEnd/>
            </a:ln>
          </p:spPr>
          <p:txBody>
            <a:bodyPr>
              <a:spAutoFit/>
            </a:bodyPr>
            <a:lstStyle/>
            <a:p>
              <a:pPr algn="l">
                <a:spcBef>
                  <a:spcPct val="50000"/>
                </a:spcBef>
              </a:pPr>
              <a:r>
                <a:rPr lang="en-US" sz="1800"/>
                <a:t>hash[1]</a:t>
              </a:r>
              <a:endParaRPr lang="en-US"/>
            </a:p>
          </p:txBody>
        </p:sp>
        <p:grpSp>
          <p:nvGrpSpPr>
            <p:cNvPr id="96263" name="Group 6"/>
            <p:cNvGrpSpPr>
              <a:grpSpLocks/>
            </p:cNvGrpSpPr>
            <p:nvPr/>
          </p:nvGrpSpPr>
          <p:grpSpPr bwMode="auto">
            <a:xfrm>
              <a:off x="864" y="1872"/>
              <a:ext cx="336" cy="96"/>
              <a:chOff x="960" y="2592"/>
              <a:chExt cx="336" cy="96"/>
            </a:xfrm>
          </p:grpSpPr>
          <p:sp>
            <p:nvSpPr>
              <p:cNvPr id="96326" name="Line 7"/>
              <p:cNvSpPr>
                <a:spLocks noChangeShapeType="1"/>
              </p:cNvSpPr>
              <p:nvPr/>
            </p:nvSpPr>
            <p:spPr bwMode="auto">
              <a:xfrm>
                <a:off x="960" y="2592"/>
                <a:ext cx="240" cy="0"/>
              </a:xfrm>
              <a:prstGeom prst="line">
                <a:avLst/>
              </a:prstGeom>
              <a:noFill/>
              <a:ln w="9525">
                <a:solidFill>
                  <a:schemeClr val="tx1"/>
                </a:solidFill>
                <a:round/>
                <a:headEnd/>
                <a:tailEnd/>
              </a:ln>
            </p:spPr>
            <p:txBody>
              <a:bodyPr wrap="none" anchor="ctr"/>
              <a:lstStyle/>
              <a:p>
                <a:endParaRPr lang="bg-BG"/>
              </a:p>
            </p:txBody>
          </p:sp>
          <p:sp>
            <p:nvSpPr>
              <p:cNvPr id="96327" name="Line 8"/>
              <p:cNvSpPr>
                <a:spLocks noChangeShapeType="1"/>
              </p:cNvSpPr>
              <p:nvPr/>
            </p:nvSpPr>
            <p:spPr bwMode="auto">
              <a:xfrm>
                <a:off x="1200" y="2592"/>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96328" name="Line 9"/>
              <p:cNvSpPr>
                <a:spLocks noChangeShapeType="1"/>
              </p:cNvSpPr>
              <p:nvPr/>
            </p:nvSpPr>
            <p:spPr bwMode="auto">
              <a:xfrm>
                <a:off x="1104" y="2688"/>
                <a:ext cx="192" cy="0"/>
              </a:xfrm>
              <a:prstGeom prst="line">
                <a:avLst/>
              </a:prstGeom>
              <a:noFill/>
              <a:ln w="9525">
                <a:solidFill>
                  <a:schemeClr val="tx1"/>
                </a:solidFill>
                <a:round/>
                <a:headEnd/>
                <a:tailEnd/>
              </a:ln>
            </p:spPr>
            <p:txBody>
              <a:bodyPr wrap="none" anchor="ctr"/>
              <a:lstStyle/>
              <a:p>
                <a:endParaRPr lang="bg-BG"/>
              </a:p>
            </p:txBody>
          </p:sp>
        </p:grpSp>
        <p:sp>
          <p:nvSpPr>
            <p:cNvPr id="96264" name="Text Box 10"/>
            <p:cNvSpPr txBox="1">
              <a:spLocks noChangeArrowheads="1"/>
            </p:cNvSpPr>
            <p:nvPr/>
          </p:nvSpPr>
          <p:spPr bwMode="auto">
            <a:xfrm>
              <a:off x="336" y="1776"/>
              <a:ext cx="672" cy="231"/>
            </a:xfrm>
            <a:prstGeom prst="rect">
              <a:avLst/>
            </a:prstGeom>
            <a:noFill/>
            <a:ln w="9525">
              <a:noFill/>
              <a:miter lim="800000"/>
              <a:headEnd/>
              <a:tailEnd/>
            </a:ln>
          </p:spPr>
          <p:txBody>
            <a:bodyPr>
              <a:spAutoFit/>
            </a:bodyPr>
            <a:lstStyle/>
            <a:p>
              <a:pPr algn="l">
                <a:spcBef>
                  <a:spcPct val="50000"/>
                </a:spcBef>
              </a:pPr>
              <a:r>
                <a:rPr lang="en-US" sz="1800"/>
                <a:t>hash[0]</a:t>
              </a:r>
              <a:endParaRPr lang="en-US"/>
            </a:p>
          </p:txBody>
        </p:sp>
        <p:sp>
          <p:nvSpPr>
            <p:cNvPr id="96265" name="Text Box 11"/>
            <p:cNvSpPr txBox="1">
              <a:spLocks noChangeArrowheads="1"/>
            </p:cNvSpPr>
            <p:nvPr/>
          </p:nvSpPr>
          <p:spPr bwMode="auto">
            <a:xfrm>
              <a:off x="332" y="2286"/>
              <a:ext cx="672" cy="231"/>
            </a:xfrm>
            <a:prstGeom prst="rect">
              <a:avLst/>
            </a:prstGeom>
            <a:noFill/>
            <a:ln w="9525">
              <a:noFill/>
              <a:miter lim="800000"/>
              <a:headEnd/>
              <a:tailEnd/>
            </a:ln>
          </p:spPr>
          <p:txBody>
            <a:bodyPr>
              <a:spAutoFit/>
            </a:bodyPr>
            <a:lstStyle/>
            <a:p>
              <a:pPr algn="l">
                <a:spcBef>
                  <a:spcPct val="50000"/>
                </a:spcBef>
              </a:pPr>
              <a:r>
                <a:rPr lang="en-US" sz="1800"/>
                <a:t>hash[2]</a:t>
              </a:r>
              <a:endParaRPr lang="en-US"/>
            </a:p>
          </p:txBody>
        </p:sp>
        <p:sp>
          <p:nvSpPr>
            <p:cNvPr id="96266" name="Text Box 12"/>
            <p:cNvSpPr txBox="1">
              <a:spLocks noChangeArrowheads="1"/>
            </p:cNvSpPr>
            <p:nvPr/>
          </p:nvSpPr>
          <p:spPr bwMode="auto">
            <a:xfrm>
              <a:off x="339" y="3991"/>
              <a:ext cx="672" cy="231"/>
            </a:xfrm>
            <a:prstGeom prst="rect">
              <a:avLst/>
            </a:prstGeom>
            <a:noFill/>
            <a:ln w="9525">
              <a:noFill/>
              <a:miter lim="800000"/>
              <a:headEnd/>
              <a:tailEnd/>
            </a:ln>
          </p:spPr>
          <p:txBody>
            <a:bodyPr>
              <a:spAutoFit/>
            </a:bodyPr>
            <a:lstStyle/>
            <a:p>
              <a:pPr algn="l">
                <a:spcBef>
                  <a:spcPct val="50000"/>
                </a:spcBef>
              </a:pPr>
              <a:r>
                <a:rPr lang="en-US" sz="1800"/>
                <a:t>hash[9]</a:t>
              </a:r>
              <a:endParaRPr lang="en-US"/>
            </a:p>
          </p:txBody>
        </p:sp>
        <p:sp>
          <p:nvSpPr>
            <p:cNvPr id="96267" name="Text Box 13"/>
            <p:cNvSpPr txBox="1">
              <a:spLocks noChangeArrowheads="1"/>
            </p:cNvSpPr>
            <p:nvPr/>
          </p:nvSpPr>
          <p:spPr bwMode="auto">
            <a:xfrm>
              <a:off x="332" y="2552"/>
              <a:ext cx="672" cy="231"/>
            </a:xfrm>
            <a:prstGeom prst="rect">
              <a:avLst/>
            </a:prstGeom>
            <a:noFill/>
            <a:ln w="9525">
              <a:noFill/>
              <a:miter lim="800000"/>
              <a:headEnd/>
              <a:tailEnd/>
            </a:ln>
          </p:spPr>
          <p:txBody>
            <a:bodyPr>
              <a:spAutoFit/>
            </a:bodyPr>
            <a:lstStyle/>
            <a:p>
              <a:pPr algn="l">
                <a:spcBef>
                  <a:spcPct val="50000"/>
                </a:spcBef>
              </a:pPr>
              <a:r>
                <a:rPr lang="en-US" sz="1800"/>
                <a:t>hash[3]</a:t>
              </a:r>
              <a:endParaRPr lang="en-US"/>
            </a:p>
          </p:txBody>
        </p:sp>
        <p:sp>
          <p:nvSpPr>
            <p:cNvPr id="96268" name="Text Box 14"/>
            <p:cNvSpPr txBox="1">
              <a:spLocks noChangeArrowheads="1"/>
            </p:cNvSpPr>
            <p:nvPr/>
          </p:nvSpPr>
          <p:spPr bwMode="auto">
            <a:xfrm>
              <a:off x="333" y="3523"/>
              <a:ext cx="672" cy="231"/>
            </a:xfrm>
            <a:prstGeom prst="rect">
              <a:avLst/>
            </a:prstGeom>
            <a:noFill/>
            <a:ln w="9525">
              <a:noFill/>
              <a:miter lim="800000"/>
              <a:headEnd/>
              <a:tailEnd/>
            </a:ln>
          </p:spPr>
          <p:txBody>
            <a:bodyPr>
              <a:spAutoFit/>
            </a:bodyPr>
            <a:lstStyle/>
            <a:p>
              <a:pPr algn="l">
                <a:spcBef>
                  <a:spcPct val="50000"/>
                </a:spcBef>
              </a:pPr>
              <a:r>
                <a:rPr lang="en-US" sz="1800"/>
                <a:t>hash[7]</a:t>
              </a:r>
              <a:endParaRPr lang="en-US"/>
            </a:p>
          </p:txBody>
        </p:sp>
        <p:sp>
          <p:nvSpPr>
            <p:cNvPr id="96269" name="Text Box 15"/>
            <p:cNvSpPr txBox="1">
              <a:spLocks noChangeArrowheads="1"/>
            </p:cNvSpPr>
            <p:nvPr/>
          </p:nvSpPr>
          <p:spPr bwMode="auto">
            <a:xfrm>
              <a:off x="336" y="3763"/>
              <a:ext cx="713" cy="231"/>
            </a:xfrm>
            <a:prstGeom prst="rect">
              <a:avLst/>
            </a:prstGeom>
            <a:noFill/>
            <a:ln w="9525">
              <a:noFill/>
              <a:miter lim="800000"/>
              <a:headEnd/>
              <a:tailEnd/>
            </a:ln>
          </p:spPr>
          <p:txBody>
            <a:bodyPr>
              <a:spAutoFit/>
            </a:bodyPr>
            <a:lstStyle/>
            <a:p>
              <a:pPr algn="l">
                <a:spcBef>
                  <a:spcPct val="50000"/>
                </a:spcBef>
              </a:pPr>
              <a:r>
                <a:rPr lang="en-US" sz="1800"/>
                <a:t>hash[8]</a:t>
              </a:r>
              <a:endParaRPr lang="en-US"/>
            </a:p>
          </p:txBody>
        </p:sp>
        <p:sp>
          <p:nvSpPr>
            <p:cNvPr id="96270" name="Text Box 16"/>
            <p:cNvSpPr txBox="1">
              <a:spLocks noChangeArrowheads="1"/>
            </p:cNvSpPr>
            <p:nvPr/>
          </p:nvSpPr>
          <p:spPr bwMode="auto">
            <a:xfrm>
              <a:off x="340" y="3283"/>
              <a:ext cx="672" cy="231"/>
            </a:xfrm>
            <a:prstGeom prst="rect">
              <a:avLst/>
            </a:prstGeom>
            <a:noFill/>
            <a:ln w="9525">
              <a:noFill/>
              <a:miter lim="800000"/>
              <a:headEnd/>
              <a:tailEnd/>
            </a:ln>
          </p:spPr>
          <p:txBody>
            <a:bodyPr>
              <a:spAutoFit/>
            </a:bodyPr>
            <a:lstStyle/>
            <a:p>
              <a:pPr algn="l">
                <a:spcBef>
                  <a:spcPct val="50000"/>
                </a:spcBef>
              </a:pPr>
              <a:r>
                <a:rPr lang="en-US" sz="1800"/>
                <a:t>hash[6]</a:t>
              </a:r>
              <a:endParaRPr lang="en-US"/>
            </a:p>
          </p:txBody>
        </p:sp>
        <p:sp>
          <p:nvSpPr>
            <p:cNvPr id="96271" name="Text Box 17"/>
            <p:cNvSpPr txBox="1">
              <a:spLocks noChangeArrowheads="1"/>
            </p:cNvSpPr>
            <p:nvPr/>
          </p:nvSpPr>
          <p:spPr bwMode="auto">
            <a:xfrm>
              <a:off x="332" y="3043"/>
              <a:ext cx="672" cy="231"/>
            </a:xfrm>
            <a:prstGeom prst="rect">
              <a:avLst/>
            </a:prstGeom>
            <a:noFill/>
            <a:ln w="9525">
              <a:noFill/>
              <a:miter lim="800000"/>
              <a:headEnd/>
              <a:tailEnd/>
            </a:ln>
          </p:spPr>
          <p:txBody>
            <a:bodyPr>
              <a:spAutoFit/>
            </a:bodyPr>
            <a:lstStyle/>
            <a:p>
              <a:pPr algn="l">
                <a:spcBef>
                  <a:spcPct val="50000"/>
                </a:spcBef>
              </a:pPr>
              <a:r>
                <a:rPr lang="en-US" sz="1800"/>
                <a:t>hash[5]</a:t>
              </a:r>
              <a:endParaRPr lang="en-US"/>
            </a:p>
          </p:txBody>
        </p:sp>
        <p:sp>
          <p:nvSpPr>
            <p:cNvPr id="96272" name="Text Box 18"/>
            <p:cNvSpPr txBox="1">
              <a:spLocks noChangeArrowheads="1"/>
            </p:cNvSpPr>
            <p:nvPr/>
          </p:nvSpPr>
          <p:spPr bwMode="auto">
            <a:xfrm>
              <a:off x="336" y="2803"/>
              <a:ext cx="672" cy="231"/>
            </a:xfrm>
            <a:prstGeom prst="rect">
              <a:avLst/>
            </a:prstGeom>
            <a:noFill/>
            <a:ln w="9525">
              <a:noFill/>
              <a:miter lim="800000"/>
              <a:headEnd/>
              <a:tailEnd/>
            </a:ln>
          </p:spPr>
          <p:txBody>
            <a:bodyPr>
              <a:spAutoFit/>
            </a:bodyPr>
            <a:lstStyle/>
            <a:p>
              <a:pPr algn="l">
                <a:spcBef>
                  <a:spcPct val="50000"/>
                </a:spcBef>
              </a:pPr>
              <a:r>
                <a:rPr lang="en-US" sz="1800"/>
                <a:t>hash[4]</a:t>
              </a:r>
              <a:endParaRPr lang="en-US"/>
            </a:p>
          </p:txBody>
        </p:sp>
        <p:grpSp>
          <p:nvGrpSpPr>
            <p:cNvPr id="96273" name="Group 19"/>
            <p:cNvGrpSpPr>
              <a:grpSpLocks/>
            </p:cNvGrpSpPr>
            <p:nvPr/>
          </p:nvGrpSpPr>
          <p:grpSpPr bwMode="auto">
            <a:xfrm>
              <a:off x="912" y="4080"/>
              <a:ext cx="336" cy="96"/>
              <a:chOff x="960" y="2592"/>
              <a:chExt cx="336" cy="96"/>
            </a:xfrm>
          </p:grpSpPr>
          <p:sp>
            <p:nvSpPr>
              <p:cNvPr id="96323" name="Line 20"/>
              <p:cNvSpPr>
                <a:spLocks noChangeShapeType="1"/>
              </p:cNvSpPr>
              <p:nvPr/>
            </p:nvSpPr>
            <p:spPr bwMode="auto">
              <a:xfrm>
                <a:off x="960" y="2592"/>
                <a:ext cx="240" cy="0"/>
              </a:xfrm>
              <a:prstGeom prst="line">
                <a:avLst/>
              </a:prstGeom>
              <a:noFill/>
              <a:ln w="9525">
                <a:solidFill>
                  <a:schemeClr val="tx1"/>
                </a:solidFill>
                <a:round/>
                <a:headEnd/>
                <a:tailEnd/>
              </a:ln>
            </p:spPr>
            <p:txBody>
              <a:bodyPr wrap="none" anchor="ctr"/>
              <a:lstStyle/>
              <a:p>
                <a:endParaRPr lang="bg-BG"/>
              </a:p>
            </p:txBody>
          </p:sp>
          <p:sp>
            <p:nvSpPr>
              <p:cNvPr id="96324" name="Line 21"/>
              <p:cNvSpPr>
                <a:spLocks noChangeShapeType="1"/>
              </p:cNvSpPr>
              <p:nvPr/>
            </p:nvSpPr>
            <p:spPr bwMode="auto">
              <a:xfrm>
                <a:off x="1200" y="2592"/>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96325" name="Line 22"/>
              <p:cNvSpPr>
                <a:spLocks noChangeShapeType="1"/>
              </p:cNvSpPr>
              <p:nvPr/>
            </p:nvSpPr>
            <p:spPr bwMode="auto">
              <a:xfrm>
                <a:off x="1104" y="2688"/>
                <a:ext cx="192" cy="0"/>
              </a:xfrm>
              <a:prstGeom prst="line">
                <a:avLst/>
              </a:prstGeom>
              <a:noFill/>
              <a:ln w="9525">
                <a:solidFill>
                  <a:schemeClr val="tx1"/>
                </a:solidFill>
                <a:round/>
                <a:headEnd/>
                <a:tailEnd/>
              </a:ln>
            </p:spPr>
            <p:txBody>
              <a:bodyPr wrap="none" anchor="ctr"/>
              <a:lstStyle/>
              <a:p>
                <a:endParaRPr lang="bg-BG"/>
              </a:p>
            </p:txBody>
          </p:sp>
        </p:grpSp>
        <p:grpSp>
          <p:nvGrpSpPr>
            <p:cNvPr id="96274" name="Group 23"/>
            <p:cNvGrpSpPr>
              <a:grpSpLocks/>
            </p:cNvGrpSpPr>
            <p:nvPr/>
          </p:nvGrpSpPr>
          <p:grpSpPr bwMode="auto">
            <a:xfrm>
              <a:off x="930" y="3888"/>
              <a:ext cx="336" cy="96"/>
              <a:chOff x="960" y="2592"/>
              <a:chExt cx="336" cy="96"/>
            </a:xfrm>
          </p:grpSpPr>
          <p:sp>
            <p:nvSpPr>
              <p:cNvPr id="96320" name="Line 24"/>
              <p:cNvSpPr>
                <a:spLocks noChangeShapeType="1"/>
              </p:cNvSpPr>
              <p:nvPr/>
            </p:nvSpPr>
            <p:spPr bwMode="auto">
              <a:xfrm>
                <a:off x="960" y="2592"/>
                <a:ext cx="240" cy="0"/>
              </a:xfrm>
              <a:prstGeom prst="line">
                <a:avLst/>
              </a:prstGeom>
              <a:noFill/>
              <a:ln w="9525">
                <a:solidFill>
                  <a:schemeClr val="tx1"/>
                </a:solidFill>
                <a:round/>
                <a:headEnd/>
                <a:tailEnd/>
              </a:ln>
            </p:spPr>
            <p:txBody>
              <a:bodyPr wrap="none" anchor="ctr"/>
              <a:lstStyle/>
              <a:p>
                <a:endParaRPr lang="bg-BG"/>
              </a:p>
            </p:txBody>
          </p:sp>
          <p:sp>
            <p:nvSpPr>
              <p:cNvPr id="96321" name="Line 25"/>
              <p:cNvSpPr>
                <a:spLocks noChangeShapeType="1"/>
              </p:cNvSpPr>
              <p:nvPr/>
            </p:nvSpPr>
            <p:spPr bwMode="auto">
              <a:xfrm>
                <a:off x="1200" y="2592"/>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96322" name="Line 26"/>
              <p:cNvSpPr>
                <a:spLocks noChangeShapeType="1"/>
              </p:cNvSpPr>
              <p:nvPr/>
            </p:nvSpPr>
            <p:spPr bwMode="auto">
              <a:xfrm>
                <a:off x="1104" y="2688"/>
                <a:ext cx="192" cy="0"/>
              </a:xfrm>
              <a:prstGeom prst="line">
                <a:avLst/>
              </a:prstGeom>
              <a:noFill/>
              <a:ln w="9525">
                <a:solidFill>
                  <a:schemeClr val="tx1"/>
                </a:solidFill>
                <a:round/>
                <a:headEnd/>
                <a:tailEnd/>
              </a:ln>
            </p:spPr>
            <p:txBody>
              <a:bodyPr wrap="none" anchor="ctr"/>
              <a:lstStyle/>
              <a:p>
                <a:endParaRPr lang="bg-BG"/>
              </a:p>
            </p:txBody>
          </p:sp>
        </p:grpSp>
        <p:grpSp>
          <p:nvGrpSpPr>
            <p:cNvPr id="96275" name="Group 27"/>
            <p:cNvGrpSpPr>
              <a:grpSpLocks/>
            </p:cNvGrpSpPr>
            <p:nvPr/>
          </p:nvGrpSpPr>
          <p:grpSpPr bwMode="auto">
            <a:xfrm>
              <a:off x="923" y="3648"/>
              <a:ext cx="336" cy="96"/>
              <a:chOff x="960" y="2592"/>
              <a:chExt cx="336" cy="96"/>
            </a:xfrm>
          </p:grpSpPr>
          <p:sp>
            <p:nvSpPr>
              <p:cNvPr id="96317" name="Line 28"/>
              <p:cNvSpPr>
                <a:spLocks noChangeShapeType="1"/>
              </p:cNvSpPr>
              <p:nvPr/>
            </p:nvSpPr>
            <p:spPr bwMode="auto">
              <a:xfrm>
                <a:off x="960" y="2592"/>
                <a:ext cx="240" cy="0"/>
              </a:xfrm>
              <a:prstGeom prst="line">
                <a:avLst/>
              </a:prstGeom>
              <a:noFill/>
              <a:ln w="9525">
                <a:solidFill>
                  <a:schemeClr val="tx1"/>
                </a:solidFill>
                <a:round/>
                <a:headEnd/>
                <a:tailEnd/>
              </a:ln>
            </p:spPr>
            <p:txBody>
              <a:bodyPr wrap="none" anchor="ctr"/>
              <a:lstStyle/>
              <a:p>
                <a:endParaRPr lang="bg-BG"/>
              </a:p>
            </p:txBody>
          </p:sp>
          <p:sp>
            <p:nvSpPr>
              <p:cNvPr id="96318" name="Line 29"/>
              <p:cNvSpPr>
                <a:spLocks noChangeShapeType="1"/>
              </p:cNvSpPr>
              <p:nvPr/>
            </p:nvSpPr>
            <p:spPr bwMode="auto">
              <a:xfrm>
                <a:off x="1200" y="2592"/>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96319" name="Line 30"/>
              <p:cNvSpPr>
                <a:spLocks noChangeShapeType="1"/>
              </p:cNvSpPr>
              <p:nvPr/>
            </p:nvSpPr>
            <p:spPr bwMode="auto">
              <a:xfrm>
                <a:off x="1104" y="2688"/>
                <a:ext cx="192" cy="0"/>
              </a:xfrm>
              <a:prstGeom prst="line">
                <a:avLst/>
              </a:prstGeom>
              <a:noFill/>
              <a:ln w="9525">
                <a:solidFill>
                  <a:schemeClr val="tx1"/>
                </a:solidFill>
                <a:round/>
                <a:headEnd/>
                <a:tailEnd/>
              </a:ln>
            </p:spPr>
            <p:txBody>
              <a:bodyPr wrap="none" anchor="ctr"/>
              <a:lstStyle/>
              <a:p>
                <a:endParaRPr lang="bg-BG"/>
              </a:p>
            </p:txBody>
          </p:sp>
        </p:grpSp>
        <p:grpSp>
          <p:nvGrpSpPr>
            <p:cNvPr id="96276" name="Group 31"/>
            <p:cNvGrpSpPr>
              <a:grpSpLocks/>
            </p:cNvGrpSpPr>
            <p:nvPr/>
          </p:nvGrpSpPr>
          <p:grpSpPr bwMode="auto">
            <a:xfrm>
              <a:off x="912" y="2928"/>
              <a:ext cx="336" cy="96"/>
              <a:chOff x="960" y="2592"/>
              <a:chExt cx="336" cy="96"/>
            </a:xfrm>
          </p:grpSpPr>
          <p:sp>
            <p:nvSpPr>
              <p:cNvPr id="96314" name="Line 32"/>
              <p:cNvSpPr>
                <a:spLocks noChangeShapeType="1"/>
              </p:cNvSpPr>
              <p:nvPr/>
            </p:nvSpPr>
            <p:spPr bwMode="auto">
              <a:xfrm>
                <a:off x="960" y="2592"/>
                <a:ext cx="240" cy="0"/>
              </a:xfrm>
              <a:prstGeom prst="line">
                <a:avLst/>
              </a:prstGeom>
              <a:noFill/>
              <a:ln w="9525">
                <a:solidFill>
                  <a:schemeClr val="tx1"/>
                </a:solidFill>
                <a:round/>
                <a:headEnd/>
                <a:tailEnd/>
              </a:ln>
            </p:spPr>
            <p:txBody>
              <a:bodyPr wrap="none" anchor="ctr"/>
              <a:lstStyle/>
              <a:p>
                <a:endParaRPr lang="bg-BG"/>
              </a:p>
            </p:txBody>
          </p:sp>
          <p:sp>
            <p:nvSpPr>
              <p:cNvPr id="96315" name="Line 33"/>
              <p:cNvSpPr>
                <a:spLocks noChangeShapeType="1"/>
              </p:cNvSpPr>
              <p:nvPr/>
            </p:nvSpPr>
            <p:spPr bwMode="auto">
              <a:xfrm>
                <a:off x="1200" y="2592"/>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96316" name="Line 34"/>
              <p:cNvSpPr>
                <a:spLocks noChangeShapeType="1"/>
              </p:cNvSpPr>
              <p:nvPr/>
            </p:nvSpPr>
            <p:spPr bwMode="auto">
              <a:xfrm>
                <a:off x="1104" y="2688"/>
                <a:ext cx="192" cy="0"/>
              </a:xfrm>
              <a:prstGeom prst="line">
                <a:avLst/>
              </a:prstGeom>
              <a:noFill/>
              <a:ln w="9525">
                <a:solidFill>
                  <a:schemeClr val="tx1"/>
                </a:solidFill>
                <a:round/>
                <a:headEnd/>
                <a:tailEnd/>
              </a:ln>
            </p:spPr>
            <p:txBody>
              <a:bodyPr wrap="none" anchor="ctr"/>
              <a:lstStyle/>
              <a:p>
                <a:endParaRPr lang="bg-BG"/>
              </a:p>
            </p:txBody>
          </p:sp>
        </p:grpSp>
        <p:grpSp>
          <p:nvGrpSpPr>
            <p:cNvPr id="96277" name="Group 35"/>
            <p:cNvGrpSpPr>
              <a:grpSpLocks/>
            </p:cNvGrpSpPr>
            <p:nvPr/>
          </p:nvGrpSpPr>
          <p:grpSpPr bwMode="auto">
            <a:xfrm>
              <a:off x="912" y="2688"/>
              <a:ext cx="336" cy="96"/>
              <a:chOff x="960" y="2592"/>
              <a:chExt cx="336" cy="96"/>
            </a:xfrm>
          </p:grpSpPr>
          <p:sp>
            <p:nvSpPr>
              <p:cNvPr id="96311" name="Line 36"/>
              <p:cNvSpPr>
                <a:spLocks noChangeShapeType="1"/>
              </p:cNvSpPr>
              <p:nvPr/>
            </p:nvSpPr>
            <p:spPr bwMode="auto">
              <a:xfrm>
                <a:off x="960" y="2592"/>
                <a:ext cx="240" cy="0"/>
              </a:xfrm>
              <a:prstGeom prst="line">
                <a:avLst/>
              </a:prstGeom>
              <a:noFill/>
              <a:ln w="9525">
                <a:solidFill>
                  <a:schemeClr val="tx1"/>
                </a:solidFill>
                <a:round/>
                <a:headEnd/>
                <a:tailEnd/>
              </a:ln>
            </p:spPr>
            <p:txBody>
              <a:bodyPr wrap="none" anchor="ctr"/>
              <a:lstStyle/>
              <a:p>
                <a:endParaRPr lang="bg-BG"/>
              </a:p>
            </p:txBody>
          </p:sp>
          <p:sp>
            <p:nvSpPr>
              <p:cNvPr id="96312" name="Line 37"/>
              <p:cNvSpPr>
                <a:spLocks noChangeShapeType="1"/>
              </p:cNvSpPr>
              <p:nvPr/>
            </p:nvSpPr>
            <p:spPr bwMode="auto">
              <a:xfrm>
                <a:off x="1200" y="2592"/>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96313" name="Line 38"/>
              <p:cNvSpPr>
                <a:spLocks noChangeShapeType="1"/>
              </p:cNvSpPr>
              <p:nvPr/>
            </p:nvSpPr>
            <p:spPr bwMode="auto">
              <a:xfrm>
                <a:off x="1104" y="2688"/>
                <a:ext cx="192" cy="0"/>
              </a:xfrm>
              <a:prstGeom prst="line">
                <a:avLst/>
              </a:prstGeom>
              <a:noFill/>
              <a:ln w="9525">
                <a:solidFill>
                  <a:schemeClr val="tx1"/>
                </a:solidFill>
                <a:round/>
                <a:headEnd/>
                <a:tailEnd/>
              </a:ln>
            </p:spPr>
            <p:txBody>
              <a:bodyPr wrap="none" anchor="ctr"/>
              <a:lstStyle/>
              <a:p>
                <a:endParaRPr lang="bg-BG"/>
              </a:p>
            </p:txBody>
          </p:sp>
        </p:grpSp>
        <p:grpSp>
          <p:nvGrpSpPr>
            <p:cNvPr id="96278" name="Group 39"/>
            <p:cNvGrpSpPr>
              <a:grpSpLocks/>
            </p:cNvGrpSpPr>
            <p:nvPr/>
          </p:nvGrpSpPr>
          <p:grpSpPr bwMode="auto">
            <a:xfrm>
              <a:off x="1680" y="2149"/>
              <a:ext cx="336" cy="96"/>
              <a:chOff x="960" y="2592"/>
              <a:chExt cx="336" cy="96"/>
            </a:xfrm>
          </p:grpSpPr>
          <p:sp>
            <p:nvSpPr>
              <p:cNvPr id="96308" name="Line 40"/>
              <p:cNvSpPr>
                <a:spLocks noChangeShapeType="1"/>
              </p:cNvSpPr>
              <p:nvPr/>
            </p:nvSpPr>
            <p:spPr bwMode="auto">
              <a:xfrm>
                <a:off x="960" y="2592"/>
                <a:ext cx="240" cy="0"/>
              </a:xfrm>
              <a:prstGeom prst="line">
                <a:avLst/>
              </a:prstGeom>
              <a:noFill/>
              <a:ln w="9525">
                <a:solidFill>
                  <a:schemeClr val="tx1"/>
                </a:solidFill>
                <a:round/>
                <a:headEnd/>
                <a:tailEnd/>
              </a:ln>
            </p:spPr>
            <p:txBody>
              <a:bodyPr wrap="none" anchor="ctr"/>
              <a:lstStyle/>
              <a:p>
                <a:endParaRPr lang="bg-BG"/>
              </a:p>
            </p:txBody>
          </p:sp>
          <p:sp>
            <p:nvSpPr>
              <p:cNvPr id="96309" name="Line 41"/>
              <p:cNvSpPr>
                <a:spLocks noChangeShapeType="1"/>
              </p:cNvSpPr>
              <p:nvPr/>
            </p:nvSpPr>
            <p:spPr bwMode="auto">
              <a:xfrm>
                <a:off x="1200" y="2592"/>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96310" name="Line 42"/>
              <p:cNvSpPr>
                <a:spLocks noChangeShapeType="1"/>
              </p:cNvSpPr>
              <p:nvPr/>
            </p:nvSpPr>
            <p:spPr bwMode="auto">
              <a:xfrm>
                <a:off x="1104" y="2688"/>
                <a:ext cx="192" cy="0"/>
              </a:xfrm>
              <a:prstGeom prst="line">
                <a:avLst/>
              </a:prstGeom>
              <a:noFill/>
              <a:ln w="9525">
                <a:solidFill>
                  <a:schemeClr val="tx1"/>
                </a:solidFill>
                <a:round/>
                <a:headEnd/>
                <a:tailEnd/>
              </a:ln>
            </p:spPr>
            <p:txBody>
              <a:bodyPr wrap="none" anchor="ctr"/>
              <a:lstStyle/>
              <a:p>
                <a:endParaRPr lang="bg-BG"/>
              </a:p>
            </p:txBody>
          </p:sp>
        </p:grpSp>
        <p:sp>
          <p:nvSpPr>
            <p:cNvPr id="96279" name="Line 43"/>
            <p:cNvSpPr>
              <a:spLocks noChangeShapeType="1"/>
            </p:cNvSpPr>
            <p:nvPr/>
          </p:nvSpPr>
          <p:spPr bwMode="auto">
            <a:xfrm>
              <a:off x="864" y="2160"/>
              <a:ext cx="240" cy="0"/>
            </a:xfrm>
            <a:prstGeom prst="line">
              <a:avLst/>
            </a:prstGeom>
            <a:noFill/>
            <a:ln w="9525">
              <a:solidFill>
                <a:schemeClr val="tx1"/>
              </a:solidFill>
              <a:round/>
              <a:headEnd/>
              <a:tailEnd type="triangle" w="med" len="med"/>
            </a:ln>
          </p:spPr>
          <p:txBody>
            <a:bodyPr wrap="none" anchor="ctr"/>
            <a:lstStyle/>
            <a:p>
              <a:endParaRPr lang="bg-BG"/>
            </a:p>
          </p:txBody>
        </p:sp>
        <p:grpSp>
          <p:nvGrpSpPr>
            <p:cNvPr id="96280" name="Group 44"/>
            <p:cNvGrpSpPr>
              <a:grpSpLocks/>
            </p:cNvGrpSpPr>
            <p:nvPr/>
          </p:nvGrpSpPr>
          <p:grpSpPr bwMode="auto">
            <a:xfrm>
              <a:off x="2500" y="2448"/>
              <a:ext cx="336" cy="96"/>
              <a:chOff x="960" y="2592"/>
              <a:chExt cx="336" cy="96"/>
            </a:xfrm>
          </p:grpSpPr>
          <p:sp>
            <p:nvSpPr>
              <p:cNvPr id="96305" name="Line 45"/>
              <p:cNvSpPr>
                <a:spLocks noChangeShapeType="1"/>
              </p:cNvSpPr>
              <p:nvPr/>
            </p:nvSpPr>
            <p:spPr bwMode="auto">
              <a:xfrm>
                <a:off x="960" y="2592"/>
                <a:ext cx="240" cy="0"/>
              </a:xfrm>
              <a:prstGeom prst="line">
                <a:avLst/>
              </a:prstGeom>
              <a:noFill/>
              <a:ln w="9525">
                <a:solidFill>
                  <a:schemeClr val="tx1"/>
                </a:solidFill>
                <a:round/>
                <a:headEnd/>
                <a:tailEnd/>
              </a:ln>
            </p:spPr>
            <p:txBody>
              <a:bodyPr wrap="none" anchor="ctr"/>
              <a:lstStyle/>
              <a:p>
                <a:endParaRPr lang="bg-BG"/>
              </a:p>
            </p:txBody>
          </p:sp>
          <p:sp>
            <p:nvSpPr>
              <p:cNvPr id="96306" name="Line 46"/>
              <p:cNvSpPr>
                <a:spLocks noChangeShapeType="1"/>
              </p:cNvSpPr>
              <p:nvPr/>
            </p:nvSpPr>
            <p:spPr bwMode="auto">
              <a:xfrm>
                <a:off x="1200" y="2592"/>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96307" name="Line 47"/>
              <p:cNvSpPr>
                <a:spLocks noChangeShapeType="1"/>
              </p:cNvSpPr>
              <p:nvPr/>
            </p:nvSpPr>
            <p:spPr bwMode="auto">
              <a:xfrm>
                <a:off x="1104" y="2688"/>
                <a:ext cx="192" cy="0"/>
              </a:xfrm>
              <a:prstGeom prst="line">
                <a:avLst/>
              </a:prstGeom>
              <a:noFill/>
              <a:ln w="9525">
                <a:solidFill>
                  <a:schemeClr val="tx1"/>
                </a:solidFill>
                <a:round/>
                <a:headEnd/>
                <a:tailEnd/>
              </a:ln>
            </p:spPr>
            <p:txBody>
              <a:bodyPr wrap="none" anchor="ctr"/>
              <a:lstStyle/>
              <a:p>
                <a:endParaRPr lang="bg-BG"/>
              </a:p>
            </p:txBody>
          </p:sp>
        </p:grpSp>
        <p:grpSp>
          <p:nvGrpSpPr>
            <p:cNvPr id="96281" name="Group 48"/>
            <p:cNvGrpSpPr>
              <a:grpSpLocks/>
            </p:cNvGrpSpPr>
            <p:nvPr/>
          </p:nvGrpSpPr>
          <p:grpSpPr bwMode="auto">
            <a:xfrm>
              <a:off x="1680" y="3408"/>
              <a:ext cx="336" cy="96"/>
              <a:chOff x="960" y="2592"/>
              <a:chExt cx="336" cy="96"/>
            </a:xfrm>
          </p:grpSpPr>
          <p:sp>
            <p:nvSpPr>
              <p:cNvPr id="96302" name="Line 49"/>
              <p:cNvSpPr>
                <a:spLocks noChangeShapeType="1"/>
              </p:cNvSpPr>
              <p:nvPr/>
            </p:nvSpPr>
            <p:spPr bwMode="auto">
              <a:xfrm>
                <a:off x="960" y="2592"/>
                <a:ext cx="240" cy="0"/>
              </a:xfrm>
              <a:prstGeom prst="line">
                <a:avLst/>
              </a:prstGeom>
              <a:noFill/>
              <a:ln w="9525">
                <a:solidFill>
                  <a:schemeClr val="tx1"/>
                </a:solidFill>
                <a:round/>
                <a:headEnd/>
                <a:tailEnd/>
              </a:ln>
            </p:spPr>
            <p:txBody>
              <a:bodyPr wrap="none" anchor="ctr"/>
              <a:lstStyle/>
              <a:p>
                <a:endParaRPr lang="bg-BG"/>
              </a:p>
            </p:txBody>
          </p:sp>
          <p:sp>
            <p:nvSpPr>
              <p:cNvPr id="96303" name="Line 50"/>
              <p:cNvSpPr>
                <a:spLocks noChangeShapeType="1"/>
              </p:cNvSpPr>
              <p:nvPr/>
            </p:nvSpPr>
            <p:spPr bwMode="auto">
              <a:xfrm>
                <a:off x="1200" y="2592"/>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96304" name="Line 51"/>
              <p:cNvSpPr>
                <a:spLocks noChangeShapeType="1"/>
              </p:cNvSpPr>
              <p:nvPr/>
            </p:nvSpPr>
            <p:spPr bwMode="auto">
              <a:xfrm>
                <a:off x="1104" y="2688"/>
                <a:ext cx="192" cy="0"/>
              </a:xfrm>
              <a:prstGeom prst="line">
                <a:avLst/>
              </a:prstGeom>
              <a:noFill/>
              <a:ln w="9525">
                <a:solidFill>
                  <a:schemeClr val="tx1"/>
                </a:solidFill>
                <a:round/>
                <a:headEnd/>
                <a:tailEnd/>
              </a:ln>
            </p:spPr>
            <p:txBody>
              <a:bodyPr wrap="none" anchor="ctr"/>
              <a:lstStyle/>
              <a:p>
                <a:endParaRPr lang="bg-BG"/>
              </a:p>
            </p:txBody>
          </p:sp>
        </p:grpSp>
        <p:sp>
          <p:nvSpPr>
            <p:cNvPr id="96282" name="Text Box 52"/>
            <p:cNvSpPr txBox="1">
              <a:spLocks noChangeArrowheads="1"/>
            </p:cNvSpPr>
            <p:nvPr/>
          </p:nvSpPr>
          <p:spPr bwMode="auto">
            <a:xfrm>
              <a:off x="1200" y="2031"/>
              <a:ext cx="384" cy="231"/>
            </a:xfrm>
            <a:prstGeom prst="rect">
              <a:avLst/>
            </a:prstGeom>
            <a:noFill/>
            <a:ln w="9525">
              <a:noFill/>
              <a:miter lim="800000"/>
              <a:headEnd/>
              <a:tailEnd/>
            </a:ln>
          </p:spPr>
          <p:txBody>
            <a:bodyPr>
              <a:spAutoFit/>
            </a:bodyPr>
            <a:lstStyle/>
            <a:p>
              <a:pPr algn="l">
                <a:spcBef>
                  <a:spcPct val="50000"/>
                </a:spcBef>
              </a:pPr>
              <a:r>
                <a:rPr lang="en-US" sz="1800"/>
                <a:t>123</a:t>
              </a:r>
              <a:endParaRPr lang="en-US"/>
            </a:p>
          </p:txBody>
        </p:sp>
        <p:sp>
          <p:nvSpPr>
            <p:cNvPr id="96283" name="Rectangle 53"/>
            <p:cNvSpPr>
              <a:spLocks noChangeArrowheads="1"/>
            </p:cNvSpPr>
            <p:nvPr/>
          </p:nvSpPr>
          <p:spPr bwMode="auto">
            <a:xfrm>
              <a:off x="1920" y="2352"/>
              <a:ext cx="576" cy="192"/>
            </a:xfrm>
            <a:prstGeom prst="rect">
              <a:avLst/>
            </a:prstGeom>
            <a:noFill/>
            <a:ln w="9525">
              <a:solidFill>
                <a:schemeClr val="tx1"/>
              </a:solidFill>
              <a:miter lim="800000"/>
              <a:headEnd/>
              <a:tailEnd/>
            </a:ln>
          </p:spPr>
          <p:txBody>
            <a:bodyPr wrap="none" anchor="ctr"/>
            <a:lstStyle/>
            <a:p>
              <a:endParaRPr lang="bg-BG"/>
            </a:p>
          </p:txBody>
        </p:sp>
        <p:sp>
          <p:nvSpPr>
            <p:cNvPr id="96284" name="Rectangle 54"/>
            <p:cNvSpPr>
              <a:spLocks noChangeArrowheads="1"/>
            </p:cNvSpPr>
            <p:nvPr/>
          </p:nvSpPr>
          <p:spPr bwMode="auto">
            <a:xfrm>
              <a:off x="1104" y="2352"/>
              <a:ext cx="576" cy="192"/>
            </a:xfrm>
            <a:prstGeom prst="rect">
              <a:avLst/>
            </a:prstGeom>
            <a:noFill/>
            <a:ln w="9525">
              <a:solidFill>
                <a:schemeClr val="tx1"/>
              </a:solidFill>
              <a:miter lim="800000"/>
              <a:headEnd/>
              <a:tailEnd/>
            </a:ln>
          </p:spPr>
          <p:txBody>
            <a:bodyPr wrap="none" anchor="ctr"/>
            <a:lstStyle/>
            <a:p>
              <a:endParaRPr lang="bg-BG"/>
            </a:p>
          </p:txBody>
        </p:sp>
        <p:sp>
          <p:nvSpPr>
            <p:cNvPr id="96285" name="Rectangle 55"/>
            <p:cNvSpPr>
              <a:spLocks noChangeArrowheads="1"/>
            </p:cNvSpPr>
            <p:nvPr/>
          </p:nvSpPr>
          <p:spPr bwMode="auto">
            <a:xfrm>
              <a:off x="1093" y="3312"/>
              <a:ext cx="576" cy="192"/>
            </a:xfrm>
            <a:prstGeom prst="rect">
              <a:avLst/>
            </a:prstGeom>
            <a:noFill/>
            <a:ln w="9525">
              <a:solidFill>
                <a:schemeClr val="tx1"/>
              </a:solidFill>
              <a:miter lim="800000"/>
              <a:headEnd/>
              <a:tailEnd/>
            </a:ln>
          </p:spPr>
          <p:txBody>
            <a:bodyPr wrap="none" anchor="ctr"/>
            <a:lstStyle/>
            <a:p>
              <a:endParaRPr lang="bg-BG"/>
            </a:p>
          </p:txBody>
        </p:sp>
        <p:sp>
          <p:nvSpPr>
            <p:cNvPr id="96286" name="Rectangle 56"/>
            <p:cNvSpPr>
              <a:spLocks noChangeArrowheads="1"/>
            </p:cNvSpPr>
            <p:nvPr/>
          </p:nvSpPr>
          <p:spPr bwMode="auto">
            <a:xfrm>
              <a:off x="1920" y="3072"/>
              <a:ext cx="576" cy="192"/>
            </a:xfrm>
            <a:prstGeom prst="rect">
              <a:avLst/>
            </a:prstGeom>
            <a:noFill/>
            <a:ln w="9525">
              <a:solidFill>
                <a:schemeClr val="tx1"/>
              </a:solidFill>
              <a:miter lim="800000"/>
              <a:headEnd/>
              <a:tailEnd/>
            </a:ln>
          </p:spPr>
          <p:txBody>
            <a:bodyPr wrap="none" anchor="ctr"/>
            <a:lstStyle/>
            <a:p>
              <a:endParaRPr lang="bg-BG"/>
            </a:p>
          </p:txBody>
        </p:sp>
        <p:sp>
          <p:nvSpPr>
            <p:cNvPr id="96287" name="Rectangle 57"/>
            <p:cNvSpPr>
              <a:spLocks noChangeArrowheads="1"/>
            </p:cNvSpPr>
            <p:nvPr/>
          </p:nvSpPr>
          <p:spPr bwMode="auto">
            <a:xfrm>
              <a:off x="1104" y="3072"/>
              <a:ext cx="576" cy="192"/>
            </a:xfrm>
            <a:prstGeom prst="rect">
              <a:avLst/>
            </a:prstGeom>
            <a:noFill/>
            <a:ln w="9525">
              <a:solidFill>
                <a:schemeClr val="tx1"/>
              </a:solidFill>
              <a:miter lim="800000"/>
              <a:headEnd/>
              <a:tailEnd/>
            </a:ln>
          </p:spPr>
          <p:txBody>
            <a:bodyPr wrap="none" anchor="ctr"/>
            <a:lstStyle/>
            <a:p>
              <a:endParaRPr lang="bg-BG"/>
            </a:p>
          </p:txBody>
        </p:sp>
        <p:sp>
          <p:nvSpPr>
            <p:cNvPr id="96288" name="Line 58"/>
            <p:cNvSpPr>
              <a:spLocks noChangeShapeType="1"/>
            </p:cNvSpPr>
            <p:nvPr/>
          </p:nvSpPr>
          <p:spPr bwMode="auto">
            <a:xfrm>
              <a:off x="857" y="3168"/>
              <a:ext cx="240" cy="0"/>
            </a:xfrm>
            <a:prstGeom prst="line">
              <a:avLst/>
            </a:prstGeom>
            <a:noFill/>
            <a:ln w="9525">
              <a:solidFill>
                <a:schemeClr val="tx1"/>
              </a:solidFill>
              <a:round/>
              <a:headEnd/>
              <a:tailEnd type="triangle" w="med" len="med"/>
            </a:ln>
          </p:spPr>
          <p:txBody>
            <a:bodyPr wrap="none" anchor="ctr"/>
            <a:lstStyle/>
            <a:p>
              <a:endParaRPr lang="bg-BG"/>
            </a:p>
          </p:txBody>
        </p:sp>
        <p:sp>
          <p:nvSpPr>
            <p:cNvPr id="96289" name="Line 59"/>
            <p:cNvSpPr>
              <a:spLocks noChangeShapeType="1"/>
            </p:cNvSpPr>
            <p:nvPr/>
          </p:nvSpPr>
          <p:spPr bwMode="auto">
            <a:xfrm>
              <a:off x="1680" y="3168"/>
              <a:ext cx="240" cy="0"/>
            </a:xfrm>
            <a:prstGeom prst="line">
              <a:avLst/>
            </a:prstGeom>
            <a:noFill/>
            <a:ln w="9525">
              <a:solidFill>
                <a:schemeClr val="tx1"/>
              </a:solidFill>
              <a:round/>
              <a:headEnd/>
              <a:tailEnd type="triangle" w="med" len="med"/>
            </a:ln>
          </p:spPr>
          <p:txBody>
            <a:bodyPr wrap="none" anchor="ctr"/>
            <a:lstStyle/>
            <a:p>
              <a:endParaRPr lang="bg-BG"/>
            </a:p>
          </p:txBody>
        </p:sp>
        <p:sp>
          <p:nvSpPr>
            <p:cNvPr id="96290" name="Line 60"/>
            <p:cNvSpPr>
              <a:spLocks noChangeShapeType="1"/>
            </p:cNvSpPr>
            <p:nvPr/>
          </p:nvSpPr>
          <p:spPr bwMode="auto">
            <a:xfrm>
              <a:off x="864" y="2448"/>
              <a:ext cx="240" cy="0"/>
            </a:xfrm>
            <a:prstGeom prst="line">
              <a:avLst/>
            </a:prstGeom>
            <a:noFill/>
            <a:ln w="9525">
              <a:solidFill>
                <a:schemeClr val="tx1"/>
              </a:solidFill>
              <a:round/>
              <a:headEnd/>
              <a:tailEnd type="triangle" w="med" len="med"/>
            </a:ln>
          </p:spPr>
          <p:txBody>
            <a:bodyPr wrap="none" anchor="ctr"/>
            <a:lstStyle/>
            <a:p>
              <a:endParaRPr lang="bg-BG"/>
            </a:p>
          </p:txBody>
        </p:sp>
        <p:sp>
          <p:nvSpPr>
            <p:cNvPr id="96291" name="Line 61"/>
            <p:cNvSpPr>
              <a:spLocks noChangeShapeType="1"/>
            </p:cNvSpPr>
            <p:nvPr/>
          </p:nvSpPr>
          <p:spPr bwMode="auto">
            <a:xfrm>
              <a:off x="1680" y="2448"/>
              <a:ext cx="240" cy="0"/>
            </a:xfrm>
            <a:prstGeom prst="line">
              <a:avLst/>
            </a:prstGeom>
            <a:noFill/>
            <a:ln w="9525">
              <a:solidFill>
                <a:schemeClr val="tx1"/>
              </a:solidFill>
              <a:round/>
              <a:headEnd/>
              <a:tailEnd type="triangle" w="med" len="med"/>
            </a:ln>
          </p:spPr>
          <p:txBody>
            <a:bodyPr wrap="none" anchor="ctr"/>
            <a:lstStyle/>
            <a:p>
              <a:endParaRPr lang="bg-BG"/>
            </a:p>
          </p:txBody>
        </p:sp>
        <p:grpSp>
          <p:nvGrpSpPr>
            <p:cNvPr id="96292" name="Group 62"/>
            <p:cNvGrpSpPr>
              <a:grpSpLocks/>
            </p:cNvGrpSpPr>
            <p:nvPr/>
          </p:nvGrpSpPr>
          <p:grpSpPr bwMode="auto">
            <a:xfrm>
              <a:off x="2496" y="3168"/>
              <a:ext cx="336" cy="96"/>
              <a:chOff x="960" y="2592"/>
              <a:chExt cx="336" cy="96"/>
            </a:xfrm>
          </p:grpSpPr>
          <p:sp>
            <p:nvSpPr>
              <p:cNvPr id="96299" name="Line 63"/>
              <p:cNvSpPr>
                <a:spLocks noChangeShapeType="1"/>
              </p:cNvSpPr>
              <p:nvPr/>
            </p:nvSpPr>
            <p:spPr bwMode="auto">
              <a:xfrm>
                <a:off x="960" y="2592"/>
                <a:ext cx="240" cy="0"/>
              </a:xfrm>
              <a:prstGeom prst="line">
                <a:avLst/>
              </a:prstGeom>
              <a:noFill/>
              <a:ln w="9525">
                <a:solidFill>
                  <a:schemeClr val="tx1"/>
                </a:solidFill>
                <a:round/>
                <a:headEnd/>
                <a:tailEnd/>
              </a:ln>
            </p:spPr>
            <p:txBody>
              <a:bodyPr wrap="none" anchor="ctr"/>
              <a:lstStyle/>
              <a:p>
                <a:endParaRPr lang="bg-BG"/>
              </a:p>
            </p:txBody>
          </p:sp>
          <p:sp>
            <p:nvSpPr>
              <p:cNvPr id="96300" name="Line 64"/>
              <p:cNvSpPr>
                <a:spLocks noChangeShapeType="1"/>
              </p:cNvSpPr>
              <p:nvPr/>
            </p:nvSpPr>
            <p:spPr bwMode="auto">
              <a:xfrm>
                <a:off x="1200" y="2592"/>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96301" name="Line 65"/>
              <p:cNvSpPr>
                <a:spLocks noChangeShapeType="1"/>
              </p:cNvSpPr>
              <p:nvPr/>
            </p:nvSpPr>
            <p:spPr bwMode="auto">
              <a:xfrm>
                <a:off x="1104" y="2688"/>
                <a:ext cx="192" cy="0"/>
              </a:xfrm>
              <a:prstGeom prst="line">
                <a:avLst/>
              </a:prstGeom>
              <a:noFill/>
              <a:ln w="9525">
                <a:solidFill>
                  <a:schemeClr val="tx1"/>
                </a:solidFill>
                <a:round/>
                <a:headEnd/>
                <a:tailEnd/>
              </a:ln>
            </p:spPr>
            <p:txBody>
              <a:bodyPr wrap="none" anchor="ctr"/>
              <a:lstStyle/>
              <a:p>
                <a:endParaRPr lang="bg-BG"/>
              </a:p>
            </p:txBody>
          </p:sp>
        </p:grpSp>
        <p:sp>
          <p:nvSpPr>
            <p:cNvPr id="96293" name="Line 66"/>
            <p:cNvSpPr>
              <a:spLocks noChangeShapeType="1"/>
            </p:cNvSpPr>
            <p:nvPr/>
          </p:nvSpPr>
          <p:spPr bwMode="auto">
            <a:xfrm>
              <a:off x="864" y="3408"/>
              <a:ext cx="240" cy="0"/>
            </a:xfrm>
            <a:prstGeom prst="line">
              <a:avLst/>
            </a:prstGeom>
            <a:noFill/>
            <a:ln w="9525">
              <a:solidFill>
                <a:schemeClr val="tx1"/>
              </a:solidFill>
              <a:round/>
              <a:headEnd/>
              <a:tailEnd type="triangle" w="med" len="med"/>
            </a:ln>
          </p:spPr>
          <p:txBody>
            <a:bodyPr wrap="none" anchor="ctr"/>
            <a:lstStyle/>
            <a:p>
              <a:endParaRPr lang="bg-BG"/>
            </a:p>
          </p:txBody>
        </p:sp>
        <p:sp>
          <p:nvSpPr>
            <p:cNvPr id="96294" name="Text Box 67"/>
            <p:cNvSpPr txBox="1">
              <a:spLocks noChangeArrowheads="1"/>
            </p:cNvSpPr>
            <p:nvPr/>
          </p:nvSpPr>
          <p:spPr bwMode="auto">
            <a:xfrm>
              <a:off x="1204" y="3290"/>
              <a:ext cx="384" cy="231"/>
            </a:xfrm>
            <a:prstGeom prst="rect">
              <a:avLst/>
            </a:prstGeom>
            <a:noFill/>
            <a:ln w="9525">
              <a:noFill/>
              <a:miter lim="800000"/>
              <a:headEnd/>
              <a:tailEnd/>
            </a:ln>
          </p:spPr>
          <p:txBody>
            <a:bodyPr>
              <a:spAutoFit/>
            </a:bodyPr>
            <a:lstStyle/>
            <a:p>
              <a:pPr algn="l">
                <a:spcBef>
                  <a:spcPct val="50000"/>
                </a:spcBef>
              </a:pPr>
              <a:r>
                <a:rPr lang="en-US" sz="1800"/>
                <a:t>647</a:t>
              </a:r>
              <a:endParaRPr lang="en-US"/>
            </a:p>
          </p:txBody>
        </p:sp>
        <p:sp>
          <p:nvSpPr>
            <p:cNvPr id="96295" name="Text Box 68"/>
            <p:cNvSpPr txBox="1">
              <a:spLocks noChangeArrowheads="1"/>
            </p:cNvSpPr>
            <p:nvPr/>
          </p:nvSpPr>
          <p:spPr bwMode="auto">
            <a:xfrm>
              <a:off x="1233" y="3046"/>
              <a:ext cx="384" cy="231"/>
            </a:xfrm>
            <a:prstGeom prst="rect">
              <a:avLst/>
            </a:prstGeom>
            <a:noFill/>
            <a:ln w="9525">
              <a:noFill/>
              <a:miter lim="800000"/>
              <a:headEnd/>
              <a:tailEnd/>
            </a:ln>
          </p:spPr>
          <p:txBody>
            <a:bodyPr>
              <a:spAutoFit/>
            </a:bodyPr>
            <a:lstStyle/>
            <a:p>
              <a:pPr algn="l">
                <a:spcBef>
                  <a:spcPct val="50000"/>
                </a:spcBef>
              </a:pPr>
              <a:r>
                <a:rPr lang="en-US" sz="1800"/>
                <a:t>567</a:t>
              </a:r>
              <a:endParaRPr lang="en-US"/>
            </a:p>
          </p:txBody>
        </p:sp>
        <p:sp>
          <p:nvSpPr>
            <p:cNvPr id="96296" name="Text Box 69"/>
            <p:cNvSpPr txBox="1">
              <a:spLocks noChangeArrowheads="1"/>
            </p:cNvSpPr>
            <p:nvPr/>
          </p:nvSpPr>
          <p:spPr bwMode="auto">
            <a:xfrm>
              <a:off x="1211" y="2326"/>
              <a:ext cx="384" cy="231"/>
            </a:xfrm>
            <a:prstGeom prst="rect">
              <a:avLst/>
            </a:prstGeom>
            <a:noFill/>
            <a:ln w="9525">
              <a:noFill/>
              <a:miter lim="800000"/>
              <a:headEnd/>
              <a:tailEnd/>
            </a:ln>
          </p:spPr>
          <p:txBody>
            <a:bodyPr>
              <a:spAutoFit/>
            </a:bodyPr>
            <a:lstStyle/>
            <a:p>
              <a:pPr algn="l">
                <a:spcBef>
                  <a:spcPct val="50000"/>
                </a:spcBef>
              </a:pPr>
              <a:r>
                <a:rPr lang="en-US" sz="1800"/>
                <a:t>234</a:t>
              </a:r>
              <a:endParaRPr lang="en-US"/>
            </a:p>
          </p:txBody>
        </p:sp>
        <p:sp>
          <p:nvSpPr>
            <p:cNvPr id="96297" name="Text Box 70"/>
            <p:cNvSpPr txBox="1">
              <a:spLocks noChangeArrowheads="1"/>
            </p:cNvSpPr>
            <p:nvPr/>
          </p:nvSpPr>
          <p:spPr bwMode="auto">
            <a:xfrm>
              <a:off x="2031" y="2326"/>
              <a:ext cx="384" cy="231"/>
            </a:xfrm>
            <a:prstGeom prst="rect">
              <a:avLst/>
            </a:prstGeom>
            <a:noFill/>
            <a:ln w="9525">
              <a:noFill/>
              <a:miter lim="800000"/>
              <a:headEnd/>
              <a:tailEnd/>
            </a:ln>
          </p:spPr>
          <p:txBody>
            <a:bodyPr>
              <a:spAutoFit/>
            </a:bodyPr>
            <a:lstStyle/>
            <a:p>
              <a:pPr algn="l">
                <a:spcBef>
                  <a:spcPct val="50000"/>
                </a:spcBef>
              </a:pPr>
              <a:r>
                <a:rPr lang="en-US" sz="1800"/>
                <a:t>235</a:t>
              </a:r>
              <a:endParaRPr lang="en-US"/>
            </a:p>
          </p:txBody>
        </p:sp>
        <p:sp>
          <p:nvSpPr>
            <p:cNvPr id="96298" name="Text Box 71"/>
            <p:cNvSpPr txBox="1">
              <a:spLocks noChangeArrowheads="1"/>
            </p:cNvSpPr>
            <p:nvPr/>
          </p:nvSpPr>
          <p:spPr bwMode="auto">
            <a:xfrm>
              <a:off x="2031" y="3046"/>
              <a:ext cx="384" cy="231"/>
            </a:xfrm>
            <a:prstGeom prst="rect">
              <a:avLst/>
            </a:prstGeom>
            <a:noFill/>
            <a:ln w="9525">
              <a:noFill/>
              <a:miter lim="800000"/>
              <a:headEnd/>
              <a:tailEnd/>
            </a:ln>
          </p:spPr>
          <p:txBody>
            <a:bodyPr>
              <a:spAutoFit/>
            </a:bodyPr>
            <a:lstStyle/>
            <a:p>
              <a:pPr algn="l">
                <a:spcBef>
                  <a:spcPct val="50000"/>
                </a:spcBef>
              </a:pPr>
              <a:r>
                <a:rPr lang="en-US" sz="1800"/>
                <a:t>534</a:t>
              </a:r>
              <a:endParaRPr lang="en-US"/>
            </a:p>
          </p:txBody>
        </p:sp>
      </p:grpSp>
      <p:sp>
        <p:nvSpPr>
          <p:cNvPr id="74" name="Slide Number Placeholder 73"/>
          <p:cNvSpPr>
            <a:spLocks noGrp="1"/>
          </p:cNvSpPr>
          <p:nvPr>
            <p:ph type="sldNum" sz="quarter" idx="12"/>
          </p:nvPr>
        </p:nvSpPr>
        <p:spPr/>
        <p:txBody>
          <a:bodyPr/>
          <a:lstStyle/>
          <a:p>
            <a:pPr>
              <a:defRPr/>
            </a:pPr>
            <a:fld id="{8321A135-F660-4430-97DC-BAA87F7AF880}" type="slidenum">
              <a:rPr lang="en-US"/>
              <a:pPr>
                <a:defRPr/>
              </a:pPr>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992560" y="620688"/>
            <a:ext cx="8151440" cy="6048672"/>
          </a:xfrm>
        </p:spPr>
        <p:txBody>
          <a:bodyPr>
            <a:normAutofit fontScale="90000"/>
          </a:bodyPr>
          <a:lstStyle/>
          <a:p>
            <a:pPr eaLnBrk="1" fontAlgn="auto" hangingPunct="1">
              <a:spcAft>
                <a:spcPts val="0"/>
              </a:spcAft>
              <a:defRPr/>
            </a:pPr>
            <a:r>
              <a:rPr lang="bg-BG" sz="2000">
                <a:solidFill>
                  <a:schemeClr val="tx1"/>
                </a:solidFill>
                <a:latin typeface="Arial" charset="0"/>
              </a:rPr>
              <a:t>Пример за създаване хеш-таблица и търсене в нея. Данните в таблицата са имена и факултетни номера на студенти от една студентска група. Ключовите стойности на елементите са факултетните номера. Възможните колизии се отстраняват чрез използване на списъците на препълванията. </a:t>
            </a:r>
            <a:r>
              <a:rPr lang="en-US" sz="2000" smtClean="0">
                <a:solidFill>
                  <a:schemeClr val="tx1"/>
                </a:solidFill>
                <a:latin typeface="Arial" charset="0"/>
              </a:rPr>
              <a:t/>
            </a:r>
            <a:br>
              <a:rPr lang="en-US" sz="2000" smtClean="0">
                <a:solidFill>
                  <a:schemeClr val="tx1"/>
                </a:solidFill>
                <a:latin typeface="Arial" charset="0"/>
              </a:rPr>
            </a:br>
            <a:r>
              <a:rPr lang="bg-BG" sz="2000">
                <a:solidFill>
                  <a:schemeClr val="tx1"/>
                </a:solidFill>
                <a:latin typeface="Arial" charset="0"/>
              </a:rPr>
              <a:t/>
            </a:r>
            <a:br>
              <a:rPr lang="bg-BG" sz="2000">
                <a:solidFill>
                  <a:schemeClr val="tx1"/>
                </a:solidFill>
                <a:latin typeface="Arial" charset="0"/>
              </a:rPr>
            </a:br>
            <a:r>
              <a:rPr lang="en-US" sz="2000">
                <a:solidFill>
                  <a:schemeClr val="tx1"/>
                </a:solidFill>
                <a:latin typeface="Courier New" pitchFamily="49" charset="-52"/>
              </a:rPr>
              <a:t>#include &lt;</a:t>
            </a:r>
            <a:r>
              <a:rPr lang="en-US" sz="2000" smtClean="0">
                <a:solidFill>
                  <a:schemeClr val="tx1"/>
                </a:solidFill>
                <a:latin typeface="Courier New" pitchFamily="49" charset="-52"/>
              </a:rPr>
              <a:t>iostream&gt;</a:t>
            </a:r>
            <a:br>
              <a:rPr lang="en-US" sz="2000" smtClean="0">
                <a:solidFill>
                  <a:schemeClr val="tx1"/>
                </a:solidFill>
                <a:latin typeface="Courier New" pitchFamily="49" charset="-52"/>
              </a:rPr>
            </a:br>
            <a:r>
              <a:rPr lang="en-US" sz="2000" smtClean="0">
                <a:solidFill>
                  <a:schemeClr val="tx1"/>
                </a:solidFill>
                <a:latin typeface="Courier New" pitchFamily="49" charset="-52"/>
              </a:rPr>
              <a:t>using namespace std;</a:t>
            </a:r>
            <a:r>
              <a:rPr lang="bg-BG" sz="2000">
                <a:solidFill>
                  <a:schemeClr val="tx1"/>
                </a:solidFill>
                <a:latin typeface="Courier New" pitchFamily="49" charset="-52"/>
              </a:rPr>
              <a:t/>
            </a:r>
            <a:br>
              <a:rPr lang="bg-BG" sz="2000">
                <a:solidFill>
                  <a:schemeClr val="tx1"/>
                </a:solidFill>
                <a:latin typeface="Courier New" pitchFamily="49" charset="-52"/>
              </a:rPr>
            </a:br>
            <a:r>
              <a:rPr lang="en-US" sz="2000" smtClean="0">
                <a:solidFill>
                  <a:schemeClr val="tx1"/>
                </a:solidFill>
                <a:latin typeface="Courier New" pitchFamily="49" charset="-52"/>
              </a:rPr>
              <a:t>const int m=31</a:t>
            </a:r>
            <a:r>
              <a:rPr lang="en-US" sz="2000">
                <a:solidFill>
                  <a:schemeClr val="tx1"/>
                </a:solidFill>
                <a:latin typeface="Courier New" pitchFamily="49" charset="-52"/>
              </a:rPr>
              <a:t>;</a:t>
            </a:r>
            <a:r>
              <a:rPr lang="bg-BG" sz="2000">
                <a:solidFill>
                  <a:schemeClr val="tx1"/>
                </a:solidFill>
                <a:latin typeface="Courier New" pitchFamily="49" charset="-52"/>
              </a:rPr>
              <a:t>		</a:t>
            </a:r>
            <a:r>
              <a:rPr lang="en-US" sz="2000" smtClean="0">
                <a:solidFill>
                  <a:schemeClr val="tx1"/>
                </a:solidFill>
                <a:latin typeface="Courier New" pitchFamily="49" charset="-52"/>
              </a:rPr>
              <a:t>  </a:t>
            </a:r>
            <a:r>
              <a:rPr lang="bg-BG" sz="2000" smtClean="0">
                <a:solidFill>
                  <a:schemeClr val="tx1"/>
                </a:solidFill>
                <a:latin typeface="Courier New" pitchFamily="49" charset="-52"/>
              </a:rPr>
              <a:t>//</a:t>
            </a:r>
            <a:r>
              <a:rPr lang="bg-BG" sz="2000">
                <a:solidFill>
                  <a:schemeClr val="tx1"/>
                </a:solidFill>
                <a:latin typeface="Courier New" pitchFamily="49" charset="-52"/>
              </a:rPr>
              <a:t>размер на хеш-таблицата 				</a:t>
            </a:r>
            <a:r>
              <a:rPr lang="en-US" sz="2000" smtClean="0">
                <a:solidFill>
                  <a:schemeClr val="tx1"/>
                </a:solidFill>
                <a:latin typeface="Courier New" pitchFamily="49" charset="-52"/>
              </a:rPr>
              <a:t>  </a:t>
            </a:r>
            <a:r>
              <a:rPr lang="bg-BG" sz="2000" smtClean="0">
                <a:solidFill>
                  <a:schemeClr val="tx1"/>
                </a:solidFill>
                <a:latin typeface="Courier New" pitchFamily="49" charset="-52"/>
              </a:rPr>
              <a:t>//(</a:t>
            </a:r>
            <a:r>
              <a:rPr lang="bg-BG" sz="2000">
                <a:solidFill>
                  <a:schemeClr val="tx1"/>
                </a:solidFill>
                <a:latin typeface="Courier New" pitchFamily="49" charset="-52"/>
              </a:rPr>
              <a:t>студентската група)</a:t>
            </a:r>
            <a:br>
              <a:rPr lang="bg-BG" sz="2000">
                <a:solidFill>
                  <a:schemeClr val="tx1"/>
                </a:solidFill>
                <a:latin typeface="Courier New" pitchFamily="49" charset="-52"/>
              </a:rPr>
            </a:br>
            <a:r>
              <a:rPr lang="en-US" sz="2000">
                <a:solidFill>
                  <a:schemeClr val="tx1"/>
                </a:solidFill>
                <a:latin typeface="Courier New" pitchFamily="49" charset="-52"/>
              </a:rPr>
              <a:t>struct ptr</a:t>
            </a:r>
            <a:br>
              <a:rPr lang="en-US" sz="2000">
                <a:solidFill>
                  <a:schemeClr val="tx1"/>
                </a:solidFill>
                <a:latin typeface="Courier New" pitchFamily="49" charset="-52"/>
              </a:rPr>
            </a:br>
            <a:r>
              <a:rPr lang="en-US" sz="2000">
                <a:solidFill>
                  <a:schemeClr val="tx1"/>
                </a:solidFill>
                <a:latin typeface="Courier New" pitchFamily="49" charset="-52"/>
              </a:rPr>
              <a:t>{char name[10]; int fn; ptr *next;} *hash[m];</a:t>
            </a:r>
            <a:r>
              <a:rPr lang="bg-BG" sz="2000">
                <a:solidFill>
                  <a:schemeClr val="tx1"/>
                </a:solidFill>
                <a:latin typeface="Courier New" pitchFamily="49" charset="-52"/>
              </a:rPr>
              <a:t> //</a:t>
            </a:r>
            <a:r>
              <a:rPr lang="bg-BG" sz="2000" smtClean="0">
                <a:solidFill>
                  <a:schemeClr val="tx1"/>
                </a:solidFill>
                <a:latin typeface="Courier New" pitchFamily="49" charset="-52"/>
              </a:rPr>
              <a:t>структура</a:t>
            </a:r>
            <a:r>
              <a:rPr lang="en-US" sz="2000" smtClean="0">
                <a:solidFill>
                  <a:schemeClr val="tx1"/>
                </a:solidFill>
                <a:latin typeface="Courier New" pitchFamily="49" charset="-52"/>
              </a:rPr>
              <a:t/>
            </a:r>
            <a:br>
              <a:rPr lang="en-US" sz="2000" smtClean="0">
                <a:solidFill>
                  <a:schemeClr val="tx1"/>
                </a:solidFill>
                <a:latin typeface="Courier New" pitchFamily="49" charset="-52"/>
              </a:rPr>
            </a:br>
            <a:r>
              <a:rPr lang="en-US" sz="2000" smtClean="0">
                <a:solidFill>
                  <a:schemeClr val="tx1"/>
                </a:solidFill>
                <a:latin typeface="Courier New" pitchFamily="49" charset="-52"/>
              </a:rPr>
              <a:t>						     </a:t>
            </a:r>
            <a:r>
              <a:rPr lang="bg-BG" sz="2000" smtClean="0">
                <a:solidFill>
                  <a:schemeClr val="tx1"/>
                </a:solidFill>
                <a:latin typeface="Courier New" pitchFamily="49" charset="-52"/>
              </a:rPr>
              <a:t>//на</a:t>
            </a:r>
            <a:r>
              <a:rPr lang="en-US" sz="2000" smtClean="0">
                <a:solidFill>
                  <a:schemeClr val="tx1"/>
                </a:solidFill>
                <a:latin typeface="Courier New" pitchFamily="49" charset="-52"/>
              </a:rPr>
              <a:t> </a:t>
            </a:r>
            <a:r>
              <a:rPr lang="bg-BG" sz="2000" smtClean="0">
                <a:solidFill>
                  <a:schemeClr val="tx1"/>
                </a:solidFill>
                <a:latin typeface="Courier New" pitchFamily="49" charset="-52"/>
              </a:rPr>
              <a:t>данните                                              </a:t>
            </a:r>
            <a:r>
              <a:rPr lang="bg-BG" sz="2000">
                <a:solidFill>
                  <a:schemeClr val="tx1"/>
                </a:solidFill>
                <a:latin typeface="Courier New" pitchFamily="49" charset="-52"/>
              </a:rPr>
              <a:t/>
            </a:r>
            <a:br>
              <a:rPr lang="bg-BG" sz="2000">
                <a:solidFill>
                  <a:schemeClr val="tx1"/>
                </a:solidFill>
                <a:latin typeface="Courier New" pitchFamily="49" charset="-52"/>
              </a:rPr>
            </a:br>
            <a:r>
              <a:rPr lang="bg-BG" sz="2000">
                <a:solidFill>
                  <a:schemeClr val="tx1"/>
                </a:solidFill>
                <a:latin typeface="Courier New" pitchFamily="49" charset="-52"/>
              </a:rPr>
              <a:t>//</a:t>
            </a:r>
            <a:r>
              <a:rPr lang="en-US" sz="2000">
                <a:solidFill>
                  <a:schemeClr val="tx1"/>
                </a:solidFill>
                <a:latin typeface="Courier New" pitchFamily="49" charset="-52"/>
              </a:rPr>
              <a:t>hash[m]</a:t>
            </a:r>
            <a:r>
              <a:rPr lang="bg-BG" sz="2000">
                <a:solidFill>
                  <a:schemeClr val="tx1"/>
                </a:solidFill>
                <a:latin typeface="Courier New" pitchFamily="49" charset="-52"/>
              </a:rPr>
              <a:t> - хеш-таблица, реализирана като масив от </a:t>
            </a:r>
            <a:br>
              <a:rPr lang="bg-BG" sz="2000">
                <a:solidFill>
                  <a:schemeClr val="tx1"/>
                </a:solidFill>
                <a:latin typeface="Courier New" pitchFamily="49" charset="-52"/>
              </a:rPr>
            </a:br>
            <a:r>
              <a:rPr lang="bg-BG" sz="2000" smtClean="0">
                <a:solidFill>
                  <a:schemeClr val="tx1"/>
                </a:solidFill>
                <a:latin typeface="Courier New" pitchFamily="49" charset="-52"/>
              </a:rPr>
              <a:t>//указатели,сочещи </a:t>
            </a:r>
            <a:r>
              <a:rPr lang="bg-BG" sz="2000">
                <a:solidFill>
                  <a:schemeClr val="tx1"/>
                </a:solidFill>
                <a:latin typeface="Courier New" pitchFamily="49" charset="-52"/>
              </a:rPr>
              <a:t>към списъците на </a:t>
            </a:r>
            <a:r>
              <a:rPr lang="bg-BG" sz="2000" smtClean="0">
                <a:solidFill>
                  <a:schemeClr val="tx1"/>
                </a:solidFill>
                <a:latin typeface="Courier New" pitchFamily="49" charset="-52"/>
              </a:rPr>
              <a:t>препълванията</a:t>
            </a:r>
            <a:r>
              <a:rPr lang="bg-BG" sz="2000">
                <a:solidFill>
                  <a:schemeClr val="tx1"/>
                </a:solidFill>
                <a:latin typeface="Courier New" pitchFamily="49" charset="-52"/>
              </a:rPr>
              <a:t/>
            </a:r>
            <a:br>
              <a:rPr lang="bg-BG" sz="2000">
                <a:solidFill>
                  <a:schemeClr val="tx1"/>
                </a:solidFill>
                <a:latin typeface="Courier New" pitchFamily="49" charset="-52"/>
              </a:rPr>
            </a:br>
            <a:r>
              <a:rPr lang="en-US" sz="2000">
                <a:solidFill>
                  <a:schemeClr val="tx1"/>
                </a:solidFill>
                <a:latin typeface="Courier New" pitchFamily="49" charset="-52"/>
              </a:rPr>
              <a:t>void init()</a:t>
            </a:r>
            <a:r>
              <a:rPr lang="bg-BG" sz="2000">
                <a:solidFill>
                  <a:schemeClr val="tx1"/>
                </a:solidFill>
                <a:latin typeface="Courier New" pitchFamily="49" charset="-52"/>
              </a:rPr>
              <a:t>		//инициализация на таблицата</a:t>
            </a:r>
            <a:br>
              <a:rPr lang="bg-BG" sz="2000">
                <a:solidFill>
                  <a:schemeClr val="tx1"/>
                </a:solidFill>
                <a:latin typeface="Courier New" pitchFamily="49" charset="-52"/>
              </a:rPr>
            </a:br>
            <a:r>
              <a:rPr lang="en-US" sz="2000">
                <a:solidFill>
                  <a:schemeClr val="tx1"/>
                </a:solidFill>
                <a:latin typeface="Courier New" pitchFamily="49" charset="-52"/>
              </a:rPr>
              <a:t>{</a:t>
            </a:r>
            <a:br>
              <a:rPr lang="en-US" sz="2000">
                <a:solidFill>
                  <a:schemeClr val="tx1"/>
                </a:solidFill>
                <a:latin typeface="Courier New" pitchFamily="49" charset="-52"/>
              </a:rPr>
            </a:br>
            <a:r>
              <a:rPr lang="en-US" sz="2000">
                <a:solidFill>
                  <a:schemeClr val="tx1"/>
                </a:solidFill>
                <a:latin typeface="Courier New" pitchFamily="49" charset="-52"/>
              </a:rPr>
              <a:t>  for (int i=0; i&lt;m; i++)</a:t>
            </a:r>
            <a:br>
              <a:rPr lang="en-US" sz="2000">
                <a:solidFill>
                  <a:schemeClr val="tx1"/>
                </a:solidFill>
                <a:latin typeface="Courier New" pitchFamily="49" charset="-52"/>
              </a:rPr>
            </a:br>
            <a:r>
              <a:rPr lang="en-US" sz="2000">
                <a:solidFill>
                  <a:schemeClr val="tx1"/>
                </a:solidFill>
                <a:latin typeface="Courier New" pitchFamily="49" charset="-52"/>
              </a:rPr>
              <a:t>   hash[i]=NULL;</a:t>
            </a:r>
            <a:br>
              <a:rPr lang="en-US" sz="2000">
                <a:solidFill>
                  <a:schemeClr val="tx1"/>
                </a:solidFill>
                <a:latin typeface="Courier New" pitchFamily="49" charset="-52"/>
              </a:rPr>
            </a:br>
            <a:r>
              <a:rPr lang="en-US" sz="2000">
                <a:solidFill>
                  <a:schemeClr val="tx1"/>
                </a:solidFill>
                <a:latin typeface="Courier New" pitchFamily="49" charset="-52"/>
              </a:rPr>
              <a:t>}</a:t>
            </a:r>
            <a:r>
              <a:rPr lang="bg-BG" sz="1800">
                <a:solidFill>
                  <a:schemeClr val="tx1"/>
                </a:solidFill>
                <a:latin typeface="Courier New" pitchFamily="49" charset="-52"/>
              </a:rPr>
              <a:t/>
            </a:r>
            <a:br>
              <a:rPr lang="bg-BG" sz="1800">
                <a:solidFill>
                  <a:schemeClr val="tx1"/>
                </a:solidFill>
                <a:latin typeface="Courier New" pitchFamily="49" charset="-52"/>
              </a:rPr>
            </a:br>
            <a:r>
              <a:rPr lang="bg-BG" sz="2000">
                <a:solidFill>
                  <a:schemeClr val="tx2">
                    <a:satMod val="130000"/>
                  </a:schemeClr>
                </a:solidFill>
                <a:latin typeface="Courier New" pitchFamily="49" charset="-52"/>
              </a:rPr>
              <a:t/>
            </a:r>
            <a:br>
              <a:rPr lang="bg-BG" sz="2000">
                <a:solidFill>
                  <a:schemeClr val="tx2">
                    <a:satMod val="130000"/>
                  </a:schemeClr>
                </a:solidFill>
                <a:latin typeface="Courier New" pitchFamily="49" charset="-52"/>
              </a:rPr>
            </a:br>
            <a:endParaRPr lang="en-US">
              <a:solidFill>
                <a:schemeClr val="tx1"/>
              </a:solidFill>
              <a:latin typeface="Courier New" pitchFamily="49" charset="-52"/>
            </a:endParaRPr>
          </a:p>
        </p:txBody>
      </p:sp>
      <p:sp>
        <p:nvSpPr>
          <p:cNvPr id="5" name="Slide Number Placeholder 4"/>
          <p:cNvSpPr>
            <a:spLocks noGrp="1"/>
          </p:cNvSpPr>
          <p:nvPr>
            <p:ph type="sldNum" sz="quarter" idx="12"/>
          </p:nvPr>
        </p:nvSpPr>
        <p:spPr/>
        <p:txBody>
          <a:bodyPr/>
          <a:lstStyle/>
          <a:p>
            <a:pPr>
              <a:defRPr/>
            </a:pPr>
            <a:fld id="{F58AD1CF-61A8-495B-9F16-12B60C89C4B4}" type="slidenum">
              <a:rPr lang="en-US"/>
              <a:pPr>
                <a:defRPr/>
              </a:pPr>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971600" y="620688"/>
            <a:ext cx="8015808" cy="5943600"/>
          </a:xfrm>
        </p:spPr>
        <p:txBody>
          <a:bodyPr>
            <a:normAutofit fontScale="90000"/>
          </a:bodyPr>
          <a:lstStyle/>
          <a:p>
            <a:pPr eaLnBrk="1" fontAlgn="auto" hangingPunct="1">
              <a:spcAft>
                <a:spcPts val="0"/>
              </a:spcAft>
              <a:defRPr/>
            </a:pPr>
            <a:r>
              <a:rPr lang="en-US" sz="2000">
                <a:solidFill>
                  <a:schemeClr val="tx1"/>
                </a:solidFill>
                <a:latin typeface="Courier New" pitchFamily="49" charset="-52"/>
              </a:rPr>
              <a:t>void create()</a:t>
            </a:r>
            <a:r>
              <a:rPr lang="bg-BG" sz="2000">
                <a:solidFill>
                  <a:schemeClr val="tx1"/>
                </a:solidFill>
                <a:latin typeface="Courier New" pitchFamily="49" charset="-52"/>
              </a:rPr>
              <a:t>	   </a:t>
            </a:r>
            <a:r>
              <a:rPr lang="en-US" sz="2000" smtClean="0">
                <a:solidFill>
                  <a:schemeClr val="tx1"/>
                </a:solidFill>
                <a:latin typeface="Courier New" pitchFamily="49" charset="-52"/>
              </a:rPr>
              <a:t>     </a:t>
            </a:r>
            <a:r>
              <a:rPr lang="bg-BG" sz="2000" smtClean="0">
                <a:solidFill>
                  <a:schemeClr val="tx1"/>
                </a:solidFill>
                <a:latin typeface="Courier New" pitchFamily="49" charset="-52"/>
              </a:rPr>
              <a:t>//</a:t>
            </a:r>
            <a:r>
              <a:rPr lang="bg-BG" sz="2000">
                <a:solidFill>
                  <a:schemeClr val="tx1"/>
                </a:solidFill>
                <a:latin typeface="Courier New" pitchFamily="49" charset="-52"/>
              </a:rPr>
              <a:t>създаване на хеш-таблицата</a:t>
            </a:r>
            <a:br>
              <a:rPr lang="bg-BG" sz="2000">
                <a:solidFill>
                  <a:schemeClr val="tx1"/>
                </a:solidFill>
                <a:latin typeface="Courier New" pitchFamily="49" charset="-52"/>
              </a:rPr>
            </a:br>
            <a:r>
              <a:rPr lang="en-US" sz="2000">
                <a:solidFill>
                  <a:schemeClr val="tx1"/>
                </a:solidFill>
                <a:latin typeface="Courier New" pitchFamily="49" charset="-52"/>
              </a:rPr>
              <a:t>{</a:t>
            </a:r>
            <a:br>
              <a:rPr lang="en-US" sz="2000">
                <a:solidFill>
                  <a:schemeClr val="tx1"/>
                </a:solidFill>
                <a:latin typeface="Courier New" pitchFamily="49" charset="-52"/>
              </a:rPr>
            </a:br>
            <a:r>
              <a:rPr lang="en-US" sz="2000">
                <a:solidFill>
                  <a:schemeClr val="tx1"/>
                </a:solidFill>
                <a:latin typeface="Courier New" pitchFamily="49" charset="-52"/>
              </a:rPr>
              <a:t>  int f, h;</a:t>
            </a:r>
            <a:br>
              <a:rPr lang="en-US" sz="2000">
                <a:solidFill>
                  <a:schemeClr val="tx1"/>
                </a:solidFill>
                <a:latin typeface="Courier New" pitchFamily="49" charset="-52"/>
              </a:rPr>
            </a:br>
            <a:r>
              <a:rPr lang="bg-BG" sz="2000">
                <a:solidFill>
                  <a:schemeClr val="tx1"/>
                </a:solidFill>
                <a:latin typeface="Courier New" pitchFamily="49" charset="-52"/>
              </a:rPr>
              <a:t> </a:t>
            </a:r>
            <a:r>
              <a:rPr lang="en-US" sz="2000">
                <a:solidFill>
                  <a:schemeClr val="tx1"/>
                </a:solidFill>
                <a:latin typeface="Courier New" pitchFamily="49" charset="-52"/>
              </a:rPr>
              <a:t>// f</a:t>
            </a:r>
            <a:r>
              <a:rPr lang="bg-BG" sz="2000">
                <a:solidFill>
                  <a:schemeClr val="tx1"/>
                </a:solidFill>
                <a:latin typeface="Courier New" pitchFamily="49" charset="-52"/>
              </a:rPr>
              <a:t> - текущ </a:t>
            </a:r>
            <a:r>
              <a:rPr lang="en-US" sz="2000">
                <a:solidFill>
                  <a:schemeClr val="tx1"/>
                </a:solidFill>
                <a:latin typeface="Courier New" pitchFamily="49" charset="-52"/>
              </a:rPr>
              <a:t>Ф.</a:t>
            </a:r>
            <a:r>
              <a:rPr lang="bg-BG" sz="2000">
                <a:solidFill>
                  <a:schemeClr val="tx1"/>
                </a:solidFill>
                <a:latin typeface="Courier New" pitchFamily="49" charset="-52"/>
              </a:rPr>
              <a:t>№, </a:t>
            </a:r>
            <a:r>
              <a:rPr lang="en-US" sz="2000">
                <a:solidFill>
                  <a:schemeClr val="tx1"/>
                </a:solidFill>
                <a:latin typeface="Courier New" pitchFamily="49" charset="-52"/>
              </a:rPr>
              <a:t>h</a:t>
            </a:r>
            <a:r>
              <a:rPr lang="bg-BG" sz="2000">
                <a:solidFill>
                  <a:schemeClr val="tx1"/>
                </a:solidFill>
                <a:latin typeface="Courier New" pitchFamily="49" charset="-52"/>
              </a:rPr>
              <a:t> - текуща стойност на хеш-функцията</a:t>
            </a:r>
            <a:br>
              <a:rPr lang="bg-BG" sz="2000">
                <a:solidFill>
                  <a:schemeClr val="tx1"/>
                </a:solidFill>
                <a:latin typeface="Courier New" pitchFamily="49" charset="-52"/>
              </a:rPr>
            </a:br>
            <a:r>
              <a:rPr lang="bg-BG" sz="2000">
                <a:solidFill>
                  <a:schemeClr val="tx1"/>
                </a:solidFill>
                <a:latin typeface="Courier New" pitchFamily="49" charset="-52"/>
              </a:rPr>
              <a:t>  </a:t>
            </a:r>
            <a:r>
              <a:rPr lang="en-US" sz="2000">
                <a:solidFill>
                  <a:schemeClr val="tx1"/>
                </a:solidFill>
                <a:latin typeface="Courier New" pitchFamily="49" charset="-52"/>
              </a:rPr>
              <a:t>cout&lt;&lt;"\nЗадайте Ф.</a:t>
            </a:r>
            <a:r>
              <a:rPr lang="bg-BG" sz="2000">
                <a:solidFill>
                  <a:schemeClr val="tx1"/>
                </a:solidFill>
                <a:latin typeface="Courier New" pitchFamily="49" charset="-52"/>
              </a:rPr>
              <a:t>№</a:t>
            </a:r>
            <a:r>
              <a:rPr lang="en-US" sz="2000">
                <a:solidFill>
                  <a:schemeClr val="tx1"/>
                </a:solidFill>
                <a:latin typeface="Courier New" pitchFamily="49" charset="-52"/>
              </a:rPr>
              <a:t>: ";</a:t>
            </a:r>
            <a:br>
              <a:rPr lang="en-US" sz="2000">
                <a:solidFill>
                  <a:schemeClr val="tx1"/>
                </a:solidFill>
                <a:latin typeface="Courier New" pitchFamily="49" charset="-52"/>
              </a:rPr>
            </a:br>
            <a:r>
              <a:rPr lang="en-US" sz="2000">
                <a:solidFill>
                  <a:schemeClr val="tx1"/>
                </a:solidFill>
                <a:latin typeface="Courier New" pitchFamily="49" charset="-52"/>
              </a:rPr>
              <a:t>  cin&gt;&gt;f;</a:t>
            </a:r>
            <a:r>
              <a:rPr lang="bg-BG" sz="2000">
                <a:solidFill>
                  <a:schemeClr val="tx1"/>
                </a:solidFill>
                <a:latin typeface="Courier New" pitchFamily="49" charset="-52"/>
              </a:rPr>
              <a:t/>
            </a:r>
            <a:br>
              <a:rPr lang="bg-BG" sz="2000">
                <a:solidFill>
                  <a:schemeClr val="tx1"/>
                </a:solidFill>
                <a:latin typeface="Courier New" pitchFamily="49" charset="-52"/>
              </a:rPr>
            </a:br>
            <a:r>
              <a:rPr lang="en-US" sz="2000">
                <a:solidFill>
                  <a:schemeClr val="tx1"/>
                </a:solidFill>
                <a:latin typeface="Courier New" pitchFamily="49" charset="-52"/>
              </a:rPr>
              <a:t>  h=f%m;</a:t>
            </a:r>
            <a:br>
              <a:rPr lang="en-US" sz="2000">
                <a:solidFill>
                  <a:schemeClr val="tx1"/>
                </a:solidFill>
                <a:latin typeface="Courier New" pitchFamily="49" charset="-52"/>
              </a:rPr>
            </a:br>
            <a:r>
              <a:rPr lang="en-US" sz="2000">
                <a:solidFill>
                  <a:schemeClr val="tx1"/>
                </a:solidFill>
                <a:latin typeface="Courier New" pitchFamily="49" charset="-52"/>
              </a:rPr>
              <a:t>  ptr *q=hash[h];</a:t>
            </a:r>
            <a:r>
              <a:rPr lang="bg-BG" sz="2000">
                <a:solidFill>
                  <a:schemeClr val="tx1"/>
                </a:solidFill>
                <a:latin typeface="Courier New" pitchFamily="49" charset="-52"/>
              </a:rPr>
              <a:t>    //работен указател</a:t>
            </a:r>
            <a:br>
              <a:rPr lang="bg-BG" sz="2000">
                <a:solidFill>
                  <a:schemeClr val="tx1"/>
                </a:solidFill>
                <a:latin typeface="Courier New" pitchFamily="49" charset="-52"/>
              </a:rPr>
            </a:br>
            <a:r>
              <a:rPr lang="en-US" sz="2000">
                <a:solidFill>
                  <a:schemeClr val="tx1"/>
                </a:solidFill>
                <a:latin typeface="Courier New" pitchFamily="49" charset="-52"/>
              </a:rPr>
              <a:t>  ptr *s=new ptr;</a:t>
            </a:r>
            <a:r>
              <a:rPr lang="bg-BG" sz="2000">
                <a:solidFill>
                  <a:schemeClr val="tx1"/>
                </a:solidFill>
                <a:latin typeface="Courier New" pitchFamily="49" charset="-52"/>
              </a:rPr>
              <a:t>    //работен указател</a:t>
            </a:r>
            <a:br>
              <a:rPr lang="bg-BG" sz="2000">
                <a:solidFill>
                  <a:schemeClr val="tx1"/>
                </a:solidFill>
                <a:latin typeface="Courier New" pitchFamily="49" charset="-52"/>
              </a:rPr>
            </a:br>
            <a:r>
              <a:rPr lang="en-US" sz="2000">
                <a:solidFill>
                  <a:schemeClr val="tx1"/>
                </a:solidFill>
                <a:latin typeface="Courier New" pitchFamily="49" charset="-52"/>
              </a:rPr>
              <a:t>  s-&gt;fn=f;</a:t>
            </a:r>
            <a:br>
              <a:rPr lang="en-US" sz="2000">
                <a:solidFill>
                  <a:schemeClr val="tx1"/>
                </a:solidFill>
                <a:latin typeface="Courier New" pitchFamily="49" charset="-52"/>
              </a:rPr>
            </a:br>
            <a:r>
              <a:rPr lang="en-US" sz="2000">
                <a:solidFill>
                  <a:schemeClr val="tx1"/>
                </a:solidFill>
                <a:latin typeface="Courier New" pitchFamily="49" charset="-52"/>
              </a:rPr>
              <a:t>  cout&lt;&lt;"\nВъведете име:</a:t>
            </a:r>
            <a:r>
              <a:rPr lang="bg-BG" sz="2000">
                <a:solidFill>
                  <a:schemeClr val="tx1"/>
                </a:solidFill>
                <a:latin typeface="Courier New" pitchFamily="49" charset="-52"/>
              </a:rPr>
              <a:t> </a:t>
            </a:r>
            <a:r>
              <a:rPr lang="en-US" sz="2000">
                <a:solidFill>
                  <a:schemeClr val="tx1"/>
                </a:solidFill>
                <a:latin typeface="Courier New" pitchFamily="49" charset="-52"/>
              </a:rPr>
              <a:t>";</a:t>
            </a:r>
            <a:br>
              <a:rPr lang="en-US" sz="2000">
                <a:solidFill>
                  <a:schemeClr val="tx1"/>
                </a:solidFill>
                <a:latin typeface="Courier New" pitchFamily="49" charset="-52"/>
              </a:rPr>
            </a:br>
            <a:r>
              <a:rPr lang="en-US" sz="2000">
                <a:solidFill>
                  <a:schemeClr val="tx1"/>
                </a:solidFill>
                <a:latin typeface="Courier New" pitchFamily="49" charset="-52"/>
              </a:rPr>
              <a:t>  cin&gt;&gt;s-&gt;name;</a:t>
            </a:r>
            <a:br>
              <a:rPr lang="en-US" sz="2000">
                <a:solidFill>
                  <a:schemeClr val="tx1"/>
                </a:solidFill>
                <a:latin typeface="Courier New" pitchFamily="49" charset="-52"/>
              </a:rPr>
            </a:br>
            <a:r>
              <a:rPr lang="en-US" sz="2000">
                <a:solidFill>
                  <a:schemeClr val="tx1"/>
                </a:solidFill>
                <a:latin typeface="Courier New" pitchFamily="49" charset="-52"/>
              </a:rPr>
              <a:t>  s-&gt;next=NULL;</a:t>
            </a:r>
            <a:br>
              <a:rPr lang="en-US" sz="2000">
                <a:solidFill>
                  <a:schemeClr val="tx1"/>
                </a:solidFill>
                <a:latin typeface="Courier New" pitchFamily="49" charset="-52"/>
              </a:rPr>
            </a:br>
            <a:r>
              <a:rPr lang="en-US" sz="2000">
                <a:solidFill>
                  <a:schemeClr val="tx1"/>
                </a:solidFill>
                <a:latin typeface="Courier New" pitchFamily="49" charset="-52"/>
              </a:rPr>
              <a:t>  if (!q)</a:t>
            </a:r>
            <a:r>
              <a:rPr lang="bg-BG" sz="2000">
                <a:solidFill>
                  <a:schemeClr val="tx1"/>
                </a:solidFill>
                <a:latin typeface="Courier New" pitchFamily="49" charset="-52"/>
              </a:rPr>
              <a:t>		  </a:t>
            </a:r>
            <a:r>
              <a:rPr lang="bg-BG" sz="2000" smtClean="0">
                <a:solidFill>
                  <a:schemeClr val="tx1"/>
                </a:solidFill>
                <a:latin typeface="Courier New" pitchFamily="49" charset="-52"/>
              </a:rPr>
              <a:t>//</a:t>
            </a:r>
            <a:r>
              <a:rPr lang="bg-BG" sz="2000">
                <a:solidFill>
                  <a:schemeClr val="tx1"/>
                </a:solidFill>
                <a:latin typeface="Courier New" pitchFamily="49" charset="-52"/>
              </a:rPr>
              <a:t>няма колизия, списъкът е празен</a:t>
            </a:r>
            <a:br>
              <a:rPr lang="bg-BG" sz="2000">
                <a:solidFill>
                  <a:schemeClr val="tx1"/>
                </a:solidFill>
                <a:latin typeface="Courier New" pitchFamily="49" charset="-52"/>
              </a:rPr>
            </a:br>
            <a:r>
              <a:rPr lang="en-US" sz="2000">
                <a:solidFill>
                  <a:schemeClr val="tx1"/>
                </a:solidFill>
                <a:latin typeface="Courier New" pitchFamily="49" charset="-52"/>
              </a:rPr>
              <a:t>       hash[h]=s;</a:t>
            </a:r>
            <a:br>
              <a:rPr lang="en-US" sz="2000">
                <a:solidFill>
                  <a:schemeClr val="tx1"/>
                </a:solidFill>
                <a:latin typeface="Courier New" pitchFamily="49" charset="-52"/>
              </a:rPr>
            </a:br>
            <a:r>
              <a:rPr lang="en-US" sz="2000">
                <a:solidFill>
                  <a:schemeClr val="tx1"/>
                </a:solidFill>
                <a:latin typeface="Courier New" pitchFamily="49" charset="-52"/>
              </a:rPr>
              <a:t>    else</a:t>
            </a:r>
            <a:r>
              <a:rPr lang="bg-BG" sz="2000">
                <a:solidFill>
                  <a:schemeClr val="tx1"/>
                </a:solidFill>
                <a:latin typeface="Courier New" pitchFamily="49" charset="-52"/>
              </a:rPr>
              <a:t>		  </a:t>
            </a:r>
            <a:r>
              <a:rPr lang="bg-BG" sz="2000" smtClean="0">
                <a:solidFill>
                  <a:schemeClr val="tx1"/>
                </a:solidFill>
                <a:latin typeface="Courier New" pitchFamily="49" charset="-52"/>
              </a:rPr>
              <a:t>//</a:t>
            </a:r>
            <a:r>
              <a:rPr lang="bg-BG" sz="2000">
                <a:solidFill>
                  <a:schemeClr val="tx1"/>
                </a:solidFill>
                <a:latin typeface="Courier New" pitchFamily="49" charset="-52"/>
              </a:rPr>
              <a:t>списъкът не е празен</a:t>
            </a:r>
            <a:br>
              <a:rPr lang="bg-BG" sz="2000">
                <a:solidFill>
                  <a:schemeClr val="tx1"/>
                </a:solidFill>
                <a:latin typeface="Courier New" pitchFamily="49" charset="-52"/>
              </a:rPr>
            </a:br>
            <a:r>
              <a:rPr lang="en-US" sz="2000">
                <a:solidFill>
                  <a:schemeClr val="tx1"/>
                </a:solidFill>
                <a:latin typeface="Courier New" pitchFamily="49" charset="-52"/>
              </a:rPr>
              <a:t>     { while (q-&gt;next)  q=q-&gt;next;</a:t>
            </a:r>
            <a:br>
              <a:rPr lang="en-US" sz="2000">
                <a:solidFill>
                  <a:schemeClr val="tx1"/>
                </a:solidFill>
                <a:latin typeface="Courier New" pitchFamily="49" charset="-52"/>
              </a:rPr>
            </a:br>
            <a:r>
              <a:rPr lang="en-US" sz="2000">
                <a:solidFill>
                  <a:schemeClr val="tx1"/>
                </a:solidFill>
                <a:latin typeface="Courier New" pitchFamily="49" charset="-52"/>
              </a:rPr>
              <a:t>       q-&gt;next=s;</a:t>
            </a:r>
            <a:br>
              <a:rPr lang="en-US" sz="2000">
                <a:solidFill>
                  <a:schemeClr val="tx1"/>
                </a:solidFill>
                <a:latin typeface="Courier New" pitchFamily="49" charset="-52"/>
              </a:rPr>
            </a:br>
            <a:r>
              <a:rPr lang="en-US" sz="2000">
                <a:solidFill>
                  <a:schemeClr val="tx1"/>
                </a:solidFill>
                <a:latin typeface="Courier New" pitchFamily="49" charset="-52"/>
              </a:rPr>
              <a:t>     }</a:t>
            </a:r>
            <a:br>
              <a:rPr lang="en-US" sz="2000">
                <a:solidFill>
                  <a:schemeClr val="tx1"/>
                </a:solidFill>
                <a:latin typeface="Courier New" pitchFamily="49" charset="-52"/>
              </a:rPr>
            </a:br>
            <a:r>
              <a:rPr lang="en-US" sz="2000">
                <a:solidFill>
                  <a:schemeClr val="tx1"/>
                </a:solidFill>
                <a:latin typeface="Courier New" pitchFamily="49" charset="-52"/>
              </a:rPr>
              <a:t>}</a:t>
            </a:r>
          </a:p>
        </p:txBody>
      </p:sp>
      <p:sp>
        <p:nvSpPr>
          <p:cNvPr id="5" name="Slide Number Placeholder 4"/>
          <p:cNvSpPr>
            <a:spLocks noGrp="1"/>
          </p:cNvSpPr>
          <p:nvPr>
            <p:ph type="sldNum" sz="quarter" idx="12"/>
          </p:nvPr>
        </p:nvSpPr>
        <p:spPr/>
        <p:txBody>
          <a:bodyPr/>
          <a:lstStyle/>
          <a:p>
            <a:pPr>
              <a:defRPr/>
            </a:pPr>
            <a:fld id="{8AA6E294-0AD0-4642-A741-39114DF87895}" type="slidenum">
              <a:rPr lang="en-US"/>
              <a:pPr>
                <a:defRPr/>
              </a:pPr>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043608" y="838200"/>
            <a:ext cx="7935416" cy="6019800"/>
          </a:xfrm>
        </p:spPr>
        <p:txBody>
          <a:bodyPr>
            <a:normAutofit fontScale="90000"/>
          </a:bodyPr>
          <a:lstStyle/>
          <a:p>
            <a:pPr eaLnBrk="1" fontAlgn="auto" hangingPunct="1">
              <a:lnSpc>
                <a:spcPct val="120000"/>
              </a:lnSpc>
              <a:spcAft>
                <a:spcPts val="0"/>
              </a:spcAft>
              <a:defRPr/>
            </a:pPr>
            <a:r>
              <a:rPr lang="en-US" sz="2000">
                <a:solidFill>
                  <a:schemeClr val="tx1"/>
                </a:solidFill>
                <a:latin typeface="Courier New" pitchFamily="49" charset="-52"/>
              </a:rPr>
              <a:t>void seek()</a:t>
            </a:r>
            <a:r>
              <a:rPr lang="bg-BG" sz="2000">
                <a:solidFill>
                  <a:schemeClr val="tx1"/>
                </a:solidFill>
                <a:latin typeface="Courier New" pitchFamily="49" charset="-52"/>
              </a:rPr>
              <a:t>	</a:t>
            </a:r>
            <a:r>
              <a:rPr lang="en-US" sz="2000" smtClean="0">
                <a:solidFill>
                  <a:schemeClr val="tx1"/>
                </a:solidFill>
                <a:latin typeface="Courier New" pitchFamily="49" charset="-52"/>
              </a:rPr>
              <a:t>      </a:t>
            </a:r>
            <a:r>
              <a:rPr lang="bg-BG" sz="2000" smtClean="0">
                <a:solidFill>
                  <a:schemeClr val="tx1"/>
                </a:solidFill>
                <a:latin typeface="Courier New" pitchFamily="49" charset="-52"/>
              </a:rPr>
              <a:t>//</a:t>
            </a:r>
            <a:r>
              <a:rPr lang="bg-BG" sz="2000">
                <a:solidFill>
                  <a:schemeClr val="tx1"/>
                </a:solidFill>
                <a:latin typeface="Courier New" pitchFamily="49" charset="-52"/>
              </a:rPr>
              <a:t>търсене в хеш-таблицата</a:t>
            </a:r>
            <a:br>
              <a:rPr lang="bg-BG" sz="2000">
                <a:solidFill>
                  <a:schemeClr val="tx1"/>
                </a:solidFill>
                <a:latin typeface="Courier New" pitchFamily="49" charset="-52"/>
              </a:rPr>
            </a:br>
            <a:r>
              <a:rPr lang="en-US" sz="2000">
                <a:solidFill>
                  <a:schemeClr val="tx1"/>
                </a:solidFill>
                <a:latin typeface="Courier New" pitchFamily="49" charset="-52"/>
              </a:rPr>
              <a:t>{</a:t>
            </a:r>
            <a:r>
              <a:rPr lang="bg-BG" sz="2000">
                <a:solidFill>
                  <a:schemeClr val="tx1"/>
                </a:solidFill>
                <a:latin typeface="Courier New" pitchFamily="49" charset="-52"/>
              </a:rPr>
              <a:t/>
            </a:r>
            <a:br>
              <a:rPr lang="bg-BG" sz="2000">
                <a:solidFill>
                  <a:schemeClr val="tx1"/>
                </a:solidFill>
                <a:latin typeface="Courier New" pitchFamily="49" charset="-52"/>
              </a:rPr>
            </a:br>
            <a:r>
              <a:rPr lang="bg-BG" sz="2000">
                <a:solidFill>
                  <a:schemeClr val="tx1"/>
                </a:solidFill>
                <a:latin typeface="Courier New" pitchFamily="49" charset="-52"/>
              </a:rPr>
              <a:t>  </a:t>
            </a:r>
            <a:r>
              <a:rPr lang="en-US" sz="2000">
                <a:solidFill>
                  <a:schemeClr val="tx1"/>
                </a:solidFill>
                <a:latin typeface="Courier New" pitchFamily="49" charset="-52"/>
              </a:rPr>
              <a:t>int fl=1;</a:t>
            </a:r>
            <a:r>
              <a:rPr lang="bg-BG" sz="2000">
                <a:solidFill>
                  <a:schemeClr val="tx1"/>
                </a:solidFill>
                <a:latin typeface="Courier New" pitchFamily="49" charset="-52"/>
              </a:rPr>
              <a:t> </a:t>
            </a:r>
            <a:r>
              <a:rPr lang="en-US" sz="2000" smtClean="0">
                <a:solidFill>
                  <a:schemeClr val="tx1"/>
                </a:solidFill>
                <a:latin typeface="Courier New" pitchFamily="49" charset="-52"/>
              </a:rPr>
              <a:t>        </a:t>
            </a:r>
            <a:r>
              <a:rPr lang="bg-BG" sz="2000" smtClean="0">
                <a:solidFill>
                  <a:schemeClr val="tx1"/>
                </a:solidFill>
                <a:latin typeface="Courier New" pitchFamily="49" charset="-52"/>
              </a:rPr>
              <a:t>//</a:t>
            </a:r>
            <a:r>
              <a:rPr lang="bg-BG" sz="2000">
                <a:solidFill>
                  <a:schemeClr val="tx1"/>
                </a:solidFill>
                <a:latin typeface="Courier New" pitchFamily="49" charset="-52"/>
              </a:rPr>
              <a:t>флаг</a:t>
            </a:r>
            <a:br>
              <a:rPr lang="bg-BG" sz="2000">
                <a:solidFill>
                  <a:schemeClr val="tx1"/>
                </a:solidFill>
                <a:latin typeface="Courier New" pitchFamily="49" charset="-52"/>
              </a:rPr>
            </a:br>
            <a:r>
              <a:rPr lang="en-US" sz="2000">
                <a:solidFill>
                  <a:schemeClr val="tx1"/>
                </a:solidFill>
                <a:latin typeface="Courier New" pitchFamily="49" charset="-52"/>
              </a:rPr>
              <a:t>  int f, h;</a:t>
            </a:r>
            <a:br>
              <a:rPr lang="en-US" sz="2000">
                <a:solidFill>
                  <a:schemeClr val="tx1"/>
                </a:solidFill>
                <a:latin typeface="Courier New" pitchFamily="49" charset="-52"/>
              </a:rPr>
            </a:br>
            <a:r>
              <a:rPr lang="en-US" sz="2000">
                <a:solidFill>
                  <a:schemeClr val="tx1"/>
                </a:solidFill>
                <a:latin typeface="Courier New" pitchFamily="49" charset="-52"/>
              </a:rPr>
              <a:t>  cout&lt;&lt;"\nЗадайте търсения Ф.</a:t>
            </a:r>
            <a:r>
              <a:rPr lang="bg-BG" sz="2000">
                <a:solidFill>
                  <a:schemeClr val="tx1"/>
                </a:solidFill>
                <a:latin typeface="Courier New" pitchFamily="49" charset="-52"/>
              </a:rPr>
              <a:t>№</a:t>
            </a:r>
            <a:r>
              <a:rPr lang="en-US" sz="2000">
                <a:solidFill>
                  <a:schemeClr val="tx1"/>
                </a:solidFill>
                <a:latin typeface="Courier New" pitchFamily="49" charset="-52"/>
              </a:rPr>
              <a:t>:";</a:t>
            </a:r>
            <a:br>
              <a:rPr lang="en-US" sz="2000">
                <a:solidFill>
                  <a:schemeClr val="tx1"/>
                </a:solidFill>
                <a:latin typeface="Courier New" pitchFamily="49" charset="-52"/>
              </a:rPr>
            </a:br>
            <a:r>
              <a:rPr lang="en-US" sz="2000">
                <a:solidFill>
                  <a:schemeClr val="tx1"/>
                </a:solidFill>
                <a:latin typeface="Courier New" pitchFamily="49" charset="-52"/>
              </a:rPr>
              <a:t>  cin&gt;&gt;f;</a:t>
            </a:r>
            <a:br>
              <a:rPr lang="en-US" sz="2000">
                <a:solidFill>
                  <a:schemeClr val="tx1"/>
                </a:solidFill>
                <a:latin typeface="Courier New" pitchFamily="49" charset="-52"/>
              </a:rPr>
            </a:br>
            <a:r>
              <a:rPr lang="en-US" sz="2000">
                <a:solidFill>
                  <a:schemeClr val="tx1"/>
                </a:solidFill>
                <a:latin typeface="Courier New" pitchFamily="49" charset="-52"/>
              </a:rPr>
              <a:t>  h=f % m;</a:t>
            </a:r>
            <a:r>
              <a:rPr lang="bg-BG" sz="2000">
                <a:solidFill>
                  <a:schemeClr val="tx1"/>
                </a:solidFill>
                <a:latin typeface="Courier New" pitchFamily="49" charset="-52"/>
              </a:rPr>
              <a:t>		//изчисляване на хеш-функцията</a:t>
            </a:r>
            <a:br>
              <a:rPr lang="bg-BG" sz="2000">
                <a:solidFill>
                  <a:schemeClr val="tx1"/>
                </a:solidFill>
                <a:latin typeface="Courier New" pitchFamily="49" charset="-52"/>
              </a:rPr>
            </a:br>
            <a:r>
              <a:rPr lang="en-US" sz="2000">
                <a:solidFill>
                  <a:schemeClr val="tx1"/>
                </a:solidFill>
                <a:latin typeface="Courier New" pitchFamily="49" charset="-52"/>
              </a:rPr>
              <a:t>  ptr *q=hash[h];</a:t>
            </a:r>
            <a:br>
              <a:rPr lang="en-US" sz="2000">
                <a:solidFill>
                  <a:schemeClr val="tx1"/>
                </a:solidFill>
                <a:latin typeface="Courier New" pitchFamily="49" charset="-52"/>
              </a:rPr>
            </a:br>
            <a:r>
              <a:rPr lang="en-US" sz="2000">
                <a:solidFill>
                  <a:schemeClr val="tx1"/>
                </a:solidFill>
                <a:latin typeface="Courier New" pitchFamily="49" charset="-52"/>
              </a:rPr>
              <a:t>  while (q&amp;&amp;fl)</a:t>
            </a:r>
            <a:br>
              <a:rPr lang="en-US" sz="2000">
                <a:solidFill>
                  <a:schemeClr val="tx1"/>
                </a:solidFill>
                <a:latin typeface="Courier New" pitchFamily="49" charset="-52"/>
              </a:rPr>
            </a:br>
            <a:r>
              <a:rPr lang="en-US" sz="2000">
                <a:solidFill>
                  <a:schemeClr val="tx1"/>
                </a:solidFill>
                <a:latin typeface="Courier New" pitchFamily="49" charset="-52"/>
              </a:rPr>
              <a:t>     if (q-&gt;fn==f)</a:t>
            </a:r>
            <a:br>
              <a:rPr lang="en-US" sz="2000">
                <a:solidFill>
                  <a:schemeClr val="tx1"/>
                </a:solidFill>
                <a:latin typeface="Courier New" pitchFamily="49" charset="-52"/>
              </a:rPr>
            </a:br>
            <a:r>
              <a:rPr lang="en-US" sz="2000">
                <a:solidFill>
                  <a:schemeClr val="tx1"/>
                </a:solidFill>
                <a:latin typeface="Courier New" pitchFamily="49" charset="-52"/>
              </a:rPr>
              <a:t>       {fl=0; cout&lt;&lt;q-&gt;name&lt;&lt;"  "&lt;&lt;q-&gt;fn;}</a:t>
            </a:r>
            <a:br>
              <a:rPr lang="en-US" sz="2000">
                <a:solidFill>
                  <a:schemeClr val="tx1"/>
                </a:solidFill>
                <a:latin typeface="Courier New" pitchFamily="49" charset="-52"/>
              </a:rPr>
            </a:br>
            <a:r>
              <a:rPr lang="en-US" sz="2000">
                <a:solidFill>
                  <a:schemeClr val="tx1"/>
                </a:solidFill>
                <a:latin typeface="Courier New" pitchFamily="49" charset="-52"/>
              </a:rPr>
              <a:t>      else q=q-&gt;next;</a:t>
            </a:r>
            <a:br>
              <a:rPr lang="en-US" sz="2000">
                <a:solidFill>
                  <a:schemeClr val="tx1"/>
                </a:solidFill>
                <a:latin typeface="Courier New" pitchFamily="49" charset="-52"/>
              </a:rPr>
            </a:br>
            <a:r>
              <a:rPr lang="en-US" sz="2000">
                <a:solidFill>
                  <a:schemeClr val="tx1"/>
                </a:solidFill>
                <a:latin typeface="Courier New" pitchFamily="49" charset="-52"/>
              </a:rPr>
              <a:t>  if (fl)</a:t>
            </a:r>
            <a:br>
              <a:rPr lang="en-US" sz="2000">
                <a:solidFill>
                  <a:schemeClr val="tx1"/>
                </a:solidFill>
                <a:latin typeface="Courier New" pitchFamily="49" charset="-52"/>
              </a:rPr>
            </a:br>
            <a:r>
              <a:rPr lang="en-US" sz="2000">
                <a:solidFill>
                  <a:schemeClr val="tx1"/>
                </a:solidFill>
                <a:latin typeface="Courier New" pitchFamily="49" charset="-52"/>
              </a:rPr>
              <a:t>     cout&lt;&lt;"\n</a:t>
            </a:r>
            <a:r>
              <a:rPr lang="bg-BG" sz="2000">
                <a:solidFill>
                  <a:schemeClr val="tx1"/>
                </a:solidFill>
                <a:latin typeface="Courier New" pitchFamily="49" charset="-52"/>
              </a:rPr>
              <a:t>В групата няма студент с </a:t>
            </a:r>
            <a:r>
              <a:rPr lang="en-US" sz="2000">
                <a:solidFill>
                  <a:schemeClr val="tx1"/>
                </a:solidFill>
                <a:latin typeface="Courier New" pitchFamily="49" charset="-52"/>
              </a:rPr>
              <a:t>Ф.</a:t>
            </a:r>
            <a:r>
              <a:rPr lang="bg-BG" sz="2000">
                <a:solidFill>
                  <a:schemeClr val="tx1"/>
                </a:solidFill>
                <a:latin typeface="Courier New" pitchFamily="49" charset="-52"/>
              </a:rPr>
              <a:t>№ </a:t>
            </a:r>
            <a:r>
              <a:rPr lang="en-US" sz="2000">
                <a:solidFill>
                  <a:schemeClr val="tx1"/>
                </a:solidFill>
                <a:latin typeface="Courier New" pitchFamily="49" charset="-52"/>
              </a:rPr>
              <a:t>"&lt;&lt;f&lt;&lt;"!";</a:t>
            </a:r>
            <a:br>
              <a:rPr lang="en-US" sz="2000">
                <a:solidFill>
                  <a:schemeClr val="tx1"/>
                </a:solidFill>
                <a:latin typeface="Courier New" pitchFamily="49" charset="-52"/>
              </a:rPr>
            </a:br>
            <a:r>
              <a:rPr lang="en-US" sz="2000">
                <a:solidFill>
                  <a:schemeClr val="tx1"/>
                </a:solidFill>
                <a:latin typeface="Courier New" pitchFamily="49" charset="-52"/>
              </a:rPr>
              <a:t>}</a:t>
            </a:r>
            <a:r>
              <a:rPr lang="bg-BG" sz="2000">
                <a:solidFill>
                  <a:schemeClr val="tx2">
                    <a:satMod val="130000"/>
                  </a:schemeClr>
                </a:solidFill>
                <a:latin typeface="Courier New" pitchFamily="49" charset="-52"/>
              </a:rPr>
              <a:t/>
            </a:r>
            <a:br>
              <a:rPr lang="bg-BG" sz="2000">
                <a:solidFill>
                  <a:schemeClr val="tx2">
                    <a:satMod val="130000"/>
                  </a:schemeClr>
                </a:solidFill>
                <a:latin typeface="Courier New" pitchFamily="49" charset="-52"/>
              </a:rPr>
            </a:br>
            <a:endParaRPr lang="en-US">
              <a:solidFill>
                <a:schemeClr val="tx2">
                  <a:satMod val="130000"/>
                </a:schemeClr>
              </a:solidFill>
              <a:latin typeface="Courier New" pitchFamily="49" charset="-52"/>
            </a:endParaRPr>
          </a:p>
        </p:txBody>
      </p:sp>
      <p:sp>
        <p:nvSpPr>
          <p:cNvPr id="5" name="Slide Number Placeholder 4"/>
          <p:cNvSpPr>
            <a:spLocks noGrp="1"/>
          </p:cNvSpPr>
          <p:nvPr>
            <p:ph type="sldNum" sz="quarter" idx="12"/>
          </p:nvPr>
        </p:nvSpPr>
        <p:spPr/>
        <p:txBody>
          <a:bodyPr/>
          <a:lstStyle/>
          <a:p>
            <a:pPr>
              <a:defRPr/>
            </a:pPr>
            <a:fld id="{7B51DF90-3A02-496D-A58D-2DF6849561B4}" type="slidenum">
              <a:rPr lang="en-US"/>
              <a:pPr>
                <a:defRPr/>
              </a:pPr>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965200" y="609600"/>
            <a:ext cx="8596064" cy="5867400"/>
          </a:xfrm>
        </p:spPr>
        <p:txBody>
          <a:bodyPr>
            <a:normAutofit fontScale="90000"/>
          </a:bodyPr>
          <a:lstStyle/>
          <a:p>
            <a:pPr eaLnBrk="1" fontAlgn="auto" hangingPunct="1">
              <a:spcAft>
                <a:spcPts val="0"/>
              </a:spcAft>
              <a:defRPr/>
            </a:pPr>
            <a:r>
              <a:rPr lang="en-US" sz="2000">
                <a:solidFill>
                  <a:schemeClr val="tx1"/>
                </a:solidFill>
                <a:latin typeface="Courier New" pitchFamily="49" charset="-52"/>
              </a:rPr>
              <a:t>void main()</a:t>
            </a:r>
            <a:br>
              <a:rPr lang="en-US" sz="2000">
                <a:solidFill>
                  <a:schemeClr val="tx1"/>
                </a:solidFill>
                <a:latin typeface="Courier New" pitchFamily="49" charset="-52"/>
              </a:rPr>
            </a:br>
            <a:r>
              <a:rPr lang="en-US" sz="2000">
                <a:solidFill>
                  <a:schemeClr val="tx1"/>
                </a:solidFill>
                <a:latin typeface="Courier New" pitchFamily="49" charset="-52"/>
              </a:rPr>
              <a:t>{init();</a:t>
            </a:r>
            <a:r>
              <a:rPr lang="bg-BG" sz="2000">
                <a:solidFill>
                  <a:schemeClr val="tx1"/>
                </a:solidFill>
                <a:latin typeface="Courier New" pitchFamily="49" charset="-52"/>
              </a:rPr>
              <a:t>		//инициализация</a:t>
            </a:r>
            <a:br>
              <a:rPr lang="bg-BG" sz="2000">
                <a:solidFill>
                  <a:schemeClr val="tx1"/>
                </a:solidFill>
                <a:latin typeface="Courier New" pitchFamily="49" charset="-52"/>
              </a:rPr>
            </a:br>
            <a:r>
              <a:rPr lang="en-US" sz="2000">
                <a:solidFill>
                  <a:schemeClr val="tx1"/>
                </a:solidFill>
                <a:latin typeface="Courier New" pitchFamily="49" charset="-52"/>
              </a:rPr>
              <a:t> char c;</a:t>
            </a:r>
            <a:r>
              <a:rPr lang="bg-BG" sz="2000">
                <a:solidFill>
                  <a:schemeClr val="tx1"/>
                </a:solidFill>
                <a:latin typeface="Courier New" pitchFamily="49" charset="-52"/>
              </a:rPr>
              <a:t>		//работна променлива</a:t>
            </a:r>
            <a:br>
              <a:rPr lang="bg-BG" sz="2000">
                <a:solidFill>
                  <a:schemeClr val="tx1"/>
                </a:solidFill>
                <a:latin typeface="Courier New" pitchFamily="49" charset="-52"/>
              </a:rPr>
            </a:br>
            <a:r>
              <a:rPr lang="en-US" sz="2000">
                <a:solidFill>
                  <a:schemeClr val="tx1"/>
                </a:solidFill>
                <a:latin typeface="Courier New" pitchFamily="49" charset="-52"/>
              </a:rPr>
              <a:t> do</a:t>
            </a:r>
            <a:br>
              <a:rPr lang="en-US" sz="2000">
                <a:solidFill>
                  <a:schemeClr val="tx1"/>
                </a:solidFill>
                <a:latin typeface="Courier New" pitchFamily="49" charset="-52"/>
              </a:rPr>
            </a:br>
            <a:r>
              <a:rPr lang="en-US" sz="2000">
                <a:solidFill>
                  <a:schemeClr val="tx1"/>
                </a:solidFill>
                <a:latin typeface="Courier New" pitchFamily="49" charset="-52"/>
              </a:rPr>
              <a:t> {</a:t>
            </a:r>
            <a:br>
              <a:rPr lang="en-US" sz="2000">
                <a:solidFill>
                  <a:schemeClr val="tx1"/>
                </a:solidFill>
                <a:latin typeface="Courier New" pitchFamily="49" charset="-52"/>
              </a:rPr>
            </a:br>
            <a:r>
              <a:rPr lang="en-US" sz="2000">
                <a:solidFill>
                  <a:schemeClr val="tx1"/>
                </a:solidFill>
                <a:latin typeface="Courier New" pitchFamily="49" charset="-52"/>
              </a:rPr>
              <a:t>   create();</a:t>
            </a:r>
            <a:r>
              <a:rPr lang="bg-BG" sz="2000">
                <a:solidFill>
                  <a:schemeClr val="tx1"/>
                </a:solidFill>
                <a:latin typeface="Courier New" pitchFamily="49" charset="-52"/>
              </a:rPr>
              <a:t>	//добавяне на елемент в таблицата</a:t>
            </a:r>
            <a:br>
              <a:rPr lang="bg-BG" sz="2000">
                <a:solidFill>
                  <a:schemeClr val="tx1"/>
                </a:solidFill>
                <a:latin typeface="Courier New" pitchFamily="49" charset="-52"/>
              </a:rPr>
            </a:br>
            <a:r>
              <a:rPr lang="en-US" sz="2000">
                <a:solidFill>
                  <a:schemeClr val="tx1"/>
                </a:solidFill>
                <a:latin typeface="Courier New" pitchFamily="49" charset="-52"/>
              </a:rPr>
              <a:t>   cout&lt;&lt;"</a:t>
            </a:r>
            <a:r>
              <a:rPr lang="bg-BG" sz="2000">
                <a:solidFill>
                  <a:schemeClr val="tx1"/>
                </a:solidFill>
                <a:latin typeface="Courier New" pitchFamily="49" charset="-52"/>
              </a:rPr>
              <a:t>Ще добавяте ли друг студент</a:t>
            </a:r>
            <a:r>
              <a:rPr lang="en-US" sz="2000">
                <a:solidFill>
                  <a:schemeClr val="tx1"/>
                </a:solidFill>
                <a:latin typeface="Courier New" pitchFamily="49" charset="-52"/>
              </a:rPr>
              <a:t> (Y/N):";</a:t>
            </a:r>
            <a:br>
              <a:rPr lang="en-US" sz="2000">
                <a:solidFill>
                  <a:schemeClr val="tx1"/>
                </a:solidFill>
                <a:latin typeface="Courier New" pitchFamily="49" charset="-52"/>
              </a:rPr>
            </a:br>
            <a:r>
              <a:rPr lang="en-US" sz="2000">
                <a:solidFill>
                  <a:schemeClr val="tx1"/>
                </a:solidFill>
                <a:latin typeface="Courier New" pitchFamily="49" charset="-52"/>
              </a:rPr>
              <a:t>   cin&gt;&gt;c;</a:t>
            </a:r>
            <a:br>
              <a:rPr lang="en-US" sz="2000">
                <a:solidFill>
                  <a:schemeClr val="tx1"/>
                </a:solidFill>
                <a:latin typeface="Courier New" pitchFamily="49" charset="-52"/>
              </a:rPr>
            </a:br>
            <a:r>
              <a:rPr lang="en-US" sz="2000">
                <a:solidFill>
                  <a:schemeClr val="tx1"/>
                </a:solidFill>
                <a:latin typeface="Courier New" pitchFamily="49" charset="-52"/>
              </a:rPr>
              <a:t> }</a:t>
            </a:r>
            <a:br>
              <a:rPr lang="en-US" sz="2000">
                <a:solidFill>
                  <a:schemeClr val="tx1"/>
                </a:solidFill>
                <a:latin typeface="Courier New" pitchFamily="49" charset="-52"/>
              </a:rPr>
            </a:br>
            <a:r>
              <a:rPr lang="en-US" sz="2000">
                <a:solidFill>
                  <a:schemeClr val="tx1"/>
                </a:solidFill>
                <a:latin typeface="Courier New" pitchFamily="49" charset="-52"/>
              </a:rPr>
              <a:t> while (c!='N'&amp;&amp;c!='n');</a:t>
            </a:r>
            <a:br>
              <a:rPr lang="en-US" sz="2000">
                <a:solidFill>
                  <a:schemeClr val="tx1"/>
                </a:solidFill>
                <a:latin typeface="Courier New" pitchFamily="49" charset="-52"/>
              </a:rPr>
            </a:br>
            <a:r>
              <a:rPr lang="en-US" sz="2000">
                <a:solidFill>
                  <a:schemeClr val="tx1"/>
                </a:solidFill>
                <a:latin typeface="Courier New" pitchFamily="49" charset="-52"/>
              </a:rPr>
              <a:t> do</a:t>
            </a:r>
            <a:br>
              <a:rPr lang="en-US" sz="2000">
                <a:solidFill>
                  <a:schemeClr val="tx1"/>
                </a:solidFill>
                <a:latin typeface="Courier New" pitchFamily="49" charset="-52"/>
              </a:rPr>
            </a:br>
            <a:r>
              <a:rPr lang="en-US" sz="2000">
                <a:solidFill>
                  <a:schemeClr val="tx1"/>
                </a:solidFill>
                <a:latin typeface="Courier New" pitchFamily="49" charset="-52"/>
              </a:rPr>
              <a:t> {</a:t>
            </a:r>
            <a:br>
              <a:rPr lang="en-US" sz="2000">
                <a:solidFill>
                  <a:schemeClr val="tx1"/>
                </a:solidFill>
                <a:latin typeface="Courier New" pitchFamily="49" charset="-52"/>
              </a:rPr>
            </a:br>
            <a:r>
              <a:rPr lang="en-US" sz="2000">
                <a:solidFill>
                  <a:schemeClr val="tx1"/>
                </a:solidFill>
                <a:latin typeface="Courier New" pitchFamily="49" charset="-52"/>
              </a:rPr>
              <a:t>   seek();</a:t>
            </a:r>
            <a:br>
              <a:rPr lang="en-US" sz="2000">
                <a:solidFill>
                  <a:schemeClr val="tx1"/>
                </a:solidFill>
                <a:latin typeface="Courier New" pitchFamily="49" charset="-52"/>
              </a:rPr>
            </a:br>
            <a:r>
              <a:rPr lang="en-US" sz="2000">
                <a:solidFill>
                  <a:schemeClr val="tx1"/>
                </a:solidFill>
                <a:latin typeface="Courier New" pitchFamily="49" charset="-52"/>
              </a:rPr>
              <a:t>   cout&lt;&lt;"\nИскате ли да потърсете друг студент (Y/N):";</a:t>
            </a:r>
            <a:br>
              <a:rPr lang="en-US" sz="2000">
                <a:solidFill>
                  <a:schemeClr val="tx1"/>
                </a:solidFill>
                <a:latin typeface="Courier New" pitchFamily="49" charset="-52"/>
              </a:rPr>
            </a:br>
            <a:r>
              <a:rPr lang="en-US" sz="2000">
                <a:solidFill>
                  <a:schemeClr val="tx1"/>
                </a:solidFill>
                <a:latin typeface="Courier New" pitchFamily="49" charset="-52"/>
              </a:rPr>
              <a:t>   cin&gt;&gt;c;</a:t>
            </a:r>
            <a:br>
              <a:rPr lang="en-US" sz="2000">
                <a:solidFill>
                  <a:schemeClr val="tx1"/>
                </a:solidFill>
                <a:latin typeface="Courier New" pitchFamily="49" charset="-52"/>
              </a:rPr>
            </a:br>
            <a:r>
              <a:rPr lang="en-US" sz="2000">
                <a:solidFill>
                  <a:schemeClr val="tx1"/>
                </a:solidFill>
                <a:latin typeface="Courier New" pitchFamily="49" charset="-52"/>
              </a:rPr>
              <a:t> }</a:t>
            </a:r>
            <a:br>
              <a:rPr lang="en-US" sz="2000">
                <a:solidFill>
                  <a:schemeClr val="tx1"/>
                </a:solidFill>
                <a:latin typeface="Courier New" pitchFamily="49" charset="-52"/>
              </a:rPr>
            </a:br>
            <a:r>
              <a:rPr lang="en-US" sz="2000">
                <a:solidFill>
                  <a:schemeClr val="tx1"/>
                </a:solidFill>
                <a:latin typeface="Courier New" pitchFamily="49" charset="-52"/>
              </a:rPr>
              <a:t> while (c!='N'&amp;&amp;c!='n');</a:t>
            </a:r>
            <a:br>
              <a:rPr lang="en-US" sz="2000">
                <a:solidFill>
                  <a:schemeClr val="tx1"/>
                </a:solidFill>
                <a:latin typeface="Courier New" pitchFamily="49" charset="-52"/>
              </a:rPr>
            </a:br>
            <a:r>
              <a:rPr lang="en-US" sz="2000">
                <a:solidFill>
                  <a:schemeClr val="tx1"/>
                </a:solidFill>
                <a:latin typeface="Courier New" pitchFamily="49" charset="-52"/>
              </a:rPr>
              <a:t>}</a:t>
            </a:r>
            <a:endParaRPr lang="en-US">
              <a:solidFill>
                <a:schemeClr val="tx1"/>
              </a:solidFill>
              <a:latin typeface="Courier New" pitchFamily="49" charset="-52"/>
            </a:endParaRPr>
          </a:p>
        </p:txBody>
      </p:sp>
      <p:sp>
        <p:nvSpPr>
          <p:cNvPr id="5" name="Slide Number Placeholder 4"/>
          <p:cNvSpPr>
            <a:spLocks noGrp="1"/>
          </p:cNvSpPr>
          <p:nvPr>
            <p:ph type="sldNum" sz="quarter" idx="12"/>
          </p:nvPr>
        </p:nvSpPr>
        <p:spPr/>
        <p:txBody>
          <a:bodyPr/>
          <a:lstStyle/>
          <a:p>
            <a:pPr>
              <a:defRPr/>
            </a:pPr>
            <a:fld id="{2B5CA41E-E782-48DA-A6D7-2E31ECAF9702}" type="slidenum">
              <a:rPr lang="en-US"/>
              <a:pPr>
                <a:defRPr/>
              </a:pPr>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1064568" y="692696"/>
            <a:ext cx="8079432" cy="5715000"/>
          </a:xfrm>
        </p:spPr>
        <p:txBody>
          <a:bodyPr>
            <a:normAutofit fontScale="90000"/>
          </a:bodyPr>
          <a:lstStyle/>
          <a:p>
            <a:pPr eaLnBrk="1" fontAlgn="auto" hangingPunct="1">
              <a:lnSpc>
                <a:spcPct val="90000"/>
              </a:lnSpc>
              <a:spcAft>
                <a:spcPts val="0"/>
              </a:spcAft>
              <a:defRPr/>
            </a:pPr>
            <a:r>
              <a:rPr lang="bg-BG" sz="2400" u="sng">
                <a:solidFill>
                  <a:schemeClr val="tx1"/>
                </a:solidFill>
              </a:rPr>
              <a:t>Заключение:</a:t>
            </a: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200">
                <a:solidFill>
                  <a:schemeClr val="tx1"/>
                </a:solidFill>
              </a:rPr>
              <a:t>	Съотношението между броя ключовете, записани в хеш-таблицата, и нейния размер се нарича </a:t>
            </a:r>
            <a:r>
              <a:rPr lang="bg-BG" sz="2200" i="1">
                <a:solidFill>
                  <a:schemeClr val="tx1"/>
                </a:solidFill>
              </a:rPr>
              <a:t>фактор на запълване</a:t>
            </a:r>
            <a:r>
              <a:rPr lang="bg-BG" sz="2200">
                <a:solidFill>
                  <a:schemeClr val="tx1"/>
                </a:solidFill>
              </a:rPr>
              <a:t> (или на </a:t>
            </a:r>
            <a:r>
              <a:rPr lang="bg-BG" sz="2200" i="1">
                <a:solidFill>
                  <a:schemeClr val="tx1"/>
                </a:solidFill>
              </a:rPr>
              <a:t>натоварване</a:t>
            </a:r>
            <a:r>
              <a:rPr lang="bg-BG" sz="2200">
                <a:solidFill>
                  <a:schemeClr val="tx1"/>
                </a:solidFill>
              </a:rPr>
              <a:t>). </a:t>
            </a:r>
            <a:br>
              <a:rPr lang="bg-BG" sz="2200">
                <a:solidFill>
                  <a:schemeClr val="tx1"/>
                </a:solidFill>
              </a:rPr>
            </a:br>
            <a:r>
              <a:rPr lang="bg-BG" sz="2200">
                <a:solidFill>
                  <a:schemeClr val="tx1"/>
                </a:solidFill>
              </a:rPr>
              <a:t>	При отвореното хеширане факторът трябва да има стойност, близка до 1 (може и по-голяма от 1).</a:t>
            </a:r>
            <a:br>
              <a:rPr lang="bg-BG" sz="2200">
                <a:solidFill>
                  <a:schemeClr val="tx1"/>
                </a:solidFill>
              </a:rPr>
            </a:br>
            <a:r>
              <a:rPr lang="bg-BG" sz="2200">
                <a:solidFill>
                  <a:schemeClr val="tx1"/>
                </a:solidFill>
              </a:rPr>
              <a:t>	При затвореното хеширане факторът на запълване не трябва да надвишава 1/2.</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	Къде се прилага хеширането?</a:t>
            </a:r>
            <a:br>
              <a:rPr lang="bg-BG" sz="2200">
                <a:solidFill>
                  <a:schemeClr val="tx1"/>
                </a:solidFill>
              </a:rPr>
            </a:br>
            <a:r>
              <a:rPr lang="bg-BG" sz="2200">
                <a:solidFill>
                  <a:schemeClr val="tx1"/>
                </a:solidFill>
              </a:rPr>
              <a:t>	Навсякъде, където се извършва търсене и запис на данни, когато е от значение времето, необходимо за реализация на тези две операции.</a:t>
            </a:r>
            <a:br>
              <a:rPr lang="bg-BG" sz="2200">
                <a:solidFill>
                  <a:schemeClr val="tx1"/>
                </a:solidFill>
              </a:rPr>
            </a:br>
            <a:r>
              <a:rPr lang="bg-BG" sz="2200">
                <a:solidFill>
                  <a:schemeClr val="tx1"/>
                </a:solidFill>
              </a:rPr>
              <a:t>Например:</a:t>
            </a:r>
            <a:br>
              <a:rPr lang="bg-BG" sz="2200">
                <a:solidFill>
                  <a:schemeClr val="tx1"/>
                </a:solidFill>
              </a:rPr>
            </a:br>
            <a:r>
              <a:rPr lang="bg-BG" sz="2200">
                <a:solidFill>
                  <a:schemeClr val="tx1"/>
                </a:solidFill>
              </a:rPr>
              <a:t>	- при компилаторите (в т.н. символна таблица, за да се съхраняват в нея идентификатори в изходния код на компилираната програма;</a:t>
            </a:r>
            <a:br>
              <a:rPr lang="bg-BG" sz="2200">
                <a:solidFill>
                  <a:schemeClr val="tx1"/>
                </a:solidFill>
              </a:rPr>
            </a:br>
            <a:r>
              <a:rPr lang="bg-BG" sz="2200">
                <a:solidFill>
                  <a:schemeClr val="tx1"/>
                </a:solidFill>
              </a:rPr>
              <a:t>	- в програмите за игри - в т.н. транспозиционни таблици;</a:t>
            </a:r>
            <a:br>
              <a:rPr lang="bg-BG" sz="2200">
                <a:solidFill>
                  <a:schemeClr val="tx1"/>
                </a:solidFill>
              </a:rPr>
            </a:br>
            <a:r>
              <a:rPr lang="bg-BG" sz="2200">
                <a:solidFill>
                  <a:schemeClr val="tx1"/>
                </a:solidFill>
              </a:rPr>
              <a:t>	- в програмите за проверка на правописа - при търсене на думите в речник</a:t>
            </a:r>
            <a:r>
              <a:rPr lang="bg-BG" sz="2200">
                <a:solidFill>
                  <a:schemeClr val="tx2">
                    <a:satMod val="130000"/>
                  </a:schemeClr>
                </a:solidFill>
              </a:rPr>
              <a:t/>
            </a:r>
            <a:br>
              <a:rPr lang="bg-BG" sz="2200">
                <a:solidFill>
                  <a:schemeClr val="tx2">
                    <a:satMod val="130000"/>
                  </a:schemeClr>
                </a:solidFill>
              </a:rPr>
            </a:br>
            <a:endParaRPr lang="en-US" sz="2200">
              <a:solidFill>
                <a:schemeClr val="tx2">
                  <a:satMod val="130000"/>
                </a:schemeClr>
              </a:solidFill>
            </a:endParaRPr>
          </a:p>
        </p:txBody>
      </p:sp>
      <p:sp>
        <p:nvSpPr>
          <p:cNvPr id="5" name="Slide Number Placeholder 4"/>
          <p:cNvSpPr>
            <a:spLocks noGrp="1"/>
          </p:cNvSpPr>
          <p:nvPr>
            <p:ph type="sldNum" sz="quarter" idx="12"/>
          </p:nvPr>
        </p:nvSpPr>
        <p:spPr/>
        <p:txBody>
          <a:bodyPr/>
          <a:lstStyle/>
          <a:p>
            <a:pPr>
              <a:defRPr/>
            </a:pPr>
            <a:fld id="{EF0E24E8-8531-4B9B-B847-FFBDF1CCFE2E}" type="slidenum">
              <a:rPr lang="en-US"/>
              <a:pPr>
                <a:defRPr/>
              </a:pPr>
              <a:t>126</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3880</TotalTime>
  <Words>1760</Words>
  <Application>Microsoft Office PowerPoint</Application>
  <PresentationFormat>On-screen Show (4:3)</PresentationFormat>
  <Paragraphs>640</Paragraphs>
  <Slides>126</Slides>
  <Notes>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126</vt:i4>
      </vt:variant>
    </vt:vector>
  </HeadingPairs>
  <TitlesOfParts>
    <vt:vector size="129" baseType="lpstr">
      <vt:lpstr>Solstice</vt:lpstr>
      <vt:lpstr>Document</vt:lpstr>
      <vt:lpstr>Equation</vt:lpstr>
      <vt:lpstr>            АЛГОРИТМИ  ЗА  СОРТИРАНЕ   Сортирането е процес на подреждане на множество елементи по определен ключ или ключове. Сортирането може да се класифицира като вътрешно, когато подрежданите елементи се намират в оперативната памет, и като външно, когато всички елементи или част от тях се намират във външни файлове.                 ВЪТРЕШНО СОРТИРАНЕ    Подрежданите елементи представляват записи с една или повече ключови стойности. Записите са организирани в масив, който се намира в ОП. За улеснение в изложението долу елементите са целочислени стойности, представляващи ключ, по който се извършва подреждането:      A[1],  A[2], …,  A[i],  A[j], …, A[k], …, A[n]    Възможно е при сортирането два елемента да имат еднакви ключови стойности, т. е. да съществуват такива индекси i и k, за които A[i]=A[k] при i &lt; &gt; k. Метод за сортирането се нарича устойчив, ако той не размества такива A[i] и A[k], в противен случай методът е неустойчив.</vt:lpstr>
      <vt:lpstr> Известни са следните групи методи за сортиране:    - Сортиране чрез вмъкване   - Сортиране чрез размяна   - Сортиране чрез избор   - Сортиране чрез сливане   - Сортиране чрез разпределение   Ще разгледаме няколко алгоритъма от изброените групи методи и тяхна реализация. За оценка на ефективност на един алгоритъм за сортиране се използват следните означения: С - брой на сравненията на ключовете и М - брой на разместванията на елементите. Те се явяват функция на n - брой на елементите, които се подреждат. Простите и очевидните методи имат сложност O(n2), по-ефективните –  O(n * Log(n)).</vt:lpstr>
      <vt:lpstr>         Сортиране чрез вмъкване   Към тази група се отнасят методите: сортиране чрез просто вмъкване, сортиране чрез двоично вмъкване, сортиране по метода на Шел, сортиране чрез вмъкване в списък, сортиране чрез изчисляване на адреса и др.        1. Сортиране чрез просто вмъкване (Straight insertion sort)   Идеята на метода е много проста: масивът от подрежданите елементи се дели на две части, първата част съдържа елементите от А[1] до A[i-1] и вече е подредена, втората част - само елемента A[i], който трябва да се включи към вече подредения масив. Следват две примерни рекурсивни реализации на метода.     Включване чрез полуобмен:  void ins_p(int a[], int i) { int j; int c=a[i];   j=i-1;    while ((j&gt;=0)&amp;&amp;(a[j]&gt;c))    { a[j+1]=a[j--];}   a[j+1]=c;     if (i&lt;num-1) ins_p(a, i+1); } </vt:lpstr>
      <vt:lpstr>Включване чрез разместване:  void ins_r(int a[], int i) {      int rab, j;      j=i-1;     while ((j&gt;=0)&amp;&amp;(a[j]&gt;a[j+1]))         {               rab=a[j];          a[j]=a[j+1];               a[j+1]=rab; j--;        }      if (i&lt;num-1)        ins_r(a, i+1); }  Методът е устойчив. Ефективен е, когато масивът е частично подреден. Препоръчва се при сравнително малки n. Сложността на метода се оценява като O(n2).  </vt:lpstr>
      <vt:lpstr> 2. Сортиране по метода на Шел (Shell sort)   Методът е предложен през 1959 г. от Д. Л. Шел и носи името на своя автор. Шел подобрява метода на просто вмъкване чрез групиране на подрежданите елементи, които се намират на разстояние h един от друг. Всяка такава група се нарича серия и се подрежда отделно. След това стъпката h се намалява и сортирането се повтаря. Процесът продължава до получаване на h&lt;1.     Препоръчва се началната стъпка да има стойност приблизително n/9. Стъпките образуват следната поредица:  hk-1=3hk+1  D.Knuth препоръчва: 1  4  13  40  121  364  1093  3280  9841 и т.н.   </vt:lpstr>
      <vt:lpstr> Сортиране по метода на Шел:  void shellsort(int a[], int left, int right)  //left - най-малкия индекс на масива  //right - най-големия индекс на масива {     int h;     //стъпка     for (h=1; h&lt;=(right-left)/9; h=3*h+1)//изчисляване на h      for(;h&gt;0;h/=3)     //сортиране по серии със стъпка h   for (int i=left+h; i&lt;=right; i++)   {     int j=i; int v=a[i];     while (j&gt;=left+h &amp;&amp; v&lt;a[j-h])       {a[j]=a[j-h];j-=h;}                a[j]=v;   } }  Методът е неустойчив. Сложността на алгоритъма се оценява като  O(n * Log(n)). Препоръчва се при сравнително големи масиви. </vt:lpstr>
      <vt:lpstr>Сортиране чрез размяна (Exchange sort)   Към тази група се отнасят: метод на мехурчето, усъвършенстван метод на мехурчето, бързата сортировка, обменна поразредена сортировка и др.  1. Сортиране чрез пряка размяна или метод на мехурчето (Bubble sort).  Идеята на метода се състои в следното: сравняват се и при необходимост се разместват всеки два съседни елемента. Названието на метода идва от аналогията с въздушни мехурчета - при последователни преглеждания на масива с данни “по-леките” (с по-малък ключ) елементи постепенно “изплуват” нагоре - в началото на масива.  void Bubblesort1(int a[], int n) {   int r, i, j;      for (i=0; i&lt;n-1; i++)      for (j=n-1; j&gt;=i; j--)        if (a[j-1]&gt;a[j])   {r=a[j];   a[j]=a[j-1];   a[j-1]=r; }  }  </vt:lpstr>
      <vt:lpstr>Сортиране по метода на мехурчето  void Bubblesort2(int a[], int i) { int inv, r;    do      { inv=0; //флаг за инверсия или необходимост от размяна     for (int j=0; j&lt;i-1; j++)     if (a[j]&gt;a[j+1])   {     inv=1;     r=a[j];     a[j]=a[j+1];     a[j+1]=r;   }   }   while (inv); }     Методът има сложност O(n2). Препоръчва се при сравнително малки n. Методът е  подобрен чрез въвеждането на допълнителна логическа променлива, която следи за наличието на инверсии, изискващи размяна на съседните елементи в масива. Ако при поредния преглед не е открита нито една инверсия, алгоритмът завършва своята работа.  </vt:lpstr>
      <vt:lpstr>Основните характеристики на сортирането по метода на мехурчето са:       Методът може да бъде подобрен още веднъж по следния начин: безсмислено е да преглеждаме елементите, за които със сигурност се знае, че са на окончателните си места. Сортирането се извършва в обратна посока: започваме от “дъното” в края на масива и най-тежките елементи потъват към него. В променливата k ще съхраняваме максималния индекс, при който е била извършена размяна на предходната итерация. Елементите, разположени вдясно от последната размяна, са на окончателните си места.  void Bubblesort3(int a[], int n) {int r, i, j, k;   for (i=n; i&gt;0; i=k)   for (k=j=0; j&lt;i; j++)        if (a[j]&gt;a[j+1])   {r=a[j]; a[j]=a[j+1]; a[j+1]=r;          k=j;}                      }       </vt:lpstr>
      <vt:lpstr>2. Сортиране чрез клатене  Въпреки ниската си ефективност метода на мехурчето дава възможност за редица подобрения. Вече разгледахме две от тях (чрез добавяне на флаг и поддържане на променлива, указваща максималния индекс на размяна от предходната стъпка).   Методът има една особеност: отделен лек елемент в края на масива ще изплува нагоре за една-единствена итерация, докато един тежък елемент, разположен близо до повърхността, ще потъва надолу само с една позиция при всяка стъпка на алгоритъма. Ако обърнем посоката на циклите (както  сме направили във втория алгоритъм) ситуацията ще се обърне, но асиметрията ще се запази. Идеята на предлагания подход е посоката на сортиране да се обръща на всяка стъпка. Това е трето подобрение на алгоритъма. Прилагането на трите подобрения едновременно дава нов алгоритъм - сортиране чрез клатене.</vt:lpstr>
      <vt:lpstr>void shakersort (int a[], int n) {unsigned k=n, R=n-1;  unsigned L=1, j, rab;  do{     for (j=R; j&gt;=L; j--)       if (a[j-1]&gt;a[j])        {rab=a[j]; a[j]=a[j-1]; a[j-1]=rab; k=j;}     L=k+1;       for (j=L; j&lt;=R; j++)        if (a[j-1]&gt;a[j])         {rab=a[j]; a[j]=a[j-1]; a[j-1]=rab;k=j;}     R=k-1;    }  while (L&lt;=R); }</vt:lpstr>
      <vt:lpstr>       В най-добрия случай горния алгоритъм извършва n-1 сравнения, а в средния случай  - n2. Макар и има известно подобрение в сравнение с класическия метод на мехурчето, общата ефективност на алгоритъма не се подобрява съществено, т. к. сортирането чрез клатене не намалява броя на извършваните размени. А размяната по-принцип е неколкократно по-тежка операция от сравнението.   Основният недостатък на метода е в “микроскопичния” му подход - винаги се сравняват два съседни елемента. Този недостатък е отстранен в следващия разгледан метод.</vt:lpstr>
      <vt:lpstr>3. Сортиране чрез сегментиране или бързо сортиране,     или сортиране на Хоар    (Quicksort)  Целта на предстоящото подобрение на основната идея е да се минимизира броя на размените в масива. От последното подобрение (или сортиране чрез клатене) стана ясно, че той ще бъде редуциран, ако разменяме първия елемент с последния, втория - с предпоследния и т. н., сортирайки целия масив за [n/2] размени. Изводът: колкото на по-големи разстояния се извършват размените, толкова е по-голяма тяхната ефективност.   Идеята на алгоритъма, предложен от Хоар, е да изберем някакъв елемент х и да разделим масива на две части: лява, в която елементите са по-малки от х, и дясна, в която са по-големи. Положението на х (т. е. индекса му в масива) след преобразуването се фиксира и повече не се променя. Прилагаме същия алгоритъм за лявата и дясната части, стеснявайки постепенно границите на разглежданите подмасиви, докато не достигнем до интервали (сегменти), съдържащи единствен елемент (оттук и названието - сортиране чрез сегментиране).  След приключване на работата на алгоритъма масивът е подреден. </vt:lpstr>
      <vt:lpstr>Да означим с q индекса на х в масива, т.е х =а[q].     Нека сортираме подмасива а [L, L+1,…, R] и нека partition() разделя подмасива на две части, извършва в него съответните преобразования и връща като резултат q  (но не търси в масива х, а го определя по определени правила! Как?).  Най-общо бързото сортиране може да се опише така: void quicksort (int L, int R) { int q;    if (L &lt; R)        {  q=partition(L, R);            quicksort(L, q);            quicksort(q+1, R);         } }</vt:lpstr>
      <vt:lpstr>Как да извършим разделянето на масива? Има два различни подхода или два варианта на partition() . Вариант 1: избира се елемент х, по който се извършва разделянето.  В лявата част на масива трябва да останат елементи, по-малки или равни на х, а в дясната - строго по-големи от х . Текущия дял от масива a[L, L+1, …, R] се разглежда отляво надясно, като при това в лявата му част се изгражда постоянно разширяваща се област от елементи, по-малки или равни на х . Десният край на областта се определя от q.  Когато j достигне края R на дяла, q ще сочи границата между двете области.  unsigned partition1 (int L, int R) { int q, j, x, rab;    q=L-1; x=a[R];    for (j=L; j&lt;=R, j++)        if (a[j]&lt;=x)           { rab=a[q]; a[q]=a[j]; a[j]=rab;               q++;            }    if (j==R)     q--;    return q; }</vt:lpstr>
      <vt:lpstr>Вариант 2: използват се два индекса - j и i , показващи границите на две непрекъснато разширяващи се области от двата края към центъра. На всяка стъпка на алгоритъма се прави опит за разширяване на лявата област надясно, докато това е възможно, т. е. докато вдясно от нея стои елемент, по-малък или равен на  х . Същото се извършва и за дясната област (двата while-цикъла). След това се разменят местата на двата елемента-прегради зa лявата и дясната области, които са спрели разширяването им, и процесът се повтаря отначало. Приключва при “срещане” на двете области, т. е. когато двете им граници се разминат. Индексът i сочи десния край на лявата област, а  j - левия край на дясната:   unsigned partition2 (int L, int R) { int i, j, x, rab;    i=L;  j=R;  x=a[L];    do       {  while (x&gt;a[i])    i++;            while (x&lt;a[j])    j--;           if (i&lt;=j)              {rab=a[i]; a[i]=a[j]; a[j]=rab; i++; j--; }       }    while (i &lt;=j);      return j; }</vt:lpstr>
      <vt:lpstr> За сортиране на двете части на масива се извършват две последователни рекурсивни обръщения. Т. к. второто винаги се отлага (двете обръщения не могат да се извършат едновременно!), то може да се реализира итеративно - чрез цикъл.  Възможно е алгоритъмът изцяло да бъде реализиран итеративно - чрез използване на специално създаден за целта стек. На всяка стъпка лявата част на масива ще се обработва директно, докато дясната част ще се поставя в стека, като обработката й ще се отлага до момента, когато се приключи окончателно с лявата част и всички свързани с нея подзадачи.  Остава открит въпроса: как да се избира средния елемент - х? Най-добре на всяка стъпка (при всяко сегментиране) да се избира средния по големина елемент. Тогава общия брой сравнения ще бъде n*log2n. Очакваният брой размени при всяко разделяне е от порядъка на n/6. Оттук броят на размените в оптималния случай е:     (n/6)* n*log2n  Вероятността да улучим средния елемент е 1/n, но средната ефективност на бързото сортиране не зависи само от n.</vt:lpstr>
      <vt:lpstr> Все пак, как да избираме елемента х, относно който разделяме масива? Един възможен подход е да вземаме винаги фиксиран елемент от масива, например първия, последния или средния (с индекс [n/2]). Изборът на средния елемент е изключително важен за за скоростта на алгоритъма: колкото по-близък е избрания елемент до средния по големина елемент за дяла, толкова по-равномерно става разбиването на масива на две части, а оттук - по-малка дълбочина на рекурсията, т. е. по-ефективна работа на алгоритъма. Можем ли да избираме за разделящ елемент медианата на два или повече елементи? Да, но това е свързано с допълнителни операции и води до забавяне, което не винаги се компенсира с извлечените ползи и не води задължително до подобрение.  Бързото сортиране е най-бързия универсален алгоритъм за сортиране. Средната му сложност е O(n*log2n). Но той крие и редица изненади. Сортирането на Хоар е доста непостоянно и, при неподходящ избор на средния елемент х, ефективността му пада до O(n2). </vt:lpstr>
      <vt:lpstr> Съществуват и други фактори, влияещи на ефективността на алгоритъма:  -   силата на бързото сортиране е в неговата “хазартност”. Колкото    по-разбъркан е масивът, толкова по-голяма е ефективността на  метода. Авторът му Хоар препоръчва изборът на х да се прави по  случаен начин или дори като средно аритметично на три или  повече случайно избрани елемента;  -  алгоритъмът е ефективен само при големи n. Затова при получаване на сегмент с големина &lt;=15 елемента се препоръчва  да се премине към някой друг алгоритъм и сортирането да се  довърши чрез използване на някой друг алгоритъм. Подмасивът е  почти сортиран и е добър вход за сортирането чрез вмъкване:  вмъкванията ще се извършват в рамките на съответната област,   т. е. гарантирано на малки разстояния. </vt:lpstr>
      <vt:lpstr>  Библиотечната функция  qsort   Езикът С/ С++  има библиотечна функция qsort, която може да сортира произволен масив:      # include &lt;stdlib.h&gt;            …      qsort(a, n, sizeof(T), compare);  където а е подреждания масив, n е броят на елементи в него,  T е типа на елементите в масива, compare е наша собствена функция, показваща как трябва да бъдат сравнявани два елемента a[i] и a[j] от масива.  Тази функция е подобна на добре известната функция strcmp, която връща 0 при равенство, някакво отрицателно число при “по-малко” и някакво положително число при “по-голямо”.</vt:lpstr>
      <vt:lpstr>Пример: сортиране на масив от цели числа с библиотечната функция qsort  #include &lt;iostream&gt; #include &lt;stdlib.h&gt; using namespace std; const int n=100; int a[n], num; void input(int a[]) {  cout&lt;&lt;"\nInput num&lt;100:";  cin&gt;&gt;num; cout&lt;&lt;"\n"&lt;&lt;num;  cout&lt;&lt;"\nInput items:\n";  for (int i=0; i&lt;num; i++)  {  cout&lt;&lt;"=";   cin&gt;&gt;a[i];  } } </vt:lpstr>
      <vt:lpstr>void out(int a[]) {   cout&lt;&lt;"\n Array:\n";   for (int i=0;i&lt;num; i++)    cout&lt;&lt;a[i]&lt;&lt;" "; } int  compare (const void *p, const void *q) {  return *(int*)p &lt; *(int*)q ? -1: *(int*)p &gt; *(int*)q; } void main() {   input(a);   out(a);   qsort(a, num, sizeof(int), compare);   out(a);    } </vt:lpstr>
      <vt:lpstr>     Сортиране чрез избор (извличане) (Selection sort)   Към тази група се отнасят: сортиране чрез прост избор, избор от дърво, пирамидална сортировка и др.  1. Сортиране чрез прост избор (пряка селекция)   Идеята на метода е следната: търси се елемент с най-малкия (или най-големия) ключ; намереният елемент се премества в началото (или в края) на масива и се изключва от разглеждането; действието се повтаря, докато не се изберат всички n елемента. Методът е аналогичен на метода на простото вмъкване - и в двата случая в левия край на масива се образува поредица от вече подредените елементи. </vt:lpstr>
      <vt:lpstr> Сложността на метода е O(n2). Както и при метода на прекия избор, масивът се разделя на сортирана и несортирана част, като на всяка стъпка на алгоритъма сортираната област се разширява отдясно с един елемент. На първата стъпка се намира минималния елемент на масива и се разменя с първия. На втората минималния измежду останалите елементи се разменя с втория елемент на масива и т. н. На всяка следваща стъпка минималния елемент от несортираната част на масива се разменя мястото с първия елемент от несортираната част, разширявайки по този начин сортираната част, докато тя не обхване целия масив:  void straight_selection (int a[], unsigned n) { unsigned  i, j;    int rab;    for (i=0; i&lt;n-1; i++)        for (j=i+1; j&lt;=n; j++)            if (a[i] &gt; a[j])                  {rab=a[i]; a[i]=a[j]; a[j]=rab;}  }</vt:lpstr>
      <vt:lpstr> Широко разпространен е и леко модифицирания вариант на разгледаната реализация: във вътрешния цикъл е спестено адресирането на j-ия елемент като a[j] и за целта е въведена променливата  x:   void straight_selection (int a[], unsigned n) { unsigned  i, j, ind;    int  x;    for (i=0; i&lt;n-1; i++)        for (x=a[ind=i], j=i+1; j&lt;=n; j++)            if (a[j] &lt; x)                  { x=a[ind=j];                     a[ind]=x;                    a[i]=x;                  }  }  Подобно на сортирането по метода на мехурчето, алгоритъмът на пряката селекция винаги извършва n*(n-1)/2 сравнения. Но той е за предпочитане пред метода на мехурчето по броя на извършваните размени:    </vt:lpstr>
      <vt:lpstr>2. Пирамидално сортиране (Heapsort)   Сортирането чрез пряк избор се нарежда сред най-неефективните, подобно на метода на мехурчето и метода на прякото вмъкване. Основен негов недостатък е, че на i-та стъпка винаги се извършват точно n-i сравнения, независимо от входните данни.    Методът се базира на последователното избиране на най-малкия ключ измежду n елемента, за което са необходими n-1 сравнения. След това на втората стъпка на алгоритъма най-малкия ключ измежду n-1 елемента се избира с n-2 сравнения и т.н. Бихме могли да направим извода, че на i-та ще ни потрябват  n-i  сравнения. Но това не е съвсем вярно, понеже в резултат на прилагането на първата стъпка получаваме не само най-малкия елемент, но и редица съотношения между двойки от останалите елементи, които можем да съхраним и да използваме на втората стъпка. Ясно е, че колкото повече допълнителни съотношения получим, толкова по-малко сравнения ще ни бъдат необходими на следващите стъпки, т. е. колкото е по-ниско и по-разклонено дървото на сравненията, толкова повече информация ще ни носи то.    </vt:lpstr>
      <vt:lpstr> За да се поясни последния извод, нека да разгледаме ново понятие - двоично дърво на сравненията.  Например, искаме да сравним три елемента - a, b и c. Това е най-елементарния метод за сортиране - чрез сравнение. Основава се на поредица от сравнения, всяко от които ни носи допълнителна информация. Процесът продължава до пълното сортиране на множеството {a, b. c}. В зависимост от резултата от сравнението получаваме различни съотношения между елементите и оттук - различно продължение на процеса. Всяко сравнение има два изхода - “да” и “не”, което ни дава възможност процесът на сравнение да се изобрази като двоично дърво, в чиито листа се намират сортираните последователности, а в останалите възли - сравнения между двойки елементи от множеството:        </vt:lpstr>
      <vt:lpstr>Дървото ни дава следния алгоритъм за сортиране на множеството:  if (a&lt;b)     if (b&lt;c)  cout&lt;&lt;a&lt;&lt;b&lt;&lt;c;         else            if (a&lt;c)  cout&lt;&lt;a&lt;&lt;c&lt;&lt;b;                else   cout&lt;&lt;c&lt;&lt;a&lt;&lt;b; else      if (b&lt;c)          if (a&lt;c) cout&lt;&lt;b&lt;&lt;a&lt;&lt;c;               else  cout&lt;&lt;b&lt;&lt;c&lt;&lt;a;      else   cout&lt;&lt;c&lt;&lt;b&lt;&lt;a;   Алгоритъмът е много нагледен, но е почти неприложим: броят на възможните изходи (листата на дървото) е n! (колкото възможните пермутации на изходното множество).  Затова се налага да се търсят други по-ефективни методи за сортиране. Но идеята на дървото може да послужи като математически модел за изграждане на други алгоритми.              </vt:lpstr>
      <vt:lpstr> Можем да изградим дърво на сравненията, използвайки механизма на турнира с елиминиране, построяващ дървото на сравненията от листата към корена. В първия кръг на турнира се играят срещите: x1:x2, x3:x4 ,…,  xn-1:xn. Във втория кръг играят двойки победители от предишния кръг и т. н. На финала се срещат двама участници и определят шампиона на турнира . В случай, че в i-ия кръг на турнира броят на участниците е нечетен (а това ще се случи поне веднъж, ако n не е степен на 2), то един от играчите почива, като автоматично се класира за следващия кръг. Използвайки посочената стратегия за определяне на минималния елемент на масива получаваме следното: в първия кръг на турнира с n/2 сравнения се определя минималния елемент за всяка двойка, с още n/4 сравнения се определя минималния елемент между две двойки (т. е. 4 елемента) и т. н.  Изложеният алгоритъм построява дървото на турнира, т. е. определя минималния елемент на масива с точно n-1 сравнения: n=8   a={15, 17, 3, 8, 9, 1, 18, 5}    </vt:lpstr>
      <vt:lpstr> Сега, заменяйки най-малкия елемент (“шампиона”) с   в съответното му листо и преизчислявайки съдържанието на върховете по пътя до корена, във върха на дървото ще получим следващия по  големина елемент. Т. к. дървото има височина [log2 n], то описаният процес на определяне на втория по големина елемент (“вицешампиона”) изисква  [log2 n]-1 сравнения вместо n-2, както изисква алгоритъма на пряката селекция. Така процесът на цялостно сортиране на масива изисква не повече от  n-1+(n+1)*([log2 n]-1) сравнения:          Изложеният алгоритъм е сериозно подобрение на алгоритъма на пряката селекция, но и той има редица недостатъци: все още голям брой на извършваните размени; стойностите , които водят до излишни сравнения, като накрая запълват цялото дърво; изгражданото дърво, макар и идеално балансирано, не дава оптимални резултати, т. к. позволява листата да се появяват на всички нива: участниците в турнира са разположени в листата, а останалите върхове на дървото само ги дублират.  </vt:lpstr>
      <vt:lpstr> Естествено желание е да се минимизира размера на необходимата памет, която при алгоритъма на турнира с елиминиране е от порядъка на 2n-1. За целта ще се търси ефективен механизъм за линеаризация  на дървото, който позволява да се пазят само листата, без да се губи известните съотношения между тях.  Такъв механизъм е предложен от Дж. Уилямс и се нарича пирамида.  Пирамидата е балансирано двоично дърво с височина h, едновременно отговаряща на следните условия:  1) всички листа са на ниво h и  h-1;  2) всички наследници на даден връх са по-малки от него;  3) всички наследници от ниво h са максимално изместени вляво.           Пирамидата може да бъде ефективно реализирана не само чрез дърво, но и чрез n-елементен масив, в който наследствените връзки между елементите се определят като проста линейна функция на позициите им.  </vt:lpstr>
      <vt:lpstr>Как точно? Пирамидата е еквивалентна на редица от стойности (или ключове) аlf, аlf+1, …, аrt (1&lt;=lf&lt;=rt&lt;=n) аi&gt;=а2i  и аi&gt;=а2i+1, i=lf, lf+1, …, rt/2.   Т.е. представянето е аналогично на статичното представяне на двоично дърво: а[1]   a[2]   a[3]   a[4]   a[5]  a[6]  a[7]  a[8]  a[9]  a[10]  a[11]  a[12]  57      51     33      11     42     27     29      3      7        37        3       19   Левият наследник на  а[i]  е a[2i] Десният наследник на  а[i]  е a[2i+1]    Върхът на пирамидата  съдържа най-големия елемент.</vt:lpstr>
      <vt:lpstr> Нека да предположим, че разполагаме с ефективен алгоритъм за изграждане на пирамида, реализиран с bild_heap(), и с алгоритъм за възстановяване на пирамида от k елемента restore_heap(), след като върхът й е бил заменен с произволен елемент. Тогава, след като сме изградили пирамида с n елемента, можем да разменим върха й a[1] (най-големия й елемент) с последния й елемент a[n], при което стария връх заема окончателната си позиция - става последен в сортирания масив. Т. к. тази операция нарушава формулираните за пирамидата правила, то се налага отсяване на новия елемент надолу по пирамидата:      В резултат получаваме нова пирамида а1, а2, …, аn-1, съдържаща един елемент по-малко (без червената стойност): </vt:lpstr>
      <vt:lpstr>Следва нова размяна на върха на пирамидата с последния (n-1) елемент, последвана от ново отсяване. Описаният процес се повтаря (n-1) пъти (няма нужда от n-та стъпка, защото накрая n-ия елемент си е на място).  Алгоритъмът за пирамидално сортиране е: … build_heap() for (i=n; i&gt;=2; i--) {     rab=a[1]; a[1]=a[i]; a[i]=rab;     restore_heap(i-1);  } … Как да изградим пирамидата? Нека n да е четно. Тогава за елементите a[n/2+1], a[n/2+2], …, a[n] не се изисква никакво съотношение за наредбата, т. к. за никои два елемента i и j не е изпълнено j=2i и j=2i+1. Те са листата и за тях не важат зададените правила. </vt:lpstr>
      <vt:lpstr>Нека да разширим пирамидата  отляво с един елемент. Новодобавеният елемент х ще бъде от предпоследното ниво и ще има поне един наследник. Трябва да се проверят съотношенията и при необходимост х да се размени с един от своите наследници.         Сега елементите a[n/2], a[n/2+1], a[n/2+2], …, a[n] пак образуват пирамида. Следва ново разширяване на пирамидата отляво, като процесът продължава до включване на всички елементи. При нечетно n листата са a[n/2+1], a[n/2+2], …, a[n]. (В реализацията на С/С++ няма нужда от това разграничение, т. к. операцията / е целочислена.)   Отсяването на новодобавения елемент х надолу по пирамидата може да протича на няколко етапа, т. е. след размяна на х с някой от наследниците може да се окаже, че правилата не са изпълнени. Така х се отсява надолу по пирамидата, като на всяка стъпка потъва с едно ниво надолу, докато не заеме мястото си. </vt:lpstr>
      <vt:lpstr> Тук може да се направи едно очевидно подобрение, ускоряващо процеса, а именно - х да се разменя с по-малкия от двата наследника. Освен това размяната на х с наследниците му може да се отлага дотогава, докато не бъде намерено точното му място, като вместо това в процеса на търсене на крайната му позиция се извършват еднопосочни присвоявания.   Както построяването, така и възстановяването изискват отсяване на върха надолу по пирамидата. Това означава, че може да се реализира обща функция за отсяване sift():  void sift (int a[], unsigned lf, unsigned rt) { unsigned i=lf, j=i+i;   int x=a[i];   while (j&lt;=rt)      { if (j&lt;rt)          if (a[j]&lt;a[j+1])   j++;        if (x&gt;a[j])  break;        a[i]=a[j];          i=j;        j&lt;&lt;=1;// умножение по 2      }     a[i]=x;  }        </vt:lpstr>
      <vt:lpstr> Построяването на пирамидата (функция build_heap()) може да се извърши така:  for (k=n/2+1; k&gt;1; k--)     sift(a, k-1, n);   За сортирането - многократна размяна на върха на пирамидата с последния й елемент, последвана от отсяване (функция restore_heap()) получаваме:  for (k=n; k&lt;1; k--)  { rab=a[1]; a[1]=a[k]; a[k]=rab;     sift(a, 1, k-1);   }   Окончателният вариант на пирамидалното сортиране е:  void heapsort(int a, unsigned n) {  unsigned k;     for (k=n/2+1; k&gt;1; k--)   // построяване на пирамидата           sift(a, k-1, n);     for (k=n; k&lt;1; k--)          //построяване на сортирана последователност       { rab=a[1]; a[1]=a[k]; a[k]=rab;          sift(a, 1, k-1);        }  }</vt:lpstr>
      <vt:lpstr>           Сортиране чрез сливане (Mergesort)   В основата на тази група алгоритми за сортиране стои вече разгледания метод "разделяй и владей": подрежданата поредица се разделя на две части, всяка от които се сортира, след което подредените подмасиви се обединяват (или се сливат).   1. Сливане на сортирани масиви  Нека да видим, как можем да обединим два вече подредени по големина масива a[ ] и b[ ]. ... const int an=100, bn=120; int a[an], b[bn], c[an+bn]; ... Функция, реализираща тази операция:  void merge (int a[], int na, int b[], int nb, int c[]) {  int ia=0, ib=0, ic=0;      while (ia&lt;na&amp;&amp;ib&lt;nb)       c[ic++]=((a[ia]&lt;b[ib])?a[ia++]:b[ib++]);     while (ia&lt;na) c[ic++]=a[ia++];     while (ib&lt;nb) c[ic++]=b[ib++]; } Функцията има един съществен недостатък: не сортира на място, а изисква допълнителна памет, колкото за двата сливани масива.</vt:lpstr>
      <vt:lpstr>2. Сортиране чрез сливане Разгледаната функция може да служи за основа на следния прост алгоритъм за сортиране чрез сливане:  void mergesort (int a[], int n) //функцията разделя масива рекурсивно на две части //след което функцията merge ги обединява {       if(n&lt;2) return;        int nleft=n/2, nright=n-nleft;       mergesort(a, nleft);      mergesort(a+nleft, nright);       int *p=new int [n];     merge (a, nleft, a+nleft, nright, p);     for (int i=0; i&lt;n; i++)        a[i]=p[i];     delete []p; } Т. к. между операциите new и delete няма рекурсивно обръщение, временно необходимото място в паметта не надминава  n*size (T) байта (в нашия случай T e int и необходимия обем памет ще бъде не повече от 4n). </vt:lpstr>
      <vt:lpstr> Алгоритъмът за сортиране чрез сливане е един от най-ефективните известни алгоритми за сортиране. Гарантираната му средна времева сложност е O(n*log2n), което теоретически е най-добрата алгоритмична сложност за универсален алгоритъм за сортиране.  Друго основно предимство на сортирането чрез сливане е, че достъпът до елементите се извършва строго последователно, поради което е подходящо за сортиране на списъци, последователни файлове и др.   Още едно положително качество на алгоритъма - сортирането чрез сливане е устойчиво, т. е. запазва относителната наредба на елементите с еднакви ключове. (Например, Quicksort е неустойчив алгоритъм.)  И още - алгоритъмът почти не зависи от предварителното нареждане на елементите в масива (за разлика, например от Quicksort).   Основен недостатък  на сортирането чрез сливане е това, че изисква допълнителна памет, пропорционална на n: за допълнителен масив или за указатели.    Подобно повечето съвременни методи за сортиране, сортирането чрез сливане се държи лошо при малки n. Както и в случая на Quicksort, добри резултати се получават при комбинирането му с други методи. Стандартен подход е, когато броят на елементите на разглежданото множество падне примерно под 15-20 да се използва сортиране чрез вмъкване.  Към групата алгоритми, реализиращи идеята за сортиране чрез сливане, се отнася и четно-нечетно сортиране чрез сливане на Батчер. </vt:lpstr>
      <vt:lpstr>                    </vt:lpstr>
      <vt:lpstr> Перфектното карторазбъркване пренарежда масива по начин, съответстващ на начина, по който тесте карти би могло да се пренареди, когато се разбърква от професионалист. То се разцепва прецизно на две половини, после се прави “розетка”, така че картите от двете половини се вземат алтернативно, за да направят разбърканото тесте. Първата карта винаги се взема от горната половина. Ако броят на картите е четен, двете половини имат еднакъв брой карти; ако броят на картите е нечетен, допълнителната карта е в края на горната половина.   Функция shuffle, извършваща перфектно карторазбъркване: void shuffle (int a[], int lf, int rt) {     int i, j, m=(lf+rt)/2;     static aux[maxn];  // временен масив     for (i=lf, j=0; i &lt;=rt; i+=2, j++)           { aux[i]=aux[lf+j]; aux[i+1]=a[m+1+j];}     for (i=lf; i&lt;=rt; i++)    a[i]=aux[i]; }    </vt:lpstr>
      <vt:lpstr>Функция unshuffle, извършваща перфектно картоподреждане:  void unshuffle (int a[], int lf, int rt) {  int i, j, m=(lf+rt)/2;     static aux[maxn];  // временен масив     for (i=lf, j=0; i &lt;=rt; i+=2, j++)           { aux[lt+j]=aux[i]; a[m+1+j] = aux[i+1];}     for (i=lf; i&lt;=rt; i++)    a[i]=aux[i]; } Нечетно-четно сливане на Бетчер:  merge_B(int a[], int lf,  int rt) { int i, m=(lf+rt)/2, rab;    if (rt==lf+1)  {rab=a[lf]; a[lf]=a[rt]; a[rt]=rab;}    if (rt&lt;lf+2)  return;    unshuffle(a, lf, rt);    merge_B(a, lf, m);    merge_B(a, m+1, rt);    shuffle(a, lf, rt);    for (i=lf+1; i&lt;rt; i+=2)         {rab=a[i]; a[i]=a[i+1]; a[i+1]=rab;} } </vt:lpstr>
      <vt:lpstr> Самото сливане на Бетчер е рекурсивен метод “разделяй и владей”. За да направим сливане 1-към-1, просто използваме операция  “сравнение-размяна”. От друга страна, за да направим  n-към-n  сливане, ние извършваме картоподреждане, за да получим две n/2-към-n/2 задачи за сливане, после ги решаваме рекурсивно, за да получим два сортирани масива. Като извършим карторазбъркване на тези два масива, получаваме масив, който е почти сортиран - всичко, което е необходимо да направим, е да преминем още веднъж през масива с n/2 - 1 на брой независими операции “сравнение-размяна”: между елементи 2i и 2i+1 за  i от  1 до n/2 - 1 .   Подробно описание на алгоритъма - в  книгата на Робърт Седжуик, Алгоритми на С, том 2, Софтпрес, С., 2002.   </vt:lpstr>
      <vt:lpstr>Сортиране  чрез  разпределение   Методът, за разлика от разгледаните досега, не изисква сравнение на целите ключове.  Предполага се, че множеството на ключовете не е голямо и всеки ключ има следния вид:     а1  а2  … аk-1 аk     където всеки компонент   аi   е елемент на някакво крайно множество (например - латинската азбука).  Компонентите се сравняват отдясно наляво в лексикографски ред:    s d a f g z  &lt;  a s b f g z    a s b f g z            Самото сортиране на ключовете се извършва с помощта на друг устойчив алгоритъм за сортиране.</vt:lpstr>
      <vt:lpstr>Сортиране чрез трансформация  За сортиране чрез сравнение:  в най-лошия случай - O(n2)   в най-добрия случай - O(n*log2n)  Възможно ли е да не се използва сравнение? Каква сложност може да се постигне?</vt:lpstr>
      <vt:lpstr>1. Сортиране чрез множество  Алгоритмът е приложим върху множество М с n на брой елементи, отговарящо на следните условия:</vt:lpstr>
      <vt:lpstr> Разполагаме с масив m[ ], чиито елементи искаме да подредим. Сортирането става линейно, посредством едно преминаване през елементите на масива, последвано от обхождане на числата от интервала. В началото инициализираме с 0 елементите от множество set[ ]   (това също е масив, чрез който представяме нашето множество М. Масивът нека да е от тип char – ще го използваме като масив със стойности 0 и 1). След това преминаваме през масив m и за всеки негов елемент установяваме в 1 съответния елемент на множеството.</vt:lpstr>
      <vt:lpstr> На втората стъпка извършваме проверка последователно за всички числа от интервала, дали принадлежат на set[ ]. В началото на втория пас считаме, че m[] не съдържа нито един елемент и го изграждаме наново, този път вече като сортирана последователност:  #include &lt;iostream&gt; using namespace std; const int  MaxValue=10; void input (int m[], int n); void output (int m[], int n); void setSort (int m[], int n); </vt:lpstr>
      <vt:lpstr>void main() {          int m[MaxValue];  int n;  do       {    cout &lt;&lt;"\nInput n: “; cin&gt;&gt;n; }  while (n&gt;MaxValue);  input (m,  n);  setSort (m, n);             output ( m,  n); }  void input (int m[], int n) {       for (int i=0; i&lt;n; i++)  {   cout&lt;&lt;"\nm["&lt;&lt;i&lt;&lt;"]=";   cin&gt;&gt;m[i];  } }</vt:lpstr>
      <vt:lpstr>void setSort (int m[], int n) {          char set[MaxValue];  int i, j;  for (i=0; i&lt;MaxValue;i++)   set[i]=0;  for (j=0; j&lt;n; j++)   set[m[j]]=1;  for (i=j=0; i&lt;MaxValue; i++)   if (set[i])    m[j++]=i; }     void output (int m[], int n) {  for (int i=0; i&lt;n; i++)   cout&lt;&lt;m[i]&lt;&lt;"  "; }</vt:lpstr>
      <vt:lpstr> Сложността на алгоритма е О(k+n) и при стойности на n, близки до k, би могла да се разглежда като линейна относно n. Но това не е „безплатно”:</vt:lpstr>
      <vt:lpstr>2. Сортиране чрез броене </vt:lpstr>
      <vt:lpstr> Започваме с нулиране на елементите на cnt[ ], след което преминаваме през елементите на m[ ] и намираме броя срещания на всяко число от [a, b]. На втората стъпка преминаваме през елементите на cnt[ ], включвайки в сортираната последователност cnt[х] на брой пъти на числото х, за всяко цяло х      [a, b].  #include &lt;iostream.h&gt; const int  MaxValue=10; void input(int m[], int n); void output(int m[], int n); void CountSort(int m[], int n);</vt:lpstr>
      <vt:lpstr>void main() {          int m[MaxValue];  int n;  do  {          cout &lt;&lt;"\nInput n: ";   cin&gt;&gt;n;  }  while (n&gt;MaxValue);  input(m, n);  CountSort (m, n);            output (m, n); } void input (int m[], int n) {         for (int i=0; i&lt;n; i++)  {          cout&lt;&lt;"\nm["&lt;&lt;i&lt;&lt;"]=";   cin&gt;&gt;m[i];  } }</vt:lpstr>
      <vt:lpstr>void CountSort (int m[], int n) {          char cnt[MaxValue];  int i, j;  for(i=0; i&lt;MaxValue; i++)   cnt[i]=0;  for(j=0; j&lt;n; j++)   cnt[m[j]]++;  for(i=j=0; i&lt;MaxValue; i++)   while (cnt[i]--)    m[j++]=i; }     void output (int m[], int n) {  for (int i=0; i&lt;n; i++)   cout&lt;&lt;m[i]&lt;&lt;"  "; } </vt:lpstr>
      <vt:lpstr> Алгоритмът работи добре при предположението, че всяко число се среща не повече от d пъти, за някаква разумна предварително дефинирана константа d. Теоретично областта на приложение на този алгоритъм остава ограничена от следните изисквания:</vt:lpstr>
      <vt:lpstr> Основният проблем е необходимостта да се пази информация не само за това, дали дадено цяло число x от [a, b] се среща като ключ на елемент от М, но и стойността на този елемент.   Ще организираме единично свързан динамичен списък. Тъй като броят на срещанията на даден ключ не надвишава d , то всеки такъв списък може да съдържа най-много d елемента. Заделянето на статична памет с размер d за всеки ключ, обаче, води до излишно разхищение.</vt:lpstr>
      <vt:lpstr> В реализацията на следващите слайдове  с всеки ключ е асоцииран динамичен списък, съдържащ съответните елементи на М.   Поддържането на единствен указател (към началото на списъка) прави сортирането неустойчиво, защото елементите с еднакви ключове попадат в изходната последователност в ред, обратен на началния, т.к. елементите винаги се вмъкват в началото на списъка.</vt:lpstr>
      <vt:lpstr>Например:         </vt:lpstr>
      <vt:lpstr> Недостатъкът може да бъде премахнат, но ще се наложи допълнително обхождане на списъка и алгоритмът ще се усложни. Сложността на алгоритъма отново е О(k+n) , т.е. е линейна спрямо n.  #include &lt;iostream.h&gt; const int MaxValue=10; struct elem {    char name;    int num; } m[MaxValue];    struct ptr  {   struct elem data;   ptr *next;  } *lst[MaxValue], *p; </vt:lpstr>
      <vt:lpstr>void input(elem m[], int n); void output(elem m[], int n); void CountSort_List(elem m[], int n);   void main() {           int n;  do  {           cout &lt;&lt;"\nInput n: ";   cin&gt;&gt;n;  }  while (n&gt;MaxValue);  input (m, n);  CountSort_List( m, n);     output(m, n); } </vt:lpstr>
      <vt:lpstr>void init() {    for (int i=0; i&lt;MaxValue; i++)        lst[i]=NULL; } void input(elem m[], int n) {  for(int i=0; i&lt;n;i++)  {   cout&lt;&lt;"\nm["&lt;&lt;i&lt;&lt;"].name=";   cin&gt;&gt;m[i].name;   cout&lt;&lt;"\nm["&lt;&lt;i&lt;&lt;"].num=";   cin&gt;&gt;m[i].num;  } }</vt:lpstr>
      <vt:lpstr>void CountSort_List(elem m[], int n) {  int i, j;    for (j=0; j&lt;n; j++) // Разпределяне на елементите по списъци   { p=new ptr;    p-&gt;data.name=m[j].name;    p-&gt;data.num=m[j].num;    p-&gt;next=lst[m[j].num];    lst[m[j].num]=p;   }   for (i=j=0; i&lt;MaxValue; i++) // Формиране на сорт. масив       while (NULL!=(p=lst[i]))//Докато списъкът съдържа ел-ти   {          m[j++]=lst[i]-&gt;data;    lst[i]=lst[i]-&gt;next;    delete p;   } } </vt:lpstr>
      <vt:lpstr>void output(elem m[], int n) {  cout&lt;&lt;"\nSorted array: \n";  for(int i=0; i&lt;n; i++)     cout&lt;&lt;m[i].name&lt;&lt;" "&lt;&lt;m[i].num&lt;&lt;"     "; }    Въпреки направените подобрения, сортирането чрез броене наследява повечето недостатъци на сортирането чрез множество и не може да се смята за универсален подход.  </vt:lpstr>
      <vt:lpstr> Основният проблем на алгоритма е необходимостта от поддържане на допълнителен масив с размер, пропорционален на броя на възможните стойности на ключовете k (напомняме, че елементите на множеството М са естествени числа от даден затворен интервал [a, b], съдържащ k = b-a+1 цели числа. Не е задължително всяко число от интервала [a, b] да бъде елемент на множеството, но всички елементи на множеството трябва да са от интервала [a, b]). Очевидно е, че k може да бъде достатъчно голямо число и да не позволява заделяне на необходимия размер памет.</vt:lpstr>
      <vt:lpstr> Сортирането чрез броене преминава веднъж през елементите на множеството, което изисква време О(n), и веднъж - през множеството от допустимите стойности на ключовете за време О(k). Общата алгоритмична сложност става О(k+n). Полученият резултат показва, че алгоритмът е линеен едновременно по k и n . Нас ни интересува сложността на алгоритма по отношение на броя на елементите n. Но ако диапазонът на разглежданите стойности е голям, т.е. k&gt;n, например, k=n3, то сложността на алгоритма става О(n3). Получаваме сериозна неефективност, което трябва да се има предвид.</vt:lpstr>
      <vt:lpstr>3. Побитово сортиране Идеята на побитово сортиране до голяма степен се основава на двоичното вътрешно представяне на числата в компютъра. Нека е зададено множество от цели числа без знак, чиито елементи ще сортираме. Разделяме числата в два списъка в зависимост от стойността на най-младшия им двоичен разред. Четните числа попадат в първия списък, а нечетните – във втория. След това вторият списък се добавя към края на първия, при което се образува общ списък. За разлика от сортирането чрез броене, тук новия елемент се слага в края на съответния списък. Повтаряме операцията с предпоследния бит, след което с пред-предпоследния и т.н. до най-старшия бит. Описаният процес води до получаване на сортирана последователност:</vt:lpstr>
      <vt:lpstr>Например, имаме следната входна последователност от данни:    5 7 2    1   4   5 Двоичните кодове са:             101       111       010  001  100  101   Разделяне и подреждане по най-младшия бит (0-вия):     2    4 +       5        7        1        5         010  100 +     101     111       001      101   Разделяне и подреждане по 1-вия бит:    4   5   1   5 +      2        7        100 101  001 101 +     010     111   Разделяне и подреждане по 2-рия (най-старшия) бит:  1 2      +   4  5 5 7            001       010    +   100      101      101       111</vt:lpstr>
      <vt:lpstr> Методът е устойчив!  Изхождайки от вътрешното представяне на данните в компютъра, не е трудно да се съобрази, че описания метод е приложим (с минимални модификации) за сортиране на произволен тип данни (масиви, записи, низове). Но има и проблеми – сортиране на отрицателни числа (вътрешно се представят в допълнителен код) и на числа с плаваща запетая.  Реализацията може да бъде динамична (чрез списъци) или масиви.  В източника [3] - Преслав Наков, Панайот Добриков. Програмиране = ++Алгоритми, може да се намери пример, реализиран чрез динамични списъци.</vt:lpstr>
      <vt:lpstr> Побитовото сортиране е линейно и има сложност от порядъка на C*n, където С е броят на разредите на сортираните числа.  Алгоритмът може да се обърне и да преглежда битовете от най-старшия към най младшия.  Подходът е добър при относително равномерно разпределение на ключовете в интервала. В противен случай много от стъпките се оказват излишни.</vt:lpstr>
      <vt:lpstr> 4.   Метод на бройните системи   Използва идеята на побитовото сортиране, но тук се създава по-голям брой списъци.  Нека имаме s на брой списъка. На първата стъпка елементите се разпределят по списъците в зависимост от остатъка, който дават при деление на s. При това остава в сила изискването добавянето да става само в края на списъците. Следва конкатенация на списъците по реда на нарастване на остатъците. Процесът се повтаря до изчерпване на цифрите на числата.</vt:lpstr>
      <vt:lpstr> Докато при побитовото сортиране разглеждаме двоичните цифри на числата, при този метод работим със стойностите на цифрите в s-ичното им представяне, т.е. разглеждаме числата като записани в s-ична бройна система. Оттук и името на алгоритма – метод на бройните системи. В частност, при s=2 получаваме алгоритъм на побитовото сортиране.  По принцип няма ограничения за броя на списъците. Но все пак трябва да се внимава, тъй като по-големия брой списъци s ще влоши скоростта на сортиране за достатъчно малки n (например, за n&lt;s). За предпочитане този брой да бъде степен на 2 с цел по-ефективно намиране на съответните остатъци.</vt:lpstr>
      <vt:lpstr>5. Сортиране чрез пермутация  Сортирането чрез пермутация е приложимо при по-силни ограничителни условия от вече разгледаните методи.  Към известните условия:</vt:lpstr>
      <vt:lpstr> Съгласно тези условия подреждането на елементите действа като пермутация (Пермутация е всяко множество или подмножество от обекти, в което вътрешното подреждане е от значение.  Пермутациите се различават от комбинациите, за които вътрешното подреждане не е от значение).  Това ни дава ефективен линеен алгоритъм, позволяващ сортиране на елементите на М на място, без използване на допълнителен масив, какъвто ни беше необходим при сортиране чрез множество или чрез броене.</vt:lpstr>
      <vt:lpstr> В процеса на сортиране не се извършва пряко сравнение на ключовете на различните елементи. Единствената проверка е дали елементът с ключ i е на i –та позиция. В случай, че на позиция i стои елемент с ключ j, j=m[i], i≠j, ще разменим i –тия и j –тия елементи, при което елементът с ключ j ще отиде на j-та позиция. Ако след размяната на i –та позиция стои елемент с ключ на i, то преминаваме към разглеждане на следващия (i +1)-ви елемент на m[ ]. В противен случай извършваме нова размяна – с елемента с индекс m[i] .</vt:lpstr>
      <vt:lpstr> Ще илюстрираме описания метод върху пермутацията 4375612. Започваме с i=1 и последователно разменяме първия елемент m[1] с m[m[1]], докато на позиция 1 не дойде елементът с ключ 1. Ще изписваме само ключовете, като ще подчертаваме елементите, които разменяме:    4 3 7 5 6 1 2  5 3 7 4 6 1 2  6 3 7 4 5 1 2  1 3 7 4 5 6 2 Сега числото 1 е на мястото си. Продължаваме с 2:  1 3 7 4 5 6 2  1 7 3 4 5 6 2  1 2 3 4 5 6 7</vt:lpstr>
      <vt:lpstr> Броят на размените не надвишава n. Броят на сравненията не надвишава 2n .   Защо?   Защото всеки елемент на пермутацията се преглежда най-много два пъти: веднъж при преминаване по съответния му цикъл и втори път при преминаване през крайната му позиция. В случай, че даден елемент е на мястото си в изходната пермутация, той ще участва само в едно сравнение.</vt:lpstr>
      <vt:lpstr>Заключение:   Сортирането чрез трансформация има линейна (или близка към линейната) сложност по време.   Но!  Алгоритмите не са универсални и могат да се използват само за определени специфични видове данни.</vt:lpstr>
      <vt:lpstr>                       Паралелно сортиране         Абстрактна машина, представляваща модул за сравнение-размяна или компаратор:      </vt:lpstr>
      <vt:lpstr> Компараторите (броят им не се ограничава) се свързват в сортираща схема или мрежа:             </vt:lpstr>
      <vt:lpstr>Сливаща мрежа за сортиране на 8 елемента:           </vt:lpstr>
      <vt:lpstr>     Сливаща мрежа за сортиране на 16 елемента:               </vt:lpstr>
      <vt:lpstr> Сортираща схема за сортирането чрез вмъкване:             </vt:lpstr>
      <vt:lpstr> Външно сортиране   Разгледаните методи за сортиране са предназначени за подреждане на масиви от данни, намиращи се в ОП. Но бихме могли да подреждаме и файлове, намиращи се на някакъв външен носител. За тази цел са необходими алгоритми за външно сортиране.   Разликата между методите за вътрешно и външно сортиране е по-скоро прагматична, отколкото фундаментална. Т. к. С/С++ позволява работа с файлове в режим на произволен достъп, бихме могли да адаптираме вече разгледаните методи и за файлове. Но трябва да се имат предвид няколко момента: - Повечето методи за вътрешно сортиране сортират in situ (на място), т. е. използват само един масив. Както данните, които трябва да бъдат сортирани, така и подредените вече данни са в този масив и не са нужни временни масиви. От друга страна, външните методи обикновено не са толкова икономични по отношение на паметта, а използват няколко файла. - Последователния достъп до елементите на масив обикновено не е по-бърз от произволния достъп до масив. Това не е така при файловете, т. к. при последователния достъп до файлове големи количества данни могат да бъдат съхранявани в буфер. Така че използването на последователен достъп при външно сортиране може да се окаже по-бързо.</vt:lpstr>
      <vt:lpstr> Балансирано многоходово сливане или  BMM   (Balanced multiway merging)   6 временни файла или ленти:   - 3 за вход   - 3 за изход   Входният файл съдържа следните данни:    hereisyourbooktheoneyourthousandsoflettershaveaskedmetopublish   N=5  herei  syour   bookt   heone  yourt  housa   ndsof  lette   rshav  easke  dmeto  publi  sh   Лента 0:  eehir     eehno     dfnos    aeeks    hs  Лента 1:  orsuy    ortuy      eeltt      demot         Лента 2:  bkoot    ahosu     ahrsv     bilpu</vt:lpstr>
      <vt:lpstr> Лента 0:  eehir     eehno     dfnos    aeeks    hs  Лента 1:  orsuy    ortuy      eeltt      demot         Лента 2:  bkoot    ahosu     ahrsv     bilpu  a[0]=e  a[1]=o  a[2]=b  a[2]=k    Лента 3:  beehikooorrstuy   abdeeeiklmopstu  Лента 4:  aeehhnooorstuuy    hs         Лента 5:  adeefhlnorssttv    Лента 0:  aabdeeeeeefhhhhiklnnooooooorrrrssssttttuuuvyy  Лента 1:  abdeeehiklmopsstu         Лента 2:  Окончателен резултат  (Лента 3):        aaabbddeeeeeeeeefhhhhhiikkllmnnooooooooprrrrsssssstttttuuuuvyy</vt:lpstr>
      <vt:lpstr>       АЛГОРИТМИ  ЗА  ТЪРСЕНЕ   Алгоритмите за търсене, също както и разгледаните алгоритми за сортиране, се явяват най-често срещани съставни части на системно и потребителско програмно осигуряване. Търсенето е процес на преглеждане на неподредена или подредена по определен ключ или ключове съвкупност от данни. Търсенето, както и сортирането на данни, може да бъде вътрешно, когато данните са разположени в оперативната памет, и външно, когато данните или част от тях се намира на някакъв външен носител.  Ние ще се ограничим с разглеждането на алгоритми за вътрешно търсене. Данните в примерите представляват цели числа, организирани в масив, или както е прието да се нарича - в таблица. Таблицата може да бъде подредена или неподредена.   Максималната сложност на алгоритмите за търсене е O(n). Това е очевидно, т. к. максималният брой необходими сравнения е n. </vt:lpstr>
      <vt:lpstr>1. Линейно (последователно) търсене (Linear Search, Sequential Search)  int seq_search(int a[], int k) // a[] - неподредена последователност от цели числа // k - търсената стойност {   int i=0; //работна променлива-индекс      while ((a[i]!=k)&amp;&amp;(i&lt;num))  //num - броят на      i++;       //елементите       if (a[i]==k)      return 1; //елементът е намерен          else return 0;      //елементът не е намерен }  Ако търсенето е успешно, средният брой на извършваните сравнения е n/2, ако предположим, че търсеният елемент равновероятно може на се намира на произволно място в масива (n - броят на елементите в масива). В най-лошия случай са необходими n операции за сравнение, ако търсенето е неуспешно.   Максималната сложност на алгоритъма е O(n) в случая, ако търсеният елемент е последен или не е включен в таблицата. Минималната сложност е О(1), ако търсеният елемент е първи в таблицата. </vt:lpstr>
      <vt:lpstr>2. Линейно (последователно) търсене в подредена таблица (Ordered Table Searching)   Ако таблицата съдържа подредени данни, не е необходимо да се преглежда цялата последователност. Търсенето може да бъде прекратено предварително.  int seq_order_search(int a[], int k) //a[] - подредена        //последователност от цели числа                         //k - търсената стойност {   int i=0;             //работна променлива-индекс      while ((a[i]&lt;k)&amp;&amp;(i&lt;n)) i++;   //n  - броят на      if (a[i]==k)         //елементите          return 1;    //елементът е намерен   else return 0;    //елементът не е намерен }  Търсенето се прекратява при достигането на търсения елемент или първия по-голям от него, което означава, че елементът не е включен в таблицата. Броят на необходимите сравнения в случай на неуспешно търсене намалява средно до n/2.</vt:lpstr>
      <vt:lpstr>3. Последователно търсене с преподреждане   Ако разполагаме с предварителна информация  относно вероятността за достъп до всеки от елементите, бихме могли да ги подредим така, че най-често търсеният да бъде в началото на масива, следващия - непосредствено след него и т. н. Използването на подобна стратегия е особено ефективно при силно неравномерно разпределение, при което малък брой елементи се търсят с много голяма вероятност.  В случай, че не разполагаме с такава предварителна информация, бихме могли сами да си я получим с помощта на прости статистически наблюдения: достатъчно е към всеки елемент да добавим брояч на достъп до него. При всяко ново търсене ще актуализираме брояча на търсения елемент. Елементите са наредени по своите броячи, така след актуализацията  той ще мине по-напред в списъка. Т. к. в списъка може да има многократно дублиране на честотите на достъп, в случай на размяна се налага съответно сравнение и със съседните елементи, докато се намери точната позиция, съответстваща на новата честота на елемента. Реорганизацията става за време, пропорционално на n, като в най-лошия случай може да се наложи последния елемент в масива да стане първи, разменяйки се последователно с всички преди него.  Повече информация -  Н. Уирт. “Алгоритми + Структури от данни = Програми”, Техника, 1988.</vt:lpstr>
      <vt:lpstr> Предложената схема с поддържане на броячи е доста тромава и изисква допълнителна памет от порядъка на n,но тя би могла да се оптимизира. В този случай се оказва изключително ефективно прилагането на една проста стратегия за реорганизация, не изискваща поддържане на броячи и водене на статистика. Вместо това, при всяко успешно търсене на елемент той се поставя в началото на масива. Разбира се, тази стратегия не ни гарантира оптимално подреждане на елементите съгласно честотата им на достъп, но пък е лесна за поддържане и достатъчно ефективна. Реорганизацията на масива става сравнително бързо, и колкото по-често е осъществяван достъп до даден елемент, с толкова по-голяма вероятност той ще се намира сред първите елементи на масива:  int search_reordering(int a[], int k) {     int rab, i=0;    while ((a[i]!=k)&amp;&amp;(i&lt;num)) i++;    if (a[i]==k)       {rab=a[0]; a[0]=a[i]; a[i]=rab; return 1;}       else   return 0; }      </vt:lpstr>
      <vt:lpstr>4. Търсене със стъпка. Квадратично търсене   Ако сравним  първите два алгоритъма за търсене (последователно търсене и последователно търсене в подреден масив/таблица), то може да се каже, че вторият алгоритъм не използва достатъчно пълноценно наредбата на елементите. Ще поправим тази грешка, възприемайки следния подход. Нека изберем някаква стъпка  k  и последователно извършим проверка дали търсеният елемент е по-голям от първия елемент в масива, от (k +1)-ия елемент, от (2k +1)-ия елемент, от (3k +1)-ия елемент и т. н. Процесът приключва  при достигане на елемент, по-голям или равен на търсения x, или на края на масива.  Да разгледаме по-внимателно горната схема (която се нарича търсене със стъпка). Нека предположим, че, прилагайки я, сме достигнали до елемент, по-голям от x . Сега можем да използваме последователно търсене в интервала, определен от последните две проби. В случай, че сме били излезли извън масива, можем да използваме последователно търсене от предишната проба до края на масива. Подобен подход води до силно съкращаване на броя на елементите, които се преглеждат от последователно търсене. Изложеният метод е обобщение на линейното търсене (k=1): a[1]   a[2]  a[3] … a[k+1]     ...     a[2k+1]   a[2k+2] …  a[3k+ 1 ] ….  a[n]</vt:lpstr>
      <vt:lpstr> В описания горе метод търсенето започва от първия елемент (или a[1]). Доказано е, че този избор, както и a[n], е лош, понеже носи минимална информация. Много по-удачно е да се започне направо с  a[k]. (Пак се вижда, че при k =1 се получава линейно търсене.)   Каква е ефективността на описания метод при фиксирано k  и кой е най-лошия случай? Ясно е, че линейното търсене има еднаква цена за всички интервали от вида [a[i*k+1], a[(i+1)*k]],  т. к. се извършва върху еднакъв брой елементи. Изключение може да прави единствено последния интервал, който евентуално може да съдържа по-малко от k  елементи. В най-лошия случай търсения елемент е в последния интервал, което означава, че ще бъдат необходими [n/k] сравнения, за да определим нужния ни интервал, в който да приложим линейното търсене. Към тях следва да се добави дължината на интервала, която при n, кратно на  k, е  k-1.  Оттук следва, че в най-лошия случай при търсене със стъпка k  се извършват не повече от  [n/k] + k - 1 сравнения.</vt:lpstr>
      <vt:lpstr>Примерна реализация на описания алгоритъм:  unsigned seq_search(unsigned lf, unsigned rt, int key) { while (lf&lt;rt)        if (a[lf++]==key])              return lf-1;   //елементът е намерен     return -1;   // елементът не е намерен } unsigned jmp_search(int key, unsigned step) { unsigned ind;    for (ind=0; ind&lt;n&amp;&amp;a[ind]&lt;key; ind+=step);    return  seq_search(ind+1&lt;step ? 0 : ind+1- step, n&lt;ind ? n: ind, key); }         Максимален брой сравнения при различни стойности на  n и k:         </vt:lpstr>
      <vt:lpstr> От таблицата се вижда, че най-добрите стойности на k са близки до n/2, т. е. са разположени в средата на съответния ред на таблицата или непосредствено вляво от нея. За да определим по-точно, кои стойности на  k  са най-добри и как зависят от  n , следва да определим  при каква зависимост между k  и n функцията f(k) приема минимална стойност:     f(k)=[n/k] + k - 1   Може да се докаже (чрез изследване на знака на втората производна), че това е стойността k=n. Тогава f(k)=2 n +1. В този случай търсенето се нарича квадратично.  Постигнахме съществено подобрение - от n до n . Бихме ли да постигнем повече? Да, ако след определяне на интервала, преди да извършим последователно търсене, ще приложим търсене с някаква нова стъпка m (1&lt;m&lt;k) и едва след това последователно търсене. Това подобрение има смисъл, ако дължината на интервала след първото търсене със стъпка  k е голяма.  Първият интервал се определя с не повече от  k сравнения, вторият - с не повече от m  сравнения, и накрая не повече от  n/(k*m) сравнения за последователното търсене. Можем да образуваме нова функция, която да минимизираме и ще получим k=m=n/(k*m), откъдето  n=k3.  За по-големи подробности – в книгата на Преслав Наков, Панайот Добриков. Програмиране = ++Алгоритми, TpoTeam Co., София, 2002.  </vt:lpstr>
      <vt:lpstr>5. Двоично търсене (Binary Search, Logarithmic Search)   В случай на голям брой елементи и голям брой търсения е удобно използването на двоично търсене.  Двоичното търсене е още един добър пример на принципа "разделяй и владей" и използва идеята, позната от пирамидалното сортиране . Обикновено се прилага към подреден масив/ таблица. Методът е рекурсивен. Търсената стойност k се сравнява с ключа на средния елемент в таблицата. Ако елементът е по-голям, търсенето продължава в дясната част от таблицата, в противен случай - в лявата. При съвпадение търсенето се прекратява. На всяка стъпка размерът на полето за търсене се съкращава приблизително двойно:  int Bin_search(int a[], int lf, int rt, int k) // a[] - подредена последователност от num цели числа // k - търсената стойност // lf - left - лявата граница на индекса // rt - right - дясната граница на индекса // Обръщението към функцията изглежда така:  // Bin_search(a,0,num,k) {  if (lf&gt;rt) return 0;  int m=(lf+rt)/2;     if (a[m]==k) return a[m];      if (lf==rt) return 0;      if(a[m]&gt;k) return Bin_search(a, lf, m-1, k);          else   return Bin_search(a, m+1, rt, k); } </vt:lpstr>
      <vt:lpstr> Ситуацията lf=rt отговаря на листата на дървото. Алгоритъмът предполага максимум [log2n] +1 сравнения. Сложността на алгоритъма е O(log n).  Основният недостатък на двоичното търсене е тежката операция деление, извършвана на всяка стъпка от изпълнението на алгоритъма.    Реализацията му на С/С++ позволява да се избегне тази операция, като делението на 2 се извършва с изместване на делимото с една позиция надясно, т. е. редът     int m=(lf+rt)/2;  следва да се замени с:                              int m=(lf+rt)&gt;&gt;1;</vt:lpstr>
      <vt:lpstr> Описаният процес е рекурсивен. На практика обаче на всяка стъпка се разглежда точно един от двата подмасива. Вземайки предвид това, не е трудно да реализираме итеративно решение:  int bin_search (int  k) {      int lf=0, rt=n-1, m;      while (lf &lt;=rt)          {               m = (lf + rt)&gt;&gt;1;               if (k &lt;a[m])                   rt = m - 1;                      else  if (k&gt;a[m])                                    lf =  m + 1;                                          else return m;  // m - индекс на намерения елемент           }        return (-1);                 // елементът не е намерен }  Възможни са и други подобрения на алгоритъма, които могат да се намерят в книгата на Преслав Наков, Панайот Добриков. Програмиране = ++Алгоритми, TpoTeam Co., София, 2002. </vt:lpstr>
      <vt:lpstr>6. Фибоначиево търсене   Представлява модификация на двоичното търсене. За разлика от двоичното търсене, тук за сравнение се избира не средния елемент в масива, а елемент с индекс Fk-1, като се има предвид, че броят на елементите в масива  n = Fk-1.   Числата на Фибоначи се задават с рекурентната формула:     F0 =0 , F1 = 1, Fn = Fn-1 + Fn-2  , n&gt;=2    На първа стъпка сравняваме търсената стойност key с а[Fk-1]. В случай на равенство търсенето приключва успешно. Ако key &lt; а[Fk-1], на следващата стъпка се разглеждат елементите с индексите 0, 1, 2, …, Fk-1-1. Ако пък key &gt; а[Fk-1], разглежданите елементи ще имат индекси Fk-1+1,   Fk-1+2, …, n.  В първия случай за следващата стъпка получаваме последователност с дължина Fk-1  - 1, а във втория - Fk-2  - 1.  Процесът се повтаря върху неотхвърлената част до намиране на търсения елемент или до достигане на празната последователност.   По-детайлно описание на алгоритъма може да се намери в книгата на Преслав Наков, Панайот Добриков. Програмиране = ++Алгоритми, TpoTeam Co., София, 2002.   </vt:lpstr>
      <vt:lpstr>PowerPoint Presentation</vt:lpstr>
      <vt:lpstr>PowerPoint Presentation</vt:lpstr>
      <vt:lpstr>7. Интерполационно търсене   Подходът също така представлява модификация на двоичното търсене, при което масивът се дели на две равни части и индексът на сравняваният елемент се изчислява като                       m = (lf+rt) / 2   (lf - левия индекс, rt - десния индекс)    или         m = lf + (rt-lf) / 2  Получената формула показва, че следващата позиция на разделяне на интервала се получава, като към началото му добавим половината от дължината му.  Знаейки търсената стойност key, ние можем да потърсим позицията й по следната интерполационна формула:         m = lf + k*(rt - lf),                              където k = (key - a[lf]) / (a[rt] - a[lf])   Коефициентът k замества константата 1/2 (в двоичното търсене) и ни дава приблизителната позиция на търсения елемент в разглеждания интервал. </vt:lpstr>
      <vt:lpstr>Функция за интерполационно търсене:  int inter_search(int key, int num) {  unsigned lf, rt, m;//lf - началния индекс в интервала       //rt - крайния индекс в интервала       //m - индекса на сравнявания елемент     float k;    //коефициент  lf=0; rt=num-1;    while (lf&lt;=rt)    {     if (a[rt]==a[lf])  if (a[lf]==key)     return lf;  //елементът е намерен  else     return 0;  //елементът не е намерен     k=(float) (key-a[lf])/(a[rt]-a[lf]); //коефициент на                                           //позицията     if (k&lt;0||k&gt;1)       return 0;      //елементът не е намерен     m=(unsigned)(lf+k*(rt-lf)+0.5);     if (key&lt;a[m])        rt=m-1;      else  if(key&gt;a[m])        lf=m+1;        else  return m;    //елементът е намерен   }  return 0;      //елементът не е намерен }   </vt:lpstr>
      <vt:lpstr> Методът е реализуем, когато ключовите стойности са числа или могат лесно да се интерпретират като такива, така че коефициента  k  да попада в интервала [0, 1].  Алгоритъмът е добър при равномерно разпределение на стойностите в масива. Тогава интерполационното търсене извършва по-малко от   Log2(log2 n) + 1 сравнения както при успешно, така и при неуспешно търсене. Препоръчва се при големи обеми данни и големи по размер ключове, когато сравненията отнемат много време. </vt:lpstr>
      <vt:lpstr>PowerPoint Presentation</vt:lpstr>
      <vt:lpstr>Когато ключът е целочислен, най-често хеш-функциите H(K) се задават като остатък от деление на ключа К върху М, което определя размера на таблицата:   H(K)= K mod M  0&lt;= H(Ki)&lt;= M-1 В случая, когато ключовете са символни низове, те се преобразуват в цели положителни числа чрез сумиране на ASCII-кодовете на влизащите в тях символи. Съществуват и други класически хеш-функции, които могат да с видят в специализираната литература. Хеширането е процес, при който по зададен ключ на елемента се определя неговия адрес в хеш-таблицата: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Двойно хеширане  Двойното хеширане е подобно на вече разгледаните методи, но използва две хеш-функции:    h(k, i)= h1(k) + i*h2(k) Тук i е номерът на пробата след първата колизия. Втората хеш-функция се използва само в случаите, когато резултатът от първата води до колизия. Като ключ при повторно хеширане може да се използва както оригиналния ключ на елемента, така и хеш-адресът, получен при прилагане на първата хеш-функция.  4. Рехеширане  Прилага се при голямо запълване на таблицата (над 1/2). Създава се нова хеш-таблица с двойно по-голям размер (обикновено се взема първото просто число, по-голямо от 2n). В новата таблица се прехвърлят ключовете от първата.  5. Разширено хеширане  Използва се тогава, когато хеш-таблицата не може да се помести в оперативната памет.  В този случай таблицата се зарежда в ОП на част (по блокове). Хеширането трябва да е такова, че да има минимален среден брой обръщения към външна памет при търсене на ключ в таблицата.  </vt:lpstr>
      <vt:lpstr>PowerPoint Presentation</vt:lpstr>
      <vt:lpstr>PowerPoint Presentation</vt:lpstr>
      <vt:lpstr>Пример за създаване хеш-таблица и търсене в нея. Данните в таблицата са имена и факултетни номера на студенти от една студентска група. Ключовите стойности на елементите са факултетните номера. Възможните колизии се отстраняват чрез използване на списъците на препълванията.   #include &lt;iostream&gt; using namespace std; const int m=31;    //размер на хеш-таблицата       //(студентската група) struct ptr {char name[10]; int fn; ptr *next;} *hash[m]; //структура            //на данните                                               //hash[m] - хеш-таблица, реализирана като масив от  //указатели,сочещи към списъците на препълванията void init()  //инициализация на таблицата {   for (int i=0; i&lt;m; i++)    hash[i]=NULL; }  </vt:lpstr>
      <vt:lpstr>void create()         //създаване на хеш-таблицата {   int f, h;  // f - текущ Ф.№, h - текуща стойност на хеш-функцията   cout&lt;&lt;"\nЗадайте Ф.№: ";   cin&gt;&gt;f;   h=f%m;   ptr *q=hash[h];    //работен указател   ptr *s=new ptr;    //работен указател   s-&gt;fn=f;   cout&lt;&lt;"\nВъведете име: ";   cin&gt;&gt;s-&gt;name;   s-&gt;next=NULL;   if (!q)    //няма колизия, списъкът е празен        hash[h]=s;     else    //списъкът не е празен      { while (q-&gt;next)  q=q-&gt;next;        q-&gt;next=s;      } }</vt:lpstr>
      <vt:lpstr>void seek()       //търсене в хеш-таблицата {   int fl=1;         //флаг   int f, h;   cout&lt;&lt;"\nЗадайте търсения Ф.№:";   cin&gt;&gt;f;   h=f % m;  //изчисляване на хеш-функцията   ptr *q=hash[h];   while (q&amp;&amp;fl)      if (q-&gt;fn==f)        {fl=0; cout&lt;&lt;q-&gt;name&lt;&lt;"  "&lt;&lt;q-&gt;fn;}       else q=q-&gt;next;   if (fl)      cout&lt;&lt;"\nВ групата няма студент с Ф.№ "&lt;&lt;f&lt;&lt;"!"; } </vt:lpstr>
      <vt:lpstr>void main() {init();  //инициализация  char c;  //работна променлива  do  {    create(); //добавяне на елемент в таблицата    cout&lt;&lt;"Ще добавяте ли друг студент (Y/N):";    cin&gt;&gt;c;  }  while (c!='N'&amp;&amp;c!='n');  do  {    seek();    cout&lt;&lt;"\nИскате ли да потърсете друг студент (Y/N):";    cin&gt;&gt;c;  }  while (c!='N'&amp;&amp;c!='n'); }</vt:lpstr>
      <vt:lpstr>Заключение:   Съотношението между броя ключовете, записани в хеш-таблицата, и нейния размер се нарича фактор на запълване (или на натоварване).   При отвореното хеширане факторът трябва да има стойност, близка до 1 (може и по-голяма от 1).  При затвореното хеширане факторът на запълване не трябва да надвишава 1/2.   Къде се прилага хеширането?  Навсякъде, където се извършва търсене и запис на данни, когато е от значение времето, необходимо за реализация на тези две операции. Например:  - при компилаторите (в т.н. символна таблица, за да се съхраняват в нея идентификатори в изходния код на компилираната програма;  - в програмите за игри - в т.н. транспозиционни таблици;  - в програмите за проверка на правописа - при търсене на думите в речник </vt:lpstr>
    </vt:vector>
  </TitlesOfParts>
  <Company>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TU - Varna</dc:creator>
  <cp:lastModifiedBy>Елена Рачева</cp:lastModifiedBy>
  <cp:revision>320</cp:revision>
  <dcterms:created xsi:type="dcterms:W3CDTF">2003-09-01T10:38:30Z</dcterms:created>
  <dcterms:modified xsi:type="dcterms:W3CDTF">2020-02-11T16:02:51Z</dcterms:modified>
</cp:coreProperties>
</file>
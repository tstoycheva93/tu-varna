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xls" ContentType="application/vnd.ms-excel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1"/>
  </p:sldMasterIdLst>
  <p:notesMasterIdLst>
    <p:notesMasterId r:id="rId52"/>
  </p:notesMasterIdLst>
  <p:sldIdLst>
    <p:sldId id="279" r:id="rId2"/>
    <p:sldId id="301" r:id="rId3"/>
    <p:sldId id="304" r:id="rId4"/>
    <p:sldId id="280" r:id="rId5"/>
    <p:sldId id="281" r:id="rId6"/>
    <p:sldId id="295" r:id="rId7"/>
    <p:sldId id="296" r:id="rId8"/>
    <p:sldId id="297" r:id="rId9"/>
    <p:sldId id="298" r:id="rId10"/>
    <p:sldId id="299" r:id="rId11"/>
    <p:sldId id="300" r:id="rId12"/>
    <p:sldId id="282" r:id="rId13"/>
    <p:sldId id="284" r:id="rId14"/>
    <p:sldId id="285" r:id="rId15"/>
    <p:sldId id="286" r:id="rId16"/>
    <p:sldId id="287" r:id="rId17"/>
    <p:sldId id="288" r:id="rId18"/>
    <p:sldId id="278" r:id="rId19"/>
    <p:sldId id="257" r:id="rId20"/>
    <p:sldId id="258" r:id="rId21"/>
    <p:sldId id="292" r:id="rId22"/>
    <p:sldId id="293" r:id="rId23"/>
    <p:sldId id="289" r:id="rId24"/>
    <p:sldId id="259" r:id="rId25"/>
    <p:sldId id="260" r:id="rId26"/>
    <p:sldId id="261" r:id="rId27"/>
    <p:sldId id="262" r:id="rId28"/>
    <p:sldId id="263" r:id="rId29"/>
    <p:sldId id="265" r:id="rId30"/>
    <p:sldId id="266" r:id="rId31"/>
    <p:sldId id="267" r:id="rId32"/>
    <p:sldId id="268" r:id="rId33"/>
    <p:sldId id="269" r:id="rId34"/>
    <p:sldId id="294" r:id="rId35"/>
    <p:sldId id="303" r:id="rId36"/>
    <p:sldId id="305" r:id="rId37"/>
    <p:sldId id="306" r:id="rId38"/>
    <p:sldId id="307" r:id="rId39"/>
    <p:sldId id="308" r:id="rId40"/>
    <p:sldId id="309" r:id="rId41"/>
    <p:sldId id="310" r:id="rId42"/>
    <p:sldId id="311" r:id="rId43"/>
    <p:sldId id="270" r:id="rId44"/>
    <p:sldId id="290" r:id="rId45"/>
    <p:sldId id="271" r:id="rId46"/>
    <p:sldId id="272" r:id="rId47"/>
    <p:sldId id="273" r:id="rId48"/>
    <p:sldId id="274" r:id="rId49"/>
    <p:sldId id="275" r:id="rId50"/>
    <p:sldId id="291" r:id="rId51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9" d="100"/>
          <a:sy n="89" d="100"/>
        </p:scale>
        <p:origin x="-691" y="2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00" d="100"/>
          <a:sy n="100" d="100"/>
        </p:scale>
        <p:origin x="-864" y="64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13ED226-EFA6-49DB-BFD4-CFB7250D9D9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8332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03BB7C-3D05-4952-A6E9-A38E466F6844}" type="slidenum">
              <a:rPr lang="en-US"/>
              <a:pPr/>
              <a:t>17</a:t>
            </a:fld>
            <a:endParaRPr lang="en-US"/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u="sng"/>
              <a:t>Египетски дроби</a:t>
            </a:r>
            <a:r>
              <a:rPr lang="bg-BG"/>
              <a:t>:</a:t>
            </a:r>
          </a:p>
          <a:p>
            <a:r>
              <a:rPr lang="bg-BG"/>
              <a:t>Известно е, че древните египтяне са използвали означение само за дробите с числител 1. Всяка друга дроб </a:t>
            </a:r>
            <a:r>
              <a:rPr lang="en-US" b="1" i="1"/>
              <a:t>p/q</a:t>
            </a:r>
            <a:r>
              <a:rPr lang="bg-BG"/>
              <a:t> се е представяла и записвала като сума от дроби с числител 1:</a:t>
            </a:r>
          </a:p>
          <a:p>
            <a:r>
              <a:rPr lang="bg-BG"/>
              <a:t>7/9 = 1/3 + 1/3 + 1/9</a:t>
            </a:r>
          </a:p>
          <a:p>
            <a:r>
              <a:rPr lang="bg-BG"/>
              <a:t>7/9 = 1/2 + 1/4 + 1/36</a:t>
            </a:r>
          </a:p>
          <a:p>
            <a:r>
              <a:rPr lang="bg-BG"/>
              <a:t>7/9 = 1/9 + 1/9 + 1/9 + 1/9 + 1/9 + 1/9 + 1/9</a:t>
            </a:r>
          </a:p>
          <a:p>
            <a:r>
              <a:rPr lang="bg-BG"/>
              <a:t>Задачата има много решения за дадени </a:t>
            </a:r>
            <a:r>
              <a:rPr lang="en-US" b="1" i="1"/>
              <a:t>p</a:t>
            </a:r>
            <a:r>
              <a:rPr lang="bg-BG" b="1" i="1"/>
              <a:t> </a:t>
            </a:r>
            <a:r>
              <a:rPr lang="bg-BG"/>
              <a:t>и</a:t>
            </a:r>
            <a:r>
              <a:rPr lang="bg-BG" b="1" i="1"/>
              <a:t> </a:t>
            </a:r>
            <a:r>
              <a:rPr lang="en-US" b="1" i="1"/>
              <a:t>q</a:t>
            </a:r>
            <a:r>
              <a:rPr lang="bg-BG"/>
              <a:t>, но обикновено се търси произволно решение, отговарящо на формулираното изискване. </a:t>
            </a:r>
          </a:p>
          <a:p>
            <a:endParaRPr lang="bg-BG"/>
          </a:p>
          <a:p>
            <a:r>
              <a:rPr lang="bg-BG" u="sng"/>
              <a:t>Минимално оцветяване на граф и дърво</a:t>
            </a:r>
            <a:r>
              <a:rPr lang="bg-BG"/>
              <a:t>:</a:t>
            </a:r>
          </a:p>
          <a:p>
            <a:r>
              <a:rPr lang="bg-BG"/>
              <a:t>В даден граф </a:t>
            </a:r>
            <a:r>
              <a:rPr lang="en-US" b="1" i="1"/>
              <a:t>G(V, E)</a:t>
            </a:r>
            <a:r>
              <a:rPr lang="bg-BG"/>
              <a:t> не трябва да има два съседни върха, оцветени с един цвят. По-принцип, задачата се решава с пълно изчерпване на вариантите. “Лакомите” варианти не винаги гарантират оптималното решение на задачата.</a:t>
            </a:r>
          </a:p>
          <a:p>
            <a:endParaRPr lang="bg-BG"/>
          </a:p>
          <a:p>
            <a:r>
              <a:rPr lang="bg-BG" u="sng"/>
              <a:t>Намиране на минимално покриващо дърво за даден граф </a:t>
            </a:r>
            <a:r>
              <a:rPr lang="en-US" i="1" u="sng"/>
              <a:t>G(V, E)</a:t>
            </a:r>
            <a:r>
              <a:rPr lang="bg-BG"/>
              <a:t> :</a:t>
            </a:r>
          </a:p>
          <a:p>
            <a:r>
              <a:rPr lang="bg-BG"/>
              <a:t> На практика се реализират алгоритмите на Прим и Крускал.: покриващо дърво се изгражда, като на всяка стъпка се избира ребро с минимално тегло, свързващо съответно две несвързани досега поддървета в графа (Крускал) или текущото покриващо дърво с нов връх извън него (Прим). </a:t>
            </a:r>
          </a:p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841785F-A31A-4ABB-846B-CC614B9560FA}" type="slidenum">
              <a:rPr lang="en-US"/>
              <a:pPr/>
              <a:t>18</a:t>
            </a:fld>
            <a:endParaRPr lang="en-US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лавие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bg-BG" smtClean="0"/>
              <a:t>Щракнете, за да редактирате стила на заглавието в образеца</a:t>
            </a:r>
            <a:endParaRPr kumimoji="0" lang="en-US"/>
          </a:p>
        </p:txBody>
      </p:sp>
      <p:sp>
        <p:nvSpPr>
          <p:cNvPr id="22" name="Подзаглавие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bg-BG" smtClean="0"/>
              <a:t>Щракнете, за да редактирате стила на подзаглавията в образеца</a:t>
            </a:r>
            <a:endParaRPr kumimoji="0" lang="en-US"/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20" name="Контейнер за долния колонтитул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10" name="Контейнер за номер на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91BBDF3-CBDF-490C-95E8-F592612529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Овал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bg-BG" smtClean="0"/>
              <a:t>Щракнете, за да редактирате стила на заглавието в образеца</a:t>
            </a:r>
            <a:endParaRPr kumimoji="0" lang="en-US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bg-BG" smtClean="0"/>
              <a:t>Щракн., за да ред. стил на загл. в обр.</a:t>
            </a:r>
          </a:p>
          <a:p>
            <a:pPr lvl="1" eaLnBrk="1" latinLnBrk="0" hangingPunct="1"/>
            <a:r>
              <a:rPr lang="bg-BG" smtClean="0"/>
              <a:t>Второ ниво</a:t>
            </a:r>
          </a:p>
          <a:p>
            <a:pPr lvl="2" eaLnBrk="1" latinLnBrk="0" hangingPunct="1"/>
            <a:r>
              <a:rPr lang="bg-BG" smtClean="0"/>
              <a:t>Трето ниво</a:t>
            </a:r>
          </a:p>
          <a:p>
            <a:pPr lvl="3" eaLnBrk="1" latinLnBrk="0" hangingPunct="1"/>
            <a:r>
              <a:rPr lang="bg-BG" smtClean="0"/>
              <a:t>Четвърто ниво</a:t>
            </a:r>
          </a:p>
          <a:p>
            <a:pPr lvl="4" eaLnBrk="1" latinLnBrk="0" hangingPunct="1"/>
            <a:r>
              <a:rPr lang="bg-BG" smtClean="0"/>
              <a:t>Пето ниво</a:t>
            </a:r>
            <a:endParaRPr kumimoji="0"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C06B6A1-A8D7-4CB9-8E1A-AEB300DCBB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авоъгълник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bg-BG" smtClean="0"/>
              <a:t>Щракнете, за да редактирате стила на заглавието в образеца</a:t>
            </a:r>
            <a:endParaRPr kumimoji="0" lang="en-US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bg-BG" smtClean="0"/>
              <a:t>Щракн., за да ред. стил на загл. в обр.</a:t>
            </a:r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31D05AC-2E1D-476D-B404-781BE39AD0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Правоъгълник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Овал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bg-BG" smtClean="0"/>
              <a:t>Щракнете, за да редактирате стила на заглавието в образеца</a:t>
            </a:r>
            <a:endParaRPr kumimoji="0" lang="en-US"/>
          </a:p>
        </p:txBody>
      </p:sp>
      <p:sp>
        <p:nvSpPr>
          <p:cNvPr id="3" name="Контейнер за съдържание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bg-BG" smtClean="0"/>
              <a:t>Щракн., за да ред. стил на загл. в обр.</a:t>
            </a:r>
          </a:p>
          <a:p>
            <a:pPr lvl="1" eaLnBrk="1" latinLnBrk="0" hangingPunct="1"/>
            <a:r>
              <a:rPr lang="bg-BG" smtClean="0"/>
              <a:t>Второ ниво</a:t>
            </a:r>
          </a:p>
          <a:p>
            <a:pPr lvl="2" eaLnBrk="1" latinLnBrk="0" hangingPunct="1"/>
            <a:r>
              <a:rPr lang="bg-BG" smtClean="0"/>
              <a:t>Трето ниво</a:t>
            </a:r>
          </a:p>
          <a:p>
            <a:pPr lvl="3" eaLnBrk="1" latinLnBrk="0" hangingPunct="1"/>
            <a:r>
              <a:rPr lang="bg-BG" smtClean="0"/>
              <a:t>Четвърто ниво</a:t>
            </a:r>
          </a:p>
          <a:p>
            <a:pPr lvl="4" eaLnBrk="1" latinLnBrk="0" hangingPunct="1"/>
            <a:r>
              <a:rPr lang="bg-BG" smtClean="0"/>
              <a:t>Пето ниво</a:t>
            </a:r>
            <a:endParaRPr kumimoji="0" lang="en-US"/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bg-BG" smtClean="0"/>
              <a:t>Щракн., за да ред. стил на загл. в обр.</a:t>
            </a:r>
          </a:p>
          <a:p>
            <a:pPr lvl="1" eaLnBrk="1" latinLnBrk="0" hangingPunct="1"/>
            <a:r>
              <a:rPr lang="bg-BG" smtClean="0"/>
              <a:t>Второ ниво</a:t>
            </a:r>
          </a:p>
          <a:p>
            <a:pPr lvl="2" eaLnBrk="1" latinLnBrk="0" hangingPunct="1"/>
            <a:r>
              <a:rPr lang="bg-BG" smtClean="0"/>
              <a:t>Трето ниво</a:t>
            </a:r>
          </a:p>
          <a:p>
            <a:pPr lvl="3" eaLnBrk="1" latinLnBrk="0" hangingPunct="1"/>
            <a:r>
              <a:rPr lang="bg-BG" smtClean="0"/>
              <a:t>Четвърто ниво</a:t>
            </a:r>
          </a:p>
          <a:p>
            <a:pPr lvl="4" eaLnBrk="1" latinLnBrk="0" hangingPunct="1"/>
            <a:r>
              <a:rPr lang="bg-BG" smtClean="0"/>
              <a:t>Пето ниво</a:t>
            </a:r>
            <a:endParaRPr kumimoji="0" lang="en-US"/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20FAD87-9AE5-433E-9860-93DBEDACF2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bg-BG" smtClean="0"/>
              <a:t>Щракнете, за да редактирате стила на заглавието в образеца</a:t>
            </a:r>
            <a:endParaRPr kumimoji="0" lang="en-US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bg-BG" smtClean="0"/>
              <a:t>Щракн., за да ред. стил на загл. в обр.</a:t>
            </a:r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bg-BG" smtClean="0"/>
              <a:t>Щракн., за да ред. стил на загл. в обр.</a:t>
            </a:r>
          </a:p>
        </p:txBody>
      </p:sp>
      <p:sp>
        <p:nvSpPr>
          <p:cNvPr id="5" name="Контейнер за съдържание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bg-BG" smtClean="0"/>
              <a:t>Щракн., за да ред. стил на загл. в обр.</a:t>
            </a:r>
          </a:p>
          <a:p>
            <a:pPr lvl="1" eaLnBrk="1" latinLnBrk="0" hangingPunct="1"/>
            <a:r>
              <a:rPr lang="bg-BG" smtClean="0"/>
              <a:t>Второ ниво</a:t>
            </a:r>
          </a:p>
          <a:p>
            <a:pPr lvl="2" eaLnBrk="1" latinLnBrk="0" hangingPunct="1"/>
            <a:r>
              <a:rPr lang="bg-BG" smtClean="0"/>
              <a:t>Трето ниво</a:t>
            </a:r>
          </a:p>
          <a:p>
            <a:pPr lvl="3" eaLnBrk="1" latinLnBrk="0" hangingPunct="1"/>
            <a:r>
              <a:rPr lang="bg-BG" smtClean="0"/>
              <a:t>Четвърто ниво</a:t>
            </a:r>
          </a:p>
          <a:p>
            <a:pPr lvl="4" eaLnBrk="1" latinLnBrk="0" hangingPunct="1"/>
            <a:r>
              <a:rPr lang="bg-BG" smtClean="0"/>
              <a:t>Пето ниво</a:t>
            </a:r>
            <a:endParaRPr kumimoji="0" lang="en-US"/>
          </a:p>
        </p:txBody>
      </p:sp>
      <p:sp>
        <p:nvSpPr>
          <p:cNvPr id="6" name="Контейнер за съдържание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bg-BG" smtClean="0"/>
              <a:t>Щракн., за да ред. стил на загл. в обр.</a:t>
            </a:r>
          </a:p>
          <a:p>
            <a:pPr lvl="1" eaLnBrk="1" latinLnBrk="0" hangingPunct="1"/>
            <a:r>
              <a:rPr lang="bg-BG" smtClean="0"/>
              <a:t>Второ ниво</a:t>
            </a:r>
          </a:p>
          <a:p>
            <a:pPr lvl="2" eaLnBrk="1" latinLnBrk="0" hangingPunct="1"/>
            <a:r>
              <a:rPr lang="bg-BG" smtClean="0"/>
              <a:t>Трето ниво</a:t>
            </a:r>
          </a:p>
          <a:p>
            <a:pPr lvl="3" eaLnBrk="1" latinLnBrk="0" hangingPunct="1"/>
            <a:r>
              <a:rPr lang="bg-BG" smtClean="0"/>
              <a:t>Четвърто ниво</a:t>
            </a:r>
          </a:p>
          <a:p>
            <a:pPr lvl="4" eaLnBrk="1" latinLnBrk="0" hangingPunct="1"/>
            <a:r>
              <a:rPr lang="bg-BG" smtClean="0"/>
              <a:t>Пето ниво</a:t>
            </a:r>
            <a:endParaRPr kumimoji="0" lang="en-US"/>
          </a:p>
        </p:txBody>
      </p:sp>
      <p:sp>
        <p:nvSpPr>
          <p:cNvPr id="7" name="Контейнер за 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8" name="Контейнер за долния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Контейнер за номер н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CE9E2651-CDD3-4854-879B-600F67B1069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bg-BG" smtClean="0"/>
              <a:t>Щракнете, за да редактирате стила на заглавието в образеца</a:t>
            </a:r>
            <a:endParaRPr kumimoji="0" lang="en-US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A9D7852-28DA-4833-97B7-51A74BCA55E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авоъгълник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Контейнер за 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3" name="Контейнер за долния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Контейнер за номер н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E563694-B830-447B-96C3-FFA0AB08155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Правоъгълник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bg-BG" smtClean="0"/>
              <a:t>Щракнете, за да редактирате стила на заглавието в образеца</a:t>
            </a:r>
            <a:endParaRPr kumimoji="0" lang="en-US"/>
          </a:p>
        </p:txBody>
      </p:sp>
      <p:sp>
        <p:nvSpPr>
          <p:cNvPr id="3" name="Текстов контейнер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bg-BG" smtClean="0"/>
              <a:t>Щракн., за да ред. стил на загл. в обр.</a:t>
            </a:r>
          </a:p>
        </p:txBody>
      </p:sp>
      <p:sp>
        <p:nvSpPr>
          <p:cNvPr id="4" name="Контейнер за съдържание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bg-BG" smtClean="0"/>
              <a:t>Щракн., за да ред. стил на загл. в обр.</a:t>
            </a:r>
          </a:p>
          <a:p>
            <a:pPr lvl="1" eaLnBrk="1" latinLnBrk="0" hangingPunct="1"/>
            <a:r>
              <a:rPr lang="bg-BG" smtClean="0"/>
              <a:t>Второ ниво</a:t>
            </a:r>
          </a:p>
          <a:p>
            <a:pPr lvl="2" eaLnBrk="1" latinLnBrk="0" hangingPunct="1"/>
            <a:r>
              <a:rPr lang="bg-BG" smtClean="0"/>
              <a:t>Трето ниво</a:t>
            </a:r>
          </a:p>
          <a:p>
            <a:pPr lvl="3" eaLnBrk="1" latinLnBrk="0" hangingPunct="1"/>
            <a:r>
              <a:rPr lang="bg-BG" smtClean="0"/>
              <a:t>Четвърто ниво</a:t>
            </a:r>
          </a:p>
          <a:p>
            <a:pPr lvl="4" eaLnBrk="1" latinLnBrk="0" hangingPunct="1"/>
            <a:r>
              <a:rPr lang="bg-BG" smtClean="0"/>
              <a:t>Пето ниво</a:t>
            </a:r>
            <a:endParaRPr kumimoji="0" lang="en-US"/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01C4B0-587B-4D15-963D-4C21936D51C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bg-BG" smtClean="0"/>
              <a:t>Щракнете, за да редактирате стила на заглавието в образеца</a:t>
            </a:r>
            <a:endParaRPr kumimoji="0" lang="en-US"/>
          </a:p>
        </p:txBody>
      </p:sp>
      <p:sp>
        <p:nvSpPr>
          <p:cNvPr id="5" name="Контейнер за 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Контейнер за долния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D1457A0-D5DC-429E-BA2E-39B4CDA5F4F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Правоъгълник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Контейнер за картина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bg-BG" smtClean="0"/>
              <a:t>Щракнете върху иконата, за да добавите картина</a:t>
            </a:r>
            <a:endParaRPr kumimoji="0" lang="en-US" dirty="0"/>
          </a:p>
        </p:txBody>
      </p:sp>
      <p:sp>
        <p:nvSpPr>
          <p:cNvPr id="9" name="Блоксхема: процес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Блоксхема: процес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Текстов контейнер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bg-BG" smtClean="0"/>
              <a:t>Щракн., за да ред. стил на загл. в обр.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bg-BG" smtClean="0"/>
              <a:t>Щракнете, за да редактирате стила на заглавието в образеца</a:t>
            </a:r>
            <a:endParaRPr kumimoji="0" lang="en-US"/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bg-BG" smtClean="0"/>
              <a:t>Щракн., за да ред. стил на загл. в обр.</a:t>
            </a:r>
          </a:p>
          <a:p>
            <a:pPr lvl="1" eaLnBrk="1" latinLnBrk="0" hangingPunct="1"/>
            <a:r>
              <a:rPr lang="bg-BG" smtClean="0"/>
              <a:t>Второ ниво</a:t>
            </a:r>
          </a:p>
          <a:p>
            <a:pPr lvl="2" eaLnBrk="1" latinLnBrk="0" hangingPunct="1"/>
            <a:r>
              <a:rPr lang="bg-BG" smtClean="0"/>
              <a:t>Трето ниво</a:t>
            </a:r>
          </a:p>
          <a:p>
            <a:pPr lvl="3" eaLnBrk="1" latinLnBrk="0" hangingPunct="1"/>
            <a:r>
              <a:rPr lang="bg-BG" smtClean="0"/>
              <a:t>Четвърто ниво</a:t>
            </a:r>
          </a:p>
          <a:p>
            <a:pPr lvl="4" eaLnBrk="1" latinLnBrk="0" hangingPunct="1"/>
            <a:r>
              <a:rPr lang="bg-BG" smtClean="0"/>
              <a:t>Пето ниво</a:t>
            </a:r>
            <a:endParaRPr kumimoji="0"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FBB3778-76D4-42AE-8F19-572A94D27E3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но заглавие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bg-BG" smtClean="0"/>
              <a:t>Щракнете, за да редактирате стила на заглавието в образеца</a:t>
            </a:r>
            <a:endParaRPr kumimoji="0" lang="en-US"/>
          </a:p>
        </p:txBody>
      </p:sp>
      <p:sp>
        <p:nvSpPr>
          <p:cNvPr id="3" name="Контейнер за вертикален текст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bg-BG" smtClean="0"/>
              <a:t>Щракн., за да ред. стил на загл. в обр.</a:t>
            </a:r>
          </a:p>
          <a:p>
            <a:pPr lvl="1" eaLnBrk="1" latinLnBrk="0" hangingPunct="1"/>
            <a:r>
              <a:rPr lang="bg-BG" smtClean="0"/>
              <a:t>Второ ниво</a:t>
            </a:r>
          </a:p>
          <a:p>
            <a:pPr lvl="2" eaLnBrk="1" latinLnBrk="0" hangingPunct="1"/>
            <a:r>
              <a:rPr lang="bg-BG" smtClean="0"/>
              <a:t>Трето ниво</a:t>
            </a:r>
          </a:p>
          <a:p>
            <a:pPr lvl="3" eaLnBrk="1" latinLnBrk="0" hangingPunct="1"/>
            <a:r>
              <a:rPr lang="bg-BG" smtClean="0"/>
              <a:t>Четвърто ниво</a:t>
            </a:r>
          </a:p>
          <a:p>
            <a:pPr lvl="4" eaLnBrk="1" latinLnBrk="0" hangingPunct="1"/>
            <a:r>
              <a:rPr lang="bg-BG" smtClean="0"/>
              <a:t>Пето ниво</a:t>
            </a:r>
            <a:endParaRPr kumimoji="0" lang="en-US"/>
          </a:p>
        </p:txBody>
      </p:sp>
      <p:sp>
        <p:nvSpPr>
          <p:cNvPr id="4" name="Контейнер за 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Контейнер за долния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Контейнер за номер н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8DD06C7B-6DB2-4A57-9576-411706DD61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егмент от кръг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Овал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Пръстен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Правоъгълник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Контейнер за заглавие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bg-BG" smtClean="0"/>
              <a:t>Щракнете, за да редактирате стила на заглавието в образеца</a:t>
            </a:r>
            <a:endParaRPr kumimoji="0" lang="en-US"/>
          </a:p>
        </p:txBody>
      </p:sp>
      <p:sp>
        <p:nvSpPr>
          <p:cNvPr id="9" name="Текстов контейнер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bg-BG" smtClean="0"/>
              <a:t>Щракн., за да ред. стил на загл. в обр.</a:t>
            </a:r>
          </a:p>
          <a:p>
            <a:pPr lvl="1" eaLnBrk="1" latinLnBrk="0" hangingPunct="1"/>
            <a:r>
              <a:rPr kumimoji="0" lang="bg-BG" smtClean="0"/>
              <a:t>Второ ниво</a:t>
            </a:r>
          </a:p>
          <a:p>
            <a:pPr lvl="2" eaLnBrk="1" latinLnBrk="0" hangingPunct="1"/>
            <a:r>
              <a:rPr kumimoji="0" lang="bg-BG" smtClean="0"/>
              <a:t>Трето ниво</a:t>
            </a:r>
          </a:p>
          <a:p>
            <a:pPr lvl="3" eaLnBrk="1" latinLnBrk="0" hangingPunct="1"/>
            <a:r>
              <a:rPr kumimoji="0" lang="bg-BG" smtClean="0"/>
              <a:t>Четвърто ниво</a:t>
            </a:r>
          </a:p>
          <a:p>
            <a:pPr lvl="4" eaLnBrk="1" latinLnBrk="0" hangingPunct="1"/>
            <a:r>
              <a:rPr kumimoji="0" lang="bg-BG" smtClean="0"/>
              <a:t>Пето ниво</a:t>
            </a:r>
            <a:endParaRPr kumimoji="0" lang="en-US"/>
          </a:p>
        </p:txBody>
      </p:sp>
      <p:sp>
        <p:nvSpPr>
          <p:cNvPr id="24" name="Контейнер за дата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0" name="Контейнер за долния колонтитул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/>
          </a:p>
        </p:txBody>
      </p:sp>
      <p:sp>
        <p:nvSpPr>
          <p:cNvPr id="22" name="Контейнер за номер на слайда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A4D8F311-039D-46DC-98B5-7C75F16F705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Правоъгълник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oleObject" Target="../embeddings/Microsoft_Excel_97-2003_Worksheet1.xls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5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003072" y="548680"/>
            <a:ext cx="8299648" cy="6096000"/>
          </a:xfrm>
        </p:spPr>
        <p:txBody>
          <a:bodyPr>
            <a:normAutofit fontScale="90000"/>
          </a:bodyPr>
          <a:lstStyle/>
          <a:p>
            <a:pPr algn="l"/>
            <a:r>
              <a:rPr lang="bg-BG" sz="2800" b="1" i="1" dirty="0"/>
              <a:t>		     “Лакоми” алгоритми</a:t>
            </a:r>
            <a:br>
              <a:rPr lang="bg-BG" sz="2800" b="1" i="1" dirty="0"/>
            </a:br>
            <a:r>
              <a:rPr lang="bg-BG" sz="2800" b="1" i="1" dirty="0"/>
              <a:t>	      </a:t>
            </a:r>
            <a:r>
              <a:rPr lang="bg-BG" sz="2800" i="1" dirty="0"/>
              <a:t>(“алчни”</a:t>
            </a:r>
            <a:r>
              <a:rPr lang="bg-BG" sz="2800" dirty="0"/>
              <a:t> или </a:t>
            </a:r>
            <a:r>
              <a:rPr lang="en-US" sz="2800" i="1" dirty="0"/>
              <a:t>greedy</a:t>
            </a:r>
            <a:r>
              <a:rPr lang="en-US" sz="2800" dirty="0"/>
              <a:t>  </a:t>
            </a:r>
            <a:r>
              <a:rPr lang="bg-BG" sz="2800" dirty="0"/>
              <a:t>алгоритми</a:t>
            </a:r>
            <a:r>
              <a:rPr lang="en-US" sz="2800" dirty="0"/>
              <a:t>)</a:t>
            </a:r>
            <a:r>
              <a:rPr lang="bg-BG" sz="800" dirty="0"/>
              <a:t/>
            </a:r>
            <a:br>
              <a:rPr lang="bg-BG" sz="800" dirty="0"/>
            </a:br>
            <a:r>
              <a:rPr lang="bg-BG" sz="800" dirty="0"/>
              <a:t/>
            </a:r>
            <a:br>
              <a:rPr lang="bg-BG" sz="800" dirty="0"/>
            </a:br>
            <a:r>
              <a:rPr lang="bg-BG" sz="2800" dirty="0"/>
              <a:t>	</a:t>
            </a:r>
            <a:r>
              <a:rPr lang="bg-BG" sz="2200" dirty="0"/>
              <a:t>При решаването на различни оптимизационни задачи досега сме търсили точни или оптимални решения. В повечето случаи се търсенето ставаше измежду всички възможни решения, което изисква много пресмятания, или (в случая, ако използваме динамично </a:t>
            </a:r>
            <a:r>
              <a:rPr lang="bg-BG" sz="2200" dirty="0" err="1"/>
              <a:t>оптимиране</a:t>
            </a:r>
            <a:r>
              <a:rPr lang="bg-BG" sz="2200" dirty="0"/>
              <a:t>) – допълнителна </a:t>
            </a:r>
            <a:r>
              <a:rPr lang="bg-BG" sz="2200" dirty="0" smtClean="0"/>
              <a:t>памет</a:t>
            </a:r>
            <a:r>
              <a:rPr lang="en-US" sz="2200" dirty="0" smtClean="0"/>
              <a:t>.</a:t>
            </a:r>
            <a:r>
              <a:rPr lang="bg-BG" sz="2200" dirty="0" smtClean="0"/>
              <a:t> </a:t>
            </a:r>
            <a:r>
              <a:rPr lang="bg-BG" sz="2200" dirty="0"/>
              <a:t/>
            </a:r>
            <a:br>
              <a:rPr lang="bg-BG" sz="2200" dirty="0"/>
            </a:br>
            <a:r>
              <a:rPr lang="bg-BG" sz="2200" dirty="0"/>
              <a:t>	Съществува</a:t>
            </a:r>
            <a:r>
              <a:rPr lang="en-US" sz="2200" dirty="0"/>
              <a:t>,</a:t>
            </a:r>
            <a:r>
              <a:rPr lang="bg-BG" sz="2200" dirty="0"/>
              <a:t> обаче клас алгоритми</a:t>
            </a:r>
            <a:r>
              <a:rPr lang="en-US" sz="2200" dirty="0"/>
              <a:t>,</a:t>
            </a:r>
            <a:r>
              <a:rPr lang="bg-BG" sz="2200" dirty="0"/>
              <a:t> които не винаги дават точното решение, но за сметка на това са много прости и лесно реализуеми (т. н. </a:t>
            </a:r>
            <a:r>
              <a:rPr lang="bg-BG" sz="2200" i="1" dirty="0"/>
              <a:t>евристични алгоритми</a:t>
            </a:r>
            <a:r>
              <a:rPr lang="bg-BG" sz="2200" dirty="0"/>
              <a:t>). Такъв алгоритъм обикновено използва следната идея: насочва се към един от всичките подслучаи на задачата и решава единствено него с надеждата, че той ще се окаже правилният. Изборът на този случай се извършва въз основа на локален критерий за оптималност. </a:t>
            </a:r>
            <a:br>
              <a:rPr lang="bg-BG" sz="2200" dirty="0"/>
            </a:br>
            <a:r>
              <a:rPr lang="bg-BG" sz="2200" dirty="0"/>
              <a:t>	“Лакомите “ алгоритми са подклас от евристичните и, както подсказва и названието им, се насочват винаги към най-добрия за момента избор, погледнато локално, като на по-късен етап може да се окаже, погледнато глобално, че този избор не е бил най-подходящ.</a:t>
            </a:r>
            <a:endParaRPr lang="en-US" sz="2200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3"/>
          <p:cNvSpPr>
            <a:spLocks noGrp="1" noChangeArrowheads="1"/>
          </p:cNvSpPr>
          <p:nvPr>
            <p:ph type="title"/>
          </p:nvPr>
        </p:nvSpPr>
        <p:spPr>
          <a:xfrm>
            <a:off x="1124644" y="406332"/>
            <a:ext cx="7920880" cy="5943600"/>
          </a:xfrm>
          <a:noFill/>
          <a:ln/>
        </p:spPr>
        <p:txBody>
          <a:bodyPr>
            <a:normAutofit fontScale="90000"/>
          </a:bodyPr>
          <a:lstStyle/>
          <a:p>
            <a:pPr algn="l"/>
            <a:r>
              <a:rPr lang="bg-BG" sz="3200" dirty="0">
                <a:solidFill>
                  <a:schemeClr val="tx1"/>
                </a:solidFill>
              </a:rPr>
              <a:t>            </a:t>
            </a:r>
            <a:r>
              <a:rPr lang="bg-BG" sz="2800" dirty="0">
                <a:solidFill>
                  <a:schemeClr val="tx1"/>
                </a:solidFill>
              </a:rPr>
              <a:t>(Евристични алгоритми - припомняне)</a:t>
            </a:r>
            <a:r>
              <a:rPr lang="bg-BG" sz="3200" dirty="0">
                <a:solidFill>
                  <a:schemeClr val="tx1"/>
                </a:solidFill>
              </a:rPr>
              <a:t/>
            </a:r>
            <a:br>
              <a:rPr lang="bg-BG" sz="32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Свойства: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- дават добри, но не винаги оптимални решения;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- могат да бъдат реализирани бързо и лесно 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          Нямат универсален подход за създаването им (“Еврика!”).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Препоръки: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Всички изисквания към решението се разделят на 2 групи: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1. Тези, които лесно се постигат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2. Тези, които не се постигат лесно.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	или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1. Тези, които са задължителни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2. Тези, за които може да се направи компромис.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Целта е да се изгради алгоритъм, гарантиращ изпълнение на изискванията от 1 група и не гарантиращ тези от 2-та (което не означава, че няма да се правят опити да се изпълнят и те).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Контейнер за номер на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Правоъгълник 3"/>
          <p:cNvSpPr/>
          <p:nvPr/>
        </p:nvSpPr>
        <p:spPr>
          <a:xfrm>
            <a:off x="1059344" y="143188"/>
            <a:ext cx="8028384" cy="677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bg-BG" sz="2000" u="sng" dirty="0" smtClean="0"/>
              <a:t>Задача за търговския пътник</a:t>
            </a:r>
            <a:r>
              <a:rPr lang="bg-BG" sz="2000" dirty="0" smtClean="0"/>
              <a:t>: </a:t>
            </a:r>
            <a:br>
              <a:rPr lang="bg-BG" sz="2000" dirty="0" smtClean="0"/>
            </a:br>
            <a:r>
              <a:rPr lang="en-US" sz="2000" dirty="0"/>
              <a:t>	</a:t>
            </a:r>
            <a:r>
              <a:rPr lang="en-US" sz="2000" dirty="0" smtClean="0"/>
              <a:t>	    </a:t>
            </a:r>
            <a:r>
              <a:rPr lang="bg-BG" sz="2000" dirty="0" smtClean="0"/>
              <a:t>2 – 5 (3)</a:t>
            </a:r>
          </a:p>
          <a:p>
            <a:pPr>
              <a:spcBef>
                <a:spcPct val="50000"/>
              </a:spcBef>
            </a:pPr>
            <a:r>
              <a:rPr lang="en-US" sz="2000" dirty="0" smtClean="0"/>
              <a:t>	</a:t>
            </a:r>
            <a:r>
              <a:rPr lang="en-US" sz="2000" dirty="0"/>
              <a:t> </a:t>
            </a:r>
            <a:r>
              <a:rPr lang="en-US" sz="2000" dirty="0" smtClean="0"/>
              <a:t>                  </a:t>
            </a:r>
            <a:r>
              <a:rPr lang="bg-BG" sz="2000" dirty="0" smtClean="0"/>
              <a:t>5 – 3 (2)</a:t>
            </a:r>
          </a:p>
          <a:p>
            <a:pPr>
              <a:spcBef>
                <a:spcPct val="50000"/>
              </a:spcBef>
            </a:pPr>
            <a:r>
              <a:rPr lang="en-US" sz="2000" dirty="0" smtClean="0"/>
              <a:t>		     </a:t>
            </a:r>
            <a:r>
              <a:rPr lang="bg-BG" sz="2000" dirty="0" smtClean="0"/>
              <a:t>3 – 4 (1)</a:t>
            </a:r>
          </a:p>
          <a:p>
            <a:pPr>
              <a:spcBef>
                <a:spcPct val="50000"/>
              </a:spcBef>
            </a:pPr>
            <a:r>
              <a:rPr lang="en-US" sz="2000" dirty="0" smtClean="0"/>
              <a:t>		     </a:t>
            </a:r>
            <a:r>
              <a:rPr lang="bg-BG" sz="2000" dirty="0" smtClean="0"/>
              <a:t>4 – 1 (7) = 14  (</a:t>
            </a:r>
            <a:r>
              <a:rPr lang="en-US" sz="2000" dirty="0" smtClean="0"/>
              <a:t>MIN = 13)</a:t>
            </a:r>
          </a:p>
          <a:p>
            <a:endParaRPr lang="en-US" sz="2000" dirty="0" smtClean="0"/>
          </a:p>
          <a:p>
            <a:r>
              <a:rPr lang="bg-BG" sz="2000" dirty="0" smtClean="0"/>
              <a:t> Стъпка:</a:t>
            </a:r>
            <a:br>
              <a:rPr lang="bg-BG" sz="2000" dirty="0" smtClean="0"/>
            </a:br>
            <a:r>
              <a:rPr lang="bg-BG" sz="2000" dirty="0" smtClean="0"/>
              <a:t>  0 (инициализация)                          </a:t>
            </a:r>
            <a:r>
              <a:rPr lang="en-US" sz="2000" dirty="0" smtClean="0"/>
              <a:t>LIST = 0; COST </a:t>
            </a:r>
            <a:r>
              <a:rPr lang="bg-BG" sz="2000" dirty="0" smtClean="0"/>
              <a:t>= 0, </a:t>
            </a:r>
            <a:r>
              <a:rPr lang="en-US" sz="2000" dirty="0" smtClean="0"/>
              <a:t>V=1 (</a:t>
            </a:r>
            <a:r>
              <a:rPr lang="bg-BG" sz="2000" dirty="0" err="1" smtClean="0"/>
              <a:t>нач</a:t>
            </a:r>
            <a:r>
              <a:rPr lang="bg-BG" sz="2000" dirty="0" smtClean="0"/>
              <a:t>. възел)</a:t>
            </a:r>
            <a:br>
              <a:rPr lang="bg-BG" sz="2000" dirty="0" smtClean="0"/>
            </a:br>
            <a:r>
              <a:rPr lang="bg-BG" sz="2000" dirty="0" smtClean="0"/>
              <a:t>  1 (посещение на всички градове)</a:t>
            </a:r>
            <a:r>
              <a:rPr lang="en-US" sz="2000" dirty="0" smtClean="0"/>
              <a:t> </a:t>
            </a:r>
            <a:r>
              <a:rPr lang="bg-BG" sz="2000" dirty="0" smtClean="0"/>
              <a:t> За </a:t>
            </a:r>
            <a:r>
              <a:rPr lang="en-US" sz="2000" b="1" dirty="0" err="1" smtClean="0"/>
              <a:t>i</a:t>
            </a:r>
            <a:r>
              <a:rPr lang="en-US" sz="2000" dirty="0" smtClean="0"/>
              <a:t> </a:t>
            </a:r>
            <a:r>
              <a:rPr lang="bg-BG" sz="2000" dirty="0" smtClean="0"/>
              <a:t>от 1 до </a:t>
            </a:r>
            <a:r>
              <a:rPr lang="en-US" sz="2000" b="1" dirty="0" smtClean="0"/>
              <a:t>n</a:t>
            </a:r>
            <a:r>
              <a:rPr lang="en-US" sz="2000" dirty="0" smtClean="0"/>
              <a:t>-1</a:t>
            </a:r>
            <a:r>
              <a:rPr lang="bg-BG" sz="2000" dirty="0" smtClean="0"/>
              <a:t/>
            </a:r>
            <a:br>
              <a:rPr lang="bg-BG" sz="2000" dirty="0" smtClean="0"/>
            </a:br>
            <a:r>
              <a:rPr lang="en-US" sz="2000" dirty="0" smtClean="0"/>
              <a:t>			</a:t>
            </a:r>
            <a:r>
              <a:rPr lang="bg-BG" sz="2000" dirty="0" smtClean="0"/>
              <a:t>                          повтаряй стъпка 2;</a:t>
            </a:r>
            <a:br>
              <a:rPr lang="bg-BG" sz="2000" dirty="0" smtClean="0"/>
            </a:br>
            <a:r>
              <a:rPr lang="bg-BG" sz="2000" dirty="0" smtClean="0"/>
              <a:t>  2 (избор на следващо ребро)         (</a:t>
            </a:r>
            <a:r>
              <a:rPr lang="en-US" sz="2000" dirty="0" smtClean="0"/>
              <a:t>V,W)</a:t>
            </a:r>
            <a:r>
              <a:rPr lang="bg-BG" sz="2000" dirty="0" smtClean="0"/>
              <a:t> е ребро с </a:t>
            </a:r>
            <a:r>
              <a:rPr lang="en-US" sz="2000" dirty="0" smtClean="0"/>
              <a:t>MIN </a:t>
            </a:r>
            <a:r>
              <a:rPr lang="bg-BG" sz="2000" dirty="0" smtClean="0"/>
              <a:t>цена, свързващо 				   </a:t>
            </a:r>
            <a:r>
              <a:rPr lang="en-US" sz="2000" dirty="0" smtClean="0"/>
              <a:t>V</a:t>
            </a:r>
            <a:r>
              <a:rPr lang="bg-BG" sz="2000" dirty="0" smtClean="0"/>
              <a:t> с “непосетен” възел </a:t>
            </a:r>
            <a:r>
              <a:rPr lang="en-US" sz="2000" dirty="0" smtClean="0"/>
              <a:t> W</a:t>
            </a:r>
            <a:r>
              <a:rPr lang="bg-BG" sz="2000" dirty="0" smtClean="0"/>
              <a:t>:			              </a:t>
            </a:r>
            <a:r>
              <a:rPr lang="en-US" sz="2000" dirty="0" smtClean="0"/>
              <a:t>                        LIST=LIST+W;</a:t>
            </a:r>
            <a:r>
              <a:rPr lang="bg-BG" sz="2000" dirty="0" smtClean="0"/>
              <a:t/>
            </a:r>
            <a:br>
              <a:rPr lang="bg-BG" sz="2000" dirty="0" smtClean="0"/>
            </a:br>
            <a:r>
              <a:rPr lang="bg-BG" sz="2000" dirty="0" smtClean="0"/>
              <a:t>				         </a:t>
            </a:r>
            <a:r>
              <a:rPr lang="en-US" sz="2000" dirty="0" smtClean="0"/>
              <a:t>COST=COST+</a:t>
            </a:r>
            <a:r>
              <a:rPr lang="bg-BG" sz="2000" dirty="0" smtClean="0"/>
              <a:t>стойност</a:t>
            </a:r>
            <a:r>
              <a:rPr lang="en-US" sz="2000" dirty="0" smtClean="0"/>
              <a:t>(V,W);</a:t>
            </a:r>
            <a:br>
              <a:rPr lang="en-US" sz="2000" dirty="0" smtClean="0"/>
            </a:br>
            <a:r>
              <a:rPr lang="en-US" sz="2000" dirty="0" smtClean="0"/>
              <a:t>				       </a:t>
            </a:r>
            <a:r>
              <a:rPr lang="bg-BG" sz="2000" dirty="0" smtClean="0"/>
              <a:t>  отбелязване на </a:t>
            </a:r>
            <a:r>
              <a:rPr lang="en-US" sz="2000" dirty="0" smtClean="0"/>
              <a:t>W</a:t>
            </a:r>
            <a:r>
              <a:rPr lang="bg-BG" sz="2000" dirty="0" smtClean="0"/>
              <a:t> като посетен;</a:t>
            </a:r>
            <a:br>
              <a:rPr lang="bg-BG" sz="2000" dirty="0" smtClean="0"/>
            </a:br>
            <a:r>
              <a:rPr lang="bg-BG" sz="2000" dirty="0" smtClean="0"/>
              <a:t>				      </a:t>
            </a:r>
            <a:r>
              <a:rPr lang="en-US" sz="2000" dirty="0" smtClean="0"/>
              <a:t> </a:t>
            </a:r>
            <a:r>
              <a:rPr lang="bg-BG" sz="2000" dirty="0" smtClean="0"/>
              <a:t>  </a:t>
            </a:r>
            <a:r>
              <a:rPr lang="en-US" sz="2000" dirty="0" smtClean="0"/>
              <a:t>V=W;</a:t>
            </a:r>
            <a:r>
              <a:rPr lang="bg-BG" sz="2000" dirty="0" smtClean="0"/>
              <a:t>        </a:t>
            </a:r>
            <a:br>
              <a:rPr lang="bg-BG" sz="2000" dirty="0" smtClean="0"/>
            </a:br>
            <a:r>
              <a:rPr lang="bg-BG" sz="2000" dirty="0" smtClean="0"/>
              <a:t>  3 (завършване на маршрута)  </a:t>
            </a:r>
            <a:r>
              <a:rPr lang="en-US" sz="2000" dirty="0" smtClean="0"/>
              <a:t>        </a:t>
            </a:r>
            <a:r>
              <a:rPr lang="bg-BG" sz="2000" dirty="0" smtClean="0"/>
              <a:t> </a:t>
            </a:r>
            <a:r>
              <a:rPr lang="en-US" sz="2000" dirty="0" smtClean="0"/>
              <a:t>LIST=LIST+</a:t>
            </a:r>
            <a:r>
              <a:rPr lang="bg-BG" sz="2000" dirty="0" smtClean="0"/>
              <a:t>1</a:t>
            </a:r>
            <a:r>
              <a:rPr lang="en-US" sz="2000" dirty="0" smtClean="0"/>
              <a:t>;</a:t>
            </a:r>
          </a:p>
          <a:p>
            <a:r>
              <a:rPr lang="en-US" sz="2000" dirty="0"/>
              <a:t>	</a:t>
            </a:r>
            <a:r>
              <a:rPr lang="en-US" sz="2000" dirty="0" smtClean="0"/>
              <a:t>			  </a:t>
            </a:r>
            <a:r>
              <a:rPr lang="bg-BG" sz="2000" dirty="0" smtClean="0"/>
              <a:t> (добавяне  на 	</a:t>
            </a:r>
            <a:r>
              <a:rPr lang="bg-BG" sz="2000" dirty="0" err="1" smtClean="0"/>
              <a:t>нач</a:t>
            </a:r>
            <a:r>
              <a:rPr lang="bg-BG" sz="2000" dirty="0" smtClean="0"/>
              <a:t>.</a:t>
            </a:r>
            <a:r>
              <a:rPr lang="en-US" sz="2000" dirty="0" smtClean="0"/>
              <a:t> </a:t>
            </a:r>
            <a:r>
              <a:rPr lang="bg-BG" sz="2000" dirty="0" smtClean="0"/>
              <a:t>град)			                      </a:t>
            </a:r>
            <a:r>
              <a:rPr lang="en-US" sz="2000" dirty="0" smtClean="0"/>
              <a:t>          COST=COST+</a:t>
            </a:r>
            <a:r>
              <a:rPr lang="bg-BG" sz="2000" dirty="0" smtClean="0"/>
              <a:t>стойност</a:t>
            </a:r>
            <a:r>
              <a:rPr lang="en-US" sz="2000" dirty="0" smtClean="0"/>
              <a:t>(V,</a:t>
            </a:r>
            <a:r>
              <a:rPr lang="bg-BG" sz="2000" dirty="0" smtClean="0"/>
              <a:t>1</a:t>
            </a:r>
            <a:r>
              <a:rPr lang="en-US" sz="2000" dirty="0" smtClean="0"/>
              <a:t>);</a:t>
            </a:r>
            <a:br>
              <a:rPr lang="en-US" sz="2000" dirty="0" smtClean="0"/>
            </a:br>
            <a:r>
              <a:rPr lang="bg-BG" sz="2000" dirty="0" smtClean="0"/>
              <a:t>  4 Край  </a:t>
            </a:r>
            <a:r>
              <a:rPr lang="en-US" sz="2000" dirty="0" smtClean="0"/>
              <a:t>	</a:t>
            </a:r>
            <a:r>
              <a:rPr lang="en-US" sz="2000" dirty="0" smtClean="0">
                <a:solidFill>
                  <a:schemeClr val="tx2"/>
                </a:solidFill>
              </a:rPr>
              <a:t>	</a:t>
            </a:r>
            <a:r>
              <a:rPr lang="bg-BG" sz="2000" u="sng" dirty="0" smtClean="0">
                <a:solidFill>
                  <a:srgbClr val="FF0066"/>
                </a:solidFill>
              </a:rPr>
              <a:t>Сложност на алгоритъма е </a:t>
            </a:r>
            <a:r>
              <a:rPr lang="en-US" sz="2000" u="sng" dirty="0" smtClean="0">
                <a:solidFill>
                  <a:srgbClr val="FF0066"/>
                </a:solidFill>
              </a:rPr>
              <a:t>O(n</a:t>
            </a:r>
            <a:r>
              <a:rPr lang="en-US" sz="2000" u="sng" baseline="30000" dirty="0" smtClean="0">
                <a:solidFill>
                  <a:srgbClr val="FF0066"/>
                </a:solidFill>
              </a:rPr>
              <a:t>2</a:t>
            </a:r>
            <a:r>
              <a:rPr lang="en-US" sz="2000" u="sng" dirty="0" smtClean="0">
                <a:solidFill>
                  <a:srgbClr val="FF0066"/>
                </a:solidFill>
              </a:rPr>
              <a:t>)!</a:t>
            </a:r>
            <a:r>
              <a:rPr lang="bg-BG" dirty="0" smtClean="0">
                <a:solidFill>
                  <a:schemeClr val="tx2"/>
                </a:solidFill>
              </a:rPr>
              <a:t>	</a:t>
            </a:r>
            <a:endParaRPr lang="bg-BG" dirty="0"/>
          </a:p>
        </p:txBody>
      </p:sp>
      <p:grpSp>
        <p:nvGrpSpPr>
          <p:cNvPr id="21" name="Групиране 20"/>
          <p:cNvGrpSpPr/>
          <p:nvPr/>
        </p:nvGrpSpPr>
        <p:grpSpPr>
          <a:xfrm>
            <a:off x="5940152" y="9817"/>
            <a:ext cx="2952328" cy="2952328"/>
            <a:chOff x="5486400" y="0"/>
            <a:chExt cx="2743200" cy="3165475"/>
          </a:xfrm>
        </p:grpSpPr>
        <p:sp>
          <p:nvSpPr>
            <p:cNvPr id="22" name="Oval 45"/>
            <p:cNvSpPr>
              <a:spLocks noChangeArrowheads="1"/>
            </p:cNvSpPr>
            <p:nvPr/>
          </p:nvSpPr>
          <p:spPr bwMode="auto">
            <a:xfrm>
              <a:off x="7242048" y="76200"/>
              <a:ext cx="395021" cy="349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3" name="Oval 46"/>
            <p:cNvSpPr>
              <a:spLocks noChangeArrowheads="1"/>
            </p:cNvSpPr>
            <p:nvPr/>
          </p:nvSpPr>
          <p:spPr bwMode="auto">
            <a:xfrm>
              <a:off x="5486400" y="1513541"/>
              <a:ext cx="395021" cy="349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4" name="Oval 47"/>
            <p:cNvSpPr>
              <a:spLocks noChangeArrowheads="1"/>
            </p:cNvSpPr>
            <p:nvPr/>
          </p:nvSpPr>
          <p:spPr bwMode="auto">
            <a:xfrm>
              <a:off x="6410858" y="2698376"/>
              <a:ext cx="395021" cy="349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5" name="Oval 48"/>
            <p:cNvSpPr>
              <a:spLocks noChangeArrowheads="1"/>
            </p:cNvSpPr>
            <p:nvPr/>
          </p:nvSpPr>
          <p:spPr bwMode="auto">
            <a:xfrm>
              <a:off x="7439558" y="2698376"/>
              <a:ext cx="395021" cy="349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6" name="Oval 49"/>
            <p:cNvSpPr>
              <a:spLocks noChangeArrowheads="1"/>
            </p:cNvSpPr>
            <p:nvPr/>
          </p:nvSpPr>
          <p:spPr bwMode="auto">
            <a:xfrm>
              <a:off x="7834579" y="1125071"/>
              <a:ext cx="395021" cy="3496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7" name="Line 50"/>
            <p:cNvSpPr>
              <a:spLocks noChangeShapeType="1"/>
            </p:cNvSpPr>
            <p:nvPr/>
          </p:nvSpPr>
          <p:spPr bwMode="auto">
            <a:xfrm flipV="1">
              <a:off x="5859475" y="425824"/>
              <a:ext cx="1580083" cy="12236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8" name="Line 51"/>
            <p:cNvSpPr>
              <a:spLocks noChangeShapeType="1"/>
            </p:cNvSpPr>
            <p:nvPr/>
          </p:nvSpPr>
          <p:spPr bwMode="auto">
            <a:xfrm>
              <a:off x="5859475" y="1824318"/>
              <a:ext cx="592531" cy="87405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29" name="Line 52"/>
            <p:cNvSpPr>
              <a:spLocks noChangeShapeType="1"/>
            </p:cNvSpPr>
            <p:nvPr/>
          </p:nvSpPr>
          <p:spPr bwMode="auto">
            <a:xfrm flipV="1">
              <a:off x="5859475" y="1299882"/>
              <a:ext cx="1975104" cy="3496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0" name="Line 53"/>
            <p:cNvSpPr>
              <a:spLocks noChangeShapeType="1"/>
            </p:cNvSpPr>
            <p:nvPr/>
          </p:nvSpPr>
          <p:spPr bwMode="auto">
            <a:xfrm>
              <a:off x="6847027" y="2873188"/>
              <a:ext cx="59253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1" name="Line 54"/>
            <p:cNvSpPr>
              <a:spLocks noChangeShapeType="1"/>
            </p:cNvSpPr>
            <p:nvPr/>
          </p:nvSpPr>
          <p:spPr bwMode="auto">
            <a:xfrm flipV="1">
              <a:off x="7637069" y="1474694"/>
              <a:ext cx="395021" cy="12236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2" name="Line 55"/>
            <p:cNvSpPr>
              <a:spLocks noChangeShapeType="1"/>
            </p:cNvSpPr>
            <p:nvPr/>
          </p:nvSpPr>
          <p:spPr bwMode="auto">
            <a:xfrm flipH="1">
              <a:off x="6649517" y="425824"/>
              <a:ext cx="790042" cy="22725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3" name="Line 56"/>
            <p:cNvSpPr>
              <a:spLocks noChangeShapeType="1"/>
            </p:cNvSpPr>
            <p:nvPr/>
          </p:nvSpPr>
          <p:spPr bwMode="auto">
            <a:xfrm>
              <a:off x="7439558" y="425824"/>
              <a:ext cx="197510" cy="227255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4" name="Line 57"/>
            <p:cNvSpPr>
              <a:spLocks noChangeShapeType="1"/>
            </p:cNvSpPr>
            <p:nvPr/>
          </p:nvSpPr>
          <p:spPr bwMode="auto">
            <a:xfrm flipH="1">
              <a:off x="6704381" y="1455271"/>
              <a:ext cx="1185062" cy="122368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5" name="Line 58"/>
            <p:cNvSpPr>
              <a:spLocks noChangeShapeType="1"/>
            </p:cNvSpPr>
            <p:nvPr/>
          </p:nvSpPr>
          <p:spPr bwMode="auto">
            <a:xfrm>
              <a:off x="5859475" y="1824318"/>
              <a:ext cx="1580083" cy="104887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6" name="Line 59"/>
            <p:cNvSpPr>
              <a:spLocks noChangeShapeType="1"/>
            </p:cNvSpPr>
            <p:nvPr/>
          </p:nvSpPr>
          <p:spPr bwMode="auto">
            <a:xfrm>
              <a:off x="7439558" y="425824"/>
              <a:ext cx="592531" cy="6992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37" name="Text Box 60"/>
            <p:cNvSpPr txBox="1">
              <a:spLocks noChangeArrowheads="1"/>
            </p:cNvSpPr>
            <p:nvPr/>
          </p:nvSpPr>
          <p:spPr bwMode="auto">
            <a:xfrm>
              <a:off x="7289800" y="0"/>
              <a:ext cx="4572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1</a:t>
              </a:r>
              <a:endParaRPr lang="en-US"/>
            </a:p>
          </p:txBody>
        </p:sp>
        <p:sp>
          <p:nvSpPr>
            <p:cNvPr id="38" name="Text Box 61"/>
            <p:cNvSpPr txBox="1">
              <a:spLocks noChangeArrowheads="1"/>
            </p:cNvSpPr>
            <p:nvPr/>
          </p:nvSpPr>
          <p:spPr bwMode="auto">
            <a:xfrm>
              <a:off x="5511800" y="1447800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5</a:t>
              </a:r>
              <a:endParaRPr lang="en-US"/>
            </a:p>
          </p:txBody>
        </p:sp>
        <p:sp>
          <p:nvSpPr>
            <p:cNvPr id="39" name="Text Box 62"/>
            <p:cNvSpPr txBox="1">
              <a:spLocks noChangeArrowheads="1"/>
            </p:cNvSpPr>
            <p:nvPr/>
          </p:nvSpPr>
          <p:spPr bwMode="auto">
            <a:xfrm>
              <a:off x="6438900" y="2616200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4</a:t>
              </a:r>
              <a:endParaRPr lang="en-US"/>
            </a:p>
          </p:txBody>
        </p:sp>
        <p:sp>
          <p:nvSpPr>
            <p:cNvPr id="40" name="Text Box 63"/>
            <p:cNvSpPr txBox="1">
              <a:spLocks noChangeArrowheads="1"/>
            </p:cNvSpPr>
            <p:nvPr/>
          </p:nvSpPr>
          <p:spPr bwMode="auto">
            <a:xfrm>
              <a:off x="7467600" y="2590800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bg-BG"/>
                <a:t>3</a:t>
              </a:r>
              <a:endParaRPr lang="en-US"/>
            </a:p>
          </p:txBody>
        </p:sp>
        <p:sp>
          <p:nvSpPr>
            <p:cNvPr id="41" name="Text Box 64"/>
            <p:cNvSpPr txBox="1">
              <a:spLocks noChangeArrowheads="1"/>
            </p:cNvSpPr>
            <p:nvPr/>
          </p:nvSpPr>
          <p:spPr bwMode="auto">
            <a:xfrm>
              <a:off x="7874000" y="10414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dirty="0"/>
                <a:t>2</a:t>
              </a:r>
              <a:endParaRPr lang="en-US" dirty="0"/>
            </a:p>
          </p:txBody>
        </p:sp>
        <p:sp>
          <p:nvSpPr>
            <p:cNvPr id="42" name="Text Box 65"/>
            <p:cNvSpPr txBox="1">
              <a:spLocks noChangeArrowheads="1"/>
            </p:cNvSpPr>
            <p:nvPr/>
          </p:nvSpPr>
          <p:spPr bwMode="auto">
            <a:xfrm>
              <a:off x="7708900" y="520700"/>
              <a:ext cx="304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dirty="0">
                  <a:solidFill>
                    <a:srgbClr val="C00000"/>
                  </a:solidFill>
                </a:rPr>
                <a:t>1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  <p:sp>
          <p:nvSpPr>
            <p:cNvPr id="43" name="Text Box 66"/>
            <p:cNvSpPr txBox="1">
              <a:spLocks noChangeArrowheads="1"/>
            </p:cNvSpPr>
            <p:nvPr/>
          </p:nvSpPr>
          <p:spPr bwMode="auto">
            <a:xfrm>
              <a:off x="6324600" y="685800"/>
              <a:ext cx="304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dirty="0">
                  <a:solidFill>
                    <a:srgbClr val="C00000"/>
                  </a:solidFill>
                </a:rPr>
                <a:t>5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  <p:sp>
          <p:nvSpPr>
            <p:cNvPr id="44" name="Text Box 67"/>
            <p:cNvSpPr txBox="1">
              <a:spLocks noChangeArrowheads="1"/>
            </p:cNvSpPr>
            <p:nvPr/>
          </p:nvSpPr>
          <p:spPr bwMode="auto">
            <a:xfrm>
              <a:off x="7848600" y="1752600"/>
              <a:ext cx="304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dirty="0">
                  <a:solidFill>
                    <a:srgbClr val="C00000"/>
                  </a:solidFill>
                </a:rPr>
                <a:t>4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  <p:sp>
          <p:nvSpPr>
            <p:cNvPr id="45" name="Text Box 68"/>
            <p:cNvSpPr txBox="1">
              <a:spLocks noChangeArrowheads="1"/>
            </p:cNvSpPr>
            <p:nvPr/>
          </p:nvSpPr>
          <p:spPr bwMode="auto">
            <a:xfrm>
              <a:off x="5943600" y="2133600"/>
              <a:ext cx="304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dirty="0">
                  <a:solidFill>
                    <a:srgbClr val="C00000"/>
                  </a:solidFill>
                </a:rPr>
                <a:t>3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  <p:sp>
          <p:nvSpPr>
            <p:cNvPr id="46" name="Text Box 69"/>
            <p:cNvSpPr txBox="1">
              <a:spLocks noChangeArrowheads="1"/>
            </p:cNvSpPr>
            <p:nvPr/>
          </p:nvSpPr>
          <p:spPr bwMode="auto">
            <a:xfrm>
              <a:off x="6629400" y="1143000"/>
              <a:ext cx="304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dirty="0">
                  <a:solidFill>
                    <a:srgbClr val="C00000"/>
                  </a:solidFill>
                </a:rPr>
                <a:t>3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  <p:sp>
          <p:nvSpPr>
            <p:cNvPr id="47" name="Text Box 70"/>
            <p:cNvSpPr txBox="1">
              <a:spLocks noChangeArrowheads="1"/>
            </p:cNvSpPr>
            <p:nvPr/>
          </p:nvSpPr>
          <p:spPr bwMode="auto">
            <a:xfrm>
              <a:off x="6934200" y="2768600"/>
              <a:ext cx="304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dirty="0">
                  <a:solidFill>
                    <a:srgbClr val="C00000"/>
                  </a:solidFill>
                </a:rPr>
                <a:t>1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  <p:sp>
          <p:nvSpPr>
            <p:cNvPr id="48" name="Text Box 71"/>
            <p:cNvSpPr txBox="1">
              <a:spLocks noChangeArrowheads="1"/>
            </p:cNvSpPr>
            <p:nvPr/>
          </p:nvSpPr>
          <p:spPr bwMode="auto">
            <a:xfrm>
              <a:off x="7289800" y="914400"/>
              <a:ext cx="304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dirty="0">
                  <a:solidFill>
                    <a:srgbClr val="C00000"/>
                  </a:solidFill>
                </a:rPr>
                <a:t>2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  <p:sp>
          <p:nvSpPr>
            <p:cNvPr id="49" name="Text Box 72"/>
            <p:cNvSpPr txBox="1">
              <a:spLocks noChangeArrowheads="1"/>
            </p:cNvSpPr>
            <p:nvPr/>
          </p:nvSpPr>
          <p:spPr bwMode="auto">
            <a:xfrm>
              <a:off x="6667500" y="1752600"/>
              <a:ext cx="304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dirty="0">
                  <a:solidFill>
                    <a:srgbClr val="C00000"/>
                  </a:solidFill>
                </a:rPr>
                <a:t>7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  <p:sp>
          <p:nvSpPr>
            <p:cNvPr id="50" name="Text Box 73"/>
            <p:cNvSpPr txBox="1">
              <a:spLocks noChangeArrowheads="1"/>
            </p:cNvSpPr>
            <p:nvPr/>
          </p:nvSpPr>
          <p:spPr bwMode="auto">
            <a:xfrm>
              <a:off x="7112000" y="2057400"/>
              <a:ext cx="304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dirty="0">
                  <a:solidFill>
                    <a:srgbClr val="C00000"/>
                  </a:solidFill>
                </a:rPr>
                <a:t>4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  <p:sp>
          <p:nvSpPr>
            <p:cNvPr id="51" name="Text Box 74"/>
            <p:cNvSpPr txBox="1">
              <a:spLocks noChangeArrowheads="1"/>
            </p:cNvSpPr>
            <p:nvPr/>
          </p:nvSpPr>
          <p:spPr bwMode="auto">
            <a:xfrm>
              <a:off x="6248400" y="1828800"/>
              <a:ext cx="304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000" dirty="0">
                  <a:solidFill>
                    <a:srgbClr val="C00000"/>
                  </a:solidFill>
                </a:rPr>
                <a:t>2</a:t>
              </a:r>
              <a:endParaRPr lang="en-US" sz="2000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52" name="Групиране 51"/>
          <p:cNvGrpSpPr/>
          <p:nvPr/>
        </p:nvGrpSpPr>
        <p:grpSpPr>
          <a:xfrm>
            <a:off x="1143000" y="774700"/>
            <a:ext cx="1993900" cy="1752600"/>
            <a:chOff x="1143000" y="774700"/>
            <a:chExt cx="1993900" cy="1752600"/>
          </a:xfrm>
        </p:grpSpPr>
        <p:sp>
          <p:nvSpPr>
            <p:cNvPr id="53" name="Line 75"/>
            <p:cNvSpPr>
              <a:spLocks noChangeShapeType="1"/>
            </p:cNvSpPr>
            <p:nvPr/>
          </p:nvSpPr>
          <p:spPr bwMode="auto">
            <a:xfrm>
              <a:off x="2209800" y="990600"/>
              <a:ext cx="685800" cy="381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54" name="Line 76"/>
            <p:cNvSpPr>
              <a:spLocks noChangeShapeType="1"/>
            </p:cNvSpPr>
            <p:nvPr/>
          </p:nvSpPr>
          <p:spPr bwMode="auto">
            <a:xfrm flipH="1">
              <a:off x="1397000" y="1371600"/>
              <a:ext cx="144780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55" name="Text Box 77"/>
            <p:cNvSpPr txBox="1">
              <a:spLocks noChangeArrowheads="1"/>
            </p:cNvSpPr>
            <p:nvPr/>
          </p:nvSpPr>
          <p:spPr bwMode="auto">
            <a:xfrm>
              <a:off x="1905000" y="774700"/>
              <a:ext cx="3810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dirty="0"/>
                <a:t>1</a:t>
              </a:r>
              <a:endParaRPr lang="en-US" dirty="0"/>
            </a:p>
          </p:txBody>
        </p:sp>
        <p:sp>
          <p:nvSpPr>
            <p:cNvPr id="56" name="Text Box 78"/>
            <p:cNvSpPr txBox="1">
              <a:spLocks noChangeArrowheads="1"/>
            </p:cNvSpPr>
            <p:nvPr/>
          </p:nvSpPr>
          <p:spPr bwMode="auto">
            <a:xfrm>
              <a:off x="2832100" y="11303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2</a:t>
              </a:r>
              <a:endParaRPr lang="en-US"/>
            </a:p>
          </p:txBody>
        </p:sp>
        <p:sp>
          <p:nvSpPr>
            <p:cNvPr id="57" name="Text Box 79"/>
            <p:cNvSpPr txBox="1">
              <a:spLocks noChangeArrowheads="1"/>
            </p:cNvSpPr>
            <p:nvPr/>
          </p:nvSpPr>
          <p:spPr bwMode="auto">
            <a:xfrm>
              <a:off x="1143000" y="14478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dirty="0"/>
                <a:t>5</a:t>
              </a:r>
              <a:endParaRPr lang="en-US" dirty="0"/>
            </a:p>
          </p:txBody>
        </p:sp>
        <p:sp>
          <p:nvSpPr>
            <p:cNvPr id="58" name="Line 80"/>
            <p:cNvSpPr>
              <a:spLocks noChangeShapeType="1"/>
            </p:cNvSpPr>
            <p:nvPr/>
          </p:nvSpPr>
          <p:spPr bwMode="auto">
            <a:xfrm>
              <a:off x="1447800" y="1600200"/>
              <a:ext cx="1143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59" name="Text Box 81"/>
            <p:cNvSpPr txBox="1">
              <a:spLocks noChangeArrowheads="1"/>
            </p:cNvSpPr>
            <p:nvPr/>
          </p:nvSpPr>
          <p:spPr bwMode="auto">
            <a:xfrm>
              <a:off x="2501900" y="2070100"/>
              <a:ext cx="304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3</a:t>
              </a:r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476672"/>
            <a:ext cx="7920880" cy="6096000"/>
          </a:xfrm>
        </p:spPr>
        <p:txBody>
          <a:bodyPr>
            <a:normAutofit fontScale="90000"/>
          </a:bodyPr>
          <a:lstStyle/>
          <a:p>
            <a:pPr algn="l"/>
            <a:r>
              <a:rPr lang="bg-BG" sz="2200" dirty="0"/>
              <a:t>	“Лакомите”  алгоритми се съставят лесно, реализацията им не е сложна (като на всеки евристичен алгоритъм). Единственият  им недостатък, че не винаги гарантират правилното решение на задачата, макар че намереното винаги е близко до оптималното.</a:t>
            </a:r>
            <a:br>
              <a:rPr lang="bg-BG" sz="2200" dirty="0"/>
            </a:br>
            <a:r>
              <a:rPr lang="bg-BG" sz="1000" dirty="0"/>
              <a:t/>
            </a:r>
            <a:br>
              <a:rPr lang="bg-BG" sz="1000" dirty="0"/>
            </a:br>
            <a:r>
              <a:rPr lang="bg-BG" sz="2200" dirty="0"/>
              <a:t>	</a:t>
            </a:r>
            <a:r>
              <a:rPr lang="bg-BG" sz="2200" u="sng" dirty="0"/>
              <a:t>Пример за “лаком” алгоритъм</a:t>
            </a:r>
            <a:r>
              <a:rPr lang="bg-BG" sz="2200" dirty="0"/>
              <a:t>: Да се намери начин  за получаване на дадена сума </a:t>
            </a:r>
            <a:r>
              <a:rPr lang="en-US" sz="2200" b="1" i="1" dirty="0"/>
              <a:t>m</a:t>
            </a:r>
            <a:r>
              <a:rPr lang="en-US" sz="2200" dirty="0"/>
              <a:t> (</a:t>
            </a:r>
            <a:r>
              <a:rPr lang="en-US" sz="2200" b="1" i="1" dirty="0"/>
              <a:t>m</a:t>
            </a:r>
            <a:r>
              <a:rPr lang="bg-BG" sz="2200" dirty="0"/>
              <a:t> – цяло число), като се използва минимален брой банкноти с номинали от множеството </a:t>
            </a:r>
            <a:r>
              <a:rPr lang="en-US" sz="2200" dirty="0"/>
              <a:t>{1, 2, 5, 10, 20, 50</a:t>
            </a:r>
            <a:r>
              <a:rPr lang="bg-BG" sz="2200" dirty="0"/>
              <a:t>, 100</a:t>
            </a:r>
            <a:r>
              <a:rPr lang="en-US" sz="2200" dirty="0"/>
              <a:t>} </a:t>
            </a:r>
            <a:r>
              <a:rPr lang="bg-BG" sz="2200" dirty="0"/>
              <a:t>лева за българската национална валута. Един от възможните подходи при търсене на решението е:</a:t>
            </a:r>
            <a:br>
              <a:rPr lang="bg-BG" sz="2200" dirty="0"/>
            </a:br>
            <a:r>
              <a:rPr lang="bg-BG" sz="2200" dirty="0">
                <a:latin typeface="Arial" pitchFamily="34" charset="0"/>
                <a:cs typeface="Arial" pitchFamily="34" charset="0"/>
              </a:rPr>
              <a:t>1. </a:t>
            </a:r>
            <a:r>
              <a:rPr lang="bg-BG" sz="2200" dirty="0"/>
              <a:t>Инициализираме текуща сума  </a:t>
            </a:r>
            <a:r>
              <a:rPr lang="en-US" sz="2200" b="1" i="1" dirty="0"/>
              <a:t>s </a:t>
            </a:r>
            <a:r>
              <a:rPr lang="en-US" sz="2200" dirty="0"/>
              <a:t>= 0</a:t>
            </a:r>
            <a:r>
              <a:rPr lang="bg-BG" sz="2200" dirty="0"/>
              <a:t>;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2. </a:t>
            </a:r>
            <a:r>
              <a:rPr lang="bg-BG" sz="2200" dirty="0"/>
              <a:t>Вземаме банкнота </a:t>
            </a:r>
            <a:r>
              <a:rPr lang="en-US" sz="2200" b="1" i="1" dirty="0" err="1"/>
              <a:t>i</a:t>
            </a:r>
            <a:r>
              <a:rPr lang="en-US" sz="2200" dirty="0"/>
              <a:t> </a:t>
            </a:r>
            <a:r>
              <a:rPr lang="bg-BG" sz="2200" dirty="0"/>
              <a:t>с </a:t>
            </a:r>
            <a:r>
              <a:rPr lang="en-US" sz="2200" b="1" i="1" dirty="0"/>
              <a:t>max</a:t>
            </a:r>
            <a:r>
              <a:rPr lang="en-US" sz="2200" dirty="0"/>
              <a:t> </a:t>
            </a:r>
            <a:r>
              <a:rPr lang="bg-BG" sz="2200" dirty="0"/>
              <a:t>стойност </a:t>
            </a:r>
            <a:r>
              <a:rPr lang="en-US" sz="2200" b="1" i="1" dirty="0" err="1"/>
              <a:t>a</a:t>
            </a:r>
            <a:r>
              <a:rPr lang="en-US" sz="2200" b="1" i="1" baseline="-25000" dirty="0" err="1"/>
              <a:t>i</a:t>
            </a:r>
            <a:r>
              <a:rPr lang="en-US" sz="2200" dirty="0"/>
              <a:t> </a:t>
            </a:r>
            <a:r>
              <a:rPr lang="bg-BG" sz="2200" dirty="0"/>
              <a:t>от множеството, такава че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   </a:t>
            </a:r>
            <a:r>
              <a:rPr lang="bg-BG" sz="2200" dirty="0"/>
              <a:t> </a:t>
            </a:r>
            <a:r>
              <a:rPr lang="en-US" sz="2200" b="1" i="1" dirty="0"/>
              <a:t>s</a:t>
            </a:r>
            <a:r>
              <a:rPr lang="bg-BG" sz="2200" dirty="0"/>
              <a:t>+</a:t>
            </a:r>
            <a:r>
              <a:rPr lang="en-US" sz="2200" b="1" i="1" dirty="0" err="1"/>
              <a:t>a</a:t>
            </a:r>
            <a:r>
              <a:rPr lang="en-US" sz="2200" b="1" i="1" baseline="-25000" dirty="0" err="1"/>
              <a:t>i</a:t>
            </a:r>
            <a:r>
              <a:rPr lang="en-US" sz="2200" dirty="0"/>
              <a:t> &lt;</a:t>
            </a:r>
            <a:r>
              <a:rPr lang="bg-BG" sz="2200" dirty="0"/>
              <a:t>= </a:t>
            </a:r>
            <a:r>
              <a:rPr lang="en-US" sz="2200" b="1" i="1" dirty="0"/>
              <a:t>m</a:t>
            </a:r>
            <a:r>
              <a:rPr lang="bg-BG" sz="2200" dirty="0"/>
              <a:t/>
            </a:r>
            <a:br>
              <a:rPr lang="bg-BG" sz="2200" dirty="0"/>
            </a:br>
            <a:r>
              <a:rPr lang="en-US" sz="2200" dirty="0"/>
              <a:t>	2.</a:t>
            </a:r>
            <a:r>
              <a:rPr lang="en-US" sz="2200" dirty="0">
                <a:latin typeface="Arial" pitchFamily="34" charset="0"/>
                <a:cs typeface="Arial" pitchFamily="34" charset="0"/>
              </a:rPr>
              <a:t>1</a:t>
            </a:r>
            <a:r>
              <a:rPr lang="bg-BG" sz="2200" dirty="0"/>
              <a:t>.</a:t>
            </a:r>
            <a:r>
              <a:rPr lang="en-US" sz="2200" dirty="0"/>
              <a:t> </a:t>
            </a:r>
            <a:r>
              <a:rPr lang="bg-BG" sz="2200" dirty="0"/>
              <a:t>Ако няма банкнота, за която </a:t>
            </a:r>
            <a:r>
              <a:rPr lang="en-US" sz="2200" b="1" i="1" dirty="0"/>
              <a:t>s</a:t>
            </a:r>
            <a:r>
              <a:rPr lang="bg-BG" sz="2200" dirty="0"/>
              <a:t>+</a:t>
            </a:r>
            <a:r>
              <a:rPr lang="en-US" sz="2200" b="1" i="1" dirty="0" err="1"/>
              <a:t>a</a:t>
            </a:r>
            <a:r>
              <a:rPr lang="en-US" sz="2200" b="1" i="1" baseline="-25000" dirty="0" err="1"/>
              <a:t>i</a:t>
            </a:r>
            <a:r>
              <a:rPr lang="en-US" sz="2200" dirty="0"/>
              <a:t> &lt;</a:t>
            </a:r>
            <a:r>
              <a:rPr lang="bg-BG" sz="2200" dirty="0"/>
              <a:t>= </a:t>
            </a:r>
            <a:r>
              <a:rPr lang="en-US" sz="2200" b="1" i="1" dirty="0"/>
              <a:t>m</a:t>
            </a:r>
            <a:r>
              <a:rPr lang="bg-BG" sz="2200" dirty="0"/>
              <a:t>, задачата няма </a:t>
            </a:r>
            <a:br>
              <a:rPr lang="bg-BG" sz="2200" dirty="0"/>
            </a:br>
            <a:r>
              <a:rPr lang="bg-BG" sz="2200" dirty="0"/>
              <a:t>                   решение. Край.</a:t>
            </a:r>
            <a:br>
              <a:rPr lang="bg-BG" sz="2200" dirty="0"/>
            </a:br>
            <a:r>
              <a:rPr lang="bg-BG" sz="2200" dirty="0"/>
              <a:t>            </a:t>
            </a:r>
            <a:r>
              <a:rPr lang="en-US" sz="2200" dirty="0" smtClean="0"/>
              <a:t>    </a:t>
            </a:r>
            <a:r>
              <a:rPr lang="bg-BG" sz="2200" dirty="0" smtClean="0"/>
              <a:t> </a:t>
            </a:r>
            <a:r>
              <a:rPr lang="bg-BG" sz="2200" dirty="0">
                <a:latin typeface="Arial" pitchFamily="34" charset="0"/>
                <a:cs typeface="Arial" pitchFamily="34" charset="0"/>
              </a:rPr>
              <a:t>2.</a:t>
            </a:r>
            <a:r>
              <a:rPr lang="bg-BG" sz="2200" dirty="0" err="1">
                <a:latin typeface="Arial" pitchFamily="34" charset="0"/>
                <a:cs typeface="Arial" pitchFamily="34" charset="0"/>
              </a:rPr>
              <a:t>2</a:t>
            </a:r>
            <a:r>
              <a:rPr lang="bg-BG" sz="2200" dirty="0">
                <a:latin typeface="Arial" pitchFamily="34" charset="0"/>
                <a:cs typeface="Arial" pitchFamily="34" charset="0"/>
              </a:rPr>
              <a:t>.</a:t>
            </a:r>
            <a:r>
              <a:rPr lang="bg-BG" sz="2200" dirty="0"/>
              <a:t> Иначе, вземаме банкнота </a:t>
            </a:r>
            <a:r>
              <a:rPr lang="en-US" sz="2200" b="1" i="1" dirty="0" err="1"/>
              <a:t>i</a:t>
            </a:r>
            <a:r>
              <a:rPr lang="bg-BG" sz="2200" dirty="0"/>
              <a:t>  и увеличаваме </a:t>
            </a:r>
            <a:r>
              <a:rPr lang="en-US" sz="2200" b="1" i="1" dirty="0"/>
              <a:t>s</a:t>
            </a:r>
            <a:r>
              <a:rPr lang="bg-BG" sz="2200" dirty="0"/>
              <a:t> с </a:t>
            </a:r>
            <a:r>
              <a:rPr lang="en-US" sz="2200" b="1" i="1" dirty="0" err="1"/>
              <a:t>a</a:t>
            </a:r>
            <a:r>
              <a:rPr lang="en-US" sz="2200" b="1" i="1" baseline="-25000" dirty="0" err="1"/>
              <a:t>i</a:t>
            </a:r>
            <a:r>
              <a:rPr lang="en-US" sz="2200" dirty="0"/>
              <a:t> </a:t>
            </a:r>
            <a:r>
              <a:rPr lang="bg-BG" sz="2200" dirty="0"/>
              <a:t/>
            </a:r>
            <a:br>
              <a:rPr lang="bg-BG" sz="2200" dirty="0"/>
            </a:br>
            <a:r>
              <a:rPr lang="bg-BG" sz="2200" dirty="0"/>
              <a:t>                      2.</a:t>
            </a:r>
            <a:r>
              <a:rPr lang="bg-BG" sz="2200" dirty="0" err="1"/>
              <a:t>2</a:t>
            </a:r>
            <a:r>
              <a:rPr lang="bg-BG" sz="2200" dirty="0"/>
              <a:t>.1. Ако </a:t>
            </a:r>
            <a:r>
              <a:rPr lang="en-US" sz="2200" b="1" i="1" dirty="0"/>
              <a:t>s</a:t>
            </a:r>
            <a:r>
              <a:rPr lang="bg-BG" sz="2200" dirty="0"/>
              <a:t> = </a:t>
            </a:r>
            <a:r>
              <a:rPr lang="en-US" sz="2200" b="1" i="1" dirty="0"/>
              <a:t>m</a:t>
            </a:r>
            <a:r>
              <a:rPr lang="bg-BG" sz="2200" b="1" i="1" dirty="0"/>
              <a:t> </a:t>
            </a:r>
            <a:r>
              <a:rPr lang="bg-BG" sz="2200" dirty="0"/>
              <a:t>задачата е решена. Край.</a:t>
            </a:r>
            <a:br>
              <a:rPr lang="bg-BG" sz="2200" dirty="0"/>
            </a:br>
            <a:r>
              <a:rPr lang="bg-BG" sz="2200" dirty="0"/>
              <a:t>                      2.</a:t>
            </a:r>
            <a:r>
              <a:rPr lang="bg-BG" sz="2200" dirty="0" err="1"/>
              <a:t>2</a:t>
            </a:r>
            <a:r>
              <a:rPr lang="bg-BG" sz="2200" dirty="0"/>
              <a:t>.</a:t>
            </a:r>
            <a:r>
              <a:rPr lang="bg-BG" sz="2200" dirty="0" err="1"/>
              <a:t>2</a:t>
            </a:r>
            <a:r>
              <a:rPr lang="bg-BG" sz="2200" dirty="0"/>
              <a:t>. Ако </a:t>
            </a:r>
            <a:r>
              <a:rPr lang="en-US" sz="2200" b="1" i="1" dirty="0"/>
              <a:t>s</a:t>
            </a:r>
            <a:r>
              <a:rPr lang="bg-BG" sz="2200" dirty="0"/>
              <a:t> </a:t>
            </a:r>
            <a:r>
              <a:rPr lang="en-US" sz="2200" dirty="0"/>
              <a:t>&lt;</a:t>
            </a:r>
            <a:r>
              <a:rPr lang="bg-BG" sz="2200" dirty="0"/>
              <a:t> </a:t>
            </a:r>
            <a:r>
              <a:rPr lang="en-US" sz="2200" b="1" i="1" dirty="0"/>
              <a:t>m</a:t>
            </a:r>
            <a:r>
              <a:rPr lang="bg-BG" sz="2200" b="1" i="1" dirty="0"/>
              <a:t> </a:t>
            </a:r>
            <a:r>
              <a:rPr lang="bg-BG" sz="2200" dirty="0"/>
              <a:t>повтаря се стъпка 2</a:t>
            </a:r>
            <a:br>
              <a:rPr lang="bg-BG" sz="2200" dirty="0"/>
            </a:br>
            <a:r>
              <a:rPr lang="bg-BG" sz="2200" dirty="0"/>
              <a:t>Например, сумата 197 лева ще се плати последователно с 1 банкнота от 100 лв., 1 от 50 лв., 2 по 20 лв., 1 от 5 лв. и 1 от 2 лв.</a:t>
            </a:r>
            <a:endParaRPr lang="en-US" sz="2200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404664"/>
            <a:ext cx="7920880" cy="6248400"/>
          </a:xfrm>
        </p:spPr>
        <p:txBody>
          <a:bodyPr/>
          <a:lstStyle/>
          <a:p>
            <a:pPr algn="l"/>
            <a:r>
              <a:rPr lang="en-US" sz="2200" dirty="0"/>
              <a:t>	</a:t>
            </a:r>
            <a:r>
              <a:rPr lang="bg-BG" sz="2200" dirty="0">
                <a:solidFill>
                  <a:schemeClr val="tx1"/>
                </a:solidFill>
              </a:rPr>
              <a:t>Описаният алгоритъм отговаря на критериите на “лаком” алгоритъм: на всяка стъпка той избира максималната по стойност банкнота, като по този начин се стреми да постигне най-бързо търсената сума (което е така за горепосочения пример).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	Но работи ли алгоритъма по същия начин при произволни входни данни?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	Нека </a:t>
            </a:r>
            <a:r>
              <a:rPr lang="en-US" sz="2200" b="1" i="1" dirty="0">
                <a:solidFill>
                  <a:schemeClr val="tx1"/>
                </a:solidFill>
              </a:rPr>
              <a:t>m</a:t>
            </a:r>
            <a:r>
              <a:rPr lang="bg-BG" sz="2200" dirty="0">
                <a:solidFill>
                  <a:schemeClr val="tx1"/>
                </a:solidFill>
              </a:rPr>
              <a:t> =</a:t>
            </a: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40</a:t>
            </a:r>
            <a:r>
              <a:rPr lang="bg-BG" sz="2200" dirty="0">
                <a:solidFill>
                  <a:schemeClr val="tx1"/>
                </a:solidFill>
              </a:rPr>
              <a:t> лв., а множеството банкноти да е </a:t>
            </a:r>
            <a:r>
              <a:rPr lang="en-US" sz="2200" dirty="0">
                <a:solidFill>
                  <a:schemeClr val="tx1"/>
                </a:solidFill>
              </a:rPr>
              <a:t>{</a:t>
            </a:r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2, 5, 20, </a:t>
            </a: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0</a:t>
            </a:r>
            <a:r>
              <a:rPr lang="en-US" sz="2200" dirty="0">
                <a:solidFill>
                  <a:schemeClr val="tx1"/>
                </a:solidFill>
              </a:rPr>
              <a:t>} </a:t>
            </a:r>
            <a:r>
              <a:rPr lang="bg-BG" sz="2200" dirty="0">
                <a:solidFill>
                  <a:schemeClr val="tx1"/>
                </a:solidFill>
              </a:rPr>
              <a:t>лева. “Лакомият” алгоритъм ще даде следното решение: </a:t>
            </a: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30 + 2*5</a:t>
            </a:r>
            <a:r>
              <a:rPr lang="bg-BG" sz="2200" dirty="0">
                <a:solidFill>
                  <a:schemeClr val="tx1"/>
                </a:solidFill>
              </a:rPr>
              <a:t>, т. е. сумата ще се плати </a:t>
            </a: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с 3</a:t>
            </a:r>
            <a:r>
              <a:rPr lang="bg-BG" sz="2200" dirty="0">
                <a:solidFill>
                  <a:schemeClr val="tx1"/>
                </a:solidFill>
              </a:rPr>
              <a:t> банкноти. Очевидно, съществува и по-добро решение: </a:t>
            </a: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2*20</a:t>
            </a:r>
            <a:r>
              <a:rPr lang="bg-BG" sz="2200" dirty="0">
                <a:solidFill>
                  <a:schemeClr val="tx1"/>
                </a:solidFill>
              </a:rPr>
              <a:t>. При същото множество номинали, но при друга сума (например, </a:t>
            </a:r>
            <a:r>
              <a:rPr lang="en-US" sz="2200" b="1" i="1" dirty="0">
                <a:solidFill>
                  <a:schemeClr val="tx1"/>
                </a:solidFill>
              </a:rPr>
              <a:t>m</a:t>
            </a:r>
            <a:r>
              <a:rPr lang="bg-BG" sz="2200" dirty="0">
                <a:solidFill>
                  <a:schemeClr val="tx1"/>
                </a:solidFill>
              </a:rPr>
              <a:t> =6 лв.), </a:t>
            </a:r>
            <a:r>
              <a:rPr lang="bg-BG" sz="2200" dirty="0" smtClean="0">
                <a:solidFill>
                  <a:schemeClr val="tx1"/>
                </a:solidFill>
              </a:rPr>
              <a:t>алгоритмът </a:t>
            </a:r>
            <a:r>
              <a:rPr lang="bg-BG" sz="2200" dirty="0">
                <a:solidFill>
                  <a:schemeClr val="tx1"/>
                </a:solidFill>
              </a:rPr>
              <a:t>изобщо няма да намери решение, макар че то съществува: </a:t>
            </a: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5+2 </a:t>
            </a:r>
            <a:r>
              <a:rPr lang="bg-BG" sz="2200" dirty="0">
                <a:solidFill>
                  <a:schemeClr val="tx1"/>
                </a:solidFill>
              </a:rPr>
              <a:t>&gt; </a:t>
            </a:r>
            <a:r>
              <a:rPr lang="en-US" sz="2200" b="1" i="1" dirty="0">
                <a:solidFill>
                  <a:schemeClr val="tx1"/>
                </a:solidFill>
              </a:rPr>
              <a:t>m</a:t>
            </a:r>
            <a:r>
              <a:rPr lang="bg-BG" sz="2200" dirty="0">
                <a:solidFill>
                  <a:schemeClr val="tx1"/>
                </a:solidFill>
              </a:rPr>
              <a:t> , но </a:t>
            </a:r>
            <a:r>
              <a:rPr lang="en-US" sz="2200" b="1" i="1" dirty="0">
                <a:solidFill>
                  <a:schemeClr val="tx1"/>
                </a:solidFill>
              </a:rPr>
              <a:t>m</a:t>
            </a:r>
            <a:r>
              <a:rPr lang="bg-BG" sz="2200" dirty="0">
                <a:solidFill>
                  <a:schemeClr val="tx1"/>
                </a:solidFill>
              </a:rPr>
              <a:t> =</a:t>
            </a: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2+2+2=6</a:t>
            </a:r>
            <a:r>
              <a:rPr lang="bg-BG" sz="2200" dirty="0">
                <a:solidFill>
                  <a:schemeClr val="tx1"/>
                </a:solidFill>
              </a:rPr>
              <a:t> и може да се плати с </a:t>
            </a: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bg-BG" sz="2200" dirty="0">
                <a:solidFill>
                  <a:schemeClr val="tx1"/>
                </a:solidFill>
              </a:rPr>
              <a:t> банкноти.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	Все пак подходът е ефективен и съществуват редица класически задачи, за които “лакомият” алгоритъм винаги намира вярно решение.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332656"/>
            <a:ext cx="7920880" cy="6324600"/>
          </a:xfrm>
        </p:spPr>
        <p:txBody>
          <a:bodyPr/>
          <a:lstStyle/>
          <a:p>
            <a:pPr algn="l"/>
            <a:r>
              <a:rPr lang="bg-BG" sz="2400" u="sng" dirty="0"/>
              <a:t>Задача за Египетските дроби</a:t>
            </a:r>
            <a:r>
              <a:rPr lang="en-US" sz="2400" u="sng" dirty="0"/>
              <a:t/>
            </a:r>
            <a:br>
              <a:rPr lang="en-US" sz="2400" u="sng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>	Древните египтяни са използвали само дроби с числител </a:t>
            </a:r>
            <a:r>
              <a:rPr lang="bg-BG" sz="2400" dirty="0">
                <a:latin typeface="Arial" pitchFamily="34" charset="0"/>
                <a:cs typeface="Arial" pitchFamily="34" charset="0"/>
              </a:rPr>
              <a:t>1</a:t>
            </a:r>
            <a:r>
              <a:rPr lang="bg-BG" sz="2400" dirty="0"/>
              <a:t>. Всяка друга дроб се е представяла и записвала като сума от дроби с числител </a:t>
            </a:r>
            <a:r>
              <a:rPr lang="bg-BG" sz="2400" dirty="0">
                <a:latin typeface="Arial" pitchFamily="34" charset="0"/>
                <a:cs typeface="Arial" pitchFamily="34" charset="0"/>
              </a:rPr>
              <a:t>1</a:t>
            </a:r>
            <a:r>
              <a:rPr lang="bg-BG" sz="2400" dirty="0"/>
              <a:t>. </a:t>
            </a:r>
            <a:br>
              <a:rPr lang="bg-BG" sz="2400" dirty="0"/>
            </a:br>
            <a:r>
              <a:rPr lang="bg-BG" sz="2400" dirty="0"/>
              <a:t>	Например, 7/9:</a:t>
            </a:r>
            <a:br>
              <a:rPr lang="bg-BG" sz="2400" dirty="0"/>
            </a:br>
            <a:r>
              <a:rPr lang="bg-BG" sz="2400" dirty="0"/>
              <a:t>	7/9 = 1/3 + 1/3 + 1/9</a:t>
            </a:r>
            <a:br>
              <a:rPr lang="bg-BG" sz="2400" dirty="0"/>
            </a:br>
            <a:r>
              <a:rPr lang="bg-BG" sz="2400" dirty="0"/>
              <a:t>	7/9 = 1/2 + 1/4 + 1/36</a:t>
            </a:r>
            <a:br>
              <a:rPr lang="bg-BG" sz="2400" dirty="0"/>
            </a:br>
            <a:r>
              <a:rPr lang="bg-BG" sz="2400" dirty="0"/>
              <a:t>	7/9 = 1/9 + 1/9 + 1/9 + 1/9 + 1/9 + 1/9 + 1/9 </a:t>
            </a:r>
            <a:br>
              <a:rPr lang="bg-BG" sz="2400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bg-BG" sz="2400" i="1" u="sng" dirty="0"/>
              <a:t>Условие на задачата</a:t>
            </a:r>
            <a:r>
              <a:rPr lang="bg-BG" sz="2400" dirty="0"/>
              <a:t>: дадени са две естествени числа </a:t>
            </a:r>
            <a:r>
              <a:rPr lang="en-US" sz="2400" b="1" i="1" dirty="0"/>
              <a:t>p</a:t>
            </a:r>
            <a:r>
              <a:rPr lang="bg-BG" sz="2400" dirty="0"/>
              <a:t> и </a:t>
            </a:r>
            <a:r>
              <a:rPr lang="en-US" sz="2400" b="1" i="1" dirty="0"/>
              <a:t>q</a:t>
            </a:r>
            <a:r>
              <a:rPr lang="en-US" sz="2400" dirty="0"/>
              <a:t> </a:t>
            </a:r>
            <a:r>
              <a:rPr lang="bg-BG" sz="2400" dirty="0"/>
              <a:t>(</a:t>
            </a:r>
            <a:r>
              <a:rPr lang="en-US" sz="2400" b="1" i="1" dirty="0"/>
              <a:t>q</a:t>
            </a:r>
            <a:r>
              <a:rPr lang="en-US" sz="2400" dirty="0"/>
              <a:t> </a:t>
            </a:r>
            <a:r>
              <a:rPr lang="bg-BG" sz="2400" dirty="0">
                <a:sym typeface="Symbol" pitchFamily="18" charset="2"/>
              </a:rPr>
              <a:t> 0, </a:t>
            </a:r>
            <a:r>
              <a:rPr lang="en-US" sz="2400" b="1" i="1" dirty="0"/>
              <a:t>p</a:t>
            </a:r>
            <a:r>
              <a:rPr lang="bg-BG" sz="2400" dirty="0"/>
              <a:t> &lt;</a:t>
            </a:r>
            <a:r>
              <a:rPr lang="en-US" sz="2400" dirty="0"/>
              <a:t> </a:t>
            </a:r>
            <a:r>
              <a:rPr lang="en-US" sz="2400" b="1" i="1" dirty="0"/>
              <a:t>q</a:t>
            </a:r>
            <a:r>
              <a:rPr lang="bg-BG" sz="2400" dirty="0"/>
              <a:t>; </a:t>
            </a:r>
            <a:r>
              <a:rPr lang="en-US" sz="2400" dirty="0"/>
              <a:t> </a:t>
            </a:r>
            <a:r>
              <a:rPr lang="en-US" sz="2400" b="1" i="1" dirty="0"/>
              <a:t>p</a:t>
            </a:r>
            <a:r>
              <a:rPr lang="bg-BG" sz="2400" dirty="0"/>
              <a:t>,</a:t>
            </a:r>
            <a:r>
              <a:rPr lang="en-US" sz="2400" dirty="0"/>
              <a:t> </a:t>
            </a:r>
            <a:r>
              <a:rPr lang="en-US" sz="2400" b="1" i="1" dirty="0"/>
              <a:t>q</a:t>
            </a:r>
            <a:r>
              <a:rPr lang="en-US" sz="2400" dirty="0"/>
              <a:t> </a:t>
            </a:r>
            <a:r>
              <a:rPr lang="bg-BG" sz="2400" b="1" i="1" dirty="0">
                <a:sym typeface="Symbol" pitchFamily="18" charset="2"/>
              </a:rPr>
              <a:t></a:t>
            </a:r>
            <a:r>
              <a:rPr lang="en-US" sz="2400" dirty="0"/>
              <a:t> </a:t>
            </a:r>
            <a:r>
              <a:rPr lang="en-US" sz="2400" b="1" i="1" dirty="0"/>
              <a:t>N</a:t>
            </a:r>
            <a:r>
              <a:rPr lang="bg-BG" sz="2400" dirty="0"/>
              <a:t>). Да се намери представяне на </a:t>
            </a:r>
            <a:r>
              <a:rPr lang="bg-BG" sz="2400" dirty="0" err="1"/>
              <a:t>дробта</a:t>
            </a:r>
            <a:r>
              <a:rPr lang="en-US" sz="2400" dirty="0"/>
              <a:t> </a:t>
            </a:r>
            <a:r>
              <a:rPr lang="bg-BG" sz="2400" dirty="0"/>
              <a:t> </a:t>
            </a:r>
            <a:r>
              <a:rPr lang="en-US" sz="2400" b="1" i="1" dirty="0"/>
              <a:t>p/q </a:t>
            </a:r>
            <a:r>
              <a:rPr lang="bg-BG" sz="2400" dirty="0"/>
              <a:t>във вида на сума:</a:t>
            </a:r>
            <a:br>
              <a:rPr lang="bg-BG" sz="2400" dirty="0"/>
            </a:br>
            <a:r>
              <a:rPr lang="bg-BG" sz="2400" dirty="0"/>
              <a:t> </a:t>
            </a:r>
            <a:r>
              <a:rPr lang="en-US" sz="2400" dirty="0"/>
              <a:t>			</a:t>
            </a:r>
            <a:r>
              <a:rPr lang="en-US" sz="2400" b="1" i="1" dirty="0"/>
              <a:t>p/q </a:t>
            </a:r>
            <a:r>
              <a:rPr lang="bg-BG" sz="2400" b="1" i="1" dirty="0"/>
              <a:t> = 1/а</a:t>
            </a:r>
            <a:r>
              <a:rPr lang="bg-BG" sz="2400" b="1" i="1" baseline="-25000" dirty="0"/>
              <a:t>1</a:t>
            </a:r>
            <a:r>
              <a:rPr lang="bg-BG" sz="2400" b="1" i="1" dirty="0"/>
              <a:t> + 1/а</a:t>
            </a:r>
            <a:r>
              <a:rPr lang="bg-BG" sz="2400" b="1" i="1" baseline="-25000" dirty="0"/>
              <a:t>2</a:t>
            </a:r>
            <a:r>
              <a:rPr lang="bg-BG" sz="2400" b="1" i="1" dirty="0"/>
              <a:t> +  ... + 1/</a:t>
            </a:r>
            <a:r>
              <a:rPr lang="bg-BG" sz="2400" b="1" i="1" dirty="0" err="1"/>
              <a:t>а</a:t>
            </a:r>
            <a:r>
              <a:rPr lang="bg-BG" sz="2400" b="1" i="1" baseline="-25000" dirty="0" err="1"/>
              <a:t>n</a:t>
            </a:r>
            <a:r>
              <a:rPr lang="bg-BG" sz="2400" b="1" i="1" dirty="0"/>
              <a:t> </a:t>
            </a:r>
            <a:r>
              <a:rPr lang="en-US" sz="2400" b="1" i="1" dirty="0"/>
              <a:t/>
            </a:r>
            <a:br>
              <a:rPr lang="en-US" sz="2400" b="1" i="1" dirty="0"/>
            </a:br>
            <a:r>
              <a:rPr lang="bg-BG" sz="2400" dirty="0"/>
              <a:t>при което знаменателите да бъдат различни:</a:t>
            </a:r>
            <a:br>
              <a:rPr lang="bg-BG" sz="2400" dirty="0"/>
            </a:br>
            <a:r>
              <a:rPr lang="bg-BG" sz="2400" dirty="0"/>
              <a:t> </a:t>
            </a:r>
            <a:r>
              <a:rPr lang="en-US" sz="2400" dirty="0"/>
              <a:t>	</a:t>
            </a:r>
            <a:r>
              <a:rPr lang="bg-BG" sz="2400" b="1" i="1" dirty="0" err="1"/>
              <a:t>а</a:t>
            </a:r>
            <a:r>
              <a:rPr lang="bg-BG" sz="2400" b="1" i="1" baseline="-25000" dirty="0" err="1"/>
              <a:t>i</a:t>
            </a:r>
            <a:r>
              <a:rPr lang="bg-BG" sz="2400" b="1" i="1" dirty="0"/>
              <a:t> </a:t>
            </a:r>
            <a:r>
              <a:rPr lang="bg-BG" sz="2400" dirty="0">
                <a:sym typeface="Symbol" pitchFamily="18" charset="2"/>
              </a:rPr>
              <a:t></a:t>
            </a:r>
            <a:r>
              <a:rPr lang="bg-BG" sz="2400" b="1" i="1" dirty="0"/>
              <a:t> </a:t>
            </a:r>
            <a:r>
              <a:rPr lang="bg-BG" sz="2400" b="1" i="1" dirty="0" err="1"/>
              <a:t>а</a:t>
            </a:r>
            <a:r>
              <a:rPr lang="bg-BG" sz="2400" b="1" i="1" baseline="-25000" dirty="0" err="1"/>
              <a:t>j</a:t>
            </a:r>
            <a:r>
              <a:rPr lang="bg-BG" sz="2400" b="1" i="1" dirty="0"/>
              <a:t> ,</a:t>
            </a:r>
            <a:r>
              <a:rPr lang="en-US" sz="2400" b="1" i="1" dirty="0"/>
              <a:t>  </a:t>
            </a:r>
            <a:r>
              <a:rPr lang="en-US" sz="2400" b="1" i="1" dirty="0">
                <a:latin typeface="Arial" pitchFamily="34" charset="0"/>
                <a:cs typeface="Arial" pitchFamily="34" charset="0"/>
              </a:rPr>
              <a:t>1</a:t>
            </a:r>
            <a:r>
              <a:rPr lang="bg-BG" sz="2400" b="1" i="1" dirty="0"/>
              <a:t> </a:t>
            </a:r>
            <a:r>
              <a:rPr lang="bg-BG" sz="2400" dirty="0">
                <a:sym typeface="Symbol" pitchFamily="18" charset="2"/>
              </a:rPr>
              <a:t></a:t>
            </a:r>
            <a:r>
              <a:rPr lang="bg-BG" sz="2400" b="1" i="1" dirty="0"/>
              <a:t> </a:t>
            </a:r>
            <a:r>
              <a:rPr lang="en-US" sz="2400" b="1" i="1" dirty="0" err="1"/>
              <a:t>i</a:t>
            </a:r>
            <a:r>
              <a:rPr lang="en-US" sz="2400" b="1" i="1" dirty="0"/>
              <a:t>, j </a:t>
            </a:r>
            <a:r>
              <a:rPr lang="bg-BG" sz="2400" dirty="0">
                <a:sym typeface="Symbol" pitchFamily="18" charset="2"/>
              </a:rPr>
              <a:t></a:t>
            </a:r>
            <a:r>
              <a:rPr lang="en-US" sz="2400" b="1" i="1" dirty="0"/>
              <a:t> n,   </a:t>
            </a:r>
            <a:r>
              <a:rPr lang="en-US" sz="2400" b="1" i="1" dirty="0" err="1"/>
              <a:t>i</a:t>
            </a:r>
            <a:r>
              <a:rPr lang="en-US" sz="2400" b="1" i="1" dirty="0"/>
              <a:t> </a:t>
            </a:r>
            <a:r>
              <a:rPr lang="bg-BG" sz="2400" dirty="0">
                <a:sym typeface="Symbol" pitchFamily="18" charset="2"/>
              </a:rPr>
              <a:t></a:t>
            </a:r>
            <a:r>
              <a:rPr lang="en-US" sz="2400" b="1" i="1" dirty="0"/>
              <a:t> j,   </a:t>
            </a:r>
            <a:r>
              <a:rPr lang="bg-BG" sz="2400" b="1" i="1" dirty="0" err="1"/>
              <a:t>а</a:t>
            </a:r>
            <a:r>
              <a:rPr lang="bg-BG" sz="2400" b="1" i="1" baseline="-25000" dirty="0" err="1"/>
              <a:t>i</a:t>
            </a:r>
            <a:r>
              <a:rPr lang="en-US" sz="2400" b="1" i="1" dirty="0"/>
              <a:t> </a:t>
            </a:r>
            <a:r>
              <a:rPr lang="bg-BG" sz="2400" dirty="0">
                <a:sym typeface="Symbol" pitchFamily="18" charset="2"/>
              </a:rPr>
              <a:t></a:t>
            </a:r>
            <a:r>
              <a:rPr lang="en-US" sz="2400" b="1" i="1" dirty="0"/>
              <a:t> 2,   </a:t>
            </a:r>
            <a:r>
              <a:rPr lang="bg-BG" sz="2400" b="1" i="1" dirty="0"/>
              <a:t>а</a:t>
            </a:r>
            <a:r>
              <a:rPr lang="en-US" sz="2400" b="1" i="1" baseline="-25000" dirty="0"/>
              <a:t>j</a:t>
            </a:r>
            <a:r>
              <a:rPr lang="en-US" sz="2400" b="1" i="1" dirty="0"/>
              <a:t> </a:t>
            </a:r>
            <a:r>
              <a:rPr lang="bg-BG" sz="2400" dirty="0">
                <a:sym typeface="Symbol" pitchFamily="18" charset="2"/>
              </a:rPr>
              <a:t></a:t>
            </a:r>
            <a:r>
              <a:rPr lang="en-US" sz="2400" b="1" i="1" dirty="0"/>
              <a:t> 2,   </a:t>
            </a:r>
            <a:r>
              <a:rPr lang="bg-BG" sz="2400" b="1" i="1" dirty="0" err="1"/>
              <a:t>а</a:t>
            </a:r>
            <a:r>
              <a:rPr lang="bg-BG" sz="2400" b="1" i="1" baseline="-25000" dirty="0" err="1"/>
              <a:t>i</a:t>
            </a:r>
            <a:r>
              <a:rPr lang="en-US" sz="2400" b="1" i="1" dirty="0"/>
              <a:t> , </a:t>
            </a:r>
            <a:r>
              <a:rPr lang="bg-BG" sz="2400" b="1" i="1" dirty="0"/>
              <a:t>а</a:t>
            </a:r>
            <a:r>
              <a:rPr lang="en-US" sz="2400" b="1" i="1" baseline="-25000" dirty="0"/>
              <a:t>j</a:t>
            </a:r>
            <a:r>
              <a:rPr lang="en-US" sz="2400" b="1" i="1" dirty="0"/>
              <a:t>  </a:t>
            </a:r>
            <a:r>
              <a:rPr lang="bg-BG" sz="2400" b="1" i="1" dirty="0">
                <a:sym typeface="Symbol" pitchFamily="18" charset="2"/>
              </a:rPr>
              <a:t> N</a:t>
            </a:r>
            <a:endParaRPr lang="en-US" sz="2400" b="1" i="1" dirty="0">
              <a:sym typeface="Symbol" pitchFamily="18" charset="2"/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992560" y="332656"/>
            <a:ext cx="8151440" cy="6324600"/>
          </a:xfrm>
        </p:spPr>
        <p:txBody>
          <a:bodyPr>
            <a:normAutofit fontScale="90000"/>
          </a:bodyPr>
          <a:lstStyle/>
          <a:p>
            <a:pPr algn="l"/>
            <a:r>
              <a:rPr lang="bg-BG" sz="2400" dirty="0">
                <a:solidFill>
                  <a:schemeClr val="tx1"/>
                </a:solidFill>
              </a:rPr>
              <a:t>	Възможно е задачата да има повече от едно решение. Например: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	3/7 = 1/3 + 1/11 + 1/231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	3/7 = 1/4 + 1/8 + 1/19 + 1/1064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	В нашия конкретен случай ще търсим произволно решение, отговарящо на условието знаменателите на намерените дроби да бъдат различни.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800" dirty="0">
                <a:solidFill>
                  <a:schemeClr val="tx1"/>
                </a:solidFill>
              </a:rPr>
              <a:t/>
            </a:r>
            <a:br>
              <a:rPr lang="bg-BG" sz="800" dirty="0">
                <a:solidFill>
                  <a:schemeClr val="tx1"/>
                </a:solidFill>
              </a:rPr>
            </a:br>
            <a:r>
              <a:rPr lang="bg-BG" sz="2400" i="1" u="sng" dirty="0">
                <a:solidFill>
                  <a:schemeClr val="tx1"/>
                </a:solidFill>
              </a:rPr>
              <a:t>“Лаком” алгоритъм за решаване на задачата</a:t>
            </a:r>
            <a:r>
              <a:rPr lang="bg-BG" sz="2400" dirty="0">
                <a:solidFill>
                  <a:schemeClr val="tx1"/>
                </a:solidFill>
              </a:rPr>
              <a:t>: на всяка стъпка поредния член в сумата да бъде максималната дроб, която може да се добави към текущата сума така, че резултатът да не надвишава </a:t>
            </a:r>
            <a:r>
              <a:rPr lang="en-US" sz="2400" b="1" i="1" dirty="0">
                <a:solidFill>
                  <a:schemeClr val="tx1"/>
                </a:solidFill>
              </a:rPr>
              <a:t>p/q</a:t>
            </a:r>
            <a:r>
              <a:rPr lang="bg-BG" sz="2400" dirty="0">
                <a:solidFill>
                  <a:schemeClr val="tx1"/>
                </a:solidFill>
              </a:rPr>
              <a:t>. Например, за </a:t>
            </a:r>
            <a:r>
              <a:rPr lang="en-US" sz="2400" b="1" i="1" dirty="0">
                <a:solidFill>
                  <a:schemeClr val="tx1"/>
                </a:solidFill>
              </a:rPr>
              <a:t>p/q</a:t>
            </a:r>
            <a:r>
              <a:rPr lang="bg-BG" sz="2400" dirty="0">
                <a:solidFill>
                  <a:schemeClr val="tx1"/>
                </a:solidFill>
              </a:rPr>
              <a:t> = 7/9 най-голямата дроб е 1/2. След това избираме дроб </a:t>
            </a:r>
            <a:r>
              <a:rPr lang="bg-BG" sz="2400" b="1" i="1" dirty="0">
                <a:solidFill>
                  <a:schemeClr val="tx1"/>
                </a:solidFill>
              </a:rPr>
              <a:t>1/а</a:t>
            </a:r>
            <a:r>
              <a:rPr lang="bg-BG" sz="2400" b="1" i="1" baseline="-25000" dirty="0">
                <a:solidFill>
                  <a:schemeClr val="tx1"/>
                </a:solidFill>
              </a:rPr>
              <a:t>2</a:t>
            </a:r>
            <a:r>
              <a:rPr lang="bg-BG" sz="2400" b="1" i="1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</a:rPr>
              <a:t>,</a:t>
            </a:r>
            <a:r>
              <a:rPr lang="bg-BG" sz="2400" b="1" i="1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</a:rPr>
              <a:t>така че: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	1/2 + </a:t>
            </a:r>
            <a:r>
              <a:rPr lang="bg-BG" sz="2400" b="1" i="1" dirty="0">
                <a:solidFill>
                  <a:schemeClr val="tx1"/>
                </a:solidFill>
              </a:rPr>
              <a:t>1/а</a:t>
            </a:r>
            <a:r>
              <a:rPr lang="bg-BG" sz="2400" b="1" i="1" baseline="-25000" dirty="0">
                <a:solidFill>
                  <a:schemeClr val="tx1"/>
                </a:solidFill>
              </a:rPr>
              <a:t>2</a:t>
            </a:r>
            <a:r>
              <a:rPr lang="bg-BG" sz="2400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  <a:sym typeface="Symbol" pitchFamily="18" charset="2"/>
              </a:rPr>
              <a:t> 7/9, т. е. </a:t>
            </a:r>
            <a:r>
              <a:rPr lang="bg-BG" sz="2400" b="1" i="1" dirty="0">
                <a:solidFill>
                  <a:schemeClr val="tx1"/>
                </a:solidFill>
              </a:rPr>
              <a:t>1/а</a:t>
            </a:r>
            <a:r>
              <a:rPr lang="bg-BG" sz="2400" b="1" i="1" baseline="-25000" dirty="0">
                <a:solidFill>
                  <a:schemeClr val="tx1"/>
                </a:solidFill>
              </a:rPr>
              <a:t>2</a:t>
            </a:r>
            <a:r>
              <a:rPr lang="bg-BG" sz="2400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  <a:sym typeface="Symbol" pitchFamily="18" charset="2"/>
              </a:rPr>
              <a:t> 7/9 - 1/2   или  </a:t>
            </a:r>
            <a:r>
              <a:rPr lang="bg-BG" sz="2400" b="1" i="1" dirty="0">
                <a:solidFill>
                  <a:schemeClr val="tx1"/>
                </a:solidFill>
              </a:rPr>
              <a:t>1/а</a:t>
            </a:r>
            <a:r>
              <a:rPr lang="bg-BG" sz="2400" b="1" i="1" baseline="-25000" dirty="0">
                <a:solidFill>
                  <a:schemeClr val="tx1"/>
                </a:solidFill>
              </a:rPr>
              <a:t>2</a:t>
            </a:r>
            <a:r>
              <a:rPr lang="bg-BG" sz="2400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  <a:sym typeface="Symbol" pitchFamily="18" charset="2"/>
              </a:rPr>
              <a:t> 5/18</a:t>
            </a:r>
            <a:br>
              <a:rPr lang="bg-BG" sz="2400" dirty="0">
                <a:solidFill>
                  <a:schemeClr val="tx1"/>
                </a:solidFill>
                <a:sym typeface="Symbol" pitchFamily="18" charset="2"/>
              </a:rPr>
            </a:br>
            <a:r>
              <a:rPr lang="bg-BG" sz="2400" dirty="0">
                <a:solidFill>
                  <a:schemeClr val="tx1"/>
                </a:solidFill>
                <a:sym typeface="Symbol" pitchFamily="18" charset="2"/>
              </a:rPr>
              <a:t>Най-голямата дроб, отговаряща на това условие, е 1/4, тогава:</a:t>
            </a:r>
            <a:br>
              <a:rPr lang="bg-BG" sz="2400" dirty="0">
                <a:solidFill>
                  <a:schemeClr val="tx1"/>
                </a:solidFill>
                <a:sym typeface="Symbol" pitchFamily="18" charset="2"/>
              </a:rPr>
            </a:br>
            <a:r>
              <a:rPr lang="bg-BG" sz="2400" dirty="0">
                <a:solidFill>
                  <a:schemeClr val="tx1"/>
                </a:solidFill>
                <a:sym typeface="Symbol" pitchFamily="18" charset="2"/>
              </a:rPr>
              <a:t>	        </a:t>
            </a:r>
            <a:r>
              <a:rPr lang="bg-BG" sz="2400" b="1" i="1" dirty="0">
                <a:solidFill>
                  <a:schemeClr val="tx1"/>
                </a:solidFill>
              </a:rPr>
              <a:t>1/а</a:t>
            </a:r>
            <a:r>
              <a:rPr lang="bg-BG" sz="2400" b="1" i="1" baseline="-25000" dirty="0">
                <a:solidFill>
                  <a:schemeClr val="tx1"/>
                </a:solidFill>
              </a:rPr>
              <a:t>3</a:t>
            </a:r>
            <a:r>
              <a:rPr lang="bg-BG" sz="2400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  <a:sym typeface="Symbol" pitchFamily="18" charset="2"/>
              </a:rPr>
              <a:t> 7/9 - 1/2  - 1/4  = 5/18 - 1/4 = 2/72.</a:t>
            </a:r>
            <a:br>
              <a:rPr lang="bg-BG" sz="2400" dirty="0">
                <a:solidFill>
                  <a:schemeClr val="tx1"/>
                </a:solidFill>
                <a:sym typeface="Symbol" pitchFamily="18" charset="2"/>
              </a:rPr>
            </a:br>
            <a:r>
              <a:rPr lang="bg-BG" sz="2400" dirty="0">
                <a:solidFill>
                  <a:schemeClr val="tx1"/>
                </a:solidFill>
                <a:sym typeface="Symbol" pitchFamily="18" charset="2"/>
              </a:rPr>
              <a:t>Т. е. максималното </a:t>
            </a:r>
            <a:r>
              <a:rPr lang="bg-BG" sz="2400" b="1" i="1" dirty="0">
                <a:solidFill>
                  <a:schemeClr val="tx1"/>
                </a:solidFill>
              </a:rPr>
              <a:t>а</a:t>
            </a:r>
            <a:r>
              <a:rPr lang="bg-BG" sz="2400" b="1" i="1" baseline="-25000" dirty="0">
                <a:solidFill>
                  <a:schemeClr val="tx1"/>
                </a:solidFill>
              </a:rPr>
              <a:t>3</a:t>
            </a:r>
            <a:r>
              <a:rPr lang="bg-BG" sz="2400" dirty="0">
                <a:solidFill>
                  <a:schemeClr val="tx1"/>
                </a:solidFill>
                <a:sym typeface="Symbol" pitchFamily="18" charset="2"/>
              </a:rPr>
              <a:t> е 1/36, с което сумирането приключва </a:t>
            </a:r>
            <a:r>
              <a:rPr lang="en-US" sz="2400" dirty="0" smtClean="0">
                <a:solidFill>
                  <a:schemeClr val="tx1"/>
                </a:solidFill>
                <a:sym typeface="Symbol" pitchFamily="18" charset="2"/>
              </a:rPr>
              <a:t/>
            </a:r>
            <a:br>
              <a:rPr lang="en-US" sz="2400" dirty="0" smtClean="0">
                <a:solidFill>
                  <a:schemeClr val="tx1"/>
                </a:solidFill>
                <a:sym typeface="Symbol" pitchFamily="18" charset="2"/>
              </a:rPr>
            </a:br>
            <a:r>
              <a:rPr lang="bg-BG" sz="2400" dirty="0" smtClean="0">
                <a:solidFill>
                  <a:schemeClr val="tx1"/>
                </a:solidFill>
                <a:sym typeface="Symbol" pitchFamily="18" charset="2"/>
              </a:rPr>
              <a:t>(</a:t>
            </a:r>
            <a:r>
              <a:rPr lang="bg-BG" sz="2400" dirty="0">
                <a:solidFill>
                  <a:schemeClr val="tx1"/>
                </a:solidFill>
                <a:sym typeface="Symbol" pitchFamily="18" charset="2"/>
              </a:rPr>
              <a:t>1/2 + 1/4 + 1/36 =7/9).</a:t>
            </a:r>
            <a:r>
              <a:rPr lang="bg-BG" sz="2400" dirty="0">
                <a:sym typeface="Symbol" pitchFamily="18" charset="2"/>
              </a:rPr>
              <a:t/>
            </a:r>
            <a:br>
              <a:rPr lang="bg-BG" sz="2400" dirty="0">
                <a:sym typeface="Symbol" pitchFamily="18" charset="2"/>
              </a:rPr>
            </a:br>
            <a:endParaRPr lang="en-US" sz="2400" dirty="0">
              <a:sym typeface="Symbol" pitchFamily="18" charset="2"/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200200" y="332656"/>
            <a:ext cx="7943800" cy="6324600"/>
          </a:xfrm>
        </p:spPr>
        <p:txBody>
          <a:bodyPr>
            <a:normAutofit fontScale="90000"/>
          </a:bodyPr>
          <a:lstStyle/>
          <a:p>
            <a:pPr algn="l">
              <a:lnSpc>
                <a:spcPct val="110000"/>
              </a:lnSpc>
            </a:pPr>
            <a:r>
              <a:rPr lang="bg-BG" sz="2400" u="sng" dirty="0">
                <a:solidFill>
                  <a:schemeClr val="tx1"/>
                </a:solidFill>
              </a:rPr>
              <a:t>Описание на алгоритъма</a:t>
            </a:r>
            <a:r>
              <a:rPr lang="bg-BG" sz="2400" dirty="0">
                <a:solidFill>
                  <a:schemeClr val="tx1"/>
                </a:solidFill>
              </a:rPr>
              <a:t>: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en-US" sz="2400" i="1" dirty="0">
                <a:solidFill>
                  <a:schemeClr val="tx1"/>
                </a:solidFill>
              </a:rPr>
              <a:t>while (p&gt;</a:t>
            </a:r>
            <a:r>
              <a:rPr lang="en-US" sz="24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400" i="1" dirty="0">
                <a:solidFill>
                  <a:schemeClr val="tx1"/>
                </a:solidFill>
              </a:rPr>
              <a:t>)</a:t>
            </a:r>
            <a:br>
              <a:rPr lang="en-US" sz="2400" i="1" dirty="0">
                <a:solidFill>
                  <a:schemeClr val="tx1"/>
                </a:solidFill>
              </a:rPr>
            </a:br>
            <a:r>
              <a:rPr lang="en-US" sz="2400" i="1" dirty="0">
                <a:solidFill>
                  <a:schemeClr val="tx1"/>
                </a:solidFill>
              </a:rPr>
              <a:t>{</a:t>
            </a:r>
            <a:br>
              <a:rPr lang="en-US" sz="2400" i="1" dirty="0">
                <a:solidFill>
                  <a:schemeClr val="tx1"/>
                </a:solidFill>
              </a:rPr>
            </a:br>
            <a:r>
              <a:rPr lang="en-US" sz="2400" i="1" dirty="0">
                <a:solidFill>
                  <a:schemeClr val="tx1"/>
                </a:solidFill>
              </a:rPr>
              <a:t>   </a:t>
            </a:r>
            <a:r>
              <a:rPr lang="bg-BG" sz="2400" i="1" dirty="0">
                <a:solidFill>
                  <a:schemeClr val="tx1"/>
                </a:solidFill>
              </a:rPr>
              <a:t>Намира се максималната дроб </a:t>
            </a:r>
            <a:r>
              <a:rPr lang="bg-BG" sz="2400" b="1" i="1" dirty="0">
                <a:solidFill>
                  <a:schemeClr val="tx1"/>
                </a:solidFill>
              </a:rPr>
              <a:t>1/</a:t>
            </a:r>
            <a:r>
              <a:rPr lang="en-US" sz="2400" b="1" i="1" dirty="0">
                <a:solidFill>
                  <a:schemeClr val="tx1"/>
                </a:solidFill>
              </a:rPr>
              <a:t>r</a:t>
            </a:r>
            <a:r>
              <a:rPr lang="en-US" sz="2400" i="1" dirty="0">
                <a:solidFill>
                  <a:schemeClr val="tx1"/>
                </a:solidFill>
              </a:rPr>
              <a:t>, </a:t>
            </a:r>
            <a:r>
              <a:rPr lang="bg-BG" sz="2400" i="1" dirty="0">
                <a:solidFill>
                  <a:schemeClr val="tx1"/>
                </a:solidFill>
              </a:rPr>
              <a:t>ненадвишаваща </a:t>
            </a:r>
            <a:r>
              <a:rPr lang="en-US" sz="2400" b="1" i="1" dirty="0">
                <a:solidFill>
                  <a:schemeClr val="tx1"/>
                </a:solidFill>
              </a:rPr>
              <a:t>p/q</a:t>
            </a:r>
            <a:r>
              <a:rPr lang="en-US" sz="2400" i="1" dirty="0">
                <a:solidFill>
                  <a:schemeClr val="tx1"/>
                </a:solidFill>
              </a:rPr>
              <a:t>;</a:t>
            </a:r>
            <a:br>
              <a:rPr lang="en-US" sz="2400" i="1" dirty="0">
                <a:solidFill>
                  <a:schemeClr val="tx1"/>
                </a:solidFill>
              </a:rPr>
            </a:br>
            <a:r>
              <a:rPr lang="en-US" sz="2400" i="1" dirty="0">
                <a:solidFill>
                  <a:schemeClr val="tx1"/>
                </a:solidFill>
              </a:rPr>
              <a:t>   </a:t>
            </a:r>
            <a:r>
              <a:rPr lang="bg-BG" sz="2400" i="1" dirty="0">
                <a:solidFill>
                  <a:schemeClr val="tx1"/>
                </a:solidFill>
              </a:rPr>
              <a:t>Отпечатва се </a:t>
            </a:r>
            <a:r>
              <a:rPr lang="bg-BG" sz="2400" i="1" dirty="0" err="1">
                <a:solidFill>
                  <a:schemeClr val="tx1"/>
                </a:solidFill>
              </a:rPr>
              <a:t>дробта</a:t>
            </a:r>
            <a:r>
              <a:rPr lang="bg-BG" sz="2400" i="1" dirty="0">
                <a:solidFill>
                  <a:schemeClr val="tx1"/>
                </a:solidFill>
              </a:rPr>
              <a:t> </a:t>
            </a:r>
            <a:r>
              <a:rPr lang="bg-BG" sz="2400" b="1" i="1" dirty="0">
                <a:solidFill>
                  <a:schemeClr val="tx1"/>
                </a:solidFill>
              </a:rPr>
              <a:t>1/</a:t>
            </a:r>
            <a:r>
              <a:rPr lang="en-US" sz="2400" b="1" i="1" dirty="0">
                <a:solidFill>
                  <a:schemeClr val="tx1"/>
                </a:solidFill>
              </a:rPr>
              <a:t>r</a:t>
            </a:r>
            <a:r>
              <a:rPr lang="bg-BG" sz="2400" i="1" dirty="0">
                <a:solidFill>
                  <a:schemeClr val="tx1"/>
                </a:solidFill>
              </a:rPr>
              <a:t>;</a:t>
            </a:r>
            <a:br>
              <a:rPr lang="bg-BG" sz="2400" i="1" dirty="0">
                <a:solidFill>
                  <a:schemeClr val="tx1"/>
                </a:solidFill>
              </a:rPr>
            </a:br>
            <a:r>
              <a:rPr lang="bg-BG" sz="2400" i="1" dirty="0">
                <a:solidFill>
                  <a:schemeClr val="tx1"/>
                </a:solidFill>
              </a:rPr>
              <a:t>   </a:t>
            </a:r>
            <a:r>
              <a:rPr lang="en-US" sz="2400" b="1" i="1" dirty="0">
                <a:solidFill>
                  <a:schemeClr val="tx1"/>
                </a:solidFill>
              </a:rPr>
              <a:t>p/q</a:t>
            </a:r>
            <a:r>
              <a:rPr lang="bg-BG" sz="2400" b="1" i="1" dirty="0">
                <a:solidFill>
                  <a:schemeClr val="tx1"/>
                </a:solidFill>
              </a:rPr>
              <a:t> </a:t>
            </a:r>
            <a:r>
              <a:rPr lang="bg-BG" sz="2400" i="1" dirty="0">
                <a:solidFill>
                  <a:schemeClr val="tx1"/>
                </a:solidFill>
              </a:rPr>
              <a:t>=</a:t>
            </a:r>
            <a:r>
              <a:rPr lang="bg-BG" sz="2400" b="1" i="1" dirty="0">
                <a:solidFill>
                  <a:schemeClr val="tx1"/>
                </a:solidFill>
              </a:rPr>
              <a:t> </a:t>
            </a:r>
            <a:r>
              <a:rPr lang="en-US" sz="2400" b="1" i="1" dirty="0">
                <a:solidFill>
                  <a:schemeClr val="tx1"/>
                </a:solidFill>
              </a:rPr>
              <a:t>p/q</a:t>
            </a:r>
            <a:r>
              <a:rPr lang="bg-BG" sz="2400" b="1" i="1" dirty="0">
                <a:solidFill>
                  <a:schemeClr val="tx1"/>
                </a:solidFill>
              </a:rPr>
              <a:t> </a:t>
            </a:r>
            <a:r>
              <a:rPr lang="bg-BG" sz="2400" i="1" dirty="0">
                <a:solidFill>
                  <a:schemeClr val="tx1"/>
                </a:solidFill>
              </a:rPr>
              <a:t>-</a:t>
            </a:r>
            <a:r>
              <a:rPr lang="bg-BG" sz="2400" b="1" i="1" dirty="0">
                <a:solidFill>
                  <a:schemeClr val="tx1"/>
                </a:solidFill>
              </a:rPr>
              <a:t> 1/</a:t>
            </a:r>
            <a:r>
              <a:rPr lang="en-US" sz="2400" b="1" i="1" dirty="0">
                <a:solidFill>
                  <a:schemeClr val="tx1"/>
                </a:solidFill>
              </a:rPr>
              <a:t>r</a:t>
            </a:r>
            <a:r>
              <a:rPr lang="bg-BG" sz="2400" i="1" dirty="0">
                <a:solidFill>
                  <a:schemeClr val="tx1"/>
                </a:solidFill>
              </a:rPr>
              <a:t>;</a:t>
            </a:r>
            <a:br>
              <a:rPr lang="bg-BG" sz="2400" i="1" dirty="0">
                <a:solidFill>
                  <a:schemeClr val="tx1"/>
                </a:solidFill>
              </a:rPr>
            </a:br>
            <a:r>
              <a:rPr lang="en-US" sz="2400" i="1" dirty="0">
                <a:solidFill>
                  <a:schemeClr val="tx1"/>
                </a:solidFill>
              </a:rPr>
              <a:t> }</a:t>
            </a:r>
            <a:br>
              <a:rPr lang="en-US" sz="2400" i="1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>	</a:t>
            </a:r>
            <a:r>
              <a:rPr lang="bg-BG" sz="2400" dirty="0">
                <a:solidFill>
                  <a:schemeClr val="tx1"/>
                </a:solidFill>
              </a:rPr>
              <a:t>Необходимо е да уточним два момента: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 	- как да търсим се максималната дроб </a:t>
            </a:r>
            <a:r>
              <a:rPr lang="bg-BG" sz="2400" b="1" i="1" dirty="0">
                <a:solidFill>
                  <a:schemeClr val="tx1"/>
                </a:solidFill>
              </a:rPr>
              <a:t>1/</a:t>
            </a:r>
            <a:r>
              <a:rPr lang="en-US" sz="2400" b="1" i="1" dirty="0">
                <a:solidFill>
                  <a:schemeClr val="tx1"/>
                </a:solidFill>
              </a:rPr>
              <a:t>r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bg-BG" sz="2400" dirty="0">
                <a:solidFill>
                  <a:schemeClr val="tx1"/>
                </a:solidFill>
              </a:rPr>
              <a:t>ненадвишаваща </a:t>
            </a:r>
            <a:r>
              <a:rPr lang="en-US" sz="2400" b="1" i="1" dirty="0">
                <a:solidFill>
                  <a:schemeClr val="tx1"/>
                </a:solidFill>
              </a:rPr>
              <a:t>p/q</a:t>
            </a:r>
            <a:r>
              <a:rPr lang="bg-BG" sz="2400" dirty="0">
                <a:solidFill>
                  <a:schemeClr val="tx1"/>
                </a:solidFill>
              </a:rPr>
              <a:t> (</a:t>
            </a:r>
            <a:r>
              <a:rPr lang="en-US" sz="2400" b="1" i="1" dirty="0">
                <a:solidFill>
                  <a:schemeClr val="tx1"/>
                </a:solidFill>
              </a:rPr>
              <a:t>q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  <a:sym typeface="Symbol" pitchFamily="18" charset="2"/>
              </a:rPr>
              <a:t> 0</a:t>
            </a:r>
            <a:r>
              <a:rPr lang="bg-BG" sz="2400" dirty="0">
                <a:solidFill>
                  <a:schemeClr val="tx1"/>
                </a:solidFill>
              </a:rPr>
              <a:t> ), т.е. минималното </a:t>
            </a:r>
            <a:r>
              <a:rPr lang="en-US" sz="2400" b="1" i="1" dirty="0">
                <a:solidFill>
                  <a:schemeClr val="tx1"/>
                </a:solidFill>
              </a:rPr>
              <a:t>r</a:t>
            </a:r>
            <a:r>
              <a:rPr lang="bg-BG" sz="2400" dirty="0">
                <a:solidFill>
                  <a:schemeClr val="tx1"/>
                </a:solidFill>
              </a:rPr>
              <a:t> , за което е изпълнено условието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			</a:t>
            </a:r>
            <a:r>
              <a:rPr lang="en-US" sz="2400" b="1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400" b="1" i="1" dirty="0">
                <a:solidFill>
                  <a:schemeClr val="tx1"/>
                </a:solidFill>
              </a:rPr>
              <a:t>/r</a:t>
            </a:r>
            <a:r>
              <a:rPr lang="bg-BG" sz="2400" b="1" i="1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  <a:sym typeface="Symbol" pitchFamily="18" charset="2"/>
              </a:rPr>
              <a:t></a:t>
            </a:r>
            <a:r>
              <a:rPr lang="bg-BG" sz="2400" b="1" i="1" dirty="0">
                <a:solidFill>
                  <a:schemeClr val="tx1"/>
                </a:solidFill>
              </a:rPr>
              <a:t> </a:t>
            </a:r>
            <a:r>
              <a:rPr lang="en-US" sz="2400" b="1" i="1" dirty="0">
                <a:solidFill>
                  <a:schemeClr val="tx1"/>
                </a:solidFill>
              </a:rPr>
              <a:t>p/q ,   </a:t>
            </a:r>
            <a:r>
              <a:rPr lang="bg-BG" sz="2400" b="1" i="1" dirty="0">
                <a:solidFill>
                  <a:schemeClr val="tx1"/>
                </a:solidFill>
              </a:rPr>
              <a:t>r</a:t>
            </a:r>
            <a:r>
              <a:rPr lang="en-US" sz="2400" b="1" i="1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  <a:sym typeface="Symbol" pitchFamily="18" charset="2"/>
              </a:rPr>
              <a:t></a:t>
            </a:r>
            <a:r>
              <a:rPr lang="en-US" sz="2400" b="1" i="1" dirty="0">
                <a:solidFill>
                  <a:schemeClr val="tx1"/>
                </a:solidFill>
              </a:rPr>
              <a:t> 2,  q </a:t>
            </a:r>
            <a:r>
              <a:rPr lang="bg-BG" sz="2400" dirty="0">
                <a:solidFill>
                  <a:schemeClr val="tx1"/>
                </a:solidFill>
                <a:sym typeface="Symbol" pitchFamily="18" charset="2"/>
              </a:rPr>
              <a:t></a:t>
            </a:r>
            <a:r>
              <a:rPr lang="en-US" sz="2400" b="1" i="1" dirty="0">
                <a:solidFill>
                  <a:schemeClr val="tx1"/>
                </a:solidFill>
              </a:rPr>
              <a:t> 2, </a:t>
            </a:r>
            <a:br>
              <a:rPr lang="en-US" sz="2400" b="1" i="1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Това е еквивалентно на</a:t>
            </a:r>
            <a:r>
              <a:rPr lang="bg-BG" sz="2400" b="1" i="1" dirty="0">
                <a:solidFill>
                  <a:schemeClr val="tx1"/>
                </a:solidFill>
              </a:rPr>
              <a:t>   r</a:t>
            </a:r>
            <a:r>
              <a:rPr lang="en-US" sz="2400" b="1" i="1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  <a:sym typeface="Symbol" pitchFamily="18" charset="2"/>
              </a:rPr>
              <a:t></a:t>
            </a:r>
            <a:r>
              <a:rPr lang="en-US" sz="2400" b="1" i="1" dirty="0">
                <a:solidFill>
                  <a:schemeClr val="tx1"/>
                </a:solidFill>
              </a:rPr>
              <a:t> p/q </a:t>
            </a:r>
            <a:r>
              <a:rPr lang="bg-BG" sz="2400" dirty="0">
                <a:solidFill>
                  <a:schemeClr val="tx1"/>
                </a:solidFill>
              </a:rPr>
              <a:t>.</a:t>
            </a:r>
            <a:r>
              <a:rPr lang="bg-BG" sz="2400" b="1" i="1" dirty="0">
                <a:solidFill>
                  <a:schemeClr val="tx1"/>
                </a:solidFill>
              </a:rPr>
              <a:t> </a:t>
            </a:r>
            <a:r>
              <a:rPr lang="en-US" sz="2400" b="1" i="1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</a:rPr>
              <a:t>За да намерим </a:t>
            </a:r>
            <a:r>
              <a:rPr lang="bg-BG" sz="2400" b="1" i="1" dirty="0">
                <a:solidFill>
                  <a:schemeClr val="tx1"/>
                </a:solidFill>
              </a:rPr>
              <a:t>r</a:t>
            </a:r>
            <a:r>
              <a:rPr lang="bg-BG" sz="2400" dirty="0">
                <a:solidFill>
                  <a:schemeClr val="tx1"/>
                </a:solidFill>
              </a:rPr>
              <a:t> , можем да извършим целочислено деление </a:t>
            </a:r>
            <a:r>
              <a:rPr lang="en-US" sz="2400" b="1" i="1" dirty="0">
                <a:solidFill>
                  <a:schemeClr val="tx1"/>
                </a:solidFill>
              </a:rPr>
              <a:t>p/q </a:t>
            </a:r>
            <a:r>
              <a:rPr lang="bg-BG" sz="2400" dirty="0">
                <a:solidFill>
                  <a:schemeClr val="tx1"/>
                </a:solidFill>
              </a:rPr>
              <a:t>и да вземем най-малкото цяло число, не по-малко от </a:t>
            </a:r>
            <a:r>
              <a:rPr lang="en-US" sz="2400" b="1" i="1" dirty="0">
                <a:solidFill>
                  <a:schemeClr val="tx1"/>
                </a:solidFill>
              </a:rPr>
              <a:t>p/q</a:t>
            </a:r>
            <a:r>
              <a:rPr lang="bg-BG" sz="2400" dirty="0">
                <a:solidFill>
                  <a:schemeClr val="tx1"/>
                </a:solidFill>
              </a:rPr>
              <a:t> :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 			</a:t>
            </a:r>
            <a:r>
              <a:rPr lang="bg-BG" sz="2400" b="1" i="1" dirty="0">
                <a:solidFill>
                  <a:schemeClr val="tx1"/>
                </a:solidFill>
              </a:rPr>
              <a:t>r</a:t>
            </a:r>
            <a:r>
              <a:rPr lang="en-US" sz="2400" b="1" i="1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  <a:sym typeface="Symbol" pitchFamily="18" charset="2"/>
              </a:rPr>
              <a:t>= (</a:t>
            </a:r>
            <a:r>
              <a:rPr lang="en-US" sz="2400" b="1" i="1" dirty="0">
                <a:solidFill>
                  <a:schemeClr val="tx1"/>
                </a:solidFill>
              </a:rPr>
              <a:t>q </a:t>
            </a:r>
            <a:r>
              <a:rPr lang="bg-BG" sz="2400" b="1" i="1" dirty="0">
                <a:solidFill>
                  <a:schemeClr val="tx1"/>
                </a:solidFill>
              </a:rPr>
              <a:t>+ </a:t>
            </a:r>
            <a:r>
              <a:rPr lang="en-US" sz="2400" b="1" i="1" dirty="0">
                <a:solidFill>
                  <a:schemeClr val="tx1"/>
                </a:solidFill>
              </a:rPr>
              <a:t>p</a:t>
            </a:r>
            <a:r>
              <a:rPr lang="bg-BG" sz="2400" i="1" dirty="0">
                <a:solidFill>
                  <a:schemeClr val="tx1"/>
                </a:solidFill>
              </a:rPr>
              <a:t>)</a:t>
            </a:r>
            <a:r>
              <a:rPr lang="bg-BG" sz="2400" b="1" i="1" dirty="0">
                <a:solidFill>
                  <a:schemeClr val="tx1"/>
                </a:solidFill>
              </a:rPr>
              <a:t> </a:t>
            </a:r>
            <a:r>
              <a:rPr lang="en-US" sz="2400" b="1" i="1" dirty="0">
                <a:solidFill>
                  <a:schemeClr val="tx1"/>
                </a:solidFill>
              </a:rPr>
              <a:t>/  p</a:t>
            </a:r>
            <a:r>
              <a:rPr lang="bg-BG" sz="2400" b="1" i="1" dirty="0"/>
              <a:t/>
            </a:r>
            <a:br>
              <a:rPr lang="bg-BG" sz="2400" b="1" i="1" dirty="0"/>
            </a:br>
            <a:r>
              <a:rPr lang="bg-BG" sz="2400" b="1" i="1" dirty="0"/>
              <a:t>	</a:t>
            </a:r>
            <a:endParaRPr lang="en-US" sz="2400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332656"/>
            <a:ext cx="7863408" cy="6248400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bg-BG" sz="2400" dirty="0"/>
              <a:t>- разликата</a:t>
            </a:r>
            <a:r>
              <a:rPr lang="bg-BG" sz="2400" b="1" i="1" dirty="0"/>
              <a:t>  </a:t>
            </a:r>
            <a:r>
              <a:rPr lang="en-US" sz="2400" b="1" i="1" dirty="0"/>
              <a:t>p/q</a:t>
            </a:r>
            <a:r>
              <a:rPr lang="bg-BG" sz="2400" b="1" i="1" dirty="0"/>
              <a:t> </a:t>
            </a:r>
            <a:r>
              <a:rPr lang="bg-BG" sz="2400" dirty="0"/>
              <a:t>=</a:t>
            </a:r>
            <a:r>
              <a:rPr lang="bg-BG" sz="2400" b="1" i="1" dirty="0"/>
              <a:t> </a:t>
            </a:r>
            <a:r>
              <a:rPr lang="en-US" sz="2400" b="1" i="1" dirty="0"/>
              <a:t>p/q</a:t>
            </a:r>
            <a:r>
              <a:rPr lang="bg-BG" sz="2400" b="1" i="1" dirty="0"/>
              <a:t> </a:t>
            </a:r>
            <a:r>
              <a:rPr lang="bg-BG" sz="2400" dirty="0"/>
              <a:t>-</a:t>
            </a:r>
            <a:r>
              <a:rPr lang="bg-BG" sz="2400" b="1" i="1" dirty="0"/>
              <a:t> 1/</a:t>
            </a:r>
            <a:r>
              <a:rPr lang="en-US" sz="2400" b="1" i="1" dirty="0"/>
              <a:t>r</a:t>
            </a:r>
            <a:r>
              <a:rPr lang="bg-BG" sz="2400" dirty="0"/>
              <a:t>  се пресмята чрез привеждане под общ знаменател. Така, новите стойности ще бъдат:</a:t>
            </a:r>
            <a:br>
              <a:rPr lang="bg-BG" sz="2400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en-US" sz="2400" dirty="0"/>
              <a:t>		</a:t>
            </a:r>
            <a:r>
              <a:rPr lang="en-US" sz="2400" b="1" i="1" dirty="0"/>
              <a:t>p = p*r - q;</a:t>
            </a:r>
            <a:br>
              <a:rPr lang="en-US" sz="2400" b="1" i="1" dirty="0"/>
            </a:br>
            <a:r>
              <a:rPr lang="en-US" sz="2400" b="1" i="1" dirty="0"/>
              <a:t>		q = q*r;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en-US" sz="2400" dirty="0"/>
              <a:t>	</a:t>
            </a:r>
            <a:r>
              <a:rPr lang="bg-BG" sz="2400" dirty="0"/>
              <a:t>Възможно е, след пресмятане на разликата да се получи </a:t>
            </a:r>
            <a:r>
              <a:rPr lang="bg-BG" sz="2400" dirty="0" err="1"/>
              <a:t>съкратима</a:t>
            </a:r>
            <a:r>
              <a:rPr lang="bg-BG" sz="2400" dirty="0"/>
              <a:t> дроб. Това ще попречи на правилната работа на алгоритъма единствено в случая, когато се получи дроб </a:t>
            </a:r>
            <a:r>
              <a:rPr lang="en-US" sz="2400" b="1" i="1" dirty="0"/>
              <a:t>p/q</a:t>
            </a:r>
            <a:r>
              <a:rPr lang="bg-BG" sz="2400" dirty="0"/>
              <a:t> , която може да се съкрати до </a:t>
            </a:r>
            <a:r>
              <a:rPr lang="bg-BG" sz="2400" b="1" i="1" dirty="0"/>
              <a:t>1/</a:t>
            </a:r>
            <a:r>
              <a:rPr lang="en-US" sz="2400" b="1" i="1" dirty="0"/>
              <a:t>х</a:t>
            </a:r>
            <a:r>
              <a:rPr lang="bg-BG" sz="2400" dirty="0"/>
              <a:t> , т. е. </a:t>
            </a:r>
            <a:r>
              <a:rPr lang="en-US" sz="2400" b="1" i="1" dirty="0"/>
              <a:t>q</a:t>
            </a:r>
            <a:r>
              <a:rPr lang="bg-BG" sz="2400" dirty="0"/>
              <a:t> </a:t>
            </a:r>
            <a:r>
              <a:rPr lang="bg-BG" sz="2400" b="1" i="1" dirty="0"/>
              <a:t>% </a:t>
            </a:r>
            <a:r>
              <a:rPr lang="en-US" sz="2400" b="1" i="1" dirty="0"/>
              <a:t>p</a:t>
            </a:r>
            <a:r>
              <a:rPr lang="bg-BG" sz="2400" b="1" i="1" dirty="0"/>
              <a:t> </a:t>
            </a:r>
            <a:r>
              <a:rPr lang="bg-BG" sz="2400" dirty="0"/>
              <a:t>= = 0. В този случай, ако не се извърши съкращението, условието </a:t>
            </a:r>
            <a:r>
              <a:rPr lang="en-US" sz="2400" b="1" i="1" dirty="0"/>
              <a:t>p</a:t>
            </a:r>
            <a:r>
              <a:rPr lang="bg-BG" sz="2400" dirty="0"/>
              <a:t> &gt; 1 ще продължава да бъде изпълнено и търсенето на дроби ще продължи до безкрайност.</a:t>
            </a:r>
            <a:br>
              <a:rPr lang="bg-BG" sz="2400" dirty="0"/>
            </a:br>
            <a:r>
              <a:rPr lang="en-US" sz="2400" dirty="0"/>
              <a:t>	</a:t>
            </a:r>
            <a:r>
              <a:rPr lang="bg-BG" sz="2400" dirty="0"/>
              <a:t>В приведената по-долу реализацията съкращението извършва функцията </a:t>
            </a:r>
            <a:r>
              <a:rPr lang="en-US" sz="2400" i="1" dirty="0"/>
              <a:t>cancel():</a:t>
            </a:r>
            <a:r>
              <a:rPr lang="bg-BG" sz="2400" dirty="0"/>
              <a:t>	</a:t>
            </a:r>
            <a:endParaRPr lang="en-US" sz="2400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52600" y="404664"/>
            <a:ext cx="7791400" cy="6172200"/>
          </a:xfrm>
        </p:spPr>
        <p:txBody>
          <a:bodyPr/>
          <a:lstStyle/>
          <a:p>
            <a:pPr algn="l">
              <a:lnSpc>
                <a:spcPct val="110000"/>
              </a:lnSpc>
            </a:pPr>
            <a:r>
              <a:rPr lang="en-US" sz="2400" dirty="0"/>
              <a:t>#include &lt;</a:t>
            </a:r>
            <a:r>
              <a:rPr lang="en-US" sz="2400" dirty="0" err="1" smtClean="0"/>
              <a:t>iostream</a:t>
            </a:r>
            <a:r>
              <a:rPr lang="en-US" sz="2400" dirty="0" smtClean="0"/>
              <a:t>&gt;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void cancel (unsigned long *p, unsigned long *q)</a:t>
            </a:r>
            <a:br>
              <a:rPr lang="en-US" sz="2400" dirty="0"/>
            </a:br>
            <a:r>
              <a:rPr lang="en-US" sz="2400" dirty="0">
                <a:solidFill>
                  <a:srgbClr val="C00000"/>
                </a:solidFill>
              </a:rPr>
              <a:t>      // </a:t>
            </a:r>
            <a:r>
              <a:rPr lang="en-US" sz="2400" dirty="0" err="1">
                <a:solidFill>
                  <a:srgbClr val="C00000"/>
                </a:solidFill>
              </a:rPr>
              <a:t>ако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b="1" i="1" dirty="0">
                <a:solidFill>
                  <a:srgbClr val="C00000"/>
                </a:solidFill>
              </a:rPr>
              <a:t>q </a:t>
            </a:r>
            <a:r>
              <a:rPr lang="en-US" sz="2400" dirty="0">
                <a:solidFill>
                  <a:srgbClr val="C00000"/>
                </a:solidFill>
              </a:rPr>
              <a:t>е </a:t>
            </a:r>
            <a:r>
              <a:rPr lang="en-US" sz="2400" dirty="0" err="1">
                <a:solidFill>
                  <a:srgbClr val="C00000"/>
                </a:solidFill>
              </a:rPr>
              <a:t>кратно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на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b="1" i="1" dirty="0">
                <a:solidFill>
                  <a:srgbClr val="C00000"/>
                </a:solidFill>
              </a:rPr>
              <a:t>p</a:t>
            </a:r>
            <a:r>
              <a:rPr lang="en-US" sz="2400" dirty="0">
                <a:solidFill>
                  <a:srgbClr val="C00000"/>
                </a:solidFill>
              </a:rPr>
              <a:t>, </a:t>
            </a:r>
            <a:r>
              <a:rPr lang="en-US" sz="2400" dirty="0" err="1">
                <a:solidFill>
                  <a:srgbClr val="C00000"/>
                </a:solidFill>
              </a:rPr>
              <a:t>се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извършва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съответното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err="1">
                <a:solidFill>
                  <a:srgbClr val="C00000"/>
                </a:solidFill>
              </a:rPr>
              <a:t>съкращение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{</a:t>
            </a:r>
            <a:br>
              <a:rPr lang="en-US" sz="2400" dirty="0"/>
            </a:br>
            <a:r>
              <a:rPr lang="en-US" sz="2400" dirty="0"/>
              <a:t>	if (0 ==*q %* p)</a:t>
            </a:r>
            <a:br>
              <a:rPr lang="en-US" sz="2400" dirty="0"/>
            </a:br>
            <a:r>
              <a:rPr lang="en-US" sz="2400" dirty="0"/>
              <a:t>	{</a:t>
            </a:r>
            <a:br>
              <a:rPr lang="en-US" sz="2400" dirty="0"/>
            </a:br>
            <a:r>
              <a:rPr lang="en-US" sz="2400" dirty="0"/>
              <a:t>	    *q /=*p;</a:t>
            </a:r>
            <a:br>
              <a:rPr lang="en-US" sz="2400" dirty="0"/>
            </a:br>
            <a:r>
              <a:rPr lang="en-US" sz="2400" dirty="0"/>
              <a:t>	    *p=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1</a:t>
            </a:r>
            <a:r>
              <a:rPr lang="en-US" sz="2400" dirty="0"/>
              <a:t>;</a:t>
            </a:r>
            <a:br>
              <a:rPr lang="en-US" sz="2400" dirty="0"/>
            </a:br>
            <a:r>
              <a:rPr lang="en-US" sz="2400" dirty="0"/>
              <a:t>	}</a:t>
            </a:r>
            <a:br>
              <a:rPr lang="en-US" sz="2400" dirty="0"/>
            </a:br>
            <a:r>
              <a:rPr lang="en-US" sz="2400" dirty="0"/>
              <a:t>}</a:t>
            </a:r>
            <a:br>
              <a:rPr lang="en-US" sz="2400" dirty="0"/>
            </a:br>
            <a:r>
              <a:rPr lang="en-US" sz="2000" dirty="0"/>
              <a:t>	 </a:t>
            </a:r>
            <a:endParaRPr lang="en-US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548680"/>
            <a:ext cx="8308032" cy="6019800"/>
          </a:xfrm>
        </p:spPr>
        <p:txBody>
          <a:bodyPr>
            <a:normAutofit fontScale="90000"/>
          </a:bodyPr>
          <a:lstStyle/>
          <a:p>
            <a:pPr algn="l">
              <a:lnSpc>
                <a:spcPct val="80000"/>
              </a:lnSpc>
            </a:pPr>
            <a:r>
              <a:rPr lang="en-US" sz="2400" dirty="0"/>
              <a:t>void solve (unsigned  long p,    unsigned  long q)</a:t>
            </a:r>
            <a:br>
              <a:rPr lang="en-US" sz="2400" dirty="0"/>
            </a:br>
            <a:r>
              <a:rPr lang="en-US" sz="2400" dirty="0"/>
              <a:t>{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dirty="0" err="1"/>
              <a:t>cout</a:t>
            </a:r>
            <a:r>
              <a:rPr lang="en-US" sz="2400" dirty="0"/>
              <a:t>&lt;&lt;p&lt;&lt;"/"&lt;&lt;q&lt;&lt;'=';</a:t>
            </a:r>
            <a:br>
              <a:rPr lang="en-US" sz="2400" dirty="0"/>
            </a:br>
            <a:r>
              <a:rPr lang="en-US" sz="2400" dirty="0"/>
              <a:t>	cancel(&amp;p, &amp;q);</a:t>
            </a:r>
            <a:br>
              <a:rPr lang="en-US" sz="2400" dirty="0"/>
            </a:br>
            <a:r>
              <a:rPr lang="en-US" sz="2400" dirty="0"/>
              <a:t>	while (p&gt;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1</a:t>
            </a:r>
            <a:r>
              <a:rPr lang="en-US" sz="2400" dirty="0"/>
              <a:t>)</a:t>
            </a:r>
            <a:br>
              <a:rPr lang="en-US" sz="2400" dirty="0"/>
            </a:br>
            <a:r>
              <a:rPr lang="en-US" sz="2400" dirty="0"/>
              <a:t>	{   unsigned  long r</a:t>
            </a:r>
            <a:r>
              <a:rPr lang="en-US" sz="2200" dirty="0"/>
              <a:t>;    </a:t>
            </a:r>
            <a:r>
              <a:rPr lang="en-US" sz="2200" dirty="0">
                <a:solidFill>
                  <a:srgbClr val="C00000"/>
                </a:solidFill>
              </a:rPr>
              <a:t>//</a:t>
            </a:r>
            <a:r>
              <a:rPr lang="en-US" sz="2200" dirty="0" err="1">
                <a:solidFill>
                  <a:srgbClr val="C00000"/>
                </a:solidFill>
              </a:rPr>
              <a:t>търсене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на</a:t>
            </a:r>
            <a:r>
              <a:rPr lang="en-US" sz="2200" dirty="0">
                <a:solidFill>
                  <a:srgbClr val="C00000"/>
                </a:solidFill>
              </a:rPr>
              <a:t> МАХ </a:t>
            </a:r>
            <a:r>
              <a:rPr lang="en-US" sz="2200" dirty="0" err="1">
                <a:solidFill>
                  <a:srgbClr val="C00000"/>
                </a:solidFill>
              </a:rPr>
              <a:t>дроб</a:t>
            </a:r>
            <a:r>
              <a:rPr lang="en-US" sz="2200" dirty="0">
                <a:solidFill>
                  <a:srgbClr val="C00000"/>
                </a:solidFill>
              </a:rPr>
              <a:t>  </a:t>
            </a:r>
            <a:r>
              <a:rPr lang="en-US" sz="2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200" dirty="0">
                <a:solidFill>
                  <a:srgbClr val="C00000"/>
                </a:solidFill>
              </a:rPr>
              <a:t>/</a:t>
            </a:r>
            <a:r>
              <a:rPr lang="en-US" sz="2200" b="1" i="1" dirty="0">
                <a:solidFill>
                  <a:srgbClr val="C00000"/>
                </a:solidFill>
              </a:rPr>
              <a:t>r</a:t>
            </a:r>
            <a:r>
              <a:rPr lang="en-US" sz="2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,  1</a:t>
            </a:r>
            <a:r>
              <a:rPr lang="en-US" sz="2200" dirty="0">
                <a:solidFill>
                  <a:srgbClr val="C00000"/>
                </a:solidFill>
              </a:rPr>
              <a:t>/</a:t>
            </a:r>
            <a:r>
              <a:rPr lang="en-US" sz="2200" b="1" i="1" dirty="0">
                <a:solidFill>
                  <a:srgbClr val="C00000"/>
                </a:solidFill>
              </a:rPr>
              <a:t>r</a:t>
            </a:r>
            <a:r>
              <a:rPr lang="en-US" sz="2200" dirty="0">
                <a:solidFill>
                  <a:srgbClr val="C00000"/>
                </a:solidFill>
              </a:rPr>
              <a:t>&lt;=</a:t>
            </a:r>
            <a:r>
              <a:rPr lang="en-US" sz="2200" b="1" i="1" dirty="0">
                <a:solidFill>
                  <a:srgbClr val="C00000"/>
                </a:solidFill>
              </a:rPr>
              <a:t>p/q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br>
              <a:rPr lang="en-US" sz="2200" dirty="0">
                <a:solidFill>
                  <a:srgbClr val="C00000"/>
                </a:solidFill>
              </a:rPr>
            </a:br>
            <a:r>
              <a:rPr lang="en-US" sz="2400" dirty="0"/>
              <a:t>	     r = (p + q) / p;</a:t>
            </a:r>
            <a:br>
              <a:rPr lang="en-US" sz="2400" dirty="0"/>
            </a:br>
            <a:r>
              <a:rPr lang="en-US" sz="2400" dirty="0"/>
              <a:t>	     </a:t>
            </a:r>
            <a:r>
              <a:rPr lang="en-US" sz="2400" dirty="0" err="1"/>
              <a:t>cout</a:t>
            </a:r>
            <a:r>
              <a:rPr lang="en-US" sz="2400" dirty="0"/>
              <a:t>&lt;&lt;"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1</a:t>
            </a:r>
            <a:r>
              <a:rPr lang="en-US" sz="2400" dirty="0"/>
              <a:t>/"&lt;&lt;r&lt;&lt;'+';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</a:rPr>
              <a:t>    </a:t>
            </a:r>
            <a:r>
              <a:rPr lang="en-US" sz="2200" dirty="0" smtClean="0">
                <a:solidFill>
                  <a:srgbClr val="C00000"/>
                </a:solidFill>
              </a:rPr>
              <a:t>//</a:t>
            </a:r>
            <a:r>
              <a:rPr lang="en-US" sz="2200" dirty="0" err="1">
                <a:solidFill>
                  <a:srgbClr val="C00000"/>
                </a:solidFill>
              </a:rPr>
              <a:t>изчисляване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 err="1">
                <a:solidFill>
                  <a:srgbClr val="C00000"/>
                </a:solidFill>
              </a:rPr>
              <a:t>на</a:t>
            </a:r>
            <a:r>
              <a:rPr lang="en-US" sz="2200" dirty="0">
                <a:solidFill>
                  <a:srgbClr val="C00000"/>
                </a:solidFill>
              </a:rPr>
              <a:t>    </a:t>
            </a:r>
            <a:r>
              <a:rPr lang="en-US" sz="2200" b="1" i="1" dirty="0">
                <a:solidFill>
                  <a:srgbClr val="C00000"/>
                </a:solidFill>
              </a:rPr>
              <a:t>p/q</a:t>
            </a:r>
            <a:r>
              <a:rPr lang="en-US" sz="2200" dirty="0">
                <a:solidFill>
                  <a:srgbClr val="C00000"/>
                </a:solidFill>
              </a:rPr>
              <a:t> - </a:t>
            </a:r>
            <a:r>
              <a:rPr lang="en-US" sz="22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200" b="1" i="1" dirty="0">
                <a:solidFill>
                  <a:srgbClr val="C00000"/>
                </a:solidFill>
              </a:rPr>
              <a:t>/r</a:t>
            </a:r>
            <a:r>
              <a:rPr lang="en-US" sz="2400" dirty="0">
                <a:solidFill>
                  <a:schemeClr val="accent2"/>
                </a:solidFill>
              </a:rPr>
              <a:t/>
            </a:r>
            <a:br>
              <a:rPr lang="en-US" sz="2400" dirty="0">
                <a:solidFill>
                  <a:schemeClr val="accent2"/>
                </a:solidFill>
              </a:rPr>
            </a:br>
            <a:r>
              <a:rPr lang="en-US" sz="2400" dirty="0"/>
              <a:t>	     p=p*r - q;</a:t>
            </a:r>
            <a:br>
              <a:rPr lang="en-US" sz="2400" dirty="0"/>
            </a:br>
            <a:r>
              <a:rPr lang="en-US" sz="2400" dirty="0"/>
              <a:t>	     q=q*r;</a:t>
            </a:r>
            <a:br>
              <a:rPr lang="en-US" sz="2400" dirty="0"/>
            </a:br>
            <a:r>
              <a:rPr lang="en-US" sz="2400" dirty="0"/>
              <a:t>	     cancel(&amp;p, &amp;q);</a:t>
            </a:r>
            <a:br>
              <a:rPr lang="en-US" sz="2400" dirty="0"/>
            </a:br>
            <a:r>
              <a:rPr lang="en-US" sz="2400" dirty="0"/>
              <a:t>	}</a:t>
            </a:r>
            <a:br>
              <a:rPr lang="en-US" sz="2400" dirty="0"/>
            </a:br>
            <a:r>
              <a:rPr lang="en-US" sz="2400" dirty="0"/>
              <a:t>	if (p &gt;0)</a:t>
            </a:r>
            <a:br>
              <a:rPr lang="en-US" sz="2400" dirty="0"/>
            </a:br>
            <a:r>
              <a:rPr lang="en-US" sz="2400" dirty="0"/>
              <a:t>		</a:t>
            </a:r>
            <a:r>
              <a:rPr lang="en-US" sz="2400" dirty="0" err="1"/>
              <a:t>cout</a:t>
            </a:r>
            <a:r>
              <a:rPr lang="en-US" sz="2400" dirty="0"/>
              <a:t>&lt;&lt;p&lt;&lt;'/'&lt;&lt;q;</a:t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}</a:t>
            </a:r>
            <a:br>
              <a:rPr lang="en-US" sz="2400" dirty="0"/>
            </a:br>
            <a:r>
              <a:rPr lang="en-US" sz="2400" dirty="0"/>
              <a:t>void main()</a:t>
            </a:r>
            <a:br>
              <a:rPr lang="en-US" sz="2400" dirty="0"/>
            </a:br>
            <a:r>
              <a:rPr lang="en-US" sz="2400" dirty="0"/>
              <a:t>{</a:t>
            </a:r>
            <a:br>
              <a:rPr lang="en-US" sz="2400" dirty="0"/>
            </a:br>
            <a:r>
              <a:rPr lang="en-US" sz="2400" dirty="0"/>
              <a:t>	solve(3,7);</a:t>
            </a:r>
            <a:br>
              <a:rPr lang="en-US" sz="2400" dirty="0"/>
            </a:br>
            <a:r>
              <a:rPr lang="en-US" sz="2400" dirty="0"/>
              <a:t>}</a:t>
            </a:r>
            <a:endParaRPr lang="en-US" sz="2000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967160" y="0"/>
            <a:ext cx="8176840" cy="6553200"/>
          </a:xfrm>
        </p:spPr>
        <p:txBody>
          <a:bodyPr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bg-BG" sz="2200" dirty="0"/>
              <a:t>	Да разгледаме една такава задача, свързана с максимално съчетание на дейности:</a:t>
            </a:r>
            <a:r>
              <a:rPr lang="bg-BG" sz="1000" dirty="0"/>
              <a:t/>
            </a:r>
            <a:br>
              <a:rPr lang="bg-BG" sz="1000" dirty="0"/>
            </a:br>
            <a:r>
              <a:rPr lang="bg-BG" sz="1000" dirty="0"/>
              <a:t/>
            </a:r>
            <a:br>
              <a:rPr lang="bg-BG" sz="1000" dirty="0"/>
            </a:br>
            <a:r>
              <a:rPr lang="bg-BG" sz="2200" u="sng" dirty="0"/>
              <a:t>Задача</a:t>
            </a:r>
            <a:r>
              <a:rPr lang="bg-BG" sz="2200" dirty="0"/>
              <a:t>: Има  </a:t>
            </a:r>
            <a:r>
              <a:rPr lang="en-US" sz="2200" b="1" i="1" dirty="0"/>
              <a:t>n</a:t>
            </a:r>
            <a:r>
              <a:rPr lang="bg-BG" sz="2200" dirty="0"/>
              <a:t>  дисциплини, които се четат през даден семестър и искат да ползват една и съща зала (за по-лесно ще казваме -  </a:t>
            </a:r>
            <a:r>
              <a:rPr lang="en-US" sz="2200" b="1" i="1" dirty="0"/>
              <a:t>n</a:t>
            </a:r>
            <a:r>
              <a:rPr lang="bg-BG" sz="2200" dirty="0"/>
              <a:t>  лекции). Всяка лекция </a:t>
            </a:r>
            <a:r>
              <a:rPr lang="en-US" sz="2200" b="1" i="1" dirty="0" err="1"/>
              <a:t>i</a:t>
            </a:r>
            <a:r>
              <a:rPr lang="bg-BG" sz="2200" dirty="0"/>
              <a:t> се характеризира с две цели числа – началния час </a:t>
            </a:r>
            <a:r>
              <a:rPr lang="en-US" sz="2200" b="1" i="1" dirty="0" err="1"/>
              <a:t>s</a:t>
            </a:r>
            <a:r>
              <a:rPr lang="en-US" sz="2200" b="1" i="1" baseline="-25000" dirty="0" err="1"/>
              <a:t>i</a:t>
            </a:r>
            <a:r>
              <a:rPr lang="en-US" sz="2200" dirty="0"/>
              <a:t> </a:t>
            </a:r>
            <a:r>
              <a:rPr lang="bg-BG" sz="2200" dirty="0"/>
              <a:t>и крайния час </a:t>
            </a:r>
            <a:r>
              <a:rPr lang="en-US" sz="2200" b="1" i="1" dirty="0" err="1"/>
              <a:t>f</a:t>
            </a:r>
            <a:r>
              <a:rPr lang="en-US" sz="2200" b="1" i="1" baseline="-25000" dirty="0" err="1"/>
              <a:t>i</a:t>
            </a:r>
            <a:r>
              <a:rPr lang="en-US" sz="2200" dirty="0"/>
              <a:t>.  </a:t>
            </a:r>
            <a:r>
              <a:rPr lang="bg-BG" sz="2200" dirty="0"/>
              <a:t>Нека те да са естествени числа и всяка лекция може да продължава повече от 2 часа.  Необходимо е максимално да натоварим залата, т. е. трябва да се изберат максимален брой лекции, така че никои две от избраните да не се провеждат в едно и също време (в даден момент </a:t>
            </a:r>
            <a:r>
              <a:rPr lang="en-US" sz="2200" b="1" i="1" dirty="0"/>
              <a:t>t</a:t>
            </a:r>
            <a:r>
              <a:rPr lang="en-US" sz="2200" dirty="0"/>
              <a:t> </a:t>
            </a:r>
            <a:r>
              <a:rPr lang="bg-BG" sz="2200" dirty="0"/>
              <a:t>в залата може да се чете най-много една лекция </a:t>
            </a:r>
            <a:r>
              <a:rPr lang="en-US" sz="2200" b="1" i="1" dirty="0" err="1"/>
              <a:t>i</a:t>
            </a:r>
            <a:r>
              <a:rPr lang="en-US" sz="2200" b="1" i="1" dirty="0"/>
              <a:t> </a:t>
            </a:r>
            <a:r>
              <a:rPr lang="bg-BG" sz="2200" dirty="0"/>
              <a:t>при</a:t>
            </a:r>
            <a:r>
              <a:rPr lang="en-US" sz="2200" dirty="0"/>
              <a:t> </a:t>
            </a:r>
            <a:r>
              <a:rPr lang="bg-BG" sz="2200" dirty="0"/>
              <a:t> условия </a:t>
            </a:r>
            <a:r>
              <a:rPr lang="en-US" sz="2200" b="1" i="1" dirty="0" err="1"/>
              <a:t>s</a:t>
            </a:r>
            <a:r>
              <a:rPr lang="en-US" sz="2200" b="1" i="1" baseline="-25000" dirty="0" err="1"/>
              <a:t>i</a:t>
            </a:r>
            <a:r>
              <a:rPr lang="en-US" sz="2200" dirty="0"/>
              <a:t>&lt;= </a:t>
            </a:r>
            <a:r>
              <a:rPr lang="en-US" sz="2200" b="1" i="1" dirty="0"/>
              <a:t>t</a:t>
            </a:r>
            <a:r>
              <a:rPr lang="en-US" sz="2200" dirty="0"/>
              <a:t> &lt;= </a:t>
            </a:r>
            <a:r>
              <a:rPr lang="en-US" sz="2200" b="1" i="1" dirty="0" err="1"/>
              <a:t>f</a:t>
            </a:r>
            <a:r>
              <a:rPr lang="en-US" sz="2200" b="1" i="1" baseline="-25000" dirty="0" err="1"/>
              <a:t>i</a:t>
            </a:r>
            <a:r>
              <a:rPr lang="en-US" sz="2200" dirty="0"/>
              <a:t> </a:t>
            </a:r>
            <a:r>
              <a:rPr lang="bg-BG" sz="2200" dirty="0"/>
              <a:t> и  1</a:t>
            </a:r>
            <a:r>
              <a:rPr lang="en-US" sz="2200" dirty="0"/>
              <a:t>&lt;= </a:t>
            </a:r>
            <a:r>
              <a:rPr lang="en-US" sz="2200" b="1" i="1" dirty="0" err="1"/>
              <a:t>i</a:t>
            </a:r>
            <a:r>
              <a:rPr lang="en-US" sz="2200" dirty="0"/>
              <a:t> &lt;= </a:t>
            </a:r>
            <a:r>
              <a:rPr lang="en-US" sz="2200" b="1" i="1" dirty="0"/>
              <a:t>n</a:t>
            </a:r>
            <a:r>
              <a:rPr lang="bg-BG" sz="2200" dirty="0"/>
              <a:t>).</a:t>
            </a:r>
            <a:br>
              <a:rPr lang="bg-BG" sz="2200" dirty="0"/>
            </a:br>
            <a:r>
              <a:rPr lang="bg-BG" sz="2200" dirty="0"/>
              <a:t>	Задачата е класически пример за ефективно и правилно работещ “лаком” алгоритъм .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bg-BG" sz="800" dirty="0"/>
              <a:t/>
            </a:r>
            <a:br>
              <a:rPr lang="bg-BG" sz="800" dirty="0"/>
            </a:br>
            <a:r>
              <a:rPr lang="bg-BG" sz="2200" dirty="0"/>
              <a:t>Нека да имаме следната конфигурация от 4 лекции:</a:t>
            </a:r>
            <a:br>
              <a:rPr lang="bg-BG" sz="2200" dirty="0"/>
            </a:br>
            <a:r>
              <a:rPr lang="bg-BG" sz="2200" dirty="0"/>
              <a:t/>
            </a:r>
            <a:br>
              <a:rPr lang="bg-BG" sz="2200" dirty="0"/>
            </a:br>
            <a:r>
              <a:rPr lang="bg-BG" sz="2200" dirty="0"/>
              <a:t>лекциите 1 и 4 не се пресичат                                                           </a:t>
            </a:r>
            <a:br>
              <a:rPr lang="bg-BG" sz="2200" dirty="0"/>
            </a:br>
            <a:r>
              <a:rPr lang="bg-BG" sz="2200" dirty="0"/>
              <a:t>във времето                                                                                         </a:t>
            </a:r>
            <a:br>
              <a:rPr lang="bg-BG" sz="2200" dirty="0"/>
            </a:br>
            <a:r>
              <a:rPr lang="bg-BG" sz="2200" dirty="0"/>
              <a:t>                                                                                                              </a:t>
            </a:r>
            <a:br>
              <a:rPr lang="bg-BG" sz="2200" dirty="0"/>
            </a:br>
            <a:r>
              <a:rPr lang="bg-BG" sz="2200" dirty="0"/>
              <a:t>1 и 2, </a:t>
            </a:r>
            <a:r>
              <a:rPr lang="bg-BG" sz="2200" dirty="0" err="1"/>
              <a:t>2</a:t>
            </a:r>
            <a:r>
              <a:rPr lang="bg-BG" sz="2200" dirty="0"/>
              <a:t> и 3, </a:t>
            </a:r>
            <a:r>
              <a:rPr lang="bg-BG" sz="2200" dirty="0" err="1"/>
              <a:t>3</a:t>
            </a:r>
            <a:r>
              <a:rPr lang="bg-BG" sz="2200" dirty="0"/>
              <a:t> и 4 не могат да се                                                                  </a:t>
            </a:r>
            <a:br>
              <a:rPr lang="bg-BG" sz="2200" dirty="0"/>
            </a:br>
            <a:r>
              <a:rPr lang="bg-BG" sz="2200" dirty="0"/>
              <a:t>провеждат едновременно</a:t>
            </a:r>
            <a:endParaRPr lang="en-US" sz="2200" dirty="0"/>
          </a:p>
        </p:txBody>
      </p:sp>
      <p:grpSp>
        <p:nvGrpSpPr>
          <p:cNvPr id="28675" name="Group 3"/>
          <p:cNvGrpSpPr>
            <a:grpSpLocks/>
          </p:cNvGrpSpPr>
          <p:nvPr/>
        </p:nvGrpSpPr>
        <p:grpSpPr bwMode="auto">
          <a:xfrm>
            <a:off x="5384800" y="4800600"/>
            <a:ext cx="3048000" cy="1676400"/>
            <a:chOff x="3216" y="2976"/>
            <a:chExt cx="1920" cy="1056"/>
          </a:xfrm>
        </p:grpSpPr>
        <p:grpSp>
          <p:nvGrpSpPr>
            <p:cNvPr id="28676" name="Group 4"/>
            <p:cNvGrpSpPr>
              <a:grpSpLocks/>
            </p:cNvGrpSpPr>
            <p:nvPr/>
          </p:nvGrpSpPr>
          <p:grpSpPr bwMode="auto">
            <a:xfrm>
              <a:off x="3216" y="3072"/>
              <a:ext cx="1920" cy="960"/>
              <a:chOff x="1536" y="3216"/>
              <a:chExt cx="1920" cy="960"/>
            </a:xfrm>
          </p:grpSpPr>
          <p:sp>
            <p:nvSpPr>
              <p:cNvPr id="28677" name="Line 5"/>
              <p:cNvSpPr>
                <a:spLocks noChangeShapeType="1"/>
              </p:cNvSpPr>
              <p:nvPr/>
            </p:nvSpPr>
            <p:spPr bwMode="auto">
              <a:xfrm flipV="1">
                <a:off x="1536" y="3216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678" name="Line 6"/>
              <p:cNvSpPr>
                <a:spLocks noChangeShapeType="1"/>
              </p:cNvSpPr>
              <p:nvPr/>
            </p:nvSpPr>
            <p:spPr bwMode="auto">
              <a:xfrm>
                <a:off x="1536" y="4176"/>
                <a:ext cx="1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679" name="Line 7"/>
              <p:cNvSpPr>
                <a:spLocks noChangeShapeType="1"/>
              </p:cNvSpPr>
              <p:nvPr/>
            </p:nvSpPr>
            <p:spPr bwMode="auto">
              <a:xfrm flipV="1">
                <a:off x="1728" y="3600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680" name="Line 8"/>
              <p:cNvSpPr>
                <a:spLocks noChangeShapeType="1"/>
              </p:cNvSpPr>
              <p:nvPr/>
            </p:nvSpPr>
            <p:spPr bwMode="auto">
              <a:xfrm>
                <a:off x="1728" y="3600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681" name="Line 9"/>
              <p:cNvSpPr>
                <a:spLocks noChangeShapeType="1"/>
              </p:cNvSpPr>
              <p:nvPr/>
            </p:nvSpPr>
            <p:spPr bwMode="auto">
              <a:xfrm>
                <a:off x="2592" y="3600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682" name="Line 10"/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683" name="Line 11"/>
              <p:cNvSpPr>
                <a:spLocks noChangeShapeType="1"/>
              </p:cNvSpPr>
              <p:nvPr/>
            </p:nvSpPr>
            <p:spPr bwMode="auto">
              <a:xfrm>
                <a:off x="1968" y="3216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684" name="Line 12"/>
              <p:cNvSpPr>
                <a:spLocks noChangeShapeType="1"/>
              </p:cNvSpPr>
              <p:nvPr/>
            </p:nvSpPr>
            <p:spPr bwMode="auto">
              <a:xfrm flipV="1">
                <a:off x="1824" y="3360"/>
                <a:ext cx="0" cy="81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685" name="Line 13"/>
              <p:cNvSpPr>
                <a:spLocks noChangeShapeType="1"/>
              </p:cNvSpPr>
              <p:nvPr/>
            </p:nvSpPr>
            <p:spPr bwMode="auto">
              <a:xfrm flipV="1">
                <a:off x="2112" y="3360"/>
                <a:ext cx="0" cy="81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686" name="Line 14"/>
              <p:cNvSpPr>
                <a:spLocks noChangeShapeType="1"/>
              </p:cNvSpPr>
              <p:nvPr/>
            </p:nvSpPr>
            <p:spPr bwMode="auto">
              <a:xfrm>
                <a:off x="1824" y="3360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687" name="Line 15"/>
              <p:cNvSpPr>
                <a:spLocks noChangeShapeType="1"/>
              </p:cNvSpPr>
              <p:nvPr/>
            </p:nvSpPr>
            <p:spPr bwMode="auto">
              <a:xfrm flipV="1">
                <a:off x="2208" y="369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688" name="Line 16"/>
              <p:cNvSpPr>
                <a:spLocks noChangeShapeType="1"/>
              </p:cNvSpPr>
              <p:nvPr/>
            </p:nvSpPr>
            <p:spPr bwMode="auto">
              <a:xfrm flipV="1">
                <a:off x="2688" y="369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28689" name="Line 17"/>
              <p:cNvSpPr>
                <a:spLocks noChangeShapeType="1"/>
              </p:cNvSpPr>
              <p:nvPr/>
            </p:nvSpPr>
            <p:spPr bwMode="auto">
              <a:xfrm>
                <a:off x="2208" y="369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28690" name="Text Box 18"/>
            <p:cNvSpPr txBox="1">
              <a:spLocks noChangeArrowheads="1"/>
            </p:cNvSpPr>
            <p:nvPr/>
          </p:nvSpPr>
          <p:spPr bwMode="auto">
            <a:xfrm>
              <a:off x="4944" y="2976"/>
              <a:ext cx="19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200">
                  <a:solidFill>
                    <a:schemeClr val="accent1"/>
                  </a:solidFill>
                </a:rPr>
                <a:t>1</a:t>
              </a:r>
              <a:endParaRPr lang="en-US" sz="2200">
                <a:solidFill>
                  <a:schemeClr val="accent1"/>
                </a:solidFill>
              </a:endParaRPr>
            </a:p>
          </p:txBody>
        </p:sp>
        <p:sp>
          <p:nvSpPr>
            <p:cNvPr id="28691" name="Text Box 19"/>
            <p:cNvSpPr txBox="1">
              <a:spLocks noChangeArrowheads="1"/>
            </p:cNvSpPr>
            <p:nvPr/>
          </p:nvSpPr>
          <p:spPr bwMode="auto">
            <a:xfrm>
              <a:off x="4944" y="3216"/>
              <a:ext cx="19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200">
                  <a:solidFill>
                    <a:schemeClr val="accent2"/>
                  </a:solidFill>
                </a:rPr>
                <a:t>2</a:t>
              </a:r>
              <a:endParaRPr lang="en-US" sz="2200">
                <a:solidFill>
                  <a:schemeClr val="accent2"/>
                </a:solidFill>
              </a:endParaRPr>
            </a:p>
          </p:txBody>
        </p:sp>
        <p:sp>
          <p:nvSpPr>
            <p:cNvPr id="28692" name="Text Box 20"/>
            <p:cNvSpPr txBox="1">
              <a:spLocks noChangeArrowheads="1"/>
            </p:cNvSpPr>
            <p:nvPr/>
          </p:nvSpPr>
          <p:spPr bwMode="auto">
            <a:xfrm>
              <a:off x="4944" y="3456"/>
              <a:ext cx="19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200">
                  <a:solidFill>
                    <a:srgbClr val="FF0000"/>
                  </a:solidFill>
                </a:rPr>
                <a:t>3</a:t>
              </a:r>
              <a:endParaRPr lang="en-US" sz="2200">
                <a:solidFill>
                  <a:srgbClr val="FF0000"/>
                </a:solidFill>
              </a:endParaRPr>
            </a:p>
          </p:txBody>
        </p:sp>
        <p:sp>
          <p:nvSpPr>
            <p:cNvPr id="28693" name="Text Box 21"/>
            <p:cNvSpPr txBox="1">
              <a:spLocks noChangeArrowheads="1"/>
            </p:cNvSpPr>
            <p:nvPr/>
          </p:nvSpPr>
          <p:spPr bwMode="auto">
            <a:xfrm>
              <a:off x="4944" y="3648"/>
              <a:ext cx="19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200">
                  <a:solidFill>
                    <a:schemeClr val="tx2"/>
                  </a:solidFill>
                </a:rPr>
                <a:t>4</a:t>
              </a:r>
              <a:endParaRPr lang="en-US" sz="2200">
                <a:solidFill>
                  <a:schemeClr val="tx2"/>
                </a:solidFill>
              </a:endParaRPr>
            </a:p>
          </p:txBody>
        </p:sp>
      </p:grpSp>
      <p:sp>
        <p:nvSpPr>
          <p:cNvPr id="24" name="Контейнер за номер на слайда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026"/>
          <p:cNvSpPr>
            <a:spLocks noChangeArrowheads="1"/>
          </p:cNvSpPr>
          <p:nvPr/>
        </p:nvSpPr>
        <p:spPr bwMode="auto">
          <a:xfrm>
            <a:off x="960868" y="260648"/>
            <a:ext cx="8303840" cy="640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lnSpc>
                <a:spcPct val="110000"/>
              </a:lnSpc>
            </a:pPr>
            <a:r>
              <a:rPr lang="bg-BG" sz="2200" dirty="0"/>
              <a:t>Възможни са следните подходи:</a:t>
            </a:r>
            <a:br>
              <a:rPr lang="bg-BG" sz="2200" dirty="0"/>
            </a:br>
            <a:r>
              <a:rPr lang="bg-BG" sz="1000" dirty="0"/>
              <a:t/>
            </a:r>
            <a:br>
              <a:rPr lang="bg-BG" sz="1000" dirty="0"/>
            </a:br>
            <a:r>
              <a:rPr lang="bg-BG" sz="2200" u="sng" dirty="0"/>
              <a:t>Алгоритъм 1</a:t>
            </a:r>
            <a:r>
              <a:rPr lang="bg-BG" sz="2200" dirty="0"/>
              <a:t>:</a:t>
            </a:r>
            <a:br>
              <a:rPr lang="bg-BG" sz="2200" dirty="0"/>
            </a:br>
            <a:r>
              <a:rPr lang="bg-BG" sz="2200" dirty="0"/>
              <a:t>Построяваме ориентиран граф </a:t>
            </a:r>
            <a:r>
              <a:rPr lang="en-US" sz="2200" b="1" i="1" dirty="0"/>
              <a:t>G</a:t>
            </a:r>
            <a:r>
              <a:rPr lang="en-US" sz="2200" dirty="0"/>
              <a:t>(</a:t>
            </a:r>
            <a:r>
              <a:rPr lang="en-US" sz="2200" b="1" i="1" dirty="0"/>
              <a:t>V,E</a:t>
            </a:r>
            <a:r>
              <a:rPr lang="en-US" sz="2200" dirty="0"/>
              <a:t>) </a:t>
            </a:r>
            <a:r>
              <a:rPr lang="bg-BG" sz="2200" dirty="0"/>
              <a:t>с</a:t>
            </a:r>
            <a:r>
              <a:rPr lang="en-US" sz="2200" dirty="0"/>
              <a:t> </a:t>
            </a:r>
            <a:r>
              <a:rPr lang="en-US" sz="2200" b="1" i="1" dirty="0"/>
              <a:t>n</a:t>
            </a:r>
            <a:r>
              <a:rPr lang="en-US" sz="2200" dirty="0"/>
              <a:t> </a:t>
            </a:r>
            <a:r>
              <a:rPr lang="bg-BG" sz="2200" dirty="0"/>
              <a:t>върха, в който на всеки две “непресичащи” се лекции </a:t>
            </a:r>
            <a:r>
              <a:rPr lang="en-US" sz="2200" b="1" i="1" dirty="0" err="1"/>
              <a:t>i</a:t>
            </a:r>
            <a:r>
              <a:rPr lang="en-US" sz="2200" b="1" i="1" dirty="0"/>
              <a:t> </a:t>
            </a:r>
            <a:r>
              <a:rPr lang="bg-BG" sz="2200" dirty="0"/>
              <a:t>и</a:t>
            </a:r>
            <a:r>
              <a:rPr lang="en-US" sz="2200" dirty="0"/>
              <a:t> </a:t>
            </a:r>
            <a:r>
              <a:rPr lang="en-US" sz="2200" b="1" i="1" dirty="0"/>
              <a:t>j </a:t>
            </a:r>
            <a:r>
              <a:rPr lang="bg-BG" sz="2200" dirty="0"/>
              <a:t>  </a:t>
            </a:r>
            <a:r>
              <a:rPr lang="en-US" sz="2200" dirty="0"/>
              <a:t>(</a:t>
            </a:r>
            <a:r>
              <a:rPr lang="bg-BG" sz="2200" dirty="0"/>
              <a:t>т. е. </a:t>
            </a:r>
            <a:r>
              <a:rPr lang="en-US" sz="2200" b="1" i="1" dirty="0" err="1"/>
              <a:t>f</a:t>
            </a:r>
            <a:r>
              <a:rPr lang="en-US" sz="2200" b="1" i="1" baseline="-25000" dirty="0" err="1"/>
              <a:t>i</a:t>
            </a:r>
            <a:r>
              <a:rPr lang="en-US" sz="2200" dirty="0"/>
              <a:t>&lt;</a:t>
            </a:r>
            <a:r>
              <a:rPr lang="en-US" sz="2200" b="1" i="1" dirty="0" err="1"/>
              <a:t>s</a:t>
            </a:r>
            <a:r>
              <a:rPr lang="en-US" sz="2200" b="1" i="1" baseline="-25000" dirty="0" err="1"/>
              <a:t>j</a:t>
            </a:r>
            <a:r>
              <a:rPr lang="en-US" sz="2200" dirty="0"/>
              <a:t>) </a:t>
            </a:r>
            <a:r>
              <a:rPr lang="bg-BG" sz="2200" dirty="0"/>
              <a:t>съответства реброто (</a:t>
            </a:r>
            <a:r>
              <a:rPr lang="en-US" sz="2200" b="1" i="1" dirty="0" err="1"/>
              <a:t>i</a:t>
            </a:r>
            <a:r>
              <a:rPr lang="en-US" sz="2200" dirty="0"/>
              <a:t>, </a:t>
            </a:r>
            <a:r>
              <a:rPr lang="en-US" sz="2200" b="1" i="1" dirty="0"/>
              <a:t>j </a:t>
            </a:r>
            <a:r>
              <a:rPr lang="bg-BG" sz="2200" dirty="0"/>
              <a:t>) от следния граф:</a:t>
            </a:r>
            <a:r>
              <a:rPr lang="bg-BG" sz="2200" dirty="0">
                <a:solidFill>
                  <a:schemeClr val="tx2"/>
                </a:solidFill>
              </a:rPr>
              <a:t/>
            </a:r>
            <a:br>
              <a:rPr lang="bg-BG" sz="2200" dirty="0">
                <a:solidFill>
                  <a:schemeClr val="tx2"/>
                </a:solidFill>
              </a:rPr>
            </a:br>
            <a:r>
              <a:rPr lang="bg-BG" sz="2200" dirty="0">
                <a:solidFill>
                  <a:schemeClr val="tx2"/>
                </a:solidFill>
              </a:rPr>
              <a:t/>
            </a:r>
            <a:br>
              <a:rPr lang="bg-BG" sz="2200" dirty="0">
                <a:solidFill>
                  <a:schemeClr val="tx2"/>
                </a:solidFill>
              </a:rPr>
            </a:br>
            <a:r>
              <a:rPr lang="bg-BG" sz="2200" dirty="0">
                <a:solidFill>
                  <a:schemeClr val="tx2"/>
                </a:solidFill>
              </a:rPr>
              <a:t/>
            </a:r>
            <a:br>
              <a:rPr lang="bg-BG" sz="2200" dirty="0">
                <a:solidFill>
                  <a:schemeClr val="tx2"/>
                </a:solidFill>
              </a:rPr>
            </a:br>
            <a:r>
              <a:rPr lang="bg-BG" sz="2200" dirty="0">
                <a:solidFill>
                  <a:schemeClr val="tx2"/>
                </a:solidFill>
              </a:rPr>
              <a:t/>
            </a:r>
            <a:br>
              <a:rPr lang="bg-BG" sz="2200" dirty="0">
                <a:solidFill>
                  <a:schemeClr val="tx2"/>
                </a:solidFill>
              </a:rPr>
            </a:br>
            <a:r>
              <a:rPr lang="bg-BG" sz="2200" dirty="0">
                <a:solidFill>
                  <a:schemeClr val="tx2"/>
                </a:solidFill>
              </a:rPr>
              <a:t/>
            </a:r>
            <a:br>
              <a:rPr lang="bg-BG" sz="2200" dirty="0">
                <a:solidFill>
                  <a:schemeClr val="tx2"/>
                </a:solidFill>
              </a:rPr>
            </a:br>
            <a:r>
              <a:rPr lang="bg-BG" sz="2200" dirty="0">
                <a:solidFill>
                  <a:schemeClr val="tx2"/>
                </a:solidFill>
              </a:rPr>
              <a:t/>
            </a:r>
            <a:br>
              <a:rPr lang="bg-BG" sz="2200" dirty="0">
                <a:solidFill>
                  <a:schemeClr val="tx2"/>
                </a:solidFill>
              </a:rPr>
            </a:br>
            <a:r>
              <a:rPr lang="bg-BG" sz="2200" dirty="0">
                <a:solidFill>
                  <a:schemeClr val="tx2"/>
                </a:solidFill>
              </a:rPr>
              <a:t/>
            </a:r>
            <a:br>
              <a:rPr lang="bg-BG" sz="2200" dirty="0">
                <a:solidFill>
                  <a:schemeClr val="tx2"/>
                </a:solidFill>
              </a:rPr>
            </a:br>
            <a:r>
              <a:rPr lang="bg-BG" sz="2200" dirty="0">
                <a:solidFill>
                  <a:schemeClr val="tx2"/>
                </a:solidFill>
              </a:rPr>
              <a:t/>
            </a:r>
            <a:br>
              <a:rPr lang="bg-BG" sz="2200" dirty="0">
                <a:solidFill>
                  <a:schemeClr val="tx2"/>
                </a:solidFill>
              </a:rPr>
            </a:br>
            <a:r>
              <a:rPr lang="bg-BG" sz="2200" dirty="0"/>
              <a:t/>
            </a:r>
            <a:br>
              <a:rPr lang="bg-BG" sz="2200" dirty="0"/>
            </a:br>
            <a:r>
              <a:rPr lang="bg-BG" sz="2200" dirty="0"/>
              <a:t>Ако намерим най-дълъг път в </a:t>
            </a:r>
            <a:r>
              <a:rPr lang="en-US" sz="2200" b="1" i="1" dirty="0"/>
              <a:t>G</a:t>
            </a:r>
            <a:r>
              <a:rPr lang="bg-BG" sz="2200" dirty="0"/>
              <a:t> (</a:t>
            </a:r>
            <a:r>
              <a:rPr lang="bg-BG" sz="2200" dirty="0" smtClean="0"/>
              <a:t>алгоритмът </a:t>
            </a:r>
            <a:r>
              <a:rPr lang="bg-BG" sz="2200" dirty="0"/>
              <a:t>вече е разгледан - търсене на най-дълъг път в ацикличен граф), ще получим решение със сложност О(</a:t>
            </a:r>
            <a:r>
              <a:rPr lang="en-US" sz="2200" b="1" i="1" dirty="0"/>
              <a:t>n</a:t>
            </a:r>
            <a:r>
              <a:rPr lang="bg-BG" sz="2200" b="1" i="1" baseline="30000" dirty="0"/>
              <a:t>2</a:t>
            </a:r>
            <a:r>
              <a:rPr lang="bg-BG" sz="2200" dirty="0"/>
              <a:t>).</a:t>
            </a:r>
            <a:endParaRPr lang="en-US" sz="2200" dirty="0"/>
          </a:p>
        </p:txBody>
      </p:sp>
      <p:grpSp>
        <p:nvGrpSpPr>
          <p:cNvPr id="30723" name="Group 1027"/>
          <p:cNvGrpSpPr>
            <a:grpSpLocks/>
          </p:cNvGrpSpPr>
          <p:nvPr/>
        </p:nvGrpSpPr>
        <p:grpSpPr bwMode="auto">
          <a:xfrm>
            <a:off x="1350508" y="3048000"/>
            <a:ext cx="3048000" cy="1676400"/>
            <a:chOff x="3216" y="2976"/>
            <a:chExt cx="1920" cy="1056"/>
          </a:xfrm>
        </p:grpSpPr>
        <p:grpSp>
          <p:nvGrpSpPr>
            <p:cNvPr id="30724" name="Group 1028"/>
            <p:cNvGrpSpPr>
              <a:grpSpLocks/>
            </p:cNvGrpSpPr>
            <p:nvPr/>
          </p:nvGrpSpPr>
          <p:grpSpPr bwMode="auto">
            <a:xfrm>
              <a:off x="3216" y="3072"/>
              <a:ext cx="1920" cy="960"/>
              <a:chOff x="1536" y="3216"/>
              <a:chExt cx="1920" cy="960"/>
            </a:xfrm>
          </p:grpSpPr>
          <p:sp>
            <p:nvSpPr>
              <p:cNvPr id="30725" name="Line 1029"/>
              <p:cNvSpPr>
                <a:spLocks noChangeShapeType="1"/>
              </p:cNvSpPr>
              <p:nvPr/>
            </p:nvSpPr>
            <p:spPr bwMode="auto">
              <a:xfrm flipV="1">
                <a:off x="1536" y="3216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0726" name="Line 1030"/>
              <p:cNvSpPr>
                <a:spLocks noChangeShapeType="1"/>
              </p:cNvSpPr>
              <p:nvPr/>
            </p:nvSpPr>
            <p:spPr bwMode="auto">
              <a:xfrm>
                <a:off x="1536" y="4176"/>
                <a:ext cx="19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0727" name="Line 1031"/>
              <p:cNvSpPr>
                <a:spLocks noChangeShapeType="1"/>
              </p:cNvSpPr>
              <p:nvPr/>
            </p:nvSpPr>
            <p:spPr bwMode="auto">
              <a:xfrm flipV="1">
                <a:off x="1728" y="3600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0728" name="Line 1032"/>
              <p:cNvSpPr>
                <a:spLocks noChangeShapeType="1"/>
              </p:cNvSpPr>
              <p:nvPr/>
            </p:nvSpPr>
            <p:spPr bwMode="auto">
              <a:xfrm>
                <a:off x="1728" y="3600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0729" name="Line 1033"/>
              <p:cNvSpPr>
                <a:spLocks noChangeShapeType="1"/>
              </p:cNvSpPr>
              <p:nvPr/>
            </p:nvSpPr>
            <p:spPr bwMode="auto">
              <a:xfrm>
                <a:off x="2592" y="3600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0730" name="Line 1034"/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432" cy="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0731" name="Line 1035"/>
              <p:cNvSpPr>
                <a:spLocks noChangeShapeType="1"/>
              </p:cNvSpPr>
              <p:nvPr/>
            </p:nvSpPr>
            <p:spPr bwMode="auto">
              <a:xfrm>
                <a:off x="1968" y="3216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0732" name="Line 1036"/>
              <p:cNvSpPr>
                <a:spLocks noChangeShapeType="1"/>
              </p:cNvSpPr>
              <p:nvPr/>
            </p:nvSpPr>
            <p:spPr bwMode="auto">
              <a:xfrm flipV="1">
                <a:off x="1824" y="3360"/>
                <a:ext cx="0" cy="81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0733" name="Line 1037"/>
              <p:cNvSpPr>
                <a:spLocks noChangeShapeType="1"/>
              </p:cNvSpPr>
              <p:nvPr/>
            </p:nvSpPr>
            <p:spPr bwMode="auto">
              <a:xfrm flipV="1">
                <a:off x="2112" y="3360"/>
                <a:ext cx="0" cy="81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0734" name="Line 1038"/>
              <p:cNvSpPr>
                <a:spLocks noChangeShapeType="1"/>
              </p:cNvSpPr>
              <p:nvPr/>
            </p:nvSpPr>
            <p:spPr bwMode="auto">
              <a:xfrm>
                <a:off x="1824" y="3360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0735" name="Line 1039"/>
              <p:cNvSpPr>
                <a:spLocks noChangeShapeType="1"/>
              </p:cNvSpPr>
              <p:nvPr/>
            </p:nvSpPr>
            <p:spPr bwMode="auto">
              <a:xfrm flipV="1">
                <a:off x="2208" y="369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0736" name="Line 1040"/>
              <p:cNvSpPr>
                <a:spLocks noChangeShapeType="1"/>
              </p:cNvSpPr>
              <p:nvPr/>
            </p:nvSpPr>
            <p:spPr bwMode="auto">
              <a:xfrm flipV="1">
                <a:off x="2688" y="3696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0737" name="Line 1041"/>
              <p:cNvSpPr>
                <a:spLocks noChangeShapeType="1"/>
              </p:cNvSpPr>
              <p:nvPr/>
            </p:nvSpPr>
            <p:spPr bwMode="auto">
              <a:xfrm>
                <a:off x="2208" y="369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</p:grpSp>
        <p:sp>
          <p:nvSpPr>
            <p:cNvPr id="30738" name="Text Box 1042"/>
            <p:cNvSpPr txBox="1">
              <a:spLocks noChangeArrowheads="1"/>
            </p:cNvSpPr>
            <p:nvPr/>
          </p:nvSpPr>
          <p:spPr bwMode="auto">
            <a:xfrm>
              <a:off x="4944" y="2976"/>
              <a:ext cx="19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200">
                  <a:solidFill>
                    <a:schemeClr val="accent1"/>
                  </a:solidFill>
                </a:rPr>
                <a:t>1</a:t>
              </a:r>
              <a:endParaRPr lang="en-US" sz="2200">
                <a:solidFill>
                  <a:schemeClr val="accent1"/>
                </a:solidFill>
              </a:endParaRPr>
            </a:p>
          </p:txBody>
        </p:sp>
        <p:sp>
          <p:nvSpPr>
            <p:cNvPr id="30739" name="Text Box 1043"/>
            <p:cNvSpPr txBox="1">
              <a:spLocks noChangeArrowheads="1"/>
            </p:cNvSpPr>
            <p:nvPr/>
          </p:nvSpPr>
          <p:spPr bwMode="auto">
            <a:xfrm>
              <a:off x="4944" y="3216"/>
              <a:ext cx="19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200">
                  <a:solidFill>
                    <a:schemeClr val="accent2"/>
                  </a:solidFill>
                </a:rPr>
                <a:t>2</a:t>
              </a:r>
              <a:endParaRPr lang="en-US" sz="2200">
                <a:solidFill>
                  <a:schemeClr val="accent2"/>
                </a:solidFill>
              </a:endParaRPr>
            </a:p>
          </p:txBody>
        </p:sp>
        <p:sp>
          <p:nvSpPr>
            <p:cNvPr id="30740" name="Text Box 1044"/>
            <p:cNvSpPr txBox="1">
              <a:spLocks noChangeArrowheads="1"/>
            </p:cNvSpPr>
            <p:nvPr/>
          </p:nvSpPr>
          <p:spPr bwMode="auto">
            <a:xfrm>
              <a:off x="4944" y="3456"/>
              <a:ext cx="19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200">
                  <a:solidFill>
                    <a:srgbClr val="FF0000"/>
                  </a:solidFill>
                </a:rPr>
                <a:t>3</a:t>
              </a:r>
              <a:endParaRPr lang="en-US" sz="2200">
                <a:solidFill>
                  <a:srgbClr val="FF0000"/>
                </a:solidFill>
              </a:endParaRPr>
            </a:p>
          </p:txBody>
        </p:sp>
        <p:sp>
          <p:nvSpPr>
            <p:cNvPr id="30741" name="Text Box 1045"/>
            <p:cNvSpPr txBox="1">
              <a:spLocks noChangeArrowheads="1"/>
            </p:cNvSpPr>
            <p:nvPr/>
          </p:nvSpPr>
          <p:spPr bwMode="auto">
            <a:xfrm>
              <a:off x="4944" y="3648"/>
              <a:ext cx="192" cy="2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2200">
                  <a:solidFill>
                    <a:schemeClr val="tx2"/>
                  </a:solidFill>
                </a:rPr>
                <a:t>4</a:t>
              </a:r>
              <a:endParaRPr lang="en-US" sz="2200">
                <a:solidFill>
                  <a:schemeClr val="tx2"/>
                </a:solidFill>
              </a:endParaRPr>
            </a:p>
          </p:txBody>
        </p:sp>
      </p:grpSp>
      <p:sp>
        <p:nvSpPr>
          <p:cNvPr id="30742" name="Oval 1046"/>
          <p:cNvSpPr>
            <a:spLocks noChangeArrowheads="1"/>
          </p:cNvSpPr>
          <p:nvPr/>
        </p:nvSpPr>
        <p:spPr bwMode="auto">
          <a:xfrm>
            <a:off x="5334000" y="3200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30743" name="Oval 1047"/>
          <p:cNvSpPr>
            <a:spLocks noChangeArrowheads="1"/>
          </p:cNvSpPr>
          <p:nvPr/>
        </p:nvSpPr>
        <p:spPr bwMode="auto">
          <a:xfrm>
            <a:off x="5791200" y="38100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30744" name="Oval 1048"/>
          <p:cNvSpPr>
            <a:spLocks noChangeArrowheads="1"/>
          </p:cNvSpPr>
          <p:nvPr/>
        </p:nvSpPr>
        <p:spPr bwMode="auto">
          <a:xfrm>
            <a:off x="6248400" y="32004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30745" name="Oval 1049"/>
          <p:cNvSpPr>
            <a:spLocks noChangeArrowheads="1"/>
          </p:cNvSpPr>
          <p:nvPr/>
        </p:nvSpPr>
        <p:spPr bwMode="auto">
          <a:xfrm>
            <a:off x="7162800" y="3276600"/>
            <a:ext cx="3810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30746" name="Text Box 1050"/>
          <p:cNvSpPr txBox="1">
            <a:spLocks noChangeArrowheads="1"/>
          </p:cNvSpPr>
          <p:nvPr/>
        </p:nvSpPr>
        <p:spPr bwMode="auto">
          <a:xfrm>
            <a:off x="5372100" y="31496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>
                <a:solidFill>
                  <a:schemeClr val="accent1"/>
                </a:solidFill>
              </a:rPr>
              <a:t>1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0747" name="Line 1051"/>
          <p:cNvSpPr>
            <a:spLocks noChangeShapeType="1"/>
          </p:cNvSpPr>
          <p:nvPr/>
        </p:nvSpPr>
        <p:spPr bwMode="auto">
          <a:xfrm>
            <a:off x="5638800" y="3581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bg-BG"/>
          </a:p>
        </p:txBody>
      </p:sp>
      <p:sp>
        <p:nvSpPr>
          <p:cNvPr id="30749" name="Text Box 1053"/>
          <p:cNvSpPr txBox="1">
            <a:spLocks noChangeArrowheads="1"/>
          </p:cNvSpPr>
          <p:nvPr/>
        </p:nvSpPr>
        <p:spPr bwMode="auto">
          <a:xfrm>
            <a:off x="7200900" y="32258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>
                <a:solidFill>
                  <a:srgbClr val="FF0000"/>
                </a:solidFill>
              </a:rPr>
              <a:t>3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0750" name="Text Box 1054"/>
          <p:cNvSpPr txBox="1">
            <a:spLocks noChangeArrowheads="1"/>
          </p:cNvSpPr>
          <p:nvPr/>
        </p:nvSpPr>
        <p:spPr bwMode="auto">
          <a:xfrm>
            <a:off x="5816600" y="37592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/>
              <a:t>4</a:t>
            </a:r>
            <a:endParaRPr lang="en-US"/>
          </a:p>
        </p:txBody>
      </p:sp>
      <p:sp>
        <p:nvSpPr>
          <p:cNvPr id="30751" name="Text Box 1055"/>
          <p:cNvSpPr txBox="1">
            <a:spLocks noChangeArrowheads="1"/>
          </p:cNvSpPr>
          <p:nvPr/>
        </p:nvSpPr>
        <p:spPr bwMode="auto">
          <a:xfrm>
            <a:off x="6273800" y="3149600"/>
            <a:ext cx="381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bg-BG">
                <a:solidFill>
                  <a:schemeClr val="accent2"/>
                </a:solidFill>
              </a:rPr>
              <a:t>2</a:t>
            </a:r>
            <a:endParaRPr lang="en-US">
              <a:solidFill>
                <a:schemeClr val="accent2"/>
              </a:solidFill>
            </a:endParaRPr>
          </a:p>
        </p:txBody>
      </p:sp>
      <p:sp>
        <p:nvSpPr>
          <p:cNvPr id="30752" name="Line 1056"/>
          <p:cNvSpPr>
            <a:spLocks noChangeShapeType="1"/>
          </p:cNvSpPr>
          <p:nvPr/>
        </p:nvSpPr>
        <p:spPr bwMode="auto">
          <a:xfrm flipH="1">
            <a:off x="6172200" y="3581400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34" name="Контейнер за номер на слайда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563694-B830-447B-96C3-FFA0AB081554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992560" y="332656"/>
            <a:ext cx="8151440" cy="6248400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</a:pPr>
            <a:r>
              <a:rPr lang="bg-BG" sz="2200" u="sng" dirty="0">
                <a:solidFill>
                  <a:schemeClr val="tx1"/>
                </a:solidFill>
              </a:rPr>
              <a:t>Алгоритъм 2</a:t>
            </a:r>
            <a:r>
              <a:rPr lang="bg-BG" sz="2200" dirty="0">
                <a:solidFill>
                  <a:schemeClr val="tx1"/>
                </a:solidFill>
              </a:rPr>
              <a:t>: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/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Възможно е задачата да се реши без да се изгражда граф, като се използва динамично </a:t>
            </a:r>
            <a:r>
              <a:rPr lang="bg-BG" sz="2200" dirty="0" err="1">
                <a:solidFill>
                  <a:schemeClr val="tx1"/>
                </a:solidFill>
              </a:rPr>
              <a:t>оптимиране</a:t>
            </a:r>
            <a:r>
              <a:rPr lang="bg-BG" sz="2200" dirty="0">
                <a:solidFill>
                  <a:schemeClr val="tx1"/>
                </a:solidFill>
              </a:rPr>
              <a:t>. Дефинираме целева функция </a:t>
            </a:r>
            <a:r>
              <a:rPr lang="en-US" sz="2200" b="1" i="1" dirty="0">
                <a:solidFill>
                  <a:schemeClr val="tx1"/>
                </a:solidFill>
              </a:rPr>
              <a:t>F</a:t>
            </a:r>
            <a:r>
              <a:rPr lang="bg-BG" sz="2200" dirty="0">
                <a:solidFill>
                  <a:schemeClr val="tx1"/>
                </a:solidFill>
              </a:rPr>
              <a:t>, оптимизираща броя на избраните лекции за време от </a:t>
            </a: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7</a:t>
            </a:r>
            <a:r>
              <a:rPr lang="bg-BG" sz="2200" dirty="0">
                <a:solidFill>
                  <a:schemeClr val="tx1"/>
                </a:solidFill>
              </a:rPr>
              <a:t> до </a:t>
            </a:r>
            <a:r>
              <a:rPr lang="en-US" sz="2200" b="1" i="1" dirty="0">
                <a:solidFill>
                  <a:schemeClr val="tx1"/>
                </a:solidFill>
              </a:rPr>
              <a:t>t</a:t>
            </a:r>
            <a:r>
              <a:rPr lang="en-US" sz="2200" dirty="0">
                <a:solidFill>
                  <a:schemeClr val="tx1"/>
                </a:solidFill>
              </a:rPr>
              <a:t> </a:t>
            </a:r>
            <a:r>
              <a:rPr lang="bg-BG" sz="2200" dirty="0">
                <a:solidFill>
                  <a:schemeClr val="tx1"/>
                </a:solidFill>
              </a:rPr>
              <a:t>ч. :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/>
            </a:r>
            <a:br>
              <a:rPr lang="en-US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	- </a:t>
            </a:r>
            <a:r>
              <a:rPr lang="en-US" sz="2200" b="1" i="1" dirty="0">
                <a:solidFill>
                  <a:schemeClr val="tx1"/>
                </a:solidFill>
              </a:rPr>
              <a:t>F</a:t>
            </a:r>
            <a:r>
              <a:rPr lang="en-US" sz="2200" dirty="0">
                <a:solidFill>
                  <a:schemeClr val="tx1"/>
                </a:solidFill>
              </a:rPr>
              <a:t>(</a:t>
            </a:r>
            <a:r>
              <a:rPr lang="en-US" sz="2200" b="1" i="1" dirty="0">
                <a:solidFill>
                  <a:schemeClr val="tx1"/>
                </a:solidFill>
              </a:rPr>
              <a:t>t</a:t>
            </a:r>
            <a:r>
              <a:rPr lang="en-US" sz="2200" dirty="0">
                <a:solidFill>
                  <a:schemeClr val="tx1"/>
                </a:solidFill>
              </a:rPr>
              <a:t>)=0, </a:t>
            </a:r>
            <a:r>
              <a:rPr lang="bg-BG" sz="2200" dirty="0">
                <a:solidFill>
                  <a:schemeClr val="tx1"/>
                </a:solidFill>
              </a:rPr>
              <a:t>ако не съществува лекция </a:t>
            </a:r>
            <a:r>
              <a:rPr lang="en-US" sz="2200" b="1" i="1" dirty="0" err="1">
                <a:solidFill>
                  <a:schemeClr val="tx1"/>
                </a:solidFill>
              </a:rPr>
              <a:t>i</a:t>
            </a:r>
            <a:r>
              <a:rPr lang="en-US" sz="2200" dirty="0">
                <a:solidFill>
                  <a:schemeClr val="tx1"/>
                </a:solidFill>
              </a:rPr>
              <a:t>, </a:t>
            </a:r>
            <a:r>
              <a:rPr lang="bg-BG" sz="2200" dirty="0">
                <a:solidFill>
                  <a:schemeClr val="tx1"/>
                </a:solidFill>
              </a:rPr>
              <a:t>за която</a:t>
            </a:r>
            <a:r>
              <a:rPr lang="bg-BG" sz="2200" b="1" i="1" dirty="0">
                <a:solidFill>
                  <a:schemeClr val="tx1"/>
                </a:solidFill>
              </a:rPr>
              <a:t> </a:t>
            </a:r>
            <a:r>
              <a:rPr lang="en-US" sz="2200" b="1" i="1" dirty="0" err="1">
                <a:solidFill>
                  <a:schemeClr val="tx1"/>
                </a:solidFill>
              </a:rPr>
              <a:t>f</a:t>
            </a:r>
            <a:r>
              <a:rPr lang="en-US" sz="2200" b="1" i="1" baseline="-25000" dirty="0" err="1">
                <a:solidFill>
                  <a:schemeClr val="tx1"/>
                </a:solidFill>
              </a:rPr>
              <a:t>i</a:t>
            </a:r>
            <a:r>
              <a:rPr lang="bg-BG" sz="2200" b="1" i="1" baseline="-25000" dirty="0">
                <a:solidFill>
                  <a:schemeClr val="tx1"/>
                </a:solidFill>
              </a:rPr>
              <a:t> </a:t>
            </a:r>
            <a:r>
              <a:rPr lang="bg-BG" sz="2200" b="1" i="1" dirty="0">
                <a:solidFill>
                  <a:schemeClr val="tx1"/>
                </a:solidFill>
              </a:rPr>
              <a:t>&lt;</a:t>
            </a:r>
            <a:r>
              <a:rPr lang="en-US" sz="2200" b="1" i="1" dirty="0">
                <a:solidFill>
                  <a:schemeClr val="tx1"/>
                </a:solidFill>
              </a:rPr>
              <a:t>t</a:t>
            </a:r>
            <a:r>
              <a:rPr lang="bg-BG" sz="2200" b="1" i="1" dirty="0">
                <a:solidFill>
                  <a:schemeClr val="tx1"/>
                </a:solidFill>
              </a:rPr>
              <a:t/>
            </a:r>
            <a:br>
              <a:rPr lang="bg-BG" sz="2200" b="1" i="1" dirty="0">
                <a:solidFill>
                  <a:schemeClr val="tx1"/>
                </a:solidFill>
              </a:rPr>
            </a:br>
            <a:r>
              <a:rPr lang="bg-BG" sz="2200" b="1" i="1" dirty="0">
                <a:solidFill>
                  <a:schemeClr val="tx1"/>
                </a:solidFill>
              </a:rPr>
              <a:t>	- </a:t>
            </a:r>
            <a:r>
              <a:rPr lang="en-US" sz="2200" b="1" i="1" dirty="0">
                <a:solidFill>
                  <a:schemeClr val="tx1"/>
                </a:solidFill>
              </a:rPr>
              <a:t>F</a:t>
            </a:r>
            <a:r>
              <a:rPr lang="en-US" sz="2200" dirty="0">
                <a:solidFill>
                  <a:schemeClr val="tx1"/>
                </a:solidFill>
              </a:rPr>
              <a:t>(</a:t>
            </a:r>
            <a:r>
              <a:rPr lang="en-US" sz="2200" b="1" i="1" dirty="0">
                <a:solidFill>
                  <a:schemeClr val="tx1"/>
                </a:solidFill>
              </a:rPr>
              <a:t>t</a:t>
            </a:r>
            <a:r>
              <a:rPr lang="en-US" sz="2200" dirty="0">
                <a:solidFill>
                  <a:schemeClr val="tx1"/>
                </a:solidFill>
              </a:rPr>
              <a:t>)=max{</a:t>
            </a:r>
            <a:r>
              <a:rPr lang="en-US" sz="2200" b="1" i="1" dirty="0">
                <a:solidFill>
                  <a:schemeClr val="tx1"/>
                </a:solidFill>
              </a:rPr>
              <a:t>F</a:t>
            </a:r>
            <a:r>
              <a:rPr lang="en-US" sz="2200" dirty="0">
                <a:solidFill>
                  <a:schemeClr val="tx1"/>
                </a:solidFill>
              </a:rPr>
              <a:t>(</a:t>
            </a:r>
            <a:r>
              <a:rPr lang="en-US" sz="2200" b="1" i="1" dirty="0" err="1">
                <a:solidFill>
                  <a:schemeClr val="tx1"/>
                </a:solidFill>
              </a:rPr>
              <a:t>s</a:t>
            </a:r>
            <a:r>
              <a:rPr lang="en-US" sz="2200" b="1" i="1" baseline="-25000" dirty="0" err="1">
                <a:solidFill>
                  <a:schemeClr val="tx1"/>
                </a:solidFill>
              </a:rPr>
              <a:t>i</a:t>
            </a:r>
            <a:r>
              <a:rPr lang="en-US" sz="2200" dirty="0">
                <a:solidFill>
                  <a:schemeClr val="tx1"/>
                </a:solidFill>
              </a:rPr>
              <a:t>)+</a:t>
            </a:r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200" dirty="0">
                <a:solidFill>
                  <a:schemeClr val="tx1"/>
                </a:solidFill>
              </a:rPr>
              <a:t>}</a:t>
            </a:r>
            <a:r>
              <a:rPr lang="bg-BG" sz="2200" dirty="0">
                <a:solidFill>
                  <a:schemeClr val="tx1"/>
                </a:solidFill>
              </a:rPr>
              <a:t> в противен случай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1800" dirty="0">
                <a:solidFill>
                  <a:schemeClr val="tx1"/>
                </a:solidFill>
              </a:rPr>
              <a:t>		</a:t>
            </a:r>
            <a:r>
              <a:rPr lang="en-US" sz="1800" i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en-US" sz="18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=1, 2, …, n</a:t>
            </a:r>
            <a:br>
              <a:rPr lang="en-US" sz="18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US" sz="1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		 </a:t>
            </a:r>
            <a:r>
              <a:rPr lang="en-US" sz="1800" i="1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f</a:t>
            </a:r>
            <a:r>
              <a:rPr lang="en-US" sz="1800" i="1" baseline="-250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</a:t>
            </a:r>
            <a:r>
              <a:rPr lang="bg-BG" sz="1800" i="1" baseline="-250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bg-BG" sz="18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&lt;</a:t>
            </a:r>
            <a:r>
              <a:rPr lang="en-US" sz="1800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</a:t>
            </a:r>
            <a:r>
              <a:rPr lang="en-US" sz="2200" b="1" i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  </a:t>
            </a:r>
            <a:r>
              <a:rPr lang="en-US" sz="2200" b="1" i="1" dirty="0"/>
              <a:t/>
            </a:r>
            <a:br>
              <a:rPr lang="en-US" sz="2200" b="1" i="1" dirty="0"/>
            </a:br>
            <a:r>
              <a:rPr lang="en-US" sz="2200" b="1" i="1" dirty="0"/>
              <a:t/>
            </a:r>
            <a:br>
              <a:rPr lang="en-US" sz="2200" b="1" i="1" dirty="0"/>
            </a:br>
            <a:r>
              <a:rPr lang="bg-BG" sz="2200" dirty="0">
                <a:solidFill>
                  <a:schemeClr val="tx1"/>
                </a:solidFill>
              </a:rPr>
              <a:t>Реализацията на алгоритъма ще изисква допълнителна памет за запомняне на междинни резултати при пресмятане на </a:t>
            </a:r>
            <a:r>
              <a:rPr lang="bg-BG" sz="2200" dirty="0" err="1">
                <a:solidFill>
                  <a:schemeClr val="tx1"/>
                </a:solidFill>
              </a:rPr>
              <a:t>рекурентната</a:t>
            </a:r>
            <a:r>
              <a:rPr lang="bg-BG" sz="2200" dirty="0">
                <a:solidFill>
                  <a:schemeClr val="tx1"/>
                </a:solidFill>
              </a:rPr>
              <a:t> формула. Сложността на алгоритъма е квадратична, размерът на допълнителната памет зависи линейно от </a:t>
            </a:r>
            <a:r>
              <a:rPr lang="en-US" sz="2200" b="1" i="1" dirty="0">
                <a:solidFill>
                  <a:schemeClr val="tx1"/>
                </a:solidFill>
              </a:rPr>
              <a:t>n</a:t>
            </a:r>
            <a:r>
              <a:rPr lang="bg-BG" sz="2200" dirty="0">
                <a:solidFill>
                  <a:schemeClr val="tx1"/>
                </a:solidFill>
              </a:rPr>
              <a:t>.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7800" y="1006252"/>
            <a:ext cx="8096200" cy="6096000"/>
          </a:xfrm>
        </p:spPr>
        <p:txBody>
          <a:bodyPr>
            <a:normAutofit fontScale="90000"/>
          </a:bodyPr>
          <a:lstStyle/>
          <a:p>
            <a:pPr algn="l"/>
            <a:r>
              <a:rPr lang="bg-BG" sz="2200" u="sng" dirty="0"/>
              <a:t>Алгоритъм 3</a:t>
            </a:r>
            <a:r>
              <a:rPr lang="bg-BG" sz="2200" dirty="0"/>
              <a:t>:</a:t>
            </a:r>
            <a:br>
              <a:rPr lang="bg-BG" sz="2200" dirty="0"/>
            </a:br>
            <a:r>
              <a:rPr lang="en-US" sz="1000" dirty="0"/>
              <a:t/>
            </a:r>
            <a:br>
              <a:rPr lang="en-US" sz="1000" dirty="0"/>
            </a:br>
            <a:r>
              <a:rPr lang="bg-BG" sz="2200" dirty="0">
                <a:solidFill>
                  <a:schemeClr val="tx1"/>
                </a:solidFill>
              </a:rPr>
              <a:t>Задачата може да се реши просто и ефективно с “лаком” алгоритъм, при което се постига сложност </a:t>
            </a:r>
            <a:r>
              <a:rPr lang="en-US" sz="2200" b="1" i="1" dirty="0">
                <a:solidFill>
                  <a:schemeClr val="tx1"/>
                </a:solidFill>
              </a:rPr>
              <a:t>O</a:t>
            </a:r>
            <a:r>
              <a:rPr lang="en-US" sz="2200" dirty="0">
                <a:solidFill>
                  <a:schemeClr val="tx1"/>
                </a:solidFill>
              </a:rPr>
              <a:t>(</a:t>
            </a:r>
            <a:r>
              <a:rPr lang="en-US" sz="2200" b="1" i="1" dirty="0">
                <a:solidFill>
                  <a:schemeClr val="tx1"/>
                </a:solidFill>
              </a:rPr>
              <a:t>n*log</a:t>
            </a:r>
            <a:r>
              <a:rPr lang="en-US" sz="2200" b="1" i="1" baseline="-25000" dirty="0">
                <a:solidFill>
                  <a:schemeClr val="tx1"/>
                </a:solidFill>
              </a:rPr>
              <a:t>2</a:t>
            </a:r>
            <a:r>
              <a:rPr lang="en-US" sz="2200" b="1" i="1" dirty="0">
                <a:solidFill>
                  <a:schemeClr val="tx1"/>
                </a:solidFill>
              </a:rPr>
              <a:t>n</a:t>
            </a:r>
            <a:r>
              <a:rPr lang="en-US" sz="2200" dirty="0">
                <a:solidFill>
                  <a:schemeClr val="tx1"/>
                </a:solidFill>
              </a:rPr>
              <a:t>), </a:t>
            </a:r>
            <a:r>
              <a:rPr lang="bg-BG" sz="2200" dirty="0">
                <a:solidFill>
                  <a:schemeClr val="tx1"/>
                </a:solidFill>
              </a:rPr>
              <a:t>без да се използва допълнителна памет. Сложността на алгоритъма дори е линейна, но лекциите трябва да се сортират във възходящ ред по </a:t>
            </a:r>
            <a:r>
              <a:rPr lang="en-US" sz="2200" b="1" i="1" dirty="0" err="1">
                <a:solidFill>
                  <a:schemeClr val="tx1"/>
                </a:solidFill>
              </a:rPr>
              <a:t>f</a:t>
            </a:r>
            <a:r>
              <a:rPr lang="en-US" sz="2200" b="1" i="1" baseline="-25000" dirty="0" err="1">
                <a:solidFill>
                  <a:schemeClr val="tx1"/>
                </a:solidFill>
              </a:rPr>
              <a:t>i</a:t>
            </a:r>
            <a:r>
              <a:rPr lang="bg-BG" sz="2200" dirty="0">
                <a:solidFill>
                  <a:schemeClr val="tx1"/>
                </a:solidFill>
              </a:rPr>
              <a:t>, така че</a:t>
            </a:r>
            <a:r>
              <a:rPr lang="bg-BG" sz="2200" b="1" i="1" dirty="0">
                <a:solidFill>
                  <a:schemeClr val="tx1"/>
                </a:solidFill>
              </a:rPr>
              <a:t> </a:t>
            </a:r>
            <a:r>
              <a:rPr lang="bg-BG" sz="2200" dirty="0">
                <a:solidFill>
                  <a:schemeClr val="tx1"/>
                </a:solidFill>
              </a:rPr>
              <a:t>крайната сложност като цяло се определя от алгоритъма за сортиране.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en-US" sz="2200" dirty="0" smtClean="0">
                <a:solidFill>
                  <a:schemeClr val="tx1"/>
                </a:solidFill>
              </a:rPr>
              <a:t/>
            </a:r>
            <a:br>
              <a:rPr lang="en-US" sz="2200" dirty="0" smtClean="0">
                <a:solidFill>
                  <a:schemeClr val="tx1"/>
                </a:solidFill>
              </a:rPr>
            </a:br>
            <a:r>
              <a:rPr lang="bg-BG" sz="2200" i="1" dirty="0" smtClean="0">
                <a:solidFill>
                  <a:schemeClr val="tx1"/>
                </a:solidFill>
              </a:rPr>
              <a:t>Алгоритъм</a:t>
            </a:r>
            <a:r>
              <a:rPr lang="bg-BG" sz="2200" i="1" dirty="0">
                <a:solidFill>
                  <a:schemeClr val="tx1"/>
                </a:solidFill>
              </a:rPr>
              <a:t>:</a:t>
            </a:r>
            <a:r>
              <a:rPr lang="bg-BG" sz="2200" dirty="0">
                <a:solidFill>
                  <a:schemeClr val="tx1"/>
                </a:solidFill>
              </a:rPr>
              <a:t/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Разглеждаме лекциите от първата към последната като ги представяме разпределени във времето така  (</a:t>
            </a:r>
            <a:r>
              <a:rPr lang="en-US" sz="2200" b="1" i="1" dirty="0">
                <a:solidFill>
                  <a:schemeClr val="tx1"/>
                </a:solidFill>
              </a:rPr>
              <a:t>n</a:t>
            </a:r>
            <a:r>
              <a:rPr lang="en-US" sz="2200" dirty="0">
                <a:solidFill>
                  <a:schemeClr val="tx1"/>
                </a:solidFill>
              </a:rPr>
              <a:t>=7)</a:t>
            </a:r>
            <a:r>
              <a:rPr lang="bg-BG" sz="2200" dirty="0">
                <a:solidFill>
                  <a:schemeClr val="tx1"/>
                </a:solidFill>
              </a:rPr>
              <a:t>: 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1000" dirty="0">
                <a:solidFill>
                  <a:schemeClr val="tx1"/>
                </a:solidFill>
              </a:rPr>
              <a:t/>
            </a:r>
            <a:br>
              <a:rPr lang="bg-BG" sz="10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en-US" sz="2200" dirty="0">
                <a:solidFill>
                  <a:schemeClr val="tx1"/>
                </a:solidFill>
              </a:rPr>
              <a:t>. </a:t>
            </a:r>
            <a:r>
              <a:rPr lang="bg-BG" sz="2200" dirty="0">
                <a:solidFill>
                  <a:schemeClr val="tx1"/>
                </a:solidFill>
              </a:rPr>
              <a:t>Избира се лекция </a:t>
            </a:r>
            <a:r>
              <a:rPr lang="en-US" sz="2200" b="1" i="1" dirty="0" err="1">
                <a:solidFill>
                  <a:schemeClr val="tx1"/>
                </a:solidFill>
              </a:rPr>
              <a:t>i</a:t>
            </a:r>
            <a:r>
              <a:rPr lang="bg-BG" sz="2200" dirty="0">
                <a:solidFill>
                  <a:schemeClr val="tx1"/>
                </a:solidFill>
              </a:rPr>
              <a:t>, за която </a:t>
            </a:r>
            <a:r>
              <a:rPr lang="en-US" sz="2200" b="1" i="1" dirty="0" err="1">
                <a:solidFill>
                  <a:schemeClr val="tx1"/>
                </a:solidFill>
              </a:rPr>
              <a:t>f</a:t>
            </a:r>
            <a:r>
              <a:rPr lang="en-US" sz="2200" b="1" i="1" baseline="-25000" dirty="0" err="1">
                <a:solidFill>
                  <a:schemeClr val="tx1"/>
                </a:solidFill>
              </a:rPr>
              <a:t>i</a:t>
            </a:r>
            <a:r>
              <a:rPr lang="bg-BG" sz="2200" dirty="0">
                <a:solidFill>
                  <a:schemeClr val="tx1"/>
                </a:solidFill>
              </a:rPr>
              <a:t> е 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    минимално (в началото винаги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    се избира първата, т. к. лекциите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    се сортират в нарастващ ред по </a:t>
            </a:r>
            <a:r>
              <a:rPr lang="en-US" sz="2200" b="1" i="1" dirty="0" err="1">
                <a:solidFill>
                  <a:schemeClr val="tx1"/>
                </a:solidFill>
              </a:rPr>
              <a:t>f</a:t>
            </a:r>
            <a:r>
              <a:rPr lang="en-US" sz="2200" b="1" i="1" baseline="-25000" dirty="0" err="1">
                <a:solidFill>
                  <a:schemeClr val="tx1"/>
                </a:solidFill>
              </a:rPr>
              <a:t>i</a:t>
            </a:r>
            <a:r>
              <a:rPr lang="bg-BG" sz="2200" dirty="0">
                <a:solidFill>
                  <a:schemeClr val="tx1"/>
                </a:solidFill>
              </a:rPr>
              <a:t>).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bg-BG" sz="2200" dirty="0">
                <a:solidFill>
                  <a:schemeClr val="tx1"/>
                </a:solidFill>
              </a:rPr>
              <a:t>. Всички лекции </a:t>
            </a:r>
            <a:r>
              <a:rPr lang="en-US" sz="2200" b="1" i="1" dirty="0">
                <a:solidFill>
                  <a:schemeClr val="tx1"/>
                </a:solidFill>
              </a:rPr>
              <a:t>j</a:t>
            </a:r>
            <a:r>
              <a:rPr lang="bg-BG" sz="2200" dirty="0">
                <a:solidFill>
                  <a:schemeClr val="tx1"/>
                </a:solidFill>
              </a:rPr>
              <a:t>, за които </a:t>
            </a:r>
            <a:r>
              <a:rPr lang="en-US" sz="2200" b="1" i="1" dirty="0" err="1">
                <a:solidFill>
                  <a:schemeClr val="tx1"/>
                </a:solidFill>
              </a:rPr>
              <a:t>s</a:t>
            </a:r>
            <a:r>
              <a:rPr lang="en-US" sz="2200" b="1" i="1" baseline="-25000" dirty="0" err="1">
                <a:solidFill>
                  <a:schemeClr val="tx1"/>
                </a:solidFill>
              </a:rPr>
              <a:t>j</a:t>
            </a:r>
            <a:r>
              <a:rPr lang="bg-BG" sz="2200" dirty="0">
                <a:solidFill>
                  <a:schemeClr val="tx1"/>
                </a:solidFill>
              </a:rPr>
              <a:t> &lt;=</a:t>
            </a:r>
            <a:r>
              <a:rPr lang="en-US" sz="2200" b="1" i="1" dirty="0" err="1">
                <a:solidFill>
                  <a:schemeClr val="tx1"/>
                </a:solidFill>
              </a:rPr>
              <a:t>f</a:t>
            </a:r>
            <a:r>
              <a:rPr lang="en-US" sz="2200" b="1" i="1" baseline="-25000" dirty="0" err="1">
                <a:solidFill>
                  <a:schemeClr val="tx1"/>
                </a:solidFill>
              </a:rPr>
              <a:t>i</a:t>
            </a:r>
            <a:r>
              <a:rPr lang="bg-BG" sz="2200" dirty="0">
                <a:solidFill>
                  <a:schemeClr val="tx1"/>
                </a:solidFill>
              </a:rPr>
              <a:t> </a:t>
            </a:r>
            <a:r>
              <a:rPr lang="en-US" sz="2200" dirty="0">
                <a:solidFill>
                  <a:schemeClr val="tx1"/>
                </a:solidFill>
              </a:rPr>
              <a:t/>
            </a:r>
            <a:br>
              <a:rPr lang="en-US" sz="22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    (</a:t>
            </a:r>
            <a:r>
              <a:rPr lang="bg-BG" sz="2200" dirty="0">
                <a:solidFill>
                  <a:schemeClr val="tx1"/>
                </a:solidFill>
              </a:rPr>
              <a:t>т.е. които се засичат с избраната)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    се изключват от разглеждането.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    Повтаря се стъпка 1, докато се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    разгледат всички лекции.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  </a:t>
            </a:r>
            <a:br>
              <a:rPr lang="en-US" sz="2200" dirty="0"/>
            </a:br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/>
            </a:r>
            <a:br>
              <a:rPr lang="en-US" sz="2200" dirty="0"/>
            </a:br>
            <a:endParaRPr lang="en-US" sz="2200" dirty="0"/>
          </a:p>
        </p:txBody>
      </p:sp>
      <p:grpSp>
        <p:nvGrpSpPr>
          <p:cNvPr id="33814" name="Group 22"/>
          <p:cNvGrpSpPr>
            <a:grpSpLocks/>
          </p:cNvGrpSpPr>
          <p:nvPr/>
        </p:nvGrpSpPr>
        <p:grpSpPr bwMode="auto">
          <a:xfrm>
            <a:off x="5226152" y="3454400"/>
            <a:ext cx="3619500" cy="2687638"/>
            <a:chOff x="3096" y="2112"/>
            <a:chExt cx="2280" cy="1693"/>
          </a:xfrm>
        </p:grpSpPr>
        <p:grpSp>
          <p:nvGrpSpPr>
            <p:cNvPr id="33815" name="Group 23"/>
            <p:cNvGrpSpPr>
              <a:grpSpLocks/>
            </p:cNvGrpSpPr>
            <p:nvPr/>
          </p:nvGrpSpPr>
          <p:grpSpPr bwMode="auto">
            <a:xfrm>
              <a:off x="3096" y="2112"/>
              <a:ext cx="936" cy="1693"/>
              <a:chOff x="3456" y="2112"/>
              <a:chExt cx="936" cy="1693"/>
            </a:xfrm>
          </p:grpSpPr>
          <p:sp>
            <p:nvSpPr>
              <p:cNvPr id="33816" name="Text Box 24"/>
              <p:cNvSpPr txBox="1">
                <a:spLocks noChangeArrowheads="1"/>
              </p:cNvSpPr>
              <p:nvPr/>
            </p:nvSpPr>
            <p:spPr bwMode="auto">
              <a:xfrm>
                <a:off x="3936" y="2112"/>
                <a:ext cx="28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endParaRPr lang="bg-BG"/>
              </a:p>
            </p:txBody>
          </p:sp>
          <p:sp>
            <p:nvSpPr>
              <p:cNvPr id="33817" name="Line 25"/>
              <p:cNvSpPr>
                <a:spLocks noChangeShapeType="1"/>
              </p:cNvSpPr>
              <p:nvPr/>
            </p:nvSpPr>
            <p:spPr bwMode="auto">
              <a:xfrm>
                <a:off x="3664" y="2520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3818" name="Line 26"/>
              <p:cNvSpPr>
                <a:spLocks noChangeShapeType="1"/>
              </p:cNvSpPr>
              <p:nvPr/>
            </p:nvSpPr>
            <p:spPr bwMode="auto">
              <a:xfrm>
                <a:off x="4152" y="2272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bg-BG"/>
              </a:p>
            </p:txBody>
          </p:sp>
          <p:sp>
            <p:nvSpPr>
              <p:cNvPr id="33819" name="Text Box 27"/>
              <p:cNvSpPr txBox="1">
                <a:spLocks noChangeArrowheads="1"/>
              </p:cNvSpPr>
              <p:nvPr/>
            </p:nvSpPr>
            <p:spPr bwMode="auto">
              <a:xfrm>
                <a:off x="3456" y="2160"/>
                <a:ext cx="240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200"/>
                  <a:t>1</a:t>
                </a:r>
              </a:p>
            </p:txBody>
          </p:sp>
          <p:sp>
            <p:nvSpPr>
              <p:cNvPr id="33820" name="Text Box 28"/>
              <p:cNvSpPr txBox="1">
                <a:spLocks noChangeArrowheads="1"/>
              </p:cNvSpPr>
              <p:nvPr/>
            </p:nvSpPr>
            <p:spPr bwMode="auto">
              <a:xfrm>
                <a:off x="3456" y="2400"/>
                <a:ext cx="240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200"/>
                  <a:t>2</a:t>
                </a:r>
              </a:p>
            </p:txBody>
          </p:sp>
          <p:sp>
            <p:nvSpPr>
              <p:cNvPr id="33821" name="Text Box 29"/>
              <p:cNvSpPr txBox="1">
                <a:spLocks noChangeArrowheads="1"/>
              </p:cNvSpPr>
              <p:nvPr/>
            </p:nvSpPr>
            <p:spPr bwMode="auto">
              <a:xfrm>
                <a:off x="3464" y="2640"/>
                <a:ext cx="240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200"/>
                  <a:t>3</a:t>
                </a:r>
              </a:p>
            </p:txBody>
          </p:sp>
          <p:sp>
            <p:nvSpPr>
              <p:cNvPr id="33822" name="Text Box 30"/>
              <p:cNvSpPr txBox="1">
                <a:spLocks noChangeArrowheads="1"/>
              </p:cNvSpPr>
              <p:nvPr/>
            </p:nvSpPr>
            <p:spPr bwMode="auto">
              <a:xfrm>
                <a:off x="3464" y="3096"/>
                <a:ext cx="240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200"/>
                  <a:t>5</a:t>
                </a:r>
              </a:p>
            </p:txBody>
          </p:sp>
          <p:sp>
            <p:nvSpPr>
              <p:cNvPr id="33823" name="Text Box 31"/>
              <p:cNvSpPr txBox="1">
                <a:spLocks noChangeArrowheads="1"/>
              </p:cNvSpPr>
              <p:nvPr/>
            </p:nvSpPr>
            <p:spPr bwMode="auto">
              <a:xfrm>
                <a:off x="3464" y="2856"/>
                <a:ext cx="240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200"/>
                  <a:t>4</a:t>
                </a:r>
              </a:p>
            </p:txBody>
          </p:sp>
          <p:sp>
            <p:nvSpPr>
              <p:cNvPr id="33824" name="Text Box 32"/>
              <p:cNvSpPr txBox="1">
                <a:spLocks noChangeArrowheads="1"/>
              </p:cNvSpPr>
              <p:nvPr/>
            </p:nvSpPr>
            <p:spPr bwMode="auto">
              <a:xfrm>
                <a:off x="3464" y="3296"/>
                <a:ext cx="240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200"/>
                  <a:t>6</a:t>
                </a:r>
              </a:p>
            </p:txBody>
          </p:sp>
          <p:sp>
            <p:nvSpPr>
              <p:cNvPr id="33825" name="Text Box 33"/>
              <p:cNvSpPr txBox="1">
                <a:spLocks noChangeArrowheads="1"/>
              </p:cNvSpPr>
              <p:nvPr/>
            </p:nvSpPr>
            <p:spPr bwMode="auto">
              <a:xfrm>
                <a:off x="3464" y="3536"/>
                <a:ext cx="240" cy="2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200"/>
                  <a:t>7</a:t>
                </a:r>
              </a:p>
            </p:txBody>
          </p:sp>
        </p:grpSp>
        <p:sp>
          <p:nvSpPr>
            <p:cNvPr id="33826" name="Line 34"/>
            <p:cNvSpPr>
              <a:spLocks noChangeShapeType="1"/>
            </p:cNvSpPr>
            <p:nvPr/>
          </p:nvSpPr>
          <p:spPr bwMode="auto">
            <a:xfrm>
              <a:off x="4032" y="297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3827" name="Line 35"/>
            <p:cNvSpPr>
              <a:spLocks noChangeShapeType="1"/>
            </p:cNvSpPr>
            <p:nvPr/>
          </p:nvSpPr>
          <p:spPr bwMode="auto">
            <a:xfrm>
              <a:off x="4752" y="273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3828" name="Line 36"/>
            <p:cNvSpPr>
              <a:spLocks noChangeShapeType="1"/>
            </p:cNvSpPr>
            <p:nvPr/>
          </p:nvSpPr>
          <p:spPr bwMode="auto">
            <a:xfrm>
              <a:off x="3648" y="3408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3829" name="Line 37"/>
            <p:cNvSpPr>
              <a:spLocks noChangeShapeType="1"/>
            </p:cNvSpPr>
            <p:nvPr/>
          </p:nvSpPr>
          <p:spPr bwMode="auto">
            <a:xfrm>
              <a:off x="4224" y="3696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3830" name="Line 38"/>
            <p:cNvSpPr>
              <a:spLocks noChangeShapeType="1"/>
            </p:cNvSpPr>
            <p:nvPr/>
          </p:nvSpPr>
          <p:spPr bwMode="auto">
            <a:xfrm>
              <a:off x="5040" y="3264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33831" name="Line 39"/>
          <p:cNvSpPr>
            <a:spLocks noChangeShapeType="1"/>
          </p:cNvSpPr>
          <p:nvPr/>
        </p:nvSpPr>
        <p:spPr bwMode="auto">
          <a:xfrm>
            <a:off x="5359400" y="6248400"/>
            <a:ext cx="3505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bg-BG"/>
          </a:p>
        </p:txBody>
      </p:sp>
      <p:sp>
        <p:nvSpPr>
          <p:cNvPr id="33832" name="Text Box 40"/>
          <p:cNvSpPr txBox="1">
            <a:spLocks noChangeArrowheads="1"/>
          </p:cNvSpPr>
          <p:nvPr/>
        </p:nvSpPr>
        <p:spPr bwMode="auto">
          <a:xfrm>
            <a:off x="8610600" y="6223000"/>
            <a:ext cx="30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/>
              <a:t>t</a:t>
            </a:r>
            <a:endParaRPr lang="en-US"/>
          </a:p>
        </p:txBody>
      </p:sp>
      <p:sp>
        <p:nvSpPr>
          <p:cNvPr id="24" name="Контейнер за номер на слайда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332656"/>
            <a:ext cx="8100392" cy="6264696"/>
          </a:xfrm>
        </p:spPr>
        <p:txBody>
          <a:bodyPr>
            <a:normAutofit fontScale="90000"/>
          </a:bodyPr>
          <a:lstStyle/>
          <a:p>
            <a:pPr algn="l"/>
            <a:r>
              <a:rPr lang="bg-BG" sz="2200" dirty="0">
                <a:solidFill>
                  <a:schemeClr val="tx1"/>
                </a:solidFill>
              </a:rPr>
              <a:t>Лекциите се сортират по </a:t>
            </a:r>
            <a:r>
              <a:rPr lang="en-US" sz="2200" b="1" i="1" dirty="0" err="1">
                <a:solidFill>
                  <a:schemeClr val="tx1"/>
                </a:solidFill>
              </a:rPr>
              <a:t>f</a:t>
            </a:r>
            <a:r>
              <a:rPr lang="en-US" sz="2200" b="1" i="1" baseline="-25000" dirty="0" err="1">
                <a:solidFill>
                  <a:schemeClr val="tx1"/>
                </a:solidFill>
              </a:rPr>
              <a:t>i</a:t>
            </a:r>
            <a:r>
              <a:rPr lang="bg-BG" sz="2200" dirty="0">
                <a:solidFill>
                  <a:schemeClr val="tx1"/>
                </a:solidFill>
              </a:rPr>
              <a:t> :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/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/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/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/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/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/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/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/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/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“Лакомият” алгоритъм ще избере лекция </a:t>
            </a: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2</a:t>
            </a:r>
            <a:r>
              <a:rPr lang="bg-BG" sz="2200" dirty="0">
                <a:solidFill>
                  <a:schemeClr val="tx1"/>
                </a:solidFill>
              </a:rPr>
              <a:t>, след което ще пропусне лекции </a:t>
            </a: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1</a:t>
            </a:r>
            <a:r>
              <a:rPr lang="bg-BG" sz="2200" dirty="0">
                <a:solidFill>
                  <a:schemeClr val="tx1"/>
                </a:solidFill>
              </a:rPr>
              <a:t> и </a:t>
            </a: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6</a:t>
            </a:r>
            <a:r>
              <a:rPr lang="bg-BG" sz="2200" dirty="0">
                <a:solidFill>
                  <a:schemeClr val="tx1"/>
                </a:solidFill>
              </a:rPr>
              <a:t>, ще избере </a:t>
            </a: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4</a:t>
            </a:r>
            <a:r>
              <a:rPr lang="bg-BG" sz="2200" dirty="0">
                <a:solidFill>
                  <a:schemeClr val="tx1"/>
                </a:solidFill>
              </a:rPr>
              <a:t>, ще прескочи</a:t>
            </a: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7</a:t>
            </a:r>
            <a:r>
              <a:rPr lang="bg-BG" sz="2200" dirty="0">
                <a:solidFill>
                  <a:schemeClr val="tx1"/>
                </a:solidFill>
              </a:rPr>
              <a:t>, ще избере </a:t>
            </a: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3</a:t>
            </a:r>
            <a:r>
              <a:rPr lang="bg-BG" sz="2200" dirty="0">
                <a:solidFill>
                  <a:schemeClr val="tx1"/>
                </a:solidFill>
              </a:rPr>
              <a:t> и ще пропусне</a:t>
            </a:r>
            <a:r>
              <a:rPr lang="bg-BG" sz="22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5</a:t>
            </a:r>
            <a:r>
              <a:rPr lang="bg-BG" sz="2200" dirty="0">
                <a:solidFill>
                  <a:schemeClr val="tx1"/>
                </a:solidFill>
              </a:rPr>
              <a:t>. </a:t>
            </a:r>
            <a:r>
              <a:rPr lang="bg-BG" sz="2200" dirty="0" err="1">
                <a:solidFill>
                  <a:schemeClr val="tx1"/>
                </a:solidFill>
              </a:rPr>
              <a:t>Полуформалното</a:t>
            </a:r>
            <a:r>
              <a:rPr lang="bg-BG" sz="2200" dirty="0">
                <a:solidFill>
                  <a:schemeClr val="tx1"/>
                </a:solidFill>
              </a:rPr>
              <a:t> описание на алгоритъма е следното: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en-US" sz="1000" dirty="0">
                <a:solidFill>
                  <a:schemeClr val="tx1"/>
                </a:solidFill>
              </a:rPr>
              <a:t/>
            </a:r>
            <a:br>
              <a:rPr lang="en-US" sz="1000" dirty="0">
                <a:solidFill>
                  <a:schemeClr val="tx1"/>
                </a:solidFill>
              </a:rPr>
            </a:br>
            <a:r>
              <a:rPr lang="en-US" sz="2200" dirty="0">
                <a:solidFill>
                  <a:schemeClr val="tx1"/>
                </a:solidFill>
              </a:rPr>
              <a:t>	</a:t>
            </a: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Избира се лекция 1;</a:t>
            </a:r>
            <a:br>
              <a:rPr lang="bg-BG" sz="22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200" dirty="0">
                <a:solidFill>
                  <a:schemeClr val="tx1"/>
                </a:solidFill>
                <a:latin typeface="Courier New" pitchFamily="49" charset="-52"/>
              </a:rPr>
              <a:t>	</a:t>
            </a:r>
            <a:r>
              <a:rPr lang="en-US" sz="2200" dirty="0" err="1">
                <a:solidFill>
                  <a:schemeClr val="tx1"/>
                </a:solidFill>
                <a:latin typeface="Courier New" pitchFamily="49" charset="-52"/>
              </a:rPr>
              <a:t>i</a:t>
            </a:r>
            <a:r>
              <a:rPr lang="en-US" sz="2200" dirty="0">
                <a:solidFill>
                  <a:schemeClr val="tx1"/>
                </a:solidFill>
                <a:latin typeface="Courier New" pitchFamily="49" charset="-52"/>
              </a:rPr>
              <a:t>=1; j=1;</a:t>
            </a:r>
            <a:br>
              <a:rPr lang="en-US" sz="22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200" dirty="0">
                <a:solidFill>
                  <a:schemeClr val="tx1"/>
                </a:solidFill>
              </a:rPr>
              <a:t>  </a:t>
            </a:r>
            <a:r>
              <a:rPr lang="en-US" sz="2200" dirty="0">
                <a:solidFill>
                  <a:schemeClr val="tx1"/>
                </a:solidFill>
              </a:rPr>
              <a:t>            </a:t>
            </a:r>
            <a:r>
              <a:rPr lang="en-US" sz="2200" dirty="0">
                <a:solidFill>
                  <a:schemeClr val="tx1"/>
                </a:solidFill>
                <a:latin typeface="Courier New" pitchFamily="49" charset="-52"/>
              </a:rPr>
              <a:t>while (j&lt;=n)  </a:t>
            </a:r>
            <a:br>
              <a:rPr lang="en-US" sz="22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200" dirty="0">
                <a:solidFill>
                  <a:schemeClr val="tx1"/>
                </a:solidFill>
                <a:latin typeface="Courier New" pitchFamily="49" charset="-52"/>
              </a:rPr>
              <a:t>        {j++; if(s[j] &gt; f[</a:t>
            </a:r>
            <a:r>
              <a:rPr lang="en-US" sz="2200" dirty="0" err="1">
                <a:solidFill>
                  <a:schemeClr val="tx1"/>
                </a:solidFill>
                <a:latin typeface="Courier New" pitchFamily="49" charset="-52"/>
              </a:rPr>
              <a:t>i</a:t>
            </a:r>
            <a:r>
              <a:rPr lang="en-US" sz="2200" dirty="0">
                <a:solidFill>
                  <a:schemeClr val="tx1"/>
                </a:solidFill>
                <a:latin typeface="Courier New" pitchFamily="49" charset="-52"/>
              </a:rPr>
              <a:t>])</a:t>
            </a:r>
            <a:br>
              <a:rPr lang="en-US" sz="22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200" dirty="0">
                <a:solidFill>
                  <a:schemeClr val="tx1"/>
                </a:solidFill>
                <a:latin typeface="Courier New" pitchFamily="49" charset="-52"/>
              </a:rPr>
              <a:t>               {</a:t>
            </a: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избира се лекция </a:t>
            </a:r>
            <a:r>
              <a:rPr lang="en-US" sz="2200" dirty="0">
                <a:solidFill>
                  <a:schemeClr val="tx1"/>
                </a:solidFill>
                <a:latin typeface="Courier New" pitchFamily="49" charset="-52"/>
              </a:rPr>
              <a:t>j; </a:t>
            </a:r>
            <a:r>
              <a:rPr lang="en-US" sz="2200" dirty="0" err="1">
                <a:solidFill>
                  <a:schemeClr val="tx1"/>
                </a:solidFill>
                <a:latin typeface="Courier New" pitchFamily="49" charset="-52"/>
              </a:rPr>
              <a:t>i</a:t>
            </a:r>
            <a:r>
              <a:rPr lang="en-US" sz="2200" dirty="0">
                <a:solidFill>
                  <a:schemeClr val="tx1"/>
                </a:solidFill>
                <a:latin typeface="Courier New" pitchFamily="49" charset="-52"/>
              </a:rPr>
              <a:t> = j;}</a:t>
            </a:r>
            <a:r>
              <a:rPr lang="en-US" sz="2200" dirty="0">
                <a:latin typeface="Courier New" pitchFamily="49" charset="-52"/>
              </a:rPr>
              <a:t/>
            </a:r>
            <a:br>
              <a:rPr lang="en-US" sz="2200" dirty="0">
                <a:latin typeface="Courier New" pitchFamily="49" charset="-52"/>
              </a:rPr>
            </a:br>
            <a:r>
              <a:rPr lang="en-US" sz="2200" dirty="0">
                <a:latin typeface="Courier New" pitchFamily="49" charset="-52"/>
              </a:rPr>
              <a:t>        }</a:t>
            </a:r>
          </a:p>
        </p:txBody>
      </p:sp>
      <p:grpSp>
        <p:nvGrpSpPr>
          <p:cNvPr id="42" name="Групиране 41"/>
          <p:cNvGrpSpPr/>
          <p:nvPr/>
        </p:nvGrpSpPr>
        <p:grpSpPr>
          <a:xfrm>
            <a:off x="1334032" y="841722"/>
            <a:ext cx="7319927" cy="2543076"/>
            <a:chOff x="827584" y="841722"/>
            <a:chExt cx="7319927" cy="2543076"/>
          </a:xfrm>
        </p:grpSpPr>
        <p:sp>
          <p:nvSpPr>
            <p:cNvPr id="34837" name="Text Box 21"/>
            <p:cNvSpPr txBox="1">
              <a:spLocks noChangeArrowheads="1"/>
            </p:cNvSpPr>
            <p:nvPr/>
          </p:nvSpPr>
          <p:spPr bwMode="auto">
            <a:xfrm>
              <a:off x="5829761" y="843210"/>
              <a:ext cx="39528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bg-BG"/>
            </a:p>
          </p:txBody>
        </p:sp>
        <p:sp>
          <p:nvSpPr>
            <p:cNvPr id="34838" name="Line 22"/>
            <p:cNvSpPr>
              <a:spLocks noChangeShapeType="1"/>
            </p:cNvSpPr>
            <p:nvPr/>
          </p:nvSpPr>
          <p:spPr bwMode="auto">
            <a:xfrm>
              <a:off x="5477336" y="1148010"/>
              <a:ext cx="657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39" name="Line 23"/>
            <p:cNvSpPr>
              <a:spLocks noChangeShapeType="1"/>
            </p:cNvSpPr>
            <p:nvPr/>
          </p:nvSpPr>
          <p:spPr bwMode="auto">
            <a:xfrm>
              <a:off x="6061536" y="1503610"/>
              <a:ext cx="3286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40" name="Text Box 24"/>
            <p:cNvSpPr txBox="1">
              <a:spLocks noChangeArrowheads="1"/>
            </p:cNvSpPr>
            <p:nvPr/>
          </p:nvSpPr>
          <p:spPr bwMode="auto">
            <a:xfrm>
              <a:off x="5172536" y="914648"/>
              <a:ext cx="328613" cy="427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/>
                <a:t>2</a:t>
              </a:r>
            </a:p>
          </p:txBody>
        </p:sp>
        <p:sp>
          <p:nvSpPr>
            <p:cNvPr id="34841" name="Text Box 25"/>
            <p:cNvSpPr txBox="1">
              <a:spLocks noChangeArrowheads="1"/>
            </p:cNvSpPr>
            <p:nvPr/>
          </p:nvSpPr>
          <p:spPr bwMode="auto">
            <a:xfrm>
              <a:off x="5172536" y="1270248"/>
              <a:ext cx="328613" cy="427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4842" name="Text Box 26"/>
            <p:cNvSpPr txBox="1">
              <a:spLocks noChangeArrowheads="1"/>
            </p:cNvSpPr>
            <p:nvPr/>
          </p:nvSpPr>
          <p:spPr bwMode="auto">
            <a:xfrm>
              <a:off x="5183649" y="1627435"/>
              <a:ext cx="328612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/>
                <a:t>6</a:t>
              </a:r>
            </a:p>
          </p:txBody>
        </p:sp>
        <p:sp>
          <p:nvSpPr>
            <p:cNvPr id="34843" name="Text Box 27"/>
            <p:cNvSpPr txBox="1">
              <a:spLocks noChangeArrowheads="1"/>
            </p:cNvSpPr>
            <p:nvPr/>
          </p:nvSpPr>
          <p:spPr bwMode="auto">
            <a:xfrm>
              <a:off x="5183649" y="2305298"/>
              <a:ext cx="328612" cy="427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/>
                <a:t>7</a:t>
              </a:r>
            </a:p>
          </p:txBody>
        </p:sp>
        <p:sp>
          <p:nvSpPr>
            <p:cNvPr id="34844" name="Text Box 28"/>
            <p:cNvSpPr txBox="1">
              <a:spLocks noChangeArrowheads="1"/>
            </p:cNvSpPr>
            <p:nvPr/>
          </p:nvSpPr>
          <p:spPr bwMode="auto">
            <a:xfrm>
              <a:off x="5183649" y="1948110"/>
              <a:ext cx="328612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/>
                <a:t>4</a:t>
              </a:r>
            </a:p>
          </p:txBody>
        </p:sp>
        <p:sp>
          <p:nvSpPr>
            <p:cNvPr id="34845" name="Text Box 29"/>
            <p:cNvSpPr txBox="1">
              <a:spLocks noChangeArrowheads="1"/>
            </p:cNvSpPr>
            <p:nvPr/>
          </p:nvSpPr>
          <p:spPr bwMode="auto">
            <a:xfrm>
              <a:off x="5183649" y="2602160"/>
              <a:ext cx="328612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/>
                <a:t>3</a:t>
              </a:r>
            </a:p>
          </p:txBody>
        </p:sp>
        <p:sp>
          <p:nvSpPr>
            <p:cNvPr id="34846" name="Text Box 30"/>
            <p:cNvSpPr txBox="1">
              <a:spLocks noChangeArrowheads="1"/>
            </p:cNvSpPr>
            <p:nvPr/>
          </p:nvSpPr>
          <p:spPr bwMode="auto">
            <a:xfrm>
              <a:off x="5183649" y="2957760"/>
              <a:ext cx="328612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/>
                <a:t>5</a:t>
              </a:r>
            </a:p>
          </p:txBody>
        </p:sp>
        <p:sp>
          <p:nvSpPr>
            <p:cNvPr id="34847" name="Line 31"/>
            <p:cNvSpPr>
              <a:spLocks noChangeShapeType="1"/>
            </p:cNvSpPr>
            <p:nvPr/>
          </p:nvSpPr>
          <p:spPr bwMode="auto">
            <a:xfrm>
              <a:off x="6429836" y="2138610"/>
              <a:ext cx="525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48" name="Line 32"/>
            <p:cNvSpPr>
              <a:spLocks noChangeShapeType="1"/>
            </p:cNvSpPr>
            <p:nvPr/>
          </p:nvSpPr>
          <p:spPr bwMode="auto">
            <a:xfrm>
              <a:off x="7306136" y="2824410"/>
              <a:ext cx="5921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49" name="Line 33"/>
            <p:cNvSpPr>
              <a:spLocks noChangeShapeType="1"/>
            </p:cNvSpPr>
            <p:nvPr/>
          </p:nvSpPr>
          <p:spPr bwMode="auto">
            <a:xfrm>
              <a:off x="6010736" y="1833810"/>
              <a:ext cx="790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50" name="Line 34"/>
            <p:cNvSpPr>
              <a:spLocks noChangeShapeType="1"/>
            </p:cNvSpPr>
            <p:nvPr/>
          </p:nvSpPr>
          <p:spPr bwMode="auto">
            <a:xfrm>
              <a:off x="6620336" y="2519610"/>
              <a:ext cx="525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51" name="Line 35"/>
            <p:cNvSpPr>
              <a:spLocks noChangeShapeType="1"/>
            </p:cNvSpPr>
            <p:nvPr/>
          </p:nvSpPr>
          <p:spPr bwMode="auto">
            <a:xfrm>
              <a:off x="7687136" y="3129210"/>
              <a:ext cx="460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52" name="Line 36"/>
            <p:cNvSpPr>
              <a:spLocks noChangeShapeType="1"/>
            </p:cNvSpPr>
            <p:nvPr/>
          </p:nvSpPr>
          <p:spPr bwMode="auto">
            <a:xfrm>
              <a:off x="4181936" y="2138610"/>
              <a:ext cx="6858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53" name="Line 37"/>
            <p:cNvSpPr>
              <a:spLocks noChangeShapeType="1"/>
            </p:cNvSpPr>
            <p:nvPr/>
          </p:nvSpPr>
          <p:spPr bwMode="auto">
            <a:xfrm flipV="1">
              <a:off x="6125036" y="982910"/>
              <a:ext cx="0" cy="23622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54" name="Line 38"/>
            <p:cNvSpPr>
              <a:spLocks noChangeShapeType="1"/>
            </p:cNvSpPr>
            <p:nvPr/>
          </p:nvSpPr>
          <p:spPr bwMode="auto">
            <a:xfrm>
              <a:off x="6937836" y="995610"/>
              <a:ext cx="0" cy="23622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55" name="Line 39"/>
            <p:cNvSpPr>
              <a:spLocks noChangeShapeType="1"/>
            </p:cNvSpPr>
            <p:nvPr/>
          </p:nvSpPr>
          <p:spPr bwMode="auto">
            <a:xfrm>
              <a:off x="7890336" y="995610"/>
              <a:ext cx="0" cy="23622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22" name="Text Box 6"/>
            <p:cNvSpPr txBox="1">
              <a:spLocks noChangeArrowheads="1"/>
            </p:cNvSpPr>
            <p:nvPr/>
          </p:nvSpPr>
          <p:spPr bwMode="auto">
            <a:xfrm>
              <a:off x="1484809" y="841722"/>
              <a:ext cx="395288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endParaRPr lang="bg-BG"/>
            </a:p>
          </p:txBody>
        </p:sp>
        <p:sp>
          <p:nvSpPr>
            <p:cNvPr id="34823" name="Line 7"/>
            <p:cNvSpPr>
              <a:spLocks noChangeShapeType="1"/>
            </p:cNvSpPr>
            <p:nvPr/>
          </p:nvSpPr>
          <p:spPr bwMode="auto">
            <a:xfrm>
              <a:off x="1113334" y="1448147"/>
              <a:ext cx="6572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25" name="Text Box 9"/>
            <p:cNvSpPr txBox="1">
              <a:spLocks noChangeArrowheads="1"/>
            </p:cNvSpPr>
            <p:nvPr/>
          </p:nvSpPr>
          <p:spPr bwMode="auto">
            <a:xfrm>
              <a:off x="827584" y="913160"/>
              <a:ext cx="328613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/>
                <a:t>1</a:t>
              </a:r>
            </a:p>
          </p:txBody>
        </p:sp>
        <p:sp>
          <p:nvSpPr>
            <p:cNvPr id="34826" name="Text Box 10"/>
            <p:cNvSpPr txBox="1">
              <a:spLocks noChangeArrowheads="1"/>
            </p:cNvSpPr>
            <p:nvPr/>
          </p:nvSpPr>
          <p:spPr bwMode="auto">
            <a:xfrm>
              <a:off x="827584" y="1268760"/>
              <a:ext cx="328613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/>
                <a:t>2</a:t>
              </a:r>
            </a:p>
          </p:txBody>
        </p:sp>
        <p:sp>
          <p:nvSpPr>
            <p:cNvPr id="34827" name="Text Box 11"/>
            <p:cNvSpPr txBox="1">
              <a:spLocks noChangeArrowheads="1"/>
            </p:cNvSpPr>
            <p:nvPr/>
          </p:nvSpPr>
          <p:spPr bwMode="auto">
            <a:xfrm>
              <a:off x="838697" y="1625947"/>
              <a:ext cx="328613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/>
                <a:t>3</a:t>
              </a:r>
            </a:p>
          </p:txBody>
        </p:sp>
        <p:sp>
          <p:nvSpPr>
            <p:cNvPr id="34828" name="Text Box 12"/>
            <p:cNvSpPr txBox="1">
              <a:spLocks noChangeArrowheads="1"/>
            </p:cNvSpPr>
            <p:nvPr/>
          </p:nvSpPr>
          <p:spPr bwMode="auto">
            <a:xfrm>
              <a:off x="838697" y="2303810"/>
              <a:ext cx="328613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/>
                <a:t>5</a:t>
              </a:r>
            </a:p>
          </p:txBody>
        </p:sp>
        <p:sp>
          <p:nvSpPr>
            <p:cNvPr id="34829" name="Text Box 13"/>
            <p:cNvSpPr txBox="1">
              <a:spLocks noChangeArrowheads="1"/>
            </p:cNvSpPr>
            <p:nvPr/>
          </p:nvSpPr>
          <p:spPr bwMode="auto">
            <a:xfrm>
              <a:off x="838697" y="1946622"/>
              <a:ext cx="328613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/>
                <a:t>4</a:t>
              </a:r>
            </a:p>
          </p:txBody>
        </p:sp>
        <p:sp>
          <p:nvSpPr>
            <p:cNvPr id="34830" name="Text Box 14"/>
            <p:cNvSpPr txBox="1">
              <a:spLocks noChangeArrowheads="1"/>
            </p:cNvSpPr>
            <p:nvPr/>
          </p:nvSpPr>
          <p:spPr bwMode="auto">
            <a:xfrm>
              <a:off x="838697" y="2600672"/>
              <a:ext cx="328613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/>
                <a:t>6</a:t>
              </a:r>
            </a:p>
          </p:txBody>
        </p:sp>
        <p:sp>
          <p:nvSpPr>
            <p:cNvPr id="34831" name="Text Box 15"/>
            <p:cNvSpPr txBox="1">
              <a:spLocks noChangeArrowheads="1"/>
            </p:cNvSpPr>
            <p:nvPr/>
          </p:nvSpPr>
          <p:spPr bwMode="auto">
            <a:xfrm>
              <a:off x="838697" y="2956272"/>
              <a:ext cx="328613" cy="4270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200"/>
                <a:t>7</a:t>
              </a:r>
            </a:p>
          </p:txBody>
        </p:sp>
        <p:sp>
          <p:nvSpPr>
            <p:cNvPr id="34832" name="Line 16"/>
            <p:cNvSpPr>
              <a:spLocks noChangeShapeType="1"/>
            </p:cNvSpPr>
            <p:nvPr/>
          </p:nvSpPr>
          <p:spPr bwMode="auto">
            <a:xfrm>
              <a:off x="2110284" y="2124422"/>
              <a:ext cx="525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33" name="Line 17"/>
            <p:cNvSpPr>
              <a:spLocks noChangeShapeType="1"/>
            </p:cNvSpPr>
            <p:nvPr/>
          </p:nvSpPr>
          <p:spPr bwMode="auto">
            <a:xfrm>
              <a:off x="3096122" y="1768822"/>
              <a:ext cx="5921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34" name="Line 18"/>
            <p:cNvSpPr>
              <a:spLocks noChangeShapeType="1"/>
            </p:cNvSpPr>
            <p:nvPr/>
          </p:nvSpPr>
          <p:spPr bwMode="auto">
            <a:xfrm>
              <a:off x="1583234" y="2767360"/>
              <a:ext cx="790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35" name="Line 19"/>
            <p:cNvSpPr>
              <a:spLocks noChangeShapeType="1"/>
            </p:cNvSpPr>
            <p:nvPr/>
          </p:nvSpPr>
          <p:spPr bwMode="auto">
            <a:xfrm>
              <a:off x="2373809" y="3194397"/>
              <a:ext cx="525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36" name="Line 20"/>
            <p:cNvSpPr>
              <a:spLocks noChangeShapeType="1"/>
            </p:cNvSpPr>
            <p:nvPr/>
          </p:nvSpPr>
          <p:spPr bwMode="auto">
            <a:xfrm>
              <a:off x="3491409" y="2553047"/>
              <a:ext cx="4603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bg-BG"/>
            </a:p>
          </p:txBody>
        </p:sp>
        <p:sp>
          <p:nvSpPr>
            <p:cNvPr id="34856" name="Line 40"/>
            <p:cNvSpPr>
              <a:spLocks noChangeShapeType="1"/>
            </p:cNvSpPr>
            <p:nvPr/>
          </p:nvSpPr>
          <p:spPr bwMode="auto">
            <a:xfrm>
              <a:off x="1716584" y="1146522"/>
              <a:ext cx="304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</p:grpSp>
      <p:sp>
        <p:nvSpPr>
          <p:cNvPr id="40" name="Контейнер за номер на слайда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404664"/>
            <a:ext cx="7920880" cy="6248400"/>
          </a:xfrm>
        </p:spPr>
        <p:txBody>
          <a:bodyPr/>
          <a:lstStyle/>
          <a:p>
            <a:pPr algn="l">
              <a:lnSpc>
                <a:spcPct val="140000"/>
              </a:lnSpc>
            </a:pPr>
            <a:r>
              <a:rPr lang="en-US" sz="2200" dirty="0">
                <a:solidFill>
                  <a:schemeClr val="tx1"/>
                </a:solidFill>
              </a:rPr>
              <a:t>	</a:t>
            </a:r>
            <a:r>
              <a:rPr lang="bg-BG" sz="2200" dirty="0">
                <a:solidFill>
                  <a:schemeClr val="tx1"/>
                </a:solidFill>
              </a:rPr>
              <a:t>Пълната реализация на алгоритъма може да се види </a:t>
            </a:r>
            <a:r>
              <a:rPr lang="bg-BG" sz="2200" dirty="0"/>
              <a:t>в </a:t>
            </a:r>
            <a:r>
              <a:rPr lang="bg-BG" sz="2200" dirty="0">
                <a:solidFill>
                  <a:srgbClr val="C00000"/>
                </a:solidFill>
              </a:rPr>
              <a:t>Преслав Наков, Панайот </a:t>
            </a:r>
            <a:r>
              <a:rPr lang="bg-BG" sz="2200" dirty="0" err="1">
                <a:solidFill>
                  <a:srgbClr val="C00000"/>
                </a:solidFill>
              </a:rPr>
              <a:t>Добриков</a:t>
            </a:r>
            <a:r>
              <a:rPr lang="bg-BG" sz="2200" dirty="0">
                <a:solidFill>
                  <a:srgbClr val="C00000"/>
                </a:solidFill>
              </a:rPr>
              <a:t>. </a:t>
            </a:r>
            <a:r>
              <a:rPr lang="bg-BG" sz="2200" i="1" dirty="0">
                <a:solidFill>
                  <a:srgbClr val="C00000"/>
                </a:solidFill>
              </a:rPr>
              <a:t>Програмиране = ++Алгоритми</a:t>
            </a:r>
            <a:r>
              <a:rPr lang="bg-BG" sz="2200" dirty="0">
                <a:solidFill>
                  <a:srgbClr val="C00000"/>
                </a:solidFill>
              </a:rPr>
              <a:t>, </a:t>
            </a:r>
            <a:r>
              <a:rPr lang="en-US" sz="2200" dirty="0" err="1">
                <a:solidFill>
                  <a:srgbClr val="C00000"/>
                </a:solidFill>
              </a:rPr>
              <a:t>TopTeam</a:t>
            </a:r>
            <a:r>
              <a:rPr lang="en-US" sz="2200" dirty="0">
                <a:solidFill>
                  <a:srgbClr val="C00000"/>
                </a:solidFill>
              </a:rPr>
              <a:t> Co., </a:t>
            </a:r>
            <a:r>
              <a:rPr lang="bg-BG" sz="2200" dirty="0">
                <a:solidFill>
                  <a:srgbClr val="C00000"/>
                </a:solidFill>
              </a:rPr>
              <a:t>София,</a:t>
            </a:r>
            <a:r>
              <a:rPr lang="en-US" sz="2200" dirty="0">
                <a:solidFill>
                  <a:srgbClr val="C00000"/>
                </a:solidFill>
              </a:rPr>
              <a:t> 2002</a:t>
            </a:r>
            <a:r>
              <a:rPr lang="bg-BG" sz="2200" dirty="0">
                <a:solidFill>
                  <a:srgbClr val="C00000"/>
                </a:solidFill>
              </a:rPr>
              <a:t>.</a:t>
            </a:r>
            <a:r>
              <a:rPr lang="bg-BG" sz="2200" dirty="0">
                <a:solidFill>
                  <a:schemeClr val="accent2"/>
                </a:solidFill>
              </a:rPr>
              <a:t/>
            </a:r>
            <a:br>
              <a:rPr lang="bg-BG" sz="2200" dirty="0">
                <a:solidFill>
                  <a:schemeClr val="accent2"/>
                </a:solidFill>
              </a:rPr>
            </a:br>
            <a:r>
              <a:rPr lang="bg-BG" sz="1000" dirty="0">
                <a:solidFill>
                  <a:schemeClr val="accent2"/>
                </a:solidFill>
              </a:rPr>
              <a:t/>
            </a:r>
            <a:br>
              <a:rPr lang="bg-BG" sz="1000" dirty="0">
                <a:solidFill>
                  <a:schemeClr val="accent2"/>
                </a:solidFill>
              </a:rPr>
            </a:br>
            <a:r>
              <a:rPr lang="bg-BG" sz="2200" dirty="0">
                <a:solidFill>
                  <a:schemeClr val="accent2"/>
                </a:solidFill>
              </a:rPr>
              <a:t>	</a:t>
            </a:r>
            <a:r>
              <a:rPr lang="bg-BG" sz="2200" dirty="0">
                <a:solidFill>
                  <a:schemeClr val="tx1"/>
                </a:solidFill>
              </a:rPr>
              <a:t>Използването на разгледания подход дава много добри решения на такива класически задачи като: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1000" dirty="0">
                <a:solidFill>
                  <a:schemeClr val="tx1"/>
                </a:solidFill>
              </a:rPr>
              <a:t/>
            </a:r>
            <a:br>
              <a:rPr lang="bg-BG" sz="1000" dirty="0">
                <a:solidFill>
                  <a:schemeClr val="tx1"/>
                </a:solidFill>
              </a:rPr>
            </a:br>
            <a:r>
              <a:rPr lang="bg-BG" sz="1000" dirty="0">
                <a:solidFill>
                  <a:schemeClr val="tx1"/>
                </a:solidFill>
              </a:rPr>
              <a:t>	</a:t>
            </a:r>
            <a:r>
              <a:rPr lang="bg-BG" sz="2200" dirty="0">
                <a:solidFill>
                  <a:schemeClr val="tx1"/>
                </a:solidFill>
              </a:rPr>
              <a:t>- Минимално оцветяване на граф и дърво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	- Намиране на минимално покриващо дърво за даден граф </a:t>
            </a:r>
            <a:r>
              <a:rPr lang="en-US" sz="2200" b="1" i="1" dirty="0">
                <a:solidFill>
                  <a:schemeClr val="tx1"/>
                </a:solidFill>
              </a:rPr>
              <a:t>G</a:t>
            </a:r>
            <a:r>
              <a:rPr lang="bg-BG" sz="2200" b="1" i="1" dirty="0">
                <a:solidFill>
                  <a:schemeClr val="tx1"/>
                </a:solidFill>
              </a:rPr>
              <a:t/>
            </a:r>
            <a:br>
              <a:rPr lang="bg-BG" sz="2200" b="1" i="1" dirty="0">
                <a:solidFill>
                  <a:schemeClr val="tx1"/>
                </a:solidFill>
              </a:rPr>
            </a:br>
            <a:r>
              <a:rPr lang="bg-BG" sz="2200" b="1" i="1" dirty="0">
                <a:solidFill>
                  <a:schemeClr val="tx1"/>
                </a:solidFill>
              </a:rPr>
              <a:t>	</a:t>
            </a:r>
            <a:r>
              <a:rPr lang="bg-BG" sz="2200" dirty="0">
                <a:solidFill>
                  <a:schemeClr val="tx1"/>
                </a:solidFill>
              </a:rPr>
              <a:t>- Дробна задача за раницата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	- Съставяне на </a:t>
            </a:r>
            <a:r>
              <a:rPr lang="bg-BG" sz="2200" dirty="0" err="1">
                <a:solidFill>
                  <a:schemeClr val="tx1"/>
                </a:solidFill>
              </a:rPr>
              <a:t>процесорно</a:t>
            </a:r>
            <a:r>
              <a:rPr lang="bg-BG" sz="2200" dirty="0">
                <a:solidFill>
                  <a:schemeClr val="tx1"/>
                </a:solidFill>
              </a:rPr>
              <a:t> разписание 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	- Кодиране на данни (код на Грей)</a:t>
            </a:r>
            <a:br>
              <a:rPr lang="bg-BG" sz="2200" dirty="0">
                <a:solidFill>
                  <a:schemeClr val="tx1"/>
                </a:solidFill>
              </a:rPr>
            </a:br>
            <a:r>
              <a:rPr lang="bg-BG" sz="2200" dirty="0">
                <a:solidFill>
                  <a:schemeClr val="tx1"/>
                </a:solidFill>
              </a:rPr>
              <a:t>   					и много други.</a:t>
            </a: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xfrm>
            <a:off x="1066448" y="332656"/>
            <a:ext cx="7965008" cy="6248400"/>
          </a:xfrm>
          <a:noFill/>
          <a:ln/>
        </p:spPr>
        <p:txBody>
          <a:bodyPr>
            <a:normAutofit fontScale="90000"/>
          </a:bodyPr>
          <a:lstStyle/>
          <a:p>
            <a:pPr algn="l">
              <a:lnSpc>
                <a:spcPct val="110000"/>
              </a:lnSpc>
            </a:pPr>
            <a:r>
              <a:rPr lang="en-US" sz="28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bg-BG" sz="2800" i="1" u="sng" dirty="0">
                <a:solidFill>
                  <a:schemeClr val="tx1"/>
                </a:solidFill>
                <a:latin typeface="Arial" charset="0"/>
              </a:rPr>
              <a:t>Вероятностни алгоритми</a:t>
            </a:r>
            <a:r>
              <a:rPr lang="bg-BG" sz="28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800" dirty="0">
                <a:solidFill>
                  <a:schemeClr val="tx1"/>
                </a:solidFill>
                <a:latin typeface="Arial" charset="0"/>
              </a:rPr>
            </a:br>
            <a:r>
              <a:rPr lang="en-US" sz="1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1000" dirty="0">
                <a:solidFill>
                  <a:schemeClr val="tx1"/>
                </a:solidFill>
                <a:latin typeface="Arial" charset="0"/>
              </a:rPr>
            </a:br>
            <a:r>
              <a:rPr lang="bg-BG" sz="2400" dirty="0">
                <a:solidFill>
                  <a:schemeClr val="tx1"/>
                </a:solidFill>
                <a:latin typeface="Arial" charset="0"/>
              </a:rPr>
              <a:t>	За разлика от детерминираните алгоритми, които дават едни и същи резултати при даден комплект входни данни, </a:t>
            </a:r>
            <a:r>
              <a:rPr lang="bg-BG" sz="2400" i="1" dirty="0">
                <a:solidFill>
                  <a:schemeClr val="tx1"/>
                </a:solidFill>
                <a:latin typeface="Arial" charset="0"/>
              </a:rPr>
              <a:t>вероятностните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 алгоритми могат да имат различни варианти решения. Ако в един алгоритъм има случаен избор (обикновено това са различни генератори на случайни числа), тогава той се нарича </a:t>
            </a:r>
            <a:r>
              <a:rPr lang="bg-BG" sz="2400" i="1" dirty="0">
                <a:solidFill>
                  <a:schemeClr val="tx1"/>
                </a:solidFill>
                <a:latin typeface="Arial" charset="0"/>
              </a:rPr>
              <a:t>вероятностен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.</a:t>
            </a:r>
            <a:br>
              <a:rPr lang="bg-BG" sz="2400" dirty="0">
                <a:solidFill>
                  <a:schemeClr val="tx1"/>
                </a:solidFill>
                <a:latin typeface="Arial" charset="0"/>
              </a:rPr>
            </a:br>
            <a:r>
              <a:rPr lang="bg-BG" sz="2400" dirty="0">
                <a:solidFill>
                  <a:schemeClr val="tx1"/>
                </a:solidFill>
                <a:latin typeface="Arial" charset="0"/>
              </a:rPr>
              <a:t>	Съществуват различни видове вероятностни алгоритми. Най-често срещаните са генератори на случайни числа, представляващи алгоритми за формиране на поредици от случайни числа в зададен интервал при определен закон за разпределение. Всеки език за програмиране обикновено съдържа в своите стандартни библиотеки подобни програми-генератори (например, в С/С++ - </a:t>
            </a:r>
            <a:r>
              <a:rPr lang="en-US" sz="2400" dirty="0">
                <a:solidFill>
                  <a:schemeClr val="tx1"/>
                </a:solidFill>
                <a:latin typeface="Arial" charset="0"/>
              </a:rPr>
              <a:t>rand(), random() 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в </a:t>
            </a:r>
            <a:r>
              <a:rPr lang="bg-BG" sz="2400" dirty="0" err="1">
                <a:solidFill>
                  <a:schemeClr val="tx1"/>
                </a:solidFill>
                <a:latin typeface="Arial" charset="0"/>
              </a:rPr>
              <a:t>stdlib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.h). </a:t>
            </a:r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007096" y="609600"/>
            <a:ext cx="8136904" cy="6248400"/>
          </a:xfrm>
        </p:spPr>
        <p:txBody>
          <a:bodyPr>
            <a:normAutofit fontScale="90000"/>
          </a:bodyPr>
          <a:lstStyle/>
          <a:p>
            <a:pPr algn="l">
              <a:lnSpc>
                <a:spcPct val="110000"/>
              </a:lnSpc>
            </a:pPr>
            <a:r>
              <a:rPr lang="en-US" sz="24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Нека да разгледаме една примерна реализация на такъв генератор.</a:t>
            </a:r>
            <a:r>
              <a:rPr lang="en-US" sz="2400" dirty="0">
                <a:solidFill>
                  <a:schemeClr val="tx1"/>
                </a:solidFill>
                <a:latin typeface="Arial" charset="0"/>
              </a:rPr>
              <a:t>	</a:t>
            </a:r>
            <a:br>
              <a:rPr lang="en-US" sz="2400" dirty="0">
                <a:solidFill>
                  <a:schemeClr val="tx1"/>
                </a:solidFill>
                <a:latin typeface="Arial" charset="0"/>
              </a:rPr>
            </a:br>
            <a:r>
              <a:rPr lang="en-US" sz="24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Най-често се използват генератори на равномерно разпределени случайни числа в интервал </a:t>
            </a:r>
            <a:r>
              <a:rPr lang="bg-BG" sz="2800" b="1" dirty="0">
                <a:solidFill>
                  <a:schemeClr val="tx1"/>
                </a:solidFill>
                <a:latin typeface="Arial" charset="0"/>
              </a:rPr>
              <a:t>[0, 1]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 или в зададен целочислен интервал </a:t>
            </a:r>
            <a:r>
              <a:rPr lang="bg-BG" sz="2800" b="1" dirty="0">
                <a:solidFill>
                  <a:schemeClr val="tx1"/>
                </a:solidFill>
                <a:latin typeface="Arial" charset="0"/>
              </a:rPr>
              <a:t>[0, M-1].</a:t>
            </a:r>
            <a:r>
              <a:rPr lang="bg-BG" sz="1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1000" dirty="0">
                <a:solidFill>
                  <a:schemeClr val="tx1"/>
                </a:solidFill>
                <a:latin typeface="Arial" charset="0"/>
              </a:rPr>
            </a:br>
            <a:r>
              <a:rPr lang="en-US" sz="1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1000" dirty="0">
                <a:solidFill>
                  <a:schemeClr val="tx1"/>
                </a:solidFill>
                <a:latin typeface="Arial" charset="0"/>
              </a:rPr>
            </a:br>
            <a:r>
              <a:rPr lang="bg-BG" sz="2400" dirty="0">
                <a:solidFill>
                  <a:schemeClr val="tx1"/>
                </a:solidFill>
                <a:latin typeface="Arial" charset="0"/>
              </a:rPr>
              <a:t>	Една често използвана формула е</a:t>
            </a:r>
            <a:br>
              <a:rPr lang="bg-BG" sz="2400" dirty="0">
                <a:solidFill>
                  <a:schemeClr val="tx1"/>
                </a:solidFill>
                <a:latin typeface="Arial" charset="0"/>
              </a:rPr>
            </a:br>
            <a:r>
              <a:rPr lang="en-US" sz="24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2400" dirty="0">
                <a:solidFill>
                  <a:schemeClr val="tx1"/>
                </a:solidFill>
                <a:latin typeface="Arial" charset="0"/>
              </a:rPr>
            </a:br>
            <a:r>
              <a:rPr lang="en-US" sz="2400" dirty="0">
                <a:solidFill>
                  <a:schemeClr val="tx1"/>
                </a:solidFill>
                <a:latin typeface="Arial" charset="0"/>
              </a:rPr>
              <a:t>			</a:t>
            </a:r>
            <a:r>
              <a:rPr lang="bg-BG" sz="2800" b="1" dirty="0" err="1">
                <a:solidFill>
                  <a:schemeClr val="tx1"/>
                </a:solidFill>
                <a:latin typeface="Arial" charset="0"/>
              </a:rPr>
              <a:t>y</a:t>
            </a:r>
            <a:r>
              <a:rPr lang="bg-BG" sz="2800" b="1" baseline="-25000" dirty="0" err="1">
                <a:solidFill>
                  <a:schemeClr val="tx1"/>
                </a:solidFill>
                <a:latin typeface="Arial" charset="0"/>
              </a:rPr>
              <a:t>i</a:t>
            </a:r>
            <a:r>
              <a:rPr lang="bg-BG" sz="2800" b="1" baseline="-250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bg-BG" sz="2800" b="1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800" b="1" dirty="0">
                <a:solidFill>
                  <a:schemeClr val="tx1"/>
                </a:solidFill>
                <a:latin typeface="Arial" charset="0"/>
              </a:rPr>
              <a:t>= (a*y</a:t>
            </a:r>
            <a:r>
              <a:rPr lang="en-US" sz="2800" b="1" baseline="-25000" dirty="0">
                <a:solidFill>
                  <a:schemeClr val="tx1"/>
                </a:solidFill>
                <a:latin typeface="Arial" charset="0"/>
              </a:rPr>
              <a:t>i-1</a:t>
            </a:r>
            <a:r>
              <a:rPr lang="en-US" sz="2800" b="1" dirty="0">
                <a:solidFill>
                  <a:schemeClr val="tx1"/>
                </a:solidFill>
                <a:latin typeface="Arial" charset="0"/>
              </a:rPr>
              <a:t>+c) % m</a:t>
            </a:r>
            <a:br>
              <a:rPr lang="en-US" sz="2800" b="1" dirty="0">
                <a:solidFill>
                  <a:schemeClr val="tx1"/>
                </a:solidFill>
                <a:latin typeface="Arial" charset="0"/>
              </a:rPr>
            </a:br>
            <a:r>
              <a:rPr lang="en-US" sz="24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2400" dirty="0">
                <a:solidFill>
                  <a:schemeClr val="tx1"/>
                </a:solidFill>
                <a:latin typeface="Arial" charset="0"/>
              </a:rPr>
            </a:br>
            <a:r>
              <a:rPr lang="en-US" sz="24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където </a:t>
            </a:r>
            <a:r>
              <a:rPr lang="bg-BG" sz="2800" b="1" dirty="0">
                <a:solidFill>
                  <a:schemeClr val="tx1"/>
                </a:solidFill>
                <a:latin typeface="Arial" charset="0"/>
              </a:rPr>
              <a:t>а</a:t>
            </a:r>
            <a:r>
              <a:rPr lang="bg-BG" sz="28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и </a:t>
            </a:r>
            <a:r>
              <a:rPr lang="bg-BG" sz="2800" b="1" dirty="0">
                <a:solidFill>
                  <a:schemeClr val="tx1"/>
                </a:solidFill>
                <a:latin typeface="Arial" charset="0"/>
              </a:rPr>
              <a:t>с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 са подходящо подбрани константи, </a:t>
            </a:r>
            <a:r>
              <a:rPr lang="bg-BG" sz="2800" b="1" dirty="0" err="1">
                <a:solidFill>
                  <a:schemeClr val="tx1"/>
                </a:solidFill>
                <a:latin typeface="Arial" charset="0"/>
              </a:rPr>
              <a:t>y</a:t>
            </a:r>
            <a:r>
              <a:rPr lang="bg-BG" sz="2800" b="1" baseline="-25000" dirty="0" err="1">
                <a:solidFill>
                  <a:schemeClr val="tx1"/>
                </a:solidFill>
                <a:latin typeface="Arial" charset="0"/>
              </a:rPr>
              <a:t>о</a:t>
            </a:r>
            <a:r>
              <a:rPr lang="bg-BG" sz="2400" baseline="-250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е началната стойност, която се задава от програмиста/потребителя, а получаваните стойности </a:t>
            </a:r>
            <a:r>
              <a:rPr lang="bg-BG" sz="2800" b="1" dirty="0">
                <a:solidFill>
                  <a:schemeClr val="tx1"/>
                </a:solidFill>
                <a:latin typeface="Arial" charset="0"/>
              </a:rPr>
              <a:t>y</a:t>
            </a:r>
            <a:r>
              <a:rPr lang="bg-BG" sz="2800" b="1" baseline="-25000" dirty="0">
                <a:solidFill>
                  <a:schemeClr val="tx1"/>
                </a:solidFill>
                <a:latin typeface="Arial" charset="0"/>
              </a:rPr>
              <a:t>1</a:t>
            </a:r>
            <a:r>
              <a:rPr lang="bg-BG" sz="2800" b="1" dirty="0">
                <a:solidFill>
                  <a:schemeClr val="tx1"/>
                </a:solidFill>
                <a:latin typeface="Arial" charset="0"/>
              </a:rPr>
              <a:t> y</a:t>
            </a:r>
            <a:r>
              <a:rPr lang="bg-BG" sz="2800" b="1" baseline="-25000" dirty="0">
                <a:solidFill>
                  <a:schemeClr val="tx1"/>
                </a:solidFill>
                <a:latin typeface="Arial" charset="0"/>
              </a:rPr>
              <a:t>2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  и т. н. са поредните случайни числа в интервала </a:t>
            </a:r>
            <a:r>
              <a:rPr lang="bg-BG" sz="2800" b="1" dirty="0">
                <a:solidFill>
                  <a:schemeClr val="tx1"/>
                </a:solidFill>
                <a:latin typeface="Arial" charset="0"/>
              </a:rPr>
              <a:t>[0, m]</a:t>
            </a:r>
            <a:r>
              <a:rPr lang="en-US" sz="2800" b="1" dirty="0">
                <a:solidFill>
                  <a:schemeClr val="tx1"/>
                </a:solidFill>
                <a:latin typeface="Arial" charset="0"/>
              </a:rPr>
              <a:t>.</a:t>
            </a:r>
            <a:br>
              <a:rPr lang="en-US" sz="2800" b="1" dirty="0">
                <a:solidFill>
                  <a:schemeClr val="tx1"/>
                </a:solidFill>
                <a:latin typeface="Arial" charset="0"/>
              </a:rPr>
            </a:br>
            <a:endParaRPr lang="en-US" sz="2800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260648"/>
            <a:ext cx="7651576" cy="6400800"/>
          </a:xfrm>
        </p:spPr>
        <p:txBody>
          <a:bodyPr>
            <a:normAutofit fontScale="90000"/>
          </a:bodyPr>
          <a:lstStyle/>
          <a:p>
            <a:r>
              <a:rPr lang="bg-BG" sz="2000" dirty="0">
                <a:solidFill>
                  <a:schemeClr val="tx1"/>
                </a:solidFill>
              </a:rPr>
              <a:t>Реализация на генератор на равномерно разпределени случайни числа:</a:t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8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800" dirty="0">
                <a:solidFill>
                  <a:schemeClr val="tx1"/>
                </a:solidFill>
                <a:latin typeface="Arial" charset="0"/>
              </a:rPr>
            </a:br>
            <a:r>
              <a:rPr lang="bg-BG" sz="1800" dirty="0">
                <a:latin typeface="Courier New" pitchFamily="49" charset="-52"/>
              </a:rPr>
              <a:t>#</a:t>
            </a:r>
            <a:r>
              <a:rPr lang="bg-BG" sz="1800" dirty="0" err="1">
                <a:latin typeface="Courier New" pitchFamily="49" charset="-52"/>
              </a:rPr>
              <a:t>include</a:t>
            </a:r>
            <a:r>
              <a:rPr lang="bg-BG" sz="1800" dirty="0">
                <a:latin typeface="Courier New" pitchFamily="49" charset="-52"/>
              </a:rPr>
              <a:t> &lt;</a:t>
            </a:r>
            <a:r>
              <a:rPr lang="bg-BG" sz="1800" dirty="0" err="1" smtClean="0">
                <a:latin typeface="Courier New" pitchFamily="49" charset="-52"/>
              </a:rPr>
              <a:t>iostream</a:t>
            </a:r>
            <a:r>
              <a:rPr lang="bg-BG" sz="1800" dirty="0" smtClean="0">
                <a:latin typeface="Courier New" pitchFamily="49" charset="-52"/>
              </a:rPr>
              <a:t>&gt;</a:t>
            </a:r>
            <a:r>
              <a:rPr lang="en-US" sz="1800" dirty="0" smtClean="0">
                <a:latin typeface="Courier New" pitchFamily="49" charset="-52"/>
              </a:rPr>
              <a:t/>
            </a:r>
            <a:br>
              <a:rPr lang="en-US" sz="1800" dirty="0" smtClean="0">
                <a:latin typeface="Courier New" pitchFamily="49" charset="-52"/>
              </a:rPr>
            </a:br>
            <a:r>
              <a:rPr lang="en-US" sz="1800" dirty="0" smtClean="0">
                <a:latin typeface="Courier New" pitchFamily="49" charset="-52"/>
              </a:rPr>
              <a:t>using namespace std;</a:t>
            </a:r>
            <a:r>
              <a:rPr lang="bg-BG" sz="1800" dirty="0">
                <a:latin typeface="Courier New" pitchFamily="49" charset="-52"/>
              </a:rPr>
              <a:t/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#</a:t>
            </a:r>
            <a:r>
              <a:rPr lang="bg-BG" sz="1800" dirty="0" err="1">
                <a:latin typeface="Courier New" pitchFamily="49" charset="-52"/>
              </a:rPr>
              <a:t>include</a:t>
            </a:r>
            <a:r>
              <a:rPr lang="bg-BG" sz="1800" dirty="0">
                <a:latin typeface="Courier New" pitchFamily="49" charset="-52"/>
              </a:rPr>
              <a:t> &lt;</a:t>
            </a:r>
            <a:r>
              <a:rPr lang="bg-BG" sz="1800" dirty="0" err="1">
                <a:latin typeface="Courier New" pitchFamily="49" charset="-52"/>
              </a:rPr>
              <a:t>conio</a:t>
            </a:r>
            <a:r>
              <a:rPr lang="bg-BG" sz="1800" dirty="0">
                <a:latin typeface="Courier New" pitchFamily="49" charset="-52"/>
              </a:rPr>
              <a:t>.h&gt;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 err="1">
                <a:latin typeface="Courier New" pitchFamily="49" charset="-52"/>
              </a:rPr>
              <a:t>char</a:t>
            </a:r>
            <a:r>
              <a:rPr lang="bg-BG" sz="1800" dirty="0">
                <a:latin typeface="Courier New" pitchFamily="49" charset="-52"/>
              </a:rPr>
              <a:t> R;	</a:t>
            </a:r>
            <a:r>
              <a:rPr lang="en-US" sz="1800" dirty="0" smtClean="0">
                <a:latin typeface="Courier New" pitchFamily="49" charset="-52"/>
              </a:rPr>
              <a:t>	</a:t>
            </a:r>
            <a:r>
              <a:rPr lang="bg-BG" sz="1800" dirty="0" smtClean="0">
                <a:latin typeface="Courier New" pitchFamily="49" charset="-52"/>
              </a:rPr>
              <a:t>//</a:t>
            </a:r>
            <a:r>
              <a:rPr lang="bg-BG" sz="1800" dirty="0">
                <a:latin typeface="Courier New" pitchFamily="49" charset="-52"/>
              </a:rPr>
              <a:t>работна променлива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 err="1">
                <a:latin typeface="Courier New" pitchFamily="49" charset="-52"/>
              </a:rPr>
              <a:t>int</a:t>
            </a:r>
            <a:r>
              <a:rPr lang="bg-BG" sz="1800" dirty="0">
                <a:latin typeface="Courier New" pitchFamily="49" charset="-52"/>
              </a:rPr>
              <a:t> m,	</a:t>
            </a:r>
            <a:r>
              <a:rPr lang="en-US" sz="1800" dirty="0" smtClean="0">
                <a:latin typeface="Courier New" pitchFamily="49" charset="-52"/>
              </a:rPr>
              <a:t>	</a:t>
            </a:r>
            <a:r>
              <a:rPr lang="bg-BG" sz="1800" dirty="0" smtClean="0">
                <a:latin typeface="Courier New" pitchFamily="49" charset="-52"/>
              </a:rPr>
              <a:t>//</a:t>
            </a:r>
            <a:r>
              <a:rPr lang="bg-BG" sz="1800" dirty="0">
                <a:latin typeface="Courier New" pitchFamily="49" charset="-52"/>
              </a:rPr>
              <a:t>горната граница на интервала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    n,	</a:t>
            </a:r>
            <a:r>
              <a:rPr lang="en-US" sz="1800" dirty="0" smtClean="0">
                <a:latin typeface="Courier New" pitchFamily="49" charset="-52"/>
              </a:rPr>
              <a:t>	</a:t>
            </a:r>
            <a:r>
              <a:rPr lang="bg-BG" sz="1800" dirty="0" smtClean="0">
                <a:latin typeface="Courier New" pitchFamily="49" charset="-52"/>
              </a:rPr>
              <a:t>//</a:t>
            </a:r>
            <a:r>
              <a:rPr lang="bg-BG" sz="1800" dirty="0">
                <a:latin typeface="Courier New" pitchFamily="49" charset="-52"/>
              </a:rPr>
              <a:t>броят на числата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    a, c;	//константи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 err="1">
                <a:latin typeface="Courier New" pitchFamily="49" charset="-52"/>
              </a:rPr>
              <a:t>void</a:t>
            </a:r>
            <a:r>
              <a:rPr lang="bg-BG" sz="1800" dirty="0">
                <a:latin typeface="Courier New" pitchFamily="49" charset="-52"/>
              </a:rPr>
              <a:t> </a:t>
            </a:r>
            <a:r>
              <a:rPr lang="bg-BG" sz="1800" dirty="0" err="1">
                <a:latin typeface="Courier New" pitchFamily="49" charset="-52"/>
              </a:rPr>
              <a:t>main</a:t>
            </a:r>
            <a:r>
              <a:rPr lang="bg-BG" sz="1800" dirty="0">
                <a:latin typeface="Courier New" pitchFamily="49" charset="-52"/>
              </a:rPr>
              <a:t> ()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{ </a:t>
            </a:r>
            <a:r>
              <a:rPr lang="bg-BG" sz="1800" dirty="0" err="1">
                <a:latin typeface="Courier New" pitchFamily="49" charset="-52"/>
              </a:rPr>
              <a:t>int</a:t>
            </a:r>
            <a:r>
              <a:rPr lang="bg-BG" sz="1800" dirty="0">
                <a:latin typeface="Courier New" pitchFamily="49" charset="-52"/>
              </a:rPr>
              <a:t>  y=1</a:t>
            </a:r>
            <a:r>
              <a:rPr lang="bg-BG" sz="1800" dirty="0" smtClean="0">
                <a:latin typeface="Courier New" pitchFamily="49" charset="-52"/>
              </a:rPr>
              <a:t>;</a:t>
            </a:r>
            <a:r>
              <a:rPr lang="en-US" sz="1800" dirty="0" smtClean="0">
                <a:latin typeface="Courier New" pitchFamily="49" charset="-52"/>
              </a:rPr>
              <a:t>	</a:t>
            </a:r>
            <a:r>
              <a:rPr lang="bg-BG" sz="1800" dirty="0" smtClean="0">
                <a:latin typeface="Courier New" pitchFamily="49" charset="-52"/>
              </a:rPr>
              <a:t>//</a:t>
            </a:r>
            <a:r>
              <a:rPr lang="bg-BG" sz="1800" dirty="0">
                <a:latin typeface="Courier New" pitchFamily="49" charset="-52"/>
              </a:rPr>
              <a:t>начална стойност на y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  </a:t>
            </a:r>
            <a:r>
              <a:rPr lang="bg-BG" sz="1800" dirty="0" err="1">
                <a:latin typeface="Courier New" pitchFamily="49" charset="-52"/>
              </a:rPr>
              <a:t>cout</a:t>
            </a:r>
            <a:r>
              <a:rPr lang="bg-BG" sz="1800" dirty="0">
                <a:latin typeface="Courier New" pitchFamily="49" charset="-52"/>
              </a:rPr>
              <a:t>&lt;&lt;"\</a:t>
            </a:r>
            <a:r>
              <a:rPr lang="bg-BG" sz="1800" dirty="0" err="1">
                <a:latin typeface="Courier New" pitchFamily="49" charset="-52"/>
              </a:rPr>
              <a:t>nЗадайте</a:t>
            </a:r>
            <a:r>
              <a:rPr lang="bg-BG" sz="1800" dirty="0">
                <a:latin typeface="Courier New" pitchFamily="49" charset="-52"/>
              </a:rPr>
              <a:t> дължина на поредицата: ";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  </a:t>
            </a:r>
            <a:r>
              <a:rPr lang="bg-BG" sz="1800" dirty="0" err="1">
                <a:latin typeface="Courier New" pitchFamily="49" charset="-52"/>
              </a:rPr>
              <a:t>cin</a:t>
            </a:r>
            <a:r>
              <a:rPr lang="bg-BG" sz="1800" dirty="0">
                <a:latin typeface="Courier New" pitchFamily="49" charset="-52"/>
              </a:rPr>
              <a:t>&gt;&gt;n;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  </a:t>
            </a:r>
            <a:r>
              <a:rPr lang="bg-BG" sz="1800" dirty="0" err="1">
                <a:latin typeface="Courier New" pitchFamily="49" charset="-52"/>
              </a:rPr>
              <a:t>cout</a:t>
            </a:r>
            <a:r>
              <a:rPr lang="bg-BG" sz="1800" dirty="0">
                <a:latin typeface="Courier New" pitchFamily="49" charset="-52"/>
              </a:rPr>
              <a:t>&lt;&lt;"\</a:t>
            </a:r>
            <a:r>
              <a:rPr lang="bg-BG" sz="1800" dirty="0" err="1">
                <a:latin typeface="Courier New" pitchFamily="49" charset="-52"/>
              </a:rPr>
              <a:t>nЗадайте</a:t>
            </a:r>
            <a:r>
              <a:rPr lang="bg-BG" sz="1800" dirty="0">
                <a:latin typeface="Courier New" pitchFamily="49" charset="-52"/>
              </a:rPr>
              <a:t> m:";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  </a:t>
            </a:r>
            <a:r>
              <a:rPr lang="bg-BG" sz="1800" dirty="0" err="1">
                <a:latin typeface="Courier New" pitchFamily="49" charset="-52"/>
              </a:rPr>
              <a:t>cin</a:t>
            </a:r>
            <a:r>
              <a:rPr lang="bg-BG" sz="1800" dirty="0">
                <a:latin typeface="Courier New" pitchFamily="49" charset="-52"/>
              </a:rPr>
              <a:t>&gt;&gt;m;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  </a:t>
            </a:r>
            <a:r>
              <a:rPr lang="bg-BG" sz="1800" dirty="0" err="1">
                <a:latin typeface="Courier New" pitchFamily="49" charset="-52"/>
              </a:rPr>
              <a:t>cout</a:t>
            </a:r>
            <a:r>
              <a:rPr lang="bg-BG" sz="1800" dirty="0">
                <a:latin typeface="Courier New" pitchFamily="49" charset="-52"/>
              </a:rPr>
              <a:t>&lt;&lt;"\</a:t>
            </a:r>
            <a:r>
              <a:rPr lang="bg-BG" sz="1800" dirty="0" err="1">
                <a:latin typeface="Courier New" pitchFamily="49" charset="-52"/>
              </a:rPr>
              <a:t>nКонстанта</a:t>
            </a:r>
            <a:r>
              <a:rPr lang="bg-BG" sz="1800" dirty="0">
                <a:latin typeface="Courier New" pitchFamily="49" charset="-52"/>
              </a:rPr>
              <a:t> a:"; </a:t>
            </a:r>
            <a:r>
              <a:rPr lang="bg-BG" sz="1800" dirty="0" err="1">
                <a:latin typeface="Courier New" pitchFamily="49" charset="-52"/>
              </a:rPr>
              <a:t>cin</a:t>
            </a:r>
            <a:r>
              <a:rPr lang="bg-BG" sz="1800" dirty="0">
                <a:latin typeface="Courier New" pitchFamily="49" charset="-52"/>
              </a:rPr>
              <a:t>&gt;&gt;a;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  </a:t>
            </a:r>
            <a:r>
              <a:rPr lang="bg-BG" sz="1800" dirty="0" err="1">
                <a:latin typeface="Courier New" pitchFamily="49" charset="-52"/>
              </a:rPr>
              <a:t>cout</a:t>
            </a:r>
            <a:r>
              <a:rPr lang="bg-BG" sz="1800" dirty="0">
                <a:latin typeface="Courier New" pitchFamily="49" charset="-52"/>
              </a:rPr>
              <a:t>&lt;&lt;"\</a:t>
            </a:r>
            <a:r>
              <a:rPr lang="bg-BG" sz="1800" dirty="0" err="1">
                <a:latin typeface="Courier New" pitchFamily="49" charset="-52"/>
              </a:rPr>
              <a:t>nКонстанта</a:t>
            </a:r>
            <a:r>
              <a:rPr lang="bg-BG" sz="1800" dirty="0">
                <a:latin typeface="Courier New" pitchFamily="49" charset="-52"/>
              </a:rPr>
              <a:t> c:"; </a:t>
            </a:r>
            <a:r>
              <a:rPr lang="bg-BG" sz="1800" dirty="0" err="1">
                <a:latin typeface="Courier New" pitchFamily="49" charset="-52"/>
              </a:rPr>
              <a:t>cin</a:t>
            </a:r>
            <a:r>
              <a:rPr lang="bg-BG" sz="1800" dirty="0">
                <a:latin typeface="Courier New" pitchFamily="49" charset="-52"/>
              </a:rPr>
              <a:t>&gt;&gt;c;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  </a:t>
            </a:r>
            <a:r>
              <a:rPr lang="bg-BG" sz="1800" dirty="0" err="1">
                <a:latin typeface="Courier New" pitchFamily="49" charset="-52"/>
              </a:rPr>
              <a:t>cout</a:t>
            </a:r>
            <a:r>
              <a:rPr lang="bg-BG" sz="1800" dirty="0">
                <a:latin typeface="Courier New" pitchFamily="49" charset="-52"/>
              </a:rPr>
              <a:t>&lt;&lt;"\</a:t>
            </a:r>
            <a:r>
              <a:rPr lang="bg-BG" sz="1800" dirty="0" err="1">
                <a:latin typeface="Courier New" pitchFamily="49" charset="-52"/>
              </a:rPr>
              <a:t>ny</a:t>
            </a:r>
            <a:r>
              <a:rPr lang="bg-BG" sz="1800" dirty="0">
                <a:latin typeface="Courier New" pitchFamily="49" charset="-52"/>
              </a:rPr>
              <a:t>=1. Искате ли друга стойност на y (Y/N)?";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  </a:t>
            </a:r>
            <a:r>
              <a:rPr lang="bg-BG" sz="1800" dirty="0" err="1">
                <a:latin typeface="Courier New" pitchFamily="49" charset="-52"/>
              </a:rPr>
              <a:t>cin</a:t>
            </a:r>
            <a:r>
              <a:rPr lang="bg-BG" sz="1800" dirty="0">
                <a:latin typeface="Courier New" pitchFamily="49" charset="-52"/>
              </a:rPr>
              <a:t>&gt;&gt;R;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  </a:t>
            </a:r>
            <a:r>
              <a:rPr lang="bg-BG" sz="1800" dirty="0" err="1">
                <a:latin typeface="Courier New" pitchFamily="49" charset="-52"/>
              </a:rPr>
              <a:t>if</a:t>
            </a:r>
            <a:r>
              <a:rPr lang="bg-BG" sz="1800" dirty="0">
                <a:latin typeface="Courier New" pitchFamily="49" charset="-52"/>
              </a:rPr>
              <a:t> (R=='</a:t>
            </a:r>
            <a:r>
              <a:rPr lang="bg-BG" sz="1800" dirty="0" err="1">
                <a:latin typeface="Courier New" pitchFamily="49" charset="-52"/>
              </a:rPr>
              <a:t>y'||R</a:t>
            </a:r>
            <a:r>
              <a:rPr lang="bg-BG" sz="1800" dirty="0">
                <a:latin typeface="Courier New" pitchFamily="49" charset="-52"/>
              </a:rPr>
              <a:t>=='Y')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     { </a:t>
            </a:r>
            <a:r>
              <a:rPr lang="bg-BG" sz="1800" dirty="0" err="1">
                <a:latin typeface="Courier New" pitchFamily="49" charset="-52"/>
              </a:rPr>
              <a:t>cout</a:t>
            </a:r>
            <a:r>
              <a:rPr lang="bg-BG" sz="1800" dirty="0">
                <a:latin typeface="Courier New" pitchFamily="49" charset="-52"/>
              </a:rPr>
              <a:t>&lt;&lt;"\</a:t>
            </a:r>
            <a:r>
              <a:rPr lang="bg-BG" sz="1800" dirty="0" err="1">
                <a:latin typeface="Courier New" pitchFamily="49" charset="-52"/>
              </a:rPr>
              <a:t>nY</a:t>
            </a:r>
            <a:r>
              <a:rPr lang="bg-BG" sz="1800" dirty="0">
                <a:latin typeface="Courier New" pitchFamily="49" charset="-52"/>
              </a:rPr>
              <a:t>="; </a:t>
            </a:r>
            <a:r>
              <a:rPr lang="bg-BG" sz="1800" dirty="0" err="1">
                <a:latin typeface="Courier New" pitchFamily="49" charset="-52"/>
              </a:rPr>
              <a:t>cin</a:t>
            </a:r>
            <a:r>
              <a:rPr lang="bg-BG" sz="1800" dirty="0">
                <a:latin typeface="Courier New" pitchFamily="49" charset="-52"/>
              </a:rPr>
              <a:t>&gt;&gt;y;}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  </a:t>
            </a:r>
            <a:r>
              <a:rPr lang="bg-BG" sz="1800" dirty="0" err="1">
                <a:latin typeface="Courier New" pitchFamily="49" charset="-52"/>
              </a:rPr>
              <a:t>for</a:t>
            </a:r>
            <a:r>
              <a:rPr lang="bg-BG" sz="1800" dirty="0">
                <a:latin typeface="Courier New" pitchFamily="49" charset="-52"/>
              </a:rPr>
              <a:t> (</a:t>
            </a:r>
            <a:r>
              <a:rPr lang="bg-BG" sz="1800" dirty="0" err="1">
                <a:latin typeface="Courier New" pitchFamily="49" charset="-52"/>
              </a:rPr>
              <a:t>int</a:t>
            </a:r>
            <a:r>
              <a:rPr lang="bg-BG" sz="1800" dirty="0">
                <a:latin typeface="Courier New" pitchFamily="49" charset="-52"/>
              </a:rPr>
              <a:t> i=0; i&lt;n; </a:t>
            </a:r>
            <a:r>
              <a:rPr lang="bg-BG" sz="1800" dirty="0" err="1">
                <a:latin typeface="Courier New" pitchFamily="49" charset="-52"/>
              </a:rPr>
              <a:t>i++</a:t>
            </a:r>
            <a:r>
              <a:rPr lang="bg-BG" sz="1800" dirty="0">
                <a:latin typeface="Courier New" pitchFamily="49" charset="-52"/>
              </a:rPr>
              <a:t>)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    { y=(a*</a:t>
            </a:r>
            <a:r>
              <a:rPr lang="bg-BG" sz="1800" dirty="0" err="1">
                <a:latin typeface="Courier New" pitchFamily="49" charset="-52"/>
              </a:rPr>
              <a:t>y+c</a:t>
            </a:r>
            <a:r>
              <a:rPr lang="bg-BG" sz="1800" dirty="0">
                <a:latin typeface="Courier New" pitchFamily="49" charset="-52"/>
              </a:rPr>
              <a:t>)%m; </a:t>
            </a:r>
            <a:r>
              <a:rPr lang="bg-BG" sz="1800" dirty="0" err="1">
                <a:latin typeface="Courier New" pitchFamily="49" charset="-52"/>
              </a:rPr>
              <a:t>cout</a:t>
            </a:r>
            <a:r>
              <a:rPr lang="bg-BG" sz="1800" dirty="0">
                <a:latin typeface="Courier New" pitchFamily="49" charset="-52"/>
              </a:rPr>
              <a:t>&lt;&lt;"\</a:t>
            </a:r>
            <a:r>
              <a:rPr lang="bg-BG" sz="1800" dirty="0" err="1">
                <a:latin typeface="Courier New" pitchFamily="49" charset="-52"/>
              </a:rPr>
              <a:t>nrandom</a:t>
            </a:r>
            <a:r>
              <a:rPr lang="bg-BG" sz="1800" dirty="0">
                <a:latin typeface="Courier New" pitchFamily="49" charset="-52"/>
              </a:rPr>
              <a:t>["&lt;&lt;i&lt;&lt;"]="&lt;&lt;y;}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1800" dirty="0">
                <a:latin typeface="Courier New" pitchFamily="49" charset="-52"/>
              </a:rPr>
              <a:t>}</a:t>
            </a:r>
            <a:br>
              <a:rPr lang="bg-BG" sz="1800" dirty="0">
                <a:latin typeface="Courier New" pitchFamily="49" charset="-52"/>
              </a:rPr>
            </a:br>
            <a:r>
              <a:rPr lang="bg-BG" sz="2000" dirty="0">
                <a:solidFill>
                  <a:schemeClr val="tx1"/>
                </a:solidFill>
              </a:rPr>
              <a:t>Получените числа са </a:t>
            </a:r>
            <a:r>
              <a:rPr lang="bg-BG" sz="2000" dirty="0" err="1">
                <a:solidFill>
                  <a:schemeClr val="tx1"/>
                </a:solidFill>
              </a:rPr>
              <a:t>псевдослучайни</a:t>
            </a:r>
            <a:r>
              <a:rPr lang="bg-BG" sz="2000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929396" y="457200"/>
            <a:ext cx="8367464" cy="6400800"/>
          </a:xfrm>
        </p:spPr>
        <p:txBody>
          <a:bodyPr/>
          <a:lstStyle/>
          <a:p>
            <a:pPr algn="l"/>
            <a:r>
              <a:rPr lang="bg-BG" sz="2600" u="sng" dirty="0"/>
              <a:t>Видове вероятностни алгоритми</a:t>
            </a:r>
            <a:r>
              <a:rPr lang="bg-BG" sz="2600" dirty="0"/>
              <a:t>:</a:t>
            </a:r>
            <a:br>
              <a:rPr lang="bg-BG" sz="2600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>- </a:t>
            </a:r>
            <a:r>
              <a:rPr lang="bg-BG" sz="2400" i="1" dirty="0"/>
              <a:t>Числени вероятностни алгоритми</a:t>
            </a: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>- </a:t>
            </a:r>
            <a:r>
              <a:rPr lang="bg-BG" sz="2400" i="1" dirty="0"/>
              <a:t>Алгоритми Монте Карло</a:t>
            </a:r>
            <a:br>
              <a:rPr lang="bg-BG" sz="2400" i="1" dirty="0"/>
            </a:br>
            <a:r>
              <a:rPr lang="bg-BG" sz="2400" i="1" dirty="0"/>
              <a:t>- Алгоритми Лас </a:t>
            </a:r>
            <a:r>
              <a:rPr lang="bg-BG" sz="2400" i="1" dirty="0" err="1"/>
              <a:t>Вегас</a:t>
            </a:r>
            <a:r>
              <a:rPr lang="bg-BG" sz="2400" i="1" dirty="0"/>
              <a:t/>
            </a:r>
            <a:br>
              <a:rPr lang="bg-BG" sz="2400" i="1" dirty="0"/>
            </a:br>
            <a:r>
              <a:rPr lang="bg-BG" sz="2400" i="1" dirty="0"/>
              <a:t>- Алгоритми </a:t>
            </a:r>
            <a:r>
              <a:rPr lang="bg-BG" sz="2400" i="1" dirty="0" err="1"/>
              <a:t>Шеруд</a:t>
            </a:r>
            <a:r>
              <a:rPr lang="bg-BG" sz="2400" i="1" dirty="0"/>
              <a:t/>
            </a:r>
            <a:br>
              <a:rPr lang="bg-BG" sz="2400" i="1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>1. Числен вероятностен алгоритъм за определяне на </a:t>
            </a:r>
            <a:r>
              <a:rPr lang="bg-BG" sz="3200" b="1" i="1" dirty="0">
                <a:sym typeface="Symbol" pitchFamily="18" charset="2"/>
              </a:rPr>
              <a:t></a:t>
            </a:r>
            <a:r>
              <a:rPr lang="bg-BG" sz="2400" b="1" dirty="0"/>
              <a:t>¶</a:t>
            </a: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>	Лицето </a:t>
            </a:r>
            <a:r>
              <a:rPr lang="en-US" sz="2400" b="1" i="1" dirty="0"/>
              <a:t>S</a:t>
            </a:r>
            <a:r>
              <a:rPr lang="en-US" sz="2400" dirty="0"/>
              <a:t> </a:t>
            </a:r>
            <a:r>
              <a:rPr lang="bg-BG" sz="2400" dirty="0"/>
              <a:t>на окръжност с радиус </a:t>
            </a:r>
            <a:r>
              <a:rPr lang="en-US" sz="2400" b="1" i="1" dirty="0"/>
              <a:t>r</a:t>
            </a:r>
            <a:r>
              <a:rPr lang="en-US" sz="2400" dirty="0"/>
              <a:t> </a:t>
            </a:r>
            <a:r>
              <a:rPr lang="bg-BG" sz="2400" dirty="0"/>
              <a:t>може да се намери по формулата</a:t>
            </a:r>
            <a:r>
              <a:rPr lang="en-US" sz="2400" dirty="0"/>
              <a:t>  </a:t>
            </a:r>
            <a:r>
              <a:rPr lang="en-US" sz="2400" b="1" i="1" dirty="0"/>
              <a:t>S= </a:t>
            </a:r>
            <a:r>
              <a:rPr lang="bg-BG" sz="3200" b="1" i="1" dirty="0">
                <a:sym typeface="Symbol" pitchFamily="18" charset="2"/>
              </a:rPr>
              <a:t></a:t>
            </a:r>
            <a:r>
              <a:rPr lang="en-US" sz="3200" b="1" i="1" dirty="0">
                <a:sym typeface="Symbol" pitchFamily="18" charset="2"/>
              </a:rPr>
              <a:t>*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i="1" baseline="30000" dirty="0">
                <a:sym typeface="Symbol" pitchFamily="18" charset="2"/>
              </a:rPr>
              <a:t>2</a:t>
            </a:r>
            <a:r>
              <a:rPr lang="en-US" sz="2400" b="1" i="1" dirty="0">
                <a:sym typeface="Symbol" pitchFamily="18" charset="2"/>
              </a:rPr>
              <a:t>. </a:t>
            </a:r>
            <a:r>
              <a:rPr lang="bg-BG" sz="2400" dirty="0">
                <a:sym typeface="Symbol" pitchFamily="18" charset="2"/>
              </a:rPr>
              <a:t>Отношението на лицето на окръжността към лицето на квадрата със страна </a:t>
            </a:r>
            <a:r>
              <a:rPr lang="bg-BG" sz="2400" b="1" i="1" dirty="0">
                <a:sym typeface="Symbol" pitchFamily="18" charset="2"/>
              </a:rPr>
              <a:t>2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bg-BG" sz="2400" dirty="0">
                <a:sym typeface="Symbol" pitchFamily="18" charset="2"/>
              </a:rPr>
              <a:t> (в който може да се впише окръжността) е </a:t>
            </a:r>
            <a:r>
              <a:rPr lang="bg-BG" sz="3200" b="1" i="1" dirty="0">
                <a:sym typeface="Symbol" pitchFamily="18" charset="2"/>
              </a:rPr>
              <a:t></a:t>
            </a:r>
            <a:r>
              <a:rPr lang="en-US" sz="3200" b="1" i="1" dirty="0">
                <a:sym typeface="Symbol" pitchFamily="18" charset="2"/>
              </a:rPr>
              <a:t>*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i="1" baseline="30000" dirty="0">
                <a:sym typeface="Symbol" pitchFamily="18" charset="2"/>
              </a:rPr>
              <a:t>2</a:t>
            </a:r>
            <a:r>
              <a:rPr lang="bg-BG" sz="2400" dirty="0">
                <a:sym typeface="Symbol" pitchFamily="18" charset="2"/>
              </a:rPr>
              <a:t> </a:t>
            </a:r>
            <a:r>
              <a:rPr lang="bg-BG" sz="2400" b="1" dirty="0">
                <a:sym typeface="Symbol" pitchFamily="18" charset="2"/>
              </a:rPr>
              <a:t>/</a:t>
            </a:r>
            <a:r>
              <a:rPr lang="bg-BG" sz="2400" dirty="0">
                <a:sym typeface="Symbol" pitchFamily="18" charset="2"/>
              </a:rPr>
              <a:t> (</a:t>
            </a:r>
            <a:r>
              <a:rPr lang="bg-BG" sz="2400" b="1" i="1" dirty="0">
                <a:sym typeface="Symbol" pitchFamily="18" charset="2"/>
              </a:rPr>
              <a:t>2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bg-BG" sz="2400" dirty="0">
                <a:sym typeface="Symbol" pitchFamily="18" charset="2"/>
              </a:rPr>
              <a:t>)</a:t>
            </a:r>
            <a:r>
              <a:rPr lang="bg-BG" sz="2400" b="1" i="1" baseline="30000" dirty="0">
                <a:sym typeface="Symbol" pitchFamily="18" charset="2"/>
              </a:rPr>
              <a:t>2</a:t>
            </a:r>
            <a:r>
              <a:rPr lang="bg-BG" sz="2400" dirty="0">
                <a:sym typeface="Symbol" pitchFamily="18" charset="2"/>
              </a:rPr>
              <a:t>. </a:t>
            </a:r>
            <a:br>
              <a:rPr lang="bg-BG" sz="2400" dirty="0">
                <a:sym typeface="Symbol" pitchFamily="18" charset="2"/>
              </a:rPr>
            </a:br>
            <a:r>
              <a:rPr lang="bg-BG" sz="2400" dirty="0">
                <a:sym typeface="Symbol" pitchFamily="18" charset="2"/>
              </a:rPr>
              <a:t>Вероятността </a:t>
            </a:r>
            <a:r>
              <a:rPr lang="bg-BG" sz="2800" b="1" i="1" dirty="0">
                <a:sym typeface="Symbol" pitchFamily="18" charset="2"/>
              </a:rPr>
              <a:t>р</a:t>
            </a:r>
            <a:r>
              <a:rPr lang="bg-BG" sz="2400" dirty="0">
                <a:sym typeface="Symbol" pitchFamily="18" charset="2"/>
              </a:rPr>
              <a:t> произволна точка, намираща се </a:t>
            </a:r>
            <a:br>
              <a:rPr lang="bg-BG" sz="2400" dirty="0">
                <a:sym typeface="Symbol" pitchFamily="18" charset="2"/>
              </a:rPr>
            </a:br>
            <a:r>
              <a:rPr lang="bg-BG" sz="2400" dirty="0">
                <a:sym typeface="Symbol" pitchFamily="18" charset="2"/>
              </a:rPr>
              <a:t>в квадрата, да бъде същевременно в окръжността,</a:t>
            </a:r>
            <a:br>
              <a:rPr lang="bg-BG" sz="2400" dirty="0">
                <a:sym typeface="Symbol" pitchFamily="18" charset="2"/>
              </a:rPr>
            </a:br>
            <a:r>
              <a:rPr lang="bg-BG" sz="2400" dirty="0">
                <a:sym typeface="Symbol" pitchFamily="18" charset="2"/>
              </a:rPr>
              <a:t>също е равна на </a:t>
            </a:r>
            <a:r>
              <a:rPr lang="bg-BG" sz="3200" b="1" i="1" dirty="0">
                <a:sym typeface="Symbol" pitchFamily="18" charset="2"/>
              </a:rPr>
              <a:t></a:t>
            </a:r>
            <a:r>
              <a:rPr lang="en-US" sz="3200" b="1" i="1" dirty="0">
                <a:sym typeface="Symbol" pitchFamily="18" charset="2"/>
              </a:rPr>
              <a:t>*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i="1" baseline="30000" dirty="0">
                <a:sym typeface="Symbol" pitchFamily="18" charset="2"/>
              </a:rPr>
              <a:t>2</a:t>
            </a:r>
            <a:r>
              <a:rPr lang="bg-BG" sz="2400" dirty="0">
                <a:sym typeface="Symbol" pitchFamily="18" charset="2"/>
              </a:rPr>
              <a:t> </a:t>
            </a:r>
            <a:r>
              <a:rPr lang="bg-BG" sz="2400" b="1" dirty="0">
                <a:sym typeface="Symbol" pitchFamily="18" charset="2"/>
              </a:rPr>
              <a:t>/</a:t>
            </a:r>
            <a:r>
              <a:rPr lang="bg-BG" sz="2400" dirty="0">
                <a:sym typeface="Symbol" pitchFamily="18" charset="2"/>
              </a:rPr>
              <a:t> (</a:t>
            </a:r>
            <a:r>
              <a:rPr lang="bg-BG" sz="2400" b="1" i="1" dirty="0">
                <a:sym typeface="Symbol" pitchFamily="18" charset="2"/>
              </a:rPr>
              <a:t>2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bg-BG" sz="2400" dirty="0">
                <a:sym typeface="Symbol" pitchFamily="18" charset="2"/>
              </a:rPr>
              <a:t>)</a:t>
            </a:r>
            <a:r>
              <a:rPr lang="bg-BG" sz="2400" b="1" i="1" baseline="30000" dirty="0">
                <a:sym typeface="Symbol" pitchFamily="18" charset="2"/>
              </a:rPr>
              <a:t>2</a:t>
            </a:r>
            <a:r>
              <a:rPr lang="bg-BG" sz="2400" dirty="0">
                <a:sym typeface="Symbol" pitchFamily="18" charset="2"/>
              </a:rPr>
              <a:t>. </a:t>
            </a:r>
            <a:endParaRPr lang="en-US" sz="2400" dirty="0">
              <a:sym typeface="Symbol" pitchFamily="18" charset="2"/>
            </a:endParaRPr>
          </a:p>
        </p:txBody>
      </p:sp>
      <p:grpSp>
        <p:nvGrpSpPr>
          <p:cNvPr id="43017" name="Group 9"/>
          <p:cNvGrpSpPr>
            <a:grpSpLocks/>
          </p:cNvGrpSpPr>
          <p:nvPr/>
        </p:nvGrpSpPr>
        <p:grpSpPr bwMode="auto">
          <a:xfrm>
            <a:off x="7801720" y="5045616"/>
            <a:ext cx="1308100" cy="1612900"/>
            <a:chOff x="3360" y="3072"/>
            <a:chExt cx="824" cy="1016"/>
          </a:xfrm>
        </p:grpSpPr>
        <p:sp>
          <p:nvSpPr>
            <p:cNvPr id="43011" name="Rectangle 3"/>
            <p:cNvSpPr>
              <a:spLocks noChangeArrowheads="1"/>
            </p:cNvSpPr>
            <p:nvPr/>
          </p:nvSpPr>
          <p:spPr bwMode="auto">
            <a:xfrm>
              <a:off x="3360" y="3072"/>
              <a:ext cx="768" cy="7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3012" name="Oval 4"/>
            <p:cNvSpPr>
              <a:spLocks noChangeArrowheads="1"/>
            </p:cNvSpPr>
            <p:nvPr/>
          </p:nvSpPr>
          <p:spPr bwMode="auto">
            <a:xfrm>
              <a:off x="3360" y="3080"/>
              <a:ext cx="768" cy="752"/>
            </a:xfrm>
            <a:prstGeom prst="ellipse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3013" name="Line 5"/>
            <p:cNvSpPr>
              <a:spLocks noChangeShapeType="1"/>
            </p:cNvSpPr>
            <p:nvPr/>
          </p:nvSpPr>
          <p:spPr bwMode="auto">
            <a:xfrm>
              <a:off x="3744" y="346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3014" name="Oval 6"/>
            <p:cNvSpPr>
              <a:spLocks noChangeArrowheads="1"/>
            </p:cNvSpPr>
            <p:nvPr/>
          </p:nvSpPr>
          <p:spPr bwMode="auto">
            <a:xfrm>
              <a:off x="3736" y="3440"/>
              <a:ext cx="48" cy="4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3015" name="Text Box 7"/>
            <p:cNvSpPr txBox="1">
              <a:spLocks noChangeArrowheads="1"/>
            </p:cNvSpPr>
            <p:nvPr/>
          </p:nvSpPr>
          <p:spPr bwMode="auto">
            <a:xfrm>
              <a:off x="3840" y="3408"/>
              <a:ext cx="19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b="1" i="1"/>
                <a:t>r</a:t>
              </a:r>
              <a:endParaRPr lang="en-US"/>
            </a:p>
          </p:txBody>
        </p:sp>
        <p:sp>
          <p:nvSpPr>
            <p:cNvPr id="43016" name="Text Box 8"/>
            <p:cNvSpPr txBox="1">
              <a:spLocks noChangeArrowheads="1"/>
            </p:cNvSpPr>
            <p:nvPr/>
          </p:nvSpPr>
          <p:spPr bwMode="auto">
            <a:xfrm>
              <a:off x="3656" y="3800"/>
              <a:ext cx="5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i="1"/>
                <a:t>2r</a:t>
              </a:r>
              <a:endParaRPr lang="en-US"/>
            </a:p>
          </p:txBody>
        </p:sp>
      </p:grpSp>
      <p:sp>
        <p:nvSpPr>
          <p:cNvPr id="12" name="Контейнер за номер на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128192" y="226252"/>
            <a:ext cx="8015808" cy="6477000"/>
          </a:xfrm>
        </p:spPr>
        <p:txBody>
          <a:bodyPr>
            <a:normAutofit fontScale="90000"/>
          </a:bodyPr>
          <a:lstStyle/>
          <a:p>
            <a:pPr algn="l"/>
            <a:r>
              <a:rPr lang="bg-BG" sz="2400" dirty="0"/>
              <a:t>	Да пресметнем тази вероятност емпирично: ще изберем </a:t>
            </a:r>
            <a:r>
              <a:rPr lang="en-US" sz="2400" b="1" i="1" dirty="0"/>
              <a:t>t</a:t>
            </a:r>
            <a:r>
              <a:rPr lang="en-US" sz="2400" dirty="0"/>
              <a:t> </a:t>
            </a:r>
            <a:r>
              <a:rPr lang="bg-BG" sz="2400" dirty="0"/>
              <a:t>произволни точки в квадрата и ще проверим, колко от тях се намират и в окръжността (една точка е в окръжността, ако разстоянието от нея до центъра е по-малко от радиуса на окръжността). Полученият брой </a:t>
            </a:r>
            <a:r>
              <a:rPr lang="en-US" sz="2400" b="1" i="1" dirty="0"/>
              <a:t>k</a:t>
            </a:r>
            <a:r>
              <a:rPr lang="bg-BG" sz="2400" dirty="0"/>
              <a:t>, разделен на </a:t>
            </a:r>
            <a:r>
              <a:rPr lang="en-US" sz="2400" b="1" i="1" dirty="0"/>
              <a:t>t</a:t>
            </a:r>
            <a:r>
              <a:rPr lang="bg-BG" sz="2400" dirty="0"/>
              <a:t>, дава </a:t>
            </a:r>
            <a:r>
              <a:rPr lang="bg-BG" sz="2400" dirty="0" err="1"/>
              <a:t>приближение</a:t>
            </a:r>
            <a:r>
              <a:rPr lang="bg-BG" sz="2400" dirty="0"/>
              <a:t> на вероятността </a:t>
            </a:r>
            <a:r>
              <a:rPr lang="bg-BG" sz="2400" b="1" i="1" dirty="0"/>
              <a:t>р</a:t>
            </a:r>
            <a:r>
              <a:rPr lang="bg-BG" sz="2400" dirty="0"/>
              <a:t>. Оттук следва:</a:t>
            </a:r>
            <a:br>
              <a:rPr lang="bg-BG" sz="2400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>                                                или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bg-BG" sz="2400" dirty="0"/>
              <a:t> 	</a:t>
            </a:r>
            <a:r>
              <a:rPr lang="en-US" sz="2400" dirty="0"/>
              <a:t>				</a:t>
            </a:r>
            <a:r>
              <a:rPr lang="bg-BG" sz="2400" dirty="0"/>
              <a:t>  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bg-BG" sz="2400" dirty="0"/>
              <a:t>Вижда се, че приближената стойност на </a:t>
            </a:r>
            <a:r>
              <a:rPr lang="bg-BG" sz="3200" b="1" i="1" dirty="0">
                <a:sym typeface="Symbol" pitchFamily="18" charset="2"/>
              </a:rPr>
              <a:t></a:t>
            </a:r>
            <a:r>
              <a:rPr lang="bg-BG" sz="2400" dirty="0"/>
              <a:t>  ще зависи от отношението на броя на точките, попаднали в окръжността, към броя на проведените тестове </a:t>
            </a:r>
            <a:r>
              <a:rPr lang="en-US" sz="2400" b="1" i="1" dirty="0"/>
              <a:t>t</a:t>
            </a:r>
            <a:r>
              <a:rPr lang="bg-BG" sz="2400" dirty="0"/>
              <a:t>. Точността ще бъде толкова по-голяма, колкото е по-голямо </a:t>
            </a:r>
            <a:r>
              <a:rPr lang="en-US" sz="2400" b="1" i="1" dirty="0"/>
              <a:t>t</a:t>
            </a:r>
            <a:r>
              <a:rPr lang="bg-BG" sz="2400" b="1" i="1" dirty="0"/>
              <a:t> </a:t>
            </a:r>
            <a:r>
              <a:rPr lang="bg-BG" sz="2400" dirty="0"/>
              <a:t> и по-малко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bg-BG" sz="2400" dirty="0"/>
              <a:t> (при по-малко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bg-BG" sz="2400" dirty="0"/>
              <a:t> точността при деление ще бъде по-голяма, а при голям брой тестове </a:t>
            </a:r>
            <a:r>
              <a:rPr lang="en-US" sz="2400" b="1" i="1" dirty="0"/>
              <a:t>t</a:t>
            </a:r>
            <a:r>
              <a:rPr lang="bg-BG" sz="2400" dirty="0"/>
              <a:t> ще разполагаме с по-голяма статистическа извадка). Поради това, за радиуса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bg-BG" sz="2400" dirty="0"/>
              <a:t> ще изберем голямо число, така че </a:t>
            </a:r>
            <a:r>
              <a:rPr lang="en-US" sz="2400" b="1" i="1" dirty="0">
                <a:sym typeface="Symbol" pitchFamily="18" charset="2"/>
              </a:rPr>
              <a:t>r</a:t>
            </a:r>
            <a:r>
              <a:rPr lang="en-US" sz="2400" b="1" i="1" baseline="30000" dirty="0">
                <a:sym typeface="Symbol" pitchFamily="18" charset="2"/>
              </a:rPr>
              <a:t>2</a:t>
            </a:r>
            <a:r>
              <a:rPr lang="bg-BG" sz="2400" dirty="0"/>
              <a:t> да се побира в </a:t>
            </a:r>
            <a:r>
              <a:rPr lang="en-US" sz="2400" dirty="0"/>
              <a:t> </a:t>
            </a:r>
            <a:r>
              <a:rPr lang="bg-BG" sz="2400" dirty="0"/>
              <a:t>типа </a:t>
            </a:r>
            <a:r>
              <a:rPr lang="en-US" sz="2400" i="1" dirty="0"/>
              <a:t>long</a:t>
            </a:r>
            <a:r>
              <a:rPr lang="bg-BG" sz="2400" dirty="0"/>
              <a:t>:</a:t>
            </a:r>
            <a:endParaRPr lang="en-US" sz="2400" dirty="0"/>
          </a:p>
        </p:txBody>
      </p:sp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1219200" y="2514600"/>
          <a:ext cx="2057400" cy="1166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7" name="Equation" r:id="rId3" imgW="672840" imgH="457200" progId="">
                  <p:embed/>
                </p:oleObj>
              </mc:Choice>
              <mc:Fallback>
                <p:oleObj name="Equation" r:id="rId3" imgW="672840" imgH="457200" progId="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514600"/>
                        <a:ext cx="2057400" cy="1166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5029200" y="2514600"/>
          <a:ext cx="3276600" cy="109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38" name="Equation" r:id="rId5" imgW="1168200" imgH="419040" progId="">
                  <p:embed/>
                </p:oleObj>
              </mc:Choice>
              <mc:Fallback>
                <p:oleObj name="Equation" r:id="rId5" imgW="1168200" imgH="41904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514600"/>
                        <a:ext cx="3276600" cy="1096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Контейнер за номер н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476672"/>
            <a:ext cx="7587952" cy="5943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2000" dirty="0"/>
              <a:t>//</a:t>
            </a:r>
            <a:r>
              <a:rPr lang="en-US" sz="2000" dirty="0" err="1"/>
              <a:t>Числен</a:t>
            </a:r>
            <a:r>
              <a:rPr lang="en-US" sz="2000" dirty="0"/>
              <a:t> </a:t>
            </a:r>
            <a:r>
              <a:rPr lang="en-US" sz="2000" dirty="0" err="1"/>
              <a:t>вероятностен</a:t>
            </a:r>
            <a:r>
              <a:rPr lang="en-US" sz="2000" dirty="0"/>
              <a:t> </a:t>
            </a:r>
            <a:r>
              <a:rPr lang="en-US" sz="2000" dirty="0" err="1"/>
              <a:t>алгоритъм</a:t>
            </a:r>
            <a:r>
              <a:rPr lang="en-US" sz="2000" dirty="0"/>
              <a:t> </a:t>
            </a:r>
            <a:r>
              <a:rPr lang="en-US" sz="2000" dirty="0" err="1"/>
              <a:t>за</a:t>
            </a:r>
            <a:r>
              <a:rPr lang="en-US" sz="2000" dirty="0"/>
              <a:t> </a:t>
            </a:r>
            <a:r>
              <a:rPr lang="en-US" sz="2000" dirty="0" err="1"/>
              <a:t>изчисляване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числото</a:t>
            </a:r>
            <a:r>
              <a:rPr lang="en-US" sz="2000" dirty="0"/>
              <a:t> PI:</a:t>
            </a:r>
            <a:br>
              <a:rPr lang="en-US" sz="2000" dirty="0"/>
            </a:br>
            <a:r>
              <a:rPr lang="en-US" sz="2000" dirty="0"/>
              <a:t>#include &lt;</a:t>
            </a:r>
            <a:r>
              <a:rPr lang="en-US" sz="2000" dirty="0" err="1" smtClean="0"/>
              <a:t>iostream</a:t>
            </a:r>
            <a:r>
              <a:rPr lang="en-US" sz="2000" dirty="0" smtClean="0"/>
              <a:t>&gt;</a:t>
            </a:r>
            <a:br>
              <a:rPr lang="en-US" sz="2000" dirty="0" smtClean="0"/>
            </a:br>
            <a:r>
              <a:rPr lang="en-US" sz="2000" dirty="0" smtClean="0"/>
              <a:t>using namespace std;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#include &lt;</a:t>
            </a:r>
            <a:r>
              <a:rPr lang="en-US" sz="2000" dirty="0" err="1"/>
              <a:t>stdlib.h</a:t>
            </a:r>
            <a:r>
              <a:rPr lang="en-US" sz="2000" dirty="0"/>
              <a:t>&gt;</a:t>
            </a:r>
            <a:br>
              <a:rPr lang="en-US" sz="2000" dirty="0"/>
            </a:br>
            <a:r>
              <a:rPr lang="en-US" sz="2000" dirty="0"/>
              <a:t>#include &lt;</a:t>
            </a:r>
            <a:r>
              <a:rPr lang="en-US" sz="2000" dirty="0" err="1"/>
              <a:t>math.h</a:t>
            </a:r>
            <a:r>
              <a:rPr lang="en-US" sz="2000" dirty="0" smtClean="0"/>
              <a:t>&gt;		</a:t>
            </a:r>
            <a:r>
              <a:rPr lang="bg-BG" sz="2000" dirty="0" smtClean="0"/>
              <a:t> </a:t>
            </a:r>
            <a:r>
              <a:rPr lang="bg-BG" sz="2200" dirty="0"/>
              <a:t>// за </a:t>
            </a:r>
            <a:r>
              <a:rPr lang="en-US" sz="2200" dirty="0" err="1"/>
              <a:t>sqrt</a:t>
            </a:r>
            <a:r>
              <a:rPr lang="en-US" sz="2200" dirty="0"/>
              <a:t>( )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void main()</a:t>
            </a:r>
            <a:br>
              <a:rPr lang="en-US" sz="2000" dirty="0"/>
            </a:br>
            <a:r>
              <a:rPr lang="en-US" sz="2000" dirty="0"/>
              <a:t>{</a:t>
            </a:r>
            <a:br>
              <a:rPr lang="en-US" sz="2000" dirty="0"/>
            </a:br>
            <a:r>
              <a:rPr lang="en-US" sz="2000" dirty="0"/>
              <a:t>	long t=1000000</a:t>
            </a:r>
            <a:r>
              <a:rPr lang="en-US" sz="2000" dirty="0" smtClean="0"/>
              <a:t>;	 </a:t>
            </a:r>
            <a:r>
              <a:rPr lang="en-US" sz="2000" dirty="0"/>
              <a:t>// </a:t>
            </a:r>
            <a:r>
              <a:rPr lang="en-US" sz="2000" dirty="0" err="1"/>
              <a:t>брой</a:t>
            </a:r>
            <a:r>
              <a:rPr lang="en-US" sz="2000" dirty="0"/>
              <a:t> </a:t>
            </a:r>
            <a:r>
              <a:rPr lang="en-US" sz="2000" dirty="0" err="1"/>
              <a:t>тестове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	long r=200;    </a:t>
            </a:r>
            <a:r>
              <a:rPr lang="en-US" sz="2000" dirty="0" smtClean="0"/>
              <a:t>	 //</a:t>
            </a:r>
            <a:r>
              <a:rPr lang="en-US" sz="2000" dirty="0" err="1"/>
              <a:t>радиус</a:t>
            </a:r>
            <a:r>
              <a:rPr lang="en-US" sz="2000" dirty="0"/>
              <a:t> </a:t>
            </a:r>
            <a:r>
              <a:rPr lang="en-US" sz="2000" dirty="0" err="1"/>
              <a:t>на</a:t>
            </a:r>
            <a:r>
              <a:rPr lang="en-US" sz="2000" dirty="0"/>
              <a:t> </a:t>
            </a:r>
            <a:r>
              <a:rPr lang="en-US" sz="2000" dirty="0" err="1"/>
              <a:t>окръжността</a:t>
            </a: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/>
              <a:t>	long r2=r/2;</a:t>
            </a:r>
            <a:br>
              <a:rPr lang="en-US" sz="2000" dirty="0"/>
            </a:br>
            <a:r>
              <a:rPr lang="en-US" sz="2000" dirty="0"/>
              <a:t>	long k=0, </a:t>
            </a:r>
            <a:r>
              <a:rPr lang="en-US" sz="2000" dirty="0" err="1"/>
              <a:t>i</a:t>
            </a:r>
            <a:r>
              <a:rPr lang="en-US" sz="2000" dirty="0"/>
              <a:t>;</a:t>
            </a:r>
            <a:br>
              <a:rPr lang="en-US" sz="2000" dirty="0"/>
            </a:br>
            <a:r>
              <a:rPr lang="en-US" sz="2000" dirty="0"/>
              <a:t>	</a:t>
            </a:r>
            <a:br>
              <a:rPr lang="en-US" sz="2000" dirty="0"/>
            </a:br>
            <a:r>
              <a:rPr lang="en-US" sz="2000" dirty="0"/>
              <a:t>	for (</a:t>
            </a:r>
            <a:r>
              <a:rPr lang="en-US" sz="2000" dirty="0" err="1"/>
              <a:t>i</a:t>
            </a:r>
            <a:r>
              <a:rPr lang="en-US" sz="2000" dirty="0"/>
              <a:t>=0; </a:t>
            </a:r>
            <a:r>
              <a:rPr lang="en-US" sz="2000" dirty="0" err="1"/>
              <a:t>i</a:t>
            </a:r>
            <a:r>
              <a:rPr lang="en-US" sz="2000" dirty="0"/>
              <a:t>&lt;t; </a:t>
            </a:r>
            <a:r>
              <a:rPr lang="en-US" sz="2000" dirty="0" err="1"/>
              <a:t>i</a:t>
            </a:r>
            <a:r>
              <a:rPr lang="en-US" sz="2000" dirty="0"/>
              <a:t>++)</a:t>
            </a:r>
            <a:br>
              <a:rPr lang="en-US" sz="2000" dirty="0"/>
            </a:br>
            <a:r>
              <a:rPr lang="en-US" sz="2000" dirty="0"/>
              <a:t>	{</a:t>
            </a:r>
            <a:br>
              <a:rPr lang="en-US" sz="2000" dirty="0"/>
            </a:br>
            <a:r>
              <a:rPr lang="en-US" sz="2000" dirty="0"/>
              <a:t>		long a=(rand() % r) - r2 + 1;</a:t>
            </a:r>
            <a:br>
              <a:rPr lang="en-US" sz="2000" dirty="0"/>
            </a:br>
            <a:r>
              <a:rPr lang="en-US" sz="2000" dirty="0"/>
              <a:t>		long b=(rand() % r) - r2 + 1;</a:t>
            </a:r>
            <a:br>
              <a:rPr lang="en-US" sz="2000" dirty="0"/>
            </a:br>
            <a:r>
              <a:rPr lang="en-US" sz="2000" dirty="0"/>
              <a:t>		if (</a:t>
            </a:r>
            <a:r>
              <a:rPr lang="en-US" sz="2000" dirty="0" err="1"/>
              <a:t>sqrt</a:t>
            </a:r>
            <a:r>
              <a:rPr lang="en-US" sz="2000" dirty="0"/>
              <a:t> (a*a + b*b) &lt;= r2)  k++;</a:t>
            </a:r>
            <a:br>
              <a:rPr lang="en-US" sz="2000" dirty="0"/>
            </a:br>
            <a:r>
              <a:rPr lang="en-US" sz="2000" dirty="0"/>
              <a:t>	}</a:t>
            </a:r>
            <a:br>
              <a:rPr lang="en-US" sz="2000" dirty="0"/>
            </a:br>
            <a:r>
              <a:rPr lang="en-US" sz="2000" dirty="0"/>
              <a:t>	</a:t>
            </a:r>
            <a:r>
              <a:rPr lang="en-US" sz="2000" dirty="0" err="1"/>
              <a:t>cout</a:t>
            </a:r>
            <a:r>
              <a:rPr lang="en-US" sz="2000" dirty="0"/>
              <a:t>&lt;&lt;" PI = "&lt;&lt; (4.0*k)/t;</a:t>
            </a:r>
            <a:br>
              <a:rPr lang="en-US" sz="2000" dirty="0"/>
            </a:br>
            <a:r>
              <a:rPr lang="en-US" sz="2000" dirty="0"/>
              <a:t>}</a:t>
            </a:r>
            <a:br>
              <a:rPr lang="en-US" sz="2000" dirty="0"/>
            </a:br>
            <a:r>
              <a:rPr lang="bg-BG" sz="2000" dirty="0">
                <a:solidFill>
                  <a:schemeClr val="tx1"/>
                </a:solidFill>
              </a:rPr>
              <a:t>      За  </a:t>
            </a:r>
            <a:r>
              <a:rPr lang="en-US" sz="2000" dirty="0">
                <a:solidFill>
                  <a:schemeClr val="tx1"/>
                </a:solidFill>
              </a:rPr>
              <a:t>t = 10 000  </a:t>
            </a:r>
            <a:r>
              <a:rPr lang="bg-BG" sz="2000" dirty="0">
                <a:solidFill>
                  <a:schemeClr val="tx1"/>
                </a:solidFill>
              </a:rPr>
              <a:t>   </a:t>
            </a:r>
            <a:r>
              <a:rPr lang="en-US" sz="2000" dirty="0">
                <a:solidFill>
                  <a:schemeClr val="tx1"/>
                </a:solidFill>
              </a:rPr>
              <a:t>PI = 3.146, </a:t>
            </a:r>
            <a:r>
              <a:rPr lang="bg-BG" sz="2000" dirty="0">
                <a:solidFill>
                  <a:schemeClr val="tx1"/>
                </a:solidFill>
              </a:rPr>
              <a:t>                         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bg-BG" sz="2000" dirty="0">
                <a:solidFill>
                  <a:schemeClr val="tx1"/>
                </a:solidFill>
              </a:rPr>
              <a:t>за  </a:t>
            </a:r>
            <a:r>
              <a:rPr lang="en-US" sz="2000" dirty="0">
                <a:solidFill>
                  <a:schemeClr val="tx1"/>
                </a:solidFill>
              </a:rPr>
              <a:t>t = 100 000  </a:t>
            </a:r>
            <a:r>
              <a:rPr lang="bg-BG" sz="2000" dirty="0">
                <a:solidFill>
                  <a:schemeClr val="tx1"/>
                </a:solidFill>
              </a:rPr>
              <a:t>   </a:t>
            </a:r>
            <a:r>
              <a:rPr lang="en-US" sz="2000" dirty="0">
                <a:solidFill>
                  <a:schemeClr val="tx1"/>
                </a:solidFill>
              </a:rPr>
              <a:t>PI = 3.14268</a:t>
            </a:r>
            <a:r>
              <a:rPr lang="bg-BG" sz="2000" dirty="0">
                <a:solidFill>
                  <a:schemeClr val="tx1"/>
                </a:solidFill>
              </a:rPr>
              <a:t>,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bg-BG" sz="2000" dirty="0">
                <a:solidFill>
                  <a:schemeClr val="tx1"/>
                </a:solidFill>
              </a:rPr>
              <a:t/>
            </a:r>
            <a:br>
              <a:rPr lang="bg-BG" sz="2000" dirty="0">
                <a:solidFill>
                  <a:schemeClr val="tx1"/>
                </a:solidFill>
              </a:rPr>
            </a:br>
            <a:r>
              <a:rPr lang="bg-BG" sz="2000" dirty="0">
                <a:solidFill>
                  <a:schemeClr val="tx1"/>
                </a:solidFill>
              </a:rPr>
              <a:t>                                    за  </a:t>
            </a:r>
            <a:r>
              <a:rPr lang="en-US" sz="2000" dirty="0">
                <a:solidFill>
                  <a:schemeClr val="tx1"/>
                </a:solidFill>
              </a:rPr>
              <a:t>t = 1</a:t>
            </a:r>
            <a:r>
              <a:rPr lang="bg-BG" sz="2000" dirty="0">
                <a:solidFill>
                  <a:schemeClr val="tx1"/>
                </a:solidFill>
              </a:rPr>
              <a:t> 0</a:t>
            </a:r>
            <a:r>
              <a:rPr lang="en-US" sz="2000" dirty="0">
                <a:solidFill>
                  <a:schemeClr val="tx1"/>
                </a:solidFill>
              </a:rPr>
              <a:t>00 000  </a:t>
            </a:r>
            <a:r>
              <a:rPr lang="bg-BG" sz="2000" dirty="0">
                <a:solidFill>
                  <a:schemeClr val="tx1"/>
                </a:solidFill>
              </a:rPr>
              <a:t>    </a:t>
            </a:r>
            <a:r>
              <a:rPr lang="en-US" sz="2000" dirty="0">
                <a:solidFill>
                  <a:schemeClr val="tx1"/>
                </a:solidFill>
              </a:rPr>
              <a:t>PI = 3.144</a:t>
            </a:r>
            <a:r>
              <a:rPr lang="bg-BG" sz="2000" dirty="0">
                <a:solidFill>
                  <a:schemeClr val="tx1"/>
                </a:solidFill>
              </a:rPr>
              <a:t>7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br>
              <a:rPr lang="en-US" sz="2000" dirty="0">
                <a:solidFill>
                  <a:schemeClr val="tx1"/>
                </a:solidFill>
              </a:rPr>
            </a:b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988368" y="332656"/>
            <a:ext cx="8155632" cy="6324600"/>
          </a:xfrm>
        </p:spPr>
        <p:txBody>
          <a:bodyPr>
            <a:normAutofit fontScale="90000"/>
          </a:bodyPr>
          <a:lstStyle/>
          <a:p>
            <a:pPr algn="l">
              <a:lnSpc>
                <a:spcPct val="140000"/>
              </a:lnSpc>
            </a:pPr>
            <a:r>
              <a:rPr lang="bg-BG" sz="2400" dirty="0">
                <a:solidFill>
                  <a:schemeClr val="tx1"/>
                </a:solidFill>
                <a:latin typeface="Arial" charset="0"/>
              </a:rPr>
              <a:t>2. Алгоритми Монте Карло</a:t>
            </a:r>
            <a:r>
              <a:rPr lang="bg-BG" sz="2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Arial" charset="0"/>
              </a:rPr>
            </a:br>
            <a:r>
              <a:rPr lang="bg-BG" sz="2000" dirty="0">
                <a:solidFill>
                  <a:schemeClr val="tx1"/>
                </a:solidFill>
                <a:latin typeface="Arial" charset="0"/>
              </a:rPr>
              <a:t>	</a:t>
            </a:r>
            <a:br>
              <a:rPr lang="bg-BG" sz="2000" dirty="0">
                <a:solidFill>
                  <a:schemeClr val="tx1"/>
                </a:solidFill>
                <a:latin typeface="Arial" charset="0"/>
              </a:rPr>
            </a:br>
            <a:r>
              <a:rPr lang="bg-BG" sz="20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Алгоритмите Монте Карло винаги "претендират", че са намерили решение на задачата. Понякога обаче, това решение се оказва невярно (в частност, ако разглеждаме оптимизационна задача, възможно е намереното от алгоритъма решение да бъде близко до оптималното, но все пак да съществува по-добро от него). </a:t>
            </a:r>
            <a:br>
              <a:rPr lang="bg-BG" sz="2400" dirty="0">
                <a:solidFill>
                  <a:schemeClr val="tx1"/>
                </a:solidFill>
                <a:latin typeface="Arial" charset="0"/>
              </a:rPr>
            </a:br>
            <a:r>
              <a:rPr lang="bg-BG" sz="2400" dirty="0">
                <a:solidFill>
                  <a:schemeClr val="tx1"/>
                </a:solidFill>
                <a:latin typeface="Arial" charset="0"/>
              </a:rPr>
              <a:t>По-подробното описание на подхода може да се намери в </a:t>
            </a:r>
            <a:r>
              <a:rPr lang="bg-BG" sz="2400" dirty="0">
                <a:solidFill>
                  <a:srgbClr val="C00000"/>
                </a:solidFill>
              </a:rPr>
              <a:t>Преслав Наков, Панайот </a:t>
            </a:r>
            <a:r>
              <a:rPr lang="bg-BG" sz="2400" dirty="0" err="1">
                <a:solidFill>
                  <a:srgbClr val="C00000"/>
                </a:solidFill>
              </a:rPr>
              <a:t>Добриков</a:t>
            </a:r>
            <a:r>
              <a:rPr lang="bg-BG" sz="2400" dirty="0">
                <a:solidFill>
                  <a:srgbClr val="C00000"/>
                </a:solidFill>
              </a:rPr>
              <a:t>. </a:t>
            </a:r>
            <a:r>
              <a:rPr lang="bg-BG" sz="2400" i="1" dirty="0">
                <a:solidFill>
                  <a:srgbClr val="C00000"/>
                </a:solidFill>
              </a:rPr>
              <a:t>Програмиране = ++Алгоритми</a:t>
            </a:r>
            <a:r>
              <a:rPr lang="bg-BG" sz="2400" dirty="0">
                <a:solidFill>
                  <a:srgbClr val="C00000"/>
                </a:solidFill>
              </a:rPr>
              <a:t>, </a:t>
            </a:r>
            <a:r>
              <a:rPr lang="en-US" sz="2400" dirty="0" err="1">
                <a:solidFill>
                  <a:srgbClr val="C00000"/>
                </a:solidFill>
              </a:rPr>
              <a:t>TopTeam</a:t>
            </a:r>
            <a:r>
              <a:rPr lang="en-US" sz="2400" dirty="0">
                <a:solidFill>
                  <a:srgbClr val="C00000"/>
                </a:solidFill>
              </a:rPr>
              <a:t> Co., </a:t>
            </a:r>
            <a:r>
              <a:rPr lang="bg-BG" sz="2400" dirty="0">
                <a:solidFill>
                  <a:srgbClr val="C00000"/>
                </a:solidFill>
              </a:rPr>
              <a:t>София,</a:t>
            </a:r>
            <a:r>
              <a:rPr lang="en-US" sz="2400" dirty="0">
                <a:solidFill>
                  <a:srgbClr val="C00000"/>
                </a:solidFill>
              </a:rPr>
              <a:t> 2002</a:t>
            </a:r>
            <a:r>
              <a:rPr lang="bg-BG" sz="2400" dirty="0">
                <a:solidFill>
                  <a:srgbClr val="C00000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и </a:t>
            </a:r>
            <a:r>
              <a:rPr lang="bg-BG" sz="2400" dirty="0">
                <a:solidFill>
                  <a:srgbClr val="C00000"/>
                </a:solidFill>
                <a:latin typeface="Arial" charset="0"/>
              </a:rPr>
              <a:t>в </a:t>
            </a:r>
            <a:r>
              <a:rPr lang="bg-BG" sz="2400" dirty="0">
                <a:solidFill>
                  <a:srgbClr val="C00000"/>
                </a:solidFill>
              </a:rPr>
              <a:t>Стойчо Стойчев, </a:t>
            </a:r>
            <a:r>
              <a:rPr lang="bg-BG" sz="2400" i="1" dirty="0">
                <a:solidFill>
                  <a:srgbClr val="C00000"/>
                </a:solidFill>
              </a:rPr>
              <a:t>Синтез и анализ на алгоритми</a:t>
            </a:r>
            <a:r>
              <a:rPr lang="bg-BG" sz="2400" dirty="0">
                <a:solidFill>
                  <a:srgbClr val="C00000"/>
                </a:solidFill>
              </a:rPr>
              <a:t>, “БПС”, София, 2003</a:t>
            </a:r>
            <a:r>
              <a:rPr lang="bg-BG" sz="2000" dirty="0">
                <a:solidFill>
                  <a:srgbClr val="C00000"/>
                </a:solidFill>
              </a:rPr>
              <a:t>.</a:t>
            </a:r>
            <a:r>
              <a:rPr lang="bg-BG" sz="2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Arial" charset="0"/>
              </a:rPr>
            </a:br>
            <a:endParaRPr lang="en-US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9004" y="533400"/>
            <a:ext cx="8223448" cy="6324600"/>
          </a:xfrm>
        </p:spPr>
        <p:txBody>
          <a:bodyPr>
            <a:normAutofit fontScale="90000"/>
          </a:bodyPr>
          <a:lstStyle/>
          <a:p>
            <a:pPr algn="l">
              <a:lnSpc>
                <a:spcPct val="110000"/>
              </a:lnSpc>
            </a:pPr>
            <a:r>
              <a:rPr lang="en-US" sz="20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bg-BG" sz="2000" dirty="0">
                <a:solidFill>
                  <a:schemeClr val="tx1"/>
                </a:solidFill>
                <a:latin typeface="Arial" charset="0"/>
              </a:rPr>
              <a:t>Нека да разгледаме един класически пример за приложение на алгоритъма Монте Карло - проверка, дали дадено число </a:t>
            </a:r>
            <a:r>
              <a:rPr lang="bg-BG" sz="24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400" b="1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bg-BG" sz="2000" dirty="0">
                <a:solidFill>
                  <a:schemeClr val="tx1"/>
                </a:solidFill>
                <a:latin typeface="Arial" charset="0"/>
              </a:rPr>
              <a:t>е просто. Ако изберем</a:t>
            </a:r>
            <a:r>
              <a:rPr lang="bg-BG" sz="2400" b="1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400" b="1" i="1" dirty="0">
                <a:solidFill>
                  <a:schemeClr val="tx1"/>
                </a:solidFill>
                <a:latin typeface="Arial" charset="0"/>
              </a:rPr>
              <a:t>k</a:t>
            </a:r>
            <a:r>
              <a:rPr lang="en-US" sz="2400" b="1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bg-BG" sz="2000" dirty="0">
                <a:solidFill>
                  <a:schemeClr val="tx1"/>
                </a:solidFill>
                <a:latin typeface="Arial" charset="0"/>
              </a:rPr>
              <a:t>естествени числа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400" b="1" i="1" dirty="0">
                <a:solidFill>
                  <a:schemeClr val="tx1"/>
                </a:solidFill>
                <a:latin typeface="Arial" charset="0"/>
              </a:rPr>
              <a:t>p</a:t>
            </a:r>
            <a:r>
              <a:rPr lang="en-US" sz="2400" b="1" i="1" baseline="-25000" dirty="0">
                <a:solidFill>
                  <a:schemeClr val="tx1"/>
                </a:solidFill>
                <a:latin typeface="Arial" charset="0"/>
              </a:rPr>
              <a:t>1</a:t>
            </a:r>
            <a:r>
              <a:rPr lang="en-US" sz="2400" b="1" i="1" dirty="0">
                <a:solidFill>
                  <a:schemeClr val="tx1"/>
                </a:solidFill>
                <a:latin typeface="Arial" charset="0"/>
              </a:rPr>
              <a:t>, p</a:t>
            </a:r>
            <a:r>
              <a:rPr lang="en-US" sz="2400" b="1" i="1" baseline="-25000" dirty="0">
                <a:solidFill>
                  <a:schemeClr val="tx1"/>
                </a:solidFill>
                <a:latin typeface="Arial" charset="0"/>
              </a:rPr>
              <a:t>2</a:t>
            </a:r>
            <a:r>
              <a:rPr lang="en-US" sz="2400" b="1" i="1" dirty="0">
                <a:solidFill>
                  <a:schemeClr val="tx1"/>
                </a:solidFill>
                <a:latin typeface="Arial" charset="0"/>
              </a:rPr>
              <a:t>, …, </a:t>
            </a:r>
            <a:r>
              <a:rPr lang="en-US" sz="2400" b="1" i="1" dirty="0" err="1">
                <a:solidFill>
                  <a:schemeClr val="tx1"/>
                </a:solidFill>
                <a:latin typeface="Arial" charset="0"/>
              </a:rPr>
              <a:t>p</a:t>
            </a:r>
            <a:r>
              <a:rPr lang="en-US" sz="2400" b="1" i="1" baseline="-25000" dirty="0" err="1">
                <a:solidFill>
                  <a:schemeClr val="tx1"/>
                </a:solidFill>
                <a:latin typeface="Arial" charset="0"/>
              </a:rPr>
              <a:t>k</a:t>
            </a:r>
            <a:r>
              <a:rPr lang="en-US" sz="2400" b="1" dirty="0">
                <a:solidFill>
                  <a:schemeClr val="tx1"/>
                </a:solidFill>
                <a:latin typeface="Arial" charset="0"/>
              </a:rPr>
              <a:t>  (2 &lt;= </a:t>
            </a:r>
            <a:r>
              <a:rPr lang="en-US" sz="2400" b="1" i="1" dirty="0">
                <a:solidFill>
                  <a:schemeClr val="tx1"/>
                </a:solidFill>
                <a:latin typeface="Arial" charset="0"/>
              </a:rPr>
              <a:t>p</a:t>
            </a:r>
            <a:r>
              <a:rPr lang="en-US" sz="2400" b="1" i="1" baseline="-25000" dirty="0">
                <a:solidFill>
                  <a:schemeClr val="tx1"/>
                </a:solidFill>
                <a:latin typeface="Arial" charset="0"/>
              </a:rPr>
              <a:t>i</a:t>
            </a:r>
            <a:r>
              <a:rPr lang="en-US" sz="2400" b="1" i="1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Arial" charset="0"/>
              </a:rPr>
              <a:t>&lt;= </a:t>
            </a:r>
            <a:r>
              <a:rPr lang="en-US" sz="2400" b="1" dirty="0">
                <a:solidFill>
                  <a:schemeClr val="tx1"/>
                </a:solidFill>
                <a:latin typeface="Arial" charset="0"/>
                <a:sym typeface="Symbol" pitchFamily="18" charset="2"/>
              </a:rPr>
              <a:t></a:t>
            </a:r>
            <a:r>
              <a:rPr lang="en-US" sz="2400" b="1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4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en-US" sz="2400" b="1" dirty="0">
                <a:solidFill>
                  <a:schemeClr val="tx1"/>
                </a:solidFill>
                <a:latin typeface="Arial" charset="0"/>
              </a:rPr>
              <a:t>)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bg-BG" sz="2000" dirty="0">
                <a:solidFill>
                  <a:schemeClr val="tx1"/>
                </a:solidFill>
                <a:latin typeface="Arial" charset="0"/>
              </a:rPr>
              <a:t>и </a:t>
            </a:r>
            <a:r>
              <a:rPr lang="en-US" sz="24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en-US" sz="20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bg-BG" sz="2000" dirty="0">
                <a:solidFill>
                  <a:schemeClr val="tx1"/>
                </a:solidFill>
                <a:latin typeface="Arial" charset="0"/>
              </a:rPr>
              <a:t>се дели на някое от тях, следва, че </a:t>
            </a:r>
            <a:r>
              <a:rPr lang="en-US" sz="24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000" dirty="0">
                <a:solidFill>
                  <a:schemeClr val="tx1"/>
                </a:solidFill>
                <a:latin typeface="Arial" charset="0"/>
              </a:rPr>
              <a:t> не е просто (съставно). Така получихме един съвсем прост алгоритъм Монте Карло:</a:t>
            </a:r>
            <a:br>
              <a:rPr lang="bg-BG" sz="2000" dirty="0">
                <a:solidFill>
                  <a:schemeClr val="tx1"/>
                </a:solidFill>
                <a:latin typeface="Arial" charset="0"/>
              </a:rPr>
            </a:br>
            <a:r>
              <a:rPr lang="bg-BG" sz="8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800" dirty="0">
                <a:solidFill>
                  <a:schemeClr val="tx1"/>
                </a:solidFill>
                <a:latin typeface="Arial" charset="0"/>
              </a:rPr>
            </a:br>
            <a:r>
              <a:rPr lang="bg-BG" sz="2000" dirty="0">
                <a:solidFill>
                  <a:schemeClr val="tx1"/>
                </a:solidFill>
                <a:latin typeface="Arial" charset="0"/>
              </a:rPr>
              <a:t>Алгоритъм Монте Карло 1:</a:t>
            </a:r>
            <a:br>
              <a:rPr lang="bg-BG" sz="2000" dirty="0">
                <a:solidFill>
                  <a:schemeClr val="tx1"/>
                </a:solidFill>
                <a:latin typeface="Arial" charset="0"/>
              </a:rPr>
            </a:br>
            <a:r>
              <a:rPr lang="bg-BG" sz="8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800" dirty="0">
                <a:solidFill>
                  <a:schemeClr val="tx1"/>
                </a:solidFill>
                <a:latin typeface="Arial" charset="0"/>
              </a:rPr>
            </a:br>
            <a:r>
              <a:rPr lang="bg-BG" sz="20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bg-BG" sz="2400" dirty="0" err="1">
                <a:solidFill>
                  <a:schemeClr val="tx1"/>
                </a:solidFill>
                <a:latin typeface="Courier New" pitchFamily="49" charset="-52"/>
              </a:rPr>
              <a:t>for</a:t>
            </a: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>(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-52"/>
              </a:rPr>
              <a:t>i</a:t>
            </a: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>=1, …, k)</a:t>
            </a:r>
            <a:br>
              <a:rPr lang="en-US" sz="24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>	    if (n % (random(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-52"/>
              </a:rPr>
              <a:t>sqrt</a:t>
            </a: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>(n))+2)==0)</a:t>
            </a:r>
            <a:br>
              <a:rPr lang="en-US" sz="24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>		{return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-52"/>
              </a:rPr>
              <a:t>n_е</a:t>
            </a: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_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-52"/>
              </a:rPr>
              <a:t>съставно</a:t>
            </a: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>;}</a:t>
            </a:r>
            <a:br>
              <a:rPr lang="en-US" sz="24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>	     return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-52"/>
              </a:rPr>
              <a:t>n_е_просто</a:t>
            </a: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;</a:t>
            </a:r>
            <a:r>
              <a:rPr lang="bg-BG" sz="800" dirty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bg-BG" sz="8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8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800" dirty="0">
                <a:solidFill>
                  <a:schemeClr val="tx1"/>
                </a:solidFill>
                <a:latin typeface="Arial" charset="0"/>
              </a:rPr>
            </a:br>
            <a:r>
              <a:rPr lang="bg-BG" sz="2000" dirty="0">
                <a:solidFill>
                  <a:schemeClr val="tx1"/>
                </a:solidFill>
                <a:latin typeface="Arial" charset="0"/>
              </a:rPr>
              <a:t>Ако </a:t>
            </a:r>
            <a:r>
              <a:rPr lang="en-US" sz="24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en-US" sz="2400" b="1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bg-BG" sz="2000" dirty="0">
                <a:solidFill>
                  <a:schemeClr val="tx1"/>
                </a:solidFill>
                <a:latin typeface="Arial" charset="0"/>
              </a:rPr>
              <a:t>във фрагмента е съставно, резултатът със сигурност ще е правилен. Ако </a:t>
            </a:r>
            <a:r>
              <a:rPr lang="bg-BG" sz="24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000" dirty="0">
                <a:solidFill>
                  <a:schemeClr val="tx1"/>
                </a:solidFill>
                <a:latin typeface="Arial" charset="0"/>
              </a:rPr>
              <a:t> е просто, резултатът ще е верен с определена вероятност, която може да бъде пресметната [</a:t>
            </a:r>
            <a:r>
              <a:rPr lang="bg-BG" sz="2200" dirty="0">
                <a:solidFill>
                  <a:srgbClr val="C00000"/>
                </a:solidFill>
              </a:rPr>
              <a:t>Преслав Наков, Панайот </a:t>
            </a:r>
            <a:r>
              <a:rPr lang="bg-BG" sz="2200" dirty="0" err="1">
                <a:solidFill>
                  <a:srgbClr val="C00000"/>
                </a:solidFill>
              </a:rPr>
              <a:t>Добриков</a:t>
            </a:r>
            <a:r>
              <a:rPr lang="bg-BG" sz="2200" dirty="0">
                <a:solidFill>
                  <a:srgbClr val="C00000"/>
                </a:solidFill>
              </a:rPr>
              <a:t>. </a:t>
            </a:r>
            <a:r>
              <a:rPr lang="bg-BG" sz="2200" i="1" dirty="0">
                <a:solidFill>
                  <a:srgbClr val="C00000"/>
                </a:solidFill>
              </a:rPr>
              <a:t>Програмиране = ++Алгоритми</a:t>
            </a:r>
            <a:r>
              <a:rPr lang="bg-BG" sz="2200" dirty="0">
                <a:solidFill>
                  <a:srgbClr val="C00000"/>
                </a:solidFill>
              </a:rPr>
              <a:t>, </a:t>
            </a:r>
            <a:r>
              <a:rPr lang="en-US" sz="2200" dirty="0" err="1">
                <a:solidFill>
                  <a:srgbClr val="C00000"/>
                </a:solidFill>
              </a:rPr>
              <a:t>TopTeam</a:t>
            </a:r>
            <a:r>
              <a:rPr lang="en-US" sz="2200" dirty="0">
                <a:solidFill>
                  <a:srgbClr val="C00000"/>
                </a:solidFill>
              </a:rPr>
              <a:t> Co., </a:t>
            </a:r>
            <a:r>
              <a:rPr lang="bg-BG" sz="2200" dirty="0">
                <a:solidFill>
                  <a:srgbClr val="C00000"/>
                </a:solidFill>
              </a:rPr>
              <a:t>София,</a:t>
            </a:r>
            <a:r>
              <a:rPr lang="en-US" sz="2200" dirty="0">
                <a:solidFill>
                  <a:srgbClr val="C00000"/>
                </a:solidFill>
              </a:rPr>
              <a:t> 2002</a:t>
            </a:r>
            <a:r>
              <a:rPr lang="bg-BG" sz="2200" dirty="0">
                <a:solidFill>
                  <a:srgbClr val="C00000"/>
                </a:solidFill>
              </a:rPr>
              <a:t> </a:t>
            </a:r>
            <a:r>
              <a:rPr lang="bg-BG" sz="2000" dirty="0">
                <a:solidFill>
                  <a:schemeClr val="tx1"/>
                </a:solidFill>
                <a:latin typeface="Arial" charset="0"/>
              </a:rPr>
              <a:t>].</a:t>
            </a:r>
            <a:r>
              <a:rPr lang="bg-BG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dirty="0">
                <a:solidFill>
                  <a:schemeClr val="tx1"/>
                </a:solidFill>
                <a:latin typeface="Arial" charset="0"/>
              </a:rPr>
            </a:br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104" y="533400"/>
            <a:ext cx="8064896" cy="6324600"/>
          </a:xfrm>
        </p:spPr>
        <p:txBody>
          <a:bodyPr>
            <a:normAutofit fontScale="90000"/>
          </a:bodyPr>
          <a:lstStyle/>
          <a:p>
            <a:pPr algn="l">
              <a:lnSpc>
                <a:spcPct val="110000"/>
              </a:lnSpc>
            </a:pPr>
            <a:r>
              <a:rPr lang="en-US" sz="24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Описаният алгоритъм е първата проста илюстрация на метода Монте Карло. По-долу ще бъдат разгледани още два (значително по-ефективни) алгоритъма за решаване на същата задача.</a:t>
            </a:r>
            <a:br>
              <a:rPr lang="bg-BG" sz="2400" dirty="0">
                <a:solidFill>
                  <a:schemeClr val="tx1"/>
                </a:solidFill>
                <a:latin typeface="Arial" charset="0"/>
              </a:rPr>
            </a:br>
            <a:r>
              <a:rPr lang="bg-BG" sz="9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900" dirty="0">
                <a:solidFill>
                  <a:schemeClr val="tx1"/>
                </a:solidFill>
                <a:latin typeface="Arial" charset="0"/>
              </a:rPr>
            </a:br>
            <a:r>
              <a:rPr lang="bg-BG" sz="2400" dirty="0">
                <a:solidFill>
                  <a:schemeClr val="tx1"/>
                </a:solidFill>
                <a:latin typeface="Arial" charset="0"/>
              </a:rPr>
              <a:t>	Първият от тях е следствие на малката теорема на Ферма:</a:t>
            </a:r>
            <a:br>
              <a:rPr lang="bg-BG" sz="2400" dirty="0">
                <a:solidFill>
                  <a:schemeClr val="tx1"/>
                </a:solidFill>
                <a:latin typeface="Arial" charset="0"/>
              </a:rPr>
            </a:br>
            <a:r>
              <a:rPr lang="bg-BG" sz="8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800" dirty="0">
                <a:solidFill>
                  <a:schemeClr val="tx1"/>
                </a:solidFill>
                <a:latin typeface="Arial" charset="0"/>
              </a:rPr>
            </a:br>
            <a:r>
              <a:rPr lang="bg-BG" sz="2400" i="1" u="sng" dirty="0">
                <a:solidFill>
                  <a:schemeClr val="tx1"/>
                </a:solidFill>
                <a:latin typeface="Arial" charset="0"/>
              </a:rPr>
              <a:t>Теорема на Ферма</a:t>
            </a:r>
            <a:r>
              <a:rPr lang="bg-BG" sz="2400" u="sng" dirty="0">
                <a:solidFill>
                  <a:schemeClr val="tx1"/>
                </a:solidFill>
                <a:latin typeface="Arial" charset="0"/>
              </a:rPr>
              <a:t>. </a:t>
            </a:r>
            <a:r>
              <a:rPr lang="bg-BG" sz="800" u="sng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800" u="sng" dirty="0">
                <a:solidFill>
                  <a:schemeClr val="tx1"/>
                </a:solidFill>
                <a:latin typeface="Arial" charset="0"/>
              </a:rPr>
            </a:br>
            <a:r>
              <a:rPr lang="bg-BG" sz="800" u="sng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800" u="sng" dirty="0">
                <a:solidFill>
                  <a:schemeClr val="tx1"/>
                </a:solidFill>
                <a:latin typeface="Arial" charset="0"/>
              </a:rPr>
            </a:br>
            <a:r>
              <a:rPr lang="bg-BG" sz="2400" dirty="0">
                <a:solidFill>
                  <a:schemeClr val="tx1"/>
                </a:solidFill>
                <a:latin typeface="Arial" charset="0"/>
              </a:rPr>
              <a:t>Нека </a:t>
            </a:r>
            <a:r>
              <a:rPr lang="bg-BG" sz="28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 е просто число. Тогава </a:t>
            </a:r>
            <a:r>
              <a:rPr lang="bg-BG" sz="2800" b="1" i="1" dirty="0">
                <a:solidFill>
                  <a:schemeClr val="tx1"/>
                </a:solidFill>
                <a:latin typeface="Arial" charset="0"/>
              </a:rPr>
              <a:t>a</a:t>
            </a:r>
            <a:r>
              <a:rPr lang="bg-BG" sz="2800" b="1" i="1" baseline="30000" dirty="0">
                <a:solidFill>
                  <a:schemeClr val="tx1"/>
                </a:solidFill>
                <a:latin typeface="Arial" charset="0"/>
              </a:rPr>
              <a:t>n-1</a:t>
            </a:r>
            <a:r>
              <a:rPr lang="bg-BG" sz="2800" b="1" i="1" dirty="0">
                <a:solidFill>
                  <a:schemeClr val="tx1"/>
                </a:solidFill>
                <a:latin typeface="Arial" charset="0"/>
              </a:rPr>
              <a:t> % n</a:t>
            </a:r>
            <a:r>
              <a:rPr lang="bg-BG" sz="2800" dirty="0">
                <a:solidFill>
                  <a:schemeClr val="tx1"/>
                </a:solidFill>
                <a:latin typeface="Arial" charset="0"/>
              </a:rPr>
              <a:t> = 1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 за всяко </a:t>
            </a:r>
            <a:r>
              <a:rPr lang="bg-BG" sz="2800" b="1" i="1" dirty="0">
                <a:solidFill>
                  <a:schemeClr val="tx1"/>
                </a:solidFill>
                <a:latin typeface="Arial" charset="0"/>
              </a:rPr>
              <a:t>a</a:t>
            </a:r>
            <a:r>
              <a:rPr lang="bg-BG" sz="2800" dirty="0">
                <a:solidFill>
                  <a:schemeClr val="tx1"/>
                </a:solidFill>
                <a:latin typeface="Arial" charset="0"/>
              </a:rPr>
              <a:t> = 1,2,…, </a:t>
            </a:r>
            <a:r>
              <a:rPr lang="bg-BG" sz="28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800" i="1" dirty="0">
                <a:solidFill>
                  <a:schemeClr val="tx1"/>
                </a:solidFill>
                <a:latin typeface="Arial" charset="0"/>
              </a:rPr>
              <a:t>-</a:t>
            </a:r>
            <a:r>
              <a:rPr lang="bg-BG" sz="2800" dirty="0">
                <a:solidFill>
                  <a:schemeClr val="tx1"/>
                </a:solidFill>
                <a:latin typeface="Arial" charset="0"/>
              </a:rPr>
              <a:t>1. </a:t>
            </a:r>
            <a:br>
              <a:rPr lang="bg-BG" sz="2800" dirty="0">
                <a:solidFill>
                  <a:schemeClr val="tx1"/>
                </a:solidFill>
                <a:latin typeface="Arial" charset="0"/>
              </a:rPr>
            </a:br>
            <a:r>
              <a:rPr lang="bg-BG" sz="1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1000" dirty="0">
                <a:solidFill>
                  <a:schemeClr val="tx1"/>
                </a:solidFill>
                <a:latin typeface="Arial" charset="0"/>
              </a:rPr>
            </a:br>
            <a:r>
              <a:rPr lang="bg-BG" sz="2400" dirty="0">
                <a:solidFill>
                  <a:schemeClr val="tx1"/>
                </a:solidFill>
                <a:latin typeface="Arial" charset="0"/>
              </a:rPr>
              <a:t>Теоремата дава следния практически резултат: Ако за </a:t>
            </a:r>
            <a:r>
              <a:rPr lang="bg-BG" sz="2400" dirty="0" smtClean="0">
                <a:solidFill>
                  <a:schemeClr val="tx1"/>
                </a:solidFill>
                <a:latin typeface="Arial" charset="0"/>
              </a:rPr>
              <a:t>дадено 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естествено число </a:t>
            </a:r>
            <a:r>
              <a:rPr lang="bg-BG" sz="28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 намерено естествено число </a:t>
            </a:r>
            <a:r>
              <a:rPr lang="bg-BG" sz="2800" b="1" i="1" dirty="0">
                <a:solidFill>
                  <a:schemeClr val="tx1"/>
                </a:solidFill>
                <a:latin typeface="Arial" charset="0"/>
              </a:rPr>
              <a:t>a</a:t>
            </a:r>
            <a:r>
              <a:rPr lang="bg-BG" sz="2400" b="1" dirty="0">
                <a:solidFill>
                  <a:schemeClr val="tx1"/>
                </a:solidFill>
                <a:latin typeface="Arial" charset="0"/>
              </a:rPr>
              <a:t> (</a:t>
            </a:r>
            <a:r>
              <a:rPr lang="bg-BG" sz="2800" b="1" dirty="0">
                <a:solidFill>
                  <a:schemeClr val="tx1"/>
                </a:solidFill>
                <a:latin typeface="Arial" charset="0"/>
              </a:rPr>
              <a:t>1</a:t>
            </a:r>
            <a:r>
              <a:rPr lang="bg-BG" sz="2800" b="1" i="1" dirty="0">
                <a:solidFill>
                  <a:schemeClr val="tx1"/>
                </a:solidFill>
                <a:latin typeface="Arial" charset="0"/>
              </a:rPr>
              <a:t>&lt;a&lt;n</a:t>
            </a:r>
            <a:r>
              <a:rPr lang="bg-BG" sz="2800" b="1" dirty="0">
                <a:solidFill>
                  <a:schemeClr val="tx1"/>
                </a:solidFill>
                <a:latin typeface="Arial" charset="0"/>
              </a:rPr>
              <a:t>)</a:t>
            </a:r>
            <a:r>
              <a:rPr lang="bg-BG" sz="2800" dirty="0">
                <a:solidFill>
                  <a:schemeClr val="tx1"/>
                </a:solidFill>
                <a:latin typeface="Arial" charset="0"/>
              </a:rPr>
              <a:t>,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 такова че</a:t>
            </a:r>
            <a:r>
              <a:rPr lang="bg-BG" sz="28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bg-BG" sz="2800" b="1" i="1" dirty="0">
                <a:solidFill>
                  <a:schemeClr val="tx1"/>
                </a:solidFill>
                <a:latin typeface="Arial" charset="0"/>
              </a:rPr>
              <a:t>a</a:t>
            </a:r>
            <a:r>
              <a:rPr lang="bg-BG" sz="2800" b="1" i="1" baseline="30000" dirty="0">
                <a:solidFill>
                  <a:schemeClr val="tx1"/>
                </a:solidFill>
                <a:latin typeface="Arial" charset="0"/>
              </a:rPr>
              <a:t>n-1</a:t>
            </a:r>
            <a:r>
              <a:rPr lang="bg-BG" sz="2800" b="1" i="1" dirty="0">
                <a:solidFill>
                  <a:schemeClr val="tx1"/>
                </a:solidFill>
                <a:latin typeface="Arial" charset="0"/>
              </a:rPr>
              <a:t> % n</a:t>
            </a:r>
            <a:r>
              <a:rPr lang="bg-BG" sz="2800" dirty="0">
                <a:solidFill>
                  <a:schemeClr val="tx1"/>
                </a:solidFill>
                <a:latin typeface="Arial" charset="0"/>
              </a:rPr>
              <a:t> &lt;&gt; 1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, то следва, че </a:t>
            </a:r>
            <a:r>
              <a:rPr lang="bg-BG" sz="28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 е съставно.</a:t>
            </a:r>
            <a:br>
              <a:rPr lang="bg-BG" sz="2400" dirty="0">
                <a:solidFill>
                  <a:schemeClr val="tx1"/>
                </a:solidFill>
                <a:latin typeface="Arial" charset="0"/>
              </a:rPr>
            </a:br>
            <a:endParaRPr lang="bg-BG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404664"/>
            <a:ext cx="8028384" cy="6248400"/>
          </a:xfrm>
        </p:spPr>
        <p:txBody>
          <a:bodyPr>
            <a:normAutofit fontScale="90000"/>
          </a:bodyPr>
          <a:lstStyle/>
          <a:p>
            <a:pPr algn="l"/>
            <a:r>
              <a:rPr lang="bg-BG" sz="2400" dirty="0">
                <a:solidFill>
                  <a:schemeClr val="tx1"/>
                </a:solidFill>
                <a:latin typeface="Arial" charset="0"/>
              </a:rPr>
              <a:t>Алгоритъм Монте Карло 2:</a:t>
            </a:r>
            <a:br>
              <a:rPr lang="bg-BG" sz="2400" dirty="0">
                <a:solidFill>
                  <a:schemeClr val="tx1"/>
                </a:solidFill>
                <a:latin typeface="Arial" charset="0"/>
              </a:rPr>
            </a:br>
            <a:r>
              <a:rPr lang="en-US" sz="24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2400" dirty="0">
                <a:solidFill>
                  <a:schemeClr val="tx1"/>
                </a:solidFill>
                <a:latin typeface="Arial" charset="0"/>
              </a:rPr>
            </a:br>
            <a:r>
              <a:rPr lang="bg-BG" sz="2400" dirty="0" err="1">
                <a:solidFill>
                  <a:schemeClr val="tx1"/>
                </a:solidFill>
                <a:latin typeface="Courier New" pitchFamily="49" charset="-52"/>
              </a:rPr>
              <a:t>for</a:t>
            </a: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>(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-52"/>
              </a:rPr>
              <a:t>i</a:t>
            </a: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>=1, </a:t>
            </a: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2, …</a:t>
            </a: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> k)</a:t>
            </a: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	//k опита</a:t>
            </a:r>
            <a:br>
              <a:rPr lang="bg-BG" sz="24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   {</a:t>
            </a: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en-US" sz="24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     а=</a:t>
            </a:r>
            <a:r>
              <a:rPr lang="bg-BG" sz="2400" dirty="0" err="1">
                <a:solidFill>
                  <a:schemeClr val="tx1"/>
                </a:solidFill>
                <a:latin typeface="Courier New" pitchFamily="49" charset="-52"/>
              </a:rPr>
              <a:t>random</a:t>
            </a: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(n-1) + 1;</a:t>
            </a: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en-US" sz="24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>	    if (</a:t>
            </a: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a</a:t>
            </a:r>
            <a:r>
              <a:rPr lang="bg-BG" sz="2400" baseline="30000" dirty="0">
                <a:solidFill>
                  <a:schemeClr val="tx1"/>
                </a:solidFill>
                <a:latin typeface="Courier New" pitchFamily="49" charset="-52"/>
              </a:rPr>
              <a:t>n-1</a:t>
            </a: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 % n != 1)</a:t>
            </a: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en-US" sz="24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>		{return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-52"/>
              </a:rPr>
              <a:t>n_е</a:t>
            </a: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_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-52"/>
              </a:rPr>
              <a:t>съставно</a:t>
            </a: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>;}</a:t>
            </a:r>
            <a:br>
              <a:rPr lang="en-US" sz="24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>   }</a:t>
            </a:r>
            <a:br>
              <a:rPr lang="en-US" sz="24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>	     return </a:t>
            </a:r>
            <a:r>
              <a:rPr lang="en-US" sz="2400" dirty="0" err="1">
                <a:solidFill>
                  <a:schemeClr val="tx1"/>
                </a:solidFill>
                <a:latin typeface="Courier New" pitchFamily="49" charset="-52"/>
              </a:rPr>
              <a:t>n_е_просто</a:t>
            </a: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;</a:t>
            </a:r>
            <a:br>
              <a:rPr lang="bg-BG" sz="24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400" dirty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en-US" sz="24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400" dirty="0">
                <a:solidFill>
                  <a:schemeClr val="tx1"/>
                </a:solidFill>
                <a:latin typeface="Arial" charset="0"/>
              </a:rPr>
              <a:t>Тук отново не можем директно да определим вероятност </a:t>
            </a:r>
            <a:r>
              <a:rPr lang="bg-BG" sz="2400" b="1" i="1" dirty="0">
                <a:solidFill>
                  <a:schemeClr val="tx1"/>
                </a:solidFill>
                <a:latin typeface="Arial" charset="0"/>
              </a:rPr>
              <a:t>p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, за която Алгоритъм 2 дава правилно решение. </a:t>
            </a:r>
            <a:br>
              <a:rPr lang="bg-BG" sz="2400" dirty="0">
                <a:solidFill>
                  <a:schemeClr val="tx1"/>
                </a:solidFill>
                <a:latin typeface="Arial" charset="0"/>
              </a:rPr>
            </a:br>
            <a:r>
              <a:rPr lang="bg-BG" sz="1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1000" dirty="0">
                <a:solidFill>
                  <a:schemeClr val="tx1"/>
                </a:solidFill>
                <a:latin typeface="Arial" charset="0"/>
              </a:rPr>
            </a:br>
            <a:r>
              <a:rPr lang="bg-BG" sz="2400" dirty="0">
                <a:solidFill>
                  <a:schemeClr val="tx1"/>
                </a:solidFill>
                <a:latin typeface="Arial" charset="0"/>
              </a:rPr>
              <a:t>	Следва третия алгоритъм, чиято правилност може да бъде определена. Той е един от примерите за това, колко полезни и ефективни могат да бъдат алгоритмите Монте Карло.</a:t>
            </a:r>
            <a:r>
              <a:rPr lang="bg-BG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dirty="0">
                <a:solidFill>
                  <a:schemeClr val="tx1"/>
                </a:solidFill>
                <a:latin typeface="Arial" charset="0"/>
              </a:rPr>
            </a:br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979984" y="260648"/>
            <a:ext cx="8164016" cy="6324600"/>
          </a:xfrm>
        </p:spPr>
        <p:txBody>
          <a:bodyPr>
            <a:normAutofit fontScale="90000"/>
          </a:bodyPr>
          <a:lstStyle/>
          <a:p>
            <a:pPr algn="l"/>
            <a:r>
              <a:rPr lang="bg-BG" sz="2200" dirty="0">
                <a:latin typeface="Arial" charset="0"/>
              </a:rPr>
              <a:t>	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Нека е дадено естествено число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&gt;4. Да го представим във вида </a:t>
            </a:r>
            <a:r>
              <a:rPr lang="bg-BG" sz="2200" i="1" dirty="0">
                <a:solidFill>
                  <a:schemeClr val="tx1"/>
                </a:solidFill>
                <a:latin typeface="Arial" charset="0"/>
              </a:rPr>
              <a:t>2</a:t>
            </a:r>
            <a:r>
              <a:rPr lang="bg-BG" sz="2200" b="1" i="1" baseline="30000" dirty="0">
                <a:solidFill>
                  <a:schemeClr val="tx1"/>
                </a:solidFill>
                <a:latin typeface="Arial" charset="0"/>
              </a:rPr>
              <a:t>s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* t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 - 1, където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s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 и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t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 са естествени числа,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s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&gt;0,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t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 е нечетно. Дадено е още едно естествено число </a:t>
            </a:r>
            <a:r>
              <a:rPr lang="en-US" sz="2200" b="1" i="1" dirty="0">
                <a:solidFill>
                  <a:schemeClr val="tx1"/>
                </a:solidFill>
                <a:latin typeface="Arial" charset="0"/>
              </a:rPr>
              <a:t>a</a:t>
            </a:r>
            <a:r>
              <a:rPr lang="bg-BG" sz="2200" b="1" dirty="0">
                <a:solidFill>
                  <a:schemeClr val="tx1"/>
                </a:solidFill>
                <a:latin typeface="Arial" charset="0"/>
              </a:rPr>
              <a:t>,</a:t>
            </a:r>
            <a:r>
              <a:rPr lang="en-US" sz="2200" b="1" dirty="0">
                <a:solidFill>
                  <a:schemeClr val="tx1"/>
                </a:solidFill>
                <a:latin typeface="Arial" charset="0"/>
              </a:rPr>
              <a:t> 1&lt;</a:t>
            </a:r>
            <a:r>
              <a:rPr lang="en-US" sz="2200" b="1" i="1" dirty="0">
                <a:solidFill>
                  <a:schemeClr val="tx1"/>
                </a:solidFill>
                <a:latin typeface="Arial" charset="0"/>
              </a:rPr>
              <a:t>a</a:t>
            </a:r>
            <a:r>
              <a:rPr lang="en-US" sz="2200" b="1" dirty="0">
                <a:solidFill>
                  <a:schemeClr val="tx1"/>
                </a:solidFill>
                <a:latin typeface="Arial" charset="0"/>
              </a:rPr>
              <a:t>&lt;</a:t>
            </a:r>
            <a:r>
              <a:rPr lang="en-US" sz="22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200" b="1" dirty="0">
                <a:solidFill>
                  <a:schemeClr val="tx1"/>
                </a:solidFill>
                <a:latin typeface="Arial" charset="0"/>
              </a:rPr>
              <a:t>-1</a:t>
            </a:r>
            <a:r>
              <a:rPr lang="en-US" sz="2200" b="1" dirty="0">
                <a:solidFill>
                  <a:schemeClr val="tx1"/>
                </a:solidFill>
                <a:latin typeface="Arial" charset="0"/>
              </a:rPr>
              <a:t>. 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Числото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 се нарича </a:t>
            </a:r>
            <a:r>
              <a:rPr lang="bg-BG" sz="2200" i="1" dirty="0">
                <a:solidFill>
                  <a:schemeClr val="tx1"/>
                </a:solidFill>
                <a:latin typeface="Arial" charset="0"/>
              </a:rPr>
              <a:t>строго случайно при основа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а</a:t>
            </a:r>
            <a:r>
              <a:rPr lang="bg-BG" sz="2200" i="1" dirty="0">
                <a:solidFill>
                  <a:schemeClr val="tx1"/>
                </a:solidFill>
                <a:latin typeface="Arial" charset="0"/>
              </a:rPr>
              <a:t>,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 ако </a:t>
            </a:r>
            <a:r>
              <a:rPr lang="bg-BG" sz="2200" b="1" i="1" dirty="0" err="1">
                <a:solidFill>
                  <a:schemeClr val="tx1"/>
                </a:solidFill>
                <a:latin typeface="Arial" charset="0"/>
              </a:rPr>
              <a:t>a</a:t>
            </a:r>
            <a:r>
              <a:rPr lang="bg-BG" sz="2200" b="1" i="1" baseline="30000" dirty="0" err="1">
                <a:solidFill>
                  <a:schemeClr val="tx1"/>
                </a:solidFill>
                <a:latin typeface="Arial" charset="0"/>
              </a:rPr>
              <a:t>t</a:t>
            </a:r>
            <a:r>
              <a:rPr lang="bg-BG" sz="2200" b="1" dirty="0">
                <a:solidFill>
                  <a:schemeClr val="tx1"/>
                </a:solidFill>
                <a:latin typeface="Arial" charset="0"/>
              </a:rPr>
              <a:t> %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 = 1 или съществува естествено число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i</a:t>
            </a:r>
            <a:r>
              <a:rPr lang="bg-BG" sz="2200" b="1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200" dirty="0">
                <a:solidFill>
                  <a:schemeClr val="tx1"/>
                </a:solidFill>
                <a:latin typeface="Arial" charset="0"/>
              </a:rPr>
              <a:t>(0&lt;=</a:t>
            </a:r>
            <a:r>
              <a:rPr lang="en-US" sz="2200" b="1" i="1" dirty="0" err="1">
                <a:solidFill>
                  <a:schemeClr val="tx1"/>
                </a:solidFill>
                <a:latin typeface="Arial" charset="0"/>
              </a:rPr>
              <a:t>i</a:t>
            </a:r>
            <a:r>
              <a:rPr lang="en-US" sz="2200" dirty="0">
                <a:solidFill>
                  <a:schemeClr val="tx1"/>
                </a:solidFill>
                <a:latin typeface="Arial" charset="0"/>
              </a:rPr>
              <a:t>&lt;</a:t>
            </a:r>
            <a:r>
              <a:rPr lang="en-US" sz="2200" b="1" i="1" dirty="0">
                <a:solidFill>
                  <a:schemeClr val="tx1"/>
                </a:solidFill>
                <a:latin typeface="Arial" charset="0"/>
              </a:rPr>
              <a:t>s</a:t>
            </a:r>
            <a:r>
              <a:rPr lang="en-US" sz="2200" dirty="0">
                <a:solidFill>
                  <a:schemeClr val="tx1"/>
                </a:solidFill>
                <a:latin typeface="Arial" charset="0"/>
              </a:rPr>
              <a:t>) 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такова, че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а</a:t>
            </a:r>
            <a:r>
              <a:rPr lang="bg-BG" sz="2200" b="1" i="1" baseline="30000" dirty="0">
                <a:solidFill>
                  <a:schemeClr val="tx1"/>
                </a:solidFill>
                <a:latin typeface="Arial" charset="0"/>
              </a:rPr>
              <a:t>2i</a:t>
            </a:r>
            <a:r>
              <a:rPr lang="bg-BG" sz="2200" b="1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US" sz="2200" b="1" dirty="0">
                <a:solidFill>
                  <a:schemeClr val="tx1"/>
                </a:solidFill>
                <a:latin typeface="Arial" charset="0"/>
              </a:rPr>
              <a:t>% </a:t>
            </a:r>
            <a:r>
              <a:rPr lang="en-US" sz="22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en-US" sz="2200" dirty="0">
                <a:solidFill>
                  <a:schemeClr val="tx1"/>
                </a:solidFill>
                <a:latin typeface="Arial" charset="0"/>
              </a:rPr>
              <a:t> = </a:t>
            </a:r>
            <a:r>
              <a:rPr lang="en-US" sz="22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en-US" sz="2200" dirty="0">
                <a:solidFill>
                  <a:schemeClr val="tx1"/>
                </a:solidFill>
                <a:latin typeface="Arial" charset="0"/>
              </a:rPr>
              <a:t>-1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200" dirty="0">
                <a:solidFill>
                  <a:schemeClr val="tx1"/>
                </a:solidFill>
                <a:latin typeface="Arial" charset="0"/>
              </a:rPr>
            </a:br>
            <a:r>
              <a:rPr lang="bg-BG" sz="2200" dirty="0">
                <a:solidFill>
                  <a:schemeClr val="tx1"/>
                </a:solidFill>
                <a:latin typeface="Arial" charset="0"/>
              </a:rPr>
              <a:t> </a:t>
            </a:r>
            <a:br>
              <a:rPr lang="bg-BG" sz="2200" dirty="0">
                <a:solidFill>
                  <a:schemeClr val="tx1"/>
                </a:solidFill>
                <a:latin typeface="Arial" charset="0"/>
              </a:rPr>
            </a:b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Теорема.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 Ако при произволна фиксирана база </a:t>
            </a:r>
            <a:r>
              <a:rPr lang="en-US" sz="2200" b="1" i="1" dirty="0">
                <a:solidFill>
                  <a:schemeClr val="tx1"/>
                </a:solidFill>
                <a:latin typeface="Arial" charset="0"/>
              </a:rPr>
              <a:t>a</a:t>
            </a:r>
            <a:r>
              <a:rPr lang="en-US" sz="2200" b="1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bg-BG" sz="2200" b="1" dirty="0">
                <a:solidFill>
                  <a:schemeClr val="tx1"/>
                </a:solidFill>
                <a:latin typeface="Arial" charset="0"/>
              </a:rPr>
              <a:t>(</a:t>
            </a:r>
            <a:r>
              <a:rPr lang="en-US" sz="2200" b="1" dirty="0">
                <a:solidFill>
                  <a:schemeClr val="tx1"/>
                </a:solidFill>
                <a:latin typeface="Arial" charset="0"/>
              </a:rPr>
              <a:t>1&lt;</a:t>
            </a:r>
            <a:r>
              <a:rPr lang="en-US" sz="2200" b="1" i="1" dirty="0">
                <a:solidFill>
                  <a:schemeClr val="tx1"/>
                </a:solidFill>
                <a:latin typeface="Arial" charset="0"/>
              </a:rPr>
              <a:t>a</a:t>
            </a:r>
            <a:r>
              <a:rPr lang="en-US" sz="2200" b="1" dirty="0">
                <a:solidFill>
                  <a:schemeClr val="tx1"/>
                </a:solidFill>
                <a:latin typeface="Arial" charset="0"/>
              </a:rPr>
              <a:t>&lt;</a:t>
            </a:r>
            <a:r>
              <a:rPr lang="en-US" sz="22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200" b="1" dirty="0">
                <a:solidFill>
                  <a:schemeClr val="tx1"/>
                </a:solidFill>
                <a:latin typeface="Arial" charset="0"/>
              </a:rPr>
              <a:t>-1)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200" b="1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не е строго случайно число, то </a:t>
            </a:r>
            <a:r>
              <a:rPr lang="en-US" sz="22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en-US" sz="2200" dirty="0">
                <a:solidFill>
                  <a:schemeClr val="tx1"/>
                </a:solidFill>
                <a:latin typeface="Arial" charset="0"/>
              </a:rPr>
              <a:t> е 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съставно. В противен случай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 е просто с вероятност, по-висока от 0.75.</a:t>
            </a:r>
            <a:br>
              <a:rPr lang="bg-BG" sz="2200" dirty="0">
                <a:solidFill>
                  <a:schemeClr val="tx1"/>
                </a:solidFill>
                <a:latin typeface="Arial" charset="0"/>
              </a:rPr>
            </a:br>
            <a:r>
              <a:rPr lang="bg-BG" sz="22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200" dirty="0">
                <a:solidFill>
                  <a:schemeClr val="tx1"/>
                </a:solidFill>
                <a:latin typeface="Arial" charset="0"/>
              </a:rPr>
            </a:br>
            <a:r>
              <a:rPr lang="bg-BG" sz="2200" dirty="0">
                <a:solidFill>
                  <a:schemeClr val="tx1"/>
                </a:solidFill>
                <a:latin typeface="Arial" charset="0"/>
              </a:rPr>
              <a:t> Алгоритъм Монте Карло 3:</a:t>
            </a:r>
            <a:br>
              <a:rPr lang="bg-BG" sz="2200" dirty="0">
                <a:solidFill>
                  <a:schemeClr val="tx1"/>
                </a:solidFill>
                <a:latin typeface="Arial" charset="0"/>
              </a:rPr>
            </a:br>
            <a:r>
              <a:rPr lang="bg-BG" sz="2200" dirty="0" err="1">
                <a:solidFill>
                  <a:schemeClr val="tx1"/>
                </a:solidFill>
                <a:latin typeface="Courier New" pitchFamily="49" charset="-52"/>
              </a:rPr>
              <a:t>for</a:t>
            </a: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 (i=1, 2, … k)	//</a:t>
            </a:r>
            <a:r>
              <a:rPr lang="bg-BG" sz="2200" dirty="0" err="1">
                <a:solidFill>
                  <a:schemeClr val="tx1"/>
                </a:solidFill>
                <a:latin typeface="Courier New" pitchFamily="49" charset="-52"/>
              </a:rPr>
              <a:t>k</a:t>
            </a: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 опита</a:t>
            </a:r>
            <a:br>
              <a:rPr lang="bg-BG" sz="22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   {</a:t>
            </a:r>
            <a:br>
              <a:rPr lang="bg-BG" sz="22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     а=</a:t>
            </a:r>
            <a:r>
              <a:rPr lang="bg-BG" sz="2200" dirty="0" err="1">
                <a:solidFill>
                  <a:schemeClr val="tx1"/>
                </a:solidFill>
                <a:latin typeface="Courier New" pitchFamily="49" charset="-52"/>
              </a:rPr>
              <a:t>random</a:t>
            </a: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(n-3) + 2;</a:t>
            </a:r>
            <a:br>
              <a:rPr lang="bg-BG" sz="22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	    </a:t>
            </a:r>
            <a:r>
              <a:rPr lang="bg-BG" sz="2200" dirty="0" err="1">
                <a:solidFill>
                  <a:schemeClr val="tx1"/>
                </a:solidFill>
                <a:latin typeface="Courier New" pitchFamily="49" charset="-52"/>
              </a:rPr>
              <a:t>if</a:t>
            </a: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 (n не е строго случайно при база а)</a:t>
            </a:r>
            <a:br>
              <a:rPr lang="bg-BG" sz="22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		{</a:t>
            </a:r>
            <a:r>
              <a:rPr lang="bg-BG" sz="2200" dirty="0" err="1">
                <a:solidFill>
                  <a:schemeClr val="tx1"/>
                </a:solidFill>
                <a:latin typeface="Courier New" pitchFamily="49" charset="-52"/>
              </a:rPr>
              <a:t>return</a:t>
            </a: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 </a:t>
            </a:r>
            <a:r>
              <a:rPr lang="bg-BG" sz="2200" dirty="0" err="1">
                <a:solidFill>
                  <a:schemeClr val="tx1"/>
                </a:solidFill>
                <a:latin typeface="Courier New" pitchFamily="49" charset="-52"/>
              </a:rPr>
              <a:t>n_е_съставно</a:t>
            </a: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;}</a:t>
            </a:r>
            <a:br>
              <a:rPr lang="bg-BG" sz="22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   }</a:t>
            </a:r>
            <a:br>
              <a:rPr lang="bg-BG" sz="22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	     </a:t>
            </a:r>
            <a:r>
              <a:rPr lang="bg-BG" sz="2200" dirty="0" err="1">
                <a:solidFill>
                  <a:schemeClr val="tx1"/>
                </a:solidFill>
                <a:latin typeface="Courier New" pitchFamily="49" charset="-52"/>
              </a:rPr>
              <a:t>return</a:t>
            </a: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 </a:t>
            </a:r>
            <a:r>
              <a:rPr lang="bg-BG" sz="2200" dirty="0" err="1">
                <a:solidFill>
                  <a:schemeClr val="tx1"/>
                </a:solidFill>
                <a:latin typeface="Courier New" pitchFamily="49" charset="-52"/>
              </a:rPr>
              <a:t>n_е_просто</a:t>
            </a: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;</a:t>
            </a:r>
            <a:r>
              <a:rPr lang="bg-BG" dirty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bg-BG" dirty="0">
                <a:solidFill>
                  <a:schemeClr val="tx1"/>
                </a:solidFill>
                <a:latin typeface="Courier New" pitchFamily="49" charset="-52"/>
              </a:rPr>
            </a:br>
            <a:endParaRPr lang="bg-BG" dirty="0">
              <a:solidFill>
                <a:schemeClr val="tx1"/>
              </a:solidFill>
              <a:latin typeface="Courier New" pitchFamily="49" charset="-52"/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332656"/>
            <a:ext cx="7848872" cy="6324600"/>
          </a:xfrm>
        </p:spPr>
        <p:txBody>
          <a:bodyPr/>
          <a:lstStyle/>
          <a:p>
            <a:pPr algn="l"/>
            <a:r>
              <a:rPr lang="bg-BG" sz="2200" dirty="0">
                <a:latin typeface="Arial" charset="0"/>
              </a:rPr>
              <a:t>	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Теоремата твърди, че вероятността за намиране на правилното решение е поне 0,75. Така, ако изпълним Алгоритъм 3 за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k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=4 (т.е. повторим основния опит 4 пъти), ще получим резултат за </a:t>
            </a:r>
            <a:r>
              <a:rPr lang="bg-BG" sz="2200" b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 с вероятност над 99%. Това превръща алгоритъма в изключително мощно средство за проверка и търсене на прости числа - с него може да се провери, дали едно число, с повече от 1000 цифри е просто, като вероятността  за грешка е по-ниска от 10</a:t>
            </a:r>
            <a:r>
              <a:rPr lang="bg-BG" sz="2200" b="1" baseline="30000" dirty="0">
                <a:solidFill>
                  <a:schemeClr val="tx1"/>
                </a:solidFill>
                <a:latin typeface="Arial" charset="0"/>
              </a:rPr>
              <a:t>-100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 .</a:t>
            </a:r>
            <a:r>
              <a:rPr lang="en-US" sz="22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2200" dirty="0">
                <a:solidFill>
                  <a:schemeClr val="tx1"/>
                </a:solidFill>
                <a:latin typeface="Arial" charset="0"/>
              </a:rPr>
            </a:br>
            <a:r>
              <a:rPr lang="en-US" sz="22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За реализацията на Алгоритъм 3 трябва да се извърши проверка, дали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 е строго случайно при произволно избрана база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a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. Това става по следния начин:</a:t>
            </a:r>
            <a:r>
              <a:rPr lang="en-US" sz="22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2200" dirty="0">
                <a:solidFill>
                  <a:schemeClr val="tx1"/>
                </a:solidFill>
                <a:latin typeface="Arial" charset="0"/>
              </a:rPr>
            </a:br>
            <a:r>
              <a:rPr lang="en-US" sz="22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2200" dirty="0">
                <a:solidFill>
                  <a:schemeClr val="tx1"/>
                </a:solidFill>
                <a:latin typeface="Arial" charset="0"/>
              </a:rPr>
            </a:br>
            <a:r>
              <a:rPr lang="bg-BG" sz="2200" dirty="0">
                <a:solidFill>
                  <a:schemeClr val="tx1"/>
                </a:solidFill>
              </a:rPr>
              <a:t> - 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Намираме числата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s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 и </a:t>
            </a:r>
            <a:r>
              <a:rPr lang="bg-BG" sz="2200" b="1" i="1" dirty="0">
                <a:solidFill>
                  <a:schemeClr val="tx1"/>
                </a:solidFill>
                <a:latin typeface="Arial" charset="0"/>
              </a:rPr>
              <a:t>t</a:t>
            </a:r>
            <a:r>
              <a:rPr lang="bg-BG" sz="2200" dirty="0">
                <a:solidFill>
                  <a:schemeClr val="tx1"/>
                </a:solidFill>
                <a:latin typeface="Arial" charset="0"/>
              </a:rPr>
              <a:t>:</a:t>
            </a:r>
            <a:br>
              <a:rPr lang="bg-BG" sz="2200" dirty="0">
                <a:solidFill>
                  <a:schemeClr val="tx1"/>
                </a:solidFill>
                <a:latin typeface="Arial" charset="0"/>
              </a:rPr>
            </a:br>
            <a:r>
              <a:rPr lang="bg-BG" sz="22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200" dirty="0">
                <a:solidFill>
                  <a:schemeClr val="tx1"/>
                </a:solidFill>
                <a:latin typeface="Arial" charset="0"/>
              </a:rPr>
            </a:b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s=</a:t>
            </a:r>
            <a:r>
              <a:rPr lang="en-US" sz="2200" dirty="0">
                <a:solidFill>
                  <a:schemeClr val="tx1"/>
                </a:solidFill>
                <a:latin typeface="Courier New" pitchFamily="49" charset="-52"/>
              </a:rPr>
              <a:t>1; t=n-1;</a:t>
            </a:r>
            <a:br>
              <a:rPr lang="en-US" sz="22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200" dirty="0">
                <a:solidFill>
                  <a:schemeClr val="tx1"/>
                </a:solidFill>
                <a:latin typeface="Courier New" pitchFamily="49" charset="-52"/>
              </a:rPr>
              <a:t>while (t % 2 !=1)  {s++; t/=2;}</a:t>
            </a:r>
            <a:br>
              <a:rPr lang="en-US" sz="2200" dirty="0">
                <a:solidFill>
                  <a:schemeClr val="tx1"/>
                </a:solidFill>
                <a:latin typeface="Courier New" pitchFamily="49" charset="-52"/>
              </a:rPr>
            </a:br>
            <a:endParaRPr lang="en-US" dirty="0">
              <a:solidFill>
                <a:schemeClr val="tx1"/>
              </a:solidFill>
              <a:latin typeface="Courier New" pitchFamily="49" charset="-52"/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260648"/>
            <a:ext cx="8227640" cy="6400800"/>
          </a:xfrm>
        </p:spPr>
        <p:txBody>
          <a:bodyPr/>
          <a:lstStyle/>
          <a:p>
            <a:pPr algn="l"/>
            <a:r>
              <a:rPr lang="bg-BG" dirty="0"/>
              <a:t> </a:t>
            </a:r>
            <a:r>
              <a:rPr lang="bg-BG" sz="2200" dirty="0">
                <a:latin typeface="Arial" charset="0"/>
              </a:rPr>
              <a:t>- </a:t>
            </a:r>
            <a:r>
              <a:rPr lang="bg-BG" sz="2400" dirty="0">
                <a:latin typeface="Arial" charset="0"/>
              </a:rPr>
              <a:t>Проверяваме, дали </a:t>
            </a:r>
            <a:r>
              <a:rPr lang="bg-BG" sz="2400" b="1" i="1" dirty="0" err="1">
                <a:latin typeface="Arial" charset="0"/>
              </a:rPr>
              <a:t>a</a:t>
            </a:r>
            <a:r>
              <a:rPr lang="bg-BG" sz="2400" b="1" i="1" baseline="30000" dirty="0" err="1">
                <a:latin typeface="Arial" charset="0"/>
              </a:rPr>
              <a:t>t</a:t>
            </a:r>
            <a:r>
              <a:rPr lang="bg-BG" sz="2400" b="1" dirty="0">
                <a:latin typeface="Arial" charset="0"/>
              </a:rPr>
              <a:t> %</a:t>
            </a:r>
            <a:r>
              <a:rPr lang="bg-BG" sz="2400" b="1" i="1" dirty="0">
                <a:latin typeface="Arial" charset="0"/>
              </a:rPr>
              <a:t> n</a:t>
            </a:r>
            <a:r>
              <a:rPr lang="bg-BG" sz="2400" dirty="0">
                <a:latin typeface="Arial" charset="0"/>
              </a:rPr>
              <a:t> = 1:</a:t>
            </a:r>
            <a:br>
              <a:rPr lang="bg-BG" sz="2400" dirty="0">
                <a:latin typeface="Arial" charset="0"/>
              </a:rPr>
            </a:br>
            <a:r>
              <a:rPr lang="bg-BG" sz="1000" dirty="0">
                <a:latin typeface="Arial" charset="0"/>
              </a:rPr>
              <a:t/>
            </a:r>
            <a:br>
              <a:rPr lang="bg-BG" sz="1000" dirty="0">
                <a:latin typeface="Arial" charset="0"/>
              </a:rPr>
            </a:br>
            <a:r>
              <a:rPr lang="bg-BG" sz="2400" dirty="0">
                <a:latin typeface="Courier New" pitchFamily="49" charset="-52"/>
              </a:rPr>
              <a:t>x=</a:t>
            </a:r>
            <a:r>
              <a:rPr lang="bg-BG" sz="2400" dirty="0" err="1">
                <a:latin typeface="Courier New" pitchFamily="49" charset="-52"/>
              </a:rPr>
              <a:t>power</a:t>
            </a:r>
            <a:r>
              <a:rPr lang="bg-BG" sz="2400" dirty="0">
                <a:latin typeface="Courier New" pitchFamily="49" charset="-52"/>
              </a:rPr>
              <a:t>(a, t) % n;</a:t>
            </a:r>
            <a:br>
              <a:rPr lang="bg-BG" sz="2400" dirty="0">
                <a:latin typeface="Courier New" pitchFamily="49" charset="-52"/>
              </a:rPr>
            </a:br>
            <a:r>
              <a:rPr lang="bg-BG" sz="2400" dirty="0" err="1">
                <a:latin typeface="Courier New" pitchFamily="49" charset="-52"/>
              </a:rPr>
              <a:t>if</a:t>
            </a:r>
            <a:r>
              <a:rPr lang="bg-BG" sz="2400" dirty="0">
                <a:latin typeface="Courier New" pitchFamily="49" charset="-52"/>
              </a:rPr>
              <a:t> (x==1) </a:t>
            </a:r>
            <a:r>
              <a:rPr lang="bg-BG" sz="2400" dirty="0" err="1">
                <a:latin typeface="Courier New" pitchFamily="49" charset="-52"/>
              </a:rPr>
              <a:t>return</a:t>
            </a:r>
            <a:r>
              <a:rPr lang="bg-BG" sz="2400" dirty="0">
                <a:latin typeface="Courier New" pitchFamily="49" charset="-52"/>
              </a:rPr>
              <a:t> (</a:t>
            </a:r>
            <a:r>
              <a:rPr lang="bg-BG" sz="2400" dirty="0" err="1">
                <a:latin typeface="Courier New" pitchFamily="49" charset="-52"/>
              </a:rPr>
              <a:t>n_е_строго_случайно</a:t>
            </a:r>
            <a:r>
              <a:rPr lang="bg-BG" sz="2400" dirty="0">
                <a:latin typeface="Courier New" pitchFamily="49" charset="-52"/>
              </a:rPr>
              <a:t>);</a:t>
            </a:r>
            <a:br>
              <a:rPr lang="bg-BG" sz="2400" dirty="0">
                <a:latin typeface="Courier New" pitchFamily="49" charset="-52"/>
              </a:rPr>
            </a:br>
            <a:r>
              <a:rPr lang="bg-BG" sz="2400" dirty="0">
                <a:latin typeface="Courier New" pitchFamily="49" charset="-52"/>
              </a:rPr>
              <a:t/>
            </a:r>
            <a:br>
              <a:rPr lang="bg-BG" sz="2400" dirty="0">
                <a:latin typeface="Courier New" pitchFamily="49" charset="-52"/>
              </a:rPr>
            </a:br>
            <a:r>
              <a:rPr lang="bg-BG" sz="2400" dirty="0">
                <a:latin typeface="Courier New" pitchFamily="49" charset="-52"/>
              </a:rPr>
              <a:t>- </a:t>
            </a:r>
            <a:r>
              <a:rPr lang="bg-BG" sz="2400" dirty="0">
                <a:latin typeface="Arial" charset="0"/>
              </a:rPr>
              <a:t>Проверяваме, дали съществува </a:t>
            </a:r>
            <a:r>
              <a:rPr lang="bg-BG" sz="2400" b="1" i="1" dirty="0">
                <a:latin typeface="Arial" charset="0"/>
              </a:rPr>
              <a:t>i</a:t>
            </a:r>
            <a:r>
              <a:rPr lang="bg-BG" sz="2400" b="1" dirty="0">
                <a:latin typeface="Arial" charset="0"/>
              </a:rPr>
              <a:t> </a:t>
            </a:r>
            <a:r>
              <a:rPr lang="bg-BG" sz="2400" dirty="0">
                <a:latin typeface="Arial" charset="0"/>
              </a:rPr>
              <a:t>(0&lt;=</a:t>
            </a:r>
            <a:r>
              <a:rPr lang="bg-BG" sz="2400" b="1" i="1" dirty="0">
                <a:latin typeface="Arial" charset="0"/>
              </a:rPr>
              <a:t>i</a:t>
            </a:r>
            <a:r>
              <a:rPr lang="bg-BG" sz="2400" dirty="0">
                <a:latin typeface="Arial" charset="0"/>
              </a:rPr>
              <a:t>&lt;</a:t>
            </a:r>
            <a:r>
              <a:rPr lang="bg-BG" sz="2400" b="1" i="1" dirty="0">
                <a:latin typeface="Arial" charset="0"/>
              </a:rPr>
              <a:t>s</a:t>
            </a:r>
            <a:r>
              <a:rPr lang="bg-BG" sz="2400" dirty="0">
                <a:latin typeface="Arial" charset="0"/>
              </a:rPr>
              <a:t>), за което </a:t>
            </a:r>
            <a:br>
              <a:rPr lang="bg-BG" sz="2400" dirty="0">
                <a:latin typeface="Arial" charset="0"/>
              </a:rPr>
            </a:br>
            <a:r>
              <a:rPr lang="bg-BG" sz="2400" b="1" i="1" dirty="0">
                <a:latin typeface="Arial" charset="0"/>
              </a:rPr>
              <a:t>а</a:t>
            </a:r>
            <a:r>
              <a:rPr lang="bg-BG" sz="2400" b="1" i="1" baseline="30000" dirty="0">
                <a:latin typeface="Arial" charset="0"/>
              </a:rPr>
              <a:t>2i</a:t>
            </a:r>
            <a:r>
              <a:rPr lang="bg-BG" sz="2400" b="1" dirty="0">
                <a:latin typeface="Arial" charset="0"/>
              </a:rPr>
              <a:t> % </a:t>
            </a:r>
            <a:r>
              <a:rPr lang="bg-BG" sz="2400" b="1" i="1" dirty="0">
                <a:latin typeface="Arial" charset="0"/>
              </a:rPr>
              <a:t>n</a:t>
            </a:r>
            <a:r>
              <a:rPr lang="bg-BG" sz="2400" dirty="0">
                <a:latin typeface="Arial" charset="0"/>
              </a:rPr>
              <a:t> = </a:t>
            </a:r>
            <a:r>
              <a:rPr lang="bg-BG" sz="2400" b="1" i="1" dirty="0">
                <a:latin typeface="Arial" charset="0"/>
              </a:rPr>
              <a:t>n</a:t>
            </a:r>
            <a:r>
              <a:rPr lang="bg-BG" sz="2400" dirty="0">
                <a:latin typeface="Arial" charset="0"/>
              </a:rPr>
              <a:t>-1:</a:t>
            </a:r>
            <a:br>
              <a:rPr lang="bg-BG" sz="2400" dirty="0">
                <a:latin typeface="Arial" charset="0"/>
              </a:rPr>
            </a:br>
            <a:r>
              <a:rPr lang="bg-BG" sz="2400" dirty="0">
                <a:latin typeface="Arial" charset="0"/>
              </a:rPr>
              <a:t/>
            </a:r>
            <a:br>
              <a:rPr lang="bg-BG" sz="2400" dirty="0">
                <a:latin typeface="Arial" charset="0"/>
              </a:rPr>
            </a:br>
            <a:r>
              <a:rPr lang="bg-BG" sz="2400" dirty="0" err="1">
                <a:solidFill>
                  <a:schemeClr val="tx1"/>
                </a:solidFill>
                <a:latin typeface="Courier New" pitchFamily="49" charset="-52"/>
              </a:rPr>
              <a:t>for</a:t>
            </a: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 (i=1, 2, … k)	</a:t>
            </a:r>
            <a:br>
              <a:rPr lang="bg-BG" sz="24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   {</a:t>
            </a:r>
            <a:br>
              <a:rPr lang="bg-BG" sz="24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     </a:t>
            </a:r>
            <a:r>
              <a:rPr lang="bg-BG" sz="2400" dirty="0" err="1">
                <a:solidFill>
                  <a:schemeClr val="tx1"/>
                </a:solidFill>
                <a:latin typeface="Courier New" pitchFamily="49" charset="-52"/>
              </a:rPr>
              <a:t>if</a:t>
            </a: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 (n-1==x</a:t>
            </a:r>
            <a:r>
              <a:rPr lang="bg-BG" sz="2400" dirty="0" smtClean="0">
                <a:solidFill>
                  <a:schemeClr val="tx1"/>
                </a:solidFill>
                <a:latin typeface="Courier New" pitchFamily="49" charset="-52"/>
              </a:rPr>
              <a:t>)</a:t>
            </a:r>
            <a:r>
              <a:rPr lang="en-US" sz="2400" dirty="0" smtClean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en-US" sz="2400" dirty="0" smtClean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400" dirty="0" smtClean="0">
                <a:solidFill>
                  <a:schemeClr val="tx1"/>
                </a:solidFill>
                <a:latin typeface="Courier New" pitchFamily="49" charset="-52"/>
              </a:rPr>
              <a:t> </a:t>
            </a:r>
            <a:r>
              <a:rPr lang="bg-BG" sz="2400" dirty="0" smtClean="0">
                <a:solidFill>
                  <a:schemeClr val="tx1"/>
                </a:solidFill>
                <a:latin typeface="Courier New" pitchFamily="49" charset="-52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Courier New" pitchFamily="49" charset="-52"/>
              </a:rPr>
              <a:t>   </a:t>
            </a:r>
            <a:r>
              <a:rPr lang="bg-BG" sz="2400" dirty="0" err="1" smtClean="0">
                <a:solidFill>
                  <a:schemeClr val="tx1"/>
                </a:solidFill>
                <a:latin typeface="Courier New" pitchFamily="49" charset="-52"/>
              </a:rPr>
              <a:t>return</a:t>
            </a:r>
            <a:r>
              <a:rPr lang="bg-BG" sz="2400" dirty="0" smtClean="0">
                <a:solidFill>
                  <a:schemeClr val="tx1"/>
                </a:solidFill>
                <a:latin typeface="Courier New" pitchFamily="49" charset="-52"/>
              </a:rPr>
              <a:t>(</a:t>
            </a:r>
            <a:r>
              <a:rPr lang="bg-BG" sz="2400" dirty="0" err="1" smtClean="0">
                <a:solidFill>
                  <a:schemeClr val="tx1"/>
                </a:solidFill>
                <a:latin typeface="Courier New" pitchFamily="49" charset="-52"/>
              </a:rPr>
              <a:t>n_е_строго_случайно</a:t>
            </a: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);</a:t>
            </a:r>
            <a:br>
              <a:rPr lang="bg-BG" sz="24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     x=</a:t>
            </a:r>
            <a:r>
              <a:rPr lang="bg-BG" sz="2400" dirty="0" err="1">
                <a:solidFill>
                  <a:schemeClr val="tx1"/>
                </a:solidFill>
                <a:latin typeface="Courier New" pitchFamily="49" charset="-52"/>
              </a:rPr>
              <a:t>x</a:t>
            </a: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*</a:t>
            </a:r>
            <a:r>
              <a:rPr lang="bg-BG" sz="2400" dirty="0" err="1">
                <a:solidFill>
                  <a:schemeClr val="tx1"/>
                </a:solidFill>
                <a:latin typeface="Courier New" pitchFamily="49" charset="-52"/>
              </a:rPr>
              <a:t>x%n</a:t>
            </a: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;</a:t>
            </a:r>
            <a:br>
              <a:rPr lang="bg-BG" sz="24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400" dirty="0">
                <a:solidFill>
                  <a:schemeClr val="tx1"/>
                </a:solidFill>
                <a:latin typeface="Courier New" pitchFamily="49" charset="-52"/>
              </a:rPr>
              <a:t>   }</a:t>
            </a:r>
            <a:br>
              <a:rPr lang="bg-BG" sz="24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400" dirty="0" err="1">
                <a:solidFill>
                  <a:schemeClr val="tx1"/>
                </a:solidFill>
                <a:latin typeface="Courier New" pitchFamily="49" charset="-52"/>
              </a:rPr>
              <a:t>return</a:t>
            </a: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 (</a:t>
            </a:r>
            <a:r>
              <a:rPr lang="bg-BG" sz="2200" dirty="0" err="1">
                <a:solidFill>
                  <a:schemeClr val="tx1"/>
                </a:solidFill>
                <a:latin typeface="Courier New" pitchFamily="49" charset="-52"/>
              </a:rPr>
              <a:t>n_е_съставно</a:t>
            </a:r>
            <a:r>
              <a:rPr lang="bg-BG" sz="2200" dirty="0">
                <a:solidFill>
                  <a:schemeClr val="tx1"/>
                </a:solidFill>
                <a:latin typeface="Courier New" pitchFamily="49" charset="-52"/>
              </a:rPr>
              <a:t>);</a:t>
            </a:r>
            <a:br>
              <a:rPr lang="bg-BG" sz="22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200" dirty="0">
                <a:latin typeface="Arial" charset="0"/>
              </a:rPr>
              <a:t/>
            </a:r>
            <a:br>
              <a:rPr lang="bg-BG" sz="2200" dirty="0">
                <a:latin typeface="Arial" charset="0"/>
              </a:rPr>
            </a:br>
            <a:r>
              <a:rPr lang="bg-BG" sz="2200" dirty="0">
                <a:latin typeface="Arial" charset="0"/>
              </a:rPr>
              <a:t>	</a:t>
            </a:r>
            <a:endParaRPr lang="bg-BG" dirty="0">
              <a:solidFill>
                <a:schemeClr val="tx1"/>
              </a:solidFill>
              <a:latin typeface="Courier New" pitchFamily="49" charset="-52"/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188640"/>
            <a:ext cx="7795592" cy="6324600"/>
          </a:xfrm>
        </p:spPr>
        <p:txBody>
          <a:bodyPr/>
          <a:lstStyle/>
          <a:p>
            <a:pPr algn="l"/>
            <a:r>
              <a:rPr lang="bg-BG" sz="2000" dirty="0">
                <a:solidFill>
                  <a:schemeClr val="tx1"/>
                </a:solidFill>
                <a:latin typeface="Arial" charset="0"/>
              </a:rPr>
              <a:t>Следва програма, която определя по метода Монте Карло (Алгоритъм 3), дали дадено цяло число </a:t>
            </a:r>
            <a:r>
              <a:rPr lang="bg-BG" sz="2000" b="1" i="1" dirty="0">
                <a:solidFill>
                  <a:schemeClr val="tx1"/>
                </a:solidFill>
                <a:latin typeface="Arial" charset="0"/>
              </a:rPr>
              <a:t>n</a:t>
            </a:r>
            <a:r>
              <a:rPr lang="bg-BG" sz="2000" dirty="0">
                <a:solidFill>
                  <a:schemeClr val="tx1"/>
                </a:solidFill>
                <a:latin typeface="Arial" charset="0"/>
              </a:rPr>
              <a:t> е просто или съставно:</a:t>
            </a:r>
            <a:br>
              <a:rPr lang="bg-BG" sz="2000" dirty="0">
                <a:solidFill>
                  <a:schemeClr val="tx1"/>
                </a:solidFill>
                <a:latin typeface="Arial" charset="0"/>
              </a:rPr>
            </a:br>
            <a:r>
              <a:rPr lang="bg-BG" sz="2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Arial" charset="0"/>
              </a:rPr>
            </a:br>
            <a:r>
              <a:rPr lang="bg-BG" sz="2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Arial" charset="0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#include &lt;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stdlib.h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&gt;  //rand()</a:t>
            </a:r>
            <a:r>
              <a:rPr lang="bg-BG" sz="2000" dirty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#include &lt;</a:t>
            </a:r>
            <a:r>
              <a:rPr lang="en-US" sz="2000" dirty="0" err="1" smtClean="0">
                <a:solidFill>
                  <a:schemeClr val="tx1"/>
                </a:solidFill>
                <a:latin typeface="Courier New" pitchFamily="49" charset="-52"/>
              </a:rPr>
              <a:t>iostream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-52"/>
              </a:rPr>
              <a:t>&gt;</a:t>
            </a:r>
            <a:r>
              <a:rPr lang="bg-BG" sz="2000" dirty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#include &lt;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conio.h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&gt;</a:t>
            </a:r>
            <a:r>
              <a:rPr lang="bg-BG" sz="2000" dirty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bg-BG" sz="2000" dirty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const unsigned k=10;</a:t>
            </a:r>
            <a:r>
              <a:rPr lang="bg-BG" sz="2000" dirty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unsigned long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bigmod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(unsigned long a,</a:t>
            </a:r>
            <a:r>
              <a:rPr lang="bg-BG" sz="2000" dirty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		    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-52"/>
              </a:rPr>
              <a:t>unsigned 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long t ,unsigned long n)</a:t>
            </a:r>
            <a:r>
              <a:rPr lang="bg-BG" sz="2000" dirty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{return (t==1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-52"/>
              </a:rPr>
              <a:t>)?(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a%n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):(</a:t>
            </a:r>
            <a:r>
              <a:rPr lang="en-US" sz="2000" dirty="0" err="1" smtClean="0">
                <a:solidFill>
                  <a:schemeClr val="tx1"/>
                </a:solidFill>
                <a:latin typeface="Courier New" pitchFamily="49" charset="-52"/>
              </a:rPr>
              <a:t>bigmod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-52"/>
              </a:rPr>
              <a:t>(a,t-1,n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)* (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a%n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-52"/>
              </a:rPr>
              <a:t>))%n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;}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latin typeface="Courier New" pitchFamily="49" charset="-52"/>
              </a:rPr>
              <a:t/>
            </a:r>
            <a:br>
              <a:rPr lang="en-US" sz="2000" dirty="0">
                <a:latin typeface="Courier New" pitchFamily="49" charset="-52"/>
              </a:rPr>
            </a:br>
            <a:r>
              <a:rPr lang="en-US" sz="2000" dirty="0">
                <a:latin typeface="Courier New" pitchFamily="49" charset="-52"/>
              </a:rPr>
              <a:t/>
            </a:r>
            <a:br>
              <a:rPr lang="en-US" sz="2000" dirty="0">
                <a:latin typeface="Courier New" pitchFamily="49" charset="-52"/>
              </a:rPr>
            </a:br>
            <a:endParaRPr lang="en-US" dirty="0">
              <a:latin typeface="Courier New" pitchFamily="49" charset="-52"/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36576" y="188640"/>
            <a:ext cx="8007424" cy="6324600"/>
          </a:xfrm>
        </p:spPr>
        <p:txBody>
          <a:bodyPr/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char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strongRandom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(unsigned long n, unsigned long a)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unsigned long s=1, t=n-1, x,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if(n&lt;2) return 0;    //</a:t>
            </a:r>
            <a:r>
              <a:rPr lang="bg-BG" sz="2000" dirty="0">
                <a:solidFill>
                  <a:schemeClr val="tx1"/>
                </a:solidFill>
                <a:latin typeface="Courier New" pitchFamily="49" charset="-52"/>
              </a:rPr>
              <a:t>частен случай</a:t>
            </a:r>
            <a:br>
              <a:rPr lang="bg-BG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if (n==2) return 1;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while (t%2!=1)  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-52"/>
              </a:rPr>
              <a:t>	//</a:t>
            </a:r>
            <a:r>
              <a:rPr lang="bg-BG" sz="2000" dirty="0">
                <a:solidFill>
                  <a:schemeClr val="tx1"/>
                </a:solidFill>
                <a:latin typeface="Courier New" pitchFamily="49" charset="-52"/>
              </a:rPr>
              <a:t>стъпка 1</a:t>
            </a:r>
            <a:br>
              <a:rPr lang="bg-BG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  { s++; t/=2;}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x=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bigmod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a,t,n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); 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-52"/>
              </a:rPr>
              <a:t>	//</a:t>
            </a:r>
            <a:r>
              <a:rPr lang="bg-BG" sz="2000" dirty="0">
                <a:solidFill>
                  <a:schemeClr val="tx1"/>
                </a:solidFill>
                <a:latin typeface="Courier New" pitchFamily="49" charset="-52"/>
              </a:rPr>
              <a:t>стъпка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2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if (x==1) return 1;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for (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=0;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&lt;s;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++) </a:t>
            </a:r>
            <a:r>
              <a:rPr lang="en-US" sz="2000" dirty="0" smtClean="0">
                <a:solidFill>
                  <a:schemeClr val="tx1"/>
                </a:solidFill>
                <a:latin typeface="Courier New" pitchFamily="49" charset="-52"/>
              </a:rPr>
              <a:t>	//</a:t>
            </a:r>
            <a:r>
              <a:rPr lang="bg-BG" sz="2000" dirty="0">
                <a:solidFill>
                  <a:schemeClr val="tx1"/>
                </a:solidFill>
                <a:latin typeface="Courier New" pitchFamily="49" charset="-52"/>
              </a:rPr>
              <a:t>стъпка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3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 {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  if (x==n-1) return 1;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  x=x*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x%n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return 0;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}</a:t>
            </a: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548680"/>
            <a:ext cx="7511752" cy="5867400"/>
          </a:xfrm>
        </p:spPr>
        <p:txBody>
          <a:bodyPr>
            <a:normAutofit fontScale="90000"/>
          </a:bodyPr>
          <a:lstStyle/>
          <a:p>
            <a:pPr algn="l">
              <a:lnSpc>
                <a:spcPct val="80000"/>
              </a:lnSpc>
            </a:pP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char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isPrime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(unsigned long n)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unsigned long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for (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=1;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&lt;k;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++)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 {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  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int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a = rand() % (n-3) + 2;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   if (!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strongRandom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(n, a)) return 0;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 }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return 1;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}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void main()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{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unsigned long num;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char c;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do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{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cout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&lt;&lt;"\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nInput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n:";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cin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&gt;&gt;num;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cout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&lt;&lt;"\n</a:t>
            </a:r>
            <a:r>
              <a:rPr lang="bg-BG" sz="2000" dirty="0">
                <a:solidFill>
                  <a:schemeClr val="tx1"/>
                </a:solidFill>
                <a:latin typeface="Courier New" pitchFamily="49" charset="-52"/>
              </a:rPr>
              <a:t>Числото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"&lt;&lt;num;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 if(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isPrime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(num)) 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cout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&lt;&lt;" e </a:t>
            </a:r>
            <a:r>
              <a:rPr lang="bg-BG" sz="2000" dirty="0">
                <a:solidFill>
                  <a:schemeClr val="tx1"/>
                </a:solidFill>
                <a:latin typeface="Courier New" pitchFamily="49" charset="-52"/>
              </a:rPr>
              <a:t>просто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";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   else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cout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&lt;&lt;" </a:t>
            </a:r>
            <a:r>
              <a:rPr lang="bg-BG" sz="2000" dirty="0">
                <a:solidFill>
                  <a:schemeClr val="tx1"/>
                </a:solidFill>
                <a:latin typeface="Courier New" pitchFamily="49" charset="-52"/>
              </a:rPr>
              <a:t>е съставно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";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cout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&lt;&lt;"\n</a:t>
            </a:r>
            <a:r>
              <a:rPr lang="bg-BG" sz="2000" dirty="0">
                <a:solidFill>
                  <a:schemeClr val="tx1"/>
                </a:solidFill>
                <a:latin typeface="Courier New" pitchFamily="49" charset="-52"/>
              </a:rPr>
              <a:t>Друго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n (Y/N):";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 New" pitchFamily="49" charset="-52"/>
              </a:rPr>
              <a:t>cin</a:t>
            </a: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&gt;&gt;c;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}</a:t>
            </a:r>
            <a:r>
              <a:rPr lang="bg-BG" sz="2000" dirty="0">
                <a:solidFill>
                  <a:schemeClr val="tx1"/>
                </a:solidFill>
                <a:latin typeface="Courier New" pitchFamily="49" charset="-52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  while (c=='Y'||c=='y');</a:t>
            </a:r>
            <a:br>
              <a:rPr lang="en-US" sz="2000" dirty="0">
                <a:solidFill>
                  <a:schemeClr val="tx1"/>
                </a:solidFill>
                <a:latin typeface="Courier New" pitchFamily="49" charset="-52"/>
              </a:rPr>
            </a:br>
            <a:r>
              <a:rPr lang="en-US" sz="2000" dirty="0">
                <a:solidFill>
                  <a:schemeClr val="tx1"/>
                </a:solidFill>
                <a:latin typeface="Courier New" pitchFamily="49" charset="-52"/>
              </a:rPr>
              <a:t>}</a:t>
            </a:r>
            <a:r>
              <a:rPr lang="en-US" sz="2000" dirty="0">
                <a:latin typeface="Courier New" pitchFamily="49" charset="-52"/>
              </a:rPr>
              <a:t/>
            </a:r>
            <a:br>
              <a:rPr lang="en-US" sz="2000" dirty="0">
                <a:latin typeface="Courier New" pitchFamily="49" charset="-52"/>
              </a:rPr>
            </a:br>
            <a:endParaRPr lang="en-US" sz="2000" dirty="0">
              <a:latin typeface="Courier New" pitchFamily="49" charset="-52"/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992560" y="260648"/>
            <a:ext cx="8151440" cy="6264696"/>
          </a:xfrm>
        </p:spPr>
        <p:txBody>
          <a:bodyPr>
            <a:normAutofit/>
          </a:bodyPr>
          <a:lstStyle/>
          <a:p>
            <a:pPr algn="l">
              <a:lnSpc>
                <a:spcPct val="140000"/>
              </a:lnSpc>
            </a:pPr>
            <a:r>
              <a:rPr lang="bg-BG" sz="2700" dirty="0">
                <a:solidFill>
                  <a:schemeClr val="tx1"/>
                </a:solidFill>
                <a:latin typeface="Arial" charset="0"/>
              </a:rPr>
              <a:t>3. Алгоритми Лас </a:t>
            </a:r>
            <a:r>
              <a:rPr lang="bg-BG" sz="2700" dirty="0" err="1">
                <a:solidFill>
                  <a:schemeClr val="tx1"/>
                </a:solidFill>
                <a:latin typeface="Arial" charset="0"/>
              </a:rPr>
              <a:t>Вегас</a:t>
            </a:r>
            <a:r>
              <a:rPr lang="bg-BG" sz="200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000">
                <a:solidFill>
                  <a:schemeClr val="tx1"/>
                </a:solidFill>
                <a:latin typeface="Arial" charset="0"/>
              </a:rPr>
            </a:br>
            <a:r>
              <a:rPr lang="bg-BG" sz="20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Алгоритмите Лас </a:t>
            </a:r>
            <a:r>
              <a:rPr lang="bg-BG" sz="2400" dirty="0" err="1">
                <a:solidFill>
                  <a:schemeClr val="tx1"/>
                </a:solidFill>
                <a:latin typeface="Arial" charset="0"/>
              </a:rPr>
              <a:t>Вегас</a:t>
            </a:r>
            <a:r>
              <a:rPr lang="bg-BG" sz="2400" dirty="0">
                <a:solidFill>
                  <a:schemeClr val="tx1"/>
                </a:solidFill>
                <a:latin typeface="Arial" charset="0"/>
              </a:rPr>
              <a:t> не винаги намират решение, но когато намерят такова, то със сигурност е вярно (съответно ще е оптималното, ако разглеждаме оптимизационна </a:t>
            </a:r>
            <a:r>
              <a:rPr lang="bg-BG" sz="2400">
                <a:solidFill>
                  <a:schemeClr val="tx1"/>
                </a:solidFill>
                <a:latin typeface="Arial" charset="0"/>
              </a:rPr>
              <a:t>задача</a:t>
            </a:r>
            <a:r>
              <a:rPr lang="bg-BG" sz="2400" smtClean="0">
                <a:solidFill>
                  <a:schemeClr val="tx1"/>
                </a:solidFill>
                <a:latin typeface="Arial" charset="0"/>
              </a:rPr>
              <a:t>).</a:t>
            </a:r>
            <a:r>
              <a:rPr lang="en-US" sz="2400" smtClean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2400" smtClean="0">
                <a:solidFill>
                  <a:schemeClr val="tx1"/>
                </a:solidFill>
                <a:latin typeface="Arial" charset="0"/>
              </a:rPr>
            </a:br>
            <a:r>
              <a:rPr lang="bg-BG" sz="11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1100" dirty="0">
                <a:solidFill>
                  <a:schemeClr val="tx1"/>
                </a:solidFill>
                <a:latin typeface="Arial" charset="0"/>
              </a:rPr>
            </a:br>
            <a:r>
              <a:rPr lang="bg-BG" sz="2400" dirty="0">
                <a:solidFill>
                  <a:schemeClr val="tx1"/>
                </a:solidFill>
                <a:latin typeface="Arial" charset="0"/>
              </a:rPr>
              <a:t>Пример: Задачата за 8-те царици</a:t>
            </a:r>
            <a:br>
              <a:rPr lang="bg-BG" sz="2400" dirty="0">
                <a:solidFill>
                  <a:schemeClr val="tx1"/>
                </a:solidFill>
                <a:latin typeface="Arial" charset="0"/>
              </a:rPr>
            </a:br>
            <a:r>
              <a:rPr lang="bg-BG" sz="2400" dirty="0">
                <a:solidFill>
                  <a:schemeClr val="tx1"/>
                </a:solidFill>
                <a:latin typeface="Arial" charset="0"/>
              </a:rPr>
              <a:t>	А) Детерминиран алгоритъм с връщане</a:t>
            </a:r>
            <a:r>
              <a:rPr lang="bg-BG" sz="2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Arial" charset="0"/>
              </a:rPr>
            </a:br>
            <a:r>
              <a:rPr lang="bg-BG" sz="2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Arial" charset="0"/>
              </a:rPr>
            </a:br>
            <a:r>
              <a:rPr lang="bg-BG" sz="2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Arial" charset="0"/>
              </a:rPr>
            </a:br>
            <a:r>
              <a:rPr lang="bg-BG" sz="2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Arial" charset="0"/>
              </a:rPr>
            </a:br>
            <a:r>
              <a:rPr lang="bg-BG" sz="2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Arial" charset="0"/>
              </a:rPr>
            </a:br>
            <a:r>
              <a:rPr lang="bg-BG" sz="2000" dirty="0">
                <a:solidFill>
                  <a:schemeClr val="tx1"/>
                </a:solidFill>
                <a:latin typeface="Arial" charset="0"/>
              </a:rPr>
              <a:t>	</a:t>
            </a:r>
            <a:endParaRPr lang="en-US" sz="2000" dirty="0">
              <a:solidFill>
                <a:schemeClr val="tx1"/>
              </a:solidFill>
              <a:latin typeface="Arial" charset="0"/>
            </a:endParaRPr>
          </a:p>
        </p:txBody>
      </p:sp>
      <p:grpSp>
        <p:nvGrpSpPr>
          <p:cNvPr id="45075" name="Group 19"/>
          <p:cNvGrpSpPr>
            <a:grpSpLocks/>
          </p:cNvGrpSpPr>
          <p:nvPr/>
        </p:nvGrpSpPr>
        <p:grpSpPr bwMode="auto">
          <a:xfrm>
            <a:off x="3276600" y="4038600"/>
            <a:ext cx="2286000" cy="2365375"/>
            <a:chOff x="2064" y="2595"/>
            <a:chExt cx="1440" cy="1490"/>
          </a:xfrm>
        </p:grpSpPr>
        <p:sp>
          <p:nvSpPr>
            <p:cNvPr id="45076" name="Text Box 20"/>
            <p:cNvSpPr txBox="1">
              <a:spLocks noChangeArrowheads="1"/>
            </p:cNvSpPr>
            <p:nvPr/>
          </p:nvSpPr>
          <p:spPr bwMode="auto">
            <a:xfrm>
              <a:off x="2304" y="2595"/>
              <a:ext cx="3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i</a:t>
              </a:r>
            </a:p>
          </p:txBody>
        </p:sp>
        <p:grpSp>
          <p:nvGrpSpPr>
            <p:cNvPr id="45077" name="Group 21"/>
            <p:cNvGrpSpPr>
              <a:grpSpLocks/>
            </p:cNvGrpSpPr>
            <p:nvPr/>
          </p:nvGrpSpPr>
          <p:grpSpPr bwMode="auto">
            <a:xfrm>
              <a:off x="2064" y="2880"/>
              <a:ext cx="1440" cy="1205"/>
              <a:chOff x="2064" y="2880"/>
              <a:chExt cx="1440" cy="1205"/>
            </a:xfrm>
          </p:grpSpPr>
          <p:graphicFrame>
            <p:nvGraphicFramePr>
              <p:cNvPr id="45078" name="Object 22"/>
              <p:cNvGraphicFramePr>
                <a:graphicFrameLocks noChangeAspect="1"/>
              </p:cNvGraphicFramePr>
              <p:nvPr/>
            </p:nvGraphicFramePr>
            <p:xfrm>
              <a:off x="2256" y="2880"/>
              <a:ext cx="1248" cy="12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5079" name="Worksheet" r:id="rId4" imgW="1357560" imgH="1313280" progId="Excel.Sheet.8">
                      <p:embed/>
                    </p:oleObj>
                  </mc:Choice>
                  <mc:Fallback>
                    <p:oleObj name="Worksheet" r:id="rId4" imgW="1357560" imgH="1313280" progId="Excel.Sheet.8">
                      <p:embed/>
                      <p:pic>
                        <p:nvPicPr>
                          <p:cNvPr id="0" name="Picture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56" y="2880"/>
                            <a:ext cx="1248" cy="12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5079" name="Line 23"/>
              <p:cNvSpPr>
                <a:spLocks noChangeShapeType="1"/>
              </p:cNvSpPr>
              <p:nvPr/>
            </p:nvSpPr>
            <p:spPr bwMode="auto">
              <a:xfrm>
                <a:off x="2256" y="2880"/>
                <a:ext cx="124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/>
              </a:p>
            </p:txBody>
          </p:sp>
          <p:sp>
            <p:nvSpPr>
              <p:cNvPr id="45080" name="Line 24"/>
              <p:cNvSpPr>
                <a:spLocks noChangeShapeType="1"/>
              </p:cNvSpPr>
              <p:nvPr/>
            </p:nvSpPr>
            <p:spPr bwMode="auto">
              <a:xfrm flipV="1">
                <a:off x="2256" y="2880"/>
                <a:ext cx="0" cy="120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/>
              </a:p>
            </p:txBody>
          </p:sp>
          <p:sp>
            <p:nvSpPr>
              <p:cNvPr id="45081" name="Line 25"/>
              <p:cNvSpPr>
                <a:spLocks noChangeShapeType="1"/>
              </p:cNvSpPr>
              <p:nvPr/>
            </p:nvSpPr>
            <p:spPr bwMode="auto">
              <a:xfrm flipV="1">
                <a:off x="2256" y="2880"/>
                <a:ext cx="192" cy="1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/>
              </a:p>
            </p:txBody>
          </p:sp>
          <p:sp>
            <p:nvSpPr>
              <p:cNvPr id="45082" name="Line 26"/>
              <p:cNvSpPr>
                <a:spLocks noChangeShapeType="1"/>
              </p:cNvSpPr>
              <p:nvPr/>
            </p:nvSpPr>
            <p:spPr bwMode="auto">
              <a:xfrm flipV="1">
                <a:off x="2256" y="2880"/>
                <a:ext cx="336" cy="28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/>
              </a:p>
            </p:txBody>
          </p:sp>
          <p:sp>
            <p:nvSpPr>
              <p:cNvPr id="45083" name="Line 27"/>
              <p:cNvSpPr>
                <a:spLocks noChangeShapeType="1"/>
              </p:cNvSpPr>
              <p:nvPr/>
            </p:nvSpPr>
            <p:spPr bwMode="auto">
              <a:xfrm flipV="1">
                <a:off x="2274" y="2880"/>
                <a:ext cx="1200" cy="115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/>
              </a:p>
            </p:txBody>
          </p:sp>
          <p:sp>
            <p:nvSpPr>
              <p:cNvPr id="45084" name="Line 28"/>
              <p:cNvSpPr>
                <a:spLocks noChangeShapeType="1"/>
              </p:cNvSpPr>
              <p:nvPr/>
            </p:nvSpPr>
            <p:spPr bwMode="auto">
              <a:xfrm flipV="1">
                <a:off x="3168" y="3792"/>
                <a:ext cx="336" cy="28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/>
              </a:p>
            </p:txBody>
          </p:sp>
          <p:sp>
            <p:nvSpPr>
              <p:cNvPr id="45085" name="Line 29"/>
              <p:cNvSpPr>
                <a:spLocks noChangeShapeType="1"/>
              </p:cNvSpPr>
              <p:nvPr/>
            </p:nvSpPr>
            <p:spPr bwMode="auto">
              <a:xfrm flipV="1">
                <a:off x="3312" y="3936"/>
                <a:ext cx="192" cy="14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/>
              </a:p>
            </p:txBody>
          </p:sp>
          <p:sp>
            <p:nvSpPr>
              <p:cNvPr id="45086" name="Line 30"/>
              <p:cNvSpPr>
                <a:spLocks noChangeShapeType="1"/>
              </p:cNvSpPr>
              <p:nvPr/>
            </p:nvSpPr>
            <p:spPr bwMode="auto">
              <a:xfrm>
                <a:off x="3333" y="2880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/>
              </a:p>
            </p:txBody>
          </p:sp>
          <p:sp>
            <p:nvSpPr>
              <p:cNvPr id="45087" name="Line 31"/>
              <p:cNvSpPr>
                <a:spLocks noChangeShapeType="1"/>
              </p:cNvSpPr>
              <p:nvPr/>
            </p:nvSpPr>
            <p:spPr bwMode="auto">
              <a:xfrm>
                <a:off x="3168" y="2880"/>
                <a:ext cx="288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/>
              </a:p>
            </p:txBody>
          </p:sp>
          <p:sp>
            <p:nvSpPr>
              <p:cNvPr id="45088" name="Line 32"/>
              <p:cNvSpPr>
                <a:spLocks noChangeShapeType="1"/>
              </p:cNvSpPr>
              <p:nvPr/>
            </p:nvSpPr>
            <p:spPr bwMode="auto">
              <a:xfrm>
                <a:off x="2256" y="2898"/>
                <a:ext cx="1248" cy="11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/>
              </a:p>
            </p:txBody>
          </p:sp>
          <p:sp>
            <p:nvSpPr>
              <p:cNvPr id="45089" name="Line 33"/>
              <p:cNvSpPr>
                <a:spLocks noChangeShapeType="1"/>
              </p:cNvSpPr>
              <p:nvPr/>
            </p:nvSpPr>
            <p:spPr bwMode="auto">
              <a:xfrm>
                <a:off x="2256" y="3648"/>
                <a:ext cx="480" cy="43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/>
              </a:p>
            </p:txBody>
          </p:sp>
          <p:sp>
            <p:nvSpPr>
              <p:cNvPr id="45090" name="Line 34"/>
              <p:cNvSpPr>
                <a:spLocks noChangeShapeType="1"/>
              </p:cNvSpPr>
              <p:nvPr/>
            </p:nvSpPr>
            <p:spPr bwMode="auto">
              <a:xfrm>
                <a:off x="2256" y="3792"/>
                <a:ext cx="336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/>
              </a:p>
            </p:txBody>
          </p:sp>
          <p:sp>
            <p:nvSpPr>
              <p:cNvPr id="45091" name="Line 35"/>
              <p:cNvSpPr>
                <a:spLocks noChangeShapeType="1"/>
              </p:cNvSpPr>
              <p:nvPr/>
            </p:nvSpPr>
            <p:spPr bwMode="auto">
              <a:xfrm>
                <a:off x="2256" y="3936"/>
                <a:ext cx="144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/>
              </a:p>
            </p:txBody>
          </p:sp>
          <p:sp>
            <p:nvSpPr>
              <p:cNvPr id="45092" name="Text Box 36"/>
              <p:cNvSpPr txBox="1">
                <a:spLocks noChangeArrowheads="1"/>
              </p:cNvSpPr>
              <p:nvPr/>
            </p:nvSpPr>
            <p:spPr bwMode="auto">
              <a:xfrm>
                <a:off x="2064" y="2928"/>
                <a:ext cx="144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/>
                  <a:t>j</a:t>
                </a:r>
              </a:p>
            </p:txBody>
          </p:sp>
        </p:grpSp>
      </p:grpSp>
      <p:sp>
        <p:nvSpPr>
          <p:cNvPr id="23" name="Контейнер за номер на слайда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620688"/>
            <a:ext cx="7626424" cy="5715000"/>
          </a:xfrm>
        </p:spPr>
        <p:txBody>
          <a:bodyPr>
            <a:normAutofit fontScale="90000"/>
          </a:bodyPr>
          <a:lstStyle/>
          <a:p>
            <a:pPr algn="l">
              <a:lnSpc>
                <a:spcPct val="130000"/>
              </a:lnSpc>
            </a:pPr>
            <a:r>
              <a:rPr lang="bg-BG" sz="3100" dirty="0">
                <a:solidFill>
                  <a:schemeClr val="tx1"/>
                </a:solidFill>
                <a:latin typeface="Arial" charset="0"/>
              </a:rPr>
              <a:t>Б) Вероятностен алгоритъм Лас </a:t>
            </a:r>
            <a:r>
              <a:rPr lang="bg-BG" sz="3100" dirty="0" err="1">
                <a:solidFill>
                  <a:schemeClr val="tx1"/>
                </a:solidFill>
                <a:latin typeface="Arial" charset="0"/>
              </a:rPr>
              <a:t>Вегас</a:t>
            </a:r>
            <a:r>
              <a:rPr lang="bg-BG" sz="3100" dirty="0">
                <a:solidFill>
                  <a:schemeClr val="tx1"/>
                </a:solidFill>
                <a:latin typeface="Arial" charset="0"/>
              </a:rPr>
              <a:t>: знаейки, кои полета не са заети в даден момент, с генератор на случайни числа се избира едно от тях, след което този избор продължава, докато се намери решение или пък докато се достигне до ситуация, когато решение още не е намерено, но разполагането на следващата царица не е възможно. Тогава действията се повтарят </a:t>
            </a:r>
            <a:r>
              <a:rPr lang="bg-BG" sz="3100">
                <a:solidFill>
                  <a:schemeClr val="tx1"/>
                </a:solidFill>
                <a:latin typeface="Arial" charset="0"/>
              </a:rPr>
              <a:t>отначало</a:t>
            </a:r>
            <a:r>
              <a:rPr lang="bg-BG" sz="3100" smtClean="0">
                <a:solidFill>
                  <a:schemeClr val="tx1"/>
                </a:solidFill>
                <a:latin typeface="Arial" charset="0"/>
              </a:rPr>
              <a:t>.</a:t>
            </a:r>
            <a:r>
              <a:rPr lang="bg-BG" sz="2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000" dirty="0">
                <a:solidFill>
                  <a:schemeClr val="tx1"/>
                </a:solidFill>
                <a:latin typeface="Arial" charset="0"/>
              </a:rPr>
            </a:br>
            <a:endParaRPr lang="en-US" sz="20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435608" y="274638"/>
            <a:ext cx="5080608" cy="1143000"/>
          </a:xfrm>
        </p:spPr>
        <p:txBody>
          <a:bodyPr>
            <a:normAutofit fontScale="90000"/>
          </a:bodyPr>
          <a:lstStyle/>
          <a:p>
            <a:r>
              <a:rPr lang="bg-BG" altLang="zh-CN" sz="4400" smtClean="0">
                <a:ea typeface="宋体" pitchFamily="2" charset="-122"/>
              </a:rPr>
              <a:t>Алгоритми на Шеруд</a:t>
            </a:r>
            <a:r>
              <a:rPr lang="en-US" altLang="zh-CN" sz="4400" smtClean="0">
                <a:ea typeface="宋体" pitchFamily="2" charset="-122"/>
              </a:rPr>
              <a:t/>
            </a:r>
            <a:br>
              <a:rPr lang="en-US" altLang="zh-CN" sz="4400" smtClean="0">
                <a:ea typeface="宋体" pitchFamily="2" charset="-122"/>
              </a:rPr>
            </a:br>
            <a:r>
              <a:rPr lang="bg-BG" altLang="zh-CN" sz="4400" smtClean="0">
                <a:ea typeface="宋体" pitchFamily="2" charset="-122"/>
              </a:rPr>
              <a:t> (</a:t>
            </a:r>
            <a:r>
              <a:rPr lang="en-US" altLang="zh-CN" sz="4400" smtClean="0">
                <a:ea typeface="宋体" pitchFamily="2" charset="-122"/>
              </a:rPr>
              <a:t>Sherwood algorithms)</a:t>
            </a:r>
            <a:endParaRPr lang="bg-BG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259632" y="1447800"/>
            <a:ext cx="7674056" cy="4800600"/>
          </a:xfrm>
        </p:spPr>
        <p:txBody>
          <a:bodyPr>
            <a:normAutofit/>
          </a:bodyPr>
          <a:lstStyle/>
          <a:p>
            <a:r>
              <a:rPr lang="bg-BG" altLang="zh-CN" smtClean="0">
                <a:ea typeface="宋体" pitchFamily="2" charset="-122"/>
              </a:rPr>
              <a:t>Винаги намират верен резултат и са надеждни колкото детерминистичните алгоритми. Решават задачата, но не гарантират добра времева сложност. </a:t>
            </a:r>
            <a:endParaRPr lang="en-US" altLang="zh-CN" smtClean="0">
              <a:ea typeface="宋体" pitchFamily="2" charset="-122"/>
            </a:endParaRPr>
          </a:p>
          <a:p>
            <a:r>
              <a:rPr lang="bg-BG" altLang="zh-CN" smtClean="0">
                <a:ea typeface="宋体" pitchFamily="2" charset="-122"/>
              </a:rPr>
              <a:t>Обикновено се използват за ускоряване,  когато детерминистичните алгоритми дават лоши резултати за асимптотичната оценка </a:t>
            </a:r>
            <a:r>
              <a:rPr lang="en-US" altLang="zh-CN" smtClean="0">
                <a:ea typeface="宋体" pitchFamily="2" charset="-122"/>
              </a:rPr>
              <a:t>O(f(n)).</a:t>
            </a:r>
            <a:endParaRPr lang="zh-CN" altLang="en-US" smtClean="0">
              <a:ea typeface="宋体" pitchFamily="2" charset="-122"/>
            </a:endParaRPr>
          </a:p>
          <a:p>
            <a:endParaRPr lang="bg-B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7624" y="274638"/>
            <a:ext cx="7746064" cy="1143000"/>
          </a:xfrm>
        </p:spPr>
        <p:txBody>
          <a:bodyPr>
            <a:normAutofit fontScale="90000"/>
          </a:bodyPr>
          <a:lstStyle/>
          <a:p>
            <a:r>
              <a:rPr lang="bg-BG" altLang="zh-CN" smtClean="0">
                <a:ea typeface="宋体" pitchFamily="2" charset="-122"/>
              </a:rPr>
              <a:t>Вероятностен алгоритъм за Бързо сортиране (</a:t>
            </a:r>
            <a:r>
              <a:rPr lang="en-US" altLang="zh-CN" smtClean="0">
                <a:ea typeface="宋体" pitchFamily="2" charset="-122"/>
              </a:rPr>
              <a:t>Randomized QuickSort</a:t>
            </a:r>
            <a:r>
              <a:rPr lang="bg-BG" altLang="zh-CN" smtClean="0">
                <a:ea typeface="宋体" pitchFamily="2" charset="-122"/>
              </a:rPr>
              <a:t>)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bg-BG" altLang="zh-CN" smtClean="0">
                <a:ea typeface="宋体" pitchFamily="2" charset="-122"/>
              </a:rPr>
              <a:t>Задача</a:t>
            </a:r>
            <a:r>
              <a:rPr lang="en-US" altLang="zh-CN" smtClean="0">
                <a:ea typeface="宋体" pitchFamily="2" charset="-122"/>
              </a:rPr>
              <a:t>:</a:t>
            </a:r>
          </a:p>
          <a:p>
            <a:pPr>
              <a:buNone/>
            </a:pPr>
            <a:r>
              <a:rPr lang="en-US" altLang="zh-CN" b="1" smtClean="0">
                <a:ea typeface="宋体" pitchFamily="2" charset="-122"/>
              </a:rPr>
              <a:t>   </a:t>
            </a:r>
            <a:r>
              <a:rPr lang="bg-BG" altLang="zh-CN" smtClean="0">
                <a:solidFill>
                  <a:schemeClr val="accent3">
                    <a:lumMod val="75000"/>
                  </a:schemeClr>
                </a:solidFill>
                <a:ea typeface="宋体" pitchFamily="2" charset="-122"/>
              </a:rPr>
              <a:t>Вход</a:t>
            </a:r>
            <a:r>
              <a:rPr lang="en-US" altLang="zh-CN" smtClean="0">
                <a:solidFill>
                  <a:schemeClr val="accent3">
                    <a:lumMod val="75000"/>
                  </a:schemeClr>
                </a:solidFill>
                <a:ea typeface="宋体" pitchFamily="2" charset="-122"/>
              </a:rPr>
              <a:t>: </a:t>
            </a:r>
          </a:p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   </a:t>
            </a:r>
            <a:r>
              <a:rPr lang="bg-BG" altLang="zh-CN" sz="2800" smtClean="0">
                <a:ea typeface="宋体" pitchFamily="2" charset="-122"/>
              </a:rPr>
              <a:t>Последователност от </a:t>
            </a:r>
            <a:r>
              <a:rPr lang="en-US" altLang="zh-CN" sz="2800" i="1" smtClean="0">
                <a:ea typeface="宋体" pitchFamily="2" charset="-122"/>
              </a:rPr>
              <a:t>n</a:t>
            </a:r>
            <a:r>
              <a:rPr lang="en-US" altLang="zh-CN" sz="2800" smtClean="0">
                <a:ea typeface="宋体" pitchFamily="2" charset="-122"/>
              </a:rPr>
              <a:t> </a:t>
            </a:r>
            <a:r>
              <a:rPr lang="bg-BG" altLang="zh-CN" sz="2800" smtClean="0">
                <a:ea typeface="宋体" pitchFamily="2" charset="-122"/>
              </a:rPr>
              <a:t>числа</a:t>
            </a:r>
            <a:r>
              <a:rPr lang="en-US" altLang="zh-CN" sz="2800" smtClean="0">
                <a:ea typeface="宋体" pitchFamily="2" charset="-122"/>
              </a:rPr>
              <a:t>  </a:t>
            </a:r>
            <a:endParaRPr lang="en-US" altLang="zh-CN" sz="2800" i="1" smtClean="0">
              <a:ea typeface="宋体" pitchFamily="2" charset="-122"/>
            </a:endParaRPr>
          </a:p>
          <a:p>
            <a:pPr>
              <a:buNone/>
            </a:pPr>
            <a:r>
              <a:rPr lang="en-US" altLang="zh-CN" b="1" smtClean="0">
                <a:ea typeface="宋体" pitchFamily="2" charset="-122"/>
              </a:rPr>
              <a:t>   </a:t>
            </a:r>
            <a:r>
              <a:rPr lang="bg-BG" altLang="zh-CN" smtClean="0">
                <a:solidFill>
                  <a:schemeClr val="accent3">
                    <a:lumMod val="75000"/>
                  </a:schemeClr>
                </a:solidFill>
                <a:ea typeface="宋体" pitchFamily="2" charset="-122"/>
              </a:rPr>
              <a:t>Изход</a:t>
            </a:r>
            <a:r>
              <a:rPr lang="en-US" altLang="zh-CN" smtClean="0">
                <a:solidFill>
                  <a:schemeClr val="accent3">
                    <a:lumMod val="75000"/>
                  </a:schemeClr>
                </a:solidFill>
                <a:ea typeface="宋体" pitchFamily="2" charset="-122"/>
              </a:rPr>
              <a:t>: </a:t>
            </a:r>
          </a:p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   </a:t>
            </a:r>
            <a:r>
              <a:rPr lang="bg-BG" altLang="zh-CN" sz="2800" smtClean="0">
                <a:ea typeface="宋体" pitchFamily="2" charset="-122"/>
              </a:rPr>
              <a:t>Пренареждане на числата</a:t>
            </a:r>
            <a:endParaRPr lang="en-US" altLang="zh-CN" sz="2800" smtClean="0">
              <a:ea typeface="宋体" pitchFamily="2" charset="-122"/>
            </a:endParaRPr>
          </a:p>
          <a:p>
            <a:pPr>
              <a:buNone/>
            </a:pPr>
            <a:r>
              <a:rPr lang="en-US" altLang="zh-CN" sz="2800" smtClean="0">
                <a:ea typeface="宋体" pitchFamily="2" charset="-122"/>
              </a:rPr>
              <a:t>  </a:t>
            </a:r>
            <a:r>
              <a:rPr lang="bg-BG" altLang="zh-CN" sz="2800" smtClean="0">
                <a:ea typeface="宋体" pitchFamily="2" charset="-122"/>
              </a:rPr>
              <a:t>от входната последователност така, че</a:t>
            </a:r>
            <a:r>
              <a:rPr lang="en-US" altLang="zh-CN" i="1" smtClean="0">
                <a:ea typeface="宋体" pitchFamily="2" charset="-122"/>
              </a:rPr>
              <a:t> </a:t>
            </a:r>
          </a:p>
          <a:p>
            <a:pPr>
              <a:buNone/>
            </a:pPr>
            <a:endParaRPr lang="zh-CN" altLang="en-US" smtClean="0">
              <a:ea typeface="宋体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B6A1-A8D7-4CB9-8E1A-AEB300DCBBC6}" type="slidenum">
              <a:rPr lang="en-US" smtClean="0"/>
              <a:pPr/>
              <a:t>37</a:t>
            </a:fld>
            <a:endParaRPr lang="en-US"/>
          </a:p>
        </p:txBody>
      </p:sp>
      <p:graphicFrame>
        <p:nvGraphicFramePr>
          <p:cNvPr id="99332" name="Object 6"/>
          <p:cNvGraphicFramePr>
            <a:graphicFrameLocks noChangeAspect="1"/>
          </p:cNvGraphicFramePr>
          <p:nvPr/>
        </p:nvGraphicFramePr>
        <p:xfrm>
          <a:off x="6588224" y="2564904"/>
          <a:ext cx="22098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5" name="Equation" r:id="rId3" imgW="863280" imgH="253800" progId="">
                  <p:embed/>
                </p:oleObj>
              </mc:Choice>
              <mc:Fallback>
                <p:oleObj name="Equation" r:id="rId3" imgW="863280" imgH="25380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224" y="2564904"/>
                        <a:ext cx="2209800" cy="6492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3" name="Object 4"/>
          <p:cNvGraphicFramePr>
            <a:graphicFrameLocks noChangeAspect="1"/>
          </p:cNvGraphicFramePr>
          <p:nvPr/>
        </p:nvGraphicFramePr>
        <p:xfrm>
          <a:off x="6300192" y="3717032"/>
          <a:ext cx="2087562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6" name="公式" r:id="rId5" imgW="863280" imgH="253800" progId="">
                  <p:embed/>
                </p:oleObj>
              </mc:Choice>
              <mc:Fallback>
                <p:oleObj name="公式" r:id="rId5" imgW="863280" imgH="2538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192" y="3717032"/>
                        <a:ext cx="2087562" cy="6127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4" name="Object 5"/>
          <p:cNvGraphicFramePr>
            <a:graphicFrameLocks noChangeAspect="1"/>
          </p:cNvGraphicFramePr>
          <p:nvPr/>
        </p:nvGraphicFramePr>
        <p:xfrm>
          <a:off x="3491880" y="5157192"/>
          <a:ext cx="25908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9337" name="公式" r:id="rId7" imgW="1015920" imgH="228600" progId="">
                  <p:embed/>
                </p:oleObj>
              </mc:Choice>
              <mc:Fallback>
                <p:oleObj name="公式" r:id="rId7" imgW="1015920" imgH="2286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5157192"/>
                        <a:ext cx="2590800" cy="5826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altLang="zh-CN" smtClean="0">
                <a:ea typeface="宋体" pitchFamily="2" charset="-122"/>
              </a:rPr>
              <a:t>Идея на </a:t>
            </a:r>
            <a:r>
              <a:rPr lang="en-US" altLang="zh-CN" smtClean="0">
                <a:ea typeface="宋体" pitchFamily="2" charset="-122"/>
              </a:rPr>
              <a:t>QuickSort</a:t>
            </a:r>
            <a:r>
              <a:rPr lang="bg-BG" altLang="zh-CN" smtClean="0">
                <a:ea typeface="宋体" pitchFamily="2" charset="-122"/>
              </a:rPr>
              <a:t>: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QuickSort(</a:t>
            </a:r>
            <a:r>
              <a:rPr lang="en-US" altLang="zh-CN" i="1" smtClean="0">
                <a:ea typeface="宋体" pitchFamily="2" charset="-122"/>
              </a:rPr>
              <a:t>a, p, r</a:t>
            </a:r>
            <a:r>
              <a:rPr lang="en-US" altLang="zh-CN" smtClean="0">
                <a:ea typeface="宋体" pitchFamily="2" charset="-122"/>
              </a:rPr>
              <a:t>) </a:t>
            </a:r>
          </a:p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1    </a:t>
            </a:r>
            <a:r>
              <a:rPr lang="en-US" altLang="zh-CN" b="1" smtClean="0">
                <a:solidFill>
                  <a:srgbClr val="996633"/>
                </a:solidFill>
                <a:ea typeface="宋体" pitchFamily="2" charset="-122"/>
              </a:rPr>
              <a:t>if</a:t>
            </a:r>
            <a:r>
              <a:rPr lang="en-US" altLang="zh-CN" smtClean="0">
                <a:ea typeface="宋体" pitchFamily="2" charset="-122"/>
              </a:rPr>
              <a:t>  </a:t>
            </a:r>
            <a:r>
              <a:rPr lang="en-US" altLang="zh-CN" i="1" smtClean="0">
                <a:ea typeface="宋体" pitchFamily="2" charset="-122"/>
              </a:rPr>
              <a:t>p</a:t>
            </a:r>
            <a:r>
              <a:rPr lang="en-US" altLang="zh-CN" smtClean="0">
                <a:ea typeface="宋体" pitchFamily="2" charset="-122"/>
              </a:rPr>
              <a:t> &lt; </a:t>
            </a:r>
            <a:r>
              <a:rPr lang="en-US" altLang="zh-CN" i="1" smtClean="0">
                <a:ea typeface="宋体" pitchFamily="2" charset="-122"/>
              </a:rPr>
              <a:t>r</a:t>
            </a:r>
            <a:r>
              <a:rPr lang="en-US" altLang="zh-CN" smtClean="0">
                <a:ea typeface="宋体" pitchFamily="2" charset="-122"/>
              </a:rPr>
              <a:t> </a:t>
            </a:r>
            <a:r>
              <a:rPr lang="en-US" altLang="zh-CN" b="1" smtClean="0">
                <a:solidFill>
                  <a:srgbClr val="996633"/>
                </a:solidFill>
                <a:ea typeface="宋体" pitchFamily="2" charset="-122"/>
              </a:rPr>
              <a:t>then</a:t>
            </a:r>
            <a:endParaRPr lang="en-US" altLang="zh-CN" smtClean="0">
              <a:solidFill>
                <a:srgbClr val="996633"/>
              </a:solidFill>
              <a:ea typeface="宋体" pitchFamily="2" charset="-122"/>
            </a:endParaRPr>
          </a:p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2                </a:t>
            </a:r>
            <a:r>
              <a:rPr lang="en-US" altLang="zh-CN" i="1" smtClean="0">
                <a:ea typeface="宋体" pitchFamily="2" charset="-122"/>
              </a:rPr>
              <a:t>q</a:t>
            </a:r>
            <a:r>
              <a:rPr lang="en-US" altLang="zh-CN" smtClean="0">
                <a:ea typeface="仿宋_GB2312" pitchFamily="49" charset="-122"/>
              </a:rPr>
              <a:t>←</a:t>
            </a:r>
            <a:r>
              <a:rPr lang="en-US" altLang="zh-CN" smtClean="0">
                <a:ea typeface="宋体" pitchFamily="2" charset="-122"/>
              </a:rPr>
              <a:t> Partition(</a:t>
            </a:r>
            <a:r>
              <a:rPr lang="en-US" altLang="zh-CN" i="1" smtClean="0">
                <a:ea typeface="宋体" pitchFamily="2" charset="-122"/>
              </a:rPr>
              <a:t>a, p, r</a:t>
            </a:r>
            <a:r>
              <a:rPr lang="en-US" altLang="zh-CN" smtClean="0">
                <a:ea typeface="宋体" pitchFamily="2" charset="-122"/>
              </a:rPr>
              <a:t>) </a:t>
            </a:r>
          </a:p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3                QuickSort(</a:t>
            </a:r>
            <a:r>
              <a:rPr lang="en-US" altLang="zh-CN" i="1" smtClean="0">
                <a:ea typeface="宋体" pitchFamily="2" charset="-122"/>
              </a:rPr>
              <a:t>a, p, q </a:t>
            </a:r>
            <a:r>
              <a:rPr lang="en-US" altLang="zh-CN" smtClean="0">
                <a:ea typeface="宋体" pitchFamily="2" charset="-122"/>
              </a:rPr>
              <a:t>- 1) </a:t>
            </a:r>
          </a:p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4                QuickSort(</a:t>
            </a:r>
            <a:r>
              <a:rPr lang="en-US" altLang="zh-CN" i="1" smtClean="0">
                <a:ea typeface="宋体" pitchFamily="2" charset="-122"/>
              </a:rPr>
              <a:t>a, q</a:t>
            </a:r>
            <a:r>
              <a:rPr lang="en-US" altLang="zh-CN" smtClean="0">
                <a:ea typeface="宋体" pitchFamily="2" charset="-122"/>
              </a:rPr>
              <a:t> + 1, </a:t>
            </a:r>
            <a:r>
              <a:rPr lang="en-US" altLang="zh-CN" i="1" smtClean="0">
                <a:ea typeface="宋体" pitchFamily="2" charset="-122"/>
              </a:rPr>
              <a:t>r</a:t>
            </a:r>
            <a:r>
              <a:rPr lang="en-US" altLang="zh-CN" smtClean="0">
                <a:ea typeface="宋体" pitchFamily="2" charset="-122"/>
              </a:rPr>
              <a:t>) </a:t>
            </a:r>
          </a:p>
          <a:p>
            <a:pPr>
              <a:buNone/>
            </a:pPr>
            <a:endParaRPr lang="en-US" altLang="zh-CN" smtClean="0">
              <a:ea typeface="宋体" pitchFamily="2" charset="-122"/>
            </a:endParaRPr>
          </a:p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QuickSort(</a:t>
            </a:r>
            <a:r>
              <a:rPr lang="en-US" altLang="zh-CN" i="1" smtClean="0">
                <a:ea typeface="宋体" pitchFamily="2" charset="-122"/>
              </a:rPr>
              <a:t>a</a:t>
            </a:r>
            <a:r>
              <a:rPr lang="en-US" altLang="zh-CN" smtClean="0">
                <a:ea typeface="宋体" pitchFamily="2" charset="-122"/>
              </a:rPr>
              <a:t>, 1, length[</a:t>
            </a:r>
            <a:r>
              <a:rPr lang="en-US" altLang="zh-CN" i="1" smtClean="0">
                <a:ea typeface="宋体" pitchFamily="2" charset="-122"/>
              </a:rPr>
              <a:t>a</a:t>
            </a:r>
            <a:r>
              <a:rPr lang="en-US" altLang="zh-CN" smtClean="0">
                <a:ea typeface="宋体" pitchFamily="2" charset="-122"/>
              </a:rPr>
              <a:t>])</a:t>
            </a:r>
          </a:p>
          <a:p>
            <a:pPr>
              <a:buNone/>
            </a:pPr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B6A1-A8D7-4CB9-8E1A-AEB300DCBBC6}" type="slidenum">
              <a:rPr lang="en-US" smtClean="0"/>
              <a:pPr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Функция “Деление”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Partition(</a:t>
            </a:r>
            <a:r>
              <a:rPr lang="en-US" altLang="zh-CN" i="1" smtClean="0">
                <a:ea typeface="宋体" pitchFamily="2" charset="-122"/>
              </a:rPr>
              <a:t>a</a:t>
            </a:r>
            <a:r>
              <a:rPr lang="en-US" altLang="zh-CN" smtClean="0">
                <a:ea typeface="宋体" pitchFamily="2" charset="-122"/>
              </a:rPr>
              <a:t>, </a:t>
            </a:r>
            <a:r>
              <a:rPr lang="en-US" altLang="zh-CN" i="1" smtClean="0">
                <a:ea typeface="宋体" pitchFamily="2" charset="-122"/>
              </a:rPr>
              <a:t>p</a:t>
            </a:r>
            <a:r>
              <a:rPr lang="en-US" altLang="zh-CN" smtClean="0">
                <a:ea typeface="宋体" pitchFamily="2" charset="-122"/>
              </a:rPr>
              <a:t>, </a:t>
            </a:r>
            <a:r>
              <a:rPr lang="en-US" altLang="zh-CN" i="1" smtClean="0">
                <a:ea typeface="宋体" pitchFamily="2" charset="-122"/>
              </a:rPr>
              <a:t>r</a:t>
            </a:r>
            <a:r>
              <a:rPr lang="en-US" altLang="zh-CN" smtClean="0">
                <a:ea typeface="宋体" pitchFamily="2" charset="-122"/>
              </a:rPr>
              <a:t>)</a:t>
            </a:r>
          </a:p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1   </a:t>
            </a:r>
            <a:r>
              <a:rPr lang="en-US" altLang="zh-CN" i="1" smtClean="0">
                <a:ea typeface="宋体" pitchFamily="2" charset="-122"/>
              </a:rPr>
              <a:t>x </a:t>
            </a:r>
            <a:r>
              <a:rPr lang="en-US" altLang="zh-CN" smtClean="0">
                <a:ea typeface="宋体" pitchFamily="2" charset="-122"/>
              </a:rPr>
              <a:t>← </a:t>
            </a:r>
            <a:r>
              <a:rPr lang="en-US" altLang="zh-CN" i="1" smtClean="0">
                <a:ea typeface="宋体" pitchFamily="2" charset="-122"/>
              </a:rPr>
              <a:t>a</a:t>
            </a:r>
            <a:r>
              <a:rPr lang="en-US" altLang="zh-CN" smtClean="0">
                <a:ea typeface="宋体" pitchFamily="2" charset="-122"/>
              </a:rPr>
              <a:t>[</a:t>
            </a:r>
            <a:r>
              <a:rPr lang="en-US" altLang="zh-CN" i="1" smtClean="0">
                <a:ea typeface="宋体" pitchFamily="2" charset="-122"/>
              </a:rPr>
              <a:t>r</a:t>
            </a:r>
            <a:r>
              <a:rPr lang="en-US" altLang="zh-CN" smtClean="0">
                <a:ea typeface="宋体" pitchFamily="2" charset="-122"/>
              </a:rPr>
              <a:t>]</a:t>
            </a:r>
          </a:p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2   </a:t>
            </a:r>
            <a:r>
              <a:rPr lang="en-US" altLang="zh-CN" i="1" smtClean="0">
                <a:ea typeface="宋体" pitchFamily="2" charset="-122"/>
              </a:rPr>
              <a:t>i </a:t>
            </a:r>
            <a:r>
              <a:rPr lang="en-US" altLang="zh-CN" smtClean="0">
                <a:ea typeface="宋体" pitchFamily="2" charset="-122"/>
              </a:rPr>
              <a:t>← </a:t>
            </a:r>
            <a:r>
              <a:rPr lang="en-US" altLang="zh-CN" i="1" smtClean="0">
                <a:ea typeface="宋体" pitchFamily="2" charset="-122"/>
              </a:rPr>
              <a:t>p </a:t>
            </a:r>
            <a:r>
              <a:rPr lang="en-US" altLang="zh-CN" smtClean="0">
                <a:ea typeface="宋体" pitchFamily="2" charset="-122"/>
              </a:rPr>
              <a:t>- 1</a:t>
            </a:r>
          </a:p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3   </a:t>
            </a:r>
            <a:r>
              <a:rPr lang="en-US" altLang="zh-CN" b="1" smtClean="0">
                <a:solidFill>
                  <a:srgbClr val="996633"/>
                </a:solidFill>
                <a:ea typeface="宋体" pitchFamily="2" charset="-122"/>
              </a:rPr>
              <a:t>for</a:t>
            </a:r>
            <a:r>
              <a:rPr lang="en-US" altLang="zh-CN" b="1" smtClean="0">
                <a:ea typeface="宋体" pitchFamily="2" charset="-122"/>
              </a:rPr>
              <a:t> </a:t>
            </a:r>
            <a:r>
              <a:rPr lang="en-US" altLang="zh-CN" i="1" smtClean="0">
                <a:ea typeface="宋体" pitchFamily="2" charset="-122"/>
              </a:rPr>
              <a:t>j </a:t>
            </a:r>
            <a:r>
              <a:rPr lang="en-US" altLang="zh-CN" smtClean="0">
                <a:ea typeface="宋体" pitchFamily="2" charset="-122"/>
              </a:rPr>
              <a:t>← </a:t>
            </a:r>
            <a:r>
              <a:rPr lang="en-US" altLang="zh-CN" i="1" smtClean="0">
                <a:ea typeface="宋体" pitchFamily="2" charset="-122"/>
              </a:rPr>
              <a:t>p </a:t>
            </a:r>
            <a:r>
              <a:rPr lang="en-US" altLang="zh-CN" b="1" smtClean="0">
                <a:solidFill>
                  <a:srgbClr val="996633"/>
                </a:solidFill>
                <a:ea typeface="宋体" pitchFamily="2" charset="-122"/>
              </a:rPr>
              <a:t>to</a:t>
            </a:r>
            <a:r>
              <a:rPr lang="en-US" altLang="zh-CN" b="1" smtClean="0">
                <a:ea typeface="宋体" pitchFamily="2" charset="-122"/>
              </a:rPr>
              <a:t> </a:t>
            </a:r>
            <a:r>
              <a:rPr lang="en-US" altLang="zh-CN" i="1" smtClean="0">
                <a:ea typeface="宋体" pitchFamily="2" charset="-122"/>
              </a:rPr>
              <a:t>r </a:t>
            </a:r>
            <a:r>
              <a:rPr lang="en-US" altLang="zh-CN" smtClean="0">
                <a:ea typeface="宋体" pitchFamily="2" charset="-122"/>
              </a:rPr>
              <a:t>– 1 </a:t>
            </a:r>
            <a:r>
              <a:rPr lang="en-US" altLang="zh-CN" b="1" smtClean="0">
                <a:solidFill>
                  <a:srgbClr val="996633"/>
                </a:solidFill>
                <a:ea typeface="宋体" pitchFamily="2" charset="-122"/>
              </a:rPr>
              <a:t>do</a:t>
            </a:r>
            <a:endParaRPr lang="en-US" altLang="zh-CN" smtClean="0">
              <a:solidFill>
                <a:srgbClr val="996633"/>
              </a:solidFill>
              <a:ea typeface="宋体" pitchFamily="2" charset="-122"/>
            </a:endParaRPr>
          </a:p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4        </a:t>
            </a:r>
            <a:r>
              <a:rPr lang="en-US" altLang="zh-CN" b="1" smtClean="0">
                <a:solidFill>
                  <a:srgbClr val="996633"/>
                </a:solidFill>
                <a:ea typeface="宋体" pitchFamily="2" charset="-122"/>
              </a:rPr>
              <a:t>if</a:t>
            </a:r>
            <a:r>
              <a:rPr lang="en-US" altLang="zh-CN" b="1" smtClean="0">
                <a:ea typeface="宋体" pitchFamily="2" charset="-122"/>
              </a:rPr>
              <a:t> </a:t>
            </a:r>
            <a:r>
              <a:rPr lang="en-US" altLang="zh-CN" i="1" smtClean="0">
                <a:ea typeface="宋体" pitchFamily="2" charset="-122"/>
              </a:rPr>
              <a:t>a</a:t>
            </a:r>
            <a:r>
              <a:rPr lang="en-US" altLang="zh-CN" smtClean="0">
                <a:ea typeface="宋体" pitchFamily="2" charset="-122"/>
              </a:rPr>
              <a:t>[</a:t>
            </a:r>
            <a:r>
              <a:rPr lang="en-US" altLang="zh-CN" i="1" smtClean="0">
                <a:ea typeface="宋体" pitchFamily="2" charset="-122"/>
              </a:rPr>
              <a:t>j</a:t>
            </a:r>
            <a:r>
              <a:rPr lang="en-US" altLang="zh-CN" smtClean="0">
                <a:ea typeface="宋体" pitchFamily="2" charset="-122"/>
              </a:rPr>
              <a:t>] ≤ </a:t>
            </a:r>
            <a:r>
              <a:rPr lang="en-US" altLang="zh-CN" i="1" smtClean="0">
                <a:ea typeface="宋体" pitchFamily="2" charset="-122"/>
              </a:rPr>
              <a:t>x </a:t>
            </a:r>
            <a:r>
              <a:rPr lang="en-US" altLang="zh-CN" b="1" smtClean="0">
                <a:solidFill>
                  <a:srgbClr val="996633"/>
                </a:solidFill>
                <a:ea typeface="宋体" pitchFamily="2" charset="-122"/>
              </a:rPr>
              <a:t>then</a:t>
            </a:r>
            <a:endParaRPr lang="en-US" altLang="zh-CN" i="1" smtClean="0">
              <a:ea typeface="宋体" pitchFamily="2" charset="-122"/>
            </a:endParaRPr>
          </a:p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5                </a:t>
            </a:r>
            <a:r>
              <a:rPr lang="en-US" altLang="zh-CN" i="1" smtClean="0">
                <a:ea typeface="宋体" pitchFamily="2" charset="-122"/>
              </a:rPr>
              <a:t>i </a:t>
            </a:r>
            <a:r>
              <a:rPr lang="en-US" altLang="zh-CN" smtClean="0">
                <a:ea typeface="宋体" pitchFamily="2" charset="-122"/>
              </a:rPr>
              <a:t>← </a:t>
            </a:r>
            <a:r>
              <a:rPr lang="en-US" altLang="zh-CN" i="1" smtClean="0">
                <a:ea typeface="宋体" pitchFamily="2" charset="-122"/>
              </a:rPr>
              <a:t>i </a:t>
            </a:r>
            <a:r>
              <a:rPr lang="en-US" altLang="zh-CN" smtClean="0">
                <a:ea typeface="宋体" pitchFamily="2" charset="-122"/>
              </a:rPr>
              <a:t>+ 1</a:t>
            </a:r>
          </a:p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6                swap </a:t>
            </a:r>
            <a:r>
              <a:rPr lang="en-US" altLang="zh-CN" i="1" smtClean="0">
                <a:ea typeface="宋体" pitchFamily="2" charset="-122"/>
              </a:rPr>
              <a:t>a</a:t>
            </a:r>
            <a:r>
              <a:rPr lang="en-US" altLang="zh-CN" smtClean="0">
                <a:ea typeface="宋体" pitchFamily="2" charset="-122"/>
              </a:rPr>
              <a:t>[</a:t>
            </a:r>
            <a:r>
              <a:rPr lang="en-US" altLang="zh-CN" i="1" smtClean="0">
                <a:ea typeface="宋体" pitchFamily="2" charset="-122"/>
              </a:rPr>
              <a:t>i</a:t>
            </a:r>
            <a:r>
              <a:rPr lang="en-US" altLang="zh-CN" smtClean="0">
                <a:ea typeface="宋体" pitchFamily="2" charset="-122"/>
              </a:rPr>
              <a:t>] </a:t>
            </a:r>
            <a:r>
              <a:rPr lang="en-US" altLang="zh-CN" smtClean="0">
                <a:ea typeface="宋体" pitchFamily="2" charset="-122"/>
                <a:cs typeface="Times New Roman" pitchFamily="18" charset="0"/>
              </a:rPr>
              <a:t>↔</a:t>
            </a:r>
            <a:r>
              <a:rPr lang="en-US" altLang="zh-CN" smtClean="0">
                <a:ea typeface="宋体" pitchFamily="2" charset="-122"/>
              </a:rPr>
              <a:t> </a:t>
            </a:r>
            <a:r>
              <a:rPr lang="en-US" altLang="zh-CN" i="1" smtClean="0">
                <a:ea typeface="宋体" pitchFamily="2" charset="-122"/>
              </a:rPr>
              <a:t>a</a:t>
            </a:r>
            <a:r>
              <a:rPr lang="en-US" altLang="zh-CN" smtClean="0">
                <a:ea typeface="宋体" pitchFamily="2" charset="-122"/>
              </a:rPr>
              <a:t>[</a:t>
            </a:r>
            <a:r>
              <a:rPr lang="en-US" altLang="zh-CN" i="1" smtClean="0">
                <a:ea typeface="宋体" pitchFamily="2" charset="-122"/>
              </a:rPr>
              <a:t>j</a:t>
            </a:r>
            <a:r>
              <a:rPr lang="en-US" altLang="zh-CN" smtClean="0">
                <a:ea typeface="宋体" pitchFamily="2" charset="-122"/>
              </a:rPr>
              <a:t>]</a:t>
            </a:r>
          </a:p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7   swap </a:t>
            </a:r>
            <a:r>
              <a:rPr lang="en-US" altLang="zh-CN" i="1" smtClean="0">
                <a:ea typeface="宋体" pitchFamily="2" charset="-122"/>
              </a:rPr>
              <a:t>a</a:t>
            </a:r>
            <a:r>
              <a:rPr lang="en-US" altLang="zh-CN" smtClean="0">
                <a:ea typeface="宋体" pitchFamily="2" charset="-122"/>
              </a:rPr>
              <a:t>[</a:t>
            </a:r>
            <a:r>
              <a:rPr lang="en-US" altLang="zh-CN" i="1" smtClean="0">
                <a:ea typeface="宋体" pitchFamily="2" charset="-122"/>
              </a:rPr>
              <a:t>i </a:t>
            </a:r>
            <a:r>
              <a:rPr lang="en-US" altLang="zh-CN" smtClean="0">
                <a:ea typeface="宋体" pitchFamily="2" charset="-122"/>
              </a:rPr>
              <a:t>+ 1] ↔  </a:t>
            </a:r>
            <a:r>
              <a:rPr lang="en-US" altLang="zh-CN" i="1" smtClean="0">
                <a:ea typeface="宋体" pitchFamily="2" charset="-122"/>
              </a:rPr>
              <a:t>a</a:t>
            </a:r>
            <a:r>
              <a:rPr lang="en-US" altLang="zh-CN" smtClean="0">
                <a:ea typeface="宋体" pitchFamily="2" charset="-122"/>
              </a:rPr>
              <a:t>[</a:t>
            </a:r>
            <a:r>
              <a:rPr lang="en-US" altLang="zh-CN" i="1" smtClean="0">
                <a:ea typeface="宋体" pitchFamily="2" charset="-122"/>
              </a:rPr>
              <a:t>r</a:t>
            </a:r>
            <a:r>
              <a:rPr lang="en-US" altLang="zh-CN" smtClean="0">
                <a:ea typeface="宋体" pitchFamily="2" charset="-122"/>
              </a:rPr>
              <a:t>]</a:t>
            </a:r>
          </a:p>
          <a:p>
            <a:pPr>
              <a:buNone/>
            </a:pPr>
            <a:r>
              <a:rPr lang="en-US" altLang="zh-CN" smtClean="0">
                <a:ea typeface="宋体" pitchFamily="2" charset="-122"/>
              </a:rPr>
              <a:t>8   </a:t>
            </a:r>
            <a:r>
              <a:rPr lang="en-US" altLang="zh-CN" b="1" smtClean="0">
                <a:solidFill>
                  <a:srgbClr val="996633"/>
                </a:solidFill>
                <a:ea typeface="宋体" pitchFamily="2" charset="-122"/>
              </a:rPr>
              <a:t>return</a:t>
            </a:r>
            <a:r>
              <a:rPr lang="en-US" altLang="zh-CN" b="1" smtClean="0">
                <a:ea typeface="宋体" pitchFamily="2" charset="-122"/>
              </a:rPr>
              <a:t> </a:t>
            </a:r>
            <a:r>
              <a:rPr lang="en-US" altLang="zh-CN" i="1" smtClean="0">
                <a:ea typeface="宋体" pitchFamily="2" charset="-122"/>
              </a:rPr>
              <a:t>i </a:t>
            </a:r>
            <a:r>
              <a:rPr lang="en-US" altLang="zh-CN" smtClean="0">
                <a:ea typeface="宋体" pitchFamily="2" charset="-122"/>
              </a:rPr>
              <a:t>+ 1</a:t>
            </a:r>
            <a:endParaRPr lang="zh-CN" altLang="en-US" smtClean="0">
              <a:ea typeface="宋体" pitchFamily="2" charset="-122"/>
            </a:endParaRPr>
          </a:p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B6A1-A8D7-4CB9-8E1A-AEB300DCBBC6}" type="slidenum">
              <a:rPr lang="en-US" smtClean="0"/>
              <a:pPr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Сложност на </a:t>
            </a:r>
            <a:r>
              <a:rPr lang="en-US" altLang="zh-CN" smtClean="0">
                <a:ea typeface="宋体" pitchFamily="2" charset="-122"/>
              </a:rPr>
              <a:t>QuickSort</a:t>
            </a:r>
            <a:r>
              <a:rPr lang="bg-BG" smtClean="0"/>
              <a:t> 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altLang="zh-CN" smtClean="0">
                <a:solidFill>
                  <a:schemeClr val="accent3">
                    <a:lumMod val="75000"/>
                  </a:schemeClr>
                </a:solidFill>
                <a:ea typeface="宋体" pitchFamily="2" charset="-122"/>
              </a:rPr>
              <a:t>Най-лошия случай на разделянето на масива</a:t>
            </a:r>
            <a:r>
              <a:rPr lang="en-US" altLang="zh-CN" smtClean="0">
                <a:solidFill>
                  <a:schemeClr val="accent3">
                    <a:lumMod val="75000"/>
                  </a:schemeClr>
                </a:solidFill>
                <a:ea typeface="宋体" pitchFamily="2" charset="-122"/>
              </a:rPr>
              <a:t> </a:t>
            </a:r>
            <a:r>
              <a:rPr lang="bg-BG" altLang="zh-CN" smtClean="0">
                <a:ea typeface="宋体" pitchFamily="2" charset="-122"/>
              </a:rPr>
              <a:t>(</a:t>
            </a:r>
            <a:r>
              <a:rPr lang="en-US" altLang="zh-CN" smtClean="0">
                <a:ea typeface="宋体" pitchFamily="2" charset="-122"/>
              </a:rPr>
              <a:t>partitioning</a:t>
            </a:r>
            <a:r>
              <a:rPr lang="bg-BG" altLang="zh-CN" smtClean="0">
                <a:ea typeface="宋体" pitchFamily="2" charset="-122"/>
              </a:rPr>
              <a:t>)</a:t>
            </a:r>
            <a:endParaRPr lang="en-US" altLang="zh-CN" smtClean="0">
              <a:ea typeface="宋体" pitchFamily="2" charset="-122"/>
            </a:endParaRPr>
          </a:p>
          <a:p>
            <a:pPr>
              <a:buNone/>
            </a:pPr>
            <a:r>
              <a:rPr lang="bg-BG" altLang="zh-CN" smtClean="0">
                <a:ea typeface="宋体" pitchFamily="2" charset="-122"/>
              </a:rPr>
              <a:t>			</a:t>
            </a:r>
            <a:r>
              <a:rPr lang="zh-CN" altLang="en-US" smtClean="0">
                <a:ea typeface="宋体" pitchFamily="2" charset="-122"/>
              </a:rPr>
              <a:t>= </a:t>
            </a:r>
            <a:r>
              <a:rPr lang="en-US" altLang="zh-CN" smtClean="0">
                <a:ea typeface="宋体" pitchFamily="2" charset="-122"/>
              </a:rPr>
              <a:t>O(</a:t>
            </a:r>
            <a:r>
              <a:rPr lang="en-US" altLang="zh-CN" i="1" smtClean="0">
                <a:ea typeface="宋体" pitchFamily="2" charset="-122"/>
              </a:rPr>
              <a:t>n</a:t>
            </a:r>
            <a:r>
              <a:rPr lang="en-US" altLang="zh-CN" i="1" baseline="30000" smtClean="0">
                <a:ea typeface="宋体" pitchFamily="2" charset="-122"/>
              </a:rPr>
              <a:t>2</a:t>
            </a:r>
            <a:r>
              <a:rPr lang="en-US" altLang="zh-CN" smtClean="0">
                <a:ea typeface="宋体" pitchFamily="2" charset="-122"/>
              </a:rPr>
              <a:t>)</a:t>
            </a:r>
            <a:endParaRPr lang="en-US" altLang="zh-CN" baseline="30000" smtClean="0">
              <a:ea typeface="宋体" pitchFamily="2" charset="-122"/>
            </a:endParaRPr>
          </a:p>
          <a:p>
            <a:r>
              <a:rPr lang="bg-BG" altLang="zh-CN" smtClean="0">
                <a:solidFill>
                  <a:schemeClr val="accent3">
                    <a:lumMod val="75000"/>
                  </a:schemeClr>
                </a:solidFill>
                <a:ea typeface="宋体" pitchFamily="2" charset="-122"/>
              </a:rPr>
              <a:t>Най-добрия случай на разделянето на масива</a:t>
            </a:r>
            <a:r>
              <a:rPr lang="en-US" altLang="zh-CN" smtClean="0">
                <a:ea typeface="宋体" pitchFamily="2" charset="-122"/>
              </a:rPr>
              <a:t> </a:t>
            </a:r>
            <a:r>
              <a:rPr lang="bg-BG" altLang="zh-CN" smtClean="0">
                <a:ea typeface="宋体" pitchFamily="2" charset="-122"/>
              </a:rPr>
              <a:t>(</a:t>
            </a:r>
            <a:r>
              <a:rPr lang="en-US" altLang="zh-CN" smtClean="0">
                <a:ea typeface="宋体" pitchFamily="2" charset="-122"/>
              </a:rPr>
              <a:t>partitioning</a:t>
            </a:r>
            <a:r>
              <a:rPr lang="bg-BG" altLang="zh-CN" smtClean="0">
                <a:ea typeface="宋体" pitchFamily="2" charset="-122"/>
              </a:rPr>
              <a:t>)</a:t>
            </a:r>
            <a:endParaRPr lang="en-US" altLang="zh-CN" smtClean="0">
              <a:ea typeface="宋体" pitchFamily="2" charset="-122"/>
            </a:endParaRPr>
          </a:p>
          <a:p>
            <a:pPr>
              <a:buNone/>
            </a:pPr>
            <a:r>
              <a:rPr lang="en-US" altLang="zh-CN" i="1" smtClean="0">
                <a:ea typeface="宋体" pitchFamily="2" charset="-122"/>
              </a:rPr>
              <a:t>    </a:t>
            </a:r>
            <a:r>
              <a:rPr lang="zh-CN" altLang="en-US" smtClean="0">
                <a:ea typeface="宋体" pitchFamily="2" charset="-122"/>
              </a:rPr>
              <a:t>            = </a:t>
            </a:r>
            <a:r>
              <a:rPr lang="en-US" altLang="zh-CN" smtClean="0">
                <a:ea typeface="宋体" pitchFamily="2" charset="-122"/>
              </a:rPr>
              <a:t>O(</a:t>
            </a:r>
            <a:r>
              <a:rPr lang="en-US" altLang="zh-CN" i="1" smtClean="0">
                <a:ea typeface="宋体" pitchFamily="2" charset="-122"/>
              </a:rPr>
              <a:t>n</a:t>
            </a:r>
            <a:r>
              <a:rPr lang="bg-BG" altLang="zh-CN" i="1" smtClean="0">
                <a:ea typeface="宋体" pitchFamily="2" charset="-122"/>
              </a:rPr>
              <a:t> </a:t>
            </a:r>
            <a:r>
              <a:rPr lang="en-US" altLang="zh-CN" i="1" smtClean="0">
                <a:ea typeface="宋体" pitchFamily="2" charset="-122"/>
              </a:rPr>
              <a:t>l</a:t>
            </a:r>
            <a:r>
              <a:rPr lang="bg-BG" altLang="zh-CN" i="1" smtClean="0">
                <a:ea typeface="宋体" pitchFamily="2" charset="-122"/>
              </a:rPr>
              <a:t>о</a:t>
            </a:r>
            <a:r>
              <a:rPr lang="en-US" altLang="zh-CN" i="1" smtClean="0">
                <a:ea typeface="宋体" pitchFamily="2" charset="-122"/>
              </a:rPr>
              <a:t>g</a:t>
            </a:r>
            <a:r>
              <a:rPr lang="bg-BG" altLang="zh-CN" i="1" smtClean="0">
                <a:ea typeface="宋体" pitchFamily="2" charset="-122"/>
              </a:rPr>
              <a:t> </a:t>
            </a:r>
            <a:r>
              <a:rPr lang="en-US" altLang="zh-CN" i="1" smtClean="0">
                <a:ea typeface="宋体" pitchFamily="2" charset="-122"/>
              </a:rPr>
              <a:t>n</a:t>
            </a:r>
            <a:r>
              <a:rPr lang="en-US" altLang="zh-CN" smtClean="0">
                <a:ea typeface="宋体" pitchFamily="2" charset="-122"/>
              </a:rPr>
              <a:t>)</a:t>
            </a:r>
          </a:p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B6A1-A8D7-4CB9-8E1A-AEB300DCBBC6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mtClean="0"/>
              <a:t>Сложност на </a:t>
            </a:r>
            <a:r>
              <a:rPr lang="en-US" altLang="zh-CN" smtClean="0">
                <a:ea typeface="宋体" pitchFamily="2" charset="-122"/>
              </a:rPr>
              <a:t>QuickSort</a:t>
            </a:r>
            <a:r>
              <a:rPr lang="bg-BG" smtClean="0"/>
              <a:t> 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9632" y="1457400"/>
            <a:ext cx="7776864" cy="54006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bg-BG" altLang="zh-CN" smtClean="0">
                <a:ea typeface="宋体" pitchFamily="2" charset="-122"/>
              </a:rPr>
              <a:t>Сложността на </a:t>
            </a:r>
            <a:r>
              <a:rPr lang="en-US" altLang="zh-CN" smtClean="0">
                <a:ea typeface="宋体" pitchFamily="2" charset="-122"/>
              </a:rPr>
              <a:t>QuickSort </a:t>
            </a:r>
            <a:r>
              <a:rPr lang="bg-BG" altLang="zh-CN" smtClean="0">
                <a:ea typeface="宋体" pitchFamily="2" charset="-122"/>
              </a:rPr>
              <a:t>е </a:t>
            </a:r>
            <a:r>
              <a:rPr lang="en-US" altLang="zh-CN" smtClean="0">
                <a:ea typeface="宋体" pitchFamily="2" charset="-122"/>
              </a:rPr>
              <a:t>O(</a:t>
            </a:r>
            <a:r>
              <a:rPr lang="en-US" altLang="zh-CN" i="1" smtClean="0">
                <a:ea typeface="宋体" pitchFamily="2" charset="-122"/>
              </a:rPr>
              <a:t>n</a:t>
            </a:r>
            <a:r>
              <a:rPr lang="en-US" altLang="zh-CN" baseline="30000" smtClean="0">
                <a:ea typeface="宋体" pitchFamily="2" charset="-122"/>
              </a:rPr>
              <a:t>2</a:t>
            </a:r>
            <a:r>
              <a:rPr lang="en-US" altLang="zh-CN" smtClean="0">
                <a:ea typeface="宋体" pitchFamily="2" charset="-122"/>
              </a:rPr>
              <a:t>) </a:t>
            </a:r>
            <a:r>
              <a:rPr lang="bg-BG" altLang="zh-CN" smtClean="0">
                <a:ea typeface="宋体" pitchFamily="2" charset="-122"/>
              </a:rPr>
              <a:t>в най-лошия случай</a:t>
            </a:r>
            <a:r>
              <a:rPr lang="en-US" altLang="zh-CN" smtClean="0">
                <a:ea typeface="宋体" pitchFamily="2" charset="-122"/>
              </a:rPr>
              <a:t>, </a:t>
            </a:r>
            <a:r>
              <a:rPr lang="bg-BG" altLang="zh-CN" smtClean="0">
                <a:ea typeface="宋体" pitchFamily="2" charset="-122"/>
              </a:rPr>
              <a:t>ако данните във входния масив са вече подредени:</a:t>
            </a:r>
            <a:endParaRPr lang="en-US" altLang="zh-CN" smtClean="0">
              <a:ea typeface="宋体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mtClean="0">
                <a:ea typeface="宋体" pitchFamily="2" charset="-122"/>
              </a:rPr>
              <a:t>    -</a:t>
            </a:r>
            <a:r>
              <a:rPr lang="bg-BG" altLang="zh-CN" smtClean="0">
                <a:ea typeface="宋体" pitchFamily="2" charset="-122"/>
              </a:rPr>
              <a:t> Рандомизирането</a:t>
            </a:r>
            <a:r>
              <a:rPr lang="en-US" altLang="zh-CN" smtClean="0">
                <a:ea typeface="宋体" pitchFamily="2" charset="-122"/>
              </a:rPr>
              <a:t> </a:t>
            </a:r>
            <a:r>
              <a:rPr lang="bg-BG" altLang="zh-CN" smtClean="0">
                <a:ea typeface="宋体" pitchFamily="2" charset="-122"/>
              </a:rPr>
              <a:t>може да помогне да се намали вероятността на такава ситуация</a:t>
            </a:r>
            <a:r>
              <a:rPr lang="en-US" altLang="zh-CN" smtClean="0">
                <a:ea typeface="宋体" pitchFamily="2" charset="-12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bg-BG" altLang="zh-CN" smtClean="0">
                <a:ea typeface="宋体" pitchFamily="2" charset="-122"/>
              </a:rPr>
              <a:t>Рандомизирането на</a:t>
            </a:r>
            <a:r>
              <a:rPr lang="en-US" altLang="zh-CN" smtClean="0">
                <a:ea typeface="宋体" pitchFamily="2" charset="-122"/>
              </a:rPr>
              <a:t> QuickSort </a:t>
            </a:r>
            <a:r>
              <a:rPr lang="bg-BG" altLang="zh-CN" smtClean="0">
                <a:ea typeface="宋体" pitchFamily="2" charset="-122"/>
              </a:rPr>
              <a:t>може да се реализира по два начина</a:t>
            </a:r>
            <a:r>
              <a:rPr lang="en-US" altLang="zh-CN" smtClean="0">
                <a:ea typeface="宋体" pitchFamily="2" charset="-122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mtClean="0">
                <a:ea typeface="宋体" pitchFamily="2" charset="-122"/>
              </a:rPr>
              <a:t>   -</a:t>
            </a:r>
            <a:r>
              <a:rPr lang="bg-BG" altLang="zh-CN" smtClean="0">
                <a:ea typeface="宋体" pitchFamily="2" charset="-122"/>
              </a:rPr>
              <a:t> Случайно разбъркване на входния масив в началото</a:t>
            </a:r>
            <a:r>
              <a:rPr lang="en-US" altLang="zh-CN" smtClean="0">
                <a:ea typeface="宋体" pitchFamily="2" charset="-122"/>
              </a:rPr>
              <a:t>.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mtClean="0">
                <a:ea typeface="宋体" pitchFamily="2" charset="-122"/>
              </a:rPr>
              <a:t>   -</a:t>
            </a:r>
            <a:r>
              <a:rPr lang="bg-BG" altLang="zh-CN" smtClean="0">
                <a:ea typeface="宋体" pitchFamily="2" charset="-122"/>
              </a:rPr>
              <a:t> Случаен избор на главния елемент (</a:t>
            </a:r>
            <a:r>
              <a:rPr lang="en-US" altLang="zh-CN" smtClean="0">
                <a:ea typeface="宋体" pitchFamily="2" charset="-122"/>
              </a:rPr>
              <a:t>pivot value</a:t>
            </a:r>
            <a:r>
              <a:rPr lang="bg-BG" altLang="zh-CN" smtClean="0">
                <a:ea typeface="宋体" pitchFamily="2" charset="-122"/>
              </a:rPr>
              <a:t>)</a:t>
            </a:r>
            <a:r>
              <a:rPr lang="en-US" altLang="zh-CN" smtClean="0">
                <a:ea typeface="宋体" pitchFamily="2" charset="-122"/>
              </a:rPr>
              <a:t> </a:t>
            </a:r>
            <a:r>
              <a:rPr lang="bg-BG" altLang="zh-CN" smtClean="0">
                <a:ea typeface="宋体" pitchFamily="2" charset="-122"/>
              </a:rPr>
              <a:t>на всяка стъпка на сортирането</a:t>
            </a:r>
            <a:r>
              <a:rPr lang="en-US" altLang="zh-CN" smtClean="0">
                <a:ea typeface="宋体" pitchFamily="2" charset="-122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bg-BG" altLang="zh-CN" smtClean="0">
                <a:ea typeface="宋体" pitchFamily="2" charset="-122"/>
              </a:rPr>
              <a:t>Забележете разликата</a:t>
            </a:r>
            <a:r>
              <a:rPr lang="en-US" altLang="zh-CN" smtClean="0">
                <a:ea typeface="宋体" pitchFamily="2" charset="-122"/>
              </a:rPr>
              <a:t>: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mtClean="0">
                <a:ea typeface="宋体" pitchFamily="2" charset="-122"/>
              </a:rPr>
              <a:t>   </a:t>
            </a:r>
            <a:r>
              <a:rPr lang="bg-BG" altLang="zh-CN" smtClean="0">
                <a:ea typeface="宋体" pitchFamily="2" charset="-122"/>
              </a:rPr>
              <a:t>едно е рандомизиране на данни, друго е да се рандомизира алгоритъм.</a:t>
            </a:r>
            <a:endParaRPr lang="en-US" altLang="zh-CN" smtClean="0">
              <a:ea typeface="宋体" pitchFamily="2" charset="-122"/>
            </a:endParaRPr>
          </a:p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B6A1-A8D7-4CB9-8E1A-AEB300DCBBC6}" type="slidenum">
              <a:rPr lang="en-US" smtClean="0"/>
              <a:pPr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altLang="zh-CN" sz="3200" smtClean="0">
                <a:ea typeface="宋体" pitchFamily="2" charset="-122"/>
              </a:rPr>
              <a:t>Рандомизирана версия на</a:t>
            </a:r>
            <a:r>
              <a:rPr lang="en-US" altLang="zh-CN" sz="3200" smtClean="0">
                <a:ea typeface="宋体" pitchFamily="2" charset="-122"/>
              </a:rPr>
              <a:t> QuickSort</a:t>
            </a:r>
            <a:endParaRPr lang="bg-BG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None/>
            </a:pPr>
            <a:r>
              <a:rPr kumimoji="1" lang="en-US" altLang="zh-CN" smtClean="0">
                <a:ea typeface="宋体" pitchFamily="2" charset="-122"/>
              </a:rPr>
              <a:t>Randomized</a:t>
            </a:r>
            <a:r>
              <a:rPr lang="en-US" altLang="zh-CN" smtClean="0">
                <a:ea typeface="宋体" pitchFamily="2" charset="-122"/>
              </a:rPr>
              <a:t>Partition </a:t>
            </a:r>
            <a:r>
              <a:rPr lang="en-US" altLang="zh-CN" smtClean="0">
                <a:solidFill>
                  <a:schemeClr val="accent3">
                    <a:lumMod val="75000"/>
                  </a:schemeClr>
                </a:solidFill>
                <a:ea typeface="宋体" pitchFamily="2" charset="-122"/>
              </a:rPr>
              <a:t>(</a:t>
            </a:r>
            <a:r>
              <a:rPr lang="en-US" altLang="zh-CN" i="1" smtClean="0">
                <a:solidFill>
                  <a:schemeClr val="accent3">
                    <a:lumMod val="75000"/>
                  </a:schemeClr>
                </a:solidFill>
                <a:ea typeface="宋体" pitchFamily="2" charset="-122"/>
              </a:rPr>
              <a:t>a,p,r</a:t>
            </a:r>
            <a:r>
              <a:rPr lang="en-US" altLang="zh-CN" smtClean="0">
                <a:solidFill>
                  <a:schemeClr val="accent3">
                    <a:lumMod val="75000"/>
                  </a:schemeClr>
                </a:solidFill>
                <a:ea typeface="宋体" pitchFamily="2" charset="-122"/>
              </a:rPr>
              <a:t>)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mtClean="0">
                <a:ea typeface="宋体" pitchFamily="2" charset="-122"/>
              </a:rPr>
              <a:t>1   </a:t>
            </a:r>
            <a:r>
              <a:rPr lang="en-US" altLang="zh-CN" i="1" smtClean="0">
                <a:ea typeface="宋体" pitchFamily="2" charset="-122"/>
              </a:rPr>
              <a:t>i</a:t>
            </a:r>
            <a:r>
              <a:rPr lang="en-US" altLang="zh-CN" i="1" smtClean="0">
                <a:ea typeface="宋体" pitchFamily="2" charset="-122"/>
                <a:cs typeface="Tahoma" pitchFamily="34" charset="0"/>
              </a:rPr>
              <a:t>←</a:t>
            </a:r>
            <a:r>
              <a:rPr lang="en-US" altLang="zh-CN" smtClean="0">
                <a:ea typeface="宋体" pitchFamily="2" charset="-122"/>
              </a:rPr>
              <a:t> Randomi(</a:t>
            </a:r>
            <a:r>
              <a:rPr lang="en-US" altLang="zh-CN" i="1" smtClean="0">
                <a:ea typeface="宋体" pitchFamily="2" charset="-122"/>
              </a:rPr>
              <a:t>p,r</a:t>
            </a:r>
            <a:r>
              <a:rPr lang="en-US" altLang="zh-CN" smtClean="0">
                <a:ea typeface="宋体" pitchFamily="2" charset="-122"/>
              </a:rPr>
              <a:t>)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mtClean="0">
                <a:ea typeface="宋体" pitchFamily="2" charset="-122"/>
              </a:rPr>
              <a:t>2   swap </a:t>
            </a:r>
            <a:r>
              <a:rPr lang="en-US" altLang="zh-CN" i="1" smtClean="0">
                <a:ea typeface="宋体" pitchFamily="2" charset="-122"/>
              </a:rPr>
              <a:t>a</a:t>
            </a:r>
            <a:r>
              <a:rPr lang="en-US" altLang="zh-CN" smtClean="0">
                <a:ea typeface="宋体" pitchFamily="2" charset="-122"/>
              </a:rPr>
              <a:t>[</a:t>
            </a:r>
            <a:r>
              <a:rPr lang="en-US" altLang="zh-CN" i="1" smtClean="0">
                <a:ea typeface="宋体" pitchFamily="2" charset="-122"/>
              </a:rPr>
              <a:t>p</a:t>
            </a:r>
            <a:r>
              <a:rPr lang="en-US" altLang="zh-CN" smtClean="0">
                <a:ea typeface="宋体" pitchFamily="2" charset="-122"/>
              </a:rPr>
              <a:t>]</a:t>
            </a:r>
            <a:r>
              <a:rPr lang="en-US" altLang="zh-CN" smtClean="0">
                <a:ea typeface="宋体" pitchFamily="2" charset="-122"/>
                <a:sym typeface="Symbol" pitchFamily="18" charset="2"/>
              </a:rPr>
              <a:t>↔</a:t>
            </a:r>
            <a:r>
              <a:rPr lang="en-US" altLang="zh-CN" i="1" smtClean="0">
                <a:ea typeface="宋体" pitchFamily="2" charset="-122"/>
              </a:rPr>
              <a:t>a</a:t>
            </a:r>
            <a:r>
              <a:rPr lang="en-US" altLang="zh-CN" smtClean="0">
                <a:ea typeface="宋体" pitchFamily="2" charset="-122"/>
              </a:rPr>
              <a:t>[</a:t>
            </a:r>
            <a:r>
              <a:rPr lang="en-US" altLang="zh-CN" i="1" smtClean="0">
                <a:ea typeface="宋体" pitchFamily="2" charset="-122"/>
              </a:rPr>
              <a:t>i</a:t>
            </a:r>
            <a:r>
              <a:rPr lang="en-US" altLang="zh-CN" smtClean="0">
                <a:ea typeface="宋体" pitchFamily="2" charset="-122"/>
              </a:rPr>
              <a:t>]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mtClean="0">
                <a:ea typeface="宋体" pitchFamily="2" charset="-122"/>
              </a:rPr>
              <a:t>3 </a:t>
            </a:r>
            <a:r>
              <a:rPr lang="en-US" altLang="zh-CN" b="1" smtClean="0">
                <a:ea typeface="宋体" pitchFamily="2" charset="-122"/>
              </a:rPr>
              <a:t>  </a:t>
            </a:r>
            <a:r>
              <a:rPr lang="en-US" altLang="zh-CN" b="1" smtClean="0">
                <a:solidFill>
                  <a:srgbClr val="996633"/>
                </a:solidFill>
                <a:ea typeface="宋体" pitchFamily="2" charset="-122"/>
              </a:rPr>
              <a:t>return</a:t>
            </a:r>
            <a:r>
              <a:rPr lang="en-US" altLang="zh-CN" smtClean="0">
                <a:ea typeface="宋体" pitchFamily="2" charset="-122"/>
              </a:rPr>
              <a:t> Partition(</a:t>
            </a:r>
            <a:r>
              <a:rPr lang="en-US" altLang="zh-CN" i="1" smtClean="0">
                <a:ea typeface="宋体" pitchFamily="2" charset="-122"/>
              </a:rPr>
              <a:t>a,p,r</a:t>
            </a:r>
            <a:r>
              <a:rPr lang="en-US" altLang="zh-CN" smtClean="0">
                <a:ea typeface="宋体" pitchFamily="2" charset="-122"/>
              </a:rPr>
              <a:t>) </a:t>
            </a:r>
          </a:p>
          <a:p>
            <a:pPr>
              <a:lnSpc>
                <a:spcPct val="90000"/>
              </a:lnSpc>
              <a:buNone/>
            </a:pPr>
            <a:endParaRPr lang="en-US" altLang="zh-CN" smtClean="0">
              <a:solidFill>
                <a:schemeClr val="hlink"/>
              </a:solidFill>
              <a:ea typeface="宋体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kumimoji="1" lang="en-US" altLang="zh-CN" smtClean="0">
                <a:ea typeface="宋体" pitchFamily="2" charset="-122"/>
              </a:rPr>
              <a:t>RandomizedQuickSort </a:t>
            </a:r>
            <a:r>
              <a:rPr lang="en-US" altLang="zh-CN" smtClean="0">
                <a:solidFill>
                  <a:schemeClr val="accent3">
                    <a:lumMod val="75000"/>
                  </a:schemeClr>
                </a:solidFill>
                <a:ea typeface="宋体" pitchFamily="2" charset="-122"/>
              </a:rPr>
              <a:t>(</a:t>
            </a:r>
            <a:r>
              <a:rPr lang="en-US" altLang="zh-CN" i="1" smtClean="0">
                <a:solidFill>
                  <a:schemeClr val="accent3">
                    <a:lumMod val="75000"/>
                  </a:schemeClr>
                </a:solidFill>
                <a:ea typeface="宋体" pitchFamily="2" charset="-122"/>
              </a:rPr>
              <a:t>a,p,r</a:t>
            </a:r>
            <a:r>
              <a:rPr lang="en-US" altLang="zh-CN" smtClean="0">
                <a:solidFill>
                  <a:schemeClr val="accent3">
                    <a:lumMod val="75000"/>
                  </a:schemeClr>
                </a:solidFill>
                <a:ea typeface="宋体" pitchFamily="2" charset="-122"/>
              </a:rPr>
              <a:t>)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mtClean="0">
                <a:ea typeface="宋体" pitchFamily="2" charset="-122"/>
              </a:rPr>
              <a:t>1  </a:t>
            </a:r>
            <a:r>
              <a:rPr lang="en-US" altLang="zh-CN" smtClean="0">
                <a:solidFill>
                  <a:srgbClr val="996633"/>
                </a:solidFill>
                <a:ea typeface="宋体" pitchFamily="2" charset="-122"/>
              </a:rPr>
              <a:t> </a:t>
            </a:r>
            <a:r>
              <a:rPr lang="en-US" altLang="zh-CN" b="1" smtClean="0">
                <a:solidFill>
                  <a:srgbClr val="996633"/>
                </a:solidFill>
                <a:ea typeface="宋体" pitchFamily="2" charset="-122"/>
              </a:rPr>
              <a:t>if</a:t>
            </a:r>
            <a:r>
              <a:rPr lang="en-US" altLang="zh-CN" smtClean="0">
                <a:ea typeface="宋体" pitchFamily="2" charset="-122"/>
              </a:rPr>
              <a:t> </a:t>
            </a:r>
            <a:r>
              <a:rPr lang="en-US" altLang="zh-CN" i="1" smtClean="0">
                <a:ea typeface="宋体" pitchFamily="2" charset="-122"/>
              </a:rPr>
              <a:t>p</a:t>
            </a:r>
            <a:r>
              <a:rPr lang="en-US" altLang="zh-CN" smtClean="0">
                <a:ea typeface="宋体" pitchFamily="2" charset="-122"/>
              </a:rPr>
              <a:t> &lt; </a:t>
            </a:r>
            <a:r>
              <a:rPr lang="en-US" altLang="zh-CN" i="1" smtClean="0">
                <a:ea typeface="宋体" pitchFamily="2" charset="-122"/>
              </a:rPr>
              <a:t>r</a:t>
            </a:r>
            <a:r>
              <a:rPr lang="en-US" altLang="zh-CN" smtClean="0">
                <a:ea typeface="宋体" pitchFamily="2" charset="-122"/>
              </a:rPr>
              <a:t> </a:t>
            </a:r>
            <a:r>
              <a:rPr lang="en-US" altLang="zh-CN" b="1" smtClean="0">
                <a:solidFill>
                  <a:srgbClr val="996633"/>
                </a:solidFill>
                <a:ea typeface="宋体" pitchFamily="2" charset="-122"/>
              </a:rPr>
              <a:t>then</a:t>
            </a:r>
            <a:endParaRPr lang="en-US" altLang="zh-CN" smtClean="0">
              <a:ea typeface="宋体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mtClean="0">
                <a:ea typeface="宋体" pitchFamily="2" charset="-122"/>
              </a:rPr>
              <a:t>2           </a:t>
            </a:r>
            <a:r>
              <a:rPr lang="en-US" altLang="zh-CN" i="1" smtClean="0">
                <a:ea typeface="宋体" pitchFamily="2" charset="-122"/>
              </a:rPr>
              <a:t>q←</a:t>
            </a:r>
            <a:r>
              <a:rPr lang="en-US" altLang="zh-CN" smtClean="0">
                <a:ea typeface="宋体" pitchFamily="2" charset="-122"/>
              </a:rPr>
              <a:t> </a:t>
            </a:r>
            <a:r>
              <a:rPr kumimoji="1" lang="en-US" altLang="zh-CN" smtClean="0">
                <a:ea typeface="宋体" pitchFamily="2" charset="-122"/>
              </a:rPr>
              <a:t>Randomized</a:t>
            </a:r>
            <a:r>
              <a:rPr lang="en-US" altLang="zh-CN" smtClean="0">
                <a:ea typeface="宋体" pitchFamily="2" charset="-122"/>
              </a:rPr>
              <a:t>Partition(</a:t>
            </a:r>
            <a:r>
              <a:rPr lang="en-US" altLang="zh-CN" i="1" smtClean="0">
                <a:ea typeface="宋体" pitchFamily="2" charset="-122"/>
              </a:rPr>
              <a:t>a,p,r</a:t>
            </a:r>
            <a:r>
              <a:rPr lang="en-US" altLang="zh-CN" smtClean="0">
                <a:ea typeface="宋体" pitchFamily="2" charset="-122"/>
              </a:rPr>
              <a:t>)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mtClean="0">
                <a:ea typeface="宋体" pitchFamily="2" charset="-122"/>
              </a:rPr>
              <a:t>3          </a:t>
            </a:r>
            <a:r>
              <a:rPr kumimoji="1" lang="en-US" altLang="zh-CN" smtClean="0">
                <a:ea typeface="宋体" pitchFamily="2" charset="-122"/>
              </a:rPr>
              <a:t>RandomizedQuickSort</a:t>
            </a:r>
            <a:r>
              <a:rPr lang="en-US" altLang="zh-CN" smtClean="0">
                <a:ea typeface="宋体" pitchFamily="2" charset="-122"/>
              </a:rPr>
              <a:t>(</a:t>
            </a:r>
            <a:r>
              <a:rPr lang="en-US" altLang="zh-CN" i="1" smtClean="0">
                <a:ea typeface="宋体" pitchFamily="2" charset="-122"/>
              </a:rPr>
              <a:t>a,p,q</a:t>
            </a:r>
            <a:r>
              <a:rPr lang="en-US" altLang="zh-CN" smtClean="0">
                <a:ea typeface="宋体" pitchFamily="2" charset="-122"/>
              </a:rPr>
              <a:t>) 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mtClean="0">
                <a:ea typeface="宋体" pitchFamily="2" charset="-122"/>
              </a:rPr>
              <a:t>4          </a:t>
            </a:r>
            <a:r>
              <a:rPr kumimoji="1" lang="en-US" altLang="zh-CN" smtClean="0">
                <a:ea typeface="宋体" pitchFamily="2" charset="-122"/>
              </a:rPr>
              <a:t>RandomizedQuickSort</a:t>
            </a:r>
            <a:r>
              <a:rPr lang="en-US" altLang="zh-CN" smtClean="0">
                <a:ea typeface="宋体" pitchFamily="2" charset="-122"/>
              </a:rPr>
              <a:t>(</a:t>
            </a:r>
            <a:r>
              <a:rPr lang="en-US" altLang="zh-CN" i="1" smtClean="0">
                <a:ea typeface="宋体" pitchFamily="2" charset="-122"/>
              </a:rPr>
              <a:t>a,q </a:t>
            </a:r>
            <a:r>
              <a:rPr lang="en-US" altLang="zh-CN" smtClean="0">
                <a:ea typeface="宋体" pitchFamily="2" charset="-122"/>
              </a:rPr>
              <a:t>+ 1,</a:t>
            </a:r>
            <a:r>
              <a:rPr lang="en-US" altLang="zh-CN" i="1" smtClean="0">
                <a:ea typeface="宋体" pitchFamily="2" charset="-122"/>
              </a:rPr>
              <a:t>r</a:t>
            </a:r>
            <a:r>
              <a:rPr lang="en-US" altLang="zh-CN" smtClean="0">
                <a:ea typeface="宋体" pitchFamily="2" charset="-122"/>
              </a:rPr>
              <a:t>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6B6A1-A8D7-4CB9-8E1A-AEB300DCBBC6}" type="slidenum">
              <a:rPr lang="en-US" smtClean="0"/>
              <a:pPr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533400"/>
            <a:ext cx="8100392" cy="6324600"/>
          </a:xfrm>
        </p:spPr>
        <p:txBody>
          <a:bodyPr>
            <a:normAutofit fontScale="90000"/>
          </a:bodyPr>
          <a:lstStyle/>
          <a:p>
            <a:pPr algn="l">
              <a:lnSpc>
                <a:spcPct val="120000"/>
              </a:lnSpc>
            </a:pPr>
            <a:r>
              <a:rPr lang="bg-BG" sz="2800" i="1" dirty="0">
                <a:solidFill>
                  <a:schemeClr val="tx1"/>
                </a:solidFill>
                <a:latin typeface="Arial" charset="0"/>
              </a:rPr>
              <a:t>		</a:t>
            </a:r>
            <a:r>
              <a:rPr lang="bg-BG" sz="2800" i="1" u="sng" dirty="0">
                <a:solidFill>
                  <a:schemeClr val="tx1"/>
                </a:solidFill>
                <a:latin typeface="Arial" charset="0"/>
              </a:rPr>
              <a:t>Генетични алгоритми</a:t>
            </a:r>
            <a:r>
              <a:rPr lang="bg-BG" sz="28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bg-BG" sz="2800" dirty="0">
                <a:solidFill>
                  <a:schemeClr val="tx1"/>
                </a:solidFill>
                <a:latin typeface="Arial" charset="0"/>
              </a:rPr>
            </a:br>
            <a:r>
              <a:rPr lang="en-US" sz="1000" dirty="0">
                <a:solidFill>
                  <a:schemeClr val="tx1"/>
                </a:solidFill>
                <a:latin typeface="Arial" charset="0"/>
              </a:rPr>
              <a:t/>
            </a:r>
            <a:br>
              <a:rPr lang="en-US" sz="1000" dirty="0">
                <a:solidFill>
                  <a:schemeClr val="tx1"/>
                </a:solidFill>
                <a:latin typeface="Arial" charset="0"/>
              </a:rPr>
            </a:br>
            <a:r>
              <a:rPr lang="bg-BG" sz="2400" dirty="0">
                <a:solidFill>
                  <a:schemeClr val="tx1"/>
                </a:solidFill>
                <a:latin typeface="Arial" charset="0"/>
              </a:rPr>
              <a:t>	Генетичните алгоритми представляват метод за търсене с налучкване, при който основната идея е да се симулират генетичните и еволюционните процеси в природата. Така, за дадена оптимизационна задача, първоначално се построяват няколко произволни неоптимални решения. Най-сполучливите от тях се запазват и на тяхната база се построяват нови с надеждата, че те ще бъдат още по-добри. Неоптималните и безперспективни решения се изолират от по-нататъшно разглеждане. Очевидна е аналогия  с процеса на еволюция на видовете в природата (“оцеляване на най-доброто”).</a:t>
            </a:r>
            <a:br>
              <a:rPr lang="bg-BG" sz="2400" dirty="0">
                <a:solidFill>
                  <a:schemeClr val="tx1"/>
                </a:solidFill>
                <a:latin typeface="Arial" charset="0"/>
              </a:rPr>
            </a:br>
            <a:endParaRPr lang="en-US" sz="2400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260648"/>
            <a:ext cx="8458200" cy="6324600"/>
          </a:xfrm>
        </p:spPr>
        <p:txBody>
          <a:bodyPr/>
          <a:lstStyle/>
          <a:p>
            <a:r>
              <a:rPr lang="bg-BG" sz="2800" dirty="0"/>
              <a:t>Примерна блокова схема на генетичен алгоритъм</a:t>
            </a:r>
            <a:br>
              <a:rPr lang="bg-BG" sz="2800" dirty="0"/>
            </a:br>
            <a:r>
              <a:rPr lang="bg-BG" sz="2800" dirty="0"/>
              <a:t/>
            </a:r>
            <a:br>
              <a:rPr lang="bg-BG" sz="2800" dirty="0"/>
            </a:br>
            <a:r>
              <a:rPr lang="bg-BG" sz="2800" dirty="0"/>
              <a:t/>
            </a:r>
            <a:br>
              <a:rPr lang="bg-BG" sz="2800" dirty="0"/>
            </a:br>
            <a:r>
              <a:rPr lang="bg-BG" sz="2800" dirty="0"/>
              <a:t/>
            </a:r>
            <a:br>
              <a:rPr lang="bg-BG" sz="2800" dirty="0"/>
            </a:br>
            <a:r>
              <a:rPr lang="bg-BG" sz="2800" dirty="0"/>
              <a:t/>
            </a:r>
            <a:br>
              <a:rPr lang="bg-BG" sz="2800" dirty="0"/>
            </a:br>
            <a:r>
              <a:rPr lang="bg-BG" sz="2800" dirty="0"/>
              <a:t/>
            </a:r>
            <a:br>
              <a:rPr lang="bg-BG" sz="2800" dirty="0"/>
            </a:br>
            <a:r>
              <a:rPr lang="bg-BG" sz="2800" dirty="0"/>
              <a:t/>
            </a:r>
            <a:br>
              <a:rPr lang="bg-BG" sz="2800" dirty="0"/>
            </a:br>
            <a:r>
              <a:rPr lang="bg-BG" sz="2800" dirty="0"/>
              <a:t/>
            </a:r>
            <a:br>
              <a:rPr lang="bg-BG" sz="2800" dirty="0"/>
            </a:br>
            <a:r>
              <a:rPr lang="bg-BG" sz="2800" dirty="0"/>
              <a:t/>
            </a:r>
            <a:br>
              <a:rPr lang="bg-BG" sz="2800" dirty="0"/>
            </a:br>
            <a:r>
              <a:rPr lang="bg-BG" sz="2800" dirty="0"/>
              <a:t/>
            </a:r>
            <a:br>
              <a:rPr lang="bg-BG" sz="2800" dirty="0"/>
            </a:br>
            <a:r>
              <a:rPr lang="bg-BG" sz="2800" dirty="0"/>
              <a:t/>
            </a:r>
            <a:br>
              <a:rPr lang="bg-BG" sz="2800" dirty="0"/>
            </a:br>
            <a:r>
              <a:rPr lang="bg-BG" sz="2800" dirty="0"/>
              <a:t/>
            </a:r>
            <a:br>
              <a:rPr lang="bg-BG" sz="2800" dirty="0"/>
            </a:br>
            <a:r>
              <a:rPr lang="bg-BG" sz="2800" dirty="0"/>
              <a:t/>
            </a:r>
            <a:br>
              <a:rPr lang="bg-BG" sz="2800" dirty="0"/>
            </a:br>
            <a:endParaRPr lang="en-US" dirty="0"/>
          </a:p>
        </p:txBody>
      </p:sp>
      <p:grpSp>
        <p:nvGrpSpPr>
          <p:cNvPr id="41000" name="Group 40"/>
          <p:cNvGrpSpPr>
            <a:grpSpLocks/>
          </p:cNvGrpSpPr>
          <p:nvPr/>
        </p:nvGrpSpPr>
        <p:grpSpPr bwMode="auto">
          <a:xfrm>
            <a:off x="1143000" y="800100"/>
            <a:ext cx="6565900" cy="5905500"/>
            <a:chOff x="720" y="528"/>
            <a:chExt cx="4136" cy="3720"/>
          </a:xfrm>
        </p:grpSpPr>
        <p:grpSp>
          <p:nvGrpSpPr>
            <p:cNvPr id="40965" name="Group 5"/>
            <p:cNvGrpSpPr>
              <a:grpSpLocks/>
            </p:cNvGrpSpPr>
            <p:nvPr/>
          </p:nvGrpSpPr>
          <p:grpSpPr bwMode="auto">
            <a:xfrm>
              <a:off x="2400" y="528"/>
              <a:ext cx="1008" cy="384"/>
              <a:chOff x="2976" y="576"/>
              <a:chExt cx="1008" cy="384"/>
            </a:xfrm>
          </p:grpSpPr>
          <p:sp>
            <p:nvSpPr>
              <p:cNvPr id="40963" name="Oval 3"/>
              <p:cNvSpPr>
                <a:spLocks noChangeArrowheads="1"/>
              </p:cNvSpPr>
              <p:nvPr/>
            </p:nvSpPr>
            <p:spPr bwMode="auto">
              <a:xfrm>
                <a:off x="2976" y="576"/>
                <a:ext cx="1008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/>
              </a:p>
            </p:txBody>
          </p:sp>
          <p:sp>
            <p:nvSpPr>
              <p:cNvPr id="40964" name="Text Box 4"/>
              <p:cNvSpPr txBox="1">
                <a:spLocks noChangeArrowheads="1"/>
              </p:cNvSpPr>
              <p:nvPr/>
            </p:nvSpPr>
            <p:spPr bwMode="auto">
              <a:xfrm>
                <a:off x="3192" y="624"/>
                <a:ext cx="67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bg-BG" sz="2000"/>
                  <a:t>начало</a:t>
                </a:r>
                <a:endParaRPr lang="en-US" sz="2000"/>
              </a:p>
            </p:txBody>
          </p:sp>
        </p:grpSp>
        <p:grpSp>
          <p:nvGrpSpPr>
            <p:cNvPr id="40969" name="Group 9"/>
            <p:cNvGrpSpPr>
              <a:grpSpLocks/>
            </p:cNvGrpSpPr>
            <p:nvPr/>
          </p:nvGrpSpPr>
          <p:grpSpPr bwMode="auto">
            <a:xfrm>
              <a:off x="2432" y="3864"/>
              <a:ext cx="1008" cy="384"/>
              <a:chOff x="1728" y="1392"/>
              <a:chExt cx="1008" cy="384"/>
            </a:xfrm>
          </p:grpSpPr>
          <p:sp>
            <p:nvSpPr>
              <p:cNvPr id="40967" name="Oval 7"/>
              <p:cNvSpPr>
                <a:spLocks noChangeArrowheads="1"/>
              </p:cNvSpPr>
              <p:nvPr/>
            </p:nvSpPr>
            <p:spPr bwMode="auto">
              <a:xfrm>
                <a:off x="1728" y="1392"/>
                <a:ext cx="1008" cy="38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/>
              </a:p>
            </p:txBody>
          </p:sp>
          <p:sp>
            <p:nvSpPr>
              <p:cNvPr id="40968" name="Text Box 8"/>
              <p:cNvSpPr txBox="1">
                <a:spLocks noChangeArrowheads="1"/>
              </p:cNvSpPr>
              <p:nvPr/>
            </p:nvSpPr>
            <p:spPr bwMode="auto">
              <a:xfrm>
                <a:off x="2016" y="1440"/>
                <a:ext cx="672" cy="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bg-BG" sz="2000"/>
                  <a:t>край</a:t>
                </a:r>
                <a:endParaRPr lang="en-US" sz="2000"/>
              </a:p>
            </p:txBody>
          </p:sp>
        </p:grpSp>
        <p:sp>
          <p:nvSpPr>
            <p:cNvPr id="40970" name="Rectangle 10"/>
            <p:cNvSpPr>
              <a:spLocks noChangeArrowheads="1"/>
            </p:cNvSpPr>
            <p:nvPr/>
          </p:nvSpPr>
          <p:spPr bwMode="auto">
            <a:xfrm>
              <a:off x="1560" y="1008"/>
              <a:ext cx="2832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grpSp>
          <p:nvGrpSpPr>
            <p:cNvPr id="40975" name="Group 15"/>
            <p:cNvGrpSpPr>
              <a:grpSpLocks/>
            </p:cNvGrpSpPr>
            <p:nvPr/>
          </p:nvGrpSpPr>
          <p:grpSpPr bwMode="auto">
            <a:xfrm>
              <a:off x="2544" y="3184"/>
              <a:ext cx="767" cy="528"/>
              <a:chOff x="3021" y="3128"/>
              <a:chExt cx="767" cy="528"/>
            </a:xfrm>
          </p:grpSpPr>
          <p:sp>
            <p:nvSpPr>
              <p:cNvPr id="40972" name="AutoShape 12"/>
              <p:cNvSpPr>
                <a:spLocks noChangeArrowheads="1"/>
              </p:cNvSpPr>
              <p:nvPr/>
            </p:nvSpPr>
            <p:spPr bwMode="auto">
              <a:xfrm rot="-19443695">
                <a:off x="3021" y="3128"/>
                <a:ext cx="767" cy="528"/>
              </a:xfrm>
              <a:prstGeom prst="parallelogram">
                <a:avLst>
                  <a:gd name="adj" fmla="val 36316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bg-BG"/>
              </a:p>
            </p:txBody>
          </p:sp>
          <p:sp>
            <p:nvSpPr>
              <p:cNvPr id="40974" name="Text Box 14"/>
              <p:cNvSpPr txBox="1">
                <a:spLocks noChangeArrowheads="1"/>
              </p:cNvSpPr>
              <p:nvPr/>
            </p:nvSpPr>
            <p:spPr bwMode="auto">
              <a:xfrm>
                <a:off x="3104" y="3168"/>
                <a:ext cx="656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bg-BG" sz="1800"/>
                  <a:t>условие за край</a:t>
                </a:r>
                <a:endParaRPr lang="en-US" sz="1800"/>
              </a:p>
            </p:txBody>
          </p:sp>
        </p:grpSp>
        <p:sp>
          <p:nvSpPr>
            <p:cNvPr id="40976" name="Rectangle 16"/>
            <p:cNvSpPr>
              <a:spLocks noChangeArrowheads="1"/>
            </p:cNvSpPr>
            <p:nvPr/>
          </p:nvSpPr>
          <p:spPr bwMode="auto">
            <a:xfrm>
              <a:off x="1552" y="1528"/>
              <a:ext cx="2832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0977" name="Rectangle 17"/>
            <p:cNvSpPr>
              <a:spLocks noChangeArrowheads="1"/>
            </p:cNvSpPr>
            <p:nvPr/>
          </p:nvSpPr>
          <p:spPr bwMode="auto">
            <a:xfrm>
              <a:off x="1560" y="2064"/>
              <a:ext cx="2832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0978" name="Rectangle 18"/>
            <p:cNvSpPr>
              <a:spLocks noChangeArrowheads="1"/>
            </p:cNvSpPr>
            <p:nvPr/>
          </p:nvSpPr>
          <p:spPr bwMode="auto">
            <a:xfrm>
              <a:off x="1568" y="2592"/>
              <a:ext cx="2832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0980" name="Text Box 20"/>
            <p:cNvSpPr txBox="1">
              <a:spLocks noChangeArrowheads="1"/>
            </p:cNvSpPr>
            <p:nvPr/>
          </p:nvSpPr>
          <p:spPr bwMode="auto">
            <a:xfrm>
              <a:off x="1632" y="1016"/>
              <a:ext cx="2736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bg-BG" sz="1800"/>
                <a:t>Инициализация на кандидат-решенията (популацията)</a:t>
              </a:r>
              <a:endParaRPr lang="en-US" sz="1800"/>
            </a:p>
          </p:txBody>
        </p:sp>
        <p:sp>
          <p:nvSpPr>
            <p:cNvPr id="40981" name="Text Box 21"/>
            <p:cNvSpPr txBox="1">
              <a:spLocks noChangeArrowheads="1"/>
            </p:cNvSpPr>
            <p:nvPr/>
          </p:nvSpPr>
          <p:spPr bwMode="auto">
            <a:xfrm>
              <a:off x="1456" y="1536"/>
              <a:ext cx="302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bg-BG" sz="1800"/>
                <a:t>Създаване на нови решения (поколение) чрез случайни промени в решенията-родители</a:t>
              </a:r>
              <a:endParaRPr lang="en-US" sz="1800"/>
            </a:p>
          </p:txBody>
        </p:sp>
        <p:sp>
          <p:nvSpPr>
            <p:cNvPr id="40982" name="Text Box 22"/>
            <p:cNvSpPr txBox="1">
              <a:spLocks noChangeArrowheads="1"/>
            </p:cNvSpPr>
            <p:nvPr/>
          </p:nvSpPr>
          <p:spPr bwMode="auto">
            <a:xfrm>
              <a:off x="1552" y="2064"/>
              <a:ext cx="286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bg-BG" sz="1800"/>
                <a:t>Оценка на пригодността на всяко кандидат-решение по определени критерии</a:t>
              </a:r>
              <a:endParaRPr lang="en-US" sz="1800"/>
            </a:p>
          </p:txBody>
        </p:sp>
        <p:sp>
          <p:nvSpPr>
            <p:cNvPr id="40983" name="Text Box 23"/>
            <p:cNvSpPr txBox="1">
              <a:spLocks noChangeArrowheads="1"/>
            </p:cNvSpPr>
            <p:nvPr/>
          </p:nvSpPr>
          <p:spPr bwMode="auto">
            <a:xfrm>
              <a:off x="1576" y="2592"/>
              <a:ext cx="2736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bg-BG" sz="1800"/>
                <a:t>Избор на най-добрите решения от кандидат-решенията</a:t>
              </a:r>
              <a:endParaRPr lang="en-US" sz="1800"/>
            </a:p>
          </p:txBody>
        </p:sp>
        <p:sp>
          <p:nvSpPr>
            <p:cNvPr id="40984" name="Line 24"/>
            <p:cNvSpPr>
              <a:spLocks noChangeShapeType="1"/>
            </p:cNvSpPr>
            <p:nvPr/>
          </p:nvSpPr>
          <p:spPr bwMode="auto">
            <a:xfrm>
              <a:off x="2928" y="912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0985" name="Line 25"/>
            <p:cNvSpPr>
              <a:spLocks noChangeShapeType="1"/>
            </p:cNvSpPr>
            <p:nvPr/>
          </p:nvSpPr>
          <p:spPr bwMode="auto">
            <a:xfrm>
              <a:off x="2928" y="196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0986" name="Line 26"/>
            <p:cNvSpPr>
              <a:spLocks noChangeShapeType="1"/>
            </p:cNvSpPr>
            <p:nvPr/>
          </p:nvSpPr>
          <p:spPr bwMode="auto">
            <a:xfrm>
              <a:off x="2928" y="144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0987" name="Line 27"/>
            <p:cNvSpPr>
              <a:spLocks noChangeShapeType="1"/>
            </p:cNvSpPr>
            <p:nvPr/>
          </p:nvSpPr>
          <p:spPr bwMode="auto">
            <a:xfrm>
              <a:off x="2928" y="24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0988" name="Line 28"/>
            <p:cNvSpPr>
              <a:spLocks noChangeShapeType="1"/>
            </p:cNvSpPr>
            <p:nvPr/>
          </p:nvSpPr>
          <p:spPr bwMode="auto">
            <a:xfrm>
              <a:off x="2928" y="3024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0989" name="Line 29"/>
            <p:cNvSpPr>
              <a:spLocks noChangeShapeType="1"/>
            </p:cNvSpPr>
            <p:nvPr/>
          </p:nvSpPr>
          <p:spPr bwMode="auto">
            <a:xfrm>
              <a:off x="2928" y="377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0990" name="Line 30"/>
            <p:cNvSpPr>
              <a:spLocks noChangeShapeType="1"/>
            </p:cNvSpPr>
            <p:nvPr/>
          </p:nvSpPr>
          <p:spPr bwMode="auto">
            <a:xfrm>
              <a:off x="3368" y="3464"/>
              <a:ext cx="14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0991" name="Line 31"/>
            <p:cNvSpPr>
              <a:spLocks noChangeShapeType="1"/>
            </p:cNvSpPr>
            <p:nvPr/>
          </p:nvSpPr>
          <p:spPr bwMode="auto">
            <a:xfrm>
              <a:off x="4848" y="1736"/>
              <a:ext cx="0" cy="17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0992" name="Line 32"/>
            <p:cNvSpPr>
              <a:spLocks noChangeShapeType="1"/>
            </p:cNvSpPr>
            <p:nvPr/>
          </p:nvSpPr>
          <p:spPr bwMode="auto">
            <a:xfrm>
              <a:off x="4376" y="172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0993" name="Text Box 33"/>
            <p:cNvSpPr txBox="1">
              <a:spLocks noChangeArrowheads="1"/>
            </p:cNvSpPr>
            <p:nvPr/>
          </p:nvSpPr>
          <p:spPr bwMode="auto">
            <a:xfrm>
              <a:off x="3448" y="3240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/>
                <a:t>не</a:t>
              </a:r>
              <a:endParaRPr lang="en-US" sz="1800"/>
            </a:p>
          </p:txBody>
        </p:sp>
        <p:sp>
          <p:nvSpPr>
            <p:cNvPr id="40994" name="Text Box 34"/>
            <p:cNvSpPr txBox="1">
              <a:spLocks noChangeArrowheads="1"/>
            </p:cNvSpPr>
            <p:nvPr/>
          </p:nvSpPr>
          <p:spPr bwMode="auto">
            <a:xfrm>
              <a:off x="3032" y="3648"/>
              <a:ext cx="43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/>
                <a:t>да</a:t>
              </a:r>
              <a:endParaRPr lang="en-US" sz="1800"/>
            </a:p>
          </p:txBody>
        </p:sp>
        <p:sp>
          <p:nvSpPr>
            <p:cNvPr id="40995" name="Text Box 35"/>
            <p:cNvSpPr txBox="1">
              <a:spLocks noChangeArrowheads="1"/>
            </p:cNvSpPr>
            <p:nvPr/>
          </p:nvSpPr>
          <p:spPr bwMode="auto">
            <a:xfrm>
              <a:off x="720" y="1056"/>
              <a:ext cx="6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 smtClean="0">
                  <a:solidFill>
                    <a:srgbClr val="C00000"/>
                  </a:solidFill>
                </a:rPr>
                <a:t>Стъпка 1</a:t>
              </a:r>
              <a:endParaRPr lang="en-US" sz="1800" dirty="0">
                <a:solidFill>
                  <a:srgbClr val="C00000"/>
                </a:solidFill>
              </a:endParaRPr>
            </a:p>
          </p:txBody>
        </p:sp>
        <p:sp>
          <p:nvSpPr>
            <p:cNvPr id="40996" name="Text Box 36"/>
            <p:cNvSpPr txBox="1">
              <a:spLocks noChangeArrowheads="1"/>
            </p:cNvSpPr>
            <p:nvPr/>
          </p:nvSpPr>
          <p:spPr bwMode="auto">
            <a:xfrm>
              <a:off x="744" y="3312"/>
              <a:ext cx="6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Стъпка 5</a:t>
              </a:r>
              <a:endParaRPr lang="en-US" sz="1800" dirty="0">
                <a:solidFill>
                  <a:srgbClr val="C00000"/>
                </a:solidFill>
              </a:endParaRPr>
            </a:p>
          </p:txBody>
        </p:sp>
        <p:sp>
          <p:nvSpPr>
            <p:cNvPr id="40997" name="Text Box 37"/>
            <p:cNvSpPr txBox="1">
              <a:spLocks noChangeArrowheads="1"/>
            </p:cNvSpPr>
            <p:nvPr/>
          </p:nvSpPr>
          <p:spPr bwMode="auto">
            <a:xfrm>
              <a:off x="720" y="1632"/>
              <a:ext cx="6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Стъпка 2</a:t>
              </a:r>
              <a:endParaRPr lang="en-US" sz="1800" dirty="0">
                <a:solidFill>
                  <a:srgbClr val="C00000"/>
                </a:solidFill>
              </a:endParaRPr>
            </a:p>
          </p:txBody>
        </p:sp>
        <p:sp>
          <p:nvSpPr>
            <p:cNvPr id="40998" name="Text Box 38"/>
            <p:cNvSpPr txBox="1">
              <a:spLocks noChangeArrowheads="1"/>
            </p:cNvSpPr>
            <p:nvPr/>
          </p:nvSpPr>
          <p:spPr bwMode="auto">
            <a:xfrm>
              <a:off x="720" y="2128"/>
              <a:ext cx="6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Стъпка 3</a:t>
              </a:r>
              <a:endParaRPr lang="en-US" sz="1800" dirty="0">
                <a:solidFill>
                  <a:srgbClr val="C00000"/>
                </a:solidFill>
              </a:endParaRPr>
            </a:p>
          </p:txBody>
        </p:sp>
        <p:sp>
          <p:nvSpPr>
            <p:cNvPr id="40999" name="Text Box 39"/>
            <p:cNvSpPr txBox="1">
              <a:spLocks noChangeArrowheads="1"/>
            </p:cNvSpPr>
            <p:nvPr/>
          </p:nvSpPr>
          <p:spPr bwMode="auto">
            <a:xfrm>
              <a:off x="728" y="2680"/>
              <a:ext cx="67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Стъпка 4</a:t>
              </a:r>
              <a:endParaRPr lang="en-US" sz="1800" dirty="0">
                <a:solidFill>
                  <a:srgbClr val="C00000"/>
                </a:solidFill>
              </a:endParaRPr>
            </a:p>
          </p:txBody>
        </p:sp>
      </p:grpSp>
      <p:sp>
        <p:nvSpPr>
          <p:cNvPr id="39" name="Контейнер за номер на слайда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017140" y="332656"/>
            <a:ext cx="8223448" cy="6248400"/>
          </a:xfrm>
        </p:spPr>
        <p:txBody>
          <a:bodyPr>
            <a:normAutofit fontScale="90000"/>
          </a:bodyPr>
          <a:lstStyle/>
          <a:p>
            <a:pPr algn="l"/>
            <a:r>
              <a:rPr lang="bg-BG" sz="2400" dirty="0"/>
              <a:t>Ще разгледаме как се прилага този метод в добре известната задача за търговския пътник:</a:t>
            </a:r>
            <a:br>
              <a:rPr lang="bg-BG" sz="2400" dirty="0"/>
            </a:br>
            <a:r>
              <a:rPr lang="bg-BG" sz="1000" dirty="0"/>
              <a:t/>
            </a:r>
            <a:br>
              <a:rPr lang="bg-BG" sz="1000" dirty="0"/>
            </a:br>
            <a:r>
              <a:rPr lang="bg-BG" sz="2400" dirty="0"/>
              <a:t>	Даден е тегловен граф </a:t>
            </a:r>
            <a:r>
              <a:rPr lang="en-US" sz="2400" b="1" i="1" dirty="0"/>
              <a:t>G(V,E)</a:t>
            </a:r>
            <a:r>
              <a:rPr lang="bg-BG" sz="2400" dirty="0"/>
              <a:t> със стойности на ребрата реални (положителни и отрицателни) числа. Необходимо е да се намери </a:t>
            </a:r>
            <a:r>
              <a:rPr lang="bg-BG" sz="2400" dirty="0" err="1"/>
              <a:t>Хамилтонов</a:t>
            </a:r>
            <a:r>
              <a:rPr lang="bg-BG" sz="2400" dirty="0"/>
              <a:t> цикъл с минимална дължина.</a:t>
            </a:r>
            <a:br>
              <a:rPr lang="bg-BG" sz="2400" dirty="0"/>
            </a:br>
            <a:r>
              <a:rPr lang="bg-BG" sz="1000" dirty="0"/>
              <a:t/>
            </a:r>
            <a:br>
              <a:rPr lang="bg-BG" sz="1000" dirty="0"/>
            </a:br>
            <a:r>
              <a:rPr lang="bg-BG" sz="2400" dirty="0"/>
              <a:t>(Задачата е </a:t>
            </a:r>
            <a:r>
              <a:rPr lang="en-US" sz="2400" b="1" i="1" dirty="0"/>
              <a:t>NP</a:t>
            </a:r>
            <a:r>
              <a:rPr lang="bg-BG" sz="2400" dirty="0"/>
              <a:t>-пълна, т. е. се решава с пълно изчерпване на вариантите: за да бъде намерен оптималния цикъл, трябва да се създадат и проверят </a:t>
            </a:r>
            <a:r>
              <a:rPr lang="en-US" sz="2400" b="1" i="1" dirty="0"/>
              <a:t>n!</a:t>
            </a:r>
            <a:r>
              <a:rPr lang="bg-BG" sz="2400" dirty="0"/>
              <a:t> </a:t>
            </a:r>
            <a:r>
              <a:rPr lang="bg-BG" sz="2400" dirty="0" err="1"/>
              <a:t>Хамилтонови</a:t>
            </a:r>
            <a:r>
              <a:rPr lang="bg-BG" sz="2400" dirty="0"/>
              <a:t> цикъла. )</a:t>
            </a:r>
            <a:br>
              <a:rPr lang="bg-BG" sz="2400" dirty="0"/>
            </a:br>
            <a:r>
              <a:rPr lang="bg-BG" sz="1000" dirty="0"/>
              <a:t/>
            </a:r>
            <a:br>
              <a:rPr lang="bg-BG" sz="1000" dirty="0"/>
            </a:br>
            <a:r>
              <a:rPr lang="bg-BG" sz="1000" dirty="0"/>
              <a:t>	</a:t>
            </a:r>
            <a:r>
              <a:rPr lang="bg-BG" sz="2400" dirty="0"/>
              <a:t>Множеството от кандидатите за решения, които генетичния алгоритъм обработва на всяка стъпка, се нарича </a:t>
            </a:r>
            <a:r>
              <a:rPr lang="bg-BG" sz="2400" i="1" dirty="0"/>
              <a:t>популация</a:t>
            </a:r>
            <a:r>
              <a:rPr lang="bg-BG" sz="2400" dirty="0"/>
              <a:t>.</a:t>
            </a:r>
            <a:br>
              <a:rPr lang="bg-BG" sz="2400" dirty="0"/>
            </a:br>
            <a:r>
              <a:rPr lang="bg-BG" sz="2400" dirty="0"/>
              <a:t>	В началото построяваме списък </a:t>
            </a:r>
            <a:r>
              <a:rPr lang="en-US" sz="2400" b="1" i="1" dirty="0"/>
              <a:t>Р</a:t>
            </a:r>
            <a:r>
              <a:rPr lang="en-US" sz="2400" dirty="0"/>
              <a:t>={</a:t>
            </a:r>
            <a:r>
              <a:rPr lang="en-US" sz="2400" b="1" i="1" dirty="0"/>
              <a:t>H</a:t>
            </a:r>
            <a:r>
              <a:rPr lang="en-US" sz="2400" b="1" i="1" baseline="-25000" dirty="0"/>
              <a:t>1</a:t>
            </a:r>
            <a:r>
              <a:rPr lang="en-US" sz="2400" b="1" i="1" dirty="0"/>
              <a:t>, H</a:t>
            </a:r>
            <a:r>
              <a:rPr lang="en-US" sz="2400" b="1" i="1" baseline="-25000" dirty="0"/>
              <a:t>2</a:t>
            </a:r>
            <a:r>
              <a:rPr lang="en-US" sz="2400" b="1" i="1" dirty="0"/>
              <a:t>, …, </a:t>
            </a:r>
            <a:r>
              <a:rPr lang="en-US" sz="2400" b="1" i="1" dirty="0" err="1"/>
              <a:t>H</a:t>
            </a:r>
            <a:r>
              <a:rPr lang="en-US" sz="2400" b="1" i="1" baseline="-25000" dirty="0" err="1"/>
              <a:t>q</a:t>
            </a:r>
            <a:r>
              <a:rPr lang="en-US" sz="2400" dirty="0"/>
              <a:t>}</a:t>
            </a:r>
            <a:r>
              <a:rPr lang="bg-BG" sz="2400" dirty="0"/>
              <a:t> от</a:t>
            </a:r>
            <a:r>
              <a:rPr lang="en-US" sz="2400" dirty="0"/>
              <a:t> </a:t>
            </a:r>
            <a:r>
              <a:rPr lang="en-US" sz="2400" b="1" i="1" dirty="0"/>
              <a:t>q</a:t>
            </a:r>
            <a:r>
              <a:rPr lang="bg-BG" sz="2400" dirty="0"/>
              <a:t> произволни </a:t>
            </a:r>
            <a:r>
              <a:rPr lang="bg-BG" sz="2400" dirty="0" err="1"/>
              <a:t>Хамилтонови</a:t>
            </a:r>
            <a:r>
              <a:rPr lang="bg-BG" sz="2400" dirty="0"/>
              <a:t> цикли. Те ще представляват началната популация и ще послужат за основа за по-нататъшната “еволюция”. </a:t>
            </a:r>
            <a:r>
              <a:rPr lang="bg-BG" sz="2400" dirty="0" err="1"/>
              <a:t>Хамилтоновите</a:t>
            </a:r>
            <a:r>
              <a:rPr lang="bg-BG" sz="2400" dirty="0"/>
              <a:t> цикли ще запазваме като пермутация от числата от 1 до </a:t>
            </a:r>
            <a:r>
              <a:rPr lang="en-US" sz="2400" b="1" i="1" dirty="0"/>
              <a:t>n</a:t>
            </a:r>
            <a:r>
              <a:rPr lang="bg-BG" sz="2400" dirty="0"/>
              <a:t>, показваща реда, в който се посещават върховете:</a:t>
            </a:r>
            <a:endParaRPr lang="en-US" sz="2400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7" name="Text Box 25"/>
          <p:cNvSpPr txBox="1">
            <a:spLocks noGrp="1" noChangeArrowheads="1"/>
          </p:cNvSpPr>
          <p:nvPr>
            <p:ph type="title"/>
          </p:nvPr>
        </p:nvSpPr>
        <p:spPr>
          <a:xfrm>
            <a:off x="988368" y="332656"/>
            <a:ext cx="8155632" cy="6248400"/>
          </a:xfrm>
          <a:noFill/>
          <a:ln/>
        </p:spPr>
        <p:txBody>
          <a:bodyPr>
            <a:normAutofit fontScale="90000"/>
          </a:bodyPr>
          <a:lstStyle/>
          <a:p>
            <a:pPr algn="l">
              <a:spcBef>
                <a:spcPct val="50000"/>
              </a:spcBef>
            </a:pP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>Нека </a:t>
            </a:r>
            <a:r>
              <a:rPr lang="en-US" sz="2400" b="1" i="1" dirty="0"/>
              <a:t>n</a:t>
            </a:r>
            <a:r>
              <a:rPr lang="en-US" sz="2400" dirty="0"/>
              <a:t>=5</a:t>
            </a:r>
            <a:r>
              <a:rPr lang="bg-BG" sz="2400" dirty="0"/>
              <a:t>:</a:t>
            </a:r>
            <a:br>
              <a:rPr lang="bg-BG" sz="2400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bg-BG" sz="2400" dirty="0"/>
              <a:t>Няколко произволни </a:t>
            </a:r>
            <a:r>
              <a:rPr lang="bg-BG" sz="2400" dirty="0" err="1"/>
              <a:t>Хамилтонови</a:t>
            </a:r>
            <a:r>
              <a:rPr lang="bg-BG" sz="2400" dirty="0"/>
              <a:t> цикли в него:</a:t>
            </a:r>
            <a:br>
              <a:rPr lang="bg-BG" sz="2400" dirty="0"/>
            </a:br>
            <a:r>
              <a:rPr lang="bg-BG" sz="2400" dirty="0"/>
              <a:t>1-2-3-4-5 с цена 25</a:t>
            </a:r>
            <a:br>
              <a:rPr lang="bg-BG" sz="2400" dirty="0"/>
            </a:br>
            <a:r>
              <a:rPr lang="bg-BG" sz="2400" dirty="0"/>
              <a:t>3-4-5-1-2 с цена 49</a:t>
            </a:r>
            <a:br>
              <a:rPr lang="bg-BG" sz="2400" dirty="0"/>
            </a:br>
            <a:r>
              <a:rPr lang="bg-BG" sz="2400" dirty="0"/>
              <a:t>5-3-1-4-2 с цена 35</a:t>
            </a:r>
            <a:br>
              <a:rPr lang="bg-BG" sz="2400" dirty="0"/>
            </a:br>
            <a:r>
              <a:rPr lang="bg-BG" sz="2400" dirty="0"/>
              <a:t>	Процесът на “репродукция” при генетичните алгоритми се извършва по следния начин: на всяка стъпка се избира подмножество на текущата популация (</a:t>
            </a:r>
            <a:r>
              <a:rPr lang="bg-BG" sz="2400" i="1" dirty="0"/>
              <a:t>родители</a:t>
            </a:r>
            <a:r>
              <a:rPr lang="bg-BG" sz="2400" dirty="0"/>
              <a:t>) и така избраните елементи се комбинират и формират нова група елементи (</a:t>
            </a:r>
            <a:r>
              <a:rPr lang="bg-BG" sz="2400" i="1" dirty="0"/>
              <a:t>наследници</a:t>
            </a:r>
            <a:r>
              <a:rPr lang="en-US" sz="2400" i="1" dirty="0"/>
              <a:t> </a:t>
            </a:r>
            <a:r>
              <a:rPr lang="bg-BG" sz="2400" dirty="0"/>
              <a:t>или </a:t>
            </a:r>
            <a:r>
              <a:rPr lang="bg-BG" sz="2400" i="1" dirty="0"/>
              <a:t>поколение</a:t>
            </a:r>
            <a:r>
              <a:rPr lang="bg-BG" sz="2400" dirty="0"/>
              <a:t>).</a:t>
            </a:r>
            <a:br>
              <a:rPr lang="bg-BG" sz="2400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/>
            </a:r>
            <a:br>
              <a:rPr lang="bg-BG" sz="2400" dirty="0"/>
            </a:br>
            <a:r>
              <a:rPr lang="bg-BG" sz="2400" dirty="0"/>
              <a:t/>
            </a:r>
            <a:br>
              <a:rPr lang="bg-BG" sz="2400" dirty="0"/>
            </a:br>
            <a:endParaRPr lang="en-US" sz="2400" dirty="0"/>
          </a:p>
        </p:txBody>
      </p:sp>
      <p:grpSp>
        <p:nvGrpSpPr>
          <p:cNvPr id="18475" name="Group 43"/>
          <p:cNvGrpSpPr>
            <a:grpSpLocks/>
          </p:cNvGrpSpPr>
          <p:nvPr/>
        </p:nvGrpSpPr>
        <p:grpSpPr bwMode="auto">
          <a:xfrm>
            <a:off x="3048000" y="368300"/>
            <a:ext cx="2781300" cy="2449513"/>
            <a:chOff x="1920" y="232"/>
            <a:chExt cx="1752" cy="1543"/>
          </a:xfrm>
        </p:grpSpPr>
        <p:sp>
          <p:nvSpPr>
            <p:cNvPr id="18435" name="Oval 3"/>
            <p:cNvSpPr>
              <a:spLocks noChangeArrowheads="1"/>
            </p:cNvSpPr>
            <p:nvPr/>
          </p:nvSpPr>
          <p:spPr bwMode="auto">
            <a:xfrm>
              <a:off x="2640" y="232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8436" name="Oval 4"/>
            <p:cNvSpPr>
              <a:spLocks noChangeArrowheads="1"/>
            </p:cNvSpPr>
            <p:nvPr/>
          </p:nvSpPr>
          <p:spPr bwMode="auto">
            <a:xfrm>
              <a:off x="3024" y="1336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8437" name="Oval 5"/>
            <p:cNvSpPr>
              <a:spLocks noChangeArrowheads="1"/>
            </p:cNvSpPr>
            <p:nvPr/>
          </p:nvSpPr>
          <p:spPr bwMode="auto">
            <a:xfrm>
              <a:off x="2208" y="1432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8438" name="Oval 6"/>
            <p:cNvSpPr>
              <a:spLocks noChangeArrowheads="1"/>
            </p:cNvSpPr>
            <p:nvPr/>
          </p:nvSpPr>
          <p:spPr bwMode="auto">
            <a:xfrm>
              <a:off x="3312" y="76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8439" name="Oval 7"/>
            <p:cNvSpPr>
              <a:spLocks noChangeArrowheads="1"/>
            </p:cNvSpPr>
            <p:nvPr/>
          </p:nvSpPr>
          <p:spPr bwMode="auto">
            <a:xfrm>
              <a:off x="1920" y="664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8440" name="Line 8"/>
            <p:cNvSpPr>
              <a:spLocks noChangeShapeType="1"/>
            </p:cNvSpPr>
            <p:nvPr/>
          </p:nvSpPr>
          <p:spPr bwMode="auto">
            <a:xfrm flipH="1">
              <a:off x="2224" y="472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8441" name="Line 9"/>
            <p:cNvSpPr>
              <a:spLocks noChangeShapeType="1"/>
            </p:cNvSpPr>
            <p:nvPr/>
          </p:nvSpPr>
          <p:spPr bwMode="auto">
            <a:xfrm flipV="1">
              <a:off x="2544" y="1528"/>
              <a:ext cx="48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8442" name="Line 10"/>
            <p:cNvSpPr>
              <a:spLocks noChangeShapeType="1"/>
            </p:cNvSpPr>
            <p:nvPr/>
          </p:nvSpPr>
          <p:spPr bwMode="auto">
            <a:xfrm>
              <a:off x="2160" y="1000"/>
              <a:ext cx="19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8443" name="Line 11"/>
            <p:cNvSpPr>
              <a:spLocks noChangeShapeType="1"/>
            </p:cNvSpPr>
            <p:nvPr/>
          </p:nvSpPr>
          <p:spPr bwMode="auto">
            <a:xfrm>
              <a:off x="2968" y="464"/>
              <a:ext cx="43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8444" name="Line 12"/>
            <p:cNvSpPr>
              <a:spLocks noChangeShapeType="1"/>
            </p:cNvSpPr>
            <p:nvPr/>
          </p:nvSpPr>
          <p:spPr bwMode="auto">
            <a:xfrm flipV="1">
              <a:off x="3312" y="1096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8446" name="Line 14"/>
            <p:cNvSpPr>
              <a:spLocks noChangeShapeType="1"/>
            </p:cNvSpPr>
            <p:nvPr/>
          </p:nvSpPr>
          <p:spPr bwMode="auto">
            <a:xfrm flipH="1">
              <a:off x="2448" y="568"/>
              <a:ext cx="288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8447" name="Line 15"/>
            <p:cNvSpPr>
              <a:spLocks noChangeShapeType="1"/>
            </p:cNvSpPr>
            <p:nvPr/>
          </p:nvSpPr>
          <p:spPr bwMode="auto">
            <a:xfrm>
              <a:off x="2880" y="568"/>
              <a:ext cx="28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8448" name="Line 16"/>
            <p:cNvSpPr>
              <a:spLocks noChangeShapeType="1"/>
            </p:cNvSpPr>
            <p:nvPr/>
          </p:nvSpPr>
          <p:spPr bwMode="auto">
            <a:xfrm>
              <a:off x="2256" y="912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8449" name="Line 17"/>
            <p:cNvSpPr>
              <a:spLocks noChangeShapeType="1"/>
            </p:cNvSpPr>
            <p:nvPr/>
          </p:nvSpPr>
          <p:spPr bwMode="auto">
            <a:xfrm flipV="1">
              <a:off x="2544" y="1048"/>
              <a:ext cx="81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8450" name="Line 18"/>
            <p:cNvSpPr>
              <a:spLocks noChangeShapeType="1"/>
            </p:cNvSpPr>
            <p:nvPr/>
          </p:nvSpPr>
          <p:spPr bwMode="auto">
            <a:xfrm>
              <a:off x="2256" y="952"/>
              <a:ext cx="81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18451" name="Text Box 19"/>
            <p:cNvSpPr txBox="1">
              <a:spLocks noChangeArrowheads="1"/>
            </p:cNvSpPr>
            <p:nvPr/>
          </p:nvSpPr>
          <p:spPr bwMode="auto">
            <a:xfrm>
              <a:off x="2704" y="24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1</a:t>
              </a:r>
              <a:endParaRPr lang="en-US"/>
            </a:p>
          </p:txBody>
        </p:sp>
        <p:sp>
          <p:nvSpPr>
            <p:cNvPr id="18452" name="Text Box 20"/>
            <p:cNvSpPr txBox="1">
              <a:spLocks noChangeArrowheads="1"/>
            </p:cNvSpPr>
            <p:nvPr/>
          </p:nvSpPr>
          <p:spPr bwMode="auto">
            <a:xfrm>
              <a:off x="3088" y="136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5</a:t>
              </a:r>
              <a:endParaRPr lang="en-US"/>
            </a:p>
          </p:txBody>
        </p:sp>
        <p:sp>
          <p:nvSpPr>
            <p:cNvPr id="18453" name="Text Box 21"/>
            <p:cNvSpPr txBox="1">
              <a:spLocks noChangeArrowheads="1"/>
            </p:cNvSpPr>
            <p:nvPr/>
          </p:nvSpPr>
          <p:spPr bwMode="auto">
            <a:xfrm>
              <a:off x="3376" y="784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3</a:t>
              </a:r>
              <a:endParaRPr lang="en-US"/>
            </a:p>
          </p:txBody>
        </p:sp>
        <p:sp>
          <p:nvSpPr>
            <p:cNvPr id="18458" name="Text Box 26"/>
            <p:cNvSpPr txBox="1">
              <a:spLocks noChangeArrowheads="1"/>
            </p:cNvSpPr>
            <p:nvPr/>
          </p:nvSpPr>
          <p:spPr bwMode="auto">
            <a:xfrm>
              <a:off x="1992" y="68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2</a:t>
              </a:r>
              <a:endParaRPr lang="en-US"/>
            </a:p>
          </p:txBody>
        </p:sp>
        <p:sp>
          <p:nvSpPr>
            <p:cNvPr id="18459" name="Text Box 27"/>
            <p:cNvSpPr txBox="1">
              <a:spLocks noChangeArrowheads="1"/>
            </p:cNvSpPr>
            <p:nvPr/>
          </p:nvSpPr>
          <p:spPr bwMode="auto">
            <a:xfrm>
              <a:off x="2280" y="1448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4</a:t>
              </a:r>
              <a:endParaRPr lang="en-US"/>
            </a:p>
          </p:txBody>
        </p:sp>
        <p:sp>
          <p:nvSpPr>
            <p:cNvPr id="18460" name="Text Box 28"/>
            <p:cNvSpPr txBox="1">
              <a:spLocks noChangeArrowheads="1"/>
            </p:cNvSpPr>
            <p:nvPr/>
          </p:nvSpPr>
          <p:spPr bwMode="auto">
            <a:xfrm>
              <a:off x="2304" y="42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10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18461" name="Text Box 29"/>
            <p:cNvSpPr txBox="1">
              <a:spLocks noChangeArrowheads="1"/>
            </p:cNvSpPr>
            <p:nvPr/>
          </p:nvSpPr>
          <p:spPr bwMode="auto">
            <a:xfrm>
              <a:off x="3096" y="472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17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18462" name="Text Box 30"/>
            <p:cNvSpPr txBox="1">
              <a:spLocks noChangeArrowheads="1"/>
            </p:cNvSpPr>
            <p:nvPr/>
          </p:nvSpPr>
          <p:spPr bwMode="auto">
            <a:xfrm>
              <a:off x="2032" y="114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12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18463" name="Text Box 31"/>
            <p:cNvSpPr txBox="1">
              <a:spLocks noChangeArrowheads="1"/>
            </p:cNvSpPr>
            <p:nvPr/>
          </p:nvSpPr>
          <p:spPr bwMode="auto">
            <a:xfrm>
              <a:off x="2688" y="154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19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18464" name="Text Box 32"/>
            <p:cNvSpPr txBox="1">
              <a:spLocks noChangeArrowheads="1"/>
            </p:cNvSpPr>
            <p:nvPr/>
          </p:nvSpPr>
          <p:spPr bwMode="auto">
            <a:xfrm>
              <a:off x="3336" y="114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 smtClean="0">
                  <a:solidFill>
                    <a:srgbClr val="C00000"/>
                  </a:solidFill>
                </a:rPr>
                <a:t>5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18465" name="Text Box 33"/>
            <p:cNvSpPr txBox="1">
              <a:spLocks noChangeArrowheads="1"/>
            </p:cNvSpPr>
            <p:nvPr/>
          </p:nvSpPr>
          <p:spPr bwMode="auto">
            <a:xfrm>
              <a:off x="2653" y="134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8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18466" name="Text Box 34"/>
            <p:cNvSpPr txBox="1">
              <a:spLocks noChangeArrowheads="1"/>
            </p:cNvSpPr>
            <p:nvPr/>
          </p:nvSpPr>
          <p:spPr bwMode="auto">
            <a:xfrm>
              <a:off x="2656" y="74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 smtClean="0">
                  <a:solidFill>
                    <a:srgbClr val="C00000"/>
                  </a:solidFill>
                </a:rPr>
                <a:t>12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18467" name="Text Box 35"/>
            <p:cNvSpPr txBox="1">
              <a:spLocks noChangeArrowheads="1"/>
            </p:cNvSpPr>
            <p:nvPr/>
          </p:nvSpPr>
          <p:spPr bwMode="auto">
            <a:xfrm>
              <a:off x="2699" y="1026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7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18468" name="Text Box 36"/>
            <p:cNvSpPr txBox="1">
              <a:spLocks noChangeArrowheads="1"/>
            </p:cNvSpPr>
            <p:nvPr/>
          </p:nvSpPr>
          <p:spPr bwMode="auto">
            <a:xfrm>
              <a:off x="2416" y="856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11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18473" name="Text Box 41"/>
            <p:cNvSpPr txBox="1">
              <a:spLocks noChangeArrowheads="1"/>
            </p:cNvSpPr>
            <p:nvPr/>
          </p:nvSpPr>
          <p:spPr bwMode="auto">
            <a:xfrm>
              <a:off x="3061" y="935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12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</p:grpSp>
      <p:sp>
        <p:nvSpPr>
          <p:cNvPr id="36" name="Контейнер за номер на слайда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017140" y="260648"/>
            <a:ext cx="8236024" cy="6400800"/>
          </a:xfrm>
        </p:spPr>
        <p:txBody>
          <a:bodyPr>
            <a:normAutofit fontScale="90000"/>
          </a:bodyPr>
          <a:lstStyle/>
          <a:p>
            <a:pPr algn="l"/>
            <a:r>
              <a:rPr lang="bg-BG" sz="2400" dirty="0">
                <a:solidFill>
                  <a:schemeClr val="tx1"/>
                </a:solidFill>
              </a:rPr>
              <a:t>	Тъй като популацията е ограничена по размер, </a:t>
            </a:r>
            <a:r>
              <a:rPr lang="bg-BG" sz="2400" dirty="0" err="1">
                <a:solidFill>
                  <a:schemeClr val="tx1"/>
                </a:solidFill>
              </a:rPr>
              <a:t>новополучените</a:t>
            </a:r>
            <a:r>
              <a:rPr lang="bg-BG" sz="2400" dirty="0">
                <a:solidFill>
                  <a:schemeClr val="tx1"/>
                </a:solidFill>
              </a:rPr>
              <a:t> елементи ще заменят част от участващите в нея. За целта е необходимо да дефинираме целева функция, на базата на която ще сравняваме елементите и ще отхвърляме “лошите”.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	В задачата на всяка стъпка ще избираме за родители половината от циклите в </a:t>
            </a:r>
            <a:r>
              <a:rPr lang="bg-BG" sz="2400" b="1" i="1" dirty="0">
                <a:solidFill>
                  <a:schemeClr val="tx1"/>
                </a:solidFill>
              </a:rPr>
              <a:t>Р</a:t>
            </a:r>
            <a:r>
              <a:rPr lang="bg-BG" sz="2400" dirty="0">
                <a:solidFill>
                  <a:schemeClr val="tx1"/>
                </a:solidFill>
              </a:rPr>
              <a:t> (тези с най-малката дължина), след което ще ги комбинираме по двойки. Така от всеки два цикъла, принадлежащи на </a:t>
            </a:r>
            <a:r>
              <a:rPr lang="en-US" sz="2400" b="1" i="1" dirty="0">
                <a:solidFill>
                  <a:schemeClr val="tx1"/>
                </a:solidFill>
              </a:rPr>
              <a:t>P</a:t>
            </a:r>
            <a:r>
              <a:rPr lang="bg-BG" sz="2400" dirty="0">
                <a:solidFill>
                  <a:schemeClr val="tx1"/>
                </a:solidFill>
              </a:rPr>
              <a:t> -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i="1" dirty="0">
                <a:solidFill>
                  <a:schemeClr val="tx1"/>
                </a:solidFill>
              </a:rPr>
              <a:t>H</a:t>
            </a:r>
            <a:r>
              <a:rPr lang="en-US" sz="2400" b="1" i="1" baseline="-25000" dirty="0">
                <a:solidFill>
                  <a:schemeClr val="tx1"/>
                </a:solidFill>
              </a:rPr>
              <a:t>i</a:t>
            </a:r>
            <a:r>
              <a:rPr lang="bg-BG" sz="2400" b="1" i="1" baseline="-250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=</a:t>
            </a:r>
            <a:r>
              <a:rPr lang="bg-BG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b="1" i="1" dirty="0">
                <a:solidFill>
                  <a:schemeClr val="tx1"/>
                </a:solidFill>
              </a:rPr>
              <a:t>i</a:t>
            </a:r>
            <a:r>
              <a:rPr lang="en-US" sz="2400" b="1" i="1" baseline="-25000" dirty="0">
                <a:solidFill>
                  <a:schemeClr val="tx1"/>
                </a:solidFill>
              </a:rPr>
              <a:t>1</a:t>
            </a:r>
            <a:r>
              <a:rPr lang="en-US" sz="2400" b="1" i="1" dirty="0">
                <a:solidFill>
                  <a:schemeClr val="tx1"/>
                </a:solidFill>
              </a:rPr>
              <a:t>, i</a:t>
            </a:r>
            <a:r>
              <a:rPr lang="en-US" sz="2400" b="1" i="1" baseline="-25000" dirty="0">
                <a:solidFill>
                  <a:schemeClr val="tx1"/>
                </a:solidFill>
              </a:rPr>
              <a:t>2</a:t>
            </a:r>
            <a:r>
              <a:rPr lang="en-US" sz="2400" b="1" i="1" dirty="0">
                <a:solidFill>
                  <a:schemeClr val="tx1"/>
                </a:solidFill>
              </a:rPr>
              <a:t>, …, i</a:t>
            </a:r>
            <a:r>
              <a:rPr lang="en-US" sz="2400" b="1" i="1" baseline="-25000" dirty="0">
                <a:solidFill>
                  <a:schemeClr val="tx1"/>
                </a:solidFill>
              </a:rPr>
              <a:t>n</a:t>
            </a:r>
            <a:r>
              <a:rPr lang="en-US" sz="2400" dirty="0">
                <a:solidFill>
                  <a:schemeClr val="tx1"/>
                </a:solidFill>
              </a:rPr>
              <a:t>) </a:t>
            </a:r>
            <a:r>
              <a:rPr lang="bg-BG" sz="2400" dirty="0">
                <a:solidFill>
                  <a:schemeClr val="tx1"/>
                </a:solidFill>
              </a:rPr>
              <a:t>и </a:t>
            </a:r>
            <a:r>
              <a:rPr lang="en-US" sz="2400" b="1" i="1" dirty="0" err="1">
                <a:solidFill>
                  <a:schemeClr val="tx1"/>
                </a:solidFill>
              </a:rPr>
              <a:t>H</a:t>
            </a:r>
            <a:r>
              <a:rPr lang="en-US" sz="2400" b="1" i="1" baseline="-25000" dirty="0" err="1">
                <a:solidFill>
                  <a:schemeClr val="tx1"/>
                </a:solidFill>
              </a:rPr>
              <a:t>j</a:t>
            </a:r>
            <a:r>
              <a:rPr lang="bg-BG" sz="2400" b="1" i="1" baseline="-250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=</a:t>
            </a:r>
            <a:r>
              <a:rPr lang="bg-BG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b="1" i="1" dirty="0">
                <a:solidFill>
                  <a:schemeClr val="tx1"/>
                </a:solidFill>
              </a:rPr>
              <a:t>j</a:t>
            </a:r>
            <a:r>
              <a:rPr lang="en-US" sz="2400" b="1" i="1" baseline="-25000" dirty="0">
                <a:solidFill>
                  <a:schemeClr val="tx1"/>
                </a:solidFill>
              </a:rPr>
              <a:t>1</a:t>
            </a:r>
            <a:r>
              <a:rPr lang="en-US" sz="2400" b="1" i="1" dirty="0">
                <a:solidFill>
                  <a:schemeClr val="tx1"/>
                </a:solidFill>
              </a:rPr>
              <a:t>, j</a:t>
            </a:r>
            <a:r>
              <a:rPr lang="en-US" sz="2400" b="1" i="1" baseline="-25000" dirty="0">
                <a:solidFill>
                  <a:schemeClr val="tx1"/>
                </a:solidFill>
              </a:rPr>
              <a:t>2</a:t>
            </a:r>
            <a:r>
              <a:rPr lang="en-US" sz="2400" b="1" i="1" dirty="0">
                <a:solidFill>
                  <a:schemeClr val="tx1"/>
                </a:solidFill>
              </a:rPr>
              <a:t>, …, </a:t>
            </a:r>
            <a:r>
              <a:rPr lang="en-US" sz="2400" b="1" i="1" dirty="0" err="1">
                <a:solidFill>
                  <a:schemeClr val="tx1"/>
                </a:solidFill>
              </a:rPr>
              <a:t>j</a:t>
            </a:r>
            <a:r>
              <a:rPr lang="en-US" sz="2400" b="1" i="1" baseline="-25000" dirty="0" err="1">
                <a:solidFill>
                  <a:schemeClr val="tx1"/>
                </a:solidFill>
              </a:rPr>
              <a:t>n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  <a:r>
              <a:rPr lang="bg-BG" sz="2400" dirty="0">
                <a:solidFill>
                  <a:schemeClr val="tx1"/>
                </a:solidFill>
              </a:rPr>
              <a:t> ще се получат два нови: избираме произволни позиции </a:t>
            </a:r>
            <a:r>
              <a:rPr lang="en-US" sz="2400" b="1" i="1" dirty="0">
                <a:solidFill>
                  <a:schemeClr val="tx1"/>
                </a:solidFill>
              </a:rPr>
              <a:t>k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</a:rPr>
              <a:t>и </a:t>
            </a:r>
            <a:r>
              <a:rPr lang="en-US" sz="2400" b="1" i="1" dirty="0">
                <a:solidFill>
                  <a:schemeClr val="tx1"/>
                </a:solidFill>
              </a:rPr>
              <a:t>r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</a:rPr>
              <a:t>( </a:t>
            </a:r>
            <a:r>
              <a:rPr lang="en-US" sz="2400" b="1" i="1" dirty="0">
                <a:solidFill>
                  <a:schemeClr val="tx1"/>
                </a:solidFill>
              </a:rPr>
              <a:t>k&lt;r</a:t>
            </a:r>
            <a:r>
              <a:rPr lang="en-US" sz="2400" dirty="0">
                <a:solidFill>
                  <a:schemeClr val="tx1"/>
                </a:solidFill>
              </a:rPr>
              <a:t>) </a:t>
            </a:r>
            <a:r>
              <a:rPr lang="bg-BG" sz="2400" dirty="0">
                <a:solidFill>
                  <a:schemeClr val="tx1"/>
                </a:solidFill>
              </a:rPr>
              <a:t>и двата нови цикъла (наследници) ще бъдат: 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b="1" i="1" dirty="0">
                <a:solidFill>
                  <a:schemeClr val="tx1"/>
                </a:solidFill>
              </a:rPr>
              <a:t>i</a:t>
            </a:r>
            <a:r>
              <a:rPr lang="en-US" sz="2400" b="1" i="1" baseline="-25000" dirty="0">
                <a:solidFill>
                  <a:schemeClr val="tx1"/>
                </a:solidFill>
              </a:rPr>
              <a:t>1</a:t>
            </a:r>
            <a:r>
              <a:rPr lang="en-US" sz="2400" b="1" i="1" dirty="0">
                <a:solidFill>
                  <a:schemeClr val="tx1"/>
                </a:solidFill>
              </a:rPr>
              <a:t>, …, </a:t>
            </a:r>
            <a:r>
              <a:rPr lang="en-US" sz="2400" b="1" i="1" dirty="0" err="1">
                <a:solidFill>
                  <a:schemeClr val="tx1"/>
                </a:solidFill>
              </a:rPr>
              <a:t>i</a:t>
            </a:r>
            <a:r>
              <a:rPr lang="en-US" sz="2400" b="1" i="1" baseline="-25000" dirty="0" err="1">
                <a:solidFill>
                  <a:schemeClr val="tx1"/>
                </a:solidFill>
              </a:rPr>
              <a:t>к</a:t>
            </a:r>
            <a:r>
              <a:rPr lang="bg-BG" sz="2400" b="1" i="1" baseline="-25000" dirty="0">
                <a:solidFill>
                  <a:schemeClr val="tx1"/>
                </a:solidFill>
              </a:rPr>
              <a:t>-1</a:t>
            </a:r>
            <a:r>
              <a:rPr lang="bg-BG" sz="2400" dirty="0">
                <a:solidFill>
                  <a:schemeClr val="tx1"/>
                </a:solidFill>
              </a:rPr>
              <a:t>, </a:t>
            </a:r>
            <a:r>
              <a:rPr lang="en-US" sz="2400" b="1" i="1" dirty="0" err="1">
                <a:solidFill>
                  <a:schemeClr val="tx1"/>
                </a:solidFill>
              </a:rPr>
              <a:t>j</a:t>
            </a:r>
            <a:r>
              <a:rPr lang="en-US" sz="2400" b="1" i="1" baseline="-25000" dirty="0" err="1">
                <a:solidFill>
                  <a:schemeClr val="tx1"/>
                </a:solidFill>
              </a:rPr>
              <a:t>к</a:t>
            </a:r>
            <a:r>
              <a:rPr lang="en-US" sz="2400" b="1" i="1" dirty="0">
                <a:solidFill>
                  <a:schemeClr val="tx1"/>
                </a:solidFill>
              </a:rPr>
              <a:t>, …, </a:t>
            </a:r>
            <a:r>
              <a:rPr lang="en-US" sz="2400" b="1" i="1" dirty="0" err="1">
                <a:solidFill>
                  <a:schemeClr val="tx1"/>
                </a:solidFill>
              </a:rPr>
              <a:t>j</a:t>
            </a:r>
            <a:r>
              <a:rPr lang="en-US" sz="2400" b="1" i="1" baseline="-25000" dirty="0" err="1">
                <a:solidFill>
                  <a:schemeClr val="tx1"/>
                </a:solidFill>
              </a:rPr>
              <a:t>r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b="1" i="1" dirty="0">
                <a:solidFill>
                  <a:schemeClr val="tx1"/>
                </a:solidFill>
              </a:rPr>
              <a:t>i</a:t>
            </a:r>
            <a:r>
              <a:rPr lang="en-US" sz="2400" b="1" i="1" baseline="-25000" dirty="0">
                <a:solidFill>
                  <a:schemeClr val="tx1"/>
                </a:solidFill>
              </a:rPr>
              <a:t>r+1</a:t>
            </a:r>
            <a:r>
              <a:rPr lang="en-US" sz="2400" b="1" i="1" dirty="0">
                <a:solidFill>
                  <a:schemeClr val="tx1"/>
                </a:solidFill>
              </a:rPr>
              <a:t>,…, i</a:t>
            </a:r>
            <a:r>
              <a:rPr lang="en-US" sz="2400" b="1" i="1" baseline="-25000" dirty="0">
                <a:solidFill>
                  <a:schemeClr val="tx1"/>
                </a:solidFill>
              </a:rPr>
              <a:t>n</a:t>
            </a:r>
            <a:r>
              <a:rPr lang="en-US" sz="2400" dirty="0">
                <a:solidFill>
                  <a:schemeClr val="tx1"/>
                </a:solidFill>
              </a:rPr>
              <a:t>) </a:t>
            </a:r>
            <a:r>
              <a:rPr lang="bg-BG" sz="2400" dirty="0">
                <a:solidFill>
                  <a:schemeClr val="tx1"/>
                </a:solidFill>
              </a:rPr>
              <a:t>и </a:t>
            </a:r>
            <a:r>
              <a:rPr lang="en-US" sz="2400" dirty="0">
                <a:solidFill>
                  <a:schemeClr val="tx1"/>
                </a:solidFill>
              </a:rPr>
              <a:t>(</a:t>
            </a:r>
            <a:r>
              <a:rPr lang="en-US" sz="2400" b="1" i="1" dirty="0">
                <a:solidFill>
                  <a:schemeClr val="tx1"/>
                </a:solidFill>
              </a:rPr>
              <a:t>j</a:t>
            </a:r>
            <a:r>
              <a:rPr lang="en-US" sz="2400" b="1" i="1" baseline="-25000" dirty="0">
                <a:solidFill>
                  <a:schemeClr val="tx1"/>
                </a:solidFill>
              </a:rPr>
              <a:t>1</a:t>
            </a:r>
            <a:r>
              <a:rPr lang="en-US" sz="2400" b="1" i="1" dirty="0">
                <a:solidFill>
                  <a:schemeClr val="tx1"/>
                </a:solidFill>
              </a:rPr>
              <a:t>, …, </a:t>
            </a:r>
            <a:r>
              <a:rPr lang="en-US" sz="2400" b="1" i="1" dirty="0" err="1">
                <a:solidFill>
                  <a:schemeClr val="tx1"/>
                </a:solidFill>
              </a:rPr>
              <a:t>j</a:t>
            </a:r>
            <a:r>
              <a:rPr lang="en-US" sz="2400" b="1" i="1" baseline="-25000" dirty="0" err="1">
                <a:solidFill>
                  <a:schemeClr val="tx1"/>
                </a:solidFill>
              </a:rPr>
              <a:t>к</a:t>
            </a:r>
            <a:r>
              <a:rPr lang="bg-BG" sz="2400" b="1" i="1" baseline="-25000" dirty="0">
                <a:solidFill>
                  <a:schemeClr val="tx1"/>
                </a:solidFill>
              </a:rPr>
              <a:t>-1</a:t>
            </a:r>
            <a:r>
              <a:rPr lang="bg-BG" sz="2400" dirty="0">
                <a:solidFill>
                  <a:schemeClr val="tx1"/>
                </a:solidFill>
              </a:rPr>
              <a:t>,</a:t>
            </a:r>
            <a:r>
              <a:rPr lang="bg-BG" sz="2400" b="1" i="1" dirty="0">
                <a:solidFill>
                  <a:schemeClr val="tx1"/>
                </a:solidFill>
              </a:rPr>
              <a:t>i</a:t>
            </a:r>
            <a:r>
              <a:rPr lang="en-US" sz="2400" b="1" i="1" baseline="-25000" dirty="0">
                <a:solidFill>
                  <a:schemeClr val="tx1"/>
                </a:solidFill>
              </a:rPr>
              <a:t>к</a:t>
            </a:r>
            <a:r>
              <a:rPr lang="en-US" sz="2400" b="1" i="1" dirty="0">
                <a:solidFill>
                  <a:schemeClr val="tx1"/>
                </a:solidFill>
              </a:rPr>
              <a:t>, …, </a:t>
            </a:r>
            <a:r>
              <a:rPr lang="en-US" sz="2400" b="1" i="1" dirty="0" err="1">
                <a:solidFill>
                  <a:schemeClr val="tx1"/>
                </a:solidFill>
              </a:rPr>
              <a:t>i</a:t>
            </a:r>
            <a:r>
              <a:rPr lang="en-US" sz="2400" b="1" i="1" baseline="-25000" dirty="0" err="1">
                <a:solidFill>
                  <a:schemeClr val="tx1"/>
                </a:solidFill>
              </a:rPr>
              <a:t>r</a:t>
            </a:r>
            <a:r>
              <a:rPr lang="en-US" sz="2400" dirty="0">
                <a:solidFill>
                  <a:schemeClr val="tx1"/>
                </a:solidFill>
              </a:rPr>
              <a:t>, </a:t>
            </a:r>
            <a:r>
              <a:rPr lang="en-US" sz="2400" b="1" i="1" dirty="0">
                <a:solidFill>
                  <a:schemeClr val="tx1"/>
                </a:solidFill>
              </a:rPr>
              <a:t>j</a:t>
            </a:r>
            <a:r>
              <a:rPr lang="en-US" sz="2400" b="1" i="1" baseline="-25000" dirty="0">
                <a:solidFill>
                  <a:schemeClr val="tx1"/>
                </a:solidFill>
              </a:rPr>
              <a:t>r+1</a:t>
            </a:r>
            <a:r>
              <a:rPr lang="en-US" sz="2400" b="1" i="1" dirty="0">
                <a:solidFill>
                  <a:schemeClr val="tx1"/>
                </a:solidFill>
              </a:rPr>
              <a:t>,…, </a:t>
            </a:r>
            <a:r>
              <a:rPr lang="en-US" sz="2400" b="1" i="1" dirty="0" err="1">
                <a:solidFill>
                  <a:schemeClr val="tx1"/>
                </a:solidFill>
              </a:rPr>
              <a:t>j</a:t>
            </a:r>
            <a:r>
              <a:rPr lang="en-US" sz="2400" b="1" i="1" baseline="-25000" dirty="0" err="1">
                <a:solidFill>
                  <a:schemeClr val="tx1"/>
                </a:solidFill>
              </a:rPr>
              <a:t>n</a:t>
            </a:r>
            <a:r>
              <a:rPr lang="en-US" sz="2400" dirty="0" smtClean="0">
                <a:solidFill>
                  <a:schemeClr val="tx1"/>
                </a:solidFill>
              </a:rPr>
              <a:t>).</a:t>
            </a:r>
            <a:br>
              <a:rPr lang="en-US" sz="2400" dirty="0" smtClean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</a:rPr>
              <a:t/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Така например, цикълът 2-3-1-4-5, </a:t>
            </a:r>
            <a:r>
              <a:rPr lang="en-US" sz="2400" dirty="0">
                <a:solidFill>
                  <a:schemeClr val="tx1"/>
                </a:solidFill>
              </a:rPr>
              <a:t/>
            </a:r>
            <a:br>
              <a:rPr lang="en-US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комбиниран с 5-1-3-4-2 за 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i="1" dirty="0">
                <a:solidFill>
                  <a:schemeClr val="tx1"/>
                </a:solidFill>
              </a:rPr>
              <a:t>k</a:t>
            </a:r>
            <a:r>
              <a:rPr lang="en-US" sz="2400" dirty="0">
                <a:solidFill>
                  <a:schemeClr val="tx1"/>
                </a:solidFill>
              </a:rPr>
              <a:t>=2 </a:t>
            </a:r>
            <a:r>
              <a:rPr lang="bg-BG" sz="2400" dirty="0">
                <a:solidFill>
                  <a:schemeClr val="tx1"/>
                </a:solidFill>
              </a:rPr>
              <a:t>и </a:t>
            </a:r>
            <a:r>
              <a:rPr lang="en-US" sz="2400" b="1" i="1" dirty="0">
                <a:solidFill>
                  <a:schemeClr val="tx1"/>
                </a:solidFill>
              </a:rPr>
              <a:t>r</a:t>
            </a:r>
            <a:r>
              <a:rPr lang="en-US" sz="2400" dirty="0">
                <a:solidFill>
                  <a:schemeClr val="tx1"/>
                </a:solidFill>
              </a:rPr>
              <a:t>=4</a:t>
            </a:r>
            <a:r>
              <a:rPr lang="bg-BG" sz="2400" dirty="0">
                <a:solidFill>
                  <a:schemeClr val="tx1"/>
                </a:solidFill>
              </a:rPr>
              <a:t/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дава като резултат 2-1-3-4-5 (с цена54) 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 и 5-3-1-4-2 (35). Аналогично 1-2-3-4-5, 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 комбиниран с 1-3-5-4-2 за 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i="1" dirty="0">
                <a:solidFill>
                  <a:schemeClr val="tx1"/>
                </a:solidFill>
              </a:rPr>
              <a:t>k</a:t>
            </a:r>
            <a:r>
              <a:rPr lang="en-US" sz="2400" dirty="0">
                <a:solidFill>
                  <a:schemeClr val="tx1"/>
                </a:solidFill>
              </a:rPr>
              <a:t>=2 </a:t>
            </a:r>
            <a:r>
              <a:rPr lang="bg-BG" sz="2400" dirty="0">
                <a:solidFill>
                  <a:schemeClr val="tx1"/>
                </a:solidFill>
              </a:rPr>
              <a:t>и </a:t>
            </a:r>
            <a:r>
              <a:rPr lang="en-US" sz="2400" b="1" i="1" dirty="0">
                <a:solidFill>
                  <a:schemeClr val="tx1"/>
                </a:solidFill>
              </a:rPr>
              <a:t>r</a:t>
            </a:r>
            <a:r>
              <a:rPr lang="en-US" sz="2400" dirty="0">
                <a:solidFill>
                  <a:schemeClr val="tx1"/>
                </a:solidFill>
              </a:rPr>
              <a:t>=3</a:t>
            </a:r>
            <a:r>
              <a:rPr lang="bg-BG" sz="2400" dirty="0">
                <a:solidFill>
                  <a:schemeClr val="tx1"/>
                </a:solidFill>
              </a:rPr>
              <a:t> 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 дава 1-3-5-4-5 (?) и 1-2-3-4-2 (?).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6" name="Контейнер за номер на слайда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47</a:t>
            </a:fld>
            <a:endParaRPr lang="en-US"/>
          </a:p>
        </p:txBody>
      </p:sp>
      <p:grpSp>
        <p:nvGrpSpPr>
          <p:cNvPr id="37" name="Group 43"/>
          <p:cNvGrpSpPr>
            <a:grpSpLocks/>
          </p:cNvGrpSpPr>
          <p:nvPr/>
        </p:nvGrpSpPr>
        <p:grpSpPr bwMode="auto">
          <a:xfrm>
            <a:off x="5940152" y="4149080"/>
            <a:ext cx="2781300" cy="2449513"/>
            <a:chOff x="1920" y="232"/>
            <a:chExt cx="1752" cy="1543"/>
          </a:xfrm>
        </p:grpSpPr>
        <p:sp>
          <p:nvSpPr>
            <p:cNvPr id="38" name="Oval 3"/>
            <p:cNvSpPr>
              <a:spLocks noChangeArrowheads="1"/>
            </p:cNvSpPr>
            <p:nvPr/>
          </p:nvSpPr>
          <p:spPr bwMode="auto">
            <a:xfrm>
              <a:off x="2640" y="232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39" name="Oval 4"/>
            <p:cNvSpPr>
              <a:spLocks noChangeArrowheads="1"/>
            </p:cNvSpPr>
            <p:nvPr/>
          </p:nvSpPr>
          <p:spPr bwMode="auto">
            <a:xfrm>
              <a:off x="3024" y="1336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0" name="Oval 5"/>
            <p:cNvSpPr>
              <a:spLocks noChangeArrowheads="1"/>
            </p:cNvSpPr>
            <p:nvPr/>
          </p:nvSpPr>
          <p:spPr bwMode="auto">
            <a:xfrm>
              <a:off x="2208" y="1432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1" name="Oval 6"/>
            <p:cNvSpPr>
              <a:spLocks noChangeArrowheads="1"/>
            </p:cNvSpPr>
            <p:nvPr/>
          </p:nvSpPr>
          <p:spPr bwMode="auto">
            <a:xfrm>
              <a:off x="3312" y="760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2" name="Oval 7"/>
            <p:cNvSpPr>
              <a:spLocks noChangeArrowheads="1"/>
            </p:cNvSpPr>
            <p:nvPr/>
          </p:nvSpPr>
          <p:spPr bwMode="auto">
            <a:xfrm>
              <a:off x="1920" y="664"/>
              <a:ext cx="336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3" name="Line 8"/>
            <p:cNvSpPr>
              <a:spLocks noChangeShapeType="1"/>
            </p:cNvSpPr>
            <p:nvPr/>
          </p:nvSpPr>
          <p:spPr bwMode="auto">
            <a:xfrm flipH="1">
              <a:off x="2224" y="472"/>
              <a:ext cx="432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4" name="Line 9"/>
            <p:cNvSpPr>
              <a:spLocks noChangeShapeType="1"/>
            </p:cNvSpPr>
            <p:nvPr/>
          </p:nvSpPr>
          <p:spPr bwMode="auto">
            <a:xfrm flipV="1">
              <a:off x="2544" y="1528"/>
              <a:ext cx="48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>
              <a:off x="2160" y="1000"/>
              <a:ext cx="192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6" name="Line 11"/>
            <p:cNvSpPr>
              <a:spLocks noChangeShapeType="1"/>
            </p:cNvSpPr>
            <p:nvPr/>
          </p:nvSpPr>
          <p:spPr bwMode="auto">
            <a:xfrm>
              <a:off x="2968" y="464"/>
              <a:ext cx="432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7" name="Line 12"/>
            <p:cNvSpPr>
              <a:spLocks noChangeShapeType="1"/>
            </p:cNvSpPr>
            <p:nvPr/>
          </p:nvSpPr>
          <p:spPr bwMode="auto">
            <a:xfrm flipV="1">
              <a:off x="3312" y="1096"/>
              <a:ext cx="144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8" name="Line 14"/>
            <p:cNvSpPr>
              <a:spLocks noChangeShapeType="1"/>
            </p:cNvSpPr>
            <p:nvPr/>
          </p:nvSpPr>
          <p:spPr bwMode="auto">
            <a:xfrm flipH="1">
              <a:off x="2448" y="568"/>
              <a:ext cx="288" cy="8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49" name="Line 15"/>
            <p:cNvSpPr>
              <a:spLocks noChangeShapeType="1"/>
            </p:cNvSpPr>
            <p:nvPr/>
          </p:nvSpPr>
          <p:spPr bwMode="auto">
            <a:xfrm>
              <a:off x="2880" y="568"/>
              <a:ext cx="288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0" name="Line 16"/>
            <p:cNvSpPr>
              <a:spLocks noChangeShapeType="1"/>
            </p:cNvSpPr>
            <p:nvPr/>
          </p:nvSpPr>
          <p:spPr bwMode="auto">
            <a:xfrm>
              <a:off x="2256" y="912"/>
              <a:ext cx="1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1" name="Line 17"/>
            <p:cNvSpPr>
              <a:spLocks noChangeShapeType="1"/>
            </p:cNvSpPr>
            <p:nvPr/>
          </p:nvSpPr>
          <p:spPr bwMode="auto">
            <a:xfrm flipV="1">
              <a:off x="2544" y="1048"/>
              <a:ext cx="81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2" name="Line 18"/>
            <p:cNvSpPr>
              <a:spLocks noChangeShapeType="1"/>
            </p:cNvSpPr>
            <p:nvPr/>
          </p:nvSpPr>
          <p:spPr bwMode="auto">
            <a:xfrm>
              <a:off x="2256" y="952"/>
              <a:ext cx="816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bg-BG"/>
            </a:p>
          </p:txBody>
        </p:sp>
        <p:sp>
          <p:nvSpPr>
            <p:cNvPr id="53" name="Text Box 19"/>
            <p:cNvSpPr txBox="1">
              <a:spLocks noChangeArrowheads="1"/>
            </p:cNvSpPr>
            <p:nvPr/>
          </p:nvSpPr>
          <p:spPr bwMode="auto">
            <a:xfrm>
              <a:off x="2704" y="24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dirty="0"/>
                <a:t>1</a:t>
              </a:r>
              <a:endParaRPr lang="en-US" dirty="0"/>
            </a:p>
          </p:txBody>
        </p:sp>
        <p:sp>
          <p:nvSpPr>
            <p:cNvPr id="54" name="Text Box 20"/>
            <p:cNvSpPr txBox="1">
              <a:spLocks noChangeArrowheads="1"/>
            </p:cNvSpPr>
            <p:nvPr/>
          </p:nvSpPr>
          <p:spPr bwMode="auto">
            <a:xfrm>
              <a:off x="3088" y="136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5</a:t>
              </a:r>
              <a:endParaRPr lang="en-US"/>
            </a:p>
          </p:txBody>
        </p:sp>
        <p:sp>
          <p:nvSpPr>
            <p:cNvPr id="55" name="Text Box 21"/>
            <p:cNvSpPr txBox="1">
              <a:spLocks noChangeArrowheads="1"/>
            </p:cNvSpPr>
            <p:nvPr/>
          </p:nvSpPr>
          <p:spPr bwMode="auto">
            <a:xfrm>
              <a:off x="3376" y="784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3</a:t>
              </a:r>
              <a:endParaRPr lang="en-US"/>
            </a:p>
          </p:txBody>
        </p:sp>
        <p:sp>
          <p:nvSpPr>
            <p:cNvPr id="56" name="Text Box 26"/>
            <p:cNvSpPr txBox="1">
              <a:spLocks noChangeArrowheads="1"/>
            </p:cNvSpPr>
            <p:nvPr/>
          </p:nvSpPr>
          <p:spPr bwMode="auto">
            <a:xfrm>
              <a:off x="1992" y="680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2</a:t>
              </a:r>
              <a:endParaRPr lang="en-US"/>
            </a:p>
          </p:txBody>
        </p:sp>
        <p:sp>
          <p:nvSpPr>
            <p:cNvPr id="57" name="Text Box 27"/>
            <p:cNvSpPr txBox="1">
              <a:spLocks noChangeArrowheads="1"/>
            </p:cNvSpPr>
            <p:nvPr/>
          </p:nvSpPr>
          <p:spPr bwMode="auto">
            <a:xfrm>
              <a:off x="2280" y="1448"/>
              <a:ext cx="24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/>
                <a:t>4</a:t>
              </a:r>
              <a:endParaRPr lang="en-US"/>
            </a:p>
          </p:txBody>
        </p:sp>
        <p:sp>
          <p:nvSpPr>
            <p:cNvPr id="58" name="Text Box 28"/>
            <p:cNvSpPr txBox="1">
              <a:spLocks noChangeArrowheads="1"/>
            </p:cNvSpPr>
            <p:nvPr/>
          </p:nvSpPr>
          <p:spPr bwMode="auto">
            <a:xfrm>
              <a:off x="2304" y="42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10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59" name="Text Box 29"/>
            <p:cNvSpPr txBox="1">
              <a:spLocks noChangeArrowheads="1"/>
            </p:cNvSpPr>
            <p:nvPr/>
          </p:nvSpPr>
          <p:spPr bwMode="auto">
            <a:xfrm>
              <a:off x="3096" y="472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17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60" name="Text Box 30"/>
            <p:cNvSpPr txBox="1">
              <a:spLocks noChangeArrowheads="1"/>
            </p:cNvSpPr>
            <p:nvPr/>
          </p:nvSpPr>
          <p:spPr bwMode="auto">
            <a:xfrm>
              <a:off x="2032" y="114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12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61" name="Text Box 31"/>
            <p:cNvSpPr txBox="1">
              <a:spLocks noChangeArrowheads="1"/>
            </p:cNvSpPr>
            <p:nvPr/>
          </p:nvSpPr>
          <p:spPr bwMode="auto">
            <a:xfrm>
              <a:off x="2688" y="154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19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62" name="Text Box 32"/>
            <p:cNvSpPr txBox="1">
              <a:spLocks noChangeArrowheads="1"/>
            </p:cNvSpPr>
            <p:nvPr/>
          </p:nvSpPr>
          <p:spPr bwMode="auto">
            <a:xfrm>
              <a:off x="3336" y="114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 smtClean="0">
                  <a:solidFill>
                    <a:srgbClr val="C00000"/>
                  </a:solidFill>
                </a:rPr>
                <a:t>5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63" name="Text Box 33"/>
            <p:cNvSpPr txBox="1">
              <a:spLocks noChangeArrowheads="1"/>
            </p:cNvSpPr>
            <p:nvPr/>
          </p:nvSpPr>
          <p:spPr bwMode="auto">
            <a:xfrm>
              <a:off x="2653" y="134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8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64" name="Text Box 34"/>
            <p:cNvSpPr txBox="1">
              <a:spLocks noChangeArrowheads="1"/>
            </p:cNvSpPr>
            <p:nvPr/>
          </p:nvSpPr>
          <p:spPr bwMode="auto">
            <a:xfrm>
              <a:off x="2656" y="744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 smtClean="0">
                  <a:solidFill>
                    <a:srgbClr val="C00000"/>
                  </a:solidFill>
                </a:rPr>
                <a:t>12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65" name="Text Box 35"/>
            <p:cNvSpPr txBox="1">
              <a:spLocks noChangeArrowheads="1"/>
            </p:cNvSpPr>
            <p:nvPr/>
          </p:nvSpPr>
          <p:spPr bwMode="auto">
            <a:xfrm>
              <a:off x="2699" y="1026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7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66" name="Text Box 36"/>
            <p:cNvSpPr txBox="1">
              <a:spLocks noChangeArrowheads="1"/>
            </p:cNvSpPr>
            <p:nvPr/>
          </p:nvSpPr>
          <p:spPr bwMode="auto">
            <a:xfrm>
              <a:off x="2416" y="856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11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  <p:sp>
          <p:nvSpPr>
            <p:cNvPr id="67" name="Text Box 41"/>
            <p:cNvSpPr txBox="1">
              <a:spLocks noChangeArrowheads="1"/>
            </p:cNvSpPr>
            <p:nvPr/>
          </p:nvSpPr>
          <p:spPr bwMode="auto">
            <a:xfrm>
              <a:off x="3061" y="935"/>
              <a:ext cx="33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bg-BG" sz="1800" dirty="0">
                  <a:solidFill>
                    <a:srgbClr val="C00000"/>
                  </a:solidFill>
                </a:rPr>
                <a:t>12</a:t>
              </a:r>
              <a:endParaRPr lang="en-US" sz="1600" dirty="0">
                <a:solidFill>
                  <a:srgbClr val="C00000"/>
                </a:solidFill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92560" y="332656"/>
            <a:ext cx="8151440" cy="6248400"/>
          </a:xfrm>
        </p:spPr>
        <p:txBody>
          <a:bodyPr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bg-BG" sz="2400" dirty="0"/>
              <a:t>	От примера се вижда, че в някои случаи се получават повтарящи се (и съответно - липсващи) върхове. В такъв случай повтарящ се елемент се замества с липсващия. </a:t>
            </a:r>
            <a:r>
              <a:rPr lang="bg-BG" sz="2400" dirty="0" err="1"/>
              <a:t>Новополучените</a:t>
            </a:r>
            <a:r>
              <a:rPr lang="bg-BG" sz="2400" dirty="0"/>
              <a:t> наследници се добавят към популацията </a:t>
            </a:r>
            <a:r>
              <a:rPr lang="bg-BG" sz="2400" b="1" i="1" dirty="0"/>
              <a:t>Р</a:t>
            </a:r>
            <a:r>
              <a:rPr lang="bg-BG" sz="2400" dirty="0"/>
              <a:t>, след което от нея се изключва “лошата” половина, т. е. цикли с най-голяма дължина. Така, след известен брой стъпки, се очаква </a:t>
            </a:r>
            <a:r>
              <a:rPr lang="bg-BG" sz="2400" dirty="0" smtClean="0"/>
              <a:t>алгоритмът </a:t>
            </a:r>
            <a:r>
              <a:rPr lang="bg-BG" sz="2400" dirty="0"/>
              <a:t>да построи </a:t>
            </a:r>
            <a:r>
              <a:rPr lang="bg-BG" sz="2400" dirty="0" err="1"/>
              <a:t>Хамилтонов</a:t>
            </a:r>
            <a:r>
              <a:rPr lang="bg-BG" sz="2400" dirty="0"/>
              <a:t> цикъл с дължина, близка до оптималната.</a:t>
            </a:r>
            <a:br>
              <a:rPr lang="bg-BG" sz="2400" dirty="0"/>
            </a:br>
            <a:r>
              <a:rPr lang="bg-BG" sz="1000" dirty="0"/>
              <a:t/>
            </a:r>
            <a:br>
              <a:rPr lang="bg-BG" sz="1000" dirty="0"/>
            </a:br>
            <a:r>
              <a:rPr lang="bg-BG" sz="2400" dirty="0"/>
              <a:t>	При работа с генетичния алгоритъм се забелязват някои негативни ефекти. Така, например, с многократно прилагане на основната стъпка (комбиниране на най-добрите решения) често се стига до списък </a:t>
            </a:r>
            <a:r>
              <a:rPr lang="en-US" sz="2400" b="1" i="1" dirty="0"/>
              <a:t>P</a:t>
            </a:r>
            <a:r>
              <a:rPr lang="bg-BG" sz="2400" dirty="0"/>
              <a:t> от почти идентични цикли. В този случай по-нататъшна еволюция няма да доведе до значително подобрение.</a:t>
            </a:r>
            <a:br>
              <a:rPr lang="bg-BG" sz="2400" dirty="0"/>
            </a:br>
            <a:r>
              <a:rPr lang="bg-BG" sz="2400" dirty="0"/>
              <a:t>	Съществуват два начина за решаване на този проблем:</a:t>
            </a:r>
            <a:br>
              <a:rPr lang="bg-BG" sz="2400" dirty="0"/>
            </a:br>
            <a:r>
              <a:rPr lang="bg-BG" sz="2400" dirty="0"/>
              <a:t>- да се избере по-голяма начална популация (но може да се окаже, че паметта ще е недостатъчна);</a:t>
            </a:r>
            <a:br>
              <a:rPr lang="bg-BG" sz="2400" dirty="0"/>
            </a:br>
            <a:r>
              <a:rPr lang="bg-BG" sz="2400" dirty="0"/>
              <a:t>- при получаване на два еднакви цикъла да променим единия, размествайки два произволни съседни върха (в генетичните алгоритми това се нарича </a:t>
            </a:r>
            <a:r>
              <a:rPr lang="bg-BG" sz="2400" i="1" dirty="0"/>
              <a:t>мутация</a:t>
            </a:r>
            <a:r>
              <a:rPr lang="bg-BG" sz="2400" dirty="0"/>
              <a:t>).</a:t>
            </a:r>
            <a:br>
              <a:rPr lang="bg-BG" sz="2400" dirty="0"/>
            </a:br>
            <a:endParaRPr lang="en-US" sz="2400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966772" y="332656"/>
            <a:ext cx="8177228" cy="6248400"/>
          </a:xfrm>
        </p:spPr>
        <p:txBody>
          <a:bodyPr>
            <a:normAutofit fontScale="90000"/>
          </a:bodyPr>
          <a:lstStyle/>
          <a:p>
            <a:pPr algn="l"/>
            <a:r>
              <a:rPr lang="bg-BG" sz="1000" dirty="0"/>
              <a:t/>
            </a:r>
            <a:br>
              <a:rPr lang="bg-BG" sz="1000" dirty="0"/>
            </a:br>
            <a:r>
              <a:rPr lang="bg-BG" sz="2400" dirty="0"/>
              <a:t>	Като цяло задачата може да бъде реализирана чрез следните функции:</a:t>
            </a:r>
            <a:br>
              <a:rPr lang="bg-BG" sz="2400" dirty="0"/>
            </a:br>
            <a:r>
              <a:rPr lang="bg-BG" sz="2400" dirty="0"/>
              <a:t>- </a:t>
            </a:r>
            <a:r>
              <a:rPr lang="en-US" sz="2400" dirty="0" err="1">
                <a:solidFill>
                  <a:srgbClr val="C00000"/>
                </a:solidFill>
              </a:rPr>
              <a:t>initGraph</a:t>
            </a:r>
            <a:r>
              <a:rPr lang="en-US" sz="2400" dirty="0">
                <a:solidFill>
                  <a:srgbClr val="C00000"/>
                </a:solidFill>
              </a:rPr>
              <a:t>() </a:t>
            </a:r>
            <a:r>
              <a:rPr lang="en-US" sz="2400" dirty="0"/>
              <a:t>- </a:t>
            </a:r>
            <a:r>
              <a:rPr lang="bg-BG" sz="2400" dirty="0"/>
              <a:t>за генериране на произволен граф с </a:t>
            </a:r>
            <a:r>
              <a:rPr lang="en-US" sz="2400" b="1" i="1" dirty="0"/>
              <a:t>n</a:t>
            </a:r>
            <a:r>
              <a:rPr lang="bg-BG" sz="2400" dirty="0"/>
              <a:t> върха;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- </a:t>
            </a:r>
            <a:r>
              <a:rPr lang="en-US" sz="2400" dirty="0" err="1">
                <a:solidFill>
                  <a:srgbClr val="C00000"/>
                </a:solidFill>
              </a:rPr>
              <a:t>randomCycle</a:t>
            </a:r>
            <a:r>
              <a:rPr lang="en-US" sz="2400" dirty="0">
                <a:solidFill>
                  <a:srgbClr val="C00000"/>
                </a:solidFill>
              </a:rPr>
              <a:t>()</a:t>
            </a:r>
            <a:r>
              <a:rPr lang="bg-BG" sz="2400" dirty="0">
                <a:solidFill>
                  <a:srgbClr val="C00000"/>
                </a:solidFill>
              </a:rPr>
              <a:t> </a:t>
            </a:r>
            <a:r>
              <a:rPr lang="bg-BG" sz="2400" dirty="0"/>
              <a:t>- за генериране на произволен </a:t>
            </a:r>
            <a:r>
              <a:rPr lang="bg-BG" sz="2400" dirty="0" err="1"/>
              <a:t>Хамилтонов</a:t>
            </a:r>
            <a:r>
              <a:rPr lang="bg-BG" sz="2400" dirty="0"/>
              <a:t> цикъл;</a:t>
            </a:r>
            <a:br>
              <a:rPr lang="bg-BG" sz="2400" dirty="0"/>
            </a:br>
            <a:r>
              <a:rPr lang="bg-BG" sz="2400" dirty="0"/>
              <a:t>- </a:t>
            </a:r>
            <a:r>
              <a:rPr lang="en-US" sz="2400" dirty="0">
                <a:solidFill>
                  <a:srgbClr val="C00000"/>
                </a:solidFill>
              </a:rPr>
              <a:t>evaluate()</a:t>
            </a:r>
            <a:r>
              <a:rPr lang="bg-BG" sz="2400" dirty="0">
                <a:solidFill>
                  <a:srgbClr val="C00000"/>
                </a:solidFill>
              </a:rPr>
              <a:t> </a:t>
            </a:r>
            <a:r>
              <a:rPr lang="bg-BG" sz="2400" dirty="0"/>
              <a:t>- целева функция, която оценява даден </a:t>
            </a:r>
            <a:r>
              <a:rPr lang="bg-BG" sz="2400" dirty="0" err="1"/>
              <a:t>Хамилтонов</a:t>
            </a:r>
            <a:r>
              <a:rPr lang="bg-BG" sz="2400" dirty="0"/>
              <a:t> цикъл (сумира стойностите на ребрата);</a:t>
            </a:r>
            <a:br>
              <a:rPr lang="bg-BG" sz="2400" dirty="0"/>
            </a:br>
            <a:r>
              <a:rPr lang="en-US" sz="2400" dirty="0"/>
              <a:t>- </a:t>
            </a:r>
            <a:r>
              <a:rPr lang="en-US" sz="2400" dirty="0">
                <a:solidFill>
                  <a:srgbClr val="C00000"/>
                </a:solidFill>
              </a:rPr>
              <a:t>combine()</a:t>
            </a:r>
            <a:r>
              <a:rPr lang="bg-BG" sz="2400" dirty="0"/>
              <a:t> - от два избрани родителя получава два нови наследника; </a:t>
            </a:r>
            <a:br>
              <a:rPr lang="bg-BG" sz="2400" dirty="0"/>
            </a:br>
            <a:r>
              <a:rPr lang="en-US" sz="2400" dirty="0">
                <a:solidFill>
                  <a:schemeClr val="tx1"/>
                </a:solidFill>
              </a:rPr>
              <a:t>-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mutate()</a:t>
            </a:r>
            <a:r>
              <a:rPr lang="bg-BG" sz="2400" dirty="0"/>
              <a:t> - проверява, дали има съвпадащи елементи в текущата популация и в случай че има, променя единия от тях, като разменя два произволни върха в </a:t>
            </a:r>
            <a:r>
              <a:rPr lang="bg-BG" sz="2400" dirty="0" err="1"/>
              <a:t>Хамилтоновия</a:t>
            </a:r>
            <a:r>
              <a:rPr lang="bg-BG" sz="2400" dirty="0"/>
              <a:t> цикъл;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>
                <a:solidFill>
                  <a:schemeClr val="tx1"/>
                </a:solidFill>
              </a:rPr>
              <a:t>-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reproduce()</a:t>
            </a:r>
            <a:r>
              <a:rPr lang="bg-BG" sz="2400" dirty="0">
                <a:solidFill>
                  <a:srgbClr val="C00000"/>
                </a:solidFill>
              </a:rPr>
              <a:t> </a:t>
            </a:r>
            <a:r>
              <a:rPr lang="bg-BG" sz="2400" dirty="0"/>
              <a:t>- основна функция. Тя сортира елементи на популацията и определя родителите, както и елементите, които да бъдат отстранени. </a:t>
            </a:r>
            <a:r>
              <a:rPr lang="bg-BG" sz="1000" dirty="0"/>
              <a:t/>
            </a:r>
            <a:br>
              <a:rPr lang="bg-BG" sz="1000" dirty="0"/>
            </a:br>
            <a:r>
              <a:rPr lang="bg-BG" sz="1000" dirty="0"/>
              <a:t/>
            </a:r>
            <a:br>
              <a:rPr lang="bg-BG" sz="1000" dirty="0"/>
            </a:br>
            <a:r>
              <a:rPr lang="bg-BG" sz="2400" dirty="0"/>
              <a:t>Реализацията на алгоритъма - в </a:t>
            </a:r>
            <a:r>
              <a:rPr lang="bg-BG" sz="2200" dirty="0">
                <a:solidFill>
                  <a:srgbClr val="C00000"/>
                </a:solidFill>
              </a:rPr>
              <a:t>Преслав Наков, Панайот </a:t>
            </a:r>
            <a:r>
              <a:rPr lang="bg-BG" sz="2200" dirty="0" err="1">
                <a:solidFill>
                  <a:srgbClr val="C00000"/>
                </a:solidFill>
              </a:rPr>
              <a:t>Добриков</a:t>
            </a:r>
            <a:r>
              <a:rPr lang="bg-BG" sz="2200" dirty="0">
                <a:solidFill>
                  <a:srgbClr val="C00000"/>
                </a:solidFill>
              </a:rPr>
              <a:t>. </a:t>
            </a:r>
            <a:r>
              <a:rPr lang="bg-BG" sz="2200" i="1" dirty="0">
                <a:solidFill>
                  <a:srgbClr val="C00000"/>
                </a:solidFill>
              </a:rPr>
              <a:t>Програмиране = ++Алгоритми</a:t>
            </a:r>
            <a:r>
              <a:rPr lang="bg-BG" sz="2200" dirty="0">
                <a:solidFill>
                  <a:srgbClr val="C00000"/>
                </a:solidFill>
              </a:rPr>
              <a:t>, </a:t>
            </a:r>
            <a:r>
              <a:rPr lang="en-US" sz="2200" dirty="0" err="1">
                <a:solidFill>
                  <a:srgbClr val="C00000"/>
                </a:solidFill>
              </a:rPr>
              <a:t>TopTeam</a:t>
            </a:r>
            <a:r>
              <a:rPr lang="en-US" sz="2200" dirty="0">
                <a:solidFill>
                  <a:srgbClr val="C00000"/>
                </a:solidFill>
              </a:rPr>
              <a:t> Co., </a:t>
            </a:r>
            <a:r>
              <a:rPr lang="bg-BG" sz="2200" dirty="0">
                <a:solidFill>
                  <a:srgbClr val="C00000"/>
                </a:solidFill>
              </a:rPr>
              <a:t>София,</a:t>
            </a:r>
            <a:r>
              <a:rPr lang="en-US" sz="2200" dirty="0">
                <a:solidFill>
                  <a:srgbClr val="C00000"/>
                </a:solidFill>
              </a:rPr>
              <a:t> 2002</a:t>
            </a:r>
            <a:r>
              <a:rPr lang="bg-BG" sz="2200" dirty="0">
                <a:solidFill>
                  <a:srgbClr val="C00000"/>
                </a:solidFill>
              </a:rPr>
              <a:t/>
            </a:r>
            <a:br>
              <a:rPr lang="bg-BG" sz="2200" dirty="0">
                <a:solidFill>
                  <a:srgbClr val="C00000"/>
                </a:solidFill>
              </a:rPr>
            </a:b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9144000" cy="6400800"/>
          </a:xfrm>
        </p:spPr>
        <p:txBody>
          <a:bodyPr/>
          <a:lstStyle/>
          <a:p>
            <a:pPr algn="l">
              <a:lnSpc>
                <a:spcPct val="90000"/>
              </a:lnSpc>
            </a:pPr>
            <a:r>
              <a:rPr lang="bg-BG" sz="2400" dirty="0">
                <a:solidFill>
                  <a:schemeClr val="tx1"/>
                </a:solidFill>
              </a:rPr>
              <a:t>	Генерирането на нови решения (Стъпка 2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</a:rPr>
              <a:t>или </a:t>
            </a:r>
            <a:r>
              <a:rPr lang="en-US" sz="2400" i="1" dirty="0">
                <a:solidFill>
                  <a:schemeClr val="tx1"/>
                </a:solidFill>
              </a:rPr>
              <a:t>combine()</a:t>
            </a:r>
            <a:r>
              <a:rPr lang="bg-BG" sz="2400" dirty="0">
                <a:solidFill>
                  <a:schemeClr val="tx1"/>
                </a:solidFill>
              </a:rPr>
              <a:t> ) може да става по различни начини.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	А) от две пермутации-родители се получават две нови решения;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	Б) от две пермутации-родители се получава едно ново решение;  например, цикълът 2-3-1-4-5, комбиниран с 5-1-3-4-2 за случайно избрано 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b="1" i="1" dirty="0">
                <a:solidFill>
                  <a:schemeClr val="tx1"/>
                </a:solidFill>
              </a:rPr>
              <a:t>k</a:t>
            </a:r>
            <a:r>
              <a:rPr lang="en-US" sz="2400" dirty="0">
                <a:solidFill>
                  <a:schemeClr val="tx1"/>
                </a:solidFill>
              </a:rPr>
              <a:t>=3</a:t>
            </a:r>
            <a:r>
              <a:rPr lang="bg-BG" sz="2400" dirty="0">
                <a:solidFill>
                  <a:schemeClr val="tx1"/>
                </a:solidFill>
              </a:rPr>
              <a:t>, при замест</a:t>
            </a:r>
            <a:r>
              <a:rPr lang="bg-BG" sz="24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</a:t>
            </a:r>
            <a:r>
              <a:rPr lang="bg-BG" sz="2400" dirty="0">
                <a:solidFill>
                  <a:schemeClr val="tx1"/>
                </a:solidFill>
              </a:rPr>
              <a:t>ане на елементите в първия с </a:t>
            </a:r>
            <a:r>
              <a:rPr lang="en-US" sz="2400" b="1" i="1" dirty="0">
                <a:solidFill>
                  <a:schemeClr val="tx1"/>
                </a:solidFill>
              </a:rPr>
              <a:t>k</a:t>
            </a:r>
            <a:r>
              <a:rPr lang="en-US" sz="2400" dirty="0">
                <a:solidFill>
                  <a:schemeClr val="tx1"/>
                </a:solidFill>
              </a:rPr>
              <a:t>+1, …, </a:t>
            </a:r>
            <a:r>
              <a:rPr lang="en-US" sz="2400" b="1" i="1" dirty="0">
                <a:solidFill>
                  <a:schemeClr val="tx1"/>
                </a:solidFill>
              </a:rPr>
              <a:t>n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bg-BG" sz="2400" dirty="0">
                <a:solidFill>
                  <a:schemeClr val="tx1"/>
                </a:solidFill>
              </a:rPr>
              <a:t>от втория дава като резултат 2-3-1-4-2. Ако се получи повторение на номер на възел в цикъла, той се замества с липсващия.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	В) от всяка пермутация родител се получава нова пермутация (наследник) чрез случаен избор на участък от цикъла, който след това се </a:t>
            </a:r>
            <a:r>
              <a:rPr lang="bg-BG" sz="2400" dirty="0" err="1">
                <a:solidFill>
                  <a:schemeClr val="tx1"/>
                </a:solidFill>
              </a:rPr>
              <a:t>инвертира</a:t>
            </a:r>
            <a:r>
              <a:rPr lang="bg-BG" sz="2400" dirty="0">
                <a:solidFill>
                  <a:schemeClr val="tx1"/>
                </a:solidFill>
              </a:rPr>
              <a:t>; например от 5-1-3-4-2 при  </a:t>
            </a:r>
            <a:r>
              <a:rPr lang="en-US" sz="2400" b="1" i="1" dirty="0">
                <a:solidFill>
                  <a:schemeClr val="tx1"/>
                </a:solidFill>
              </a:rPr>
              <a:t>k</a:t>
            </a:r>
            <a:r>
              <a:rPr lang="en-US" sz="2400" dirty="0">
                <a:solidFill>
                  <a:schemeClr val="tx1"/>
                </a:solidFill>
              </a:rPr>
              <a:t>=2 </a:t>
            </a:r>
            <a:r>
              <a:rPr lang="bg-BG" sz="2400" dirty="0">
                <a:solidFill>
                  <a:schemeClr val="tx1"/>
                </a:solidFill>
              </a:rPr>
              <a:t>и </a:t>
            </a:r>
            <a:r>
              <a:rPr lang="en-US" sz="2400" b="1" i="1" dirty="0">
                <a:solidFill>
                  <a:schemeClr val="tx1"/>
                </a:solidFill>
              </a:rPr>
              <a:t>r</a:t>
            </a:r>
            <a:r>
              <a:rPr lang="en-US" sz="2400" dirty="0">
                <a:solidFill>
                  <a:schemeClr val="tx1"/>
                </a:solidFill>
              </a:rPr>
              <a:t>=3</a:t>
            </a:r>
            <a:r>
              <a:rPr lang="bg-BG" sz="2400" dirty="0">
                <a:solidFill>
                  <a:schemeClr val="tx1"/>
                </a:solidFill>
              </a:rPr>
              <a:t> се получава 5-4-3-1-2. Този начин съответства на </a:t>
            </a:r>
            <a:r>
              <a:rPr lang="bg-BG" sz="2400" dirty="0" err="1">
                <a:solidFill>
                  <a:schemeClr val="tx1"/>
                </a:solidFill>
              </a:rPr>
              <a:t>еднополовото</a:t>
            </a:r>
            <a:r>
              <a:rPr lang="bg-BG" sz="2400" dirty="0">
                <a:solidFill>
                  <a:schemeClr val="tx1"/>
                </a:solidFill>
              </a:rPr>
              <a:t> размножаване на организмите.	</a:t>
            </a:r>
            <a:br>
              <a:rPr lang="bg-BG" sz="2400" dirty="0">
                <a:solidFill>
                  <a:schemeClr val="tx1"/>
                </a:solidFill>
              </a:rPr>
            </a:br>
            <a:r>
              <a:rPr lang="bg-BG" sz="2400" dirty="0">
                <a:solidFill>
                  <a:schemeClr val="tx1"/>
                </a:solidFill>
              </a:rPr>
              <a:t>     Д.</a:t>
            </a:r>
            <a:r>
              <a:rPr lang="bg-BG" sz="2400" dirty="0" err="1">
                <a:solidFill>
                  <a:schemeClr val="tx1"/>
                </a:solidFill>
              </a:rPr>
              <a:t>Фогел</a:t>
            </a:r>
            <a:r>
              <a:rPr lang="bg-BG" sz="2400" dirty="0">
                <a:solidFill>
                  <a:schemeClr val="tx1"/>
                </a:solidFill>
              </a:rPr>
              <a:t> е предложил, описал, реализирал и експериментално изследвал този алгоритъм за граф със 100 възела, използвайки   подхода В) за Стъпка 2</a:t>
            </a:r>
            <a:r>
              <a:rPr lang="bg-BG" sz="2400" dirty="0"/>
              <a:t>. </a:t>
            </a:r>
            <a:r>
              <a:rPr lang="bg-BG" sz="2400" i="1" dirty="0"/>
              <a:t>(</a:t>
            </a:r>
            <a:r>
              <a:rPr lang="bg-BG" sz="2400" i="1" dirty="0">
                <a:solidFill>
                  <a:srgbClr val="C00000"/>
                </a:solidFill>
              </a:rPr>
              <a:t>С.Стойчев, Синтез и анализ на алгоритми, Издателство “БПС”, София, 2003</a:t>
            </a:r>
            <a:r>
              <a:rPr lang="bg-BG" sz="2400" i="1" dirty="0">
                <a:solidFill>
                  <a:schemeClr val="accent2"/>
                </a:solidFill>
              </a:rPr>
              <a:t>)</a:t>
            </a:r>
            <a:endParaRPr lang="en-US" sz="2400" dirty="0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9D7852-28DA-4833-97B7-51A74BCA55ED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ънцестоене">
  <a:themeElements>
    <a:clrScheme name="Слънцестоене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Слънцестоене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Слънцестоене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тема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1038</TotalTime>
  <Words>981</Words>
  <Application>Microsoft Office PowerPoint</Application>
  <PresentationFormat>On-screen Show (4:3)</PresentationFormat>
  <Paragraphs>266</Paragraphs>
  <Slides>50</Slides>
  <Notes>2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Слънцестоене</vt:lpstr>
      <vt:lpstr>Equation</vt:lpstr>
      <vt:lpstr>Worksheet</vt:lpstr>
      <vt:lpstr>公式</vt:lpstr>
      <vt:lpstr>       “Лакоми” алгоритми        (“алчни” или greedy  алгоритми)   При решаването на различни оптимизационни задачи досега сме търсили точни или оптимални решения. В повечето случаи се търсенето ставаше измежду всички възможни решения, което изисква много пресмятания, или (в случая, ако използваме динамично оптимиране) – допълнителна памет.   Съществува, обаче клас алгоритми, които не винаги дават точното решение, но за сметка на това са много прости и лесно реализуеми (т. н. евристични алгоритми). Такъв алгоритъм обикновено използва следната идея: насочва се към един от всичките подслучаи на задачата и решава единствено него с надеждата, че той ще се окаже правилният. Изборът на този случай се извършва въз основа на локален критерий за оптималност.   “Лакомите “ алгоритми са подклас от евристичните и, както подсказва и названието им, се насочват винаги към най-добрия за момента избор, погледнато локално, като на по-късен етап може да се окаже, погледнато глобално, че този избор не е бил най-подходящ.</vt:lpstr>
      <vt:lpstr>            (Евристични алгоритми - припомняне) Свойства: - дават добри, но не винаги оптимални решения; - могат да бъдат реализирани бързо и лесно             Нямат универсален подход за създаването им (“Еврика!”). Препоръки: Всички изисквания към решението се разделят на 2 групи: 1. Тези, които лесно се постигат 2. Тези, които не се постигат лесно.  или 1. Тези, които са задължителни 2. Тези, за които може да се направи компромис.  Целта е да се изгради алгоритъм, гарантиращ изпълнение на изискванията от 1 група и не гарантиращ тези от 2-та (което не означава, че няма да се правят опити да се изпълнят и те).</vt:lpstr>
      <vt:lpstr>PowerPoint Presentation</vt:lpstr>
      <vt:lpstr> “Лакомите”  алгоритми се съставят лесно, реализацията им не е сложна (като на всеки евристичен алгоритъм). Единственият  им недостатък, че не винаги гарантират правилното решение на задачата, макар че намереното винаги е близко до оптималното.   Пример за “лаком” алгоритъм: Да се намери начин  за получаване на дадена сума m (m – цяло число), като се използва минимален брой банкноти с номинали от множеството {1, 2, 5, 10, 20, 50, 100} лева за българската национална валута. Един от възможните подходи при търсене на решението е: 1. Инициализираме текуща сума  s = 0; 2. Вземаме банкнота i с max стойност ai от множеството, такава че     s+ai &lt;= m  2.1. Ако няма банкнота, за която s+ai &lt;= m, задачата няма                     решение. Край.                  2.2. Иначе, вземаме банкнота i  и увеличаваме s с ai                        2.2.1. Ако s = m задачата е решена. Край.                       2.2.2. Ако s &lt; m повтаря се стъпка 2 Например, сумата 197 лева ще се плати последователно с 1 банкнота от 100 лв., 1 от 50 лв., 2 по 20 лв., 1 от 5 лв. и 1 от 2 лв.</vt:lpstr>
      <vt:lpstr> Описаният алгоритъм отговаря на критериите на “лаком” алгоритъм: на всяка стъпка той избира максималната по стойност банкнота, като по този начин се стреми да постигне най-бързо търсената сума (което е така за горепосочения пример).  Но работи ли алгоритъма по същия начин при произволни входни данни?  Нека m =40 лв., а множеството банкноти да е {2, 5, 20, 30} лева. “Лакомият” алгоритъм ще даде следното решение: 30 + 2*5, т. е. сумата ще се плати с 3 банкноти. Очевидно, съществува и по-добро решение: 2*20. При същото множество номинали, но при друга сума (например, m =6 лв.), алгоритмът изобщо няма да намери решение, макар че то съществува: 5+2 &gt; m , но m =2+2+2=6 и може да се плати с 3 банкноти.  Все пак подходът е ефективен и съществуват редица класически задачи, за които “лакомият” алгоритъм винаги намира вярно решение.</vt:lpstr>
      <vt:lpstr>Задача за Египетските дроби   Древните египтяни са използвали само дроби с числител 1. Всяка друга дроб се е представяла и записвала като сума от дроби с числител 1.   Например, 7/9:  7/9 = 1/3 + 1/3 + 1/9  7/9 = 1/2 + 1/4 + 1/36  7/9 = 1/9 + 1/9 + 1/9 + 1/9 + 1/9 + 1/9 + 1/9   Условие на задачата: дадени са две естествени числа p и q (q  0, p &lt; q;  p, q  N). Да се намери представяне на дробта  p/q във вида на сума:     p/q  = 1/а1 + 1/а2 +  ... + 1/аn  при което знаменателите да бъдат различни:   аi  аj ,  1  i, j  n,   i  j,   аi  2,   аj  2,   аi , аj   N</vt:lpstr>
      <vt:lpstr> Възможно е задачата да има повече от едно решение. Например:  3/7 = 1/3 + 1/11 + 1/231  3/7 = 1/4 + 1/8 + 1/19 + 1/1064  В нашия конкретен случай ще търсим произволно решение, отговарящо на условието знаменателите на намерените дроби да бъдат различни.  “Лаком” алгоритъм за решаване на задачата: на всяка стъпка поредния член в сумата да бъде максималната дроб, която може да се добави към текущата сума така, че резултатът да не надвишава p/q. Например, за p/q = 7/9 най-голямата дроб е 1/2. След това избираме дроб 1/а2 , така че:  1/2 + 1/а2  7/9, т. е. 1/а2  7/9 - 1/2   или  1/а2  5/18 Най-голямата дроб, отговаряща на това условие, е 1/4, тогава:          1/а3  7/9 - 1/2  - 1/4  = 5/18 - 1/4 = 2/72. Т. е. максималното а3 е 1/36, с което сумирането приключва  (1/2 + 1/4 + 1/36 =7/9). </vt:lpstr>
      <vt:lpstr>Описание на алгоритъма: while (p&gt;1) {    Намира се максималната дроб 1/r, ненадвишаваща p/q;    Отпечатва се дробта 1/r;    p/q = p/q - 1/r;  }  Необходимо е да уточним два момента:   - как да търсим се максималната дроб 1/r, ненадвишаваща p/q (q  0 ), т.е. минималното r , за което е изпълнено условието     1/r  p/q ,   r  2,  q  2,  Това е еквивалентно на   r  p/q .  За да намерим r , можем да извършим целочислено деление p/q и да вземем най-малкото цяло число, не по-малко от p/q :     r = (q + p) /  p  </vt:lpstr>
      <vt:lpstr>- разликата  p/q = p/q - 1/r  се пресмята чрез привеждане под общ знаменател. Така, новите стойности ще бъдат:    p = p*r - q;   q = q*r;   Възможно е, след пресмятане на разликата да се получи съкратима дроб. Това ще попречи на правилната работа на алгоритъма единствено в случая, когато се получи дроб p/q , която може да се съкрати до 1/х , т. е. q % p = = 0. В този случай, ако не се извърши съкращението, условието p &gt; 1 ще продължава да бъде изпълнено и търсенето на дроби ще продължи до безкрайност.  В приведената по-долу реализацията съкращението извършва функцията cancel(): </vt:lpstr>
      <vt:lpstr>#include &lt;iostream&gt;  void cancel (unsigned long *p, unsigned long *q)       // ако q е кратно на p, се извършва съответното съкращение  {  if (0 ==*q %* p)  {      *q /=*p;      *p=1;  } }   </vt:lpstr>
      <vt:lpstr>void solve (unsigned  long p,    unsigned  long q) {  cout&lt;&lt;p&lt;&lt;"/"&lt;&lt;q&lt;&lt;'=';  cancel(&amp;p, &amp;q);  while (p&gt;1)  {   unsigned  long r;    //търсене на МАХ дроб  1/r,  1/r&lt;=p/q        r = (p + q) / p;       cout&lt;&lt;"1/"&lt;&lt;r&lt;&lt;'+';       //изчисляване на    p/q - 1/r       p=p*r - q;       q=q*r;       cancel(&amp;p, &amp;q);  }  if (p &gt;0)   cout&lt;&lt;p&lt;&lt;'/'&lt;&lt;q;  } void main() {  solve(3,7); }</vt:lpstr>
      <vt:lpstr> Да разгледаме една такава задача, свързана с максимално съчетание на дейности:  Задача: Има  n  дисциплини, които се четат през даден семестър и искат да ползват една и съща зала (за по-лесно ще казваме -  n  лекции). Всяка лекция i се характеризира с две цели числа – началния час si и крайния час fi.  Нека те да са естествени числа и всяка лекция може да продължава повече от 2 часа.  Необходимо е максимално да натоварим залата, т. е. трябва да се изберат максимален брой лекции, така че никои две от избраните да не се провеждат в едно и също време (в даден момент t в залата може да се чете най-много една лекция i при  условия si&lt;= t &lt;= fi  и  1&lt;= i &lt;= n).  Задачата е класически пример за ефективно и правилно работещ “лаком” алгоритъм .  Нека да имаме следната конфигурация от 4 лекции:  лекциите 1 и 4 не се пресичат                                                            във времето                                                                                                                                                                                                         1 и 2, 2 и 3, 3 и 4 не могат да се                                                                   провеждат едновременно</vt:lpstr>
      <vt:lpstr>PowerPoint Presentation</vt:lpstr>
      <vt:lpstr>Алгоритъм 2:  Възможно е задачата да се реши без да се изгражда граф, като се използва динамично оптимиране. Дефинираме целева функция F, оптимизираща броя на избраните лекции за време от 7 до t ч. :   - F(t)=0, ако не съществува лекция i, за която fi &lt;t  - F(t)=max{F(si)+1} в противен случай   i=1, 2, …, n    fi &lt;t     Реализацията на алгоритъма ще изисква допълнителна памет за запомняне на междинни резултати при пресмятане на рекурентната формула. Сложността на алгоритъма е квадратична, размерът на допълнителната памет зависи линейно от n.</vt:lpstr>
      <vt:lpstr>Алгоритъм 3:  Задачата може да се реши просто и ефективно с “лаком” алгоритъм, при което се постига сложност O(n*log2n), без да се използва допълнителна памет. Сложността на алгоритъма дори е линейна, но лекциите трябва да се сортират във възходящ ред по fi, така че крайната сложност като цяло се определя от алгоритъма за сортиране.  Алгоритъм: Разглеждаме лекциите от първата към последната като ги представяме разпределени във времето така  (n=7):   1. Избира се лекция i, за която fi е      минимално (в началото винаги     се избира първата, т. к. лекциите     се сортират в нарастващ ред по fi). 2. Всички лекции j, за които sj &lt;=fi      (т.е. които се засичат с избраната)     се изключват от разглеждането.     Повтаря се стъпка 1, докато се     разгледат всички лекции.       </vt:lpstr>
      <vt:lpstr>Лекциите се сортират по fi :          “Лакомият” алгоритъм ще избере лекция 2, след което ще пропусне лекции 1 и 6, ще избере 4, ще прескочи 7, ще избере 3 и ще пропусне 5. Полуформалното описание на алгоритъма е следното:   Избира се лекция 1;  i=1; j=1;               while (j&lt;=n)           {j++; if(s[j] &gt; f[i])                {избира се лекция j; i = j;}         }</vt:lpstr>
      <vt:lpstr> Пълната реализация на алгоритъма може да се види в Преслав Наков, Панайот Добриков. Програмиране = ++Алгоритми, TopTeam Co., София, 2002.   Използването на разгледания подход дава много добри решения на такива класически задачи като:   - Минимално оцветяване на граф и дърво  - Намиране на минимално покриващо дърво за даден граф G  - Дробна задача за раницата  - Съставяне на процесорно разписание   - Кодиране на данни (код на Грей)         и много други.</vt:lpstr>
      <vt:lpstr> Вероятностни алгоритми   За разлика от детерминираните алгоритми, които дават едни и същи резултати при даден комплект входни данни, вероятностните алгоритми могат да имат различни варианти решения. Ако в един алгоритъм има случаен избор (обикновено това са различни генератори на случайни числа), тогава той се нарича вероятностен.  Съществуват различни видове вероятностни алгоритми. Най-често срещаните са генератори на случайни числа, представляващи алгоритми за формиране на поредици от случайни числа в зададен интервал при определен закон за разпределение. Всеки език за програмиране обикновено съдържа в своите стандартни библиотеки подобни програми-генератори (например, в С/С++ - rand(), random() в stdlib.h). </vt:lpstr>
      <vt:lpstr> Нека да разгледаме една примерна реализация на такъв генератор.   Най-често се използват генератори на равномерно разпределени случайни числа в интервал [0, 1] или в зададен целочислен интервал [0, M-1].   Една често използвана формула е     yi  = (a*yi-1+c) % m   където а и с са подходящо подбрани константи, yо е началната стойност, която се задава от програмиста/потребителя, а получаваните стойности y1 y2  и т. н. са поредните случайни числа в интервала [0, m]. </vt:lpstr>
      <vt:lpstr>Реализация на генератор на равномерно разпределени случайни числа:  #include &lt;iostream&gt; using namespace std; #include &lt;conio.h&gt; char R;  //работна променлива int m,  //горната граница на интервала     n,  //броят на числата     a, c; //константи void main () { int  y=1; //начална стойност на y   cout&lt;&lt;"\nЗадайте дължина на поредицата: ";   cin&gt;&gt;n;   cout&lt;&lt;"\nЗадайте m:";   cin&gt;&gt;m;   cout&lt;&lt;"\nКонстанта a:"; cin&gt;&gt;a;   cout&lt;&lt;"\nКонстанта c:"; cin&gt;&gt;c;   cout&lt;&lt;"\ny=1. Искате ли друга стойност на y (Y/N)?";   cin&gt;&gt;R;   if (R=='y'||R=='Y')      { cout&lt;&lt;"\nY="; cin&gt;&gt;y;}   for (int i=0; i&lt;n; i++)     { y=(a*y+c)%m; cout&lt;&lt;"\nrandom["&lt;&lt;i&lt;&lt;"]="&lt;&lt;y;} } Получените числа са псевдослучайни.</vt:lpstr>
      <vt:lpstr>Видове вероятностни алгоритми:  - Числени вероятностни алгоритми - Алгоритми Монте Карло - Алгоритми Лас Вегас - Алгоритми Шеруд  1. Числен вероятностен алгоритъм за определяне на ¶  Лицето S на окръжност с радиус r може да се намери по формулата  S= *r2. Отношението на лицето на окръжността към лицето на квадрата със страна 2r (в който може да се впише окръжността) е *r2 / (2r)2.  Вероятността р произволна точка, намираща се  в квадрата, да бъде същевременно в окръжността, също е равна на *r2 / (2r)2. </vt:lpstr>
      <vt:lpstr> Да пресметнем тази вероятност емпирично: ще изберем t произволни точки в квадрата и ще проверим, колко от тях се намират и в окръжността (една точка е в окръжността, ако разстоянието от нея до центъра е по-малко от радиуса на окръжността). Полученият брой k, разделен на t, дава приближение на вероятността р. Оттук следва:                                                  или           Вижда се, че приближената стойност на   ще зависи от отношението на броя на точките, попаднали в окръжността, към броя на проведените тестове t. Точността ще бъде толкова по-голяма, колкото е по-голямо t  и по-малко r (при по-малко r точността при деление ще бъде по-голяма, а при голям брой тестове t ще разполагаме с по-голяма статистическа извадка). Поради това, за радиуса r ще изберем голямо число, така че r2 да се побира в  типа long:</vt:lpstr>
      <vt:lpstr>//Числен вероятностен алгоритъм за изчисляване на числото PI: #include &lt;iostream&gt; using namespace std; #include &lt;stdlib.h&gt; #include &lt;math.h&gt;   // за sqrt( ) void main() {  long t=1000000;  // брой тестове  long r=200;      //радиус на окръжността  long r2=r/2;  long k=0, i;    for (i=0; i&lt;t; i++)  {   long a=(rand() % r) - r2 + 1;   long b=(rand() % r) - r2 + 1;   if (sqrt (a*a + b*b) &lt;= r2)  k++;  }  cout&lt;&lt;" PI = "&lt;&lt; (4.0*k)/t; }       За  t = 10 000     PI = 3.146,                           за  t = 100 000     PI = 3.14268,                                      за  t = 1 000 000      PI = 3.1447  </vt:lpstr>
      <vt:lpstr>2. Алгоритми Монте Карло    Алгоритмите Монте Карло винаги "претендират", че са намерили решение на задачата. Понякога обаче, това решение се оказва невярно (в частност, ако разглеждаме оптимизационна задача, възможно е намереното от алгоритъма решение да бъде близко до оптималното, но все пак да съществува по-добро от него).  По-подробното описание на подхода може да се намери в Преслав Наков, Панайот Добриков. Програмиране = ++Алгоритми, TopTeam Co., София, 2002 и в Стойчо Стойчев, Синтез и анализ на алгоритми, “БПС”, София, 2003. </vt:lpstr>
      <vt:lpstr> Нека да разгледаме един класически пример за приложение на алгоритъма Монте Карло - проверка, дали дадено число n е просто. Ако изберем k естествени числа p1, p2, …, pk  (2 &lt;= pi &lt;=  n) и n се дели на някое от тях, следва, че n не е просто (съставно). Така получихме един съвсем прост алгоритъм Монте Карло:  Алгоритъм Монте Карло 1:   for (i=1, …, k)      if (n % (random(sqrt(n))+2)==0)   {return n_е_съставно;}       return n_е_просто;  Ако n във фрагмента е съставно, резултатът със сигурност ще е правилен. Ако n е просто, резултатът ще е верен с определена вероятност, която може да бъде пресметната [Преслав Наков, Панайот Добриков. Програмиране = ++Алгоритми, TopTeam Co., София, 2002 ]. </vt:lpstr>
      <vt:lpstr> Описаният алгоритъм е първата проста илюстрация на метода Монте Карло. По-долу ще бъдат разгледани още два (значително по-ефективни) алгоритъма за решаване на същата задача.   Първият от тях е следствие на малката теорема на Ферма:  Теорема на Ферма.   Нека n е просто число. Тогава an-1 % n = 1 за всяко a = 1,2,…, n-1.   Теоремата дава следния практически резултат: Ако за дадено естествено число n намерено естествено число a (1&lt;a&lt;n), такова че an-1 % n &lt;&gt; 1, то следва, че n е съставно. </vt:lpstr>
      <vt:lpstr>Алгоритъм Монте Карло 2:  for (i=1, 2, … k) //k опита    {      а=random(n-1) + 1;      if (an-1 % n != 1)   {return n_е_съставно;}    }       return n_е_просто;  Тук отново не можем директно да определим вероятност p, за която Алгоритъм 2 дава правилно решение.    Следва третия алгоритъм, чиято правилност може да бъде определена. Той е един от примерите за това, колко полезни и ефективни могат да бъдат алгоритмите Монте Карло. </vt:lpstr>
      <vt:lpstr> Нека е дадено естествено число n&gt;4. Да го представим във вида 2s * t - 1, където s и t са естествени числа, s&gt;0, t е нечетно. Дадено е още едно естествено число a, 1&lt;a&lt;n-1. Числото n се нарича строго случайно при основа а, ако at % n = 1 или съществува естествено число i (0&lt;=i&lt;s) такова, че а2i % n = n-1   Теорема. Ако при произволна фиксирана база a (1&lt;a&lt;n-1) n не е строго случайно число, то n е съставно. В противен случай n е просто с вероятност, по-висока от 0.75.   Алгоритъм Монте Карло 3: for (i=1, 2, … k) //k опита    {      а=random(n-3) + 2;      if (n не е строго случайно при база а)   {return n_е_съставно;}    }       return n_е_просто; </vt:lpstr>
      <vt:lpstr> Теоремата твърди, че вероятността за намиране на правилното решение е поне 0,75. Така, ако изпълним Алгоритъм 3 за k=4 (т.е. повторим основния опит 4 пъти), ще получим резултат за n с вероятност над 99%. Това превръща алгоритъма в изключително мощно средство за проверка и търсене на прости числа - с него може да се провери, дали едно число, с повече от 1000 цифри е просто, като вероятността  за грешка е по-ниска от 10-100 .  За реализацията на Алгоритъм 3 трябва да се извърши проверка, дали n е строго случайно при произволно избрана база a. Това става по следния начин:   - Намираме числата s и t:  s=1; t=n-1; while (t % 2 !=1)  {s++; t/=2;} </vt:lpstr>
      <vt:lpstr> - Проверяваме, дали at % n = 1:  x=power(a, t) % n; if (x==1) return (n_е_строго_случайно);  - Проверяваме, дали съществува i (0&lt;=i&lt;s), за което  а2i % n = n-1:  for (i=1, 2, … k)     {      if (n-1==x)      return(n_е_строго_случайно);      x=x*x%n;    } return (n_е_съставно);   </vt:lpstr>
      <vt:lpstr>Следва програма, която определя по метода Монте Карло (Алгоритъм 3), дали дадено цяло число n е просто или съставно:   #include &lt;stdlib.h&gt;  //rand() #include &lt;iostream&gt; #include &lt;conio.h&gt;  const unsigned k=10; unsigned long bigmod (unsigned long a,       unsigned long t ,unsigned long n)  {return (t==1)?(a%n):(bigmod(a,t-1,n)* (a%n))%n;}   </vt:lpstr>
      <vt:lpstr>char strongRandom(unsigned long n, unsigned long a) {    unsigned long s=1, t=n-1, x, i;    if(n&lt;2) return 0;    //частен случай    if (n==2) return 1;     while (t%2!=1)   //стъпка 1      { s++; t/=2;}    x=bigmod(a,t,n);  //стъпка 2    if (x==1) return 1;    for (i=0; i&lt;s; i++)  //стъпка 3     {      if (x==n-1) return 1;      x=x*x%n;     }    return 0; }</vt:lpstr>
      <vt:lpstr>char isPrime (unsigned long n) {   unsigned long i;   for (i=1; i&lt;k; i++)     {       int a = rand() % (n-3) + 2;       if (!strongRandom(n, a)) return 0;     }   return 1; } void main() {   unsigned long num;   char c;   do   {     cout&lt;&lt;"\nInput n:";     cin&gt;&gt;num;     cout&lt;&lt;"\nЧислото"&lt;&lt;num;     if(isPrime(num))  cout&lt;&lt;" e просто";       else cout&lt;&lt;" е съставно";     cout&lt;&lt;"\nДруго n (Y/N):";     cin&gt;&gt;c;   }   while (c=='Y'||c=='y'); } </vt:lpstr>
      <vt:lpstr>3. Алгоритми Лас Вегас  Алгоритмите Лас Вегас не винаги намират решение, но когато намерят такова, то със сигурност е вярно (съответно ще е оптималното, ако разглеждаме оптимизационна задача).  Пример: Задачата за 8-те царици  А) Детерминиран алгоритъм с връщане      </vt:lpstr>
      <vt:lpstr>Б) Вероятностен алгоритъм Лас Вегас: знаейки, кои полета не са заети в даден момент, с генератор на случайни числа се избира едно от тях, след което този избор продължава, докато се намери решение или пък докато се достигне до ситуация, когато решение още не е намерено, но разполагането на следващата царица не е възможно. Тогава действията се повтарят отначало. </vt:lpstr>
      <vt:lpstr>Алгоритми на Шеруд  (Sherwood algorithms)</vt:lpstr>
      <vt:lpstr>Вероятностен алгоритъм за Бързо сортиране (Randomized QuickSort)</vt:lpstr>
      <vt:lpstr>Идея на QuickSort:</vt:lpstr>
      <vt:lpstr>Функция “Деление”</vt:lpstr>
      <vt:lpstr>Сложност на QuickSort </vt:lpstr>
      <vt:lpstr>Сложност на QuickSort </vt:lpstr>
      <vt:lpstr>Рандомизирана версия на QuickSort</vt:lpstr>
      <vt:lpstr>  Генетични алгоритми   Генетичните алгоритми представляват метод за търсене с налучкване, при който основната идея е да се симулират генетичните и еволюционните процеси в природата. Така, за дадена оптимизационна задача, първоначално се построяват няколко произволни неоптимални решения. Най-сполучливите от тях се запазват и на тяхната база се построяват нови с надеждата, че те ще бъдат още по-добри. Неоптималните и безперспективни решения се изолират от по-нататъшно разглеждане. Очевидна е аналогия  с процеса на еволюция на видовете в природата (“оцеляване на най-доброто”). </vt:lpstr>
      <vt:lpstr>Примерна блокова схема на генетичен алгоритъм             </vt:lpstr>
      <vt:lpstr>Ще разгледаме как се прилага този метод в добре известната задача за търговския пътник:   Даден е тегловен граф G(V,E) със стойности на ребрата реални (положителни и отрицателни) числа. Необходимо е да се намери Хамилтонов цикъл с минимална дължина.  (Задачата е NP-пълна, т. е. се решава с пълно изчерпване на вариантите: за да бъде намерен оптималния цикъл, трябва да се създадат и проверят n! Хамилтонови цикъла. )   Множеството от кандидатите за решения, които генетичния алгоритъм обработва на всяка стъпка, се нарича популация.  В началото построяваме списък Р={H1, H2, …, Hq} от q произволни Хамилтонови цикли. Те ще представляват началната популация и ще послужат за основа за по-нататъшната “еволюция”. Хамилтоновите цикли ще запазваме като пермутация от числата от 1 до n, показваща реда, в който се посещават върховете:</vt:lpstr>
      <vt:lpstr>     Нека n=5:       Няколко произволни Хамилтонови цикли в него: 1-2-3-4-5 с цена 25 3-4-5-1-2 с цена 49 5-3-1-4-2 с цена 35  Процесът на “репродукция” при генетичните алгоритми се извършва по следния начин: на всяка стъпка се избира подмножество на текущата популация (родители) и така избраните елементи се комбинират и формират нова група елементи (наследници или поколение).     </vt:lpstr>
      <vt:lpstr> Тъй като популацията е ограничена по размер, новополучените елементи ще заменят част от участващите в нея. За целта е необходимо да дефинираме целева функция, на базата на която ще сравняваме елементите и ще отхвърляме “лошите”.  В задачата на всяка стъпка ще избираме за родители половината от циклите в Р (тези с най-малката дължина), след което ще ги комбинираме по двойки. Така от всеки два цикъла, принадлежащи на P - Hi = (i1, i2, …, in) и Hj = (j1, j2, …, jn) ще се получат два нови: избираме произволни позиции k и r ( k&lt;r) и двата нови цикъла (наследници) ще бъдат: (i1, …, iк-1, jк, …, jr, ir+1,…, in) и (j1, …, jк-1,iк, …, ir, jr+1,…, jn).  Така например, цикълът 2-3-1-4-5,  комбиниран с 5-1-3-4-2 за  k=2 и r=4 дава като резултат 2-1-3-4-5 (с цена54)   и 5-3-1-4-2 (35). Аналогично 1-2-3-4-5,   комбиниран с 1-3-5-4-2 за  k=2 и r=3   дава 1-3-5-4-5 (?) и 1-2-3-4-2 (?).</vt:lpstr>
      <vt:lpstr> От примера се вижда, че в някои случаи се получават повтарящи се (и съответно - липсващи) върхове. В такъв случай повтарящ се елемент се замества с липсващия. Новополучените наследници се добавят към популацията Р, след което от нея се изключва “лошата” половина, т. е. цикли с най-голяма дължина. Така, след известен брой стъпки, се очаква алгоритмът да построи Хамилтонов цикъл с дължина, близка до оптималната.   При работа с генетичния алгоритъм се забелязват някои негативни ефекти. Така, например, с многократно прилагане на основната стъпка (комбиниране на най-добрите решения) често се стига до списък P от почти идентични цикли. В този случай по-нататъшна еволюция няма да доведе до значително подобрение.  Съществуват два начина за решаване на този проблем: - да се избере по-голяма начална популация (но може да се окаже, че паметта ще е недостатъчна); - при получаване на два еднакви цикъла да променим единия, размествайки два произволни съседни върха (в генетичните алгоритми това се нарича мутация). </vt:lpstr>
      <vt:lpstr>  Като цяло задачата може да бъде реализирана чрез следните функции: - initGraph() - за генериране на произволен граф с n върха; - randomCycle() - за генериране на произволен Хамилтонов цикъл; - evaluate() - целева функция, която оценява даден Хамилтонов цикъл (сумира стойностите на ребрата); - combine() - от два избрани родителя получава два нови наследника;  - mutate() - проверява, дали има съвпадащи елементи в текущата популация и в случай че има, променя единия от тях, като разменя два произволни върха в Хамилтоновия цикъл; - reproduce() - основна функция. Тя сортира елементи на популацията и определя родителите, както и елементите, които да бъдат отстранени.   Реализацията на алгоритъма - в Преслав Наков, Панайот Добриков. Програмиране = ++Алгоритми, TopTeam Co., София, 2002 </vt:lpstr>
      <vt:lpstr> Генерирането на нови решения (Стъпка 2 или combine() ) може да става по различни начини.  А) от две пермутации-родители се получават две нови решения;  Б) от две пермутации-родители се получава едно ново решение;  например, цикълът 2-3-1-4-5, комбиниран с 5-1-3-4-2 за случайно избрано  k=3, при заместване на елементите в първия с k+1, …, n от втория дава като резултат 2-3-1-4-2. Ако се получи повторение на номер на възел в цикъла, той се замества с липсващия.  В) от всяка пермутация родител се получава нова пермутация (наследник) чрез случаен избор на участък от цикъла, който след това се инвертира; например от 5-1-3-4-2 при  k=2 и r=3 се получава 5-4-3-1-2. Този начин съответства на еднополовото размножаване на организмите.       Д.Фогел е предложил, описал, реализирал и експериментално изследвал този алгоритъм за граф със 100 възела, използвайки   подхода В) за Стъпка 2. (С.Стойчев, Синтез и анализ на алгоритми, Издателство “БПС”, София, 2003)</vt:lpstr>
    </vt:vector>
  </TitlesOfParts>
  <Company>TU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Вероятностни алгоритми  За разлика от детерминираните алгоритми, които дават едни и същи резултати при даден комплект входни данни, вероятностните алгоритми могат да имат различни варианти решения. Ако в един алгоритъм има случаен избор (обикновено това са различни генератори на случайни числа), тогава той се нарича вероятностен.  Съществуват различни видове вероятностни алгоритми. Най-често срещаните са генератори на случайни числа, представляващи алгоритми за формиране на поредици от случайни числа в зададен интервал при определен закон за разпределение. Всеки език за програмиране обикновено съдържа в своите стандартни библиотеки подобни програми-генератори (например, в С/С++ - rand(), random() в stdlib.h). Но нека да разгледаме една примерна реализация на такъв генератор.</dc:title>
  <dc:creator>TU - Varna</dc:creator>
  <cp:lastModifiedBy>Елена Рачева</cp:lastModifiedBy>
  <cp:revision>118</cp:revision>
  <dcterms:created xsi:type="dcterms:W3CDTF">2003-11-17T08:47:38Z</dcterms:created>
  <dcterms:modified xsi:type="dcterms:W3CDTF">2020-02-11T16:06:11Z</dcterms:modified>
</cp:coreProperties>
</file>
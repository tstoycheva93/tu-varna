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xls" ContentType="application/vnd.ms-excel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58"/>
  </p:notesMasterIdLst>
  <p:sldIdLst>
    <p:sldId id="301" r:id="rId2"/>
    <p:sldId id="302" r:id="rId3"/>
    <p:sldId id="303" r:id="rId4"/>
    <p:sldId id="304" r:id="rId5"/>
    <p:sldId id="305" r:id="rId6"/>
    <p:sldId id="306" r:id="rId7"/>
    <p:sldId id="331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29" r:id="rId18"/>
    <p:sldId id="350" r:id="rId19"/>
    <p:sldId id="316" r:id="rId20"/>
    <p:sldId id="317" r:id="rId21"/>
    <p:sldId id="318" r:id="rId22"/>
    <p:sldId id="319" r:id="rId23"/>
    <p:sldId id="320" r:id="rId24"/>
    <p:sldId id="327" r:id="rId25"/>
    <p:sldId id="321" r:id="rId26"/>
    <p:sldId id="322" r:id="rId27"/>
    <p:sldId id="323" r:id="rId28"/>
    <p:sldId id="330" r:id="rId29"/>
    <p:sldId id="324" r:id="rId30"/>
    <p:sldId id="360" r:id="rId31"/>
    <p:sldId id="358" r:id="rId32"/>
    <p:sldId id="361" r:id="rId33"/>
    <p:sldId id="362" r:id="rId34"/>
    <p:sldId id="333" r:id="rId35"/>
    <p:sldId id="334" r:id="rId36"/>
    <p:sldId id="335" r:id="rId37"/>
    <p:sldId id="351" r:id="rId38"/>
    <p:sldId id="336" r:id="rId39"/>
    <p:sldId id="337" r:id="rId40"/>
    <p:sldId id="338" r:id="rId41"/>
    <p:sldId id="357" r:id="rId42"/>
    <p:sldId id="339" r:id="rId43"/>
    <p:sldId id="340" r:id="rId44"/>
    <p:sldId id="341" r:id="rId45"/>
    <p:sldId id="342" r:id="rId46"/>
    <p:sldId id="343" r:id="rId47"/>
    <p:sldId id="344" r:id="rId48"/>
    <p:sldId id="345" r:id="rId49"/>
    <p:sldId id="346" r:id="rId50"/>
    <p:sldId id="347" r:id="rId51"/>
    <p:sldId id="348" r:id="rId52"/>
    <p:sldId id="352" r:id="rId53"/>
    <p:sldId id="353" r:id="rId54"/>
    <p:sldId id="354" r:id="rId55"/>
    <p:sldId id="355" r:id="rId56"/>
    <p:sldId id="356" r:id="rId5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9" d="100"/>
          <a:sy n="89" d="100"/>
        </p:scale>
        <p:origin x="-691" y="2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108017D-7E82-4F8D-8805-C83D16B41416}" type="datetimeFigureOut">
              <a:rPr lang="bg-BG"/>
              <a:pPr>
                <a:defRPr/>
              </a:pPr>
              <a:t>11.2.2020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bg-BG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bg-BG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CA74CE4-9B90-47FD-BDBE-5049C6DD27FA}" type="slidenum">
              <a:rPr lang="bg-BG"/>
              <a:pPr>
                <a:defRPr/>
              </a:pPr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663579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A74CE4-9B90-47FD-BDBE-5049C6DD27FA}" type="slidenum">
              <a:rPr lang="bg-BG" smtClean="0"/>
              <a:pPr>
                <a:defRPr/>
              </a:pPr>
              <a:t>33</a:t>
            </a:fld>
            <a:endParaRPr lang="bg-BG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157288" y="13446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DF2E3DB-1130-44C4-BC55-EB2D0A9AA6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A58C70-F6AB-4B73-8CC2-3C7EBB957B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30527A9-8713-4A21-BCBA-CB71873FF5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039F1E-11BD-4E5F-89D2-6395F15A12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C52D670-3223-438A-871E-A5741B8D0F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211D8B-BD0D-4830-A215-CA3288554A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Rectangle 2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7CDD668-F114-4298-836E-BC6A80F095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5057F76-7F80-4FA7-A0C1-EFB54571E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>
            <a:extLst/>
          </a:lstStyle>
          <a:p>
            <a:pPr indent="-283464" eaLnBrk="1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3200">
              <a:latin typeface="+mn-lt"/>
            </a:endParaRPr>
          </a:p>
        </p:txBody>
      </p:sp>
      <p:sp>
        <p:nvSpPr>
          <p:cNvPr id="6" name="Flowchart: Process 5"/>
          <p:cNvSpPr/>
          <p:nvPr/>
        </p:nvSpPr>
        <p:spPr>
          <a:xfrm rot="19468671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Flowchart: Process 6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274320"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F808217-F947-47C2-BF67-BC8B11A5EC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00C9E1-CD0F-49C2-AEFA-0D18524472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1E283-3ADF-4DB0-BBEA-B05888BF40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153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100" y="1447800"/>
            <a:ext cx="749935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fld id="{4648118A-8E0B-48BF-8708-25F10487FD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29" r:id="rId2"/>
    <p:sldLayoutId id="2147483735" r:id="rId3"/>
    <p:sldLayoutId id="2147483730" r:id="rId4"/>
    <p:sldLayoutId id="2147483736" r:id="rId5"/>
    <p:sldLayoutId id="2147483731" r:id="rId6"/>
    <p:sldLayoutId id="2147483737" r:id="rId7"/>
    <p:sldLayoutId id="2147483738" r:id="rId8"/>
    <p:sldLayoutId id="2147483739" r:id="rId9"/>
    <p:sldLayoutId id="2147483732" r:id="rId10"/>
    <p:sldLayoutId id="2147483733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9pPr>
      <a:extLst/>
    </p:titleStyle>
    <p:bodyStyle>
      <a:lvl1pPr marL="365125" indent="-282575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-2003_Worksheet1.xls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-2003_Worksheet2.xls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-2003_Worksheet3.xls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-2003_Worksheet4.xls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Microsoft_Excel_97-2003_Worksheet5.xls"/><Relationship Id="rId7" Type="http://schemas.openxmlformats.org/officeDocument/2006/relationships/oleObject" Target="../embeddings/Microsoft_Excel_97-2003_Worksheet7.xls"/><Relationship Id="rId12" Type="http://schemas.openxmlformats.org/officeDocument/2006/relationships/image" Target="../media/image10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7.emf"/><Relationship Id="rId11" Type="http://schemas.openxmlformats.org/officeDocument/2006/relationships/oleObject" Target="../embeddings/Microsoft_Excel_97-2003_Worksheet9.xls"/><Relationship Id="rId5" Type="http://schemas.openxmlformats.org/officeDocument/2006/relationships/oleObject" Target="../embeddings/Microsoft_Excel_97-2003_Worksheet6.xls"/><Relationship Id="rId10" Type="http://schemas.openxmlformats.org/officeDocument/2006/relationships/image" Target="../media/image9.emf"/><Relationship Id="rId4" Type="http://schemas.openxmlformats.org/officeDocument/2006/relationships/image" Target="../media/image6.emf"/><Relationship Id="rId9" Type="http://schemas.openxmlformats.org/officeDocument/2006/relationships/oleObject" Target="../embeddings/Microsoft_Excel_97-2003_Worksheet8.xls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549275"/>
            <a:ext cx="7848600" cy="604837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tx1"/>
                </a:solidFill>
              </a:rPr>
              <a:t>	</a:t>
            </a:r>
            <a:r>
              <a:rPr lang="bg-BG" sz="2000" b="1" dirty="0">
                <a:solidFill>
                  <a:schemeClr val="tx1"/>
                </a:solidFill>
              </a:rPr>
              <a:t>        Г Р А Ф   (М Р Е Ж О В И    С Т Р У К Т У Р И)</a:t>
            </a:r>
            <a:br>
              <a:rPr lang="bg-BG" sz="2000" b="1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>	Структурата граф подобно на дървото се състои от непразно множество върхове (възли) </a:t>
            </a:r>
            <a:r>
              <a:rPr lang="bg-BG" sz="2000" b="1" dirty="0">
                <a:solidFill>
                  <a:schemeClr val="tx1"/>
                </a:solidFill>
              </a:rPr>
              <a:t>V</a:t>
            </a:r>
            <a:r>
              <a:rPr lang="bg-BG" sz="2000" dirty="0">
                <a:solidFill>
                  <a:schemeClr val="tx1"/>
                </a:solidFill>
              </a:rPr>
              <a:t> и множество дъги (ребра) </a:t>
            </a:r>
            <a:r>
              <a:rPr lang="bg-BG" sz="2000" b="1" dirty="0" smtClean="0">
                <a:solidFill>
                  <a:schemeClr val="tx1"/>
                </a:solidFill>
              </a:rPr>
              <a:t>Е</a:t>
            </a:r>
            <a:r>
              <a:rPr lang="en-US" sz="2000" smtClean="0">
                <a:solidFill>
                  <a:schemeClr val="tx1"/>
                </a:solidFill>
              </a:rPr>
              <a:t>.</a:t>
            </a:r>
            <a:r>
              <a:rPr lang="bg-BG" sz="2000" smtClean="0">
                <a:solidFill>
                  <a:schemeClr val="tx1"/>
                </a:solidFill>
              </a:rPr>
              <a:t>  </a:t>
            </a:r>
            <a:r>
              <a:rPr lang="en-US" sz="2000" dirty="0" smtClean="0">
                <a:solidFill>
                  <a:schemeClr val="tx1"/>
                </a:solidFill>
              </a:rPr>
              <a:t/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bg-BG" sz="2000" b="1" i="1" dirty="0" smtClean="0">
                <a:solidFill>
                  <a:schemeClr val="tx1"/>
                </a:solidFill>
              </a:rPr>
              <a:t>Графът</a:t>
            </a:r>
            <a:r>
              <a:rPr lang="bg-BG" sz="2000" dirty="0" smtClean="0">
                <a:solidFill>
                  <a:schemeClr val="tx1"/>
                </a:solidFill>
              </a:rPr>
              <a:t> </a:t>
            </a:r>
            <a:r>
              <a:rPr lang="bg-BG" sz="2000" dirty="0">
                <a:solidFill>
                  <a:schemeClr val="tx1"/>
                </a:solidFill>
              </a:rPr>
              <a:t>е подмножество от декартовото произведение на двете множества - </a:t>
            </a:r>
            <a:r>
              <a:rPr lang="bg-BG" sz="2000" b="1" dirty="0">
                <a:solidFill>
                  <a:schemeClr val="tx1"/>
                </a:solidFill>
              </a:rPr>
              <a:t>V</a:t>
            </a:r>
            <a:r>
              <a:rPr lang="bg-BG" sz="2000" dirty="0">
                <a:solidFill>
                  <a:schemeClr val="tx1"/>
                </a:solidFill>
              </a:rPr>
              <a:t> и </a:t>
            </a:r>
            <a:r>
              <a:rPr lang="bg-BG" sz="2000" b="1" dirty="0">
                <a:solidFill>
                  <a:schemeClr val="tx1"/>
                </a:solidFill>
              </a:rPr>
              <a:t>E</a:t>
            </a:r>
            <a:r>
              <a:rPr lang="bg-BG" sz="2000" dirty="0" smtClean="0">
                <a:solidFill>
                  <a:schemeClr val="tx1"/>
                </a:solidFill>
              </a:rPr>
              <a:t>:</a:t>
            </a:r>
            <a:r>
              <a:rPr lang="en-US" sz="2000" dirty="0" smtClean="0">
                <a:solidFill>
                  <a:schemeClr val="tx1"/>
                </a:solidFill>
              </a:rPr>
              <a:t>	</a:t>
            </a:r>
            <a:r>
              <a:rPr lang="bg-BG" sz="2000" dirty="0">
                <a:solidFill>
                  <a:schemeClr val="tx1"/>
                </a:solidFill>
              </a:rPr>
              <a:t>		      </a:t>
            </a:r>
            <a:r>
              <a:rPr lang="bg-BG" sz="2000" b="1" dirty="0">
                <a:solidFill>
                  <a:schemeClr val="tx2">
                    <a:satMod val="130000"/>
                  </a:schemeClr>
                </a:solidFill>
              </a:rPr>
              <a:t>G = {V, E}</a:t>
            </a:r>
            <a:r>
              <a:rPr lang="bg-BG" sz="2000" b="1" dirty="0">
                <a:solidFill>
                  <a:schemeClr val="tx2">
                    <a:satMod val="130000"/>
                  </a:schemeClr>
                </a:solidFill>
                <a:latin typeface="Courier New" pitchFamily="49" charset="0"/>
              </a:rPr>
              <a:t/>
            </a:r>
            <a:br>
              <a:rPr lang="bg-BG" sz="2000" b="1" dirty="0">
                <a:solidFill>
                  <a:schemeClr val="tx2">
                    <a:satMod val="130000"/>
                  </a:schemeClr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</a:rPr>
              <a:t>За разлика от дървото един в граф възможно е да има обратни връзки.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2000" dirty="0">
                <a:solidFill>
                  <a:schemeClr val="tx1"/>
                </a:solidFill>
              </a:rPr>
              <a:t>Всяка дъга се дефинира чрез двойка възли, които съединява, например </a:t>
            </a:r>
            <a:r>
              <a:rPr lang="bg-BG" sz="2000" b="1" dirty="0">
                <a:solidFill>
                  <a:schemeClr val="tx1"/>
                </a:solidFill>
              </a:rPr>
              <a:t>(А,</a:t>
            </a:r>
            <a:r>
              <a:rPr lang="en-US" sz="2000" b="1" dirty="0">
                <a:solidFill>
                  <a:schemeClr val="tx1"/>
                </a:solidFill>
              </a:rPr>
              <a:t>  </a:t>
            </a:r>
            <a:r>
              <a:rPr lang="bg-BG" sz="2000" b="1" dirty="0">
                <a:solidFill>
                  <a:schemeClr val="tx1"/>
                </a:solidFill>
              </a:rPr>
              <a:t>F)</a:t>
            </a:r>
            <a:r>
              <a:rPr lang="bg-BG" sz="2000" dirty="0">
                <a:solidFill>
                  <a:schemeClr val="tx1"/>
                </a:solidFill>
              </a:rPr>
              <a:t> или </a:t>
            </a:r>
            <a:r>
              <a:rPr lang="bg-BG" sz="2000" b="1" dirty="0">
                <a:solidFill>
                  <a:schemeClr val="tx1"/>
                </a:solidFill>
              </a:rPr>
              <a:t>(A,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bg-BG" sz="2000" b="1" dirty="0">
                <a:solidFill>
                  <a:schemeClr val="tx1"/>
                </a:solidFill>
              </a:rPr>
              <a:t>B)</a:t>
            </a:r>
            <a:r>
              <a:rPr lang="bg-BG" sz="2000" dirty="0">
                <a:solidFill>
                  <a:schemeClr val="tx1"/>
                </a:solidFill>
              </a:rPr>
              <a:t>.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2000" dirty="0">
                <a:solidFill>
                  <a:schemeClr val="tx1"/>
                </a:solidFill>
              </a:rPr>
              <a:t>Ако двойката е подредена, т.е. дъгата има посока, графът се нарича </a:t>
            </a:r>
            <a:r>
              <a:rPr lang="bg-BG" sz="2000" b="1" i="1" dirty="0">
                <a:solidFill>
                  <a:schemeClr val="tx1"/>
                </a:solidFill>
              </a:rPr>
              <a:t>насочен</a:t>
            </a:r>
            <a:r>
              <a:rPr lang="bg-BG" sz="2000" dirty="0">
                <a:solidFill>
                  <a:schemeClr val="tx1"/>
                </a:solidFill>
              </a:rPr>
              <a:t> или </a:t>
            </a:r>
            <a:r>
              <a:rPr lang="bg-BG" sz="2000" b="1" i="1" dirty="0">
                <a:solidFill>
                  <a:schemeClr val="tx1"/>
                </a:solidFill>
              </a:rPr>
              <a:t>ориентиран</a:t>
            </a:r>
            <a:r>
              <a:rPr lang="bg-BG" sz="2000" dirty="0">
                <a:solidFill>
                  <a:schemeClr val="tx1"/>
                </a:solidFill>
              </a:rPr>
              <a:t>, в противен случай графът е </a:t>
            </a:r>
            <a:r>
              <a:rPr lang="bg-BG" sz="2000" b="1" i="1" dirty="0">
                <a:solidFill>
                  <a:schemeClr val="tx1"/>
                </a:solidFill>
              </a:rPr>
              <a:t>неориентиран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:</a:t>
            </a:r>
            <a:r>
              <a:rPr lang="bg-BG" sz="27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dirty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en-US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en-US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dirty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dirty="0">
                <a:solidFill>
                  <a:schemeClr val="tx1"/>
                </a:solidFill>
                <a:latin typeface="Courier New" pitchFamily="49" charset="0"/>
              </a:rPr>
            </a:br>
            <a:endParaRPr lang="en-US" dirty="0">
              <a:solidFill>
                <a:schemeClr val="tx1"/>
              </a:solidFill>
              <a:latin typeface="Courier New" pitchFamily="49" charset="0"/>
            </a:endParaRPr>
          </a:p>
        </p:txBody>
      </p:sp>
      <p:grpSp>
        <p:nvGrpSpPr>
          <p:cNvPr id="13315" name="Group 3"/>
          <p:cNvGrpSpPr>
            <a:grpSpLocks/>
          </p:cNvGrpSpPr>
          <p:nvPr/>
        </p:nvGrpSpPr>
        <p:grpSpPr bwMode="auto">
          <a:xfrm>
            <a:off x="1835150" y="3933825"/>
            <a:ext cx="6324600" cy="2133600"/>
            <a:chOff x="1511" y="4414"/>
            <a:chExt cx="5410" cy="1730"/>
          </a:xfrm>
        </p:grpSpPr>
        <p:sp>
          <p:nvSpPr>
            <p:cNvPr id="13317" name="Oval 4"/>
            <p:cNvSpPr>
              <a:spLocks noChangeArrowheads="1"/>
            </p:cNvSpPr>
            <p:nvPr/>
          </p:nvSpPr>
          <p:spPr bwMode="auto">
            <a:xfrm>
              <a:off x="1572" y="4771"/>
              <a:ext cx="309" cy="28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18" name="Oval 5"/>
            <p:cNvSpPr>
              <a:spLocks noChangeArrowheads="1"/>
            </p:cNvSpPr>
            <p:nvPr/>
          </p:nvSpPr>
          <p:spPr bwMode="auto">
            <a:xfrm>
              <a:off x="1574" y="5261"/>
              <a:ext cx="309" cy="28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19" name="Oval 6"/>
            <p:cNvSpPr>
              <a:spLocks noChangeArrowheads="1"/>
            </p:cNvSpPr>
            <p:nvPr/>
          </p:nvSpPr>
          <p:spPr bwMode="auto">
            <a:xfrm>
              <a:off x="2746" y="5207"/>
              <a:ext cx="309" cy="28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20" name="Oval 7"/>
            <p:cNvSpPr>
              <a:spLocks noChangeArrowheads="1"/>
            </p:cNvSpPr>
            <p:nvPr/>
          </p:nvSpPr>
          <p:spPr bwMode="auto">
            <a:xfrm>
              <a:off x="2194" y="5828"/>
              <a:ext cx="309" cy="28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21" name="Oval 8"/>
            <p:cNvSpPr>
              <a:spLocks noChangeArrowheads="1"/>
            </p:cNvSpPr>
            <p:nvPr/>
          </p:nvSpPr>
          <p:spPr bwMode="auto">
            <a:xfrm>
              <a:off x="2636" y="4791"/>
              <a:ext cx="309" cy="28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22" name="Arc 9"/>
            <p:cNvSpPr>
              <a:spLocks/>
            </p:cNvSpPr>
            <p:nvPr/>
          </p:nvSpPr>
          <p:spPr bwMode="auto">
            <a:xfrm flipH="1">
              <a:off x="1782" y="4536"/>
              <a:ext cx="463" cy="25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23" name="Arc 10"/>
            <p:cNvSpPr>
              <a:spLocks/>
            </p:cNvSpPr>
            <p:nvPr/>
          </p:nvSpPr>
          <p:spPr bwMode="auto">
            <a:xfrm>
              <a:off x="2188" y="4536"/>
              <a:ext cx="589" cy="25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24" name="Arc 11"/>
            <p:cNvSpPr>
              <a:spLocks/>
            </p:cNvSpPr>
            <p:nvPr/>
          </p:nvSpPr>
          <p:spPr bwMode="auto">
            <a:xfrm flipH="1" flipV="1">
              <a:off x="1684" y="5537"/>
              <a:ext cx="505" cy="40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25" name="Line 12"/>
            <p:cNvSpPr>
              <a:spLocks noChangeShapeType="1"/>
            </p:cNvSpPr>
            <p:nvPr/>
          </p:nvSpPr>
          <p:spPr bwMode="auto">
            <a:xfrm flipV="1">
              <a:off x="1894" y="5009"/>
              <a:ext cx="757" cy="39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26" name="Line 13"/>
            <p:cNvSpPr>
              <a:spLocks noChangeShapeType="1"/>
            </p:cNvSpPr>
            <p:nvPr/>
          </p:nvSpPr>
          <p:spPr bwMode="auto">
            <a:xfrm flipV="1">
              <a:off x="2440" y="5481"/>
              <a:ext cx="351" cy="36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27" name="Oval 14"/>
            <p:cNvSpPr>
              <a:spLocks noChangeArrowheads="1"/>
            </p:cNvSpPr>
            <p:nvPr/>
          </p:nvSpPr>
          <p:spPr bwMode="auto">
            <a:xfrm>
              <a:off x="4255" y="4500"/>
              <a:ext cx="309" cy="28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28" name="Oval 15"/>
            <p:cNvSpPr>
              <a:spLocks noChangeArrowheads="1"/>
            </p:cNvSpPr>
            <p:nvPr/>
          </p:nvSpPr>
          <p:spPr bwMode="auto">
            <a:xfrm>
              <a:off x="5843" y="4464"/>
              <a:ext cx="309" cy="28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29" name="Oval 16"/>
            <p:cNvSpPr>
              <a:spLocks noChangeArrowheads="1"/>
            </p:cNvSpPr>
            <p:nvPr/>
          </p:nvSpPr>
          <p:spPr bwMode="auto">
            <a:xfrm>
              <a:off x="5047" y="5044"/>
              <a:ext cx="309" cy="323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30" name="Oval 17"/>
            <p:cNvSpPr>
              <a:spLocks noChangeArrowheads="1"/>
            </p:cNvSpPr>
            <p:nvPr/>
          </p:nvSpPr>
          <p:spPr bwMode="auto">
            <a:xfrm>
              <a:off x="4241" y="5604"/>
              <a:ext cx="309" cy="28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31" name="Oval 18"/>
            <p:cNvSpPr>
              <a:spLocks noChangeArrowheads="1"/>
            </p:cNvSpPr>
            <p:nvPr/>
          </p:nvSpPr>
          <p:spPr bwMode="auto">
            <a:xfrm>
              <a:off x="6441" y="5632"/>
              <a:ext cx="309" cy="272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32" name="Line 19"/>
            <p:cNvSpPr>
              <a:spLocks noChangeShapeType="1"/>
            </p:cNvSpPr>
            <p:nvPr/>
          </p:nvSpPr>
          <p:spPr bwMode="auto">
            <a:xfrm>
              <a:off x="4577" y="4626"/>
              <a:ext cx="123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33" name="Line 20"/>
            <p:cNvSpPr>
              <a:spLocks noChangeShapeType="1"/>
            </p:cNvSpPr>
            <p:nvPr/>
          </p:nvSpPr>
          <p:spPr bwMode="auto">
            <a:xfrm flipV="1">
              <a:off x="4548" y="5314"/>
              <a:ext cx="533" cy="3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34" name="Line 21"/>
            <p:cNvSpPr>
              <a:spLocks noChangeShapeType="1"/>
            </p:cNvSpPr>
            <p:nvPr/>
          </p:nvSpPr>
          <p:spPr bwMode="auto">
            <a:xfrm>
              <a:off x="4527" y="5824"/>
              <a:ext cx="19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35" name="Line 22"/>
            <p:cNvSpPr>
              <a:spLocks noChangeShapeType="1"/>
            </p:cNvSpPr>
            <p:nvPr/>
          </p:nvSpPr>
          <p:spPr bwMode="auto">
            <a:xfrm>
              <a:off x="6031" y="4754"/>
              <a:ext cx="547" cy="85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36" name="Line 23"/>
            <p:cNvSpPr>
              <a:spLocks noChangeShapeType="1"/>
            </p:cNvSpPr>
            <p:nvPr/>
          </p:nvSpPr>
          <p:spPr bwMode="auto">
            <a:xfrm>
              <a:off x="4390" y="4804"/>
              <a:ext cx="1" cy="7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37" name="Line 24"/>
            <p:cNvSpPr>
              <a:spLocks noChangeShapeType="1"/>
            </p:cNvSpPr>
            <p:nvPr/>
          </p:nvSpPr>
          <p:spPr bwMode="auto">
            <a:xfrm flipV="1">
              <a:off x="5305" y="4724"/>
              <a:ext cx="561" cy="3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38" name="Line 25"/>
            <p:cNvSpPr>
              <a:spLocks noChangeShapeType="1"/>
            </p:cNvSpPr>
            <p:nvPr/>
          </p:nvSpPr>
          <p:spPr bwMode="auto">
            <a:xfrm>
              <a:off x="1880" y="4969"/>
              <a:ext cx="841" cy="4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39" name="Text Box 26"/>
            <p:cNvSpPr txBox="1">
              <a:spLocks noChangeArrowheads="1"/>
            </p:cNvSpPr>
            <p:nvPr/>
          </p:nvSpPr>
          <p:spPr bwMode="auto">
            <a:xfrm>
              <a:off x="4211" y="4444"/>
              <a:ext cx="54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A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3340" name="Text Box 27"/>
            <p:cNvSpPr txBox="1">
              <a:spLocks noChangeArrowheads="1"/>
            </p:cNvSpPr>
            <p:nvPr/>
          </p:nvSpPr>
          <p:spPr bwMode="auto">
            <a:xfrm>
              <a:off x="5791" y="4414"/>
              <a:ext cx="54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B</a:t>
              </a:r>
            </a:p>
          </p:txBody>
        </p:sp>
        <p:sp>
          <p:nvSpPr>
            <p:cNvPr id="13341" name="Text Box 28"/>
            <p:cNvSpPr txBox="1">
              <a:spLocks noChangeArrowheads="1"/>
            </p:cNvSpPr>
            <p:nvPr/>
          </p:nvSpPr>
          <p:spPr bwMode="auto">
            <a:xfrm>
              <a:off x="1521" y="4724"/>
              <a:ext cx="54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800" b="1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A</a:t>
              </a:r>
              <a:endParaRPr lang="en-US" sz="2000" b="1">
                <a:latin typeface="Courier New" pitchFamily="49" charset="0"/>
              </a:endParaRPr>
            </a:p>
          </p:txBody>
        </p:sp>
        <p:sp>
          <p:nvSpPr>
            <p:cNvPr id="13342" name="Text Box 29"/>
            <p:cNvSpPr txBox="1">
              <a:spLocks noChangeArrowheads="1"/>
            </p:cNvSpPr>
            <p:nvPr/>
          </p:nvSpPr>
          <p:spPr bwMode="auto">
            <a:xfrm>
              <a:off x="4191" y="5564"/>
              <a:ext cx="54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D</a:t>
              </a:r>
            </a:p>
          </p:txBody>
        </p:sp>
        <p:sp>
          <p:nvSpPr>
            <p:cNvPr id="13343" name="Text Box 30"/>
            <p:cNvSpPr txBox="1">
              <a:spLocks noChangeArrowheads="1"/>
            </p:cNvSpPr>
            <p:nvPr/>
          </p:nvSpPr>
          <p:spPr bwMode="auto">
            <a:xfrm>
              <a:off x="2591" y="4744"/>
              <a:ext cx="54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800" b="1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B</a:t>
              </a:r>
              <a:endParaRPr lang="en-US" sz="1600" b="1">
                <a:latin typeface="Courier New" pitchFamily="49" charset="0"/>
              </a:endParaRPr>
            </a:p>
          </p:txBody>
        </p:sp>
        <p:sp>
          <p:nvSpPr>
            <p:cNvPr id="13344" name="Text Box 31"/>
            <p:cNvSpPr txBox="1">
              <a:spLocks noChangeArrowheads="1"/>
            </p:cNvSpPr>
            <p:nvPr/>
          </p:nvSpPr>
          <p:spPr bwMode="auto">
            <a:xfrm>
              <a:off x="4991" y="5024"/>
              <a:ext cx="54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C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3345" name="Text Box 32"/>
            <p:cNvSpPr txBox="1">
              <a:spLocks noChangeArrowheads="1"/>
            </p:cNvSpPr>
            <p:nvPr/>
          </p:nvSpPr>
          <p:spPr bwMode="auto">
            <a:xfrm>
              <a:off x="1511" y="5224"/>
              <a:ext cx="54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800" b="1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C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3346" name="Text Box 33"/>
            <p:cNvSpPr txBox="1">
              <a:spLocks noChangeArrowheads="1"/>
            </p:cNvSpPr>
            <p:nvPr/>
          </p:nvSpPr>
          <p:spPr bwMode="auto">
            <a:xfrm>
              <a:off x="2701" y="5164"/>
              <a:ext cx="54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800" b="1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D</a:t>
              </a:r>
              <a:endParaRPr lang="bg-BG" sz="1000">
                <a:latin typeface="Courier New" pitchFamily="49" charset="0"/>
              </a:endParaRPr>
            </a:p>
          </p:txBody>
        </p:sp>
        <p:sp>
          <p:nvSpPr>
            <p:cNvPr id="13347" name="Text Box 34"/>
            <p:cNvSpPr txBox="1">
              <a:spLocks noChangeArrowheads="1"/>
            </p:cNvSpPr>
            <p:nvPr/>
          </p:nvSpPr>
          <p:spPr bwMode="auto">
            <a:xfrm>
              <a:off x="6381" y="5584"/>
              <a:ext cx="54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E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3348" name="Text Box 35"/>
            <p:cNvSpPr txBox="1">
              <a:spLocks noChangeArrowheads="1"/>
            </p:cNvSpPr>
            <p:nvPr/>
          </p:nvSpPr>
          <p:spPr bwMode="auto">
            <a:xfrm>
              <a:off x="2131" y="5784"/>
              <a:ext cx="54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E</a:t>
              </a:r>
              <a:endParaRPr lang="bg-BG" sz="1000">
                <a:latin typeface="Courier New" pitchFamily="49" charset="0"/>
              </a:endParaRPr>
            </a:p>
          </p:txBody>
        </p:sp>
      </p:grp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22694E-161A-4D1F-9121-7B03570D483A}" type="slidenum">
              <a:rPr lang="en-US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692150"/>
            <a:ext cx="7920037" cy="59309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000">
                <a:solidFill>
                  <a:schemeClr val="tx1"/>
                </a:solidFill>
              </a:rPr>
              <a:t>	Една дъга </a:t>
            </a:r>
            <a:r>
              <a:rPr lang="bg-BG" sz="2000" b="1">
                <a:solidFill>
                  <a:schemeClr val="tx1"/>
                </a:solidFill>
              </a:rPr>
              <a:t>Х</a:t>
            </a:r>
            <a:r>
              <a:rPr lang="bg-BG" sz="2000">
                <a:solidFill>
                  <a:schemeClr val="tx1"/>
                </a:solidFill>
              </a:rPr>
              <a:t>, която се описва като </a:t>
            </a:r>
            <a:r>
              <a:rPr lang="bg-BG" sz="2000" b="1">
                <a:solidFill>
                  <a:schemeClr val="tx1"/>
                </a:solidFill>
              </a:rPr>
              <a:t>X = (A,В)</a:t>
            </a:r>
            <a:r>
              <a:rPr lang="bg-BG" sz="2000">
                <a:solidFill>
                  <a:schemeClr val="tx1"/>
                </a:solidFill>
              </a:rPr>
              <a:t>, се нарича </a:t>
            </a:r>
            <a:r>
              <a:rPr lang="bg-BG" sz="2000" b="1" i="1">
                <a:solidFill>
                  <a:schemeClr val="tx1"/>
                </a:solidFill>
              </a:rPr>
              <a:t>инцидентна</a:t>
            </a:r>
            <a:r>
              <a:rPr lang="bg-BG" sz="2000">
                <a:solidFill>
                  <a:schemeClr val="tx1"/>
                </a:solidFill>
              </a:rPr>
              <a:t> с върховете </a:t>
            </a:r>
            <a:r>
              <a:rPr lang="bg-BG" sz="2000" b="1">
                <a:solidFill>
                  <a:schemeClr val="tx1"/>
                </a:solidFill>
              </a:rPr>
              <a:t>A</a:t>
            </a:r>
            <a:r>
              <a:rPr lang="bg-BG" sz="2000">
                <a:solidFill>
                  <a:schemeClr val="tx1"/>
                </a:solidFill>
              </a:rPr>
              <a:t> и </a:t>
            </a:r>
            <a:r>
              <a:rPr lang="bg-BG" sz="2000" b="1">
                <a:solidFill>
                  <a:schemeClr val="tx1"/>
                </a:solidFill>
              </a:rPr>
              <a:t>В</a:t>
            </a:r>
            <a:r>
              <a:rPr lang="bg-BG" sz="2000">
                <a:solidFill>
                  <a:schemeClr val="tx1"/>
                </a:solidFill>
              </a:rPr>
              <a:t>, т.е. върховете, които съединява или от които влиза и излиза. Върховете </a:t>
            </a:r>
            <a:r>
              <a:rPr lang="bg-BG" sz="2000" b="1">
                <a:solidFill>
                  <a:schemeClr val="tx1"/>
                </a:solidFill>
              </a:rPr>
              <a:t>A</a:t>
            </a:r>
            <a:r>
              <a:rPr lang="bg-BG" sz="2000">
                <a:solidFill>
                  <a:schemeClr val="tx1"/>
                </a:solidFill>
              </a:rPr>
              <a:t> се </a:t>
            </a:r>
            <a:r>
              <a:rPr lang="bg-BG" sz="2000" b="1">
                <a:solidFill>
                  <a:schemeClr val="tx1"/>
                </a:solidFill>
              </a:rPr>
              <a:t>В</a:t>
            </a:r>
            <a:r>
              <a:rPr lang="bg-BG" sz="2000">
                <a:solidFill>
                  <a:schemeClr val="tx1"/>
                </a:solidFill>
              </a:rPr>
              <a:t>, свързани с една дъга, наричат </a:t>
            </a:r>
            <a:r>
              <a:rPr lang="bg-BG" sz="2000" b="1" i="1">
                <a:solidFill>
                  <a:schemeClr val="tx1"/>
                </a:solidFill>
              </a:rPr>
              <a:t>съседни</a:t>
            </a:r>
            <a:r>
              <a:rPr lang="bg-BG" sz="2000">
                <a:solidFill>
                  <a:schemeClr val="tx1"/>
                </a:solidFill>
              </a:rPr>
              <a:t>. Две и повече дъги, излизащи от един връх, например </a:t>
            </a:r>
            <a:r>
              <a:rPr lang="bg-BG" sz="2000" b="1">
                <a:solidFill>
                  <a:schemeClr val="tx1"/>
                </a:solidFill>
              </a:rPr>
              <a:t>(A,B)</a:t>
            </a:r>
            <a:r>
              <a:rPr lang="bg-BG" sz="2000">
                <a:solidFill>
                  <a:schemeClr val="tx1"/>
                </a:solidFill>
              </a:rPr>
              <a:t> и </a:t>
            </a:r>
            <a:r>
              <a:rPr lang="bg-BG" sz="2000" b="1">
                <a:solidFill>
                  <a:schemeClr val="tx1"/>
                </a:solidFill>
              </a:rPr>
              <a:t>(A,D)</a:t>
            </a:r>
            <a:r>
              <a:rPr lang="bg-BG" sz="2000">
                <a:solidFill>
                  <a:schemeClr val="tx1"/>
                </a:solidFill>
              </a:rPr>
              <a:t>, също така се наричат </a:t>
            </a:r>
            <a:r>
              <a:rPr lang="bg-BG" sz="2000" b="1" i="1">
                <a:solidFill>
                  <a:schemeClr val="tx1"/>
                </a:solidFill>
              </a:rPr>
              <a:t>инцидентни</a:t>
            </a:r>
            <a:r>
              <a:rPr lang="bg-BG" sz="2000">
                <a:solidFill>
                  <a:schemeClr val="tx1"/>
                </a:solidFill>
              </a:rPr>
              <a:t>. </a:t>
            </a:r>
            <a:r>
              <a:rPr lang="bg-BG" sz="2000" b="1" i="1">
                <a:solidFill>
                  <a:schemeClr val="tx1"/>
                </a:solidFill>
              </a:rPr>
              <a:t>Степен на връх</a:t>
            </a:r>
            <a:r>
              <a:rPr lang="bg-BG" sz="2000">
                <a:solidFill>
                  <a:schemeClr val="tx1"/>
                </a:solidFill>
              </a:rPr>
              <a:t> на граф </a:t>
            </a:r>
            <a:r>
              <a:rPr lang="bg-BG" sz="2000" b="1">
                <a:solidFill>
                  <a:schemeClr val="tx1"/>
                </a:solidFill>
              </a:rPr>
              <a:t>G</a:t>
            </a:r>
            <a:r>
              <a:rPr lang="bg-BG" sz="2000">
                <a:solidFill>
                  <a:schemeClr val="tx1"/>
                </a:solidFill>
              </a:rPr>
              <a:t> е броят на ребрата, инцидентни с него. Означава се с </a:t>
            </a:r>
            <a:r>
              <a:rPr lang="bg-BG" sz="2000" b="1">
                <a:solidFill>
                  <a:schemeClr val="tx1"/>
                </a:solidFill>
              </a:rPr>
              <a:t>d(V</a:t>
            </a:r>
            <a:r>
              <a:rPr lang="bg-BG" sz="2000" b="1" baseline="-25000">
                <a:solidFill>
                  <a:schemeClr val="tx1"/>
                </a:solidFill>
              </a:rPr>
              <a:t>i</a:t>
            </a:r>
            <a:r>
              <a:rPr lang="bg-BG" sz="2000" b="1">
                <a:solidFill>
                  <a:schemeClr val="tx1"/>
                </a:solidFill>
              </a:rPr>
              <a:t>)</a:t>
            </a:r>
            <a:r>
              <a:rPr lang="bg-BG" sz="2000">
                <a:solidFill>
                  <a:schemeClr val="tx1"/>
                </a:solidFill>
              </a:rPr>
              <a:t>. Например </a:t>
            </a:r>
            <a:r>
              <a:rPr lang="bg-BG" sz="2000" b="1">
                <a:solidFill>
                  <a:schemeClr val="tx1"/>
                </a:solidFill>
              </a:rPr>
              <a:t>d(A)=2</a:t>
            </a:r>
            <a:r>
              <a:rPr lang="bg-BG" sz="2000">
                <a:solidFill>
                  <a:schemeClr val="tx1"/>
                </a:solidFill>
              </a:rPr>
              <a:t>.</a:t>
            </a:r>
            <a:r>
              <a:rPr lang="en-US" sz="2000">
                <a:solidFill>
                  <a:schemeClr val="tx1"/>
                </a:solidFill>
              </a:rPr>
              <a:t> </a:t>
            </a:r>
            <a:r>
              <a:rPr lang="bg-BG" sz="2000">
                <a:solidFill>
                  <a:schemeClr val="tx1"/>
                </a:solidFill>
              </a:rPr>
              <a:t>Ако </a:t>
            </a:r>
            <a:r>
              <a:rPr lang="bg-BG" sz="2000" b="1">
                <a:solidFill>
                  <a:schemeClr val="tx1"/>
                </a:solidFill>
              </a:rPr>
              <a:t>d(V</a:t>
            </a:r>
            <a:r>
              <a:rPr lang="bg-BG" sz="2000" b="1" baseline="-25000">
                <a:solidFill>
                  <a:schemeClr val="tx1"/>
                </a:solidFill>
              </a:rPr>
              <a:t>i</a:t>
            </a:r>
            <a:r>
              <a:rPr lang="bg-BG" sz="2000" b="1">
                <a:solidFill>
                  <a:schemeClr val="tx1"/>
                </a:solidFill>
              </a:rPr>
              <a:t>)=0</a:t>
            </a:r>
            <a:r>
              <a:rPr lang="bg-BG" sz="2000">
                <a:solidFill>
                  <a:schemeClr val="tx1"/>
                </a:solidFill>
              </a:rPr>
              <a:t>, върхът </a:t>
            </a:r>
            <a:r>
              <a:rPr lang="bg-BG" sz="2000" b="1">
                <a:solidFill>
                  <a:schemeClr val="tx1"/>
                </a:solidFill>
              </a:rPr>
              <a:t>V</a:t>
            </a:r>
            <a:r>
              <a:rPr lang="bg-BG" sz="2000" b="1" baseline="-25000">
                <a:solidFill>
                  <a:schemeClr val="tx1"/>
                </a:solidFill>
              </a:rPr>
              <a:t>i</a:t>
            </a:r>
            <a:r>
              <a:rPr lang="bg-BG" sz="2000" b="1">
                <a:solidFill>
                  <a:schemeClr val="tx1"/>
                </a:solidFill>
              </a:rPr>
              <a:t> </a:t>
            </a:r>
            <a:r>
              <a:rPr lang="bg-BG" sz="2000">
                <a:solidFill>
                  <a:schemeClr val="tx1"/>
                </a:solidFill>
              </a:rPr>
              <a:t>се нарича </a:t>
            </a:r>
            <a:r>
              <a:rPr lang="bg-BG" sz="2000" b="1" i="1">
                <a:solidFill>
                  <a:schemeClr val="tx1"/>
                </a:solidFill>
              </a:rPr>
              <a:t>изолиран</a:t>
            </a:r>
            <a:r>
              <a:rPr lang="bg-BG" sz="2000">
                <a:solidFill>
                  <a:schemeClr val="tx1"/>
                </a:solidFill>
              </a:rPr>
              <a:t>.  За ориентиран граф, в който всеки възел</a:t>
            </a:r>
            <a:r>
              <a:rPr lang="bg-BG" sz="2000" i="1">
                <a:solidFill>
                  <a:schemeClr val="tx1"/>
                </a:solidFill>
              </a:rPr>
              <a:t> </a:t>
            </a:r>
            <a:r>
              <a:rPr lang="bg-BG" sz="2000" b="1">
                <a:solidFill>
                  <a:schemeClr val="tx1"/>
                </a:solidFill>
              </a:rPr>
              <a:t>V</a:t>
            </a:r>
            <a:r>
              <a:rPr lang="bg-BG" sz="2000" b="1" baseline="-25000">
                <a:solidFill>
                  <a:schemeClr val="tx1"/>
                </a:solidFill>
              </a:rPr>
              <a:t>i </a:t>
            </a:r>
            <a:r>
              <a:rPr lang="en-US" sz="2000" i="1">
                <a:solidFill>
                  <a:schemeClr val="tx1"/>
                </a:solidFill>
              </a:rPr>
              <a:t> </a:t>
            </a:r>
            <a:r>
              <a:rPr lang="bg-BG" sz="2000">
                <a:solidFill>
                  <a:schemeClr val="tx1"/>
                </a:solidFill>
              </a:rPr>
              <a:t>може да има влизащи и излизащи дъги</a:t>
            </a:r>
            <a:r>
              <a:rPr lang="bg-BG" sz="2000" i="1">
                <a:solidFill>
                  <a:schemeClr val="tx1"/>
                </a:solidFill>
              </a:rPr>
              <a:t>, </a:t>
            </a:r>
            <a:r>
              <a:rPr lang="bg-BG" sz="2000" b="1">
                <a:solidFill>
                  <a:schemeClr val="tx1"/>
                </a:solidFill>
              </a:rPr>
              <a:t>d(V</a:t>
            </a:r>
            <a:r>
              <a:rPr lang="bg-BG" sz="2000" b="1" baseline="-25000">
                <a:solidFill>
                  <a:schemeClr val="tx1"/>
                </a:solidFill>
              </a:rPr>
              <a:t>i</a:t>
            </a:r>
            <a:r>
              <a:rPr lang="bg-BG" sz="2000" b="1">
                <a:solidFill>
                  <a:schemeClr val="tx1"/>
                </a:solidFill>
              </a:rPr>
              <a:t>) = d’(V</a:t>
            </a:r>
            <a:r>
              <a:rPr lang="bg-BG" sz="2000" b="1" baseline="-25000">
                <a:solidFill>
                  <a:schemeClr val="tx1"/>
                </a:solidFill>
              </a:rPr>
              <a:t>i</a:t>
            </a:r>
            <a:r>
              <a:rPr lang="bg-BG" sz="2000" b="1">
                <a:solidFill>
                  <a:schemeClr val="tx1"/>
                </a:solidFill>
              </a:rPr>
              <a:t>)</a:t>
            </a:r>
            <a:r>
              <a:rPr lang="bg-BG" sz="2000">
                <a:solidFill>
                  <a:schemeClr val="tx1"/>
                </a:solidFill>
              </a:rPr>
              <a:t> + </a:t>
            </a:r>
            <a:r>
              <a:rPr lang="bg-BG" sz="2000" b="1">
                <a:solidFill>
                  <a:schemeClr val="tx1"/>
                </a:solidFill>
              </a:rPr>
              <a:t>d’’(V</a:t>
            </a:r>
            <a:r>
              <a:rPr lang="bg-BG" sz="2000" b="1" baseline="-25000">
                <a:solidFill>
                  <a:schemeClr val="tx1"/>
                </a:solidFill>
              </a:rPr>
              <a:t>i</a:t>
            </a:r>
            <a:r>
              <a:rPr lang="bg-BG" sz="2000" b="1">
                <a:solidFill>
                  <a:schemeClr val="tx1"/>
                </a:solidFill>
              </a:rPr>
              <a:t>), </a:t>
            </a:r>
            <a:r>
              <a:rPr lang="bg-BG" sz="2000">
                <a:solidFill>
                  <a:schemeClr val="tx1"/>
                </a:solidFill>
              </a:rPr>
              <a:t>където</a:t>
            </a:r>
            <a:r>
              <a:rPr lang="bg-BG" sz="2000" b="1">
                <a:solidFill>
                  <a:schemeClr val="tx1"/>
                </a:solidFill>
              </a:rPr>
              <a:t> d’(V</a:t>
            </a:r>
            <a:r>
              <a:rPr lang="bg-BG" sz="2000" b="1" baseline="-25000">
                <a:solidFill>
                  <a:schemeClr val="tx1"/>
                </a:solidFill>
              </a:rPr>
              <a:t>i</a:t>
            </a:r>
            <a:r>
              <a:rPr lang="bg-BG" sz="2000" b="1">
                <a:solidFill>
                  <a:schemeClr val="tx1"/>
                </a:solidFill>
              </a:rPr>
              <a:t>)</a:t>
            </a:r>
            <a:r>
              <a:rPr lang="bg-BG" sz="2000">
                <a:solidFill>
                  <a:schemeClr val="tx1"/>
                </a:solidFill>
              </a:rPr>
              <a:t> е </a:t>
            </a:r>
            <a:r>
              <a:rPr lang="bg-BG" sz="2000" b="1" i="1">
                <a:solidFill>
                  <a:schemeClr val="tx1"/>
                </a:solidFill>
              </a:rPr>
              <a:t>полустепен на входа</a:t>
            </a:r>
            <a:r>
              <a:rPr lang="bg-BG" sz="2000">
                <a:solidFill>
                  <a:schemeClr val="tx1"/>
                </a:solidFill>
              </a:rPr>
              <a:t> на </a:t>
            </a:r>
            <a:r>
              <a:rPr lang="bg-BG" sz="2000" b="1">
                <a:solidFill>
                  <a:schemeClr val="tx1"/>
                </a:solidFill>
              </a:rPr>
              <a:t>V</a:t>
            </a:r>
            <a:r>
              <a:rPr lang="bg-BG" sz="2000" b="1" baseline="-25000">
                <a:solidFill>
                  <a:schemeClr val="tx1"/>
                </a:solidFill>
              </a:rPr>
              <a:t>i</a:t>
            </a:r>
            <a:r>
              <a:rPr lang="bg-BG" sz="2000">
                <a:solidFill>
                  <a:schemeClr val="tx1"/>
                </a:solidFill>
              </a:rPr>
              <a:t>, </a:t>
            </a:r>
            <a:r>
              <a:rPr lang="bg-BG" sz="2000" b="1">
                <a:solidFill>
                  <a:schemeClr val="tx1"/>
                </a:solidFill>
              </a:rPr>
              <a:t>d’’(V</a:t>
            </a:r>
            <a:r>
              <a:rPr lang="bg-BG" sz="2000" b="1" baseline="-25000">
                <a:solidFill>
                  <a:schemeClr val="tx1"/>
                </a:solidFill>
              </a:rPr>
              <a:t>i</a:t>
            </a:r>
            <a:r>
              <a:rPr lang="bg-BG" sz="2000" b="1">
                <a:solidFill>
                  <a:schemeClr val="tx1"/>
                </a:solidFill>
              </a:rPr>
              <a:t>)</a:t>
            </a:r>
            <a:r>
              <a:rPr lang="bg-BG" sz="2000">
                <a:solidFill>
                  <a:schemeClr val="tx1"/>
                </a:solidFill>
              </a:rPr>
              <a:t> е </a:t>
            </a:r>
            <a:r>
              <a:rPr lang="bg-BG" sz="2000" b="1" i="1">
                <a:solidFill>
                  <a:schemeClr val="tx1"/>
                </a:solidFill>
              </a:rPr>
              <a:t>полустепен на изхода</a:t>
            </a:r>
            <a:r>
              <a:rPr lang="bg-BG" sz="2000">
                <a:solidFill>
                  <a:schemeClr val="tx1"/>
                </a:solidFill>
              </a:rPr>
              <a:t> </a:t>
            </a:r>
            <a:r>
              <a:rPr lang="bg-BG" sz="2000" b="1">
                <a:solidFill>
                  <a:schemeClr val="tx1"/>
                </a:solidFill>
              </a:rPr>
              <a:t>V</a:t>
            </a:r>
            <a:r>
              <a:rPr lang="bg-BG" sz="2000" b="1" baseline="-25000">
                <a:solidFill>
                  <a:schemeClr val="tx1"/>
                </a:solidFill>
              </a:rPr>
              <a:t>i</a:t>
            </a:r>
            <a:r>
              <a:rPr lang="bg-BG" sz="2000">
                <a:solidFill>
                  <a:schemeClr val="tx1"/>
                </a:solidFill>
              </a:rPr>
              <a:t>. 	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</a:t>
            </a:r>
            <a:r>
              <a:rPr lang="bg-BG" sz="2000" b="1" i="1">
                <a:solidFill>
                  <a:schemeClr val="tx1"/>
                </a:solidFill>
              </a:rPr>
              <a:t>Път</a:t>
            </a:r>
            <a:r>
              <a:rPr lang="bg-BG" sz="2000">
                <a:solidFill>
                  <a:schemeClr val="tx1"/>
                </a:solidFill>
              </a:rPr>
              <a:t> между върховете </a:t>
            </a:r>
            <a:r>
              <a:rPr lang="bg-BG" sz="2000" b="1">
                <a:solidFill>
                  <a:schemeClr val="tx1"/>
                </a:solidFill>
              </a:rPr>
              <a:t>V</a:t>
            </a:r>
            <a:r>
              <a:rPr lang="bg-BG" sz="2000" b="1" baseline="-25000">
                <a:solidFill>
                  <a:schemeClr val="tx1"/>
                </a:solidFill>
              </a:rPr>
              <a:t>i</a:t>
            </a:r>
            <a:r>
              <a:rPr lang="bg-BG" sz="2000">
                <a:solidFill>
                  <a:schemeClr val="tx1"/>
                </a:solidFill>
              </a:rPr>
              <a:t> и </a:t>
            </a:r>
            <a:r>
              <a:rPr lang="bg-BG" sz="2000" b="1">
                <a:solidFill>
                  <a:schemeClr val="tx1"/>
                </a:solidFill>
              </a:rPr>
              <a:t>V</a:t>
            </a:r>
            <a:r>
              <a:rPr lang="bg-BG" sz="2000" b="1" baseline="-25000">
                <a:solidFill>
                  <a:schemeClr val="tx1"/>
                </a:solidFill>
              </a:rPr>
              <a:t>j</a:t>
            </a:r>
            <a:r>
              <a:rPr lang="bg-BG" sz="2000">
                <a:solidFill>
                  <a:schemeClr val="tx1"/>
                </a:solidFill>
              </a:rPr>
              <a:t> е последователността от дъгите, които ги свързват.</a:t>
            </a:r>
            <a:r>
              <a:rPr lang="bg-BG" sz="2000" i="1">
                <a:solidFill>
                  <a:schemeClr val="tx1"/>
                </a:solidFill>
              </a:rPr>
              <a:t> </a:t>
            </a:r>
            <a:r>
              <a:rPr lang="bg-BG" sz="2000" b="1" i="1">
                <a:solidFill>
                  <a:schemeClr val="tx1"/>
                </a:solidFill>
              </a:rPr>
              <a:t>Дължината</a:t>
            </a:r>
            <a:r>
              <a:rPr lang="bg-BG" sz="2000">
                <a:solidFill>
                  <a:schemeClr val="tx1"/>
                </a:solidFill>
              </a:rPr>
              <a:t> на пътя е броят на тези дъги. Пътят се нарича </a:t>
            </a:r>
            <a:r>
              <a:rPr lang="bg-BG" sz="2000" b="1" i="1">
                <a:solidFill>
                  <a:schemeClr val="tx1"/>
                </a:solidFill>
              </a:rPr>
              <a:t>прост</a:t>
            </a:r>
            <a:r>
              <a:rPr lang="bg-BG" sz="2000">
                <a:solidFill>
                  <a:schemeClr val="tx1"/>
                </a:solidFill>
              </a:rPr>
              <a:t>, ако върховете в дъгите му не се повтарят. </a:t>
            </a:r>
            <a:r>
              <a:rPr lang="bg-BG" sz="2000" b="1" i="1">
                <a:solidFill>
                  <a:schemeClr val="tx1"/>
                </a:solidFill>
              </a:rPr>
              <a:t>Цикълът</a:t>
            </a:r>
            <a:r>
              <a:rPr lang="bg-BG" sz="2000" i="1">
                <a:solidFill>
                  <a:schemeClr val="tx1"/>
                </a:solidFill>
              </a:rPr>
              <a:t> </a:t>
            </a:r>
            <a:r>
              <a:rPr lang="bg-BG" sz="2000">
                <a:solidFill>
                  <a:schemeClr val="tx1"/>
                </a:solidFill>
              </a:rPr>
              <a:t>е прост път, в който първия и последния върхове се повтарят.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</a:t>
            </a:r>
            <a:r>
              <a:rPr lang="bg-BG" sz="2000" b="1" i="1">
                <a:solidFill>
                  <a:schemeClr val="tx1"/>
                </a:solidFill>
              </a:rPr>
              <a:t>Цикличен граф</a:t>
            </a:r>
            <a:r>
              <a:rPr lang="bg-BG" sz="2000">
                <a:solidFill>
                  <a:schemeClr val="tx1"/>
                </a:solidFill>
              </a:rPr>
              <a:t> е граф </a:t>
            </a:r>
            <a:r>
              <a:rPr lang="bg-BG" sz="2000" b="1">
                <a:solidFill>
                  <a:schemeClr val="tx1"/>
                </a:solidFill>
              </a:rPr>
              <a:t>G</a:t>
            </a:r>
            <a:r>
              <a:rPr lang="bg-BG" sz="2000">
                <a:solidFill>
                  <a:schemeClr val="tx1"/>
                </a:solidFill>
              </a:rPr>
              <a:t>, който съдържа поне един цикъл. Графът </a:t>
            </a:r>
            <a:r>
              <a:rPr lang="bg-BG" sz="2000" b="1">
                <a:solidFill>
                  <a:schemeClr val="tx1"/>
                </a:solidFill>
              </a:rPr>
              <a:t>G</a:t>
            </a:r>
            <a:r>
              <a:rPr lang="bg-BG" sz="2000">
                <a:solidFill>
                  <a:schemeClr val="tx1"/>
                </a:solidFill>
              </a:rPr>
              <a:t> се нарича</a:t>
            </a:r>
            <a:r>
              <a:rPr lang="bg-BG" sz="2000" i="1">
                <a:solidFill>
                  <a:schemeClr val="tx1"/>
                </a:solidFill>
              </a:rPr>
              <a:t> </a:t>
            </a:r>
            <a:r>
              <a:rPr lang="bg-BG" sz="2000" b="1" i="1">
                <a:solidFill>
                  <a:schemeClr val="tx1"/>
                </a:solidFill>
              </a:rPr>
              <a:t>тегловен</a:t>
            </a:r>
            <a:r>
              <a:rPr lang="bg-BG" sz="2000">
                <a:solidFill>
                  <a:schemeClr val="tx1"/>
                </a:solidFill>
              </a:rPr>
              <a:t>, ако дъгите му имат стойности. Графът </a:t>
            </a:r>
            <a:r>
              <a:rPr lang="bg-BG" sz="2000" b="1">
                <a:solidFill>
                  <a:schemeClr val="tx1"/>
                </a:solidFill>
              </a:rPr>
              <a:t>G</a:t>
            </a:r>
            <a:r>
              <a:rPr lang="bg-BG" sz="2000">
                <a:solidFill>
                  <a:schemeClr val="tx1"/>
                </a:solidFill>
              </a:rPr>
              <a:t> се нарича свързан, ако за произволна двойка върхове </a:t>
            </a:r>
            <a:r>
              <a:rPr lang="bg-BG" sz="2000" b="1">
                <a:solidFill>
                  <a:schemeClr val="tx1"/>
                </a:solidFill>
              </a:rPr>
              <a:t>V</a:t>
            </a:r>
            <a:r>
              <a:rPr lang="bg-BG" sz="2000" b="1" baseline="-25000">
                <a:solidFill>
                  <a:schemeClr val="tx1"/>
                </a:solidFill>
              </a:rPr>
              <a:t>i</a:t>
            </a:r>
            <a:r>
              <a:rPr lang="bg-BG" sz="2000">
                <a:solidFill>
                  <a:schemeClr val="tx1"/>
                </a:solidFill>
              </a:rPr>
              <a:t> и </a:t>
            </a:r>
            <a:r>
              <a:rPr lang="bg-BG" sz="2000" b="1">
                <a:solidFill>
                  <a:schemeClr val="tx1"/>
                </a:solidFill>
              </a:rPr>
              <a:t>V</a:t>
            </a:r>
            <a:r>
              <a:rPr lang="bg-BG" sz="2000" b="1" baseline="-25000">
                <a:solidFill>
                  <a:schemeClr val="tx1"/>
                </a:solidFill>
              </a:rPr>
              <a:t>j</a:t>
            </a:r>
            <a:r>
              <a:rPr lang="bg-BG" sz="2000">
                <a:solidFill>
                  <a:schemeClr val="tx1"/>
                </a:solidFill>
              </a:rPr>
              <a:t> съществува път, който ги свързва. В противен случай графът е </a:t>
            </a:r>
            <a:r>
              <a:rPr lang="bg-BG" sz="2000" b="1" i="1">
                <a:solidFill>
                  <a:schemeClr val="tx1"/>
                </a:solidFill>
              </a:rPr>
              <a:t>несвързан</a:t>
            </a:r>
            <a:r>
              <a:rPr lang="bg-BG" sz="2000">
                <a:solidFill>
                  <a:schemeClr val="tx1"/>
                </a:solidFill>
              </a:rPr>
              <a:t>. В един несвързан граф може да има </a:t>
            </a:r>
            <a:r>
              <a:rPr lang="bg-BG" sz="2000" b="1" i="1">
                <a:solidFill>
                  <a:schemeClr val="tx1"/>
                </a:solidFill>
              </a:rPr>
              <a:t>свързани компоненти</a:t>
            </a:r>
            <a:r>
              <a:rPr lang="bg-BG" sz="2000">
                <a:solidFill>
                  <a:schemeClr val="tx1"/>
                </a:solidFill>
              </a:rPr>
              <a:t>, т.е. подграфи, които са свързани.</a:t>
            </a:r>
            <a:br>
              <a:rPr lang="bg-BG" sz="2000">
                <a:solidFill>
                  <a:schemeClr val="tx1"/>
                </a:solidFill>
              </a:rPr>
            </a:br>
            <a:endParaRPr lang="bg-BG" sz="200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53CEFB-D5D9-471F-9D64-FD4AF951DA49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404813"/>
            <a:ext cx="7848600" cy="607218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000">
                <a:solidFill>
                  <a:schemeClr val="tx1"/>
                </a:solidFill>
              </a:rPr>
              <a:t>	Съществуват различни начини за представянето на структурата граф в паметта. </a:t>
            </a:r>
            <a:r>
              <a:rPr lang="bg-BG" sz="900">
                <a:solidFill>
                  <a:schemeClr val="tx1"/>
                </a:solidFill>
              </a:rPr>
              <a:t/>
            </a:r>
            <a:br>
              <a:rPr lang="bg-BG" sz="900">
                <a:solidFill>
                  <a:schemeClr val="tx1"/>
                </a:solidFill>
              </a:rPr>
            </a:br>
            <a:r>
              <a:rPr lang="bg-BG" sz="900">
                <a:solidFill>
                  <a:schemeClr val="tx1"/>
                </a:solidFill>
              </a:rPr>
              <a:t/>
            </a:r>
            <a:br>
              <a:rPr lang="bg-BG" sz="9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</a:t>
            </a:r>
            <a:r>
              <a:rPr lang="bg-BG" sz="2800">
                <a:solidFill>
                  <a:schemeClr val="tx1"/>
                </a:solidFill>
              </a:rPr>
              <a:t>Статични методи </a:t>
            </a:r>
            <a:br>
              <a:rPr lang="bg-BG" sz="2800">
                <a:solidFill>
                  <a:schemeClr val="tx1"/>
                </a:solidFill>
              </a:rPr>
            </a:br>
            <a:r>
              <a:rPr lang="bg-BG" sz="800">
                <a:solidFill>
                  <a:schemeClr val="tx1"/>
                </a:solidFill>
              </a:rPr>
              <a:t/>
            </a:r>
            <a:br>
              <a:rPr lang="bg-BG" sz="8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 	Начините са ефективни, когато представяният граф има голям брой дъги и резултантните матрици не са разредени. 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      - чрез матрица на съседство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endParaRPr lang="en-US" sz="2000">
              <a:solidFill>
                <a:schemeClr val="tx1"/>
              </a:solidFill>
            </a:endParaRPr>
          </a:p>
        </p:txBody>
      </p:sp>
      <p:grpSp>
        <p:nvGrpSpPr>
          <p:cNvPr id="1028" name="Group 53"/>
          <p:cNvGrpSpPr>
            <a:grpSpLocks/>
          </p:cNvGrpSpPr>
          <p:nvPr/>
        </p:nvGrpSpPr>
        <p:grpSpPr bwMode="auto">
          <a:xfrm>
            <a:off x="1476375" y="3886200"/>
            <a:ext cx="7210425" cy="2514600"/>
            <a:chOff x="816" y="1824"/>
            <a:chExt cx="3984" cy="1344"/>
          </a:xfrm>
        </p:grpSpPr>
        <p:sp>
          <p:nvSpPr>
            <p:cNvPr id="1030" name="Oval 31"/>
            <p:cNvSpPr>
              <a:spLocks noChangeArrowheads="1"/>
            </p:cNvSpPr>
            <p:nvPr/>
          </p:nvSpPr>
          <p:spPr bwMode="auto">
            <a:xfrm>
              <a:off x="2837" y="1891"/>
              <a:ext cx="227" cy="218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31" name="Oval 32"/>
            <p:cNvSpPr>
              <a:spLocks noChangeArrowheads="1"/>
            </p:cNvSpPr>
            <p:nvPr/>
          </p:nvSpPr>
          <p:spPr bwMode="auto">
            <a:xfrm>
              <a:off x="4006" y="1863"/>
              <a:ext cx="228" cy="218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32" name="Oval 33"/>
            <p:cNvSpPr>
              <a:spLocks noChangeArrowheads="1"/>
            </p:cNvSpPr>
            <p:nvPr/>
          </p:nvSpPr>
          <p:spPr bwMode="auto">
            <a:xfrm>
              <a:off x="3420" y="2313"/>
              <a:ext cx="228" cy="25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33" name="Oval 34"/>
            <p:cNvSpPr>
              <a:spLocks noChangeArrowheads="1"/>
            </p:cNvSpPr>
            <p:nvPr/>
          </p:nvSpPr>
          <p:spPr bwMode="auto">
            <a:xfrm>
              <a:off x="2826" y="2748"/>
              <a:ext cx="228" cy="219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34" name="Oval 35"/>
            <p:cNvSpPr>
              <a:spLocks noChangeArrowheads="1"/>
            </p:cNvSpPr>
            <p:nvPr/>
          </p:nvSpPr>
          <p:spPr bwMode="auto">
            <a:xfrm>
              <a:off x="4447" y="2770"/>
              <a:ext cx="227" cy="212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35" name="Line 36"/>
            <p:cNvSpPr>
              <a:spLocks noChangeShapeType="1"/>
            </p:cNvSpPr>
            <p:nvPr/>
          </p:nvSpPr>
          <p:spPr bwMode="auto">
            <a:xfrm>
              <a:off x="3074" y="1989"/>
              <a:ext cx="90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36" name="Line 37"/>
            <p:cNvSpPr>
              <a:spLocks noChangeShapeType="1"/>
            </p:cNvSpPr>
            <p:nvPr/>
          </p:nvSpPr>
          <p:spPr bwMode="auto">
            <a:xfrm flipV="1">
              <a:off x="3052" y="2523"/>
              <a:ext cx="393" cy="27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37" name="Line 38"/>
            <p:cNvSpPr>
              <a:spLocks noChangeShapeType="1"/>
            </p:cNvSpPr>
            <p:nvPr/>
          </p:nvSpPr>
          <p:spPr bwMode="auto">
            <a:xfrm>
              <a:off x="3072" y="2928"/>
              <a:ext cx="140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38" name="Line 39"/>
            <p:cNvSpPr>
              <a:spLocks noChangeShapeType="1"/>
            </p:cNvSpPr>
            <p:nvPr/>
          </p:nvSpPr>
          <p:spPr bwMode="auto">
            <a:xfrm>
              <a:off x="4145" y="2088"/>
              <a:ext cx="402" cy="66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39" name="Line 40"/>
            <p:cNvSpPr>
              <a:spLocks noChangeShapeType="1"/>
            </p:cNvSpPr>
            <p:nvPr/>
          </p:nvSpPr>
          <p:spPr bwMode="auto">
            <a:xfrm>
              <a:off x="2936" y="2127"/>
              <a:ext cx="1" cy="62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40" name="Line 41"/>
            <p:cNvSpPr>
              <a:spLocks noChangeShapeType="1"/>
            </p:cNvSpPr>
            <p:nvPr/>
          </p:nvSpPr>
          <p:spPr bwMode="auto">
            <a:xfrm flipV="1">
              <a:off x="3610" y="2065"/>
              <a:ext cx="413" cy="26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41" name="Text Box 43"/>
            <p:cNvSpPr txBox="1">
              <a:spLocks noChangeArrowheads="1"/>
            </p:cNvSpPr>
            <p:nvPr/>
          </p:nvSpPr>
          <p:spPr bwMode="auto">
            <a:xfrm>
              <a:off x="2804" y="1847"/>
              <a:ext cx="398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A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042" name="Text Box 44"/>
            <p:cNvSpPr txBox="1">
              <a:spLocks noChangeArrowheads="1"/>
            </p:cNvSpPr>
            <p:nvPr/>
          </p:nvSpPr>
          <p:spPr bwMode="auto">
            <a:xfrm>
              <a:off x="3968" y="1824"/>
              <a:ext cx="398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B</a:t>
              </a:r>
            </a:p>
          </p:txBody>
        </p:sp>
        <p:sp>
          <p:nvSpPr>
            <p:cNvPr id="1043" name="Text Box 45"/>
            <p:cNvSpPr txBox="1">
              <a:spLocks noChangeArrowheads="1"/>
            </p:cNvSpPr>
            <p:nvPr/>
          </p:nvSpPr>
          <p:spPr bwMode="auto">
            <a:xfrm>
              <a:off x="823" y="2065"/>
              <a:ext cx="398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800" b="1">
                  <a:latin typeface="Courier New" pitchFamily="49" charset="0"/>
                </a:rPr>
                <a:t> </a:t>
              </a:r>
              <a:endParaRPr lang="en-US" sz="2000" b="1">
                <a:latin typeface="Courier New" pitchFamily="49" charset="0"/>
              </a:endParaRPr>
            </a:p>
          </p:txBody>
        </p:sp>
        <p:sp>
          <p:nvSpPr>
            <p:cNvPr id="1044" name="Text Box 46"/>
            <p:cNvSpPr txBox="1">
              <a:spLocks noChangeArrowheads="1"/>
            </p:cNvSpPr>
            <p:nvPr/>
          </p:nvSpPr>
          <p:spPr bwMode="auto">
            <a:xfrm>
              <a:off x="2790" y="2717"/>
              <a:ext cx="397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D</a:t>
              </a:r>
            </a:p>
          </p:txBody>
        </p:sp>
        <p:sp>
          <p:nvSpPr>
            <p:cNvPr id="1045" name="Text Box 48"/>
            <p:cNvSpPr txBox="1">
              <a:spLocks noChangeArrowheads="1"/>
            </p:cNvSpPr>
            <p:nvPr/>
          </p:nvSpPr>
          <p:spPr bwMode="auto">
            <a:xfrm>
              <a:off x="3379" y="2298"/>
              <a:ext cx="397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C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046" name="Text Box 49"/>
            <p:cNvSpPr txBox="1">
              <a:spLocks noChangeArrowheads="1"/>
            </p:cNvSpPr>
            <p:nvPr/>
          </p:nvSpPr>
          <p:spPr bwMode="auto">
            <a:xfrm>
              <a:off x="816" y="2453"/>
              <a:ext cx="398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800" b="1">
                  <a:latin typeface="Courier New" pitchFamily="49" charset="0"/>
                </a:rPr>
                <a:t> 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047" name="Text Box 50"/>
            <p:cNvSpPr txBox="1">
              <a:spLocks noChangeArrowheads="1"/>
            </p:cNvSpPr>
            <p:nvPr/>
          </p:nvSpPr>
          <p:spPr bwMode="auto">
            <a:xfrm>
              <a:off x="1692" y="2407"/>
              <a:ext cx="398" cy="2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800" b="1">
                  <a:latin typeface="Courier New" pitchFamily="49" charset="0"/>
                </a:rPr>
                <a:t> </a:t>
              </a:r>
              <a:endParaRPr lang="bg-BG" sz="1000">
                <a:latin typeface="Courier New" pitchFamily="49" charset="0"/>
              </a:endParaRPr>
            </a:p>
          </p:txBody>
        </p:sp>
        <p:sp>
          <p:nvSpPr>
            <p:cNvPr id="1048" name="Text Box 51"/>
            <p:cNvSpPr txBox="1">
              <a:spLocks noChangeArrowheads="1"/>
            </p:cNvSpPr>
            <p:nvPr/>
          </p:nvSpPr>
          <p:spPr bwMode="auto">
            <a:xfrm>
              <a:off x="4402" y="2733"/>
              <a:ext cx="398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E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049" name="Text Box 52"/>
            <p:cNvSpPr txBox="1">
              <a:spLocks noChangeArrowheads="1"/>
            </p:cNvSpPr>
            <p:nvPr/>
          </p:nvSpPr>
          <p:spPr bwMode="auto">
            <a:xfrm>
              <a:off x="1273" y="2888"/>
              <a:ext cx="397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</a:p>
          </p:txBody>
        </p:sp>
      </p:grpSp>
      <p:graphicFrame>
        <p:nvGraphicFramePr>
          <p:cNvPr id="1026" name="Object 54"/>
          <p:cNvGraphicFramePr>
            <a:graphicFrameLocks noChangeAspect="1"/>
          </p:cNvGraphicFramePr>
          <p:nvPr/>
        </p:nvGraphicFramePr>
        <p:xfrm>
          <a:off x="1066800" y="3352800"/>
          <a:ext cx="3276600" cy="307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Worksheet" r:id="rId3" imgW="3654360" imgH="3435120" progId="Excel.Sheet.8">
                  <p:embed/>
                </p:oleObj>
              </mc:Choice>
              <mc:Fallback>
                <p:oleObj name="Worksheet" r:id="rId3" imgW="3654360" imgH="3435120" progId="Excel.Sheet.8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352800"/>
                        <a:ext cx="3276600" cy="307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4DF79C-F40A-4A45-9E47-FEB6BFD6BA07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49275"/>
            <a:ext cx="7677150" cy="55626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>
                <a:solidFill>
                  <a:schemeClr val="tx1"/>
                </a:solidFill>
              </a:rPr>
              <a:t>- </a:t>
            </a:r>
            <a:r>
              <a:rPr lang="en-AU" sz="2000">
                <a:solidFill>
                  <a:schemeClr val="tx1"/>
                </a:solidFill>
              </a:rPr>
              <a:t> </a:t>
            </a:r>
            <a:r>
              <a:rPr lang="bg-BG" sz="2000">
                <a:solidFill>
                  <a:schemeClr val="tx1"/>
                </a:solidFill>
              </a:rPr>
              <a:t>чрез матрица на инцидентност: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en-AU" sz="2000">
                <a:solidFill>
                  <a:schemeClr val="tx1"/>
                </a:solidFill>
              </a:rPr>
              <a:t> </a:t>
            </a: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en-US" sz="2000">
                <a:solidFill>
                  <a:schemeClr val="tx1"/>
                </a:solidFill>
              </a:rPr>
              <a:t>						</a:t>
            </a:r>
            <a:r>
              <a:rPr lang="bg-BG" sz="2000">
                <a:solidFill>
                  <a:schemeClr val="tx1"/>
                </a:solidFill>
              </a:rPr>
              <a:t>дъга-примка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052" name="Text Box 17"/>
          <p:cNvSpPr txBox="1">
            <a:spLocks noChangeArrowheads="1"/>
          </p:cNvSpPr>
          <p:nvPr/>
        </p:nvSpPr>
        <p:spPr bwMode="auto">
          <a:xfrm>
            <a:off x="1612900" y="2051050"/>
            <a:ext cx="7080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bg-BG" sz="800" b="1">
                <a:latin typeface="Courier New" pitchFamily="49" charset="0"/>
              </a:rPr>
              <a:t> </a:t>
            </a:r>
            <a:endParaRPr lang="en-US" sz="2000" b="1">
              <a:latin typeface="Courier New" pitchFamily="49" charset="0"/>
            </a:endParaRPr>
          </a:p>
        </p:txBody>
      </p:sp>
      <p:sp>
        <p:nvSpPr>
          <p:cNvPr id="2053" name="Text Box 20"/>
          <p:cNvSpPr txBox="1">
            <a:spLocks noChangeArrowheads="1"/>
          </p:cNvSpPr>
          <p:nvPr/>
        </p:nvSpPr>
        <p:spPr bwMode="auto">
          <a:xfrm>
            <a:off x="1600200" y="2776538"/>
            <a:ext cx="7080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bg-BG" sz="800" b="1">
                <a:latin typeface="Courier New" pitchFamily="49" charset="0"/>
              </a:rPr>
              <a:t> </a:t>
            </a:r>
            <a:endParaRPr lang="en-US" sz="1000">
              <a:latin typeface="Courier New" pitchFamily="49" charset="0"/>
            </a:endParaRPr>
          </a:p>
        </p:txBody>
      </p:sp>
      <p:sp>
        <p:nvSpPr>
          <p:cNvPr id="2054" name="Text Box 21"/>
          <p:cNvSpPr txBox="1">
            <a:spLocks noChangeArrowheads="1"/>
          </p:cNvSpPr>
          <p:nvPr/>
        </p:nvSpPr>
        <p:spPr bwMode="auto">
          <a:xfrm>
            <a:off x="3159125" y="2690813"/>
            <a:ext cx="706438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bg-BG" sz="800" b="1">
                <a:latin typeface="Courier New" pitchFamily="49" charset="0"/>
              </a:rPr>
              <a:t> </a:t>
            </a:r>
            <a:endParaRPr lang="bg-BG" sz="1000">
              <a:latin typeface="Courier New" pitchFamily="49" charset="0"/>
            </a:endParaRPr>
          </a:p>
        </p:txBody>
      </p:sp>
      <p:sp>
        <p:nvSpPr>
          <p:cNvPr id="2055" name="Text Box 23"/>
          <p:cNvSpPr txBox="1">
            <a:spLocks noChangeArrowheads="1"/>
          </p:cNvSpPr>
          <p:nvPr/>
        </p:nvSpPr>
        <p:spPr bwMode="auto">
          <a:xfrm>
            <a:off x="2413000" y="3590925"/>
            <a:ext cx="7064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bg-BG" sz="1000">
                <a:latin typeface="Courier New" pitchFamily="49" charset="0"/>
              </a:rPr>
              <a:t> </a:t>
            </a:r>
          </a:p>
        </p:txBody>
      </p:sp>
      <p:grpSp>
        <p:nvGrpSpPr>
          <p:cNvPr id="2056" name="Group 36"/>
          <p:cNvGrpSpPr>
            <a:grpSpLocks/>
          </p:cNvGrpSpPr>
          <p:nvPr/>
        </p:nvGrpSpPr>
        <p:grpSpPr bwMode="auto">
          <a:xfrm>
            <a:off x="5076825" y="1125538"/>
            <a:ext cx="3581400" cy="2312987"/>
            <a:chOff x="5104656" y="1524000"/>
            <a:chExt cx="3582144" cy="2314435"/>
          </a:xfrm>
        </p:grpSpPr>
        <p:sp>
          <p:nvSpPr>
            <p:cNvPr id="2062" name="Oval 4"/>
            <p:cNvSpPr>
              <a:spLocks noChangeArrowheads="1"/>
            </p:cNvSpPr>
            <p:nvPr/>
          </p:nvSpPr>
          <p:spPr bwMode="auto">
            <a:xfrm>
              <a:off x="5191181" y="1725556"/>
              <a:ext cx="407683" cy="418492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063" name="Oval 5"/>
            <p:cNvSpPr>
              <a:spLocks noChangeArrowheads="1"/>
            </p:cNvSpPr>
            <p:nvPr/>
          </p:nvSpPr>
          <p:spPr bwMode="auto">
            <a:xfrm>
              <a:off x="7270541" y="1673168"/>
              <a:ext cx="409478" cy="418492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064" name="Oval 6"/>
            <p:cNvSpPr>
              <a:spLocks noChangeArrowheads="1"/>
            </p:cNvSpPr>
            <p:nvPr/>
          </p:nvSpPr>
          <p:spPr bwMode="auto">
            <a:xfrm>
              <a:off x="6228184" y="2515110"/>
              <a:ext cx="409478" cy="481842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065" name="Oval 7"/>
            <p:cNvSpPr>
              <a:spLocks noChangeArrowheads="1"/>
            </p:cNvSpPr>
            <p:nvPr/>
          </p:nvSpPr>
          <p:spPr bwMode="auto">
            <a:xfrm>
              <a:off x="5171598" y="3328987"/>
              <a:ext cx="409478" cy="42041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066" name="Oval 8"/>
            <p:cNvSpPr>
              <a:spLocks noChangeArrowheads="1"/>
            </p:cNvSpPr>
            <p:nvPr/>
          </p:nvSpPr>
          <p:spPr bwMode="auto">
            <a:xfrm>
              <a:off x="8054993" y="3370148"/>
              <a:ext cx="407683" cy="406973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067" name="Line 9"/>
            <p:cNvSpPr>
              <a:spLocks noChangeShapeType="1"/>
            </p:cNvSpPr>
            <p:nvPr/>
          </p:nvSpPr>
          <p:spPr bwMode="auto">
            <a:xfrm>
              <a:off x="5601042" y="1908912"/>
              <a:ext cx="163073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068" name="Line 10"/>
            <p:cNvSpPr>
              <a:spLocks noChangeShapeType="1"/>
            </p:cNvSpPr>
            <p:nvPr/>
          </p:nvSpPr>
          <p:spPr bwMode="auto">
            <a:xfrm flipV="1">
              <a:off x="5570763" y="2908017"/>
              <a:ext cx="705812" cy="5240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069" name="Line 11"/>
            <p:cNvSpPr>
              <a:spLocks noChangeShapeType="1"/>
            </p:cNvSpPr>
            <p:nvPr/>
          </p:nvSpPr>
          <p:spPr bwMode="auto">
            <a:xfrm>
              <a:off x="5588903" y="3665764"/>
              <a:ext cx="252691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070" name="Line 12"/>
            <p:cNvSpPr>
              <a:spLocks noChangeShapeType="1"/>
            </p:cNvSpPr>
            <p:nvPr/>
          </p:nvSpPr>
          <p:spPr bwMode="auto">
            <a:xfrm>
              <a:off x="7514797" y="2094139"/>
              <a:ext cx="721976" cy="12746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071" name="Line 13"/>
            <p:cNvSpPr>
              <a:spLocks noChangeShapeType="1"/>
            </p:cNvSpPr>
            <p:nvPr/>
          </p:nvSpPr>
          <p:spPr bwMode="auto">
            <a:xfrm>
              <a:off x="5371166" y="2167108"/>
              <a:ext cx="1796" cy="119212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072" name="Line 14"/>
            <p:cNvSpPr>
              <a:spLocks noChangeShapeType="1"/>
            </p:cNvSpPr>
            <p:nvPr/>
          </p:nvSpPr>
          <p:spPr bwMode="auto">
            <a:xfrm flipV="1">
              <a:off x="6562969" y="2051106"/>
              <a:ext cx="741731" cy="50295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073" name="Text Box 15"/>
            <p:cNvSpPr txBox="1">
              <a:spLocks noChangeArrowheads="1"/>
            </p:cNvSpPr>
            <p:nvPr/>
          </p:nvSpPr>
          <p:spPr bwMode="auto">
            <a:xfrm>
              <a:off x="5129542" y="1643233"/>
              <a:ext cx="714791" cy="537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A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2074" name="Text Box 16"/>
            <p:cNvSpPr txBox="1">
              <a:spLocks noChangeArrowheads="1"/>
            </p:cNvSpPr>
            <p:nvPr/>
          </p:nvSpPr>
          <p:spPr bwMode="auto">
            <a:xfrm>
              <a:off x="7200024" y="1600200"/>
              <a:ext cx="714791" cy="537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B</a:t>
              </a:r>
            </a:p>
          </p:txBody>
        </p:sp>
        <p:sp>
          <p:nvSpPr>
            <p:cNvPr id="2075" name="Text Box 18"/>
            <p:cNvSpPr txBox="1">
              <a:spLocks noChangeArrowheads="1"/>
            </p:cNvSpPr>
            <p:nvPr/>
          </p:nvSpPr>
          <p:spPr bwMode="auto">
            <a:xfrm>
              <a:off x="5104656" y="3270987"/>
              <a:ext cx="712996" cy="537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D</a:t>
              </a:r>
            </a:p>
          </p:txBody>
        </p:sp>
        <p:sp>
          <p:nvSpPr>
            <p:cNvPr id="2076" name="Text Box 19"/>
            <p:cNvSpPr txBox="1">
              <a:spLocks noChangeArrowheads="1"/>
            </p:cNvSpPr>
            <p:nvPr/>
          </p:nvSpPr>
          <p:spPr bwMode="auto">
            <a:xfrm>
              <a:off x="6152349" y="2487046"/>
              <a:ext cx="712996" cy="537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C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2077" name="Text Box 22"/>
            <p:cNvSpPr txBox="1">
              <a:spLocks noChangeArrowheads="1"/>
            </p:cNvSpPr>
            <p:nvPr/>
          </p:nvSpPr>
          <p:spPr bwMode="auto">
            <a:xfrm>
              <a:off x="7972009" y="3300923"/>
              <a:ext cx="714791" cy="537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E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2078" name="Text Box 24"/>
            <p:cNvSpPr txBox="1">
              <a:spLocks noChangeArrowheads="1"/>
            </p:cNvSpPr>
            <p:nvPr/>
          </p:nvSpPr>
          <p:spPr bwMode="auto">
            <a:xfrm>
              <a:off x="6245454" y="1524000"/>
              <a:ext cx="307746" cy="376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b="1">
                  <a:solidFill>
                    <a:schemeClr val="accent1"/>
                  </a:solidFill>
                </a:rPr>
                <a:t>1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079" name="Text Box 46"/>
            <p:cNvSpPr txBox="1">
              <a:spLocks noChangeArrowheads="1"/>
            </p:cNvSpPr>
            <p:nvPr/>
          </p:nvSpPr>
          <p:spPr bwMode="auto">
            <a:xfrm>
              <a:off x="6855054" y="2209800"/>
              <a:ext cx="307746" cy="376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b="1">
                  <a:solidFill>
                    <a:schemeClr val="accent1"/>
                  </a:solidFill>
                </a:rPr>
                <a:t>5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080" name="Text Box 47"/>
            <p:cNvSpPr txBox="1">
              <a:spLocks noChangeArrowheads="1"/>
            </p:cNvSpPr>
            <p:nvPr/>
          </p:nvSpPr>
          <p:spPr bwMode="auto">
            <a:xfrm>
              <a:off x="5712054" y="2819400"/>
              <a:ext cx="307746" cy="376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b="1">
                  <a:solidFill>
                    <a:schemeClr val="accent1"/>
                  </a:solidFill>
                </a:rPr>
                <a:t>4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081" name="Text Box 48"/>
            <p:cNvSpPr txBox="1">
              <a:spLocks noChangeArrowheads="1"/>
            </p:cNvSpPr>
            <p:nvPr/>
          </p:nvSpPr>
          <p:spPr bwMode="auto">
            <a:xfrm>
              <a:off x="5381854" y="2362200"/>
              <a:ext cx="307746" cy="376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b="1">
                  <a:solidFill>
                    <a:schemeClr val="accent1"/>
                  </a:solidFill>
                </a:rPr>
                <a:t>6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082" name="Text Box 49"/>
            <p:cNvSpPr txBox="1">
              <a:spLocks noChangeArrowheads="1"/>
            </p:cNvSpPr>
            <p:nvPr/>
          </p:nvSpPr>
          <p:spPr bwMode="auto">
            <a:xfrm>
              <a:off x="7845654" y="2362200"/>
              <a:ext cx="307746" cy="376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b="1">
                  <a:solidFill>
                    <a:schemeClr val="accent1"/>
                  </a:solidFill>
                </a:rPr>
                <a:t>2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083" name="Text Box 50"/>
            <p:cNvSpPr txBox="1">
              <a:spLocks noChangeArrowheads="1"/>
            </p:cNvSpPr>
            <p:nvPr/>
          </p:nvSpPr>
          <p:spPr bwMode="auto">
            <a:xfrm>
              <a:off x="6931254" y="3276600"/>
              <a:ext cx="307746" cy="376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b="1">
                  <a:solidFill>
                    <a:schemeClr val="accent1"/>
                  </a:solidFill>
                </a:rPr>
                <a:t>3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aphicFrame>
        <p:nvGraphicFramePr>
          <p:cNvPr id="2050" name="Object 51"/>
          <p:cNvGraphicFramePr>
            <a:graphicFrameLocks noChangeAspect="1"/>
          </p:cNvGraphicFramePr>
          <p:nvPr/>
        </p:nvGraphicFramePr>
        <p:xfrm>
          <a:off x="1187450" y="3789363"/>
          <a:ext cx="4278313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Worksheet" r:id="rId3" imgW="4262040" imgH="2293200" progId="Excel.Sheet.8">
                  <p:embed/>
                </p:oleObj>
              </mc:Choice>
              <mc:Fallback>
                <p:oleObj name="Worksheet" r:id="rId3" imgW="4262040" imgH="2293200" progId="Excel.Sheet.8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789363"/>
                        <a:ext cx="4278313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57" name="Group 37"/>
          <p:cNvGrpSpPr>
            <a:grpSpLocks/>
          </p:cNvGrpSpPr>
          <p:nvPr/>
        </p:nvGrpSpPr>
        <p:grpSpPr bwMode="auto">
          <a:xfrm>
            <a:off x="6588125" y="4581525"/>
            <a:ext cx="576263" cy="503238"/>
            <a:chOff x="6400800" y="4724400"/>
            <a:chExt cx="685800" cy="693576"/>
          </a:xfrm>
        </p:grpSpPr>
        <p:sp>
          <p:nvSpPr>
            <p:cNvPr id="2059" name="Oval 52"/>
            <p:cNvSpPr>
              <a:spLocks noChangeArrowheads="1"/>
            </p:cNvSpPr>
            <p:nvPr/>
          </p:nvSpPr>
          <p:spPr bwMode="auto">
            <a:xfrm>
              <a:off x="6400800" y="4876800"/>
              <a:ext cx="457200" cy="541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bg-BG"/>
            </a:p>
          </p:txBody>
        </p:sp>
        <p:sp>
          <p:nvSpPr>
            <p:cNvPr id="2060" name="Oval 57"/>
            <p:cNvSpPr>
              <a:spLocks noChangeArrowheads="1"/>
            </p:cNvSpPr>
            <p:nvPr/>
          </p:nvSpPr>
          <p:spPr bwMode="auto">
            <a:xfrm>
              <a:off x="6781800" y="4724400"/>
              <a:ext cx="304800" cy="3607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2061" name="Freeform 58"/>
            <p:cNvSpPr>
              <a:spLocks/>
            </p:cNvSpPr>
            <p:nvPr/>
          </p:nvSpPr>
          <p:spPr bwMode="auto">
            <a:xfrm>
              <a:off x="6705600" y="4800600"/>
              <a:ext cx="144463" cy="161601"/>
            </a:xfrm>
            <a:custGeom>
              <a:avLst/>
              <a:gdLst>
                <a:gd name="T0" fmla="*/ 2147483647 w 91"/>
                <a:gd name="T1" fmla="*/ 2147483647 h 86"/>
                <a:gd name="T2" fmla="*/ 2147483647 w 91"/>
                <a:gd name="T3" fmla="*/ 2147483647 h 86"/>
                <a:gd name="T4" fmla="*/ 2147483647 w 91"/>
                <a:gd name="T5" fmla="*/ 2147483647 h 86"/>
                <a:gd name="T6" fmla="*/ 2147483647 w 91"/>
                <a:gd name="T7" fmla="*/ 2147483647 h 86"/>
                <a:gd name="T8" fmla="*/ 2147483647 w 91"/>
                <a:gd name="T9" fmla="*/ 2147483647 h 86"/>
                <a:gd name="T10" fmla="*/ 2147483647 w 91"/>
                <a:gd name="T11" fmla="*/ 2147483647 h 86"/>
                <a:gd name="T12" fmla="*/ 2147483647 w 91"/>
                <a:gd name="T13" fmla="*/ 2147483647 h 86"/>
                <a:gd name="T14" fmla="*/ 2147483647 w 91"/>
                <a:gd name="T15" fmla="*/ 2147483647 h 8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1"/>
                <a:gd name="T25" fmla="*/ 0 h 86"/>
                <a:gd name="T26" fmla="*/ 91 w 91"/>
                <a:gd name="T27" fmla="*/ 86 h 8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1" h="86">
                  <a:moveTo>
                    <a:pt x="32" y="1"/>
                  </a:moveTo>
                  <a:cubicBezTo>
                    <a:pt x="42" y="33"/>
                    <a:pt x="56" y="52"/>
                    <a:pt x="63" y="86"/>
                  </a:cubicBezTo>
                  <a:cubicBezTo>
                    <a:pt x="73" y="57"/>
                    <a:pt x="75" y="52"/>
                    <a:pt x="86" y="16"/>
                  </a:cubicBezTo>
                  <a:cubicBezTo>
                    <a:pt x="91" y="0"/>
                    <a:pt x="71" y="63"/>
                    <a:pt x="71" y="63"/>
                  </a:cubicBezTo>
                  <a:cubicBezTo>
                    <a:pt x="53" y="10"/>
                    <a:pt x="0" y="3"/>
                    <a:pt x="86" y="16"/>
                  </a:cubicBezTo>
                  <a:cubicBezTo>
                    <a:pt x="81" y="24"/>
                    <a:pt x="73" y="31"/>
                    <a:pt x="71" y="40"/>
                  </a:cubicBezTo>
                  <a:cubicBezTo>
                    <a:pt x="70" y="48"/>
                    <a:pt x="78" y="71"/>
                    <a:pt x="78" y="63"/>
                  </a:cubicBezTo>
                  <a:cubicBezTo>
                    <a:pt x="78" y="1"/>
                    <a:pt x="62" y="43"/>
                    <a:pt x="78" y="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</p:grp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E799C1-DE9B-46F2-B0F1-C78CE3AEDF30}" type="slidenum">
              <a:rPr lang="en-US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549275"/>
            <a:ext cx="7772400" cy="5715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>
                <a:solidFill>
                  <a:schemeClr val="tx1"/>
                </a:solidFill>
              </a:rPr>
              <a:t>- </a:t>
            </a:r>
            <a:r>
              <a:rPr lang="bg-BG" sz="2000">
                <a:solidFill>
                  <a:schemeClr val="tx1"/>
                </a:solidFill>
              </a:rPr>
              <a:t>чрез вектори на съседство: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endParaRPr lang="en-US" sz="2000">
              <a:solidFill>
                <a:schemeClr val="tx1"/>
              </a:solidFill>
            </a:endParaRPr>
          </a:p>
        </p:txBody>
      </p:sp>
      <p:grpSp>
        <p:nvGrpSpPr>
          <p:cNvPr id="3076" name="Group 3"/>
          <p:cNvGrpSpPr>
            <a:grpSpLocks/>
          </p:cNvGrpSpPr>
          <p:nvPr/>
        </p:nvGrpSpPr>
        <p:grpSpPr bwMode="auto">
          <a:xfrm>
            <a:off x="1295400" y="1600200"/>
            <a:ext cx="7467600" cy="2514600"/>
            <a:chOff x="816" y="1824"/>
            <a:chExt cx="3984" cy="1344"/>
          </a:xfrm>
        </p:grpSpPr>
        <p:sp>
          <p:nvSpPr>
            <p:cNvPr id="3078" name="Oval 4"/>
            <p:cNvSpPr>
              <a:spLocks noChangeArrowheads="1"/>
            </p:cNvSpPr>
            <p:nvPr/>
          </p:nvSpPr>
          <p:spPr bwMode="auto">
            <a:xfrm>
              <a:off x="2837" y="1891"/>
              <a:ext cx="227" cy="218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079" name="Oval 5"/>
            <p:cNvSpPr>
              <a:spLocks noChangeArrowheads="1"/>
            </p:cNvSpPr>
            <p:nvPr/>
          </p:nvSpPr>
          <p:spPr bwMode="auto">
            <a:xfrm>
              <a:off x="4006" y="1863"/>
              <a:ext cx="228" cy="218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420" y="2313"/>
              <a:ext cx="228" cy="25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2826" y="2748"/>
              <a:ext cx="228" cy="219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082" name="Oval 8"/>
            <p:cNvSpPr>
              <a:spLocks noChangeArrowheads="1"/>
            </p:cNvSpPr>
            <p:nvPr/>
          </p:nvSpPr>
          <p:spPr bwMode="auto">
            <a:xfrm>
              <a:off x="4447" y="2770"/>
              <a:ext cx="227" cy="212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083" name="Line 9"/>
            <p:cNvSpPr>
              <a:spLocks noChangeShapeType="1"/>
            </p:cNvSpPr>
            <p:nvPr/>
          </p:nvSpPr>
          <p:spPr bwMode="auto">
            <a:xfrm>
              <a:off x="3074" y="1989"/>
              <a:ext cx="90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084" name="Line 10"/>
            <p:cNvSpPr>
              <a:spLocks noChangeShapeType="1"/>
            </p:cNvSpPr>
            <p:nvPr/>
          </p:nvSpPr>
          <p:spPr bwMode="auto">
            <a:xfrm flipV="1">
              <a:off x="3052" y="2523"/>
              <a:ext cx="393" cy="27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085" name="Line 11"/>
            <p:cNvSpPr>
              <a:spLocks noChangeShapeType="1"/>
            </p:cNvSpPr>
            <p:nvPr/>
          </p:nvSpPr>
          <p:spPr bwMode="auto">
            <a:xfrm>
              <a:off x="3072" y="2928"/>
              <a:ext cx="140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086" name="Line 12"/>
            <p:cNvSpPr>
              <a:spLocks noChangeShapeType="1"/>
            </p:cNvSpPr>
            <p:nvPr/>
          </p:nvSpPr>
          <p:spPr bwMode="auto">
            <a:xfrm>
              <a:off x="4145" y="2088"/>
              <a:ext cx="402" cy="66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087" name="Line 13"/>
            <p:cNvSpPr>
              <a:spLocks noChangeShapeType="1"/>
            </p:cNvSpPr>
            <p:nvPr/>
          </p:nvSpPr>
          <p:spPr bwMode="auto">
            <a:xfrm>
              <a:off x="2936" y="2127"/>
              <a:ext cx="1" cy="62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088" name="Line 14"/>
            <p:cNvSpPr>
              <a:spLocks noChangeShapeType="1"/>
            </p:cNvSpPr>
            <p:nvPr/>
          </p:nvSpPr>
          <p:spPr bwMode="auto">
            <a:xfrm flipV="1">
              <a:off x="3610" y="2065"/>
              <a:ext cx="413" cy="26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089" name="Text Box 15"/>
            <p:cNvSpPr txBox="1">
              <a:spLocks noChangeArrowheads="1"/>
            </p:cNvSpPr>
            <p:nvPr/>
          </p:nvSpPr>
          <p:spPr bwMode="auto">
            <a:xfrm>
              <a:off x="2804" y="1847"/>
              <a:ext cx="398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A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3090" name="Text Box 16"/>
            <p:cNvSpPr txBox="1">
              <a:spLocks noChangeArrowheads="1"/>
            </p:cNvSpPr>
            <p:nvPr/>
          </p:nvSpPr>
          <p:spPr bwMode="auto">
            <a:xfrm>
              <a:off x="3968" y="1824"/>
              <a:ext cx="398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B</a:t>
              </a:r>
            </a:p>
          </p:txBody>
        </p:sp>
        <p:sp>
          <p:nvSpPr>
            <p:cNvPr id="3091" name="Text Box 17"/>
            <p:cNvSpPr txBox="1">
              <a:spLocks noChangeArrowheads="1"/>
            </p:cNvSpPr>
            <p:nvPr/>
          </p:nvSpPr>
          <p:spPr bwMode="auto">
            <a:xfrm>
              <a:off x="823" y="2065"/>
              <a:ext cx="398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800" b="1">
                  <a:latin typeface="Courier New" pitchFamily="49" charset="0"/>
                </a:rPr>
                <a:t> </a:t>
              </a:r>
              <a:endParaRPr lang="en-US" sz="2000" b="1">
                <a:latin typeface="Courier New" pitchFamily="49" charset="0"/>
              </a:endParaRPr>
            </a:p>
          </p:txBody>
        </p:sp>
        <p:sp>
          <p:nvSpPr>
            <p:cNvPr id="3092" name="Text Box 18"/>
            <p:cNvSpPr txBox="1">
              <a:spLocks noChangeArrowheads="1"/>
            </p:cNvSpPr>
            <p:nvPr/>
          </p:nvSpPr>
          <p:spPr bwMode="auto">
            <a:xfrm>
              <a:off x="2790" y="2717"/>
              <a:ext cx="397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D</a:t>
              </a:r>
            </a:p>
          </p:txBody>
        </p:sp>
        <p:sp>
          <p:nvSpPr>
            <p:cNvPr id="3093" name="Text Box 19"/>
            <p:cNvSpPr txBox="1">
              <a:spLocks noChangeArrowheads="1"/>
            </p:cNvSpPr>
            <p:nvPr/>
          </p:nvSpPr>
          <p:spPr bwMode="auto">
            <a:xfrm>
              <a:off x="3379" y="2298"/>
              <a:ext cx="397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C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3094" name="Text Box 20"/>
            <p:cNvSpPr txBox="1">
              <a:spLocks noChangeArrowheads="1"/>
            </p:cNvSpPr>
            <p:nvPr/>
          </p:nvSpPr>
          <p:spPr bwMode="auto">
            <a:xfrm>
              <a:off x="816" y="2453"/>
              <a:ext cx="398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800" b="1">
                  <a:latin typeface="Courier New" pitchFamily="49" charset="0"/>
                </a:rPr>
                <a:t> 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3095" name="Text Box 21"/>
            <p:cNvSpPr txBox="1">
              <a:spLocks noChangeArrowheads="1"/>
            </p:cNvSpPr>
            <p:nvPr/>
          </p:nvSpPr>
          <p:spPr bwMode="auto">
            <a:xfrm>
              <a:off x="1692" y="2407"/>
              <a:ext cx="398" cy="2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800" b="1">
                  <a:latin typeface="Courier New" pitchFamily="49" charset="0"/>
                </a:rPr>
                <a:t> </a:t>
              </a:r>
              <a:endParaRPr lang="bg-BG" sz="1000">
                <a:latin typeface="Courier New" pitchFamily="49" charset="0"/>
              </a:endParaRPr>
            </a:p>
          </p:txBody>
        </p:sp>
        <p:sp>
          <p:nvSpPr>
            <p:cNvPr id="3096" name="Text Box 22"/>
            <p:cNvSpPr txBox="1">
              <a:spLocks noChangeArrowheads="1"/>
            </p:cNvSpPr>
            <p:nvPr/>
          </p:nvSpPr>
          <p:spPr bwMode="auto">
            <a:xfrm>
              <a:off x="4402" y="2733"/>
              <a:ext cx="398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E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3097" name="Text Box 23"/>
            <p:cNvSpPr txBox="1">
              <a:spLocks noChangeArrowheads="1"/>
            </p:cNvSpPr>
            <p:nvPr/>
          </p:nvSpPr>
          <p:spPr bwMode="auto">
            <a:xfrm>
              <a:off x="1273" y="2888"/>
              <a:ext cx="397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</a:p>
          </p:txBody>
        </p:sp>
      </p:grpSp>
      <p:graphicFrame>
        <p:nvGraphicFramePr>
          <p:cNvPr id="3074" name="Object 24"/>
          <p:cNvGraphicFramePr>
            <a:graphicFrameLocks noChangeAspect="1"/>
          </p:cNvGraphicFramePr>
          <p:nvPr/>
        </p:nvGraphicFramePr>
        <p:xfrm>
          <a:off x="1524000" y="1752600"/>
          <a:ext cx="24384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Worksheet" r:id="rId3" imgW="1832040" imgH="1912680" progId="Excel.Sheet.8">
                  <p:embed/>
                </p:oleObj>
              </mc:Choice>
              <mc:Fallback>
                <p:oleObj name="Worksheet" r:id="rId3" imgW="1832040" imgH="1912680" progId="Excel.Sheet.8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752600"/>
                        <a:ext cx="24384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005BFE-C635-47FD-9E1A-123DA1D0310D}" type="slidenum">
              <a:rPr lang="en-US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914400"/>
            <a:ext cx="7920037" cy="5638800"/>
          </a:xfrm>
        </p:spPr>
        <p:txBody>
          <a:bodyPr>
            <a:normAutofit fontScale="90000"/>
          </a:bodyPr>
          <a:lstStyle/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bg-BG" sz="3200">
                <a:solidFill>
                  <a:schemeClr val="tx2">
                    <a:satMod val="130000"/>
                  </a:schemeClr>
                </a:solidFill>
              </a:rPr>
              <a:t>         </a:t>
            </a:r>
            <a:r>
              <a:rPr lang="bg-BG" sz="2800">
                <a:solidFill>
                  <a:schemeClr val="tx1"/>
                </a:solidFill>
              </a:rPr>
              <a:t>Динамично представяне на граф</a:t>
            </a:r>
            <a:r>
              <a:rPr lang="bg-BG" sz="32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32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32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32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3200">
                <a:solidFill>
                  <a:schemeClr val="tx2">
                    <a:satMod val="130000"/>
                  </a:schemeClr>
                </a:solidFill>
              </a:rPr>
              <a:t>	</a:t>
            </a:r>
            <a:r>
              <a:rPr lang="bg-BG" sz="2000">
                <a:solidFill>
                  <a:schemeClr val="tx1"/>
                </a:solidFill>
              </a:rPr>
              <a:t>Графът може да се представи динамично. Примерната декларация на структурата е следната: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en-AU" sz="2000" b="1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  <a:latin typeface="Courier New" pitchFamily="49" charset="0"/>
              </a:rPr>
              <a:t>struct nd		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структура за описание на връх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{int key; nd*p1; arc*p2;}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		//p1 - указател към следващия връх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//p2 - указател към списъка от наследници -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//всички възли, до които има дъга от даден възел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en-US" sz="2000" smtClean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struct 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arc		//структура за описване на дъга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{arc*p3; nd*p4;}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//p3 - указател към следващата дъга за даден възел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//p4 - указател към възел, крайния за дъгата</a:t>
            </a:r>
            <a:r>
              <a:rPr lang="bg-BG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>
                <a:solidFill>
                  <a:schemeClr val="tx1"/>
                </a:solidFill>
                <a:latin typeface="Courier New" pitchFamily="49" charset="0"/>
              </a:rPr>
            </a:br>
            <a:endParaRPr lang="bg-BG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DE6FA9-0879-4C78-BF22-CC5E8E2E8C07}" type="slidenum">
              <a:rPr lang="en-US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248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1800">
                <a:solidFill>
                  <a:schemeClr val="tx2">
                    <a:satMod val="130000"/>
                  </a:schemeClr>
                </a:solidFill>
              </a:rPr>
              <a:t>                      </a:t>
            </a:r>
            <a:br>
              <a:rPr lang="bg-BG" sz="18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1800">
                <a:solidFill>
                  <a:schemeClr val="tx2">
                    <a:satMod val="130000"/>
                  </a:schemeClr>
                </a:solidFill>
              </a:rPr>
              <a:t>	        Вход</a:t>
            </a:r>
            <a:br>
              <a:rPr lang="bg-BG" sz="18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1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18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1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18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1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18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1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18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1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18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1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18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1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18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1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18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1800">
                <a:solidFill>
                  <a:schemeClr val="tx2">
                    <a:satMod val="130000"/>
                  </a:schemeClr>
                </a:solidFill>
              </a:rPr>
              <a:t>  </a:t>
            </a:r>
            <a:endParaRPr lang="en-US">
              <a:solidFill>
                <a:schemeClr val="tx2">
                  <a:satMod val="130000"/>
                </a:schemeClr>
              </a:solidFill>
            </a:endParaRPr>
          </a:p>
        </p:txBody>
      </p:sp>
      <p:grpSp>
        <p:nvGrpSpPr>
          <p:cNvPr id="16387" name="Group 1027"/>
          <p:cNvGrpSpPr>
            <a:grpSpLocks/>
          </p:cNvGrpSpPr>
          <p:nvPr/>
        </p:nvGrpSpPr>
        <p:grpSpPr bwMode="auto">
          <a:xfrm>
            <a:off x="457200" y="228600"/>
            <a:ext cx="2787650" cy="2082800"/>
            <a:chOff x="2394" y="5708"/>
            <a:chExt cx="4389" cy="3279"/>
          </a:xfrm>
        </p:grpSpPr>
        <p:sp>
          <p:nvSpPr>
            <p:cNvPr id="16566" name="Oval 1028"/>
            <p:cNvSpPr>
              <a:spLocks noChangeArrowheads="1"/>
            </p:cNvSpPr>
            <p:nvPr/>
          </p:nvSpPr>
          <p:spPr bwMode="auto">
            <a:xfrm>
              <a:off x="2793" y="5738"/>
              <a:ext cx="684" cy="6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567" name="Oval 1029"/>
            <p:cNvSpPr>
              <a:spLocks noChangeArrowheads="1"/>
            </p:cNvSpPr>
            <p:nvPr/>
          </p:nvSpPr>
          <p:spPr bwMode="auto">
            <a:xfrm>
              <a:off x="2793" y="7181"/>
              <a:ext cx="684" cy="6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568" name="Oval 1030"/>
            <p:cNvSpPr>
              <a:spLocks noChangeArrowheads="1"/>
            </p:cNvSpPr>
            <p:nvPr/>
          </p:nvSpPr>
          <p:spPr bwMode="auto">
            <a:xfrm>
              <a:off x="3420" y="8303"/>
              <a:ext cx="684" cy="6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569" name="Oval 1031"/>
            <p:cNvSpPr>
              <a:spLocks noChangeArrowheads="1"/>
            </p:cNvSpPr>
            <p:nvPr/>
          </p:nvSpPr>
          <p:spPr bwMode="auto">
            <a:xfrm>
              <a:off x="4674" y="7049"/>
              <a:ext cx="684" cy="6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570" name="Oval 1032"/>
            <p:cNvSpPr>
              <a:spLocks noChangeArrowheads="1"/>
            </p:cNvSpPr>
            <p:nvPr/>
          </p:nvSpPr>
          <p:spPr bwMode="auto">
            <a:xfrm>
              <a:off x="4104" y="5708"/>
              <a:ext cx="684" cy="6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571" name="Oval 1033"/>
            <p:cNvSpPr>
              <a:spLocks noChangeArrowheads="1"/>
            </p:cNvSpPr>
            <p:nvPr/>
          </p:nvSpPr>
          <p:spPr bwMode="auto">
            <a:xfrm>
              <a:off x="6099" y="6194"/>
              <a:ext cx="684" cy="6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572" name="Line 1034"/>
            <p:cNvSpPr>
              <a:spLocks noChangeShapeType="1"/>
            </p:cNvSpPr>
            <p:nvPr/>
          </p:nvSpPr>
          <p:spPr bwMode="auto">
            <a:xfrm>
              <a:off x="3477" y="6023"/>
              <a:ext cx="62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573" name="Line 1035"/>
            <p:cNvSpPr>
              <a:spLocks noChangeShapeType="1"/>
            </p:cNvSpPr>
            <p:nvPr/>
          </p:nvSpPr>
          <p:spPr bwMode="auto">
            <a:xfrm flipH="1">
              <a:off x="3363" y="6365"/>
              <a:ext cx="912" cy="9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574" name="Line 1036"/>
            <p:cNvSpPr>
              <a:spLocks noChangeShapeType="1"/>
            </p:cNvSpPr>
            <p:nvPr/>
          </p:nvSpPr>
          <p:spPr bwMode="auto">
            <a:xfrm>
              <a:off x="3306" y="7847"/>
              <a:ext cx="342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575" name="Line 1037"/>
            <p:cNvSpPr>
              <a:spLocks noChangeShapeType="1"/>
            </p:cNvSpPr>
            <p:nvPr/>
          </p:nvSpPr>
          <p:spPr bwMode="auto">
            <a:xfrm flipH="1" flipV="1">
              <a:off x="3474" y="7448"/>
              <a:ext cx="1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576" name="Line 1038"/>
            <p:cNvSpPr>
              <a:spLocks noChangeShapeType="1"/>
            </p:cNvSpPr>
            <p:nvPr/>
          </p:nvSpPr>
          <p:spPr bwMode="auto">
            <a:xfrm flipV="1">
              <a:off x="5331" y="6707"/>
              <a:ext cx="855" cy="5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577" name="Line 1039"/>
            <p:cNvSpPr>
              <a:spLocks noChangeShapeType="1"/>
            </p:cNvSpPr>
            <p:nvPr/>
          </p:nvSpPr>
          <p:spPr bwMode="auto">
            <a:xfrm flipH="1" flipV="1">
              <a:off x="4788" y="6137"/>
              <a:ext cx="1311" cy="3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578" name="Line 1040"/>
            <p:cNvSpPr>
              <a:spLocks noChangeShapeType="1"/>
            </p:cNvSpPr>
            <p:nvPr/>
          </p:nvSpPr>
          <p:spPr bwMode="auto">
            <a:xfrm flipH="1" flipV="1">
              <a:off x="4617" y="6365"/>
              <a:ext cx="285" cy="7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579" name="Line 1041"/>
            <p:cNvSpPr>
              <a:spLocks noChangeShapeType="1"/>
            </p:cNvSpPr>
            <p:nvPr/>
          </p:nvSpPr>
          <p:spPr bwMode="auto">
            <a:xfrm flipV="1">
              <a:off x="3135" y="6422"/>
              <a:ext cx="0" cy="7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580" name="Oval 1042"/>
            <p:cNvSpPr>
              <a:spLocks noChangeArrowheads="1"/>
            </p:cNvSpPr>
            <p:nvPr/>
          </p:nvSpPr>
          <p:spPr bwMode="auto">
            <a:xfrm>
              <a:off x="2394" y="7562"/>
              <a:ext cx="456" cy="4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581" name="Line 1043"/>
            <p:cNvSpPr>
              <a:spLocks noChangeShapeType="1"/>
            </p:cNvSpPr>
            <p:nvPr/>
          </p:nvSpPr>
          <p:spPr bwMode="auto">
            <a:xfrm flipV="1">
              <a:off x="2793" y="7733"/>
              <a:ext cx="57" cy="2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</p:grpSp>
      <p:grpSp>
        <p:nvGrpSpPr>
          <p:cNvPr id="16388" name="Group 1200"/>
          <p:cNvGrpSpPr>
            <a:grpSpLocks/>
          </p:cNvGrpSpPr>
          <p:nvPr/>
        </p:nvGrpSpPr>
        <p:grpSpPr bwMode="auto">
          <a:xfrm>
            <a:off x="2514600" y="1828800"/>
            <a:ext cx="6478588" cy="4824413"/>
            <a:chOff x="1539" y="6498"/>
            <a:chExt cx="10203" cy="7596"/>
          </a:xfrm>
        </p:grpSpPr>
        <p:grpSp>
          <p:nvGrpSpPr>
            <p:cNvPr id="16404" name="Group 1201"/>
            <p:cNvGrpSpPr>
              <a:grpSpLocks/>
            </p:cNvGrpSpPr>
            <p:nvPr/>
          </p:nvGrpSpPr>
          <p:grpSpPr bwMode="auto">
            <a:xfrm>
              <a:off x="2823" y="13509"/>
              <a:ext cx="228" cy="570"/>
              <a:chOff x="2823" y="13509"/>
              <a:chExt cx="228" cy="570"/>
            </a:xfrm>
          </p:grpSpPr>
          <p:sp>
            <p:nvSpPr>
              <p:cNvPr id="16564" name="Line 1202"/>
              <p:cNvSpPr>
                <a:spLocks noChangeShapeType="1"/>
              </p:cNvSpPr>
              <p:nvPr/>
            </p:nvSpPr>
            <p:spPr bwMode="auto">
              <a:xfrm>
                <a:off x="2919" y="13509"/>
                <a:ext cx="0" cy="5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565" name="Line 1203"/>
              <p:cNvSpPr>
                <a:spLocks noChangeShapeType="1"/>
              </p:cNvSpPr>
              <p:nvPr/>
            </p:nvSpPr>
            <p:spPr bwMode="auto">
              <a:xfrm>
                <a:off x="2823" y="14079"/>
                <a:ext cx="22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6405" name="Group 1204"/>
            <p:cNvGrpSpPr>
              <a:grpSpLocks/>
            </p:cNvGrpSpPr>
            <p:nvPr/>
          </p:nvGrpSpPr>
          <p:grpSpPr bwMode="auto">
            <a:xfrm>
              <a:off x="3636" y="13524"/>
              <a:ext cx="228" cy="570"/>
              <a:chOff x="2823" y="13509"/>
              <a:chExt cx="228" cy="570"/>
            </a:xfrm>
          </p:grpSpPr>
          <p:sp>
            <p:nvSpPr>
              <p:cNvPr id="16562" name="Line 1205"/>
              <p:cNvSpPr>
                <a:spLocks noChangeShapeType="1"/>
              </p:cNvSpPr>
              <p:nvPr/>
            </p:nvSpPr>
            <p:spPr bwMode="auto">
              <a:xfrm>
                <a:off x="2919" y="13509"/>
                <a:ext cx="0" cy="5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563" name="Line 1206"/>
              <p:cNvSpPr>
                <a:spLocks noChangeShapeType="1"/>
              </p:cNvSpPr>
              <p:nvPr/>
            </p:nvSpPr>
            <p:spPr bwMode="auto">
              <a:xfrm>
                <a:off x="2823" y="14079"/>
                <a:ext cx="22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6406" name="Group 1207"/>
            <p:cNvGrpSpPr>
              <a:grpSpLocks/>
            </p:cNvGrpSpPr>
            <p:nvPr/>
          </p:nvGrpSpPr>
          <p:grpSpPr bwMode="auto">
            <a:xfrm>
              <a:off x="1539" y="6498"/>
              <a:ext cx="10203" cy="7284"/>
              <a:chOff x="1539" y="6498"/>
              <a:chExt cx="10203" cy="7284"/>
            </a:xfrm>
          </p:grpSpPr>
          <p:grpSp>
            <p:nvGrpSpPr>
              <p:cNvPr id="16407" name="Group 1208"/>
              <p:cNvGrpSpPr>
                <a:grpSpLocks/>
              </p:cNvGrpSpPr>
              <p:nvPr/>
            </p:nvGrpSpPr>
            <p:grpSpPr bwMode="auto">
              <a:xfrm>
                <a:off x="5271" y="7011"/>
                <a:ext cx="1254" cy="588"/>
                <a:chOff x="5358" y="6993"/>
                <a:chExt cx="1254" cy="588"/>
              </a:xfrm>
            </p:grpSpPr>
            <p:sp>
              <p:nvSpPr>
                <p:cNvPr id="16560" name="Rectangle 1209"/>
                <p:cNvSpPr>
                  <a:spLocks noChangeArrowheads="1"/>
                </p:cNvSpPr>
                <p:nvPr/>
              </p:nvSpPr>
              <p:spPr bwMode="auto">
                <a:xfrm>
                  <a:off x="5358" y="6993"/>
                  <a:ext cx="1254" cy="57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61" name="Line 1210"/>
                <p:cNvSpPr>
                  <a:spLocks noChangeShapeType="1"/>
                </p:cNvSpPr>
                <p:nvPr/>
              </p:nvSpPr>
              <p:spPr bwMode="auto">
                <a:xfrm>
                  <a:off x="6003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08" name="Group 1211"/>
              <p:cNvGrpSpPr>
                <a:grpSpLocks/>
              </p:cNvGrpSpPr>
              <p:nvPr/>
            </p:nvGrpSpPr>
            <p:grpSpPr bwMode="auto">
              <a:xfrm>
                <a:off x="1824" y="7011"/>
                <a:ext cx="2166" cy="570"/>
                <a:chOff x="1824" y="7011"/>
                <a:chExt cx="2166" cy="570"/>
              </a:xfrm>
            </p:grpSpPr>
            <p:sp>
              <p:nvSpPr>
                <p:cNvPr id="16557" name="Rectangle 1212"/>
                <p:cNvSpPr>
                  <a:spLocks noChangeArrowheads="1"/>
                </p:cNvSpPr>
                <p:nvPr/>
              </p:nvSpPr>
              <p:spPr bwMode="auto">
                <a:xfrm>
                  <a:off x="1824" y="7011"/>
                  <a:ext cx="2166" cy="57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58" name="Line 1213"/>
                <p:cNvSpPr>
                  <a:spLocks noChangeShapeType="1"/>
                </p:cNvSpPr>
                <p:nvPr/>
              </p:nvSpPr>
              <p:spPr bwMode="auto">
                <a:xfrm>
                  <a:off x="2421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59" name="Line 1214"/>
                <p:cNvSpPr>
                  <a:spLocks noChangeShapeType="1"/>
                </p:cNvSpPr>
                <p:nvPr/>
              </p:nvSpPr>
              <p:spPr bwMode="auto">
                <a:xfrm>
                  <a:off x="3420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09" name="Group 1215"/>
              <p:cNvGrpSpPr>
                <a:grpSpLocks/>
              </p:cNvGrpSpPr>
              <p:nvPr/>
            </p:nvGrpSpPr>
            <p:grpSpPr bwMode="auto">
              <a:xfrm>
                <a:off x="1848" y="13212"/>
                <a:ext cx="2166" cy="570"/>
                <a:chOff x="1824" y="7011"/>
                <a:chExt cx="2166" cy="570"/>
              </a:xfrm>
            </p:grpSpPr>
            <p:sp>
              <p:nvSpPr>
                <p:cNvPr id="16554" name="Rectangle 1216"/>
                <p:cNvSpPr>
                  <a:spLocks noChangeArrowheads="1"/>
                </p:cNvSpPr>
                <p:nvPr/>
              </p:nvSpPr>
              <p:spPr bwMode="auto">
                <a:xfrm>
                  <a:off x="1824" y="7011"/>
                  <a:ext cx="2166" cy="57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55" name="Line 1217"/>
                <p:cNvSpPr>
                  <a:spLocks noChangeShapeType="1"/>
                </p:cNvSpPr>
                <p:nvPr/>
              </p:nvSpPr>
              <p:spPr bwMode="auto">
                <a:xfrm>
                  <a:off x="2421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56" name="Line 1218"/>
                <p:cNvSpPr>
                  <a:spLocks noChangeShapeType="1"/>
                </p:cNvSpPr>
                <p:nvPr/>
              </p:nvSpPr>
              <p:spPr bwMode="auto">
                <a:xfrm>
                  <a:off x="3420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10" name="Group 1219"/>
              <p:cNvGrpSpPr>
                <a:grpSpLocks/>
              </p:cNvGrpSpPr>
              <p:nvPr/>
            </p:nvGrpSpPr>
            <p:grpSpPr bwMode="auto">
              <a:xfrm>
                <a:off x="1824" y="8151"/>
                <a:ext cx="2166" cy="570"/>
                <a:chOff x="1824" y="7011"/>
                <a:chExt cx="2166" cy="570"/>
              </a:xfrm>
            </p:grpSpPr>
            <p:sp>
              <p:nvSpPr>
                <p:cNvPr id="16551" name="Rectangle 1220"/>
                <p:cNvSpPr>
                  <a:spLocks noChangeArrowheads="1"/>
                </p:cNvSpPr>
                <p:nvPr/>
              </p:nvSpPr>
              <p:spPr bwMode="auto">
                <a:xfrm>
                  <a:off x="1824" y="7011"/>
                  <a:ext cx="2166" cy="57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52" name="Line 1221"/>
                <p:cNvSpPr>
                  <a:spLocks noChangeShapeType="1"/>
                </p:cNvSpPr>
                <p:nvPr/>
              </p:nvSpPr>
              <p:spPr bwMode="auto">
                <a:xfrm>
                  <a:off x="2421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53" name="Line 1222"/>
                <p:cNvSpPr>
                  <a:spLocks noChangeShapeType="1"/>
                </p:cNvSpPr>
                <p:nvPr/>
              </p:nvSpPr>
              <p:spPr bwMode="auto">
                <a:xfrm>
                  <a:off x="3420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11" name="Group 1223"/>
              <p:cNvGrpSpPr>
                <a:grpSpLocks/>
              </p:cNvGrpSpPr>
              <p:nvPr/>
            </p:nvGrpSpPr>
            <p:grpSpPr bwMode="auto">
              <a:xfrm>
                <a:off x="1824" y="9348"/>
                <a:ext cx="2166" cy="570"/>
                <a:chOff x="1824" y="7011"/>
                <a:chExt cx="2166" cy="570"/>
              </a:xfrm>
            </p:grpSpPr>
            <p:sp>
              <p:nvSpPr>
                <p:cNvPr id="16548" name="Rectangle 1224"/>
                <p:cNvSpPr>
                  <a:spLocks noChangeArrowheads="1"/>
                </p:cNvSpPr>
                <p:nvPr/>
              </p:nvSpPr>
              <p:spPr bwMode="auto">
                <a:xfrm>
                  <a:off x="1824" y="7011"/>
                  <a:ext cx="2166" cy="57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49" name="Line 1225"/>
                <p:cNvSpPr>
                  <a:spLocks noChangeShapeType="1"/>
                </p:cNvSpPr>
                <p:nvPr/>
              </p:nvSpPr>
              <p:spPr bwMode="auto">
                <a:xfrm>
                  <a:off x="2421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50" name="Line 1226"/>
                <p:cNvSpPr>
                  <a:spLocks noChangeShapeType="1"/>
                </p:cNvSpPr>
                <p:nvPr/>
              </p:nvSpPr>
              <p:spPr bwMode="auto">
                <a:xfrm>
                  <a:off x="3420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12" name="Group 1227"/>
              <p:cNvGrpSpPr>
                <a:grpSpLocks/>
              </p:cNvGrpSpPr>
              <p:nvPr/>
            </p:nvGrpSpPr>
            <p:grpSpPr bwMode="auto">
              <a:xfrm>
                <a:off x="1824" y="10608"/>
                <a:ext cx="2166" cy="570"/>
                <a:chOff x="1824" y="7011"/>
                <a:chExt cx="2166" cy="570"/>
              </a:xfrm>
            </p:grpSpPr>
            <p:sp>
              <p:nvSpPr>
                <p:cNvPr id="16545" name="Rectangle 1228"/>
                <p:cNvSpPr>
                  <a:spLocks noChangeArrowheads="1"/>
                </p:cNvSpPr>
                <p:nvPr/>
              </p:nvSpPr>
              <p:spPr bwMode="auto">
                <a:xfrm>
                  <a:off x="1824" y="7011"/>
                  <a:ext cx="2166" cy="57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46" name="Line 1229"/>
                <p:cNvSpPr>
                  <a:spLocks noChangeShapeType="1"/>
                </p:cNvSpPr>
                <p:nvPr/>
              </p:nvSpPr>
              <p:spPr bwMode="auto">
                <a:xfrm>
                  <a:off x="2421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47" name="Line 1230"/>
                <p:cNvSpPr>
                  <a:spLocks noChangeShapeType="1"/>
                </p:cNvSpPr>
                <p:nvPr/>
              </p:nvSpPr>
              <p:spPr bwMode="auto">
                <a:xfrm>
                  <a:off x="3420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13" name="Group 1231"/>
              <p:cNvGrpSpPr>
                <a:grpSpLocks/>
              </p:cNvGrpSpPr>
              <p:nvPr/>
            </p:nvGrpSpPr>
            <p:grpSpPr bwMode="auto">
              <a:xfrm>
                <a:off x="1836" y="11895"/>
                <a:ext cx="2166" cy="570"/>
                <a:chOff x="1824" y="7011"/>
                <a:chExt cx="2166" cy="570"/>
              </a:xfrm>
            </p:grpSpPr>
            <p:sp>
              <p:nvSpPr>
                <p:cNvPr id="16542" name="Rectangle 1232"/>
                <p:cNvSpPr>
                  <a:spLocks noChangeArrowheads="1"/>
                </p:cNvSpPr>
                <p:nvPr/>
              </p:nvSpPr>
              <p:spPr bwMode="auto">
                <a:xfrm>
                  <a:off x="1824" y="7011"/>
                  <a:ext cx="2166" cy="57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43" name="Line 1233"/>
                <p:cNvSpPr>
                  <a:spLocks noChangeShapeType="1"/>
                </p:cNvSpPr>
                <p:nvPr/>
              </p:nvSpPr>
              <p:spPr bwMode="auto">
                <a:xfrm>
                  <a:off x="2421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44" name="Line 1234"/>
                <p:cNvSpPr>
                  <a:spLocks noChangeShapeType="1"/>
                </p:cNvSpPr>
                <p:nvPr/>
              </p:nvSpPr>
              <p:spPr bwMode="auto">
                <a:xfrm>
                  <a:off x="3420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14" name="Group 1235"/>
              <p:cNvGrpSpPr>
                <a:grpSpLocks/>
              </p:cNvGrpSpPr>
              <p:nvPr/>
            </p:nvGrpSpPr>
            <p:grpSpPr bwMode="auto">
              <a:xfrm>
                <a:off x="5244" y="8151"/>
                <a:ext cx="1254" cy="588"/>
                <a:chOff x="5358" y="6993"/>
                <a:chExt cx="1254" cy="588"/>
              </a:xfrm>
            </p:grpSpPr>
            <p:sp>
              <p:nvSpPr>
                <p:cNvPr id="16540" name="Rectangle 1236"/>
                <p:cNvSpPr>
                  <a:spLocks noChangeArrowheads="1"/>
                </p:cNvSpPr>
                <p:nvPr/>
              </p:nvSpPr>
              <p:spPr bwMode="auto">
                <a:xfrm>
                  <a:off x="5358" y="6993"/>
                  <a:ext cx="1254" cy="57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41" name="Line 1237"/>
                <p:cNvSpPr>
                  <a:spLocks noChangeShapeType="1"/>
                </p:cNvSpPr>
                <p:nvPr/>
              </p:nvSpPr>
              <p:spPr bwMode="auto">
                <a:xfrm>
                  <a:off x="6003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15" name="Group 1238"/>
              <p:cNvGrpSpPr>
                <a:grpSpLocks/>
              </p:cNvGrpSpPr>
              <p:nvPr/>
            </p:nvGrpSpPr>
            <p:grpSpPr bwMode="auto">
              <a:xfrm>
                <a:off x="9006" y="9405"/>
                <a:ext cx="1254" cy="588"/>
                <a:chOff x="5358" y="6993"/>
                <a:chExt cx="1254" cy="588"/>
              </a:xfrm>
            </p:grpSpPr>
            <p:sp>
              <p:nvSpPr>
                <p:cNvPr id="16538" name="Rectangle 1239"/>
                <p:cNvSpPr>
                  <a:spLocks noChangeArrowheads="1"/>
                </p:cNvSpPr>
                <p:nvPr/>
              </p:nvSpPr>
              <p:spPr bwMode="auto">
                <a:xfrm>
                  <a:off x="5358" y="6993"/>
                  <a:ext cx="1254" cy="57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39" name="Line 1240"/>
                <p:cNvSpPr>
                  <a:spLocks noChangeShapeType="1"/>
                </p:cNvSpPr>
                <p:nvPr/>
              </p:nvSpPr>
              <p:spPr bwMode="auto">
                <a:xfrm>
                  <a:off x="6003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16" name="Group 1241"/>
              <p:cNvGrpSpPr>
                <a:grpSpLocks/>
              </p:cNvGrpSpPr>
              <p:nvPr/>
            </p:nvGrpSpPr>
            <p:grpSpPr bwMode="auto">
              <a:xfrm>
                <a:off x="7011" y="9348"/>
                <a:ext cx="1254" cy="588"/>
                <a:chOff x="5358" y="6993"/>
                <a:chExt cx="1254" cy="588"/>
              </a:xfrm>
            </p:grpSpPr>
            <p:sp>
              <p:nvSpPr>
                <p:cNvPr id="16536" name="Rectangle 1242"/>
                <p:cNvSpPr>
                  <a:spLocks noChangeArrowheads="1"/>
                </p:cNvSpPr>
                <p:nvPr/>
              </p:nvSpPr>
              <p:spPr bwMode="auto">
                <a:xfrm>
                  <a:off x="5358" y="6993"/>
                  <a:ext cx="1254" cy="57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37" name="Line 1243"/>
                <p:cNvSpPr>
                  <a:spLocks noChangeShapeType="1"/>
                </p:cNvSpPr>
                <p:nvPr/>
              </p:nvSpPr>
              <p:spPr bwMode="auto">
                <a:xfrm>
                  <a:off x="6003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17" name="Group 1244"/>
              <p:cNvGrpSpPr>
                <a:grpSpLocks/>
              </p:cNvGrpSpPr>
              <p:nvPr/>
            </p:nvGrpSpPr>
            <p:grpSpPr bwMode="auto">
              <a:xfrm>
                <a:off x="5244" y="9348"/>
                <a:ext cx="1254" cy="588"/>
                <a:chOff x="5358" y="6993"/>
                <a:chExt cx="1254" cy="588"/>
              </a:xfrm>
            </p:grpSpPr>
            <p:sp>
              <p:nvSpPr>
                <p:cNvPr id="16534" name="Rectangle 1245"/>
                <p:cNvSpPr>
                  <a:spLocks noChangeArrowheads="1"/>
                </p:cNvSpPr>
                <p:nvPr/>
              </p:nvSpPr>
              <p:spPr bwMode="auto">
                <a:xfrm>
                  <a:off x="5358" y="6993"/>
                  <a:ext cx="1254" cy="57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35" name="Line 1246"/>
                <p:cNvSpPr>
                  <a:spLocks noChangeShapeType="1"/>
                </p:cNvSpPr>
                <p:nvPr/>
              </p:nvSpPr>
              <p:spPr bwMode="auto">
                <a:xfrm>
                  <a:off x="6003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18" name="Group 1247"/>
              <p:cNvGrpSpPr>
                <a:grpSpLocks/>
              </p:cNvGrpSpPr>
              <p:nvPr/>
            </p:nvGrpSpPr>
            <p:grpSpPr bwMode="auto">
              <a:xfrm>
                <a:off x="5244" y="10590"/>
                <a:ext cx="1254" cy="588"/>
                <a:chOff x="5358" y="6993"/>
                <a:chExt cx="1254" cy="588"/>
              </a:xfrm>
            </p:grpSpPr>
            <p:sp>
              <p:nvSpPr>
                <p:cNvPr id="16532" name="Rectangle 1248"/>
                <p:cNvSpPr>
                  <a:spLocks noChangeArrowheads="1"/>
                </p:cNvSpPr>
                <p:nvPr/>
              </p:nvSpPr>
              <p:spPr bwMode="auto">
                <a:xfrm>
                  <a:off x="5358" y="6993"/>
                  <a:ext cx="1254" cy="57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33" name="Line 1249"/>
                <p:cNvSpPr>
                  <a:spLocks noChangeShapeType="1"/>
                </p:cNvSpPr>
                <p:nvPr/>
              </p:nvSpPr>
              <p:spPr bwMode="auto">
                <a:xfrm>
                  <a:off x="6003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19" name="Group 1250"/>
              <p:cNvGrpSpPr>
                <a:grpSpLocks/>
              </p:cNvGrpSpPr>
              <p:nvPr/>
            </p:nvGrpSpPr>
            <p:grpSpPr bwMode="auto">
              <a:xfrm>
                <a:off x="8778" y="11913"/>
                <a:ext cx="1254" cy="588"/>
                <a:chOff x="5358" y="6993"/>
                <a:chExt cx="1254" cy="588"/>
              </a:xfrm>
            </p:grpSpPr>
            <p:sp>
              <p:nvSpPr>
                <p:cNvPr id="16530" name="Rectangle 1251"/>
                <p:cNvSpPr>
                  <a:spLocks noChangeArrowheads="1"/>
                </p:cNvSpPr>
                <p:nvPr/>
              </p:nvSpPr>
              <p:spPr bwMode="auto">
                <a:xfrm>
                  <a:off x="5358" y="6993"/>
                  <a:ext cx="1254" cy="57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31" name="Line 1252"/>
                <p:cNvSpPr>
                  <a:spLocks noChangeShapeType="1"/>
                </p:cNvSpPr>
                <p:nvPr/>
              </p:nvSpPr>
              <p:spPr bwMode="auto">
                <a:xfrm>
                  <a:off x="6003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20" name="Group 1253"/>
              <p:cNvGrpSpPr>
                <a:grpSpLocks/>
              </p:cNvGrpSpPr>
              <p:nvPr/>
            </p:nvGrpSpPr>
            <p:grpSpPr bwMode="auto">
              <a:xfrm>
                <a:off x="7011" y="11913"/>
                <a:ext cx="1254" cy="588"/>
                <a:chOff x="5358" y="6993"/>
                <a:chExt cx="1254" cy="588"/>
              </a:xfrm>
            </p:grpSpPr>
            <p:sp>
              <p:nvSpPr>
                <p:cNvPr id="16528" name="Rectangle 1254"/>
                <p:cNvSpPr>
                  <a:spLocks noChangeArrowheads="1"/>
                </p:cNvSpPr>
                <p:nvPr/>
              </p:nvSpPr>
              <p:spPr bwMode="auto">
                <a:xfrm>
                  <a:off x="5358" y="6993"/>
                  <a:ext cx="1254" cy="57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29" name="Line 1255"/>
                <p:cNvSpPr>
                  <a:spLocks noChangeShapeType="1"/>
                </p:cNvSpPr>
                <p:nvPr/>
              </p:nvSpPr>
              <p:spPr bwMode="auto">
                <a:xfrm>
                  <a:off x="6003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21" name="Group 1256"/>
              <p:cNvGrpSpPr>
                <a:grpSpLocks/>
              </p:cNvGrpSpPr>
              <p:nvPr/>
            </p:nvGrpSpPr>
            <p:grpSpPr bwMode="auto">
              <a:xfrm>
                <a:off x="5244" y="11913"/>
                <a:ext cx="1254" cy="588"/>
                <a:chOff x="5358" y="6993"/>
                <a:chExt cx="1254" cy="588"/>
              </a:xfrm>
            </p:grpSpPr>
            <p:sp>
              <p:nvSpPr>
                <p:cNvPr id="16526" name="Rectangle 1257"/>
                <p:cNvSpPr>
                  <a:spLocks noChangeArrowheads="1"/>
                </p:cNvSpPr>
                <p:nvPr/>
              </p:nvSpPr>
              <p:spPr bwMode="auto">
                <a:xfrm>
                  <a:off x="5358" y="6993"/>
                  <a:ext cx="1254" cy="57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27" name="Line 1258"/>
                <p:cNvSpPr>
                  <a:spLocks noChangeShapeType="1"/>
                </p:cNvSpPr>
                <p:nvPr/>
              </p:nvSpPr>
              <p:spPr bwMode="auto">
                <a:xfrm>
                  <a:off x="6003" y="7011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sp>
            <p:nvSpPr>
              <p:cNvPr id="16422" name="Line 1259"/>
              <p:cNvSpPr>
                <a:spLocks noChangeShapeType="1"/>
              </p:cNvSpPr>
              <p:nvPr/>
            </p:nvSpPr>
            <p:spPr bwMode="auto">
              <a:xfrm>
                <a:off x="2907" y="7296"/>
                <a:ext cx="0" cy="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23" name="Line 1260"/>
              <p:cNvSpPr>
                <a:spLocks noChangeShapeType="1"/>
              </p:cNvSpPr>
              <p:nvPr/>
            </p:nvSpPr>
            <p:spPr bwMode="auto">
              <a:xfrm>
                <a:off x="2907" y="8493"/>
                <a:ext cx="0" cy="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24" name="Line 1261"/>
              <p:cNvSpPr>
                <a:spLocks noChangeShapeType="1"/>
              </p:cNvSpPr>
              <p:nvPr/>
            </p:nvSpPr>
            <p:spPr bwMode="auto">
              <a:xfrm>
                <a:off x="2907" y="9720"/>
                <a:ext cx="0" cy="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25" name="Line 1262"/>
              <p:cNvSpPr>
                <a:spLocks noChangeShapeType="1"/>
              </p:cNvSpPr>
              <p:nvPr/>
            </p:nvSpPr>
            <p:spPr bwMode="auto">
              <a:xfrm>
                <a:off x="2919" y="11058"/>
                <a:ext cx="0" cy="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26" name="Line 1263"/>
              <p:cNvSpPr>
                <a:spLocks noChangeShapeType="1"/>
              </p:cNvSpPr>
              <p:nvPr/>
            </p:nvSpPr>
            <p:spPr bwMode="auto">
              <a:xfrm>
                <a:off x="2922" y="12327"/>
                <a:ext cx="0" cy="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27" name="Line 1264"/>
              <p:cNvSpPr>
                <a:spLocks noChangeShapeType="1"/>
              </p:cNvSpPr>
              <p:nvPr/>
            </p:nvSpPr>
            <p:spPr bwMode="auto">
              <a:xfrm>
                <a:off x="3705" y="7284"/>
                <a:ext cx="153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28" name="Line 1265"/>
              <p:cNvSpPr>
                <a:spLocks noChangeShapeType="1"/>
              </p:cNvSpPr>
              <p:nvPr/>
            </p:nvSpPr>
            <p:spPr bwMode="auto">
              <a:xfrm>
                <a:off x="3732" y="8436"/>
                <a:ext cx="153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29" name="Line 1266"/>
              <p:cNvSpPr>
                <a:spLocks noChangeShapeType="1"/>
              </p:cNvSpPr>
              <p:nvPr/>
            </p:nvSpPr>
            <p:spPr bwMode="auto">
              <a:xfrm>
                <a:off x="3732" y="9633"/>
                <a:ext cx="153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30" name="Line 1267"/>
              <p:cNvSpPr>
                <a:spLocks noChangeShapeType="1"/>
              </p:cNvSpPr>
              <p:nvPr/>
            </p:nvSpPr>
            <p:spPr bwMode="auto">
              <a:xfrm>
                <a:off x="3762" y="10887"/>
                <a:ext cx="153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31" name="Line 1268"/>
              <p:cNvSpPr>
                <a:spLocks noChangeShapeType="1"/>
              </p:cNvSpPr>
              <p:nvPr/>
            </p:nvSpPr>
            <p:spPr bwMode="auto">
              <a:xfrm>
                <a:off x="3705" y="12198"/>
                <a:ext cx="153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32" name="Line 1269"/>
              <p:cNvSpPr>
                <a:spLocks noChangeShapeType="1"/>
              </p:cNvSpPr>
              <p:nvPr/>
            </p:nvSpPr>
            <p:spPr bwMode="auto">
              <a:xfrm>
                <a:off x="1539" y="6612"/>
                <a:ext cx="57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33" name="Line 1270"/>
              <p:cNvSpPr>
                <a:spLocks noChangeShapeType="1"/>
              </p:cNvSpPr>
              <p:nvPr/>
            </p:nvSpPr>
            <p:spPr bwMode="auto">
              <a:xfrm>
                <a:off x="2109" y="6612"/>
                <a:ext cx="0" cy="39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grpSp>
            <p:nvGrpSpPr>
              <p:cNvPr id="16434" name="Group 1271"/>
              <p:cNvGrpSpPr>
                <a:grpSpLocks/>
              </p:cNvGrpSpPr>
              <p:nvPr/>
            </p:nvGrpSpPr>
            <p:grpSpPr bwMode="auto">
              <a:xfrm>
                <a:off x="5472" y="6783"/>
                <a:ext cx="213" cy="513"/>
                <a:chOff x="5457" y="6669"/>
                <a:chExt cx="228" cy="627"/>
              </a:xfrm>
            </p:grpSpPr>
            <p:sp>
              <p:nvSpPr>
                <p:cNvPr id="16524" name="Line 1272"/>
                <p:cNvSpPr>
                  <a:spLocks noChangeShapeType="1"/>
                </p:cNvSpPr>
                <p:nvPr/>
              </p:nvSpPr>
              <p:spPr bwMode="auto">
                <a:xfrm flipV="1">
                  <a:off x="5586" y="6669"/>
                  <a:ext cx="0" cy="62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25" name="Line 1273"/>
                <p:cNvSpPr>
                  <a:spLocks noChangeShapeType="1"/>
                </p:cNvSpPr>
                <p:nvPr/>
              </p:nvSpPr>
              <p:spPr bwMode="auto">
                <a:xfrm>
                  <a:off x="5457" y="6669"/>
                  <a:ext cx="228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35" name="Group 1274"/>
              <p:cNvGrpSpPr>
                <a:grpSpLocks/>
              </p:cNvGrpSpPr>
              <p:nvPr/>
            </p:nvGrpSpPr>
            <p:grpSpPr bwMode="auto">
              <a:xfrm>
                <a:off x="5529" y="7965"/>
                <a:ext cx="141" cy="456"/>
                <a:chOff x="5457" y="6669"/>
                <a:chExt cx="228" cy="627"/>
              </a:xfrm>
            </p:grpSpPr>
            <p:sp>
              <p:nvSpPr>
                <p:cNvPr id="16522" name="Line 1275"/>
                <p:cNvSpPr>
                  <a:spLocks noChangeShapeType="1"/>
                </p:cNvSpPr>
                <p:nvPr/>
              </p:nvSpPr>
              <p:spPr bwMode="auto">
                <a:xfrm flipV="1">
                  <a:off x="5586" y="6669"/>
                  <a:ext cx="0" cy="62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23" name="Line 1276"/>
                <p:cNvSpPr>
                  <a:spLocks noChangeShapeType="1"/>
                </p:cNvSpPr>
                <p:nvPr/>
              </p:nvSpPr>
              <p:spPr bwMode="auto">
                <a:xfrm>
                  <a:off x="5457" y="6669"/>
                  <a:ext cx="228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36" name="Group 1277"/>
              <p:cNvGrpSpPr>
                <a:grpSpLocks/>
              </p:cNvGrpSpPr>
              <p:nvPr/>
            </p:nvGrpSpPr>
            <p:grpSpPr bwMode="auto">
              <a:xfrm>
                <a:off x="5415" y="10374"/>
                <a:ext cx="243" cy="498"/>
                <a:chOff x="5457" y="6669"/>
                <a:chExt cx="228" cy="627"/>
              </a:xfrm>
            </p:grpSpPr>
            <p:sp>
              <p:nvSpPr>
                <p:cNvPr id="16520" name="Line 1278"/>
                <p:cNvSpPr>
                  <a:spLocks noChangeShapeType="1"/>
                </p:cNvSpPr>
                <p:nvPr/>
              </p:nvSpPr>
              <p:spPr bwMode="auto">
                <a:xfrm flipV="1">
                  <a:off x="5586" y="6669"/>
                  <a:ext cx="0" cy="62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21" name="Line 1279"/>
                <p:cNvSpPr>
                  <a:spLocks noChangeShapeType="1"/>
                </p:cNvSpPr>
                <p:nvPr/>
              </p:nvSpPr>
              <p:spPr bwMode="auto">
                <a:xfrm>
                  <a:off x="5457" y="6669"/>
                  <a:ext cx="228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37" name="Group 1280"/>
              <p:cNvGrpSpPr>
                <a:grpSpLocks/>
              </p:cNvGrpSpPr>
              <p:nvPr/>
            </p:nvGrpSpPr>
            <p:grpSpPr bwMode="auto">
              <a:xfrm>
                <a:off x="8973" y="11727"/>
                <a:ext cx="171" cy="456"/>
                <a:chOff x="5457" y="6669"/>
                <a:chExt cx="228" cy="627"/>
              </a:xfrm>
            </p:grpSpPr>
            <p:sp>
              <p:nvSpPr>
                <p:cNvPr id="16518" name="Line 1281"/>
                <p:cNvSpPr>
                  <a:spLocks noChangeShapeType="1"/>
                </p:cNvSpPr>
                <p:nvPr/>
              </p:nvSpPr>
              <p:spPr bwMode="auto">
                <a:xfrm flipV="1">
                  <a:off x="5586" y="6669"/>
                  <a:ext cx="0" cy="62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19" name="Line 1282"/>
                <p:cNvSpPr>
                  <a:spLocks noChangeShapeType="1"/>
                </p:cNvSpPr>
                <p:nvPr/>
              </p:nvSpPr>
              <p:spPr bwMode="auto">
                <a:xfrm>
                  <a:off x="5457" y="6669"/>
                  <a:ext cx="228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38" name="Group 1283"/>
              <p:cNvGrpSpPr>
                <a:grpSpLocks/>
              </p:cNvGrpSpPr>
              <p:nvPr/>
            </p:nvGrpSpPr>
            <p:grpSpPr bwMode="auto">
              <a:xfrm>
                <a:off x="5586" y="9633"/>
                <a:ext cx="1710" cy="513"/>
                <a:chOff x="5586" y="9633"/>
                <a:chExt cx="1710" cy="513"/>
              </a:xfrm>
            </p:grpSpPr>
            <p:sp>
              <p:nvSpPr>
                <p:cNvPr id="16515" name="Line 1284"/>
                <p:cNvSpPr>
                  <a:spLocks noChangeShapeType="1"/>
                </p:cNvSpPr>
                <p:nvPr/>
              </p:nvSpPr>
              <p:spPr bwMode="auto">
                <a:xfrm>
                  <a:off x="5586" y="9633"/>
                  <a:ext cx="0" cy="5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16" name="Line 1285"/>
                <p:cNvSpPr>
                  <a:spLocks noChangeShapeType="1"/>
                </p:cNvSpPr>
                <p:nvPr/>
              </p:nvSpPr>
              <p:spPr bwMode="auto">
                <a:xfrm>
                  <a:off x="5586" y="10146"/>
                  <a:ext cx="171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17" name="Line 1286"/>
                <p:cNvSpPr>
                  <a:spLocks noChangeShapeType="1"/>
                </p:cNvSpPr>
                <p:nvPr/>
              </p:nvSpPr>
              <p:spPr bwMode="auto">
                <a:xfrm flipV="1">
                  <a:off x="7296" y="9918"/>
                  <a:ext cx="0" cy="22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39" name="Group 1287"/>
              <p:cNvGrpSpPr>
                <a:grpSpLocks/>
              </p:cNvGrpSpPr>
              <p:nvPr/>
            </p:nvGrpSpPr>
            <p:grpSpPr bwMode="auto">
              <a:xfrm>
                <a:off x="5586" y="12213"/>
                <a:ext cx="1710" cy="513"/>
                <a:chOff x="5586" y="9633"/>
                <a:chExt cx="1710" cy="513"/>
              </a:xfrm>
            </p:grpSpPr>
            <p:sp>
              <p:nvSpPr>
                <p:cNvPr id="16512" name="Line 1288"/>
                <p:cNvSpPr>
                  <a:spLocks noChangeShapeType="1"/>
                </p:cNvSpPr>
                <p:nvPr/>
              </p:nvSpPr>
              <p:spPr bwMode="auto">
                <a:xfrm>
                  <a:off x="5586" y="9633"/>
                  <a:ext cx="0" cy="5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13" name="Line 1289"/>
                <p:cNvSpPr>
                  <a:spLocks noChangeShapeType="1"/>
                </p:cNvSpPr>
                <p:nvPr/>
              </p:nvSpPr>
              <p:spPr bwMode="auto">
                <a:xfrm>
                  <a:off x="5586" y="10146"/>
                  <a:ext cx="171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14" name="Line 1290"/>
                <p:cNvSpPr>
                  <a:spLocks noChangeShapeType="1"/>
                </p:cNvSpPr>
                <p:nvPr/>
              </p:nvSpPr>
              <p:spPr bwMode="auto">
                <a:xfrm flipV="1">
                  <a:off x="7296" y="9918"/>
                  <a:ext cx="0" cy="22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40" name="Group 1291"/>
              <p:cNvGrpSpPr>
                <a:grpSpLocks/>
              </p:cNvGrpSpPr>
              <p:nvPr/>
            </p:nvGrpSpPr>
            <p:grpSpPr bwMode="auto">
              <a:xfrm>
                <a:off x="7410" y="12210"/>
                <a:ext cx="1710" cy="513"/>
                <a:chOff x="5586" y="9633"/>
                <a:chExt cx="1710" cy="513"/>
              </a:xfrm>
            </p:grpSpPr>
            <p:sp>
              <p:nvSpPr>
                <p:cNvPr id="16509" name="Line 1292"/>
                <p:cNvSpPr>
                  <a:spLocks noChangeShapeType="1"/>
                </p:cNvSpPr>
                <p:nvPr/>
              </p:nvSpPr>
              <p:spPr bwMode="auto">
                <a:xfrm>
                  <a:off x="5586" y="9633"/>
                  <a:ext cx="0" cy="5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10" name="Line 1293"/>
                <p:cNvSpPr>
                  <a:spLocks noChangeShapeType="1"/>
                </p:cNvSpPr>
                <p:nvPr/>
              </p:nvSpPr>
              <p:spPr bwMode="auto">
                <a:xfrm>
                  <a:off x="5586" y="10146"/>
                  <a:ext cx="171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11" name="Line 1294"/>
                <p:cNvSpPr>
                  <a:spLocks noChangeShapeType="1"/>
                </p:cNvSpPr>
                <p:nvPr/>
              </p:nvSpPr>
              <p:spPr bwMode="auto">
                <a:xfrm flipV="1">
                  <a:off x="7296" y="9918"/>
                  <a:ext cx="0" cy="22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16441" name="Group 1295"/>
              <p:cNvGrpSpPr>
                <a:grpSpLocks/>
              </p:cNvGrpSpPr>
              <p:nvPr/>
            </p:nvGrpSpPr>
            <p:grpSpPr bwMode="auto">
              <a:xfrm>
                <a:off x="7467" y="9120"/>
                <a:ext cx="1710" cy="513"/>
                <a:chOff x="7809" y="8037"/>
                <a:chExt cx="1710" cy="513"/>
              </a:xfrm>
            </p:grpSpPr>
            <p:sp>
              <p:nvSpPr>
                <p:cNvPr id="16506" name="Line 1296"/>
                <p:cNvSpPr>
                  <a:spLocks noChangeShapeType="1"/>
                </p:cNvSpPr>
                <p:nvPr/>
              </p:nvSpPr>
              <p:spPr bwMode="auto">
                <a:xfrm rot="10800000">
                  <a:off x="7809" y="8037"/>
                  <a:ext cx="0" cy="5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07" name="Line 1297"/>
                <p:cNvSpPr>
                  <a:spLocks noChangeShapeType="1"/>
                </p:cNvSpPr>
                <p:nvPr/>
              </p:nvSpPr>
              <p:spPr bwMode="auto">
                <a:xfrm rot="10800000">
                  <a:off x="7809" y="8037"/>
                  <a:ext cx="171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08" name="Line 1298"/>
                <p:cNvSpPr>
                  <a:spLocks noChangeShapeType="1"/>
                </p:cNvSpPr>
                <p:nvPr/>
              </p:nvSpPr>
              <p:spPr bwMode="auto">
                <a:xfrm rot="10800000" flipV="1">
                  <a:off x="9519" y="8037"/>
                  <a:ext cx="0" cy="22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sp>
            <p:nvSpPr>
              <p:cNvPr id="16442" name="Line 1299"/>
              <p:cNvSpPr>
                <a:spLocks noChangeShapeType="1"/>
              </p:cNvSpPr>
              <p:nvPr/>
            </p:nvSpPr>
            <p:spPr bwMode="auto">
              <a:xfrm>
                <a:off x="6213" y="7296"/>
                <a:ext cx="57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43" name="Line 1300"/>
              <p:cNvSpPr>
                <a:spLocks noChangeShapeType="1"/>
              </p:cNvSpPr>
              <p:nvPr/>
            </p:nvSpPr>
            <p:spPr bwMode="auto">
              <a:xfrm>
                <a:off x="6783" y="7296"/>
                <a:ext cx="0" cy="39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44" name="Line 1301"/>
              <p:cNvSpPr>
                <a:spLocks noChangeShapeType="1"/>
              </p:cNvSpPr>
              <p:nvPr/>
            </p:nvSpPr>
            <p:spPr bwMode="auto">
              <a:xfrm>
                <a:off x="3078" y="7692"/>
                <a:ext cx="370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45" name="Line 1302"/>
              <p:cNvSpPr>
                <a:spLocks noChangeShapeType="1"/>
              </p:cNvSpPr>
              <p:nvPr/>
            </p:nvSpPr>
            <p:spPr bwMode="auto">
              <a:xfrm>
                <a:off x="3078" y="7695"/>
                <a:ext cx="0" cy="45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46" name="Line 1303"/>
              <p:cNvSpPr>
                <a:spLocks noChangeShapeType="1"/>
              </p:cNvSpPr>
              <p:nvPr/>
            </p:nvSpPr>
            <p:spPr bwMode="auto">
              <a:xfrm>
                <a:off x="7923" y="12240"/>
                <a:ext cx="0" cy="7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47" name="Line 1304"/>
              <p:cNvSpPr>
                <a:spLocks noChangeShapeType="1"/>
              </p:cNvSpPr>
              <p:nvPr/>
            </p:nvSpPr>
            <p:spPr bwMode="auto">
              <a:xfrm>
                <a:off x="3135" y="12966"/>
                <a:ext cx="47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48" name="Line 1305"/>
              <p:cNvSpPr>
                <a:spLocks noChangeShapeType="1"/>
              </p:cNvSpPr>
              <p:nvPr/>
            </p:nvSpPr>
            <p:spPr bwMode="auto">
              <a:xfrm>
                <a:off x="3135" y="12969"/>
                <a:ext cx="0" cy="2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49" name="Line 1306"/>
              <p:cNvSpPr>
                <a:spLocks noChangeShapeType="1"/>
              </p:cNvSpPr>
              <p:nvPr/>
            </p:nvSpPr>
            <p:spPr bwMode="auto">
              <a:xfrm flipV="1">
                <a:off x="6213" y="11571"/>
                <a:ext cx="0" cy="6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50" name="Line 1307"/>
              <p:cNvSpPr>
                <a:spLocks noChangeShapeType="1"/>
              </p:cNvSpPr>
              <p:nvPr/>
            </p:nvSpPr>
            <p:spPr bwMode="auto">
              <a:xfrm>
                <a:off x="3192" y="11571"/>
                <a:ext cx="302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51" name="Line 1308"/>
              <p:cNvSpPr>
                <a:spLocks noChangeShapeType="1"/>
              </p:cNvSpPr>
              <p:nvPr/>
            </p:nvSpPr>
            <p:spPr bwMode="auto">
              <a:xfrm>
                <a:off x="3192" y="11571"/>
                <a:ext cx="0" cy="3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52" name="Line 1309"/>
              <p:cNvSpPr>
                <a:spLocks noChangeShapeType="1"/>
              </p:cNvSpPr>
              <p:nvPr/>
            </p:nvSpPr>
            <p:spPr bwMode="auto">
              <a:xfrm>
                <a:off x="9747" y="12198"/>
                <a:ext cx="199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53" name="Line 1310"/>
              <p:cNvSpPr>
                <a:spLocks noChangeShapeType="1"/>
              </p:cNvSpPr>
              <p:nvPr/>
            </p:nvSpPr>
            <p:spPr bwMode="auto">
              <a:xfrm flipV="1">
                <a:off x="11742" y="6498"/>
                <a:ext cx="0" cy="57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54" name="Line 1311"/>
              <p:cNvSpPr>
                <a:spLocks noChangeShapeType="1"/>
              </p:cNvSpPr>
              <p:nvPr/>
            </p:nvSpPr>
            <p:spPr bwMode="auto">
              <a:xfrm>
                <a:off x="2907" y="6498"/>
                <a:ext cx="88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55" name="Line 1312"/>
              <p:cNvSpPr>
                <a:spLocks noChangeShapeType="1"/>
              </p:cNvSpPr>
              <p:nvPr/>
            </p:nvSpPr>
            <p:spPr bwMode="auto">
              <a:xfrm>
                <a:off x="2907" y="6498"/>
                <a:ext cx="0" cy="5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56" name="Line 1313"/>
              <p:cNvSpPr>
                <a:spLocks noChangeShapeType="1"/>
              </p:cNvSpPr>
              <p:nvPr/>
            </p:nvSpPr>
            <p:spPr bwMode="auto">
              <a:xfrm>
                <a:off x="6156" y="8436"/>
                <a:ext cx="444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57" name="Oval 1314"/>
              <p:cNvSpPr>
                <a:spLocks noChangeArrowheads="1"/>
              </p:cNvSpPr>
              <p:nvPr/>
            </p:nvSpPr>
            <p:spPr bwMode="auto">
              <a:xfrm>
                <a:off x="2862" y="7239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58" name="Oval 1315"/>
              <p:cNvSpPr>
                <a:spLocks noChangeArrowheads="1"/>
              </p:cNvSpPr>
              <p:nvPr/>
            </p:nvSpPr>
            <p:spPr bwMode="auto">
              <a:xfrm>
                <a:off x="2853" y="8436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59" name="Oval 1316"/>
              <p:cNvSpPr>
                <a:spLocks noChangeArrowheads="1"/>
              </p:cNvSpPr>
              <p:nvPr/>
            </p:nvSpPr>
            <p:spPr bwMode="auto">
              <a:xfrm>
                <a:off x="5529" y="7182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60" name="Oval 1317"/>
              <p:cNvSpPr>
                <a:spLocks noChangeArrowheads="1"/>
              </p:cNvSpPr>
              <p:nvPr/>
            </p:nvSpPr>
            <p:spPr bwMode="auto">
              <a:xfrm>
                <a:off x="3648" y="7239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61" name="Oval 1318"/>
              <p:cNvSpPr>
                <a:spLocks noChangeArrowheads="1"/>
              </p:cNvSpPr>
              <p:nvPr/>
            </p:nvSpPr>
            <p:spPr bwMode="auto">
              <a:xfrm>
                <a:off x="6156" y="7224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62" name="Oval 1319"/>
              <p:cNvSpPr>
                <a:spLocks noChangeArrowheads="1"/>
              </p:cNvSpPr>
              <p:nvPr/>
            </p:nvSpPr>
            <p:spPr bwMode="auto">
              <a:xfrm>
                <a:off x="5553" y="8379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63" name="Oval 1320"/>
              <p:cNvSpPr>
                <a:spLocks noChangeArrowheads="1"/>
              </p:cNvSpPr>
              <p:nvPr/>
            </p:nvSpPr>
            <p:spPr bwMode="auto">
              <a:xfrm>
                <a:off x="6129" y="8382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64" name="Line 1321"/>
              <p:cNvSpPr>
                <a:spLocks noChangeShapeType="1"/>
              </p:cNvSpPr>
              <p:nvPr/>
            </p:nvSpPr>
            <p:spPr bwMode="auto">
              <a:xfrm>
                <a:off x="10614" y="8436"/>
                <a:ext cx="0" cy="29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65" name="Line 1322"/>
              <p:cNvSpPr>
                <a:spLocks noChangeShapeType="1"/>
              </p:cNvSpPr>
              <p:nvPr/>
            </p:nvSpPr>
            <p:spPr bwMode="auto">
              <a:xfrm>
                <a:off x="3063" y="11373"/>
                <a:ext cx="0" cy="5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66" name="Line 1323"/>
              <p:cNvSpPr>
                <a:spLocks noChangeShapeType="1"/>
              </p:cNvSpPr>
              <p:nvPr/>
            </p:nvSpPr>
            <p:spPr bwMode="auto">
              <a:xfrm>
                <a:off x="3051" y="11358"/>
                <a:ext cx="7596" cy="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67" name="Oval 1324"/>
              <p:cNvSpPr>
                <a:spLocks noChangeArrowheads="1"/>
              </p:cNvSpPr>
              <p:nvPr/>
            </p:nvSpPr>
            <p:spPr bwMode="auto">
              <a:xfrm>
                <a:off x="2853" y="9633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68" name="Oval 1325"/>
              <p:cNvSpPr>
                <a:spLocks noChangeArrowheads="1"/>
              </p:cNvSpPr>
              <p:nvPr/>
            </p:nvSpPr>
            <p:spPr bwMode="auto">
              <a:xfrm>
                <a:off x="5526" y="9564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69" name="Oval 1326"/>
              <p:cNvSpPr>
                <a:spLocks noChangeArrowheads="1"/>
              </p:cNvSpPr>
              <p:nvPr/>
            </p:nvSpPr>
            <p:spPr bwMode="auto">
              <a:xfrm>
                <a:off x="7410" y="9591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70" name="Oval 1327"/>
              <p:cNvSpPr>
                <a:spLocks noChangeArrowheads="1"/>
              </p:cNvSpPr>
              <p:nvPr/>
            </p:nvSpPr>
            <p:spPr bwMode="auto">
              <a:xfrm>
                <a:off x="2865" y="10914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grpSp>
            <p:nvGrpSpPr>
              <p:cNvPr id="16471" name="Group 1328"/>
              <p:cNvGrpSpPr>
                <a:grpSpLocks/>
              </p:cNvGrpSpPr>
              <p:nvPr/>
            </p:nvGrpSpPr>
            <p:grpSpPr bwMode="auto">
              <a:xfrm>
                <a:off x="9234" y="9690"/>
                <a:ext cx="228" cy="570"/>
                <a:chOff x="2823" y="13509"/>
                <a:chExt cx="228" cy="570"/>
              </a:xfrm>
            </p:grpSpPr>
            <p:sp>
              <p:nvSpPr>
                <p:cNvPr id="16504" name="Line 1329"/>
                <p:cNvSpPr>
                  <a:spLocks noChangeShapeType="1"/>
                </p:cNvSpPr>
                <p:nvPr/>
              </p:nvSpPr>
              <p:spPr bwMode="auto">
                <a:xfrm>
                  <a:off x="2919" y="13509"/>
                  <a:ext cx="0" cy="5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16505" name="Line 1330"/>
                <p:cNvSpPr>
                  <a:spLocks noChangeShapeType="1"/>
                </p:cNvSpPr>
                <p:nvPr/>
              </p:nvSpPr>
              <p:spPr bwMode="auto">
                <a:xfrm>
                  <a:off x="2823" y="14079"/>
                  <a:ext cx="228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sp>
            <p:nvSpPr>
              <p:cNvPr id="16472" name="Line 1331"/>
              <p:cNvSpPr>
                <a:spLocks noChangeShapeType="1"/>
              </p:cNvSpPr>
              <p:nvPr/>
            </p:nvSpPr>
            <p:spPr bwMode="auto">
              <a:xfrm>
                <a:off x="10146" y="9747"/>
                <a:ext cx="0" cy="307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73" name="Line 1332"/>
              <p:cNvSpPr>
                <a:spLocks noChangeShapeType="1"/>
              </p:cNvSpPr>
              <p:nvPr/>
            </p:nvSpPr>
            <p:spPr bwMode="auto">
              <a:xfrm>
                <a:off x="3135" y="12825"/>
                <a:ext cx="701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74" name="Line 1333"/>
              <p:cNvSpPr>
                <a:spLocks noChangeShapeType="1"/>
              </p:cNvSpPr>
              <p:nvPr/>
            </p:nvSpPr>
            <p:spPr bwMode="auto">
              <a:xfrm flipV="1">
                <a:off x="3147" y="12456"/>
                <a:ext cx="0" cy="3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75" name="Oval 1334"/>
              <p:cNvSpPr>
                <a:spLocks noChangeArrowheads="1"/>
              </p:cNvSpPr>
              <p:nvPr/>
            </p:nvSpPr>
            <p:spPr bwMode="auto">
              <a:xfrm>
                <a:off x="9264" y="9690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76" name="Oval 1335"/>
              <p:cNvSpPr>
                <a:spLocks noChangeArrowheads="1"/>
              </p:cNvSpPr>
              <p:nvPr/>
            </p:nvSpPr>
            <p:spPr bwMode="auto">
              <a:xfrm>
                <a:off x="10074" y="9690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77" name="Line 1336"/>
              <p:cNvSpPr>
                <a:spLocks noChangeShapeType="1"/>
              </p:cNvSpPr>
              <p:nvPr/>
            </p:nvSpPr>
            <p:spPr bwMode="auto">
              <a:xfrm flipV="1">
                <a:off x="6213" y="9006"/>
                <a:ext cx="0" cy="6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78" name="Line 1337"/>
              <p:cNvSpPr>
                <a:spLocks noChangeShapeType="1"/>
              </p:cNvSpPr>
              <p:nvPr/>
            </p:nvSpPr>
            <p:spPr bwMode="auto">
              <a:xfrm>
                <a:off x="3135" y="9006"/>
                <a:ext cx="307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79" name="Line 1338"/>
              <p:cNvSpPr>
                <a:spLocks noChangeShapeType="1"/>
              </p:cNvSpPr>
              <p:nvPr/>
            </p:nvSpPr>
            <p:spPr bwMode="auto">
              <a:xfrm flipV="1">
                <a:off x="3132" y="8694"/>
                <a:ext cx="0" cy="2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80" name="Oval 1339"/>
              <p:cNvSpPr>
                <a:spLocks noChangeArrowheads="1"/>
              </p:cNvSpPr>
              <p:nvPr/>
            </p:nvSpPr>
            <p:spPr bwMode="auto">
              <a:xfrm>
                <a:off x="6156" y="9585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81" name="Line 1340"/>
              <p:cNvSpPr>
                <a:spLocks noChangeShapeType="1"/>
              </p:cNvSpPr>
              <p:nvPr/>
            </p:nvSpPr>
            <p:spPr bwMode="auto">
              <a:xfrm>
                <a:off x="7908" y="9603"/>
                <a:ext cx="0" cy="6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82" name="Line 1341"/>
              <p:cNvSpPr>
                <a:spLocks noChangeShapeType="1"/>
              </p:cNvSpPr>
              <p:nvPr/>
            </p:nvSpPr>
            <p:spPr bwMode="auto">
              <a:xfrm>
                <a:off x="3249" y="10275"/>
                <a:ext cx="467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83" name="Line 1342"/>
              <p:cNvSpPr>
                <a:spLocks noChangeShapeType="1"/>
              </p:cNvSpPr>
              <p:nvPr/>
            </p:nvSpPr>
            <p:spPr bwMode="auto">
              <a:xfrm>
                <a:off x="3234" y="10260"/>
                <a:ext cx="0" cy="3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84" name="Oval 1343"/>
              <p:cNvSpPr>
                <a:spLocks noChangeArrowheads="1"/>
              </p:cNvSpPr>
              <p:nvPr/>
            </p:nvSpPr>
            <p:spPr bwMode="auto">
              <a:xfrm>
                <a:off x="7851" y="9588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85" name="Oval 1344"/>
              <p:cNvSpPr>
                <a:spLocks noChangeArrowheads="1"/>
              </p:cNvSpPr>
              <p:nvPr/>
            </p:nvSpPr>
            <p:spPr bwMode="auto">
              <a:xfrm>
                <a:off x="5484" y="10803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86" name="Oval 1345"/>
              <p:cNvSpPr>
                <a:spLocks noChangeArrowheads="1"/>
              </p:cNvSpPr>
              <p:nvPr/>
            </p:nvSpPr>
            <p:spPr bwMode="auto">
              <a:xfrm>
                <a:off x="3633" y="8382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87" name="Oval 1346"/>
              <p:cNvSpPr>
                <a:spLocks noChangeArrowheads="1"/>
              </p:cNvSpPr>
              <p:nvPr/>
            </p:nvSpPr>
            <p:spPr bwMode="auto">
              <a:xfrm>
                <a:off x="3636" y="9576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88" name="Oval 1347"/>
              <p:cNvSpPr>
                <a:spLocks noChangeArrowheads="1"/>
              </p:cNvSpPr>
              <p:nvPr/>
            </p:nvSpPr>
            <p:spPr bwMode="auto">
              <a:xfrm>
                <a:off x="3633" y="10827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89" name="Line 1348"/>
              <p:cNvSpPr>
                <a:spLocks noChangeShapeType="1"/>
              </p:cNvSpPr>
              <p:nvPr/>
            </p:nvSpPr>
            <p:spPr bwMode="auto">
              <a:xfrm>
                <a:off x="6213" y="10887"/>
                <a:ext cx="495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90" name="Line 1349"/>
              <p:cNvSpPr>
                <a:spLocks noChangeShapeType="1"/>
              </p:cNvSpPr>
              <p:nvPr/>
            </p:nvSpPr>
            <p:spPr bwMode="auto">
              <a:xfrm flipV="1">
                <a:off x="11184" y="7866"/>
                <a:ext cx="0" cy="30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91" name="Line 1350"/>
              <p:cNvSpPr>
                <a:spLocks noChangeShapeType="1"/>
              </p:cNvSpPr>
              <p:nvPr/>
            </p:nvSpPr>
            <p:spPr bwMode="auto">
              <a:xfrm>
                <a:off x="3261" y="7866"/>
                <a:ext cx="792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92" name="Line 1351"/>
              <p:cNvSpPr>
                <a:spLocks noChangeShapeType="1"/>
              </p:cNvSpPr>
              <p:nvPr/>
            </p:nvSpPr>
            <p:spPr bwMode="auto">
              <a:xfrm>
                <a:off x="3249" y="7866"/>
                <a:ext cx="12" cy="2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93" name="Oval 1352"/>
              <p:cNvSpPr>
                <a:spLocks noChangeArrowheads="1"/>
              </p:cNvSpPr>
              <p:nvPr/>
            </p:nvSpPr>
            <p:spPr bwMode="auto">
              <a:xfrm>
                <a:off x="2862" y="12183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94" name="Oval 1353"/>
              <p:cNvSpPr>
                <a:spLocks noChangeArrowheads="1"/>
              </p:cNvSpPr>
              <p:nvPr/>
            </p:nvSpPr>
            <p:spPr bwMode="auto">
              <a:xfrm>
                <a:off x="3690" y="12141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95" name="Oval 1354"/>
              <p:cNvSpPr>
                <a:spLocks noChangeArrowheads="1"/>
              </p:cNvSpPr>
              <p:nvPr/>
            </p:nvSpPr>
            <p:spPr bwMode="auto">
              <a:xfrm>
                <a:off x="2862" y="13509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96" name="Oval 1355"/>
              <p:cNvSpPr>
                <a:spLocks noChangeArrowheads="1"/>
              </p:cNvSpPr>
              <p:nvPr/>
            </p:nvSpPr>
            <p:spPr bwMode="auto">
              <a:xfrm>
                <a:off x="3678" y="13524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97" name="Oval 1356"/>
              <p:cNvSpPr>
                <a:spLocks noChangeArrowheads="1"/>
              </p:cNvSpPr>
              <p:nvPr/>
            </p:nvSpPr>
            <p:spPr bwMode="auto">
              <a:xfrm>
                <a:off x="5529" y="12141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98" name="Oval 1357"/>
              <p:cNvSpPr>
                <a:spLocks noChangeArrowheads="1"/>
              </p:cNvSpPr>
              <p:nvPr/>
            </p:nvSpPr>
            <p:spPr bwMode="auto">
              <a:xfrm>
                <a:off x="6156" y="12141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99" name="Oval 1358"/>
              <p:cNvSpPr>
                <a:spLocks noChangeArrowheads="1"/>
              </p:cNvSpPr>
              <p:nvPr/>
            </p:nvSpPr>
            <p:spPr bwMode="auto">
              <a:xfrm>
                <a:off x="6156" y="10830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500" name="Oval 1359"/>
              <p:cNvSpPr>
                <a:spLocks noChangeArrowheads="1"/>
              </p:cNvSpPr>
              <p:nvPr/>
            </p:nvSpPr>
            <p:spPr bwMode="auto">
              <a:xfrm>
                <a:off x="7353" y="12156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501" name="Oval 1360"/>
              <p:cNvSpPr>
                <a:spLocks noChangeArrowheads="1"/>
              </p:cNvSpPr>
              <p:nvPr/>
            </p:nvSpPr>
            <p:spPr bwMode="auto">
              <a:xfrm>
                <a:off x="7866" y="12156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502" name="Oval 1361"/>
              <p:cNvSpPr>
                <a:spLocks noChangeArrowheads="1"/>
              </p:cNvSpPr>
              <p:nvPr/>
            </p:nvSpPr>
            <p:spPr bwMode="auto">
              <a:xfrm>
                <a:off x="9021" y="12153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503" name="Oval 1362"/>
              <p:cNvSpPr>
                <a:spLocks noChangeArrowheads="1"/>
              </p:cNvSpPr>
              <p:nvPr/>
            </p:nvSpPr>
            <p:spPr bwMode="auto">
              <a:xfrm>
                <a:off x="9663" y="12141"/>
                <a:ext cx="114" cy="11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</p:grpSp>
      <p:sp>
        <p:nvSpPr>
          <p:cNvPr id="16389" name="Line 1363"/>
          <p:cNvSpPr>
            <a:spLocks noChangeShapeType="1"/>
          </p:cNvSpPr>
          <p:nvPr/>
        </p:nvSpPr>
        <p:spPr bwMode="auto">
          <a:xfrm>
            <a:off x="3390900" y="63373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bg-BG"/>
          </a:p>
        </p:txBody>
      </p:sp>
      <p:sp>
        <p:nvSpPr>
          <p:cNvPr id="16390" name="Line 1364"/>
          <p:cNvSpPr>
            <a:spLocks noChangeShapeType="1"/>
          </p:cNvSpPr>
          <p:nvPr/>
        </p:nvSpPr>
        <p:spPr bwMode="auto">
          <a:xfrm>
            <a:off x="3911600" y="6350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bg-BG"/>
          </a:p>
        </p:txBody>
      </p:sp>
      <p:sp>
        <p:nvSpPr>
          <p:cNvPr id="16391" name="Text Box 1365"/>
          <p:cNvSpPr txBox="1">
            <a:spLocks noChangeArrowheads="1"/>
          </p:cNvSpPr>
          <p:nvPr/>
        </p:nvSpPr>
        <p:spPr bwMode="auto">
          <a:xfrm>
            <a:off x="762000" y="2286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5</a:t>
            </a:r>
            <a:endParaRPr lang="en-US"/>
          </a:p>
        </p:txBody>
      </p:sp>
      <p:sp>
        <p:nvSpPr>
          <p:cNvPr id="16392" name="Text Box 1366"/>
          <p:cNvSpPr txBox="1">
            <a:spLocks noChangeArrowheads="1"/>
          </p:cNvSpPr>
          <p:nvPr/>
        </p:nvSpPr>
        <p:spPr bwMode="auto">
          <a:xfrm>
            <a:off x="1587500" y="2159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7</a:t>
            </a:r>
            <a:endParaRPr lang="en-US"/>
          </a:p>
        </p:txBody>
      </p:sp>
      <p:sp>
        <p:nvSpPr>
          <p:cNvPr id="16393" name="Text Box 1367"/>
          <p:cNvSpPr txBox="1">
            <a:spLocks noChangeArrowheads="1"/>
          </p:cNvSpPr>
          <p:nvPr/>
        </p:nvSpPr>
        <p:spPr bwMode="auto">
          <a:xfrm>
            <a:off x="2857500" y="5207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1</a:t>
            </a:r>
            <a:endParaRPr lang="en-US"/>
          </a:p>
        </p:txBody>
      </p:sp>
      <p:sp>
        <p:nvSpPr>
          <p:cNvPr id="16394" name="Text Box 1368"/>
          <p:cNvSpPr txBox="1">
            <a:spLocks noChangeArrowheads="1"/>
          </p:cNvSpPr>
          <p:nvPr/>
        </p:nvSpPr>
        <p:spPr bwMode="auto">
          <a:xfrm>
            <a:off x="762000" y="11430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4</a:t>
            </a:r>
            <a:endParaRPr lang="en-US"/>
          </a:p>
        </p:txBody>
      </p:sp>
      <p:sp>
        <p:nvSpPr>
          <p:cNvPr id="16395" name="Text Box 1369"/>
          <p:cNvSpPr txBox="1">
            <a:spLocks noChangeArrowheads="1"/>
          </p:cNvSpPr>
          <p:nvPr/>
        </p:nvSpPr>
        <p:spPr bwMode="auto">
          <a:xfrm>
            <a:off x="1943100" y="10541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8</a:t>
            </a:r>
            <a:endParaRPr lang="en-US"/>
          </a:p>
        </p:txBody>
      </p:sp>
      <p:sp>
        <p:nvSpPr>
          <p:cNvPr id="16396" name="Text Box 1370"/>
          <p:cNvSpPr txBox="1">
            <a:spLocks noChangeArrowheads="1"/>
          </p:cNvSpPr>
          <p:nvPr/>
        </p:nvSpPr>
        <p:spPr bwMode="auto">
          <a:xfrm>
            <a:off x="1155700" y="18669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2</a:t>
            </a:r>
            <a:endParaRPr lang="en-US"/>
          </a:p>
        </p:txBody>
      </p:sp>
      <p:sp>
        <p:nvSpPr>
          <p:cNvPr id="16397" name="Text Box 1371"/>
          <p:cNvSpPr txBox="1">
            <a:spLocks noChangeArrowheads="1"/>
          </p:cNvSpPr>
          <p:nvPr/>
        </p:nvSpPr>
        <p:spPr bwMode="auto">
          <a:xfrm>
            <a:off x="2717800" y="21082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5</a:t>
            </a:r>
            <a:endParaRPr lang="en-US"/>
          </a:p>
        </p:txBody>
      </p:sp>
      <p:sp>
        <p:nvSpPr>
          <p:cNvPr id="16398" name="Text Box 1372"/>
          <p:cNvSpPr txBox="1">
            <a:spLocks noChangeArrowheads="1"/>
          </p:cNvSpPr>
          <p:nvPr/>
        </p:nvSpPr>
        <p:spPr bwMode="auto">
          <a:xfrm>
            <a:off x="2705100" y="28448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7</a:t>
            </a:r>
            <a:endParaRPr lang="en-US"/>
          </a:p>
        </p:txBody>
      </p:sp>
      <p:sp>
        <p:nvSpPr>
          <p:cNvPr id="16399" name="Text Box 1373"/>
          <p:cNvSpPr txBox="1">
            <a:spLocks noChangeArrowheads="1"/>
          </p:cNvSpPr>
          <p:nvPr/>
        </p:nvSpPr>
        <p:spPr bwMode="auto">
          <a:xfrm>
            <a:off x="2730500" y="3581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8</a:t>
            </a:r>
            <a:endParaRPr lang="en-US"/>
          </a:p>
        </p:txBody>
      </p:sp>
      <p:sp>
        <p:nvSpPr>
          <p:cNvPr id="16400" name="Text Box 1374"/>
          <p:cNvSpPr txBox="1">
            <a:spLocks noChangeArrowheads="1"/>
          </p:cNvSpPr>
          <p:nvPr/>
        </p:nvSpPr>
        <p:spPr bwMode="auto">
          <a:xfrm>
            <a:off x="2717800" y="43815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1</a:t>
            </a:r>
            <a:endParaRPr lang="en-US"/>
          </a:p>
        </p:txBody>
      </p:sp>
      <p:sp>
        <p:nvSpPr>
          <p:cNvPr id="16401" name="Text Box 1375"/>
          <p:cNvSpPr txBox="1">
            <a:spLocks noChangeArrowheads="1"/>
          </p:cNvSpPr>
          <p:nvPr/>
        </p:nvSpPr>
        <p:spPr bwMode="auto">
          <a:xfrm>
            <a:off x="2717800" y="52070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4</a:t>
            </a:r>
            <a:endParaRPr lang="en-US"/>
          </a:p>
        </p:txBody>
      </p:sp>
      <p:sp>
        <p:nvSpPr>
          <p:cNvPr id="16402" name="Text Box 1376"/>
          <p:cNvSpPr txBox="1">
            <a:spLocks noChangeArrowheads="1"/>
          </p:cNvSpPr>
          <p:nvPr/>
        </p:nvSpPr>
        <p:spPr bwMode="auto">
          <a:xfrm>
            <a:off x="2743200" y="60325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2</a:t>
            </a:r>
            <a:endParaRPr lang="en-US"/>
          </a:p>
        </p:txBody>
      </p:sp>
      <p:sp>
        <p:nvSpPr>
          <p:cNvPr id="199" name="Slide Number Placeholder 19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96AD40-4DA0-4597-9804-0469303F8DEF}" type="slidenum">
              <a:rPr lang="en-US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12825" y="0"/>
            <a:ext cx="8131175" cy="6248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400">
                <a:solidFill>
                  <a:schemeClr val="tx1"/>
                </a:solidFill>
              </a:rPr>
              <a:t>	Комбинирано представяне на структурата граф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		 чрез списъци на съседство</a:t>
            </a: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 Структурата се представя като масив от указатели към списъци, описващи върховете и инцидентните им дъги в графа: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1200">
                <a:solidFill>
                  <a:schemeClr val="tx1"/>
                </a:solidFill>
              </a:rPr>
              <a:t/>
            </a:r>
            <a:br>
              <a:rPr lang="bg-BG" sz="1200">
                <a:solidFill>
                  <a:schemeClr val="tx1"/>
                </a:solidFill>
              </a:rPr>
            </a:br>
            <a:r>
              <a:rPr lang="en-AU" sz="2000">
                <a:solidFill>
                  <a:schemeClr val="tx1"/>
                </a:solidFill>
                <a:latin typeface="Courier New" pitchFamily="49" charset="0"/>
              </a:rPr>
              <a:t>const n=10;</a:t>
            </a:r>
            <a:r>
              <a:rPr lang="en-US" sz="20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en-US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>
                <a:solidFill>
                  <a:schemeClr val="tx1"/>
                </a:solidFill>
                <a:latin typeface="Courier New" pitchFamily="49" charset="0"/>
              </a:rPr>
              <a:t>struct link</a:t>
            </a:r>
            <a:br>
              <a:rPr lang="en-AU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>
                <a:solidFill>
                  <a:schemeClr val="tx1"/>
                </a:solidFill>
                <a:latin typeface="Courier New" pitchFamily="49" charset="0"/>
              </a:rPr>
              <a:t>{char key; link *next;} *G[n];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20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en-US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20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en-US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20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en-US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20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en-US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>
                <a:solidFill>
                  <a:schemeClr val="tx1"/>
                </a:solidFill>
              </a:rPr>
              <a:t/>
            </a:r>
            <a:br>
              <a:rPr lang="bg-BG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411" name="Group 123"/>
          <p:cNvGrpSpPr>
            <a:grpSpLocks/>
          </p:cNvGrpSpPr>
          <p:nvPr/>
        </p:nvGrpSpPr>
        <p:grpSpPr bwMode="auto">
          <a:xfrm>
            <a:off x="539750" y="3357563"/>
            <a:ext cx="4343400" cy="3352800"/>
            <a:chOff x="240" y="2112"/>
            <a:chExt cx="2736" cy="2112"/>
          </a:xfrm>
        </p:grpSpPr>
        <p:grpSp>
          <p:nvGrpSpPr>
            <p:cNvPr id="17434" name="Group 4"/>
            <p:cNvGrpSpPr>
              <a:grpSpLocks/>
            </p:cNvGrpSpPr>
            <p:nvPr/>
          </p:nvGrpSpPr>
          <p:grpSpPr bwMode="auto">
            <a:xfrm>
              <a:off x="636" y="2309"/>
              <a:ext cx="592" cy="203"/>
              <a:chOff x="0" y="0"/>
              <a:chExt cx="20000" cy="20000"/>
            </a:xfrm>
          </p:grpSpPr>
          <p:sp>
            <p:nvSpPr>
              <p:cNvPr id="17530" name="Rectangle 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7531" name="Line 6"/>
              <p:cNvSpPr>
                <a:spLocks noChangeShapeType="1"/>
              </p:cNvSpPr>
              <p:nvPr/>
            </p:nvSpPr>
            <p:spPr bwMode="auto">
              <a:xfrm>
                <a:off x="14157" y="0"/>
                <a:ext cx="12" cy="200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7435" name="Group 7"/>
            <p:cNvGrpSpPr>
              <a:grpSpLocks/>
            </p:cNvGrpSpPr>
            <p:nvPr/>
          </p:nvGrpSpPr>
          <p:grpSpPr bwMode="auto">
            <a:xfrm>
              <a:off x="2219" y="2312"/>
              <a:ext cx="592" cy="203"/>
              <a:chOff x="0" y="0"/>
              <a:chExt cx="20000" cy="20000"/>
            </a:xfrm>
          </p:grpSpPr>
          <p:sp>
            <p:nvSpPr>
              <p:cNvPr id="17528" name="Rectangle 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7529" name="Line 9"/>
              <p:cNvSpPr>
                <a:spLocks noChangeShapeType="1"/>
              </p:cNvSpPr>
              <p:nvPr/>
            </p:nvSpPr>
            <p:spPr bwMode="auto">
              <a:xfrm>
                <a:off x="14157" y="0"/>
                <a:ext cx="12" cy="200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7436" name="Line 10"/>
            <p:cNvSpPr>
              <a:spLocks noChangeShapeType="1"/>
            </p:cNvSpPr>
            <p:nvPr/>
          </p:nvSpPr>
          <p:spPr bwMode="auto">
            <a:xfrm>
              <a:off x="562" y="2211"/>
              <a:ext cx="31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37" name="Line 11"/>
            <p:cNvSpPr>
              <a:spLocks noChangeShapeType="1"/>
            </p:cNvSpPr>
            <p:nvPr/>
          </p:nvSpPr>
          <p:spPr bwMode="auto">
            <a:xfrm>
              <a:off x="873" y="2218"/>
              <a:ext cx="0" cy="9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38" name="Line 12"/>
            <p:cNvSpPr>
              <a:spLocks noChangeShapeType="1"/>
            </p:cNvSpPr>
            <p:nvPr/>
          </p:nvSpPr>
          <p:spPr bwMode="auto">
            <a:xfrm>
              <a:off x="1161" y="2412"/>
              <a:ext cx="12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39" name="Line 13"/>
            <p:cNvSpPr>
              <a:spLocks noChangeShapeType="1"/>
            </p:cNvSpPr>
            <p:nvPr/>
          </p:nvSpPr>
          <p:spPr bwMode="auto">
            <a:xfrm>
              <a:off x="1290" y="2212"/>
              <a:ext cx="33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40" name="Line 14"/>
            <p:cNvSpPr>
              <a:spLocks noChangeShapeType="1"/>
            </p:cNvSpPr>
            <p:nvPr/>
          </p:nvSpPr>
          <p:spPr bwMode="auto">
            <a:xfrm>
              <a:off x="2765" y="2412"/>
              <a:ext cx="16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41" name="Line 15"/>
            <p:cNvSpPr>
              <a:spLocks noChangeShapeType="1"/>
            </p:cNvSpPr>
            <p:nvPr/>
          </p:nvSpPr>
          <p:spPr bwMode="auto">
            <a:xfrm flipV="1">
              <a:off x="2896" y="2612"/>
              <a:ext cx="8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42" name="Line 16"/>
            <p:cNvSpPr>
              <a:spLocks noChangeShapeType="1"/>
            </p:cNvSpPr>
            <p:nvPr/>
          </p:nvSpPr>
          <p:spPr bwMode="auto">
            <a:xfrm>
              <a:off x="2932" y="2412"/>
              <a:ext cx="0" cy="18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43" name="Line 17"/>
            <p:cNvSpPr>
              <a:spLocks noChangeShapeType="1"/>
            </p:cNvSpPr>
            <p:nvPr/>
          </p:nvSpPr>
          <p:spPr bwMode="auto">
            <a:xfrm>
              <a:off x="1626" y="2212"/>
              <a:ext cx="0" cy="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44" name="Line 18"/>
            <p:cNvSpPr>
              <a:spLocks noChangeShapeType="1"/>
            </p:cNvSpPr>
            <p:nvPr/>
          </p:nvSpPr>
          <p:spPr bwMode="auto">
            <a:xfrm flipV="1">
              <a:off x="1287" y="2206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45" name="Line 19"/>
            <p:cNvSpPr>
              <a:spLocks noChangeShapeType="1"/>
            </p:cNvSpPr>
            <p:nvPr/>
          </p:nvSpPr>
          <p:spPr bwMode="auto">
            <a:xfrm>
              <a:off x="1903" y="2412"/>
              <a:ext cx="17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46" name="Line 20"/>
            <p:cNvSpPr>
              <a:spLocks noChangeShapeType="1"/>
            </p:cNvSpPr>
            <p:nvPr/>
          </p:nvSpPr>
          <p:spPr bwMode="auto">
            <a:xfrm>
              <a:off x="2081" y="2212"/>
              <a:ext cx="33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47" name="Line 21"/>
            <p:cNvSpPr>
              <a:spLocks noChangeShapeType="1"/>
            </p:cNvSpPr>
            <p:nvPr/>
          </p:nvSpPr>
          <p:spPr bwMode="auto">
            <a:xfrm>
              <a:off x="2418" y="2212"/>
              <a:ext cx="0" cy="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48" name="Line 22"/>
            <p:cNvSpPr>
              <a:spLocks noChangeShapeType="1"/>
            </p:cNvSpPr>
            <p:nvPr/>
          </p:nvSpPr>
          <p:spPr bwMode="auto">
            <a:xfrm flipV="1">
              <a:off x="2079" y="2206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7449" name="Group 23"/>
            <p:cNvGrpSpPr>
              <a:grpSpLocks/>
            </p:cNvGrpSpPr>
            <p:nvPr/>
          </p:nvGrpSpPr>
          <p:grpSpPr bwMode="auto">
            <a:xfrm>
              <a:off x="631" y="2682"/>
              <a:ext cx="592" cy="203"/>
              <a:chOff x="0" y="0"/>
              <a:chExt cx="20000" cy="20000"/>
            </a:xfrm>
          </p:grpSpPr>
          <p:sp>
            <p:nvSpPr>
              <p:cNvPr id="17526" name="Rectangle 2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7527" name="Line 25"/>
              <p:cNvSpPr>
                <a:spLocks noChangeShapeType="1"/>
              </p:cNvSpPr>
              <p:nvPr/>
            </p:nvSpPr>
            <p:spPr bwMode="auto">
              <a:xfrm>
                <a:off x="14157" y="0"/>
                <a:ext cx="12" cy="200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7450" name="Group 26"/>
            <p:cNvGrpSpPr>
              <a:grpSpLocks/>
            </p:cNvGrpSpPr>
            <p:nvPr/>
          </p:nvGrpSpPr>
          <p:grpSpPr bwMode="auto">
            <a:xfrm>
              <a:off x="1390" y="2682"/>
              <a:ext cx="592" cy="203"/>
              <a:chOff x="0" y="0"/>
              <a:chExt cx="20000" cy="20000"/>
            </a:xfrm>
          </p:grpSpPr>
          <p:sp>
            <p:nvSpPr>
              <p:cNvPr id="17524" name="Rectangle 2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7525" name="Line 28"/>
              <p:cNvSpPr>
                <a:spLocks noChangeShapeType="1"/>
              </p:cNvSpPr>
              <p:nvPr/>
            </p:nvSpPr>
            <p:spPr bwMode="auto">
              <a:xfrm>
                <a:off x="14157" y="0"/>
                <a:ext cx="12" cy="200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7451" name="Line 29"/>
            <p:cNvSpPr>
              <a:spLocks noChangeShapeType="1"/>
            </p:cNvSpPr>
            <p:nvPr/>
          </p:nvSpPr>
          <p:spPr bwMode="auto">
            <a:xfrm>
              <a:off x="557" y="2584"/>
              <a:ext cx="31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52" name="Line 30"/>
            <p:cNvSpPr>
              <a:spLocks noChangeShapeType="1"/>
            </p:cNvSpPr>
            <p:nvPr/>
          </p:nvSpPr>
          <p:spPr bwMode="auto">
            <a:xfrm>
              <a:off x="868" y="2590"/>
              <a:ext cx="1" cy="9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53" name="Line 31"/>
            <p:cNvSpPr>
              <a:spLocks noChangeShapeType="1"/>
            </p:cNvSpPr>
            <p:nvPr/>
          </p:nvSpPr>
          <p:spPr bwMode="auto">
            <a:xfrm>
              <a:off x="1974" y="2785"/>
              <a:ext cx="16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54" name="Line 32"/>
            <p:cNvSpPr>
              <a:spLocks noChangeShapeType="1"/>
            </p:cNvSpPr>
            <p:nvPr/>
          </p:nvSpPr>
          <p:spPr bwMode="auto">
            <a:xfrm flipV="1">
              <a:off x="2099" y="2990"/>
              <a:ext cx="8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55" name="Line 33"/>
            <p:cNvSpPr>
              <a:spLocks noChangeShapeType="1"/>
            </p:cNvSpPr>
            <p:nvPr/>
          </p:nvSpPr>
          <p:spPr bwMode="auto">
            <a:xfrm>
              <a:off x="2140" y="2785"/>
              <a:ext cx="1" cy="1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56" name="Line 34"/>
            <p:cNvSpPr>
              <a:spLocks noChangeShapeType="1"/>
            </p:cNvSpPr>
            <p:nvPr/>
          </p:nvSpPr>
          <p:spPr bwMode="auto">
            <a:xfrm>
              <a:off x="1161" y="2785"/>
              <a:ext cx="12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57" name="Line 35"/>
            <p:cNvSpPr>
              <a:spLocks noChangeShapeType="1"/>
            </p:cNvSpPr>
            <p:nvPr/>
          </p:nvSpPr>
          <p:spPr bwMode="auto">
            <a:xfrm>
              <a:off x="1290" y="2584"/>
              <a:ext cx="33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58" name="Line 36"/>
            <p:cNvSpPr>
              <a:spLocks noChangeShapeType="1"/>
            </p:cNvSpPr>
            <p:nvPr/>
          </p:nvSpPr>
          <p:spPr bwMode="auto">
            <a:xfrm>
              <a:off x="1626" y="2584"/>
              <a:ext cx="0" cy="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59" name="Line 37"/>
            <p:cNvSpPr>
              <a:spLocks noChangeShapeType="1"/>
            </p:cNvSpPr>
            <p:nvPr/>
          </p:nvSpPr>
          <p:spPr bwMode="auto">
            <a:xfrm flipV="1">
              <a:off x="1287" y="2579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7460" name="Group 38"/>
            <p:cNvGrpSpPr>
              <a:grpSpLocks/>
            </p:cNvGrpSpPr>
            <p:nvPr/>
          </p:nvGrpSpPr>
          <p:grpSpPr bwMode="auto">
            <a:xfrm>
              <a:off x="1390" y="2312"/>
              <a:ext cx="592" cy="203"/>
              <a:chOff x="0" y="0"/>
              <a:chExt cx="20000" cy="20000"/>
            </a:xfrm>
          </p:grpSpPr>
          <p:sp>
            <p:nvSpPr>
              <p:cNvPr id="17522" name="Rectangle 3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7523" name="Line 40"/>
              <p:cNvSpPr>
                <a:spLocks noChangeShapeType="1"/>
              </p:cNvSpPr>
              <p:nvPr/>
            </p:nvSpPr>
            <p:spPr bwMode="auto">
              <a:xfrm>
                <a:off x="14157" y="0"/>
                <a:ext cx="12" cy="200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7461" name="Group 41"/>
            <p:cNvGrpSpPr>
              <a:grpSpLocks/>
            </p:cNvGrpSpPr>
            <p:nvPr/>
          </p:nvGrpSpPr>
          <p:grpSpPr bwMode="auto">
            <a:xfrm>
              <a:off x="631" y="3049"/>
              <a:ext cx="592" cy="202"/>
              <a:chOff x="0" y="0"/>
              <a:chExt cx="20000" cy="20000"/>
            </a:xfrm>
          </p:grpSpPr>
          <p:sp>
            <p:nvSpPr>
              <p:cNvPr id="17520" name="Rectangle 4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7521" name="Line 43"/>
              <p:cNvSpPr>
                <a:spLocks noChangeShapeType="1"/>
              </p:cNvSpPr>
              <p:nvPr/>
            </p:nvSpPr>
            <p:spPr bwMode="auto">
              <a:xfrm>
                <a:off x="14157" y="0"/>
                <a:ext cx="12" cy="200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7462" name="Group 44"/>
            <p:cNvGrpSpPr>
              <a:grpSpLocks/>
            </p:cNvGrpSpPr>
            <p:nvPr/>
          </p:nvGrpSpPr>
          <p:grpSpPr bwMode="auto">
            <a:xfrm>
              <a:off x="1390" y="3049"/>
              <a:ext cx="592" cy="202"/>
              <a:chOff x="0" y="0"/>
              <a:chExt cx="20000" cy="20000"/>
            </a:xfrm>
          </p:grpSpPr>
          <p:sp>
            <p:nvSpPr>
              <p:cNvPr id="17518" name="Rectangle 4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7519" name="Line 46"/>
              <p:cNvSpPr>
                <a:spLocks noChangeShapeType="1"/>
              </p:cNvSpPr>
              <p:nvPr/>
            </p:nvSpPr>
            <p:spPr bwMode="auto">
              <a:xfrm>
                <a:off x="14157" y="0"/>
                <a:ext cx="12" cy="200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7463" name="Line 47"/>
            <p:cNvSpPr>
              <a:spLocks noChangeShapeType="1"/>
            </p:cNvSpPr>
            <p:nvPr/>
          </p:nvSpPr>
          <p:spPr bwMode="auto">
            <a:xfrm>
              <a:off x="557" y="2951"/>
              <a:ext cx="31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64" name="Line 48"/>
            <p:cNvSpPr>
              <a:spLocks noChangeShapeType="1"/>
            </p:cNvSpPr>
            <p:nvPr/>
          </p:nvSpPr>
          <p:spPr bwMode="auto">
            <a:xfrm>
              <a:off x="868" y="2957"/>
              <a:ext cx="1" cy="9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65" name="Line 49"/>
            <p:cNvSpPr>
              <a:spLocks noChangeShapeType="1"/>
            </p:cNvSpPr>
            <p:nvPr/>
          </p:nvSpPr>
          <p:spPr bwMode="auto">
            <a:xfrm>
              <a:off x="1974" y="3151"/>
              <a:ext cx="16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66" name="Line 50"/>
            <p:cNvSpPr>
              <a:spLocks noChangeShapeType="1"/>
            </p:cNvSpPr>
            <p:nvPr/>
          </p:nvSpPr>
          <p:spPr bwMode="auto">
            <a:xfrm flipV="1">
              <a:off x="2104" y="3351"/>
              <a:ext cx="8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67" name="Line 51"/>
            <p:cNvSpPr>
              <a:spLocks noChangeShapeType="1"/>
            </p:cNvSpPr>
            <p:nvPr/>
          </p:nvSpPr>
          <p:spPr bwMode="auto">
            <a:xfrm>
              <a:off x="2140" y="3151"/>
              <a:ext cx="1" cy="18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68" name="Line 52"/>
            <p:cNvSpPr>
              <a:spLocks noChangeShapeType="1"/>
            </p:cNvSpPr>
            <p:nvPr/>
          </p:nvSpPr>
          <p:spPr bwMode="auto">
            <a:xfrm>
              <a:off x="1161" y="3151"/>
              <a:ext cx="12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69" name="Line 53"/>
            <p:cNvSpPr>
              <a:spLocks noChangeShapeType="1"/>
            </p:cNvSpPr>
            <p:nvPr/>
          </p:nvSpPr>
          <p:spPr bwMode="auto">
            <a:xfrm>
              <a:off x="1290" y="2951"/>
              <a:ext cx="33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70" name="Line 54"/>
            <p:cNvSpPr>
              <a:spLocks noChangeShapeType="1"/>
            </p:cNvSpPr>
            <p:nvPr/>
          </p:nvSpPr>
          <p:spPr bwMode="auto">
            <a:xfrm>
              <a:off x="1626" y="2951"/>
              <a:ext cx="0" cy="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71" name="Line 55"/>
            <p:cNvSpPr>
              <a:spLocks noChangeShapeType="1"/>
            </p:cNvSpPr>
            <p:nvPr/>
          </p:nvSpPr>
          <p:spPr bwMode="auto">
            <a:xfrm flipV="1">
              <a:off x="1287" y="2946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7472" name="Group 56"/>
            <p:cNvGrpSpPr>
              <a:grpSpLocks/>
            </p:cNvGrpSpPr>
            <p:nvPr/>
          </p:nvGrpSpPr>
          <p:grpSpPr bwMode="auto">
            <a:xfrm>
              <a:off x="631" y="3521"/>
              <a:ext cx="592" cy="203"/>
              <a:chOff x="0" y="0"/>
              <a:chExt cx="20000" cy="20000"/>
            </a:xfrm>
          </p:grpSpPr>
          <p:sp>
            <p:nvSpPr>
              <p:cNvPr id="17516" name="Rectangle 5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7517" name="Line 58"/>
              <p:cNvSpPr>
                <a:spLocks noChangeShapeType="1"/>
              </p:cNvSpPr>
              <p:nvPr/>
            </p:nvSpPr>
            <p:spPr bwMode="auto">
              <a:xfrm>
                <a:off x="14157" y="0"/>
                <a:ext cx="12" cy="200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7473" name="Group 59"/>
            <p:cNvGrpSpPr>
              <a:grpSpLocks/>
            </p:cNvGrpSpPr>
            <p:nvPr/>
          </p:nvGrpSpPr>
          <p:grpSpPr bwMode="auto">
            <a:xfrm>
              <a:off x="2215" y="3524"/>
              <a:ext cx="591" cy="203"/>
              <a:chOff x="0" y="0"/>
              <a:chExt cx="20000" cy="20000"/>
            </a:xfrm>
          </p:grpSpPr>
          <p:sp>
            <p:nvSpPr>
              <p:cNvPr id="17514" name="Rectangle 6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7515" name="Line 61"/>
              <p:cNvSpPr>
                <a:spLocks noChangeShapeType="1"/>
              </p:cNvSpPr>
              <p:nvPr/>
            </p:nvSpPr>
            <p:spPr bwMode="auto">
              <a:xfrm>
                <a:off x="14157" y="0"/>
                <a:ext cx="12" cy="200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7474" name="Line 62"/>
            <p:cNvSpPr>
              <a:spLocks noChangeShapeType="1"/>
            </p:cNvSpPr>
            <p:nvPr/>
          </p:nvSpPr>
          <p:spPr bwMode="auto">
            <a:xfrm>
              <a:off x="557" y="3423"/>
              <a:ext cx="31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75" name="Line 63"/>
            <p:cNvSpPr>
              <a:spLocks noChangeShapeType="1"/>
            </p:cNvSpPr>
            <p:nvPr/>
          </p:nvSpPr>
          <p:spPr bwMode="auto">
            <a:xfrm>
              <a:off x="868" y="3429"/>
              <a:ext cx="1" cy="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76" name="Line 64"/>
            <p:cNvSpPr>
              <a:spLocks noChangeShapeType="1"/>
            </p:cNvSpPr>
            <p:nvPr/>
          </p:nvSpPr>
          <p:spPr bwMode="auto">
            <a:xfrm>
              <a:off x="1156" y="3624"/>
              <a:ext cx="13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77" name="Line 65"/>
            <p:cNvSpPr>
              <a:spLocks noChangeShapeType="1"/>
            </p:cNvSpPr>
            <p:nvPr/>
          </p:nvSpPr>
          <p:spPr bwMode="auto">
            <a:xfrm>
              <a:off x="1285" y="3424"/>
              <a:ext cx="33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78" name="Line 66"/>
            <p:cNvSpPr>
              <a:spLocks noChangeShapeType="1"/>
            </p:cNvSpPr>
            <p:nvPr/>
          </p:nvSpPr>
          <p:spPr bwMode="auto">
            <a:xfrm>
              <a:off x="2760" y="3624"/>
              <a:ext cx="16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79" name="Line 67"/>
            <p:cNvSpPr>
              <a:spLocks noChangeShapeType="1"/>
            </p:cNvSpPr>
            <p:nvPr/>
          </p:nvSpPr>
          <p:spPr bwMode="auto">
            <a:xfrm flipV="1">
              <a:off x="2891" y="3824"/>
              <a:ext cx="8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80" name="Line 68"/>
            <p:cNvSpPr>
              <a:spLocks noChangeShapeType="1"/>
            </p:cNvSpPr>
            <p:nvPr/>
          </p:nvSpPr>
          <p:spPr bwMode="auto">
            <a:xfrm>
              <a:off x="2927" y="3624"/>
              <a:ext cx="1" cy="18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81" name="Line 69"/>
            <p:cNvSpPr>
              <a:spLocks noChangeShapeType="1"/>
            </p:cNvSpPr>
            <p:nvPr/>
          </p:nvSpPr>
          <p:spPr bwMode="auto">
            <a:xfrm>
              <a:off x="1621" y="3424"/>
              <a:ext cx="1" cy="9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82" name="Line 70"/>
            <p:cNvSpPr>
              <a:spLocks noChangeShapeType="1"/>
            </p:cNvSpPr>
            <p:nvPr/>
          </p:nvSpPr>
          <p:spPr bwMode="auto">
            <a:xfrm flipV="1">
              <a:off x="1282" y="3418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83" name="Line 71"/>
            <p:cNvSpPr>
              <a:spLocks noChangeShapeType="1"/>
            </p:cNvSpPr>
            <p:nvPr/>
          </p:nvSpPr>
          <p:spPr bwMode="auto">
            <a:xfrm>
              <a:off x="1898" y="3624"/>
              <a:ext cx="17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84" name="Line 72"/>
            <p:cNvSpPr>
              <a:spLocks noChangeShapeType="1"/>
            </p:cNvSpPr>
            <p:nvPr/>
          </p:nvSpPr>
          <p:spPr bwMode="auto">
            <a:xfrm>
              <a:off x="2076" y="3424"/>
              <a:ext cx="34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85" name="Line 73"/>
            <p:cNvSpPr>
              <a:spLocks noChangeShapeType="1"/>
            </p:cNvSpPr>
            <p:nvPr/>
          </p:nvSpPr>
          <p:spPr bwMode="auto">
            <a:xfrm>
              <a:off x="2413" y="3424"/>
              <a:ext cx="0" cy="9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86" name="Line 74"/>
            <p:cNvSpPr>
              <a:spLocks noChangeShapeType="1"/>
            </p:cNvSpPr>
            <p:nvPr/>
          </p:nvSpPr>
          <p:spPr bwMode="auto">
            <a:xfrm flipV="1">
              <a:off x="2074" y="3418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7487" name="Group 75"/>
            <p:cNvGrpSpPr>
              <a:grpSpLocks/>
            </p:cNvGrpSpPr>
            <p:nvPr/>
          </p:nvGrpSpPr>
          <p:grpSpPr bwMode="auto">
            <a:xfrm>
              <a:off x="1385" y="3524"/>
              <a:ext cx="592" cy="203"/>
              <a:chOff x="0" y="0"/>
              <a:chExt cx="20000" cy="20000"/>
            </a:xfrm>
          </p:grpSpPr>
          <p:sp>
            <p:nvSpPr>
              <p:cNvPr id="17512" name="Rectangle 7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7513" name="Line 77"/>
              <p:cNvSpPr>
                <a:spLocks noChangeShapeType="1"/>
              </p:cNvSpPr>
              <p:nvPr/>
            </p:nvSpPr>
            <p:spPr bwMode="auto">
              <a:xfrm>
                <a:off x="14157" y="0"/>
                <a:ext cx="12" cy="200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7488" name="Line 78"/>
            <p:cNvSpPr>
              <a:spLocks noChangeShapeType="1"/>
            </p:cNvSpPr>
            <p:nvPr/>
          </p:nvSpPr>
          <p:spPr bwMode="auto">
            <a:xfrm>
              <a:off x="1162" y="4024"/>
              <a:ext cx="16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89" name="Line 79"/>
            <p:cNvSpPr>
              <a:spLocks noChangeShapeType="1"/>
            </p:cNvSpPr>
            <p:nvPr/>
          </p:nvSpPr>
          <p:spPr bwMode="auto">
            <a:xfrm flipV="1">
              <a:off x="1283" y="4224"/>
              <a:ext cx="8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90" name="Line 80"/>
            <p:cNvSpPr>
              <a:spLocks noChangeShapeType="1"/>
            </p:cNvSpPr>
            <p:nvPr/>
          </p:nvSpPr>
          <p:spPr bwMode="auto">
            <a:xfrm>
              <a:off x="1322" y="4024"/>
              <a:ext cx="0" cy="18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7491" name="Group 81"/>
            <p:cNvGrpSpPr>
              <a:grpSpLocks/>
            </p:cNvGrpSpPr>
            <p:nvPr/>
          </p:nvGrpSpPr>
          <p:grpSpPr bwMode="auto">
            <a:xfrm>
              <a:off x="631" y="3913"/>
              <a:ext cx="592" cy="203"/>
              <a:chOff x="0" y="0"/>
              <a:chExt cx="20000" cy="20000"/>
            </a:xfrm>
          </p:grpSpPr>
          <p:sp>
            <p:nvSpPr>
              <p:cNvPr id="17510" name="Rectangle 8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7511" name="Line 83"/>
              <p:cNvSpPr>
                <a:spLocks noChangeShapeType="1"/>
              </p:cNvSpPr>
              <p:nvPr/>
            </p:nvSpPr>
            <p:spPr bwMode="auto">
              <a:xfrm>
                <a:off x="14157" y="0"/>
                <a:ext cx="12" cy="200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7492" name="Line 84"/>
            <p:cNvSpPr>
              <a:spLocks noChangeShapeType="1"/>
            </p:cNvSpPr>
            <p:nvPr/>
          </p:nvSpPr>
          <p:spPr bwMode="auto">
            <a:xfrm>
              <a:off x="557" y="3807"/>
              <a:ext cx="31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93" name="Line 85"/>
            <p:cNvSpPr>
              <a:spLocks noChangeShapeType="1"/>
            </p:cNvSpPr>
            <p:nvPr/>
          </p:nvSpPr>
          <p:spPr bwMode="auto">
            <a:xfrm>
              <a:off x="868" y="3813"/>
              <a:ext cx="1" cy="9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94" name="Text Box 86"/>
            <p:cNvSpPr txBox="1">
              <a:spLocks noChangeArrowheads="1"/>
            </p:cNvSpPr>
            <p:nvPr/>
          </p:nvSpPr>
          <p:spPr bwMode="auto">
            <a:xfrm>
              <a:off x="240" y="2473"/>
              <a:ext cx="475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G[1]</a:t>
              </a:r>
              <a:endParaRPr lang="bg-BG" sz="1600" b="1">
                <a:latin typeface="Courier New" pitchFamily="49" charset="0"/>
              </a:endParaRPr>
            </a:p>
          </p:txBody>
        </p:sp>
        <p:sp>
          <p:nvSpPr>
            <p:cNvPr id="17495" name="Text Box 87"/>
            <p:cNvSpPr txBox="1">
              <a:spLocks noChangeArrowheads="1"/>
            </p:cNvSpPr>
            <p:nvPr/>
          </p:nvSpPr>
          <p:spPr bwMode="auto">
            <a:xfrm>
              <a:off x="240" y="2851"/>
              <a:ext cx="475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G[2]</a:t>
              </a:r>
            </a:p>
          </p:txBody>
        </p:sp>
        <p:sp>
          <p:nvSpPr>
            <p:cNvPr id="17496" name="Text Box 88"/>
            <p:cNvSpPr txBox="1">
              <a:spLocks noChangeArrowheads="1"/>
            </p:cNvSpPr>
            <p:nvPr/>
          </p:nvSpPr>
          <p:spPr bwMode="auto">
            <a:xfrm>
              <a:off x="240" y="3313"/>
              <a:ext cx="475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G[3]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7497" name="Text Box 89"/>
            <p:cNvSpPr txBox="1">
              <a:spLocks noChangeArrowheads="1"/>
            </p:cNvSpPr>
            <p:nvPr/>
          </p:nvSpPr>
          <p:spPr bwMode="auto">
            <a:xfrm>
              <a:off x="244" y="3707"/>
              <a:ext cx="475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G[4]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7498" name="Text Box 90"/>
            <p:cNvSpPr txBox="1">
              <a:spLocks noChangeArrowheads="1"/>
            </p:cNvSpPr>
            <p:nvPr/>
          </p:nvSpPr>
          <p:spPr bwMode="auto">
            <a:xfrm>
              <a:off x="240" y="2112"/>
              <a:ext cx="475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G[0]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7499" name="Text Box 91"/>
            <p:cNvSpPr txBox="1">
              <a:spLocks noChangeArrowheads="1"/>
            </p:cNvSpPr>
            <p:nvPr/>
          </p:nvSpPr>
          <p:spPr bwMode="auto">
            <a:xfrm>
              <a:off x="777" y="2673"/>
              <a:ext cx="237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B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7500" name="Text Box 92"/>
            <p:cNvSpPr txBox="1">
              <a:spLocks noChangeArrowheads="1"/>
            </p:cNvSpPr>
            <p:nvPr/>
          </p:nvSpPr>
          <p:spPr bwMode="auto">
            <a:xfrm>
              <a:off x="2325" y="2307"/>
              <a:ext cx="238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D</a:t>
              </a:r>
            </a:p>
          </p:txBody>
        </p:sp>
        <p:sp>
          <p:nvSpPr>
            <p:cNvPr id="17501" name="Text Box 93"/>
            <p:cNvSpPr txBox="1">
              <a:spLocks noChangeArrowheads="1"/>
            </p:cNvSpPr>
            <p:nvPr/>
          </p:nvSpPr>
          <p:spPr bwMode="auto">
            <a:xfrm>
              <a:off x="1520" y="2301"/>
              <a:ext cx="238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B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7502" name="Text Box 94"/>
            <p:cNvSpPr txBox="1">
              <a:spLocks noChangeArrowheads="1"/>
            </p:cNvSpPr>
            <p:nvPr/>
          </p:nvSpPr>
          <p:spPr bwMode="auto">
            <a:xfrm>
              <a:off x="781" y="2301"/>
              <a:ext cx="238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A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7503" name="Text Box 95"/>
            <p:cNvSpPr txBox="1">
              <a:spLocks noChangeArrowheads="1"/>
            </p:cNvSpPr>
            <p:nvPr/>
          </p:nvSpPr>
          <p:spPr bwMode="auto">
            <a:xfrm>
              <a:off x="1520" y="3040"/>
              <a:ext cx="238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B</a:t>
              </a:r>
              <a:endParaRPr lang="bg-BG" sz="1000">
                <a:latin typeface="Courier New" pitchFamily="49" charset="0"/>
              </a:endParaRPr>
            </a:p>
          </p:txBody>
        </p:sp>
        <p:sp>
          <p:nvSpPr>
            <p:cNvPr id="17504" name="Text Box 96"/>
            <p:cNvSpPr txBox="1">
              <a:spLocks noChangeArrowheads="1"/>
            </p:cNvSpPr>
            <p:nvPr/>
          </p:nvSpPr>
          <p:spPr bwMode="auto">
            <a:xfrm>
              <a:off x="777" y="3040"/>
              <a:ext cx="237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C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7505" name="Text Box 97"/>
            <p:cNvSpPr txBox="1">
              <a:spLocks noChangeArrowheads="1"/>
            </p:cNvSpPr>
            <p:nvPr/>
          </p:nvSpPr>
          <p:spPr bwMode="auto">
            <a:xfrm>
              <a:off x="1520" y="2679"/>
              <a:ext cx="238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E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7506" name="Text Box 98"/>
            <p:cNvSpPr txBox="1">
              <a:spLocks noChangeArrowheads="1"/>
            </p:cNvSpPr>
            <p:nvPr/>
          </p:nvSpPr>
          <p:spPr bwMode="auto">
            <a:xfrm>
              <a:off x="781" y="3907"/>
              <a:ext cx="238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E</a:t>
              </a:r>
            </a:p>
          </p:txBody>
        </p:sp>
        <p:sp>
          <p:nvSpPr>
            <p:cNvPr id="17507" name="Text Box 99"/>
            <p:cNvSpPr txBox="1">
              <a:spLocks noChangeArrowheads="1"/>
            </p:cNvSpPr>
            <p:nvPr/>
          </p:nvSpPr>
          <p:spPr bwMode="auto">
            <a:xfrm>
              <a:off x="2329" y="3513"/>
              <a:ext cx="238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E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7508" name="Text Box 100"/>
            <p:cNvSpPr txBox="1">
              <a:spLocks noChangeArrowheads="1"/>
            </p:cNvSpPr>
            <p:nvPr/>
          </p:nvSpPr>
          <p:spPr bwMode="auto">
            <a:xfrm>
              <a:off x="1520" y="3513"/>
              <a:ext cx="238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C</a:t>
              </a:r>
            </a:p>
          </p:txBody>
        </p:sp>
        <p:sp>
          <p:nvSpPr>
            <p:cNvPr id="17509" name="Text Box 101"/>
            <p:cNvSpPr txBox="1">
              <a:spLocks noChangeArrowheads="1"/>
            </p:cNvSpPr>
            <p:nvPr/>
          </p:nvSpPr>
          <p:spPr bwMode="auto">
            <a:xfrm>
              <a:off x="781" y="3513"/>
              <a:ext cx="238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D</a:t>
              </a:r>
            </a:p>
          </p:txBody>
        </p:sp>
      </p:grpSp>
      <p:grpSp>
        <p:nvGrpSpPr>
          <p:cNvPr id="17412" name="Group 102"/>
          <p:cNvGrpSpPr>
            <a:grpSpLocks/>
          </p:cNvGrpSpPr>
          <p:nvPr/>
        </p:nvGrpSpPr>
        <p:grpSpPr bwMode="auto">
          <a:xfrm>
            <a:off x="1403350" y="3657600"/>
            <a:ext cx="7512050" cy="2514600"/>
            <a:chOff x="816" y="1824"/>
            <a:chExt cx="3984" cy="1344"/>
          </a:xfrm>
        </p:grpSpPr>
        <p:sp>
          <p:nvSpPr>
            <p:cNvPr id="17414" name="Oval 103"/>
            <p:cNvSpPr>
              <a:spLocks noChangeArrowheads="1"/>
            </p:cNvSpPr>
            <p:nvPr/>
          </p:nvSpPr>
          <p:spPr bwMode="auto">
            <a:xfrm>
              <a:off x="2837" y="1891"/>
              <a:ext cx="227" cy="218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bg-BG"/>
            </a:p>
          </p:txBody>
        </p:sp>
        <p:sp>
          <p:nvSpPr>
            <p:cNvPr id="17415" name="Oval 104"/>
            <p:cNvSpPr>
              <a:spLocks noChangeArrowheads="1"/>
            </p:cNvSpPr>
            <p:nvPr/>
          </p:nvSpPr>
          <p:spPr bwMode="auto">
            <a:xfrm>
              <a:off x="4006" y="1863"/>
              <a:ext cx="228" cy="218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bg-BG"/>
            </a:p>
          </p:txBody>
        </p:sp>
        <p:sp>
          <p:nvSpPr>
            <p:cNvPr id="17416" name="Oval 105"/>
            <p:cNvSpPr>
              <a:spLocks noChangeArrowheads="1"/>
            </p:cNvSpPr>
            <p:nvPr/>
          </p:nvSpPr>
          <p:spPr bwMode="auto">
            <a:xfrm>
              <a:off x="3420" y="2313"/>
              <a:ext cx="228" cy="25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bg-BG"/>
            </a:p>
          </p:txBody>
        </p:sp>
        <p:sp>
          <p:nvSpPr>
            <p:cNvPr id="17417" name="Oval 106"/>
            <p:cNvSpPr>
              <a:spLocks noChangeArrowheads="1"/>
            </p:cNvSpPr>
            <p:nvPr/>
          </p:nvSpPr>
          <p:spPr bwMode="auto">
            <a:xfrm>
              <a:off x="2826" y="2748"/>
              <a:ext cx="228" cy="219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bg-BG"/>
            </a:p>
          </p:txBody>
        </p:sp>
        <p:sp>
          <p:nvSpPr>
            <p:cNvPr id="17418" name="Oval 107"/>
            <p:cNvSpPr>
              <a:spLocks noChangeArrowheads="1"/>
            </p:cNvSpPr>
            <p:nvPr/>
          </p:nvSpPr>
          <p:spPr bwMode="auto">
            <a:xfrm>
              <a:off x="4447" y="2770"/>
              <a:ext cx="227" cy="212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bg-BG"/>
            </a:p>
          </p:txBody>
        </p:sp>
        <p:sp>
          <p:nvSpPr>
            <p:cNvPr id="17419" name="Line 108"/>
            <p:cNvSpPr>
              <a:spLocks noChangeShapeType="1"/>
            </p:cNvSpPr>
            <p:nvPr/>
          </p:nvSpPr>
          <p:spPr bwMode="auto">
            <a:xfrm>
              <a:off x="3074" y="1989"/>
              <a:ext cx="90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 wrap="none"/>
            <a:lstStyle/>
            <a:p>
              <a:endParaRPr lang="bg-BG"/>
            </a:p>
          </p:txBody>
        </p:sp>
        <p:sp>
          <p:nvSpPr>
            <p:cNvPr id="17420" name="Line 109"/>
            <p:cNvSpPr>
              <a:spLocks noChangeShapeType="1"/>
            </p:cNvSpPr>
            <p:nvPr/>
          </p:nvSpPr>
          <p:spPr bwMode="auto">
            <a:xfrm flipV="1">
              <a:off x="3052" y="2523"/>
              <a:ext cx="393" cy="27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 wrap="none"/>
            <a:lstStyle/>
            <a:p>
              <a:endParaRPr lang="bg-BG"/>
            </a:p>
          </p:txBody>
        </p:sp>
        <p:sp>
          <p:nvSpPr>
            <p:cNvPr id="17421" name="Line 110"/>
            <p:cNvSpPr>
              <a:spLocks noChangeShapeType="1"/>
            </p:cNvSpPr>
            <p:nvPr/>
          </p:nvSpPr>
          <p:spPr bwMode="auto">
            <a:xfrm>
              <a:off x="3072" y="2928"/>
              <a:ext cx="140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 wrap="none"/>
            <a:lstStyle/>
            <a:p>
              <a:endParaRPr lang="bg-BG"/>
            </a:p>
          </p:txBody>
        </p:sp>
        <p:sp>
          <p:nvSpPr>
            <p:cNvPr id="17422" name="Line 111"/>
            <p:cNvSpPr>
              <a:spLocks noChangeShapeType="1"/>
            </p:cNvSpPr>
            <p:nvPr/>
          </p:nvSpPr>
          <p:spPr bwMode="auto">
            <a:xfrm>
              <a:off x="4145" y="2088"/>
              <a:ext cx="402" cy="66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 wrap="none"/>
            <a:lstStyle/>
            <a:p>
              <a:endParaRPr lang="bg-BG"/>
            </a:p>
          </p:txBody>
        </p:sp>
        <p:sp>
          <p:nvSpPr>
            <p:cNvPr id="17423" name="Line 112"/>
            <p:cNvSpPr>
              <a:spLocks noChangeShapeType="1"/>
            </p:cNvSpPr>
            <p:nvPr/>
          </p:nvSpPr>
          <p:spPr bwMode="auto">
            <a:xfrm>
              <a:off x="2936" y="2127"/>
              <a:ext cx="1" cy="62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 wrap="none"/>
            <a:lstStyle/>
            <a:p>
              <a:endParaRPr lang="bg-BG"/>
            </a:p>
          </p:txBody>
        </p:sp>
        <p:sp>
          <p:nvSpPr>
            <p:cNvPr id="17424" name="Line 113"/>
            <p:cNvSpPr>
              <a:spLocks noChangeShapeType="1"/>
            </p:cNvSpPr>
            <p:nvPr/>
          </p:nvSpPr>
          <p:spPr bwMode="auto">
            <a:xfrm flipV="1">
              <a:off x="3610" y="2065"/>
              <a:ext cx="413" cy="26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 wrap="none"/>
            <a:lstStyle/>
            <a:p>
              <a:endParaRPr lang="bg-BG"/>
            </a:p>
          </p:txBody>
        </p:sp>
        <p:sp>
          <p:nvSpPr>
            <p:cNvPr id="17425" name="Text Box 114"/>
            <p:cNvSpPr txBox="1">
              <a:spLocks noChangeArrowheads="1"/>
            </p:cNvSpPr>
            <p:nvPr/>
          </p:nvSpPr>
          <p:spPr bwMode="auto">
            <a:xfrm>
              <a:off x="2804" y="1847"/>
              <a:ext cx="398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A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7426" name="Text Box 115"/>
            <p:cNvSpPr txBox="1">
              <a:spLocks noChangeArrowheads="1"/>
            </p:cNvSpPr>
            <p:nvPr/>
          </p:nvSpPr>
          <p:spPr bwMode="auto">
            <a:xfrm>
              <a:off x="3968" y="1824"/>
              <a:ext cx="398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B</a:t>
              </a:r>
            </a:p>
          </p:txBody>
        </p:sp>
        <p:sp>
          <p:nvSpPr>
            <p:cNvPr id="17427" name="Text Box 116"/>
            <p:cNvSpPr txBox="1">
              <a:spLocks noChangeArrowheads="1"/>
            </p:cNvSpPr>
            <p:nvPr/>
          </p:nvSpPr>
          <p:spPr bwMode="auto">
            <a:xfrm>
              <a:off x="823" y="2065"/>
              <a:ext cx="398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bg-BG" sz="800" b="1">
                  <a:latin typeface="Courier New" pitchFamily="49" charset="0"/>
                </a:rPr>
                <a:t> </a:t>
              </a:r>
              <a:endParaRPr lang="en-US" sz="2000" b="1">
                <a:latin typeface="Courier New" pitchFamily="49" charset="0"/>
              </a:endParaRPr>
            </a:p>
          </p:txBody>
        </p:sp>
        <p:sp>
          <p:nvSpPr>
            <p:cNvPr id="17428" name="Text Box 117"/>
            <p:cNvSpPr txBox="1">
              <a:spLocks noChangeArrowheads="1"/>
            </p:cNvSpPr>
            <p:nvPr/>
          </p:nvSpPr>
          <p:spPr bwMode="auto">
            <a:xfrm>
              <a:off x="2790" y="2717"/>
              <a:ext cx="397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D</a:t>
              </a:r>
            </a:p>
          </p:txBody>
        </p:sp>
        <p:sp>
          <p:nvSpPr>
            <p:cNvPr id="17429" name="Text Box 118"/>
            <p:cNvSpPr txBox="1">
              <a:spLocks noChangeArrowheads="1"/>
            </p:cNvSpPr>
            <p:nvPr/>
          </p:nvSpPr>
          <p:spPr bwMode="auto">
            <a:xfrm>
              <a:off x="3379" y="2298"/>
              <a:ext cx="397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C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7430" name="Text Box 119"/>
            <p:cNvSpPr txBox="1">
              <a:spLocks noChangeArrowheads="1"/>
            </p:cNvSpPr>
            <p:nvPr/>
          </p:nvSpPr>
          <p:spPr bwMode="auto">
            <a:xfrm>
              <a:off x="816" y="2453"/>
              <a:ext cx="398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bg-BG" sz="800" b="1">
                  <a:latin typeface="Courier New" pitchFamily="49" charset="0"/>
                </a:rPr>
                <a:t> 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7431" name="Text Box 120"/>
            <p:cNvSpPr txBox="1">
              <a:spLocks noChangeArrowheads="1"/>
            </p:cNvSpPr>
            <p:nvPr/>
          </p:nvSpPr>
          <p:spPr bwMode="auto">
            <a:xfrm>
              <a:off x="1692" y="2407"/>
              <a:ext cx="398" cy="2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bg-BG" sz="800" b="1">
                  <a:latin typeface="Courier New" pitchFamily="49" charset="0"/>
                </a:rPr>
                <a:t> </a:t>
              </a:r>
              <a:endParaRPr lang="bg-BG" sz="1000">
                <a:latin typeface="Courier New" pitchFamily="49" charset="0"/>
              </a:endParaRPr>
            </a:p>
          </p:txBody>
        </p:sp>
        <p:sp>
          <p:nvSpPr>
            <p:cNvPr id="17432" name="Text Box 121"/>
            <p:cNvSpPr txBox="1">
              <a:spLocks noChangeArrowheads="1"/>
            </p:cNvSpPr>
            <p:nvPr/>
          </p:nvSpPr>
          <p:spPr bwMode="auto">
            <a:xfrm>
              <a:off x="4402" y="2733"/>
              <a:ext cx="398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E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7433" name="Text Box 122"/>
            <p:cNvSpPr txBox="1">
              <a:spLocks noChangeArrowheads="1"/>
            </p:cNvSpPr>
            <p:nvPr/>
          </p:nvSpPr>
          <p:spPr bwMode="auto">
            <a:xfrm>
              <a:off x="1273" y="2888"/>
              <a:ext cx="397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bg-BG" sz="1000">
                  <a:latin typeface="Courier New" pitchFamily="49" charset="0"/>
                </a:rPr>
                <a:t> </a:t>
              </a:r>
            </a:p>
          </p:txBody>
        </p:sp>
      </p:grpSp>
      <p:sp>
        <p:nvSpPr>
          <p:cNvPr id="125" name="Slide Number Placeholder 1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ACED26-520D-4BC4-BC1E-4E9F202C07BD}" type="slidenum">
              <a:rPr lang="en-US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692150"/>
            <a:ext cx="7993063" cy="5861050"/>
          </a:xfrm>
        </p:spPr>
        <p:txBody>
          <a:bodyPr>
            <a:normAutofit fontScale="90000"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>
                <a:solidFill>
                  <a:schemeClr val="tx1"/>
                </a:solidFill>
              </a:rPr>
              <a:t>	      </a:t>
            </a:r>
            <a:r>
              <a:rPr lang="bg-BG" sz="2400">
                <a:solidFill>
                  <a:schemeClr val="tx1"/>
                </a:solidFill>
              </a:rPr>
              <a:t>Основни операции със структурата граф</a:t>
            </a:r>
            <a:r>
              <a:rPr lang="bg-BG" sz="1200">
                <a:solidFill>
                  <a:schemeClr val="tx1"/>
                </a:solidFill>
              </a:rPr>
              <a:t/>
            </a:r>
            <a:br>
              <a:rPr lang="bg-BG" sz="1200">
                <a:solidFill>
                  <a:schemeClr val="tx1"/>
                </a:solidFill>
              </a:rPr>
            </a:br>
            <a:r>
              <a:rPr lang="bg-BG" sz="1200">
                <a:solidFill>
                  <a:schemeClr val="tx1"/>
                </a:solidFill>
              </a:rPr>
              <a:t/>
            </a:r>
            <a:br>
              <a:rPr lang="bg-BG" sz="12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- </a:t>
            </a:r>
            <a:r>
              <a:rPr lang="bg-BG" sz="2000">
                <a:solidFill>
                  <a:schemeClr val="tx1"/>
                </a:solidFill>
              </a:rPr>
              <a:t>Инициализиране на граф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- </a:t>
            </a:r>
            <a:r>
              <a:rPr lang="bg-BG" sz="2000">
                <a:solidFill>
                  <a:schemeClr val="tx1"/>
                </a:solidFill>
              </a:rPr>
              <a:t>Търсене на връх 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- </a:t>
            </a:r>
            <a:r>
              <a:rPr lang="bg-BG" sz="2000">
                <a:solidFill>
                  <a:schemeClr val="tx1"/>
                </a:solidFill>
              </a:rPr>
              <a:t>Търсене на дъга 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- </a:t>
            </a:r>
            <a:r>
              <a:rPr lang="bg-BG" sz="2000">
                <a:solidFill>
                  <a:schemeClr val="tx1"/>
                </a:solidFill>
              </a:rPr>
              <a:t>Включване на връх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- </a:t>
            </a:r>
            <a:r>
              <a:rPr lang="bg-BG" sz="2000">
                <a:solidFill>
                  <a:schemeClr val="tx1"/>
                </a:solidFill>
              </a:rPr>
              <a:t>Включване на дъга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- </a:t>
            </a:r>
            <a:r>
              <a:rPr lang="bg-BG" sz="2000">
                <a:solidFill>
                  <a:schemeClr val="tx1"/>
                </a:solidFill>
              </a:rPr>
              <a:t>Премахване на връх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- </a:t>
            </a:r>
            <a:r>
              <a:rPr lang="bg-BG" sz="2000">
                <a:solidFill>
                  <a:schemeClr val="tx1"/>
                </a:solidFill>
              </a:rPr>
              <a:t>Премахване на дъга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- Обхождане на граф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1200">
                <a:solidFill>
                  <a:schemeClr val="tx1"/>
                </a:solidFill>
              </a:rPr>
              <a:t/>
            </a:r>
            <a:br>
              <a:rPr lang="bg-BG" sz="12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Изброените операции са дефинирани при следните аксиоми:</a:t>
            </a:r>
            <a:r>
              <a:rPr lang="bg-BG" sz="800">
                <a:solidFill>
                  <a:schemeClr val="tx1"/>
                </a:solidFill>
              </a:rPr>
              <a:t/>
            </a:r>
            <a:br>
              <a:rPr lang="bg-BG" sz="800">
                <a:solidFill>
                  <a:schemeClr val="tx1"/>
                </a:solidFill>
              </a:rPr>
            </a:br>
            <a:r>
              <a:rPr lang="bg-BG" sz="800">
                <a:solidFill>
                  <a:schemeClr val="tx1"/>
                </a:solidFill>
              </a:rPr>
              <a:t/>
            </a:r>
            <a:br>
              <a:rPr lang="bg-BG" sz="800">
                <a:solidFill>
                  <a:schemeClr val="tx1"/>
                </a:solidFill>
              </a:rPr>
            </a:br>
            <a:r>
              <a:rPr lang="bg-BG" sz="800">
                <a:solidFill>
                  <a:schemeClr val="tx1"/>
                </a:solidFill>
              </a:rPr>
              <a:t>        </a:t>
            </a:r>
            <a:r>
              <a:rPr lang="bg-BG" sz="2000">
                <a:solidFill>
                  <a:schemeClr val="tx1"/>
                </a:solidFill>
                <a:cs typeface="Times New Roman" pitchFamily="18" charset="0"/>
              </a:rPr>
              <a:t>1. </a:t>
            </a:r>
            <a:r>
              <a:rPr lang="bg-BG" sz="2000">
                <a:solidFill>
                  <a:schemeClr val="tx1"/>
                </a:solidFill>
              </a:rPr>
              <a:t>Всеки нов добавян връх е изолиран връх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   </a:t>
            </a:r>
            <a:r>
              <a:rPr lang="bg-BG" sz="2000">
                <a:solidFill>
                  <a:schemeClr val="tx1"/>
                </a:solidFill>
                <a:cs typeface="Times New Roman" pitchFamily="18" charset="0"/>
              </a:rPr>
              <a:t>2. </a:t>
            </a:r>
            <a:r>
              <a:rPr lang="bg-BG" sz="2000">
                <a:solidFill>
                  <a:schemeClr val="tx1"/>
                </a:solidFill>
              </a:rPr>
              <a:t>Ако се включва дъга и върховете, свързани с нея, не принадлежат на графа, те се добавят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   </a:t>
            </a:r>
            <a:r>
              <a:rPr lang="bg-BG" sz="2000">
                <a:solidFill>
                  <a:schemeClr val="tx1"/>
                </a:solidFill>
                <a:cs typeface="Times New Roman" pitchFamily="18" charset="0"/>
              </a:rPr>
              <a:t>3. </a:t>
            </a:r>
            <a:r>
              <a:rPr lang="bg-BG" sz="2000">
                <a:solidFill>
                  <a:schemeClr val="tx1"/>
                </a:solidFill>
              </a:rPr>
              <a:t>Ако се премахва дъга, то върховете, свързани с нея, не се премахват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   </a:t>
            </a:r>
            <a:r>
              <a:rPr lang="bg-BG" sz="2000">
                <a:solidFill>
                  <a:schemeClr val="tx1"/>
                </a:solidFill>
                <a:cs typeface="Times New Roman" pitchFamily="18" charset="0"/>
              </a:rPr>
              <a:t>4. </a:t>
            </a:r>
            <a:r>
              <a:rPr lang="bg-BG" sz="2000">
                <a:solidFill>
                  <a:schemeClr val="tx1"/>
                </a:solidFill>
              </a:rPr>
              <a:t>Ако се премахва връх, то се премахват всички дъги, инцидентни с него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   </a:t>
            </a:r>
            <a:r>
              <a:rPr lang="bg-BG" sz="2000">
                <a:solidFill>
                  <a:schemeClr val="tx1"/>
                </a:solidFill>
                <a:cs typeface="Times New Roman" pitchFamily="18" charset="0"/>
              </a:rPr>
              <a:t>5.</a:t>
            </a:r>
            <a:r>
              <a:rPr lang="bg-BG" sz="2000">
                <a:solidFill>
                  <a:schemeClr val="tx1"/>
                </a:solidFill>
              </a:rPr>
              <a:t>Включването на нов </a:t>
            </a:r>
            <a:r>
              <a:rPr lang="bg-BG" sz="2000" smtClean="0">
                <a:solidFill>
                  <a:schemeClr val="tx1"/>
                </a:solidFill>
              </a:rPr>
              <a:t>връх</a:t>
            </a:r>
            <a:r>
              <a:rPr lang="en-US" sz="2000" smtClean="0">
                <a:solidFill>
                  <a:schemeClr val="tx1"/>
                </a:solidFill>
              </a:rPr>
              <a:t> </a:t>
            </a:r>
            <a:r>
              <a:rPr lang="bg-BG" sz="2000" smtClean="0">
                <a:solidFill>
                  <a:schemeClr val="tx1"/>
                </a:solidFill>
              </a:rPr>
              <a:t>V</a:t>
            </a:r>
            <a:r>
              <a:rPr lang="bg-BG" sz="2000" baseline="-25000" smtClean="0">
                <a:solidFill>
                  <a:schemeClr val="tx1"/>
                </a:solidFill>
              </a:rPr>
              <a:t>i</a:t>
            </a:r>
            <a:r>
              <a:rPr lang="bg-BG" sz="2000" smtClean="0">
                <a:solidFill>
                  <a:schemeClr val="tx1"/>
                </a:solidFill>
              </a:rPr>
              <a:t>в </a:t>
            </a:r>
            <a:r>
              <a:rPr lang="bg-BG" sz="2000">
                <a:solidFill>
                  <a:schemeClr val="tx1"/>
                </a:solidFill>
              </a:rPr>
              <a:t>граф G е възможно, акоV</a:t>
            </a:r>
            <a:r>
              <a:rPr lang="bg-BG" sz="2000" baseline="-25000">
                <a:solidFill>
                  <a:schemeClr val="tx1"/>
                </a:solidFill>
              </a:rPr>
              <a:t>i</a:t>
            </a:r>
            <a:r>
              <a:rPr lang="bg-BG" sz="2000">
                <a:solidFill>
                  <a:schemeClr val="tx1"/>
                </a:solidFill>
              </a:rPr>
              <a:t>не принадлежи на G.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  <a:cs typeface="Times New Roman" pitchFamily="18" charset="0"/>
              </a:rPr>
              <a:t>   6. </a:t>
            </a:r>
            <a:r>
              <a:rPr lang="bg-BG" sz="2000">
                <a:solidFill>
                  <a:schemeClr val="tx1"/>
                </a:solidFill>
              </a:rPr>
              <a:t>Включването на нова дъга (V</a:t>
            </a:r>
            <a:r>
              <a:rPr lang="bg-BG" sz="2000" baseline="-25000">
                <a:solidFill>
                  <a:schemeClr val="tx1"/>
                </a:solidFill>
              </a:rPr>
              <a:t>i</a:t>
            </a:r>
            <a:r>
              <a:rPr lang="bg-BG" sz="2000">
                <a:solidFill>
                  <a:schemeClr val="tx1"/>
                </a:solidFill>
              </a:rPr>
              <a:t>, V</a:t>
            </a:r>
            <a:r>
              <a:rPr lang="bg-BG" sz="2000" baseline="-25000">
                <a:solidFill>
                  <a:schemeClr val="tx1"/>
                </a:solidFill>
              </a:rPr>
              <a:t>j</a:t>
            </a:r>
            <a:r>
              <a:rPr lang="bg-BG" sz="2000">
                <a:solidFill>
                  <a:schemeClr val="tx1"/>
                </a:solidFill>
              </a:rPr>
              <a:t>) в граф G е възможно, ако тя не принадлежи на G.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   </a:t>
            </a:r>
            <a:r>
              <a:rPr lang="bg-BG" sz="2000">
                <a:solidFill>
                  <a:schemeClr val="tx1"/>
                </a:solidFill>
                <a:cs typeface="Times New Roman" pitchFamily="18" charset="0"/>
              </a:rPr>
              <a:t>7. </a:t>
            </a:r>
            <a:r>
              <a:rPr lang="bg-BG" sz="2000">
                <a:solidFill>
                  <a:schemeClr val="tx1"/>
                </a:solidFill>
              </a:rPr>
              <a:t>Премахването на </a:t>
            </a:r>
            <a:r>
              <a:rPr lang="bg-BG" sz="2000" smtClean="0">
                <a:solidFill>
                  <a:schemeClr val="tx1"/>
                </a:solidFill>
              </a:rPr>
              <a:t>връх</a:t>
            </a:r>
            <a:r>
              <a:rPr lang="en-US" sz="2000" smtClean="0">
                <a:solidFill>
                  <a:schemeClr val="tx1"/>
                </a:solidFill>
              </a:rPr>
              <a:t> </a:t>
            </a:r>
            <a:r>
              <a:rPr lang="bg-BG" sz="2000" smtClean="0">
                <a:solidFill>
                  <a:schemeClr val="tx1"/>
                </a:solidFill>
              </a:rPr>
              <a:t> </a:t>
            </a:r>
            <a:r>
              <a:rPr lang="bg-BG" sz="2000">
                <a:solidFill>
                  <a:schemeClr val="tx1"/>
                </a:solidFill>
              </a:rPr>
              <a:t>V</a:t>
            </a:r>
            <a:r>
              <a:rPr lang="bg-BG" sz="2000" baseline="-25000">
                <a:solidFill>
                  <a:schemeClr val="tx1"/>
                </a:solidFill>
              </a:rPr>
              <a:t>i</a:t>
            </a:r>
            <a:r>
              <a:rPr lang="bg-BG" sz="2000">
                <a:solidFill>
                  <a:schemeClr val="tx1"/>
                </a:solidFill>
              </a:rPr>
              <a:t> от графа G е възможно, ако V</a:t>
            </a:r>
            <a:r>
              <a:rPr lang="bg-BG" sz="2000" baseline="-25000">
                <a:solidFill>
                  <a:schemeClr val="tx1"/>
                </a:solidFill>
              </a:rPr>
              <a:t>i </a:t>
            </a:r>
            <a:r>
              <a:rPr lang="bg-BG" sz="2000">
                <a:solidFill>
                  <a:schemeClr val="tx1"/>
                </a:solidFill>
              </a:rPr>
              <a:t>принадлежи на   G. 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   </a:t>
            </a:r>
            <a:r>
              <a:rPr lang="bg-BG" sz="2000">
                <a:solidFill>
                  <a:schemeClr val="tx1"/>
                </a:solidFill>
                <a:cs typeface="Times New Roman" pitchFamily="18" charset="0"/>
              </a:rPr>
              <a:t>8. </a:t>
            </a:r>
            <a:r>
              <a:rPr lang="bg-BG" sz="2000">
                <a:solidFill>
                  <a:schemeClr val="tx1"/>
                </a:solidFill>
              </a:rPr>
              <a:t>Премахването на дъга (V</a:t>
            </a:r>
            <a:r>
              <a:rPr lang="bg-BG" sz="2000" baseline="-25000">
                <a:solidFill>
                  <a:schemeClr val="tx1"/>
                </a:solidFill>
              </a:rPr>
              <a:t>i</a:t>
            </a:r>
            <a:r>
              <a:rPr lang="bg-BG" sz="2000">
                <a:solidFill>
                  <a:schemeClr val="tx1"/>
                </a:solidFill>
              </a:rPr>
              <a:t>, V</a:t>
            </a:r>
            <a:r>
              <a:rPr lang="bg-BG" sz="2000" baseline="-25000">
                <a:solidFill>
                  <a:schemeClr val="tx1"/>
                </a:solidFill>
              </a:rPr>
              <a:t>j</a:t>
            </a:r>
            <a:r>
              <a:rPr lang="bg-BG" sz="2000">
                <a:solidFill>
                  <a:schemeClr val="tx1"/>
                </a:solidFill>
              </a:rPr>
              <a:t>) от графа G е възможно, ако (V</a:t>
            </a:r>
            <a:r>
              <a:rPr lang="bg-BG" sz="2000" baseline="-25000">
                <a:solidFill>
                  <a:schemeClr val="tx1"/>
                </a:solidFill>
              </a:rPr>
              <a:t>i</a:t>
            </a:r>
            <a:r>
              <a:rPr lang="bg-BG" sz="2000">
                <a:solidFill>
                  <a:schemeClr val="tx1"/>
                </a:solidFill>
              </a:rPr>
              <a:t>, V</a:t>
            </a:r>
            <a:r>
              <a:rPr lang="bg-BG" sz="2000" baseline="-25000">
                <a:solidFill>
                  <a:schemeClr val="tx1"/>
                </a:solidFill>
              </a:rPr>
              <a:t>j</a:t>
            </a:r>
            <a:r>
              <a:rPr lang="bg-BG" sz="2000">
                <a:solidFill>
                  <a:schemeClr val="tx1"/>
                </a:solidFill>
              </a:rPr>
              <a:t>) принадлежи на G. 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Ако графът G е неориентиран, трябва да се добави още една аксиома: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   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9.  </a:t>
            </a:r>
            <a:r>
              <a:rPr lang="bg-BG" sz="2000">
                <a:solidFill>
                  <a:schemeClr val="tx1"/>
                </a:solidFill>
              </a:rPr>
              <a:t>Ако дъга (V</a:t>
            </a:r>
            <a:r>
              <a:rPr lang="bg-BG" sz="2000" baseline="-25000">
                <a:solidFill>
                  <a:schemeClr val="tx1"/>
                </a:solidFill>
              </a:rPr>
              <a:t>i</a:t>
            </a:r>
            <a:r>
              <a:rPr lang="bg-BG" sz="2000">
                <a:solidFill>
                  <a:schemeClr val="tx1"/>
                </a:solidFill>
              </a:rPr>
              <a:t>, V</a:t>
            </a:r>
            <a:r>
              <a:rPr lang="bg-BG" sz="2000" baseline="-25000">
                <a:solidFill>
                  <a:schemeClr val="tx1"/>
                </a:solidFill>
              </a:rPr>
              <a:t>j</a:t>
            </a:r>
            <a:r>
              <a:rPr lang="bg-BG" sz="2000">
                <a:solidFill>
                  <a:schemeClr val="tx1"/>
                </a:solidFill>
              </a:rPr>
              <a:t>) принадлежи на графа G, то дъгата (V</a:t>
            </a:r>
            <a:r>
              <a:rPr lang="bg-BG" sz="2000" baseline="-25000">
                <a:solidFill>
                  <a:schemeClr val="tx1"/>
                </a:solidFill>
              </a:rPr>
              <a:t>j</a:t>
            </a:r>
            <a:r>
              <a:rPr lang="bg-BG" sz="2000">
                <a:solidFill>
                  <a:schemeClr val="tx1"/>
                </a:solidFill>
              </a:rPr>
              <a:t>, V</a:t>
            </a:r>
            <a:r>
              <a:rPr lang="bg-BG" sz="2000" baseline="-25000">
                <a:solidFill>
                  <a:schemeClr val="tx1"/>
                </a:solidFill>
              </a:rPr>
              <a:t>i</a:t>
            </a:r>
            <a:r>
              <a:rPr lang="bg-BG" sz="2000">
                <a:solidFill>
                  <a:schemeClr val="tx1"/>
                </a:solidFill>
              </a:rPr>
              <a:t>) също така е дъга на графа G.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en-US" sz="2000">
                <a:solidFill>
                  <a:schemeClr val="tx1"/>
                </a:solidFill>
              </a:rPr>
              <a:t>	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E36DFF-5DC2-414E-8AD0-375DB7231A9E}" type="slidenum">
              <a:rPr lang="en-US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765175"/>
            <a:ext cx="7705725" cy="58674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000">
                <a:solidFill>
                  <a:schemeClr val="tx1"/>
                </a:solidFill>
              </a:rPr>
              <a:t>- Инициализация на граф: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 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void init (link *gr[n])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{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for (int i=0; i&lt;n;i++)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gr[i]=NULL;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}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- Търсене на връх в граф: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 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int search_node(link *gr[n], char c)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{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int flag=0;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for (int i=0;i&lt;n;i++)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if (gr[i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])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	 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проверка, дали даден връх съществува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if (gr[i]-&gt;key==c) 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   </a:t>
            </a:r>
            <a:r>
              <a:rPr lang="en-AU" sz="2000">
                <a:solidFill>
                  <a:schemeClr val="tx1"/>
                </a:solidFill>
                <a:latin typeface="Courier New" pitchFamily="49" charset="0"/>
              </a:rPr>
              <a:t> flag=1;</a:t>
            </a:r>
            <a:br>
              <a:rPr lang="en-AU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>
                <a:solidFill>
                  <a:schemeClr val="tx1"/>
                </a:solidFill>
                <a:latin typeface="Courier New" pitchFamily="49" charset="0"/>
              </a:rPr>
              <a:t>  return flag;</a:t>
            </a:r>
            <a:r>
              <a:rPr lang="en-US" sz="20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en-US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bg-BG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>
                <a:solidFill>
                  <a:schemeClr val="tx1"/>
                </a:solidFill>
                <a:latin typeface="Courier New" pitchFamily="49" charset="0"/>
              </a:rPr>
            </a:br>
            <a:endParaRPr lang="en-US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BB2EE7-4F5E-4EA2-892A-B05C8B267216}" type="slidenum">
              <a:rPr lang="en-US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60350"/>
            <a:ext cx="8153400" cy="6324600"/>
          </a:xfrm>
        </p:spPr>
        <p:txBody>
          <a:bodyPr>
            <a:normAutofit fontScale="90000"/>
          </a:bodyPr>
          <a:lstStyle/>
          <a:p>
            <a:r>
              <a:rPr lang="bg-BG" sz="2000" b="1" dirty="0">
                <a:solidFill>
                  <a:schemeClr val="tx1"/>
                </a:solidFill>
              </a:rPr>
              <a:t> - </a:t>
            </a:r>
            <a:r>
              <a:rPr lang="bg-BG" sz="2000" dirty="0">
                <a:solidFill>
                  <a:schemeClr val="tx1"/>
                </a:solidFill>
              </a:rPr>
              <a:t> Търсене на дъга в граф</a:t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search_arc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link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*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gr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[5],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char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c1,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char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c2)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//c1 и c2 - ключовите стойности на възлите, които 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//свързва търсената дъга 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{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>   </a:t>
            </a:r>
            <a:r>
              <a:rPr lang="en-AU" sz="20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> flag=0;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en-US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>   if (</a:t>
            </a:r>
            <a:r>
              <a:rPr lang="en-AU" sz="2000" dirty="0" err="1">
                <a:solidFill>
                  <a:schemeClr val="tx1"/>
                </a:solidFill>
                <a:latin typeface="Courier New" pitchFamily="49" charset="0"/>
              </a:rPr>
              <a:t>search_node</a:t>
            </a: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en-AU" sz="2000" dirty="0" err="1">
                <a:solidFill>
                  <a:schemeClr val="tx1"/>
                </a:solidFill>
                <a:latin typeface="Courier New" pitchFamily="49" charset="0"/>
              </a:rPr>
              <a:t>gr</a:t>
            </a: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>, c1)&amp;&amp;</a:t>
            </a:r>
            <a:r>
              <a:rPr lang="en-AU" sz="2000" dirty="0" err="1">
                <a:solidFill>
                  <a:schemeClr val="tx1"/>
                </a:solidFill>
                <a:latin typeface="Courier New" pitchFamily="49" charset="0"/>
              </a:rPr>
              <a:t>search_node</a:t>
            </a: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en-AU" sz="2000" dirty="0" err="1">
                <a:solidFill>
                  <a:schemeClr val="tx1"/>
                </a:solidFill>
                <a:latin typeface="Courier New" pitchFamily="49" charset="0"/>
              </a:rPr>
              <a:t>gr</a:t>
            </a: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>, c2))</a:t>
            </a:r>
            <a:br>
              <a:rPr lang="en-AU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>    { </a:t>
            </a:r>
            <a:r>
              <a:rPr lang="en-AU" sz="20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AU" sz="2000" dirty="0" err="1">
                <a:solidFill>
                  <a:schemeClr val="tx1"/>
                </a:solidFill>
                <a:latin typeface="Courier New" pitchFamily="49" charset="0"/>
              </a:rPr>
              <a:t>i</a:t>
            </a: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>=0;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en-US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>     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link *p;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do</a:t>
            </a:r>
            <a:b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{</a:t>
            </a:r>
            <a:b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pl-PL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pl-PL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if ((gr[i]==NULL)||(gr[i] &amp;&amp; gr[i]-&gt;key!=c1))</a:t>
            </a:r>
            <a:br>
              <a:rPr lang="pl-PL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</a:t>
            </a:r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++;</a:t>
            </a:r>
            <a:b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}</a:t>
            </a:r>
            <a:b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while (</a:t>
            </a:r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]-&gt;key!=c1); </a:t>
            </a:r>
            <a:b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p=</a:t>
            </a:r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];</a:t>
            </a:r>
            <a:b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while (p-&gt;key!=c2&amp;&amp;p-&gt;next!=NULL)  p=p-&gt;next;</a:t>
            </a:r>
            <a:b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if (p-&gt;key==c2) flag=1; </a:t>
            </a:r>
            <a:b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>    return flag;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en-US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bg-BG" sz="20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Arial" charset="0"/>
              </a:rPr>
            </a:br>
            <a:endParaRPr lang="en-US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10D6CB-DC7E-421F-ACA2-651A32677408}" type="slidenum">
              <a:rPr lang="en-US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620713"/>
            <a:ext cx="7870825" cy="56388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000" b="1">
                <a:solidFill>
                  <a:schemeClr val="tx1"/>
                </a:solidFill>
              </a:rPr>
              <a:t> - </a:t>
            </a:r>
            <a:r>
              <a:rPr lang="bg-BG" sz="2000">
                <a:solidFill>
                  <a:schemeClr val="tx1"/>
                </a:solidFill>
              </a:rPr>
              <a:t>Включване на връх в граф.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void add_node(link *gr[n], char c)//с е добавяната стойност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{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if (search_node(gr,c)) 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{cout&lt;&lt;"\nВърхът вече съществува!\n";  }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else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{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int j=0;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while (gr[j]&amp;&amp;(j&lt;n))  j++;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if (gr[j]==NULL)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{gr[j]=new link;	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създаване на нов връх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gr[j]-&gt;key=c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;//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установяване на ключовата стойност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  gr[j]-&gt;next=NULL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;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и указателя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}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else {cout&lt;&lt;"\nПрепълване на структурата!\n"; }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}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>
                <a:solidFill>
                  <a:schemeClr val="tx1"/>
                </a:solidFill>
                <a:latin typeface="Courier New" pitchFamily="49" charset="0"/>
              </a:rPr>
              <a:t>}</a:t>
            </a:r>
            <a:endParaRPr lang="en-US" sz="200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C0CF7E-80DB-439A-875E-56B0BFB1AC3F}" type="slidenum">
              <a:rPr lang="en-US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31888" y="620713"/>
            <a:ext cx="8012112" cy="58674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 -  Включване на дъга в граф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void add_arc(link *gr[n], char c1, char c2)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{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int i=0;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link *p;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if (search_arc(gr, c1, c2))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  {cout&lt;&lt;"\nДъгата вече съществува!";  }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 else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{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 if (!(search_node(gr, c1)))  add_node(gr, c1);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 if (!(search_node(gr, c2)))  add_node(gr, c2);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 while (gr[i]-&gt;key!=c1)  i++;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 p=new link;	    //създаване на нов елемент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 p-&gt;key=c2; 	    //в списъка на съседство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 p-&gt;next=gr[i]-&gt;next;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>
                <a:solidFill>
                  <a:schemeClr val="tx1"/>
                </a:solidFill>
                <a:latin typeface="Courier New" pitchFamily="49" charset="0"/>
              </a:rPr>
              <a:t>	 gr[i]-&gt;next=p;</a:t>
            </a:r>
            <a:r>
              <a:rPr lang="en-US" sz="20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en-US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>
                <a:solidFill>
                  <a:schemeClr val="tx1"/>
                </a:solidFill>
                <a:latin typeface="Courier New" pitchFamily="49" charset="0"/>
              </a:rPr>
              <a:t>    }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bg-BG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>
                <a:solidFill>
                  <a:schemeClr val="tx1"/>
                </a:solidFill>
                <a:latin typeface="Courier New" pitchFamily="49" charset="0"/>
              </a:rPr>
            </a:br>
            <a:endParaRPr lang="en-US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A7571-F51A-4FF8-A8E0-6D1CDB184D38}" type="slidenum">
              <a:rPr lang="en-US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836613"/>
            <a:ext cx="7943850" cy="5791200"/>
          </a:xfrm>
        </p:spPr>
        <p:txBody>
          <a:bodyPr>
            <a:normAutofit fontScale="90000"/>
          </a:bodyPr>
          <a:lstStyle/>
          <a:p>
            <a:r>
              <a:rPr lang="bg-BG" sz="2000" dirty="0">
                <a:solidFill>
                  <a:schemeClr val="tx1"/>
                </a:solidFill>
              </a:rPr>
              <a:t>- Премахване на връх от граф</a:t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void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del_node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link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*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gr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[n],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char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c)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{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if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(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search_node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gr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, c))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  {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  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i=0;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do       </a:t>
            </a:r>
            <a:br>
              <a:rPr lang="en-US" sz="1800" dirty="0" smtClean="0">
                <a:latin typeface="Courier New" pitchFamily="49" charset="0"/>
                <a:cs typeface="Courier New" pitchFamily="49" charset="0"/>
              </a:rPr>
            </a:br>
            <a:r>
              <a:rPr lang="pl-PL" sz="18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pl-PL" sz="1800" dirty="0" smtClean="0">
                <a:latin typeface="Courier New" pitchFamily="49" charset="0"/>
                <a:cs typeface="Courier New" pitchFamily="49" charset="0"/>
              </a:rPr>
              <a:t> if ((gr[i]==NULL)||(gr[i] &amp;&amp; gr[i]-&gt;key!=c))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++; </a:t>
            </a:r>
            <a:br>
              <a:rPr lang="en-US" sz="18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while (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gr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]-&gt;key!=c); </a:t>
            </a:r>
            <a:br>
              <a:rPr lang="en-US" sz="18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     link *p=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gr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], *q;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  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(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gr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[i]!=NULL) 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        {p=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gr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[i];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gr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[i]=p-&gt;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delete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p;}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   //изтриване на върха и на дъгите, излизащи от него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  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for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(i=0;i&lt;n;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i++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)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if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(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gr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[i])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	   {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	    p=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gr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[i];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	  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((p-&gt;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key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!=c)&amp;&amp;(p-&gt;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!=NULL))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	     {q=p;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p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=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p-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;}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	  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if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(p-&gt;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key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==c) 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изтриване на дъгите, влизащи 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	     {q-&gt;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=p-&gt;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delete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p;}     //във върха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	   }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  }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   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else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{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cout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&lt;&lt;"В графа няма такъв връх!";}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}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endParaRPr lang="bg-BG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7C0EB4-B264-4458-9F29-E484E0A075E7}" type="slidenum">
              <a:rPr lang="en-US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620713"/>
            <a:ext cx="7502525" cy="58674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000">
                <a:solidFill>
                  <a:schemeClr val="tx1"/>
                </a:solidFill>
              </a:rPr>
              <a:t>- Премахване на дъга от граф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void del_arc(link *gr[n], char c1, char c2)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{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if (search_arc(gr, c1, c2))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{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int i=0;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while (gr[i]-&gt;key!=c1) 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		i++;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link *p=gr[i], *q;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while (p-&gt;key!=c2) 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	{q=p; p=p-&gt;next;}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q-&gt;next=p-&gt;next;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delete p;		//премахване на върха 				 	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от списъка на съседство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}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2">
                    <a:satMod val="130000"/>
                  </a:schemeClr>
                </a:solidFill>
                <a:latin typeface="Courier New" pitchFamily="49" charset="0"/>
              </a:rPr>
              <a:t>      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else {cout&lt;&lt;"\nВ графа няма такава дъга!";}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endParaRPr lang="en-US" sz="200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BC50D5-05F9-42ED-B2AC-C45B462BF918}" type="slidenum">
              <a:rPr lang="en-US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836613"/>
            <a:ext cx="7848600" cy="5791200"/>
          </a:xfrm>
        </p:spPr>
        <p:txBody>
          <a:bodyPr>
            <a:normAutofit fontScale="90000"/>
          </a:bodyPr>
          <a:lstStyle/>
          <a:p>
            <a:pPr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bg-BG" sz="2400">
                <a:solidFill>
                  <a:schemeClr val="tx1"/>
                </a:solidFill>
              </a:rPr>
              <a:t>- Обхождане на граф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	</a:t>
            </a:r>
            <a:r>
              <a:rPr lang="bg-BG" sz="2000">
                <a:solidFill>
                  <a:schemeClr val="tx1"/>
                </a:solidFill>
              </a:rPr>
              <a:t>Обхождането на граф може да става по два начина: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   -  </a:t>
            </a:r>
            <a:r>
              <a:rPr lang="bg-BG" sz="2000" i="1">
                <a:solidFill>
                  <a:schemeClr val="tx1"/>
                </a:solidFill>
              </a:rPr>
              <a:t>в дълбочина</a:t>
            </a:r>
            <a:r>
              <a:rPr lang="bg-BG" sz="2000">
                <a:solidFill>
                  <a:schemeClr val="tx1"/>
                </a:solidFill>
              </a:rPr>
              <a:t>  (</a:t>
            </a:r>
            <a:r>
              <a:rPr lang="bg-BG" sz="2000" i="1">
                <a:solidFill>
                  <a:schemeClr val="tx1"/>
                </a:solidFill>
              </a:rPr>
              <a:t>Depth-First Search</a:t>
            </a:r>
            <a:r>
              <a:rPr lang="bg-BG" sz="2000">
                <a:solidFill>
                  <a:schemeClr val="tx1"/>
                </a:solidFill>
              </a:rPr>
              <a:t> или </a:t>
            </a:r>
            <a:r>
              <a:rPr lang="bg-BG" sz="2000" i="1">
                <a:solidFill>
                  <a:schemeClr val="tx1"/>
                </a:solidFill>
              </a:rPr>
              <a:t>DFS</a:t>
            </a:r>
            <a:r>
              <a:rPr lang="bg-BG" sz="2000">
                <a:solidFill>
                  <a:schemeClr val="tx1"/>
                </a:solidFill>
              </a:rPr>
              <a:t>), при което се следва възможно най-дългия път, като се обработват всички срещнати по пътя върхове до достигане до връх без наследник или до връх, през който вече сме минали. С други думи, при обхождане в дълбочина се посещава един съсед </a:t>
            </a:r>
            <a:r>
              <a:rPr lang="bg-BG" sz="2000" b="1">
                <a:solidFill>
                  <a:schemeClr val="tx1"/>
                </a:solidFill>
              </a:rPr>
              <a:t>V</a:t>
            </a:r>
            <a:r>
              <a:rPr lang="bg-BG" sz="2000" b="1" baseline="-25000">
                <a:solidFill>
                  <a:schemeClr val="tx1"/>
                </a:solidFill>
              </a:rPr>
              <a:t>i</a:t>
            </a:r>
            <a:r>
              <a:rPr lang="bg-BG" sz="2000">
                <a:solidFill>
                  <a:schemeClr val="tx1"/>
                </a:solidFill>
              </a:rPr>
              <a:t> на даден връх </a:t>
            </a:r>
            <a:r>
              <a:rPr lang="bg-BG" sz="2000" b="1">
                <a:solidFill>
                  <a:schemeClr val="tx1"/>
                </a:solidFill>
              </a:rPr>
              <a:t>V</a:t>
            </a:r>
            <a:r>
              <a:rPr lang="bg-BG" sz="2000" b="1" baseline="-25000">
                <a:solidFill>
                  <a:schemeClr val="tx1"/>
                </a:solidFill>
              </a:rPr>
              <a:t>j</a:t>
            </a:r>
            <a:r>
              <a:rPr lang="bg-BG" sz="2000">
                <a:solidFill>
                  <a:schemeClr val="tx1"/>
                </a:solidFill>
              </a:rPr>
              <a:t>, а останалите съседи на </a:t>
            </a:r>
            <a:r>
              <a:rPr lang="bg-BG" sz="2000" b="1">
                <a:solidFill>
                  <a:schemeClr val="tx1"/>
                </a:solidFill>
              </a:rPr>
              <a:t>V</a:t>
            </a:r>
            <a:r>
              <a:rPr lang="bg-BG" sz="2000" b="1" baseline="-25000">
                <a:solidFill>
                  <a:schemeClr val="tx1"/>
                </a:solidFill>
              </a:rPr>
              <a:t>j</a:t>
            </a:r>
            <a:r>
              <a:rPr lang="bg-BG" sz="2000">
                <a:solidFill>
                  <a:schemeClr val="tx1"/>
                </a:solidFill>
              </a:rPr>
              <a:t> ще бъдат посетени едва след като са обходени всички съседи на </a:t>
            </a:r>
            <a:r>
              <a:rPr lang="bg-BG" sz="2000" b="1">
                <a:solidFill>
                  <a:schemeClr val="tx1"/>
                </a:solidFill>
              </a:rPr>
              <a:t>V</a:t>
            </a:r>
            <a:r>
              <a:rPr lang="bg-BG" sz="2000" b="1" baseline="-25000">
                <a:solidFill>
                  <a:schemeClr val="tx1"/>
                </a:solidFill>
              </a:rPr>
              <a:t>i</a:t>
            </a:r>
            <a:r>
              <a:rPr lang="bg-BG" sz="2000">
                <a:solidFill>
                  <a:schemeClr val="tx1"/>
                </a:solidFill>
              </a:rPr>
              <a:t> .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   - </a:t>
            </a:r>
            <a:r>
              <a:rPr lang="bg-BG" sz="2000" i="1">
                <a:solidFill>
                  <a:schemeClr val="tx1"/>
                </a:solidFill>
              </a:rPr>
              <a:t>в ширина</a:t>
            </a:r>
            <a:r>
              <a:rPr lang="bg-BG" sz="2000">
                <a:solidFill>
                  <a:schemeClr val="tx1"/>
                </a:solidFill>
              </a:rPr>
              <a:t>  (</a:t>
            </a:r>
            <a:r>
              <a:rPr lang="bg-BG" sz="2000" i="1">
                <a:solidFill>
                  <a:schemeClr val="tx1"/>
                </a:solidFill>
              </a:rPr>
              <a:t>Breadth-First Search</a:t>
            </a:r>
            <a:r>
              <a:rPr lang="bg-BG" sz="2000">
                <a:solidFill>
                  <a:schemeClr val="tx1"/>
                </a:solidFill>
              </a:rPr>
              <a:t> и </a:t>
            </a:r>
            <a:r>
              <a:rPr lang="bg-BG" sz="2000" i="1">
                <a:solidFill>
                  <a:schemeClr val="tx1"/>
                </a:solidFill>
              </a:rPr>
              <a:t>BFS</a:t>
            </a:r>
            <a:r>
              <a:rPr lang="bg-BG" sz="2000">
                <a:solidFill>
                  <a:schemeClr val="tx1"/>
                </a:solidFill>
              </a:rPr>
              <a:t>), при което върховете се обхождат по реда на нарастване на разстоянието от началния връх. С други думи, първо се посещават всички непосредствени съседи на даден връх, преди да се посетят техните съседи.</a:t>
            </a:r>
            <a:r>
              <a:rPr lang="bg-BG">
                <a:solidFill>
                  <a:schemeClr val="tx1"/>
                </a:solidFill>
              </a:rPr>
              <a:t/>
            </a:r>
            <a:br>
              <a:rPr lang="bg-BG">
                <a:solidFill>
                  <a:schemeClr val="tx1"/>
                </a:solidFill>
              </a:rPr>
            </a:br>
            <a:r>
              <a:rPr lang="bg-BG">
                <a:solidFill>
                  <a:schemeClr val="tx1"/>
                </a:solidFill>
              </a:rPr>
              <a:t/>
            </a:r>
            <a:br>
              <a:rPr lang="bg-BG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6AA1C7-FAEE-4FA1-9D25-052DC149288F}" type="slidenum">
              <a:rPr lang="en-US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143000"/>
            <a:ext cx="8077200" cy="54864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smtClean="0">
                <a:solidFill>
                  <a:schemeClr val="tx2">
                    <a:satMod val="130000"/>
                  </a:schemeClr>
                </a:solidFill>
              </a:rPr>
              <a:t>	</a:t>
            </a:r>
            <a:r>
              <a:rPr lang="bg-BG" sz="2800" smtClean="0">
                <a:solidFill>
                  <a:schemeClr val="tx2">
                    <a:satMod val="130000"/>
                  </a:schemeClr>
                </a:solidFill>
              </a:rPr>
              <a:t>Примерно </a:t>
            </a:r>
            <a:r>
              <a:rPr lang="bg-BG" sz="2800">
                <a:solidFill>
                  <a:schemeClr val="tx2">
                    <a:satMod val="130000"/>
                  </a:schemeClr>
                </a:solidFill>
              </a:rPr>
              <a:t>обхождане:</a:t>
            </a:r>
            <a:r>
              <a:rPr lang="bg-BG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>
                <a:solidFill>
                  <a:schemeClr val="tx2">
                    <a:satMod val="130000"/>
                  </a:schemeClr>
                </a:solidFill>
              </a:rPr>
            </a:br>
            <a:r>
              <a:rPr lang="bg-BG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>
                <a:solidFill>
                  <a:schemeClr val="tx2">
                    <a:satMod val="130000"/>
                  </a:schemeClr>
                </a:solidFill>
              </a:rPr>
            </a:br>
            <a:r>
              <a:rPr lang="bg-BG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>
                <a:solidFill>
                  <a:schemeClr val="tx2">
                    <a:satMod val="130000"/>
                  </a:schemeClr>
                </a:solidFill>
              </a:rPr>
            </a:br>
            <a:r>
              <a:rPr lang="bg-BG">
                <a:solidFill>
                  <a:schemeClr val="tx2">
                    <a:satMod val="130000"/>
                  </a:schemeClr>
                </a:solidFill>
              </a:rPr>
              <a:t>					</a:t>
            </a:r>
            <a:br>
              <a:rPr lang="bg-BG">
                <a:solidFill>
                  <a:schemeClr val="tx2">
                    <a:satMod val="130000"/>
                  </a:schemeClr>
                </a:solidFill>
              </a:rPr>
            </a:br>
            <a:r>
              <a:rPr lang="bg-BG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>
                <a:solidFill>
                  <a:schemeClr val="tx2">
                    <a:satMod val="130000"/>
                  </a:schemeClr>
                </a:solidFill>
              </a:rPr>
            </a:br>
            <a:r>
              <a:rPr lang="bg-BG">
                <a:solidFill>
                  <a:schemeClr val="tx2">
                    <a:satMod val="130000"/>
                  </a:schemeClr>
                </a:solidFill>
              </a:rPr>
              <a:t>				 </a:t>
            </a:r>
            <a:br>
              <a:rPr lang="bg-BG">
                <a:solidFill>
                  <a:schemeClr val="tx2">
                    <a:satMod val="130000"/>
                  </a:schemeClr>
                </a:solidFill>
              </a:rPr>
            </a:br>
            <a:r>
              <a:rPr lang="bg-BG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>
                <a:solidFill>
                  <a:schemeClr val="tx2">
                    <a:satMod val="130000"/>
                  </a:schemeClr>
                </a:solidFill>
              </a:rPr>
            </a:br>
            <a:r>
              <a:rPr lang="bg-BG">
                <a:solidFill>
                  <a:schemeClr val="tx2">
                    <a:satMod val="130000"/>
                  </a:schemeClr>
                </a:solidFill>
              </a:rPr>
              <a:t>			</a:t>
            </a:r>
            <a:r>
              <a:rPr lang="en-US" sz="2400">
                <a:solidFill>
                  <a:schemeClr val="tx2">
                    <a:satMod val="130000"/>
                  </a:schemeClr>
                </a:solidFill>
              </a:rPr>
              <a:t>DFS (</a:t>
            </a: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в дълбочина):</a:t>
            </a:r>
            <a:r>
              <a:rPr lang="en-US" sz="240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 	0 4 1 5 3 2</a:t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                                   </a:t>
            </a:r>
            <a:r>
              <a:rPr lang="en-US" sz="2400" smtClean="0">
                <a:solidFill>
                  <a:schemeClr val="tx2">
                    <a:satMod val="130000"/>
                  </a:schemeClr>
                </a:solidFill>
              </a:rPr>
              <a:t>	</a:t>
            </a:r>
            <a:r>
              <a:rPr lang="bg-BG" sz="2400" smtClean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400">
                <a:solidFill>
                  <a:schemeClr val="tx2">
                    <a:satMod val="130000"/>
                  </a:schemeClr>
                </a:solidFill>
              </a:rPr>
              <a:t>BFS</a:t>
            </a: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  (в ширина):       0 4 2 3 1 5						</a:t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endParaRPr lang="en-US">
              <a:solidFill>
                <a:schemeClr val="tx2">
                  <a:satMod val="130000"/>
                </a:schemeClr>
              </a:solidFill>
            </a:endParaRPr>
          </a:p>
        </p:txBody>
      </p:sp>
      <p:grpSp>
        <p:nvGrpSpPr>
          <p:cNvPr id="26627" name="Group 3"/>
          <p:cNvGrpSpPr>
            <a:grpSpLocks/>
          </p:cNvGrpSpPr>
          <p:nvPr/>
        </p:nvGrpSpPr>
        <p:grpSpPr bwMode="auto">
          <a:xfrm>
            <a:off x="2339975" y="1341438"/>
            <a:ext cx="4419600" cy="3505200"/>
            <a:chOff x="4047" y="8778"/>
            <a:chExt cx="3678" cy="2994"/>
          </a:xfrm>
        </p:grpSpPr>
        <p:sp>
          <p:nvSpPr>
            <p:cNvPr id="26629" name="Oval 4"/>
            <p:cNvSpPr>
              <a:spLocks noChangeArrowheads="1"/>
            </p:cNvSpPr>
            <p:nvPr/>
          </p:nvSpPr>
          <p:spPr bwMode="auto">
            <a:xfrm>
              <a:off x="6213" y="9747"/>
              <a:ext cx="600" cy="60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26630" name="Oval 5"/>
            <p:cNvSpPr>
              <a:spLocks noChangeArrowheads="1"/>
            </p:cNvSpPr>
            <p:nvPr/>
          </p:nvSpPr>
          <p:spPr bwMode="auto">
            <a:xfrm>
              <a:off x="5130" y="9975"/>
              <a:ext cx="600" cy="60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26631" name="Oval 6"/>
            <p:cNvSpPr>
              <a:spLocks noChangeArrowheads="1"/>
            </p:cNvSpPr>
            <p:nvPr/>
          </p:nvSpPr>
          <p:spPr bwMode="auto">
            <a:xfrm>
              <a:off x="7125" y="9291"/>
              <a:ext cx="600" cy="60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26632" name="Oval 7"/>
            <p:cNvSpPr>
              <a:spLocks noChangeArrowheads="1"/>
            </p:cNvSpPr>
            <p:nvPr/>
          </p:nvSpPr>
          <p:spPr bwMode="auto">
            <a:xfrm>
              <a:off x="5187" y="8778"/>
              <a:ext cx="600" cy="60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26633" name="Oval 8"/>
            <p:cNvSpPr>
              <a:spLocks noChangeArrowheads="1"/>
            </p:cNvSpPr>
            <p:nvPr/>
          </p:nvSpPr>
          <p:spPr bwMode="auto">
            <a:xfrm>
              <a:off x="4047" y="9576"/>
              <a:ext cx="600" cy="60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26634" name="Oval 9"/>
            <p:cNvSpPr>
              <a:spLocks noChangeArrowheads="1"/>
            </p:cNvSpPr>
            <p:nvPr/>
          </p:nvSpPr>
          <p:spPr bwMode="auto">
            <a:xfrm>
              <a:off x="6156" y="11172"/>
              <a:ext cx="600" cy="60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26635" name="Text Box 10"/>
            <p:cNvSpPr txBox="1">
              <a:spLocks noChangeArrowheads="1"/>
            </p:cNvSpPr>
            <p:nvPr/>
          </p:nvSpPr>
          <p:spPr bwMode="auto">
            <a:xfrm>
              <a:off x="5301" y="8892"/>
              <a:ext cx="399" cy="3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800" b="1"/>
                <a:t> </a:t>
              </a:r>
              <a:r>
                <a:rPr lang="en-US" sz="1800" b="1"/>
                <a:t>0</a:t>
              </a:r>
              <a:endParaRPr lang="en-US" sz="800"/>
            </a:p>
          </p:txBody>
        </p:sp>
        <p:sp>
          <p:nvSpPr>
            <p:cNvPr id="26636" name="Text Box 11"/>
            <p:cNvSpPr txBox="1">
              <a:spLocks noChangeArrowheads="1"/>
            </p:cNvSpPr>
            <p:nvPr/>
          </p:nvSpPr>
          <p:spPr bwMode="auto">
            <a:xfrm>
              <a:off x="5244" y="10089"/>
              <a:ext cx="399" cy="3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800" b="1"/>
                <a:t> </a:t>
              </a:r>
              <a:r>
                <a:rPr lang="en-US" sz="1800" b="1"/>
                <a:t>4</a:t>
              </a:r>
            </a:p>
          </p:txBody>
        </p:sp>
        <p:sp>
          <p:nvSpPr>
            <p:cNvPr id="26637" name="Text Box 12"/>
            <p:cNvSpPr txBox="1">
              <a:spLocks noChangeArrowheads="1"/>
            </p:cNvSpPr>
            <p:nvPr/>
          </p:nvSpPr>
          <p:spPr bwMode="auto">
            <a:xfrm>
              <a:off x="4161" y="9690"/>
              <a:ext cx="399" cy="3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800" b="1"/>
                <a:t> </a:t>
              </a:r>
              <a:r>
                <a:rPr lang="en-US" sz="1800" b="1"/>
                <a:t>1</a:t>
              </a:r>
            </a:p>
          </p:txBody>
        </p:sp>
        <p:sp>
          <p:nvSpPr>
            <p:cNvPr id="26638" name="Text Box 13"/>
            <p:cNvSpPr txBox="1">
              <a:spLocks noChangeArrowheads="1"/>
            </p:cNvSpPr>
            <p:nvPr/>
          </p:nvSpPr>
          <p:spPr bwMode="auto">
            <a:xfrm>
              <a:off x="6327" y="9861"/>
              <a:ext cx="399" cy="3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800"/>
                <a:t> </a:t>
              </a:r>
              <a:r>
                <a:rPr lang="en-US" sz="1800" b="1"/>
                <a:t>2</a:t>
              </a:r>
              <a:endParaRPr lang="en-US" sz="1800"/>
            </a:p>
          </p:txBody>
        </p:sp>
        <p:sp>
          <p:nvSpPr>
            <p:cNvPr id="26639" name="Text Box 14"/>
            <p:cNvSpPr txBox="1">
              <a:spLocks noChangeArrowheads="1"/>
            </p:cNvSpPr>
            <p:nvPr/>
          </p:nvSpPr>
          <p:spPr bwMode="auto">
            <a:xfrm>
              <a:off x="7239" y="9405"/>
              <a:ext cx="399" cy="3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800" b="1"/>
                <a:t> </a:t>
              </a:r>
              <a:r>
                <a:rPr lang="en-US" sz="1800" b="1"/>
                <a:t>3</a:t>
              </a:r>
            </a:p>
          </p:txBody>
        </p:sp>
        <p:sp>
          <p:nvSpPr>
            <p:cNvPr id="26640" name="Text Box 15"/>
            <p:cNvSpPr txBox="1">
              <a:spLocks noChangeArrowheads="1"/>
            </p:cNvSpPr>
            <p:nvPr/>
          </p:nvSpPr>
          <p:spPr bwMode="auto">
            <a:xfrm>
              <a:off x="6270" y="11286"/>
              <a:ext cx="399" cy="3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800" b="1"/>
                <a:t> </a:t>
              </a:r>
              <a:r>
                <a:rPr lang="en-US" sz="1800" b="1"/>
                <a:t>5</a:t>
              </a:r>
            </a:p>
          </p:txBody>
        </p:sp>
        <p:sp>
          <p:nvSpPr>
            <p:cNvPr id="26641" name="Line 16"/>
            <p:cNvSpPr>
              <a:spLocks noChangeShapeType="1"/>
            </p:cNvSpPr>
            <p:nvPr/>
          </p:nvSpPr>
          <p:spPr bwMode="auto">
            <a:xfrm>
              <a:off x="5472" y="9405"/>
              <a:ext cx="0" cy="5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42" name="Line 17"/>
            <p:cNvSpPr>
              <a:spLocks noChangeShapeType="1"/>
            </p:cNvSpPr>
            <p:nvPr/>
          </p:nvSpPr>
          <p:spPr bwMode="auto">
            <a:xfrm flipH="1" flipV="1">
              <a:off x="4674" y="9975"/>
              <a:ext cx="456" cy="1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43" name="Line 18"/>
            <p:cNvSpPr>
              <a:spLocks noChangeShapeType="1"/>
            </p:cNvSpPr>
            <p:nvPr/>
          </p:nvSpPr>
          <p:spPr bwMode="auto">
            <a:xfrm>
              <a:off x="4560" y="10146"/>
              <a:ext cx="1653" cy="11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44" name="Line 19"/>
            <p:cNvSpPr>
              <a:spLocks noChangeShapeType="1"/>
            </p:cNvSpPr>
            <p:nvPr/>
          </p:nvSpPr>
          <p:spPr bwMode="auto">
            <a:xfrm flipH="1">
              <a:off x="6498" y="10374"/>
              <a:ext cx="0" cy="7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45" name="Line 20"/>
            <p:cNvSpPr>
              <a:spLocks noChangeShapeType="1"/>
            </p:cNvSpPr>
            <p:nvPr/>
          </p:nvSpPr>
          <p:spPr bwMode="auto">
            <a:xfrm>
              <a:off x="5700" y="9291"/>
              <a:ext cx="57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46" name="Line 21"/>
            <p:cNvSpPr>
              <a:spLocks noChangeShapeType="1"/>
            </p:cNvSpPr>
            <p:nvPr/>
          </p:nvSpPr>
          <p:spPr bwMode="auto">
            <a:xfrm>
              <a:off x="5757" y="9120"/>
              <a:ext cx="1368" cy="3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BF2AA2-EC66-41FB-9E9D-9823BAEAB7C5}" type="slidenum">
              <a:rPr lang="en-US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1258888" y="620713"/>
            <a:ext cx="749935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bg-BG"/>
              <a:t>Друг пример за обхождане на граф:</a:t>
            </a:r>
            <a:br>
              <a:rPr lang="bg-BG"/>
            </a:br>
            <a:r>
              <a:rPr lang="bg-BG"/>
              <a:t/>
            </a:r>
            <a:br>
              <a:rPr lang="bg-BG"/>
            </a:br>
            <a:r>
              <a:rPr lang="bg-BG"/>
              <a:t/>
            </a:r>
            <a:br>
              <a:rPr lang="bg-BG"/>
            </a:br>
            <a:r>
              <a:rPr lang="en-US"/>
              <a:t>DFS:	0 1 2 4 3</a:t>
            </a:r>
            <a:br>
              <a:rPr lang="en-US"/>
            </a:br>
            <a:r>
              <a:rPr lang="en-US"/>
              <a:t>        	0 3 2 4 1</a:t>
            </a:r>
            <a:br>
              <a:rPr lang="en-US"/>
            </a:br>
            <a:r>
              <a:rPr lang="en-US"/>
              <a:t>        	0 3 4 1 2</a:t>
            </a:r>
            <a:br>
              <a:rPr lang="en-US"/>
            </a:br>
            <a:r>
              <a:rPr lang="bg-BG"/>
              <a:t>	    . . .</a:t>
            </a:r>
            <a:r>
              <a:rPr lang="en-US"/>
              <a:t/>
            </a:r>
            <a:br>
              <a:rPr lang="en-US"/>
            </a:br>
            <a:r>
              <a:rPr lang="en-US"/>
              <a:t>BFS:	0 1 3 4 2    </a:t>
            </a:r>
            <a:r>
              <a:rPr lang="bg-BG"/>
              <a:t/>
            </a:r>
            <a:br>
              <a:rPr lang="bg-BG"/>
            </a:br>
            <a:r>
              <a:rPr lang="bg-BG">
                <a:solidFill>
                  <a:schemeClr val="tx2"/>
                </a:solidFill>
              </a:rPr>
              <a:t/>
            </a:r>
            <a:br>
              <a:rPr lang="bg-BG">
                <a:solidFill>
                  <a:schemeClr val="tx2"/>
                </a:solidFill>
              </a:rPr>
            </a:br>
            <a:r>
              <a:rPr lang="bg-BG">
                <a:solidFill>
                  <a:schemeClr val="tx2"/>
                </a:solidFill>
              </a:rPr>
              <a:t/>
            </a:r>
            <a:br>
              <a:rPr lang="bg-BG">
                <a:solidFill>
                  <a:schemeClr val="tx2"/>
                </a:solidFill>
              </a:rPr>
            </a:br>
            <a:r>
              <a:rPr lang="bg-BG">
                <a:solidFill>
                  <a:schemeClr val="tx2"/>
                </a:solidFill>
              </a:rPr>
              <a:t/>
            </a:r>
            <a:br>
              <a:rPr lang="bg-BG">
                <a:solidFill>
                  <a:schemeClr val="tx2"/>
                </a:solidFill>
              </a:rPr>
            </a:br>
            <a:r>
              <a:rPr lang="bg-BG">
                <a:solidFill>
                  <a:schemeClr val="tx2"/>
                </a:solidFill>
              </a:rPr>
              <a:t/>
            </a:r>
            <a:br>
              <a:rPr lang="bg-BG">
                <a:solidFill>
                  <a:schemeClr val="tx2"/>
                </a:solidFill>
              </a:rPr>
            </a:br>
            <a:r>
              <a:rPr lang="bg-BG">
                <a:solidFill>
                  <a:schemeClr val="tx2"/>
                </a:solidFill>
              </a:rPr>
              <a:t/>
            </a:r>
            <a:br>
              <a:rPr lang="bg-BG">
                <a:solidFill>
                  <a:schemeClr val="tx2"/>
                </a:solidFill>
              </a:rPr>
            </a:br>
            <a:r>
              <a:rPr lang="bg-BG">
                <a:solidFill>
                  <a:schemeClr val="tx2"/>
                </a:solidFill>
              </a:rPr>
              <a:t/>
            </a:r>
            <a:br>
              <a:rPr lang="bg-BG">
                <a:solidFill>
                  <a:schemeClr val="tx2"/>
                </a:solidFill>
              </a:rPr>
            </a:br>
            <a:r>
              <a:rPr lang="en-US">
                <a:solidFill>
                  <a:schemeClr val="tx2"/>
                </a:solidFill>
              </a:rPr>
              <a:t>         </a:t>
            </a:r>
          </a:p>
        </p:txBody>
      </p:sp>
      <p:grpSp>
        <p:nvGrpSpPr>
          <p:cNvPr id="27651" name="Group 3"/>
          <p:cNvGrpSpPr>
            <a:grpSpLocks/>
          </p:cNvGrpSpPr>
          <p:nvPr/>
        </p:nvGrpSpPr>
        <p:grpSpPr bwMode="auto">
          <a:xfrm>
            <a:off x="4343400" y="1752600"/>
            <a:ext cx="2895600" cy="4191000"/>
            <a:chOff x="684" y="2337"/>
            <a:chExt cx="2517" cy="3906"/>
          </a:xfrm>
        </p:grpSpPr>
        <p:sp>
          <p:nvSpPr>
            <p:cNvPr id="27653" name="Oval 4"/>
            <p:cNvSpPr>
              <a:spLocks noChangeArrowheads="1"/>
            </p:cNvSpPr>
            <p:nvPr/>
          </p:nvSpPr>
          <p:spPr bwMode="auto">
            <a:xfrm>
              <a:off x="1767" y="2337"/>
              <a:ext cx="600" cy="60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27654" name="Oval 5"/>
            <p:cNvSpPr>
              <a:spLocks noChangeArrowheads="1"/>
            </p:cNvSpPr>
            <p:nvPr/>
          </p:nvSpPr>
          <p:spPr bwMode="auto">
            <a:xfrm>
              <a:off x="855" y="3192"/>
              <a:ext cx="600" cy="60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27655" name="Oval 6"/>
            <p:cNvSpPr>
              <a:spLocks noChangeArrowheads="1"/>
            </p:cNvSpPr>
            <p:nvPr/>
          </p:nvSpPr>
          <p:spPr bwMode="auto">
            <a:xfrm>
              <a:off x="1767" y="4047"/>
              <a:ext cx="600" cy="60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27656" name="Oval 7"/>
            <p:cNvSpPr>
              <a:spLocks noChangeArrowheads="1"/>
            </p:cNvSpPr>
            <p:nvPr/>
          </p:nvSpPr>
          <p:spPr bwMode="auto">
            <a:xfrm>
              <a:off x="1140" y="5244"/>
              <a:ext cx="600" cy="60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27657" name="Oval 8"/>
            <p:cNvSpPr>
              <a:spLocks noChangeArrowheads="1"/>
            </p:cNvSpPr>
            <p:nvPr/>
          </p:nvSpPr>
          <p:spPr bwMode="auto">
            <a:xfrm>
              <a:off x="2337" y="5643"/>
              <a:ext cx="600" cy="60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27658" name="Line 9"/>
            <p:cNvSpPr>
              <a:spLocks noChangeShapeType="1"/>
            </p:cNvSpPr>
            <p:nvPr/>
          </p:nvSpPr>
          <p:spPr bwMode="auto">
            <a:xfrm flipH="1">
              <a:off x="1368" y="2850"/>
              <a:ext cx="456" cy="3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59" name="Line 10"/>
            <p:cNvSpPr>
              <a:spLocks noChangeShapeType="1"/>
            </p:cNvSpPr>
            <p:nvPr/>
          </p:nvSpPr>
          <p:spPr bwMode="auto">
            <a:xfrm>
              <a:off x="1197" y="3762"/>
              <a:ext cx="228" cy="14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60" name="Line 11"/>
            <p:cNvSpPr>
              <a:spLocks noChangeShapeType="1"/>
            </p:cNvSpPr>
            <p:nvPr/>
          </p:nvSpPr>
          <p:spPr bwMode="auto">
            <a:xfrm>
              <a:off x="1710" y="5700"/>
              <a:ext cx="627" cy="1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61" name="Line 12"/>
            <p:cNvSpPr>
              <a:spLocks noChangeShapeType="1"/>
            </p:cNvSpPr>
            <p:nvPr/>
          </p:nvSpPr>
          <p:spPr bwMode="auto">
            <a:xfrm flipH="1">
              <a:off x="1653" y="4674"/>
              <a:ext cx="342" cy="6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62" name="Line 13"/>
            <p:cNvSpPr>
              <a:spLocks noChangeShapeType="1"/>
            </p:cNvSpPr>
            <p:nvPr/>
          </p:nvSpPr>
          <p:spPr bwMode="auto">
            <a:xfrm>
              <a:off x="2223" y="4617"/>
              <a:ext cx="342" cy="10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63" name="Line 14"/>
            <p:cNvSpPr>
              <a:spLocks noChangeShapeType="1"/>
            </p:cNvSpPr>
            <p:nvPr/>
          </p:nvSpPr>
          <p:spPr bwMode="auto">
            <a:xfrm>
              <a:off x="2109" y="2964"/>
              <a:ext cx="0" cy="10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64" name="Line 15"/>
            <p:cNvSpPr>
              <a:spLocks noChangeShapeType="1"/>
            </p:cNvSpPr>
            <p:nvPr/>
          </p:nvSpPr>
          <p:spPr bwMode="auto">
            <a:xfrm>
              <a:off x="2280" y="2850"/>
              <a:ext cx="513" cy="28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65" name="Text Box 16"/>
            <p:cNvSpPr txBox="1">
              <a:spLocks noChangeArrowheads="1"/>
            </p:cNvSpPr>
            <p:nvPr/>
          </p:nvSpPr>
          <p:spPr bwMode="auto">
            <a:xfrm>
              <a:off x="1881" y="2451"/>
              <a:ext cx="399" cy="3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800" b="1"/>
                <a:t> </a:t>
              </a:r>
              <a:r>
                <a:rPr lang="en-US" sz="1800" b="1"/>
                <a:t>0</a:t>
              </a:r>
              <a:endParaRPr lang="bg-BG" sz="1800" b="1"/>
            </a:p>
          </p:txBody>
        </p:sp>
        <p:sp>
          <p:nvSpPr>
            <p:cNvPr id="27666" name="Text Box 17"/>
            <p:cNvSpPr txBox="1">
              <a:spLocks noChangeArrowheads="1"/>
            </p:cNvSpPr>
            <p:nvPr/>
          </p:nvSpPr>
          <p:spPr bwMode="auto">
            <a:xfrm>
              <a:off x="969" y="3306"/>
              <a:ext cx="399" cy="3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800" b="1"/>
                <a:t>1</a:t>
              </a:r>
              <a:endParaRPr lang="bg-BG" sz="800"/>
            </a:p>
          </p:txBody>
        </p:sp>
        <p:sp>
          <p:nvSpPr>
            <p:cNvPr id="27667" name="Text Box 18"/>
            <p:cNvSpPr txBox="1">
              <a:spLocks noChangeArrowheads="1"/>
            </p:cNvSpPr>
            <p:nvPr/>
          </p:nvSpPr>
          <p:spPr bwMode="auto">
            <a:xfrm>
              <a:off x="1881" y="4161"/>
              <a:ext cx="399" cy="3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800" b="1"/>
                <a:t> </a:t>
              </a:r>
              <a:r>
                <a:rPr lang="en-US" sz="1800" b="1"/>
                <a:t>3</a:t>
              </a:r>
              <a:endParaRPr lang="bg-BG" sz="800"/>
            </a:p>
          </p:txBody>
        </p:sp>
        <p:sp>
          <p:nvSpPr>
            <p:cNvPr id="27668" name="Text Box 19"/>
            <p:cNvSpPr txBox="1">
              <a:spLocks noChangeArrowheads="1"/>
            </p:cNvSpPr>
            <p:nvPr/>
          </p:nvSpPr>
          <p:spPr bwMode="auto">
            <a:xfrm>
              <a:off x="1254" y="5358"/>
              <a:ext cx="399" cy="3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800"/>
                <a:t> </a:t>
              </a:r>
              <a:r>
                <a:rPr lang="en-US" sz="1800" b="1"/>
                <a:t>2</a:t>
              </a:r>
              <a:endParaRPr lang="bg-BG" sz="800" b="1"/>
            </a:p>
          </p:txBody>
        </p:sp>
        <p:sp>
          <p:nvSpPr>
            <p:cNvPr id="27669" name="Text Box 20"/>
            <p:cNvSpPr txBox="1">
              <a:spLocks noChangeArrowheads="1"/>
            </p:cNvSpPr>
            <p:nvPr/>
          </p:nvSpPr>
          <p:spPr bwMode="auto">
            <a:xfrm>
              <a:off x="2471" y="5757"/>
              <a:ext cx="399" cy="3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800" b="1"/>
                <a:t> </a:t>
              </a:r>
              <a:r>
                <a:rPr lang="en-US" sz="1800" b="1"/>
                <a:t>4</a:t>
              </a:r>
              <a:endParaRPr lang="bg-BG" sz="800" b="1"/>
            </a:p>
          </p:txBody>
        </p:sp>
        <p:sp>
          <p:nvSpPr>
            <p:cNvPr id="27670" name="Text Box 21"/>
            <p:cNvSpPr txBox="1">
              <a:spLocks noChangeArrowheads="1"/>
            </p:cNvSpPr>
            <p:nvPr/>
          </p:nvSpPr>
          <p:spPr bwMode="auto">
            <a:xfrm>
              <a:off x="684" y="4275"/>
              <a:ext cx="570" cy="3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600">
                  <a:solidFill>
                    <a:schemeClr val="accent2"/>
                  </a:solidFill>
                </a:rPr>
                <a:t>      </a:t>
              </a:r>
              <a:endParaRPr lang="bg-BG" sz="800"/>
            </a:p>
          </p:txBody>
        </p:sp>
        <p:sp>
          <p:nvSpPr>
            <p:cNvPr id="27671" name="Text Box 22"/>
            <p:cNvSpPr txBox="1">
              <a:spLocks noChangeArrowheads="1"/>
            </p:cNvSpPr>
            <p:nvPr/>
          </p:nvSpPr>
          <p:spPr bwMode="auto">
            <a:xfrm>
              <a:off x="1589" y="3306"/>
              <a:ext cx="463" cy="3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600"/>
                <a:t>   </a:t>
              </a:r>
              <a:endParaRPr lang="bg-BG" sz="800"/>
            </a:p>
          </p:txBody>
        </p:sp>
        <p:sp>
          <p:nvSpPr>
            <p:cNvPr id="27672" name="Text Box 23"/>
            <p:cNvSpPr txBox="1">
              <a:spLocks noChangeArrowheads="1"/>
            </p:cNvSpPr>
            <p:nvPr/>
          </p:nvSpPr>
          <p:spPr bwMode="auto">
            <a:xfrm>
              <a:off x="1197" y="2679"/>
              <a:ext cx="456" cy="3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600"/>
                <a:t>   </a:t>
              </a:r>
              <a:endParaRPr lang="bg-BG" sz="800"/>
            </a:p>
          </p:txBody>
        </p:sp>
        <p:sp>
          <p:nvSpPr>
            <p:cNvPr id="27673" name="Text Box 24"/>
            <p:cNvSpPr txBox="1">
              <a:spLocks noChangeArrowheads="1"/>
            </p:cNvSpPr>
            <p:nvPr/>
          </p:nvSpPr>
          <p:spPr bwMode="auto">
            <a:xfrm>
              <a:off x="2565" y="3762"/>
              <a:ext cx="636" cy="3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bg-BG" sz="1600">
                <a:solidFill>
                  <a:schemeClr val="accent2"/>
                </a:solidFill>
              </a:endParaRPr>
            </a:p>
          </p:txBody>
        </p:sp>
        <p:sp>
          <p:nvSpPr>
            <p:cNvPr id="27674" name="Text Box 25"/>
            <p:cNvSpPr txBox="1">
              <a:spLocks noChangeArrowheads="1"/>
            </p:cNvSpPr>
            <p:nvPr/>
          </p:nvSpPr>
          <p:spPr bwMode="auto">
            <a:xfrm>
              <a:off x="1710" y="5871"/>
              <a:ext cx="456" cy="3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800"/>
                <a:t>     </a:t>
              </a:r>
              <a:endParaRPr lang="bg-BG" sz="1600">
                <a:solidFill>
                  <a:schemeClr val="accent2"/>
                </a:solidFill>
              </a:endParaRPr>
            </a:p>
          </p:txBody>
        </p:sp>
        <p:sp>
          <p:nvSpPr>
            <p:cNvPr id="27675" name="Text Box 26"/>
            <p:cNvSpPr txBox="1">
              <a:spLocks noChangeArrowheads="1"/>
            </p:cNvSpPr>
            <p:nvPr/>
          </p:nvSpPr>
          <p:spPr bwMode="auto">
            <a:xfrm>
              <a:off x="1824" y="5187"/>
              <a:ext cx="513" cy="28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600">
                  <a:solidFill>
                    <a:schemeClr val="accent2"/>
                  </a:solidFill>
                </a:rPr>
                <a:t>   </a:t>
              </a:r>
              <a:endParaRPr lang="bg-BG" sz="800"/>
            </a:p>
          </p:txBody>
        </p:sp>
        <p:sp>
          <p:nvSpPr>
            <p:cNvPr id="27676" name="Text Box 27"/>
            <p:cNvSpPr txBox="1">
              <a:spLocks noChangeArrowheads="1"/>
            </p:cNvSpPr>
            <p:nvPr/>
          </p:nvSpPr>
          <p:spPr bwMode="auto">
            <a:xfrm>
              <a:off x="1368" y="4560"/>
              <a:ext cx="456" cy="28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600">
                  <a:solidFill>
                    <a:schemeClr val="accent2"/>
                  </a:solidFill>
                </a:rPr>
                <a:t>   </a:t>
              </a:r>
            </a:p>
          </p:txBody>
        </p:sp>
      </p:grp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296312-FFF6-415F-84E8-274F4B69AD25}" type="slidenum">
              <a:rPr lang="en-US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28713" y="404813"/>
            <a:ext cx="7764462" cy="6119812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000" dirty="0">
                <a:solidFill>
                  <a:schemeClr val="tx1"/>
                </a:solidFill>
              </a:rPr>
              <a:t>	Описание на рекурсивен алгоритъм за DFS:</a:t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1800" dirty="0">
                <a:solidFill>
                  <a:schemeClr val="tx1"/>
                </a:solidFill>
              </a:rPr>
              <a:t/>
            </a:r>
            <a:br>
              <a:rPr lang="bg-BG" sz="1800" dirty="0">
                <a:solidFill>
                  <a:schemeClr val="tx1"/>
                </a:solidFill>
              </a:rPr>
            </a:b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const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sz="1800" dirty="0" smtClean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1800" dirty="0" smtClean="0">
                <a:solidFill>
                  <a:schemeClr val="tx1"/>
                </a:solidFill>
                <a:latin typeface="Courier New" pitchFamily="49" charset="0"/>
              </a:rPr>
              <a:t>n=20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m[n];     //масив за маркиране на обходените върхове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prof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(i)  //рекурсивна част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{ m[i]=1</a:t>
            </a:r>
            <a:r>
              <a:rPr lang="bg-BG" sz="1800" dirty="0" smtClean="0">
                <a:solidFill>
                  <a:schemeClr val="tx1"/>
                </a:solidFill>
                <a:latin typeface="Courier New" pitchFamily="49" charset="0"/>
              </a:rPr>
              <a:t>;</a:t>
            </a:r>
            <a:r>
              <a:rPr lang="en-US" sz="1800" dirty="0" smtClean="0">
                <a:solidFill>
                  <a:schemeClr val="tx1"/>
                </a:solidFill>
                <a:latin typeface="Courier New" pitchFamily="49" charset="0"/>
              </a:rPr>
              <a:t>     </a:t>
            </a:r>
            <a:r>
              <a:rPr lang="bg-BG" sz="1800" dirty="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възелът се маркира като посетен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  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cout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&lt;&lt;i&lt;&lt;"  "; //извеждане на номера на обходения връх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  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for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(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j=0; j&lt;k; 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j++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)//k - е броят на съседите на върха i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     {  v=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j-ия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наследник на i;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        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if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(m[v]==0)  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pro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</a:rPr>
              <a:t>f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(v);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     }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}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void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dfs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()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{ 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for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(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i=0; i&lt;n; 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i++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)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if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(m[i]==0)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prof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(i);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}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bg-BG" sz="1800" dirty="0">
                <a:solidFill>
                  <a:schemeClr val="tx1"/>
                </a:solidFill>
              </a:rPr>
              <a:t>В описанието на алгоритъма е използвано статичното представяне на графа </a:t>
            </a:r>
            <a:r>
              <a:rPr lang="bg-BG" sz="1800" b="1" dirty="0">
                <a:solidFill>
                  <a:schemeClr val="tx1"/>
                </a:solidFill>
              </a:rPr>
              <a:t>G</a:t>
            </a:r>
            <a:r>
              <a:rPr lang="bg-BG" sz="1800" dirty="0">
                <a:solidFill>
                  <a:schemeClr val="tx1"/>
                </a:solidFill>
              </a:rPr>
              <a:t> - чрез матрицата на съседство. Възлите на графа са номерирани последователно от </a:t>
            </a:r>
            <a:r>
              <a:rPr lang="bg-BG" sz="1800" b="1" dirty="0">
                <a:solidFill>
                  <a:schemeClr val="tx1"/>
                </a:solidFill>
              </a:rPr>
              <a:t>1</a:t>
            </a:r>
            <a:r>
              <a:rPr lang="bg-BG" sz="1800" dirty="0">
                <a:solidFill>
                  <a:schemeClr val="tx1"/>
                </a:solidFill>
              </a:rPr>
              <a:t> до </a:t>
            </a:r>
            <a:r>
              <a:rPr lang="bg-BG" sz="1800" b="1" dirty="0">
                <a:solidFill>
                  <a:schemeClr val="tx1"/>
                </a:solidFill>
              </a:rPr>
              <a:t>N</a:t>
            </a:r>
            <a:r>
              <a:rPr lang="bg-BG" sz="1800" dirty="0">
                <a:solidFill>
                  <a:schemeClr val="tx1"/>
                </a:solidFill>
              </a:rPr>
              <a:t>. Сложността на алгоритъма е </a:t>
            </a:r>
            <a:r>
              <a:rPr lang="bg-BG" sz="1800" b="1" dirty="0">
                <a:solidFill>
                  <a:schemeClr val="tx1"/>
                </a:solidFill>
              </a:rPr>
              <a:t>О(N</a:t>
            </a:r>
            <a:r>
              <a:rPr lang="bg-BG" sz="1800" b="1" baseline="30000" dirty="0">
                <a:solidFill>
                  <a:schemeClr val="tx1"/>
                </a:solidFill>
              </a:rPr>
              <a:t>2</a:t>
            </a:r>
            <a:r>
              <a:rPr lang="bg-BG" sz="1800" b="1" dirty="0">
                <a:solidFill>
                  <a:schemeClr val="tx1"/>
                </a:solidFill>
              </a:rPr>
              <a:t>)</a:t>
            </a:r>
            <a:r>
              <a:rPr lang="bg-BG" sz="1800" dirty="0">
                <a:solidFill>
                  <a:schemeClr val="tx1"/>
                </a:solidFill>
              </a:rPr>
              <a:t>.</a:t>
            </a: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>	</a:t>
            </a:r>
            <a:r>
              <a:rPr lang="bg-BG" sz="1800" dirty="0">
                <a:solidFill>
                  <a:schemeClr val="tx1"/>
                </a:solidFill>
              </a:rPr>
              <a:t>Ако графът </a:t>
            </a:r>
            <a:r>
              <a:rPr lang="bg-BG" sz="1800" b="1" dirty="0">
                <a:solidFill>
                  <a:schemeClr val="tx1"/>
                </a:solidFill>
              </a:rPr>
              <a:t>G</a:t>
            </a:r>
            <a:r>
              <a:rPr lang="bg-BG" sz="1800" dirty="0">
                <a:solidFill>
                  <a:schemeClr val="tx1"/>
                </a:solidFill>
              </a:rPr>
              <a:t> е представен чрез списъците на съседство, сложността на алгоритъма е </a:t>
            </a:r>
            <a:r>
              <a:rPr lang="bg-BG" sz="1800" b="1" dirty="0">
                <a:solidFill>
                  <a:schemeClr val="tx1"/>
                </a:solidFill>
              </a:rPr>
              <a:t>O(N*</a:t>
            </a:r>
            <a:r>
              <a:rPr lang="bg-BG" sz="1800" b="1" dirty="0" err="1">
                <a:solidFill>
                  <a:schemeClr val="tx1"/>
                </a:solidFill>
              </a:rPr>
              <a:t>max</a:t>
            </a:r>
            <a:r>
              <a:rPr lang="bg-BG" sz="1800" b="1" dirty="0">
                <a:solidFill>
                  <a:schemeClr val="tx1"/>
                </a:solidFill>
              </a:rPr>
              <a:t> (N, M))</a:t>
            </a:r>
            <a:r>
              <a:rPr lang="bg-BG" sz="1800" dirty="0">
                <a:solidFill>
                  <a:schemeClr val="tx1"/>
                </a:solidFill>
              </a:rPr>
              <a:t>, където </a:t>
            </a:r>
            <a:r>
              <a:rPr lang="bg-BG" sz="1800" b="1" dirty="0">
                <a:solidFill>
                  <a:schemeClr val="tx1"/>
                </a:solidFill>
              </a:rPr>
              <a:t>М</a:t>
            </a:r>
            <a:r>
              <a:rPr lang="bg-BG" sz="1800" dirty="0">
                <a:solidFill>
                  <a:schemeClr val="tx1"/>
                </a:solidFill>
              </a:rPr>
              <a:t> е броя на дъгите в графа. Възможен е също така и итеративен вариант на алгоритъма, реализиран с използване на помощен стек за запомняне на обходените върхове.</a:t>
            </a:r>
            <a:endParaRPr lang="bg-BG" sz="20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A78584-9760-4DC3-90D1-4D56BA896C9F}" type="slidenum">
              <a:rPr lang="en-US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620713"/>
            <a:ext cx="8443912" cy="5867400"/>
          </a:xfrm>
        </p:spPr>
        <p:txBody>
          <a:bodyPr/>
          <a:lstStyle/>
          <a:p>
            <a:pPr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bg-BG" sz="2000">
                <a:solidFill>
                  <a:schemeClr val="tx1"/>
                </a:solidFill>
              </a:rPr>
              <a:t>	Реализация на DFS за комбинирано представяне на графа: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void dfs(int k)      //k - ключовата стойност 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		   //на посетения възел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{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cout&lt;&lt;k;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int j=convert[k]; //convert[k] - е функция, която 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               //връща индекса на елемента на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               //масива от списъците на 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               //съседство, чиято стойност е k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m[j]=1;           //възелът се маркира като посетен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for (link*t=gr[j]-&gt;next; t-&gt;next!=NULL; t=t-&gt;next)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 if (!m[convert(t-&gt;key)])      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      dfs(t-&gt;key</a:t>
            </a:r>
            <a:r>
              <a:rPr lang="en-US" sz="2000">
                <a:solidFill>
                  <a:schemeClr val="tx1"/>
                </a:solidFill>
                <a:latin typeface="Courier New" pitchFamily="49" charset="0"/>
              </a:rPr>
              <a:t>);</a:t>
            </a:r>
            <a:br>
              <a:rPr lang="en-US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200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endParaRPr lang="en-US" sz="200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EDF9A0-EB88-4DCC-B5E4-90BF1FFADACF}" type="slidenum">
              <a:rPr lang="en-US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620713"/>
            <a:ext cx="7794625" cy="56388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000">
                <a:solidFill>
                  <a:schemeClr val="tx1"/>
                </a:solidFill>
              </a:rPr>
              <a:t>Описание на итеративен алгоритъм за BFS за статично представяне на граф: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void bfs(int v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)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v - начален възел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{ инициализация на помощен масив m, използван за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регистрация  на обходените възли;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инициализация на помощна опашка;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m[v]=1;  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  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маркиране на v като посетен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cout&lt;&lt;v;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push(v); //поместване на v опашката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while (опашката не е празна)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{pop(x);//извличане на поредния елемент от 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     //опашката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for (всеки връх y, съседен на х)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 {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  if(m[y]==0)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    {cout&lt;&lt;y; m[y]=1; push(y);}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 }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}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}</a:t>
            </a:r>
            <a:endParaRPr lang="bg-BG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100F74-8514-4922-ACCB-DD7DD34AC6B5}" type="slidenum">
              <a:rPr lang="en-US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549275"/>
            <a:ext cx="8027987" cy="57912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000">
                <a:solidFill>
                  <a:schemeClr val="tx1"/>
                </a:solidFill>
              </a:rPr>
              <a:t>Реализация на ВFS за комбинирано представяне на графа: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void bfs (int k)   //k - ключовата стойност на началния възел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{ int m[n];        //масив за регистриране на обходените върхове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init_queue();    //инициализация на помощната опашка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push_queue(k);   //поместване в опашка на първия елемент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while (empty_queue())   //докато опашката не е празна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{ k=pop_queue();   //извличане на поредния елемент от опашката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 int j=convert(k);//функция, която връща индекса 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                  //на елемента на масива от списъците на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       		 // съседство, чиято стойност е k.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 if (m[j]==0)    </a:t>
            </a:r>
            <a:r>
              <a:rPr lang="en-US" sz="1800" smtClean="0">
                <a:solidFill>
                  <a:schemeClr val="tx1"/>
                </a:solidFill>
                <a:latin typeface="Courier New" pitchFamily="49" charset="0"/>
              </a:rPr>
              <a:t>   </a:t>
            </a:r>
            <a:r>
              <a:rPr lang="bg-BG" sz="18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Възелът не е посетен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{m[j]=1;cout&lt;&lt;k&lt;&lt;" </a:t>
            </a:r>
            <a:r>
              <a:rPr lang="bg-BG" sz="1800" smtClean="0">
                <a:solidFill>
                  <a:schemeClr val="tx1"/>
                </a:solidFill>
                <a:latin typeface="Courier New" pitchFamily="49" charset="0"/>
              </a:rPr>
              <a:t>";</a:t>
            </a:r>
            <a:r>
              <a:rPr lang="en-US" sz="1800" smtClean="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bg-BG" sz="18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регистриране и визуализация на </a:t>
            </a:r>
            <a:r>
              <a:rPr lang="bg-BG" sz="1800" smtClean="0">
                <a:solidFill>
                  <a:schemeClr val="tx1"/>
                </a:solidFill>
                <a:latin typeface="Courier New" pitchFamily="49" charset="0"/>
              </a:rPr>
              <a:t>възела       </a:t>
            </a: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 for (link *t=gr[j]-&gt;next; t-&gt;next!=NULL; t=t-&gt;next)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    if(m[convert(t-&gt;key)]==0) //възелът не е посетен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      push_queue(t-&gt;key);  //включване на възела в опашката 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}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bg-BG" sz="8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800">
                <a:solidFill>
                  <a:schemeClr val="tx1"/>
                </a:solidFill>
              </a:rPr>
              <a:t>	</a:t>
            </a: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Сложността на алгоритъма е същата, както и на DFS.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Описаните алгоритми позволяват да се извърши обхождане на свързан граф </a:t>
            </a:r>
            <a:r>
              <a:rPr lang="bg-BG" sz="2000" b="1">
                <a:solidFill>
                  <a:schemeClr val="tx1"/>
                </a:solidFill>
              </a:rPr>
              <a:t>G</a:t>
            </a:r>
            <a:r>
              <a:rPr lang="bg-BG" sz="2000">
                <a:solidFill>
                  <a:schemeClr val="tx1"/>
                </a:solidFill>
              </a:rPr>
              <a:t>. Ако </a:t>
            </a:r>
            <a:r>
              <a:rPr lang="bg-BG" sz="2000" b="1">
                <a:solidFill>
                  <a:schemeClr val="tx1"/>
                </a:solidFill>
              </a:rPr>
              <a:t>G</a:t>
            </a:r>
            <a:r>
              <a:rPr lang="bg-BG" sz="2000">
                <a:solidFill>
                  <a:schemeClr val="tx1"/>
                </a:solidFill>
              </a:rPr>
              <a:t> е несвързан, обхождането се извършва на части по-отделно за всяка от свързаните компоненти</a:t>
            </a:r>
            <a:r>
              <a:rPr lang="en-AU" sz="2000">
                <a:solidFill>
                  <a:schemeClr val="tx1"/>
                </a:solidFill>
              </a:rPr>
              <a:t>.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7C5666-BF66-4C05-A915-B8FA9ACF3DB0}" type="slidenum">
              <a:rPr lang="en-US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765175"/>
            <a:ext cx="7920037" cy="58674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000">
                <a:solidFill>
                  <a:schemeClr val="tx1"/>
                </a:solidFill>
              </a:rPr>
              <a:t>	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		</a:t>
            </a:r>
            <a:r>
              <a:rPr lang="bg-BG" sz="2400">
                <a:solidFill>
                  <a:schemeClr val="tx1"/>
                </a:solidFill>
              </a:rPr>
              <a:t>Търсене на път в граф 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	</a:t>
            </a:r>
            <a:r>
              <a:rPr lang="bg-BG" sz="2000">
                <a:solidFill>
                  <a:schemeClr val="tx1"/>
                </a:solidFill>
              </a:rPr>
              <a:t>Една от най-често решавани задачи при работа с тази структура е </a:t>
            </a:r>
            <a:r>
              <a:rPr lang="bg-BG" sz="2000" i="1">
                <a:solidFill>
                  <a:schemeClr val="tx1"/>
                </a:solidFill>
              </a:rPr>
              <a:t>търсене на най-кратки пътища</a:t>
            </a:r>
            <a:r>
              <a:rPr lang="bg-BG" sz="2000">
                <a:solidFill>
                  <a:schemeClr val="tx1"/>
                </a:solidFill>
              </a:rPr>
              <a:t>. Следва разглеждане на няколко класически алгоритъма за търсене на път в граф.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     1. </a:t>
            </a:r>
            <a:r>
              <a:rPr lang="bg-BG" sz="2000" i="1">
                <a:solidFill>
                  <a:schemeClr val="tx1"/>
                </a:solidFill>
              </a:rPr>
              <a:t>Алгоритъм на DIJKSTRA</a:t>
            </a:r>
            <a:r>
              <a:rPr lang="bg-BG" sz="2000">
                <a:solidFill>
                  <a:schemeClr val="tx1"/>
                </a:solidFill>
              </a:rPr>
              <a:t> 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Алгоритъмът на DIJKSTRA при зададен начален връх решава задачата за намиране на най-късия път до произволен връх в графа.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Имаме тегловен ориентиран граф </a:t>
            </a:r>
            <a:r>
              <a:rPr lang="bg-BG" sz="2000" b="1">
                <a:solidFill>
                  <a:schemeClr val="tx1"/>
                </a:solidFill>
              </a:rPr>
              <a:t>G={V,E}</a:t>
            </a:r>
            <a:r>
              <a:rPr lang="bg-BG" sz="2000">
                <a:solidFill>
                  <a:schemeClr val="tx1"/>
                </a:solidFill>
              </a:rPr>
              <a:t>, където всяка дъга </a:t>
            </a:r>
            <a:r>
              <a:rPr lang="bg-BG" sz="2000" b="1">
                <a:solidFill>
                  <a:schemeClr val="tx1"/>
                </a:solidFill>
              </a:rPr>
              <a:t>Е</a:t>
            </a:r>
            <a:r>
              <a:rPr lang="bg-BG" sz="2000">
                <a:solidFill>
                  <a:schemeClr val="tx1"/>
                </a:solidFill>
              </a:rPr>
              <a:t> има </a:t>
            </a:r>
            <a:r>
              <a:rPr lang="bg-BG" sz="2000" u="sng">
                <a:solidFill>
                  <a:schemeClr val="tx1"/>
                </a:solidFill>
              </a:rPr>
              <a:t>неотрицателно</a:t>
            </a:r>
            <a:r>
              <a:rPr lang="bg-BG" sz="2000">
                <a:solidFill>
                  <a:schemeClr val="tx1"/>
                </a:solidFill>
              </a:rPr>
              <a:t> тегло. Върховете са последователно номерирани -  </a:t>
            </a:r>
            <a:r>
              <a:rPr lang="bg-BG" sz="2000" b="1">
                <a:solidFill>
                  <a:schemeClr val="tx1"/>
                </a:solidFill>
              </a:rPr>
              <a:t>V={</a:t>
            </a:r>
            <a:r>
              <a:rPr lang="en-US" sz="2000" b="1">
                <a:solidFill>
                  <a:schemeClr val="tx1"/>
                </a:solidFill>
                <a:latin typeface="+mn-lt"/>
              </a:rPr>
              <a:t>0, </a:t>
            </a:r>
            <a:r>
              <a:rPr lang="bg-BG" sz="2000" b="1">
                <a:solidFill>
                  <a:schemeClr val="tx1"/>
                </a:solidFill>
                <a:latin typeface="+mn-lt"/>
              </a:rPr>
              <a:t>1,</a:t>
            </a:r>
            <a:r>
              <a:rPr lang="en-US" sz="2000" b="1">
                <a:solidFill>
                  <a:schemeClr val="tx1"/>
                </a:solidFill>
                <a:latin typeface="+mn-lt"/>
              </a:rPr>
              <a:t> </a:t>
            </a:r>
            <a:r>
              <a:rPr lang="bg-BG" sz="2000" b="1">
                <a:solidFill>
                  <a:schemeClr val="tx1"/>
                </a:solidFill>
                <a:latin typeface="+mn-lt"/>
              </a:rPr>
              <a:t>2, …, N</a:t>
            </a:r>
            <a:r>
              <a:rPr lang="en-US" sz="2000" b="1">
                <a:solidFill>
                  <a:schemeClr val="tx1"/>
                </a:solidFill>
                <a:latin typeface="+mn-lt"/>
              </a:rPr>
              <a:t>-1</a:t>
            </a:r>
            <a:r>
              <a:rPr lang="bg-BG" sz="2000" b="1">
                <a:solidFill>
                  <a:schemeClr val="tx1"/>
                </a:solidFill>
              </a:rPr>
              <a:t>}</a:t>
            </a:r>
            <a:r>
              <a:rPr lang="bg-BG" sz="2000">
                <a:solidFill>
                  <a:schemeClr val="tx1"/>
                </a:solidFill>
              </a:rPr>
              <a:t>. Един от върховете, например нулевия, е избран за начален. Целта е да се намери най-късия път от началния връх до всеки друг връх от </a:t>
            </a:r>
            <a:r>
              <a:rPr lang="bg-BG" sz="2000" b="1">
                <a:solidFill>
                  <a:schemeClr val="tx1"/>
                </a:solidFill>
              </a:rPr>
              <a:t>V</a:t>
            </a:r>
            <a:r>
              <a:rPr lang="bg-BG" sz="2000">
                <a:solidFill>
                  <a:schemeClr val="tx1"/>
                </a:solidFill>
              </a:rPr>
              <a:t>. 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Алгоритъм на DIJKSTRA работи чрез поддържане на комплект от върховете, да го наречем множество </a:t>
            </a:r>
            <a:r>
              <a:rPr lang="bg-BG" sz="2000" b="1">
                <a:solidFill>
                  <a:schemeClr val="tx1"/>
                </a:solidFill>
              </a:rPr>
              <a:t>S</a:t>
            </a:r>
            <a:r>
              <a:rPr lang="bg-BG" sz="2000">
                <a:solidFill>
                  <a:schemeClr val="tx1"/>
                </a:solidFill>
              </a:rPr>
              <a:t>, най-късите разстояния до които от началния връх са известни. Първоначално множеството </a:t>
            </a:r>
            <a:r>
              <a:rPr lang="bg-BG" sz="2000" b="1">
                <a:solidFill>
                  <a:schemeClr val="tx1"/>
                </a:solidFill>
              </a:rPr>
              <a:t>S</a:t>
            </a:r>
            <a:r>
              <a:rPr lang="bg-BG" sz="2000">
                <a:solidFill>
                  <a:schemeClr val="tx1"/>
                </a:solidFill>
              </a:rPr>
              <a:t> съдържа само началния връх. На всяка стъпка към </a:t>
            </a:r>
            <a:r>
              <a:rPr lang="bg-BG" sz="2000" b="1">
                <a:solidFill>
                  <a:schemeClr val="tx1"/>
                </a:solidFill>
              </a:rPr>
              <a:t>S</a:t>
            </a:r>
            <a:r>
              <a:rPr lang="bg-BG" sz="2000">
                <a:solidFill>
                  <a:schemeClr val="tx1"/>
                </a:solidFill>
              </a:rPr>
              <a:t> се добавя нов връх </a:t>
            </a:r>
            <a:r>
              <a:rPr lang="bg-BG" sz="2000" b="1">
                <a:solidFill>
                  <a:schemeClr val="tx1"/>
                </a:solidFill>
              </a:rPr>
              <a:t>W</a:t>
            </a:r>
            <a:r>
              <a:rPr lang="bg-BG" sz="2000">
                <a:solidFill>
                  <a:schemeClr val="tx1"/>
                </a:solidFill>
              </a:rPr>
              <a:t>, пътя до който от началния връх е с най-низка цена. Този път минава само чрез върховете от </a:t>
            </a:r>
            <a:r>
              <a:rPr lang="bg-BG" sz="2000" b="1">
                <a:solidFill>
                  <a:schemeClr val="tx1"/>
                </a:solidFill>
              </a:rPr>
              <a:t>S</a:t>
            </a:r>
            <a:r>
              <a:rPr lang="bg-BG" sz="2000">
                <a:solidFill>
                  <a:schemeClr val="tx1"/>
                </a:solidFill>
              </a:rPr>
              <a:t> и се нарича “специален”. Масивът </a:t>
            </a:r>
            <a:r>
              <a:rPr lang="bg-BG" sz="2000" b="1">
                <a:solidFill>
                  <a:schemeClr val="tx1"/>
                </a:solidFill>
              </a:rPr>
              <a:t>D</a:t>
            </a:r>
            <a:r>
              <a:rPr lang="bg-BG" sz="2000">
                <a:solidFill>
                  <a:schemeClr val="tx1"/>
                </a:solidFill>
              </a:rPr>
              <a:t> се използва за запомняне на специалните пътища. Когато </a:t>
            </a:r>
            <a:r>
              <a:rPr lang="bg-BG" sz="2000" b="1">
                <a:solidFill>
                  <a:schemeClr val="tx1"/>
                </a:solidFill>
              </a:rPr>
              <a:t>S</a:t>
            </a:r>
            <a:r>
              <a:rPr lang="bg-BG" sz="2000">
                <a:solidFill>
                  <a:schemeClr val="tx1"/>
                </a:solidFill>
              </a:rPr>
              <a:t> включи всички върхове от </a:t>
            </a:r>
            <a:r>
              <a:rPr lang="bg-BG" sz="2000" b="1">
                <a:solidFill>
                  <a:schemeClr val="tx1"/>
                </a:solidFill>
              </a:rPr>
              <a:t>G, D</a:t>
            </a:r>
            <a:r>
              <a:rPr lang="bg-BG" sz="2000">
                <a:solidFill>
                  <a:schemeClr val="tx1"/>
                </a:solidFill>
              </a:rPr>
              <a:t> ще съдържа най-късите пътища от началния връх до всеки друг връх на </a:t>
            </a:r>
            <a:r>
              <a:rPr lang="bg-BG" sz="2000" b="1">
                <a:solidFill>
                  <a:schemeClr val="tx1"/>
                </a:solidFill>
              </a:rPr>
              <a:t>G</a:t>
            </a:r>
            <a:r>
              <a:rPr lang="bg-BG" sz="2000">
                <a:solidFill>
                  <a:schemeClr val="tx1"/>
                </a:solidFill>
              </a:rPr>
              <a:t>.</a:t>
            </a:r>
            <a:r>
              <a:rPr lang="bg-BG">
                <a:solidFill>
                  <a:schemeClr val="tx1"/>
                </a:solidFill>
              </a:rPr>
              <a:t/>
            </a:r>
            <a:br>
              <a:rPr lang="bg-BG">
                <a:solidFill>
                  <a:schemeClr val="tx1"/>
                </a:solidFill>
              </a:rPr>
            </a:br>
            <a:endParaRPr lang="bg-BG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E2CDE1-311B-48ED-B735-DFBC98CBE640}" type="slidenum">
              <a:rPr lang="en-US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205038"/>
            <a:ext cx="8229600" cy="70866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smtClean="0">
                <a:solidFill>
                  <a:schemeClr val="tx2">
                    <a:satMod val="130000"/>
                  </a:schemeClr>
                </a:solidFill>
              </a:rPr>
              <a:t>	</a:t>
            </a:r>
            <a:r>
              <a:rPr lang="bg-BG" sz="2800" smtClean="0">
                <a:solidFill>
                  <a:schemeClr val="tx2">
                    <a:satMod val="130000"/>
                  </a:schemeClr>
                </a:solidFill>
              </a:rPr>
              <a:t>Пример:</a:t>
            </a:r>
            <a:r>
              <a:rPr lang="en-US" sz="280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80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80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80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800">
                <a:solidFill>
                  <a:schemeClr val="tx2">
                    <a:satMod val="130000"/>
                  </a:schemeClr>
                </a:solidFill>
              </a:rPr>
              <a:t>		    </a:t>
            </a:r>
            <a:r>
              <a:rPr lang="en-US" sz="2800" smtClean="0">
                <a:solidFill>
                  <a:schemeClr val="tx2">
                    <a:satMod val="130000"/>
                  </a:schemeClr>
                </a:solidFill>
              </a:rPr>
              <a:t>	</a:t>
            </a:r>
            <a:r>
              <a:rPr lang="bg-BG" sz="2800" smtClean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bg-BG" sz="2400">
                <a:solidFill>
                  <a:schemeClr val="tx1"/>
                </a:solidFill>
              </a:rPr>
              <a:t>Р - помощен масив, съдържащ върховете,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                             </a:t>
            </a:r>
            <a:r>
              <a:rPr lang="en-US" sz="2400" smtClean="0">
                <a:solidFill>
                  <a:schemeClr val="tx1"/>
                </a:solidFill>
              </a:rPr>
              <a:t>		</a:t>
            </a:r>
            <a:r>
              <a:rPr lang="bg-BG" sz="2400" smtClean="0">
                <a:solidFill>
                  <a:schemeClr val="tx1"/>
                </a:solidFill>
              </a:rPr>
              <a:t>предхождащи </a:t>
            </a:r>
            <a:r>
              <a:rPr lang="bg-BG" sz="2400">
                <a:solidFill>
                  <a:schemeClr val="tx1"/>
                </a:solidFill>
              </a:rPr>
              <a:t>текущите в специалния път</a:t>
            </a:r>
            <a:r>
              <a:rPr lang="bg-BG" sz="2400" smtClean="0">
                <a:solidFill>
                  <a:schemeClr val="tx1"/>
                </a:solidFill>
              </a:rPr>
              <a:t>:</a:t>
            </a:r>
            <a:r>
              <a:rPr lang="bg-BG" sz="2800" smtClean="0">
                <a:solidFill>
                  <a:schemeClr val="tx2">
                    <a:satMod val="130000"/>
                  </a:schemeClr>
                </a:solidFill>
              </a:rPr>
              <a:t>   </a:t>
            </a:r>
            <a:r>
              <a:rPr lang="bg-BG" sz="2800">
                <a:solidFill>
                  <a:schemeClr val="tx2">
                    <a:satMod val="130000"/>
                  </a:schemeClr>
                </a:solidFill>
              </a:rPr>
              <a:t>		</a:t>
            </a: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	</a:t>
            </a:r>
            <a:r>
              <a:rPr lang="en-US" sz="2800" smtClean="0">
                <a:solidFill>
                  <a:schemeClr val="tx2">
                    <a:satMod val="130000"/>
                  </a:schemeClr>
                </a:solidFill>
              </a:rPr>
              <a:t>	</a:t>
            </a:r>
            <a:r>
              <a:rPr lang="bg-BG" sz="2400" smtClean="0">
                <a:solidFill>
                  <a:schemeClr val="tx1"/>
                </a:solidFill>
              </a:rPr>
              <a:t>Път </a:t>
            </a:r>
            <a:r>
              <a:rPr lang="bg-BG" sz="2400">
                <a:solidFill>
                  <a:schemeClr val="tx1"/>
                </a:solidFill>
              </a:rPr>
              <a:t>от </a:t>
            </a:r>
            <a:r>
              <a:rPr lang="en-US" sz="2400">
                <a:solidFill>
                  <a:schemeClr val="tx1"/>
                </a:solidFill>
              </a:rPr>
              <a:t>0</a:t>
            </a:r>
            <a:r>
              <a:rPr lang="bg-BG" sz="2400">
                <a:solidFill>
                  <a:schemeClr val="tx1"/>
                </a:solidFill>
              </a:rPr>
              <a:t> към </a:t>
            </a:r>
            <a:r>
              <a:rPr lang="en-US" sz="2400" smtClean="0">
                <a:solidFill>
                  <a:schemeClr val="tx1"/>
                </a:solidFill>
              </a:rPr>
              <a:t>4</a:t>
            </a:r>
            <a:r>
              <a:rPr lang="bg-BG" sz="2400" smtClean="0">
                <a:solidFill>
                  <a:schemeClr val="tx1"/>
                </a:solidFill>
              </a:rPr>
              <a:t>:</a:t>
            </a:r>
            <a:r>
              <a:rPr lang="en-US" sz="2400">
                <a:solidFill>
                  <a:schemeClr val="tx1"/>
                </a:solidFill>
              </a:rPr>
              <a:t/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800">
                <a:solidFill>
                  <a:schemeClr val="tx1"/>
                </a:solidFill>
              </a:rPr>
              <a:t/>
            </a:r>
            <a:br>
              <a:rPr lang="en-US" sz="8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				</a:t>
            </a:r>
            <a:r>
              <a:rPr lang="en-US" sz="2400" smtClean="0">
                <a:solidFill>
                  <a:schemeClr val="tx1"/>
                </a:solidFill>
              </a:rPr>
              <a:t>4</a:t>
            </a:r>
            <a:r>
              <a:rPr lang="bg-BG" sz="2400" smtClean="0">
                <a:solidFill>
                  <a:schemeClr val="tx1"/>
                </a:solidFill>
              </a:rPr>
              <a:t> -&gt;</a:t>
            </a:r>
            <a:r>
              <a:rPr lang="en-US" sz="2400" smtClean="0">
                <a:solidFill>
                  <a:schemeClr val="tx1"/>
                </a:solidFill>
              </a:rPr>
              <a:t>2</a:t>
            </a:r>
            <a:r>
              <a:rPr lang="bg-BG" sz="2400" smtClean="0">
                <a:solidFill>
                  <a:schemeClr val="tx1"/>
                </a:solidFill>
              </a:rPr>
              <a:t> -&gt;</a:t>
            </a:r>
            <a:r>
              <a:rPr lang="en-US" sz="2400" smtClean="0">
                <a:solidFill>
                  <a:schemeClr val="tx1"/>
                </a:solidFill>
              </a:rPr>
              <a:t>3</a:t>
            </a:r>
            <a:r>
              <a:rPr lang="bg-BG" sz="2400" smtClean="0">
                <a:solidFill>
                  <a:schemeClr val="tx1"/>
                </a:solidFill>
              </a:rPr>
              <a:t> -&gt;</a:t>
            </a:r>
            <a:r>
              <a:rPr lang="en-US" sz="2400" smtClean="0">
                <a:solidFill>
                  <a:schemeClr val="tx1"/>
                </a:solidFill>
              </a:rPr>
              <a:t>0</a:t>
            </a:r>
            <a:r>
              <a:rPr lang="en-US" sz="2400">
                <a:solidFill>
                  <a:schemeClr val="tx1"/>
                </a:solidFill>
              </a:rPr>
              <a:t/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>                                                   P[0]=*</a:t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>				</a:t>
            </a:r>
            <a:r>
              <a:rPr lang="bg-BG" sz="2400">
                <a:solidFill>
                  <a:schemeClr val="tx1"/>
                </a:solidFill>
              </a:rPr>
              <a:t>   </a:t>
            </a:r>
            <a:r>
              <a:rPr lang="en-US" sz="2400" smtClean="0">
                <a:solidFill>
                  <a:schemeClr val="tx1"/>
                </a:solidFill>
              </a:rPr>
              <a:t>  P[1</a:t>
            </a:r>
            <a:r>
              <a:rPr lang="en-US" sz="2400">
                <a:solidFill>
                  <a:schemeClr val="tx1"/>
                </a:solidFill>
              </a:rPr>
              <a:t>]=*</a:t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>                                                   P[2]=3</a:t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>                                                   P[3]=0</a:t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>				   </a:t>
            </a:r>
            <a:r>
              <a:rPr lang="en-US" sz="2400" smtClean="0">
                <a:solidFill>
                  <a:schemeClr val="tx1"/>
                </a:solidFill>
              </a:rPr>
              <a:t> P[4</a:t>
            </a:r>
            <a:r>
              <a:rPr lang="en-US" sz="2400">
                <a:solidFill>
                  <a:schemeClr val="tx1"/>
                </a:solidFill>
              </a:rPr>
              <a:t>]=2   	</a:t>
            </a:r>
            <a:r>
              <a:rPr lang="en-US" sz="2800">
                <a:solidFill>
                  <a:schemeClr val="tx1"/>
                </a:solidFill>
              </a:rPr>
              <a:t>		</a:t>
            </a:r>
            <a:br>
              <a:rPr lang="en-US" sz="2800">
                <a:solidFill>
                  <a:schemeClr val="tx1"/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			</a:t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endParaRPr lang="en-US" sz="2800">
              <a:solidFill>
                <a:schemeClr val="tx2">
                  <a:satMod val="130000"/>
                </a:schemeClr>
              </a:solidFill>
            </a:endParaRPr>
          </a:p>
        </p:txBody>
      </p:sp>
      <p:grpSp>
        <p:nvGrpSpPr>
          <p:cNvPr id="4100" name="Group 29"/>
          <p:cNvGrpSpPr>
            <a:grpSpLocks/>
          </p:cNvGrpSpPr>
          <p:nvPr/>
        </p:nvGrpSpPr>
        <p:grpSpPr bwMode="auto">
          <a:xfrm>
            <a:off x="995363" y="2636838"/>
            <a:ext cx="2279650" cy="3651250"/>
            <a:chOff x="995363" y="2636838"/>
            <a:chExt cx="2279650" cy="3651250"/>
          </a:xfrm>
        </p:grpSpPr>
        <p:sp>
          <p:nvSpPr>
            <p:cNvPr id="4102" name="Text Box 26"/>
            <p:cNvSpPr txBox="1">
              <a:spLocks noChangeArrowheads="1"/>
            </p:cNvSpPr>
            <p:nvPr/>
          </p:nvSpPr>
          <p:spPr bwMode="auto">
            <a:xfrm>
              <a:off x="2123728" y="5013176"/>
              <a:ext cx="498491" cy="26641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600">
                  <a:solidFill>
                    <a:schemeClr val="accent2"/>
                  </a:solidFill>
                </a:rPr>
                <a:t>    </a:t>
              </a:r>
              <a:r>
                <a:rPr lang="en-AU" sz="1600"/>
                <a:t>6</a:t>
              </a:r>
              <a:r>
                <a:rPr lang="bg-BG" sz="1600"/>
                <a:t>0</a:t>
              </a:r>
              <a:endParaRPr lang="bg-BG" sz="800"/>
            </a:p>
          </p:txBody>
        </p:sp>
        <p:sp>
          <p:nvSpPr>
            <p:cNvPr id="4103" name="Text Box 27"/>
            <p:cNvSpPr txBox="1">
              <a:spLocks noChangeArrowheads="1"/>
            </p:cNvSpPr>
            <p:nvPr/>
          </p:nvSpPr>
          <p:spPr bwMode="auto">
            <a:xfrm>
              <a:off x="1493854" y="4714854"/>
              <a:ext cx="443103" cy="26641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600">
                  <a:solidFill>
                    <a:schemeClr val="accent2"/>
                  </a:solidFill>
                </a:rPr>
                <a:t>   </a:t>
              </a:r>
              <a:r>
                <a:rPr lang="en-US" sz="1600"/>
                <a:t>20</a:t>
              </a:r>
              <a:endParaRPr lang="bg-BG" sz="1600"/>
            </a:p>
          </p:txBody>
        </p:sp>
        <p:sp>
          <p:nvSpPr>
            <p:cNvPr id="4104" name="Text Box 21"/>
            <p:cNvSpPr txBox="1">
              <a:spLocks noChangeArrowheads="1"/>
            </p:cNvSpPr>
            <p:nvPr/>
          </p:nvSpPr>
          <p:spPr bwMode="auto">
            <a:xfrm>
              <a:off x="1007024" y="4365246"/>
              <a:ext cx="432414" cy="35989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600">
                  <a:solidFill>
                    <a:schemeClr val="accent2"/>
                  </a:solidFill>
                </a:rPr>
                <a:t>      </a:t>
              </a:r>
              <a:r>
                <a:rPr lang="en-US" sz="1400"/>
                <a:t>50</a:t>
              </a:r>
              <a:endParaRPr lang="bg-BG" sz="1400"/>
            </a:p>
          </p:txBody>
        </p:sp>
        <p:sp>
          <p:nvSpPr>
            <p:cNvPr id="4105" name="Oval 4"/>
            <p:cNvSpPr>
              <a:spLocks noChangeArrowheads="1"/>
            </p:cNvSpPr>
            <p:nvPr/>
          </p:nvSpPr>
          <p:spPr bwMode="auto">
            <a:xfrm>
              <a:off x="1881570" y="2636838"/>
              <a:ext cx="583031" cy="56086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106" name="Oval 5"/>
            <p:cNvSpPr>
              <a:spLocks noChangeArrowheads="1"/>
            </p:cNvSpPr>
            <p:nvPr/>
          </p:nvSpPr>
          <p:spPr bwMode="auto">
            <a:xfrm>
              <a:off x="995363" y="3436075"/>
              <a:ext cx="583031" cy="56086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107" name="Oval 6"/>
            <p:cNvSpPr>
              <a:spLocks noChangeArrowheads="1"/>
            </p:cNvSpPr>
            <p:nvPr/>
          </p:nvSpPr>
          <p:spPr bwMode="auto">
            <a:xfrm>
              <a:off x="1881570" y="4235312"/>
              <a:ext cx="583031" cy="56086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108" name="Oval 7"/>
            <p:cNvSpPr>
              <a:spLocks noChangeArrowheads="1"/>
            </p:cNvSpPr>
            <p:nvPr/>
          </p:nvSpPr>
          <p:spPr bwMode="auto">
            <a:xfrm>
              <a:off x="1272303" y="5354243"/>
              <a:ext cx="583031" cy="56086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109" name="Oval 8"/>
            <p:cNvSpPr>
              <a:spLocks noChangeArrowheads="1"/>
            </p:cNvSpPr>
            <p:nvPr/>
          </p:nvSpPr>
          <p:spPr bwMode="auto">
            <a:xfrm>
              <a:off x="2435449" y="5727220"/>
              <a:ext cx="583031" cy="56086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110" name="Line 9"/>
            <p:cNvSpPr>
              <a:spLocks noChangeShapeType="1"/>
            </p:cNvSpPr>
            <p:nvPr/>
          </p:nvSpPr>
          <p:spPr bwMode="auto">
            <a:xfrm flipH="1">
              <a:off x="1493854" y="3116380"/>
              <a:ext cx="443103" cy="3729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111" name="Line 10"/>
            <p:cNvSpPr>
              <a:spLocks noChangeShapeType="1"/>
            </p:cNvSpPr>
            <p:nvPr/>
          </p:nvSpPr>
          <p:spPr bwMode="auto">
            <a:xfrm>
              <a:off x="1327690" y="3968899"/>
              <a:ext cx="221552" cy="13853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112" name="Line 11"/>
            <p:cNvSpPr>
              <a:spLocks noChangeShapeType="1"/>
            </p:cNvSpPr>
            <p:nvPr/>
          </p:nvSpPr>
          <p:spPr bwMode="auto">
            <a:xfrm>
              <a:off x="1826182" y="5780503"/>
              <a:ext cx="609267" cy="1598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113" name="Line 12"/>
            <p:cNvSpPr>
              <a:spLocks noChangeShapeType="1"/>
            </p:cNvSpPr>
            <p:nvPr/>
          </p:nvSpPr>
          <p:spPr bwMode="auto">
            <a:xfrm flipH="1">
              <a:off x="1770794" y="4821418"/>
              <a:ext cx="332327" cy="5861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114" name="Line 13"/>
            <p:cNvSpPr>
              <a:spLocks noChangeShapeType="1"/>
            </p:cNvSpPr>
            <p:nvPr/>
          </p:nvSpPr>
          <p:spPr bwMode="auto">
            <a:xfrm>
              <a:off x="2324673" y="4768136"/>
              <a:ext cx="332327" cy="9590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115" name="Line 14"/>
            <p:cNvSpPr>
              <a:spLocks noChangeShapeType="1"/>
            </p:cNvSpPr>
            <p:nvPr/>
          </p:nvSpPr>
          <p:spPr bwMode="auto">
            <a:xfrm>
              <a:off x="2213897" y="3222945"/>
              <a:ext cx="0" cy="10123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116" name="Line 15"/>
            <p:cNvSpPr>
              <a:spLocks noChangeShapeType="1"/>
            </p:cNvSpPr>
            <p:nvPr/>
          </p:nvSpPr>
          <p:spPr bwMode="auto">
            <a:xfrm>
              <a:off x="2380061" y="3116380"/>
              <a:ext cx="498491" cy="26641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117" name="Text Box 16"/>
            <p:cNvSpPr txBox="1">
              <a:spLocks noChangeArrowheads="1"/>
            </p:cNvSpPr>
            <p:nvPr/>
          </p:nvSpPr>
          <p:spPr bwMode="auto">
            <a:xfrm>
              <a:off x="1992345" y="2743403"/>
              <a:ext cx="387715" cy="31969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800" b="1"/>
                <a:t> </a:t>
              </a:r>
              <a:r>
                <a:rPr lang="en-US" sz="1800" b="1"/>
                <a:t>0</a:t>
              </a:r>
              <a:endParaRPr lang="bg-BG" sz="1800" b="1"/>
            </a:p>
          </p:txBody>
        </p:sp>
        <p:sp>
          <p:nvSpPr>
            <p:cNvPr id="4118" name="Text Box 17"/>
            <p:cNvSpPr txBox="1">
              <a:spLocks noChangeArrowheads="1"/>
            </p:cNvSpPr>
            <p:nvPr/>
          </p:nvSpPr>
          <p:spPr bwMode="auto">
            <a:xfrm>
              <a:off x="1106139" y="3542640"/>
              <a:ext cx="387715" cy="31969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800" b="1"/>
                <a:t>1</a:t>
              </a:r>
              <a:endParaRPr lang="bg-BG" sz="800"/>
            </a:p>
          </p:txBody>
        </p:sp>
        <p:sp>
          <p:nvSpPr>
            <p:cNvPr id="4119" name="Text Box 18"/>
            <p:cNvSpPr txBox="1">
              <a:spLocks noChangeArrowheads="1"/>
            </p:cNvSpPr>
            <p:nvPr/>
          </p:nvSpPr>
          <p:spPr bwMode="auto">
            <a:xfrm>
              <a:off x="1992345" y="4341876"/>
              <a:ext cx="387715" cy="31969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800" b="1"/>
                <a:t> </a:t>
              </a:r>
              <a:r>
                <a:rPr lang="en-US" sz="1800" b="1"/>
                <a:t>3</a:t>
              </a:r>
              <a:endParaRPr lang="bg-BG" sz="800"/>
            </a:p>
          </p:txBody>
        </p:sp>
        <p:sp>
          <p:nvSpPr>
            <p:cNvPr id="4120" name="Text Box 19"/>
            <p:cNvSpPr txBox="1">
              <a:spLocks noChangeArrowheads="1"/>
            </p:cNvSpPr>
            <p:nvPr/>
          </p:nvSpPr>
          <p:spPr bwMode="auto">
            <a:xfrm>
              <a:off x="1383078" y="5460808"/>
              <a:ext cx="387715" cy="31969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800"/>
                <a:t> </a:t>
              </a:r>
              <a:r>
                <a:rPr lang="en-US" sz="1800" b="1"/>
                <a:t>2</a:t>
              </a:r>
              <a:endParaRPr lang="bg-BG" sz="800" b="1"/>
            </a:p>
          </p:txBody>
        </p:sp>
        <p:sp>
          <p:nvSpPr>
            <p:cNvPr id="4121" name="Text Box 20"/>
            <p:cNvSpPr txBox="1">
              <a:spLocks noChangeArrowheads="1"/>
            </p:cNvSpPr>
            <p:nvPr/>
          </p:nvSpPr>
          <p:spPr bwMode="auto">
            <a:xfrm>
              <a:off x="2565659" y="5833785"/>
              <a:ext cx="387715" cy="31969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800" b="1"/>
                <a:t> </a:t>
              </a:r>
              <a:r>
                <a:rPr lang="en-US" sz="1800" b="1"/>
                <a:t>4</a:t>
              </a:r>
              <a:endParaRPr lang="bg-BG" sz="800" b="1"/>
            </a:p>
          </p:txBody>
        </p:sp>
        <p:sp>
          <p:nvSpPr>
            <p:cNvPr id="4122" name="Text Box 22"/>
            <p:cNvSpPr txBox="1">
              <a:spLocks noChangeArrowheads="1"/>
            </p:cNvSpPr>
            <p:nvPr/>
          </p:nvSpPr>
          <p:spPr bwMode="auto">
            <a:xfrm>
              <a:off x="1708604" y="3542640"/>
              <a:ext cx="449905" cy="31969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600"/>
                <a:t>   </a:t>
              </a:r>
              <a:r>
                <a:rPr lang="en-US" sz="1600"/>
                <a:t>30</a:t>
              </a:r>
              <a:endParaRPr lang="bg-BG" sz="800"/>
            </a:p>
          </p:txBody>
        </p:sp>
        <p:sp>
          <p:nvSpPr>
            <p:cNvPr id="4123" name="Text Box 23"/>
            <p:cNvSpPr txBox="1">
              <a:spLocks noChangeArrowheads="1"/>
            </p:cNvSpPr>
            <p:nvPr/>
          </p:nvSpPr>
          <p:spPr bwMode="auto">
            <a:xfrm>
              <a:off x="1331577" y="2852772"/>
              <a:ext cx="443103" cy="31969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600"/>
                <a:t>   </a:t>
              </a:r>
              <a:r>
                <a:rPr lang="en-US" sz="1600"/>
                <a:t>1</a:t>
              </a:r>
              <a:r>
                <a:rPr lang="en-AU" sz="1600"/>
                <a:t>0</a:t>
              </a:r>
              <a:endParaRPr lang="bg-BG" sz="800"/>
            </a:p>
          </p:txBody>
        </p:sp>
        <p:sp>
          <p:nvSpPr>
            <p:cNvPr id="4124" name="Text Box 24"/>
            <p:cNvSpPr txBox="1">
              <a:spLocks noChangeArrowheads="1"/>
            </p:cNvSpPr>
            <p:nvPr/>
          </p:nvSpPr>
          <p:spPr bwMode="auto">
            <a:xfrm>
              <a:off x="2657000" y="3968899"/>
              <a:ext cx="618013" cy="31969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/>
                <a:t>1</a:t>
              </a:r>
              <a:r>
                <a:rPr lang="en-AU" sz="1600"/>
                <a:t>00</a:t>
              </a:r>
              <a:endParaRPr lang="bg-BG" sz="1600"/>
            </a:p>
          </p:txBody>
        </p:sp>
        <p:sp>
          <p:nvSpPr>
            <p:cNvPr id="4125" name="Text Box 25"/>
            <p:cNvSpPr txBox="1">
              <a:spLocks noChangeArrowheads="1"/>
            </p:cNvSpPr>
            <p:nvPr/>
          </p:nvSpPr>
          <p:spPr bwMode="auto">
            <a:xfrm>
              <a:off x="1826182" y="5940350"/>
              <a:ext cx="443103" cy="31969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800"/>
                <a:t>     </a:t>
              </a:r>
              <a:r>
                <a:rPr lang="en-US" sz="1600"/>
                <a:t>10</a:t>
              </a:r>
              <a:endParaRPr lang="bg-BG" sz="1600"/>
            </a:p>
          </p:txBody>
        </p:sp>
      </p:grpSp>
      <p:graphicFrame>
        <p:nvGraphicFramePr>
          <p:cNvPr id="4098" name="Object 28"/>
          <p:cNvGraphicFramePr>
            <a:graphicFrameLocks noChangeAspect="1"/>
          </p:cNvGraphicFramePr>
          <p:nvPr/>
        </p:nvGraphicFramePr>
        <p:xfrm>
          <a:off x="1403350" y="836613"/>
          <a:ext cx="7278688" cy="175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Worksheet" r:id="rId3" imgW="7812000" imgH="1950840" progId="Excel.Sheet.8">
                  <p:embed/>
                </p:oleObj>
              </mc:Choice>
              <mc:Fallback>
                <p:oleObj name="Worksheet" r:id="rId3" imgW="7812000" imgH="1950840" progId="Excel.Sheet.8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836613"/>
                        <a:ext cx="7278688" cy="175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5E87D8-3CC1-4168-AF1D-824FB7F57492}" type="slidenum">
              <a:rPr lang="en-US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765175"/>
            <a:ext cx="7439025" cy="5638800"/>
          </a:xfrm>
        </p:spPr>
        <p:txBody>
          <a:bodyPr>
            <a:normAutofit fontScale="9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>
                <a:solidFill>
                  <a:schemeClr val="tx1"/>
                </a:solidFill>
              </a:rPr>
              <a:t> </a:t>
            </a:r>
            <a:r>
              <a:rPr lang="bg-BG" sz="2000">
                <a:solidFill>
                  <a:schemeClr val="tx1"/>
                </a:solidFill>
              </a:rPr>
              <a:t>Описание на алгоритъма на DIJKSTRA 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dijkstra()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{ int s[n]={0</a:t>
            </a:r>
            <a:r>
              <a:rPr lang="bg-BG" sz="1800" smtClean="0">
                <a:solidFill>
                  <a:schemeClr val="tx1"/>
                </a:solidFill>
                <a:latin typeface="Courier New" pitchFamily="49" charset="0"/>
              </a:rPr>
              <a:t>};</a:t>
            </a:r>
            <a:r>
              <a:rPr lang="en-US" sz="1800" smtClean="0">
                <a:solidFill>
                  <a:schemeClr val="tx1"/>
                </a:solidFill>
                <a:latin typeface="Courier New" pitchFamily="49" charset="0"/>
              </a:rPr>
              <a:t>   </a:t>
            </a:r>
            <a:r>
              <a:rPr lang="bg-BG" sz="18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множеството S е реализирано като масив 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               //n - брой възли в графа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int d[n]; 	</a:t>
            </a:r>
            <a:r>
              <a:rPr lang="en-US" sz="1800" smtClean="0">
                <a:solidFill>
                  <a:schemeClr val="tx1"/>
                </a:solidFill>
                <a:latin typeface="Courier New" pitchFamily="49" charset="0"/>
              </a:rPr>
              <a:t>   </a:t>
            </a:r>
            <a:r>
              <a:rPr lang="bg-BG" sz="1800" smtClean="0">
                <a:solidFill>
                  <a:schemeClr val="tx1"/>
                </a:solidFill>
                <a:latin typeface="Courier New" pitchFamily="49" charset="0"/>
              </a:rPr>
              <a:t>// </a:t>
            </a: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масив, в който се съхраняват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               // най-кратките пътища от началния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             </a:t>
            </a:r>
            <a:r>
              <a:rPr lang="en-US" sz="1800" smtClean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1800" smtClean="0">
                <a:solidFill>
                  <a:schemeClr val="tx1"/>
                </a:solidFill>
                <a:latin typeface="Courier New" pitchFamily="49" charset="0"/>
              </a:rPr>
              <a:t>//(</a:t>
            </a: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0-вия) възел до всички останали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int p[n]  </a:t>
            </a:r>
            <a:r>
              <a:rPr lang="en-US" sz="1800" smtClean="0">
                <a:solidFill>
                  <a:schemeClr val="tx1"/>
                </a:solidFill>
                <a:latin typeface="Courier New" pitchFamily="49" charset="0"/>
              </a:rPr>
              <a:t>     </a:t>
            </a:r>
            <a:r>
              <a:rPr lang="bg-BG" sz="1800" smtClean="0">
                <a:solidFill>
                  <a:schemeClr val="tx1"/>
                </a:solidFill>
                <a:latin typeface="Courier New" pitchFamily="49" charset="0"/>
              </a:rPr>
              <a:t>// </a:t>
            </a: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р е помощен масив, съдържащ върховете,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          </a:t>
            </a:r>
            <a:r>
              <a:rPr lang="en-US" sz="1800" smtClean="0">
                <a:solidFill>
                  <a:schemeClr val="tx1"/>
                </a:solidFill>
                <a:latin typeface="Courier New" pitchFamily="49" charset="0"/>
              </a:rPr>
              <a:t>     </a:t>
            </a:r>
            <a:r>
              <a:rPr lang="bg-BG" sz="1800" smtClean="0">
                <a:solidFill>
                  <a:schemeClr val="tx1"/>
                </a:solidFill>
                <a:latin typeface="Courier New" pitchFamily="49" charset="0"/>
              </a:rPr>
              <a:t>// </a:t>
            </a: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предхождащи текущите в специалния път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int w, i; 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s[0]=1; 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for (i=1; i&lt;n; i++)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   { d[i]=c[0,i]; p[i]=0; } //c е ценовата матрица с 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                            //разстоянията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for (i=1; i&lt;n; i++)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   { избиране на връх w, за който d[w] е min;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      s[w]=1;      </a:t>
            </a:r>
            <a:r>
              <a:rPr lang="en-US" sz="1800" smtClean="0">
                <a:solidFill>
                  <a:schemeClr val="tx1"/>
                </a:solidFill>
                <a:latin typeface="Courier New" pitchFamily="49" charset="0"/>
              </a:rPr>
              <a:t>      </a:t>
            </a:r>
            <a:r>
              <a:rPr lang="bg-BG" sz="18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добавяне на w към множеството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180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sz="1800">
                <a:solidFill>
                  <a:schemeClr val="tx1"/>
                </a:solidFill>
                <a:latin typeface="Courier New" pitchFamily="49" charset="0"/>
              </a:rPr>
              <a:t>        for (i=1; i&lt;n; i++)</a:t>
            </a:r>
            <a:br>
              <a:rPr lang="en-US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1800">
                <a:solidFill>
                  <a:schemeClr val="tx1"/>
                </a:solidFill>
                <a:latin typeface="Courier New" pitchFamily="49" charset="0"/>
              </a:rPr>
              <a:t>           if (s[i]==0)</a:t>
            </a:r>
            <a:br>
              <a:rPr lang="en-US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1800">
                <a:solidFill>
                  <a:schemeClr val="tx1"/>
                </a:solidFill>
                <a:latin typeface="Courier New" pitchFamily="49" charset="0"/>
              </a:rPr>
              <a:t>               if (d[i]&gt;d[w]+c[w,i])</a:t>
            </a:r>
            <a:br>
              <a:rPr lang="en-US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1800">
                <a:solidFill>
                  <a:schemeClr val="tx1"/>
                </a:solidFill>
                <a:latin typeface="Courier New" pitchFamily="49" charset="0"/>
              </a:rPr>
              <a:t>                    {</a:t>
            </a:r>
            <a:br>
              <a:rPr lang="en-US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1800">
                <a:solidFill>
                  <a:schemeClr val="tx1"/>
                </a:solidFill>
                <a:latin typeface="Courier New" pitchFamily="49" charset="0"/>
              </a:rPr>
              <a:t>                       p[i]=w;</a:t>
            </a:r>
            <a:br>
              <a:rPr lang="en-US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1800">
                <a:solidFill>
                  <a:schemeClr val="tx1"/>
                </a:solidFill>
                <a:latin typeface="Courier New" pitchFamily="49" charset="0"/>
              </a:rPr>
              <a:t>                       d[i]=d[w]+c[w,i];</a:t>
            </a:r>
            <a:br>
              <a:rPr lang="en-US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1800">
                <a:solidFill>
                  <a:schemeClr val="tx1"/>
                </a:solidFill>
                <a:latin typeface="Courier New" pitchFamily="49" charset="0"/>
              </a:rPr>
              <a:t>                    }</a:t>
            </a:r>
            <a:br>
              <a:rPr lang="en-US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1800">
                <a:solidFill>
                  <a:schemeClr val="tx1"/>
                </a:solidFill>
                <a:latin typeface="Courier New" pitchFamily="49" charset="0"/>
              </a:rPr>
              <a:t>      }          </a:t>
            </a:r>
            <a:br>
              <a:rPr lang="en-US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180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2000">
                <a:solidFill>
                  <a:schemeClr val="tx1"/>
                </a:solidFill>
                <a:latin typeface="Arial" charset="0"/>
              </a:rPr>
              <a:t>	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3E515D-9A19-41C4-8045-ED1A86879006}" type="slidenum">
              <a:rPr lang="en-US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250" y="2997200"/>
            <a:ext cx="7004050" cy="4392613"/>
          </a:xfrm>
        </p:spPr>
        <p:txBody>
          <a:bodyPr>
            <a:normAutofit fontScale="90000"/>
          </a:bodyPr>
          <a:lstStyle/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bg-BG" sz="2000">
                <a:solidFill>
                  <a:schemeClr val="tx1"/>
                </a:solidFill>
              </a:rPr>
              <a:t>	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При използване на статичното представяне на графа G сложността на алгоритъма на DIJKSTRA е </a:t>
            </a:r>
            <a:r>
              <a:rPr lang="bg-BG" sz="2000" b="1">
                <a:solidFill>
                  <a:schemeClr val="tx1"/>
                </a:solidFill>
              </a:rPr>
              <a:t>О(N</a:t>
            </a:r>
            <a:r>
              <a:rPr lang="bg-BG" sz="2000" b="1" baseline="30000">
                <a:solidFill>
                  <a:schemeClr val="tx1"/>
                </a:solidFill>
              </a:rPr>
              <a:t>2</a:t>
            </a:r>
            <a:r>
              <a:rPr lang="bg-BG" sz="2000" b="1">
                <a:solidFill>
                  <a:schemeClr val="tx1"/>
                </a:solidFill>
              </a:rPr>
              <a:t>)</a:t>
            </a:r>
            <a:r>
              <a:rPr lang="bg-BG" sz="2000">
                <a:solidFill>
                  <a:schemeClr val="tx1"/>
                </a:solidFill>
              </a:rPr>
              <a:t>. Ако броят на дъгите в графа е малък и матрицата на съседство е разредена, по-добър резултат дава представянето на графа чрез списъците на съседство. В този случай сложността на алгоритъма на DIJKSTRA е </a:t>
            </a:r>
            <a:r>
              <a:rPr lang="bg-BG" sz="2000" b="1">
                <a:solidFill>
                  <a:schemeClr val="tx1"/>
                </a:solidFill>
              </a:rPr>
              <a:t>О(M+N * Log</a:t>
            </a:r>
            <a:r>
              <a:rPr lang="bg-BG" sz="2000" b="1" baseline="-25000">
                <a:solidFill>
                  <a:schemeClr val="tx1"/>
                </a:solidFill>
              </a:rPr>
              <a:t>2</a:t>
            </a:r>
            <a:r>
              <a:rPr lang="bg-BG" sz="2000" b="1">
                <a:solidFill>
                  <a:schemeClr val="tx1"/>
                </a:solidFill>
              </a:rPr>
              <a:t>(N))</a:t>
            </a:r>
            <a:r>
              <a:rPr lang="bg-BG" sz="2000">
                <a:solidFill>
                  <a:schemeClr val="tx1"/>
                </a:solidFill>
              </a:rPr>
              <a:t>, където </a:t>
            </a:r>
            <a:r>
              <a:rPr lang="bg-BG" sz="2000" b="1">
                <a:solidFill>
                  <a:schemeClr val="tx1"/>
                </a:solidFill>
              </a:rPr>
              <a:t>М</a:t>
            </a:r>
            <a:r>
              <a:rPr lang="bg-BG" sz="2000">
                <a:solidFill>
                  <a:schemeClr val="tx1"/>
                </a:solidFill>
              </a:rPr>
              <a:t> е броя на дъгите </a:t>
            </a:r>
            <a:r>
              <a:rPr lang="bg-BG" sz="2000" smtClean="0">
                <a:solidFill>
                  <a:schemeClr val="tx1"/>
                </a:solidFill>
              </a:rPr>
              <a:t>в</a:t>
            </a:r>
            <a:r>
              <a:rPr lang="en-US" sz="2000" smtClean="0">
                <a:solidFill>
                  <a:schemeClr val="tx1"/>
                </a:solidFill>
              </a:rPr>
              <a:t> </a:t>
            </a:r>
            <a:r>
              <a:rPr lang="bg-BG" sz="2000" b="1" smtClean="0">
                <a:solidFill>
                  <a:schemeClr val="tx1"/>
                </a:solidFill>
              </a:rPr>
              <a:t>G</a:t>
            </a:r>
            <a:r>
              <a:rPr lang="bg-BG" sz="2000">
                <a:solidFill>
                  <a:schemeClr val="tx1"/>
                </a:solidFill>
              </a:rPr>
              <a:t>.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/>
            </a:r>
            <a:br>
              <a:rPr lang="en-US">
                <a:solidFill>
                  <a:schemeClr val="tx1"/>
                </a:solidFill>
              </a:rPr>
            </a:br>
            <a:r>
              <a:rPr lang="bg-BG">
                <a:solidFill>
                  <a:schemeClr val="tx1"/>
                </a:solidFill>
              </a:rPr>
              <a:t/>
            </a:r>
            <a:br>
              <a:rPr lang="bg-BG">
                <a:solidFill>
                  <a:schemeClr val="tx1"/>
                </a:solidFill>
              </a:rPr>
            </a:br>
            <a:r>
              <a:rPr lang="bg-BG">
                <a:solidFill>
                  <a:schemeClr val="tx1"/>
                </a:solidFill>
              </a:rPr>
              <a:t/>
            </a:r>
            <a:br>
              <a:rPr lang="bg-BG">
                <a:solidFill>
                  <a:schemeClr val="tx1"/>
                </a:solidFill>
              </a:rPr>
            </a:br>
            <a:r>
              <a:rPr lang="bg-BG">
                <a:solidFill>
                  <a:schemeClr val="tx1"/>
                </a:solidFill>
              </a:rPr>
              <a:t/>
            </a:r>
            <a:br>
              <a:rPr lang="bg-BG">
                <a:solidFill>
                  <a:schemeClr val="tx1"/>
                </a:solidFill>
              </a:rPr>
            </a:br>
            <a:r>
              <a:rPr lang="bg-BG">
                <a:solidFill>
                  <a:schemeClr val="tx1"/>
                </a:solidFill>
              </a:rPr>
              <a:t/>
            </a:r>
            <a:br>
              <a:rPr lang="bg-BG">
                <a:solidFill>
                  <a:schemeClr val="tx1"/>
                </a:solidFill>
              </a:rPr>
            </a:br>
            <a:r>
              <a:rPr lang="bg-BG">
                <a:solidFill>
                  <a:schemeClr val="tx1"/>
                </a:solidFill>
              </a:rPr>
              <a:t/>
            </a:r>
            <a:br>
              <a:rPr lang="bg-BG">
                <a:solidFill>
                  <a:schemeClr val="tx1"/>
                </a:solidFill>
              </a:rPr>
            </a:br>
            <a:r>
              <a:rPr lang="bg-BG">
                <a:solidFill>
                  <a:schemeClr val="tx1"/>
                </a:solidFill>
              </a:rPr>
              <a:t/>
            </a:r>
            <a:br>
              <a:rPr lang="bg-BG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37D611-677F-4B56-A233-8C47350CCAD9}" type="slidenum">
              <a:rPr lang="en-US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6475" y="260350"/>
            <a:ext cx="8147050" cy="5943600"/>
          </a:xfrm>
        </p:spPr>
        <p:txBody>
          <a:bodyPr/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	2.  </a:t>
            </a:r>
            <a:r>
              <a:rPr lang="bg-BG" sz="2000" i="1">
                <a:solidFill>
                  <a:schemeClr val="tx1"/>
                </a:solidFill>
              </a:rPr>
              <a:t>Алгоритъм на FLOYD</a:t>
            </a: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Алгоритъмът на FLOYD решава задачата за намиране на минимален път между всяка двойка върхове в даден граф.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  <a:latin typeface="Arial" charset="0"/>
              </a:rPr>
              <a:t>	</a:t>
            </a:r>
            <a:r>
              <a:rPr lang="bg-BG" sz="2000">
                <a:solidFill>
                  <a:schemeClr val="tx1"/>
                </a:solidFill>
              </a:rPr>
              <a:t>Имаме граф </a:t>
            </a:r>
            <a:r>
              <a:rPr lang="bg-BG" sz="2000" b="1">
                <a:solidFill>
                  <a:schemeClr val="tx1"/>
                </a:solidFill>
              </a:rPr>
              <a:t>G={V, E}</a:t>
            </a:r>
            <a:r>
              <a:rPr lang="bg-BG" sz="2000">
                <a:solidFill>
                  <a:schemeClr val="tx1"/>
                </a:solidFill>
              </a:rPr>
              <a:t>, в който всяка дъга </a:t>
            </a:r>
            <a:r>
              <a:rPr lang="bg-BG" sz="2000" b="1">
                <a:solidFill>
                  <a:schemeClr val="tx1"/>
                </a:solidFill>
              </a:rPr>
              <a:t>(V</a:t>
            </a:r>
            <a:r>
              <a:rPr lang="bg-BG" sz="2000" b="1" baseline="-25000">
                <a:solidFill>
                  <a:schemeClr val="tx1"/>
                </a:solidFill>
              </a:rPr>
              <a:t>i</a:t>
            </a:r>
            <a:r>
              <a:rPr lang="bg-BG" sz="2000" b="1">
                <a:solidFill>
                  <a:schemeClr val="tx1"/>
                </a:solidFill>
              </a:rPr>
              <a:t>, V</a:t>
            </a:r>
            <a:r>
              <a:rPr lang="bg-BG" sz="2000" b="1" baseline="-25000">
                <a:solidFill>
                  <a:schemeClr val="tx1"/>
                </a:solidFill>
              </a:rPr>
              <a:t>j</a:t>
            </a:r>
            <a:r>
              <a:rPr lang="bg-BG" sz="2000" b="1">
                <a:solidFill>
                  <a:schemeClr val="tx1"/>
                </a:solidFill>
              </a:rPr>
              <a:t>)</a:t>
            </a:r>
            <a:r>
              <a:rPr lang="bg-BG" sz="2000">
                <a:solidFill>
                  <a:schemeClr val="tx1"/>
                </a:solidFill>
              </a:rPr>
              <a:t> има неотрицателна цена </a:t>
            </a:r>
            <a:r>
              <a:rPr lang="bg-BG" sz="2000" b="1">
                <a:solidFill>
                  <a:schemeClr val="tx1"/>
                </a:solidFill>
              </a:rPr>
              <a:t>C [V</a:t>
            </a:r>
            <a:r>
              <a:rPr lang="bg-BG" sz="2000" b="1" baseline="-25000">
                <a:solidFill>
                  <a:schemeClr val="tx1"/>
                </a:solidFill>
              </a:rPr>
              <a:t>i</a:t>
            </a:r>
            <a:r>
              <a:rPr lang="bg-BG" sz="2000" b="1">
                <a:solidFill>
                  <a:schemeClr val="tx1"/>
                </a:solidFill>
              </a:rPr>
              <a:t>, V</a:t>
            </a:r>
            <a:r>
              <a:rPr lang="bg-BG" sz="2000" b="1" baseline="-25000">
                <a:solidFill>
                  <a:schemeClr val="tx1"/>
                </a:solidFill>
              </a:rPr>
              <a:t>j</a:t>
            </a:r>
            <a:r>
              <a:rPr lang="bg-BG" sz="2000" b="1">
                <a:solidFill>
                  <a:schemeClr val="tx1"/>
                </a:solidFill>
              </a:rPr>
              <a:t>]</a:t>
            </a:r>
            <a:r>
              <a:rPr lang="bg-BG" sz="2000">
                <a:solidFill>
                  <a:schemeClr val="tx1"/>
                </a:solidFill>
              </a:rPr>
              <a:t>. Задачата се свежда до намирането на най-къс път от </a:t>
            </a:r>
            <a:r>
              <a:rPr lang="bg-BG" sz="2000" b="1">
                <a:solidFill>
                  <a:schemeClr val="tx1"/>
                </a:solidFill>
              </a:rPr>
              <a:t>V</a:t>
            </a:r>
            <a:r>
              <a:rPr lang="bg-BG" sz="2000" b="1" baseline="-25000">
                <a:solidFill>
                  <a:schemeClr val="tx1"/>
                </a:solidFill>
              </a:rPr>
              <a:t>i</a:t>
            </a:r>
            <a:r>
              <a:rPr lang="bg-BG" sz="2000">
                <a:solidFill>
                  <a:schemeClr val="tx1"/>
                </a:solidFill>
              </a:rPr>
              <a:t> до </a:t>
            </a:r>
            <a:r>
              <a:rPr lang="bg-BG" sz="2000" b="1">
                <a:solidFill>
                  <a:schemeClr val="tx1"/>
                </a:solidFill>
              </a:rPr>
              <a:t>V</a:t>
            </a:r>
            <a:r>
              <a:rPr lang="bg-BG" sz="2000" b="1" baseline="-25000">
                <a:solidFill>
                  <a:schemeClr val="tx1"/>
                </a:solidFill>
              </a:rPr>
              <a:t>j</a:t>
            </a:r>
            <a:r>
              <a:rPr lang="bg-BG" sz="2000">
                <a:solidFill>
                  <a:schemeClr val="tx1"/>
                </a:solidFill>
              </a:rPr>
              <a:t> за всяка двойка върхове </a:t>
            </a:r>
            <a:r>
              <a:rPr lang="bg-BG" sz="2000" b="1">
                <a:solidFill>
                  <a:schemeClr val="tx1"/>
                </a:solidFill>
              </a:rPr>
              <a:t>(V</a:t>
            </a:r>
            <a:r>
              <a:rPr lang="bg-BG" sz="2000" b="1" baseline="-25000">
                <a:solidFill>
                  <a:schemeClr val="tx1"/>
                </a:solidFill>
              </a:rPr>
              <a:t>i</a:t>
            </a:r>
            <a:r>
              <a:rPr lang="bg-BG" sz="2000" b="1">
                <a:solidFill>
                  <a:schemeClr val="tx1"/>
                </a:solidFill>
              </a:rPr>
              <a:t>, V</a:t>
            </a:r>
            <a:r>
              <a:rPr lang="bg-BG" sz="2000" b="1" baseline="-25000">
                <a:solidFill>
                  <a:schemeClr val="tx1"/>
                </a:solidFill>
              </a:rPr>
              <a:t>j</a:t>
            </a:r>
            <a:r>
              <a:rPr lang="bg-BG" sz="2000" b="1">
                <a:solidFill>
                  <a:schemeClr val="tx1"/>
                </a:solidFill>
              </a:rPr>
              <a:t>)</a:t>
            </a:r>
            <a:r>
              <a:rPr lang="bg-BG" sz="2000">
                <a:solidFill>
                  <a:schemeClr val="tx1"/>
                </a:solidFill>
              </a:rPr>
              <a:t>.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Нека за по-голямо удобство пак да предположим, че върховете са номерирани последователно от </a:t>
            </a:r>
            <a:r>
              <a:rPr lang="bg-BG" sz="2000" b="1">
                <a:solidFill>
                  <a:schemeClr val="tx1"/>
                </a:solidFill>
              </a:rPr>
              <a:t>0</a:t>
            </a:r>
            <a:r>
              <a:rPr lang="bg-BG" sz="2000">
                <a:solidFill>
                  <a:schemeClr val="tx1"/>
                </a:solidFill>
              </a:rPr>
              <a:t> до </a:t>
            </a:r>
            <a:r>
              <a:rPr lang="bg-BG" sz="2000" b="1">
                <a:solidFill>
                  <a:schemeClr val="tx1"/>
                </a:solidFill>
              </a:rPr>
              <a:t>N-1</a:t>
            </a:r>
            <a:r>
              <a:rPr lang="bg-BG" sz="2000">
                <a:solidFill>
                  <a:schemeClr val="tx1"/>
                </a:solidFill>
              </a:rPr>
              <a:t>. За пресмятане на дължините на най-късите пътища ще се използва помощна матрица </a:t>
            </a:r>
            <a:r>
              <a:rPr lang="bg-BG" sz="2000" b="1">
                <a:solidFill>
                  <a:schemeClr val="tx1"/>
                </a:solidFill>
              </a:rPr>
              <a:t>А </a:t>
            </a:r>
            <a:r>
              <a:rPr lang="bg-BG" sz="2000">
                <a:solidFill>
                  <a:schemeClr val="tx1"/>
                </a:solidFill>
              </a:rPr>
              <a:t>с размерност </a:t>
            </a:r>
            <a:r>
              <a:rPr lang="bg-BG" sz="2000" b="1">
                <a:solidFill>
                  <a:schemeClr val="tx1"/>
                </a:solidFill>
              </a:rPr>
              <a:t>N x N</a:t>
            </a:r>
            <a:r>
              <a:rPr lang="bg-BG" sz="2000">
                <a:solidFill>
                  <a:schemeClr val="tx1"/>
                </a:solidFill>
              </a:rPr>
              <a:t>, която се инициализира като </a:t>
            </a:r>
            <a:r>
              <a:rPr lang="bg-BG" sz="2000" b="1">
                <a:solidFill>
                  <a:schemeClr val="tx1"/>
                </a:solidFill>
              </a:rPr>
              <a:t>A[I, J]=C[I, J]</a:t>
            </a:r>
            <a:r>
              <a:rPr lang="bg-BG" sz="2000">
                <a:solidFill>
                  <a:schemeClr val="tx1"/>
                </a:solidFill>
              </a:rPr>
              <a:t> за </a:t>
            </a:r>
            <a:r>
              <a:rPr lang="bg-BG" sz="2000" b="1">
                <a:solidFill>
                  <a:schemeClr val="tx1"/>
                </a:solidFill>
              </a:rPr>
              <a:t>I</a:t>
            </a:r>
            <a:r>
              <a:rPr lang="bg-BG" sz="2000">
                <a:solidFill>
                  <a:schemeClr val="tx1"/>
                </a:solidFill>
              </a:rPr>
              <a:t> и </a:t>
            </a:r>
            <a:r>
              <a:rPr lang="bg-BG" sz="2000" b="1">
                <a:solidFill>
                  <a:schemeClr val="tx1"/>
                </a:solidFill>
              </a:rPr>
              <a:t>J</a:t>
            </a:r>
            <a:r>
              <a:rPr lang="bg-BG" sz="2000">
                <a:solidFill>
                  <a:schemeClr val="tx1"/>
                </a:solidFill>
              </a:rPr>
              <a:t> от </a:t>
            </a:r>
            <a:r>
              <a:rPr lang="bg-BG" sz="2000" b="1">
                <a:solidFill>
                  <a:schemeClr val="tx1"/>
                </a:solidFill>
              </a:rPr>
              <a:t>1</a:t>
            </a:r>
            <a:r>
              <a:rPr lang="bg-BG" sz="2000">
                <a:solidFill>
                  <a:schemeClr val="tx1"/>
                </a:solidFill>
              </a:rPr>
              <a:t> до </a:t>
            </a:r>
            <a:r>
              <a:rPr lang="bg-BG" sz="2000" b="1">
                <a:solidFill>
                  <a:schemeClr val="tx1"/>
                </a:solidFill>
              </a:rPr>
              <a:t>N</a:t>
            </a:r>
            <a:r>
              <a:rPr lang="bg-BG" sz="2000">
                <a:solidFill>
                  <a:schemeClr val="tx1"/>
                </a:solidFill>
              </a:rPr>
              <a:t>. Ако няма път от </a:t>
            </a:r>
            <a:r>
              <a:rPr lang="bg-BG" sz="2000" b="1">
                <a:solidFill>
                  <a:schemeClr val="tx1"/>
                </a:solidFill>
              </a:rPr>
              <a:t>I</a:t>
            </a:r>
            <a:r>
              <a:rPr lang="bg-BG" sz="2000">
                <a:solidFill>
                  <a:schemeClr val="tx1"/>
                </a:solidFill>
              </a:rPr>
              <a:t> до </a:t>
            </a:r>
            <a:r>
              <a:rPr lang="bg-BG" sz="2000" b="1">
                <a:solidFill>
                  <a:schemeClr val="tx1"/>
                </a:solidFill>
              </a:rPr>
              <a:t>J</a:t>
            </a:r>
            <a:r>
              <a:rPr lang="bg-BG" sz="2000">
                <a:solidFill>
                  <a:schemeClr val="tx1"/>
                </a:solidFill>
              </a:rPr>
              <a:t>, </a:t>
            </a:r>
            <a:r>
              <a:rPr lang="bg-BG" sz="2000" b="1">
                <a:solidFill>
                  <a:schemeClr val="tx1"/>
                </a:solidFill>
              </a:rPr>
              <a:t>A[I, J]</a:t>
            </a:r>
            <a:r>
              <a:rPr lang="bg-BG" sz="2000">
                <a:solidFill>
                  <a:schemeClr val="tx1"/>
                </a:solidFill>
              </a:rPr>
              <a:t> се установява в някаква голяма стойност. Диагоналните елементи на </a:t>
            </a:r>
            <a:r>
              <a:rPr lang="bg-BG" sz="2000" b="1">
                <a:solidFill>
                  <a:schemeClr val="tx1"/>
                </a:solidFill>
              </a:rPr>
              <a:t>А</a:t>
            </a:r>
            <a:r>
              <a:rPr lang="bg-BG" sz="2000">
                <a:solidFill>
                  <a:schemeClr val="tx1"/>
                </a:solidFill>
              </a:rPr>
              <a:t> се приемат за </a:t>
            </a:r>
            <a:r>
              <a:rPr lang="bg-BG" sz="2000" b="1">
                <a:solidFill>
                  <a:schemeClr val="tx1"/>
                </a:solidFill>
              </a:rPr>
              <a:t>0</a:t>
            </a:r>
            <a:r>
              <a:rPr lang="bg-BG" sz="2000">
                <a:solidFill>
                  <a:schemeClr val="tx1"/>
                </a:solidFill>
              </a:rPr>
              <a:t>. 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	Матрицата </a:t>
            </a:r>
            <a:r>
              <a:rPr lang="bg-BG" sz="2000" b="1">
                <a:solidFill>
                  <a:schemeClr val="tx1"/>
                </a:solidFill>
              </a:rPr>
              <a:t>А</a:t>
            </a:r>
            <a:r>
              <a:rPr lang="bg-BG" sz="2000">
                <a:solidFill>
                  <a:schemeClr val="tx1"/>
                </a:solidFill>
              </a:rPr>
              <a:t> се променя итеративно, като след </a:t>
            </a:r>
            <a:r>
              <a:rPr lang="bg-BG" sz="2000" b="1">
                <a:solidFill>
                  <a:schemeClr val="tx1"/>
                </a:solidFill>
              </a:rPr>
              <a:t>K</a:t>
            </a:r>
            <a:r>
              <a:rPr lang="bg-BG" sz="2000">
                <a:solidFill>
                  <a:schemeClr val="tx1"/>
                </a:solidFill>
              </a:rPr>
              <a:t>-та итерация </a:t>
            </a:r>
            <a:r>
              <a:rPr lang="bg-BG" sz="2000" b="1">
                <a:solidFill>
                  <a:schemeClr val="tx1"/>
                </a:solidFill>
              </a:rPr>
              <a:t>A[I, J]</a:t>
            </a:r>
            <a:r>
              <a:rPr lang="bg-BG" sz="2000">
                <a:solidFill>
                  <a:schemeClr val="tx1"/>
                </a:solidFill>
              </a:rPr>
              <a:t> ще съдържа </a:t>
            </a:r>
            <a:r>
              <a:rPr lang="bg-BG" sz="2000" b="1">
                <a:solidFill>
                  <a:schemeClr val="tx1"/>
                </a:solidFill>
              </a:rPr>
              <a:t>MIN</a:t>
            </a:r>
            <a:r>
              <a:rPr lang="bg-BG" sz="2000">
                <a:solidFill>
                  <a:schemeClr val="tx1"/>
                </a:solidFill>
              </a:rPr>
              <a:t> път от всички възможни пътища от </a:t>
            </a:r>
            <a:r>
              <a:rPr lang="bg-BG" sz="2000" b="1">
                <a:solidFill>
                  <a:schemeClr val="tx1"/>
                </a:solidFill>
              </a:rPr>
              <a:t>I</a:t>
            </a:r>
            <a:r>
              <a:rPr lang="bg-BG" sz="2000">
                <a:solidFill>
                  <a:schemeClr val="tx1"/>
                </a:solidFill>
              </a:rPr>
              <a:t> до </a:t>
            </a:r>
            <a:r>
              <a:rPr lang="bg-BG" sz="2000" b="1">
                <a:solidFill>
                  <a:schemeClr val="tx1"/>
                </a:solidFill>
              </a:rPr>
              <a:t>J</a:t>
            </a:r>
            <a:r>
              <a:rPr lang="bg-BG" sz="2000">
                <a:solidFill>
                  <a:schemeClr val="tx1"/>
                </a:solidFill>
              </a:rPr>
              <a:t>, които минават през върховете, номерирани не по-високо от </a:t>
            </a:r>
            <a:r>
              <a:rPr lang="bg-BG" sz="2000" b="1">
                <a:solidFill>
                  <a:schemeClr val="tx1"/>
                </a:solidFill>
              </a:rPr>
              <a:t>К</a:t>
            </a:r>
            <a:r>
              <a:rPr lang="bg-BG" sz="2000">
                <a:solidFill>
                  <a:schemeClr val="tx1"/>
                </a:solidFill>
              </a:rPr>
              <a:t>:</a:t>
            </a:r>
            <a:r>
              <a:rPr lang="bg-BG" sz="800">
                <a:solidFill>
                  <a:schemeClr val="tx1"/>
                </a:solidFill>
              </a:rPr>
              <a:t/>
            </a:r>
            <a:br>
              <a:rPr lang="bg-BG" sz="800">
                <a:solidFill>
                  <a:schemeClr val="tx1"/>
                </a:solidFill>
              </a:rPr>
            </a:br>
            <a:r>
              <a:rPr lang="en-US" sz="800">
                <a:solidFill>
                  <a:schemeClr val="tx1"/>
                </a:solidFill>
              </a:rPr>
              <a:t/>
            </a:r>
            <a:br>
              <a:rPr lang="en-US" sz="8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            </a:t>
            </a:r>
            <a:r>
              <a:rPr lang="en-US" sz="2000" b="1">
                <a:solidFill>
                  <a:schemeClr val="tx1"/>
                </a:solidFill>
              </a:rPr>
              <a:t>A</a:t>
            </a:r>
            <a:r>
              <a:rPr lang="en-AU" sz="2000" b="1" baseline="-25000">
                <a:solidFill>
                  <a:schemeClr val="tx1"/>
                </a:solidFill>
              </a:rPr>
              <a:t>К</a:t>
            </a:r>
            <a:r>
              <a:rPr lang="en-US" sz="2000" b="1">
                <a:solidFill>
                  <a:schemeClr val="tx1"/>
                </a:solidFill>
              </a:rPr>
              <a:t>[I,</a:t>
            </a:r>
            <a:r>
              <a:rPr lang="bg-BG" sz="2000" b="1">
                <a:solidFill>
                  <a:schemeClr val="tx1"/>
                </a:solidFill>
              </a:rPr>
              <a:t> </a:t>
            </a:r>
            <a:r>
              <a:rPr lang="en-US" sz="2000" b="1">
                <a:solidFill>
                  <a:schemeClr val="tx1"/>
                </a:solidFill>
              </a:rPr>
              <a:t>J]</a:t>
            </a:r>
            <a:r>
              <a:rPr lang="en-AU" sz="2000" b="1">
                <a:solidFill>
                  <a:schemeClr val="tx1"/>
                </a:solidFill>
              </a:rPr>
              <a:t> = M</a:t>
            </a:r>
            <a:r>
              <a:rPr lang="en-US" sz="2000" b="1">
                <a:solidFill>
                  <a:schemeClr val="tx1"/>
                </a:solidFill>
              </a:rPr>
              <a:t>IN(A</a:t>
            </a:r>
            <a:r>
              <a:rPr lang="en-AU" sz="2000" b="1" baseline="-25000">
                <a:solidFill>
                  <a:schemeClr val="tx1"/>
                </a:solidFill>
              </a:rPr>
              <a:t>К</a:t>
            </a:r>
            <a:r>
              <a:rPr lang="en-US" sz="2000" b="1" baseline="-25000">
                <a:solidFill>
                  <a:schemeClr val="tx1"/>
                </a:solidFill>
              </a:rPr>
              <a:t>-1</a:t>
            </a:r>
            <a:r>
              <a:rPr lang="en-US" sz="2000" b="1">
                <a:solidFill>
                  <a:schemeClr val="tx1"/>
                </a:solidFill>
              </a:rPr>
              <a:t>[I,</a:t>
            </a:r>
            <a:r>
              <a:rPr lang="bg-BG" sz="2000" b="1">
                <a:solidFill>
                  <a:schemeClr val="tx1"/>
                </a:solidFill>
              </a:rPr>
              <a:t> </a:t>
            </a:r>
            <a:r>
              <a:rPr lang="en-US" sz="2000" b="1">
                <a:solidFill>
                  <a:schemeClr val="tx1"/>
                </a:solidFill>
              </a:rPr>
              <a:t>J], A</a:t>
            </a:r>
            <a:r>
              <a:rPr lang="en-AU" sz="2000" b="1" baseline="-25000">
                <a:solidFill>
                  <a:schemeClr val="tx1"/>
                </a:solidFill>
              </a:rPr>
              <a:t>К</a:t>
            </a:r>
            <a:r>
              <a:rPr lang="en-US" sz="2000" b="1" baseline="-25000">
                <a:solidFill>
                  <a:schemeClr val="tx1"/>
                </a:solidFill>
              </a:rPr>
              <a:t>-1</a:t>
            </a:r>
            <a:r>
              <a:rPr lang="en-US" sz="2000" b="1">
                <a:solidFill>
                  <a:schemeClr val="tx1"/>
                </a:solidFill>
              </a:rPr>
              <a:t>[I,</a:t>
            </a:r>
            <a:r>
              <a:rPr lang="bg-BG" sz="2000" b="1">
                <a:solidFill>
                  <a:schemeClr val="tx1"/>
                </a:solidFill>
              </a:rPr>
              <a:t> </a:t>
            </a:r>
            <a:r>
              <a:rPr lang="en-US" sz="2000" b="1">
                <a:solidFill>
                  <a:schemeClr val="tx1"/>
                </a:solidFill>
              </a:rPr>
              <a:t>K] + A</a:t>
            </a:r>
            <a:r>
              <a:rPr lang="en-AU" sz="2000" b="1" baseline="-25000">
                <a:solidFill>
                  <a:schemeClr val="tx1"/>
                </a:solidFill>
              </a:rPr>
              <a:t>К</a:t>
            </a:r>
            <a:r>
              <a:rPr lang="en-US" sz="2000" b="1" baseline="-25000">
                <a:solidFill>
                  <a:schemeClr val="tx1"/>
                </a:solidFill>
              </a:rPr>
              <a:t>-1</a:t>
            </a:r>
            <a:r>
              <a:rPr lang="en-US" sz="2000" b="1">
                <a:solidFill>
                  <a:schemeClr val="tx1"/>
                </a:solidFill>
              </a:rPr>
              <a:t>[K,</a:t>
            </a:r>
            <a:r>
              <a:rPr lang="bg-BG" sz="2000" b="1">
                <a:solidFill>
                  <a:schemeClr val="tx1"/>
                </a:solidFill>
              </a:rPr>
              <a:t> </a:t>
            </a:r>
            <a:r>
              <a:rPr lang="en-US" sz="2000" b="1">
                <a:solidFill>
                  <a:schemeClr val="tx1"/>
                </a:solidFill>
              </a:rPr>
              <a:t>J])</a:t>
            </a:r>
            <a:r>
              <a:rPr lang="en-AU" b="1">
                <a:solidFill>
                  <a:schemeClr val="tx1"/>
                </a:solidFill>
              </a:rPr>
              <a:t/>
            </a:r>
            <a:br>
              <a:rPr lang="en-AU" b="1">
                <a:solidFill>
                  <a:schemeClr val="tx1"/>
                </a:solidFill>
              </a:rPr>
            </a:br>
            <a:r>
              <a:rPr lang="bg-BG">
                <a:solidFill>
                  <a:schemeClr val="tx1"/>
                </a:solidFill>
              </a:rPr>
              <a:t/>
            </a:r>
            <a:br>
              <a:rPr lang="bg-BG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5843" name="Group 3"/>
          <p:cNvGrpSpPr>
            <a:grpSpLocks/>
          </p:cNvGrpSpPr>
          <p:nvPr/>
        </p:nvGrpSpPr>
        <p:grpSpPr bwMode="auto">
          <a:xfrm>
            <a:off x="1752600" y="5014913"/>
            <a:ext cx="5791200" cy="1644650"/>
            <a:chOff x="2132" y="2921"/>
            <a:chExt cx="5109" cy="1543"/>
          </a:xfrm>
        </p:grpSpPr>
        <p:sp>
          <p:nvSpPr>
            <p:cNvPr id="35845" name="Oval 4"/>
            <p:cNvSpPr>
              <a:spLocks noChangeArrowheads="1"/>
            </p:cNvSpPr>
            <p:nvPr/>
          </p:nvSpPr>
          <p:spPr bwMode="auto">
            <a:xfrm>
              <a:off x="2132" y="3685"/>
              <a:ext cx="491" cy="505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5846" name="Oval 5"/>
            <p:cNvSpPr>
              <a:spLocks noChangeArrowheads="1"/>
            </p:cNvSpPr>
            <p:nvPr/>
          </p:nvSpPr>
          <p:spPr bwMode="auto">
            <a:xfrm>
              <a:off x="4344" y="2921"/>
              <a:ext cx="547" cy="508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5847" name="Oval 6"/>
            <p:cNvSpPr>
              <a:spLocks noChangeArrowheads="1"/>
            </p:cNvSpPr>
            <p:nvPr/>
          </p:nvSpPr>
          <p:spPr bwMode="auto">
            <a:xfrm>
              <a:off x="6626" y="3669"/>
              <a:ext cx="547" cy="532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5848" name="Line 7"/>
            <p:cNvSpPr>
              <a:spLocks noChangeShapeType="1"/>
            </p:cNvSpPr>
            <p:nvPr/>
          </p:nvSpPr>
          <p:spPr bwMode="auto">
            <a:xfrm>
              <a:off x="2650" y="3949"/>
              <a:ext cx="396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5849" name="Line 8"/>
            <p:cNvSpPr>
              <a:spLocks noChangeShapeType="1"/>
            </p:cNvSpPr>
            <p:nvPr/>
          </p:nvSpPr>
          <p:spPr bwMode="auto">
            <a:xfrm flipV="1">
              <a:off x="2608" y="3255"/>
              <a:ext cx="1765" cy="58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5850" name="Line 9"/>
            <p:cNvSpPr>
              <a:spLocks noChangeShapeType="1"/>
            </p:cNvSpPr>
            <p:nvPr/>
          </p:nvSpPr>
          <p:spPr bwMode="auto">
            <a:xfrm>
              <a:off x="4876" y="3283"/>
              <a:ext cx="1723" cy="6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5851" name="Text Box 10"/>
            <p:cNvSpPr txBox="1">
              <a:spLocks noChangeArrowheads="1"/>
            </p:cNvSpPr>
            <p:nvPr/>
          </p:nvSpPr>
          <p:spPr bwMode="auto">
            <a:xfrm>
              <a:off x="2191" y="3764"/>
              <a:ext cx="54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/>
                <a:t>I</a:t>
              </a:r>
              <a:endParaRPr lang="en-US" sz="1000"/>
            </a:p>
          </p:txBody>
        </p:sp>
        <p:sp>
          <p:nvSpPr>
            <p:cNvPr id="35852" name="Text Box 11"/>
            <p:cNvSpPr txBox="1">
              <a:spLocks noChangeArrowheads="1"/>
            </p:cNvSpPr>
            <p:nvPr/>
          </p:nvSpPr>
          <p:spPr bwMode="auto">
            <a:xfrm>
              <a:off x="6701" y="3754"/>
              <a:ext cx="54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/>
                <a:t>J</a:t>
              </a:r>
            </a:p>
          </p:txBody>
        </p:sp>
        <p:sp>
          <p:nvSpPr>
            <p:cNvPr id="35853" name="Text Box 12"/>
            <p:cNvSpPr txBox="1">
              <a:spLocks noChangeArrowheads="1"/>
            </p:cNvSpPr>
            <p:nvPr/>
          </p:nvSpPr>
          <p:spPr bwMode="auto">
            <a:xfrm>
              <a:off x="4401" y="2994"/>
              <a:ext cx="54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2000" b="1"/>
                <a:t>K</a:t>
              </a:r>
              <a:endParaRPr lang="en-US" sz="2000" b="1"/>
            </a:p>
          </p:txBody>
        </p:sp>
        <p:sp>
          <p:nvSpPr>
            <p:cNvPr id="35854" name="Text Box 13"/>
            <p:cNvSpPr txBox="1">
              <a:spLocks noChangeArrowheads="1"/>
            </p:cNvSpPr>
            <p:nvPr/>
          </p:nvSpPr>
          <p:spPr bwMode="auto">
            <a:xfrm>
              <a:off x="4041" y="3924"/>
              <a:ext cx="108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/>
                <a:t>A</a:t>
              </a:r>
              <a:r>
                <a:rPr lang="bg-BG" sz="2000" b="1" baseline="-25000"/>
                <a:t>K</a:t>
              </a:r>
              <a:r>
                <a:rPr lang="en-US" sz="2000" b="1" baseline="-25000"/>
                <a:t>-1</a:t>
              </a:r>
              <a:r>
                <a:rPr lang="en-US" sz="2000" b="1"/>
                <a:t>[I,J]</a:t>
              </a:r>
              <a:endParaRPr lang="en-US" sz="1000" b="1"/>
            </a:p>
          </p:txBody>
        </p:sp>
        <p:sp>
          <p:nvSpPr>
            <p:cNvPr id="35855" name="Text Box 14"/>
            <p:cNvSpPr txBox="1">
              <a:spLocks noChangeArrowheads="1"/>
            </p:cNvSpPr>
            <p:nvPr/>
          </p:nvSpPr>
          <p:spPr bwMode="auto">
            <a:xfrm>
              <a:off x="5301" y="3174"/>
              <a:ext cx="108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/>
                <a:t>A</a:t>
              </a:r>
              <a:r>
                <a:rPr lang="bg-BG" sz="2000" b="1" baseline="-25000"/>
                <a:t>K</a:t>
              </a:r>
              <a:r>
                <a:rPr lang="en-US" sz="2000" b="1" baseline="-25000"/>
                <a:t>-1</a:t>
              </a:r>
              <a:r>
                <a:rPr lang="en-US" sz="2000" b="1"/>
                <a:t>[K,J]</a:t>
              </a:r>
            </a:p>
          </p:txBody>
        </p:sp>
        <p:sp>
          <p:nvSpPr>
            <p:cNvPr id="35856" name="Text Box 15"/>
            <p:cNvSpPr txBox="1">
              <a:spLocks noChangeArrowheads="1"/>
            </p:cNvSpPr>
            <p:nvPr/>
          </p:nvSpPr>
          <p:spPr bwMode="auto">
            <a:xfrm>
              <a:off x="2601" y="3184"/>
              <a:ext cx="108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/>
                <a:t>A</a:t>
              </a:r>
              <a:r>
                <a:rPr lang="bg-BG" sz="2000" b="1" baseline="-25000"/>
                <a:t>K</a:t>
              </a:r>
              <a:r>
                <a:rPr lang="en-US" sz="2000" b="1" baseline="-25000"/>
                <a:t>-1</a:t>
              </a:r>
              <a:r>
                <a:rPr lang="en-US" sz="2000" b="1"/>
                <a:t>[I,K]</a:t>
              </a:r>
              <a:endParaRPr lang="en-US" sz="2000"/>
            </a:p>
          </p:txBody>
        </p:sp>
      </p:grp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C57490-C1E1-4E5F-B38D-0D27572C95A8}" type="slidenum">
              <a:rPr lang="en-US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0"/>
            <a:ext cx="7993063" cy="58674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800" smtClean="0">
                <a:solidFill>
                  <a:schemeClr val="tx2">
                    <a:satMod val="130000"/>
                  </a:schemeClr>
                </a:solidFill>
              </a:rPr>
              <a:t>Примерен </a:t>
            </a:r>
            <a:r>
              <a:rPr lang="bg-BG" sz="2800">
                <a:solidFill>
                  <a:schemeClr val="tx2">
                    <a:satMod val="130000"/>
                  </a:schemeClr>
                </a:solidFill>
              </a:rPr>
              <a:t>граф</a:t>
            </a:r>
            <a:r>
              <a:rPr lang="bg-BG" sz="2800" smtClean="0">
                <a:solidFill>
                  <a:schemeClr val="tx2">
                    <a:satMod val="130000"/>
                  </a:schemeClr>
                </a:solidFill>
              </a:rPr>
              <a:t>:</a:t>
            </a:r>
            <a:r>
              <a:rPr lang="en-US" sz="280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80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12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12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Инициализация:                        </a:t>
            </a:r>
            <a:r>
              <a:rPr lang="en-US" sz="2000" smtClean="0">
                <a:solidFill>
                  <a:schemeClr val="tx2">
                    <a:satMod val="130000"/>
                  </a:schemeClr>
                </a:solidFill>
              </a:rPr>
              <a:t>	       </a:t>
            </a:r>
            <a:r>
              <a:rPr lang="bg-BG" sz="2000" smtClean="0">
                <a:solidFill>
                  <a:schemeClr val="tx2">
                    <a:satMod val="130000"/>
                  </a:schemeClr>
                </a:solidFill>
              </a:rPr>
              <a:t>А</a:t>
            </a:r>
            <a:r>
              <a:rPr lang="en-US" sz="2000">
                <a:solidFill>
                  <a:schemeClr val="tx2">
                    <a:satMod val="130000"/>
                  </a:schemeClr>
                </a:solidFill>
              </a:rPr>
              <a:t>[0]</a:t>
            </a:r>
            <a:r>
              <a:rPr lang="bg-BG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>
                <a:solidFill>
                  <a:schemeClr val="tx2">
                    <a:satMod val="130000"/>
                  </a:schemeClr>
                </a:solidFill>
              </a:rPr>
            </a:br>
            <a:r>
              <a:rPr lang="bg-BG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					        </a:t>
            </a:r>
            <a:br>
              <a:rPr lang="bg-BG" sz="20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					         </a:t>
            </a:r>
            <a:br>
              <a:rPr lang="bg-BG" sz="20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					        </a:t>
            </a:r>
            <a:br>
              <a:rPr lang="bg-BG" sz="20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					          </a:t>
            </a:r>
            <a:r>
              <a:rPr lang="en-US" sz="2000" smtClean="0">
                <a:solidFill>
                  <a:srgbClr val="CC0066"/>
                </a:solidFill>
              </a:rPr>
              <a:t> </a:t>
            </a:r>
            <a:r>
              <a:rPr lang="bg-BG" sz="2000" smtClean="0">
                <a:solidFill>
                  <a:srgbClr val="CC0066"/>
                </a:solidFill>
              </a:rPr>
              <a:t>през </a:t>
            </a:r>
            <a:r>
              <a:rPr lang="bg-BG" sz="2000" smtClean="0">
                <a:solidFill>
                  <a:srgbClr val="CC0066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bg-BG" sz="2000" smtClean="0">
                <a:solidFill>
                  <a:srgbClr val="CC0066"/>
                </a:solidFill>
              </a:rPr>
              <a:t> </a:t>
            </a:r>
            <a:r>
              <a:rPr lang="bg-BG" sz="2000">
                <a:solidFill>
                  <a:srgbClr val="CC0066"/>
                </a:solidFill>
                <a:latin typeface="Arial" pitchFamily="34" charset="0"/>
                <a:cs typeface="Arial" pitchFamily="34" charset="0"/>
              </a:rPr>
              <a:t>(3+5)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						</a:t>
            </a:r>
            <a:br>
              <a:rPr lang="bg-BG" sz="20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0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bg-BG">
                <a:solidFill>
                  <a:schemeClr val="tx2">
                    <a:satMod val="130000"/>
                  </a:schemeClr>
                </a:solidFill>
              </a:rPr>
              <a:t>	</a:t>
            </a:r>
            <a:r>
              <a:rPr lang="en-US" smtClean="0">
                <a:solidFill>
                  <a:schemeClr val="tx2">
                    <a:satMod val="130000"/>
                  </a:schemeClr>
                </a:solidFill>
              </a:rPr>
              <a:t>    </a:t>
            </a:r>
            <a:r>
              <a:rPr lang="en-US" sz="2000" smtClean="0">
                <a:solidFill>
                  <a:schemeClr val="tx2">
                    <a:satMod val="130000"/>
                  </a:schemeClr>
                </a:solidFill>
              </a:rPr>
              <a:t>A[1</a:t>
            </a:r>
            <a:r>
              <a:rPr lang="en-US" sz="2000">
                <a:solidFill>
                  <a:schemeClr val="tx2">
                    <a:satMod val="130000"/>
                  </a:schemeClr>
                </a:solidFill>
              </a:rPr>
              <a:t>]	</a:t>
            </a:r>
            <a:r>
              <a:rPr lang="bg-BG" sz="2000" smtClean="0">
                <a:solidFill>
                  <a:schemeClr val="tx2">
                    <a:satMod val="130000"/>
                  </a:schemeClr>
                </a:solidFill>
              </a:rPr>
              <a:t>            </a:t>
            </a:r>
            <a:r>
              <a:rPr lang="en-US" sz="2000" smtClean="0">
                <a:solidFill>
                  <a:schemeClr val="tx2">
                    <a:satMod val="130000"/>
                  </a:schemeClr>
                </a:solidFill>
              </a:rPr>
              <a:t>A[2]</a:t>
            </a:r>
            <a:r>
              <a:rPr lang="bg-BG" sz="2000" smtClean="0">
                <a:solidFill>
                  <a:schemeClr val="tx2">
                    <a:satMod val="130000"/>
                  </a:schemeClr>
                </a:solidFill>
              </a:rPr>
              <a:t>          </a:t>
            </a:r>
            <a:r>
              <a:rPr lang="bg-BG" sz="2000" smtClean="0">
                <a:solidFill>
                  <a:srgbClr val="CC0066"/>
                </a:solidFill>
              </a:rPr>
              <a:t>през </a:t>
            </a:r>
            <a:r>
              <a:rPr lang="bg-BG" sz="2000">
                <a:solidFill>
                  <a:srgbClr val="CC0066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bg-BG" sz="2000">
                <a:solidFill>
                  <a:srgbClr val="CC0066"/>
                </a:solidFill>
                <a:latin typeface="Arial" pitchFamily="34" charset="0"/>
                <a:cs typeface="Arial" pitchFamily="34" charset="0"/>
              </a:rPr>
              <a:t>(5+2)</a:t>
            </a:r>
            <a:r>
              <a:rPr lang="en-US" sz="2000">
                <a:solidFill>
                  <a:schemeClr val="tx2">
                    <a:satMod val="130000"/>
                  </a:schemeClr>
                </a:solidFill>
              </a:rPr>
              <a:t>	</a:t>
            </a:r>
            <a:r>
              <a:rPr lang="en-US" sz="2000" smtClean="0">
                <a:solidFill>
                  <a:schemeClr val="tx2">
                    <a:satMod val="130000"/>
                  </a:schemeClr>
                </a:solidFill>
              </a:rPr>
              <a:t>      </a:t>
            </a:r>
            <a:r>
              <a:rPr lang="bg-BG" sz="2000" smtClean="0">
                <a:solidFill>
                  <a:schemeClr val="tx2">
                    <a:satMod val="130000"/>
                  </a:schemeClr>
                </a:solidFill>
              </a:rPr>
              <a:t>           </a:t>
            </a:r>
            <a:r>
              <a:rPr lang="en-US" sz="2000" smtClean="0">
                <a:solidFill>
                  <a:schemeClr val="tx2">
                    <a:satMod val="130000"/>
                  </a:schemeClr>
                </a:solidFill>
              </a:rPr>
              <a:t>P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0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bg-BG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>
                <a:solidFill>
                  <a:schemeClr val="tx2">
                    <a:satMod val="130000"/>
                  </a:schemeClr>
                </a:solidFill>
              </a:rPr>
            </a:br>
            <a:r>
              <a:rPr lang="bg-BG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>
                <a:solidFill>
                  <a:schemeClr val="tx2">
                    <a:satMod val="130000"/>
                  </a:schemeClr>
                </a:solidFill>
              </a:rPr>
            </a:br>
            <a:r>
              <a:rPr lang="bg-BG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>
                <a:solidFill>
                  <a:schemeClr val="tx2">
                    <a:satMod val="130000"/>
                  </a:schemeClr>
                </a:solidFill>
              </a:rPr>
            </a:br>
            <a:endParaRPr lang="en-US" sz="2000">
              <a:solidFill>
                <a:schemeClr val="tx2">
                  <a:satMod val="130000"/>
                </a:schemeClr>
              </a:solidFill>
            </a:endParaRPr>
          </a:p>
        </p:txBody>
      </p:sp>
      <p:graphicFrame>
        <p:nvGraphicFramePr>
          <p:cNvPr id="5122" name="Object 27"/>
          <p:cNvGraphicFramePr>
            <a:graphicFrameLocks noChangeAspect="1"/>
          </p:cNvGraphicFramePr>
          <p:nvPr/>
        </p:nvGraphicFramePr>
        <p:xfrm>
          <a:off x="6372225" y="4149725"/>
          <a:ext cx="2438400" cy="225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Worksheet" r:id="rId3" imgW="3635640" imgH="3035520" progId="Excel.Sheet.8">
                  <p:embed/>
                </p:oleObj>
              </mc:Choice>
              <mc:Fallback>
                <p:oleObj name="Worksheet" r:id="rId3" imgW="3635640" imgH="3035520" progId="Excel.Sheet.8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149725"/>
                        <a:ext cx="2438400" cy="225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28" name="Group 28"/>
          <p:cNvGrpSpPr>
            <a:grpSpLocks/>
          </p:cNvGrpSpPr>
          <p:nvPr/>
        </p:nvGrpSpPr>
        <p:grpSpPr bwMode="auto">
          <a:xfrm>
            <a:off x="6372225" y="692150"/>
            <a:ext cx="2663825" cy="1584325"/>
            <a:chOff x="4275" y="1824"/>
            <a:chExt cx="5772" cy="3277"/>
          </a:xfrm>
        </p:grpSpPr>
        <p:sp>
          <p:nvSpPr>
            <p:cNvPr id="5138" name="Oval 29"/>
            <p:cNvSpPr>
              <a:spLocks noChangeArrowheads="1"/>
            </p:cNvSpPr>
            <p:nvPr/>
          </p:nvSpPr>
          <p:spPr bwMode="auto">
            <a:xfrm>
              <a:off x="4275" y="3021"/>
              <a:ext cx="1440" cy="14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139" name="Oval 30"/>
            <p:cNvSpPr>
              <a:spLocks noChangeArrowheads="1"/>
            </p:cNvSpPr>
            <p:nvPr/>
          </p:nvSpPr>
          <p:spPr bwMode="auto">
            <a:xfrm>
              <a:off x="8607" y="3135"/>
              <a:ext cx="1440" cy="14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140" name="Oval 31"/>
            <p:cNvSpPr>
              <a:spLocks noChangeArrowheads="1"/>
            </p:cNvSpPr>
            <p:nvPr/>
          </p:nvSpPr>
          <p:spPr bwMode="auto">
            <a:xfrm>
              <a:off x="6840" y="1824"/>
              <a:ext cx="1440" cy="14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141" name="Text Box 32"/>
            <p:cNvSpPr txBox="1">
              <a:spLocks noChangeArrowheads="1"/>
            </p:cNvSpPr>
            <p:nvPr/>
          </p:nvSpPr>
          <p:spPr bwMode="auto">
            <a:xfrm>
              <a:off x="7125" y="2223"/>
              <a:ext cx="852" cy="7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2000">
                  <a:solidFill>
                    <a:srgbClr val="000000"/>
                  </a:solidFill>
                </a:rPr>
                <a:t> </a:t>
              </a:r>
              <a:r>
                <a:rPr lang="en-US" sz="2000">
                  <a:solidFill>
                    <a:srgbClr val="000000"/>
                  </a:solidFill>
                </a:rPr>
                <a:t>1</a:t>
              </a:r>
              <a:r>
                <a:rPr lang="bg-BG" sz="2000">
                  <a:solidFill>
                    <a:srgbClr val="000000"/>
                  </a:solidFill>
                </a:rPr>
                <a:t> </a:t>
              </a:r>
              <a:endParaRPr lang="bg-BG" sz="800">
                <a:solidFill>
                  <a:srgbClr val="000000"/>
                </a:solidFill>
              </a:endParaRPr>
            </a:p>
          </p:txBody>
        </p:sp>
        <p:sp>
          <p:nvSpPr>
            <p:cNvPr id="5142" name="Text Box 33"/>
            <p:cNvSpPr txBox="1">
              <a:spLocks noChangeArrowheads="1"/>
            </p:cNvSpPr>
            <p:nvPr/>
          </p:nvSpPr>
          <p:spPr bwMode="auto">
            <a:xfrm>
              <a:off x="8892" y="3591"/>
              <a:ext cx="741" cy="6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800">
                  <a:solidFill>
                    <a:srgbClr val="000000"/>
                  </a:solidFill>
                </a:rPr>
                <a:t>2</a:t>
              </a:r>
              <a:endParaRPr lang="bg-BG" sz="1800">
                <a:solidFill>
                  <a:srgbClr val="000000"/>
                </a:solidFill>
              </a:endParaRPr>
            </a:p>
          </p:txBody>
        </p:sp>
        <p:sp>
          <p:nvSpPr>
            <p:cNvPr id="5143" name="Text Box 34"/>
            <p:cNvSpPr txBox="1">
              <a:spLocks noChangeArrowheads="1"/>
            </p:cNvSpPr>
            <p:nvPr/>
          </p:nvSpPr>
          <p:spPr bwMode="auto">
            <a:xfrm>
              <a:off x="4654" y="3463"/>
              <a:ext cx="853" cy="7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2000">
                  <a:solidFill>
                    <a:srgbClr val="000000"/>
                  </a:solidFill>
                </a:rPr>
                <a:t> </a:t>
              </a:r>
              <a:r>
                <a:rPr lang="en-US" sz="2000">
                  <a:solidFill>
                    <a:srgbClr val="000000"/>
                  </a:solidFill>
                </a:rPr>
                <a:t>0</a:t>
              </a:r>
              <a:endParaRPr lang="bg-BG" sz="800">
                <a:solidFill>
                  <a:srgbClr val="000000"/>
                </a:solidFill>
              </a:endParaRPr>
            </a:p>
          </p:txBody>
        </p:sp>
        <p:sp>
          <p:nvSpPr>
            <p:cNvPr id="5144" name="Text Box 35"/>
            <p:cNvSpPr txBox="1">
              <a:spLocks noChangeArrowheads="1"/>
            </p:cNvSpPr>
            <p:nvPr/>
          </p:nvSpPr>
          <p:spPr bwMode="auto">
            <a:xfrm>
              <a:off x="7410" y="4446"/>
              <a:ext cx="625" cy="6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AU" sz="1800">
                  <a:solidFill>
                    <a:srgbClr val="0000FF"/>
                  </a:solidFill>
                </a:rPr>
                <a:t>5</a:t>
              </a:r>
              <a:endParaRPr lang="en-US" sz="1800">
                <a:solidFill>
                  <a:srgbClr val="0000FF"/>
                </a:solidFill>
              </a:endParaRPr>
            </a:p>
          </p:txBody>
        </p:sp>
        <p:sp>
          <p:nvSpPr>
            <p:cNvPr id="5145" name="Text Box 36"/>
            <p:cNvSpPr txBox="1">
              <a:spLocks noChangeArrowheads="1"/>
            </p:cNvSpPr>
            <p:nvPr/>
          </p:nvSpPr>
          <p:spPr bwMode="auto">
            <a:xfrm>
              <a:off x="8778" y="2166"/>
              <a:ext cx="912" cy="8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AU" sz="1800">
                  <a:solidFill>
                    <a:srgbClr val="0000FF"/>
                  </a:solidFill>
                </a:rPr>
                <a:t>2</a:t>
              </a:r>
              <a:endParaRPr lang="en-US" sz="1800">
                <a:solidFill>
                  <a:srgbClr val="0000FF"/>
                </a:solidFill>
              </a:endParaRPr>
            </a:p>
          </p:txBody>
        </p:sp>
        <p:sp>
          <p:nvSpPr>
            <p:cNvPr id="5146" name="Text Box 37"/>
            <p:cNvSpPr txBox="1">
              <a:spLocks noChangeArrowheads="1"/>
            </p:cNvSpPr>
            <p:nvPr/>
          </p:nvSpPr>
          <p:spPr bwMode="auto">
            <a:xfrm>
              <a:off x="5586" y="1881"/>
              <a:ext cx="570" cy="6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AU" sz="1800">
                  <a:solidFill>
                    <a:srgbClr val="0000FF"/>
                  </a:solidFill>
                </a:rPr>
                <a:t>3</a:t>
              </a:r>
              <a:endParaRPr lang="en-US" sz="1000">
                <a:solidFill>
                  <a:srgbClr val="000000"/>
                </a:solidFill>
              </a:endParaRPr>
            </a:p>
          </p:txBody>
        </p:sp>
        <p:sp>
          <p:nvSpPr>
            <p:cNvPr id="5147" name="Text Box 38"/>
            <p:cNvSpPr txBox="1">
              <a:spLocks noChangeArrowheads="1"/>
            </p:cNvSpPr>
            <p:nvPr/>
          </p:nvSpPr>
          <p:spPr bwMode="auto">
            <a:xfrm>
              <a:off x="6612" y="3477"/>
              <a:ext cx="627" cy="57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AU" sz="1800">
                  <a:solidFill>
                    <a:srgbClr val="0000FF"/>
                  </a:solidFill>
                </a:rPr>
                <a:t>8</a:t>
              </a:r>
              <a:endParaRPr lang="en-AU" sz="1000">
                <a:solidFill>
                  <a:srgbClr val="000000"/>
                </a:solidFill>
              </a:endParaRPr>
            </a:p>
          </p:txBody>
        </p:sp>
        <p:sp>
          <p:nvSpPr>
            <p:cNvPr id="5148" name="Arc 39"/>
            <p:cNvSpPr>
              <a:spLocks/>
            </p:cNvSpPr>
            <p:nvPr/>
          </p:nvSpPr>
          <p:spPr bwMode="auto">
            <a:xfrm flipH="1">
              <a:off x="5472" y="2508"/>
              <a:ext cx="1368" cy="6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149" name="Arc 40"/>
            <p:cNvSpPr>
              <a:spLocks/>
            </p:cNvSpPr>
            <p:nvPr/>
          </p:nvSpPr>
          <p:spPr bwMode="auto">
            <a:xfrm flipV="1">
              <a:off x="5301" y="2666"/>
              <a:ext cx="3192" cy="1724"/>
            </a:xfrm>
            <a:custGeom>
              <a:avLst/>
              <a:gdLst>
                <a:gd name="T0" fmla="*/ 0 w 21600"/>
                <a:gd name="T1" fmla="*/ 0 h 29693"/>
                <a:gd name="T2" fmla="*/ 10 w 21600"/>
                <a:gd name="T3" fmla="*/ 0 h 29693"/>
                <a:gd name="T4" fmla="*/ 0 w 21600"/>
                <a:gd name="T5" fmla="*/ 0 h 2969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693"/>
                <a:gd name="T11" fmla="*/ 21600 w 21600"/>
                <a:gd name="T12" fmla="*/ 29693 h 296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693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4373"/>
                    <a:pt x="21065" y="27121"/>
                    <a:pt x="20026" y="29693"/>
                  </a:cubicBezTo>
                </a:path>
                <a:path w="21600" h="29693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4373"/>
                    <a:pt x="21065" y="27121"/>
                    <a:pt x="20026" y="2969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150" name="Arc 41"/>
            <p:cNvSpPr>
              <a:spLocks/>
            </p:cNvSpPr>
            <p:nvPr/>
          </p:nvSpPr>
          <p:spPr bwMode="auto">
            <a:xfrm flipV="1">
              <a:off x="5301" y="4161"/>
              <a:ext cx="3363" cy="285"/>
            </a:xfrm>
            <a:custGeom>
              <a:avLst/>
              <a:gdLst>
                <a:gd name="T0" fmla="*/ 0 w 21600"/>
                <a:gd name="T1" fmla="*/ 0 h 21600"/>
                <a:gd name="T2" fmla="*/ 13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151" name="Arc 42"/>
            <p:cNvSpPr>
              <a:spLocks/>
            </p:cNvSpPr>
            <p:nvPr/>
          </p:nvSpPr>
          <p:spPr bwMode="auto">
            <a:xfrm flipH="1" flipV="1">
              <a:off x="8322" y="2394"/>
              <a:ext cx="1083" cy="74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</p:grpSp>
      <p:grpSp>
        <p:nvGrpSpPr>
          <p:cNvPr id="5129" name="Group 48"/>
          <p:cNvGrpSpPr>
            <a:grpSpLocks/>
          </p:cNvGrpSpPr>
          <p:nvPr/>
        </p:nvGrpSpPr>
        <p:grpSpPr bwMode="auto">
          <a:xfrm>
            <a:off x="1042988" y="1052513"/>
            <a:ext cx="5181600" cy="2286000"/>
            <a:chOff x="288" y="720"/>
            <a:chExt cx="3264" cy="1440"/>
          </a:xfrm>
        </p:grpSpPr>
        <p:graphicFrame>
          <p:nvGraphicFramePr>
            <p:cNvPr id="5125" name="Object 21"/>
            <p:cNvGraphicFramePr>
              <a:graphicFrameLocks noChangeAspect="1"/>
            </p:cNvGraphicFramePr>
            <p:nvPr/>
          </p:nvGraphicFramePr>
          <p:xfrm>
            <a:off x="288" y="720"/>
            <a:ext cx="1488" cy="1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3" name="Worksheet" r:id="rId5" imgW="3635640" imgH="3035520" progId="Excel.Sheet.8">
                    <p:embed/>
                  </p:oleObj>
                </mc:Choice>
                <mc:Fallback>
                  <p:oleObj name="Worksheet" r:id="rId5" imgW="3635640" imgH="3035520" progId="Excel.Sheet.8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720"/>
                          <a:ext cx="1488" cy="1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6" name="Object 22"/>
            <p:cNvGraphicFramePr>
              <a:graphicFrameLocks noChangeAspect="1"/>
            </p:cNvGraphicFramePr>
            <p:nvPr/>
          </p:nvGraphicFramePr>
          <p:xfrm>
            <a:off x="1872" y="720"/>
            <a:ext cx="1632" cy="1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4" name="Worksheet" r:id="rId7" imgW="4584600" imgH="3035520" progId="Excel.Sheet.8">
                    <p:embed/>
                  </p:oleObj>
                </mc:Choice>
                <mc:Fallback>
                  <p:oleObj name="Worksheet" r:id="rId7" imgW="4584600" imgH="3035520" progId="Excel.Sheet.8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720"/>
                          <a:ext cx="1632" cy="1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6" name="Line 23"/>
            <p:cNvSpPr>
              <a:spLocks noChangeShapeType="1"/>
            </p:cNvSpPr>
            <p:nvPr/>
          </p:nvSpPr>
          <p:spPr bwMode="auto">
            <a:xfrm>
              <a:off x="3504" y="72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5137" name="Line 43"/>
            <p:cNvSpPr>
              <a:spLocks noChangeShapeType="1"/>
            </p:cNvSpPr>
            <p:nvPr/>
          </p:nvSpPr>
          <p:spPr bwMode="auto">
            <a:xfrm flipH="1">
              <a:off x="3408" y="1632"/>
              <a:ext cx="144" cy="0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bg-BG"/>
            </a:p>
          </p:txBody>
        </p:sp>
      </p:grpSp>
      <p:grpSp>
        <p:nvGrpSpPr>
          <p:cNvPr id="5130" name="Group 49"/>
          <p:cNvGrpSpPr>
            <a:grpSpLocks/>
          </p:cNvGrpSpPr>
          <p:nvPr/>
        </p:nvGrpSpPr>
        <p:grpSpPr bwMode="auto">
          <a:xfrm>
            <a:off x="1042988" y="3789363"/>
            <a:ext cx="5106987" cy="2895600"/>
            <a:chOff x="376" y="2400"/>
            <a:chExt cx="3217" cy="1824"/>
          </a:xfrm>
        </p:grpSpPr>
        <p:graphicFrame>
          <p:nvGraphicFramePr>
            <p:cNvPr id="5123" name="Object 24"/>
            <p:cNvGraphicFramePr>
              <a:graphicFrameLocks noChangeAspect="1"/>
            </p:cNvGraphicFramePr>
            <p:nvPr/>
          </p:nvGraphicFramePr>
          <p:xfrm>
            <a:off x="376" y="2627"/>
            <a:ext cx="1536" cy="1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5" name="Worksheet" r:id="rId9" imgW="3635640" imgH="3035520" progId="Excel.Sheet.8">
                    <p:embed/>
                  </p:oleObj>
                </mc:Choice>
                <mc:Fallback>
                  <p:oleObj name="Worksheet" r:id="rId9" imgW="3635640" imgH="3035520" progId="Excel.Sheet.8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" y="2627"/>
                          <a:ext cx="1536" cy="1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4" name="Object 25"/>
            <p:cNvGraphicFramePr>
              <a:graphicFrameLocks noChangeAspect="1"/>
            </p:cNvGraphicFramePr>
            <p:nvPr/>
          </p:nvGraphicFramePr>
          <p:xfrm>
            <a:off x="2009" y="2627"/>
            <a:ext cx="1584" cy="1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6" name="Worksheet" r:id="rId11" imgW="4584600" imgH="3035520" progId="Excel.Sheet.8">
                    <p:embed/>
                  </p:oleObj>
                </mc:Choice>
                <mc:Fallback>
                  <p:oleObj name="Worksheet" r:id="rId11" imgW="4584600" imgH="3035520" progId="Excel.Sheet.8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9" y="2627"/>
                          <a:ext cx="1584" cy="14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3" name="Line 26"/>
            <p:cNvSpPr>
              <a:spLocks noChangeShapeType="1"/>
            </p:cNvSpPr>
            <p:nvPr/>
          </p:nvSpPr>
          <p:spPr bwMode="auto">
            <a:xfrm>
              <a:off x="3456" y="259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5134" name="Line 45"/>
            <p:cNvSpPr>
              <a:spLocks noChangeShapeType="1"/>
            </p:cNvSpPr>
            <p:nvPr/>
          </p:nvSpPr>
          <p:spPr bwMode="auto">
            <a:xfrm flipH="1" flipV="1">
              <a:off x="864" y="3936"/>
              <a:ext cx="96" cy="288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5135" name="Line 46"/>
            <p:cNvSpPr>
              <a:spLocks noChangeShapeType="1"/>
            </p:cNvSpPr>
            <p:nvPr/>
          </p:nvSpPr>
          <p:spPr bwMode="auto">
            <a:xfrm flipH="1">
              <a:off x="2976" y="2400"/>
              <a:ext cx="144" cy="672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bg-BG"/>
            </a:p>
          </p:txBody>
        </p:sp>
      </p:grpSp>
      <p:sp>
        <p:nvSpPr>
          <p:cNvPr id="5131" name="Text Box 47"/>
          <p:cNvSpPr txBox="1">
            <a:spLocks noChangeArrowheads="1"/>
          </p:cNvSpPr>
          <p:nvPr/>
        </p:nvSpPr>
        <p:spPr bwMode="auto">
          <a:xfrm>
            <a:off x="1979613" y="6461125"/>
            <a:ext cx="1676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 sz="2000">
                <a:solidFill>
                  <a:srgbClr val="CC0066"/>
                </a:solidFill>
              </a:rPr>
              <a:t>през 1 (2+3)</a:t>
            </a:r>
            <a:endParaRPr lang="en-US" sz="2000">
              <a:solidFill>
                <a:srgbClr val="CC0066"/>
              </a:solidFill>
            </a:endParaRP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822B5F-C8EB-4708-B6EE-0D7460FD2061}" type="slidenum">
              <a:rPr lang="en-US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989013" y="188913"/>
            <a:ext cx="8154987" cy="6192837"/>
          </a:xfrm>
        </p:spPr>
        <p:txBody>
          <a:bodyPr>
            <a:normAutofit fontScale="9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bg-BG" sz="1800" dirty="0">
                <a:solidFill>
                  <a:schemeClr val="tx1"/>
                </a:solidFill>
              </a:rPr>
              <a:t/>
            </a:r>
            <a:br>
              <a:rPr lang="bg-BG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	</a:t>
            </a:r>
            <a:r>
              <a:rPr lang="bg-BG" sz="1800" dirty="0">
                <a:solidFill>
                  <a:schemeClr val="tx1"/>
                </a:solidFill>
              </a:rPr>
              <a:t>За да се видят пътищата, използваме помощната матрица </a:t>
            </a:r>
            <a:r>
              <a:rPr lang="bg-BG" sz="1800" b="1" dirty="0">
                <a:solidFill>
                  <a:schemeClr val="tx1"/>
                </a:solidFill>
              </a:rPr>
              <a:t>p</a:t>
            </a:r>
            <a:r>
              <a:rPr lang="bg-BG" sz="1800" dirty="0">
                <a:solidFill>
                  <a:schemeClr val="tx1"/>
                </a:solidFill>
              </a:rPr>
              <a:t>, елементите на която </a:t>
            </a:r>
            <a:r>
              <a:rPr lang="bg-BG" sz="1800" b="1" dirty="0">
                <a:solidFill>
                  <a:schemeClr val="tx1"/>
                </a:solidFill>
              </a:rPr>
              <a:t>p[i],[j]</a:t>
            </a:r>
            <a:r>
              <a:rPr lang="bg-BG" sz="1800" dirty="0">
                <a:solidFill>
                  <a:schemeClr val="tx1"/>
                </a:solidFill>
              </a:rPr>
              <a:t> съдържат върховете, включвани в MIN пътища. Ако </a:t>
            </a:r>
            <a:r>
              <a:rPr lang="bg-BG" sz="1800" b="1" dirty="0">
                <a:solidFill>
                  <a:schemeClr val="tx1"/>
                </a:solidFill>
              </a:rPr>
              <a:t>p[i],[j]=0</a:t>
            </a:r>
            <a:r>
              <a:rPr lang="bg-BG" sz="1800" dirty="0">
                <a:solidFill>
                  <a:schemeClr val="tx1"/>
                </a:solidFill>
              </a:rPr>
              <a:t>, това означава, че пътят е директен, т.е. съществува дъга </a:t>
            </a:r>
            <a:r>
              <a:rPr lang="bg-BG" sz="1800" b="1" dirty="0">
                <a:solidFill>
                  <a:schemeClr val="tx1"/>
                </a:solidFill>
              </a:rPr>
              <a:t>(i,j).</a:t>
            </a:r>
            <a:r>
              <a:rPr lang="bg-BG" sz="1800" dirty="0">
                <a:solidFill>
                  <a:schemeClr val="tx1"/>
                </a:solidFill>
              </a:rPr>
              <a:t/>
            </a:r>
            <a:br>
              <a:rPr lang="bg-BG" sz="1800" dirty="0">
                <a:solidFill>
                  <a:schemeClr val="tx1"/>
                </a:solidFill>
              </a:rPr>
            </a:br>
            <a:r>
              <a:rPr lang="bg-BG" sz="800" dirty="0">
                <a:solidFill>
                  <a:schemeClr val="tx1"/>
                </a:solidFill>
              </a:rPr>
              <a:t/>
            </a:r>
            <a:br>
              <a:rPr lang="bg-BG" sz="800" dirty="0">
                <a:solidFill>
                  <a:schemeClr val="tx1"/>
                </a:solidFill>
              </a:rPr>
            </a:br>
            <a:r>
              <a:rPr lang="bg-BG" sz="1800" dirty="0">
                <a:solidFill>
                  <a:schemeClr val="tx1"/>
                </a:solidFill>
              </a:rPr>
              <a:t>Описание на алгоритъма на FLOYD</a:t>
            </a:r>
            <a:br>
              <a:rPr lang="bg-BG" sz="1800" dirty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</a:rPr>
              <a:t>void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floyd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()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{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for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(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i=0; i&lt;n;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i++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)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  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for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(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j=0; j&lt;n;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j++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)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      { a[i][j]=c[i][j]; // инициализация на </a:t>
            </a:r>
            <a:r>
              <a:rPr lang="bg-BG" sz="1600" b="1" dirty="0">
                <a:solidFill>
                  <a:schemeClr val="tx1"/>
                </a:solidFill>
                <a:latin typeface="Courier New" pitchFamily="49" charset="0"/>
              </a:rPr>
              <a:t>а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        p[i][j]=0;       </a:t>
            </a:r>
            <a:r>
              <a:rPr lang="bg-BG" sz="1600" dirty="0" smtClean="0">
                <a:solidFill>
                  <a:schemeClr val="tx1"/>
                </a:solidFill>
                <a:latin typeface="Courier New" pitchFamily="49" charset="0"/>
              </a:rPr>
              <a:t>// инициализация 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на </a:t>
            </a:r>
            <a:r>
              <a:rPr lang="bg-BG" sz="1600" b="1" dirty="0">
                <a:solidFill>
                  <a:schemeClr val="tx1"/>
                </a:solidFill>
                <a:latin typeface="Courier New" pitchFamily="49" charset="0"/>
              </a:rPr>
              <a:t>р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      }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for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(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k=0; k&lt;n;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k++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)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  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for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(i=0; i&lt;n;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i++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)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    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for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(j=0; j&lt;n;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j++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)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        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if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((a[i][k]+a[k][j])&lt;a[i][j])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             {  a[i][j]= a[i][k]+a[k][j];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                p[i][j]=k;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              }</a:t>
            </a:r>
            <a:r>
              <a:rPr lang="bg-BG" sz="16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1600" dirty="0">
                <a:solidFill>
                  <a:schemeClr val="tx1"/>
                </a:solidFill>
                <a:latin typeface="Arial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bg-BG" sz="16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1600" dirty="0">
                <a:solidFill>
                  <a:schemeClr val="tx1"/>
                </a:solidFill>
                <a:latin typeface="Arial" charset="0"/>
              </a:rPr>
            </a:br>
            <a:r>
              <a:rPr lang="bg-BG" sz="180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bg-BG" sz="1800" dirty="0">
                <a:solidFill>
                  <a:schemeClr val="tx1"/>
                </a:solidFill>
              </a:rPr>
              <a:t>Сложността на алгоритъма е </a:t>
            </a:r>
            <a:r>
              <a:rPr lang="bg-BG" sz="1800" b="1" dirty="0">
                <a:solidFill>
                  <a:schemeClr val="tx1"/>
                </a:solidFill>
              </a:rPr>
              <a:t>О(N</a:t>
            </a:r>
            <a:r>
              <a:rPr lang="bg-BG" sz="1800" b="1" baseline="30000" dirty="0">
                <a:solidFill>
                  <a:schemeClr val="tx1"/>
                </a:solidFill>
              </a:rPr>
              <a:t>3</a:t>
            </a:r>
            <a:r>
              <a:rPr lang="bg-BG" sz="1800" b="1" dirty="0">
                <a:solidFill>
                  <a:schemeClr val="tx1"/>
                </a:solidFill>
              </a:rPr>
              <a:t>)</a:t>
            </a:r>
            <a:r>
              <a:rPr lang="bg-BG" sz="1800" dirty="0">
                <a:solidFill>
                  <a:schemeClr val="tx1"/>
                </a:solidFill>
              </a:rPr>
              <a:t>, тъй като има три цикъла, вложени един в друг. Ако го сравним с алгоритъма на DIJKSTRA, която е </a:t>
            </a:r>
            <a:r>
              <a:rPr lang="bg-BG" sz="1800" b="1" dirty="0">
                <a:solidFill>
                  <a:schemeClr val="tx1"/>
                </a:solidFill>
              </a:rPr>
              <a:t>О(N</a:t>
            </a:r>
            <a:r>
              <a:rPr lang="bg-BG" sz="1800" b="1" baseline="30000" dirty="0">
                <a:solidFill>
                  <a:schemeClr val="tx1"/>
                </a:solidFill>
              </a:rPr>
              <a:t>2</a:t>
            </a:r>
            <a:r>
              <a:rPr lang="bg-BG" sz="1800" b="1" dirty="0">
                <a:solidFill>
                  <a:schemeClr val="tx1"/>
                </a:solidFill>
              </a:rPr>
              <a:t>)</a:t>
            </a:r>
            <a:r>
              <a:rPr lang="bg-BG" sz="1800" dirty="0">
                <a:solidFill>
                  <a:schemeClr val="tx1"/>
                </a:solidFill>
              </a:rPr>
              <a:t> за един връх, то при повторение на действието </a:t>
            </a:r>
            <a:r>
              <a:rPr lang="bg-BG" sz="1800" b="1" dirty="0">
                <a:solidFill>
                  <a:schemeClr val="tx1"/>
                </a:solidFill>
              </a:rPr>
              <a:t>N</a:t>
            </a:r>
            <a:r>
              <a:rPr lang="bg-BG" sz="1800" dirty="0">
                <a:solidFill>
                  <a:schemeClr val="tx1"/>
                </a:solidFill>
              </a:rPr>
              <a:t> пъти ще получим същия резултат - </a:t>
            </a:r>
            <a:r>
              <a:rPr lang="bg-BG" sz="1800" b="1" dirty="0">
                <a:solidFill>
                  <a:schemeClr val="tx1"/>
                </a:solidFill>
              </a:rPr>
              <a:t>О(N</a:t>
            </a:r>
            <a:r>
              <a:rPr lang="bg-BG" sz="1800" b="1" baseline="30000" dirty="0">
                <a:solidFill>
                  <a:schemeClr val="tx1"/>
                </a:solidFill>
              </a:rPr>
              <a:t>3</a:t>
            </a:r>
            <a:r>
              <a:rPr lang="bg-BG" sz="1800" b="1" dirty="0">
                <a:solidFill>
                  <a:schemeClr val="tx1"/>
                </a:solidFill>
              </a:rPr>
              <a:t>)</a:t>
            </a:r>
            <a:r>
              <a:rPr lang="bg-BG" sz="1800" dirty="0">
                <a:solidFill>
                  <a:schemeClr val="tx1"/>
                </a:solidFill>
              </a:rPr>
              <a:t>.</a:t>
            </a:r>
            <a:br>
              <a:rPr lang="bg-BG" sz="1800" dirty="0">
                <a:solidFill>
                  <a:schemeClr val="tx1"/>
                </a:solidFill>
              </a:rPr>
            </a:br>
            <a:r>
              <a:rPr lang="bg-BG" sz="1800" dirty="0">
                <a:solidFill>
                  <a:schemeClr val="tx1"/>
                </a:solidFill>
              </a:rPr>
              <a:t>	От най-известните алгоритми за търсене на пътища в граф следва също така да се спомене </a:t>
            </a:r>
            <a:r>
              <a:rPr lang="bg-BG" sz="1800" dirty="0" smtClean="0">
                <a:solidFill>
                  <a:schemeClr val="tx1"/>
                </a:solidFill>
              </a:rPr>
              <a:t>алгоритмът </a:t>
            </a:r>
            <a:r>
              <a:rPr lang="bg-BG" sz="1800" dirty="0">
                <a:solidFill>
                  <a:schemeClr val="tx1"/>
                </a:solidFill>
              </a:rPr>
              <a:t>на FORD-BELLMAN, който, подобно на алгоритъма на DIJKSTRA намира най-кратки разстояния от даден връх </a:t>
            </a:r>
            <a:r>
              <a:rPr lang="bg-BG" sz="1800" b="1" dirty="0">
                <a:solidFill>
                  <a:schemeClr val="tx1"/>
                </a:solidFill>
              </a:rPr>
              <a:t>S</a:t>
            </a:r>
            <a:r>
              <a:rPr lang="bg-BG" sz="1800" dirty="0">
                <a:solidFill>
                  <a:schemeClr val="tx1"/>
                </a:solidFill>
              </a:rPr>
              <a:t> до останалите върхове в графа </a:t>
            </a:r>
            <a:r>
              <a:rPr lang="bg-BG" sz="1800" b="1" dirty="0">
                <a:solidFill>
                  <a:schemeClr val="tx1"/>
                </a:solidFill>
              </a:rPr>
              <a:t>G={V, E}</a:t>
            </a:r>
            <a:r>
              <a:rPr lang="bg-BG" sz="1800" dirty="0">
                <a:solidFill>
                  <a:schemeClr val="tx1"/>
                </a:solidFill>
              </a:rPr>
              <a:t>. За разлика от алгоритъма на DIJKSTRA, </a:t>
            </a:r>
            <a:r>
              <a:rPr lang="bg-BG" sz="1800" dirty="0" smtClean="0">
                <a:solidFill>
                  <a:schemeClr val="tx1"/>
                </a:solidFill>
              </a:rPr>
              <a:t>алгоритмът </a:t>
            </a:r>
            <a:r>
              <a:rPr lang="bg-BG" sz="1800" dirty="0">
                <a:solidFill>
                  <a:schemeClr val="tx1"/>
                </a:solidFill>
              </a:rPr>
              <a:t>на FORD-BELLMAN не налага ограничения на стойностите на дъгите, които могат да бъдат и отрицателни. Сложността на алгоритъма също така се оценява като </a:t>
            </a:r>
            <a:r>
              <a:rPr lang="bg-BG" sz="1800" b="1" dirty="0">
                <a:solidFill>
                  <a:schemeClr val="tx1"/>
                </a:solidFill>
              </a:rPr>
              <a:t>О(N</a:t>
            </a:r>
            <a:r>
              <a:rPr lang="bg-BG" sz="1800" b="1" baseline="30000" dirty="0">
                <a:solidFill>
                  <a:schemeClr val="tx1"/>
                </a:solidFill>
              </a:rPr>
              <a:t>3</a:t>
            </a:r>
            <a:r>
              <a:rPr lang="bg-BG" sz="1800" b="1" dirty="0">
                <a:solidFill>
                  <a:schemeClr val="tx1"/>
                </a:solidFill>
              </a:rPr>
              <a:t>)</a:t>
            </a:r>
            <a:r>
              <a:rPr lang="bg-BG" sz="1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CE9761-A1E5-471F-8CD8-29D95D50FFA0}" type="slidenum">
              <a:rPr lang="en-US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656" y="404664"/>
            <a:ext cx="7498080" cy="6179016"/>
          </a:xfrm>
        </p:spPr>
        <p:txBody>
          <a:bodyPr>
            <a:normAutofit fontScale="90000"/>
          </a:bodyPr>
          <a:lstStyle/>
          <a:p>
            <a:r>
              <a:rPr lang="bg-BG" sz="3200" dirty="0" smtClean="0">
                <a:solidFill>
                  <a:schemeClr val="tx1"/>
                </a:solidFill>
              </a:rPr>
              <a:t>Алгоритъм на FORD-BELLMAN</a:t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3200" dirty="0" smtClean="0">
                <a:solidFill>
                  <a:schemeClr val="tx1"/>
                </a:solidFill>
              </a:rPr>
              <a:t/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2400" dirty="0" smtClean="0">
                <a:solidFill>
                  <a:schemeClr val="tx1"/>
                </a:solidFill>
              </a:rPr>
              <a:t>Ценова матрица на Граф </a:t>
            </a:r>
            <a:r>
              <a:rPr lang="en-US" sz="2400" dirty="0" smtClean="0">
                <a:solidFill>
                  <a:schemeClr val="tx1"/>
                </a:solidFill>
              </a:rPr>
              <a:t>G		</a:t>
            </a:r>
            <a:r>
              <a:rPr lang="bg-BG" sz="2400" dirty="0" smtClean="0">
                <a:solidFill>
                  <a:schemeClr val="tx1"/>
                </a:solidFill>
              </a:rPr>
              <a:t>      Ориентиран</a:t>
            </a:r>
            <a:br>
              <a:rPr lang="bg-BG" sz="2400" dirty="0" smtClean="0">
                <a:solidFill>
                  <a:schemeClr val="tx1"/>
                </a:solidFill>
              </a:rPr>
            </a:br>
            <a:r>
              <a:rPr lang="bg-BG" sz="2400" dirty="0" smtClean="0">
                <a:solidFill>
                  <a:schemeClr val="tx1"/>
                </a:solidFill>
              </a:rPr>
              <a:t>                                                                              тегловен граф </a:t>
            </a:r>
            <a:r>
              <a:rPr lang="en-US" sz="2400" dirty="0" smtClean="0">
                <a:solidFill>
                  <a:schemeClr val="tx1"/>
                </a:solidFill>
              </a:rPr>
              <a:t>G</a:t>
            </a:r>
            <a:r>
              <a:rPr lang="bg-BG" sz="2400" dirty="0" smtClean="0">
                <a:solidFill>
                  <a:schemeClr val="tx1"/>
                </a:solidFill>
              </a:rPr>
              <a:t/>
            </a:r>
            <a:br>
              <a:rPr lang="bg-BG" sz="2400" dirty="0" smtClean="0">
                <a:solidFill>
                  <a:schemeClr val="tx1"/>
                </a:solidFill>
              </a:rPr>
            </a:br>
            <a:r>
              <a:rPr lang="bg-BG" sz="2400" dirty="0" smtClean="0">
                <a:solidFill>
                  <a:schemeClr val="tx1"/>
                </a:solidFill>
              </a:rPr>
              <a:t/>
            </a:r>
            <a:br>
              <a:rPr lang="bg-BG" sz="2400" dirty="0" smtClean="0">
                <a:solidFill>
                  <a:schemeClr val="tx1"/>
                </a:solidFill>
              </a:rPr>
            </a:b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bg-BG" sz="3200" dirty="0" smtClean="0">
                <a:solidFill>
                  <a:schemeClr val="tx1"/>
                </a:solidFill>
              </a:rPr>
              <a:t/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3200" dirty="0" smtClean="0">
                <a:solidFill>
                  <a:schemeClr val="tx1"/>
                </a:solidFill>
              </a:rPr>
              <a:t>                                                            </a:t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3200" dirty="0" smtClean="0">
                <a:solidFill>
                  <a:schemeClr val="tx1"/>
                </a:solidFill>
              </a:rPr>
              <a:t/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3200" dirty="0" smtClean="0">
                <a:solidFill>
                  <a:schemeClr val="tx1"/>
                </a:solidFill>
              </a:rPr>
              <a:t/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3200" dirty="0" smtClean="0">
                <a:solidFill>
                  <a:schemeClr val="tx1"/>
                </a:solidFill>
              </a:rPr>
              <a:t/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3200" dirty="0" smtClean="0">
                <a:solidFill>
                  <a:schemeClr val="tx1"/>
                </a:solidFill>
              </a:rPr>
              <a:t/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3200" dirty="0" smtClean="0">
                <a:solidFill>
                  <a:schemeClr val="tx1"/>
                </a:solidFill>
              </a:rPr>
              <a:t/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2800" dirty="0" smtClean="0">
                <a:solidFill>
                  <a:schemeClr val="tx1"/>
                </a:solidFill>
              </a:rPr>
              <a:t>Алгоритмът търси най-кратките пътища от даден начален връх до всички останали върхове в графа.</a:t>
            </a:r>
            <a:r>
              <a:rPr lang="bg-BG" sz="3200" dirty="0" smtClean="0">
                <a:solidFill>
                  <a:schemeClr val="tx1"/>
                </a:solidFill>
              </a:rPr>
              <a:t/>
            </a:r>
            <a:br>
              <a:rPr lang="bg-BG" sz="3200" dirty="0" smtClean="0">
                <a:solidFill>
                  <a:schemeClr val="tx1"/>
                </a:solidFill>
              </a:rPr>
            </a:br>
            <a:endParaRPr lang="en-US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211D8B-BD0D-4830-A215-CA3288554A0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5940152" y="2492896"/>
            <a:ext cx="2592288" cy="2354435"/>
            <a:chOff x="1547664" y="2132855"/>
            <a:chExt cx="2376264" cy="2354435"/>
          </a:xfrm>
        </p:grpSpPr>
        <p:sp>
          <p:nvSpPr>
            <p:cNvPr id="5" name="TextBox 4"/>
            <p:cNvSpPr txBox="1"/>
            <p:nvPr/>
          </p:nvSpPr>
          <p:spPr>
            <a:xfrm>
              <a:off x="2627784" y="3789040"/>
              <a:ext cx="5869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 smtClean="0">
                  <a:solidFill>
                    <a:schemeClr val="accent1"/>
                  </a:solidFill>
                </a:rPr>
                <a:t>-3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grpSp>
          <p:nvGrpSpPr>
            <p:cNvPr id="6" name="Group 18"/>
            <p:cNvGrpSpPr/>
            <p:nvPr/>
          </p:nvGrpSpPr>
          <p:grpSpPr>
            <a:xfrm>
              <a:off x="2492572" y="2132855"/>
              <a:ext cx="449326" cy="470887"/>
              <a:chOff x="5364088" y="1556792"/>
              <a:chExt cx="441013" cy="432048"/>
            </a:xfrm>
          </p:grpSpPr>
          <p:sp>
            <p:nvSpPr>
              <p:cNvPr id="32" name="Oval 5"/>
              <p:cNvSpPr/>
              <p:nvPr/>
            </p:nvSpPr>
            <p:spPr>
              <a:xfrm>
                <a:off x="5364088" y="1556792"/>
                <a:ext cx="432048" cy="43204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5445061" y="1592940"/>
                <a:ext cx="3600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bg-BG" sz="1600" dirty="0" smtClean="0"/>
                  <a:t>0</a:t>
                </a:r>
                <a:endParaRPr lang="en-US" sz="1600" dirty="0"/>
              </a:p>
            </p:txBody>
          </p:sp>
        </p:grpSp>
        <p:grpSp>
          <p:nvGrpSpPr>
            <p:cNvPr id="7" name="Group 22"/>
            <p:cNvGrpSpPr/>
            <p:nvPr/>
          </p:nvGrpSpPr>
          <p:grpSpPr>
            <a:xfrm>
              <a:off x="3152859" y="4016403"/>
              <a:ext cx="449326" cy="470887"/>
              <a:chOff x="5364088" y="1556792"/>
              <a:chExt cx="441013" cy="432048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5364088" y="1556792"/>
                <a:ext cx="432048" cy="43204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5445061" y="1592940"/>
                <a:ext cx="360040" cy="310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bg-BG" sz="1600" dirty="0" smtClean="0"/>
                  <a:t>4</a:t>
                </a:r>
                <a:endParaRPr lang="en-US" sz="1600" dirty="0"/>
              </a:p>
            </p:txBody>
          </p:sp>
        </p:grpSp>
        <p:grpSp>
          <p:nvGrpSpPr>
            <p:cNvPr id="8" name="Group 25"/>
            <p:cNvGrpSpPr/>
            <p:nvPr/>
          </p:nvGrpSpPr>
          <p:grpSpPr>
            <a:xfrm>
              <a:off x="1979015" y="4016403"/>
              <a:ext cx="449326" cy="470887"/>
              <a:chOff x="5364088" y="1556792"/>
              <a:chExt cx="441013" cy="432048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5364088" y="1556792"/>
                <a:ext cx="432048" cy="43204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445061" y="1592940"/>
                <a:ext cx="360040" cy="310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bg-BG" sz="1600" dirty="0" smtClean="0"/>
                  <a:t>3</a:t>
                </a:r>
                <a:endParaRPr lang="en-US" sz="1600" dirty="0"/>
              </a:p>
            </p:txBody>
          </p:sp>
        </p:grpSp>
        <p:grpSp>
          <p:nvGrpSpPr>
            <p:cNvPr id="9" name="Group 28"/>
            <p:cNvGrpSpPr/>
            <p:nvPr/>
          </p:nvGrpSpPr>
          <p:grpSpPr>
            <a:xfrm>
              <a:off x="3419212" y="2917667"/>
              <a:ext cx="449326" cy="470887"/>
              <a:chOff x="5364088" y="1556792"/>
              <a:chExt cx="441013" cy="432048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5364088" y="1556792"/>
                <a:ext cx="432048" cy="43204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5445061" y="1592940"/>
                <a:ext cx="360040" cy="310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bg-BG" sz="1600" dirty="0" smtClean="0"/>
                  <a:t>2</a:t>
                </a:r>
                <a:endParaRPr lang="en-US" sz="1600" dirty="0"/>
              </a:p>
            </p:txBody>
          </p:sp>
        </p:grpSp>
        <p:grpSp>
          <p:nvGrpSpPr>
            <p:cNvPr id="10" name="Group 31"/>
            <p:cNvGrpSpPr/>
            <p:nvPr/>
          </p:nvGrpSpPr>
          <p:grpSpPr>
            <a:xfrm>
              <a:off x="1612189" y="2917667"/>
              <a:ext cx="449326" cy="470887"/>
              <a:chOff x="5364088" y="1556792"/>
              <a:chExt cx="441013" cy="432048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5364088" y="1556792"/>
                <a:ext cx="432048" cy="43204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445061" y="1592940"/>
                <a:ext cx="360040" cy="310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bg-BG" sz="1600" dirty="0" smtClean="0"/>
                  <a:t>1</a:t>
                </a:r>
                <a:endParaRPr lang="en-US" sz="1600" dirty="0"/>
              </a:p>
            </p:txBody>
          </p:sp>
        </p:grpSp>
        <p:cxnSp>
          <p:nvCxnSpPr>
            <p:cNvPr id="11" name="Straight Arrow Connector 10"/>
            <p:cNvCxnSpPr/>
            <p:nvPr/>
          </p:nvCxnSpPr>
          <p:spPr>
            <a:xfrm flipH="1">
              <a:off x="1979015" y="2534782"/>
              <a:ext cx="578021" cy="46136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endCxn id="29" idx="0"/>
            </p:cNvCxnSpPr>
            <p:nvPr/>
          </p:nvCxnSpPr>
          <p:spPr>
            <a:xfrm flipH="1">
              <a:off x="2244928" y="2603742"/>
              <a:ext cx="458840" cy="145205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endCxn id="30" idx="0"/>
            </p:cNvCxnSpPr>
            <p:nvPr/>
          </p:nvCxnSpPr>
          <p:spPr>
            <a:xfrm flipH="1">
              <a:off x="3372955" y="3388554"/>
              <a:ext cx="211195" cy="62784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endCxn id="26" idx="0"/>
            </p:cNvCxnSpPr>
            <p:nvPr/>
          </p:nvCxnSpPr>
          <p:spPr>
            <a:xfrm>
              <a:off x="2859398" y="2525261"/>
              <a:ext cx="779909" cy="39240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endCxn id="26" idx="3"/>
            </p:cNvCxnSpPr>
            <p:nvPr/>
          </p:nvCxnSpPr>
          <p:spPr>
            <a:xfrm flipV="1">
              <a:off x="2345841" y="3319594"/>
              <a:ext cx="1137835" cy="7752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29" idx="3"/>
              <a:endCxn id="30" idx="2"/>
            </p:cNvCxnSpPr>
            <p:nvPr/>
          </p:nvCxnSpPr>
          <p:spPr>
            <a:xfrm>
              <a:off x="2428341" y="4225078"/>
              <a:ext cx="724518" cy="2676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24" idx="4"/>
            </p:cNvCxnSpPr>
            <p:nvPr/>
          </p:nvCxnSpPr>
          <p:spPr>
            <a:xfrm>
              <a:off x="1832284" y="3388554"/>
              <a:ext cx="220096" cy="70633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979015" y="2289817"/>
              <a:ext cx="293461" cy="503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 smtClean="0">
                  <a:solidFill>
                    <a:schemeClr val="accent1"/>
                  </a:solidFill>
                </a:rPr>
                <a:t>4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47664" y="3467035"/>
              <a:ext cx="513557" cy="503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 smtClean="0">
                  <a:solidFill>
                    <a:schemeClr val="accent1"/>
                  </a:solidFill>
                </a:rPr>
                <a:t>-2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52859" y="2309673"/>
              <a:ext cx="293461" cy="503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 smtClean="0">
                  <a:solidFill>
                    <a:schemeClr val="accent1"/>
                  </a:solidFill>
                </a:rPr>
                <a:t>3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492572" y="2996148"/>
              <a:ext cx="293461" cy="503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 smtClean="0">
                  <a:solidFill>
                    <a:schemeClr val="accent1"/>
                  </a:solidFill>
                </a:rPr>
                <a:t>5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859398" y="3192508"/>
              <a:ext cx="293461" cy="503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 smtClean="0">
                  <a:solidFill>
                    <a:schemeClr val="accent1"/>
                  </a:solidFill>
                </a:rPr>
                <a:t>4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10371" y="3438036"/>
              <a:ext cx="513557" cy="503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 smtClean="0">
                  <a:solidFill>
                    <a:schemeClr val="accent1"/>
                  </a:solidFill>
                </a:rPr>
                <a:t>-2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</p:grp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1691680" y="2348880"/>
          <a:ext cx="3096342" cy="2656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6057"/>
                <a:gridCol w="516057"/>
                <a:gridCol w="516057"/>
                <a:gridCol w="516057"/>
                <a:gridCol w="516057"/>
                <a:gridCol w="51605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b="1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b="1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US" b="1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-2</a:t>
                      </a:r>
                      <a:endParaRPr lang="en-US" b="1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-2</a:t>
                      </a:r>
                      <a:endParaRPr lang="en-US" b="1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b="1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-3</a:t>
                      </a:r>
                      <a:endParaRPr lang="en-US" b="1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Arrow Connector 54"/>
          <p:cNvCxnSpPr>
            <a:stCxn id="39" idx="1"/>
          </p:cNvCxnSpPr>
          <p:nvPr/>
        </p:nvCxnSpPr>
        <p:spPr>
          <a:xfrm>
            <a:off x="3131840" y="604139"/>
            <a:ext cx="1008112" cy="952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39" idx="1"/>
          </p:cNvCxnSpPr>
          <p:nvPr/>
        </p:nvCxnSpPr>
        <p:spPr>
          <a:xfrm>
            <a:off x="3131840" y="604139"/>
            <a:ext cx="360040" cy="952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274320"/>
            <a:ext cx="7818072" cy="6107008"/>
          </a:xfrm>
        </p:spPr>
        <p:txBody>
          <a:bodyPr>
            <a:normAutofit/>
          </a:bodyPr>
          <a:lstStyle/>
          <a:p>
            <a:r>
              <a:rPr lang="bg-BG" sz="3200" dirty="0" smtClean="0">
                <a:solidFill>
                  <a:schemeClr val="tx1"/>
                </a:solidFill>
              </a:rPr>
              <a:t/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3200" dirty="0" smtClean="0">
                <a:solidFill>
                  <a:schemeClr val="tx1"/>
                </a:solidFill>
              </a:rPr>
              <a:t/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3200" dirty="0" smtClean="0">
                <a:solidFill>
                  <a:schemeClr val="tx1"/>
                </a:solidFill>
              </a:rPr>
              <a:t/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3200" dirty="0" smtClean="0">
                <a:solidFill>
                  <a:schemeClr val="tx1"/>
                </a:solidFill>
              </a:rPr>
              <a:t/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3200" dirty="0" smtClean="0">
                <a:solidFill>
                  <a:schemeClr val="tx1"/>
                </a:solidFill>
              </a:rPr>
              <a:t>				</a:t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3200" dirty="0" smtClean="0">
                <a:solidFill>
                  <a:schemeClr val="tx1"/>
                </a:solidFill>
              </a:rPr>
              <a:t/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3200" dirty="0" smtClean="0">
                <a:solidFill>
                  <a:schemeClr val="tx1"/>
                </a:solidFill>
              </a:rPr>
              <a:t/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3200" dirty="0" smtClean="0">
                <a:solidFill>
                  <a:schemeClr val="tx1"/>
                </a:solidFill>
              </a:rPr>
              <a:t/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3200" dirty="0" smtClean="0">
                <a:solidFill>
                  <a:schemeClr val="tx1"/>
                </a:solidFill>
              </a:rPr>
              <a:t/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3200" dirty="0" smtClean="0">
                <a:solidFill>
                  <a:schemeClr val="tx1"/>
                </a:solidFill>
              </a:rPr>
              <a:t/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3200" dirty="0" smtClean="0"/>
              <a:t> </a:t>
            </a:r>
            <a:endParaRPr lang="en-US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211D8B-BD0D-4830-A215-CA3288554A0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grpSp>
        <p:nvGrpSpPr>
          <p:cNvPr id="69" name="Group 68"/>
          <p:cNvGrpSpPr/>
          <p:nvPr/>
        </p:nvGrpSpPr>
        <p:grpSpPr>
          <a:xfrm>
            <a:off x="5652120" y="1052736"/>
            <a:ext cx="2592288" cy="2354435"/>
            <a:chOff x="1547664" y="2132855"/>
            <a:chExt cx="2376264" cy="2354435"/>
          </a:xfrm>
        </p:grpSpPr>
        <p:sp>
          <p:nvSpPr>
            <p:cNvPr id="63" name="TextBox 62"/>
            <p:cNvSpPr txBox="1"/>
            <p:nvPr/>
          </p:nvSpPr>
          <p:spPr>
            <a:xfrm>
              <a:off x="2627784" y="3789040"/>
              <a:ext cx="5869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 smtClean="0">
                  <a:solidFill>
                    <a:schemeClr val="accent1"/>
                  </a:solidFill>
                </a:rPr>
                <a:t>-3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2492572" y="2132855"/>
              <a:ext cx="449326" cy="470887"/>
              <a:chOff x="5364088" y="1556792"/>
              <a:chExt cx="441013" cy="432048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5364088" y="1556792"/>
                <a:ext cx="432048" cy="43204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445061" y="1592940"/>
                <a:ext cx="3600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bg-BG" sz="1600" dirty="0" smtClean="0"/>
                  <a:t>0</a:t>
                </a:r>
                <a:endParaRPr lang="en-US" sz="1600" dirty="0"/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3152859" y="4016403"/>
              <a:ext cx="449326" cy="470887"/>
              <a:chOff x="5364088" y="1556792"/>
              <a:chExt cx="441013" cy="432048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5364088" y="1556792"/>
                <a:ext cx="432048" cy="43204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445061" y="1592940"/>
                <a:ext cx="360040" cy="310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bg-BG" sz="1600" dirty="0" smtClean="0"/>
                  <a:t>4</a:t>
                </a:r>
                <a:endParaRPr lang="en-US" sz="1600" dirty="0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1979015" y="4016403"/>
              <a:ext cx="449326" cy="470887"/>
              <a:chOff x="5364088" y="1556792"/>
              <a:chExt cx="441013" cy="432048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5364088" y="1556792"/>
                <a:ext cx="432048" cy="43204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5445061" y="1592940"/>
                <a:ext cx="360040" cy="310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bg-BG" sz="1600" dirty="0" smtClean="0"/>
                  <a:t>3</a:t>
                </a:r>
                <a:endParaRPr lang="en-US" sz="1600" dirty="0"/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3419212" y="2917667"/>
              <a:ext cx="449326" cy="470887"/>
              <a:chOff x="5364088" y="1556792"/>
              <a:chExt cx="441013" cy="432048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5364088" y="1556792"/>
                <a:ext cx="432048" cy="43204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5445061" y="1592940"/>
                <a:ext cx="360040" cy="310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bg-BG" sz="1600" dirty="0" smtClean="0"/>
                  <a:t>2</a:t>
                </a:r>
                <a:endParaRPr lang="en-US" sz="1600" dirty="0"/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1612189" y="2917667"/>
              <a:ext cx="449326" cy="470887"/>
              <a:chOff x="5364088" y="1556792"/>
              <a:chExt cx="441013" cy="432048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5364088" y="1556792"/>
                <a:ext cx="432048" cy="43204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5445061" y="1592940"/>
                <a:ext cx="360040" cy="310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bg-BG" sz="1600" dirty="0" smtClean="0"/>
                  <a:t>1</a:t>
                </a:r>
                <a:endParaRPr lang="en-US" sz="1600" dirty="0"/>
              </a:p>
            </p:txBody>
          </p:sp>
        </p:grpSp>
        <p:cxnSp>
          <p:nvCxnSpPr>
            <p:cNvPr id="36" name="Straight Arrow Connector 35"/>
            <p:cNvCxnSpPr>
              <a:stCxn id="6" idx="3"/>
            </p:cNvCxnSpPr>
            <p:nvPr/>
          </p:nvCxnSpPr>
          <p:spPr>
            <a:xfrm flipH="1">
              <a:off x="1979015" y="2534782"/>
              <a:ext cx="578021" cy="46136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endCxn id="28" idx="0"/>
            </p:cNvCxnSpPr>
            <p:nvPr/>
          </p:nvCxnSpPr>
          <p:spPr>
            <a:xfrm flipH="1">
              <a:off x="2244928" y="2603742"/>
              <a:ext cx="458840" cy="145205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endCxn id="24" idx="0"/>
            </p:cNvCxnSpPr>
            <p:nvPr/>
          </p:nvCxnSpPr>
          <p:spPr>
            <a:xfrm flipH="1">
              <a:off x="3372955" y="3388554"/>
              <a:ext cx="211195" cy="62784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endCxn id="30" idx="0"/>
            </p:cNvCxnSpPr>
            <p:nvPr/>
          </p:nvCxnSpPr>
          <p:spPr>
            <a:xfrm>
              <a:off x="2859398" y="2525261"/>
              <a:ext cx="779909" cy="39240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endCxn id="30" idx="3"/>
            </p:cNvCxnSpPr>
            <p:nvPr/>
          </p:nvCxnSpPr>
          <p:spPr>
            <a:xfrm flipV="1">
              <a:off x="2345841" y="3319594"/>
              <a:ext cx="1137835" cy="7752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28" idx="3"/>
              <a:endCxn id="24" idx="2"/>
            </p:cNvCxnSpPr>
            <p:nvPr/>
          </p:nvCxnSpPr>
          <p:spPr>
            <a:xfrm>
              <a:off x="2428341" y="4225078"/>
              <a:ext cx="724518" cy="2676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33" idx="4"/>
            </p:cNvCxnSpPr>
            <p:nvPr/>
          </p:nvCxnSpPr>
          <p:spPr>
            <a:xfrm>
              <a:off x="1832284" y="3388554"/>
              <a:ext cx="220096" cy="70633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979015" y="2289817"/>
              <a:ext cx="293461" cy="503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 smtClean="0">
                  <a:solidFill>
                    <a:schemeClr val="accent1"/>
                  </a:solidFill>
                </a:rPr>
                <a:t>4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547664" y="3467035"/>
              <a:ext cx="513557" cy="503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 smtClean="0">
                  <a:solidFill>
                    <a:schemeClr val="accent1"/>
                  </a:solidFill>
                </a:rPr>
                <a:t>-2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152859" y="2309673"/>
              <a:ext cx="293461" cy="503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 smtClean="0">
                  <a:solidFill>
                    <a:schemeClr val="accent1"/>
                  </a:solidFill>
                </a:rPr>
                <a:t>3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492572" y="2996148"/>
              <a:ext cx="293461" cy="503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 smtClean="0">
                  <a:solidFill>
                    <a:schemeClr val="accent1"/>
                  </a:solidFill>
                </a:rPr>
                <a:t>5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859398" y="3192508"/>
              <a:ext cx="293461" cy="503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 smtClean="0">
                  <a:solidFill>
                    <a:schemeClr val="accent1"/>
                  </a:solidFill>
                </a:rPr>
                <a:t>4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410371" y="3438036"/>
              <a:ext cx="513557" cy="503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 smtClean="0">
                  <a:solidFill>
                    <a:schemeClr val="accent1"/>
                  </a:solidFill>
                </a:rPr>
                <a:t>-2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</p:grp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1331640" y="1556792"/>
          <a:ext cx="3096344" cy="2397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56"/>
                <a:gridCol w="648072"/>
                <a:gridCol w="648072"/>
                <a:gridCol w="648072"/>
                <a:gridCol w="648072"/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D[1]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D[2]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D[3]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D[4]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b="1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US" b="1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b="1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b="1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b="1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b="1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b="1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  <a:endParaRPr lang="en-US" b="1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b="1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  <a:endParaRPr lang="en-US" b="1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1403648" y="4221088"/>
            <a:ext cx="30963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За всеки възел от </a:t>
            </a:r>
            <a:r>
              <a:rPr lang="en-US" dirty="0" smtClean="0"/>
              <a:t>V:</a:t>
            </a:r>
            <a:endParaRPr lang="bg-BG" dirty="0" smtClean="0"/>
          </a:p>
          <a:p>
            <a:r>
              <a:rPr lang="bg-BG" dirty="0" smtClean="0"/>
              <a:t>ако </a:t>
            </a:r>
            <a:r>
              <a:rPr lang="en-US" dirty="0" smtClean="0"/>
              <a:t>D[</a:t>
            </a:r>
            <a:r>
              <a:rPr lang="en-US" dirty="0" err="1" smtClean="0"/>
              <a:t>i</a:t>
            </a:r>
            <a:r>
              <a:rPr lang="en-US" dirty="0" smtClean="0"/>
              <a:t>]&gt;D[j]+A[j][</a:t>
            </a:r>
            <a:r>
              <a:rPr lang="en-US" dirty="0" err="1" smtClean="0"/>
              <a:t>i</a:t>
            </a:r>
            <a:r>
              <a:rPr lang="en-US" dirty="0" smtClean="0"/>
              <a:t>]</a:t>
            </a:r>
          </a:p>
          <a:p>
            <a:r>
              <a:rPr lang="bg-BG" dirty="0" smtClean="0"/>
              <a:t>то</a:t>
            </a:r>
          </a:p>
          <a:p>
            <a:r>
              <a:rPr lang="bg-BG" dirty="0" smtClean="0"/>
              <a:t>      </a:t>
            </a:r>
            <a:r>
              <a:rPr lang="en-US" dirty="0" smtClean="0"/>
              <a:t>D[</a:t>
            </a:r>
            <a:r>
              <a:rPr lang="en-US" dirty="0" err="1" smtClean="0"/>
              <a:t>i</a:t>
            </a:r>
            <a:r>
              <a:rPr lang="en-US" dirty="0" smtClean="0"/>
              <a:t>]</a:t>
            </a:r>
            <a:r>
              <a:rPr lang="bg-BG" dirty="0" smtClean="0"/>
              <a:t>=</a:t>
            </a:r>
            <a:r>
              <a:rPr lang="en-US" dirty="0" smtClean="0"/>
              <a:t>D[j]+A[j][</a:t>
            </a:r>
            <a:r>
              <a:rPr lang="en-US" dirty="0" err="1" smtClean="0"/>
              <a:t>i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131840" y="188640"/>
            <a:ext cx="48245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Масив </a:t>
            </a:r>
            <a:r>
              <a:rPr lang="en-US" dirty="0" smtClean="0"/>
              <a:t>D </a:t>
            </a:r>
            <a:r>
              <a:rPr lang="bg-BG" dirty="0" smtClean="0"/>
              <a:t>с разстоянията между</a:t>
            </a:r>
          </a:p>
          <a:p>
            <a:r>
              <a:rPr lang="bg-BG" dirty="0" smtClean="0"/>
              <a:t>    възел 0 и останалите възли  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932040" y="4077072"/>
            <a:ext cx="396044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for (k=1;  k&lt;=n-2;  k++)</a:t>
            </a:r>
          </a:p>
          <a:p>
            <a:r>
              <a:rPr lang="en-US" sz="2200" dirty="0" smtClean="0"/>
              <a:t>    for(</a:t>
            </a:r>
            <a:r>
              <a:rPr lang="en-US" sz="2200" dirty="0" err="1" smtClean="0"/>
              <a:t>i</a:t>
            </a:r>
            <a:r>
              <a:rPr lang="en-US" sz="2200" dirty="0" smtClean="0"/>
              <a:t>=0;  </a:t>
            </a:r>
            <a:r>
              <a:rPr lang="en-US" sz="2200" dirty="0" err="1" smtClean="0"/>
              <a:t>i</a:t>
            </a:r>
            <a:r>
              <a:rPr lang="en-US" sz="2200" dirty="0" smtClean="0"/>
              <a:t>&lt;n;  </a:t>
            </a:r>
            <a:r>
              <a:rPr lang="en-US" sz="2200" dirty="0" err="1" smtClean="0"/>
              <a:t>i</a:t>
            </a:r>
            <a:r>
              <a:rPr lang="en-US" sz="2200" dirty="0" smtClean="0"/>
              <a:t>++)</a:t>
            </a:r>
          </a:p>
          <a:p>
            <a:r>
              <a:rPr lang="en-US" sz="2200" dirty="0" smtClean="0"/>
              <a:t>        for(j=0;  j&lt;n;  j++)</a:t>
            </a:r>
          </a:p>
          <a:p>
            <a:r>
              <a:rPr lang="en-US" sz="2200" dirty="0" smtClean="0"/>
              <a:t>              if (D[</a:t>
            </a:r>
            <a:r>
              <a:rPr lang="en-US" sz="2200" dirty="0" err="1" smtClean="0"/>
              <a:t>i</a:t>
            </a:r>
            <a:r>
              <a:rPr lang="en-US" sz="2200" dirty="0" smtClean="0"/>
              <a:t>]&gt;D[j]+A[j][</a:t>
            </a:r>
            <a:r>
              <a:rPr lang="en-US" sz="2200" dirty="0" err="1" smtClean="0"/>
              <a:t>i</a:t>
            </a:r>
            <a:r>
              <a:rPr lang="en-US" sz="2200" dirty="0" smtClean="0"/>
              <a:t>])</a:t>
            </a:r>
          </a:p>
          <a:p>
            <a:r>
              <a:rPr lang="en-US" sz="2200" dirty="0" smtClean="0"/>
              <a:t>                      D[</a:t>
            </a:r>
            <a:r>
              <a:rPr lang="en-US" sz="2200" dirty="0" err="1" smtClean="0"/>
              <a:t>i</a:t>
            </a:r>
            <a:r>
              <a:rPr lang="en-US" sz="2200" dirty="0" smtClean="0"/>
              <a:t>]=D[j]+A[j][</a:t>
            </a:r>
            <a:r>
              <a:rPr lang="en-US" sz="2200" dirty="0" err="1" smtClean="0"/>
              <a:t>i</a:t>
            </a:r>
            <a:r>
              <a:rPr lang="en-US" sz="2200" dirty="0" smtClean="0"/>
              <a:t>])</a:t>
            </a:r>
          </a:p>
          <a:p>
            <a:r>
              <a:rPr lang="en-US" sz="1800" dirty="0" smtClean="0"/>
              <a:t>                        </a:t>
            </a:r>
          </a:p>
          <a:p>
            <a:r>
              <a:rPr lang="en-US" sz="1800" dirty="0" smtClean="0"/>
              <a:t> </a:t>
            </a:r>
            <a:endParaRPr lang="en-US" sz="1800" dirty="0"/>
          </a:p>
        </p:txBody>
      </p:sp>
      <p:cxnSp>
        <p:nvCxnSpPr>
          <p:cNvPr id="44" name="Straight Connector 43"/>
          <p:cNvCxnSpPr/>
          <p:nvPr/>
        </p:nvCxnSpPr>
        <p:spPr>
          <a:xfrm>
            <a:off x="4644008" y="4149080"/>
            <a:ext cx="0" cy="1944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9" idx="1"/>
          </p:cNvCxnSpPr>
          <p:nvPr/>
        </p:nvCxnSpPr>
        <p:spPr>
          <a:xfrm flipH="1">
            <a:off x="2195736" y="604139"/>
            <a:ext cx="936104" cy="952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9" idx="1"/>
          </p:cNvCxnSpPr>
          <p:nvPr/>
        </p:nvCxnSpPr>
        <p:spPr>
          <a:xfrm flipH="1">
            <a:off x="2843808" y="604139"/>
            <a:ext cx="288032" cy="952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332656"/>
            <a:ext cx="8100392" cy="6336704"/>
          </a:xfrm>
        </p:spPr>
        <p:txBody>
          <a:bodyPr>
            <a:noAutofit/>
          </a:bodyPr>
          <a:lstStyle/>
          <a:p>
            <a:r>
              <a:rPr lang="bg-BG" sz="3200" dirty="0" smtClean="0">
                <a:solidFill>
                  <a:schemeClr val="tx1"/>
                </a:solidFill>
              </a:rPr>
              <a:t>		Център на графа</a:t>
            </a:r>
            <a:br>
              <a:rPr lang="bg-BG" sz="3200" dirty="0" smtClean="0">
                <a:solidFill>
                  <a:schemeClr val="tx1"/>
                </a:solidFill>
              </a:rPr>
            </a:br>
            <a:r>
              <a:rPr lang="bg-BG" sz="3200" dirty="0" smtClean="0">
                <a:solidFill>
                  <a:schemeClr val="tx1"/>
                </a:solidFill>
              </a:rPr>
              <a:t>	</a:t>
            </a:r>
            <a:r>
              <a:rPr lang="bg-BG" sz="2800" dirty="0" smtClean="0">
                <a:solidFill>
                  <a:schemeClr val="tx1"/>
                </a:solidFill>
              </a:rPr>
              <a:t>Център (централен връх) на графа </a:t>
            </a:r>
            <a:r>
              <a:rPr lang="en-US" sz="2800" dirty="0" smtClean="0">
                <a:solidFill>
                  <a:schemeClr val="tx1"/>
                </a:solidFill>
              </a:rPr>
              <a:t>G (V, E) </a:t>
            </a:r>
            <a:r>
              <a:rPr lang="bg-BG" sz="2800" dirty="0" smtClean="0">
                <a:solidFill>
                  <a:schemeClr val="tx1"/>
                </a:solidFill>
              </a:rPr>
              <a:t>е върхът </a:t>
            </a:r>
            <a:r>
              <a:rPr lang="en-US" sz="2800" dirty="0" smtClean="0">
                <a:solidFill>
                  <a:schemeClr val="tx1"/>
                </a:solidFill>
              </a:rPr>
              <a:t>w    V </a:t>
            </a:r>
            <a:r>
              <a:rPr lang="bg-BG" sz="2800" dirty="0" smtClean="0">
                <a:solidFill>
                  <a:schemeClr val="tx1"/>
                </a:solidFill>
              </a:rPr>
              <a:t>с минимален </a:t>
            </a:r>
            <a:r>
              <a:rPr lang="bg-BG" sz="2800" i="1" dirty="0" err="1" smtClean="0">
                <a:solidFill>
                  <a:schemeClr val="tx1"/>
                </a:solidFill>
              </a:rPr>
              <a:t>ексцентриситет</a:t>
            </a:r>
            <a:r>
              <a:rPr lang="bg-BG" sz="2800" dirty="0" smtClean="0">
                <a:solidFill>
                  <a:schemeClr val="tx1"/>
                </a:solidFill>
              </a:rPr>
              <a:t>  (максимално отдалечаване), т.е. максималното разстояние до останалите върхове е минимално:</a:t>
            </a:r>
            <a:br>
              <a:rPr lang="bg-BG" sz="2800" dirty="0" smtClean="0">
                <a:solidFill>
                  <a:schemeClr val="tx1"/>
                </a:solidFill>
              </a:rPr>
            </a:br>
            <a:r>
              <a:rPr lang="en-US" sz="2800" dirty="0" smtClean="0">
                <a:solidFill>
                  <a:schemeClr val="tx1"/>
                </a:solidFill>
              </a:rPr>
              <a:t/>
            </a:r>
            <a:br>
              <a:rPr lang="en-US" sz="2800" dirty="0" smtClean="0">
                <a:solidFill>
                  <a:schemeClr val="tx1"/>
                </a:solidFill>
              </a:rPr>
            </a:br>
            <a:r>
              <a:rPr lang="en-US" sz="2400" i="1" dirty="0" smtClean="0">
                <a:solidFill>
                  <a:schemeClr val="accent5">
                    <a:lumMod val="50000"/>
                  </a:schemeClr>
                </a:solidFill>
              </a:rPr>
              <a:t>min(</a:t>
            </a:r>
            <a:r>
              <a:rPr lang="bg-BG" sz="2400" i="1" dirty="0" smtClean="0">
                <a:solidFill>
                  <a:schemeClr val="accent5">
                    <a:lumMod val="50000"/>
                  </a:schemeClr>
                </a:solidFill>
              </a:rPr>
              <a:t>максимална дължина на пътя от връх</a:t>
            </a:r>
            <a:r>
              <a:rPr lang="en-US" sz="2400" i="1" dirty="0" smtClean="0">
                <a:solidFill>
                  <a:schemeClr val="accent5">
                    <a:lumMod val="50000"/>
                  </a:schemeClr>
                </a:solidFill>
              </a:rPr>
              <a:t> w </a:t>
            </a:r>
            <a:r>
              <a:rPr lang="bg-BG" sz="2400" i="1" dirty="0" smtClean="0">
                <a:solidFill>
                  <a:schemeClr val="accent5">
                    <a:lumMod val="50000"/>
                  </a:schemeClr>
                </a:solidFill>
              </a:rPr>
              <a:t>до връх </a:t>
            </a:r>
            <a:r>
              <a:rPr lang="en-US" sz="2400" i="1" dirty="0" smtClean="0">
                <a:solidFill>
                  <a:schemeClr val="accent5">
                    <a:lumMod val="50000"/>
                  </a:schemeClr>
                </a:solidFill>
              </a:rPr>
              <a:t>v</a:t>
            </a:r>
            <a:r>
              <a:rPr lang="en-US" sz="2400" i="1" baseline="-25000" dirty="0" smtClean="0">
                <a:solidFill>
                  <a:schemeClr val="accent5">
                    <a:lumMod val="50000"/>
                  </a:schemeClr>
                </a:solidFill>
              </a:rPr>
              <a:t>i</a:t>
            </a:r>
            <a:r>
              <a:rPr lang="bg-BG" sz="2400" i="1" dirty="0" smtClean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en-US" sz="2400" i="1" dirty="0" smtClean="0">
                <a:solidFill>
                  <a:schemeClr val="accent5">
                    <a:lumMod val="50000"/>
                  </a:schemeClr>
                </a:solidFill>
              </a:rPr>
              <a:t>  V)</a:t>
            </a:r>
            <a:br>
              <a:rPr lang="en-US" sz="2400" i="1" dirty="0" smtClean="0">
                <a:solidFill>
                  <a:schemeClr val="accent5">
                    <a:lumMod val="50000"/>
                  </a:schemeClr>
                </a:solidFill>
              </a:rPr>
            </a:br>
            <a:r>
              <a:rPr lang="bg-BG" sz="2400" i="1" dirty="0" smtClean="0">
                <a:solidFill>
                  <a:schemeClr val="accent5">
                    <a:lumMod val="50000"/>
                  </a:schemeClr>
                </a:solidFill>
              </a:rPr>
              <a:t>за </a:t>
            </a:r>
            <a:r>
              <a:rPr lang="en-US" sz="2400" i="1" dirty="0" smtClean="0">
                <a:solidFill>
                  <a:schemeClr val="accent5">
                    <a:lumMod val="50000"/>
                  </a:schemeClr>
                </a:solidFill>
              </a:rPr>
              <a:t> w    V </a:t>
            </a:r>
            <a:r>
              <a:rPr lang="bg-BG" sz="2800" dirty="0" smtClean="0">
                <a:solidFill>
                  <a:schemeClr val="tx1"/>
                </a:solidFill>
              </a:rPr>
              <a:t/>
            </a:r>
            <a:br>
              <a:rPr lang="bg-BG" sz="2800" dirty="0" smtClean="0">
                <a:solidFill>
                  <a:schemeClr val="tx1"/>
                </a:solidFill>
              </a:rPr>
            </a:br>
            <a:r>
              <a:rPr lang="bg-BG" sz="2800" dirty="0" smtClean="0">
                <a:solidFill>
                  <a:schemeClr val="tx1"/>
                </a:solidFill>
              </a:rPr>
              <a:t/>
            </a:r>
            <a:br>
              <a:rPr lang="bg-BG" sz="2800" dirty="0" smtClean="0">
                <a:solidFill>
                  <a:schemeClr val="tx1"/>
                </a:solidFill>
              </a:rPr>
            </a:br>
            <a:r>
              <a:rPr lang="bg-BG" sz="2800" dirty="0" smtClean="0">
                <a:solidFill>
                  <a:schemeClr val="tx1"/>
                </a:solidFill>
              </a:rPr>
              <a:t/>
            </a:r>
            <a:br>
              <a:rPr lang="bg-BG" sz="2800" dirty="0" smtClean="0">
                <a:solidFill>
                  <a:schemeClr val="tx1"/>
                </a:solidFill>
              </a:rPr>
            </a:br>
            <a:r>
              <a:rPr lang="bg-BG" sz="2800" dirty="0" smtClean="0">
                <a:solidFill>
                  <a:schemeClr val="tx1"/>
                </a:solidFill>
              </a:rPr>
              <a:t/>
            </a:r>
            <a:br>
              <a:rPr lang="bg-BG" sz="2800" dirty="0" smtClean="0">
                <a:solidFill>
                  <a:schemeClr val="tx1"/>
                </a:solidFill>
              </a:rPr>
            </a:br>
            <a:r>
              <a:rPr lang="bg-BG" sz="2800" dirty="0" smtClean="0">
                <a:solidFill>
                  <a:schemeClr val="tx1"/>
                </a:solidFill>
              </a:rPr>
              <a:t/>
            </a:r>
            <a:br>
              <a:rPr lang="bg-BG" sz="2800" dirty="0" smtClean="0">
                <a:solidFill>
                  <a:schemeClr val="tx1"/>
                </a:solidFill>
              </a:rPr>
            </a:br>
            <a:r>
              <a:rPr lang="bg-BG" sz="2800" dirty="0" smtClean="0">
                <a:solidFill>
                  <a:schemeClr val="tx1"/>
                </a:solidFill>
              </a:rPr>
              <a:t/>
            </a:r>
            <a:br>
              <a:rPr lang="bg-BG" sz="2800" dirty="0" smtClean="0">
                <a:solidFill>
                  <a:schemeClr val="tx1"/>
                </a:solidFill>
              </a:rPr>
            </a:br>
            <a:r>
              <a:rPr lang="bg-BG" sz="2800" dirty="0" smtClean="0">
                <a:solidFill>
                  <a:schemeClr val="tx1"/>
                </a:solidFill>
              </a:rPr>
              <a:t/>
            </a:r>
            <a:br>
              <a:rPr lang="bg-BG" sz="2800" dirty="0" smtClean="0">
                <a:solidFill>
                  <a:schemeClr val="tx1"/>
                </a:solidFill>
              </a:rPr>
            </a:b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211D8B-BD0D-4830-A215-CA3288554A0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graphicFrame>
        <p:nvGraphicFramePr>
          <p:cNvPr id="43010" name="Object 7"/>
          <p:cNvGraphicFramePr>
            <a:graphicFrameLocks noChangeAspect="1"/>
          </p:cNvGraphicFramePr>
          <p:nvPr/>
        </p:nvGraphicFramePr>
        <p:xfrm>
          <a:off x="2483768" y="1283948"/>
          <a:ext cx="38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6" name="Equation" r:id="rId3" imgW="126725" imgH="126725" progId="">
                  <p:embed/>
                </p:oleObj>
              </mc:Choice>
              <mc:Fallback>
                <p:oleObj name="Equation" r:id="rId3" imgW="126725" imgH="126725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1283948"/>
                        <a:ext cx="381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" name="Object 7"/>
          <p:cNvGraphicFramePr>
            <a:graphicFrameLocks noChangeAspect="1"/>
          </p:cNvGraphicFramePr>
          <p:nvPr/>
        </p:nvGraphicFramePr>
        <p:xfrm>
          <a:off x="1763688" y="3356992"/>
          <a:ext cx="288032" cy="288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7" name="Equation" r:id="rId5" imgW="126725" imgH="126725" progId="">
                  <p:embed/>
                </p:oleObj>
              </mc:Choice>
              <mc:Fallback>
                <p:oleObj name="Equation" r:id="rId5" imgW="126725" imgH="126725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356992"/>
                        <a:ext cx="288032" cy="2880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7"/>
          <p:cNvGraphicFramePr>
            <a:graphicFrameLocks noChangeAspect="1"/>
          </p:cNvGraphicFramePr>
          <p:nvPr/>
        </p:nvGraphicFramePr>
        <p:xfrm>
          <a:off x="8208548" y="2942874"/>
          <a:ext cx="38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8" name="Equation" r:id="rId6" imgW="126725" imgH="126725" progId="">
                  <p:embed/>
                </p:oleObj>
              </mc:Choice>
              <mc:Fallback>
                <p:oleObj name="Equation" r:id="rId6" imgW="126725" imgH="126725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8548" y="2942874"/>
                        <a:ext cx="381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4" name="Group 93"/>
          <p:cNvGrpSpPr/>
          <p:nvPr/>
        </p:nvGrpSpPr>
        <p:grpSpPr>
          <a:xfrm>
            <a:off x="2267744" y="3861048"/>
            <a:ext cx="5112568" cy="1728192"/>
            <a:chOff x="2267744" y="3861048"/>
            <a:chExt cx="5112568" cy="1728192"/>
          </a:xfrm>
        </p:grpSpPr>
        <p:grpSp>
          <p:nvGrpSpPr>
            <p:cNvPr id="15" name="Group 14"/>
            <p:cNvGrpSpPr/>
            <p:nvPr/>
          </p:nvGrpSpPr>
          <p:grpSpPr>
            <a:xfrm>
              <a:off x="2267744" y="4536015"/>
              <a:ext cx="432048" cy="477161"/>
              <a:chOff x="2267744" y="4536015"/>
              <a:chExt cx="432048" cy="477161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2267744" y="4581128"/>
                <a:ext cx="432048" cy="432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2294639" y="4536015"/>
                <a:ext cx="288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bg-BG" dirty="0" smtClean="0"/>
                  <a:t>А</a:t>
                </a:r>
                <a:endParaRPr lang="en-US" dirty="0"/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6948264" y="4509120"/>
              <a:ext cx="432048" cy="477161"/>
              <a:chOff x="2267744" y="4536015"/>
              <a:chExt cx="432048" cy="477161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2267744" y="4581128"/>
                <a:ext cx="432048" cy="432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294639" y="4536015"/>
                <a:ext cx="288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E</a:t>
                </a:r>
                <a:endParaRPr lang="en-US" dirty="0"/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4860032" y="5112079"/>
              <a:ext cx="432048" cy="477161"/>
              <a:chOff x="2267744" y="4536015"/>
              <a:chExt cx="432048" cy="477161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2267744" y="4581128"/>
                <a:ext cx="432048" cy="432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2294639" y="4536015"/>
                <a:ext cx="288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C</a:t>
                </a:r>
                <a:endParaRPr lang="en-US" dirty="0"/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4788024" y="3861048"/>
              <a:ext cx="432048" cy="477161"/>
              <a:chOff x="2267744" y="4536015"/>
              <a:chExt cx="432048" cy="477161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2267744" y="4581128"/>
                <a:ext cx="432048" cy="432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2294639" y="4536015"/>
                <a:ext cx="288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D</a:t>
                </a:r>
                <a:endParaRPr lang="en-US" dirty="0"/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3347864" y="4509120"/>
              <a:ext cx="432048" cy="477161"/>
              <a:chOff x="2267744" y="4536015"/>
              <a:chExt cx="432048" cy="477161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2267744" y="4581128"/>
                <a:ext cx="432048" cy="432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2294639" y="4536015"/>
                <a:ext cx="288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B</a:t>
                </a:r>
                <a:endParaRPr lang="en-US" dirty="0"/>
              </a:p>
            </p:txBody>
          </p:sp>
        </p:grpSp>
        <p:cxnSp>
          <p:nvCxnSpPr>
            <p:cNvPr id="29" name="Straight Arrow Connector 28"/>
            <p:cNvCxnSpPr>
              <a:stCxn id="26" idx="4"/>
            </p:cNvCxnSpPr>
            <p:nvPr/>
          </p:nvCxnSpPr>
          <p:spPr>
            <a:xfrm>
              <a:off x="3563888" y="4986281"/>
              <a:ext cx="1368152" cy="530951"/>
            </a:xfrm>
            <a:prstGeom prst="straightConnector1">
              <a:avLst/>
            </a:prstGeom>
            <a:ln w="19050" cmpd="sng"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V="1">
              <a:off x="2699792" y="4797152"/>
              <a:ext cx="648072" cy="26895"/>
            </a:xfrm>
            <a:prstGeom prst="straightConnector1">
              <a:avLst/>
            </a:prstGeom>
            <a:ln w="19050" cmpd="sng"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V="1">
              <a:off x="5292080" y="4869160"/>
              <a:ext cx="1656184" cy="530952"/>
            </a:xfrm>
            <a:prstGeom prst="straightConnector1">
              <a:avLst/>
            </a:prstGeom>
            <a:ln w="19050" cmpd="sng"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endCxn id="23" idx="6"/>
            </p:cNvCxnSpPr>
            <p:nvPr/>
          </p:nvCxnSpPr>
          <p:spPr>
            <a:xfrm flipH="1" flipV="1">
              <a:off x="5220072" y="4122185"/>
              <a:ext cx="1800200" cy="458944"/>
            </a:xfrm>
            <a:prstGeom prst="straightConnector1">
              <a:avLst/>
            </a:prstGeom>
            <a:ln w="19050" cmpd="sng"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23" idx="2"/>
              <a:endCxn id="26" idx="7"/>
            </p:cNvCxnSpPr>
            <p:nvPr/>
          </p:nvCxnSpPr>
          <p:spPr>
            <a:xfrm flipH="1">
              <a:off x="3716640" y="4122185"/>
              <a:ext cx="1071384" cy="495320"/>
            </a:xfrm>
            <a:prstGeom prst="straightConnector1">
              <a:avLst/>
            </a:prstGeom>
            <a:ln w="19050" cmpd="sng"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Arc 75"/>
            <p:cNvSpPr/>
            <p:nvPr/>
          </p:nvSpPr>
          <p:spPr>
            <a:xfrm>
              <a:off x="5004048" y="4221088"/>
              <a:ext cx="504056" cy="1080120"/>
            </a:xfrm>
            <a:prstGeom prst="arc">
              <a:avLst>
                <a:gd name="adj1" fmla="val 15299384"/>
                <a:gd name="adj2" fmla="val 5203812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Arc 76"/>
            <p:cNvSpPr/>
            <p:nvPr/>
          </p:nvSpPr>
          <p:spPr>
            <a:xfrm rot="11126481">
              <a:off x="4478459" y="4248369"/>
              <a:ext cx="627394" cy="1094397"/>
            </a:xfrm>
            <a:prstGeom prst="arc">
              <a:avLst>
                <a:gd name="adj1" fmla="val 14993150"/>
                <a:gd name="adj2" fmla="val 5440177"/>
              </a:avLst>
            </a:prstGeom>
            <a:ln w="1905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843808" y="4365104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1"/>
                  </a:solidFill>
                </a:rPr>
                <a:t>1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995936" y="4833300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1"/>
                  </a:solidFill>
                </a:rPr>
                <a:t>2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428560" y="4509120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1"/>
                  </a:solidFill>
                </a:rPr>
                <a:t>2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5436096" y="4509120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1"/>
                  </a:solidFill>
                </a:rPr>
                <a:t>3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3995936" y="4005064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1"/>
                  </a:solidFill>
                </a:rPr>
                <a:t>1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084168" y="4994958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1"/>
                  </a:solidFill>
                </a:rPr>
                <a:t>4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6084168" y="4005352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1"/>
                  </a:solidFill>
                </a:rPr>
                <a:t>5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211D8B-BD0D-4830-A215-CA3288554A0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grpSp>
        <p:nvGrpSpPr>
          <p:cNvPr id="34" name="Group 33"/>
          <p:cNvGrpSpPr/>
          <p:nvPr/>
        </p:nvGrpSpPr>
        <p:grpSpPr>
          <a:xfrm>
            <a:off x="1403648" y="476672"/>
            <a:ext cx="5112568" cy="1728192"/>
            <a:chOff x="2267744" y="3861048"/>
            <a:chExt cx="5112568" cy="1728192"/>
          </a:xfrm>
        </p:grpSpPr>
        <p:grpSp>
          <p:nvGrpSpPr>
            <p:cNvPr id="35" name="Group 14"/>
            <p:cNvGrpSpPr/>
            <p:nvPr/>
          </p:nvGrpSpPr>
          <p:grpSpPr>
            <a:xfrm>
              <a:off x="2267744" y="4536015"/>
              <a:ext cx="432048" cy="477161"/>
              <a:chOff x="2267744" y="4536015"/>
              <a:chExt cx="432048" cy="477161"/>
            </a:xfrm>
          </p:grpSpPr>
          <p:sp>
            <p:nvSpPr>
              <p:cNvPr id="62" name="Oval 61"/>
              <p:cNvSpPr/>
              <p:nvPr/>
            </p:nvSpPr>
            <p:spPr>
              <a:xfrm>
                <a:off x="2267744" y="4581128"/>
                <a:ext cx="432048" cy="432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2294639" y="4536015"/>
                <a:ext cx="288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bg-BG" dirty="0" smtClean="0"/>
                  <a:t>А</a:t>
                </a:r>
                <a:endParaRPr lang="en-US" dirty="0"/>
              </a:p>
            </p:txBody>
          </p:sp>
        </p:grpSp>
        <p:grpSp>
          <p:nvGrpSpPr>
            <p:cNvPr id="36" name="Group 15"/>
            <p:cNvGrpSpPr/>
            <p:nvPr/>
          </p:nvGrpSpPr>
          <p:grpSpPr>
            <a:xfrm>
              <a:off x="6948264" y="4509120"/>
              <a:ext cx="432048" cy="477161"/>
              <a:chOff x="2267744" y="4536015"/>
              <a:chExt cx="432048" cy="477161"/>
            </a:xfrm>
          </p:grpSpPr>
          <p:sp>
            <p:nvSpPr>
              <p:cNvPr id="60" name="Oval 59"/>
              <p:cNvSpPr/>
              <p:nvPr/>
            </p:nvSpPr>
            <p:spPr>
              <a:xfrm>
                <a:off x="2267744" y="4581128"/>
                <a:ext cx="432048" cy="432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2294639" y="4536015"/>
                <a:ext cx="288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E</a:t>
                </a:r>
                <a:endParaRPr lang="en-US" dirty="0"/>
              </a:p>
            </p:txBody>
          </p:sp>
        </p:grpSp>
        <p:grpSp>
          <p:nvGrpSpPr>
            <p:cNvPr id="37" name="Group 18"/>
            <p:cNvGrpSpPr/>
            <p:nvPr/>
          </p:nvGrpSpPr>
          <p:grpSpPr>
            <a:xfrm>
              <a:off x="4860032" y="5112079"/>
              <a:ext cx="432048" cy="477161"/>
              <a:chOff x="2267744" y="4536015"/>
              <a:chExt cx="432048" cy="477161"/>
            </a:xfrm>
          </p:grpSpPr>
          <p:sp>
            <p:nvSpPr>
              <p:cNvPr id="58" name="Oval 57"/>
              <p:cNvSpPr/>
              <p:nvPr/>
            </p:nvSpPr>
            <p:spPr>
              <a:xfrm>
                <a:off x="2267744" y="4581128"/>
                <a:ext cx="432048" cy="432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2294639" y="4536015"/>
                <a:ext cx="288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C</a:t>
                </a:r>
                <a:endParaRPr lang="en-US" dirty="0"/>
              </a:p>
            </p:txBody>
          </p:sp>
        </p:grpSp>
        <p:grpSp>
          <p:nvGrpSpPr>
            <p:cNvPr id="38" name="Group 21"/>
            <p:cNvGrpSpPr/>
            <p:nvPr/>
          </p:nvGrpSpPr>
          <p:grpSpPr>
            <a:xfrm>
              <a:off x="4788024" y="3861048"/>
              <a:ext cx="432048" cy="477161"/>
              <a:chOff x="2267744" y="4536015"/>
              <a:chExt cx="432048" cy="477161"/>
            </a:xfrm>
          </p:grpSpPr>
          <p:sp>
            <p:nvSpPr>
              <p:cNvPr id="56" name="Oval 55"/>
              <p:cNvSpPr/>
              <p:nvPr/>
            </p:nvSpPr>
            <p:spPr>
              <a:xfrm>
                <a:off x="2267744" y="4581128"/>
                <a:ext cx="432048" cy="432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2294639" y="4536015"/>
                <a:ext cx="288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D</a:t>
                </a:r>
                <a:endParaRPr lang="en-US" dirty="0"/>
              </a:p>
            </p:txBody>
          </p:sp>
        </p:grpSp>
        <p:grpSp>
          <p:nvGrpSpPr>
            <p:cNvPr id="39" name="Group 24"/>
            <p:cNvGrpSpPr/>
            <p:nvPr/>
          </p:nvGrpSpPr>
          <p:grpSpPr>
            <a:xfrm>
              <a:off x="3347864" y="4509120"/>
              <a:ext cx="432048" cy="477161"/>
              <a:chOff x="2267744" y="4536015"/>
              <a:chExt cx="432048" cy="477161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2267744" y="4581128"/>
                <a:ext cx="432048" cy="432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2294639" y="4536015"/>
                <a:ext cx="288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B</a:t>
                </a:r>
                <a:endParaRPr lang="en-US" dirty="0"/>
              </a:p>
            </p:txBody>
          </p:sp>
        </p:grpSp>
        <p:cxnSp>
          <p:nvCxnSpPr>
            <p:cNvPr id="40" name="Straight Arrow Connector 39"/>
            <p:cNvCxnSpPr>
              <a:stCxn id="54" idx="4"/>
            </p:cNvCxnSpPr>
            <p:nvPr/>
          </p:nvCxnSpPr>
          <p:spPr>
            <a:xfrm>
              <a:off x="3563888" y="4986281"/>
              <a:ext cx="1368152" cy="530951"/>
            </a:xfrm>
            <a:prstGeom prst="straightConnector1">
              <a:avLst/>
            </a:prstGeom>
            <a:ln w="19050" cmpd="sng"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2699792" y="4797152"/>
              <a:ext cx="648072" cy="26895"/>
            </a:xfrm>
            <a:prstGeom prst="straightConnector1">
              <a:avLst/>
            </a:prstGeom>
            <a:ln w="19050" cmpd="sng"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V="1">
              <a:off x="5292080" y="4869160"/>
              <a:ext cx="1656184" cy="530952"/>
            </a:xfrm>
            <a:prstGeom prst="straightConnector1">
              <a:avLst/>
            </a:prstGeom>
            <a:ln w="19050" cmpd="sng"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endCxn id="56" idx="6"/>
            </p:cNvCxnSpPr>
            <p:nvPr/>
          </p:nvCxnSpPr>
          <p:spPr>
            <a:xfrm flipH="1" flipV="1">
              <a:off x="5220072" y="4122185"/>
              <a:ext cx="1800200" cy="458944"/>
            </a:xfrm>
            <a:prstGeom prst="straightConnector1">
              <a:avLst/>
            </a:prstGeom>
            <a:ln w="19050" cmpd="sng"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56" idx="2"/>
              <a:endCxn id="54" idx="7"/>
            </p:cNvCxnSpPr>
            <p:nvPr/>
          </p:nvCxnSpPr>
          <p:spPr>
            <a:xfrm flipH="1">
              <a:off x="3716640" y="4122185"/>
              <a:ext cx="1071384" cy="495320"/>
            </a:xfrm>
            <a:prstGeom prst="straightConnector1">
              <a:avLst/>
            </a:prstGeom>
            <a:ln w="19050" cmpd="sng"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Arc 44"/>
            <p:cNvSpPr/>
            <p:nvPr/>
          </p:nvSpPr>
          <p:spPr>
            <a:xfrm>
              <a:off x="5004048" y="4221088"/>
              <a:ext cx="504056" cy="1080120"/>
            </a:xfrm>
            <a:prstGeom prst="arc">
              <a:avLst>
                <a:gd name="adj1" fmla="val 15299384"/>
                <a:gd name="adj2" fmla="val 5203812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Arc 45"/>
            <p:cNvSpPr/>
            <p:nvPr/>
          </p:nvSpPr>
          <p:spPr>
            <a:xfrm rot="11126481">
              <a:off x="4478459" y="4248369"/>
              <a:ext cx="627394" cy="1094397"/>
            </a:xfrm>
            <a:prstGeom prst="arc">
              <a:avLst>
                <a:gd name="adj1" fmla="val 14993150"/>
                <a:gd name="adj2" fmla="val 5440177"/>
              </a:avLst>
            </a:prstGeom>
            <a:ln w="1905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843808" y="4365104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1"/>
                  </a:solidFill>
                </a:rPr>
                <a:t>1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995936" y="4833300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1"/>
                  </a:solidFill>
                </a:rPr>
                <a:t>2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428560" y="4509120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1"/>
                  </a:solidFill>
                </a:rPr>
                <a:t>2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436096" y="4509120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1"/>
                  </a:solidFill>
                </a:rPr>
                <a:t>3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995936" y="4005064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1"/>
                  </a:solidFill>
                </a:rPr>
                <a:t>1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084168" y="4994958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1"/>
                  </a:solidFill>
                </a:rPr>
                <a:t>4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084168" y="4005352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1"/>
                  </a:solidFill>
                </a:rPr>
                <a:t>5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</p:grp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1187624" y="2564904"/>
          <a:ext cx="4104456" cy="3164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4076"/>
                <a:gridCol w="684076"/>
                <a:gridCol w="684076"/>
                <a:gridCol w="684076"/>
                <a:gridCol w="684076"/>
                <a:gridCol w="684076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b="0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b="0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accent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b="0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EX</a:t>
                      </a:r>
                      <a:r>
                        <a:rPr lang="bg-BG" b="1" dirty="0" smtClean="0">
                          <a:latin typeface="Times New Roman" pitchFamily="18" charset="0"/>
                          <a:cs typeface="Times New Roman" pitchFamily="18" charset="0"/>
                        </a:rPr>
                        <a:t>Т</a:t>
                      </a:r>
                      <a:endParaRPr lang="en-US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500" b="1" dirty="0" smtClean="0">
                          <a:latin typeface="Times New Roman" pitchFamily="18" charset="0"/>
                          <a:cs typeface="Times New Roman" pitchFamily="18" charset="0"/>
                        </a:rPr>
                        <a:t>(max)</a:t>
                      </a:r>
                      <a:endParaRPr lang="en-US" sz="15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6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8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7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5724128" y="1988840"/>
            <a:ext cx="324036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Основни стъпки:</a:t>
            </a:r>
          </a:p>
          <a:p>
            <a:pPr marL="457200" indent="-457200">
              <a:buAutoNum type="arabicPeriod"/>
            </a:pPr>
            <a:r>
              <a:rPr lang="bg-BG" sz="2000" dirty="0" smtClean="0"/>
              <a:t>Прилагане на алгоритма на </a:t>
            </a:r>
            <a:r>
              <a:rPr lang="en-US" sz="2000" dirty="0" smtClean="0"/>
              <a:t>Floyd </a:t>
            </a:r>
            <a:r>
              <a:rPr lang="bg-BG" sz="2000" dirty="0" smtClean="0"/>
              <a:t>за пресмятане на матрицата М с най-кратките пътища в </a:t>
            </a:r>
            <a:r>
              <a:rPr lang="en-US" sz="2000" dirty="0" smtClean="0"/>
              <a:t>G (O(n</a:t>
            </a:r>
            <a:r>
              <a:rPr lang="en-US" sz="2000" baseline="30000" dirty="0" smtClean="0"/>
              <a:t>3</a:t>
            </a:r>
            <a:r>
              <a:rPr lang="en-US" sz="2000" dirty="0" smtClean="0"/>
              <a:t>)</a:t>
            </a:r>
            <a:r>
              <a:rPr lang="bg-BG" sz="2000" dirty="0" smtClean="0"/>
              <a:t>)</a:t>
            </a:r>
            <a:r>
              <a:rPr lang="en-US" sz="2000" dirty="0" smtClean="0"/>
              <a:t>.</a:t>
            </a:r>
          </a:p>
          <a:p>
            <a:pPr marL="457200" indent="-457200">
              <a:buAutoNum type="arabicPeriod"/>
            </a:pPr>
            <a:r>
              <a:rPr lang="bg-BG" sz="2000" dirty="0" smtClean="0"/>
              <a:t>Търсене на </a:t>
            </a:r>
            <a:r>
              <a:rPr lang="en-US" sz="2000" b="1" i="1" dirty="0" smtClean="0"/>
              <a:t>max </a:t>
            </a:r>
            <a:r>
              <a:rPr lang="bg-BG" sz="2000" dirty="0" smtClean="0"/>
              <a:t>във всеки стълб на А </a:t>
            </a:r>
            <a:r>
              <a:rPr lang="en-US" sz="2000" dirty="0" smtClean="0"/>
              <a:t>(O(n</a:t>
            </a:r>
            <a:r>
              <a:rPr lang="bg-BG" sz="2000" baseline="30000" dirty="0" smtClean="0"/>
              <a:t>2</a:t>
            </a:r>
            <a:r>
              <a:rPr lang="en-US" sz="2000" dirty="0" smtClean="0"/>
              <a:t>)</a:t>
            </a:r>
            <a:r>
              <a:rPr lang="bg-BG" sz="2000" dirty="0" smtClean="0"/>
              <a:t>).</a:t>
            </a:r>
          </a:p>
          <a:p>
            <a:pPr marL="457200" indent="-457200">
              <a:buFontTx/>
              <a:buAutoNum type="arabicPeriod"/>
            </a:pPr>
            <a:r>
              <a:rPr lang="bg-BG" sz="2000" dirty="0" smtClean="0"/>
              <a:t>Търсене на </a:t>
            </a:r>
            <a:r>
              <a:rPr lang="en-US" sz="2000" b="1" i="1" dirty="0" smtClean="0"/>
              <a:t>min </a:t>
            </a:r>
            <a:r>
              <a:rPr lang="bg-BG" sz="2000" dirty="0" err="1" smtClean="0"/>
              <a:t>ексцентриситет</a:t>
            </a:r>
            <a:r>
              <a:rPr lang="bg-BG" sz="2000" dirty="0" smtClean="0"/>
              <a:t> </a:t>
            </a:r>
            <a:r>
              <a:rPr lang="en-US" sz="2000" dirty="0" smtClean="0"/>
              <a:t>(O(n)</a:t>
            </a:r>
            <a:r>
              <a:rPr lang="bg-BG" sz="2000" dirty="0" smtClean="0"/>
              <a:t>).</a:t>
            </a:r>
            <a:endParaRPr lang="en-US" sz="2000" b="1" i="1" dirty="0"/>
          </a:p>
        </p:txBody>
      </p:sp>
      <p:sp>
        <p:nvSpPr>
          <p:cNvPr id="66" name="TextBox 65"/>
          <p:cNvSpPr txBox="1"/>
          <p:nvPr/>
        </p:nvSpPr>
        <p:spPr>
          <a:xfrm>
            <a:off x="1403648" y="5949280"/>
            <a:ext cx="72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Резултат: </a:t>
            </a:r>
            <a:r>
              <a:rPr lang="bg-BG" sz="2000" dirty="0" smtClean="0"/>
              <a:t>Центърът на граф </a:t>
            </a:r>
            <a:r>
              <a:rPr lang="en-US" sz="2000" dirty="0" smtClean="0"/>
              <a:t>G</a:t>
            </a:r>
            <a:r>
              <a:rPr lang="bg-BG" sz="2000" dirty="0" smtClean="0"/>
              <a:t> е връх </a:t>
            </a:r>
            <a:r>
              <a:rPr lang="en-US" sz="2000" b="1" dirty="0" smtClean="0">
                <a:cs typeface="Times New Roman" pitchFamily="18" charset="0"/>
              </a:rPr>
              <a:t>D</a:t>
            </a:r>
            <a:r>
              <a:rPr lang="bg-BG" sz="2000" b="1" dirty="0" smtClean="0">
                <a:cs typeface="Times New Roman" pitchFamily="18" charset="0"/>
              </a:rPr>
              <a:t>.       </a:t>
            </a:r>
            <a:r>
              <a:rPr lang="bg-BG" sz="2000" dirty="0" smtClean="0">
                <a:cs typeface="Times New Roman" pitchFamily="18" charset="0"/>
              </a:rPr>
              <a:t>Сложност:</a:t>
            </a:r>
            <a:r>
              <a:rPr lang="bg-BG" sz="2000" b="1" dirty="0" smtClean="0">
                <a:cs typeface="Times New Roman" pitchFamily="18" charset="0"/>
              </a:rPr>
              <a:t> </a:t>
            </a:r>
            <a:r>
              <a:rPr lang="en-US" sz="2000" dirty="0" smtClean="0"/>
              <a:t>O(n</a:t>
            </a:r>
            <a:r>
              <a:rPr lang="en-US" sz="2000" baseline="30000" dirty="0" smtClean="0"/>
              <a:t>3</a:t>
            </a:r>
            <a:r>
              <a:rPr lang="en-US" sz="2000" dirty="0" smtClean="0"/>
              <a:t>)</a:t>
            </a:r>
            <a:r>
              <a:rPr lang="bg-BG" sz="2000" b="1" dirty="0" smtClean="0">
                <a:cs typeface="Times New Roman" pitchFamily="18" charset="0"/>
              </a:rPr>
              <a:t> </a:t>
            </a:r>
            <a:r>
              <a:rPr lang="bg-BG" sz="2000" dirty="0" smtClean="0"/>
              <a:t>  </a:t>
            </a:r>
            <a:endParaRPr lang="en-US" sz="2000" dirty="0"/>
          </a:p>
        </p:txBody>
      </p:sp>
      <p:sp>
        <p:nvSpPr>
          <p:cNvPr id="67" name="TextBox 66"/>
          <p:cNvSpPr txBox="1"/>
          <p:nvPr/>
        </p:nvSpPr>
        <p:spPr>
          <a:xfrm>
            <a:off x="1259632" y="1988840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Матрица М: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946150" y="620713"/>
            <a:ext cx="80899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10000"/>
              </a:lnSpc>
            </a:pPr>
            <a:r>
              <a:rPr lang="bg-BG" sz="2200" i="1" u="sng">
                <a:latin typeface="Arial" charset="0"/>
              </a:rPr>
              <a:t>Транзитивно затваряне на граф. Алгоритъм на Уоршал</a:t>
            </a:r>
            <a:r>
              <a:rPr lang="bg-BG" sz="2200">
                <a:latin typeface="Arial" charset="0"/>
              </a:rPr>
              <a:t/>
            </a:r>
            <a:br>
              <a:rPr lang="bg-BG" sz="2200">
                <a:latin typeface="Arial" charset="0"/>
              </a:rPr>
            </a:br>
            <a:r>
              <a:rPr lang="bg-BG" sz="2200">
                <a:latin typeface="Arial" charset="0"/>
              </a:rPr>
              <a:t/>
            </a:r>
            <a:br>
              <a:rPr lang="bg-BG" sz="2200">
                <a:latin typeface="Arial" charset="0"/>
              </a:rPr>
            </a:br>
            <a:r>
              <a:rPr lang="bg-BG" sz="2200">
                <a:latin typeface="Arial" charset="0"/>
              </a:rPr>
              <a:t>	Даден е ориентиран граф </a:t>
            </a:r>
            <a:r>
              <a:rPr lang="en-US" sz="2200">
                <a:latin typeface="Arial" charset="0"/>
              </a:rPr>
              <a:t>G(V,E)</a:t>
            </a:r>
            <a:r>
              <a:rPr lang="bg-BG" sz="2200">
                <a:latin typeface="Arial" charset="0"/>
              </a:rPr>
              <a:t>, представен чрез матрица на съседство</a:t>
            </a:r>
            <a:r>
              <a:rPr lang="en-US" sz="2200">
                <a:latin typeface="Arial" charset="0"/>
              </a:rPr>
              <a:t> A[ ][ ]</a:t>
            </a:r>
            <a:r>
              <a:rPr lang="bg-BG" sz="2200">
                <a:latin typeface="Arial" charset="0"/>
              </a:rPr>
              <a:t>. Търсим матрица</a:t>
            </a:r>
            <a:r>
              <a:rPr lang="en-US" sz="2200">
                <a:latin typeface="Arial" charset="0"/>
              </a:rPr>
              <a:t> A’[ ][ ]</a:t>
            </a:r>
            <a:r>
              <a:rPr lang="bg-BG" sz="2200">
                <a:latin typeface="Arial" charset="0"/>
              </a:rPr>
              <a:t>, такава, че:</a:t>
            </a:r>
          </a:p>
          <a:p>
            <a:pPr>
              <a:lnSpc>
                <a:spcPct val="110000"/>
              </a:lnSpc>
            </a:pPr>
            <a:r>
              <a:rPr lang="bg-BG" sz="2200">
                <a:latin typeface="Arial" charset="0"/>
              </a:rPr>
              <a:t>     </a:t>
            </a:r>
            <a:r>
              <a:rPr lang="en-US" sz="2200">
                <a:latin typeface="Arial" charset="0"/>
              </a:rPr>
              <a:t>     </a:t>
            </a:r>
            <a:r>
              <a:rPr lang="bg-BG" sz="2200">
                <a:latin typeface="Arial" charset="0"/>
              </a:rPr>
              <a:t>- </a:t>
            </a:r>
            <a:r>
              <a:rPr lang="en-US" sz="2200">
                <a:latin typeface="Arial" charset="0"/>
              </a:rPr>
              <a:t>A’[i][j]</a:t>
            </a:r>
            <a:r>
              <a:rPr lang="bg-BG" sz="2200">
                <a:latin typeface="Arial" charset="0"/>
              </a:rPr>
              <a:t>==1, тогава и само тогава, когато съществува</a:t>
            </a:r>
            <a:r>
              <a:rPr lang="en-US" sz="2200">
                <a:latin typeface="Arial" charset="0"/>
              </a:rPr>
              <a:t> </a:t>
            </a:r>
            <a:r>
              <a:rPr lang="bg-BG" sz="2200">
                <a:latin typeface="Arial" charset="0"/>
              </a:rPr>
              <a:t> път (с каквато и да е дължина) между върховете </a:t>
            </a:r>
            <a:r>
              <a:rPr lang="en-US" sz="2200">
                <a:latin typeface="Arial" charset="0"/>
              </a:rPr>
              <a:t>i </a:t>
            </a:r>
            <a:r>
              <a:rPr lang="bg-BG" sz="2200">
                <a:latin typeface="Arial" charset="0"/>
              </a:rPr>
              <a:t>и</a:t>
            </a:r>
            <a:r>
              <a:rPr lang="en-US" sz="2200">
                <a:latin typeface="Arial" charset="0"/>
              </a:rPr>
              <a:t> j.</a:t>
            </a:r>
            <a:r>
              <a:rPr lang="bg-BG" sz="2200">
                <a:latin typeface="Arial" charset="0"/>
              </a:rPr>
              <a:t/>
            </a:r>
            <a:br>
              <a:rPr lang="bg-BG" sz="2200">
                <a:latin typeface="Arial" charset="0"/>
              </a:rPr>
            </a:br>
            <a:r>
              <a:rPr lang="bg-BG" sz="2200">
                <a:latin typeface="Arial" charset="0"/>
              </a:rPr>
              <a:t>	- </a:t>
            </a:r>
            <a:r>
              <a:rPr lang="en-US" sz="2200">
                <a:latin typeface="Arial" charset="0"/>
              </a:rPr>
              <a:t>A’[i][j]</a:t>
            </a:r>
            <a:r>
              <a:rPr lang="bg-BG" sz="2200">
                <a:latin typeface="Arial" charset="0"/>
              </a:rPr>
              <a:t>==0,</a:t>
            </a:r>
            <a:r>
              <a:rPr lang="en-US" sz="2200">
                <a:latin typeface="Arial" charset="0"/>
              </a:rPr>
              <a:t> </a:t>
            </a:r>
            <a:r>
              <a:rPr lang="bg-BG" sz="2200">
                <a:latin typeface="Arial" charset="0"/>
              </a:rPr>
              <a:t>когато път между двата върха не </a:t>
            </a:r>
            <a:r>
              <a:rPr lang="en-US" sz="2200">
                <a:latin typeface="Arial" charset="0"/>
              </a:rPr>
              <a:t/>
            </a:r>
            <a:br>
              <a:rPr lang="en-US" sz="2200">
                <a:latin typeface="Arial" charset="0"/>
              </a:rPr>
            </a:br>
            <a:r>
              <a:rPr lang="en-US" sz="2200">
                <a:latin typeface="Arial" charset="0"/>
              </a:rPr>
              <a:t>             </a:t>
            </a:r>
            <a:r>
              <a:rPr lang="bg-BG" sz="2200">
                <a:latin typeface="Arial" charset="0"/>
              </a:rPr>
              <a:t>съществува.</a:t>
            </a:r>
            <a:br>
              <a:rPr lang="bg-BG" sz="2200">
                <a:latin typeface="Arial" charset="0"/>
              </a:rPr>
            </a:br>
            <a:r>
              <a:rPr lang="en-US" sz="2200">
                <a:latin typeface="Arial" charset="0"/>
              </a:rPr>
              <a:t/>
            </a:r>
            <a:br>
              <a:rPr lang="en-US" sz="2200">
                <a:latin typeface="Arial" charset="0"/>
              </a:rPr>
            </a:br>
            <a:r>
              <a:rPr lang="en-US" sz="2200">
                <a:latin typeface="Arial" charset="0"/>
              </a:rPr>
              <a:t>	</a:t>
            </a:r>
            <a:r>
              <a:rPr lang="bg-BG" sz="2200">
                <a:latin typeface="Arial" charset="0"/>
              </a:rPr>
              <a:t>Алгоритъмът за решаване на тази задача носи името на Уоршал и резултатът от прилагането му – матрицата</a:t>
            </a:r>
            <a:r>
              <a:rPr lang="en-US" sz="2200">
                <a:latin typeface="Arial" charset="0"/>
              </a:rPr>
              <a:t/>
            </a:r>
            <a:br>
              <a:rPr lang="en-US" sz="2200">
                <a:latin typeface="Arial" charset="0"/>
              </a:rPr>
            </a:br>
            <a:r>
              <a:rPr lang="bg-BG" sz="2200">
                <a:latin typeface="Arial" charset="0"/>
              </a:rPr>
              <a:t> </a:t>
            </a:r>
            <a:r>
              <a:rPr lang="en-US" sz="2200">
                <a:latin typeface="Arial" charset="0"/>
              </a:rPr>
              <a:t>A’[ ][ ]</a:t>
            </a:r>
            <a:r>
              <a:rPr lang="bg-BG" sz="2200">
                <a:latin typeface="Arial" charset="0"/>
              </a:rPr>
              <a:t>, се нарича </a:t>
            </a:r>
            <a:r>
              <a:rPr lang="bg-BG" sz="2200" i="1">
                <a:latin typeface="Arial" charset="0"/>
              </a:rPr>
              <a:t>матрица на достижимост</a:t>
            </a:r>
            <a:r>
              <a:rPr lang="bg-BG" sz="2200">
                <a:latin typeface="Arial" charset="0"/>
              </a:rPr>
              <a:t> на графа. Графът </a:t>
            </a:r>
            <a:r>
              <a:rPr lang="en-US" sz="2200">
                <a:latin typeface="Arial" charset="0"/>
              </a:rPr>
              <a:t>G</a:t>
            </a:r>
            <a:r>
              <a:rPr lang="bg-BG" sz="2200">
                <a:latin typeface="Arial" charset="0"/>
              </a:rPr>
              <a:t>’</a:t>
            </a:r>
            <a:r>
              <a:rPr lang="en-US" sz="2200">
                <a:latin typeface="Arial" charset="0"/>
              </a:rPr>
              <a:t>(V, E</a:t>
            </a:r>
            <a:r>
              <a:rPr lang="bg-BG" sz="2200">
                <a:latin typeface="Arial" charset="0"/>
              </a:rPr>
              <a:t>’</a:t>
            </a:r>
            <a:r>
              <a:rPr lang="en-US" sz="2200">
                <a:latin typeface="Arial" charset="0"/>
              </a:rPr>
              <a:t>)</a:t>
            </a:r>
            <a:r>
              <a:rPr lang="bg-BG" sz="2200">
                <a:latin typeface="Arial" charset="0"/>
              </a:rPr>
              <a:t>, съответен на матрицата </a:t>
            </a:r>
            <a:r>
              <a:rPr lang="en-US" sz="2200">
                <a:latin typeface="Arial" charset="0"/>
              </a:rPr>
              <a:t>A’[ ][ ]</a:t>
            </a:r>
            <a:r>
              <a:rPr lang="bg-BG" sz="2200">
                <a:latin typeface="Arial" charset="0"/>
              </a:rPr>
              <a:t> (ако я разглеждаме като матрица на съседство), се нарича </a:t>
            </a:r>
            <a:r>
              <a:rPr lang="bg-BG" sz="2200" i="1">
                <a:latin typeface="Arial" charset="0"/>
              </a:rPr>
              <a:t>транзитивно затворен</a:t>
            </a:r>
            <a:r>
              <a:rPr lang="bg-BG" sz="2200">
                <a:latin typeface="Arial" charset="0"/>
              </a:rPr>
              <a:t> </a:t>
            </a:r>
            <a:r>
              <a:rPr lang="bg-BG" sz="2200" i="1">
                <a:latin typeface="Arial" charset="0"/>
              </a:rPr>
              <a:t>граф</a:t>
            </a:r>
            <a:r>
              <a:rPr lang="bg-BG" sz="2200">
                <a:latin typeface="Arial" charset="0"/>
              </a:rPr>
              <a:t> на </a:t>
            </a:r>
            <a:r>
              <a:rPr lang="en-US" sz="2200">
                <a:latin typeface="Arial" charset="0"/>
              </a:rPr>
              <a:t>G</a:t>
            </a:r>
            <a:r>
              <a:rPr lang="bg-BG" sz="2200">
                <a:latin typeface="Arial" charset="0"/>
              </a:rPr>
              <a:t>.</a:t>
            </a:r>
            <a:r>
              <a:rPr lang="bg-BG" sz="4400">
                <a:latin typeface="Arial" charset="0"/>
              </a:rPr>
              <a:t/>
            </a:r>
            <a:br>
              <a:rPr lang="bg-BG" sz="4400">
                <a:latin typeface="Arial" charset="0"/>
              </a:rPr>
            </a:br>
            <a:endParaRPr lang="en-US" sz="440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9C9EF6-9E8A-4C4D-B7A2-A0A28FAD388B}" type="slidenum">
              <a:rPr lang="en-US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/>
          <p:cNvGrpSpPr>
            <a:grpSpLocks/>
          </p:cNvGrpSpPr>
          <p:nvPr/>
        </p:nvGrpSpPr>
        <p:grpSpPr bwMode="auto">
          <a:xfrm>
            <a:off x="1981200" y="1417638"/>
            <a:ext cx="1828800" cy="1752600"/>
            <a:chOff x="2679" y="4047"/>
            <a:chExt cx="1938" cy="1824"/>
          </a:xfrm>
        </p:grpSpPr>
        <p:sp>
          <p:nvSpPr>
            <p:cNvPr id="38944" name="Oval 3"/>
            <p:cNvSpPr>
              <a:spLocks noChangeArrowheads="1"/>
            </p:cNvSpPr>
            <p:nvPr/>
          </p:nvSpPr>
          <p:spPr bwMode="auto">
            <a:xfrm>
              <a:off x="3420" y="4047"/>
              <a:ext cx="456" cy="4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45" name="Oval 4"/>
            <p:cNvSpPr>
              <a:spLocks noChangeArrowheads="1"/>
            </p:cNvSpPr>
            <p:nvPr/>
          </p:nvSpPr>
          <p:spPr bwMode="auto">
            <a:xfrm>
              <a:off x="4161" y="4503"/>
              <a:ext cx="456" cy="4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46" name="Oval 5"/>
            <p:cNvSpPr>
              <a:spLocks noChangeArrowheads="1"/>
            </p:cNvSpPr>
            <p:nvPr/>
          </p:nvSpPr>
          <p:spPr bwMode="auto">
            <a:xfrm>
              <a:off x="3933" y="5415"/>
              <a:ext cx="456" cy="4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47" name="Oval 6"/>
            <p:cNvSpPr>
              <a:spLocks noChangeArrowheads="1"/>
            </p:cNvSpPr>
            <p:nvPr/>
          </p:nvSpPr>
          <p:spPr bwMode="auto">
            <a:xfrm>
              <a:off x="2964" y="5415"/>
              <a:ext cx="456" cy="4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48" name="Oval 7"/>
            <p:cNvSpPr>
              <a:spLocks noChangeArrowheads="1"/>
            </p:cNvSpPr>
            <p:nvPr/>
          </p:nvSpPr>
          <p:spPr bwMode="auto">
            <a:xfrm>
              <a:off x="2679" y="4560"/>
              <a:ext cx="456" cy="4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49" name="Line 8"/>
            <p:cNvSpPr>
              <a:spLocks noChangeShapeType="1"/>
            </p:cNvSpPr>
            <p:nvPr/>
          </p:nvSpPr>
          <p:spPr bwMode="auto">
            <a:xfrm flipH="1">
              <a:off x="3021" y="4332"/>
              <a:ext cx="399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50" name="Line 9"/>
            <p:cNvSpPr>
              <a:spLocks noChangeShapeType="1"/>
            </p:cNvSpPr>
            <p:nvPr/>
          </p:nvSpPr>
          <p:spPr bwMode="auto">
            <a:xfrm flipH="1">
              <a:off x="3249" y="4503"/>
              <a:ext cx="399" cy="9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51" name="Line 10"/>
            <p:cNvSpPr>
              <a:spLocks noChangeShapeType="1"/>
            </p:cNvSpPr>
            <p:nvPr/>
          </p:nvSpPr>
          <p:spPr bwMode="auto">
            <a:xfrm flipH="1" flipV="1">
              <a:off x="3819" y="4389"/>
              <a:ext cx="399" cy="1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52" name="Line 11"/>
            <p:cNvSpPr>
              <a:spLocks noChangeShapeType="1"/>
            </p:cNvSpPr>
            <p:nvPr/>
          </p:nvSpPr>
          <p:spPr bwMode="auto">
            <a:xfrm>
              <a:off x="3420" y="5757"/>
              <a:ext cx="5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53" name="Line 12"/>
            <p:cNvSpPr>
              <a:spLocks noChangeShapeType="1"/>
            </p:cNvSpPr>
            <p:nvPr/>
          </p:nvSpPr>
          <p:spPr bwMode="auto">
            <a:xfrm>
              <a:off x="2850" y="5016"/>
              <a:ext cx="171" cy="4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</p:grpSp>
      <p:grpSp>
        <p:nvGrpSpPr>
          <p:cNvPr id="38915" name="Group 13"/>
          <p:cNvGrpSpPr>
            <a:grpSpLocks/>
          </p:cNvGrpSpPr>
          <p:nvPr/>
        </p:nvGrpSpPr>
        <p:grpSpPr bwMode="auto">
          <a:xfrm>
            <a:off x="5562600" y="1366838"/>
            <a:ext cx="1828800" cy="1828800"/>
            <a:chOff x="7410" y="4047"/>
            <a:chExt cx="1938" cy="1824"/>
          </a:xfrm>
        </p:grpSpPr>
        <p:sp>
          <p:nvSpPr>
            <p:cNvPr id="38929" name="Oval 14"/>
            <p:cNvSpPr>
              <a:spLocks noChangeArrowheads="1"/>
            </p:cNvSpPr>
            <p:nvPr/>
          </p:nvSpPr>
          <p:spPr bwMode="auto">
            <a:xfrm>
              <a:off x="8151" y="4047"/>
              <a:ext cx="456" cy="4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30" name="Oval 15"/>
            <p:cNvSpPr>
              <a:spLocks noChangeArrowheads="1"/>
            </p:cNvSpPr>
            <p:nvPr/>
          </p:nvSpPr>
          <p:spPr bwMode="auto">
            <a:xfrm>
              <a:off x="8892" y="4503"/>
              <a:ext cx="456" cy="4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31" name="Oval 16"/>
            <p:cNvSpPr>
              <a:spLocks noChangeArrowheads="1"/>
            </p:cNvSpPr>
            <p:nvPr/>
          </p:nvSpPr>
          <p:spPr bwMode="auto">
            <a:xfrm>
              <a:off x="8664" y="5415"/>
              <a:ext cx="456" cy="4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32" name="Oval 17"/>
            <p:cNvSpPr>
              <a:spLocks noChangeArrowheads="1"/>
            </p:cNvSpPr>
            <p:nvPr/>
          </p:nvSpPr>
          <p:spPr bwMode="auto">
            <a:xfrm>
              <a:off x="7695" y="5415"/>
              <a:ext cx="456" cy="4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33" name="Oval 18"/>
            <p:cNvSpPr>
              <a:spLocks noChangeArrowheads="1"/>
            </p:cNvSpPr>
            <p:nvPr/>
          </p:nvSpPr>
          <p:spPr bwMode="auto">
            <a:xfrm>
              <a:off x="7410" y="4560"/>
              <a:ext cx="456" cy="4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34" name="Line 19"/>
            <p:cNvSpPr>
              <a:spLocks noChangeShapeType="1"/>
            </p:cNvSpPr>
            <p:nvPr/>
          </p:nvSpPr>
          <p:spPr bwMode="auto">
            <a:xfrm flipH="1">
              <a:off x="7752" y="4332"/>
              <a:ext cx="399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35" name="Line 20"/>
            <p:cNvSpPr>
              <a:spLocks noChangeShapeType="1"/>
            </p:cNvSpPr>
            <p:nvPr/>
          </p:nvSpPr>
          <p:spPr bwMode="auto">
            <a:xfrm flipH="1">
              <a:off x="7980" y="4503"/>
              <a:ext cx="399" cy="9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36" name="Line 21"/>
            <p:cNvSpPr>
              <a:spLocks noChangeShapeType="1"/>
            </p:cNvSpPr>
            <p:nvPr/>
          </p:nvSpPr>
          <p:spPr bwMode="auto">
            <a:xfrm flipH="1" flipV="1">
              <a:off x="8550" y="4389"/>
              <a:ext cx="399" cy="1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37" name="Line 22"/>
            <p:cNvSpPr>
              <a:spLocks noChangeShapeType="1"/>
            </p:cNvSpPr>
            <p:nvPr/>
          </p:nvSpPr>
          <p:spPr bwMode="auto">
            <a:xfrm>
              <a:off x="8151" y="5757"/>
              <a:ext cx="5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38" name="Line 23"/>
            <p:cNvSpPr>
              <a:spLocks noChangeShapeType="1"/>
            </p:cNvSpPr>
            <p:nvPr/>
          </p:nvSpPr>
          <p:spPr bwMode="auto">
            <a:xfrm>
              <a:off x="7581" y="5016"/>
              <a:ext cx="171" cy="4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39" name="Line 24"/>
            <p:cNvSpPr>
              <a:spLocks noChangeShapeType="1"/>
            </p:cNvSpPr>
            <p:nvPr/>
          </p:nvSpPr>
          <p:spPr bwMode="auto">
            <a:xfrm flipH="1">
              <a:off x="7866" y="4731"/>
              <a:ext cx="10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40" name="Line 25"/>
            <p:cNvSpPr>
              <a:spLocks noChangeShapeType="1"/>
            </p:cNvSpPr>
            <p:nvPr/>
          </p:nvSpPr>
          <p:spPr bwMode="auto">
            <a:xfrm>
              <a:off x="7809" y="4902"/>
              <a:ext cx="855" cy="6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41" name="Line 26"/>
            <p:cNvSpPr>
              <a:spLocks noChangeShapeType="1"/>
            </p:cNvSpPr>
            <p:nvPr/>
          </p:nvSpPr>
          <p:spPr bwMode="auto">
            <a:xfrm flipH="1">
              <a:off x="9006" y="5016"/>
              <a:ext cx="114" cy="4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42" name="Line 27"/>
            <p:cNvSpPr>
              <a:spLocks noChangeShapeType="1"/>
            </p:cNvSpPr>
            <p:nvPr/>
          </p:nvSpPr>
          <p:spPr bwMode="auto">
            <a:xfrm flipH="1">
              <a:off x="8151" y="4902"/>
              <a:ext cx="798" cy="6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43" name="Line 28"/>
            <p:cNvSpPr>
              <a:spLocks noChangeShapeType="1"/>
            </p:cNvSpPr>
            <p:nvPr/>
          </p:nvSpPr>
          <p:spPr bwMode="auto">
            <a:xfrm>
              <a:off x="8493" y="4503"/>
              <a:ext cx="399" cy="9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38916" name="Rectangle 29"/>
          <p:cNvSpPr>
            <a:spLocks noChangeArrowheads="1"/>
          </p:cNvSpPr>
          <p:nvPr/>
        </p:nvSpPr>
        <p:spPr bwMode="auto">
          <a:xfrm>
            <a:off x="1116013" y="609600"/>
            <a:ext cx="7718425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bg-BG">
                <a:latin typeface="Arial" charset="0"/>
              </a:rPr>
              <a:t/>
            </a:r>
            <a:br>
              <a:rPr lang="bg-BG">
                <a:latin typeface="Arial" charset="0"/>
              </a:rPr>
            </a:br>
            <a:r>
              <a:rPr lang="en-US">
                <a:latin typeface="Arial" charset="0"/>
              </a:rPr>
              <a:t/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/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/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  </a:t>
            </a:r>
            <a:r>
              <a:rPr lang="bg-BG">
                <a:latin typeface="Arial" charset="0"/>
              </a:rPr>
              <a:t>Например:</a:t>
            </a:r>
          </a:p>
          <a:p>
            <a:r>
              <a:rPr lang="bg-BG">
                <a:latin typeface="Arial" charset="0"/>
              </a:rPr>
              <a:t>  </a:t>
            </a:r>
            <a:r>
              <a:rPr lang="en-US">
                <a:latin typeface="Arial" charset="0"/>
              </a:rPr>
              <a:t> </a:t>
            </a:r>
            <a:r>
              <a:rPr lang="bg-BG">
                <a:latin typeface="Arial" charset="0"/>
              </a:rPr>
              <a:t>  </a:t>
            </a:r>
            <a:r>
              <a:rPr lang="en-US">
                <a:latin typeface="Arial" charset="0"/>
              </a:rPr>
              <a:t> </a:t>
            </a:r>
            <a:r>
              <a:rPr lang="bg-BG">
                <a:latin typeface="Arial" charset="0"/>
              </a:rPr>
              <a:t> 	</a:t>
            </a:r>
            <a:r>
              <a:rPr lang="en-US">
                <a:latin typeface="Arial" charset="0"/>
              </a:rPr>
              <a:t>G				 G’</a:t>
            </a:r>
            <a:br>
              <a:rPr lang="en-US">
                <a:latin typeface="Arial" charset="0"/>
              </a:rPr>
            </a:br>
            <a:r>
              <a:rPr lang="en-US" sz="4400">
                <a:latin typeface="Arial" charset="0"/>
              </a:rPr>
              <a:t/>
            </a:r>
            <a:br>
              <a:rPr lang="en-US" sz="4400">
                <a:latin typeface="Arial" charset="0"/>
              </a:rPr>
            </a:br>
            <a:r>
              <a:rPr lang="en-US" sz="4400">
                <a:latin typeface="Arial" charset="0"/>
              </a:rPr>
              <a:t/>
            </a:r>
            <a:br>
              <a:rPr lang="en-US" sz="4400">
                <a:latin typeface="Arial" charset="0"/>
              </a:rPr>
            </a:br>
            <a:r>
              <a:rPr lang="en-US" sz="4400">
                <a:latin typeface="Arial" charset="0"/>
              </a:rPr>
              <a:t/>
            </a:r>
            <a:br>
              <a:rPr lang="en-US" sz="4400">
                <a:latin typeface="Arial" charset="0"/>
              </a:rPr>
            </a:br>
            <a:r>
              <a:rPr lang="bg-BG">
                <a:latin typeface="Arial" charset="0"/>
              </a:rPr>
              <a:t>Алгоритъмът на Уоршал има сложност </a:t>
            </a:r>
            <a:r>
              <a:rPr lang="en-US">
                <a:latin typeface="Arial" charset="0"/>
              </a:rPr>
              <a:t>O(n</a:t>
            </a:r>
            <a:r>
              <a:rPr lang="en-US" b="1" baseline="30000">
                <a:latin typeface="Arial" charset="0"/>
              </a:rPr>
              <a:t>3</a:t>
            </a:r>
            <a:r>
              <a:rPr lang="en-US">
                <a:latin typeface="Arial" charset="0"/>
              </a:rPr>
              <a:t>) </a:t>
            </a:r>
            <a:r>
              <a:rPr lang="bg-BG">
                <a:latin typeface="Arial" charset="0"/>
              </a:rPr>
              <a:t>и процедира по следния начин: за всеки три върха </a:t>
            </a:r>
            <a:r>
              <a:rPr lang="en-US">
                <a:latin typeface="Arial" charset="0"/>
              </a:rPr>
              <a:t>k, i, j </a:t>
            </a:r>
            <a:r>
              <a:rPr lang="bg-BG">
                <a:latin typeface="Arial" charset="0"/>
              </a:rPr>
              <a:t>принадлежащи на </a:t>
            </a:r>
            <a:r>
              <a:rPr lang="en-US">
                <a:latin typeface="Arial" charset="0"/>
              </a:rPr>
              <a:t> V</a:t>
            </a:r>
            <a:r>
              <a:rPr lang="bg-BG">
                <a:latin typeface="Arial" charset="0"/>
              </a:rPr>
              <a:t>, ако</a:t>
            </a:r>
            <a:r>
              <a:rPr lang="en-US">
                <a:latin typeface="Arial" charset="0"/>
              </a:rPr>
              <a:t> (i,k) </a:t>
            </a:r>
            <a:r>
              <a:rPr lang="bg-BG">
                <a:latin typeface="Arial" charset="0"/>
              </a:rPr>
              <a:t>принадлежи на </a:t>
            </a:r>
            <a:r>
              <a:rPr lang="en-US">
                <a:latin typeface="Arial" charset="0"/>
              </a:rPr>
              <a:t>Е и (k,j) </a:t>
            </a:r>
            <a:r>
              <a:rPr lang="bg-BG">
                <a:latin typeface="Arial" charset="0"/>
              </a:rPr>
              <a:t>принадлежи на </a:t>
            </a:r>
            <a:r>
              <a:rPr lang="en-US">
                <a:latin typeface="Arial" charset="0"/>
              </a:rPr>
              <a:t>E</a:t>
            </a:r>
            <a:r>
              <a:rPr lang="bg-BG">
                <a:latin typeface="Arial" charset="0"/>
              </a:rPr>
              <a:t>, то добавяме в множеството от дъги на графа </a:t>
            </a:r>
            <a:r>
              <a:rPr lang="en-US">
                <a:latin typeface="Arial" charset="0"/>
              </a:rPr>
              <a:t>G’ </a:t>
            </a:r>
            <a:r>
              <a:rPr lang="bg-BG">
                <a:latin typeface="Arial" charset="0"/>
              </a:rPr>
              <a:t>и дъгата</a:t>
            </a:r>
            <a:r>
              <a:rPr lang="en-US">
                <a:latin typeface="Arial" charset="0"/>
              </a:rPr>
              <a:t> (i,j)</a:t>
            </a:r>
            <a:r>
              <a:rPr lang="bg-BG">
                <a:latin typeface="Arial" charset="0"/>
              </a:rPr>
              <a:t>:</a:t>
            </a:r>
            <a:br>
              <a:rPr lang="bg-BG">
                <a:latin typeface="Arial" charset="0"/>
              </a:rPr>
            </a:br>
            <a:r>
              <a:rPr lang="en-US" sz="4400">
                <a:latin typeface="Arial" charset="0"/>
              </a:rPr>
              <a:t/>
            </a:r>
            <a:br>
              <a:rPr lang="en-US" sz="4400">
                <a:latin typeface="Arial" charset="0"/>
              </a:rPr>
            </a:br>
            <a:r>
              <a:rPr lang="en-US" sz="4400">
                <a:latin typeface="Arial" charset="0"/>
              </a:rPr>
              <a:t/>
            </a:r>
            <a:br>
              <a:rPr lang="en-US" sz="4400">
                <a:latin typeface="Arial" charset="0"/>
              </a:rPr>
            </a:br>
            <a:r>
              <a:rPr lang="en-US" sz="4400">
                <a:latin typeface="Arial" charset="0"/>
              </a:rPr>
              <a:t/>
            </a:r>
            <a:br>
              <a:rPr lang="en-US" sz="4400">
                <a:latin typeface="Arial" charset="0"/>
              </a:rPr>
            </a:br>
            <a:endParaRPr lang="en-US" sz="4400">
              <a:latin typeface="Arial" charset="0"/>
            </a:endParaRPr>
          </a:p>
        </p:txBody>
      </p:sp>
      <p:grpSp>
        <p:nvGrpSpPr>
          <p:cNvPr id="38917" name="Group 30"/>
          <p:cNvGrpSpPr>
            <a:grpSpLocks/>
          </p:cNvGrpSpPr>
          <p:nvPr/>
        </p:nvGrpSpPr>
        <p:grpSpPr bwMode="auto">
          <a:xfrm>
            <a:off x="3200400" y="5502275"/>
            <a:ext cx="3048000" cy="990600"/>
            <a:chOff x="4617" y="7239"/>
            <a:chExt cx="3534" cy="1197"/>
          </a:xfrm>
        </p:grpSpPr>
        <p:grpSp>
          <p:nvGrpSpPr>
            <p:cNvPr id="38919" name="Group 31"/>
            <p:cNvGrpSpPr>
              <a:grpSpLocks/>
            </p:cNvGrpSpPr>
            <p:nvPr/>
          </p:nvGrpSpPr>
          <p:grpSpPr bwMode="auto">
            <a:xfrm>
              <a:off x="4617" y="7239"/>
              <a:ext cx="627" cy="627"/>
              <a:chOff x="4617" y="7239"/>
              <a:chExt cx="627" cy="627"/>
            </a:xfrm>
          </p:grpSpPr>
          <p:sp>
            <p:nvSpPr>
              <p:cNvPr id="38927" name="Oval 32"/>
              <p:cNvSpPr>
                <a:spLocks noChangeArrowheads="1"/>
              </p:cNvSpPr>
              <p:nvPr/>
            </p:nvSpPr>
            <p:spPr bwMode="auto">
              <a:xfrm>
                <a:off x="4617" y="7239"/>
                <a:ext cx="627" cy="62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8928" name="Text Box 33"/>
              <p:cNvSpPr txBox="1">
                <a:spLocks noChangeArrowheads="1"/>
              </p:cNvSpPr>
              <p:nvPr/>
            </p:nvSpPr>
            <p:spPr bwMode="auto">
              <a:xfrm>
                <a:off x="4788" y="7353"/>
                <a:ext cx="342" cy="399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latin typeface="Arial" charset="0"/>
                  </a:rPr>
                  <a:t>i</a:t>
                </a:r>
                <a:endParaRPr lang="en-US" sz="1200">
                  <a:latin typeface="Arial" charset="0"/>
                </a:endParaRPr>
              </a:p>
            </p:txBody>
          </p:sp>
        </p:grpSp>
        <p:sp>
          <p:nvSpPr>
            <p:cNvPr id="38920" name="Oval 34"/>
            <p:cNvSpPr>
              <a:spLocks noChangeArrowheads="1"/>
            </p:cNvSpPr>
            <p:nvPr/>
          </p:nvSpPr>
          <p:spPr bwMode="auto">
            <a:xfrm>
              <a:off x="6042" y="7809"/>
              <a:ext cx="627" cy="6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21" name="Text Box 35"/>
            <p:cNvSpPr txBox="1">
              <a:spLocks noChangeArrowheads="1"/>
            </p:cNvSpPr>
            <p:nvPr/>
          </p:nvSpPr>
          <p:spPr bwMode="auto">
            <a:xfrm>
              <a:off x="6156" y="7923"/>
              <a:ext cx="456" cy="45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>
                  <a:latin typeface="Arial" charset="0"/>
                </a:rPr>
                <a:t>k</a:t>
              </a:r>
              <a:endParaRPr lang="en-US" sz="1200">
                <a:latin typeface="Arial" charset="0"/>
              </a:endParaRPr>
            </a:p>
          </p:txBody>
        </p:sp>
        <p:sp>
          <p:nvSpPr>
            <p:cNvPr id="38922" name="Oval 36"/>
            <p:cNvSpPr>
              <a:spLocks noChangeArrowheads="1"/>
            </p:cNvSpPr>
            <p:nvPr/>
          </p:nvSpPr>
          <p:spPr bwMode="auto">
            <a:xfrm>
              <a:off x="7524" y="7296"/>
              <a:ext cx="627" cy="62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23" name="Text Box 37"/>
            <p:cNvSpPr txBox="1">
              <a:spLocks noChangeArrowheads="1"/>
            </p:cNvSpPr>
            <p:nvPr/>
          </p:nvSpPr>
          <p:spPr bwMode="auto">
            <a:xfrm>
              <a:off x="7695" y="7410"/>
              <a:ext cx="342" cy="45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>
                  <a:latin typeface="Arial" charset="0"/>
                </a:rPr>
                <a:t>j</a:t>
              </a:r>
            </a:p>
          </p:txBody>
        </p:sp>
        <p:sp>
          <p:nvSpPr>
            <p:cNvPr id="38924" name="Line 38"/>
            <p:cNvSpPr>
              <a:spLocks noChangeShapeType="1"/>
            </p:cNvSpPr>
            <p:nvPr/>
          </p:nvSpPr>
          <p:spPr bwMode="auto">
            <a:xfrm>
              <a:off x="5301" y="7581"/>
              <a:ext cx="222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25" name="Line 39"/>
            <p:cNvSpPr>
              <a:spLocks noChangeShapeType="1"/>
            </p:cNvSpPr>
            <p:nvPr/>
          </p:nvSpPr>
          <p:spPr bwMode="auto">
            <a:xfrm>
              <a:off x="5244" y="7752"/>
              <a:ext cx="798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8926" name="Line 40"/>
            <p:cNvSpPr>
              <a:spLocks noChangeShapeType="1"/>
            </p:cNvSpPr>
            <p:nvPr/>
          </p:nvSpPr>
          <p:spPr bwMode="auto">
            <a:xfrm flipV="1">
              <a:off x="6726" y="7809"/>
              <a:ext cx="798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A15462-74C2-4EBE-9CC3-E2ED0CE2EF6D}" type="slidenum">
              <a:rPr lang="en-US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982663" y="914400"/>
            <a:ext cx="8367712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bg-BG">
                <a:latin typeface="Arial" charset="0"/>
              </a:rPr>
              <a:t>	Разглеждането на тройки върхове се извършва чрез три вложени цикъла по следния начин</a:t>
            </a:r>
            <a:r>
              <a:rPr lang="en-US">
                <a:latin typeface="Arial" charset="0"/>
              </a:rPr>
              <a:t>: </a:t>
            </a:r>
            <a:r>
              <a:rPr lang="bg-BG">
                <a:latin typeface="Arial" charset="0"/>
              </a:rPr>
              <a:t/>
            </a:r>
            <a:br>
              <a:rPr lang="bg-BG">
                <a:latin typeface="Arial" charset="0"/>
              </a:rPr>
            </a:br>
            <a:r>
              <a:rPr lang="en-US">
                <a:latin typeface="Arial" charset="0"/>
              </a:rPr>
              <a:t>…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// </a:t>
            </a:r>
            <a:r>
              <a:rPr lang="bg-BG">
                <a:latin typeface="Arial" charset="0"/>
              </a:rPr>
              <a:t>Описание на алгоритъма на Уоршал:</a:t>
            </a:r>
            <a:br>
              <a:rPr lang="bg-BG">
                <a:latin typeface="Arial" charset="0"/>
              </a:rPr>
            </a:br>
            <a:r>
              <a:rPr lang="en-US">
                <a:latin typeface="Arial" charset="0"/>
              </a:rPr>
              <a:t>for (k=0; k&lt;n; k++)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      for (i=0; i&lt;n; i++)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           if (a[i][k])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               for (j=0; j&lt;n; j++) 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                   if (a[k][j])     a[i][j]=1;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…</a:t>
            </a:r>
            <a:br>
              <a:rPr lang="en-US">
                <a:latin typeface="Arial" charset="0"/>
              </a:rPr>
            </a:br>
            <a:r>
              <a:rPr lang="en-US" sz="800">
                <a:latin typeface="Arial" charset="0"/>
              </a:rPr>
              <a:t/>
            </a:r>
            <a:br>
              <a:rPr lang="en-US" sz="800">
                <a:latin typeface="Arial" charset="0"/>
              </a:rPr>
            </a:br>
            <a:r>
              <a:rPr lang="bg-BG">
                <a:latin typeface="Arial" charset="0"/>
              </a:rPr>
              <a:t>След изпълнението на програмния фрагмент матрицата А</a:t>
            </a:r>
            <a:r>
              <a:rPr lang="en-US">
                <a:latin typeface="Arial" charset="0"/>
              </a:rPr>
              <a:t>[ ] [ ] </a:t>
            </a:r>
            <a:r>
              <a:rPr lang="bg-BG">
                <a:latin typeface="Arial" charset="0"/>
              </a:rPr>
              <a:t>ще бъде модифицирана до търсената матрица на достижимост А’</a:t>
            </a:r>
            <a:r>
              <a:rPr lang="en-US">
                <a:latin typeface="Arial" charset="0"/>
              </a:rPr>
              <a:t>[ ] [ ]</a:t>
            </a:r>
            <a:r>
              <a:rPr lang="bg-BG">
                <a:latin typeface="Arial" charset="0"/>
              </a:rPr>
              <a:t>, отговаряща на новия граф </a:t>
            </a:r>
            <a:r>
              <a:rPr lang="en-US">
                <a:latin typeface="Arial" charset="0"/>
              </a:rPr>
              <a:t>G’</a:t>
            </a:r>
            <a:r>
              <a:rPr lang="bg-BG">
                <a:latin typeface="Arial" charset="0"/>
              </a:rPr>
              <a:t>.</a:t>
            </a:r>
            <a:r>
              <a:rPr lang="bg-BG" sz="4400">
                <a:latin typeface="Arial" charset="0"/>
              </a:rPr>
              <a:t/>
            </a:r>
            <a:br>
              <a:rPr lang="bg-BG" sz="4400">
                <a:latin typeface="Arial" charset="0"/>
              </a:rPr>
            </a:br>
            <a:endParaRPr lang="en-US" sz="440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DBAC95-C86C-4623-BA81-DFD05914A21D}" type="slidenum">
              <a:rPr lang="en-US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936625" y="152400"/>
            <a:ext cx="8448675" cy="67056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400" i="1">
                <a:solidFill>
                  <a:schemeClr val="tx2">
                    <a:satMod val="130000"/>
                  </a:schemeClr>
                </a:solidFill>
              </a:rPr>
              <a:t>            </a:t>
            </a:r>
            <a:r>
              <a:rPr lang="bg-BG" sz="2400" i="1" u="sng">
                <a:solidFill>
                  <a:schemeClr val="tx1"/>
                </a:solidFill>
              </a:rPr>
              <a:t>Контрол на компании</a:t>
            </a: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	Задача: Даден е тегловен граф </a:t>
            </a:r>
            <a:r>
              <a:rPr lang="en-US" sz="2400" i="1">
                <a:solidFill>
                  <a:schemeClr val="tx1"/>
                </a:solidFill>
              </a:rPr>
              <a:t>G(V,E)</a:t>
            </a:r>
            <a:r>
              <a:rPr lang="bg-BG" sz="2400">
                <a:solidFill>
                  <a:schemeClr val="tx1"/>
                </a:solidFill>
              </a:rPr>
              <a:t> с тегла на ребрата естествени числа между 0 и 100. Казваме, че върхът </a:t>
            </a:r>
            <a:r>
              <a:rPr lang="en-US" sz="2400">
                <a:solidFill>
                  <a:schemeClr val="tx1"/>
                </a:solidFill>
              </a:rPr>
              <a:t>i </a:t>
            </a:r>
            <a:r>
              <a:rPr lang="bg-BG" sz="2400">
                <a:solidFill>
                  <a:schemeClr val="tx1"/>
                </a:solidFill>
              </a:rPr>
              <a:t>контролира</a:t>
            </a:r>
            <a:r>
              <a:rPr lang="en-US" sz="2400">
                <a:solidFill>
                  <a:schemeClr val="tx1"/>
                </a:solidFill>
              </a:rPr>
              <a:t> j</a:t>
            </a:r>
            <a:r>
              <a:rPr lang="bg-BG" sz="2400">
                <a:solidFill>
                  <a:schemeClr val="tx1"/>
                </a:solidFill>
              </a:rPr>
              <a:t>, ако съществува реброто </a:t>
            </a:r>
            <a:r>
              <a:rPr lang="en-US" sz="2400" i="1">
                <a:solidFill>
                  <a:schemeClr val="tx1"/>
                </a:solidFill>
              </a:rPr>
              <a:t>(i, j)</a:t>
            </a:r>
            <a:r>
              <a:rPr lang="bg-BG" sz="2400">
                <a:solidFill>
                  <a:schemeClr val="tx1"/>
                </a:solidFill>
              </a:rPr>
              <a:t> със стойност &gt;50 или съществува множество от върхове</a:t>
            </a:r>
            <a:r>
              <a:rPr lang="en-US" sz="2400">
                <a:solidFill>
                  <a:schemeClr val="tx1"/>
                </a:solidFill>
              </a:rPr>
              <a:t> </a:t>
            </a:r>
            <a:r>
              <a:rPr lang="en-US" sz="2400" i="1">
                <a:solidFill>
                  <a:schemeClr val="tx1"/>
                </a:solidFill>
              </a:rPr>
              <a:t>v</a:t>
            </a:r>
            <a:r>
              <a:rPr lang="en-US" sz="2400" i="1" baseline="-25000">
                <a:solidFill>
                  <a:schemeClr val="tx1"/>
                </a:solidFill>
              </a:rPr>
              <a:t>1</a:t>
            </a:r>
            <a:r>
              <a:rPr lang="en-US" sz="2400" i="1">
                <a:solidFill>
                  <a:schemeClr val="tx1"/>
                </a:solidFill>
              </a:rPr>
              <a:t>, v</a:t>
            </a:r>
            <a:r>
              <a:rPr lang="en-US" sz="2400" i="1" baseline="-25000">
                <a:solidFill>
                  <a:schemeClr val="tx1"/>
                </a:solidFill>
              </a:rPr>
              <a:t>2</a:t>
            </a:r>
            <a:r>
              <a:rPr lang="en-US" sz="2400" i="1">
                <a:solidFill>
                  <a:schemeClr val="tx1"/>
                </a:solidFill>
              </a:rPr>
              <a:t>, …, v</a:t>
            </a:r>
            <a:r>
              <a:rPr lang="en-US" sz="2400" i="1" baseline="-25000">
                <a:solidFill>
                  <a:schemeClr val="tx1"/>
                </a:solidFill>
              </a:rPr>
              <a:t>k</a:t>
            </a:r>
            <a:r>
              <a:rPr lang="en-US" sz="2400">
                <a:solidFill>
                  <a:schemeClr val="tx1"/>
                </a:solidFill>
              </a:rPr>
              <a:t>, </a:t>
            </a:r>
            <a:r>
              <a:rPr lang="bg-BG" sz="2400">
                <a:solidFill>
                  <a:schemeClr val="tx1"/>
                </a:solidFill>
              </a:rPr>
              <a:t>контролирани от </a:t>
            </a:r>
            <a:r>
              <a:rPr lang="en-US" sz="2400">
                <a:solidFill>
                  <a:schemeClr val="tx1"/>
                </a:solidFill>
              </a:rPr>
              <a:t>i,</a:t>
            </a:r>
            <a:r>
              <a:rPr lang="bg-BG" sz="2400">
                <a:solidFill>
                  <a:schemeClr val="tx1"/>
                </a:solidFill>
              </a:rPr>
              <a:t> ако съществуват ребрата</a:t>
            </a:r>
            <a:r>
              <a:rPr lang="en-US" sz="2400">
                <a:solidFill>
                  <a:schemeClr val="tx1"/>
                </a:solidFill>
              </a:rPr>
              <a:t> (v</a:t>
            </a:r>
            <a:r>
              <a:rPr lang="en-US" sz="2400" baseline="-250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, j) (v</a:t>
            </a:r>
            <a:r>
              <a:rPr lang="en-US" sz="2400" baseline="-25000">
                <a:solidFill>
                  <a:schemeClr val="tx1"/>
                </a:solidFill>
              </a:rPr>
              <a:t>2</a:t>
            </a:r>
            <a:r>
              <a:rPr lang="en-US" sz="2400">
                <a:solidFill>
                  <a:schemeClr val="tx1"/>
                </a:solidFill>
              </a:rPr>
              <a:t>, j),…, (v</a:t>
            </a:r>
            <a:r>
              <a:rPr lang="en-US" sz="2400" baseline="-25000">
                <a:solidFill>
                  <a:schemeClr val="tx1"/>
                </a:solidFill>
              </a:rPr>
              <a:t>k</a:t>
            </a:r>
            <a:r>
              <a:rPr lang="en-US" sz="2400">
                <a:solidFill>
                  <a:schemeClr val="tx1"/>
                </a:solidFill>
              </a:rPr>
              <a:t>, j)</a:t>
            </a:r>
            <a:r>
              <a:rPr lang="bg-BG" sz="2400">
                <a:solidFill>
                  <a:schemeClr val="tx1"/>
                </a:solidFill>
              </a:rPr>
              <a:t>, чиято сума е &gt;50.</a:t>
            </a:r>
            <a:r>
              <a:rPr lang="en-US" sz="2400">
                <a:solidFill>
                  <a:schemeClr val="tx1"/>
                </a:solidFill>
              </a:rPr>
              <a:t>  </a:t>
            </a:r>
            <a:r>
              <a:rPr lang="bg-BG" sz="2400">
                <a:solidFill>
                  <a:schemeClr val="tx1"/>
                </a:solidFill>
              </a:rPr>
              <a:t>Задачата е по зададен връх </a:t>
            </a:r>
            <a:r>
              <a:rPr lang="en-US" sz="2400" i="1">
                <a:solidFill>
                  <a:schemeClr val="tx1"/>
                </a:solidFill>
              </a:rPr>
              <a:t>m</a:t>
            </a:r>
            <a:r>
              <a:rPr lang="en-US" sz="2400">
                <a:solidFill>
                  <a:schemeClr val="tx1"/>
                </a:solidFill>
              </a:rPr>
              <a:t> </a:t>
            </a:r>
            <a:r>
              <a:rPr lang="bg-BG" sz="2400">
                <a:solidFill>
                  <a:schemeClr val="tx1"/>
                </a:solidFill>
              </a:rPr>
              <a:t>да се намерят всички контролирани от </a:t>
            </a:r>
            <a:r>
              <a:rPr lang="en-US" sz="2400" i="1">
                <a:solidFill>
                  <a:schemeClr val="tx1"/>
                </a:solidFill>
              </a:rPr>
              <a:t>m</a:t>
            </a:r>
            <a:r>
              <a:rPr lang="bg-BG" sz="2400">
                <a:solidFill>
                  <a:schemeClr val="tx1"/>
                </a:solidFill>
              </a:rPr>
              <a:t> върхове.</a:t>
            </a:r>
            <a:r>
              <a:rPr lang="bg-BG" sz="2400">
                <a:solidFill>
                  <a:schemeClr val="tx1"/>
                </a:solidFill>
                <a:latin typeface="Arial" charset="0"/>
              </a:rPr>
              <a:t> </a:t>
            </a:r>
            <a:r>
              <a:rPr lang="bg-BG" sz="2400">
                <a:solidFill>
                  <a:schemeClr val="tx1"/>
                </a:solidFill>
              </a:rPr>
              <a:t> 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	Задачата описва реална ситуация, в която върховете на графа представят компании, а всяко ребро </a:t>
            </a:r>
            <a:r>
              <a:rPr lang="en-US" sz="2400" i="1">
                <a:solidFill>
                  <a:schemeClr val="tx1"/>
                </a:solidFill>
              </a:rPr>
              <a:t>(i, j)</a:t>
            </a:r>
            <a:r>
              <a:rPr lang="bg-BG" sz="2400">
                <a:solidFill>
                  <a:schemeClr val="tx1"/>
                </a:solidFill>
              </a:rPr>
              <a:t> показва процента </a:t>
            </a:r>
            <a:r>
              <a:rPr lang="en-US" sz="2400">
                <a:solidFill>
                  <a:schemeClr val="tx1"/>
                </a:solidFill>
              </a:rPr>
              <a:t/>
            </a:r>
            <a:br>
              <a:rPr lang="en-US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от акциите, които компанията </a:t>
            </a:r>
            <a:r>
              <a:rPr lang="en-US" sz="2400" i="1">
                <a:solidFill>
                  <a:schemeClr val="tx1"/>
                </a:solidFill>
              </a:rPr>
              <a:t>i </a:t>
            </a: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притежава от компанията </a:t>
            </a:r>
            <a:r>
              <a:rPr lang="en-US" sz="2400" i="1">
                <a:solidFill>
                  <a:schemeClr val="tx1"/>
                </a:solidFill>
              </a:rPr>
              <a:t>j</a:t>
            </a:r>
            <a:r>
              <a:rPr lang="bg-BG" sz="2400" i="1">
                <a:solidFill>
                  <a:schemeClr val="tx1"/>
                </a:solidFill>
              </a:rPr>
              <a:t>.</a:t>
            </a:r>
            <a:r>
              <a:rPr lang="bg-BG" sz="2400">
                <a:solidFill>
                  <a:schemeClr val="tx1"/>
                </a:solidFill>
              </a:rPr>
              <a:t> 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 Например: компания 1 контролира 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 компании 2, 4 и 5. </a:t>
            </a:r>
            <a:r>
              <a:rPr lang="bg-BG" sz="2200">
                <a:solidFill>
                  <a:schemeClr val="tx1"/>
                </a:solidFill>
              </a:rPr>
              <a:t/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 </a:t>
            </a:r>
            <a:r>
              <a:rPr lang="bg-BG" sz="2400">
                <a:solidFill>
                  <a:schemeClr val="tx1"/>
                </a:solidFill>
              </a:rPr>
              <a:t>Задачата може да се реши чрез </a:t>
            </a:r>
            <a:r>
              <a:rPr lang="bg-BG" sz="2200">
                <a:solidFill>
                  <a:schemeClr val="tx1"/>
                </a:solidFill>
              </a:rPr>
              <a:t/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 </a:t>
            </a:r>
            <a:r>
              <a:rPr lang="bg-BG" sz="2400">
                <a:solidFill>
                  <a:schemeClr val="tx1"/>
                </a:solidFill>
              </a:rPr>
              <a:t>адаптация на алгоритъма на </a:t>
            </a:r>
            <a:r>
              <a:rPr lang="bg-BG" sz="2200">
                <a:solidFill>
                  <a:schemeClr val="tx1"/>
                </a:solidFill>
              </a:rPr>
              <a:t/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 </a:t>
            </a:r>
            <a:r>
              <a:rPr lang="bg-BG" sz="2400">
                <a:solidFill>
                  <a:schemeClr val="tx1"/>
                </a:solidFill>
              </a:rPr>
              <a:t>Уоршал за транзитивно затваряне.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(Преслав Наков, Панайот Добриков,  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> </a:t>
            </a:r>
            <a:r>
              <a:rPr lang="bg-BG" sz="2000" i="1">
                <a:solidFill>
                  <a:schemeClr val="tx1"/>
                </a:solidFill>
              </a:rPr>
              <a:t>Програмиране = ++Алгоритми,</a:t>
            </a:r>
            <a:r>
              <a:rPr lang="bg-BG" sz="2000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TopTeam Co., </a:t>
            </a:r>
            <a:r>
              <a:rPr lang="bg-BG" sz="2000">
                <a:solidFill>
                  <a:schemeClr val="tx1"/>
                </a:solidFill>
              </a:rPr>
              <a:t>София,</a:t>
            </a:r>
            <a:r>
              <a:rPr lang="en-US" sz="2000">
                <a:solidFill>
                  <a:schemeClr val="tx1"/>
                </a:solidFill>
              </a:rPr>
              <a:t> 2002</a:t>
            </a:r>
            <a:r>
              <a:rPr lang="bg-BG" sz="2000">
                <a:solidFill>
                  <a:schemeClr val="tx1"/>
                </a:solidFill>
              </a:rPr>
              <a:t>) 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000">
                <a:solidFill>
                  <a:schemeClr val="tx2">
                    <a:satMod val="130000"/>
                  </a:schemeClr>
                </a:solidFill>
              </a:rPr>
            </a:br>
            <a:endParaRPr lang="en-US" sz="2000">
              <a:solidFill>
                <a:schemeClr val="tx2">
                  <a:satMod val="130000"/>
                </a:schemeClr>
              </a:solidFill>
            </a:endParaRPr>
          </a:p>
        </p:txBody>
      </p:sp>
      <p:grpSp>
        <p:nvGrpSpPr>
          <p:cNvPr id="40963" name="Group 34"/>
          <p:cNvGrpSpPr>
            <a:grpSpLocks/>
          </p:cNvGrpSpPr>
          <p:nvPr/>
        </p:nvGrpSpPr>
        <p:grpSpPr bwMode="auto">
          <a:xfrm>
            <a:off x="5334000" y="3886200"/>
            <a:ext cx="2895600" cy="2438400"/>
            <a:chOff x="3360" y="2448"/>
            <a:chExt cx="1824" cy="1536"/>
          </a:xfrm>
        </p:grpSpPr>
        <p:sp>
          <p:nvSpPr>
            <p:cNvPr id="40980" name="Oval 4"/>
            <p:cNvSpPr>
              <a:spLocks noChangeArrowheads="1"/>
            </p:cNvSpPr>
            <p:nvPr/>
          </p:nvSpPr>
          <p:spPr bwMode="auto">
            <a:xfrm>
              <a:off x="3361" y="2448"/>
              <a:ext cx="285" cy="2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0981" name="Oval 5"/>
            <p:cNvSpPr>
              <a:spLocks noChangeArrowheads="1"/>
            </p:cNvSpPr>
            <p:nvPr/>
          </p:nvSpPr>
          <p:spPr bwMode="auto">
            <a:xfrm>
              <a:off x="3360" y="3433"/>
              <a:ext cx="285" cy="28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0982" name="Oval 6"/>
            <p:cNvSpPr>
              <a:spLocks noChangeArrowheads="1"/>
            </p:cNvSpPr>
            <p:nvPr/>
          </p:nvSpPr>
          <p:spPr bwMode="auto">
            <a:xfrm>
              <a:off x="4614" y="3700"/>
              <a:ext cx="285" cy="2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0983" name="Oval 7"/>
            <p:cNvSpPr>
              <a:spLocks noChangeArrowheads="1"/>
            </p:cNvSpPr>
            <p:nvPr/>
          </p:nvSpPr>
          <p:spPr bwMode="auto">
            <a:xfrm>
              <a:off x="4899" y="2932"/>
              <a:ext cx="285" cy="2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0984" name="Oval 8"/>
            <p:cNvSpPr>
              <a:spLocks noChangeArrowheads="1"/>
            </p:cNvSpPr>
            <p:nvPr/>
          </p:nvSpPr>
          <p:spPr bwMode="auto">
            <a:xfrm>
              <a:off x="4187" y="3159"/>
              <a:ext cx="285" cy="28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0985" name="Oval 9"/>
            <p:cNvSpPr>
              <a:spLocks noChangeArrowheads="1"/>
            </p:cNvSpPr>
            <p:nvPr/>
          </p:nvSpPr>
          <p:spPr bwMode="auto">
            <a:xfrm>
              <a:off x="4187" y="2448"/>
              <a:ext cx="285" cy="2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0986" name="Line 10"/>
            <p:cNvSpPr>
              <a:spLocks noChangeShapeType="1"/>
            </p:cNvSpPr>
            <p:nvPr/>
          </p:nvSpPr>
          <p:spPr bwMode="auto">
            <a:xfrm flipV="1">
              <a:off x="3504" y="2722"/>
              <a:ext cx="0" cy="7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0987" name="Line 11"/>
            <p:cNvSpPr>
              <a:spLocks noChangeShapeType="1"/>
            </p:cNvSpPr>
            <p:nvPr/>
          </p:nvSpPr>
          <p:spPr bwMode="auto">
            <a:xfrm flipH="1">
              <a:off x="3646" y="2562"/>
              <a:ext cx="5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0988" name="Line 12"/>
            <p:cNvSpPr>
              <a:spLocks noChangeShapeType="1"/>
            </p:cNvSpPr>
            <p:nvPr/>
          </p:nvSpPr>
          <p:spPr bwMode="auto">
            <a:xfrm flipV="1">
              <a:off x="4330" y="2732"/>
              <a:ext cx="0" cy="4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0989" name="Line 13"/>
            <p:cNvSpPr>
              <a:spLocks noChangeShapeType="1"/>
            </p:cNvSpPr>
            <p:nvPr/>
          </p:nvSpPr>
          <p:spPr bwMode="auto">
            <a:xfrm flipV="1">
              <a:off x="4472" y="3102"/>
              <a:ext cx="427" cy="1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0990" name="Line 14"/>
            <p:cNvSpPr>
              <a:spLocks noChangeShapeType="1"/>
            </p:cNvSpPr>
            <p:nvPr/>
          </p:nvSpPr>
          <p:spPr bwMode="auto">
            <a:xfrm flipH="1" flipV="1">
              <a:off x="3646" y="3614"/>
              <a:ext cx="968" cy="1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0991" name="Line 15"/>
            <p:cNvSpPr>
              <a:spLocks noChangeShapeType="1"/>
            </p:cNvSpPr>
            <p:nvPr/>
          </p:nvSpPr>
          <p:spPr bwMode="auto">
            <a:xfrm flipH="1">
              <a:off x="3618" y="3301"/>
              <a:ext cx="569" cy="1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0992" name="Line 16"/>
            <p:cNvSpPr>
              <a:spLocks noChangeShapeType="1"/>
            </p:cNvSpPr>
            <p:nvPr/>
          </p:nvSpPr>
          <p:spPr bwMode="auto">
            <a:xfrm flipH="1" flipV="1">
              <a:off x="3618" y="2667"/>
              <a:ext cx="626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0993" name="Line 17"/>
            <p:cNvSpPr>
              <a:spLocks noChangeShapeType="1"/>
            </p:cNvSpPr>
            <p:nvPr/>
          </p:nvSpPr>
          <p:spPr bwMode="auto">
            <a:xfrm>
              <a:off x="4415" y="3415"/>
              <a:ext cx="313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0994" name="Line 18"/>
            <p:cNvSpPr>
              <a:spLocks noChangeShapeType="1"/>
            </p:cNvSpPr>
            <p:nvPr/>
          </p:nvSpPr>
          <p:spPr bwMode="auto">
            <a:xfrm flipH="1">
              <a:off x="4785" y="3216"/>
              <a:ext cx="200" cy="4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40964" name="Text Box 19"/>
          <p:cNvSpPr txBox="1">
            <a:spLocks noChangeArrowheads="1"/>
          </p:cNvSpPr>
          <p:nvPr/>
        </p:nvSpPr>
        <p:spPr bwMode="auto">
          <a:xfrm>
            <a:off x="5384800" y="38862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6</a:t>
            </a:r>
            <a:endParaRPr lang="en-US"/>
          </a:p>
        </p:txBody>
      </p:sp>
      <p:sp>
        <p:nvSpPr>
          <p:cNvPr id="40965" name="Text Box 20"/>
          <p:cNvSpPr txBox="1">
            <a:spLocks noChangeArrowheads="1"/>
          </p:cNvSpPr>
          <p:nvPr/>
        </p:nvSpPr>
        <p:spPr bwMode="auto">
          <a:xfrm>
            <a:off x="6692900" y="50038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1</a:t>
            </a:r>
            <a:endParaRPr lang="en-US"/>
          </a:p>
        </p:txBody>
      </p:sp>
      <p:sp>
        <p:nvSpPr>
          <p:cNvPr id="40966" name="Text Box 21"/>
          <p:cNvSpPr txBox="1">
            <a:spLocks noChangeArrowheads="1"/>
          </p:cNvSpPr>
          <p:nvPr/>
        </p:nvSpPr>
        <p:spPr bwMode="auto">
          <a:xfrm>
            <a:off x="5384800" y="54356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2</a:t>
            </a:r>
            <a:endParaRPr lang="en-US"/>
          </a:p>
        </p:txBody>
      </p:sp>
      <p:sp>
        <p:nvSpPr>
          <p:cNvPr id="40967" name="Text Box 22"/>
          <p:cNvSpPr txBox="1">
            <a:spLocks noChangeArrowheads="1"/>
          </p:cNvSpPr>
          <p:nvPr/>
        </p:nvSpPr>
        <p:spPr bwMode="auto">
          <a:xfrm>
            <a:off x="6705600" y="38862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3</a:t>
            </a:r>
            <a:endParaRPr lang="en-US"/>
          </a:p>
        </p:txBody>
      </p:sp>
      <p:sp>
        <p:nvSpPr>
          <p:cNvPr id="40968" name="Text Box 23"/>
          <p:cNvSpPr txBox="1">
            <a:spLocks noChangeArrowheads="1"/>
          </p:cNvSpPr>
          <p:nvPr/>
        </p:nvSpPr>
        <p:spPr bwMode="auto">
          <a:xfrm>
            <a:off x="7823200" y="46482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5</a:t>
            </a:r>
            <a:endParaRPr lang="en-US"/>
          </a:p>
        </p:txBody>
      </p:sp>
      <p:sp>
        <p:nvSpPr>
          <p:cNvPr id="40969" name="Text Box 24"/>
          <p:cNvSpPr txBox="1">
            <a:spLocks noChangeArrowheads="1"/>
          </p:cNvSpPr>
          <p:nvPr/>
        </p:nvSpPr>
        <p:spPr bwMode="auto">
          <a:xfrm>
            <a:off x="7378700" y="58674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4</a:t>
            </a:r>
            <a:endParaRPr lang="en-US"/>
          </a:p>
        </p:txBody>
      </p:sp>
      <p:sp>
        <p:nvSpPr>
          <p:cNvPr id="40970" name="Text Box 25"/>
          <p:cNvSpPr txBox="1">
            <a:spLocks noChangeArrowheads="1"/>
          </p:cNvSpPr>
          <p:nvPr/>
        </p:nvSpPr>
        <p:spPr bwMode="auto">
          <a:xfrm>
            <a:off x="6019800" y="37338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bg-BG" sz="1800">
                <a:solidFill>
                  <a:schemeClr val="accent3"/>
                </a:solidFill>
              </a:rPr>
              <a:t>10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40971" name="Text Box 26"/>
          <p:cNvSpPr txBox="1">
            <a:spLocks noChangeArrowheads="1"/>
          </p:cNvSpPr>
          <p:nvPr/>
        </p:nvSpPr>
        <p:spPr bwMode="auto">
          <a:xfrm>
            <a:off x="5219700" y="47371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bg-BG" sz="1800">
                <a:solidFill>
                  <a:schemeClr val="accent3"/>
                </a:solidFill>
              </a:rPr>
              <a:t>25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40972" name="Text Box 27"/>
          <p:cNvSpPr txBox="1">
            <a:spLocks noChangeArrowheads="1"/>
          </p:cNvSpPr>
          <p:nvPr/>
        </p:nvSpPr>
        <p:spPr bwMode="auto">
          <a:xfrm>
            <a:off x="5969000" y="45720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bg-BG" sz="1800">
                <a:solidFill>
                  <a:schemeClr val="accent3"/>
                </a:solidFill>
              </a:rPr>
              <a:t>20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40973" name="Text Box 28"/>
          <p:cNvSpPr txBox="1">
            <a:spLocks noChangeArrowheads="1"/>
          </p:cNvSpPr>
          <p:nvPr/>
        </p:nvSpPr>
        <p:spPr bwMode="auto">
          <a:xfrm>
            <a:off x="6807200" y="45339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bg-BG" sz="1800">
                <a:solidFill>
                  <a:schemeClr val="accent3"/>
                </a:solidFill>
              </a:rPr>
              <a:t>10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40974" name="Text Box 29"/>
          <p:cNvSpPr txBox="1">
            <a:spLocks noChangeArrowheads="1"/>
          </p:cNvSpPr>
          <p:nvPr/>
        </p:nvSpPr>
        <p:spPr bwMode="auto">
          <a:xfrm>
            <a:off x="7721600" y="53340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bg-BG" sz="1800">
                <a:solidFill>
                  <a:schemeClr val="accent3"/>
                </a:solidFill>
              </a:rPr>
              <a:t>31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40975" name="Text Box 30"/>
          <p:cNvSpPr txBox="1">
            <a:spLocks noChangeArrowheads="1"/>
          </p:cNvSpPr>
          <p:nvPr/>
        </p:nvSpPr>
        <p:spPr bwMode="auto">
          <a:xfrm>
            <a:off x="6324600" y="58674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bg-BG" sz="1800">
                <a:solidFill>
                  <a:schemeClr val="accent3"/>
                </a:solidFill>
              </a:rPr>
              <a:t>45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40976" name="Text Box 31"/>
          <p:cNvSpPr txBox="1">
            <a:spLocks noChangeArrowheads="1"/>
          </p:cNvSpPr>
          <p:nvPr/>
        </p:nvSpPr>
        <p:spPr bwMode="auto">
          <a:xfrm>
            <a:off x="6121400" y="53086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bg-BG" sz="1800">
                <a:solidFill>
                  <a:schemeClr val="accent3"/>
                </a:solidFill>
              </a:rPr>
              <a:t>6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40977" name="Text Box 32"/>
          <p:cNvSpPr txBox="1">
            <a:spLocks noChangeArrowheads="1"/>
          </p:cNvSpPr>
          <p:nvPr/>
        </p:nvSpPr>
        <p:spPr bwMode="auto">
          <a:xfrm>
            <a:off x="7239000" y="49911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bg-BG" sz="1800">
                <a:solidFill>
                  <a:schemeClr val="accent3"/>
                </a:solidFill>
              </a:rPr>
              <a:t>55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40978" name="Text Box 33"/>
          <p:cNvSpPr txBox="1">
            <a:spLocks noChangeArrowheads="1"/>
          </p:cNvSpPr>
          <p:nvPr/>
        </p:nvSpPr>
        <p:spPr bwMode="auto">
          <a:xfrm>
            <a:off x="6883400" y="54864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bg-BG" sz="1800">
                <a:solidFill>
                  <a:schemeClr val="accent3"/>
                </a:solidFill>
              </a:rPr>
              <a:t>22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86D8BF-04AD-41E1-BA5A-8FF185FAD3A3}" type="slidenum">
              <a:rPr lang="en-US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1041400" y="549275"/>
            <a:ext cx="81026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000">
                <a:solidFill>
                  <a:schemeClr val="tx2"/>
                </a:solidFill>
              </a:rPr>
              <a:t>	</a:t>
            </a:r>
            <a:r>
              <a:rPr lang="bg-BG" sz="2800" i="1" u="sng">
                <a:latin typeface="Arial" charset="0"/>
              </a:rPr>
              <a:t>Суперпозиция на два графа</a:t>
            </a:r>
            <a:r>
              <a:rPr lang="bg-BG" sz="2800" i="1">
                <a:latin typeface="Arial" charset="0"/>
              </a:rPr>
              <a:t/>
            </a:r>
            <a:br>
              <a:rPr lang="bg-BG" sz="2800" i="1">
                <a:latin typeface="Arial" charset="0"/>
              </a:rPr>
            </a:br>
            <a:r>
              <a:rPr lang="bg-BG" sz="2800" i="1">
                <a:latin typeface="Arial" charset="0"/>
              </a:rPr>
              <a:t>	</a:t>
            </a:r>
            <a:r>
              <a:rPr lang="bg-BG" sz="2000">
                <a:latin typeface="Arial" charset="0"/>
              </a:rPr>
              <a:t>Ако два графа </a:t>
            </a:r>
            <a:r>
              <a:rPr lang="en-US" sz="2000">
                <a:latin typeface="Arial" charset="0"/>
              </a:rPr>
              <a:t>G</a:t>
            </a:r>
            <a:r>
              <a:rPr lang="bg-BG" sz="2000">
                <a:latin typeface="Arial" charset="0"/>
              </a:rPr>
              <a:t>1</a:t>
            </a:r>
            <a:r>
              <a:rPr lang="en-US" sz="2000">
                <a:latin typeface="Arial" charset="0"/>
              </a:rPr>
              <a:t>(V</a:t>
            </a:r>
            <a:r>
              <a:rPr lang="bg-BG" sz="2000">
                <a:latin typeface="Arial" charset="0"/>
              </a:rPr>
              <a:t>1</a:t>
            </a:r>
            <a:r>
              <a:rPr lang="en-US" sz="2000">
                <a:latin typeface="Arial" charset="0"/>
              </a:rPr>
              <a:t>,E</a:t>
            </a:r>
            <a:r>
              <a:rPr lang="bg-BG" sz="2000">
                <a:latin typeface="Arial" charset="0"/>
              </a:rPr>
              <a:t>1</a:t>
            </a:r>
            <a:r>
              <a:rPr lang="en-US" sz="2000">
                <a:latin typeface="Arial" charset="0"/>
              </a:rPr>
              <a:t>)</a:t>
            </a:r>
            <a:r>
              <a:rPr lang="bg-BG" sz="2000">
                <a:latin typeface="Arial" charset="0"/>
              </a:rPr>
              <a:t>,</a:t>
            </a:r>
            <a:r>
              <a:rPr lang="en-US" sz="2000">
                <a:latin typeface="Arial" charset="0"/>
              </a:rPr>
              <a:t> G</a:t>
            </a:r>
            <a:r>
              <a:rPr lang="bg-BG" sz="2000">
                <a:latin typeface="Arial" charset="0"/>
              </a:rPr>
              <a:t>2</a:t>
            </a:r>
            <a:r>
              <a:rPr lang="en-US" sz="2000">
                <a:latin typeface="Arial" charset="0"/>
              </a:rPr>
              <a:t>(V</a:t>
            </a:r>
            <a:r>
              <a:rPr lang="bg-BG" sz="2000">
                <a:latin typeface="Arial" charset="0"/>
              </a:rPr>
              <a:t>2</a:t>
            </a:r>
            <a:r>
              <a:rPr lang="en-US" sz="2000">
                <a:latin typeface="Arial" charset="0"/>
              </a:rPr>
              <a:t>,E</a:t>
            </a:r>
            <a:r>
              <a:rPr lang="bg-BG" sz="2000">
                <a:latin typeface="Arial" charset="0"/>
              </a:rPr>
              <a:t>2</a:t>
            </a:r>
            <a:r>
              <a:rPr lang="en-US" sz="2000">
                <a:latin typeface="Arial" charset="0"/>
              </a:rPr>
              <a:t>)</a:t>
            </a:r>
            <a:r>
              <a:rPr lang="bg-BG" sz="2000">
                <a:latin typeface="Arial" charset="0"/>
              </a:rPr>
              <a:t> са такива, че </a:t>
            </a:r>
            <a:r>
              <a:rPr lang="en-US" sz="2000">
                <a:latin typeface="Arial" charset="0"/>
              </a:rPr>
              <a:t>{V1} = {V2}, </a:t>
            </a:r>
            <a:r>
              <a:rPr lang="bg-BG" sz="2000">
                <a:latin typeface="Arial" charset="0"/>
              </a:rPr>
              <a:t>то суперпозицията им представлява нов граф </a:t>
            </a:r>
            <a:r>
              <a:rPr lang="en-US" sz="2000">
                <a:latin typeface="Arial" charset="0"/>
              </a:rPr>
              <a:t>G(V,E)</a:t>
            </a:r>
            <a:r>
              <a:rPr lang="bg-BG" sz="2000">
                <a:latin typeface="Arial" charset="0"/>
              </a:rPr>
              <a:t>, в който множеството върхове</a:t>
            </a:r>
            <a:r>
              <a:rPr lang="en-US" sz="2000">
                <a:latin typeface="Arial" charset="0"/>
              </a:rPr>
              <a:t> {V}={V1}={V2}</a:t>
            </a:r>
            <a:r>
              <a:rPr lang="bg-BG" sz="2000">
                <a:latin typeface="Arial" charset="0"/>
              </a:rPr>
              <a:t>, </a:t>
            </a:r>
          </a:p>
          <a:p>
            <a:r>
              <a:rPr lang="bg-BG" sz="2000">
                <a:latin typeface="Arial" charset="0"/>
              </a:rPr>
              <a:t>а множеството дъги</a:t>
            </a:r>
            <a:r>
              <a:rPr lang="en-US" sz="2000">
                <a:latin typeface="Arial" charset="0"/>
              </a:rPr>
              <a:t> </a:t>
            </a:r>
            <a:r>
              <a:rPr lang="bg-BG" sz="2000">
                <a:latin typeface="Arial" charset="0"/>
              </a:rPr>
              <a:t>  </a:t>
            </a:r>
            <a:r>
              <a:rPr lang="en-US" sz="2000">
                <a:latin typeface="Arial" charset="0"/>
              </a:rPr>
              <a:t>{E}={E1}+{E2}</a:t>
            </a:r>
            <a:endParaRPr lang="bg-BG" sz="2000">
              <a:latin typeface="Arial" charset="0"/>
            </a:endParaRPr>
          </a:p>
          <a:p>
            <a:r>
              <a:rPr lang="bg-BG" sz="2000">
                <a:latin typeface="Arial" charset="0"/>
              </a:rPr>
              <a:t/>
            </a:r>
            <a:br>
              <a:rPr lang="bg-BG" sz="2000">
                <a:latin typeface="Arial" charset="0"/>
              </a:rPr>
            </a:br>
            <a:r>
              <a:rPr lang="bg-BG" sz="2000">
                <a:latin typeface="Arial" charset="0"/>
              </a:rPr>
              <a:t>Например:</a:t>
            </a:r>
            <a:br>
              <a:rPr lang="bg-BG" sz="2000">
                <a:latin typeface="Arial" charset="0"/>
              </a:rPr>
            </a:br>
            <a:r>
              <a:rPr lang="bg-BG" sz="2000">
                <a:latin typeface="Arial" charset="0"/>
              </a:rPr>
              <a:t/>
            </a:r>
            <a:br>
              <a:rPr lang="bg-BG" sz="2000">
                <a:latin typeface="Arial" charset="0"/>
              </a:rPr>
            </a:br>
            <a:r>
              <a:rPr lang="bg-BG" sz="2000">
                <a:latin typeface="Arial" charset="0"/>
              </a:rPr>
              <a:t>                  </a:t>
            </a:r>
            <a:r>
              <a:rPr lang="en-US" sz="2000">
                <a:latin typeface="Arial" charset="0"/>
              </a:rPr>
              <a:t> G1	                           G2			G</a:t>
            </a:r>
            <a:br>
              <a:rPr lang="en-US" sz="2000">
                <a:latin typeface="Arial" charset="0"/>
              </a:rPr>
            </a:br>
            <a:r>
              <a:rPr lang="en-US" sz="2000">
                <a:latin typeface="Arial" charset="0"/>
              </a:rPr>
              <a:t/>
            </a:r>
            <a:br>
              <a:rPr lang="en-US" sz="2000">
                <a:latin typeface="Arial" charset="0"/>
              </a:rPr>
            </a:br>
            <a:r>
              <a:rPr lang="en-US" sz="2000">
                <a:latin typeface="Arial" charset="0"/>
              </a:rPr>
              <a:t/>
            </a:r>
            <a:br>
              <a:rPr lang="en-US" sz="2000">
                <a:latin typeface="Arial" charset="0"/>
              </a:rPr>
            </a:br>
            <a:r>
              <a:rPr lang="en-US" sz="2000">
                <a:latin typeface="Arial" charset="0"/>
              </a:rPr>
              <a:t/>
            </a:r>
            <a:br>
              <a:rPr lang="en-US" sz="2000">
                <a:latin typeface="Arial" charset="0"/>
              </a:rPr>
            </a:br>
            <a:r>
              <a:rPr lang="en-US" sz="2000">
                <a:latin typeface="Arial" charset="0"/>
              </a:rPr>
              <a:t/>
            </a:r>
            <a:br>
              <a:rPr lang="en-US" sz="2000">
                <a:latin typeface="Arial" charset="0"/>
              </a:rPr>
            </a:br>
            <a:r>
              <a:rPr lang="en-US" sz="2000">
                <a:latin typeface="Arial" charset="0"/>
              </a:rPr>
              <a:t/>
            </a:r>
            <a:br>
              <a:rPr lang="en-US" sz="2000">
                <a:latin typeface="Arial" charset="0"/>
              </a:rPr>
            </a:br>
            <a:r>
              <a:rPr lang="en-US" sz="2000">
                <a:latin typeface="Arial" charset="0"/>
              </a:rPr>
              <a:t/>
            </a:r>
            <a:br>
              <a:rPr lang="en-US" sz="2000">
                <a:latin typeface="Arial" charset="0"/>
              </a:rPr>
            </a:br>
            <a:r>
              <a:rPr lang="en-US" sz="2000">
                <a:latin typeface="Arial" charset="0"/>
              </a:rPr>
              <a:t/>
            </a:r>
            <a:br>
              <a:rPr lang="en-US" sz="2000">
                <a:latin typeface="Arial" charset="0"/>
              </a:rPr>
            </a:br>
            <a:r>
              <a:rPr lang="en-US" sz="2000">
                <a:latin typeface="Arial" charset="0"/>
              </a:rPr>
              <a:t>	</a:t>
            </a:r>
            <a:r>
              <a:rPr lang="bg-BG" sz="2000">
                <a:latin typeface="Arial" charset="0"/>
              </a:rPr>
              <a:t>Идеята на алгоритъма се състои в следното: новият граф </a:t>
            </a:r>
            <a:r>
              <a:rPr lang="en-US" sz="2000">
                <a:latin typeface="Arial" charset="0"/>
              </a:rPr>
              <a:t>G</a:t>
            </a:r>
            <a:r>
              <a:rPr lang="bg-BG" sz="2000">
                <a:latin typeface="Arial" charset="0"/>
              </a:rPr>
              <a:t> се създава чрез копиране на един от двата графа, след което към </a:t>
            </a:r>
            <a:r>
              <a:rPr lang="en-US" sz="2000">
                <a:latin typeface="Arial" charset="0"/>
              </a:rPr>
              <a:t>G</a:t>
            </a:r>
            <a:r>
              <a:rPr lang="bg-BG" sz="2000">
                <a:latin typeface="Arial" charset="0"/>
              </a:rPr>
              <a:t> се добавят всички дъги от втория граф. </a:t>
            </a:r>
            <a:br>
              <a:rPr lang="bg-BG" sz="2000">
                <a:latin typeface="Arial" charset="0"/>
              </a:rPr>
            </a:br>
            <a:r>
              <a:rPr lang="en-US" sz="2000">
                <a:latin typeface="Arial" charset="0"/>
              </a:rPr>
              <a:t>		</a:t>
            </a:r>
          </a:p>
        </p:txBody>
      </p:sp>
      <p:grpSp>
        <p:nvGrpSpPr>
          <p:cNvPr id="41987" name="Group 54"/>
          <p:cNvGrpSpPr>
            <a:grpSpLocks/>
          </p:cNvGrpSpPr>
          <p:nvPr/>
        </p:nvGrpSpPr>
        <p:grpSpPr bwMode="auto">
          <a:xfrm>
            <a:off x="1619250" y="3500438"/>
            <a:ext cx="6858000" cy="1573212"/>
            <a:chOff x="1619672" y="3501008"/>
            <a:chExt cx="6858000" cy="1572196"/>
          </a:xfrm>
        </p:grpSpPr>
        <p:grpSp>
          <p:nvGrpSpPr>
            <p:cNvPr id="41989" name="Group 4"/>
            <p:cNvGrpSpPr>
              <a:grpSpLocks/>
            </p:cNvGrpSpPr>
            <p:nvPr/>
          </p:nvGrpSpPr>
          <p:grpSpPr bwMode="auto">
            <a:xfrm>
              <a:off x="4139951" y="3573016"/>
              <a:ext cx="1656533" cy="1500188"/>
              <a:chOff x="5529" y="6042"/>
              <a:chExt cx="2079" cy="1881"/>
            </a:xfrm>
          </p:grpSpPr>
          <p:grpSp>
            <p:nvGrpSpPr>
              <p:cNvPr id="42027" name="Group 5"/>
              <p:cNvGrpSpPr>
                <a:grpSpLocks/>
              </p:cNvGrpSpPr>
              <p:nvPr/>
            </p:nvGrpSpPr>
            <p:grpSpPr bwMode="auto">
              <a:xfrm>
                <a:off x="5586" y="6042"/>
                <a:ext cx="627" cy="627"/>
                <a:chOff x="5586" y="6042"/>
                <a:chExt cx="627" cy="627"/>
              </a:xfrm>
            </p:grpSpPr>
            <p:sp>
              <p:nvSpPr>
                <p:cNvPr id="42037" name="Oval 6"/>
                <p:cNvSpPr>
                  <a:spLocks noChangeArrowheads="1"/>
                </p:cNvSpPr>
                <p:nvPr/>
              </p:nvSpPr>
              <p:spPr bwMode="auto">
                <a:xfrm>
                  <a:off x="5586" y="6042"/>
                  <a:ext cx="627" cy="6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2038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5710" y="6134"/>
                  <a:ext cx="338" cy="39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sz="1800">
                      <a:latin typeface="Arial" charset="0"/>
                    </a:rPr>
                    <a:t>А</a:t>
                  </a:r>
                  <a:endParaRPr lang="en-US" sz="1000">
                    <a:latin typeface="Arial" charset="0"/>
                  </a:endParaRPr>
                </a:p>
              </p:txBody>
            </p:sp>
          </p:grpSp>
          <p:grpSp>
            <p:nvGrpSpPr>
              <p:cNvPr id="42028" name="Group 8"/>
              <p:cNvGrpSpPr>
                <a:grpSpLocks/>
              </p:cNvGrpSpPr>
              <p:nvPr/>
            </p:nvGrpSpPr>
            <p:grpSpPr bwMode="auto">
              <a:xfrm>
                <a:off x="5529" y="7296"/>
                <a:ext cx="627" cy="627"/>
                <a:chOff x="5586" y="6042"/>
                <a:chExt cx="627" cy="627"/>
              </a:xfrm>
            </p:grpSpPr>
            <p:sp>
              <p:nvSpPr>
                <p:cNvPr id="42035" name="Oval 9"/>
                <p:cNvSpPr>
                  <a:spLocks noChangeArrowheads="1"/>
                </p:cNvSpPr>
                <p:nvPr/>
              </p:nvSpPr>
              <p:spPr bwMode="auto">
                <a:xfrm>
                  <a:off x="5586" y="6042"/>
                  <a:ext cx="627" cy="6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2036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5688" y="6134"/>
                  <a:ext cx="395" cy="39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sz="1800">
                      <a:latin typeface="Arial" charset="0"/>
                    </a:rPr>
                    <a:t>C</a:t>
                  </a:r>
                  <a:endParaRPr lang="en-US" sz="1000">
                    <a:latin typeface="Arial" charset="0"/>
                  </a:endParaRPr>
                </a:p>
              </p:txBody>
            </p:sp>
          </p:grpSp>
          <p:grpSp>
            <p:nvGrpSpPr>
              <p:cNvPr id="42029" name="Group 11"/>
              <p:cNvGrpSpPr>
                <a:grpSpLocks/>
              </p:cNvGrpSpPr>
              <p:nvPr/>
            </p:nvGrpSpPr>
            <p:grpSpPr bwMode="auto">
              <a:xfrm>
                <a:off x="6897" y="7296"/>
                <a:ext cx="627" cy="627"/>
                <a:chOff x="5586" y="6042"/>
                <a:chExt cx="627" cy="627"/>
              </a:xfrm>
            </p:grpSpPr>
            <p:sp>
              <p:nvSpPr>
                <p:cNvPr id="42033" name="Oval 12"/>
                <p:cNvSpPr>
                  <a:spLocks noChangeArrowheads="1"/>
                </p:cNvSpPr>
                <p:nvPr/>
              </p:nvSpPr>
              <p:spPr bwMode="auto">
                <a:xfrm>
                  <a:off x="5586" y="6042"/>
                  <a:ext cx="627" cy="6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2034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5710" y="6145"/>
                  <a:ext cx="382" cy="39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sz="1800">
                      <a:latin typeface="Arial" charset="0"/>
                    </a:rPr>
                    <a:t>D</a:t>
                  </a:r>
                  <a:endParaRPr lang="en-US" sz="1000">
                    <a:latin typeface="Arial" charset="0"/>
                  </a:endParaRPr>
                </a:p>
              </p:txBody>
            </p:sp>
          </p:grpSp>
          <p:grpSp>
            <p:nvGrpSpPr>
              <p:cNvPr id="42030" name="Group 14"/>
              <p:cNvGrpSpPr>
                <a:grpSpLocks/>
              </p:cNvGrpSpPr>
              <p:nvPr/>
            </p:nvGrpSpPr>
            <p:grpSpPr bwMode="auto">
              <a:xfrm>
                <a:off x="6954" y="6042"/>
                <a:ext cx="654" cy="627"/>
                <a:chOff x="5586" y="6042"/>
                <a:chExt cx="654" cy="627"/>
              </a:xfrm>
            </p:grpSpPr>
            <p:sp>
              <p:nvSpPr>
                <p:cNvPr id="42031" name="Oval 15"/>
                <p:cNvSpPr>
                  <a:spLocks noChangeArrowheads="1"/>
                </p:cNvSpPr>
                <p:nvPr/>
              </p:nvSpPr>
              <p:spPr bwMode="auto">
                <a:xfrm>
                  <a:off x="5586" y="6042"/>
                  <a:ext cx="654" cy="6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2032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5710" y="6156"/>
                  <a:ext cx="416" cy="39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sz="1800">
                      <a:latin typeface="Arial" charset="0"/>
                    </a:rPr>
                    <a:t>B</a:t>
                  </a:r>
                  <a:endParaRPr lang="en-US" sz="1000">
                    <a:latin typeface="Arial" charset="0"/>
                  </a:endParaRPr>
                </a:p>
              </p:txBody>
            </p:sp>
          </p:grpSp>
        </p:grpSp>
        <p:grpSp>
          <p:nvGrpSpPr>
            <p:cNvPr id="41990" name="Group 17"/>
            <p:cNvGrpSpPr>
              <a:grpSpLocks/>
            </p:cNvGrpSpPr>
            <p:nvPr/>
          </p:nvGrpSpPr>
          <p:grpSpPr bwMode="auto">
            <a:xfrm>
              <a:off x="6842652" y="3501008"/>
              <a:ext cx="1635020" cy="1500188"/>
              <a:chOff x="5529" y="6042"/>
              <a:chExt cx="2052" cy="1881"/>
            </a:xfrm>
          </p:grpSpPr>
          <p:grpSp>
            <p:nvGrpSpPr>
              <p:cNvPr id="42015" name="Group 18"/>
              <p:cNvGrpSpPr>
                <a:grpSpLocks/>
              </p:cNvGrpSpPr>
              <p:nvPr/>
            </p:nvGrpSpPr>
            <p:grpSpPr bwMode="auto">
              <a:xfrm>
                <a:off x="5586" y="6042"/>
                <a:ext cx="627" cy="627"/>
                <a:chOff x="5586" y="6042"/>
                <a:chExt cx="627" cy="627"/>
              </a:xfrm>
            </p:grpSpPr>
            <p:sp>
              <p:nvSpPr>
                <p:cNvPr id="42025" name="Oval 19"/>
                <p:cNvSpPr>
                  <a:spLocks noChangeArrowheads="1"/>
                </p:cNvSpPr>
                <p:nvPr/>
              </p:nvSpPr>
              <p:spPr bwMode="auto">
                <a:xfrm>
                  <a:off x="5586" y="6042"/>
                  <a:ext cx="627" cy="6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2026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5699" y="6156"/>
                  <a:ext cx="380" cy="39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sz="1800">
                      <a:latin typeface="Arial" charset="0"/>
                    </a:rPr>
                    <a:t>А</a:t>
                  </a:r>
                </a:p>
              </p:txBody>
            </p:sp>
          </p:grpSp>
          <p:grpSp>
            <p:nvGrpSpPr>
              <p:cNvPr id="42016" name="Group 21"/>
              <p:cNvGrpSpPr>
                <a:grpSpLocks/>
              </p:cNvGrpSpPr>
              <p:nvPr/>
            </p:nvGrpSpPr>
            <p:grpSpPr bwMode="auto">
              <a:xfrm>
                <a:off x="5529" y="7296"/>
                <a:ext cx="627" cy="627"/>
                <a:chOff x="5586" y="6042"/>
                <a:chExt cx="627" cy="627"/>
              </a:xfrm>
            </p:grpSpPr>
            <p:sp>
              <p:nvSpPr>
                <p:cNvPr id="42023" name="Oval 22"/>
                <p:cNvSpPr>
                  <a:spLocks noChangeArrowheads="1"/>
                </p:cNvSpPr>
                <p:nvPr/>
              </p:nvSpPr>
              <p:spPr bwMode="auto">
                <a:xfrm>
                  <a:off x="5586" y="6042"/>
                  <a:ext cx="627" cy="6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2024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5710" y="6156"/>
                  <a:ext cx="347" cy="39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sz="1800">
                      <a:latin typeface="Arial" charset="0"/>
                    </a:rPr>
                    <a:t>C</a:t>
                  </a:r>
                  <a:endParaRPr lang="en-US" sz="1000">
                    <a:latin typeface="Arial" charset="0"/>
                  </a:endParaRPr>
                </a:p>
              </p:txBody>
            </p:sp>
          </p:grpSp>
          <p:grpSp>
            <p:nvGrpSpPr>
              <p:cNvPr id="42017" name="Group 24"/>
              <p:cNvGrpSpPr>
                <a:grpSpLocks/>
              </p:cNvGrpSpPr>
              <p:nvPr/>
            </p:nvGrpSpPr>
            <p:grpSpPr bwMode="auto">
              <a:xfrm>
                <a:off x="6897" y="7296"/>
                <a:ext cx="627" cy="627"/>
                <a:chOff x="5586" y="6042"/>
                <a:chExt cx="627" cy="627"/>
              </a:xfrm>
            </p:grpSpPr>
            <p:sp>
              <p:nvSpPr>
                <p:cNvPr id="42021" name="Oval 25"/>
                <p:cNvSpPr>
                  <a:spLocks noChangeArrowheads="1"/>
                </p:cNvSpPr>
                <p:nvPr/>
              </p:nvSpPr>
              <p:spPr bwMode="auto">
                <a:xfrm>
                  <a:off x="5586" y="6042"/>
                  <a:ext cx="627" cy="6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2022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5699" y="6156"/>
                  <a:ext cx="425" cy="39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sz="1800">
                      <a:latin typeface="Arial" charset="0"/>
                    </a:rPr>
                    <a:t>D</a:t>
                  </a:r>
                  <a:endParaRPr lang="en-US" sz="1000">
                    <a:latin typeface="Arial" charset="0"/>
                  </a:endParaRPr>
                </a:p>
              </p:txBody>
            </p:sp>
          </p:grpSp>
          <p:grpSp>
            <p:nvGrpSpPr>
              <p:cNvPr id="42018" name="Group 27"/>
              <p:cNvGrpSpPr>
                <a:grpSpLocks/>
              </p:cNvGrpSpPr>
              <p:nvPr/>
            </p:nvGrpSpPr>
            <p:grpSpPr bwMode="auto">
              <a:xfrm>
                <a:off x="6954" y="6042"/>
                <a:ext cx="627" cy="627"/>
                <a:chOff x="5586" y="6042"/>
                <a:chExt cx="627" cy="627"/>
              </a:xfrm>
            </p:grpSpPr>
            <p:sp>
              <p:nvSpPr>
                <p:cNvPr id="42019" name="Oval 28"/>
                <p:cNvSpPr>
                  <a:spLocks noChangeArrowheads="1"/>
                </p:cNvSpPr>
                <p:nvPr/>
              </p:nvSpPr>
              <p:spPr bwMode="auto">
                <a:xfrm>
                  <a:off x="5586" y="6042"/>
                  <a:ext cx="627" cy="6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2020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5710" y="6156"/>
                  <a:ext cx="368" cy="39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sz="1800">
                      <a:latin typeface="Arial" charset="0"/>
                    </a:rPr>
                    <a:t>B</a:t>
                  </a:r>
                  <a:endParaRPr lang="en-US" sz="1000">
                    <a:latin typeface="Arial" charset="0"/>
                  </a:endParaRPr>
                </a:p>
              </p:txBody>
            </p:sp>
          </p:grpSp>
        </p:grpSp>
        <p:grpSp>
          <p:nvGrpSpPr>
            <p:cNvPr id="41991" name="Group 30"/>
            <p:cNvGrpSpPr>
              <a:grpSpLocks/>
            </p:cNvGrpSpPr>
            <p:nvPr/>
          </p:nvGrpSpPr>
          <p:grpSpPr bwMode="auto">
            <a:xfrm>
              <a:off x="1619672" y="3501008"/>
              <a:ext cx="1635020" cy="1500188"/>
              <a:chOff x="5529" y="6042"/>
              <a:chExt cx="2052" cy="1881"/>
            </a:xfrm>
          </p:grpSpPr>
          <p:grpSp>
            <p:nvGrpSpPr>
              <p:cNvPr id="42003" name="Group 31"/>
              <p:cNvGrpSpPr>
                <a:grpSpLocks/>
              </p:cNvGrpSpPr>
              <p:nvPr/>
            </p:nvGrpSpPr>
            <p:grpSpPr bwMode="auto">
              <a:xfrm>
                <a:off x="5586" y="6042"/>
                <a:ext cx="627" cy="627"/>
                <a:chOff x="5586" y="6042"/>
                <a:chExt cx="627" cy="627"/>
              </a:xfrm>
            </p:grpSpPr>
            <p:sp>
              <p:nvSpPr>
                <p:cNvPr id="42013" name="Oval 32"/>
                <p:cNvSpPr>
                  <a:spLocks noChangeArrowheads="1"/>
                </p:cNvSpPr>
                <p:nvPr/>
              </p:nvSpPr>
              <p:spPr bwMode="auto">
                <a:xfrm>
                  <a:off x="5586" y="6042"/>
                  <a:ext cx="627" cy="6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2014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5699" y="6156"/>
                  <a:ext cx="428" cy="39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sz="1800">
                      <a:latin typeface="Arial" charset="0"/>
                    </a:rPr>
                    <a:t>А</a:t>
                  </a:r>
                  <a:endParaRPr lang="en-US" sz="1000">
                    <a:latin typeface="Arial" charset="0"/>
                  </a:endParaRPr>
                </a:p>
              </p:txBody>
            </p:sp>
          </p:grpSp>
          <p:grpSp>
            <p:nvGrpSpPr>
              <p:cNvPr id="42004" name="Group 34"/>
              <p:cNvGrpSpPr>
                <a:grpSpLocks/>
              </p:cNvGrpSpPr>
              <p:nvPr/>
            </p:nvGrpSpPr>
            <p:grpSpPr bwMode="auto">
              <a:xfrm>
                <a:off x="5529" y="7296"/>
                <a:ext cx="627" cy="627"/>
                <a:chOff x="5586" y="6042"/>
                <a:chExt cx="627" cy="627"/>
              </a:xfrm>
            </p:grpSpPr>
            <p:sp>
              <p:nvSpPr>
                <p:cNvPr id="42011" name="Oval 35"/>
                <p:cNvSpPr>
                  <a:spLocks noChangeArrowheads="1"/>
                </p:cNvSpPr>
                <p:nvPr/>
              </p:nvSpPr>
              <p:spPr bwMode="auto">
                <a:xfrm>
                  <a:off x="5586" y="6042"/>
                  <a:ext cx="627" cy="6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2012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5688" y="6156"/>
                  <a:ext cx="395" cy="39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sz="1800">
                      <a:latin typeface="Arial" charset="0"/>
                    </a:rPr>
                    <a:t>C</a:t>
                  </a:r>
                  <a:endParaRPr lang="en-US" sz="1000">
                    <a:latin typeface="Arial" charset="0"/>
                  </a:endParaRPr>
                </a:p>
              </p:txBody>
            </p:sp>
          </p:grpSp>
          <p:grpSp>
            <p:nvGrpSpPr>
              <p:cNvPr id="42005" name="Group 37"/>
              <p:cNvGrpSpPr>
                <a:grpSpLocks/>
              </p:cNvGrpSpPr>
              <p:nvPr/>
            </p:nvGrpSpPr>
            <p:grpSpPr bwMode="auto">
              <a:xfrm>
                <a:off x="6897" y="7296"/>
                <a:ext cx="627" cy="627"/>
                <a:chOff x="5586" y="6042"/>
                <a:chExt cx="627" cy="627"/>
              </a:xfrm>
            </p:grpSpPr>
            <p:sp>
              <p:nvSpPr>
                <p:cNvPr id="42009" name="Oval 38"/>
                <p:cNvSpPr>
                  <a:spLocks noChangeArrowheads="1"/>
                </p:cNvSpPr>
                <p:nvPr/>
              </p:nvSpPr>
              <p:spPr bwMode="auto">
                <a:xfrm>
                  <a:off x="5586" y="6042"/>
                  <a:ext cx="627" cy="6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2010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5710" y="6156"/>
                  <a:ext cx="382" cy="39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sz="1800">
                      <a:latin typeface="Arial" charset="0"/>
                    </a:rPr>
                    <a:t>D</a:t>
                  </a:r>
                  <a:endParaRPr lang="en-US" sz="1000">
                    <a:latin typeface="Arial" charset="0"/>
                  </a:endParaRPr>
                </a:p>
              </p:txBody>
            </p:sp>
          </p:grpSp>
          <p:grpSp>
            <p:nvGrpSpPr>
              <p:cNvPr id="42006" name="Group 40"/>
              <p:cNvGrpSpPr>
                <a:grpSpLocks/>
              </p:cNvGrpSpPr>
              <p:nvPr/>
            </p:nvGrpSpPr>
            <p:grpSpPr bwMode="auto">
              <a:xfrm>
                <a:off x="6954" y="6042"/>
                <a:ext cx="627" cy="627"/>
                <a:chOff x="5586" y="6042"/>
                <a:chExt cx="627" cy="627"/>
              </a:xfrm>
            </p:grpSpPr>
            <p:sp>
              <p:nvSpPr>
                <p:cNvPr id="42007" name="Oval 41"/>
                <p:cNvSpPr>
                  <a:spLocks noChangeArrowheads="1"/>
                </p:cNvSpPr>
                <p:nvPr/>
              </p:nvSpPr>
              <p:spPr bwMode="auto">
                <a:xfrm>
                  <a:off x="5586" y="6042"/>
                  <a:ext cx="627" cy="6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2008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5688" y="6178"/>
                  <a:ext cx="416" cy="39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sz="1800">
                      <a:latin typeface="Arial" charset="0"/>
                    </a:rPr>
                    <a:t>B</a:t>
                  </a:r>
                  <a:endParaRPr lang="en-US" sz="1000">
                    <a:latin typeface="Arial" charset="0"/>
                  </a:endParaRPr>
                </a:p>
              </p:txBody>
            </p:sp>
          </p:grpSp>
        </p:grpSp>
        <p:sp>
          <p:nvSpPr>
            <p:cNvPr id="41992" name="Line 43"/>
            <p:cNvSpPr>
              <a:spLocks noChangeShapeType="1"/>
            </p:cNvSpPr>
            <p:nvPr/>
          </p:nvSpPr>
          <p:spPr bwMode="auto">
            <a:xfrm>
              <a:off x="1892175" y="3997083"/>
              <a:ext cx="0" cy="5000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1993" name="Line 44"/>
            <p:cNvSpPr>
              <a:spLocks noChangeShapeType="1"/>
            </p:cNvSpPr>
            <p:nvPr/>
          </p:nvSpPr>
          <p:spPr bwMode="auto">
            <a:xfrm>
              <a:off x="2119261" y="3953218"/>
              <a:ext cx="635841" cy="6364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1994" name="Line 45"/>
            <p:cNvSpPr>
              <a:spLocks noChangeShapeType="1"/>
            </p:cNvSpPr>
            <p:nvPr/>
          </p:nvSpPr>
          <p:spPr bwMode="auto">
            <a:xfrm flipV="1">
              <a:off x="2982189" y="3997083"/>
              <a:ext cx="0" cy="5000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1995" name="Line 46"/>
            <p:cNvSpPr>
              <a:spLocks noChangeShapeType="1"/>
            </p:cNvSpPr>
            <p:nvPr/>
          </p:nvSpPr>
          <p:spPr bwMode="auto">
            <a:xfrm flipV="1">
              <a:off x="4427984" y="4077072"/>
              <a:ext cx="0" cy="5000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1996" name="Line 47"/>
            <p:cNvSpPr>
              <a:spLocks noChangeShapeType="1"/>
            </p:cNvSpPr>
            <p:nvPr/>
          </p:nvSpPr>
          <p:spPr bwMode="auto">
            <a:xfrm>
              <a:off x="4708043" y="3726714"/>
              <a:ext cx="5904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1997" name="Line 48"/>
            <p:cNvSpPr>
              <a:spLocks noChangeShapeType="1"/>
            </p:cNvSpPr>
            <p:nvPr/>
          </p:nvSpPr>
          <p:spPr bwMode="auto">
            <a:xfrm>
              <a:off x="4662626" y="3953218"/>
              <a:ext cx="681258" cy="6364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1998" name="Line 49"/>
            <p:cNvSpPr>
              <a:spLocks noChangeShapeType="1"/>
            </p:cNvSpPr>
            <p:nvPr/>
          </p:nvSpPr>
          <p:spPr bwMode="auto">
            <a:xfrm>
              <a:off x="6978904" y="3953218"/>
              <a:ext cx="0" cy="5909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1999" name="Line 50"/>
            <p:cNvSpPr>
              <a:spLocks noChangeShapeType="1"/>
            </p:cNvSpPr>
            <p:nvPr/>
          </p:nvSpPr>
          <p:spPr bwMode="auto">
            <a:xfrm flipV="1">
              <a:off x="7205990" y="3997083"/>
              <a:ext cx="0" cy="5000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2000" name="Line 51"/>
            <p:cNvSpPr>
              <a:spLocks noChangeShapeType="1"/>
            </p:cNvSpPr>
            <p:nvPr/>
          </p:nvSpPr>
          <p:spPr bwMode="auto">
            <a:xfrm>
              <a:off x="7342242" y="3907758"/>
              <a:ext cx="635841" cy="6364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2001" name="Line 52"/>
            <p:cNvSpPr>
              <a:spLocks noChangeShapeType="1"/>
            </p:cNvSpPr>
            <p:nvPr/>
          </p:nvSpPr>
          <p:spPr bwMode="auto">
            <a:xfrm>
              <a:off x="7387659" y="3726714"/>
              <a:ext cx="5904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2002" name="Line 53"/>
            <p:cNvSpPr>
              <a:spLocks noChangeShapeType="1"/>
            </p:cNvSpPr>
            <p:nvPr/>
          </p:nvSpPr>
          <p:spPr bwMode="auto">
            <a:xfrm flipV="1">
              <a:off x="8205169" y="3997083"/>
              <a:ext cx="0" cy="5000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56" name="Slide Number Placeholder 5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AB8A4-D1A7-42EB-ACC0-70F1C1932AFE}" type="slidenum">
              <a:rPr lang="en-US"/>
              <a:pPr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1062038" y="808038"/>
            <a:ext cx="8181975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bg-BG" sz="2800" i="1">
                <a:latin typeface="Arial" charset="0"/>
              </a:rPr>
              <a:t> </a:t>
            </a:r>
            <a:r>
              <a:rPr lang="en-US" sz="2800" i="1">
                <a:latin typeface="Arial" charset="0"/>
              </a:rPr>
              <a:t> </a:t>
            </a:r>
            <a:br>
              <a:rPr lang="en-US" sz="2800" i="1">
                <a:latin typeface="Arial" charset="0"/>
              </a:rPr>
            </a:br>
            <a:r>
              <a:rPr lang="en-US" sz="2800" i="1">
                <a:latin typeface="Arial" charset="0"/>
              </a:rPr>
              <a:t> </a:t>
            </a:r>
            <a:r>
              <a:rPr lang="bg-BG" sz="2800" i="1" u="sng">
                <a:latin typeface="Arial" charset="0"/>
              </a:rPr>
              <a:t>Топологично сортиране на ацикличен граф</a:t>
            </a:r>
            <a:r>
              <a:rPr lang="bg-BG" i="1">
                <a:latin typeface="Arial" charset="0"/>
              </a:rPr>
              <a:t/>
            </a:r>
            <a:br>
              <a:rPr lang="bg-BG" i="1">
                <a:latin typeface="Arial" charset="0"/>
              </a:rPr>
            </a:br>
            <a:r>
              <a:rPr lang="bg-BG" sz="800" i="1">
                <a:latin typeface="Arial" charset="0"/>
              </a:rPr>
              <a:t/>
            </a:r>
            <a:br>
              <a:rPr lang="bg-BG" sz="800" i="1">
                <a:latin typeface="Arial" charset="0"/>
              </a:rPr>
            </a:br>
            <a:r>
              <a:rPr lang="bg-BG" sz="800" i="1">
                <a:latin typeface="Arial" charset="0"/>
              </a:rPr>
              <a:t>	</a:t>
            </a:r>
            <a:r>
              <a:rPr lang="bg-BG">
                <a:latin typeface="Arial" charset="0"/>
              </a:rPr>
              <a:t>Топологично сортиране на ацикличен граф G(V,E) се нарича линейно нареден списък Z от върховете му, за който е изпълнено следното: за всеки два върха </a:t>
            </a:r>
            <a:r>
              <a:rPr lang="en-US">
                <a:latin typeface="Arial" charset="0"/>
              </a:rPr>
              <a:t>i, j</a:t>
            </a:r>
            <a:r>
              <a:rPr lang="bg-BG">
                <a:latin typeface="Arial" charset="0"/>
              </a:rPr>
              <a:t> принадлежащи на </a:t>
            </a:r>
            <a:r>
              <a:rPr lang="en-US">
                <a:latin typeface="Arial" charset="0"/>
              </a:rPr>
              <a:t> V, </a:t>
            </a:r>
            <a:r>
              <a:rPr lang="bg-BG">
                <a:latin typeface="Arial" charset="0"/>
              </a:rPr>
              <a:t>ако съществува път от i до j, върхът i  трябва да предшества j в Z. </a:t>
            </a:r>
            <a:br>
              <a:rPr lang="bg-BG">
                <a:latin typeface="Arial" charset="0"/>
              </a:rPr>
            </a:br>
            <a:r>
              <a:rPr lang="bg-BG">
                <a:latin typeface="Arial" charset="0"/>
              </a:rPr>
              <a:t>	На практика списъкът Z рядко може да се построи по единствен начин.</a:t>
            </a:r>
            <a:br>
              <a:rPr lang="bg-BG">
                <a:latin typeface="Arial" charset="0"/>
              </a:rPr>
            </a:br>
            <a:r>
              <a:rPr lang="bg-BG">
                <a:latin typeface="Arial" charset="0"/>
              </a:rPr>
              <a:t>Например:</a:t>
            </a:r>
            <a:r>
              <a:rPr lang="bg-BG" sz="4400">
                <a:latin typeface="Arial" charset="0"/>
              </a:rPr>
              <a:t> </a:t>
            </a:r>
            <a:br>
              <a:rPr lang="bg-BG" sz="4400">
                <a:latin typeface="Arial" charset="0"/>
              </a:rPr>
            </a:br>
            <a:r>
              <a:rPr lang="bg-BG" sz="4400">
                <a:latin typeface="Arial" charset="0"/>
              </a:rPr>
              <a:t/>
            </a:r>
            <a:br>
              <a:rPr lang="bg-BG" sz="4400">
                <a:latin typeface="Arial" charset="0"/>
              </a:rPr>
            </a:br>
            <a:r>
              <a:rPr lang="en-US" sz="4400">
                <a:latin typeface="Arial" charset="0"/>
              </a:rPr>
              <a:t/>
            </a:r>
            <a:br>
              <a:rPr lang="en-US" sz="4400">
                <a:latin typeface="Arial" charset="0"/>
              </a:rPr>
            </a:br>
            <a:r>
              <a:rPr lang="bg-BG">
                <a:latin typeface="Arial" charset="0"/>
              </a:rPr>
              <a:t>Възможни са следните варианти на подредбата:</a:t>
            </a:r>
            <a:br>
              <a:rPr lang="bg-BG">
                <a:latin typeface="Arial" charset="0"/>
              </a:rPr>
            </a:br>
            <a:r>
              <a:rPr lang="en-US">
                <a:latin typeface="Arial" charset="0"/>
              </a:rPr>
              <a:t>Z</a:t>
            </a:r>
            <a:r>
              <a:rPr lang="bg-BG">
                <a:latin typeface="Arial" charset="0"/>
              </a:rPr>
              <a:t>=(1,2,3,4,5) </a:t>
            </a:r>
            <a:br>
              <a:rPr lang="bg-BG">
                <a:latin typeface="Arial" charset="0"/>
              </a:rPr>
            </a:br>
            <a:r>
              <a:rPr lang="en-US">
                <a:latin typeface="Arial" charset="0"/>
              </a:rPr>
              <a:t>Z</a:t>
            </a:r>
            <a:r>
              <a:rPr lang="bg-BG">
                <a:latin typeface="Arial" charset="0"/>
              </a:rPr>
              <a:t>=(1,3,2,4,5)</a:t>
            </a:r>
            <a:br>
              <a:rPr lang="bg-BG">
                <a:latin typeface="Arial" charset="0"/>
              </a:rPr>
            </a:br>
            <a:r>
              <a:rPr lang="en-US">
                <a:latin typeface="Arial" charset="0"/>
              </a:rPr>
              <a:t>Z</a:t>
            </a:r>
            <a:r>
              <a:rPr lang="bg-BG">
                <a:latin typeface="Arial" charset="0"/>
              </a:rPr>
              <a:t>=(5,1,2,3,4) и  т. н.</a:t>
            </a:r>
            <a:br>
              <a:rPr lang="bg-BG">
                <a:latin typeface="Arial" charset="0"/>
              </a:rPr>
            </a:br>
            <a:r>
              <a:rPr lang="en-US" sz="4400">
                <a:latin typeface="Arial" charset="0"/>
              </a:rPr>
              <a:t/>
            </a:r>
            <a:br>
              <a:rPr lang="en-US" sz="4400">
                <a:latin typeface="Arial" charset="0"/>
              </a:rPr>
            </a:br>
            <a:endParaRPr lang="en-US" sz="4400">
              <a:latin typeface="Arial" charset="0"/>
            </a:endParaRPr>
          </a:p>
        </p:txBody>
      </p:sp>
      <p:grpSp>
        <p:nvGrpSpPr>
          <p:cNvPr id="43011" name="Group 3"/>
          <p:cNvGrpSpPr>
            <a:grpSpLocks/>
          </p:cNvGrpSpPr>
          <p:nvPr/>
        </p:nvGrpSpPr>
        <p:grpSpPr bwMode="auto">
          <a:xfrm>
            <a:off x="2971800" y="3576638"/>
            <a:ext cx="3048000" cy="1320800"/>
            <a:chOff x="3615" y="1980"/>
            <a:chExt cx="4320" cy="1721"/>
          </a:xfrm>
        </p:grpSpPr>
        <p:grpSp>
          <p:nvGrpSpPr>
            <p:cNvPr id="43013" name="Group 4"/>
            <p:cNvGrpSpPr>
              <a:grpSpLocks/>
            </p:cNvGrpSpPr>
            <p:nvPr/>
          </p:nvGrpSpPr>
          <p:grpSpPr bwMode="auto">
            <a:xfrm>
              <a:off x="3615" y="2505"/>
              <a:ext cx="615" cy="570"/>
              <a:chOff x="3675" y="1980"/>
              <a:chExt cx="615" cy="570"/>
            </a:xfrm>
          </p:grpSpPr>
          <p:sp>
            <p:nvSpPr>
              <p:cNvPr id="43030" name="Oval 5"/>
              <p:cNvSpPr>
                <a:spLocks noChangeArrowheads="1"/>
              </p:cNvSpPr>
              <p:nvPr/>
            </p:nvSpPr>
            <p:spPr bwMode="auto">
              <a:xfrm>
                <a:off x="3675" y="1980"/>
                <a:ext cx="615" cy="57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3031" name="Text Box 6"/>
              <p:cNvSpPr txBox="1">
                <a:spLocks noChangeArrowheads="1"/>
              </p:cNvSpPr>
              <p:nvPr/>
            </p:nvSpPr>
            <p:spPr bwMode="auto">
              <a:xfrm>
                <a:off x="3795" y="2070"/>
                <a:ext cx="390" cy="37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800"/>
                  <a:t>1</a:t>
                </a:r>
                <a:endParaRPr lang="en-US" sz="1000"/>
              </a:p>
            </p:txBody>
          </p:sp>
        </p:grpSp>
        <p:grpSp>
          <p:nvGrpSpPr>
            <p:cNvPr id="43014" name="Group 7"/>
            <p:cNvGrpSpPr>
              <a:grpSpLocks/>
            </p:cNvGrpSpPr>
            <p:nvPr/>
          </p:nvGrpSpPr>
          <p:grpSpPr bwMode="auto">
            <a:xfrm>
              <a:off x="4785" y="1980"/>
              <a:ext cx="615" cy="570"/>
              <a:chOff x="3675" y="1980"/>
              <a:chExt cx="615" cy="570"/>
            </a:xfrm>
          </p:grpSpPr>
          <p:sp>
            <p:nvSpPr>
              <p:cNvPr id="43028" name="Oval 8"/>
              <p:cNvSpPr>
                <a:spLocks noChangeArrowheads="1"/>
              </p:cNvSpPr>
              <p:nvPr/>
            </p:nvSpPr>
            <p:spPr bwMode="auto">
              <a:xfrm>
                <a:off x="3675" y="1980"/>
                <a:ext cx="615" cy="57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3029" name="Text Box 9"/>
              <p:cNvSpPr txBox="1">
                <a:spLocks noChangeArrowheads="1"/>
              </p:cNvSpPr>
              <p:nvPr/>
            </p:nvSpPr>
            <p:spPr bwMode="auto">
              <a:xfrm>
                <a:off x="3795" y="2070"/>
                <a:ext cx="390" cy="37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800"/>
                  <a:t>2</a:t>
                </a:r>
                <a:endParaRPr lang="en-US" sz="1000"/>
              </a:p>
            </p:txBody>
          </p:sp>
        </p:grpSp>
        <p:grpSp>
          <p:nvGrpSpPr>
            <p:cNvPr id="43015" name="Group 10"/>
            <p:cNvGrpSpPr>
              <a:grpSpLocks/>
            </p:cNvGrpSpPr>
            <p:nvPr/>
          </p:nvGrpSpPr>
          <p:grpSpPr bwMode="auto">
            <a:xfrm>
              <a:off x="7320" y="2550"/>
              <a:ext cx="615" cy="570"/>
              <a:chOff x="3675" y="1980"/>
              <a:chExt cx="615" cy="570"/>
            </a:xfrm>
          </p:grpSpPr>
          <p:sp>
            <p:nvSpPr>
              <p:cNvPr id="43026" name="Oval 11"/>
              <p:cNvSpPr>
                <a:spLocks noChangeArrowheads="1"/>
              </p:cNvSpPr>
              <p:nvPr/>
            </p:nvSpPr>
            <p:spPr bwMode="auto">
              <a:xfrm>
                <a:off x="3675" y="1980"/>
                <a:ext cx="615" cy="57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3027" name="Text Box 12"/>
              <p:cNvSpPr txBox="1">
                <a:spLocks noChangeArrowheads="1"/>
              </p:cNvSpPr>
              <p:nvPr/>
            </p:nvSpPr>
            <p:spPr bwMode="auto">
              <a:xfrm>
                <a:off x="3795" y="2070"/>
                <a:ext cx="390" cy="37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800"/>
                  <a:t>5</a:t>
                </a:r>
              </a:p>
            </p:txBody>
          </p:sp>
        </p:grpSp>
        <p:grpSp>
          <p:nvGrpSpPr>
            <p:cNvPr id="43016" name="Group 13"/>
            <p:cNvGrpSpPr>
              <a:grpSpLocks/>
            </p:cNvGrpSpPr>
            <p:nvPr/>
          </p:nvGrpSpPr>
          <p:grpSpPr bwMode="auto">
            <a:xfrm>
              <a:off x="4860" y="3131"/>
              <a:ext cx="615" cy="570"/>
              <a:chOff x="3675" y="1980"/>
              <a:chExt cx="615" cy="570"/>
            </a:xfrm>
          </p:grpSpPr>
          <p:sp>
            <p:nvSpPr>
              <p:cNvPr id="43024" name="Oval 14"/>
              <p:cNvSpPr>
                <a:spLocks noChangeArrowheads="1"/>
              </p:cNvSpPr>
              <p:nvPr/>
            </p:nvSpPr>
            <p:spPr bwMode="auto">
              <a:xfrm>
                <a:off x="3675" y="1980"/>
                <a:ext cx="615" cy="57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3025" name="Text Box 15"/>
              <p:cNvSpPr txBox="1">
                <a:spLocks noChangeArrowheads="1"/>
              </p:cNvSpPr>
              <p:nvPr/>
            </p:nvSpPr>
            <p:spPr bwMode="auto">
              <a:xfrm>
                <a:off x="3795" y="2070"/>
                <a:ext cx="390" cy="37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800"/>
                  <a:t>3</a:t>
                </a:r>
                <a:endParaRPr lang="en-US" sz="1000"/>
              </a:p>
            </p:txBody>
          </p:sp>
        </p:grpSp>
        <p:grpSp>
          <p:nvGrpSpPr>
            <p:cNvPr id="43017" name="Group 16"/>
            <p:cNvGrpSpPr>
              <a:grpSpLocks/>
            </p:cNvGrpSpPr>
            <p:nvPr/>
          </p:nvGrpSpPr>
          <p:grpSpPr bwMode="auto">
            <a:xfrm>
              <a:off x="5970" y="2520"/>
              <a:ext cx="615" cy="570"/>
              <a:chOff x="3675" y="1980"/>
              <a:chExt cx="615" cy="570"/>
            </a:xfrm>
          </p:grpSpPr>
          <p:sp>
            <p:nvSpPr>
              <p:cNvPr id="43022" name="Oval 17"/>
              <p:cNvSpPr>
                <a:spLocks noChangeArrowheads="1"/>
              </p:cNvSpPr>
              <p:nvPr/>
            </p:nvSpPr>
            <p:spPr bwMode="auto">
              <a:xfrm>
                <a:off x="3675" y="1980"/>
                <a:ext cx="615" cy="57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3023" name="Text Box 18"/>
              <p:cNvSpPr txBox="1">
                <a:spLocks noChangeArrowheads="1"/>
              </p:cNvSpPr>
              <p:nvPr/>
            </p:nvSpPr>
            <p:spPr bwMode="auto">
              <a:xfrm>
                <a:off x="3795" y="2070"/>
                <a:ext cx="390" cy="37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800"/>
                  <a:t>4</a:t>
                </a:r>
                <a:endParaRPr lang="en-US" sz="1000"/>
              </a:p>
            </p:txBody>
          </p:sp>
        </p:grpSp>
        <p:sp>
          <p:nvSpPr>
            <p:cNvPr id="43018" name="Line 19"/>
            <p:cNvSpPr>
              <a:spLocks noChangeShapeType="1"/>
            </p:cNvSpPr>
            <p:nvPr/>
          </p:nvSpPr>
          <p:spPr bwMode="auto">
            <a:xfrm flipV="1">
              <a:off x="4215" y="2280"/>
              <a:ext cx="600" cy="3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3019" name="Line 20"/>
            <p:cNvSpPr>
              <a:spLocks noChangeShapeType="1"/>
            </p:cNvSpPr>
            <p:nvPr/>
          </p:nvSpPr>
          <p:spPr bwMode="auto">
            <a:xfrm>
              <a:off x="4215" y="2970"/>
              <a:ext cx="720" cy="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3020" name="Line 21"/>
            <p:cNvSpPr>
              <a:spLocks noChangeShapeType="1"/>
            </p:cNvSpPr>
            <p:nvPr/>
          </p:nvSpPr>
          <p:spPr bwMode="auto">
            <a:xfrm>
              <a:off x="5400" y="2280"/>
              <a:ext cx="675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3021" name="Line 22"/>
            <p:cNvSpPr>
              <a:spLocks noChangeShapeType="1"/>
            </p:cNvSpPr>
            <p:nvPr/>
          </p:nvSpPr>
          <p:spPr bwMode="auto">
            <a:xfrm flipV="1">
              <a:off x="5415" y="3000"/>
              <a:ext cx="615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D4DE8E-1A6E-4BC0-82E3-5FF49D3D50AD}" type="slidenum">
              <a:rPr lang="en-US"/>
              <a:pPr>
                <a:defRPr/>
              </a:pPr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1042988" y="609600"/>
            <a:ext cx="7993062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10000"/>
              </a:lnSpc>
            </a:pPr>
            <a:r>
              <a:rPr lang="bg-BG" sz="2200">
                <a:latin typeface="Arial" charset="0"/>
              </a:rPr>
              <a:t>	Т.к. сортираният граф е ацикличен, то в него съществува поне един връх без предшественици. Именно такъв връх е първи в наредбата. Алгоритъмът може да се опише така:</a:t>
            </a:r>
            <a:br>
              <a:rPr lang="bg-BG" sz="2200">
                <a:latin typeface="Arial" charset="0"/>
              </a:rPr>
            </a:br>
            <a:r>
              <a:rPr lang="bg-BG" sz="800">
                <a:latin typeface="Arial" charset="0"/>
              </a:rPr>
              <a:t/>
            </a:r>
            <a:br>
              <a:rPr lang="bg-BG" sz="800">
                <a:latin typeface="Arial" charset="0"/>
              </a:rPr>
            </a:br>
            <a:r>
              <a:rPr lang="en-US" sz="2200">
                <a:solidFill>
                  <a:schemeClr val="tx2"/>
                </a:solidFill>
              </a:rPr>
              <a:t> 1.  </a:t>
            </a:r>
            <a:r>
              <a:rPr lang="bg-BG" sz="2200">
                <a:latin typeface="Arial" charset="0"/>
              </a:rPr>
              <a:t>Инициализираме </a:t>
            </a:r>
            <a:r>
              <a:rPr lang="bg-BG" b="1" i="1">
                <a:latin typeface="Arial" charset="0"/>
              </a:rPr>
              <a:t>Z</a:t>
            </a:r>
            <a:r>
              <a:rPr lang="bg-BG" sz="2200">
                <a:latin typeface="Arial" charset="0"/>
              </a:rPr>
              <a:t> като празен списък.</a:t>
            </a:r>
            <a:br>
              <a:rPr lang="bg-BG" sz="2200">
                <a:latin typeface="Arial" charset="0"/>
              </a:rPr>
            </a:br>
            <a:r>
              <a:rPr lang="en-US" sz="2200">
                <a:solidFill>
                  <a:schemeClr val="tx2"/>
                </a:solidFill>
              </a:rPr>
              <a:t> 2.  </a:t>
            </a:r>
            <a:r>
              <a:rPr lang="bg-BG" sz="2200">
                <a:latin typeface="Arial" charset="0"/>
              </a:rPr>
              <a:t>Избираме връх </a:t>
            </a:r>
            <a:r>
              <a:rPr lang="en-US" b="1" i="1">
                <a:latin typeface="Arial" charset="0"/>
              </a:rPr>
              <a:t>i</a:t>
            </a:r>
            <a:r>
              <a:rPr lang="bg-BG" sz="2200">
                <a:latin typeface="Arial" charset="0"/>
              </a:rPr>
              <a:t> без предшественици и го добавяме в </a:t>
            </a:r>
            <a:br>
              <a:rPr lang="bg-BG" sz="2200">
                <a:latin typeface="Arial" charset="0"/>
              </a:rPr>
            </a:br>
            <a:r>
              <a:rPr lang="bg-BG" sz="2200">
                <a:latin typeface="Arial" charset="0"/>
              </a:rPr>
              <a:t>      списъка </a:t>
            </a:r>
            <a:r>
              <a:rPr lang="bg-BG" b="1" i="1">
                <a:latin typeface="Arial" charset="0"/>
              </a:rPr>
              <a:t>Z</a:t>
            </a:r>
            <a:r>
              <a:rPr lang="bg-BG" sz="2200">
                <a:latin typeface="Arial" charset="0"/>
              </a:rPr>
              <a:t>. Изключваме </a:t>
            </a:r>
            <a:r>
              <a:rPr lang="en-US" b="1" i="1">
                <a:latin typeface="Arial" charset="0"/>
              </a:rPr>
              <a:t>i </a:t>
            </a:r>
            <a:r>
              <a:rPr lang="bg-BG" sz="2200">
                <a:latin typeface="Arial" charset="0"/>
              </a:rPr>
              <a:t>от графа, както и всички дъги, </a:t>
            </a:r>
            <a:br>
              <a:rPr lang="bg-BG" sz="2200">
                <a:latin typeface="Arial" charset="0"/>
              </a:rPr>
            </a:br>
            <a:r>
              <a:rPr lang="en-US" sz="2200">
                <a:latin typeface="Arial" charset="0"/>
              </a:rPr>
              <a:t>      </a:t>
            </a:r>
            <a:r>
              <a:rPr lang="bg-BG" sz="2200">
                <a:latin typeface="Arial" charset="0"/>
              </a:rPr>
              <a:t>инцидентни с него. Ако има повече от един връх без </a:t>
            </a:r>
            <a:br>
              <a:rPr lang="bg-BG" sz="2200">
                <a:latin typeface="Arial" charset="0"/>
              </a:rPr>
            </a:br>
            <a:r>
              <a:rPr lang="en-US" sz="2200">
                <a:latin typeface="Arial" charset="0"/>
              </a:rPr>
              <a:t>      </a:t>
            </a:r>
            <a:r>
              <a:rPr lang="bg-BG" sz="2200">
                <a:latin typeface="Arial" charset="0"/>
              </a:rPr>
              <a:t>предшественици, избираме произволен.</a:t>
            </a:r>
            <a:br>
              <a:rPr lang="bg-BG" sz="2200">
                <a:latin typeface="Arial" charset="0"/>
              </a:rPr>
            </a:br>
            <a:r>
              <a:rPr lang="bg-BG" sz="2200">
                <a:latin typeface="Arial" charset="0"/>
              </a:rPr>
              <a:t> </a:t>
            </a:r>
            <a:r>
              <a:rPr lang="en-US" sz="2200">
                <a:solidFill>
                  <a:schemeClr val="tx2"/>
                </a:solidFill>
              </a:rPr>
              <a:t>3.  </a:t>
            </a:r>
            <a:r>
              <a:rPr lang="bg-BG" sz="2200">
                <a:latin typeface="Arial" charset="0"/>
              </a:rPr>
              <a:t>Повтаряме стъпка 2, докато не остане нито един  връх.</a:t>
            </a:r>
            <a:r>
              <a:rPr lang="bg-BG" sz="800">
                <a:latin typeface="Arial" charset="0"/>
              </a:rPr>
              <a:t/>
            </a:r>
            <a:br>
              <a:rPr lang="bg-BG" sz="800">
                <a:latin typeface="Arial" charset="0"/>
              </a:rPr>
            </a:br>
            <a:r>
              <a:rPr lang="bg-BG" sz="800">
                <a:latin typeface="Arial" charset="0"/>
              </a:rPr>
              <a:t/>
            </a:r>
            <a:br>
              <a:rPr lang="bg-BG" sz="800">
                <a:latin typeface="Arial" charset="0"/>
              </a:rPr>
            </a:br>
            <a:r>
              <a:rPr lang="bg-BG" sz="800">
                <a:latin typeface="Arial" charset="0"/>
              </a:rPr>
              <a:t/>
            </a:r>
            <a:br>
              <a:rPr lang="bg-BG" sz="800">
                <a:latin typeface="Arial" charset="0"/>
              </a:rPr>
            </a:br>
            <a:r>
              <a:rPr lang="bg-BG" sz="800">
                <a:latin typeface="Arial" charset="0"/>
              </a:rPr>
              <a:t/>
            </a:r>
            <a:br>
              <a:rPr lang="bg-BG" sz="800">
                <a:latin typeface="Arial" charset="0"/>
              </a:rPr>
            </a:br>
            <a:r>
              <a:rPr lang="bg-BG" sz="800">
                <a:latin typeface="Arial" charset="0"/>
              </a:rPr>
              <a:t/>
            </a:r>
            <a:br>
              <a:rPr lang="bg-BG" sz="800">
                <a:latin typeface="Arial" charset="0"/>
              </a:rPr>
            </a:br>
            <a:r>
              <a:rPr lang="bg-BG" sz="800">
                <a:latin typeface="Arial" charset="0"/>
              </a:rPr>
              <a:t/>
            </a:r>
            <a:br>
              <a:rPr lang="bg-BG" sz="800">
                <a:latin typeface="Arial" charset="0"/>
              </a:rPr>
            </a:br>
            <a:r>
              <a:rPr lang="bg-BG" sz="800">
                <a:latin typeface="Arial" charset="0"/>
              </a:rPr>
              <a:t/>
            </a:r>
            <a:br>
              <a:rPr lang="bg-BG" sz="800">
                <a:latin typeface="Arial" charset="0"/>
              </a:rPr>
            </a:br>
            <a:r>
              <a:rPr lang="bg-BG" sz="800">
                <a:latin typeface="Arial" charset="0"/>
              </a:rPr>
              <a:t/>
            </a:r>
            <a:br>
              <a:rPr lang="bg-BG" sz="800">
                <a:latin typeface="Arial" charset="0"/>
              </a:rPr>
            </a:br>
            <a:r>
              <a:rPr lang="bg-BG" sz="800">
                <a:latin typeface="Arial" charset="0"/>
              </a:rPr>
              <a:t/>
            </a:r>
            <a:br>
              <a:rPr lang="bg-BG" sz="800">
                <a:latin typeface="Arial" charset="0"/>
              </a:rPr>
            </a:br>
            <a:r>
              <a:rPr lang="bg-BG" sz="800">
                <a:latin typeface="Arial" charset="0"/>
              </a:rPr>
              <a:t/>
            </a:r>
            <a:br>
              <a:rPr lang="bg-BG" sz="800">
                <a:latin typeface="Arial" charset="0"/>
              </a:rPr>
            </a:br>
            <a:r>
              <a:rPr lang="bg-BG" sz="800">
                <a:latin typeface="Arial" charset="0"/>
              </a:rPr>
              <a:t/>
            </a:r>
            <a:br>
              <a:rPr lang="bg-BG" sz="800">
                <a:latin typeface="Arial" charset="0"/>
              </a:rPr>
            </a:br>
            <a:r>
              <a:rPr lang="bg-BG" sz="800">
                <a:latin typeface="Arial" charset="0"/>
              </a:rPr>
              <a:t/>
            </a:r>
            <a:br>
              <a:rPr lang="bg-BG" sz="800">
                <a:latin typeface="Arial" charset="0"/>
              </a:rPr>
            </a:br>
            <a:r>
              <a:rPr lang="bg-BG" sz="800">
                <a:latin typeface="Arial" charset="0"/>
              </a:rPr>
              <a:t/>
            </a:r>
            <a:br>
              <a:rPr lang="bg-BG" sz="800">
                <a:latin typeface="Arial" charset="0"/>
              </a:rPr>
            </a:br>
            <a:r>
              <a:rPr lang="bg-BG" sz="800">
                <a:latin typeface="Arial" charset="0"/>
              </a:rPr>
              <a:t/>
            </a:r>
            <a:br>
              <a:rPr lang="bg-BG" sz="800">
                <a:latin typeface="Arial" charset="0"/>
              </a:rPr>
            </a:br>
            <a:r>
              <a:rPr lang="bg-BG" sz="800">
                <a:latin typeface="Arial" charset="0"/>
              </a:rPr>
              <a:t/>
            </a:r>
            <a:br>
              <a:rPr lang="bg-BG" sz="800">
                <a:latin typeface="Arial" charset="0"/>
              </a:rPr>
            </a:br>
            <a:r>
              <a:rPr lang="bg-BG" sz="800">
                <a:latin typeface="Arial" charset="0"/>
              </a:rPr>
              <a:t/>
            </a:r>
            <a:br>
              <a:rPr lang="bg-BG" sz="800">
                <a:latin typeface="Arial" charset="0"/>
              </a:rPr>
            </a:br>
            <a:r>
              <a:rPr lang="bg-BG" sz="800">
                <a:latin typeface="Arial" charset="0"/>
              </a:rPr>
              <a:t/>
            </a:r>
            <a:br>
              <a:rPr lang="bg-BG" sz="800">
                <a:latin typeface="Arial" charset="0"/>
              </a:rPr>
            </a:br>
            <a:r>
              <a:rPr lang="bg-BG" sz="800">
                <a:latin typeface="Arial" charset="0"/>
              </a:rPr>
              <a:t>	</a:t>
            </a:r>
            <a:r>
              <a:rPr lang="bg-BG" sz="2000">
                <a:solidFill>
                  <a:schemeClr val="accent2"/>
                </a:solidFill>
                <a:latin typeface="Arial" charset="0"/>
              </a:rPr>
              <a:t/>
            </a:r>
            <a:br>
              <a:rPr lang="bg-BG" sz="2000">
                <a:solidFill>
                  <a:schemeClr val="accent2"/>
                </a:solidFill>
                <a:latin typeface="Arial" charset="0"/>
              </a:rPr>
            </a:br>
            <a:endParaRPr lang="en-US" sz="2000">
              <a:solidFill>
                <a:schemeClr val="accent2"/>
              </a:solidFill>
              <a:latin typeface="Arial" charset="0"/>
            </a:endParaRPr>
          </a:p>
        </p:txBody>
      </p:sp>
      <p:grpSp>
        <p:nvGrpSpPr>
          <p:cNvPr id="44035" name="Group 4"/>
          <p:cNvGrpSpPr>
            <a:grpSpLocks/>
          </p:cNvGrpSpPr>
          <p:nvPr/>
        </p:nvGrpSpPr>
        <p:grpSpPr bwMode="auto">
          <a:xfrm>
            <a:off x="2895600" y="4495800"/>
            <a:ext cx="3048000" cy="1320800"/>
            <a:chOff x="3615" y="1980"/>
            <a:chExt cx="4320" cy="1721"/>
          </a:xfrm>
        </p:grpSpPr>
        <p:grpSp>
          <p:nvGrpSpPr>
            <p:cNvPr id="44037" name="Group 5"/>
            <p:cNvGrpSpPr>
              <a:grpSpLocks/>
            </p:cNvGrpSpPr>
            <p:nvPr/>
          </p:nvGrpSpPr>
          <p:grpSpPr bwMode="auto">
            <a:xfrm>
              <a:off x="3615" y="2505"/>
              <a:ext cx="615" cy="570"/>
              <a:chOff x="3675" y="1980"/>
              <a:chExt cx="615" cy="570"/>
            </a:xfrm>
          </p:grpSpPr>
          <p:sp>
            <p:nvSpPr>
              <p:cNvPr id="44054" name="Oval 6"/>
              <p:cNvSpPr>
                <a:spLocks noChangeArrowheads="1"/>
              </p:cNvSpPr>
              <p:nvPr/>
            </p:nvSpPr>
            <p:spPr bwMode="auto">
              <a:xfrm>
                <a:off x="3675" y="1980"/>
                <a:ext cx="615" cy="57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4055" name="Text Box 7"/>
              <p:cNvSpPr txBox="1">
                <a:spLocks noChangeArrowheads="1"/>
              </p:cNvSpPr>
              <p:nvPr/>
            </p:nvSpPr>
            <p:spPr bwMode="auto">
              <a:xfrm>
                <a:off x="3795" y="2070"/>
                <a:ext cx="390" cy="37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800"/>
                  <a:t>1</a:t>
                </a:r>
                <a:endParaRPr lang="en-US" sz="1000"/>
              </a:p>
            </p:txBody>
          </p:sp>
        </p:grpSp>
        <p:grpSp>
          <p:nvGrpSpPr>
            <p:cNvPr id="44038" name="Group 8"/>
            <p:cNvGrpSpPr>
              <a:grpSpLocks/>
            </p:cNvGrpSpPr>
            <p:nvPr/>
          </p:nvGrpSpPr>
          <p:grpSpPr bwMode="auto">
            <a:xfrm>
              <a:off x="4785" y="1980"/>
              <a:ext cx="615" cy="570"/>
              <a:chOff x="3675" y="1980"/>
              <a:chExt cx="615" cy="570"/>
            </a:xfrm>
          </p:grpSpPr>
          <p:sp>
            <p:nvSpPr>
              <p:cNvPr id="44052" name="Oval 9"/>
              <p:cNvSpPr>
                <a:spLocks noChangeArrowheads="1"/>
              </p:cNvSpPr>
              <p:nvPr/>
            </p:nvSpPr>
            <p:spPr bwMode="auto">
              <a:xfrm>
                <a:off x="3675" y="1980"/>
                <a:ext cx="615" cy="57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4053" name="Text Box 10"/>
              <p:cNvSpPr txBox="1">
                <a:spLocks noChangeArrowheads="1"/>
              </p:cNvSpPr>
              <p:nvPr/>
            </p:nvSpPr>
            <p:spPr bwMode="auto">
              <a:xfrm>
                <a:off x="3795" y="2070"/>
                <a:ext cx="390" cy="37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800"/>
                  <a:t>2</a:t>
                </a:r>
                <a:endParaRPr lang="en-US" sz="1000"/>
              </a:p>
            </p:txBody>
          </p:sp>
        </p:grpSp>
        <p:grpSp>
          <p:nvGrpSpPr>
            <p:cNvPr id="44039" name="Group 11"/>
            <p:cNvGrpSpPr>
              <a:grpSpLocks/>
            </p:cNvGrpSpPr>
            <p:nvPr/>
          </p:nvGrpSpPr>
          <p:grpSpPr bwMode="auto">
            <a:xfrm>
              <a:off x="7320" y="2550"/>
              <a:ext cx="615" cy="570"/>
              <a:chOff x="3675" y="1980"/>
              <a:chExt cx="615" cy="570"/>
            </a:xfrm>
          </p:grpSpPr>
          <p:sp>
            <p:nvSpPr>
              <p:cNvPr id="44050" name="Oval 12"/>
              <p:cNvSpPr>
                <a:spLocks noChangeArrowheads="1"/>
              </p:cNvSpPr>
              <p:nvPr/>
            </p:nvSpPr>
            <p:spPr bwMode="auto">
              <a:xfrm>
                <a:off x="3675" y="1980"/>
                <a:ext cx="615" cy="57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4051" name="Text Box 13"/>
              <p:cNvSpPr txBox="1">
                <a:spLocks noChangeArrowheads="1"/>
              </p:cNvSpPr>
              <p:nvPr/>
            </p:nvSpPr>
            <p:spPr bwMode="auto">
              <a:xfrm>
                <a:off x="3795" y="2070"/>
                <a:ext cx="390" cy="37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800"/>
                  <a:t>5</a:t>
                </a:r>
              </a:p>
            </p:txBody>
          </p:sp>
        </p:grpSp>
        <p:grpSp>
          <p:nvGrpSpPr>
            <p:cNvPr id="44040" name="Group 14"/>
            <p:cNvGrpSpPr>
              <a:grpSpLocks/>
            </p:cNvGrpSpPr>
            <p:nvPr/>
          </p:nvGrpSpPr>
          <p:grpSpPr bwMode="auto">
            <a:xfrm>
              <a:off x="4860" y="3131"/>
              <a:ext cx="615" cy="570"/>
              <a:chOff x="3675" y="1980"/>
              <a:chExt cx="615" cy="570"/>
            </a:xfrm>
          </p:grpSpPr>
          <p:sp>
            <p:nvSpPr>
              <p:cNvPr id="44048" name="Oval 15"/>
              <p:cNvSpPr>
                <a:spLocks noChangeArrowheads="1"/>
              </p:cNvSpPr>
              <p:nvPr/>
            </p:nvSpPr>
            <p:spPr bwMode="auto">
              <a:xfrm>
                <a:off x="3675" y="1980"/>
                <a:ext cx="615" cy="57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4049" name="Text Box 16"/>
              <p:cNvSpPr txBox="1">
                <a:spLocks noChangeArrowheads="1"/>
              </p:cNvSpPr>
              <p:nvPr/>
            </p:nvSpPr>
            <p:spPr bwMode="auto">
              <a:xfrm>
                <a:off x="3795" y="2070"/>
                <a:ext cx="390" cy="37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800"/>
                  <a:t>3</a:t>
                </a:r>
                <a:endParaRPr lang="en-US" sz="1000"/>
              </a:p>
            </p:txBody>
          </p:sp>
        </p:grpSp>
        <p:grpSp>
          <p:nvGrpSpPr>
            <p:cNvPr id="44041" name="Group 17"/>
            <p:cNvGrpSpPr>
              <a:grpSpLocks/>
            </p:cNvGrpSpPr>
            <p:nvPr/>
          </p:nvGrpSpPr>
          <p:grpSpPr bwMode="auto">
            <a:xfrm>
              <a:off x="5970" y="2520"/>
              <a:ext cx="615" cy="570"/>
              <a:chOff x="3675" y="1980"/>
              <a:chExt cx="615" cy="570"/>
            </a:xfrm>
          </p:grpSpPr>
          <p:sp>
            <p:nvSpPr>
              <p:cNvPr id="44046" name="Oval 18"/>
              <p:cNvSpPr>
                <a:spLocks noChangeArrowheads="1"/>
              </p:cNvSpPr>
              <p:nvPr/>
            </p:nvSpPr>
            <p:spPr bwMode="auto">
              <a:xfrm>
                <a:off x="3675" y="1980"/>
                <a:ext cx="615" cy="57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4047" name="Text Box 19"/>
              <p:cNvSpPr txBox="1">
                <a:spLocks noChangeArrowheads="1"/>
              </p:cNvSpPr>
              <p:nvPr/>
            </p:nvSpPr>
            <p:spPr bwMode="auto">
              <a:xfrm>
                <a:off x="3795" y="2070"/>
                <a:ext cx="390" cy="37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800"/>
                  <a:t>4</a:t>
                </a:r>
                <a:endParaRPr lang="en-US" sz="1000"/>
              </a:p>
            </p:txBody>
          </p:sp>
        </p:grpSp>
        <p:sp>
          <p:nvSpPr>
            <p:cNvPr id="44042" name="Line 20"/>
            <p:cNvSpPr>
              <a:spLocks noChangeShapeType="1"/>
            </p:cNvSpPr>
            <p:nvPr/>
          </p:nvSpPr>
          <p:spPr bwMode="auto">
            <a:xfrm flipV="1">
              <a:off x="4215" y="2280"/>
              <a:ext cx="600" cy="3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4043" name="Line 21"/>
            <p:cNvSpPr>
              <a:spLocks noChangeShapeType="1"/>
            </p:cNvSpPr>
            <p:nvPr/>
          </p:nvSpPr>
          <p:spPr bwMode="auto">
            <a:xfrm>
              <a:off x="4215" y="2970"/>
              <a:ext cx="720" cy="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4044" name="Line 22"/>
            <p:cNvSpPr>
              <a:spLocks noChangeShapeType="1"/>
            </p:cNvSpPr>
            <p:nvPr/>
          </p:nvSpPr>
          <p:spPr bwMode="auto">
            <a:xfrm>
              <a:off x="5400" y="2280"/>
              <a:ext cx="675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4045" name="Line 23"/>
            <p:cNvSpPr>
              <a:spLocks noChangeShapeType="1"/>
            </p:cNvSpPr>
            <p:nvPr/>
          </p:nvSpPr>
          <p:spPr bwMode="auto">
            <a:xfrm flipV="1">
              <a:off x="5415" y="3000"/>
              <a:ext cx="615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295989-4BF6-4BE2-82C0-93C82CDCDF46}" type="slidenum">
              <a:rPr lang="en-US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404813"/>
            <a:ext cx="7848600" cy="6096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200">
                <a:solidFill>
                  <a:schemeClr val="tx1"/>
                </a:solidFill>
                <a:latin typeface="Arial" charset="0"/>
              </a:rPr>
              <a:t>	Алгоритъмът може да бъде реализиран и по обратния начин: на всяка стъпка да се търси връх без наследник. Така ще се получи топологичното сортиране на графа в обратен ред.</a:t>
            </a:r>
            <a:br>
              <a:rPr lang="bg-BG" sz="2200">
                <a:solidFill>
                  <a:schemeClr val="tx1"/>
                </a:solidFill>
                <a:latin typeface="Arial" charset="0"/>
              </a:rPr>
            </a:br>
            <a:r>
              <a:rPr lang="bg-BG" sz="2200">
                <a:solidFill>
                  <a:schemeClr val="tx1"/>
                </a:solidFill>
                <a:latin typeface="Arial" charset="0"/>
              </a:rPr>
              <a:t>	Когато съществува повече от едно нареждане на върховете в </a:t>
            </a:r>
            <a:r>
              <a:rPr lang="en-US" sz="2400" b="1" i="1">
                <a:solidFill>
                  <a:schemeClr val="tx1"/>
                </a:solidFill>
                <a:latin typeface="Arial" charset="0"/>
              </a:rPr>
              <a:t>Z</a:t>
            </a:r>
            <a:r>
              <a:rPr lang="en-US" sz="2200">
                <a:solidFill>
                  <a:schemeClr val="tx1"/>
                </a:solidFill>
                <a:latin typeface="Arial" charset="0"/>
              </a:rPr>
              <a:t>, </a:t>
            </a:r>
            <a:r>
              <a:rPr lang="bg-BG" sz="2200">
                <a:solidFill>
                  <a:schemeClr val="tx1"/>
                </a:solidFill>
                <a:latin typeface="Arial" charset="0"/>
              </a:rPr>
              <a:t>множеството от всички възможни списъци</a:t>
            </a:r>
            <a:r>
              <a:rPr lang="en-US" sz="220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400" b="1" i="1">
                <a:solidFill>
                  <a:schemeClr val="tx1"/>
                </a:solidFill>
                <a:latin typeface="Arial" charset="0"/>
              </a:rPr>
              <a:t>Z</a:t>
            </a:r>
            <a:r>
              <a:rPr lang="bg-BG" sz="2200">
                <a:solidFill>
                  <a:schemeClr val="tx1"/>
                </a:solidFill>
                <a:latin typeface="Arial" charset="0"/>
              </a:rPr>
              <a:t> се нарича пълно топологично сортиране.</a:t>
            </a:r>
            <a:br>
              <a:rPr lang="bg-BG" sz="2200">
                <a:solidFill>
                  <a:schemeClr val="tx1"/>
                </a:solidFill>
                <a:latin typeface="Arial" charset="0"/>
              </a:rPr>
            </a:br>
            <a:r>
              <a:rPr lang="bg-BG" sz="80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800">
                <a:solidFill>
                  <a:schemeClr val="tx1"/>
                </a:solidFill>
                <a:latin typeface="Arial" charset="0"/>
              </a:rPr>
            </a:br>
            <a:r>
              <a:rPr lang="bg-BG" sz="2200">
                <a:solidFill>
                  <a:schemeClr val="tx1"/>
                </a:solidFill>
                <a:latin typeface="Arial" charset="0"/>
              </a:rPr>
              <a:t>	</a:t>
            </a:r>
            <a:br>
              <a:rPr lang="bg-BG" sz="2200">
                <a:solidFill>
                  <a:schemeClr val="tx1"/>
                </a:solidFill>
                <a:latin typeface="Arial" charset="0"/>
              </a:rPr>
            </a:br>
            <a:r>
              <a:rPr lang="bg-BG" sz="220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200">
                <a:solidFill>
                  <a:schemeClr val="tx1"/>
                </a:solidFill>
                <a:latin typeface="Arial" charset="0"/>
              </a:rPr>
            </a:br>
            <a:r>
              <a:rPr lang="bg-BG" sz="220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200">
                <a:solidFill>
                  <a:schemeClr val="tx1"/>
                </a:solidFill>
                <a:latin typeface="Arial" charset="0"/>
              </a:rPr>
            </a:br>
            <a:r>
              <a:rPr lang="bg-BG" sz="220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200">
                <a:solidFill>
                  <a:schemeClr val="tx1"/>
                </a:solidFill>
                <a:latin typeface="Arial" charset="0"/>
              </a:rPr>
            </a:br>
            <a:r>
              <a:rPr lang="bg-BG" sz="220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200">
                <a:solidFill>
                  <a:schemeClr val="tx1"/>
                </a:solidFill>
                <a:latin typeface="Arial" charset="0"/>
              </a:rPr>
            </a:br>
            <a:r>
              <a:rPr lang="bg-BG" sz="220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200">
                <a:solidFill>
                  <a:schemeClr val="tx1"/>
                </a:solidFill>
                <a:latin typeface="Arial" charset="0"/>
              </a:rPr>
            </a:br>
            <a:r>
              <a:rPr lang="bg-BG" sz="2200">
                <a:solidFill>
                  <a:schemeClr val="tx1"/>
                </a:solidFill>
                <a:latin typeface="Arial" charset="0"/>
              </a:rPr>
              <a:t>Реализациите на описаните алгоритми могат да се намерят в </a:t>
            </a:r>
            <a:r>
              <a:rPr lang="bg-BG" sz="2400">
                <a:solidFill>
                  <a:schemeClr val="tx1"/>
                </a:solidFill>
              </a:rPr>
              <a:t>Преслав Наков, Панайот Добриков. </a:t>
            </a:r>
            <a:r>
              <a:rPr lang="bg-BG" sz="2400" i="1">
                <a:solidFill>
                  <a:schemeClr val="tx1"/>
                </a:solidFill>
              </a:rPr>
              <a:t>Програмиране = ++Алгоритми</a:t>
            </a:r>
            <a:r>
              <a:rPr lang="bg-BG" sz="2400">
                <a:solidFill>
                  <a:schemeClr val="tx1"/>
                </a:solidFill>
              </a:rPr>
              <a:t>, </a:t>
            </a:r>
            <a:r>
              <a:rPr lang="en-US" sz="2400">
                <a:solidFill>
                  <a:schemeClr val="tx1"/>
                </a:solidFill>
              </a:rPr>
              <a:t>TopTeam Co., </a:t>
            </a:r>
            <a:r>
              <a:rPr lang="bg-BG" sz="2400">
                <a:solidFill>
                  <a:schemeClr val="tx1"/>
                </a:solidFill>
              </a:rPr>
              <a:t>София,</a:t>
            </a:r>
            <a:r>
              <a:rPr lang="en-US" sz="2400">
                <a:solidFill>
                  <a:schemeClr val="tx1"/>
                </a:solidFill>
              </a:rPr>
              <a:t> 2002</a:t>
            </a:r>
            <a:r>
              <a:rPr lang="bg-BG" sz="2400">
                <a:solidFill>
                  <a:schemeClr val="tx1"/>
                </a:solidFill>
              </a:rPr>
              <a:t> </a:t>
            </a:r>
            <a:br>
              <a:rPr lang="bg-BG" sz="2400">
                <a:solidFill>
                  <a:schemeClr val="tx1"/>
                </a:solidFill>
              </a:rPr>
            </a:br>
            <a:endParaRPr lang="en-US" sz="2400">
              <a:solidFill>
                <a:schemeClr val="tx1"/>
              </a:solidFill>
            </a:endParaRPr>
          </a:p>
        </p:txBody>
      </p:sp>
      <p:grpSp>
        <p:nvGrpSpPr>
          <p:cNvPr id="45059" name="Group 3"/>
          <p:cNvGrpSpPr>
            <a:grpSpLocks/>
          </p:cNvGrpSpPr>
          <p:nvPr/>
        </p:nvGrpSpPr>
        <p:grpSpPr bwMode="auto">
          <a:xfrm>
            <a:off x="2667000" y="3276600"/>
            <a:ext cx="3048000" cy="1320800"/>
            <a:chOff x="3615" y="1980"/>
            <a:chExt cx="4320" cy="1721"/>
          </a:xfrm>
        </p:grpSpPr>
        <p:grpSp>
          <p:nvGrpSpPr>
            <p:cNvPr id="45061" name="Group 4"/>
            <p:cNvGrpSpPr>
              <a:grpSpLocks/>
            </p:cNvGrpSpPr>
            <p:nvPr/>
          </p:nvGrpSpPr>
          <p:grpSpPr bwMode="auto">
            <a:xfrm>
              <a:off x="3615" y="2505"/>
              <a:ext cx="615" cy="570"/>
              <a:chOff x="3675" y="1980"/>
              <a:chExt cx="615" cy="570"/>
            </a:xfrm>
          </p:grpSpPr>
          <p:sp>
            <p:nvSpPr>
              <p:cNvPr id="45078" name="Oval 5"/>
              <p:cNvSpPr>
                <a:spLocks noChangeArrowheads="1"/>
              </p:cNvSpPr>
              <p:nvPr/>
            </p:nvSpPr>
            <p:spPr bwMode="auto">
              <a:xfrm>
                <a:off x="3675" y="1980"/>
                <a:ext cx="615" cy="57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5079" name="Text Box 6"/>
              <p:cNvSpPr txBox="1">
                <a:spLocks noChangeArrowheads="1"/>
              </p:cNvSpPr>
              <p:nvPr/>
            </p:nvSpPr>
            <p:spPr bwMode="auto">
              <a:xfrm>
                <a:off x="3795" y="2070"/>
                <a:ext cx="390" cy="37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800"/>
                  <a:t>1</a:t>
                </a:r>
                <a:endParaRPr lang="en-US" sz="1000"/>
              </a:p>
            </p:txBody>
          </p:sp>
        </p:grpSp>
        <p:grpSp>
          <p:nvGrpSpPr>
            <p:cNvPr id="45062" name="Group 7"/>
            <p:cNvGrpSpPr>
              <a:grpSpLocks/>
            </p:cNvGrpSpPr>
            <p:nvPr/>
          </p:nvGrpSpPr>
          <p:grpSpPr bwMode="auto">
            <a:xfrm>
              <a:off x="4785" y="1980"/>
              <a:ext cx="615" cy="570"/>
              <a:chOff x="3675" y="1980"/>
              <a:chExt cx="615" cy="570"/>
            </a:xfrm>
          </p:grpSpPr>
          <p:sp>
            <p:nvSpPr>
              <p:cNvPr id="45076" name="Oval 8"/>
              <p:cNvSpPr>
                <a:spLocks noChangeArrowheads="1"/>
              </p:cNvSpPr>
              <p:nvPr/>
            </p:nvSpPr>
            <p:spPr bwMode="auto">
              <a:xfrm>
                <a:off x="3675" y="1980"/>
                <a:ext cx="615" cy="57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5077" name="Text Box 9"/>
              <p:cNvSpPr txBox="1">
                <a:spLocks noChangeArrowheads="1"/>
              </p:cNvSpPr>
              <p:nvPr/>
            </p:nvSpPr>
            <p:spPr bwMode="auto">
              <a:xfrm>
                <a:off x="3795" y="2070"/>
                <a:ext cx="390" cy="37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800"/>
                  <a:t>2</a:t>
                </a:r>
                <a:endParaRPr lang="en-US" sz="1000"/>
              </a:p>
            </p:txBody>
          </p:sp>
        </p:grpSp>
        <p:grpSp>
          <p:nvGrpSpPr>
            <p:cNvPr id="45063" name="Group 10"/>
            <p:cNvGrpSpPr>
              <a:grpSpLocks/>
            </p:cNvGrpSpPr>
            <p:nvPr/>
          </p:nvGrpSpPr>
          <p:grpSpPr bwMode="auto">
            <a:xfrm>
              <a:off x="7320" y="2550"/>
              <a:ext cx="615" cy="570"/>
              <a:chOff x="3675" y="1980"/>
              <a:chExt cx="615" cy="570"/>
            </a:xfrm>
          </p:grpSpPr>
          <p:sp>
            <p:nvSpPr>
              <p:cNvPr id="45074" name="Oval 11"/>
              <p:cNvSpPr>
                <a:spLocks noChangeArrowheads="1"/>
              </p:cNvSpPr>
              <p:nvPr/>
            </p:nvSpPr>
            <p:spPr bwMode="auto">
              <a:xfrm>
                <a:off x="3675" y="1980"/>
                <a:ext cx="615" cy="57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5075" name="Text Box 12"/>
              <p:cNvSpPr txBox="1">
                <a:spLocks noChangeArrowheads="1"/>
              </p:cNvSpPr>
              <p:nvPr/>
            </p:nvSpPr>
            <p:spPr bwMode="auto">
              <a:xfrm>
                <a:off x="3795" y="2070"/>
                <a:ext cx="390" cy="37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800"/>
                  <a:t>5</a:t>
                </a:r>
              </a:p>
            </p:txBody>
          </p:sp>
        </p:grpSp>
        <p:grpSp>
          <p:nvGrpSpPr>
            <p:cNvPr id="45064" name="Group 13"/>
            <p:cNvGrpSpPr>
              <a:grpSpLocks/>
            </p:cNvGrpSpPr>
            <p:nvPr/>
          </p:nvGrpSpPr>
          <p:grpSpPr bwMode="auto">
            <a:xfrm>
              <a:off x="4860" y="3131"/>
              <a:ext cx="615" cy="570"/>
              <a:chOff x="3675" y="1980"/>
              <a:chExt cx="615" cy="570"/>
            </a:xfrm>
          </p:grpSpPr>
          <p:sp>
            <p:nvSpPr>
              <p:cNvPr id="45072" name="Oval 14"/>
              <p:cNvSpPr>
                <a:spLocks noChangeArrowheads="1"/>
              </p:cNvSpPr>
              <p:nvPr/>
            </p:nvSpPr>
            <p:spPr bwMode="auto">
              <a:xfrm>
                <a:off x="3675" y="1980"/>
                <a:ext cx="615" cy="57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5073" name="Text Box 15"/>
              <p:cNvSpPr txBox="1">
                <a:spLocks noChangeArrowheads="1"/>
              </p:cNvSpPr>
              <p:nvPr/>
            </p:nvSpPr>
            <p:spPr bwMode="auto">
              <a:xfrm>
                <a:off x="3795" y="2070"/>
                <a:ext cx="390" cy="37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800"/>
                  <a:t>3</a:t>
                </a:r>
                <a:endParaRPr lang="en-US" sz="1000"/>
              </a:p>
            </p:txBody>
          </p:sp>
        </p:grpSp>
        <p:grpSp>
          <p:nvGrpSpPr>
            <p:cNvPr id="45065" name="Group 16"/>
            <p:cNvGrpSpPr>
              <a:grpSpLocks/>
            </p:cNvGrpSpPr>
            <p:nvPr/>
          </p:nvGrpSpPr>
          <p:grpSpPr bwMode="auto">
            <a:xfrm>
              <a:off x="5970" y="2520"/>
              <a:ext cx="615" cy="570"/>
              <a:chOff x="3675" y="1980"/>
              <a:chExt cx="615" cy="570"/>
            </a:xfrm>
          </p:grpSpPr>
          <p:sp>
            <p:nvSpPr>
              <p:cNvPr id="45070" name="Oval 17"/>
              <p:cNvSpPr>
                <a:spLocks noChangeArrowheads="1"/>
              </p:cNvSpPr>
              <p:nvPr/>
            </p:nvSpPr>
            <p:spPr bwMode="auto">
              <a:xfrm>
                <a:off x="3675" y="1980"/>
                <a:ext cx="615" cy="57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5071" name="Text Box 18"/>
              <p:cNvSpPr txBox="1">
                <a:spLocks noChangeArrowheads="1"/>
              </p:cNvSpPr>
              <p:nvPr/>
            </p:nvSpPr>
            <p:spPr bwMode="auto">
              <a:xfrm>
                <a:off x="3795" y="2070"/>
                <a:ext cx="390" cy="37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800"/>
                  <a:t>4</a:t>
                </a:r>
                <a:endParaRPr lang="en-US" sz="1000"/>
              </a:p>
            </p:txBody>
          </p:sp>
        </p:grpSp>
        <p:sp>
          <p:nvSpPr>
            <p:cNvPr id="45066" name="Line 19"/>
            <p:cNvSpPr>
              <a:spLocks noChangeShapeType="1"/>
            </p:cNvSpPr>
            <p:nvPr/>
          </p:nvSpPr>
          <p:spPr bwMode="auto">
            <a:xfrm flipV="1">
              <a:off x="4215" y="2280"/>
              <a:ext cx="600" cy="3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5067" name="Line 20"/>
            <p:cNvSpPr>
              <a:spLocks noChangeShapeType="1"/>
            </p:cNvSpPr>
            <p:nvPr/>
          </p:nvSpPr>
          <p:spPr bwMode="auto">
            <a:xfrm>
              <a:off x="4215" y="2970"/>
              <a:ext cx="720" cy="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5068" name="Line 21"/>
            <p:cNvSpPr>
              <a:spLocks noChangeShapeType="1"/>
            </p:cNvSpPr>
            <p:nvPr/>
          </p:nvSpPr>
          <p:spPr bwMode="auto">
            <a:xfrm>
              <a:off x="5400" y="2280"/>
              <a:ext cx="675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5069" name="Line 22"/>
            <p:cNvSpPr>
              <a:spLocks noChangeShapeType="1"/>
            </p:cNvSpPr>
            <p:nvPr/>
          </p:nvSpPr>
          <p:spPr bwMode="auto">
            <a:xfrm flipV="1">
              <a:off x="5415" y="3000"/>
              <a:ext cx="615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C7790E-F185-4FF9-A68C-A6F0B66E6CAF}" type="slidenum">
              <a:rPr lang="en-US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31888" y="476250"/>
            <a:ext cx="8012112" cy="61722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800" i="1" u="sng">
                <a:solidFill>
                  <a:schemeClr val="tx1"/>
                </a:solidFill>
                <a:latin typeface="Arial" charset="0"/>
              </a:rPr>
              <a:t>Най-дълъг път в ацикличен граф</a:t>
            </a:r>
            <a:r>
              <a:rPr lang="bg-BG" sz="2400" i="1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400" i="1">
                <a:solidFill>
                  <a:schemeClr val="tx1"/>
                </a:solidFill>
                <a:latin typeface="Arial" charset="0"/>
              </a:rPr>
            </a:br>
            <a:r>
              <a:rPr lang="bg-BG" sz="800" i="1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800" i="1">
                <a:solidFill>
                  <a:schemeClr val="tx1"/>
                </a:solidFill>
                <a:latin typeface="Arial" charset="0"/>
              </a:rPr>
            </a:br>
            <a:r>
              <a:rPr lang="bg-BG" sz="800" i="1">
                <a:solidFill>
                  <a:schemeClr val="tx1"/>
                </a:solidFill>
                <a:latin typeface="Arial" charset="0"/>
              </a:rPr>
              <a:t>	</a:t>
            </a:r>
            <a:r>
              <a:rPr lang="bg-BG" sz="2200">
                <a:solidFill>
                  <a:schemeClr val="tx1"/>
                </a:solidFill>
                <a:latin typeface="Arial" charset="0"/>
              </a:rPr>
              <a:t>Много практически задачи се решават, като се сведат до задача за намиране на най-дълъг път в ацикличен граф. Условието за ацикличност е съществено, т.к. единственият подход за решаване на задачата в общия случай е чрез пълно изчерпване (когато в графа няма цикли, са изпълнени някои принципи за оптималност, необходими за задачи, които се решават с динамично оптимиране, което гарантира по-ефективно решение).</a:t>
            </a:r>
            <a:br>
              <a:rPr lang="bg-BG" sz="2200">
                <a:solidFill>
                  <a:schemeClr val="tx1"/>
                </a:solidFill>
                <a:latin typeface="Arial" charset="0"/>
              </a:rPr>
            </a:br>
            <a:r>
              <a:rPr lang="bg-BG" sz="2200">
                <a:solidFill>
                  <a:schemeClr val="tx1"/>
                </a:solidFill>
                <a:latin typeface="Arial" charset="0"/>
              </a:rPr>
              <a:t>	</a:t>
            </a:r>
            <a:r>
              <a:rPr lang="bg-BG" sz="2200" i="1">
                <a:solidFill>
                  <a:schemeClr val="tx1"/>
                </a:solidFill>
                <a:latin typeface="Arial" charset="0"/>
              </a:rPr>
              <a:t>Например</a:t>
            </a:r>
            <a:r>
              <a:rPr lang="bg-BG" sz="2200">
                <a:solidFill>
                  <a:schemeClr val="tx1"/>
                </a:solidFill>
                <a:latin typeface="Arial" charset="0"/>
              </a:rPr>
              <a:t>: Екип от програмисти разработва програмен продукт, който се състои от отделни задачи. Всяка задача има определена продължителност и свързва два етапа от разработването на продукта: начален и краен. Една задача не може да бъде започната, ако не е завършен началния й етап. За да бъде</a:t>
            </a:r>
            <a:r>
              <a:rPr lang="bg-BG" sz="2400">
                <a:solidFill>
                  <a:schemeClr val="tx1"/>
                </a:solidFill>
                <a:latin typeface="Arial" charset="0"/>
              </a:rPr>
              <a:t> завършен изцяло един етап, трябва да бъдат завършени всички задачи, за които той се явява краен. </a:t>
            </a:r>
            <a:r>
              <a:rPr lang="bg-BG" sz="2400" u="sng">
                <a:solidFill>
                  <a:schemeClr val="tx1"/>
                </a:solidFill>
                <a:latin typeface="Arial" charset="0"/>
              </a:rPr>
              <a:t>Задача</a:t>
            </a:r>
            <a:r>
              <a:rPr lang="bg-BG" sz="2400">
                <a:solidFill>
                  <a:schemeClr val="tx1"/>
                </a:solidFill>
                <a:latin typeface="Arial" charset="0"/>
              </a:rPr>
              <a:t>: да се определи минималното време (при неограничен брой програмисти), достатъчно за завършването на целия проект (т.е. всичките му етапи).</a:t>
            </a:r>
            <a:endParaRPr lang="en-US" sz="24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37C633-6CBB-4EE6-A7B3-9B35EACA7458}" type="slidenum">
              <a:rPr lang="en-US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692150"/>
            <a:ext cx="8101012" cy="63246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	</a:t>
            </a:r>
            <a:r>
              <a:rPr lang="bg-BG" sz="2200">
                <a:solidFill>
                  <a:schemeClr val="tx1"/>
                </a:solidFill>
              </a:rPr>
              <a:t>Ако за модел на задачата използваме тегловен ориентиран граф, в който върховете са етапите , а ребрата - задачите, то търсенето на минималното време ще бъде равно на дължината на максималния по брой върховете път в графа. В литературата този път се нарича </a:t>
            </a:r>
            <a:r>
              <a:rPr lang="bg-BG" sz="2200" i="1">
                <a:solidFill>
                  <a:schemeClr val="tx1"/>
                </a:solidFill>
              </a:rPr>
              <a:t>критичен път</a:t>
            </a:r>
            <a:r>
              <a:rPr lang="bg-BG" sz="2200">
                <a:solidFill>
                  <a:schemeClr val="tx1"/>
                </a:solidFill>
              </a:rPr>
              <a:t>.</a:t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	</a:t>
            </a:r>
            <a:r>
              <a:rPr lang="bg-BG" sz="2200" u="sng">
                <a:solidFill>
                  <a:schemeClr val="tx1"/>
                </a:solidFill>
              </a:rPr>
              <a:t>Алгоритъм:</a:t>
            </a:r>
            <a:r>
              <a:rPr lang="bg-BG" sz="2200">
                <a:solidFill>
                  <a:schemeClr val="tx1"/>
                </a:solidFill>
              </a:rPr>
              <a:t/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Нека е даден ацикличен граф </a:t>
            </a:r>
            <a:r>
              <a:rPr lang="en-US" sz="2200" i="1">
                <a:solidFill>
                  <a:schemeClr val="tx1"/>
                </a:solidFill>
              </a:rPr>
              <a:t>G (V, E)</a:t>
            </a:r>
            <a:r>
              <a:rPr lang="en-US" sz="2200">
                <a:solidFill>
                  <a:schemeClr val="tx1"/>
                </a:solidFill>
              </a:rPr>
              <a:t> </a:t>
            </a:r>
            <a:r>
              <a:rPr lang="bg-BG" sz="2200">
                <a:solidFill>
                  <a:schemeClr val="tx1"/>
                </a:solidFill>
              </a:rPr>
              <a:t>с </a:t>
            </a:r>
            <a:r>
              <a:rPr lang="en-US" sz="2200" i="1">
                <a:solidFill>
                  <a:schemeClr val="tx1"/>
                </a:solidFill>
              </a:rPr>
              <a:t>n</a:t>
            </a:r>
            <a:r>
              <a:rPr lang="bg-BG" sz="2200">
                <a:solidFill>
                  <a:schemeClr val="tx1"/>
                </a:solidFill>
              </a:rPr>
              <a:t> върха и тегловна матрица</a:t>
            </a:r>
            <a:r>
              <a:rPr lang="en-US" sz="2200">
                <a:solidFill>
                  <a:schemeClr val="tx1"/>
                </a:solidFill>
              </a:rPr>
              <a:t> </a:t>
            </a:r>
            <a:r>
              <a:rPr lang="en-US" sz="2200" i="1">
                <a:solidFill>
                  <a:schemeClr val="tx1"/>
                </a:solidFill>
              </a:rPr>
              <a:t>A[n][n]</a:t>
            </a:r>
            <a:r>
              <a:rPr lang="bg-BG" sz="2200">
                <a:solidFill>
                  <a:schemeClr val="tx1"/>
                </a:solidFill>
              </a:rPr>
              <a:t> на дъгите в </a:t>
            </a:r>
            <a:r>
              <a:rPr lang="en-US" sz="2200" i="1">
                <a:solidFill>
                  <a:schemeClr val="tx1"/>
                </a:solidFill>
              </a:rPr>
              <a:t>G</a:t>
            </a:r>
            <a:r>
              <a:rPr lang="en-US" sz="2200">
                <a:solidFill>
                  <a:schemeClr val="tx1"/>
                </a:solidFill>
              </a:rPr>
              <a:t>:</a:t>
            </a:r>
            <a:r>
              <a:rPr lang="bg-BG" sz="2200">
                <a:solidFill>
                  <a:schemeClr val="tx1"/>
                </a:solidFill>
              </a:rPr>
              <a:t/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1. Въвеждаме масив </a:t>
            </a:r>
            <a:r>
              <a:rPr lang="en-US" sz="2200" i="1">
                <a:solidFill>
                  <a:schemeClr val="tx1"/>
                </a:solidFill>
              </a:rPr>
              <a:t>maxDist[]</a:t>
            </a:r>
            <a:r>
              <a:rPr lang="bg-BG" sz="2200">
                <a:solidFill>
                  <a:schemeClr val="tx1"/>
                </a:solidFill>
              </a:rPr>
              <a:t>,</a:t>
            </a:r>
            <a:br>
              <a:rPr lang="bg-BG" sz="2200">
                <a:solidFill>
                  <a:schemeClr val="tx1"/>
                </a:solidFill>
              </a:rPr>
            </a:br>
            <a:r>
              <a:rPr lang="en-US" sz="2200">
                <a:solidFill>
                  <a:schemeClr val="tx1"/>
                </a:solidFill>
              </a:rPr>
              <a:t>    </a:t>
            </a:r>
            <a:r>
              <a:rPr lang="bg-BG" sz="2200">
                <a:solidFill>
                  <a:schemeClr val="tx1"/>
                </a:solidFill>
              </a:rPr>
              <a:t>в който ще пазим </a:t>
            </a:r>
            <a:r>
              <a:rPr lang="en-US" sz="2200" i="1">
                <a:solidFill>
                  <a:schemeClr val="tx1"/>
                </a:solidFill>
              </a:rPr>
              <a:t>max</a:t>
            </a:r>
            <a:r>
              <a:rPr lang="bg-BG" sz="2200">
                <a:solidFill>
                  <a:schemeClr val="tx1"/>
                </a:solidFill>
              </a:rPr>
              <a:t> разстоя-</a:t>
            </a:r>
            <a:br>
              <a:rPr lang="bg-BG" sz="2200">
                <a:solidFill>
                  <a:schemeClr val="tx1"/>
                </a:solidFill>
              </a:rPr>
            </a:br>
            <a:r>
              <a:rPr lang="en-US" sz="2200">
                <a:solidFill>
                  <a:schemeClr val="tx1"/>
                </a:solidFill>
              </a:rPr>
              <a:t> </a:t>
            </a:r>
            <a:r>
              <a:rPr lang="bg-BG" sz="2200">
                <a:solidFill>
                  <a:schemeClr val="tx1"/>
                </a:solidFill>
              </a:rPr>
              <a:t>   ния</a:t>
            </a:r>
            <a:r>
              <a:rPr lang="en-US" sz="2200">
                <a:solidFill>
                  <a:schemeClr val="tx1"/>
                </a:solidFill>
              </a:rPr>
              <a:t> </a:t>
            </a:r>
            <a:r>
              <a:rPr lang="bg-BG" sz="2200">
                <a:solidFill>
                  <a:schemeClr val="tx1"/>
                </a:solidFill>
              </a:rPr>
              <a:t>от всеки връх в графа, т.е.</a:t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    </a:t>
            </a:r>
            <a:r>
              <a:rPr lang="en-US" sz="2200" i="1">
                <a:solidFill>
                  <a:schemeClr val="tx1"/>
                </a:solidFill>
              </a:rPr>
              <a:t>maxDist[i]</a:t>
            </a:r>
            <a:r>
              <a:rPr lang="bg-BG" sz="2200">
                <a:solidFill>
                  <a:schemeClr val="tx1"/>
                </a:solidFill>
              </a:rPr>
              <a:t> ще бъде равно на дъл-</a:t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    жината на </a:t>
            </a:r>
            <a:r>
              <a:rPr lang="en-US" sz="2200" i="1">
                <a:solidFill>
                  <a:schemeClr val="tx1"/>
                </a:solidFill>
              </a:rPr>
              <a:t>max</a:t>
            </a:r>
            <a:r>
              <a:rPr lang="bg-BG" sz="2200">
                <a:solidFill>
                  <a:schemeClr val="tx1"/>
                </a:solidFill>
              </a:rPr>
              <a:t> път с начало върха </a:t>
            </a:r>
            <a:r>
              <a:rPr lang="en-US" sz="2200" i="1">
                <a:solidFill>
                  <a:schemeClr val="tx1"/>
                </a:solidFill>
              </a:rPr>
              <a:t>i. </a:t>
            </a:r>
            <a:r>
              <a:rPr lang="en-US" sz="2200">
                <a:solidFill>
                  <a:schemeClr val="tx1"/>
                </a:solidFill>
              </a:rPr>
              <a:t> </a:t>
            </a:r>
            <a:r>
              <a:rPr lang="bg-BG" sz="2200">
                <a:solidFill>
                  <a:schemeClr val="tx1"/>
                </a:solidFill>
              </a:rPr>
              <a:t>В началото инициализираме </a:t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    всички елементи на </a:t>
            </a:r>
            <a:r>
              <a:rPr lang="en-US" sz="2200" i="1">
                <a:solidFill>
                  <a:schemeClr val="tx1"/>
                </a:solidFill>
              </a:rPr>
              <a:t>maxDist[]</a:t>
            </a:r>
            <a:r>
              <a:rPr lang="bg-BG" sz="2200" i="1">
                <a:solidFill>
                  <a:schemeClr val="tx1"/>
                </a:solidFill>
              </a:rPr>
              <a:t> </a:t>
            </a:r>
            <a:r>
              <a:rPr lang="bg-BG" sz="2200">
                <a:solidFill>
                  <a:schemeClr val="tx1"/>
                </a:solidFill>
              </a:rPr>
              <a:t>с нули. Във втори масив </a:t>
            </a:r>
            <a:r>
              <a:rPr lang="en-US" sz="2200" i="1">
                <a:solidFill>
                  <a:schemeClr val="tx1"/>
                </a:solidFill>
              </a:rPr>
              <a:t>savePath[]</a:t>
            </a:r>
            <a:br>
              <a:rPr lang="en-US" sz="2200" i="1">
                <a:solidFill>
                  <a:schemeClr val="tx1"/>
                </a:solidFill>
              </a:rPr>
            </a:br>
            <a:r>
              <a:rPr lang="en-US" sz="2200" i="1">
                <a:solidFill>
                  <a:schemeClr val="tx1"/>
                </a:solidFill>
              </a:rPr>
              <a:t>    </a:t>
            </a:r>
            <a:r>
              <a:rPr lang="bg-BG" sz="2200">
                <a:solidFill>
                  <a:schemeClr val="tx1"/>
                </a:solidFill>
              </a:rPr>
              <a:t>ще пазим намерения най-дълъг път, като го инициализираме с -1. </a:t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2. Нека да започнем с връх </a:t>
            </a:r>
            <a:r>
              <a:rPr lang="en-US" sz="2200">
                <a:solidFill>
                  <a:schemeClr val="tx1"/>
                </a:solidFill>
              </a:rPr>
              <a:t>i </a:t>
            </a:r>
            <a:r>
              <a:rPr lang="bg-BG" sz="2200">
                <a:solidFill>
                  <a:schemeClr val="tx1"/>
                </a:solidFill>
              </a:rPr>
              <a:t>от</a:t>
            </a:r>
            <a:r>
              <a:rPr lang="en-US" sz="2200">
                <a:solidFill>
                  <a:schemeClr val="tx1"/>
                </a:solidFill>
              </a:rPr>
              <a:t> V</a:t>
            </a:r>
            <a:r>
              <a:rPr lang="bg-BG" sz="2200">
                <a:solidFill>
                  <a:schemeClr val="tx1"/>
                </a:solidFill>
              </a:rPr>
              <a:t>, от  който не излизат ребра (такъв </a:t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    връх задължително съществува, т.к. графът е ацикличен).</a:t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    Премахваме  този връх от графа и на всеки негов предшественик </a:t>
            </a:r>
            <a:r>
              <a:rPr lang="en-US" sz="2200" i="1">
                <a:solidFill>
                  <a:schemeClr val="tx1"/>
                </a:solidFill>
              </a:rPr>
              <a:t>k</a:t>
            </a:r>
            <a:r>
              <a:rPr lang="en-US" sz="2200">
                <a:solidFill>
                  <a:schemeClr val="tx1"/>
                </a:solidFill>
              </a:rPr>
              <a:t/>
            </a:r>
            <a:br>
              <a:rPr lang="en-US" sz="2200">
                <a:solidFill>
                  <a:schemeClr val="tx1"/>
                </a:solidFill>
              </a:rPr>
            </a:br>
            <a:r>
              <a:rPr lang="en-US" sz="2200">
                <a:solidFill>
                  <a:schemeClr val="tx1"/>
                </a:solidFill>
              </a:rPr>
              <a:t>    </a:t>
            </a:r>
            <a:r>
              <a:rPr lang="bg-BG" sz="2200">
                <a:solidFill>
                  <a:schemeClr val="tx1"/>
                </a:solidFill>
              </a:rPr>
              <a:t>присвояваме:       </a:t>
            </a:r>
            <a:r>
              <a:rPr lang="en-US" sz="2200" i="1">
                <a:solidFill>
                  <a:schemeClr val="tx1"/>
                </a:solidFill>
              </a:rPr>
              <a:t>maxDist[k]</a:t>
            </a:r>
            <a:r>
              <a:rPr lang="bg-BG" sz="2200" i="1">
                <a:solidFill>
                  <a:schemeClr val="tx1"/>
                </a:solidFill>
              </a:rPr>
              <a:t> </a:t>
            </a:r>
            <a:r>
              <a:rPr lang="en-US" sz="2200" i="1">
                <a:solidFill>
                  <a:schemeClr val="tx1"/>
                </a:solidFill>
              </a:rPr>
              <a:t>= </a:t>
            </a:r>
            <a:r>
              <a:rPr lang="en-US" sz="2200" b="1" i="1">
                <a:solidFill>
                  <a:schemeClr val="tx1"/>
                </a:solidFill>
              </a:rPr>
              <a:t>max</a:t>
            </a:r>
            <a:r>
              <a:rPr lang="en-US" sz="2200" i="1">
                <a:solidFill>
                  <a:schemeClr val="tx1"/>
                </a:solidFill>
              </a:rPr>
              <a:t>{maxDist[k], maxDist[i]+A[k][i]}</a:t>
            </a:r>
            <a:r>
              <a:rPr lang="bg-BG" sz="2200" i="1">
                <a:solidFill>
                  <a:schemeClr val="tx1"/>
                </a:solidFill>
              </a:rPr>
              <a:t> </a:t>
            </a:r>
            <a:r>
              <a:rPr lang="bg-BG" sz="2200">
                <a:solidFill>
                  <a:schemeClr val="tx1"/>
                </a:solidFill>
              </a:rPr>
              <a:t/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/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2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2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200">
                <a:solidFill>
                  <a:schemeClr val="tx2">
                    <a:satMod val="130000"/>
                  </a:schemeClr>
                </a:solidFill>
              </a:rPr>
            </a:br>
            <a:endParaRPr lang="en-US" sz="2200">
              <a:solidFill>
                <a:schemeClr val="tx2">
                  <a:satMod val="130000"/>
                </a:schemeClr>
              </a:solidFill>
            </a:endParaRPr>
          </a:p>
        </p:txBody>
      </p:sp>
      <p:grpSp>
        <p:nvGrpSpPr>
          <p:cNvPr id="47107" name="Group 27"/>
          <p:cNvGrpSpPr>
            <a:grpSpLocks/>
          </p:cNvGrpSpPr>
          <p:nvPr/>
        </p:nvGrpSpPr>
        <p:grpSpPr bwMode="auto">
          <a:xfrm>
            <a:off x="5033963" y="2708275"/>
            <a:ext cx="3683000" cy="1257300"/>
            <a:chOff x="4343400" y="2730500"/>
            <a:chExt cx="3683000" cy="1257300"/>
          </a:xfrm>
        </p:grpSpPr>
        <p:sp>
          <p:nvSpPr>
            <p:cNvPr id="47109" name="Oval 3"/>
            <p:cNvSpPr>
              <a:spLocks noChangeArrowheads="1"/>
            </p:cNvSpPr>
            <p:nvPr/>
          </p:nvSpPr>
          <p:spPr bwMode="auto">
            <a:xfrm>
              <a:off x="4343400" y="28321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7110" name="Oval 4"/>
            <p:cNvSpPr>
              <a:spLocks noChangeArrowheads="1"/>
            </p:cNvSpPr>
            <p:nvPr/>
          </p:nvSpPr>
          <p:spPr bwMode="auto">
            <a:xfrm>
              <a:off x="4876800" y="35814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7111" name="Oval 5"/>
            <p:cNvSpPr>
              <a:spLocks noChangeArrowheads="1"/>
            </p:cNvSpPr>
            <p:nvPr/>
          </p:nvSpPr>
          <p:spPr bwMode="auto">
            <a:xfrm>
              <a:off x="6172200" y="35814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7112" name="Oval 6"/>
            <p:cNvSpPr>
              <a:spLocks noChangeArrowheads="1"/>
            </p:cNvSpPr>
            <p:nvPr/>
          </p:nvSpPr>
          <p:spPr bwMode="auto">
            <a:xfrm>
              <a:off x="5562600" y="28321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7113" name="Oval 7"/>
            <p:cNvSpPr>
              <a:spLocks noChangeArrowheads="1"/>
            </p:cNvSpPr>
            <p:nvPr/>
          </p:nvSpPr>
          <p:spPr bwMode="auto">
            <a:xfrm>
              <a:off x="7620000" y="35687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7114" name="Oval 8"/>
            <p:cNvSpPr>
              <a:spLocks noChangeArrowheads="1"/>
            </p:cNvSpPr>
            <p:nvPr/>
          </p:nvSpPr>
          <p:spPr bwMode="auto">
            <a:xfrm>
              <a:off x="6832600" y="28321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7115" name="Line 9"/>
            <p:cNvSpPr>
              <a:spLocks noChangeShapeType="1"/>
            </p:cNvSpPr>
            <p:nvPr/>
          </p:nvSpPr>
          <p:spPr bwMode="auto">
            <a:xfrm>
              <a:off x="4724400" y="3048000"/>
              <a:ext cx="838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7116" name="Line 10"/>
            <p:cNvSpPr>
              <a:spLocks noChangeShapeType="1"/>
            </p:cNvSpPr>
            <p:nvPr/>
          </p:nvSpPr>
          <p:spPr bwMode="auto">
            <a:xfrm>
              <a:off x="5943600" y="30480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7117" name="Line 11"/>
            <p:cNvSpPr>
              <a:spLocks noChangeShapeType="1"/>
            </p:cNvSpPr>
            <p:nvPr/>
          </p:nvSpPr>
          <p:spPr bwMode="auto">
            <a:xfrm>
              <a:off x="5257800" y="37719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7118" name="Line 12"/>
            <p:cNvSpPr>
              <a:spLocks noChangeShapeType="1"/>
            </p:cNvSpPr>
            <p:nvPr/>
          </p:nvSpPr>
          <p:spPr bwMode="auto">
            <a:xfrm>
              <a:off x="6553200" y="3771900"/>
              <a:ext cx="1066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7119" name="Line 17"/>
            <p:cNvSpPr>
              <a:spLocks noChangeShapeType="1"/>
            </p:cNvSpPr>
            <p:nvPr/>
          </p:nvSpPr>
          <p:spPr bwMode="auto">
            <a:xfrm>
              <a:off x="5715000" y="3213100"/>
              <a:ext cx="6731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7120" name="Line 18"/>
            <p:cNvSpPr>
              <a:spLocks noChangeShapeType="1"/>
            </p:cNvSpPr>
            <p:nvPr/>
          </p:nvSpPr>
          <p:spPr bwMode="auto">
            <a:xfrm>
              <a:off x="7086600" y="3187700"/>
              <a:ext cx="6731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7121" name="Text Box 19"/>
            <p:cNvSpPr txBox="1">
              <a:spLocks noChangeArrowheads="1"/>
            </p:cNvSpPr>
            <p:nvPr/>
          </p:nvSpPr>
          <p:spPr bwMode="auto">
            <a:xfrm>
              <a:off x="4368800" y="2794000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1</a:t>
              </a:r>
              <a:endParaRPr lang="en-US"/>
            </a:p>
          </p:txBody>
        </p:sp>
        <p:sp>
          <p:nvSpPr>
            <p:cNvPr id="47122" name="Text Box 21"/>
            <p:cNvSpPr txBox="1">
              <a:spLocks noChangeArrowheads="1"/>
            </p:cNvSpPr>
            <p:nvPr/>
          </p:nvSpPr>
          <p:spPr bwMode="auto">
            <a:xfrm>
              <a:off x="7645400" y="3517900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6</a:t>
              </a:r>
              <a:endParaRPr lang="en-US"/>
            </a:p>
          </p:txBody>
        </p:sp>
        <p:sp>
          <p:nvSpPr>
            <p:cNvPr id="47123" name="Text Box 22"/>
            <p:cNvSpPr txBox="1">
              <a:spLocks noChangeArrowheads="1"/>
            </p:cNvSpPr>
            <p:nvPr/>
          </p:nvSpPr>
          <p:spPr bwMode="auto">
            <a:xfrm>
              <a:off x="6858000" y="2794000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3</a:t>
              </a:r>
              <a:endParaRPr lang="en-US"/>
            </a:p>
          </p:txBody>
        </p:sp>
        <p:sp>
          <p:nvSpPr>
            <p:cNvPr id="47124" name="Text Box 23"/>
            <p:cNvSpPr txBox="1">
              <a:spLocks noChangeArrowheads="1"/>
            </p:cNvSpPr>
            <p:nvPr/>
          </p:nvSpPr>
          <p:spPr bwMode="auto">
            <a:xfrm>
              <a:off x="4902200" y="3530600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4</a:t>
              </a:r>
              <a:endParaRPr lang="en-US"/>
            </a:p>
          </p:txBody>
        </p:sp>
        <p:sp>
          <p:nvSpPr>
            <p:cNvPr id="47125" name="Text Box 24"/>
            <p:cNvSpPr txBox="1">
              <a:spLocks noChangeArrowheads="1"/>
            </p:cNvSpPr>
            <p:nvPr/>
          </p:nvSpPr>
          <p:spPr bwMode="auto">
            <a:xfrm>
              <a:off x="6197600" y="3530600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5</a:t>
              </a:r>
              <a:endParaRPr lang="en-US"/>
            </a:p>
          </p:txBody>
        </p:sp>
        <p:sp>
          <p:nvSpPr>
            <p:cNvPr id="47126" name="Text Box 25"/>
            <p:cNvSpPr txBox="1">
              <a:spLocks noChangeArrowheads="1"/>
            </p:cNvSpPr>
            <p:nvPr/>
          </p:nvSpPr>
          <p:spPr bwMode="auto">
            <a:xfrm>
              <a:off x="5600700" y="2794000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2</a:t>
              </a:r>
              <a:endParaRPr lang="en-US"/>
            </a:p>
          </p:txBody>
        </p:sp>
        <p:sp>
          <p:nvSpPr>
            <p:cNvPr id="2" name="Text Box 26"/>
            <p:cNvSpPr txBox="1">
              <a:spLocks noChangeArrowheads="1"/>
            </p:cNvSpPr>
            <p:nvPr/>
          </p:nvSpPr>
          <p:spPr bwMode="auto">
            <a:xfrm>
              <a:off x="4876800" y="2730500"/>
              <a:ext cx="4572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bg-BG" sz="18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12</a:t>
              </a:r>
              <a:endParaRPr 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" name="Text Box 28"/>
            <p:cNvSpPr txBox="1">
              <a:spLocks noChangeArrowheads="1"/>
            </p:cNvSpPr>
            <p:nvPr/>
          </p:nvSpPr>
          <p:spPr bwMode="auto">
            <a:xfrm>
              <a:off x="5372100" y="3467100"/>
              <a:ext cx="4572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bg-BG" sz="18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30</a:t>
              </a:r>
              <a:endParaRPr 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7127" name="Text Box 29"/>
            <p:cNvSpPr txBox="1">
              <a:spLocks noChangeArrowheads="1"/>
            </p:cNvSpPr>
            <p:nvPr/>
          </p:nvSpPr>
          <p:spPr bwMode="auto">
            <a:xfrm>
              <a:off x="5981700" y="3149600"/>
              <a:ext cx="4572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bg-BG" sz="18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17</a:t>
              </a:r>
              <a:endParaRPr 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7128" name="Text Box 30"/>
            <p:cNvSpPr txBox="1">
              <a:spLocks noChangeArrowheads="1"/>
            </p:cNvSpPr>
            <p:nvPr/>
          </p:nvSpPr>
          <p:spPr bwMode="auto">
            <a:xfrm>
              <a:off x="6096000" y="2743200"/>
              <a:ext cx="4572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bg-BG" sz="18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40</a:t>
              </a:r>
              <a:endParaRPr 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7129" name="Text Box 31"/>
            <p:cNvSpPr txBox="1">
              <a:spLocks noChangeArrowheads="1"/>
            </p:cNvSpPr>
            <p:nvPr/>
          </p:nvSpPr>
          <p:spPr bwMode="auto">
            <a:xfrm>
              <a:off x="6794500" y="3467100"/>
              <a:ext cx="4572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bg-BG" sz="18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20</a:t>
              </a:r>
              <a:endParaRPr 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7130" name="Text Box 32"/>
            <p:cNvSpPr txBox="1">
              <a:spLocks noChangeArrowheads="1"/>
            </p:cNvSpPr>
            <p:nvPr/>
          </p:nvSpPr>
          <p:spPr bwMode="auto">
            <a:xfrm>
              <a:off x="7416800" y="3149600"/>
              <a:ext cx="4572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bg-BG" sz="18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20</a:t>
              </a:r>
              <a:endParaRPr 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3C2F57-FA14-46D0-8540-5A590BE0CC70}" type="slidenum">
              <a:rPr lang="en-US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001000" cy="6172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>
                <a:solidFill>
                  <a:schemeClr val="tx2">
                    <a:satMod val="130000"/>
                  </a:schemeClr>
                </a:solidFill>
              </a:rPr>
            </a:br>
            <a:r>
              <a:rPr lang="en-US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>
                <a:solidFill>
                  <a:schemeClr val="tx2">
                    <a:satMod val="130000"/>
                  </a:schemeClr>
                </a:solidFill>
              </a:rPr>
            </a:br>
            <a:r>
              <a:rPr lang="en-US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>
                <a:solidFill>
                  <a:schemeClr val="tx2">
                    <a:satMod val="130000"/>
                  </a:schemeClr>
                </a:solidFill>
              </a:rPr>
            </a:br>
            <a:r>
              <a:rPr lang="en-US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>
                <a:solidFill>
                  <a:schemeClr val="tx2">
                    <a:satMod val="130000"/>
                  </a:schemeClr>
                </a:solidFill>
              </a:rPr>
            </a:br>
            <a:r>
              <a:rPr lang="en-US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>
                <a:solidFill>
                  <a:schemeClr val="tx2">
                    <a:satMod val="130000"/>
                  </a:schemeClr>
                </a:solidFill>
              </a:rPr>
            </a:br>
            <a:r>
              <a:rPr lang="en-US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>
                <a:solidFill>
                  <a:schemeClr val="tx2">
                    <a:satMod val="130000"/>
                  </a:schemeClr>
                </a:solidFill>
              </a:rPr>
            </a:br>
            <a:r>
              <a:rPr lang="en-US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>
                <a:solidFill>
                  <a:schemeClr val="tx2">
                    <a:satMod val="130000"/>
                  </a:schemeClr>
                </a:solidFill>
              </a:rPr>
            </a:br>
            <a:r>
              <a:rPr lang="en-US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>
                <a:solidFill>
                  <a:schemeClr val="tx2">
                    <a:satMod val="130000"/>
                  </a:schemeClr>
                </a:solidFill>
              </a:rPr>
            </a:br>
            <a:endParaRPr lang="en-US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869950" y="260350"/>
            <a:ext cx="845185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bg-BG" sz="2200"/>
              <a:t>3.  Изпълняваме стъпка 2, докато не остане нито един връх в графа. </a:t>
            </a:r>
            <a:br>
              <a:rPr lang="bg-BG" sz="2200"/>
            </a:br>
            <a:r>
              <a:rPr lang="bg-BG" sz="2200"/>
              <a:t>     Тогава максималната стойност на </a:t>
            </a:r>
            <a:r>
              <a:rPr lang="en-US" sz="2200" i="1"/>
              <a:t>maxDist[i]</a:t>
            </a:r>
            <a:r>
              <a:rPr lang="bg-BG" sz="2200" i="1"/>
              <a:t> </a:t>
            </a:r>
            <a:r>
              <a:rPr lang="bg-BG" sz="2200"/>
              <a:t> за  </a:t>
            </a:r>
            <a:r>
              <a:rPr lang="en-US" sz="2200" i="1"/>
              <a:t>i</a:t>
            </a:r>
            <a:r>
              <a:rPr lang="bg-BG" sz="2200"/>
              <a:t> = 1, 2, …, </a:t>
            </a:r>
            <a:r>
              <a:rPr lang="bg-BG" sz="2200" i="1"/>
              <a:t>n</a:t>
            </a:r>
            <a:r>
              <a:rPr lang="en-US" sz="2200"/>
              <a:t> </a:t>
            </a:r>
            <a:r>
              <a:rPr lang="bg-BG" sz="2200"/>
              <a:t> ще</a:t>
            </a:r>
            <a:br>
              <a:rPr lang="bg-BG" sz="2200"/>
            </a:br>
            <a:r>
              <a:rPr lang="bg-BG" sz="2200"/>
              <a:t>      бъде дължината на търсения максимален път.</a:t>
            </a:r>
            <a:r>
              <a:rPr lang="bg-BG" sz="800"/>
              <a:t/>
            </a:r>
            <a:br>
              <a:rPr lang="bg-BG" sz="800"/>
            </a:br>
            <a:r>
              <a:rPr lang="en-US" sz="800"/>
              <a:t/>
            </a:r>
            <a:br>
              <a:rPr lang="en-US" sz="800"/>
            </a:br>
            <a:r>
              <a:rPr lang="en-US" sz="2200"/>
              <a:t>	</a:t>
            </a:r>
            <a:r>
              <a:rPr lang="bg-BG" sz="2200"/>
              <a:t>Алгоритъмът има сложност</a:t>
            </a:r>
            <a:r>
              <a:rPr lang="en-US" sz="2200"/>
              <a:t> O(n+m)  в</a:t>
            </a:r>
            <a:r>
              <a:rPr lang="bg-BG" sz="2200"/>
              <a:t> случая на динамично представяне на графа и </a:t>
            </a:r>
            <a:r>
              <a:rPr lang="en-US" sz="2200"/>
              <a:t>O(n</a:t>
            </a:r>
            <a:r>
              <a:rPr lang="en-US" sz="2200" baseline="30000"/>
              <a:t>2</a:t>
            </a:r>
            <a:r>
              <a:rPr lang="en-US" sz="2200"/>
              <a:t>)</a:t>
            </a:r>
            <a:r>
              <a:rPr lang="bg-BG" sz="2200"/>
              <a:t> </a:t>
            </a:r>
            <a:r>
              <a:rPr lang="en-US" sz="2200"/>
              <a:t>п</a:t>
            </a:r>
            <a:r>
              <a:rPr lang="bg-BG" sz="2200"/>
              <a:t>ри представяне на графа с матрица на съседство.</a:t>
            </a:r>
            <a:r>
              <a:rPr lang="en-US" sz="2200"/>
              <a:t/>
            </a:r>
            <a:br>
              <a:rPr lang="en-US" sz="2200"/>
            </a:br>
            <a:r>
              <a:rPr lang="bg-BG" sz="2200"/>
              <a:t>	</a:t>
            </a:r>
            <a:r>
              <a:rPr lang="en-US" sz="2200"/>
              <a:t/>
            </a:r>
            <a:br>
              <a:rPr lang="en-US" sz="2200"/>
            </a:br>
            <a:r>
              <a:rPr lang="en-US" sz="2200"/>
              <a:t/>
            </a:r>
            <a:br>
              <a:rPr lang="en-US" sz="2200"/>
            </a:br>
            <a:r>
              <a:rPr lang="en-US" sz="2200"/>
              <a:t/>
            </a:r>
            <a:br>
              <a:rPr lang="en-US" sz="2200"/>
            </a:br>
            <a:r>
              <a:rPr lang="en-US" sz="2200"/>
              <a:t/>
            </a:r>
            <a:br>
              <a:rPr lang="en-US" sz="2200"/>
            </a:br>
            <a:r>
              <a:rPr lang="en-US" sz="2200"/>
              <a:t>1</a:t>
            </a:r>
            <a:r>
              <a:rPr lang="bg-BG" sz="2200"/>
              <a:t>. Инициализация: </a:t>
            </a:r>
            <a:r>
              <a:rPr lang="en-US" sz="2200" i="1"/>
              <a:t>maxDist[i]=</a:t>
            </a:r>
            <a:r>
              <a:rPr lang="en-US" sz="2200"/>
              <a:t>0 </a:t>
            </a:r>
            <a:r>
              <a:rPr lang="bg-BG" sz="2200"/>
              <a:t>за всяко </a:t>
            </a:r>
            <a:r>
              <a:rPr lang="en-US" sz="2200" i="1"/>
              <a:t>i</a:t>
            </a:r>
            <a:r>
              <a:rPr lang="en-US" sz="2200"/>
              <a:t>;</a:t>
            </a:r>
            <a:r>
              <a:rPr lang="bg-BG" sz="2200"/>
              <a:t> </a:t>
            </a:r>
            <a:r>
              <a:rPr lang="en-US" sz="2200"/>
              <a:t/>
            </a:r>
            <a:br>
              <a:rPr lang="en-US" sz="2200"/>
            </a:br>
            <a:r>
              <a:rPr lang="en-US" sz="2200"/>
              <a:t>2</a:t>
            </a:r>
            <a:r>
              <a:rPr lang="bg-BG" sz="2200"/>
              <a:t>. Изтриваме връх 3: </a:t>
            </a:r>
            <a:r>
              <a:rPr lang="en-US" sz="2200" i="1"/>
              <a:t>maxDist[</a:t>
            </a:r>
            <a:r>
              <a:rPr lang="bg-BG" sz="2200" i="1"/>
              <a:t>6</a:t>
            </a:r>
            <a:r>
              <a:rPr lang="en-US" sz="2200" i="1"/>
              <a:t>]=</a:t>
            </a:r>
            <a:r>
              <a:rPr lang="en-US" sz="2200" b="1" i="1"/>
              <a:t>max</a:t>
            </a:r>
            <a:r>
              <a:rPr lang="en-US" sz="2200" i="1"/>
              <a:t>{maxDist[6], maxDist[3]+2</a:t>
            </a:r>
            <a:r>
              <a:rPr lang="bg-BG" sz="2200" i="1"/>
              <a:t>0</a:t>
            </a:r>
            <a:r>
              <a:rPr lang="en-US" sz="2200" i="1"/>
              <a:t>}=</a:t>
            </a:r>
            <a:br>
              <a:rPr lang="en-US" sz="2200" i="1"/>
            </a:br>
            <a:r>
              <a:rPr lang="en-US" sz="2200" i="1"/>
              <a:t>   </a:t>
            </a:r>
            <a:r>
              <a:rPr lang="bg-BG" sz="2200" i="1"/>
              <a:t> =</a:t>
            </a:r>
            <a:r>
              <a:rPr lang="en-US" sz="2200" i="1"/>
              <a:t>max{0,20}=20;   </a:t>
            </a:r>
            <a:r>
              <a:rPr lang="bg-BG" sz="2200"/>
              <a:t>   </a:t>
            </a:r>
            <a:r>
              <a:rPr lang="en-US" sz="2200"/>
              <a:t> </a:t>
            </a:r>
            <a:r>
              <a:rPr lang="bg-BG" sz="2200"/>
              <a:t>Аналогично </a:t>
            </a:r>
            <a:r>
              <a:rPr lang="en-US" sz="2200"/>
              <a:t> </a:t>
            </a:r>
            <a:r>
              <a:rPr lang="en-US" sz="2200" i="1"/>
              <a:t>maxDist[</a:t>
            </a:r>
            <a:r>
              <a:rPr lang="bg-BG" sz="2200" i="1"/>
              <a:t>2</a:t>
            </a:r>
            <a:r>
              <a:rPr lang="en-US" sz="2200" i="1"/>
              <a:t>]=40;</a:t>
            </a:r>
            <a:r>
              <a:rPr lang="en-US" sz="2200"/>
              <a:t> </a:t>
            </a:r>
            <a:br>
              <a:rPr lang="en-US" sz="2200"/>
            </a:br>
            <a:r>
              <a:rPr lang="en-US" sz="2200"/>
              <a:t>3. </a:t>
            </a:r>
            <a:r>
              <a:rPr lang="bg-BG" sz="2200"/>
              <a:t>Изтриваме връх 6: </a:t>
            </a:r>
            <a:r>
              <a:rPr lang="en-US" sz="2200" i="1"/>
              <a:t>maxDist[</a:t>
            </a:r>
            <a:r>
              <a:rPr lang="bg-BG" sz="2200" i="1"/>
              <a:t>5</a:t>
            </a:r>
            <a:r>
              <a:rPr lang="en-US" sz="2200" i="1"/>
              <a:t>]=40;</a:t>
            </a:r>
            <a:r>
              <a:rPr lang="bg-BG" sz="2200"/>
              <a:t> </a:t>
            </a:r>
            <a:r>
              <a:rPr lang="en-US" sz="2200"/>
              <a:t/>
            </a:r>
            <a:br>
              <a:rPr lang="en-US" sz="2200"/>
            </a:br>
            <a:r>
              <a:rPr lang="en-US" sz="2200"/>
              <a:t>4</a:t>
            </a:r>
            <a:r>
              <a:rPr lang="bg-BG" sz="2200"/>
              <a:t>. Изтриваме връх 5: </a:t>
            </a:r>
            <a:r>
              <a:rPr lang="en-US" sz="2200" i="1"/>
              <a:t>maxDist[</a:t>
            </a:r>
            <a:r>
              <a:rPr lang="bg-BG" sz="2200" i="1"/>
              <a:t>4</a:t>
            </a:r>
            <a:r>
              <a:rPr lang="en-US" sz="2200" i="1"/>
              <a:t>]=</a:t>
            </a:r>
            <a:r>
              <a:rPr lang="bg-BG" sz="2200" i="1"/>
              <a:t>7</a:t>
            </a:r>
            <a:r>
              <a:rPr lang="en-US" sz="2200" i="1"/>
              <a:t>0;</a:t>
            </a:r>
            <a:r>
              <a:rPr lang="en-US" sz="2200"/>
              <a:t> </a:t>
            </a:r>
            <a:r>
              <a:rPr lang="en-US" sz="2200" i="1"/>
              <a:t>maxDist[</a:t>
            </a:r>
            <a:r>
              <a:rPr lang="bg-BG" sz="2200" i="1"/>
              <a:t>2</a:t>
            </a:r>
            <a:r>
              <a:rPr lang="en-US" sz="2200" i="1"/>
              <a:t>]= </a:t>
            </a:r>
            <a:r>
              <a:rPr lang="en-US" sz="2200" b="1" i="1"/>
              <a:t>max</a:t>
            </a:r>
            <a:r>
              <a:rPr lang="en-US" sz="2200" i="1"/>
              <a:t>{</a:t>
            </a:r>
            <a:r>
              <a:rPr lang="bg-BG" sz="2200" i="1"/>
              <a:t>40, 40+17</a:t>
            </a:r>
            <a:r>
              <a:rPr lang="en-US" sz="2200" i="1"/>
              <a:t>}=5</a:t>
            </a:r>
            <a:r>
              <a:rPr lang="bg-BG" sz="2200" i="1"/>
              <a:t>7</a:t>
            </a:r>
            <a:br>
              <a:rPr lang="bg-BG" sz="2200" i="1"/>
            </a:br>
            <a:r>
              <a:rPr lang="en-US" sz="2200"/>
              <a:t>5</a:t>
            </a:r>
            <a:r>
              <a:rPr lang="bg-BG" sz="2200"/>
              <a:t>. Изтриваме връх 4.</a:t>
            </a:r>
            <a:br>
              <a:rPr lang="bg-BG" sz="2200"/>
            </a:br>
            <a:r>
              <a:rPr lang="bg-BG" sz="2200"/>
              <a:t>6. Изтриваме връх 2: </a:t>
            </a:r>
            <a:r>
              <a:rPr lang="en-US" sz="2200" i="1"/>
              <a:t>maxDist[</a:t>
            </a:r>
            <a:r>
              <a:rPr lang="bg-BG" sz="2200" i="1"/>
              <a:t>1</a:t>
            </a:r>
            <a:r>
              <a:rPr lang="en-US" sz="2200" i="1"/>
              <a:t>]=</a:t>
            </a:r>
            <a:r>
              <a:rPr lang="bg-BG" sz="2200" i="1"/>
              <a:t>69;</a:t>
            </a:r>
            <a:br>
              <a:rPr lang="bg-BG" sz="2200" i="1"/>
            </a:br>
            <a:r>
              <a:rPr lang="bg-BG" sz="2200"/>
              <a:t>7. Изтриваме връх 1.</a:t>
            </a:r>
            <a:br>
              <a:rPr lang="bg-BG" sz="2200"/>
            </a:br>
            <a:r>
              <a:rPr lang="bg-BG" sz="2200"/>
              <a:t>	Най-дълъг път: 70 (</a:t>
            </a:r>
            <a:r>
              <a:rPr lang="en-US" sz="2200" i="1"/>
              <a:t>maxDist[</a:t>
            </a:r>
            <a:r>
              <a:rPr lang="bg-BG" sz="2200" i="1"/>
              <a:t>4</a:t>
            </a:r>
            <a:r>
              <a:rPr lang="en-US" sz="2200" i="1"/>
              <a:t>]=</a:t>
            </a:r>
            <a:r>
              <a:rPr lang="bg-BG" sz="2200" i="1"/>
              <a:t>7</a:t>
            </a:r>
            <a:r>
              <a:rPr lang="en-US" sz="2200" i="1"/>
              <a:t>0)</a:t>
            </a:r>
          </a:p>
        </p:txBody>
      </p:sp>
      <p:grpSp>
        <p:nvGrpSpPr>
          <p:cNvPr id="48132" name="Group 29"/>
          <p:cNvGrpSpPr>
            <a:grpSpLocks/>
          </p:cNvGrpSpPr>
          <p:nvPr/>
        </p:nvGrpSpPr>
        <p:grpSpPr bwMode="auto">
          <a:xfrm>
            <a:off x="2819400" y="2286000"/>
            <a:ext cx="3657600" cy="1147763"/>
            <a:chOff x="2736" y="1720"/>
            <a:chExt cx="2320" cy="796"/>
          </a:xfrm>
        </p:grpSpPr>
        <p:sp>
          <p:nvSpPr>
            <p:cNvPr id="48134" name="Oval 4"/>
            <p:cNvSpPr>
              <a:spLocks noChangeArrowheads="1"/>
            </p:cNvSpPr>
            <p:nvPr/>
          </p:nvSpPr>
          <p:spPr bwMode="auto">
            <a:xfrm>
              <a:off x="2736" y="17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8135" name="Oval 5"/>
            <p:cNvSpPr>
              <a:spLocks noChangeArrowheads="1"/>
            </p:cNvSpPr>
            <p:nvPr/>
          </p:nvSpPr>
          <p:spPr bwMode="auto">
            <a:xfrm>
              <a:off x="3072" y="225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8136" name="Oval 6"/>
            <p:cNvSpPr>
              <a:spLocks noChangeArrowheads="1"/>
            </p:cNvSpPr>
            <p:nvPr/>
          </p:nvSpPr>
          <p:spPr bwMode="auto">
            <a:xfrm>
              <a:off x="3888" y="225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8137" name="Oval 7"/>
            <p:cNvSpPr>
              <a:spLocks noChangeArrowheads="1"/>
            </p:cNvSpPr>
            <p:nvPr/>
          </p:nvSpPr>
          <p:spPr bwMode="auto">
            <a:xfrm>
              <a:off x="3504" y="17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8138" name="Oval 8"/>
            <p:cNvSpPr>
              <a:spLocks noChangeArrowheads="1"/>
            </p:cNvSpPr>
            <p:nvPr/>
          </p:nvSpPr>
          <p:spPr bwMode="auto">
            <a:xfrm>
              <a:off x="4800" y="225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8139" name="Oval 9"/>
            <p:cNvSpPr>
              <a:spLocks noChangeArrowheads="1"/>
            </p:cNvSpPr>
            <p:nvPr/>
          </p:nvSpPr>
          <p:spPr bwMode="auto">
            <a:xfrm>
              <a:off x="4304" y="17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8140" name="Line 10"/>
            <p:cNvSpPr>
              <a:spLocks noChangeShapeType="1"/>
            </p:cNvSpPr>
            <p:nvPr/>
          </p:nvSpPr>
          <p:spPr bwMode="auto">
            <a:xfrm>
              <a:off x="2976" y="19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8141" name="Line 11"/>
            <p:cNvSpPr>
              <a:spLocks noChangeShapeType="1"/>
            </p:cNvSpPr>
            <p:nvPr/>
          </p:nvSpPr>
          <p:spPr bwMode="auto">
            <a:xfrm>
              <a:off x="3744" y="192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8142" name="Line 12"/>
            <p:cNvSpPr>
              <a:spLocks noChangeShapeType="1"/>
            </p:cNvSpPr>
            <p:nvPr/>
          </p:nvSpPr>
          <p:spPr bwMode="auto">
            <a:xfrm>
              <a:off x="3312" y="237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8143" name="Line 13"/>
            <p:cNvSpPr>
              <a:spLocks noChangeShapeType="1"/>
            </p:cNvSpPr>
            <p:nvPr/>
          </p:nvSpPr>
          <p:spPr bwMode="auto">
            <a:xfrm>
              <a:off x="4128" y="237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8144" name="Line 14"/>
            <p:cNvSpPr>
              <a:spLocks noChangeShapeType="1"/>
            </p:cNvSpPr>
            <p:nvPr/>
          </p:nvSpPr>
          <p:spPr bwMode="auto">
            <a:xfrm>
              <a:off x="3600" y="2024"/>
              <a:ext cx="42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8145" name="Line 15"/>
            <p:cNvSpPr>
              <a:spLocks noChangeShapeType="1"/>
            </p:cNvSpPr>
            <p:nvPr/>
          </p:nvSpPr>
          <p:spPr bwMode="auto">
            <a:xfrm>
              <a:off x="4464" y="2008"/>
              <a:ext cx="42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8146" name="Text Box 16"/>
            <p:cNvSpPr txBox="1">
              <a:spLocks noChangeArrowheads="1"/>
            </p:cNvSpPr>
            <p:nvPr/>
          </p:nvSpPr>
          <p:spPr bwMode="auto">
            <a:xfrm>
              <a:off x="2752" y="1760"/>
              <a:ext cx="24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bg-BG"/>
                <a:t>1</a:t>
              </a:r>
              <a:endParaRPr lang="en-US"/>
            </a:p>
          </p:txBody>
        </p:sp>
        <p:sp>
          <p:nvSpPr>
            <p:cNvPr id="48147" name="Text Box 17"/>
            <p:cNvSpPr txBox="1">
              <a:spLocks noChangeArrowheads="1"/>
            </p:cNvSpPr>
            <p:nvPr/>
          </p:nvSpPr>
          <p:spPr bwMode="auto">
            <a:xfrm>
              <a:off x="4816" y="2216"/>
              <a:ext cx="240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bg-BG"/>
                <a:t>6</a:t>
              </a:r>
              <a:endParaRPr lang="en-US"/>
            </a:p>
          </p:txBody>
        </p:sp>
        <p:sp>
          <p:nvSpPr>
            <p:cNvPr id="48148" name="Text Box 18"/>
            <p:cNvSpPr txBox="1">
              <a:spLocks noChangeArrowheads="1"/>
            </p:cNvSpPr>
            <p:nvPr/>
          </p:nvSpPr>
          <p:spPr bwMode="auto">
            <a:xfrm>
              <a:off x="4320" y="1760"/>
              <a:ext cx="24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bg-BG"/>
                <a:t>3</a:t>
              </a:r>
              <a:endParaRPr lang="en-US"/>
            </a:p>
          </p:txBody>
        </p:sp>
        <p:sp>
          <p:nvSpPr>
            <p:cNvPr id="48149" name="Text Box 19"/>
            <p:cNvSpPr txBox="1">
              <a:spLocks noChangeArrowheads="1"/>
            </p:cNvSpPr>
            <p:nvPr/>
          </p:nvSpPr>
          <p:spPr bwMode="auto">
            <a:xfrm>
              <a:off x="3088" y="2224"/>
              <a:ext cx="240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bg-BG"/>
                <a:t>4</a:t>
              </a:r>
              <a:endParaRPr lang="en-US"/>
            </a:p>
          </p:txBody>
        </p:sp>
        <p:sp>
          <p:nvSpPr>
            <p:cNvPr id="48150" name="Text Box 20"/>
            <p:cNvSpPr txBox="1">
              <a:spLocks noChangeArrowheads="1"/>
            </p:cNvSpPr>
            <p:nvPr/>
          </p:nvSpPr>
          <p:spPr bwMode="auto">
            <a:xfrm>
              <a:off x="3904" y="2224"/>
              <a:ext cx="240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bg-BG"/>
                <a:t>5</a:t>
              </a:r>
              <a:endParaRPr lang="en-US"/>
            </a:p>
          </p:txBody>
        </p:sp>
        <p:sp>
          <p:nvSpPr>
            <p:cNvPr id="48151" name="Text Box 21"/>
            <p:cNvSpPr txBox="1">
              <a:spLocks noChangeArrowheads="1"/>
            </p:cNvSpPr>
            <p:nvPr/>
          </p:nvSpPr>
          <p:spPr bwMode="auto">
            <a:xfrm>
              <a:off x="3528" y="1760"/>
              <a:ext cx="24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bg-BG"/>
                <a:t>2</a:t>
              </a:r>
              <a:endParaRPr lang="en-US"/>
            </a:p>
          </p:txBody>
        </p:sp>
        <p:sp>
          <p:nvSpPr>
            <p:cNvPr id="48152" name="Text Box 22"/>
            <p:cNvSpPr txBox="1">
              <a:spLocks noChangeArrowheads="1"/>
            </p:cNvSpPr>
            <p:nvPr/>
          </p:nvSpPr>
          <p:spPr bwMode="auto">
            <a:xfrm>
              <a:off x="3072" y="1720"/>
              <a:ext cx="288" cy="2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  <a:defRPr/>
              </a:pPr>
              <a:r>
                <a:rPr lang="bg-BG" sz="18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12</a:t>
              </a:r>
              <a:endParaRPr 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8153" name="Text Box 23"/>
            <p:cNvSpPr txBox="1">
              <a:spLocks noChangeArrowheads="1"/>
            </p:cNvSpPr>
            <p:nvPr/>
          </p:nvSpPr>
          <p:spPr bwMode="auto">
            <a:xfrm>
              <a:off x="3384" y="2185"/>
              <a:ext cx="288" cy="2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  <a:defRPr/>
              </a:pPr>
              <a:r>
                <a:rPr lang="bg-BG" sz="18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30</a:t>
              </a:r>
              <a:endParaRPr 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8154" name="Text Box 24"/>
            <p:cNvSpPr txBox="1">
              <a:spLocks noChangeArrowheads="1"/>
            </p:cNvSpPr>
            <p:nvPr/>
          </p:nvSpPr>
          <p:spPr bwMode="auto">
            <a:xfrm>
              <a:off x="3768" y="1984"/>
              <a:ext cx="288" cy="2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  <a:defRPr/>
              </a:pPr>
              <a:r>
                <a:rPr lang="bg-BG" sz="18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17</a:t>
              </a:r>
              <a:endParaRPr 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8155" name="Text Box 25"/>
            <p:cNvSpPr txBox="1">
              <a:spLocks noChangeArrowheads="1"/>
            </p:cNvSpPr>
            <p:nvPr/>
          </p:nvSpPr>
          <p:spPr bwMode="auto">
            <a:xfrm>
              <a:off x="3840" y="1728"/>
              <a:ext cx="288" cy="2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  <a:defRPr/>
              </a:pPr>
              <a:r>
                <a:rPr lang="bg-BG" sz="18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40</a:t>
              </a:r>
              <a:endParaRPr 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8156" name="Text Box 26"/>
            <p:cNvSpPr txBox="1">
              <a:spLocks noChangeArrowheads="1"/>
            </p:cNvSpPr>
            <p:nvPr/>
          </p:nvSpPr>
          <p:spPr bwMode="auto">
            <a:xfrm>
              <a:off x="4280" y="2185"/>
              <a:ext cx="288" cy="2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  <a:defRPr/>
              </a:pPr>
              <a:r>
                <a:rPr lang="bg-BG" sz="18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20</a:t>
              </a:r>
              <a:endParaRPr 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8157" name="Text Box 27"/>
            <p:cNvSpPr txBox="1">
              <a:spLocks noChangeArrowheads="1"/>
            </p:cNvSpPr>
            <p:nvPr/>
          </p:nvSpPr>
          <p:spPr bwMode="auto">
            <a:xfrm>
              <a:off x="4672" y="1984"/>
              <a:ext cx="288" cy="2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  <a:defRPr/>
              </a:pPr>
              <a:r>
                <a:rPr lang="bg-BG" sz="18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20</a:t>
              </a:r>
              <a:endParaRPr 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94EDDA-3AA9-4315-95D3-82383617339E}" type="slidenum">
              <a:rPr lang="en-US"/>
              <a:pPr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620713"/>
            <a:ext cx="7600950" cy="58674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200">
                <a:solidFill>
                  <a:schemeClr val="tx1"/>
                </a:solidFill>
              </a:rPr>
              <a:t>	Алгоритъмът може да се реализира рекурсивно, като се използва модификация на обхождане в дълбочина  </a:t>
            </a:r>
            <a:r>
              <a:rPr lang="en-US" sz="2200">
                <a:solidFill>
                  <a:schemeClr val="tx1"/>
                </a:solidFill>
              </a:rPr>
              <a:t>(DFS).</a:t>
            </a:r>
            <a:br>
              <a:rPr lang="en-US" sz="2200">
                <a:solidFill>
                  <a:schemeClr val="tx1"/>
                </a:solidFill>
              </a:rPr>
            </a:br>
            <a:r>
              <a:rPr lang="en-US" sz="2200">
                <a:solidFill>
                  <a:schemeClr val="tx1"/>
                </a:solidFill>
              </a:rPr>
              <a:t>П</a:t>
            </a:r>
            <a:r>
              <a:rPr lang="bg-BG" sz="2200">
                <a:solidFill>
                  <a:schemeClr val="tx1"/>
                </a:solidFill>
              </a:rPr>
              <a:t>ри всяко връщане от рекурсивното извикване на </a:t>
            </a:r>
            <a:r>
              <a:rPr lang="en-US" sz="2200" i="1">
                <a:solidFill>
                  <a:schemeClr val="tx1"/>
                </a:solidFill>
              </a:rPr>
              <a:t>DFS(i)</a:t>
            </a:r>
            <a:r>
              <a:rPr lang="en-US" sz="2200">
                <a:solidFill>
                  <a:schemeClr val="tx1"/>
                </a:solidFill>
              </a:rPr>
              <a:t>  с</a:t>
            </a:r>
            <a:r>
              <a:rPr lang="bg-BG" sz="2200">
                <a:solidFill>
                  <a:schemeClr val="tx1"/>
                </a:solidFill>
              </a:rPr>
              <a:t>е озоваваме в някой предшественик</a:t>
            </a:r>
            <a:r>
              <a:rPr lang="bg-BG" sz="2200" i="1">
                <a:solidFill>
                  <a:schemeClr val="tx1"/>
                </a:solidFill>
              </a:rPr>
              <a:t> j</a:t>
            </a:r>
            <a:r>
              <a:rPr lang="en-US" sz="2200">
                <a:solidFill>
                  <a:schemeClr val="tx1"/>
                </a:solidFill>
              </a:rPr>
              <a:t> </a:t>
            </a:r>
            <a:r>
              <a:rPr lang="bg-BG" sz="2200">
                <a:solidFill>
                  <a:schemeClr val="tx1"/>
                </a:solidFill>
              </a:rPr>
              <a:t>на върха </a:t>
            </a:r>
            <a:r>
              <a:rPr lang="bg-BG" sz="2200" i="1">
                <a:solidFill>
                  <a:schemeClr val="tx1"/>
                </a:solidFill>
              </a:rPr>
              <a:t>i</a:t>
            </a:r>
            <a:r>
              <a:rPr lang="bg-BG" sz="2200">
                <a:solidFill>
                  <a:schemeClr val="tx1"/>
                </a:solidFill>
              </a:rPr>
              <a:t> . Там ще запазваме максималното </a:t>
            </a:r>
            <a:r>
              <a:rPr lang="en-US" sz="2200" i="1">
                <a:solidFill>
                  <a:schemeClr val="tx1"/>
                </a:solidFill>
              </a:rPr>
              <a:t>maxDist[j]+A[j][i] </a:t>
            </a:r>
            <a:r>
              <a:rPr lang="bg-BG" sz="2200">
                <a:solidFill>
                  <a:schemeClr val="tx1"/>
                </a:solidFill>
              </a:rPr>
              <a:t>за всеки </a:t>
            </a:r>
            <a:r>
              <a:rPr lang="bg-BG" sz="2200" i="1">
                <a:solidFill>
                  <a:schemeClr val="tx1"/>
                </a:solidFill>
              </a:rPr>
              <a:t> </a:t>
            </a:r>
            <a:r>
              <a:rPr lang="en-US" sz="2200" i="1">
                <a:solidFill>
                  <a:schemeClr val="tx1"/>
                </a:solidFill>
              </a:rPr>
              <a:t>j </a:t>
            </a:r>
            <a:r>
              <a:rPr lang="bg-BG" sz="2200">
                <a:solidFill>
                  <a:schemeClr val="tx1"/>
                </a:solidFill>
              </a:rPr>
              <a:t>наследник на</a:t>
            </a:r>
            <a:r>
              <a:rPr lang="en-US" sz="2200">
                <a:solidFill>
                  <a:schemeClr val="tx1"/>
                </a:solidFill>
              </a:rPr>
              <a:t> </a:t>
            </a:r>
            <a:r>
              <a:rPr lang="en-US" sz="2200" i="1">
                <a:solidFill>
                  <a:schemeClr val="tx1"/>
                </a:solidFill>
              </a:rPr>
              <a:t>i </a:t>
            </a:r>
            <a:r>
              <a:rPr lang="bg-BG" sz="2200">
                <a:solidFill>
                  <a:schemeClr val="tx1"/>
                </a:solidFill>
              </a:rPr>
              <a:t>и в края, преди изхода от функцията  </a:t>
            </a:r>
            <a:r>
              <a:rPr lang="en-US" sz="2200">
                <a:solidFill>
                  <a:schemeClr val="tx1"/>
                </a:solidFill>
              </a:rPr>
              <a:t> </a:t>
            </a:r>
            <a:r>
              <a:rPr lang="en-US" sz="2200" i="1">
                <a:solidFill>
                  <a:schemeClr val="tx1"/>
                </a:solidFill>
              </a:rPr>
              <a:t>DFS,</a:t>
            </a:r>
            <a:r>
              <a:rPr lang="bg-BG" sz="2200" i="1">
                <a:solidFill>
                  <a:schemeClr val="tx1"/>
                </a:solidFill>
              </a:rPr>
              <a:t> </a:t>
            </a:r>
            <a:r>
              <a:rPr lang="bg-BG" sz="2200">
                <a:solidFill>
                  <a:schemeClr val="tx1"/>
                </a:solidFill>
              </a:rPr>
              <a:t>ще го присвояваме на</a:t>
            </a:r>
            <a:r>
              <a:rPr lang="bg-BG" sz="2200" i="1">
                <a:solidFill>
                  <a:schemeClr val="tx1"/>
                </a:solidFill>
              </a:rPr>
              <a:t> </a:t>
            </a:r>
            <a:r>
              <a:rPr lang="en-US" sz="2200" i="1">
                <a:solidFill>
                  <a:schemeClr val="tx1"/>
                </a:solidFill>
              </a:rPr>
              <a:t>maxDist[i].</a:t>
            </a:r>
            <a:r>
              <a:rPr lang="bg-BG" sz="2200" i="1">
                <a:solidFill>
                  <a:schemeClr val="tx1"/>
                </a:solidFill>
              </a:rPr>
              <a:t> </a:t>
            </a:r>
            <a:r>
              <a:rPr lang="bg-BG" sz="2200">
                <a:solidFill>
                  <a:schemeClr val="tx1"/>
                </a:solidFill>
              </a:rPr>
              <a:t>Функцията</a:t>
            </a:r>
            <a:r>
              <a:rPr lang="bg-BG" sz="2200" i="1">
                <a:solidFill>
                  <a:schemeClr val="tx1"/>
                </a:solidFill>
              </a:rPr>
              <a:t> </a:t>
            </a:r>
            <a:r>
              <a:rPr lang="en-US" sz="2200" i="1">
                <a:solidFill>
                  <a:schemeClr val="tx1"/>
                </a:solidFill>
              </a:rPr>
              <a:t>DFS(i)</a:t>
            </a:r>
            <a:r>
              <a:rPr lang="en-US" sz="2200">
                <a:solidFill>
                  <a:schemeClr val="tx1"/>
                </a:solidFill>
              </a:rPr>
              <a:t> с</a:t>
            </a:r>
            <a:r>
              <a:rPr lang="bg-BG" sz="2200">
                <a:solidFill>
                  <a:schemeClr val="tx1"/>
                </a:solidFill>
              </a:rPr>
              <a:t>е изпълнява само, ако </a:t>
            </a:r>
            <a:r>
              <a:rPr lang="en-US" sz="2200" i="1">
                <a:solidFill>
                  <a:schemeClr val="tx1"/>
                </a:solidFill>
              </a:rPr>
              <a:t>maxDist[i] </a:t>
            </a:r>
            <a:r>
              <a:rPr lang="bg-BG" sz="2200">
                <a:solidFill>
                  <a:schemeClr val="tx1"/>
                </a:solidFill>
              </a:rPr>
              <a:t>още не е пресметнато, т. е.</a:t>
            </a:r>
            <a:r>
              <a:rPr lang="bg-BG" sz="2200" i="1">
                <a:solidFill>
                  <a:schemeClr val="tx1"/>
                </a:solidFill>
              </a:rPr>
              <a:t> </a:t>
            </a:r>
            <a:r>
              <a:rPr lang="bg-BG" sz="2200">
                <a:solidFill>
                  <a:schemeClr val="tx1"/>
                </a:solidFill>
              </a:rPr>
              <a:t>при</a:t>
            </a:r>
            <a:r>
              <a:rPr lang="bg-BG" sz="2200" i="1">
                <a:solidFill>
                  <a:schemeClr val="tx1"/>
                </a:solidFill>
              </a:rPr>
              <a:t> </a:t>
            </a:r>
            <a:r>
              <a:rPr lang="en-US" sz="2200" i="1">
                <a:solidFill>
                  <a:schemeClr val="tx1"/>
                </a:solidFill>
              </a:rPr>
              <a:t>maxDist[i]</a:t>
            </a:r>
            <a:r>
              <a:rPr lang="bg-BG" sz="2200" i="1">
                <a:solidFill>
                  <a:schemeClr val="tx1"/>
                </a:solidFill>
              </a:rPr>
              <a:t> </a:t>
            </a:r>
            <a:r>
              <a:rPr lang="en-US" sz="2200">
                <a:solidFill>
                  <a:schemeClr val="tx1"/>
                </a:solidFill>
              </a:rPr>
              <a:t>==0 (</a:t>
            </a:r>
            <a:r>
              <a:rPr lang="bg-BG" sz="2200">
                <a:solidFill>
                  <a:schemeClr val="tx1"/>
                </a:solidFill>
              </a:rPr>
              <a:t>като в началото инициализираме целия масив с нули). Функцията </a:t>
            </a:r>
            <a:r>
              <a:rPr lang="en-US" sz="2200" i="1">
                <a:solidFill>
                  <a:schemeClr val="tx1"/>
                </a:solidFill>
              </a:rPr>
              <a:t>DFS </a:t>
            </a:r>
            <a:r>
              <a:rPr lang="bg-BG" sz="2200">
                <a:solidFill>
                  <a:schemeClr val="tx1"/>
                </a:solidFill>
              </a:rPr>
              <a:t> се стартира последователно за всеки от върховете на графа.</a:t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800">
                <a:solidFill>
                  <a:schemeClr val="tx1"/>
                </a:solidFill>
              </a:rPr>
              <a:t/>
            </a:r>
            <a:br>
              <a:rPr lang="bg-BG" sz="8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	За да запазим и отпечатаме всички върхове от търсения път, а не само дължината му, в масива </a:t>
            </a:r>
            <a:r>
              <a:rPr lang="en-US" sz="2200" i="1">
                <a:solidFill>
                  <a:schemeClr val="tx1"/>
                </a:solidFill>
              </a:rPr>
              <a:t>savePath[] </a:t>
            </a:r>
            <a:r>
              <a:rPr lang="bg-BG" sz="2200">
                <a:solidFill>
                  <a:schemeClr val="tx1"/>
                </a:solidFill>
              </a:rPr>
              <a:t>на позиция </a:t>
            </a:r>
            <a:r>
              <a:rPr lang="en-US" sz="2200" i="1">
                <a:solidFill>
                  <a:schemeClr val="tx1"/>
                </a:solidFill>
              </a:rPr>
              <a:t>i </a:t>
            </a:r>
            <a:r>
              <a:rPr lang="bg-BG" sz="2200">
                <a:solidFill>
                  <a:schemeClr val="tx1"/>
                </a:solidFill>
              </a:rPr>
              <a:t>щ</a:t>
            </a:r>
            <a:r>
              <a:rPr lang="en-US" sz="2200">
                <a:solidFill>
                  <a:schemeClr val="tx1"/>
                </a:solidFill>
              </a:rPr>
              <a:t>е</a:t>
            </a:r>
            <a:r>
              <a:rPr lang="bg-BG" sz="2200">
                <a:solidFill>
                  <a:schemeClr val="tx1"/>
                </a:solidFill>
              </a:rPr>
              <a:t> записваме този наследник </a:t>
            </a:r>
            <a:r>
              <a:rPr lang="en-US" sz="2200" i="1">
                <a:solidFill>
                  <a:schemeClr val="tx1"/>
                </a:solidFill>
              </a:rPr>
              <a:t>j</a:t>
            </a:r>
            <a:r>
              <a:rPr lang="en-US" sz="2200">
                <a:solidFill>
                  <a:schemeClr val="tx1"/>
                </a:solidFill>
              </a:rPr>
              <a:t>,</a:t>
            </a:r>
            <a:r>
              <a:rPr lang="bg-BG" sz="2200">
                <a:solidFill>
                  <a:schemeClr val="tx1"/>
                </a:solidFill>
              </a:rPr>
              <a:t> за който е намерено максималното </a:t>
            </a:r>
            <a:r>
              <a:rPr lang="en-US" sz="2200" i="1">
                <a:solidFill>
                  <a:schemeClr val="tx1"/>
                </a:solidFill>
              </a:rPr>
              <a:t>maxDist[i]+A[i][j]. </a:t>
            </a:r>
            <a:br>
              <a:rPr lang="en-US" sz="2200" i="1">
                <a:solidFill>
                  <a:schemeClr val="tx1"/>
                </a:solidFill>
              </a:rPr>
            </a:br>
            <a:r>
              <a:rPr lang="bg-BG" sz="800" i="1">
                <a:solidFill>
                  <a:schemeClr val="tx1"/>
                </a:solidFill>
              </a:rPr>
              <a:t/>
            </a:r>
            <a:br>
              <a:rPr lang="bg-BG" sz="800" i="1">
                <a:solidFill>
                  <a:schemeClr val="tx1"/>
                </a:solidFill>
              </a:rPr>
            </a:br>
            <a:r>
              <a:rPr lang="bg-BG" sz="2200" i="1">
                <a:solidFill>
                  <a:schemeClr val="tx1"/>
                </a:solidFill>
              </a:rPr>
              <a:t>	</a:t>
            </a:r>
            <a:r>
              <a:rPr lang="bg-BG" sz="2200">
                <a:solidFill>
                  <a:schemeClr val="tx1"/>
                </a:solidFill>
              </a:rPr>
              <a:t>Изходния код на програмата може да се намери в</a:t>
            </a:r>
            <a:r>
              <a:rPr lang="bg-BG" sz="2200" i="1">
                <a:solidFill>
                  <a:schemeClr val="tx1"/>
                </a:solidFill>
              </a:rPr>
              <a:t> </a:t>
            </a:r>
            <a:r>
              <a:rPr lang="bg-BG" sz="2200" smtClean="0">
                <a:solidFill>
                  <a:schemeClr val="tx1"/>
                </a:solidFill>
              </a:rPr>
              <a:t>книгата на Преслав </a:t>
            </a:r>
            <a:r>
              <a:rPr lang="bg-BG" sz="2200">
                <a:solidFill>
                  <a:schemeClr val="tx1"/>
                </a:solidFill>
              </a:rPr>
              <a:t>Наков, Панайот Добриков. </a:t>
            </a:r>
            <a:r>
              <a:rPr lang="bg-BG" sz="2200" i="1">
                <a:solidFill>
                  <a:schemeClr val="tx1"/>
                </a:solidFill>
              </a:rPr>
              <a:t>Програмиране = ++Алгоритми</a:t>
            </a:r>
            <a:r>
              <a:rPr lang="bg-BG" sz="2200">
                <a:solidFill>
                  <a:schemeClr val="tx1"/>
                </a:solidFill>
              </a:rPr>
              <a:t>, </a:t>
            </a:r>
            <a:r>
              <a:rPr lang="en-US" sz="2200">
                <a:solidFill>
                  <a:schemeClr val="tx1"/>
                </a:solidFill>
              </a:rPr>
              <a:t>TopTeam Co., </a:t>
            </a:r>
            <a:r>
              <a:rPr lang="bg-BG" sz="2200">
                <a:solidFill>
                  <a:schemeClr val="tx1"/>
                </a:solidFill>
              </a:rPr>
              <a:t>София,</a:t>
            </a:r>
            <a:r>
              <a:rPr lang="en-US" sz="2200">
                <a:solidFill>
                  <a:schemeClr val="tx1"/>
                </a:solidFill>
              </a:rPr>
              <a:t> 2002</a:t>
            </a:r>
            <a:r>
              <a:rPr lang="bg-BG" sz="2200">
                <a:solidFill>
                  <a:schemeClr val="tx1"/>
                </a:solidFill>
              </a:rPr>
              <a:t> </a:t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	Там също така може да се намери описание на алгоритъма за търсене на най-дълъг прост път между два върха в произволен граф. </a:t>
            </a:r>
            <a:r>
              <a:rPr lang="bg-BG" sz="22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200">
                <a:solidFill>
                  <a:schemeClr val="tx2">
                    <a:satMod val="130000"/>
                  </a:schemeClr>
                </a:solidFill>
              </a:rPr>
            </a:br>
            <a:endParaRPr lang="en-US" sz="220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638DA4-FA63-49FD-82F2-3339717CAB59}" type="slidenum">
              <a:rPr lang="en-US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992188" y="685800"/>
            <a:ext cx="8151812" cy="61722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>
                <a:solidFill>
                  <a:schemeClr val="tx1"/>
                </a:solidFill>
              </a:rPr>
              <a:t>	</a:t>
            </a:r>
            <a:r>
              <a:rPr lang="bg-BG" sz="2800" u="sng">
                <a:solidFill>
                  <a:schemeClr val="tx1"/>
                </a:solidFill>
              </a:rPr>
              <a:t>Цикли в граф (намиране и изследване)</a:t>
            </a:r>
            <a:br>
              <a:rPr lang="bg-BG" sz="2800" u="sng">
                <a:solidFill>
                  <a:schemeClr val="tx1"/>
                </a:solidFill>
              </a:rPr>
            </a:br>
            <a:r>
              <a:rPr lang="bg-BG" sz="900" u="sng">
                <a:solidFill>
                  <a:schemeClr val="tx1"/>
                </a:solidFill>
              </a:rPr>
              <a:t/>
            </a:r>
            <a:br>
              <a:rPr lang="bg-BG" sz="900" u="sng">
                <a:solidFill>
                  <a:schemeClr val="tx1"/>
                </a:solidFill>
              </a:rPr>
            </a:br>
            <a:r>
              <a:rPr lang="bg-BG" sz="900">
                <a:solidFill>
                  <a:schemeClr val="tx1"/>
                </a:solidFill>
              </a:rPr>
              <a:t>                               </a:t>
            </a:r>
            <a:r>
              <a:rPr lang="bg-BG" sz="2400">
                <a:solidFill>
                  <a:schemeClr val="tx1"/>
                </a:solidFill>
              </a:rPr>
              <a:t>Как можем да проверим, дали даден граф </a:t>
            </a:r>
            <a:r>
              <a:rPr lang="en-US" sz="2400">
                <a:solidFill>
                  <a:schemeClr val="tx1"/>
                </a:solidFill>
              </a:rPr>
              <a:t>G</a:t>
            </a:r>
            <a:r>
              <a:rPr lang="bg-BG" sz="2400">
                <a:solidFill>
                  <a:schemeClr val="tx1"/>
                </a:solidFill>
              </a:rPr>
              <a:t> е цикличен?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Например, прилагаме вече известния алгоритъм за обхождане на граф в дълбочина (</a:t>
            </a:r>
            <a:r>
              <a:rPr lang="en-US" sz="2400" i="1">
                <a:solidFill>
                  <a:schemeClr val="tx1"/>
                </a:solidFill>
              </a:rPr>
              <a:t>DFS</a:t>
            </a:r>
            <a:r>
              <a:rPr lang="en-US" sz="2400">
                <a:solidFill>
                  <a:schemeClr val="tx1"/>
                </a:solidFill>
              </a:rPr>
              <a:t>).</a:t>
            </a:r>
            <a:r>
              <a:rPr lang="bg-BG" sz="2400">
                <a:solidFill>
                  <a:schemeClr val="tx1"/>
                </a:solidFill>
              </a:rPr>
              <a:t> Ако на някоя стъпка от обхождането се окаже, че разглежданият връх </a:t>
            </a:r>
            <a:r>
              <a:rPr lang="bg-BG" sz="2400" i="1">
                <a:solidFill>
                  <a:schemeClr val="tx1"/>
                </a:solidFill>
              </a:rPr>
              <a:t> </a:t>
            </a:r>
            <a:r>
              <a:rPr lang="en-US" sz="2400" i="1">
                <a:solidFill>
                  <a:schemeClr val="tx1"/>
                </a:solidFill>
              </a:rPr>
              <a:t>i </a:t>
            </a:r>
            <a:r>
              <a:rPr lang="bg-BG" sz="2400">
                <a:solidFill>
                  <a:schemeClr val="tx1"/>
                </a:solidFill>
              </a:rPr>
              <a:t>има съсед, който вече сме обходили и различен от предшественика на</a:t>
            </a:r>
            <a:r>
              <a:rPr lang="en-US" sz="2400">
                <a:solidFill>
                  <a:schemeClr val="tx1"/>
                </a:solidFill>
              </a:rPr>
              <a:t> </a:t>
            </a:r>
            <a:r>
              <a:rPr lang="en-US" sz="2400" i="1">
                <a:solidFill>
                  <a:schemeClr val="tx1"/>
                </a:solidFill>
              </a:rPr>
              <a:t>i</a:t>
            </a:r>
            <a:r>
              <a:rPr lang="en-US" sz="2400">
                <a:solidFill>
                  <a:schemeClr val="tx1"/>
                </a:solidFill>
              </a:rPr>
              <a:t>, </a:t>
            </a:r>
            <a:r>
              <a:rPr lang="bg-BG" sz="2400">
                <a:solidFill>
                  <a:schemeClr val="tx1"/>
                </a:solidFill>
              </a:rPr>
              <a:t>то следва, че </a:t>
            </a:r>
            <a:r>
              <a:rPr lang="en-US" sz="2400">
                <a:solidFill>
                  <a:schemeClr val="tx1"/>
                </a:solidFill>
              </a:rPr>
              <a:t>G</a:t>
            </a:r>
            <a:r>
              <a:rPr lang="bg-BG" sz="2400">
                <a:solidFill>
                  <a:schemeClr val="tx1"/>
                </a:solidFill>
              </a:rPr>
              <a:t> съдържа цикъл.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800">
                <a:solidFill>
                  <a:schemeClr val="tx1"/>
                </a:solidFill>
              </a:rPr>
              <a:t/>
            </a:r>
            <a:br>
              <a:rPr lang="bg-BG" sz="8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	За целта функцията </a:t>
            </a:r>
            <a:r>
              <a:rPr lang="en-US" sz="2400" i="1">
                <a:solidFill>
                  <a:schemeClr val="tx1"/>
                </a:solidFill>
              </a:rPr>
              <a:t>DFS()</a:t>
            </a:r>
            <a:r>
              <a:rPr lang="bg-BG" sz="2400">
                <a:solidFill>
                  <a:schemeClr val="tx1"/>
                </a:solidFill>
              </a:rPr>
              <a:t>  се модифицира - като параметър се добавя  </a:t>
            </a:r>
            <a:r>
              <a:rPr lang="en-US" sz="2400" i="1">
                <a:solidFill>
                  <a:schemeClr val="tx1"/>
                </a:solidFill>
              </a:rPr>
              <a:t>int parent</a:t>
            </a:r>
            <a:r>
              <a:rPr lang="en-US" sz="2400">
                <a:solidFill>
                  <a:schemeClr val="tx1"/>
                </a:solidFill>
              </a:rPr>
              <a:t> -</a:t>
            </a:r>
            <a:r>
              <a:rPr lang="bg-BG" sz="2400">
                <a:solidFill>
                  <a:schemeClr val="tx1"/>
                </a:solidFill>
              </a:rPr>
              <a:t> родителя на текущия връх. Ако от текущия връх </a:t>
            </a:r>
            <a:r>
              <a:rPr lang="en-US" sz="2400" i="1">
                <a:solidFill>
                  <a:schemeClr val="tx1"/>
                </a:solidFill>
              </a:rPr>
              <a:t>i</a:t>
            </a:r>
            <a:r>
              <a:rPr lang="bg-BG" sz="2400">
                <a:solidFill>
                  <a:schemeClr val="tx1"/>
                </a:solidFill>
              </a:rPr>
              <a:t> достигнем до връх, в който вече сме били, различен от </a:t>
            </a:r>
            <a:r>
              <a:rPr lang="en-US" sz="2400" i="1">
                <a:solidFill>
                  <a:schemeClr val="tx1"/>
                </a:solidFill>
              </a:rPr>
              <a:t>parent</a:t>
            </a:r>
            <a:r>
              <a:rPr lang="bg-BG" sz="2400">
                <a:solidFill>
                  <a:schemeClr val="tx1"/>
                </a:solidFill>
              </a:rPr>
              <a:t> , значи се е затворил цикъл.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800">
                <a:solidFill>
                  <a:schemeClr val="tx1"/>
                </a:solidFill>
              </a:rPr>
              <a:t/>
            </a:r>
            <a:br>
              <a:rPr lang="bg-BG" sz="8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	Реализацията на алгоритъма е представена в </a:t>
            </a:r>
            <a:r>
              <a:rPr lang="bg-BG" sz="2400" smtClean="0">
                <a:solidFill>
                  <a:schemeClr val="tx1"/>
                </a:solidFill>
              </a:rPr>
              <a:t>книгата  на </a:t>
            </a:r>
            <a:r>
              <a:rPr lang="bg-BG" sz="2200" smtClean="0">
                <a:solidFill>
                  <a:schemeClr val="tx1"/>
                </a:solidFill>
              </a:rPr>
              <a:t>Преслав </a:t>
            </a:r>
            <a:r>
              <a:rPr lang="bg-BG" sz="2200">
                <a:solidFill>
                  <a:schemeClr val="tx1"/>
                </a:solidFill>
              </a:rPr>
              <a:t>Наков, Панайот Добриков. </a:t>
            </a:r>
            <a:r>
              <a:rPr lang="bg-BG" sz="2200" i="1">
                <a:solidFill>
                  <a:schemeClr val="tx1"/>
                </a:solidFill>
              </a:rPr>
              <a:t>Програмиране = ++Алгоритми</a:t>
            </a:r>
            <a:r>
              <a:rPr lang="bg-BG" sz="2200">
                <a:solidFill>
                  <a:schemeClr val="tx1"/>
                </a:solidFill>
              </a:rPr>
              <a:t>, </a:t>
            </a:r>
            <a:r>
              <a:rPr lang="en-US" sz="2200">
                <a:solidFill>
                  <a:schemeClr val="tx1"/>
                </a:solidFill>
              </a:rPr>
              <a:t>TopTeam Co., </a:t>
            </a:r>
            <a:r>
              <a:rPr lang="bg-BG" sz="2200">
                <a:solidFill>
                  <a:schemeClr val="tx1"/>
                </a:solidFill>
              </a:rPr>
              <a:t>София,</a:t>
            </a:r>
            <a:r>
              <a:rPr lang="en-US" sz="2200">
                <a:solidFill>
                  <a:schemeClr val="tx1"/>
                </a:solidFill>
              </a:rPr>
              <a:t> 2002.</a:t>
            </a:r>
            <a:r>
              <a:rPr lang="bg-BG" sz="800">
                <a:solidFill>
                  <a:schemeClr val="accent2"/>
                </a:solidFill>
              </a:rPr>
              <a:t/>
            </a:r>
            <a:br>
              <a:rPr lang="bg-BG" sz="800">
                <a:solidFill>
                  <a:schemeClr val="accent2"/>
                </a:solidFill>
              </a:rPr>
            </a:br>
            <a:r>
              <a:rPr lang="bg-BG" sz="800">
                <a:solidFill>
                  <a:schemeClr val="accent2"/>
                </a:solidFill>
              </a:rPr>
              <a:t/>
            </a:r>
            <a:br>
              <a:rPr lang="bg-BG" sz="800">
                <a:solidFill>
                  <a:schemeClr val="accent2"/>
                </a:solidFill>
              </a:rPr>
            </a:br>
            <a:r>
              <a:rPr lang="bg-BG" sz="2200">
                <a:solidFill>
                  <a:schemeClr val="accent2"/>
                </a:solidFill>
              </a:rPr>
              <a:t> </a:t>
            </a: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endParaRPr lang="en-US" sz="240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86E08F-BA8B-4869-BD5D-BD64692C92CB}" type="slidenum">
              <a:rPr lang="en-US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04888" y="404813"/>
            <a:ext cx="8139112" cy="59436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600" i="1">
                <a:solidFill>
                  <a:schemeClr val="tx1"/>
                </a:solidFill>
              </a:rPr>
              <a:t>       Намиране на фундаментално множество цикли</a:t>
            </a:r>
            <a:r>
              <a:rPr lang="bg-BG" sz="800" i="1">
                <a:solidFill>
                  <a:schemeClr val="tx1"/>
                </a:solidFill>
              </a:rPr>
              <a:t/>
            </a:r>
            <a:br>
              <a:rPr lang="bg-BG" sz="800" i="1">
                <a:solidFill>
                  <a:schemeClr val="tx1"/>
                </a:solidFill>
              </a:rPr>
            </a:br>
            <a:r>
              <a:rPr lang="bg-BG" sz="800" i="1">
                <a:solidFill>
                  <a:schemeClr val="tx1"/>
                </a:solidFill>
              </a:rPr>
              <a:t/>
            </a:r>
            <a:br>
              <a:rPr lang="bg-BG" sz="800" i="1">
                <a:solidFill>
                  <a:schemeClr val="tx1"/>
                </a:solidFill>
              </a:rPr>
            </a:br>
            <a:r>
              <a:rPr lang="bg-BG" sz="2400" i="1">
                <a:solidFill>
                  <a:schemeClr val="tx1"/>
                </a:solidFill>
              </a:rPr>
              <a:t>	</a:t>
            </a:r>
            <a:r>
              <a:rPr lang="bg-BG" sz="2400">
                <a:solidFill>
                  <a:schemeClr val="tx1"/>
                </a:solidFill>
              </a:rPr>
              <a:t>Неориентиран свързан граф без цикли се нарича </a:t>
            </a:r>
            <a:r>
              <a:rPr lang="bg-BG" sz="2400" i="1">
                <a:solidFill>
                  <a:schemeClr val="tx1"/>
                </a:solidFill>
              </a:rPr>
              <a:t>дърво</a:t>
            </a:r>
            <a:r>
              <a:rPr lang="bg-BG" sz="2400">
                <a:solidFill>
                  <a:schemeClr val="tx1"/>
                </a:solidFill>
              </a:rPr>
              <a:t>. </a:t>
            </a:r>
            <a:r>
              <a:rPr lang="bg-BG" sz="2400" i="1">
                <a:solidFill>
                  <a:schemeClr val="tx1"/>
                </a:solidFill>
              </a:rPr>
              <a:t>Покриващо (обхващащо) дърво</a:t>
            </a:r>
            <a:r>
              <a:rPr lang="bg-BG" sz="2400">
                <a:solidFill>
                  <a:schemeClr val="tx1"/>
                </a:solidFill>
              </a:rPr>
              <a:t> в свързан неориентиран </a:t>
            </a:r>
            <a:r>
              <a:rPr lang="bg-BG" sz="2600">
                <a:solidFill>
                  <a:schemeClr val="tx1"/>
                </a:solidFill>
              </a:rPr>
              <a:t>граф</a:t>
            </a:r>
            <a:r>
              <a:rPr lang="bg-BG" sz="2600" i="1">
                <a:solidFill>
                  <a:schemeClr val="tx1"/>
                </a:solidFill>
              </a:rPr>
              <a:t> </a:t>
            </a:r>
            <a:r>
              <a:rPr lang="en-US" sz="2400" i="1">
                <a:solidFill>
                  <a:schemeClr val="tx1"/>
                </a:solidFill>
              </a:rPr>
              <a:t>G(V,E)</a:t>
            </a:r>
            <a:r>
              <a:rPr lang="en-US" sz="2400">
                <a:solidFill>
                  <a:schemeClr val="tx1"/>
                </a:solidFill>
              </a:rPr>
              <a:t> </a:t>
            </a:r>
            <a:r>
              <a:rPr lang="bg-BG" sz="2600" i="1">
                <a:solidFill>
                  <a:schemeClr val="tx1"/>
                </a:solidFill>
              </a:rPr>
              <a:t>се нарича всеки свързан ацикличен подграф </a:t>
            </a:r>
            <a:r>
              <a:rPr lang="en-US" sz="2400" i="1">
                <a:solidFill>
                  <a:schemeClr val="tx1"/>
                </a:solidFill>
              </a:rPr>
              <a:t>G’(V,E’)</a:t>
            </a:r>
            <a:r>
              <a:rPr lang="en-US" sz="2400">
                <a:solidFill>
                  <a:schemeClr val="tx1"/>
                </a:solidFill>
              </a:rPr>
              <a:t> </a:t>
            </a:r>
            <a:r>
              <a:rPr lang="bg-BG" sz="2400">
                <a:solidFill>
                  <a:schemeClr val="tx1"/>
                </a:solidFill>
              </a:rPr>
              <a:t>на</a:t>
            </a:r>
            <a:r>
              <a:rPr lang="bg-BG" sz="2600" i="1">
                <a:solidFill>
                  <a:schemeClr val="tx1"/>
                </a:solidFill>
              </a:rPr>
              <a:t> </a:t>
            </a:r>
            <a:r>
              <a:rPr lang="en-US" sz="2400" i="1">
                <a:solidFill>
                  <a:schemeClr val="tx1"/>
                </a:solidFill>
              </a:rPr>
              <a:t>G</a:t>
            </a:r>
            <a:r>
              <a:rPr lang="bg-BG" sz="2400" i="1">
                <a:solidFill>
                  <a:schemeClr val="tx1"/>
                </a:solidFill>
              </a:rPr>
              <a:t>.</a:t>
            </a:r>
            <a:r>
              <a:rPr lang="en-US" sz="2400">
                <a:solidFill>
                  <a:schemeClr val="tx1"/>
                </a:solidFill>
              </a:rPr>
              <a:t> </a:t>
            </a:r>
            <a:r>
              <a:rPr lang="bg-BG" sz="800" i="1">
                <a:solidFill>
                  <a:schemeClr val="tx1"/>
                </a:solidFill>
              </a:rPr>
              <a:t/>
            </a:r>
            <a:br>
              <a:rPr lang="bg-BG" sz="800" i="1">
                <a:solidFill>
                  <a:schemeClr val="tx1"/>
                </a:solidFill>
              </a:rPr>
            </a:br>
            <a:r>
              <a:rPr lang="bg-BG" sz="800" i="1">
                <a:solidFill>
                  <a:schemeClr val="tx1"/>
                </a:solidFill>
              </a:rPr>
              <a:t>	 </a:t>
            </a:r>
            <a:r>
              <a:rPr lang="bg-BG" sz="2400">
                <a:solidFill>
                  <a:schemeClr val="tx1"/>
                </a:solidFill>
              </a:rPr>
              <a:t>Нека е даден неориентиран свързан граф </a:t>
            </a:r>
            <a:r>
              <a:rPr lang="en-US" sz="2400" i="1">
                <a:solidFill>
                  <a:schemeClr val="tx1"/>
                </a:solidFill>
              </a:rPr>
              <a:t>G(V,E)</a:t>
            </a:r>
            <a:r>
              <a:rPr lang="en-US" sz="2400">
                <a:solidFill>
                  <a:schemeClr val="tx1"/>
                </a:solidFill>
              </a:rPr>
              <a:t> </a:t>
            </a:r>
            <a:r>
              <a:rPr lang="bg-BG" sz="2400">
                <a:solidFill>
                  <a:schemeClr val="tx1"/>
                </a:solidFill>
              </a:rPr>
              <a:t>с </a:t>
            </a:r>
            <a:r>
              <a:rPr lang="en-US" sz="2400" i="1">
                <a:solidFill>
                  <a:schemeClr val="tx1"/>
                </a:solidFill>
              </a:rPr>
              <a:t>n</a:t>
            </a:r>
            <a:r>
              <a:rPr lang="bg-BG" sz="2400">
                <a:solidFill>
                  <a:schemeClr val="tx1"/>
                </a:solidFill>
              </a:rPr>
              <a:t> върха и </a:t>
            </a:r>
            <a:r>
              <a:rPr lang="en-US" sz="2400" i="1">
                <a:solidFill>
                  <a:schemeClr val="tx1"/>
                </a:solidFill>
              </a:rPr>
              <a:t> m</a:t>
            </a:r>
            <a:r>
              <a:rPr lang="bg-BG" sz="2400">
                <a:solidFill>
                  <a:schemeClr val="tx1"/>
                </a:solidFill>
              </a:rPr>
              <a:t> ребра. </a:t>
            </a:r>
            <a:r>
              <a:rPr lang="bg-BG" sz="2600">
                <a:solidFill>
                  <a:schemeClr val="tx1"/>
                </a:solidFill>
              </a:rPr>
              <a:t>Нека </a:t>
            </a:r>
            <a:r>
              <a:rPr lang="en-US" sz="2600" i="1">
                <a:solidFill>
                  <a:schemeClr val="tx1"/>
                </a:solidFill>
              </a:rPr>
              <a:t>D(V,T) </a:t>
            </a:r>
            <a:r>
              <a:rPr lang="bg-BG" sz="2600">
                <a:solidFill>
                  <a:schemeClr val="tx1"/>
                </a:solidFill>
              </a:rPr>
              <a:t>е произволно покриващо дърво на</a:t>
            </a:r>
            <a:r>
              <a:rPr lang="bg-BG" sz="2600" i="1">
                <a:solidFill>
                  <a:schemeClr val="tx1"/>
                </a:solidFill>
              </a:rPr>
              <a:t> </a:t>
            </a:r>
            <a:r>
              <a:rPr lang="de-DE" sz="2600" i="1">
                <a:solidFill>
                  <a:schemeClr val="tx1"/>
                </a:solidFill>
              </a:rPr>
              <a:t>G</a:t>
            </a:r>
            <a:r>
              <a:rPr lang="en-US" sz="2600" i="1">
                <a:solidFill>
                  <a:schemeClr val="tx1"/>
                </a:solidFill>
              </a:rPr>
              <a:t>:</a:t>
            </a:r>
            <a:r>
              <a:rPr lang="bg-BG" sz="2600" i="1">
                <a:solidFill>
                  <a:schemeClr val="tx1"/>
                </a:solidFill>
              </a:rPr>
              <a:t/>
            </a:r>
            <a:br>
              <a:rPr lang="bg-BG" sz="2600" i="1">
                <a:solidFill>
                  <a:schemeClr val="tx1"/>
                </a:solidFill>
              </a:rPr>
            </a:br>
            <a:r>
              <a:rPr lang="bg-BG" sz="800" i="1">
                <a:solidFill>
                  <a:schemeClr val="tx1"/>
                </a:solidFill>
              </a:rPr>
              <a:t/>
            </a:r>
            <a:br>
              <a:rPr lang="bg-BG" sz="800" i="1">
                <a:solidFill>
                  <a:schemeClr val="tx1"/>
                </a:solidFill>
              </a:rPr>
            </a:br>
            <a:r>
              <a:rPr lang="bg-BG" sz="800" i="1">
                <a:solidFill>
                  <a:schemeClr val="tx1"/>
                </a:solidFill>
              </a:rPr>
              <a:t>	</a:t>
            </a:r>
            <a:r>
              <a:rPr lang="en-US" sz="800" i="1">
                <a:solidFill>
                  <a:schemeClr val="tx1"/>
                </a:solidFill>
              </a:rPr>
              <a:t>		</a:t>
            </a:r>
            <a:r>
              <a:rPr lang="bg-BG" sz="2600" i="1">
                <a:solidFill>
                  <a:schemeClr val="tx1"/>
                </a:solidFill>
              </a:rPr>
              <a:t>G(V</a:t>
            </a:r>
            <a:r>
              <a:rPr lang="en-US" sz="2600" i="1">
                <a:solidFill>
                  <a:schemeClr val="tx1"/>
                </a:solidFill>
              </a:rPr>
              <a:t>,E)                 D(V,T) (</a:t>
            </a:r>
            <a:r>
              <a:rPr lang="bg-BG" sz="2600" i="1">
                <a:solidFill>
                  <a:schemeClr val="tx1"/>
                </a:solidFill>
              </a:rPr>
              <a:t>или </a:t>
            </a:r>
            <a:r>
              <a:rPr lang="en-US" sz="2400" i="1">
                <a:solidFill>
                  <a:schemeClr val="tx1"/>
                </a:solidFill>
              </a:rPr>
              <a:t>G’(V,E’))</a:t>
            </a:r>
            <a:r>
              <a:rPr lang="en-US" sz="2400">
                <a:solidFill>
                  <a:schemeClr val="tx1"/>
                </a:solidFill>
              </a:rPr>
              <a:t> </a:t>
            </a:r>
            <a:r>
              <a:rPr lang="bg-BG" sz="2400" smtClean="0">
                <a:solidFill>
                  <a:schemeClr val="tx1"/>
                </a:solidFill>
              </a:rPr>
              <a:t/>
            </a:r>
            <a:br>
              <a:rPr lang="bg-BG" sz="2400" smtClean="0">
                <a:solidFill>
                  <a:schemeClr val="tx1"/>
                </a:solidFill>
              </a:rPr>
            </a:br>
            <a:r>
              <a:rPr lang="bg-BG" sz="2600" i="1">
                <a:solidFill>
                  <a:schemeClr val="tx1"/>
                </a:solidFill>
              </a:rPr>
              <a:t/>
            </a:r>
            <a:br>
              <a:rPr lang="bg-BG" sz="2600" i="1">
                <a:solidFill>
                  <a:schemeClr val="tx1"/>
                </a:solidFill>
              </a:rPr>
            </a:br>
            <a:r>
              <a:rPr lang="bg-BG" sz="2600" i="1">
                <a:solidFill>
                  <a:schemeClr val="tx1"/>
                </a:solidFill>
              </a:rPr>
              <a:t/>
            </a:r>
            <a:br>
              <a:rPr lang="bg-BG" sz="2600" i="1">
                <a:solidFill>
                  <a:schemeClr val="tx1"/>
                </a:solidFill>
              </a:rPr>
            </a:br>
            <a:r>
              <a:rPr lang="bg-BG" sz="2600" i="1">
                <a:solidFill>
                  <a:schemeClr val="tx1"/>
                </a:solidFill>
              </a:rPr>
              <a:t/>
            </a:r>
            <a:br>
              <a:rPr lang="bg-BG" sz="2600" i="1">
                <a:solidFill>
                  <a:schemeClr val="tx1"/>
                </a:solidFill>
              </a:rPr>
            </a:br>
            <a:r>
              <a:rPr lang="en-US" sz="2600" i="1">
                <a:solidFill>
                  <a:schemeClr val="tx1"/>
                </a:solidFill>
              </a:rPr>
              <a:t/>
            </a:r>
            <a:br>
              <a:rPr lang="en-US" sz="2600" i="1">
                <a:solidFill>
                  <a:schemeClr val="tx1"/>
                </a:solidFill>
              </a:rPr>
            </a:br>
            <a:r>
              <a:rPr lang="en-US" sz="2600" i="1">
                <a:solidFill>
                  <a:schemeClr val="tx1"/>
                </a:solidFill>
              </a:rPr>
              <a:t/>
            </a:r>
            <a:br>
              <a:rPr lang="en-US" sz="2600" i="1">
                <a:solidFill>
                  <a:schemeClr val="tx1"/>
                </a:solidFill>
              </a:rPr>
            </a:br>
            <a:r>
              <a:rPr lang="en-US" sz="2600" i="1">
                <a:solidFill>
                  <a:schemeClr val="tx1"/>
                </a:solidFill>
              </a:rPr>
              <a:t>	</a:t>
            </a:r>
            <a:r>
              <a:rPr lang="bg-BG" sz="2600">
                <a:solidFill>
                  <a:schemeClr val="tx1"/>
                </a:solidFill>
              </a:rPr>
              <a:t>Добавянето към </a:t>
            </a:r>
            <a:r>
              <a:rPr lang="en-US" sz="2600" i="1">
                <a:solidFill>
                  <a:schemeClr val="tx1"/>
                </a:solidFill>
              </a:rPr>
              <a:t>D</a:t>
            </a:r>
            <a:r>
              <a:rPr lang="bg-BG" sz="2600" i="1">
                <a:solidFill>
                  <a:schemeClr val="tx1"/>
                </a:solidFill>
              </a:rPr>
              <a:t> </a:t>
            </a:r>
            <a:r>
              <a:rPr lang="bg-BG" sz="2600">
                <a:solidFill>
                  <a:schemeClr val="tx1"/>
                </a:solidFill>
              </a:rPr>
              <a:t>на ребро, непринадлежащо на</a:t>
            </a:r>
            <a:r>
              <a:rPr lang="bg-BG" sz="2600" i="1">
                <a:solidFill>
                  <a:schemeClr val="tx1"/>
                </a:solidFill>
              </a:rPr>
              <a:t> Т, </a:t>
            </a:r>
            <a:r>
              <a:rPr lang="bg-BG" sz="2600">
                <a:solidFill>
                  <a:schemeClr val="tx1"/>
                </a:solidFill>
              </a:rPr>
              <a:t>ще доведе до затваряне на</a:t>
            </a:r>
            <a:r>
              <a:rPr lang="bg-BG" sz="2600" i="1">
                <a:solidFill>
                  <a:schemeClr val="tx1"/>
                </a:solidFill>
              </a:rPr>
              <a:t> прост цикъл. </a:t>
            </a:r>
            <a:r>
              <a:rPr lang="bg-BG" sz="2600">
                <a:solidFill>
                  <a:schemeClr val="tx1"/>
                </a:solidFill>
              </a:rPr>
              <a:t>Този цикъл</a:t>
            </a:r>
            <a:r>
              <a:rPr lang="bg-BG" sz="2600" i="1">
                <a:solidFill>
                  <a:schemeClr val="tx1"/>
                </a:solidFill>
              </a:rPr>
              <a:t> </a:t>
            </a:r>
            <a:r>
              <a:rPr lang="bg-BG" sz="2600">
                <a:solidFill>
                  <a:schemeClr val="tx1"/>
                </a:solidFill>
              </a:rPr>
              <a:t>принадлежи на</a:t>
            </a:r>
            <a:r>
              <a:rPr lang="bg-BG" sz="2600" i="1">
                <a:solidFill>
                  <a:schemeClr val="tx1"/>
                </a:solidFill>
              </a:rPr>
              <a:t> фундаменталното множество цикли </a:t>
            </a:r>
            <a:r>
              <a:rPr lang="bg-BG" sz="2600">
                <a:solidFill>
                  <a:schemeClr val="tx1"/>
                </a:solidFill>
              </a:rPr>
              <a:t>на графа</a:t>
            </a:r>
            <a:r>
              <a:rPr lang="bg-BG" sz="2600" i="1">
                <a:solidFill>
                  <a:schemeClr val="tx1"/>
                </a:solidFill>
              </a:rPr>
              <a:t> </a:t>
            </a:r>
            <a:r>
              <a:rPr lang="en-US" sz="2600" i="1">
                <a:solidFill>
                  <a:schemeClr val="tx1"/>
                </a:solidFill>
              </a:rPr>
              <a:t>G </a:t>
            </a:r>
            <a:r>
              <a:rPr lang="bg-BG" sz="2600">
                <a:solidFill>
                  <a:schemeClr val="tx1"/>
                </a:solidFill>
              </a:rPr>
              <a:t>относно покриващото му дърво</a:t>
            </a:r>
            <a:r>
              <a:rPr lang="en-US" sz="2600" i="1">
                <a:solidFill>
                  <a:schemeClr val="tx1"/>
                </a:solidFill>
              </a:rPr>
              <a:t> D.</a:t>
            </a:r>
          </a:p>
        </p:txBody>
      </p:sp>
      <p:grpSp>
        <p:nvGrpSpPr>
          <p:cNvPr id="51203" name="Group 25"/>
          <p:cNvGrpSpPr>
            <a:grpSpLocks/>
          </p:cNvGrpSpPr>
          <p:nvPr/>
        </p:nvGrpSpPr>
        <p:grpSpPr bwMode="auto">
          <a:xfrm>
            <a:off x="3619500" y="3287713"/>
            <a:ext cx="3181350" cy="1466850"/>
            <a:chOff x="2880" y="630"/>
            <a:chExt cx="5010" cy="2310"/>
          </a:xfrm>
        </p:grpSpPr>
        <p:grpSp>
          <p:nvGrpSpPr>
            <p:cNvPr id="51205" name="Group 26"/>
            <p:cNvGrpSpPr>
              <a:grpSpLocks/>
            </p:cNvGrpSpPr>
            <p:nvPr/>
          </p:nvGrpSpPr>
          <p:grpSpPr bwMode="auto">
            <a:xfrm>
              <a:off x="2880" y="645"/>
              <a:ext cx="1800" cy="2295"/>
              <a:chOff x="2880" y="645"/>
              <a:chExt cx="1800" cy="2295"/>
            </a:xfrm>
          </p:grpSpPr>
          <p:sp>
            <p:nvSpPr>
              <p:cNvPr id="51217" name="Oval 27"/>
              <p:cNvSpPr>
                <a:spLocks noChangeArrowheads="1"/>
              </p:cNvSpPr>
              <p:nvPr/>
            </p:nvSpPr>
            <p:spPr bwMode="auto">
              <a:xfrm>
                <a:off x="3510" y="645"/>
                <a:ext cx="540" cy="52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1218" name="Oval 28"/>
              <p:cNvSpPr>
                <a:spLocks noChangeArrowheads="1"/>
              </p:cNvSpPr>
              <p:nvPr/>
            </p:nvSpPr>
            <p:spPr bwMode="auto">
              <a:xfrm>
                <a:off x="2880" y="1455"/>
                <a:ext cx="540" cy="52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1219" name="Oval 29"/>
              <p:cNvSpPr>
                <a:spLocks noChangeArrowheads="1"/>
              </p:cNvSpPr>
              <p:nvPr/>
            </p:nvSpPr>
            <p:spPr bwMode="auto">
              <a:xfrm>
                <a:off x="4110" y="1455"/>
                <a:ext cx="540" cy="52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1220" name="Oval 30"/>
              <p:cNvSpPr>
                <a:spLocks noChangeArrowheads="1"/>
              </p:cNvSpPr>
              <p:nvPr/>
            </p:nvSpPr>
            <p:spPr bwMode="auto">
              <a:xfrm>
                <a:off x="4140" y="2415"/>
                <a:ext cx="540" cy="52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1221" name="Oval 31"/>
              <p:cNvSpPr>
                <a:spLocks noChangeArrowheads="1"/>
              </p:cNvSpPr>
              <p:nvPr/>
            </p:nvSpPr>
            <p:spPr bwMode="auto">
              <a:xfrm>
                <a:off x="2880" y="2415"/>
                <a:ext cx="540" cy="52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1222" name="Line 32"/>
              <p:cNvSpPr>
                <a:spLocks noChangeShapeType="1"/>
              </p:cNvSpPr>
              <p:nvPr/>
            </p:nvSpPr>
            <p:spPr bwMode="auto">
              <a:xfrm flipH="1">
                <a:off x="3270" y="1110"/>
                <a:ext cx="345" cy="3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1223" name="Line 33"/>
              <p:cNvSpPr>
                <a:spLocks noChangeShapeType="1"/>
              </p:cNvSpPr>
              <p:nvPr/>
            </p:nvSpPr>
            <p:spPr bwMode="auto">
              <a:xfrm>
                <a:off x="3960" y="1140"/>
                <a:ext cx="300" cy="3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1224" name="Line 34"/>
              <p:cNvSpPr>
                <a:spLocks noChangeShapeType="1"/>
              </p:cNvSpPr>
              <p:nvPr/>
            </p:nvSpPr>
            <p:spPr bwMode="auto">
              <a:xfrm>
                <a:off x="4395" y="1995"/>
                <a:ext cx="0" cy="43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1225" name="Line 35"/>
              <p:cNvSpPr>
                <a:spLocks noChangeShapeType="1"/>
              </p:cNvSpPr>
              <p:nvPr/>
            </p:nvSpPr>
            <p:spPr bwMode="auto">
              <a:xfrm>
                <a:off x="3150" y="1995"/>
                <a:ext cx="0" cy="4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1226" name="Line 36"/>
              <p:cNvSpPr>
                <a:spLocks noChangeShapeType="1"/>
              </p:cNvSpPr>
              <p:nvPr/>
            </p:nvSpPr>
            <p:spPr bwMode="auto">
              <a:xfrm flipV="1">
                <a:off x="3435" y="2700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51206" name="Group 37"/>
            <p:cNvGrpSpPr>
              <a:grpSpLocks/>
            </p:cNvGrpSpPr>
            <p:nvPr/>
          </p:nvGrpSpPr>
          <p:grpSpPr bwMode="auto">
            <a:xfrm>
              <a:off x="6090" y="630"/>
              <a:ext cx="1800" cy="2295"/>
              <a:chOff x="5040" y="630"/>
              <a:chExt cx="1800" cy="2295"/>
            </a:xfrm>
          </p:grpSpPr>
          <p:sp>
            <p:nvSpPr>
              <p:cNvPr id="51207" name="Oval 38"/>
              <p:cNvSpPr>
                <a:spLocks noChangeArrowheads="1"/>
              </p:cNvSpPr>
              <p:nvPr/>
            </p:nvSpPr>
            <p:spPr bwMode="auto">
              <a:xfrm>
                <a:off x="5670" y="630"/>
                <a:ext cx="540" cy="52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1208" name="Oval 39"/>
              <p:cNvSpPr>
                <a:spLocks noChangeArrowheads="1"/>
              </p:cNvSpPr>
              <p:nvPr/>
            </p:nvSpPr>
            <p:spPr bwMode="auto">
              <a:xfrm>
                <a:off x="5040" y="1440"/>
                <a:ext cx="540" cy="52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1209" name="Oval 40"/>
              <p:cNvSpPr>
                <a:spLocks noChangeArrowheads="1"/>
              </p:cNvSpPr>
              <p:nvPr/>
            </p:nvSpPr>
            <p:spPr bwMode="auto">
              <a:xfrm>
                <a:off x="6270" y="1440"/>
                <a:ext cx="540" cy="52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1210" name="Oval 41"/>
              <p:cNvSpPr>
                <a:spLocks noChangeArrowheads="1"/>
              </p:cNvSpPr>
              <p:nvPr/>
            </p:nvSpPr>
            <p:spPr bwMode="auto">
              <a:xfrm>
                <a:off x="6300" y="2400"/>
                <a:ext cx="540" cy="52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1211" name="Oval 42"/>
              <p:cNvSpPr>
                <a:spLocks noChangeArrowheads="1"/>
              </p:cNvSpPr>
              <p:nvPr/>
            </p:nvSpPr>
            <p:spPr bwMode="auto">
              <a:xfrm>
                <a:off x="5040" y="2400"/>
                <a:ext cx="540" cy="52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1212" name="Line 43"/>
              <p:cNvSpPr>
                <a:spLocks noChangeShapeType="1"/>
              </p:cNvSpPr>
              <p:nvPr/>
            </p:nvSpPr>
            <p:spPr bwMode="auto">
              <a:xfrm flipH="1">
                <a:off x="5430" y="1095"/>
                <a:ext cx="345" cy="3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1213" name="Line 44"/>
              <p:cNvSpPr>
                <a:spLocks noChangeShapeType="1"/>
              </p:cNvSpPr>
              <p:nvPr/>
            </p:nvSpPr>
            <p:spPr bwMode="auto">
              <a:xfrm>
                <a:off x="6120" y="1125"/>
                <a:ext cx="300" cy="3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1214" name="Line 45"/>
              <p:cNvSpPr>
                <a:spLocks noChangeShapeType="1"/>
              </p:cNvSpPr>
              <p:nvPr/>
            </p:nvSpPr>
            <p:spPr bwMode="auto">
              <a:xfrm>
                <a:off x="6555" y="1980"/>
                <a:ext cx="0" cy="43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1215" name="Line 46"/>
              <p:cNvSpPr>
                <a:spLocks noChangeShapeType="1"/>
              </p:cNvSpPr>
              <p:nvPr/>
            </p:nvSpPr>
            <p:spPr bwMode="auto">
              <a:xfrm>
                <a:off x="5310" y="1980"/>
                <a:ext cx="0" cy="4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1216" name="Line 47"/>
              <p:cNvSpPr>
                <a:spLocks noChangeShapeType="1"/>
              </p:cNvSpPr>
              <p:nvPr/>
            </p:nvSpPr>
            <p:spPr bwMode="auto">
              <a:xfrm flipV="1">
                <a:off x="5595" y="2685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</p:grp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04044E-8054-48AD-B606-8BBD4FD8E4EB}" type="slidenum">
              <a:rPr lang="en-US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188913"/>
            <a:ext cx="8101012" cy="63246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400">
                <a:solidFill>
                  <a:schemeClr val="tx1"/>
                </a:solidFill>
              </a:rPr>
              <a:t>Всяко покриващо дърво </a:t>
            </a:r>
            <a:r>
              <a:rPr lang="en-US" sz="2400" i="1">
                <a:solidFill>
                  <a:schemeClr val="tx1"/>
                </a:solidFill>
              </a:rPr>
              <a:t>D </a:t>
            </a:r>
            <a:r>
              <a:rPr lang="bg-BG" sz="2400">
                <a:solidFill>
                  <a:schemeClr val="tx1"/>
                </a:solidFill>
              </a:rPr>
              <a:t> има точно </a:t>
            </a:r>
            <a:r>
              <a:rPr lang="en-US" sz="2400" i="1">
                <a:solidFill>
                  <a:schemeClr val="tx1"/>
                </a:solidFill>
              </a:rPr>
              <a:t>q=n-1</a:t>
            </a:r>
            <a:r>
              <a:rPr lang="en-US" sz="2400">
                <a:solidFill>
                  <a:schemeClr val="tx1"/>
                </a:solidFill>
              </a:rPr>
              <a:t> </a:t>
            </a:r>
            <a:r>
              <a:rPr lang="bg-BG" sz="2400">
                <a:solidFill>
                  <a:schemeClr val="tx1"/>
                </a:solidFill>
              </a:rPr>
              <a:t>ребра. Ребрата на </a:t>
            </a:r>
            <a:r>
              <a:rPr lang="en-US" sz="2400" i="1">
                <a:solidFill>
                  <a:schemeClr val="tx1"/>
                </a:solidFill>
              </a:rPr>
              <a:t>G</a:t>
            </a:r>
            <a:r>
              <a:rPr lang="en-US" sz="2400">
                <a:solidFill>
                  <a:schemeClr val="tx1"/>
                </a:solidFill>
              </a:rPr>
              <a:t>,</a:t>
            </a:r>
            <a:r>
              <a:rPr lang="bg-BG" sz="2400">
                <a:solidFill>
                  <a:schemeClr val="tx1"/>
                </a:solidFill>
              </a:rPr>
              <a:t> непринадлежащи на</a:t>
            </a:r>
            <a:r>
              <a:rPr lang="en-US" sz="2400" i="1">
                <a:solidFill>
                  <a:schemeClr val="tx1"/>
                </a:solidFill>
              </a:rPr>
              <a:t> D</a:t>
            </a:r>
            <a:r>
              <a:rPr lang="en-US" sz="2400">
                <a:solidFill>
                  <a:schemeClr val="tx1"/>
                </a:solidFill>
              </a:rPr>
              <a:t>,</a:t>
            </a:r>
            <a:r>
              <a:rPr lang="bg-BG" sz="2400">
                <a:solidFill>
                  <a:schemeClr val="tx1"/>
                </a:solidFill>
              </a:rPr>
              <a:t> са общо</a:t>
            </a:r>
            <a:r>
              <a:rPr lang="en-US" sz="2400">
                <a:solidFill>
                  <a:schemeClr val="tx1"/>
                </a:solidFill>
              </a:rPr>
              <a:t> </a:t>
            </a:r>
            <a:r>
              <a:rPr lang="en-US" sz="2400" i="1">
                <a:solidFill>
                  <a:schemeClr val="tx1"/>
                </a:solidFill>
              </a:rPr>
              <a:t>m-n+1</a:t>
            </a:r>
            <a:r>
              <a:rPr lang="en-US" sz="2400">
                <a:solidFill>
                  <a:schemeClr val="tx1"/>
                </a:solidFill>
              </a:rPr>
              <a:t>.</a:t>
            </a:r>
            <a:r>
              <a:rPr lang="bg-BG" sz="2400">
                <a:solidFill>
                  <a:schemeClr val="tx1"/>
                </a:solidFill>
              </a:rPr>
              <a:t> Т. к. добавянето на всяко едно към </a:t>
            </a:r>
            <a:r>
              <a:rPr lang="bg-BG" sz="2400" i="1">
                <a:solidFill>
                  <a:schemeClr val="tx1"/>
                </a:solidFill>
              </a:rPr>
              <a:t>Т </a:t>
            </a:r>
            <a:r>
              <a:rPr lang="bg-BG" sz="2400">
                <a:solidFill>
                  <a:schemeClr val="tx1"/>
                </a:solidFill>
              </a:rPr>
              <a:t>води до получаването на точно един цикъл, то броят на циклите от фундаменталното множество е </a:t>
            </a:r>
            <a:r>
              <a:rPr lang="en-US" sz="2400" i="1">
                <a:solidFill>
                  <a:schemeClr val="tx1"/>
                </a:solidFill>
              </a:rPr>
              <a:t>m-n+1</a:t>
            </a:r>
            <a:r>
              <a:rPr lang="en-US" sz="2400">
                <a:solidFill>
                  <a:schemeClr val="tx1"/>
                </a:solidFill>
              </a:rPr>
              <a:t>.</a:t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/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/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/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/>
            </a:r>
            <a:br>
              <a:rPr lang="en-US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Определяйки фундаменталното множество цикли, ние определяме еднозначно цикличната структура на графа, т.к. всеки друг цикъл в</a:t>
            </a:r>
            <a:r>
              <a:rPr lang="bg-BG" sz="2400" i="1">
                <a:solidFill>
                  <a:schemeClr val="tx1"/>
                </a:solidFill>
              </a:rPr>
              <a:t> </a:t>
            </a:r>
            <a:r>
              <a:rPr lang="en-US" sz="2400" i="1">
                <a:solidFill>
                  <a:schemeClr val="tx1"/>
                </a:solidFill>
              </a:rPr>
              <a:t>G</a:t>
            </a:r>
            <a:r>
              <a:rPr lang="bg-BG" sz="2400">
                <a:solidFill>
                  <a:schemeClr val="tx1"/>
                </a:solidFill>
              </a:rPr>
              <a:t> може да се представи чрез “слепване” на цикли от фундаменталното множество. В случая простите цикли са: А=(</a:t>
            </a:r>
            <a:r>
              <a:rPr lang="bg-BG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1,2,3</a:t>
            </a:r>
            <a:r>
              <a:rPr lang="bg-BG" sz="2400">
                <a:solidFill>
                  <a:schemeClr val="tx1"/>
                </a:solidFill>
              </a:rPr>
              <a:t>); В=(</a:t>
            </a:r>
            <a:r>
              <a:rPr lang="bg-BG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4,5,6</a:t>
            </a:r>
            <a:r>
              <a:rPr lang="bg-BG" sz="2400">
                <a:solidFill>
                  <a:schemeClr val="tx1"/>
                </a:solidFill>
              </a:rPr>
              <a:t>) и С=(</a:t>
            </a:r>
            <a:r>
              <a:rPr lang="bg-BG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2,3,4,6</a:t>
            </a:r>
            <a:r>
              <a:rPr lang="bg-BG" sz="2400">
                <a:solidFill>
                  <a:schemeClr val="tx1"/>
                </a:solidFill>
              </a:rPr>
              <a:t>). Всеки друг прост цикъл може да се построи чрез съединяване на два от (А,В,С), които имат поне едно общо ребро (общото ребро/ребра се премахват, както и получените след тази процедура изолирани възли). Например, съединявайки А и С получаваме (</a:t>
            </a:r>
            <a:r>
              <a:rPr lang="bg-BG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1,2,4,6,3</a:t>
            </a:r>
            <a:r>
              <a:rPr lang="bg-BG" sz="2400">
                <a:solidFill>
                  <a:schemeClr val="tx1"/>
                </a:solidFill>
              </a:rPr>
              <a:t>).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2227" name="Group 39"/>
          <p:cNvGrpSpPr>
            <a:grpSpLocks/>
          </p:cNvGrpSpPr>
          <p:nvPr/>
        </p:nvGrpSpPr>
        <p:grpSpPr bwMode="auto">
          <a:xfrm>
            <a:off x="2438400" y="1905000"/>
            <a:ext cx="3403600" cy="1219200"/>
            <a:chOff x="1536" y="1200"/>
            <a:chExt cx="2144" cy="768"/>
          </a:xfrm>
        </p:grpSpPr>
        <p:grpSp>
          <p:nvGrpSpPr>
            <p:cNvPr id="52229" name="Group 18"/>
            <p:cNvGrpSpPr>
              <a:grpSpLocks/>
            </p:cNvGrpSpPr>
            <p:nvPr/>
          </p:nvGrpSpPr>
          <p:grpSpPr bwMode="auto">
            <a:xfrm>
              <a:off x="1536" y="1200"/>
              <a:ext cx="2100" cy="768"/>
              <a:chOff x="3600" y="8223"/>
              <a:chExt cx="3930" cy="1290"/>
            </a:xfrm>
          </p:grpSpPr>
          <p:sp>
            <p:nvSpPr>
              <p:cNvPr id="52236" name="Oval 19"/>
              <p:cNvSpPr>
                <a:spLocks noChangeArrowheads="1"/>
              </p:cNvSpPr>
              <p:nvPr/>
            </p:nvSpPr>
            <p:spPr bwMode="auto">
              <a:xfrm>
                <a:off x="3600" y="8238"/>
                <a:ext cx="555" cy="51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2237" name="Oval 20"/>
              <p:cNvSpPr>
                <a:spLocks noChangeArrowheads="1"/>
              </p:cNvSpPr>
              <p:nvPr/>
            </p:nvSpPr>
            <p:spPr bwMode="auto">
              <a:xfrm>
                <a:off x="4665" y="8223"/>
                <a:ext cx="555" cy="51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2238" name="Oval 21"/>
              <p:cNvSpPr>
                <a:spLocks noChangeArrowheads="1"/>
              </p:cNvSpPr>
              <p:nvPr/>
            </p:nvSpPr>
            <p:spPr bwMode="auto">
              <a:xfrm>
                <a:off x="6435" y="8988"/>
                <a:ext cx="555" cy="51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2239" name="Oval 22"/>
              <p:cNvSpPr>
                <a:spLocks noChangeArrowheads="1"/>
              </p:cNvSpPr>
              <p:nvPr/>
            </p:nvSpPr>
            <p:spPr bwMode="auto">
              <a:xfrm>
                <a:off x="6975" y="8238"/>
                <a:ext cx="555" cy="51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2240" name="Oval 23"/>
              <p:cNvSpPr>
                <a:spLocks noChangeArrowheads="1"/>
              </p:cNvSpPr>
              <p:nvPr/>
            </p:nvSpPr>
            <p:spPr bwMode="auto">
              <a:xfrm>
                <a:off x="4125" y="9003"/>
                <a:ext cx="555" cy="51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2241" name="Oval 24"/>
              <p:cNvSpPr>
                <a:spLocks noChangeArrowheads="1"/>
              </p:cNvSpPr>
              <p:nvPr/>
            </p:nvSpPr>
            <p:spPr bwMode="auto">
              <a:xfrm>
                <a:off x="5865" y="8238"/>
                <a:ext cx="555" cy="51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2242" name="Line 25"/>
              <p:cNvSpPr>
                <a:spLocks noChangeShapeType="1"/>
              </p:cNvSpPr>
              <p:nvPr/>
            </p:nvSpPr>
            <p:spPr bwMode="auto">
              <a:xfrm>
                <a:off x="4155" y="8493"/>
                <a:ext cx="495" cy="0"/>
              </a:xfrm>
              <a:prstGeom prst="line">
                <a:avLst/>
              </a:prstGeom>
              <a:noFill/>
              <a:ln w="38100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2243" name="Line 26"/>
              <p:cNvSpPr>
                <a:spLocks noChangeShapeType="1"/>
              </p:cNvSpPr>
              <p:nvPr/>
            </p:nvSpPr>
            <p:spPr bwMode="auto">
              <a:xfrm>
                <a:off x="5220" y="8493"/>
                <a:ext cx="675" cy="0"/>
              </a:xfrm>
              <a:prstGeom prst="line">
                <a:avLst/>
              </a:prstGeom>
              <a:noFill/>
              <a:ln w="38100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2244" name="Line 27"/>
              <p:cNvSpPr>
                <a:spLocks noChangeShapeType="1"/>
              </p:cNvSpPr>
              <p:nvPr/>
            </p:nvSpPr>
            <p:spPr bwMode="auto">
              <a:xfrm>
                <a:off x="6435" y="8508"/>
                <a:ext cx="540" cy="0"/>
              </a:xfrm>
              <a:prstGeom prst="line">
                <a:avLst/>
              </a:prstGeom>
              <a:noFill/>
              <a:ln w="38100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2245" name="Line 28"/>
              <p:cNvSpPr>
                <a:spLocks noChangeShapeType="1"/>
              </p:cNvSpPr>
              <p:nvPr/>
            </p:nvSpPr>
            <p:spPr bwMode="auto">
              <a:xfrm>
                <a:off x="4020" y="8703"/>
                <a:ext cx="225" cy="34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2246" name="Line 29"/>
              <p:cNvSpPr>
                <a:spLocks noChangeShapeType="1"/>
              </p:cNvSpPr>
              <p:nvPr/>
            </p:nvSpPr>
            <p:spPr bwMode="auto">
              <a:xfrm flipV="1">
                <a:off x="4605" y="8718"/>
                <a:ext cx="240" cy="345"/>
              </a:xfrm>
              <a:prstGeom prst="line">
                <a:avLst/>
              </a:prstGeom>
              <a:noFill/>
              <a:ln w="38100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2247" name="Line 30"/>
              <p:cNvSpPr>
                <a:spLocks noChangeShapeType="1"/>
              </p:cNvSpPr>
              <p:nvPr/>
            </p:nvSpPr>
            <p:spPr bwMode="auto">
              <a:xfrm>
                <a:off x="4665" y="9303"/>
                <a:ext cx="175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2248" name="Line 31"/>
              <p:cNvSpPr>
                <a:spLocks noChangeShapeType="1"/>
              </p:cNvSpPr>
              <p:nvPr/>
            </p:nvSpPr>
            <p:spPr bwMode="auto">
              <a:xfrm flipV="1">
                <a:off x="6930" y="8733"/>
                <a:ext cx="330" cy="3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2249" name="Line 32"/>
              <p:cNvSpPr>
                <a:spLocks noChangeShapeType="1"/>
              </p:cNvSpPr>
              <p:nvPr/>
            </p:nvSpPr>
            <p:spPr bwMode="auto">
              <a:xfrm>
                <a:off x="6225" y="8733"/>
                <a:ext cx="315" cy="315"/>
              </a:xfrm>
              <a:prstGeom prst="line">
                <a:avLst/>
              </a:prstGeom>
              <a:noFill/>
              <a:ln w="38100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52230" name="Text Box 33"/>
            <p:cNvSpPr txBox="1">
              <a:spLocks noChangeArrowheads="1"/>
            </p:cNvSpPr>
            <p:nvPr/>
          </p:nvSpPr>
          <p:spPr bwMode="auto">
            <a:xfrm>
              <a:off x="1600" y="1232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1</a:t>
              </a:r>
              <a:endParaRPr lang="en-US"/>
            </a:p>
          </p:txBody>
        </p:sp>
        <p:sp>
          <p:nvSpPr>
            <p:cNvPr id="52231" name="Text Box 34"/>
            <p:cNvSpPr txBox="1">
              <a:spLocks noChangeArrowheads="1"/>
            </p:cNvSpPr>
            <p:nvPr/>
          </p:nvSpPr>
          <p:spPr bwMode="auto">
            <a:xfrm>
              <a:off x="2160" y="1216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2</a:t>
              </a:r>
              <a:endParaRPr lang="en-US"/>
            </a:p>
          </p:txBody>
        </p:sp>
        <p:sp>
          <p:nvSpPr>
            <p:cNvPr id="52232" name="Text Box 35"/>
            <p:cNvSpPr txBox="1">
              <a:spLocks noChangeArrowheads="1"/>
            </p:cNvSpPr>
            <p:nvPr/>
          </p:nvSpPr>
          <p:spPr bwMode="auto">
            <a:xfrm>
              <a:off x="1872" y="1680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3</a:t>
              </a:r>
              <a:endParaRPr lang="en-US"/>
            </a:p>
          </p:txBody>
        </p:sp>
        <p:sp>
          <p:nvSpPr>
            <p:cNvPr id="52233" name="Text Box 36"/>
            <p:cNvSpPr txBox="1">
              <a:spLocks noChangeArrowheads="1"/>
            </p:cNvSpPr>
            <p:nvPr/>
          </p:nvSpPr>
          <p:spPr bwMode="auto">
            <a:xfrm>
              <a:off x="2800" y="1232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4</a:t>
              </a:r>
              <a:endParaRPr lang="en-US"/>
            </a:p>
          </p:txBody>
        </p:sp>
        <p:sp>
          <p:nvSpPr>
            <p:cNvPr id="52234" name="Text Box 37"/>
            <p:cNvSpPr txBox="1">
              <a:spLocks noChangeArrowheads="1"/>
            </p:cNvSpPr>
            <p:nvPr/>
          </p:nvSpPr>
          <p:spPr bwMode="auto">
            <a:xfrm>
              <a:off x="3392" y="1232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5</a:t>
              </a:r>
              <a:endParaRPr lang="en-US"/>
            </a:p>
          </p:txBody>
        </p:sp>
        <p:sp>
          <p:nvSpPr>
            <p:cNvPr id="52235" name="Text Box 38"/>
            <p:cNvSpPr txBox="1">
              <a:spLocks noChangeArrowheads="1"/>
            </p:cNvSpPr>
            <p:nvPr/>
          </p:nvSpPr>
          <p:spPr bwMode="auto">
            <a:xfrm>
              <a:off x="3104" y="1664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6</a:t>
              </a:r>
              <a:endParaRPr lang="en-US"/>
            </a:p>
          </p:txBody>
        </p:sp>
      </p:grp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09FF1-E94A-4FC2-A51D-99D1A4615C28}" type="slidenum">
              <a:rPr lang="en-US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476250"/>
            <a:ext cx="8007350" cy="5715000"/>
          </a:xfrm>
        </p:spPr>
        <p:txBody>
          <a:bodyPr>
            <a:normAutofit fontScale="90000"/>
          </a:bodyPr>
          <a:lstStyle/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2400">
                <a:solidFill>
                  <a:schemeClr val="tx1"/>
                </a:solidFill>
              </a:rPr>
              <a:t>	</a:t>
            </a:r>
            <a:r>
              <a:rPr lang="bg-BG" sz="2400">
                <a:solidFill>
                  <a:schemeClr val="tx1"/>
                </a:solidFill>
              </a:rPr>
              <a:t>Намирането на фундаментално множество цикли пак може да бъде извършено чрез използване на модификация на функцията за обхождане на граф в дълбочина </a:t>
            </a:r>
            <a:r>
              <a:rPr lang="en-US" sz="2400">
                <a:solidFill>
                  <a:schemeClr val="tx1"/>
                </a:solidFill>
              </a:rPr>
              <a:t>(</a:t>
            </a:r>
            <a:r>
              <a:rPr lang="en-US" sz="2400" i="1">
                <a:solidFill>
                  <a:schemeClr val="tx1"/>
                </a:solidFill>
              </a:rPr>
              <a:t>DFS</a:t>
            </a:r>
            <a:r>
              <a:rPr lang="en-US" sz="2400">
                <a:solidFill>
                  <a:schemeClr val="tx1"/>
                </a:solidFill>
              </a:rPr>
              <a:t>). Н</a:t>
            </a:r>
            <a:r>
              <a:rPr lang="bg-BG" sz="2400">
                <a:solidFill>
                  <a:schemeClr val="tx1"/>
                </a:solidFill>
              </a:rPr>
              <a:t>а първата стъпка ще намерим едно произволно покриващо дърво на графа, а по-нататък всяко ребро, което не участва в построеното покриващо дърво, ще затваря цикъл, и този цикъл ще намерим с още едно обхождане на графа, реализирано също така с </a:t>
            </a:r>
            <a:r>
              <a:rPr lang="en-US" sz="2400" i="1">
                <a:solidFill>
                  <a:schemeClr val="tx1"/>
                </a:solidFill>
              </a:rPr>
              <a:t>DFS.</a:t>
            </a:r>
            <a:r>
              <a:rPr lang="bg-BG" sz="2400" i="1">
                <a:solidFill>
                  <a:schemeClr val="tx1"/>
                </a:solidFill>
              </a:rPr>
              <a:t> </a:t>
            </a:r>
            <a:r>
              <a:rPr lang="bg-BG" sz="2400">
                <a:solidFill>
                  <a:schemeClr val="tx1"/>
                </a:solidFill>
              </a:rPr>
              <a:t>Общата сложност на алгоритъма е </a:t>
            </a:r>
            <a:r>
              <a:rPr lang="en-US" sz="2400">
                <a:solidFill>
                  <a:schemeClr val="tx1"/>
                </a:solidFill>
              </a:rPr>
              <a:t>O(m*(m+n)).</a:t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/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>	</a:t>
            </a:r>
            <a:r>
              <a:rPr lang="bg-BG" sz="2400">
                <a:solidFill>
                  <a:schemeClr val="tx1"/>
                </a:solidFill>
              </a:rPr>
              <a:t>Реализацията на алгоритъма е представена в </a:t>
            </a:r>
            <a:r>
              <a:rPr lang="bg-BG" sz="2400" smtClean="0">
                <a:solidFill>
                  <a:schemeClr val="tx1"/>
                </a:solidFill>
              </a:rPr>
              <a:t>книгата на </a:t>
            </a:r>
            <a:r>
              <a:rPr lang="bg-BG" sz="2200" smtClean="0">
                <a:solidFill>
                  <a:schemeClr val="tx1"/>
                </a:solidFill>
              </a:rPr>
              <a:t>Преслав </a:t>
            </a:r>
            <a:r>
              <a:rPr lang="bg-BG" sz="2200">
                <a:solidFill>
                  <a:schemeClr val="tx1"/>
                </a:solidFill>
              </a:rPr>
              <a:t>Наков, Панайот Добриков. </a:t>
            </a:r>
            <a:r>
              <a:rPr lang="bg-BG" sz="2200" i="1">
                <a:solidFill>
                  <a:schemeClr val="tx1"/>
                </a:solidFill>
              </a:rPr>
              <a:t>Програмиране = ++Алгоритми</a:t>
            </a:r>
            <a:r>
              <a:rPr lang="bg-BG" sz="2200">
                <a:solidFill>
                  <a:schemeClr val="tx1"/>
                </a:solidFill>
              </a:rPr>
              <a:t>, </a:t>
            </a:r>
            <a:r>
              <a:rPr lang="en-US" sz="2200">
                <a:solidFill>
                  <a:schemeClr val="tx1"/>
                </a:solidFill>
              </a:rPr>
              <a:t>TopTeam Co., </a:t>
            </a:r>
            <a:r>
              <a:rPr lang="bg-BG" sz="2200">
                <a:solidFill>
                  <a:schemeClr val="tx1"/>
                </a:solidFill>
              </a:rPr>
              <a:t>София,</a:t>
            </a:r>
            <a:r>
              <a:rPr lang="en-US" sz="2200">
                <a:solidFill>
                  <a:schemeClr val="tx1"/>
                </a:solidFill>
              </a:rPr>
              <a:t> 2002.</a:t>
            </a:r>
            <a:r>
              <a:rPr lang="bg-BG" sz="800">
                <a:solidFill>
                  <a:schemeClr val="accent2"/>
                </a:solidFill>
              </a:rPr>
              <a:t/>
            </a:r>
            <a:br>
              <a:rPr lang="bg-BG" sz="800">
                <a:solidFill>
                  <a:schemeClr val="accent2"/>
                </a:solidFill>
              </a:rPr>
            </a:br>
            <a:r>
              <a:rPr lang="en-US" sz="2400">
                <a:solidFill>
                  <a:schemeClr val="tx2">
                    <a:satMod val="130000"/>
                  </a:schemeClr>
                </a:solidFill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87A368-550E-4105-82D8-B7983E4FD63E}" type="slidenum">
              <a:rPr lang="en-US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06475" y="115888"/>
            <a:ext cx="8151813" cy="6477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800" i="1">
                <a:solidFill>
                  <a:schemeClr val="tx1"/>
                </a:solidFill>
              </a:rPr>
              <a:t>		        </a:t>
            </a:r>
            <a:r>
              <a:rPr lang="bg-BG" sz="2600" i="1">
                <a:solidFill>
                  <a:schemeClr val="tx1"/>
                </a:solidFill>
              </a:rPr>
              <a:t>Хамилтонови цикли</a:t>
            </a:r>
            <a:r>
              <a:rPr lang="bg-BG" sz="2800" i="1">
                <a:solidFill>
                  <a:schemeClr val="tx1"/>
                </a:solidFill>
              </a:rPr>
              <a:t/>
            </a:r>
            <a:br>
              <a:rPr lang="bg-BG" sz="2800" i="1">
                <a:solidFill>
                  <a:schemeClr val="tx1"/>
                </a:solidFill>
              </a:rPr>
            </a:br>
            <a:r>
              <a:rPr lang="bg-BG" sz="2800">
                <a:solidFill>
                  <a:schemeClr val="tx1"/>
                </a:solidFill>
              </a:rPr>
              <a:t>	</a:t>
            </a:r>
            <a:r>
              <a:rPr lang="bg-BG" sz="2400" i="1">
                <a:solidFill>
                  <a:schemeClr val="tx1"/>
                </a:solidFill>
              </a:rPr>
              <a:t>Хамилтонов цикъл</a:t>
            </a:r>
            <a:r>
              <a:rPr lang="bg-BG" sz="2400">
                <a:solidFill>
                  <a:schemeClr val="tx1"/>
                </a:solidFill>
              </a:rPr>
              <a:t> в граф се нарича цикъл, съдържащ всеки връх от графа точно веднъж. Граф, съдържащ такъв цикъл, се нарича </a:t>
            </a:r>
            <a:r>
              <a:rPr lang="bg-BG" sz="2400" i="1">
                <a:solidFill>
                  <a:schemeClr val="tx1"/>
                </a:solidFill>
              </a:rPr>
              <a:t>Хамилтонов</a:t>
            </a:r>
            <a:r>
              <a:rPr lang="bg-BG" sz="2400">
                <a:solidFill>
                  <a:schemeClr val="tx1"/>
                </a:solidFill>
              </a:rPr>
              <a:t>.</a:t>
            </a:r>
            <a:r>
              <a:rPr lang="bg-BG" sz="2200">
                <a:solidFill>
                  <a:schemeClr val="tx1"/>
                </a:solidFill>
              </a:rPr>
              <a:t> </a:t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	</a:t>
            </a:r>
            <a:r>
              <a:rPr lang="bg-BG" sz="2400">
                <a:solidFill>
                  <a:schemeClr val="tx1"/>
                </a:solidFill>
              </a:rPr>
              <a:t>Известни са две класически задачи: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-  проверка, дали  даден граф е Хамилтонов;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-  задача за търговския пътник (търсене на Хамилтонов цикъл 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   с минимална дължина в тегловен граф).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800">
                <a:solidFill>
                  <a:schemeClr val="tx1"/>
                </a:solidFill>
              </a:rPr>
              <a:t/>
            </a:r>
            <a:br>
              <a:rPr lang="bg-BG" sz="8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И двете задачи се определят като </a:t>
            </a:r>
            <a:r>
              <a:rPr lang="en-US" sz="2400">
                <a:solidFill>
                  <a:schemeClr val="tx1"/>
                </a:solidFill>
              </a:rPr>
              <a:t>NP-</a:t>
            </a:r>
            <a:r>
              <a:rPr lang="bg-BG" sz="2400">
                <a:solidFill>
                  <a:schemeClr val="tx1"/>
                </a:solidFill>
              </a:rPr>
              <a:t>пълни, което означава, че сложността им в най-лошия случай е експоненциална.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800">
                <a:solidFill>
                  <a:schemeClr val="tx1"/>
                </a:solidFill>
              </a:rPr>
              <a:t/>
            </a:r>
            <a:br>
              <a:rPr lang="bg-BG" sz="8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Първата задача може да бъде решена чрез проверка на циклите в графа (пълно изчерпване на вариантите).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800">
                <a:solidFill>
                  <a:schemeClr val="tx1"/>
                </a:solidFill>
              </a:rPr>
              <a:t/>
            </a:r>
            <a:br>
              <a:rPr lang="bg-BG" sz="8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Втората вече е разглеждана. Тя  също може да се реализира чрез пълно изчерпване (реализацията е представена в  </a:t>
            </a:r>
            <a:r>
              <a:rPr lang="bg-BG" sz="2400" smtClean="0">
                <a:solidFill>
                  <a:schemeClr val="tx1"/>
                </a:solidFill>
              </a:rPr>
              <a:t>книгата на </a:t>
            </a:r>
            <a:r>
              <a:rPr lang="bg-BG" sz="2200" smtClean="0">
                <a:solidFill>
                  <a:schemeClr val="tx1"/>
                </a:solidFill>
              </a:rPr>
              <a:t>Преслав </a:t>
            </a:r>
            <a:r>
              <a:rPr lang="bg-BG" sz="2200">
                <a:solidFill>
                  <a:schemeClr val="tx1"/>
                </a:solidFill>
              </a:rPr>
              <a:t>Наков, Панайот Добриков. </a:t>
            </a:r>
            <a:r>
              <a:rPr lang="bg-BG" sz="2200" i="1">
                <a:solidFill>
                  <a:schemeClr val="tx1"/>
                </a:solidFill>
              </a:rPr>
              <a:t>Програмиране = ++Алгоритми</a:t>
            </a:r>
            <a:r>
              <a:rPr lang="bg-BG" sz="2200">
                <a:solidFill>
                  <a:schemeClr val="tx1"/>
                </a:solidFill>
              </a:rPr>
              <a:t>, </a:t>
            </a:r>
            <a:r>
              <a:rPr lang="en-US" sz="2200">
                <a:solidFill>
                  <a:schemeClr val="tx1"/>
                </a:solidFill>
              </a:rPr>
              <a:t>TopTeam Co., </a:t>
            </a:r>
            <a:r>
              <a:rPr lang="bg-BG" sz="2200">
                <a:solidFill>
                  <a:schemeClr val="tx1"/>
                </a:solidFill>
              </a:rPr>
              <a:t>София,</a:t>
            </a:r>
            <a:r>
              <a:rPr lang="en-US" sz="2200">
                <a:solidFill>
                  <a:schemeClr val="tx1"/>
                </a:solidFill>
              </a:rPr>
              <a:t> 2002</a:t>
            </a:r>
            <a:r>
              <a:rPr lang="bg-BG" sz="2200">
                <a:solidFill>
                  <a:schemeClr val="tx1"/>
                </a:solidFill>
              </a:rPr>
              <a:t>  </a:t>
            </a:r>
            <a:r>
              <a:rPr lang="bg-BG" sz="2400">
                <a:solidFill>
                  <a:schemeClr val="tx1"/>
                </a:solidFill>
              </a:rPr>
              <a:t>и практически е неприложима при големи </a:t>
            </a:r>
            <a:r>
              <a:rPr lang="de-DE" sz="2400" b="1" i="1">
                <a:solidFill>
                  <a:schemeClr val="tx1"/>
                </a:solidFill>
              </a:rPr>
              <a:t>n</a:t>
            </a:r>
            <a:r>
              <a:rPr lang="bg-BG" sz="2400">
                <a:solidFill>
                  <a:schemeClr val="tx1"/>
                </a:solidFill>
              </a:rPr>
              <a:t>).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491F91-DFAB-4C1A-874F-1173C30FCD85}" type="slidenum">
              <a:rPr lang="en-US"/>
              <a:pPr>
                <a:defRPr/>
              </a:pPr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404813"/>
            <a:ext cx="7859712" cy="6096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40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 smtClean="0">
                <a:solidFill>
                  <a:schemeClr val="tx2">
                    <a:satMod val="130000"/>
                  </a:schemeClr>
                </a:solidFill>
              </a:rPr>
              <a:t>Например</a:t>
            </a: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, за следния граф е </a:t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Хамилтонов. С червено е означен </a:t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минималния Хамилтонов цикъл, </a:t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който е 1 2 3 5 4 6 1 и има цена 28.</a:t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Получен е чрез преглеждане на всички</a:t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маршрути, започващи от даден базов</a:t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възел ( в случая - 1). Ако на дадена</a:t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стъпка получаваме междинна цена на изграждания маршрут,</a:t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по-голяма от тази на минималния, изграждането на този маршрут се прекратява.</a:t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  Поради широкото си приложение, задачата е изследвана много подробно в литературата. За решението й съществуват десетки алгоритми, някои от които гарантират точно решение с полиномиална сложност (например, метод на клоните и границите). Известни са и евристични подходи за решаване на задачата. </a:t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endParaRPr lang="en-US" sz="2400">
              <a:solidFill>
                <a:schemeClr val="tx2">
                  <a:satMod val="130000"/>
                </a:schemeClr>
              </a:solidFill>
            </a:endParaRPr>
          </a:p>
        </p:txBody>
      </p:sp>
      <p:grpSp>
        <p:nvGrpSpPr>
          <p:cNvPr id="55299" name="Group 34"/>
          <p:cNvGrpSpPr>
            <a:grpSpLocks/>
          </p:cNvGrpSpPr>
          <p:nvPr/>
        </p:nvGrpSpPr>
        <p:grpSpPr bwMode="auto">
          <a:xfrm>
            <a:off x="6156325" y="241300"/>
            <a:ext cx="2301875" cy="2640013"/>
            <a:chOff x="3456" y="288"/>
            <a:chExt cx="1504" cy="1728"/>
          </a:xfrm>
        </p:grpSpPr>
        <p:grpSp>
          <p:nvGrpSpPr>
            <p:cNvPr id="55301" name="Group 3"/>
            <p:cNvGrpSpPr>
              <a:grpSpLocks/>
            </p:cNvGrpSpPr>
            <p:nvPr/>
          </p:nvGrpSpPr>
          <p:grpSpPr bwMode="auto">
            <a:xfrm>
              <a:off x="3456" y="288"/>
              <a:ext cx="1488" cy="1728"/>
              <a:chOff x="4005" y="120"/>
              <a:chExt cx="3315" cy="3855"/>
            </a:xfrm>
          </p:grpSpPr>
          <p:sp>
            <p:nvSpPr>
              <p:cNvPr id="55317" name="Oval 4"/>
              <p:cNvSpPr>
                <a:spLocks noChangeArrowheads="1"/>
              </p:cNvSpPr>
              <p:nvPr/>
            </p:nvSpPr>
            <p:spPr bwMode="auto">
              <a:xfrm>
                <a:off x="4005" y="915"/>
                <a:ext cx="795" cy="76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5318" name="Oval 5"/>
              <p:cNvSpPr>
                <a:spLocks noChangeArrowheads="1"/>
              </p:cNvSpPr>
              <p:nvPr/>
            </p:nvSpPr>
            <p:spPr bwMode="auto">
              <a:xfrm>
                <a:off x="5265" y="120"/>
                <a:ext cx="795" cy="76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5319" name="Oval 6"/>
              <p:cNvSpPr>
                <a:spLocks noChangeArrowheads="1"/>
              </p:cNvSpPr>
              <p:nvPr/>
            </p:nvSpPr>
            <p:spPr bwMode="auto">
              <a:xfrm>
                <a:off x="5055" y="2040"/>
                <a:ext cx="795" cy="76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5320" name="Oval 7"/>
              <p:cNvSpPr>
                <a:spLocks noChangeArrowheads="1"/>
              </p:cNvSpPr>
              <p:nvPr/>
            </p:nvSpPr>
            <p:spPr bwMode="auto">
              <a:xfrm>
                <a:off x="5100" y="3210"/>
                <a:ext cx="795" cy="76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5321" name="Oval 8"/>
              <p:cNvSpPr>
                <a:spLocks noChangeArrowheads="1"/>
              </p:cNvSpPr>
              <p:nvPr/>
            </p:nvSpPr>
            <p:spPr bwMode="auto">
              <a:xfrm>
                <a:off x="6495" y="2340"/>
                <a:ext cx="795" cy="76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5322" name="Oval 9"/>
              <p:cNvSpPr>
                <a:spLocks noChangeArrowheads="1"/>
              </p:cNvSpPr>
              <p:nvPr/>
            </p:nvSpPr>
            <p:spPr bwMode="auto">
              <a:xfrm>
                <a:off x="6525" y="885"/>
                <a:ext cx="795" cy="76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5323" name="Line 10"/>
              <p:cNvSpPr>
                <a:spLocks noChangeShapeType="1"/>
              </p:cNvSpPr>
              <p:nvPr/>
            </p:nvSpPr>
            <p:spPr bwMode="auto">
              <a:xfrm>
                <a:off x="4785" y="1410"/>
                <a:ext cx="1875" cy="10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5324" name="Line 11"/>
              <p:cNvSpPr>
                <a:spLocks noChangeShapeType="1"/>
              </p:cNvSpPr>
              <p:nvPr/>
            </p:nvSpPr>
            <p:spPr bwMode="auto">
              <a:xfrm>
                <a:off x="4530" y="1680"/>
                <a:ext cx="660" cy="1710"/>
              </a:xfrm>
              <a:prstGeom prst="line">
                <a:avLst/>
              </a:prstGeom>
              <a:noFill/>
              <a:ln w="38100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5325" name="Line 12"/>
              <p:cNvSpPr>
                <a:spLocks noChangeShapeType="1"/>
              </p:cNvSpPr>
              <p:nvPr/>
            </p:nvSpPr>
            <p:spPr bwMode="auto">
              <a:xfrm>
                <a:off x="5445" y="2805"/>
                <a:ext cx="0" cy="405"/>
              </a:xfrm>
              <a:prstGeom prst="line">
                <a:avLst/>
              </a:prstGeom>
              <a:noFill/>
              <a:ln w="38100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5326" name="Line 13"/>
              <p:cNvSpPr>
                <a:spLocks noChangeShapeType="1"/>
              </p:cNvSpPr>
              <p:nvPr/>
            </p:nvSpPr>
            <p:spPr bwMode="auto">
              <a:xfrm flipV="1">
                <a:off x="4710" y="645"/>
                <a:ext cx="585" cy="375"/>
              </a:xfrm>
              <a:prstGeom prst="line">
                <a:avLst/>
              </a:prstGeom>
              <a:noFill/>
              <a:ln w="38100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5327" name="Line 14"/>
              <p:cNvSpPr>
                <a:spLocks noChangeShapeType="1"/>
              </p:cNvSpPr>
              <p:nvPr/>
            </p:nvSpPr>
            <p:spPr bwMode="auto">
              <a:xfrm>
                <a:off x="6045" y="660"/>
                <a:ext cx="600" cy="345"/>
              </a:xfrm>
              <a:prstGeom prst="line">
                <a:avLst/>
              </a:prstGeom>
              <a:noFill/>
              <a:ln w="38100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5328" name="Line 15"/>
              <p:cNvSpPr>
                <a:spLocks noChangeShapeType="1"/>
              </p:cNvSpPr>
              <p:nvPr/>
            </p:nvSpPr>
            <p:spPr bwMode="auto">
              <a:xfrm>
                <a:off x="6945" y="1650"/>
                <a:ext cx="0" cy="705"/>
              </a:xfrm>
              <a:prstGeom prst="line">
                <a:avLst/>
              </a:prstGeom>
              <a:noFill/>
              <a:ln w="38100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5329" name="Line 16"/>
              <p:cNvSpPr>
                <a:spLocks noChangeShapeType="1"/>
              </p:cNvSpPr>
              <p:nvPr/>
            </p:nvSpPr>
            <p:spPr bwMode="auto">
              <a:xfrm flipH="1">
                <a:off x="5715" y="1500"/>
                <a:ext cx="885" cy="6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5330" name="Line 17"/>
              <p:cNvSpPr>
                <a:spLocks noChangeShapeType="1"/>
              </p:cNvSpPr>
              <p:nvPr/>
            </p:nvSpPr>
            <p:spPr bwMode="auto">
              <a:xfrm flipH="1">
                <a:off x="5880" y="3045"/>
                <a:ext cx="795" cy="49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5331" name="Line 18"/>
              <p:cNvSpPr>
                <a:spLocks noChangeShapeType="1"/>
              </p:cNvSpPr>
              <p:nvPr/>
            </p:nvSpPr>
            <p:spPr bwMode="auto">
              <a:xfrm flipH="1" flipV="1">
                <a:off x="5820" y="2535"/>
                <a:ext cx="675" cy="120"/>
              </a:xfrm>
              <a:prstGeom prst="line">
                <a:avLst/>
              </a:prstGeom>
              <a:noFill/>
              <a:ln w="38100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55302" name="Text Box 19"/>
            <p:cNvSpPr txBox="1">
              <a:spLocks noChangeArrowheads="1"/>
            </p:cNvSpPr>
            <p:nvPr/>
          </p:nvSpPr>
          <p:spPr bwMode="auto">
            <a:xfrm>
              <a:off x="3536" y="672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55303" name="Text Box 20"/>
            <p:cNvSpPr txBox="1">
              <a:spLocks noChangeArrowheads="1"/>
            </p:cNvSpPr>
            <p:nvPr/>
          </p:nvSpPr>
          <p:spPr bwMode="auto">
            <a:xfrm>
              <a:off x="4112" y="336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55304" name="Text Box 21"/>
            <p:cNvSpPr txBox="1">
              <a:spLocks noChangeArrowheads="1"/>
            </p:cNvSpPr>
            <p:nvPr/>
          </p:nvSpPr>
          <p:spPr bwMode="auto">
            <a:xfrm>
              <a:off x="4656" y="672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55305" name="Text Box 22"/>
            <p:cNvSpPr txBox="1">
              <a:spLocks noChangeArrowheads="1"/>
            </p:cNvSpPr>
            <p:nvPr/>
          </p:nvSpPr>
          <p:spPr bwMode="auto">
            <a:xfrm>
              <a:off x="4000" y="1184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55306" name="Text Box 23"/>
            <p:cNvSpPr txBox="1">
              <a:spLocks noChangeArrowheads="1"/>
            </p:cNvSpPr>
            <p:nvPr/>
          </p:nvSpPr>
          <p:spPr bwMode="auto">
            <a:xfrm>
              <a:off x="4032" y="1696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55307" name="Text Box 24"/>
            <p:cNvSpPr txBox="1">
              <a:spLocks noChangeArrowheads="1"/>
            </p:cNvSpPr>
            <p:nvPr/>
          </p:nvSpPr>
          <p:spPr bwMode="auto">
            <a:xfrm>
              <a:off x="4656" y="1312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5</a:t>
              </a:r>
            </a:p>
          </p:txBody>
        </p:sp>
        <p:sp>
          <p:nvSpPr>
            <p:cNvPr id="55308" name="Text Box 25"/>
            <p:cNvSpPr txBox="1">
              <a:spLocks noChangeArrowheads="1"/>
            </p:cNvSpPr>
            <p:nvPr/>
          </p:nvSpPr>
          <p:spPr bwMode="auto">
            <a:xfrm>
              <a:off x="3744" y="400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800">
                  <a:solidFill>
                    <a:schemeClr val="accent3">
                      <a:lumMod val="75000"/>
                    </a:schemeClr>
                  </a:solidFill>
                </a:rPr>
                <a:t>5</a:t>
              </a:r>
            </a:p>
          </p:txBody>
        </p:sp>
        <p:sp>
          <p:nvSpPr>
            <p:cNvPr id="55309" name="Text Box 26"/>
            <p:cNvSpPr txBox="1">
              <a:spLocks noChangeArrowheads="1"/>
            </p:cNvSpPr>
            <p:nvPr/>
          </p:nvSpPr>
          <p:spPr bwMode="auto">
            <a:xfrm>
              <a:off x="4448" y="416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800">
                  <a:solidFill>
                    <a:schemeClr val="accent3">
                      <a:lumMod val="75000"/>
                    </a:schemeClr>
                  </a:solidFill>
                </a:rPr>
                <a:t>5</a:t>
              </a:r>
            </a:p>
          </p:txBody>
        </p:sp>
        <p:sp>
          <p:nvSpPr>
            <p:cNvPr id="55310" name="Text Box 27"/>
            <p:cNvSpPr txBox="1">
              <a:spLocks noChangeArrowheads="1"/>
            </p:cNvSpPr>
            <p:nvPr/>
          </p:nvSpPr>
          <p:spPr bwMode="auto">
            <a:xfrm>
              <a:off x="4768" y="1008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800">
                  <a:solidFill>
                    <a:schemeClr val="accent3">
                      <a:lumMod val="75000"/>
                    </a:schemeClr>
                  </a:solidFill>
                </a:rPr>
                <a:t>5</a:t>
              </a:r>
            </a:p>
          </p:txBody>
        </p:sp>
        <p:sp>
          <p:nvSpPr>
            <p:cNvPr id="55311" name="Text Box 28"/>
            <p:cNvSpPr txBox="1">
              <a:spLocks noChangeArrowheads="1"/>
            </p:cNvSpPr>
            <p:nvPr/>
          </p:nvSpPr>
          <p:spPr bwMode="auto">
            <a:xfrm>
              <a:off x="4416" y="1712"/>
              <a:ext cx="192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800">
                  <a:solidFill>
                    <a:schemeClr val="accent3">
                      <a:lumMod val="75000"/>
                    </a:schemeClr>
                  </a:solidFill>
                </a:rPr>
                <a:t>5</a:t>
              </a:r>
            </a:p>
          </p:txBody>
        </p:sp>
        <p:sp>
          <p:nvSpPr>
            <p:cNvPr id="55312" name="Text Box 29"/>
            <p:cNvSpPr txBox="1">
              <a:spLocks noChangeArrowheads="1"/>
            </p:cNvSpPr>
            <p:nvPr/>
          </p:nvSpPr>
          <p:spPr bwMode="auto">
            <a:xfrm>
              <a:off x="3600" y="1200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800">
                  <a:solidFill>
                    <a:schemeClr val="accent3">
                      <a:lumMod val="75000"/>
                    </a:schemeClr>
                  </a:solidFill>
                </a:rPr>
                <a:t>7</a:t>
              </a:r>
            </a:p>
          </p:txBody>
        </p:sp>
        <p:sp>
          <p:nvSpPr>
            <p:cNvPr id="55313" name="Text Box 30"/>
            <p:cNvSpPr txBox="1">
              <a:spLocks noChangeArrowheads="1"/>
            </p:cNvSpPr>
            <p:nvPr/>
          </p:nvSpPr>
          <p:spPr bwMode="auto">
            <a:xfrm>
              <a:off x="3984" y="768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800">
                  <a:solidFill>
                    <a:schemeClr val="accent3">
                      <a:lumMod val="75000"/>
                    </a:schemeClr>
                  </a:solidFill>
                </a:rPr>
                <a:t>7</a:t>
              </a:r>
            </a:p>
          </p:txBody>
        </p:sp>
        <p:sp>
          <p:nvSpPr>
            <p:cNvPr id="55314" name="Text Box 31"/>
            <p:cNvSpPr txBox="1">
              <a:spLocks noChangeArrowheads="1"/>
            </p:cNvSpPr>
            <p:nvPr/>
          </p:nvSpPr>
          <p:spPr bwMode="auto">
            <a:xfrm>
              <a:off x="4368" y="816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800">
                  <a:solidFill>
                    <a:schemeClr val="accent3">
                      <a:lumMod val="75000"/>
                    </a:schemeClr>
                  </a:solidFill>
                </a:rPr>
                <a:t>6</a:t>
              </a:r>
            </a:p>
          </p:txBody>
        </p:sp>
        <p:sp>
          <p:nvSpPr>
            <p:cNvPr id="55315" name="Text Box 32"/>
            <p:cNvSpPr txBox="1">
              <a:spLocks noChangeArrowheads="1"/>
            </p:cNvSpPr>
            <p:nvPr/>
          </p:nvSpPr>
          <p:spPr bwMode="auto">
            <a:xfrm>
              <a:off x="4336" y="1200"/>
              <a:ext cx="19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800">
                  <a:solidFill>
                    <a:schemeClr val="accent3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55316" name="Text Box 33"/>
            <p:cNvSpPr txBox="1">
              <a:spLocks noChangeArrowheads="1"/>
            </p:cNvSpPr>
            <p:nvPr/>
          </p:nvSpPr>
          <p:spPr bwMode="auto">
            <a:xfrm>
              <a:off x="4096" y="1472"/>
              <a:ext cx="192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800">
                  <a:solidFill>
                    <a:schemeClr val="accent3">
                      <a:lumMod val="75000"/>
                    </a:schemeClr>
                  </a:solidFill>
                </a:rPr>
                <a:t>3</a:t>
              </a:r>
            </a:p>
          </p:txBody>
        </p:sp>
      </p:grp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C67D7C-D50E-44F0-8C67-E373ACC6747C}" type="slidenum">
              <a:rPr lang="en-US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996950" y="990600"/>
            <a:ext cx="8147050" cy="58674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>
                <a:solidFill>
                  <a:schemeClr val="tx2">
                    <a:satMod val="130000"/>
                  </a:schemeClr>
                </a:solidFill>
              </a:rPr>
              <a:t>		</a:t>
            </a:r>
            <a:r>
              <a:rPr lang="bg-BG" sz="2400" i="1">
                <a:solidFill>
                  <a:schemeClr val="tx1"/>
                </a:solidFill>
              </a:rPr>
              <a:t>Ойлерови цикли</a:t>
            </a: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>	</a:t>
            </a:r>
            <a:r>
              <a:rPr lang="bg-BG" sz="2200">
                <a:solidFill>
                  <a:schemeClr val="tx1"/>
                </a:solidFill>
              </a:rPr>
              <a:t>В теорията на графите се разглежда специален вид цикли, наречен на името на техния пръв изследовател Леонард Ойлер. Градът Кьонингсберг, където през </a:t>
            </a:r>
            <a:r>
              <a:rPr lang="en-US" sz="2200">
                <a:solidFill>
                  <a:schemeClr val="tx1"/>
                </a:solidFill>
              </a:rPr>
              <a:t>XVIII </a:t>
            </a:r>
            <a:r>
              <a:rPr lang="bg-BG" sz="2200">
                <a:solidFill>
                  <a:schemeClr val="tx1"/>
                </a:solidFill>
              </a:rPr>
              <a:t>век е живял Ойлер, е имал седем моста на река Прегел, построени по следния начин</a:t>
            </a:r>
            <a:r>
              <a:rPr lang="en-US" sz="2200">
                <a:solidFill>
                  <a:schemeClr val="tx1"/>
                </a:solidFill>
              </a:rPr>
              <a:t>:</a:t>
            </a:r>
            <a:br>
              <a:rPr lang="en-US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/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/>
            </a:r>
            <a:br>
              <a:rPr lang="bg-BG" sz="2200">
                <a:solidFill>
                  <a:schemeClr val="tx1"/>
                </a:solidFill>
              </a:rPr>
            </a:br>
            <a:r>
              <a:rPr lang="en-US" sz="2200">
                <a:solidFill>
                  <a:schemeClr val="tx1"/>
                </a:solidFill>
              </a:rPr>
              <a:t/>
            </a:r>
            <a:br>
              <a:rPr lang="en-US" sz="2200">
                <a:solidFill>
                  <a:schemeClr val="tx1"/>
                </a:solidFill>
              </a:rPr>
            </a:br>
            <a:r>
              <a:rPr lang="en-US" sz="2200">
                <a:solidFill>
                  <a:schemeClr val="tx1"/>
                </a:solidFill>
              </a:rPr>
              <a:t/>
            </a:r>
            <a:br>
              <a:rPr lang="en-US" sz="2200">
                <a:solidFill>
                  <a:schemeClr val="tx1"/>
                </a:solidFill>
              </a:rPr>
            </a:br>
            <a:r>
              <a:rPr lang="en-US" sz="2200">
                <a:solidFill>
                  <a:schemeClr val="tx1"/>
                </a:solidFill>
              </a:rPr>
              <a:t/>
            </a:r>
            <a:br>
              <a:rPr lang="en-US" sz="2200">
                <a:solidFill>
                  <a:schemeClr val="tx1"/>
                </a:solidFill>
              </a:rPr>
            </a:br>
            <a:r>
              <a:rPr lang="en-US" sz="2200">
                <a:solidFill>
                  <a:schemeClr val="tx1"/>
                </a:solidFill>
              </a:rPr>
              <a:t/>
            </a:r>
            <a:br>
              <a:rPr lang="en-US" sz="2200">
                <a:solidFill>
                  <a:schemeClr val="tx1"/>
                </a:solidFill>
              </a:rPr>
            </a:br>
            <a:r>
              <a:rPr lang="en-US" sz="2200">
                <a:solidFill>
                  <a:schemeClr val="tx1"/>
                </a:solidFill>
              </a:rPr>
              <a:t/>
            </a:r>
            <a:br>
              <a:rPr lang="en-US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Хората там често си задавали въпроса: дали е възможно да се премине точно веднъж по всеки от мостовете и обиколката да приключи в изходната позиция. Ойлер е представил мостовете с </a:t>
            </a:r>
            <a:r>
              <a:rPr lang="bg-BG" sz="2200" i="1">
                <a:solidFill>
                  <a:schemeClr val="tx1"/>
                </a:solidFill>
              </a:rPr>
              <a:t>мултиграф</a:t>
            </a:r>
            <a:r>
              <a:rPr lang="bg-BG" sz="2200">
                <a:solidFill>
                  <a:schemeClr val="tx1"/>
                </a:solidFill>
              </a:rPr>
              <a:t> и показал, че това е невъзможно.</a:t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/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Граф </a:t>
            </a:r>
            <a:r>
              <a:rPr lang="en-US" sz="2200" i="1">
                <a:solidFill>
                  <a:schemeClr val="tx1"/>
                </a:solidFill>
              </a:rPr>
              <a:t>G(V,E)</a:t>
            </a:r>
            <a:r>
              <a:rPr lang="en-US" sz="2200">
                <a:solidFill>
                  <a:schemeClr val="tx1"/>
                </a:solidFill>
              </a:rPr>
              <a:t> </a:t>
            </a:r>
            <a:r>
              <a:rPr lang="bg-BG" sz="2200">
                <a:solidFill>
                  <a:schemeClr val="tx1"/>
                </a:solidFill>
              </a:rPr>
              <a:t>се нарича </a:t>
            </a:r>
            <a:r>
              <a:rPr lang="bg-BG" sz="2200" i="1">
                <a:solidFill>
                  <a:schemeClr val="tx1"/>
                </a:solidFill>
              </a:rPr>
              <a:t>мултиграф</a:t>
            </a:r>
            <a:r>
              <a:rPr lang="bg-BG" sz="2200">
                <a:solidFill>
                  <a:schemeClr val="tx1"/>
                </a:solidFill>
              </a:rPr>
              <a:t>, ако множеството на ребрата му допуска повторение (т.е. </a:t>
            </a:r>
            <a:r>
              <a:rPr lang="en-US" sz="2200" i="1">
                <a:solidFill>
                  <a:schemeClr val="tx1"/>
                </a:solidFill>
              </a:rPr>
              <a:t>E</a:t>
            </a:r>
            <a:r>
              <a:rPr lang="bg-BG" sz="2200">
                <a:solidFill>
                  <a:schemeClr val="tx1"/>
                </a:solidFill>
              </a:rPr>
              <a:t> е </a:t>
            </a:r>
            <a:r>
              <a:rPr lang="bg-BG" sz="2200" i="1">
                <a:solidFill>
                  <a:schemeClr val="tx1"/>
                </a:solidFill>
              </a:rPr>
              <a:t>мултимножество</a:t>
            </a:r>
            <a:r>
              <a:rPr lang="bg-BG" sz="2200">
                <a:solidFill>
                  <a:schemeClr val="tx1"/>
                </a:solidFill>
              </a:rPr>
              <a:t>).</a:t>
            </a:r>
            <a:r>
              <a:rPr lang="en-US" sz="22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2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2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2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2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2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2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2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2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200">
                <a:solidFill>
                  <a:schemeClr val="tx2">
                    <a:satMod val="130000"/>
                  </a:schemeClr>
                </a:solidFill>
              </a:rPr>
            </a:br>
            <a:endParaRPr lang="en-US" sz="2200">
              <a:solidFill>
                <a:schemeClr val="tx2">
                  <a:satMod val="130000"/>
                </a:schemeClr>
              </a:solidFill>
            </a:endParaRPr>
          </a:p>
        </p:txBody>
      </p:sp>
      <p:grpSp>
        <p:nvGrpSpPr>
          <p:cNvPr id="56323" name="Group 42"/>
          <p:cNvGrpSpPr>
            <a:grpSpLocks/>
          </p:cNvGrpSpPr>
          <p:nvPr/>
        </p:nvGrpSpPr>
        <p:grpSpPr bwMode="auto">
          <a:xfrm>
            <a:off x="1825625" y="1916113"/>
            <a:ext cx="2971800" cy="2057400"/>
            <a:chOff x="1114892" y="1916832"/>
            <a:chExt cx="2971800" cy="2056294"/>
          </a:xfrm>
        </p:grpSpPr>
        <p:sp>
          <p:nvSpPr>
            <p:cNvPr id="56341" name="Oval 4"/>
            <p:cNvSpPr>
              <a:spLocks noChangeArrowheads="1"/>
            </p:cNvSpPr>
            <p:nvPr/>
          </p:nvSpPr>
          <p:spPr bwMode="auto">
            <a:xfrm>
              <a:off x="2669372" y="2693125"/>
              <a:ext cx="1417320" cy="59335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6342" name="Oval 5"/>
            <p:cNvSpPr>
              <a:spLocks noChangeArrowheads="1"/>
            </p:cNvSpPr>
            <p:nvPr/>
          </p:nvSpPr>
          <p:spPr bwMode="auto">
            <a:xfrm>
              <a:off x="1457792" y="2770991"/>
              <a:ext cx="822960" cy="48740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6343" name="Line 6"/>
            <p:cNvSpPr>
              <a:spLocks noChangeShapeType="1"/>
            </p:cNvSpPr>
            <p:nvPr/>
          </p:nvSpPr>
          <p:spPr bwMode="auto">
            <a:xfrm flipH="1" flipV="1">
              <a:off x="1503512" y="2362199"/>
              <a:ext cx="160020" cy="487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6344" name="Line 7"/>
            <p:cNvSpPr>
              <a:spLocks noChangeShapeType="1"/>
            </p:cNvSpPr>
            <p:nvPr/>
          </p:nvSpPr>
          <p:spPr bwMode="auto">
            <a:xfrm flipH="1" flipV="1">
              <a:off x="1594952" y="2362199"/>
              <a:ext cx="160020" cy="4450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6345" name="Line 8"/>
            <p:cNvSpPr>
              <a:spLocks noChangeShapeType="1"/>
            </p:cNvSpPr>
            <p:nvPr/>
          </p:nvSpPr>
          <p:spPr bwMode="auto">
            <a:xfrm flipV="1">
              <a:off x="2050949" y="2362199"/>
              <a:ext cx="161223" cy="4662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6346" name="Line 9"/>
            <p:cNvSpPr>
              <a:spLocks noChangeShapeType="1"/>
            </p:cNvSpPr>
            <p:nvPr/>
          </p:nvSpPr>
          <p:spPr bwMode="auto">
            <a:xfrm flipV="1">
              <a:off x="2120732" y="2362199"/>
              <a:ext cx="182880" cy="5085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6347" name="Line 10"/>
            <p:cNvSpPr>
              <a:spLocks noChangeShapeType="1"/>
            </p:cNvSpPr>
            <p:nvPr/>
          </p:nvSpPr>
          <p:spPr bwMode="auto">
            <a:xfrm flipH="1">
              <a:off x="1457792" y="3200272"/>
              <a:ext cx="216568" cy="4015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6348" name="Line 11"/>
            <p:cNvSpPr>
              <a:spLocks noChangeShapeType="1"/>
            </p:cNvSpPr>
            <p:nvPr/>
          </p:nvSpPr>
          <p:spPr bwMode="auto">
            <a:xfrm flipH="1">
              <a:off x="1549232" y="3218713"/>
              <a:ext cx="205740" cy="3814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6349" name="Line 12"/>
            <p:cNvSpPr>
              <a:spLocks noChangeShapeType="1"/>
            </p:cNvSpPr>
            <p:nvPr/>
          </p:nvSpPr>
          <p:spPr bwMode="auto">
            <a:xfrm>
              <a:off x="1983572" y="3211541"/>
              <a:ext cx="274320" cy="4026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6350" name="Line 13"/>
            <p:cNvSpPr>
              <a:spLocks noChangeShapeType="1"/>
            </p:cNvSpPr>
            <p:nvPr/>
          </p:nvSpPr>
          <p:spPr bwMode="auto">
            <a:xfrm>
              <a:off x="2075012" y="3179781"/>
              <a:ext cx="297180" cy="4238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6351" name="Line 14"/>
            <p:cNvSpPr>
              <a:spLocks noChangeShapeType="1"/>
            </p:cNvSpPr>
            <p:nvPr/>
          </p:nvSpPr>
          <p:spPr bwMode="auto">
            <a:xfrm>
              <a:off x="2257892" y="2926720"/>
              <a:ext cx="4114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6352" name="Line 15"/>
            <p:cNvSpPr>
              <a:spLocks noChangeShapeType="1"/>
            </p:cNvSpPr>
            <p:nvPr/>
          </p:nvSpPr>
          <p:spPr bwMode="auto">
            <a:xfrm>
              <a:off x="2280752" y="3024051"/>
              <a:ext cx="4114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6353" name="Line 16"/>
            <p:cNvSpPr>
              <a:spLocks noChangeShapeType="1"/>
            </p:cNvSpPr>
            <p:nvPr/>
          </p:nvSpPr>
          <p:spPr bwMode="auto">
            <a:xfrm flipV="1">
              <a:off x="3309452" y="2362200"/>
              <a:ext cx="0" cy="3602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6354" name="Line 17"/>
            <p:cNvSpPr>
              <a:spLocks noChangeShapeType="1"/>
            </p:cNvSpPr>
            <p:nvPr/>
          </p:nvSpPr>
          <p:spPr bwMode="auto">
            <a:xfrm>
              <a:off x="3400892" y="2362200"/>
              <a:ext cx="0" cy="3602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6355" name="Line 18"/>
            <p:cNvSpPr>
              <a:spLocks noChangeShapeType="1"/>
            </p:cNvSpPr>
            <p:nvPr/>
          </p:nvSpPr>
          <p:spPr bwMode="auto">
            <a:xfrm>
              <a:off x="3309452" y="3238180"/>
              <a:ext cx="0" cy="3602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6356" name="Line 19"/>
            <p:cNvSpPr>
              <a:spLocks noChangeShapeType="1"/>
            </p:cNvSpPr>
            <p:nvPr/>
          </p:nvSpPr>
          <p:spPr bwMode="auto">
            <a:xfrm>
              <a:off x="3402095" y="3238180"/>
              <a:ext cx="0" cy="3602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6357" name="Line 20"/>
            <p:cNvSpPr>
              <a:spLocks noChangeShapeType="1"/>
            </p:cNvSpPr>
            <p:nvPr/>
          </p:nvSpPr>
          <p:spPr bwMode="auto">
            <a:xfrm>
              <a:off x="1274912" y="2362200"/>
              <a:ext cx="25374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6358" name="Line 21"/>
            <p:cNvSpPr>
              <a:spLocks noChangeShapeType="1"/>
            </p:cNvSpPr>
            <p:nvPr/>
          </p:nvSpPr>
          <p:spPr bwMode="auto">
            <a:xfrm>
              <a:off x="1114892" y="3569106"/>
              <a:ext cx="28346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6359" name="Text Box 22"/>
            <p:cNvSpPr txBox="1">
              <a:spLocks noChangeArrowheads="1"/>
            </p:cNvSpPr>
            <p:nvPr/>
          </p:nvSpPr>
          <p:spPr bwMode="auto">
            <a:xfrm>
              <a:off x="1691680" y="2780928"/>
              <a:ext cx="3048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000" b="1" i="1"/>
                <a:t>А</a:t>
              </a:r>
              <a:endParaRPr lang="en-US"/>
            </a:p>
          </p:txBody>
        </p:sp>
        <p:sp>
          <p:nvSpPr>
            <p:cNvPr id="56360" name="Text Box 23"/>
            <p:cNvSpPr txBox="1">
              <a:spLocks noChangeArrowheads="1"/>
            </p:cNvSpPr>
            <p:nvPr/>
          </p:nvSpPr>
          <p:spPr bwMode="auto">
            <a:xfrm>
              <a:off x="1763688" y="1916832"/>
              <a:ext cx="3810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000" b="1" i="1"/>
                <a:t>B</a:t>
              </a:r>
              <a:endParaRPr lang="en-US"/>
            </a:p>
          </p:txBody>
        </p:sp>
        <p:sp>
          <p:nvSpPr>
            <p:cNvPr id="56361" name="Text Box 24"/>
            <p:cNvSpPr txBox="1">
              <a:spLocks noChangeArrowheads="1"/>
            </p:cNvSpPr>
            <p:nvPr/>
          </p:nvSpPr>
          <p:spPr bwMode="auto">
            <a:xfrm>
              <a:off x="1691680" y="3573016"/>
              <a:ext cx="3048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000" b="1" i="1"/>
                <a:t>C</a:t>
              </a:r>
              <a:endParaRPr lang="en-US"/>
            </a:p>
          </p:txBody>
        </p:sp>
        <p:sp>
          <p:nvSpPr>
            <p:cNvPr id="56362" name="Text Box 25"/>
            <p:cNvSpPr txBox="1">
              <a:spLocks noChangeArrowheads="1"/>
            </p:cNvSpPr>
            <p:nvPr/>
          </p:nvSpPr>
          <p:spPr bwMode="auto">
            <a:xfrm>
              <a:off x="3203848" y="2708920"/>
              <a:ext cx="3810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000" b="1" i="1"/>
                <a:t>D</a:t>
              </a:r>
              <a:endParaRPr lang="en-US"/>
            </a:p>
          </p:txBody>
        </p:sp>
      </p:grpSp>
      <p:grpSp>
        <p:nvGrpSpPr>
          <p:cNvPr id="56324" name="Group 47"/>
          <p:cNvGrpSpPr>
            <a:grpSpLocks/>
          </p:cNvGrpSpPr>
          <p:nvPr/>
        </p:nvGrpSpPr>
        <p:grpSpPr bwMode="auto">
          <a:xfrm>
            <a:off x="6096000" y="2046288"/>
            <a:ext cx="1447800" cy="1590675"/>
            <a:chOff x="3840" y="1216"/>
            <a:chExt cx="912" cy="1002"/>
          </a:xfrm>
        </p:grpSpPr>
        <p:sp>
          <p:nvSpPr>
            <p:cNvPr id="56326" name="Oval 26"/>
            <p:cNvSpPr>
              <a:spLocks noChangeArrowheads="1"/>
            </p:cNvSpPr>
            <p:nvPr/>
          </p:nvSpPr>
          <p:spPr bwMode="auto">
            <a:xfrm>
              <a:off x="4176" y="122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56327" name="Oval 27"/>
            <p:cNvSpPr>
              <a:spLocks noChangeArrowheads="1"/>
            </p:cNvSpPr>
            <p:nvPr/>
          </p:nvSpPr>
          <p:spPr bwMode="auto">
            <a:xfrm>
              <a:off x="4176" y="1976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56328" name="Oval 28"/>
            <p:cNvSpPr>
              <a:spLocks noChangeArrowheads="1"/>
            </p:cNvSpPr>
            <p:nvPr/>
          </p:nvSpPr>
          <p:spPr bwMode="auto">
            <a:xfrm>
              <a:off x="4512" y="15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56329" name="Oval 29"/>
            <p:cNvSpPr>
              <a:spLocks noChangeArrowheads="1"/>
            </p:cNvSpPr>
            <p:nvPr/>
          </p:nvSpPr>
          <p:spPr bwMode="auto">
            <a:xfrm>
              <a:off x="3840" y="15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56330" name="Arc 31"/>
            <p:cNvSpPr>
              <a:spLocks/>
            </p:cNvSpPr>
            <p:nvPr/>
          </p:nvSpPr>
          <p:spPr bwMode="auto">
            <a:xfrm>
              <a:off x="4416" y="1336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56331" name="Arc 34"/>
            <p:cNvSpPr>
              <a:spLocks/>
            </p:cNvSpPr>
            <p:nvPr/>
          </p:nvSpPr>
          <p:spPr bwMode="auto">
            <a:xfrm rot="3677895">
              <a:off x="3979" y="1261"/>
              <a:ext cx="144" cy="357"/>
            </a:xfrm>
            <a:custGeom>
              <a:avLst/>
              <a:gdLst>
                <a:gd name="T0" fmla="*/ 0 w 21600"/>
                <a:gd name="T1" fmla="*/ 0 h 36385"/>
                <a:gd name="T2" fmla="*/ 0 w 21600"/>
                <a:gd name="T3" fmla="*/ 0 h 36385"/>
                <a:gd name="T4" fmla="*/ 0 w 21600"/>
                <a:gd name="T5" fmla="*/ 0 h 36385"/>
                <a:gd name="T6" fmla="*/ 0 60000 65536"/>
                <a:gd name="T7" fmla="*/ 0 60000 65536"/>
                <a:gd name="T8" fmla="*/ 0 60000 65536"/>
                <a:gd name="T9" fmla="*/ 0 w 21600"/>
                <a:gd name="T10" fmla="*/ 0 h 36385"/>
                <a:gd name="T11" fmla="*/ 21600 w 21600"/>
                <a:gd name="T12" fmla="*/ 36385 h 363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6385" fill="none" extrusionOk="0">
                  <a:moveTo>
                    <a:pt x="18673" y="36384"/>
                  </a:moveTo>
                  <a:cubicBezTo>
                    <a:pt x="7974" y="34921"/>
                    <a:pt x="0" y="25782"/>
                    <a:pt x="0" y="14984"/>
                  </a:cubicBezTo>
                  <a:cubicBezTo>
                    <a:pt x="-1" y="9395"/>
                    <a:pt x="2165" y="4025"/>
                    <a:pt x="6042" y="0"/>
                  </a:cubicBezTo>
                </a:path>
                <a:path w="21600" h="36385" stroke="0" extrusionOk="0">
                  <a:moveTo>
                    <a:pt x="18673" y="36384"/>
                  </a:moveTo>
                  <a:cubicBezTo>
                    <a:pt x="7974" y="34921"/>
                    <a:pt x="0" y="25782"/>
                    <a:pt x="0" y="14984"/>
                  </a:cubicBezTo>
                  <a:cubicBezTo>
                    <a:pt x="-1" y="9395"/>
                    <a:pt x="2165" y="4025"/>
                    <a:pt x="6042" y="0"/>
                  </a:cubicBezTo>
                  <a:lnTo>
                    <a:pt x="21600" y="1498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56332" name="Arc 35"/>
            <p:cNvSpPr>
              <a:spLocks/>
            </p:cNvSpPr>
            <p:nvPr/>
          </p:nvSpPr>
          <p:spPr bwMode="auto">
            <a:xfrm rot="19468757" flipH="1">
              <a:off x="4032" y="1536"/>
              <a:ext cx="283" cy="48"/>
            </a:xfrm>
            <a:custGeom>
              <a:avLst/>
              <a:gdLst>
                <a:gd name="T0" fmla="*/ 0 w 40044"/>
                <a:gd name="T1" fmla="*/ 0 h 21600"/>
                <a:gd name="T2" fmla="*/ 0 w 40044"/>
                <a:gd name="T3" fmla="*/ 0 h 21600"/>
                <a:gd name="T4" fmla="*/ 0 w 40044"/>
                <a:gd name="T5" fmla="*/ 0 h 21600"/>
                <a:gd name="T6" fmla="*/ 0 60000 65536"/>
                <a:gd name="T7" fmla="*/ 0 60000 65536"/>
                <a:gd name="T8" fmla="*/ 0 60000 65536"/>
                <a:gd name="T9" fmla="*/ 0 w 40044"/>
                <a:gd name="T10" fmla="*/ 0 h 21600"/>
                <a:gd name="T11" fmla="*/ 40044 w 4004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044" h="21600" fill="none" extrusionOk="0">
                  <a:moveTo>
                    <a:pt x="40043" y="5377"/>
                  </a:moveTo>
                  <a:cubicBezTo>
                    <a:pt x="37589" y="14925"/>
                    <a:pt x="28982" y="21599"/>
                    <a:pt x="19124" y="21600"/>
                  </a:cubicBezTo>
                  <a:cubicBezTo>
                    <a:pt x="11096" y="21600"/>
                    <a:pt x="3731" y="17148"/>
                    <a:pt x="-1" y="10041"/>
                  </a:cubicBezTo>
                </a:path>
                <a:path w="40044" h="21600" stroke="0" extrusionOk="0">
                  <a:moveTo>
                    <a:pt x="40043" y="5377"/>
                  </a:moveTo>
                  <a:cubicBezTo>
                    <a:pt x="37589" y="14925"/>
                    <a:pt x="28982" y="21599"/>
                    <a:pt x="19124" y="21600"/>
                  </a:cubicBezTo>
                  <a:cubicBezTo>
                    <a:pt x="11096" y="21600"/>
                    <a:pt x="3731" y="17148"/>
                    <a:pt x="-1" y="10041"/>
                  </a:cubicBezTo>
                  <a:lnTo>
                    <a:pt x="1912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56333" name="Arc 36"/>
            <p:cNvSpPr>
              <a:spLocks/>
            </p:cNvSpPr>
            <p:nvPr/>
          </p:nvSpPr>
          <p:spPr bwMode="auto">
            <a:xfrm rot="2372843" flipH="1">
              <a:off x="4289" y="1542"/>
              <a:ext cx="283" cy="48"/>
            </a:xfrm>
            <a:custGeom>
              <a:avLst/>
              <a:gdLst>
                <a:gd name="T0" fmla="*/ 0 w 40044"/>
                <a:gd name="T1" fmla="*/ 0 h 21600"/>
                <a:gd name="T2" fmla="*/ 0 w 40044"/>
                <a:gd name="T3" fmla="*/ 0 h 21600"/>
                <a:gd name="T4" fmla="*/ 0 w 40044"/>
                <a:gd name="T5" fmla="*/ 0 h 21600"/>
                <a:gd name="T6" fmla="*/ 0 60000 65536"/>
                <a:gd name="T7" fmla="*/ 0 60000 65536"/>
                <a:gd name="T8" fmla="*/ 0 60000 65536"/>
                <a:gd name="T9" fmla="*/ 0 w 40044"/>
                <a:gd name="T10" fmla="*/ 0 h 21600"/>
                <a:gd name="T11" fmla="*/ 40044 w 4004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044" h="21600" fill="none" extrusionOk="0">
                  <a:moveTo>
                    <a:pt x="40043" y="5377"/>
                  </a:moveTo>
                  <a:cubicBezTo>
                    <a:pt x="37589" y="14925"/>
                    <a:pt x="28982" y="21599"/>
                    <a:pt x="19124" y="21600"/>
                  </a:cubicBezTo>
                  <a:cubicBezTo>
                    <a:pt x="11096" y="21600"/>
                    <a:pt x="3731" y="17148"/>
                    <a:pt x="-1" y="10041"/>
                  </a:cubicBezTo>
                </a:path>
                <a:path w="40044" h="21600" stroke="0" extrusionOk="0">
                  <a:moveTo>
                    <a:pt x="40043" y="5377"/>
                  </a:moveTo>
                  <a:cubicBezTo>
                    <a:pt x="37589" y="14925"/>
                    <a:pt x="28982" y="21599"/>
                    <a:pt x="19124" y="21600"/>
                  </a:cubicBezTo>
                  <a:cubicBezTo>
                    <a:pt x="11096" y="21600"/>
                    <a:pt x="3731" y="17148"/>
                    <a:pt x="-1" y="10041"/>
                  </a:cubicBezTo>
                  <a:lnTo>
                    <a:pt x="1912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56334" name="Line 37"/>
            <p:cNvSpPr>
              <a:spLocks noChangeShapeType="1"/>
            </p:cNvSpPr>
            <p:nvPr/>
          </p:nvSpPr>
          <p:spPr bwMode="auto">
            <a:xfrm>
              <a:off x="4032" y="182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56335" name="Line 40"/>
            <p:cNvSpPr>
              <a:spLocks noChangeShapeType="1"/>
            </p:cNvSpPr>
            <p:nvPr/>
          </p:nvSpPr>
          <p:spPr bwMode="auto">
            <a:xfrm>
              <a:off x="4304" y="1480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56336" name="Line 42"/>
            <p:cNvSpPr>
              <a:spLocks noChangeShapeType="1"/>
            </p:cNvSpPr>
            <p:nvPr/>
          </p:nvSpPr>
          <p:spPr bwMode="auto">
            <a:xfrm flipH="1">
              <a:off x="4376" y="1824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56337" name="Text Box 43"/>
            <p:cNvSpPr txBox="1">
              <a:spLocks noChangeArrowheads="1"/>
            </p:cNvSpPr>
            <p:nvPr/>
          </p:nvSpPr>
          <p:spPr bwMode="auto">
            <a:xfrm>
              <a:off x="4176" y="1216"/>
              <a:ext cx="19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000" b="1" i="1"/>
                <a:t>А</a:t>
              </a:r>
              <a:endParaRPr lang="en-US"/>
            </a:p>
          </p:txBody>
        </p:sp>
        <p:sp>
          <p:nvSpPr>
            <p:cNvPr id="56338" name="Text Box 44"/>
            <p:cNvSpPr txBox="1">
              <a:spLocks noChangeArrowheads="1"/>
            </p:cNvSpPr>
            <p:nvPr/>
          </p:nvSpPr>
          <p:spPr bwMode="auto">
            <a:xfrm>
              <a:off x="3856" y="1568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000" b="1" i="1"/>
                <a:t>B</a:t>
              </a:r>
              <a:endParaRPr lang="en-US"/>
            </a:p>
          </p:txBody>
        </p:sp>
        <p:sp>
          <p:nvSpPr>
            <p:cNvPr id="56339" name="Text Box 45"/>
            <p:cNvSpPr txBox="1">
              <a:spLocks noChangeArrowheads="1"/>
            </p:cNvSpPr>
            <p:nvPr/>
          </p:nvSpPr>
          <p:spPr bwMode="auto">
            <a:xfrm>
              <a:off x="4176" y="1968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000" b="1" i="1"/>
                <a:t>D</a:t>
              </a:r>
              <a:endParaRPr lang="en-US"/>
            </a:p>
          </p:txBody>
        </p:sp>
        <p:sp>
          <p:nvSpPr>
            <p:cNvPr id="56340" name="Text Box 46"/>
            <p:cNvSpPr txBox="1">
              <a:spLocks noChangeArrowheads="1"/>
            </p:cNvSpPr>
            <p:nvPr/>
          </p:nvSpPr>
          <p:spPr bwMode="auto">
            <a:xfrm>
              <a:off x="4512" y="1568"/>
              <a:ext cx="19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000" b="1" i="1"/>
                <a:t>C</a:t>
              </a:r>
              <a:endParaRPr lang="en-US"/>
            </a:p>
          </p:txBody>
        </p:sp>
      </p:grpSp>
      <p:sp>
        <p:nvSpPr>
          <p:cNvPr id="44" name="Slide Number Placeholder 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12A45A-CCBF-4AE7-B7F2-F16FA68F3AD3}" type="slidenum">
              <a:rPr lang="en-US"/>
              <a:pPr>
                <a:defRPr/>
              </a:pPr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984250" y="215900"/>
            <a:ext cx="8159750" cy="62484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200">
                <a:solidFill>
                  <a:schemeClr val="tx1"/>
                </a:solidFill>
              </a:rPr>
              <a:t>Нека е даден свързан мултиграф </a:t>
            </a:r>
            <a:r>
              <a:rPr lang="en-US" sz="2200" i="1">
                <a:solidFill>
                  <a:schemeClr val="tx1"/>
                </a:solidFill>
              </a:rPr>
              <a:t>G(V,E)</a:t>
            </a:r>
            <a:r>
              <a:rPr lang="en-US" sz="2200">
                <a:solidFill>
                  <a:schemeClr val="tx1"/>
                </a:solidFill>
              </a:rPr>
              <a:t>. </a:t>
            </a:r>
            <a:r>
              <a:rPr lang="bg-BG" sz="2200">
                <a:solidFill>
                  <a:schemeClr val="tx1"/>
                </a:solidFill>
              </a:rPr>
              <a:t>Цикъл, в който всяко ребро участва точно по веднъж, се нарича </a:t>
            </a:r>
            <a:r>
              <a:rPr lang="bg-BG" sz="2200" i="1">
                <a:solidFill>
                  <a:schemeClr val="tx1"/>
                </a:solidFill>
              </a:rPr>
              <a:t>Ойлеров цикъл</a:t>
            </a:r>
            <a:r>
              <a:rPr lang="bg-BG" sz="2200">
                <a:solidFill>
                  <a:schemeClr val="tx1"/>
                </a:solidFill>
              </a:rPr>
              <a:t>. Един мултиграф се нарича </a:t>
            </a:r>
            <a:r>
              <a:rPr lang="bg-BG" sz="2200" i="1">
                <a:solidFill>
                  <a:schemeClr val="tx1"/>
                </a:solidFill>
              </a:rPr>
              <a:t>Ойлеров</a:t>
            </a:r>
            <a:r>
              <a:rPr lang="bg-BG" sz="2200">
                <a:solidFill>
                  <a:schemeClr val="tx1"/>
                </a:solidFill>
              </a:rPr>
              <a:t>, ако в него съществува </a:t>
            </a:r>
            <a:r>
              <a:rPr lang="bg-BG" sz="2200" i="1">
                <a:solidFill>
                  <a:schemeClr val="tx1"/>
                </a:solidFill>
              </a:rPr>
              <a:t>Ойлеров цикъл</a:t>
            </a:r>
            <a:r>
              <a:rPr lang="bg-BG" sz="2200">
                <a:solidFill>
                  <a:schemeClr val="tx1"/>
                </a:solidFill>
              </a:rPr>
              <a:t>.</a:t>
            </a:r>
            <a:r>
              <a:rPr lang="bg-BG" sz="2200" i="1">
                <a:solidFill>
                  <a:schemeClr val="tx1"/>
                </a:solidFill>
              </a:rPr>
              <a:t> </a:t>
            </a:r>
            <a:r>
              <a:rPr lang="en-US" sz="2200" i="1">
                <a:solidFill>
                  <a:schemeClr val="tx1"/>
                </a:solidFill>
              </a:rPr>
              <a:t/>
            </a:r>
            <a:br>
              <a:rPr lang="en-US" sz="2200" i="1">
                <a:solidFill>
                  <a:schemeClr val="tx1"/>
                </a:solidFill>
              </a:rPr>
            </a:br>
            <a:r>
              <a:rPr lang="bg-BG" sz="800" i="1">
                <a:solidFill>
                  <a:schemeClr val="tx1"/>
                </a:solidFill>
              </a:rPr>
              <a:t/>
            </a:r>
            <a:br>
              <a:rPr lang="bg-BG" sz="800" i="1">
                <a:solidFill>
                  <a:schemeClr val="tx1"/>
                </a:solidFill>
              </a:rPr>
            </a:br>
            <a:r>
              <a:rPr lang="bg-BG" sz="2200" i="1">
                <a:solidFill>
                  <a:schemeClr val="tx1"/>
                </a:solidFill>
              </a:rPr>
              <a:t>Ойлеров път</a:t>
            </a:r>
            <a:r>
              <a:rPr lang="bg-BG" sz="2200">
                <a:solidFill>
                  <a:schemeClr val="tx1"/>
                </a:solidFill>
              </a:rPr>
              <a:t> в граф се нарича път, в който всяко ребро участва точно по веднъж.</a:t>
            </a:r>
            <a:br>
              <a:rPr lang="bg-BG" sz="2200">
                <a:solidFill>
                  <a:schemeClr val="tx1"/>
                </a:solidFill>
              </a:rPr>
            </a:br>
            <a:r>
              <a:rPr lang="en-US" sz="800">
                <a:solidFill>
                  <a:schemeClr val="tx1"/>
                </a:solidFill>
              </a:rPr>
              <a:t/>
            </a:r>
            <a:br>
              <a:rPr lang="en-US" sz="800">
                <a:solidFill>
                  <a:schemeClr val="tx1"/>
                </a:solidFill>
              </a:rPr>
            </a:br>
            <a:r>
              <a:rPr lang="bg-BG" sz="2200" b="1" i="1">
                <a:solidFill>
                  <a:schemeClr val="tx1"/>
                </a:solidFill>
              </a:rPr>
              <a:t>Теорема 1</a:t>
            </a:r>
            <a:r>
              <a:rPr lang="bg-BG" sz="2200">
                <a:solidFill>
                  <a:schemeClr val="tx1"/>
                </a:solidFill>
              </a:rPr>
              <a:t>. (Изказана от Ойлер без доказателство). Свързан неориентиран мултиграф съдържа Ойлеров цикъл тогава и само тогава, когато всички върхове на графа са от четна степен.</a:t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800">
                <a:solidFill>
                  <a:schemeClr val="tx1"/>
                </a:solidFill>
              </a:rPr>
              <a:t/>
            </a:r>
            <a:br>
              <a:rPr lang="bg-BG" sz="800">
                <a:solidFill>
                  <a:schemeClr val="tx1"/>
                </a:solidFill>
              </a:rPr>
            </a:br>
            <a:r>
              <a:rPr lang="bg-BG" sz="2200" b="1" i="1">
                <a:solidFill>
                  <a:schemeClr val="tx1"/>
                </a:solidFill>
              </a:rPr>
              <a:t>Следствие 1.</a:t>
            </a:r>
            <a:r>
              <a:rPr lang="bg-BG" sz="2200">
                <a:solidFill>
                  <a:schemeClr val="tx1"/>
                </a:solidFill>
              </a:rPr>
              <a:t> Свързан неориентиран мултиграф съдържа  Ойлеров път тогава и само тогава, когато има точно два върха от нечетна степен</a:t>
            </a:r>
            <a:r>
              <a:rPr lang="bg-BG" sz="2200" smtClean="0">
                <a:solidFill>
                  <a:schemeClr val="tx1"/>
                </a:solidFill>
              </a:rPr>
              <a:t>.</a:t>
            </a:r>
            <a:r>
              <a:rPr lang="bg-BG" sz="2200">
                <a:solidFill>
                  <a:schemeClr val="tx1"/>
                </a:solidFill>
              </a:rPr>
              <a:t>							</a:t>
            </a:r>
            <a:r>
              <a:rPr lang="bg-BG" sz="2200" smtClean="0">
                <a:solidFill>
                  <a:schemeClr val="tx1"/>
                </a:solidFill>
              </a:rPr>
              <a:t>							Ойлеров   път</a:t>
            </a:r>
            <a:br>
              <a:rPr lang="bg-BG" sz="2200" smtClean="0">
                <a:solidFill>
                  <a:schemeClr val="tx1"/>
                </a:solidFill>
              </a:rPr>
            </a:br>
            <a:r>
              <a:rPr lang="bg-BG" sz="2200" smtClean="0">
                <a:solidFill>
                  <a:schemeClr val="tx1"/>
                </a:solidFill>
              </a:rPr>
              <a:t/>
            </a:r>
            <a:br>
              <a:rPr lang="bg-BG" sz="2200" smtClean="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/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 									</a:t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/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/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Ойлеров цикъл: </a:t>
            </a:r>
            <a:r>
              <a:rPr lang="bg-BG" sz="2000">
                <a:solidFill>
                  <a:schemeClr val="tx1"/>
                </a:solidFill>
              </a:rPr>
              <a:t>(1,2),(2,3),(3,4),(4,2),(2,5),(5,3),(3,5),(5,6),(6,3),(3,7),(7,8),(8,1)</a:t>
            </a:r>
            <a:endParaRPr lang="en-US" sz="2200">
              <a:solidFill>
                <a:schemeClr val="tx1"/>
              </a:solidFill>
            </a:endParaRPr>
          </a:p>
        </p:txBody>
      </p:sp>
      <p:sp>
        <p:nvSpPr>
          <p:cNvPr id="62" name="Slide Number Placeholder 6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FE0558-F981-4703-8F31-3428B6BE6A62}" type="slidenum">
              <a:rPr lang="en-US"/>
              <a:pPr>
                <a:defRPr/>
              </a:pPr>
              <a:t>53</a:t>
            </a:fld>
            <a:endParaRPr lang="en-US"/>
          </a:p>
        </p:txBody>
      </p:sp>
      <p:grpSp>
        <p:nvGrpSpPr>
          <p:cNvPr id="57348" name="Group 65"/>
          <p:cNvGrpSpPr>
            <a:grpSpLocks/>
          </p:cNvGrpSpPr>
          <p:nvPr/>
        </p:nvGrpSpPr>
        <p:grpSpPr bwMode="auto">
          <a:xfrm>
            <a:off x="1501775" y="4337050"/>
            <a:ext cx="6946900" cy="1701800"/>
            <a:chOff x="1403648" y="4293096"/>
            <a:chExt cx="6946900" cy="1701800"/>
          </a:xfrm>
        </p:grpSpPr>
        <p:sp>
          <p:nvSpPr>
            <p:cNvPr id="57349" name="Oval 4"/>
            <p:cNvSpPr>
              <a:spLocks noChangeArrowheads="1"/>
            </p:cNvSpPr>
            <p:nvPr/>
          </p:nvSpPr>
          <p:spPr bwMode="auto">
            <a:xfrm>
              <a:off x="1403648" y="4295684"/>
              <a:ext cx="398055" cy="39814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50" name="Oval 5"/>
            <p:cNvSpPr>
              <a:spLocks noChangeArrowheads="1"/>
            </p:cNvSpPr>
            <p:nvPr/>
          </p:nvSpPr>
          <p:spPr bwMode="auto">
            <a:xfrm>
              <a:off x="2923496" y="4874804"/>
              <a:ext cx="398055" cy="39814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51" name="Oval 6"/>
            <p:cNvSpPr>
              <a:spLocks noChangeArrowheads="1"/>
            </p:cNvSpPr>
            <p:nvPr/>
          </p:nvSpPr>
          <p:spPr bwMode="auto">
            <a:xfrm>
              <a:off x="2055011" y="5019584"/>
              <a:ext cx="398055" cy="39814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52" name="Oval 7"/>
            <p:cNvSpPr>
              <a:spLocks noChangeArrowheads="1"/>
            </p:cNvSpPr>
            <p:nvPr/>
          </p:nvSpPr>
          <p:spPr bwMode="auto">
            <a:xfrm>
              <a:off x="2814936" y="5526314"/>
              <a:ext cx="398055" cy="39814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53" name="Oval 8"/>
            <p:cNvSpPr>
              <a:spLocks noChangeArrowheads="1"/>
            </p:cNvSpPr>
            <p:nvPr/>
          </p:nvSpPr>
          <p:spPr bwMode="auto">
            <a:xfrm>
              <a:off x="3828168" y="5164364"/>
              <a:ext cx="398055" cy="39814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54" name="Oval 9"/>
            <p:cNvSpPr>
              <a:spLocks noChangeArrowheads="1"/>
            </p:cNvSpPr>
            <p:nvPr/>
          </p:nvSpPr>
          <p:spPr bwMode="auto">
            <a:xfrm>
              <a:off x="1428407" y="5524409"/>
              <a:ext cx="398055" cy="39814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55" name="Oval 10"/>
            <p:cNvSpPr>
              <a:spLocks noChangeArrowheads="1"/>
            </p:cNvSpPr>
            <p:nvPr/>
          </p:nvSpPr>
          <p:spPr bwMode="auto">
            <a:xfrm>
              <a:off x="3321552" y="4295684"/>
              <a:ext cx="398055" cy="39814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56" name="Oval 11"/>
            <p:cNvSpPr>
              <a:spLocks noChangeArrowheads="1"/>
            </p:cNvSpPr>
            <p:nvPr/>
          </p:nvSpPr>
          <p:spPr bwMode="auto">
            <a:xfrm>
              <a:off x="2344506" y="4295684"/>
              <a:ext cx="398055" cy="39814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57" name="Line 13"/>
            <p:cNvSpPr>
              <a:spLocks noChangeShapeType="1"/>
            </p:cNvSpPr>
            <p:nvPr/>
          </p:nvSpPr>
          <p:spPr bwMode="auto">
            <a:xfrm>
              <a:off x="2742562" y="4476659"/>
              <a:ext cx="5789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58" name="Line 14"/>
            <p:cNvSpPr>
              <a:spLocks noChangeShapeType="1"/>
            </p:cNvSpPr>
            <p:nvPr/>
          </p:nvSpPr>
          <p:spPr bwMode="auto">
            <a:xfrm flipV="1">
              <a:off x="1620769" y="4682399"/>
              <a:ext cx="0" cy="8324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59" name="Line 15"/>
            <p:cNvSpPr>
              <a:spLocks noChangeShapeType="1"/>
            </p:cNvSpPr>
            <p:nvPr/>
          </p:nvSpPr>
          <p:spPr bwMode="auto">
            <a:xfrm flipH="1">
              <a:off x="1837890" y="5743484"/>
              <a:ext cx="97704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60" name="Line 16"/>
            <p:cNvSpPr>
              <a:spLocks noChangeShapeType="1"/>
            </p:cNvSpPr>
            <p:nvPr/>
          </p:nvSpPr>
          <p:spPr bwMode="auto">
            <a:xfrm>
              <a:off x="3647233" y="4657634"/>
              <a:ext cx="361869" cy="5067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61" name="Line 17"/>
            <p:cNvSpPr>
              <a:spLocks noChangeShapeType="1"/>
            </p:cNvSpPr>
            <p:nvPr/>
          </p:nvSpPr>
          <p:spPr bwMode="auto">
            <a:xfrm flipH="1" flipV="1">
              <a:off x="3321552" y="5128169"/>
              <a:ext cx="506616" cy="2171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62" name="Line 18"/>
            <p:cNvSpPr>
              <a:spLocks noChangeShapeType="1"/>
            </p:cNvSpPr>
            <p:nvPr/>
          </p:nvSpPr>
          <p:spPr bwMode="auto">
            <a:xfrm flipH="1">
              <a:off x="3032057" y="5272949"/>
              <a:ext cx="72374" cy="2533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63" name="Line 19"/>
            <p:cNvSpPr>
              <a:spLocks noChangeShapeType="1"/>
            </p:cNvSpPr>
            <p:nvPr/>
          </p:nvSpPr>
          <p:spPr bwMode="auto">
            <a:xfrm flipV="1">
              <a:off x="2308319" y="4657634"/>
              <a:ext cx="144747" cy="3619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64" name="Line 20"/>
            <p:cNvSpPr>
              <a:spLocks noChangeShapeType="1"/>
            </p:cNvSpPr>
            <p:nvPr/>
          </p:nvSpPr>
          <p:spPr bwMode="auto">
            <a:xfrm flipH="1">
              <a:off x="2453067" y="5091974"/>
              <a:ext cx="470429" cy="1085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65" name="Line 21"/>
            <p:cNvSpPr>
              <a:spLocks noChangeShapeType="1"/>
            </p:cNvSpPr>
            <p:nvPr/>
          </p:nvSpPr>
          <p:spPr bwMode="auto">
            <a:xfrm>
              <a:off x="2670188" y="4657634"/>
              <a:ext cx="289495" cy="2895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66" name="Line 22"/>
            <p:cNvSpPr>
              <a:spLocks noChangeShapeType="1"/>
            </p:cNvSpPr>
            <p:nvPr/>
          </p:nvSpPr>
          <p:spPr bwMode="auto">
            <a:xfrm flipV="1">
              <a:off x="3127285" y="4623344"/>
              <a:ext cx="253308" cy="2533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67" name="Line 23"/>
            <p:cNvSpPr>
              <a:spLocks noChangeShapeType="1"/>
            </p:cNvSpPr>
            <p:nvPr/>
          </p:nvSpPr>
          <p:spPr bwMode="auto">
            <a:xfrm flipH="1">
              <a:off x="3239655" y="4705259"/>
              <a:ext cx="217121" cy="2171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68" name="Oval 25"/>
            <p:cNvSpPr>
              <a:spLocks noChangeArrowheads="1"/>
            </p:cNvSpPr>
            <p:nvPr/>
          </p:nvSpPr>
          <p:spPr bwMode="auto">
            <a:xfrm>
              <a:off x="5518448" y="4331196"/>
              <a:ext cx="398463" cy="39846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69" name="Oval 26"/>
            <p:cNvSpPr>
              <a:spLocks noChangeArrowheads="1"/>
            </p:cNvSpPr>
            <p:nvPr/>
          </p:nvSpPr>
          <p:spPr bwMode="auto">
            <a:xfrm>
              <a:off x="7037686" y="4910634"/>
              <a:ext cx="398463" cy="39846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70" name="Oval 27"/>
            <p:cNvSpPr>
              <a:spLocks noChangeArrowheads="1"/>
            </p:cNvSpPr>
            <p:nvPr/>
          </p:nvSpPr>
          <p:spPr bwMode="auto">
            <a:xfrm>
              <a:off x="6169323" y="5055096"/>
              <a:ext cx="398463" cy="39846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71" name="Oval 28"/>
            <p:cNvSpPr>
              <a:spLocks noChangeArrowheads="1"/>
            </p:cNvSpPr>
            <p:nvPr/>
          </p:nvSpPr>
          <p:spPr bwMode="auto">
            <a:xfrm>
              <a:off x="6929736" y="5561509"/>
              <a:ext cx="398463" cy="39846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72" name="Oval 29"/>
            <p:cNvSpPr>
              <a:spLocks noChangeArrowheads="1"/>
            </p:cNvSpPr>
            <p:nvPr/>
          </p:nvSpPr>
          <p:spPr bwMode="auto">
            <a:xfrm>
              <a:off x="7942561" y="5199559"/>
              <a:ext cx="398463" cy="39846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73" name="Oval 30"/>
            <p:cNvSpPr>
              <a:spLocks noChangeArrowheads="1"/>
            </p:cNvSpPr>
            <p:nvPr/>
          </p:nvSpPr>
          <p:spPr bwMode="auto">
            <a:xfrm>
              <a:off x="5543848" y="5559921"/>
              <a:ext cx="396875" cy="39846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74" name="Oval 31"/>
            <p:cNvSpPr>
              <a:spLocks noChangeArrowheads="1"/>
            </p:cNvSpPr>
            <p:nvPr/>
          </p:nvSpPr>
          <p:spPr bwMode="auto">
            <a:xfrm>
              <a:off x="7436148" y="4331196"/>
              <a:ext cx="398463" cy="39846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75" name="Oval 32"/>
            <p:cNvSpPr>
              <a:spLocks noChangeArrowheads="1"/>
            </p:cNvSpPr>
            <p:nvPr/>
          </p:nvSpPr>
          <p:spPr bwMode="auto">
            <a:xfrm>
              <a:off x="6459836" y="4331196"/>
              <a:ext cx="396875" cy="39846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76" name="Line 33"/>
            <p:cNvSpPr>
              <a:spLocks noChangeShapeType="1"/>
            </p:cNvSpPr>
            <p:nvPr/>
          </p:nvSpPr>
          <p:spPr bwMode="auto">
            <a:xfrm>
              <a:off x="5916911" y="4512171"/>
              <a:ext cx="5429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77" name="Line 34"/>
            <p:cNvSpPr>
              <a:spLocks noChangeShapeType="1"/>
            </p:cNvSpPr>
            <p:nvPr/>
          </p:nvSpPr>
          <p:spPr bwMode="auto">
            <a:xfrm>
              <a:off x="6856711" y="4512171"/>
              <a:ext cx="5794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78" name="Line 36"/>
            <p:cNvSpPr>
              <a:spLocks noChangeShapeType="1"/>
            </p:cNvSpPr>
            <p:nvPr/>
          </p:nvSpPr>
          <p:spPr bwMode="auto">
            <a:xfrm flipH="1">
              <a:off x="5953423" y="5778996"/>
              <a:ext cx="9763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79" name="Line 37"/>
            <p:cNvSpPr>
              <a:spLocks noChangeShapeType="1"/>
            </p:cNvSpPr>
            <p:nvPr/>
          </p:nvSpPr>
          <p:spPr bwMode="auto">
            <a:xfrm>
              <a:off x="7761586" y="4693146"/>
              <a:ext cx="361950" cy="5064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80" name="Line 38"/>
            <p:cNvSpPr>
              <a:spLocks noChangeShapeType="1"/>
            </p:cNvSpPr>
            <p:nvPr/>
          </p:nvSpPr>
          <p:spPr bwMode="auto">
            <a:xfrm flipH="1" flipV="1">
              <a:off x="7436148" y="5163046"/>
              <a:ext cx="506413" cy="2174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81" name="Line 39"/>
            <p:cNvSpPr>
              <a:spLocks noChangeShapeType="1"/>
            </p:cNvSpPr>
            <p:nvPr/>
          </p:nvSpPr>
          <p:spPr bwMode="auto">
            <a:xfrm flipH="1">
              <a:off x="7147223" y="5309096"/>
              <a:ext cx="71438" cy="2524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82" name="Line 40"/>
            <p:cNvSpPr>
              <a:spLocks noChangeShapeType="1"/>
            </p:cNvSpPr>
            <p:nvPr/>
          </p:nvSpPr>
          <p:spPr bwMode="auto">
            <a:xfrm flipV="1">
              <a:off x="6423323" y="4693146"/>
              <a:ext cx="144463" cy="3619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83" name="Line 41"/>
            <p:cNvSpPr>
              <a:spLocks noChangeShapeType="1"/>
            </p:cNvSpPr>
            <p:nvPr/>
          </p:nvSpPr>
          <p:spPr bwMode="auto">
            <a:xfrm flipH="1">
              <a:off x="6567786" y="5128121"/>
              <a:ext cx="469900" cy="1079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84" name="Line 42"/>
            <p:cNvSpPr>
              <a:spLocks noChangeShapeType="1"/>
            </p:cNvSpPr>
            <p:nvPr/>
          </p:nvSpPr>
          <p:spPr bwMode="auto">
            <a:xfrm>
              <a:off x="6785273" y="4693146"/>
              <a:ext cx="288925" cy="2889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85" name="Line 43"/>
            <p:cNvSpPr>
              <a:spLocks noChangeShapeType="1"/>
            </p:cNvSpPr>
            <p:nvPr/>
          </p:nvSpPr>
          <p:spPr bwMode="auto">
            <a:xfrm flipV="1">
              <a:off x="7242473" y="4658221"/>
              <a:ext cx="252413" cy="254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86" name="Line 44"/>
            <p:cNvSpPr>
              <a:spLocks noChangeShapeType="1"/>
            </p:cNvSpPr>
            <p:nvPr/>
          </p:nvSpPr>
          <p:spPr bwMode="auto">
            <a:xfrm flipH="1">
              <a:off x="7355186" y="4740771"/>
              <a:ext cx="215900" cy="2174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7387" name="Text Box 46"/>
            <p:cNvSpPr txBox="1">
              <a:spLocks noChangeArrowheads="1"/>
            </p:cNvSpPr>
            <p:nvPr/>
          </p:nvSpPr>
          <p:spPr bwMode="auto">
            <a:xfrm>
              <a:off x="1441748" y="4305796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1</a:t>
              </a:r>
              <a:endParaRPr lang="en-US"/>
            </a:p>
          </p:txBody>
        </p:sp>
        <p:sp>
          <p:nvSpPr>
            <p:cNvPr id="57388" name="Text Box 47"/>
            <p:cNvSpPr txBox="1">
              <a:spLocks noChangeArrowheads="1"/>
            </p:cNvSpPr>
            <p:nvPr/>
          </p:nvSpPr>
          <p:spPr bwMode="auto">
            <a:xfrm>
              <a:off x="5556548" y="4293096"/>
              <a:ext cx="4191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1</a:t>
              </a:r>
              <a:endParaRPr lang="en-US"/>
            </a:p>
          </p:txBody>
        </p:sp>
        <p:sp>
          <p:nvSpPr>
            <p:cNvPr id="57389" name="Text Box 48"/>
            <p:cNvSpPr txBox="1">
              <a:spLocks noChangeArrowheads="1"/>
            </p:cNvSpPr>
            <p:nvPr/>
          </p:nvSpPr>
          <p:spPr bwMode="auto">
            <a:xfrm>
              <a:off x="2368848" y="4293096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2</a:t>
              </a:r>
              <a:endParaRPr lang="en-US"/>
            </a:p>
          </p:txBody>
        </p:sp>
        <p:sp>
          <p:nvSpPr>
            <p:cNvPr id="57390" name="Text Box 49"/>
            <p:cNvSpPr txBox="1">
              <a:spLocks noChangeArrowheads="1"/>
            </p:cNvSpPr>
            <p:nvPr/>
          </p:nvSpPr>
          <p:spPr bwMode="auto">
            <a:xfrm>
              <a:off x="6509048" y="4293096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2</a:t>
              </a:r>
              <a:endParaRPr lang="en-US"/>
            </a:p>
          </p:txBody>
        </p:sp>
        <p:sp>
          <p:nvSpPr>
            <p:cNvPr id="57391" name="Text Box 50"/>
            <p:cNvSpPr txBox="1">
              <a:spLocks noChangeArrowheads="1"/>
            </p:cNvSpPr>
            <p:nvPr/>
          </p:nvSpPr>
          <p:spPr bwMode="auto">
            <a:xfrm>
              <a:off x="2953048" y="4877296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3</a:t>
              </a:r>
              <a:endParaRPr lang="en-US"/>
            </a:p>
          </p:txBody>
        </p:sp>
        <p:sp>
          <p:nvSpPr>
            <p:cNvPr id="57392" name="Text Box 51"/>
            <p:cNvSpPr txBox="1">
              <a:spLocks noChangeArrowheads="1"/>
            </p:cNvSpPr>
            <p:nvPr/>
          </p:nvSpPr>
          <p:spPr bwMode="auto">
            <a:xfrm>
              <a:off x="7067848" y="4864596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3</a:t>
              </a:r>
              <a:endParaRPr lang="en-US"/>
            </a:p>
          </p:txBody>
        </p:sp>
        <p:sp>
          <p:nvSpPr>
            <p:cNvPr id="57393" name="Text Box 52"/>
            <p:cNvSpPr txBox="1">
              <a:spLocks noChangeArrowheads="1"/>
            </p:cNvSpPr>
            <p:nvPr/>
          </p:nvSpPr>
          <p:spPr bwMode="auto">
            <a:xfrm>
              <a:off x="3346748" y="4293096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5</a:t>
              </a:r>
              <a:endParaRPr lang="en-US"/>
            </a:p>
          </p:txBody>
        </p:sp>
        <p:sp>
          <p:nvSpPr>
            <p:cNvPr id="57394" name="Text Box 53"/>
            <p:cNvSpPr txBox="1">
              <a:spLocks noChangeArrowheads="1"/>
            </p:cNvSpPr>
            <p:nvPr/>
          </p:nvSpPr>
          <p:spPr bwMode="auto">
            <a:xfrm>
              <a:off x="7474248" y="4293096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5</a:t>
              </a:r>
              <a:endParaRPr lang="en-US"/>
            </a:p>
          </p:txBody>
        </p:sp>
        <p:sp>
          <p:nvSpPr>
            <p:cNvPr id="57395" name="Text Box 54"/>
            <p:cNvSpPr txBox="1">
              <a:spLocks noChangeArrowheads="1"/>
            </p:cNvSpPr>
            <p:nvPr/>
          </p:nvSpPr>
          <p:spPr bwMode="auto">
            <a:xfrm>
              <a:off x="3854748" y="5169396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6</a:t>
              </a:r>
              <a:endParaRPr lang="en-US"/>
            </a:p>
          </p:txBody>
        </p:sp>
        <p:sp>
          <p:nvSpPr>
            <p:cNvPr id="57396" name="Text Box 55"/>
            <p:cNvSpPr txBox="1">
              <a:spLocks noChangeArrowheads="1"/>
            </p:cNvSpPr>
            <p:nvPr/>
          </p:nvSpPr>
          <p:spPr bwMode="auto">
            <a:xfrm>
              <a:off x="7969548" y="5169396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6</a:t>
              </a:r>
              <a:endParaRPr lang="en-US"/>
            </a:p>
          </p:txBody>
        </p:sp>
        <p:sp>
          <p:nvSpPr>
            <p:cNvPr id="57397" name="Text Box 56"/>
            <p:cNvSpPr txBox="1">
              <a:spLocks noChangeArrowheads="1"/>
            </p:cNvSpPr>
            <p:nvPr/>
          </p:nvSpPr>
          <p:spPr bwMode="auto">
            <a:xfrm>
              <a:off x="2838748" y="5524996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7</a:t>
              </a:r>
              <a:endParaRPr lang="en-US"/>
            </a:p>
          </p:txBody>
        </p:sp>
        <p:sp>
          <p:nvSpPr>
            <p:cNvPr id="57398" name="Text Box 57"/>
            <p:cNvSpPr txBox="1">
              <a:spLocks noChangeArrowheads="1"/>
            </p:cNvSpPr>
            <p:nvPr/>
          </p:nvSpPr>
          <p:spPr bwMode="auto">
            <a:xfrm>
              <a:off x="6966248" y="5537696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7</a:t>
              </a:r>
              <a:endParaRPr lang="en-US"/>
            </a:p>
          </p:txBody>
        </p:sp>
        <p:sp>
          <p:nvSpPr>
            <p:cNvPr id="57399" name="Text Box 58"/>
            <p:cNvSpPr txBox="1">
              <a:spLocks noChangeArrowheads="1"/>
            </p:cNvSpPr>
            <p:nvPr/>
          </p:nvSpPr>
          <p:spPr bwMode="auto">
            <a:xfrm>
              <a:off x="2076748" y="5029696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4</a:t>
              </a:r>
              <a:endParaRPr lang="en-US"/>
            </a:p>
          </p:txBody>
        </p:sp>
        <p:sp>
          <p:nvSpPr>
            <p:cNvPr id="57400" name="Text Box 59"/>
            <p:cNvSpPr txBox="1">
              <a:spLocks noChangeArrowheads="1"/>
            </p:cNvSpPr>
            <p:nvPr/>
          </p:nvSpPr>
          <p:spPr bwMode="auto">
            <a:xfrm>
              <a:off x="6178848" y="5016996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4</a:t>
              </a:r>
              <a:endParaRPr lang="en-US"/>
            </a:p>
          </p:txBody>
        </p:sp>
        <p:sp>
          <p:nvSpPr>
            <p:cNvPr id="57401" name="Text Box 60"/>
            <p:cNvSpPr txBox="1">
              <a:spLocks noChangeArrowheads="1"/>
            </p:cNvSpPr>
            <p:nvPr/>
          </p:nvSpPr>
          <p:spPr bwMode="auto">
            <a:xfrm>
              <a:off x="1454448" y="5524996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8</a:t>
              </a:r>
              <a:endParaRPr lang="en-US"/>
            </a:p>
          </p:txBody>
        </p:sp>
        <p:sp>
          <p:nvSpPr>
            <p:cNvPr id="57402" name="Text Box 61"/>
            <p:cNvSpPr txBox="1">
              <a:spLocks noChangeArrowheads="1"/>
            </p:cNvSpPr>
            <p:nvPr/>
          </p:nvSpPr>
          <p:spPr bwMode="auto">
            <a:xfrm>
              <a:off x="5581948" y="5524996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8</a:t>
              </a:r>
              <a:endParaRPr lang="en-US"/>
            </a:p>
          </p:txBody>
        </p:sp>
        <p:cxnSp>
          <p:nvCxnSpPr>
            <p:cNvPr id="63" name="Straight Connector 62"/>
            <p:cNvCxnSpPr>
              <a:stCxn id="57387" idx="3"/>
              <a:endCxn id="57356" idx="2"/>
            </p:cNvCxnSpPr>
            <p:nvPr/>
          </p:nvCxnSpPr>
          <p:spPr>
            <a:xfrm flipV="1">
              <a:off x="1822748" y="4494709"/>
              <a:ext cx="522288" cy="396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620713"/>
            <a:ext cx="7921625" cy="5715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200" b="1" i="1">
                <a:solidFill>
                  <a:schemeClr val="tx1"/>
                </a:solidFill>
              </a:rPr>
              <a:t>Теорема 2.</a:t>
            </a:r>
            <a:r>
              <a:rPr lang="bg-BG" sz="2200">
                <a:solidFill>
                  <a:schemeClr val="tx1"/>
                </a:solidFill>
              </a:rPr>
              <a:t> Свързан ориентиран мултиграф съдържа Ойлеров цикъл тогава и само тогава, когато полустепента на входа </a:t>
            </a:r>
            <a:r>
              <a:rPr lang="en-US" sz="2200" i="1">
                <a:solidFill>
                  <a:schemeClr val="tx1"/>
                </a:solidFill>
              </a:rPr>
              <a:t>d’(i)</a:t>
            </a:r>
            <a:r>
              <a:rPr lang="en-US" sz="2200">
                <a:solidFill>
                  <a:schemeClr val="tx1"/>
                </a:solidFill>
              </a:rPr>
              <a:t> н</a:t>
            </a:r>
            <a:r>
              <a:rPr lang="bg-BG" sz="2200">
                <a:solidFill>
                  <a:schemeClr val="tx1"/>
                </a:solidFill>
              </a:rPr>
              <a:t>а всеки връх</a:t>
            </a:r>
            <a:r>
              <a:rPr lang="en-US" sz="2200">
                <a:solidFill>
                  <a:schemeClr val="tx1"/>
                </a:solidFill>
              </a:rPr>
              <a:t> </a:t>
            </a:r>
            <a:r>
              <a:rPr lang="en-US" sz="2200" i="1">
                <a:solidFill>
                  <a:schemeClr val="tx1"/>
                </a:solidFill>
              </a:rPr>
              <a:t>i</a:t>
            </a:r>
            <a:r>
              <a:rPr lang="en-US" sz="2200">
                <a:solidFill>
                  <a:schemeClr val="tx1"/>
                </a:solidFill>
              </a:rPr>
              <a:t> </a:t>
            </a:r>
            <a:r>
              <a:rPr lang="bg-BG" sz="2200">
                <a:solidFill>
                  <a:schemeClr val="tx1"/>
                </a:solidFill>
              </a:rPr>
              <a:t>е равна на полустепента на изхода </a:t>
            </a:r>
            <a:r>
              <a:rPr lang="en-US" sz="2200" i="1">
                <a:solidFill>
                  <a:schemeClr val="tx1"/>
                </a:solidFill>
              </a:rPr>
              <a:t>d(i)</a:t>
            </a:r>
            <a:r>
              <a:rPr lang="bg-BG" sz="2200" i="1">
                <a:solidFill>
                  <a:schemeClr val="tx1"/>
                </a:solidFill>
              </a:rPr>
              <a:t>, </a:t>
            </a:r>
            <a:r>
              <a:rPr lang="bg-BG" sz="2200">
                <a:solidFill>
                  <a:schemeClr val="tx1"/>
                </a:solidFill>
              </a:rPr>
              <a:t>т.е.</a:t>
            </a:r>
            <a:r>
              <a:rPr lang="bg-BG" sz="2200" i="1">
                <a:solidFill>
                  <a:schemeClr val="tx1"/>
                </a:solidFill>
              </a:rPr>
              <a:t> </a:t>
            </a:r>
            <a:r>
              <a:rPr lang="en-US" sz="2200" i="1">
                <a:solidFill>
                  <a:schemeClr val="tx1"/>
                </a:solidFill>
              </a:rPr>
              <a:t>d’(i)</a:t>
            </a:r>
            <a:r>
              <a:rPr lang="en-US" sz="2200">
                <a:solidFill>
                  <a:schemeClr val="tx1"/>
                </a:solidFill>
              </a:rPr>
              <a:t>=</a:t>
            </a:r>
            <a:r>
              <a:rPr lang="en-US" sz="2200" i="1">
                <a:solidFill>
                  <a:schemeClr val="tx1"/>
                </a:solidFill>
              </a:rPr>
              <a:t>d(i)</a:t>
            </a:r>
            <a:r>
              <a:rPr lang="bg-BG" sz="2200" i="1">
                <a:solidFill>
                  <a:schemeClr val="tx1"/>
                </a:solidFill>
              </a:rPr>
              <a:t> </a:t>
            </a:r>
            <a:r>
              <a:rPr lang="bg-BG" sz="2200">
                <a:solidFill>
                  <a:schemeClr val="tx1"/>
                </a:solidFill>
              </a:rPr>
              <a:t>за всеки възел</a:t>
            </a:r>
            <a:r>
              <a:rPr lang="bg-BG" sz="2200" i="1">
                <a:solidFill>
                  <a:schemeClr val="tx1"/>
                </a:solidFill>
              </a:rPr>
              <a:t> </a:t>
            </a:r>
            <a:r>
              <a:rPr lang="en-US" sz="2200" i="1">
                <a:solidFill>
                  <a:schemeClr val="tx1"/>
                </a:solidFill>
              </a:rPr>
              <a:t> i</a:t>
            </a:r>
            <a:r>
              <a:rPr lang="en-US" sz="2200">
                <a:solidFill>
                  <a:schemeClr val="tx1"/>
                </a:solidFill>
              </a:rPr>
              <a:t> </a:t>
            </a:r>
            <a:r>
              <a:rPr lang="bg-BG" sz="2200">
                <a:solidFill>
                  <a:schemeClr val="tx1"/>
                </a:solidFill>
              </a:rPr>
              <a:t>в множеството</a:t>
            </a:r>
            <a:r>
              <a:rPr lang="bg-BG" sz="2200" i="1">
                <a:solidFill>
                  <a:schemeClr val="tx1"/>
                </a:solidFill>
              </a:rPr>
              <a:t> </a:t>
            </a:r>
            <a:r>
              <a:rPr lang="en-US" sz="2200" i="1">
                <a:solidFill>
                  <a:schemeClr val="tx1"/>
                </a:solidFill>
              </a:rPr>
              <a:t>V</a:t>
            </a:r>
            <a:r>
              <a:rPr lang="bg-BG" sz="2200">
                <a:solidFill>
                  <a:schemeClr val="tx1"/>
                </a:solidFill>
              </a:rPr>
              <a:t>.</a:t>
            </a:r>
            <a:r>
              <a:rPr lang="bg-BG" sz="1000">
                <a:solidFill>
                  <a:schemeClr val="tx1"/>
                </a:solidFill>
              </a:rPr>
              <a:t/>
            </a:r>
            <a:br>
              <a:rPr lang="bg-BG" sz="1000">
                <a:solidFill>
                  <a:schemeClr val="tx1"/>
                </a:solidFill>
              </a:rPr>
            </a:br>
            <a:r>
              <a:rPr lang="bg-BG" sz="1000">
                <a:solidFill>
                  <a:schemeClr val="tx1"/>
                </a:solidFill>
              </a:rPr>
              <a:t/>
            </a:r>
            <a:br>
              <a:rPr lang="bg-BG" sz="1000">
                <a:solidFill>
                  <a:schemeClr val="tx1"/>
                </a:solidFill>
              </a:rPr>
            </a:br>
            <a:r>
              <a:rPr lang="bg-BG" sz="2200" b="1" i="1">
                <a:solidFill>
                  <a:schemeClr val="tx1"/>
                </a:solidFill>
              </a:rPr>
              <a:t>Следствие 2.</a:t>
            </a:r>
            <a:r>
              <a:rPr lang="bg-BG" sz="2200">
                <a:solidFill>
                  <a:schemeClr val="tx1"/>
                </a:solidFill>
              </a:rPr>
              <a:t> Свързан ориентиран мултиграф съдържа Ойлеров път тогава и само тогава, когато има точно два върха </a:t>
            </a:r>
            <a:r>
              <a:rPr lang="en-US" sz="2200" i="1">
                <a:solidFill>
                  <a:schemeClr val="tx1"/>
                </a:solidFill>
              </a:rPr>
              <a:t>i</a:t>
            </a:r>
            <a:r>
              <a:rPr lang="en-US" sz="2200">
                <a:solidFill>
                  <a:schemeClr val="tx1"/>
                </a:solidFill>
              </a:rPr>
              <a:t> </a:t>
            </a:r>
            <a:r>
              <a:rPr lang="bg-BG" sz="2200">
                <a:solidFill>
                  <a:schemeClr val="tx1"/>
                </a:solidFill>
              </a:rPr>
              <a:t>и </a:t>
            </a:r>
            <a:r>
              <a:rPr lang="en-US" sz="2200" i="1">
                <a:solidFill>
                  <a:schemeClr val="tx1"/>
                </a:solidFill>
              </a:rPr>
              <a:t>j</a:t>
            </a:r>
            <a:r>
              <a:rPr lang="bg-BG" sz="2200">
                <a:solidFill>
                  <a:schemeClr val="tx1"/>
                </a:solidFill>
              </a:rPr>
              <a:t>, такива че </a:t>
            </a:r>
            <a:r>
              <a:rPr lang="en-US" sz="2200">
                <a:solidFill>
                  <a:schemeClr val="tx1"/>
                </a:solidFill>
              </a:rPr>
              <a:t> </a:t>
            </a:r>
            <a:r>
              <a:rPr lang="en-US" sz="2200" i="1">
                <a:solidFill>
                  <a:schemeClr val="tx1"/>
                </a:solidFill>
              </a:rPr>
              <a:t>d’(i)=d(i)+1</a:t>
            </a:r>
            <a:r>
              <a:rPr lang="bg-BG" sz="2200">
                <a:solidFill>
                  <a:schemeClr val="tx1"/>
                </a:solidFill>
              </a:rPr>
              <a:t>,</a:t>
            </a:r>
            <a:r>
              <a:rPr lang="bg-BG" sz="2200" i="1">
                <a:solidFill>
                  <a:schemeClr val="tx1"/>
                </a:solidFill>
              </a:rPr>
              <a:t>  </a:t>
            </a:r>
            <a:r>
              <a:rPr lang="en-US" sz="2200" i="1">
                <a:solidFill>
                  <a:schemeClr val="tx1"/>
                </a:solidFill>
              </a:rPr>
              <a:t>d’(j)=d(j)-1</a:t>
            </a:r>
            <a:r>
              <a:rPr lang="bg-BG" sz="2200">
                <a:solidFill>
                  <a:schemeClr val="tx1"/>
                </a:solidFill>
              </a:rPr>
              <a:t> и  </a:t>
            </a:r>
            <a:r>
              <a:rPr lang="en-US" sz="2200" i="1">
                <a:solidFill>
                  <a:schemeClr val="tx1"/>
                </a:solidFill>
              </a:rPr>
              <a:t>d’(k)=d(k)</a:t>
            </a:r>
            <a:r>
              <a:rPr lang="bg-BG" sz="2200">
                <a:solidFill>
                  <a:schemeClr val="tx1"/>
                </a:solidFill>
              </a:rPr>
              <a:t> </a:t>
            </a:r>
            <a:r>
              <a:rPr lang="en-US" sz="2200">
                <a:solidFill>
                  <a:schemeClr val="tx1"/>
                </a:solidFill>
              </a:rPr>
              <a:t> </a:t>
            </a:r>
            <a:r>
              <a:rPr lang="bg-BG" sz="2200">
                <a:solidFill>
                  <a:schemeClr val="tx1"/>
                </a:solidFill>
              </a:rPr>
              <a:t>за всяко </a:t>
            </a:r>
            <a:r>
              <a:rPr lang="en-US" sz="2200" i="1">
                <a:solidFill>
                  <a:schemeClr val="tx1"/>
                </a:solidFill>
              </a:rPr>
              <a:t>k</a:t>
            </a:r>
            <a:r>
              <a:rPr lang="en-US" sz="2200">
                <a:solidFill>
                  <a:schemeClr val="tx1"/>
                </a:solidFill>
              </a:rPr>
              <a:t> </a:t>
            </a:r>
            <a:r>
              <a:rPr lang="bg-BG" sz="2200">
                <a:solidFill>
                  <a:schemeClr val="tx1"/>
                </a:solidFill>
              </a:rPr>
              <a:t>от множеството </a:t>
            </a:r>
            <a:r>
              <a:rPr lang="en-US" sz="2200" i="1">
                <a:solidFill>
                  <a:schemeClr val="tx1"/>
                </a:solidFill>
              </a:rPr>
              <a:t>V</a:t>
            </a:r>
            <a:r>
              <a:rPr lang="bg-BG" sz="2200">
                <a:solidFill>
                  <a:schemeClr val="tx1"/>
                </a:solidFill>
              </a:rPr>
              <a:t>, когато </a:t>
            </a:r>
            <a:r>
              <a:rPr lang="en-US" sz="2200">
                <a:solidFill>
                  <a:schemeClr val="tx1"/>
                </a:solidFill>
              </a:rPr>
              <a:t> </a:t>
            </a:r>
            <a:r>
              <a:rPr lang="en-US" sz="2200" i="1">
                <a:solidFill>
                  <a:schemeClr val="tx1"/>
                </a:solidFill>
              </a:rPr>
              <a:t>k&lt;&gt;i, k&lt;&gt;j</a:t>
            </a:r>
            <a:r>
              <a:rPr lang="en-US" sz="2200">
                <a:solidFill>
                  <a:schemeClr val="tx1"/>
                </a:solidFill>
              </a:rPr>
              <a:t>. </a:t>
            </a:r>
            <a:r>
              <a:rPr lang="bg-BG" sz="2200">
                <a:solidFill>
                  <a:schemeClr val="tx1"/>
                </a:solidFill>
              </a:rPr>
              <a:t/>
            </a:r>
            <a:br>
              <a:rPr lang="bg-BG" sz="2200">
                <a:solidFill>
                  <a:schemeClr val="tx1"/>
                </a:solidFill>
              </a:rPr>
            </a:br>
            <a:r>
              <a:rPr lang="bg-BG" sz="2200">
                <a:solidFill>
                  <a:schemeClr val="tx1"/>
                </a:solidFill>
              </a:rPr>
              <a:t>(На дясната фигура: </a:t>
            </a:r>
            <a:r>
              <a:rPr lang="en-US" sz="2200">
                <a:solidFill>
                  <a:schemeClr val="tx1"/>
                </a:solidFill>
              </a:rPr>
              <a:t>i=</a:t>
            </a:r>
            <a:r>
              <a:rPr lang="bg-BG" sz="2200">
                <a:solidFill>
                  <a:schemeClr val="tx1"/>
                </a:solidFill>
              </a:rPr>
              <a:t>8, </a:t>
            </a:r>
            <a:r>
              <a:rPr lang="en-US" sz="2200">
                <a:solidFill>
                  <a:schemeClr val="tx1"/>
                </a:solidFill>
              </a:rPr>
              <a:t> j</a:t>
            </a:r>
            <a:r>
              <a:rPr lang="bg-BG" sz="2200" smtClean="0">
                <a:solidFill>
                  <a:schemeClr val="tx1"/>
                </a:solidFill>
              </a:rPr>
              <a:t>=</a:t>
            </a:r>
            <a:r>
              <a:rPr lang="bg-BG" sz="220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bg-BG" sz="2200" smtClean="0">
                <a:solidFill>
                  <a:schemeClr val="tx1"/>
                </a:solidFill>
              </a:rPr>
              <a:t>, </a:t>
            </a:r>
            <a:r>
              <a:rPr lang="en-US" sz="2200">
                <a:solidFill>
                  <a:schemeClr val="tx1"/>
                </a:solidFill>
              </a:rPr>
              <a:t>k=</a:t>
            </a:r>
            <a:r>
              <a:rPr lang="bg-BG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2, 3, 4, 5, 6, 7</a:t>
            </a:r>
            <a:r>
              <a:rPr lang="bg-BG" sz="2200">
                <a:solidFill>
                  <a:schemeClr val="tx1"/>
                </a:solidFill>
              </a:rPr>
              <a:t>)</a:t>
            </a:r>
            <a:r>
              <a:rPr lang="en-US" sz="2200">
                <a:solidFill>
                  <a:schemeClr val="tx1"/>
                </a:solidFill>
              </a:rPr>
              <a:t> </a:t>
            </a:r>
            <a:r>
              <a:rPr lang="bg-BG" sz="22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2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2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2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2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2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2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2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2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2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2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2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2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200">
                <a:solidFill>
                  <a:schemeClr val="tx2">
                    <a:satMod val="130000"/>
                  </a:schemeClr>
                </a:solidFill>
              </a:rPr>
            </a:br>
            <a:endParaRPr lang="en-US" sz="2200">
              <a:solidFill>
                <a:schemeClr val="tx2">
                  <a:satMod val="130000"/>
                </a:schemeClr>
              </a:solidFill>
            </a:endParaRPr>
          </a:p>
        </p:txBody>
      </p:sp>
      <p:grpSp>
        <p:nvGrpSpPr>
          <p:cNvPr id="58371" name="Group 60"/>
          <p:cNvGrpSpPr>
            <a:grpSpLocks/>
          </p:cNvGrpSpPr>
          <p:nvPr/>
        </p:nvGrpSpPr>
        <p:grpSpPr bwMode="auto">
          <a:xfrm>
            <a:off x="1644650" y="4305300"/>
            <a:ext cx="6581775" cy="1739900"/>
            <a:chOff x="1219200" y="4305300"/>
            <a:chExt cx="6581775" cy="1739900"/>
          </a:xfrm>
        </p:grpSpPr>
        <p:grpSp>
          <p:nvGrpSpPr>
            <p:cNvPr id="58373" name="Group 3"/>
            <p:cNvGrpSpPr>
              <a:grpSpLocks/>
            </p:cNvGrpSpPr>
            <p:nvPr/>
          </p:nvGrpSpPr>
          <p:grpSpPr bwMode="auto">
            <a:xfrm>
              <a:off x="1219200" y="4343400"/>
              <a:ext cx="2822575" cy="1628775"/>
              <a:chOff x="3477" y="1425"/>
              <a:chExt cx="4446" cy="2565"/>
            </a:xfrm>
          </p:grpSpPr>
          <p:sp>
            <p:nvSpPr>
              <p:cNvPr id="58410" name="Oval 4"/>
              <p:cNvSpPr>
                <a:spLocks noChangeArrowheads="1"/>
              </p:cNvSpPr>
              <p:nvPr/>
            </p:nvSpPr>
            <p:spPr bwMode="auto">
              <a:xfrm>
                <a:off x="3477" y="1425"/>
                <a:ext cx="627" cy="62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11" name="Oval 5"/>
              <p:cNvSpPr>
                <a:spLocks noChangeArrowheads="1"/>
              </p:cNvSpPr>
              <p:nvPr/>
            </p:nvSpPr>
            <p:spPr bwMode="auto">
              <a:xfrm>
                <a:off x="5871" y="2337"/>
                <a:ext cx="627" cy="62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12" name="Oval 6"/>
              <p:cNvSpPr>
                <a:spLocks noChangeArrowheads="1"/>
              </p:cNvSpPr>
              <p:nvPr/>
            </p:nvSpPr>
            <p:spPr bwMode="auto">
              <a:xfrm>
                <a:off x="4503" y="2565"/>
                <a:ext cx="627" cy="62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13" name="Oval 7"/>
              <p:cNvSpPr>
                <a:spLocks noChangeArrowheads="1"/>
              </p:cNvSpPr>
              <p:nvPr/>
            </p:nvSpPr>
            <p:spPr bwMode="auto">
              <a:xfrm>
                <a:off x="5700" y="3363"/>
                <a:ext cx="627" cy="62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14" name="Oval 8"/>
              <p:cNvSpPr>
                <a:spLocks noChangeArrowheads="1"/>
              </p:cNvSpPr>
              <p:nvPr/>
            </p:nvSpPr>
            <p:spPr bwMode="auto">
              <a:xfrm>
                <a:off x="7296" y="2793"/>
                <a:ext cx="627" cy="62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15" name="Oval 9"/>
              <p:cNvSpPr>
                <a:spLocks noChangeArrowheads="1"/>
              </p:cNvSpPr>
              <p:nvPr/>
            </p:nvSpPr>
            <p:spPr bwMode="auto">
              <a:xfrm>
                <a:off x="3516" y="3360"/>
                <a:ext cx="627" cy="62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16" name="Oval 10"/>
              <p:cNvSpPr>
                <a:spLocks noChangeArrowheads="1"/>
              </p:cNvSpPr>
              <p:nvPr/>
            </p:nvSpPr>
            <p:spPr bwMode="auto">
              <a:xfrm>
                <a:off x="6498" y="1425"/>
                <a:ext cx="627" cy="62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17" name="Oval 11"/>
              <p:cNvSpPr>
                <a:spLocks noChangeArrowheads="1"/>
              </p:cNvSpPr>
              <p:nvPr/>
            </p:nvSpPr>
            <p:spPr bwMode="auto">
              <a:xfrm>
                <a:off x="4959" y="1425"/>
                <a:ext cx="627" cy="62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18" name="Line 12"/>
              <p:cNvSpPr>
                <a:spLocks noChangeShapeType="1"/>
              </p:cNvSpPr>
              <p:nvPr/>
            </p:nvSpPr>
            <p:spPr bwMode="auto">
              <a:xfrm>
                <a:off x="4104" y="1710"/>
                <a:ext cx="85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19" name="Line 13"/>
              <p:cNvSpPr>
                <a:spLocks noChangeShapeType="1"/>
              </p:cNvSpPr>
              <p:nvPr/>
            </p:nvSpPr>
            <p:spPr bwMode="auto">
              <a:xfrm>
                <a:off x="5586" y="1710"/>
                <a:ext cx="9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20" name="Line 14"/>
              <p:cNvSpPr>
                <a:spLocks noChangeShapeType="1"/>
              </p:cNvSpPr>
              <p:nvPr/>
            </p:nvSpPr>
            <p:spPr bwMode="auto">
              <a:xfrm flipV="1">
                <a:off x="3819" y="2034"/>
                <a:ext cx="0" cy="13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21" name="Line 15"/>
              <p:cNvSpPr>
                <a:spLocks noChangeShapeType="1"/>
              </p:cNvSpPr>
              <p:nvPr/>
            </p:nvSpPr>
            <p:spPr bwMode="auto">
              <a:xfrm flipH="1">
                <a:off x="4161" y="3705"/>
                <a:ext cx="153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22" name="Line 16"/>
              <p:cNvSpPr>
                <a:spLocks noChangeShapeType="1"/>
              </p:cNvSpPr>
              <p:nvPr/>
            </p:nvSpPr>
            <p:spPr bwMode="auto">
              <a:xfrm>
                <a:off x="7011" y="1995"/>
                <a:ext cx="570" cy="79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23" name="Line 17"/>
              <p:cNvSpPr>
                <a:spLocks noChangeShapeType="1"/>
              </p:cNvSpPr>
              <p:nvPr/>
            </p:nvSpPr>
            <p:spPr bwMode="auto">
              <a:xfrm flipH="1" flipV="1">
                <a:off x="6498" y="2736"/>
                <a:ext cx="798" cy="3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24" name="Line 18"/>
              <p:cNvSpPr>
                <a:spLocks noChangeShapeType="1"/>
              </p:cNvSpPr>
              <p:nvPr/>
            </p:nvSpPr>
            <p:spPr bwMode="auto">
              <a:xfrm flipH="1">
                <a:off x="6042" y="2964"/>
                <a:ext cx="114" cy="39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25" name="Line 19"/>
              <p:cNvSpPr>
                <a:spLocks noChangeShapeType="1"/>
              </p:cNvSpPr>
              <p:nvPr/>
            </p:nvSpPr>
            <p:spPr bwMode="auto">
              <a:xfrm flipV="1">
                <a:off x="4902" y="1995"/>
                <a:ext cx="228" cy="5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26" name="Line 20"/>
              <p:cNvSpPr>
                <a:spLocks noChangeShapeType="1"/>
              </p:cNvSpPr>
              <p:nvPr/>
            </p:nvSpPr>
            <p:spPr bwMode="auto">
              <a:xfrm flipH="1">
                <a:off x="5130" y="2679"/>
                <a:ext cx="741" cy="17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27" name="Line 21"/>
              <p:cNvSpPr>
                <a:spLocks noChangeShapeType="1"/>
              </p:cNvSpPr>
              <p:nvPr/>
            </p:nvSpPr>
            <p:spPr bwMode="auto">
              <a:xfrm>
                <a:off x="5472" y="1995"/>
                <a:ext cx="456" cy="45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28" name="Line 22"/>
              <p:cNvSpPr>
                <a:spLocks noChangeShapeType="1"/>
              </p:cNvSpPr>
              <p:nvPr/>
            </p:nvSpPr>
            <p:spPr bwMode="auto">
              <a:xfrm flipV="1">
                <a:off x="6192" y="1941"/>
                <a:ext cx="399" cy="39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29" name="Line 23"/>
              <p:cNvSpPr>
                <a:spLocks noChangeShapeType="1"/>
              </p:cNvSpPr>
              <p:nvPr/>
            </p:nvSpPr>
            <p:spPr bwMode="auto">
              <a:xfrm flipH="1">
                <a:off x="6369" y="2070"/>
                <a:ext cx="342" cy="3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58374" name="Group 45"/>
            <p:cNvGrpSpPr>
              <a:grpSpLocks/>
            </p:cNvGrpSpPr>
            <p:nvPr/>
          </p:nvGrpSpPr>
          <p:grpSpPr bwMode="auto">
            <a:xfrm>
              <a:off x="4978400" y="4381500"/>
              <a:ext cx="2822575" cy="1628775"/>
              <a:chOff x="3168" y="2592"/>
              <a:chExt cx="1778" cy="1026"/>
            </a:xfrm>
          </p:grpSpPr>
          <p:sp>
            <p:nvSpPr>
              <p:cNvPr id="58391" name="Oval 25"/>
              <p:cNvSpPr>
                <a:spLocks noChangeArrowheads="1"/>
              </p:cNvSpPr>
              <p:nvPr/>
            </p:nvSpPr>
            <p:spPr bwMode="auto">
              <a:xfrm>
                <a:off x="3168" y="2592"/>
                <a:ext cx="251" cy="2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392" name="Oval 26"/>
              <p:cNvSpPr>
                <a:spLocks noChangeArrowheads="1"/>
              </p:cNvSpPr>
              <p:nvPr/>
            </p:nvSpPr>
            <p:spPr bwMode="auto">
              <a:xfrm>
                <a:off x="4125" y="2957"/>
                <a:ext cx="251" cy="2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393" name="Oval 27"/>
              <p:cNvSpPr>
                <a:spLocks noChangeArrowheads="1"/>
              </p:cNvSpPr>
              <p:nvPr/>
            </p:nvSpPr>
            <p:spPr bwMode="auto">
              <a:xfrm>
                <a:off x="3578" y="3048"/>
                <a:ext cx="251" cy="2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394" name="Oval 28"/>
              <p:cNvSpPr>
                <a:spLocks noChangeArrowheads="1"/>
              </p:cNvSpPr>
              <p:nvPr/>
            </p:nvSpPr>
            <p:spPr bwMode="auto">
              <a:xfrm>
                <a:off x="4057" y="3367"/>
                <a:ext cx="251" cy="2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395" name="Oval 29"/>
              <p:cNvSpPr>
                <a:spLocks noChangeArrowheads="1"/>
              </p:cNvSpPr>
              <p:nvPr/>
            </p:nvSpPr>
            <p:spPr bwMode="auto">
              <a:xfrm>
                <a:off x="4695" y="3139"/>
                <a:ext cx="251" cy="2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396" name="Oval 30"/>
              <p:cNvSpPr>
                <a:spLocks noChangeArrowheads="1"/>
              </p:cNvSpPr>
              <p:nvPr/>
            </p:nvSpPr>
            <p:spPr bwMode="auto">
              <a:xfrm>
                <a:off x="3184" y="3366"/>
                <a:ext cx="250" cy="2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397" name="Oval 31"/>
              <p:cNvSpPr>
                <a:spLocks noChangeArrowheads="1"/>
              </p:cNvSpPr>
              <p:nvPr/>
            </p:nvSpPr>
            <p:spPr bwMode="auto">
              <a:xfrm>
                <a:off x="4376" y="2592"/>
                <a:ext cx="251" cy="2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398" name="Oval 32"/>
              <p:cNvSpPr>
                <a:spLocks noChangeArrowheads="1"/>
              </p:cNvSpPr>
              <p:nvPr/>
            </p:nvSpPr>
            <p:spPr bwMode="auto">
              <a:xfrm>
                <a:off x="3761" y="2592"/>
                <a:ext cx="250" cy="2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399" name="Line 33"/>
              <p:cNvSpPr>
                <a:spLocks noChangeShapeType="1"/>
              </p:cNvSpPr>
              <p:nvPr/>
            </p:nvSpPr>
            <p:spPr bwMode="auto">
              <a:xfrm>
                <a:off x="3419" y="2706"/>
                <a:ext cx="34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00" name="Line 34"/>
              <p:cNvSpPr>
                <a:spLocks noChangeShapeType="1"/>
              </p:cNvSpPr>
              <p:nvPr/>
            </p:nvSpPr>
            <p:spPr bwMode="auto">
              <a:xfrm>
                <a:off x="4011" y="2706"/>
                <a:ext cx="36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01" name="Line 36"/>
              <p:cNvSpPr>
                <a:spLocks noChangeShapeType="1"/>
              </p:cNvSpPr>
              <p:nvPr/>
            </p:nvSpPr>
            <p:spPr bwMode="auto">
              <a:xfrm flipH="1">
                <a:off x="3442" y="3504"/>
                <a:ext cx="61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02" name="Line 37"/>
              <p:cNvSpPr>
                <a:spLocks noChangeShapeType="1"/>
              </p:cNvSpPr>
              <p:nvPr/>
            </p:nvSpPr>
            <p:spPr bwMode="auto">
              <a:xfrm>
                <a:off x="4581" y="2820"/>
                <a:ext cx="228" cy="31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03" name="Line 38"/>
              <p:cNvSpPr>
                <a:spLocks noChangeShapeType="1"/>
              </p:cNvSpPr>
              <p:nvPr/>
            </p:nvSpPr>
            <p:spPr bwMode="auto">
              <a:xfrm flipH="1" flipV="1">
                <a:off x="4376" y="3116"/>
                <a:ext cx="319" cy="1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04" name="Line 39"/>
              <p:cNvSpPr>
                <a:spLocks noChangeShapeType="1"/>
              </p:cNvSpPr>
              <p:nvPr/>
            </p:nvSpPr>
            <p:spPr bwMode="auto">
              <a:xfrm flipH="1">
                <a:off x="4194" y="3208"/>
                <a:ext cx="45" cy="1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05" name="Line 40"/>
              <p:cNvSpPr>
                <a:spLocks noChangeShapeType="1"/>
              </p:cNvSpPr>
              <p:nvPr/>
            </p:nvSpPr>
            <p:spPr bwMode="auto">
              <a:xfrm flipV="1">
                <a:off x="3738" y="2820"/>
                <a:ext cx="91" cy="2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06" name="Line 41"/>
              <p:cNvSpPr>
                <a:spLocks noChangeShapeType="1"/>
              </p:cNvSpPr>
              <p:nvPr/>
            </p:nvSpPr>
            <p:spPr bwMode="auto">
              <a:xfrm flipH="1">
                <a:off x="3829" y="3094"/>
                <a:ext cx="296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07" name="Line 42"/>
              <p:cNvSpPr>
                <a:spLocks noChangeShapeType="1"/>
              </p:cNvSpPr>
              <p:nvPr/>
            </p:nvSpPr>
            <p:spPr bwMode="auto">
              <a:xfrm>
                <a:off x="3966" y="2820"/>
                <a:ext cx="182" cy="18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08" name="Line 43"/>
              <p:cNvSpPr>
                <a:spLocks noChangeShapeType="1"/>
              </p:cNvSpPr>
              <p:nvPr/>
            </p:nvSpPr>
            <p:spPr bwMode="auto">
              <a:xfrm flipV="1">
                <a:off x="4254" y="2798"/>
                <a:ext cx="159" cy="1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8409" name="Line 44"/>
              <p:cNvSpPr>
                <a:spLocks noChangeShapeType="1"/>
              </p:cNvSpPr>
              <p:nvPr/>
            </p:nvSpPr>
            <p:spPr bwMode="auto">
              <a:xfrm flipH="1">
                <a:off x="4325" y="2850"/>
                <a:ext cx="136" cy="1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58375" name="Text Box 46"/>
            <p:cNvSpPr txBox="1">
              <a:spLocks noChangeArrowheads="1"/>
            </p:cNvSpPr>
            <p:nvPr/>
          </p:nvSpPr>
          <p:spPr bwMode="auto">
            <a:xfrm>
              <a:off x="1257300" y="43180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1</a:t>
              </a:r>
              <a:endParaRPr lang="en-US"/>
            </a:p>
          </p:txBody>
        </p:sp>
        <p:sp>
          <p:nvSpPr>
            <p:cNvPr id="58376" name="Text Box 47"/>
            <p:cNvSpPr txBox="1">
              <a:spLocks noChangeArrowheads="1"/>
            </p:cNvSpPr>
            <p:nvPr/>
          </p:nvSpPr>
          <p:spPr bwMode="auto">
            <a:xfrm>
              <a:off x="5016500" y="43561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1</a:t>
              </a:r>
              <a:endParaRPr lang="en-US"/>
            </a:p>
          </p:txBody>
        </p:sp>
        <p:sp>
          <p:nvSpPr>
            <p:cNvPr id="58377" name="Text Box 48"/>
            <p:cNvSpPr txBox="1">
              <a:spLocks noChangeArrowheads="1"/>
            </p:cNvSpPr>
            <p:nvPr/>
          </p:nvSpPr>
          <p:spPr bwMode="auto">
            <a:xfrm>
              <a:off x="2781300" y="48895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3</a:t>
              </a:r>
              <a:endParaRPr lang="en-US"/>
            </a:p>
          </p:txBody>
        </p:sp>
        <p:sp>
          <p:nvSpPr>
            <p:cNvPr id="58378" name="Text Box 49"/>
            <p:cNvSpPr txBox="1">
              <a:spLocks noChangeArrowheads="1"/>
            </p:cNvSpPr>
            <p:nvPr/>
          </p:nvSpPr>
          <p:spPr bwMode="auto">
            <a:xfrm>
              <a:off x="2197100" y="43053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2</a:t>
              </a:r>
              <a:endParaRPr lang="en-US"/>
            </a:p>
          </p:txBody>
        </p:sp>
        <p:sp>
          <p:nvSpPr>
            <p:cNvPr id="58379" name="Text Box 50"/>
            <p:cNvSpPr txBox="1">
              <a:spLocks noChangeArrowheads="1"/>
            </p:cNvSpPr>
            <p:nvPr/>
          </p:nvSpPr>
          <p:spPr bwMode="auto">
            <a:xfrm>
              <a:off x="5969000" y="43434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2</a:t>
              </a:r>
              <a:endParaRPr lang="en-US"/>
            </a:p>
          </p:txBody>
        </p:sp>
        <p:sp>
          <p:nvSpPr>
            <p:cNvPr id="58380" name="Text Box 51"/>
            <p:cNvSpPr txBox="1">
              <a:spLocks noChangeArrowheads="1"/>
            </p:cNvSpPr>
            <p:nvPr/>
          </p:nvSpPr>
          <p:spPr bwMode="auto">
            <a:xfrm>
              <a:off x="1905000" y="50292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4</a:t>
              </a:r>
              <a:endParaRPr lang="en-US"/>
            </a:p>
          </p:txBody>
        </p:sp>
        <p:sp>
          <p:nvSpPr>
            <p:cNvPr id="58381" name="Text Box 52"/>
            <p:cNvSpPr txBox="1">
              <a:spLocks noChangeArrowheads="1"/>
            </p:cNvSpPr>
            <p:nvPr/>
          </p:nvSpPr>
          <p:spPr bwMode="auto">
            <a:xfrm>
              <a:off x="5651500" y="50673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4</a:t>
              </a:r>
              <a:endParaRPr lang="en-US"/>
            </a:p>
          </p:txBody>
        </p:sp>
        <p:sp>
          <p:nvSpPr>
            <p:cNvPr id="58382" name="Text Box 53"/>
            <p:cNvSpPr txBox="1">
              <a:spLocks noChangeArrowheads="1"/>
            </p:cNvSpPr>
            <p:nvPr/>
          </p:nvSpPr>
          <p:spPr bwMode="auto">
            <a:xfrm>
              <a:off x="6540500" y="49149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3</a:t>
              </a:r>
              <a:endParaRPr lang="en-US"/>
            </a:p>
          </p:txBody>
        </p:sp>
        <p:sp>
          <p:nvSpPr>
            <p:cNvPr id="58383" name="Text Box 54"/>
            <p:cNvSpPr txBox="1">
              <a:spLocks noChangeArrowheads="1"/>
            </p:cNvSpPr>
            <p:nvPr/>
          </p:nvSpPr>
          <p:spPr bwMode="auto">
            <a:xfrm>
              <a:off x="3175000" y="43180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5</a:t>
              </a:r>
              <a:endParaRPr lang="en-US"/>
            </a:p>
          </p:txBody>
        </p:sp>
        <p:sp>
          <p:nvSpPr>
            <p:cNvPr id="58384" name="Text Box 55"/>
            <p:cNvSpPr txBox="1">
              <a:spLocks noChangeArrowheads="1"/>
            </p:cNvSpPr>
            <p:nvPr/>
          </p:nvSpPr>
          <p:spPr bwMode="auto">
            <a:xfrm>
              <a:off x="6921500" y="43561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5</a:t>
              </a:r>
              <a:endParaRPr lang="en-US"/>
            </a:p>
          </p:txBody>
        </p:sp>
        <p:sp>
          <p:nvSpPr>
            <p:cNvPr id="58385" name="Text Box 56"/>
            <p:cNvSpPr txBox="1">
              <a:spLocks noChangeArrowheads="1"/>
            </p:cNvSpPr>
            <p:nvPr/>
          </p:nvSpPr>
          <p:spPr bwMode="auto">
            <a:xfrm>
              <a:off x="3683000" y="51816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6</a:t>
              </a:r>
              <a:endParaRPr lang="en-US"/>
            </a:p>
          </p:txBody>
        </p:sp>
        <p:sp>
          <p:nvSpPr>
            <p:cNvPr id="58386" name="Text Box 57"/>
            <p:cNvSpPr txBox="1">
              <a:spLocks noChangeArrowheads="1"/>
            </p:cNvSpPr>
            <p:nvPr/>
          </p:nvSpPr>
          <p:spPr bwMode="auto">
            <a:xfrm>
              <a:off x="7429500" y="52070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6</a:t>
              </a:r>
              <a:endParaRPr lang="en-US"/>
            </a:p>
          </p:txBody>
        </p:sp>
        <p:sp>
          <p:nvSpPr>
            <p:cNvPr id="58387" name="Text Box 58"/>
            <p:cNvSpPr txBox="1">
              <a:spLocks noChangeArrowheads="1"/>
            </p:cNvSpPr>
            <p:nvPr/>
          </p:nvSpPr>
          <p:spPr bwMode="auto">
            <a:xfrm>
              <a:off x="2667000" y="55372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7</a:t>
              </a:r>
              <a:endParaRPr lang="en-US"/>
            </a:p>
          </p:txBody>
        </p:sp>
        <p:sp>
          <p:nvSpPr>
            <p:cNvPr id="58388" name="Text Box 59"/>
            <p:cNvSpPr txBox="1">
              <a:spLocks noChangeArrowheads="1"/>
            </p:cNvSpPr>
            <p:nvPr/>
          </p:nvSpPr>
          <p:spPr bwMode="auto">
            <a:xfrm>
              <a:off x="6426200" y="55880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7</a:t>
              </a:r>
              <a:endParaRPr lang="en-US"/>
            </a:p>
          </p:txBody>
        </p:sp>
        <p:sp>
          <p:nvSpPr>
            <p:cNvPr id="58389" name="Text Box 60"/>
            <p:cNvSpPr txBox="1">
              <a:spLocks noChangeArrowheads="1"/>
            </p:cNvSpPr>
            <p:nvPr/>
          </p:nvSpPr>
          <p:spPr bwMode="auto">
            <a:xfrm>
              <a:off x="1282700" y="55499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8</a:t>
              </a:r>
              <a:endParaRPr lang="en-US"/>
            </a:p>
          </p:txBody>
        </p:sp>
        <p:sp>
          <p:nvSpPr>
            <p:cNvPr id="58390" name="Text Box 61"/>
            <p:cNvSpPr txBox="1">
              <a:spLocks noChangeArrowheads="1"/>
            </p:cNvSpPr>
            <p:nvPr/>
          </p:nvSpPr>
          <p:spPr bwMode="auto">
            <a:xfrm>
              <a:off x="5041900" y="55753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8</a:t>
              </a:r>
              <a:endParaRPr lang="en-US"/>
            </a:p>
          </p:txBody>
        </p:sp>
      </p:grpSp>
      <p:sp>
        <p:nvSpPr>
          <p:cNvPr id="62" name="Slide Number Placeholder 6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BD9CE6-B7D3-451B-9192-883C4E4FA99C}" type="slidenum">
              <a:rPr lang="en-US"/>
              <a:pPr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5988" y="188913"/>
            <a:ext cx="8228012" cy="6392862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	Как да се намери Ойлеров цикъл?</a:t>
            </a:r>
            <a:br>
              <a:rPr lang="bg-BG" sz="20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	Започваме обхождане на графа от произволен връх </a:t>
            </a:r>
            <a:r>
              <a:rPr lang="en-US" sz="2000" i="1">
                <a:solidFill>
                  <a:schemeClr val="tx2">
                    <a:satMod val="130000"/>
                  </a:schemeClr>
                </a:solidFill>
              </a:rPr>
              <a:t>i</a:t>
            </a:r>
            <a:r>
              <a:rPr lang="en-US" sz="2000">
                <a:solidFill>
                  <a:schemeClr val="tx2">
                    <a:satMod val="130000"/>
                  </a:schemeClr>
                </a:solidFill>
              </a:rPr>
              <a:t>. 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Намираме инцидентно с него ребро </a:t>
            </a:r>
            <a:r>
              <a:rPr lang="en-US" sz="2000" i="1">
                <a:solidFill>
                  <a:schemeClr val="tx2">
                    <a:satMod val="130000"/>
                  </a:schemeClr>
                </a:solidFill>
              </a:rPr>
              <a:t>(i, j)</a:t>
            </a:r>
            <a:r>
              <a:rPr lang="en-US" sz="200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и го маркираме като посетено.  Продължаваме с върха </a:t>
            </a:r>
            <a:r>
              <a:rPr lang="en-US" sz="2000" i="1">
                <a:solidFill>
                  <a:schemeClr val="tx2">
                    <a:satMod val="130000"/>
                  </a:schemeClr>
                </a:solidFill>
              </a:rPr>
              <a:t>j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: за него намираме непосетено ребро</a:t>
            </a:r>
            <a:r>
              <a:rPr lang="en-US" sz="200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000" i="1">
                <a:solidFill>
                  <a:schemeClr val="tx2">
                    <a:satMod val="130000"/>
                  </a:schemeClr>
                </a:solidFill>
              </a:rPr>
              <a:t>(j,k)</a:t>
            </a:r>
            <a:r>
              <a:rPr lang="bg-BG" sz="2000" i="1">
                <a:solidFill>
                  <a:schemeClr val="tx2">
                    <a:satMod val="130000"/>
                  </a:schemeClr>
                </a:solidFill>
              </a:rPr>
              <a:t>,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 маркираме го като посетено и преминаваме в</a:t>
            </a:r>
            <a:r>
              <a:rPr lang="en-US" sz="200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000" i="1">
                <a:solidFill>
                  <a:schemeClr val="tx2">
                    <a:satMod val="130000"/>
                  </a:schemeClr>
                </a:solidFill>
              </a:rPr>
              <a:t>k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. Продължавайки по този начин, в даден момент ще се озовем в началния връх </a:t>
            </a:r>
            <a:r>
              <a:rPr lang="en-US" sz="2000" i="1">
                <a:solidFill>
                  <a:schemeClr val="tx2">
                    <a:satMod val="130000"/>
                  </a:schemeClr>
                </a:solidFill>
              </a:rPr>
              <a:t>i</a:t>
            </a:r>
            <a:r>
              <a:rPr lang="en-US" sz="200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и ще затворим цикъла. Ако всички ребра на графа вече са маркирани, то този цикъл е Ойлеров. Ако са останали непосетени ребра, то намираме връх </a:t>
            </a:r>
            <a:r>
              <a:rPr lang="en-US" sz="2000" i="1">
                <a:solidFill>
                  <a:schemeClr val="tx2">
                    <a:satMod val="130000"/>
                  </a:schemeClr>
                </a:solidFill>
              </a:rPr>
              <a:t>x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, принадлежащ на току-що намерения цикъл и инцидентен с поне едно непосетено ребро. От това, че всеки връх трябва да бъде от четна степен, следва, че</a:t>
            </a:r>
            <a:r>
              <a:rPr lang="en-US" sz="200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000" i="1">
                <a:solidFill>
                  <a:schemeClr val="tx2">
                    <a:satMod val="130000"/>
                  </a:schemeClr>
                </a:solidFill>
              </a:rPr>
              <a:t>x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 е инцидентен с четен брой (т.е. поне две) непосетени ребра . От </a:t>
            </a:r>
            <a:r>
              <a:rPr lang="bg-BG" sz="2000" i="1">
                <a:solidFill>
                  <a:schemeClr val="tx2">
                    <a:satMod val="130000"/>
                  </a:schemeClr>
                </a:solidFill>
              </a:rPr>
              <a:t>х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 започваме да изграждаме цикъл по вече описания начин, докато отново се върнем в него. Получаваме втори цикъл, който обединяваме с първия (общата им точка ще бъде върхът </a:t>
            </a:r>
            <a:r>
              <a:rPr lang="bg-BG" sz="2000" i="1">
                <a:solidFill>
                  <a:schemeClr val="tx2">
                    <a:satMod val="130000"/>
                  </a:schemeClr>
                </a:solidFill>
              </a:rPr>
              <a:t>х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). Така, след краен брой стъпки, всички ребра ще се включат в един общ цикъл - търсеният Ойлеров цикъл.</a:t>
            </a:r>
            <a:r>
              <a:rPr lang="bg-BG" sz="22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2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В случая, че търсим Ойлеров път, можем </a:t>
            </a:r>
            <a:br>
              <a:rPr lang="bg-BG" sz="20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да приложим следната проста модификация:</a:t>
            </a:r>
            <a:br>
              <a:rPr lang="bg-BG" sz="20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съединяваме върховете от нечетна степен с ребро </a:t>
            </a:r>
            <a:br>
              <a:rPr lang="bg-BG" sz="20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(от. Следств.1: съществуват точно два такива върха)</a:t>
            </a:r>
            <a:br>
              <a:rPr lang="bg-BG" sz="20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и намираме Ойлеров цикъл по описания алгоритъм.</a:t>
            </a:r>
            <a:br>
              <a:rPr lang="bg-BG" sz="20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След отстраняване на добавеното </a:t>
            </a:r>
            <a:r>
              <a:rPr lang="bg-BG" sz="2000" smtClean="0">
                <a:solidFill>
                  <a:schemeClr val="tx2">
                    <a:satMod val="130000"/>
                  </a:schemeClr>
                </a:solidFill>
              </a:rPr>
              <a:t>ребро</a:t>
            </a:r>
            <a:br>
              <a:rPr lang="bg-BG" sz="200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000" smtClean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</a:rPr>
              <a:t>получаваме търсения Ойлеров път.</a:t>
            </a:r>
            <a:endParaRPr lang="en-US" sz="2200">
              <a:solidFill>
                <a:schemeClr val="tx2">
                  <a:satMod val="130000"/>
                </a:schemeClr>
              </a:solidFill>
            </a:endParaRPr>
          </a:p>
        </p:txBody>
      </p:sp>
      <p:grpSp>
        <p:nvGrpSpPr>
          <p:cNvPr id="59395" name="Group 32"/>
          <p:cNvGrpSpPr>
            <a:grpSpLocks/>
          </p:cNvGrpSpPr>
          <p:nvPr/>
        </p:nvGrpSpPr>
        <p:grpSpPr bwMode="auto">
          <a:xfrm>
            <a:off x="6140450" y="4508500"/>
            <a:ext cx="2960688" cy="1720850"/>
            <a:chOff x="5980734" y="4686300"/>
            <a:chExt cx="2960066" cy="1720056"/>
          </a:xfrm>
        </p:grpSpPr>
        <p:sp>
          <p:nvSpPr>
            <p:cNvPr id="59397" name="Oval 4"/>
            <p:cNvSpPr>
              <a:spLocks noChangeArrowheads="1"/>
            </p:cNvSpPr>
            <p:nvPr/>
          </p:nvSpPr>
          <p:spPr bwMode="auto">
            <a:xfrm>
              <a:off x="5980734" y="4724400"/>
              <a:ext cx="437122" cy="40298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398" name="Oval 5"/>
            <p:cNvSpPr>
              <a:spLocks noChangeArrowheads="1"/>
            </p:cNvSpPr>
            <p:nvPr/>
          </p:nvSpPr>
          <p:spPr bwMode="auto">
            <a:xfrm>
              <a:off x="7500582" y="5303520"/>
              <a:ext cx="437122" cy="40298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399" name="Oval 6"/>
            <p:cNvSpPr>
              <a:spLocks noChangeArrowheads="1"/>
            </p:cNvSpPr>
            <p:nvPr/>
          </p:nvSpPr>
          <p:spPr bwMode="auto">
            <a:xfrm>
              <a:off x="6632097" y="5448300"/>
              <a:ext cx="437122" cy="40298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400" name="Oval 7"/>
            <p:cNvSpPr>
              <a:spLocks noChangeArrowheads="1"/>
            </p:cNvSpPr>
            <p:nvPr/>
          </p:nvSpPr>
          <p:spPr bwMode="auto">
            <a:xfrm>
              <a:off x="7392022" y="5955030"/>
              <a:ext cx="437122" cy="40298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401" name="Oval 8"/>
            <p:cNvSpPr>
              <a:spLocks noChangeArrowheads="1"/>
            </p:cNvSpPr>
            <p:nvPr/>
          </p:nvSpPr>
          <p:spPr bwMode="auto">
            <a:xfrm>
              <a:off x="8405254" y="5593080"/>
              <a:ext cx="437122" cy="40298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402" name="Oval 9"/>
            <p:cNvSpPr>
              <a:spLocks noChangeArrowheads="1"/>
            </p:cNvSpPr>
            <p:nvPr/>
          </p:nvSpPr>
          <p:spPr bwMode="auto">
            <a:xfrm>
              <a:off x="6005493" y="5953125"/>
              <a:ext cx="437122" cy="40298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403" name="Oval 10"/>
            <p:cNvSpPr>
              <a:spLocks noChangeArrowheads="1"/>
            </p:cNvSpPr>
            <p:nvPr/>
          </p:nvSpPr>
          <p:spPr bwMode="auto">
            <a:xfrm>
              <a:off x="7898638" y="4724400"/>
              <a:ext cx="437122" cy="40298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404" name="Oval 11"/>
            <p:cNvSpPr>
              <a:spLocks noChangeArrowheads="1"/>
            </p:cNvSpPr>
            <p:nvPr/>
          </p:nvSpPr>
          <p:spPr bwMode="auto">
            <a:xfrm>
              <a:off x="6921592" y="4724400"/>
              <a:ext cx="437122" cy="40298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405" name="Line 12"/>
            <p:cNvSpPr>
              <a:spLocks noChangeShapeType="1"/>
            </p:cNvSpPr>
            <p:nvPr/>
          </p:nvSpPr>
          <p:spPr bwMode="auto">
            <a:xfrm>
              <a:off x="6364581" y="4905375"/>
              <a:ext cx="59607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406" name="Line 13"/>
            <p:cNvSpPr>
              <a:spLocks noChangeShapeType="1"/>
            </p:cNvSpPr>
            <p:nvPr/>
          </p:nvSpPr>
          <p:spPr bwMode="auto">
            <a:xfrm>
              <a:off x="7301889" y="4905375"/>
              <a:ext cx="63581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407" name="Line 14"/>
            <p:cNvSpPr>
              <a:spLocks noChangeShapeType="1"/>
            </p:cNvSpPr>
            <p:nvPr/>
          </p:nvSpPr>
          <p:spPr bwMode="auto">
            <a:xfrm flipV="1">
              <a:off x="6236921" y="5111114"/>
              <a:ext cx="0" cy="8426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408" name="Line 15"/>
            <p:cNvSpPr>
              <a:spLocks noChangeShapeType="1"/>
            </p:cNvSpPr>
            <p:nvPr/>
          </p:nvSpPr>
          <p:spPr bwMode="auto">
            <a:xfrm flipH="1">
              <a:off x="6358149" y="6172200"/>
              <a:ext cx="10729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409" name="Line 16"/>
            <p:cNvSpPr>
              <a:spLocks noChangeShapeType="1"/>
            </p:cNvSpPr>
            <p:nvPr/>
          </p:nvSpPr>
          <p:spPr bwMode="auto">
            <a:xfrm>
              <a:off x="8227869" y="5086350"/>
              <a:ext cx="397385" cy="5128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410" name="Line 17"/>
            <p:cNvSpPr>
              <a:spLocks noChangeShapeType="1"/>
            </p:cNvSpPr>
            <p:nvPr/>
          </p:nvSpPr>
          <p:spPr bwMode="auto">
            <a:xfrm flipH="1" flipV="1">
              <a:off x="7887982" y="5556884"/>
              <a:ext cx="556338" cy="21980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411" name="Line 18"/>
            <p:cNvSpPr>
              <a:spLocks noChangeShapeType="1"/>
            </p:cNvSpPr>
            <p:nvPr/>
          </p:nvSpPr>
          <p:spPr bwMode="auto">
            <a:xfrm flipH="1">
              <a:off x="7641106" y="5701665"/>
              <a:ext cx="79477" cy="2564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412" name="Line 19"/>
            <p:cNvSpPr>
              <a:spLocks noChangeShapeType="1"/>
            </p:cNvSpPr>
            <p:nvPr/>
          </p:nvSpPr>
          <p:spPr bwMode="auto">
            <a:xfrm flipV="1">
              <a:off x="6910265" y="5086349"/>
              <a:ext cx="158953" cy="3663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413" name="Line 20"/>
            <p:cNvSpPr>
              <a:spLocks noChangeShapeType="1"/>
            </p:cNvSpPr>
            <p:nvPr/>
          </p:nvSpPr>
          <p:spPr bwMode="auto">
            <a:xfrm flipH="1">
              <a:off x="7023048" y="5520690"/>
              <a:ext cx="516599" cy="1099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414" name="Line 21"/>
            <p:cNvSpPr>
              <a:spLocks noChangeShapeType="1"/>
            </p:cNvSpPr>
            <p:nvPr/>
          </p:nvSpPr>
          <p:spPr bwMode="auto">
            <a:xfrm>
              <a:off x="7257928" y="5086349"/>
              <a:ext cx="317908" cy="2930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415" name="Line 22"/>
            <p:cNvSpPr>
              <a:spLocks noChangeShapeType="1"/>
            </p:cNvSpPr>
            <p:nvPr/>
          </p:nvSpPr>
          <p:spPr bwMode="auto">
            <a:xfrm flipV="1">
              <a:off x="7718576" y="5052059"/>
              <a:ext cx="278169" cy="2564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416" name="Line 23"/>
            <p:cNvSpPr>
              <a:spLocks noChangeShapeType="1"/>
            </p:cNvSpPr>
            <p:nvPr/>
          </p:nvSpPr>
          <p:spPr bwMode="auto">
            <a:xfrm flipH="1">
              <a:off x="7838867" y="5085184"/>
              <a:ext cx="189516" cy="2691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9417" name="Text Box 24"/>
            <p:cNvSpPr txBox="1">
              <a:spLocks noChangeArrowheads="1"/>
            </p:cNvSpPr>
            <p:nvPr/>
          </p:nvSpPr>
          <p:spPr bwMode="auto">
            <a:xfrm>
              <a:off x="6013028" y="4686300"/>
              <a:ext cx="502072" cy="462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59418" name="Text Box 25"/>
            <p:cNvSpPr txBox="1">
              <a:spLocks noChangeArrowheads="1"/>
            </p:cNvSpPr>
            <p:nvPr/>
          </p:nvSpPr>
          <p:spPr bwMode="auto">
            <a:xfrm>
              <a:off x="6961789" y="4699000"/>
              <a:ext cx="543911" cy="462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59419" name="Text Box 26"/>
            <p:cNvSpPr txBox="1">
              <a:spLocks noChangeArrowheads="1"/>
            </p:cNvSpPr>
            <p:nvPr/>
          </p:nvSpPr>
          <p:spPr bwMode="auto">
            <a:xfrm>
              <a:off x="7930728" y="4686300"/>
              <a:ext cx="502072" cy="462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5</a:t>
              </a:r>
            </a:p>
          </p:txBody>
        </p:sp>
        <p:sp>
          <p:nvSpPr>
            <p:cNvPr id="59420" name="Text Box 27"/>
            <p:cNvSpPr txBox="1">
              <a:spLocks noChangeArrowheads="1"/>
            </p:cNvSpPr>
            <p:nvPr/>
          </p:nvSpPr>
          <p:spPr bwMode="auto">
            <a:xfrm>
              <a:off x="6622628" y="5410200"/>
              <a:ext cx="502072" cy="462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59421" name="Text Box 28"/>
            <p:cNvSpPr txBox="1">
              <a:spLocks noChangeArrowheads="1"/>
            </p:cNvSpPr>
            <p:nvPr/>
          </p:nvSpPr>
          <p:spPr bwMode="auto">
            <a:xfrm>
              <a:off x="6038428" y="5918200"/>
              <a:ext cx="502072" cy="462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59422" name="Text Box 29"/>
            <p:cNvSpPr txBox="1">
              <a:spLocks noChangeArrowheads="1"/>
            </p:cNvSpPr>
            <p:nvPr/>
          </p:nvSpPr>
          <p:spPr bwMode="auto">
            <a:xfrm>
              <a:off x="7410028" y="5943600"/>
              <a:ext cx="502072" cy="462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7</a:t>
              </a:r>
            </a:p>
          </p:txBody>
        </p:sp>
        <p:sp>
          <p:nvSpPr>
            <p:cNvPr id="59423" name="Text Box 30"/>
            <p:cNvSpPr txBox="1">
              <a:spLocks noChangeArrowheads="1"/>
            </p:cNvSpPr>
            <p:nvPr/>
          </p:nvSpPr>
          <p:spPr bwMode="auto">
            <a:xfrm>
              <a:off x="7524328" y="5270500"/>
              <a:ext cx="502072" cy="462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59424" name="Text Box 31"/>
            <p:cNvSpPr txBox="1">
              <a:spLocks noChangeArrowheads="1"/>
            </p:cNvSpPr>
            <p:nvPr/>
          </p:nvSpPr>
          <p:spPr bwMode="auto">
            <a:xfrm>
              <a:off x="8438728" y="5549900"/>
              <a:ext cx="502072" cy="462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6</a:t>
              </a:r>
            </a:p>
          </p:txBody>
        </p:sp>
      </p:grp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430338-3747-4B50-B9DC-DF13816DA3BE}" type="slidenum">
              <a:rPr lang="en-US"/>
              <a:pPr>
                <a:defRPr/>
              </a:pPr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333375"/>
            <a:ext cx="8064500" cy="61722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bg-BG" sz="2400">
                <a:solidFill>
                  <a:schemeClr val="tx1"/>
                </a:solidFill>
              </a:rPr>
              <a:t>Алгоритъм за намиране на Ойлеров цикъл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	</a:t>
            </a:r>
            <a:r>
              <a:rPr lang="bg-BG" sz="2200">
                <a:solidFill>
                  <a:schemeClr val="tx1"/>
                </a:solidFill>
              </a:rPr>
              <a:t>Нека графът е представен с матрица на съседство </a:t>
            </a:r>
            <a:r>
              <a:rPr lang="bg-BG" sz="2200" i="1">
                <a:solidFill>
                  <a:schemeClr val="tx1"/>
                </a:solidFill>
              </a:rPr>
              <a:t>А</a:t>
            </a:r>
            <a:r>
              <a:rPr lang="en-US" sz="2200" i="1">
                <a:solidFill>
                  <a:schemeClr val="tx1"/>
                </a:solidFill>
              </a:rPr>
              <a:t>[][]</a:t>
            </a:r>
            <a:r>
              <a:rPr lang="bg-BG" sz="2200" i="1">
                <a:solidFill>
                  <a:schemeClr val="tx1"/>
                </a:solidFill>
              </a:rPr>
              <a:t>.</a:t>
            </a:r>
            <a:r>
              <a:rPr lang="bg-BG" sz="2200">
                <a:solidFill>
                  <a:schemeClr val="tx1"/>
                </a:solidFill>
              </a:rPr>
              <a:t> За реализацията ще се използват два стека: </a:t>
            </a:r>
            <a:r>
              <a:rPr lang="en-US" sz="2200" i="1">
                <a:solidFill>
                  <a:schemeClr val="tx1"/>
                </a:solidFill>
              </a:rPr>
              <a:t>stack[]</a:t>
            </a:r>
            <a:r>
              <a:rPr lang="en-US" sz="2200">
                <a:solidFill>
                  <a:schemeClr val="tx1"/>
                </a:solidFill>
              </a:rPr>
              <a:t> </a:t>
            </a:r>
            <a:r>
              <a:rPr lang="bg-BG" sz="2200">
                <a:solidFill>
                  <a:schemeClr val="tx1"/>
                </a:solidFill>
              </a:rPr>
              <a:t>- за текущо построявания цикъл, и </a:t>
            </a:r>
            <a:r>
              <a:rPr lang="en-US" sz="2200" i="1">
                <a:solidFill>
                  <a:schemeClr val="tx1"/>
                </a:solidFill>
              </a:rPr>
              <a:t>cstack[]</a:t>
            </a:r>
            <a:r>
              <a:rPr lang="bg-BG" sz="2200">
                <a:solidFill>
                  <a:schemeClr val="tx1"/>
                </a:solidFill>
              </a:rPr>
              <a:t> - за обединението</a:t>
            </a:r>
            <a:r>
              <a:rPr lang="bg-BG" sz="2400">
                <a:solidFill>
                  <a:schemeClr val="tx1"/>
                </a:solidFill>
              </a:rPr>
              <a:t> на всички </a:t>
            </a:r>
            <a:r>
              <a:rPr lang="bg-BG" sz="2200">
                <a:solidFill>
                  <a:schemeClr val="tx1"/>
                </a:solidFill>
              </a:rPr>
              <a:t>построени до момента цикли. И двата стека първоначално ще бъдат празни</a:t>
            </a:r>
            <a:r>
              <a:rPr lang="bg-BG" sz="2400">
                <a:solidFill>
                  <a:schemeClr val="tx1"/>
                </a:solidFill>
              </a:rPr>
              <a:t>.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800">
                <a:solidFill>
                  <a:schemeClr val="tx1"/>
                </a:solidFill>
              </a:rPr>
              <a:t/>
            </a:r>
            <a:br>
              <a:rPr lang="bg-BG" sz="800">
                <a:solidFill>
                  <a:schemeClr val="tx1"/>
                </a:solidFill>
              </a:rPr>
            </a:br>
            <a:r>
              <a:rPr lang="bg-BG" sz="2000" i="1">
                <a:solidFill>
                  <a:schemeClr val="tx1"/>
                </a:solidFill>
              </a:rPr>
              <a:t>Добавяме произволен връх </a:t>
            </a:r>
            <a:r>
              <a:rPr lang="en-US" sz="2000" i="1">
                <a:solidFill>
                  <a:schemeClr val="tx1"/>
                </a:solidFill>
              </a:rPr>
              <a:t>i </a:t>
            </a:r>
            <a:r>
              <a:rPr lang="bg-BG" sz="2000" i="1">
                <a:solidFill>
                  <a:schemeClr val="tx1"/>
                </a:solidFill>
              </a:rPr>
              <a:t>в </a:t>
            </a:r>
            <a:r>
              <a:rPr lang="en-US" sz="2000" i="1">
                <a:solidFill>
                  <a:schemeClr val="tx1"/>
                </a:solidFill>
              </a:rPr>
              <a:t>stack;</a:t>
            </a:r>
            <a:br>
              <a:rPr lang="en-US" sz="2000" i="1">
                <a:solidFill>
                  <a:schemeClr val="tx1"/>
                </a:solidFill>
              </a:rPr>
            </a:br>
            <a:r>
              <a:rPr lang="en-US" sz="2000" i="1">
                <a:solidFill>
                  <a:schemeClr val="tx1"/>
                </a:solidFill>
              </a:rPr>
              <a:t>While (stack </a:t>
            </a:r>
            <a:r>
              <a:rPr lang="bg-BG" sz="2000" i="1">
                <a:solidFill>
                  <a:schemeClr val="tx1"/>
                </a:solidFill>
              </a:rPr>
              <a:t>не е празен)</a:t>
            </a:r>
            <a:br>
              <a:rPr lang="bg-BG" sz="2000" i="1">
                <a:solidFill>
                  <a:schemeClr val="tx1"/>
                </a:solidFill>
              </a:rPr>
            </a:br>
            <a:r>
              <a:rPr lang="bg-BG" sz="2000" i="1">
                <a:solidFill>
                  <a:schemeClr val="tx1"/>
                </a:solidFill>
              </a:rPr>
              <a:t>     </a:t>
            </a:r>
            <a:r>
              <a:rPr lang="en-US" sz="2000" i="1">
                <a:solidFill>
                  <a:schemeClr val="tx1"/>
                </a:solidFill>
              </a:rPr>
              <a:t>{</a:t>
            </a:r>
            <a:r>
              <a:rPr lang="bg-BG" sz="2000" i="1">
                <a:solidFill>
                  <a:schemeClr val="tx1"/>
                </a:solidFill>
              </a:rPr>
              <a:t> Вземаме върха </a:t>
            </a:r>
            <a:r>
              <a:rPr lang="en-US" sz="2000" i="1">
                <a:solidFill>
                  <a:schemeClr val="tx1"/>
                </a:solidFill>
              </a:rPr>
              <a:t>i </a:t>
            </a:r>
            <a:r>
              <a:rPr lang="bg-BG" sz="2000" i="1">
                <a:solidFill>
                  <a:schemeClr val="tx1"/>
                </a:solidFill>
              </a:rPr>
              <a:t>от върха на </a:t>
            </a:r>
            <a:r>
              <a:rPr lang="en-US" sz="2000" i="1">
                <a:solidFill>
                  <a:schemeClr val="tx1"/>
                </a:solidFill>
              </a:rPr>
              <a:t>stack</a:t>
            </a:r>
            <a:r>
              <a:rPr lang="bg-BG" sz="2000" i="1">
                <a:solidFill>
                  <a:schemeClr val="tx1"/>
                </a:solidFill>
              </a:rPr>
              <a:t> без да го изключваме;</a:t>
            </a:r>
            <a:br>
              <a:rPr lang="bg-BG" sz="2000" i="1">
                <a:solidFill>
                  <a:schemeClr val="tx1"/>
                </a:solidFill>
              </a:rPr>
            </a:br>
            <a:r>
              <a:rPr lang="bg-BG" sz="2000" i="1">
                <a:solidFill>
                  <a:schemeClr val="tx1"/>
                </a:solidFill>
              </a:rPr>
              <a:t>     </a:t>
            </a:r>
            <a:r>
              <a:rPr lang="en-US" sz="2000" i="1">
                <a:solidFill>
                  <a:schemeClr val="tx1"/>
                </a:solidFill>
              </a:rPr>
              <a:t>  </a:t>
            </a:r>
            <a:r>
              <a:rPr lang="bg-BG" sz="2000" i="1">
                <a:solidFill>
                  <a:schemeClr val="tx1"/>
                </a:solidFill>
              </a:rPr>
              <a:t> </a:t>
            </a:r>
            <a:r>
              <a:rPr lang="en-US" sz="2000" i="1">
                <a:solidFill>
                  <a:schemeClr val="tx1"/>
                </a:solidFill>
              </a:rPr>
              <a:t>if (i </a:t>
            </a:r>
            <a:r>
              <a:rPr lang="bg-BG" sz="2000" i="1">
                <a:solidFill>
                  <a:schemeClr val="tx1"/>
                </a:solidFill>
              </a:rPr>
              <a:t>има наследници)</a:t>
            </a:r>
            <a:r>
              <a:rPr lang="en-US" sz="2000" i="1">
                <a:solidFill>
                  <a:schemeClr val="tx1"/>
                </a:solidFill>
              </a:rPr>
              <a:t/>
            </a:r>
            <a:br>
              <a:rPr lang="en-US" sz="2000" i="1">
                <a:solidFill>
                  <a:schemeClr val="tx1"/>
                </a:solidFill>
              </a:rPr>
            </a:br>
            <a:r>
              <a:rPr lang="en-US" sz="2000" i="1">
                <a:solidFill>
                  <a:schemeClr val="tx1"/>
                </a:solidFill>
              </a:rPr>
              <a:t>          { </a:t>
            </a:r>
            <a:r>
              <a:rPr lang="bg-BG" sz="2000" i="1">
                <a:solidFill>
                  <a:schemeClr val="tx1"/>
                </a:solidFill>
              </a:rPr>
              <a:t>Вземаме произволен наследник </a:t>
            </a:r>
            <a:r>
              <a:rPr lang="en-US" sz="2000" i="1">
                <a:solidFill>
                  <a:schemeClr val="tx1"/>
                </a:solidFill>
              </a:rPr>
              <a:t>j </a:t>
            </a:r>
            <a:r>
              <a:rPr lang="bg-BG" sz="2000" i="1">
                <a:solidFill>
                  <a:schemeClr val="tx1"/>
                </a:solidFill>
              </a:rPr>
              <a:t>на</a:t>
            </a:r>
            <a:r>
              <a:rPr lang="en-US" sz="2000" i="1">
                <a:solidFill>
                  <a:schemeClr val="tx1"/>
                </a:solidFill>
              </a:rPr>
              <a:t> i;</a:t>
            </a:r>
            <a:br>
              <a:rPr lang="en-US" sz="2000" i="1">
                <a:solidFill>
                  <a:schemeClr val="tx1"/>
                </a:solidFill>
              </a:rPr>
            </a:br>
            <a:r>
              <a:rPr lang="en-US" sz="2000" i="1">
                <a:solidFill>
                  <a:schemeClr val="tx1"/>
                </a:solidFill>
              </a:rPr>
              <a:t>             </a:t>
            </a:r>
            <a:r>
              <a:rPr lang="bg-BG" sz="2000" i="1">
                <a:solidFill>
                  <a:schemeClr val="tx1"/>
                </a:solidFill>
              </a:rPr>
              <a:t>Слагаме </a:t>
            </a:r>
            <a:r>
              <a:rPr lang="en-US" sz="2000" i="1">
                <a:solidFill>
                  <a:schemeClr val="tx1"/>
                </a:solidFill>
              </a:rPr>
              <a:t>j</a:t>
            </a:r>
            <a:r>
              <a:rPr lang="bg-BG" sz="2000" i="1">
                <a:solidFill>
                  <a:schemeClr val="tx1"/>
                </a:solidFill>
              </a:rPr>
              <a:t> в </a:t>
            </a:r>
            <a:r>
              <a:rPr lang="en-US" sz="2000" i="1">
                <a:solidFill>
                  <a:schemeClr val="tx1"/>
                </a:solidFill>
              </a:rPr>
              <a:t>stack;</a:t>
            </a:r>
            <a:br>
              <a:rPr lang="en-US" sz="2000" i="1">
                <a:solidFill>
                  <a:schemeClr val="tx1"/>
                </a:solidFill>
              </a:rPr>
            </a:br>
            <a:r>
              <a:rPr lang="en-US" sz="2000" i="1">
                <a:solidFill>
                  <a:schemeClr val="tx1"/>
                </a:solidFill>
              </a:rPr>
              <a:t>             A[j][i]=0; A[j][i]=0; //</a:t>
            </a:r>
            <a:r>
              <a:rPr lang="bg-BG" sz="2000" i="1">
                <a:solidFill>
                  <a:schemeClr val="tx1"/>
                </a:solidFill>
              </a:rPr>
              <a:t>изключваме реброто от графа</a:t>
            </a:r>
            <a:r>
              <a:rPr lang="en-US" sz="2000" i="1">
                <a:solidFill>
                  <a:schemeClr val="tx1"/>
                </a:solidFill>
              </a:rPr>
              <a:t/>
            </a:r>
            <a:br>
              <a:rPr lang="en-US" sz="2000" i="1">
                <a:solidFill>
                  <a:schemeClr val="tx1"/>
                </a:solidFill>
              </a:rPr>
            </a:br>
            <a:r>
              <a:rPr lang="en-US" sz="2000" i="1">
                <a:solidFill>
                  <a:schemeClr val="tx1"/>
                </a:solidFill>
              </a:rPr>
              <a:t>           }</a:t>
            </a:r>
            <a:br>
              <a:rPr lang="en-US" sz="2000" i="1">
                <a:solidFill>
                  <a:schemeClr val="tx1"/>
                </a:solidFill>
              </a:rPr>
            </a:br>
            <a:r>
              <a:rPr lang="en-US" sz="2000" i="1">
                <a:solidFill>
                  <a:schemeClr val="tx1"/>
                </a:solidFill>
              </a:rPr>
              <a:t>           else { </a:t>
            </a:r>
            <a:r>
              <a:rPr lang="bg-BG" sz="2000" i="1">
                <a:solidFill>
                  <a:schemeClr val="tx1"/>
                </a:solidFill>
              </a:rPr>
              <a:t>Изключваме </a:t>
            </a:r>
            <a:r>
              <a:rPr lang="en-US" sz="2000" i="1">
                <a:solidFill>
                  <a:schemeClr val="tx1"/>
                </a:solidFill>
              </a:rPr>
              <a:t>i </a:t>
            </a:r>
            <a:r>
              <a:rPr lang="bg-BG" sz="2000" i="1">
                <a:solidFill>
                  <a:schemeClr val="tx1"/>
                </a:solidFill>
              </a:rPr>
              <a:t>от </a:t>
            </a:r>
            <a:r>
              <a:rPr lang="en-US" sz="2000" i="1">
                <a:solidFill>
                  <a:schemeClr val="tx1"/>
                </a:solidFill>
              </a:rPr>
              <a:t>stack;</a:t>
            </a:r>
            <a:br>
              <a:rPr lang="en-US" sz="2000" i="1">
                <a:solidFill>
                  <a:schemeClr val="tx1"/>
                </a:solidFill>
              </a:rPr>
            </a:br>
            <a:r>
              <a:rPr lang="en-US" sz="2000" i="1">
                <a:solidFill>
                  <a:schemeClr val="tx1"/>
                </a:solidFill>
              </a:rPr>
              <a:t>                      </a:t>
            </a:r>
            <a:r>
              <a:rPr lang="bg-BG" sz="2000" i="1">
                <a:solidFill>
                  <a:schemeClr val="tx1"/>
                </a:solidFill>
              </a:rPr>
              <a:t>Включваме </a:t>
            </a:r>
            <a:r>
              <a:rPr lang="en-US" sz="2000" i="1">
                <a:solidFill>
                  <a:schemeClr val="tx1"/>
                </a:solidFill>
              </a:rPr>
              <a:t>i </a:t>
            </a:r>
            <a:r>
              <a:rPr lang="bg-BG" sz="2000" i="1">
                <a:solidFill>
                  <a:schemeClr val="tx1"/>
                </a:solidFill>
              </a:rPr>
              <a:t>в </a:t>
            </a:r>
            <a:r>
              <a:rPr lang="en-US" sz="2000" i="1">
                <a:solidFill>
                  <a:schemeClr val="tx1"/>
                </a:solidFill>
              </a:rPr>
              <a:t>cstack;</a:t>
            </a:r>
            <a:br>
              <a:rPr lang="en-US" sz="2000" i="1">
                <a:solidFill>
                  <a:schemeClr val="tx1"/>
                </a:solidFill>
              </a:rPr>
            </a:br>
            <a:r>
              <a:rPr lang="en-US" sz="2000" i="1">
                <a:solidFill>
                  <a:schemeClr val="tx1"/>
                </a:solidFill>
              </a:rPr>
              <a:t>                   }</a:t>
            </a:r>
            <a:br>
              <a:rPr lang="en-US" sz="2000" i="1">
                <a:solidFill>
                  <a:schemeClr val="tx1"/>
                </a:solidFill>
              </a:rPr>
            </a:br>
            <a:r>
              <a:rPr lang="en-US" sz="2000" i="1">
                <a:solidFill>
                  <a:schemeClr val="tx1"/>
                </a:solidFill>
              </a:rPr>
              <a:t>      }</a:t>
            </a:r>
            <a:br>
              <a:rPr lang="en-US" sz="2000" i="1">
                <a:solidFill>
                  <a:schemeClr val="tx1"/>
                </a:solidFill>
              </a:rPr>
            </a:br>
            <a:r>
              <a:rPr lang="en-US" sz="2000" i="1">
                <a:solidFill>
                  <a:schemeClr val="tx1"/>
                </a:solidFill>
              </a:rPr>
              <a:t> </a:t>
            </a:r>
            <a:r>
              <a:rPr lang="bg-BG" sz="2400">
                <a:solidFill>
                  <a:schemeClr val="tx1"/>
                </a:solidFill>
              </a:rPr>
              <a:t>Реализацията е представена в  </a:t>
            </a:r>
            <a:r>
              <a:rPr lang="bg-BG" sz="2400" smtClean="0">
                <a:solidFill>
                  <a:schemeClr val="tx1"/>
                </a:solidFill>
              </a:rPr>
              <a:t>книгата на </a:t>
            </a:r>
            <a:r>
              <a:rPr lang="bg-BG" sz="2200" smtClean="0">
                <a:solidFill>
                  <a:schemeClr val="tx1"/>
                </a:solidFill>
              </a:rPr>
              <a:t>Преслав </a:t>
            </a:r>
            <a:r>
              <a:rPr lang="bg-BG" sz="2200">
                <a:solidFill>
                  <a:schemeClr val="tx1"/>
                </a:solidFill>
              </a:rPr>
              <a:t>Наков, Панайот Добриков. </a:t>
            </a:r>
            <a:r>
              <a:rPr lang="bg-BG" sz="2200" i="1">
                <a:solidFill>
                  <a:schemeClr val="tx1"/>
                </a:solidFill>
              </a:rPr>
              <a:t>Програмиране = ++Алгоритми</a:t>
            </a:r>
            <a:r>
              <a:rPr lang="bg-BG" sz="2200">
                <a:solidFill>
                  <a:schemeClr val="tx1"/>
                </a:solidFill>
              </a:rPr>
              <a:t>, </a:t>
            </a:r>
            <a:r>
              <a:rPr lang="en-US" sz="2200">
                <a:solidFill>
                  <a:schemeClr val="tx1"/>
                </a:solidFill>
              </a:rPr>
              <a:t>TopTeam Co., </a:t>
            </a:r>
            <a:r>
              <a:rPr lang="bg-BG" sz="2200">
                <a:solidFill>
                  <a:schemeClr val="tx1"/>
                </a:solidFill>
              </a:rPr>
              <a:t>София,</a:t>
            </a:r>
            <a:r>
              <a:rPr lang="en-US" sz="2200">
                <a:solidFill>
                  <a:schemeClr val="tx1"/>
                </a:solidFill>
              </a:rPr>
              <a:t> 2002</a:t>
            </a:r>
            <a:r>
              <a:rPr lang="bg-BG" sz="2200">
                <a:solidFill>
                  <a:schemeClr val="tx1"/>
                </a:solidFill>
              </a:rPr>
              <a:t> </a:t>
            </a:r>
            <a:endParaRPr lang="en-US" sz="220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98E6F9-192E-4870-8AE3-143B1CD45A02}" type="slidenum">
              <a:rPr lang="en-US"/>
              <a:pPr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3010</TotalTime>
  <Words>983</Words>
  <Application>Microsoft Office PowerPoint</Application>
  <PresentationFormat>On-screen Show (4:3)</PresentationFormat>
  <Paragraphs>551</Paragraphs>
  <Slides>56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Solstice</vt:lpstr>
      <vt:lpstr>Worksheet</vt:lpstr>
      <vt:lpstr>Equation</vt:lpstr>
      <vt:lpstr>         Г Р А Ф   (М Р Е Ж О В И    С Т Р У К Т У Р И)   Структурата граф подобно на дървото се състои от непразно множество върхове (възли) V и множество дъги (ребра) Е.   Графът е подмножество от декартовото произведение на двете множества - V и E:         G = {V, E} За разлика от дървото един в граф възможно е да има обратни връзки. Всяка дъга се дефинира чрез двойка възли, които съединява, например (А,  F) или (A, B). Ако двойката е подредена, т.е. дъгата има посока, графът се нарича насочен или ориентиран, в противен случай графът е неориентиран:     </vt:lpstr>
      <vt:lpstr> Една дъга Х, която се описва като X = (A,В), се нарича инцидентна с върховете A и В, т.е. върховете, които съединява или от които влиза и излиза. Върховете A се В, свързани с една дъга, наричат съседни. Две и повече дъги, излизащи от един връх, например (A,B) и (A,D), също така се наричат инцидентни. Степен на връх на граф G е броят на ребрата, инцидентни с него. Означава се с d(Vi). Например d(A)=2. Ако d(Vi)=0, върхът Vi се нарича изолиран.  За ориентиран граф, в който всеки възел Vi  може да има влизащи и излизащи дъги, d(Vi) = d’(Vi) + d’’(Vi), където d’(Vi) е полустепен на входа на Vi, d’’(Vi) е полустепен на изхода Vi.     Път между върховете Vi и Vj е последователността от дъгите, които ги свързват. Дължината на пътя е броят на тези дъги. Пътят се нарича прост, ако върховете в дъгите му не се повтарят. Цикълът е прост път, в който първия и последния върхове се повтарят.   Цикличен граф е граф G, който съдържа поне един цикъл. Графът G се нарича тегловен, ако дъгите му имат стойности. Графът G се нарича свързан, ако за произволна двойка върхове Vi и Vj съществува път, който ги свързва. В противен случай графът е несвързан. В един несвързан граф може да има свързани компоненти, т.е. подграфи, които са свързани. </vt:lpstr>
      <vt:lpstr> Съществуват различни начини за представянето на структурата граф в паметта.    Статични методи     Начините са ефективни, когато представяният граф има голям брой дъги и резултантните матрици не са разредени.         - чрез матрица на съседство           </vt:lpstr>
      <vt:lpstr>-  чрез матрица на инцидентност:                       дъга-примка  </vt:lpstr>
      <vt:lpstr>- чрез вектори на съседство:                </vt:lpstr>
      <vt:lpstr>         Динамично представяне на граф   Графът може да се представи динамично. Примерната декларация на структурата е следната:   struct nd  //структура за описание на връх {int key; nd*p1; arc*p2;}    //p1 - указател към следващия връх  //p2 - указател към списъка от наследници -  //всички възли, до които има дъга от даден възел  struct arc  //структура за описване на дъга {arc*p3; nd*p4;} //p3 - указател към следващата дъга за даден възел //p4 - указател към възел, крайния за дъгата </vt:lpstr>
      <vt:lpstr>                                Вход           </vt:lpstr>
      <vt:lpstr> Комбинирано представяне на структурата граф    чрез списъци на съседство    Структурата се представя като масив от указатели към списъци, описващи върховете и инцидентните им дъги в графа:  const n=10; struct link {char key; link *next;} *G[n];      </vt:lpstr>
      <vt:lpstr>       Основни операции със структурата граф   - Инициализиране на граф  - Търсене на връх   - Търсене на дъга   - Включване на връх  - Включване на дъга  - Премахване на връх  - Премахване на дъга  - Обхождане на граф   Изброените операции са дефинирани при следните аксиоми:          1. Всеки нов добавян връх е изолиран връх    2. Ако се включва дъга и върховете, свързани с нея, не принадлежат на графа, те се добавят    3. Ако се премахва дъга, то върховете, свързани с нея, не се премахват    4. Ако се премахва връх, то се премахват всички дъги, инцидентни с него    5.Включването на нов връх Viв граф G е възможно, акоViне принадлежи на G.    6. Включването на нова дъга (Vi, Vj) в граф G е възможно, ако тя не принадлежи на G.    7. Премахването на връх  Vi от графа G е възможно, ако Vi принадлежи на   G.     8. Премахването на дъга (Vi, Vj) от графа G е възможно, ако (Vi, Vj) принадлежи на G.   Ако графът G е неориентиран, трябва да се добави още една аксиома:    9.  Ако дъга (Vi, Vj) принадлежи на графа G, то дъгата (Vj, Vi) също така е дъга на графа G.  </vt:lpstr>
      <vt:lpstr>- Инициализация на граф:   void init (link *gr[n]) {   for (int i=0; i&lt;n;i++)     gr[i]=NULL; }  - Търсене на връх в граф:   int search_node(link *gr[n], char c) {   int flag=0;   for (int i=0;i&lt;n;i++)    if (gr[i])   //проверка, дали даден връх съществува  if (gr[i]-&gt;key==c)            flag=1;   return flag; } </vt:lpstr>
      <vt:lpstr> -  Търсене на дъга в граф  int search_arc(link *gr[5], char c1, char c2) //c1 и c2 - ключовите стойности на възлите, които  //свързва търсената дъга  {    int flag=0;    if (search_node(gr, c1)&amp;&amp;search_node(gr, c2))     { int i=0;       link *p;       do       {        if ((gr[i]==NULL)||(gr[i] &amp;&amp; gr[i]-&gt;key!=c1))                         i++;       }       while (gr[i]-&gt;key!=c1);        p=gr[i];       while (p-&gt;key!=c2&amp;&amp;p-&gt;next!=NULL)  p=p-&gt;next;       if (p-&gt;key==c2) flag=1;      }      return flag; } </vt:lpstr>
      <vt:lpstr> - Включване на връх в граф.  void add_node(link *gr[n], char c)//с е добавяната стойност {   if (search_node(gr,c))     {cout&lt;&lt;"\nВърхът вече съществува!\n";  }    else    {     int j=0;     while (gr[j]&amp;&amp;(j&lt;n))  j++;     if (gr[j]==NULL)      {gr[j]=new link;  //създаване на нов връх  gr[j]-&gt;key=c;//установяване на ключовата стойност    gr[j]-&gt;next=NULL;  //и указателя      }  else {cout&lt;&lt;"\nПрепълване на структурата!\n"; }    } }</vt:lpstr>
      <vt:lpstr>  -  Включване на дъга в граф  void add_arc(link *gr[n], char c1, char c2) {    int i=0;    link *p;    if (search_arc(gr, c1, c2))    {cout&lt;&lt;"\nДъгата вече съществува!";  }        else     {   if (!(search_node(gr, c1)))  add_node(gr, c1);   if (!(search_node(gr, c2)))  add_node(gr, c2);   while (gr[i]-&gt;key!=c1)  i++;   p=new link;     //създаване на нов елемент   p-&gt;key=c2;      //в списъка на съседство   p-&gt;next=gr[i]-&gt;next;   gr[i]-&gt;next=p;     } } </vt:lpstr>
      <vt:lpstr>- Премахване на връх от граф void del_node(link *gr[n], char c) {   if (search_node(gr, c))     {       int i=0;       do                  if ((gr[i]==NULL)||(gr[i] &amp;&amp; gr[i]-&gt;key!=c)) i++;         while (gr[i]-&gt;key!=c);         link *p=gr[i], *q;       while (gr[i]!=NULL)            {p=gr[i]; gr[i]=p-&gt;next; delete p;}      //изтриване на върха и на дъгите, излизащи от него       for (i=0;i&lt;n;i++)  if (gr[i])     {      p=gr[i];      while ((p-&gt;key!=c)&amp;&amp;(p-&gt;next!=NULL))       {q=p; p=p-&gt;next;}      if (p-&gt;key==c)  //изтриване на дъгите, влизащи        {q-&gt;next=p-&gt;next; delete p;}     //във върха     }     }        else {cout&lt;&lt;"В графа няма такъв връх!";} } </vt:lpstr>
      <vt:lpstr>- Премахване на дъга от граф  void del_arc(link *gr[n], char c1, char c2) {   if (search_arc(gr, c1, c2))     {       int i=0;       while (gr[i]-&gt;key!=c1)     i++;       link *p=gr[i], *q;       while (p-&gt;key!=c2)    {q=p; p=p-&gt;next;}       q-&gt;next=p-&gt;next;       delete p;  //премахване на върха       //от списъка на съседство     }       else {cout&lt;&lt;"\nВ графа няма такава дъга!";} } </vt:lpstr>
      <vt:lpstr>- Обхождане на граф   Обхождането на граф може да става по два начина:     -  в дълбочина  (Depth-First Search или DFS), при което се следва възможно най-дългия път, като се обработват всички срещнати по пътя върхове до достигане до връх без наследник или до връх, през който вече сме минали. С други думи, при обхождане в дълбочина се посещава един съсед Vi на даден връх Vj, а останалите съседи на Vj ще бъдат посетени едва след като са обходени всички съседи на Vi .     - в ширина  (Breadth-First Search и BFS), при което върховете се обхождат по реда на нарастване на разстоянието от началния връх. С други думи, първо се посещават всички непосредствени съседи на даден връх, преди да се посетят техните съседи.  </vt:lpstr>
      <vt:lpstr> Примерно обхождане:                    DFS (в дълбочина):   0 4 1 5 3 2                                      BFS  (в ширина):       0 4 2 3 1 5        </vt:lpstr>
      <vt:lpstr>PowerPoint Presentation</vt:lpstr>
      <vt:lpstr> Описание на рекурсивен алгоритъм за DFS:  const int n=20; int m[n];     //масив за маркиране на обходените върхове int prof (i)  //рекурсивна част { m[i]=1;     //възелът се маркира като посетен    cout&lt;&lt;i&lt;&lt;"  "; //извеждане на номера на обходения връх    for (int j=0; j&lt;k; j++)//k - е броят на съседите на върха i       {  v=j-ия наследник на i;          if (m[v]==0)  prof(v);       } } void dfs() { for (int i=0; i&lt;n; i++)     if (m[i]==0)  prof(i); }  В описанието на алгоритъма е използвано статичното представяне на графа G - чрез матрицата на съседство. Възлите на графа са номерирани последователно от 1 до N. Сложността на алгоритъма е О(N2).  Ако графът G е представен чрез списъците на съседство, сложността на алгоритъма е O(N*max (N, M)), където М е броя на дъгите в графа. Възможен е също така и итеративен вариант на алгоритъма, реализиран с използване на помощен стек за запомняне на обходените върхове.</vt:lpstr>
      <vt:lpstr> Реализация на DFS за комбинирано представяне на графа:  void dfs(int k)      //k - ключовата стойност        //на посетения възел {    cout&lt;&lt;k;    int j=convert[k]; //convert[k] - е функция, която                       //връща индекса на елемента на                      //масива от списъците на                       //съседство, чиято стойност е k    m[j]=1;           //възелът се маркира като посетен    for (link*t=gr[j]-&gt;next; t-&gt;next!=NULL; t=t-&gt;next)        if (!m[convert(t-&gt;key)])                   dfs(t-&gt;key); } </vt:lpstr>
      <vt:lpstr>Описание на итеративен алгоритъм за BFS за статично представяне на граф:  void bfs(int v) //v - начален възел { инициализация на помощен масив m, използван за   регистрация  на обходените възли;   инициализация на помощна опашка;   m[v]=1;     //маркиране на v като посетен   cout&lt;&lt;v;   push(v); //поместване на v опашката   while (опашката не е празна)    {pop(x);//извличане на поредния елемент от             //опашката       for (всеки връх y, съседен на х)        {         if(m[y]==0)           {cout&lt;&lt;y; m[y]=1; push(y);}        }    } }</vt:lpstr>
      <vt:lpstr>Реализация на ВFS за комбинирано представяне на графа:  void bfs (int k)   //k - ключовата стойност на началния възел { int m[n];        //масив за регистриране на обходените върхове   init_queue();    //инициализация на помощната опашка   push_queue(k);   //поместване в опашка на първия елемент   while (empty_queue())   //докато опашката не е празна   { k=pop_queue();   //извличане на поредния елемент от опашката     int j=convert(k);//функция, която връща индекса                       //на елемента на масива от списъците на              // съседство, чиято стойност е k.     if (m[j]==0)       //Възелът не е посетен    {m[j]=1;cout&lt;&lt;k&lt;&lt;" ";}//регистриране и визуализация на възела            for (link *t=gr[j]-&gt;next; t-&gt;next!=NULL; t=t-&gt;next)        if(m[convert(t-&gt;key)]==0) //възелът не е посетен          push_queue(t-&gt;key);  //включване на възела в опашката    } }    Сложността на алгоритъма е същата, както и на DFS.  Описаните алгоритми позволяват да се извърши обхождане на свързан граф G. Ако G е несвързан, обхождането се извършва на части по-отделно за всяка от свързаните компоненти.</vt:lpstr>
      <vt:lpstr>     Търсене на път в граф   Една от най-често решавани задачи при работа с тази структура е търсене на най-кратки пътища. Следва разглеждане на няколко класически алгоритъма за търсене на път в граф.       1. Алгоритъм на DIJKSTRA   Алгоритъмът на DIJKSTRA при зададен начален връх решава задачата за намиране на най-късия път до произволен връх в графа.  Имаме тегловен ориентиран граф G={V,E}, където всяка дъга Е има неотрицателно тегло. Върховете са последователно номерирани -  V={0, 1, 2, …, N-1}. Един от върховете, например нулевия, е избран за начален. Целта е да се намери най-късия път от началния връх до всеки друг връх от V.   Алгоритъм на DIJKSTRA работи чрез поддържане на комплект от върховете, да го наречем множество S, най-късите разстояния до които от началния връх са известни. Първоначално множеството S съдържа само началния връх. На всяка стъпка към S се добавя нов връх W, пътя до който от началния връх е с най-низка цена. Този път минава само чрез върховете от S и се нарича “специален”. Масивът D се използва за запомняне на специалните пътища. Когато S включи всички върхове от G, D ще съдържа най-късите пътища от началния връх до всеки друг връх на G. </vt:lpstr>
      <vt:lpstr> Пример:                Р - помощен масив, съдържащ върховете,                                предхождащи текущите в специалния път:       Път от 0 към 4:      4 -&gt;2 -&gt;3 -&gt;0                                                    P[0]=*          P[1]=*                                                    P[2]=3                                                    P[3]=0         P[4]=2                     </vt:lpstr>
      <vt:lpstr> Описание на алгоритъма на DIJKSTRA  dijkstra() { int s[n]={0};   //множеството S е реализирано като масив                    //n - брой възли в графа    int d[n];     // масив, в който се съхраняват                   // най-кратките пътища от началния                   //(0-вия) възел до всички останали    int p[n]       // р е помощен масив, съдържащ върховете,                   // предхождащи текущите в специалния път    int w, i;     s[0]=1;     for (i=1; i&lt;n; i++)       { d[i]=c[0,i]; p[i]=0; } //c е ценовата матрица с                                 //разстоянията    for (i=1; i&lt;n; i++)       { избиране на връх w, за който d[w] е min;          s[w]=1;            //добавяне на w към множеството          for (i=1; i&lt;n; i++)            if (s[i]==0)                if (d[i]&gt;d[w]+c[w,i])                     {                        p[i]=w;                        d[i]=d[w]+c[w,i];                     }       }           }  </vt:lpstr>
      <vt:lpstr>      При използване на статичното представяне на графа G сложността на алгоритъма на DIJKSTRA е О(N2). Ако броят на дъгите в графа е малък и матрицата на съседство е разредена, по-добър резултат дава представянето на графа чрез списъците на съседство. В този случай сложността на алгоритъма на DIJKSTRA е О(M+N * Log2(N)), където М е броя на дъгите в G.         </vt:lpstr>
      <vt:lpstr> 2.  Алгоритъм на FLOYD Алгоритъмът на FLOYD решава задачата за намиране на минимален път между всяка двойка върхове в даден граф.  Имаме граф G={V, E}, в който всяка дъга (Vi, Vj) има неотрицателна цена C [Vi, Vj]. Задачата се свежда до намирането на най-къс път от Vi до Vj за всяка двойка върхове (Vi, Vj).  Нека за по-голямо удобство пак да предположим, че върховете са номерирани последователно от 0 до N-1. За пресмятане на дължините на най-късите пътища ще се използва помощна матрица А с размерност N x N, която се инициализира като A[I, J]=C[I, J] за I и J от 1 до N. Ако няма път от I до J, A[I, J] се установява в някаква голяма стойност. Диагоналните елементи на А се приемат за 0.   Матрицата А се променя итеративно, като след K-та итерация A[I, J] ще съдържа MIN път от всички възможни пътища от I до J, които минават през върховете, номерирани не по-високо от К:              AК[I, J] = MIN(AК-1[I, J], AК-1[I, K] + AК-1[K, J])  </vt:lpstr>
      <vt:lpstr>Примерен граф:  Инициализация:                                А[0]                                                             през 0 (3+5)               A[1]             A[2]          през 2 (5+2)                  P     </vt:lpstr>
      <vt:lpstr>  За да се видят пътищата, използваме помощната матрица p, елементите на която p[i],[j] съдържат върховете, включвани в MIN пътища. Ако p[i],[j]=0, това означава, че пътят е директен, т.е. съществува дъга (i,j).  Описание на алгоритъма на FLOYD  void floyd() {for (int i=0; i&lt;n; i++)      for (int j=0; j&lt;n; j++)         { a[i][j]=c[i][j]; // инициализация на а           p[i][j]=0;       // инициализация на р         }   for (int k=0; k&lt;n; k++)      for (i=0; i&lt;n; i++)        for (j=0; j&lt;n; j++)            if ((a[i][k]+a[k][j])&lt;a[i][j])                {  a[i][j]= a[i][k]+a[k][j];                   p[i][j]=k;                 } }  Сложността на алгоритъма е О(N3), тъй като има три цикъла, вложени един в друг. Ако го сравним с алгоритъма на DIJKSTRA, която е О(N2) за един връх, то при повторение на действието N пъти ще получим същия резултат - О(N3).  От най-известните алгоритми за търсене на пътища в граф следва също така да се спомене алгоритмът на FORD-BELLMAN, който, подобно на алгоритъма на DIJKSTRA намира най-кратки разстояния от даден връх S до останалите върхове в графа G={V, E}. За разлика от алгоритъма на DIJKSTRA, алгоритмът на FORD-BELLMAN не налага ограничения на стойностите на дъгите, които могат да бъдат и отрицателни. Сложността на алгоритъма също така се оценява като О(N3).</vt:lpstr>
      <vt:lpstr>Алгоритъм на FORD-BELLMAN  Ценова матрица на Граф G        Ориентиран                                                                               тегловен граф G                                                                      Алгоритмът търси най-кратките пътища от даден начален връх до всички останали върхове в графа. </vt:lpstr>
      <vt:lpstr>               </vt:lpstr>
      <vt:lpstr>  Център на графа  Център (централен връх) на графа G (V, E) е върхът w    V с минимален ексцентриситет  (максимално отдалечаване), т.е. максималното разстояние до останалите върхове е минимално:  min(максимална дължина на пътя от връх w до връх vi    V) за  w    V        </vt:lpstr>
      <vt:lpstr>PowerPoint Presentation</vt:lpstr>
      <vt:lpstr>PowerPoint Presentation</vt:lpstr>
      <vt:lpstr>PowerPoint Presentation</vt:lpstr>
      <vt:lpstr>PowerPoint Presentation</vt:lpstr>
      <vt:lpstr>            Контрол на компании  Задача: Даден е тегловен граф G(V,E) с тегла на ребрата естествени числа между 0 и 100. Казваме, че върхът i контролира j, ако съществува реброто (i, j) със стойност &gt;50 или съществува множество от върхове v1, v2, …, vk, контролирани от i, ако съществуват ребрата (v1, j) (v2, j),…, (vk, j), чиято сума е &gt;50.  Задачата е по зададен връх m да се намерят всички контролирани от m върхове.    Задачата описва реална ситуация, в която върховете на графа представят компании, а всяко ребро (i, j) показва процента  от акциите, които компанията i  притежава от компанията j.   Например: компания 1 контролира   компании 2, 4 и 5.   Задачата може да се реши чрез   адаптация на алгоритъма на   Уоршал за транзитивно затваряне. (Преслав Наков, Панайот Добриков,    Програмиране = ++Алгоритми, TopTeam Co., София, 2002)  </vt:lpstr>
      <vt:lpstr>PowerPoint Presentation</vt:lpstr>
      <vt:lpstr>PowerPoint Presentation</vt:lpstr>
      <vt:lpstr>PowerPoint Presentation</vt:lpstr>
      <vt:lpstr> Алгоритъмът може да бъде реализиран и по обратния начин: на всяка стъпка да се търси връх без наследник. Така ще се получи топологичното сортиране на графа в обратен ред.  Когато съществува повече от едно нареждане на върховете в Z, множеството от всички възможни списъци Z се нарича пълно топологично сортиране.         Реализациите на описаните алгоритми могат да се намерят в Преслав Наков, Панайот Добриков. Програмиране = ++Алгоритми, TopTeam Co., София, 2002  </vt:lpstr>
      <vt:lpstr>Най-дълъг път в ацикличен граф   Много практически задачи се решават, като се сведат до задача за намиране на най-дълъг път в ацикличен граф. Условието за ацикличност е съществено, т.к. единственият подход за решаване на задачата в общия случай е чрез пълно изчерпване (когато в графа няма цикли, са изпълнени някои принципи за оптималност, необходими за задачи, които се решават с динамично оптимиране, което гарантира по-ефективно решение).  Например: Екип от програмисти разработва програмен продукт, който се състои от отделни задачи. Всяка задача има определена продължителност и свързва два етапа от разработването на продукта: начален и краен. Една задача не може да бъде започната, ако не е завършен началния й етап. За да бъде завършен изцяло един етап, трябва да бъдат завършени всички задачи, за които той се явява краен. Задача: да се определи минималното време (при неограничен брой програмисти), достатъчно за завършването на целия проект (т.е. всичките му етапи).</vt:lpstr>
      <vt:lpstr> Ако за модел на задачата използваме тегловен ориентиран граф, в който върховете са етапите , а ребрата - задачите, то търсенето на минималното време ще бъде равно на дължината на максималния по брой върховете път в графа. В литературата този път се нарича критичен път.  Алгоритъм: Нека е даден ацикличен граф G (V, E) с n върха и тегловна матрица A[n][n] на дъгите в G: 1. Въвеждаме масив maxDist[],     в който ще пазим max разстоя-     ния от всеки връх в графа, т.е.     maxDist[i] ще бъде равно на дъл-     жината на max път с начало върха i.  В началото инициализираме      всички елементи на maxDist[] с нули. Във втори масив savePath[]     ще пазим намерения най-дълъг път, като го инициализираме с -1.  2. Нека да започнем с връх i от V, от  който не излизат ребра (такъв      връх задължително съществува, т.к. графът е ацикличен).     Премахваме  този връх от графа и на всеки негов предшественик k     присвояваме:       maxDist[k] = max{maxDist[k], maxDist[i]+A[k][i]}     </vt:lpstr>
      <vt:lpstr>        </vt:lpstr>
      <vt:lpstr> Алгоритъмът може да се реализира рекурсивно, като се използва модификация на обхождане в дълбочина  (DFS). При всяко връщане от рекурсивното извикване на DFS(i)  се озоваваме в някой предшественик j на върха i . Там ще запазваме максималното maxDist[j]+A[j][i] за всеки  j наследник на i и в края, преди изхода от функцията   DFS, ще го присвояваме на maxDist[i]. Функцията DFS(i) се изпълнява само, ако maxDist[i] още не е пресметнато, т. е. при maxDist[i] ==0 (като в началото инициализираме целия масив с нули). Функцията DFS  се стартира последователно за всеки от върховете на графа.   За да запазим и отпечатаме всички върхове от търсения път, а не само дължината му, в масива savePath[] на позиция i ще записваме този наследник j, за който е намерено максималното maxDist[i]+A[i][j].    Изходния код на програмата може да се намери в книгата на Преслав Наков, Панайот Добриков. Програмиране = ++Алгоритми, TopTeam Co., София, 2002   Там също така може да се намери описание на алгоритъма за търсене на най-дълъг прост път между два върха в произволен граф.  </vt:lpstr>
      <vt:lpstr> Цикли в граф (намиране и изследване)                                 Как можем да проверим, дали даден граф G е цикличен? Например, прилагаме вече известния алгоритъм за обхождане на граф в дълбочина (DFS). Ако на някоя стъпка от обхождането се окаже, че разглежданият връх  i има съсед, който вече сме обходили и различен от предшественика на i, то следва, че G съдържа цикъл.   За целта функцията DFS()  се модифицира - като параметър се добавя  int parent - родителя на текущия връх. Ако от текущия връх i достигнем до връх, в който вече сме били, различен от parent , значи се е затворил цикъл.   Реализацията на алгоритъма е представена в книгата  на Преслав Наков, Панайот Добриков. Програмиране = ++Алгоритми, TopTeam Co., София, 2002.    </vt:lpstr>
      <vt:lpstr>       Намиране на фундаментално множество цикли   Неориентиран свързан граф без цикли се нарича дърво. Покриващо (обхващащо) дърво в свързан неориентиран граф G(V,E) се нарича всеки свързан ацикличен подграф G’(V,E’) на G.    Нека е даден неориентиран свързан граф G(V,E) с n върха и  m ребра. Нека D(V,T) е произволно покриващо дърво на G:     G(V,E)                 D(V,T) (или G’(V,E’))        Добавянето към D на ребро, непринадлежащо на Т, ще доведе до затваряне на прост цикъл. Този цикъл принадлежи на фундаменталното множество цикли на графа G относно покриващото му дърво D.</vt:lpstr>
      <vt:lpstr>Всяко покриващо дърво D  има точно q=n-1 ребра. Ребрата на G, непринадлежащи на D, са общо m-n+1. Т. к. добавянето на всяко едно към Т води до получаването на точно един цикъл, то броят на циклите от фундаменталното множество е m-n+1.     Определяйки фундаменталното множество цикли, ние определяме еднозначно цикличната структура на графа, т.к. всеки друг цикъл в G може да се представи чрез “слепване” на цикли от фундаменталното множество. В случая простите цикли са: А=(1,2,3); В=(4,5,6) и С=(2,3,4,6). Всеки друг прост цикъл може да се построи чрез съединяване на два от (А,В,С), които имат поне едно общо ребро (общото ребро/ребра се премахват, както и получените след тази процедура изолирани възли). Например, съединявайки А и С получаваме (1,2,4,6,3).</vt:lpstr>
      <vt:lpstr> Намирането на фундаментално множество цикли пак може да бъде извършено чрез използване на модификация на функцията за обхождане на граф в дълбочина (DFS). На първата стъпка ще намерим едно произволно покриващо дърво на графа, а по-нататък всяко ребро, което не участва в построеното покриващо дърво, ще затваря цикъл, и този цикъл ще намерим с още едно обхождане на графа, реализирано също така с DFS. Общата сложност на алгоритъма е O(m*(m+n)).   Реализацията на алгоритъма е представена в книгата на Преслав Наков, Панайот Добриков. Програмиране = ++Алгоритми, TopTeam Co., София, 2002.  </vt:lpstr>
      <vt:lpstr>          Хамилтонови цикли  Хамилтонов цикъл в граф се нарича цикъл, съдържащ всеки връх от графа точно веднъж. Граф, съдържащ такъв цикъл, се нарича Хамилтонов.   Известни са две класически задачи: -  проверка, дали  даден граф е Хамилтонов; -  задача за търговския пътник (търсене на Хамилтонов цикъл     с минимална дължина в тегловен граф).  И двете задачи се определят като NP-пълни, което означава, че сложността им в най-лошия случай е експоненциална.  Първата задача може да бъде решена чрез проверка на циклите в графа (пълно изчерпване на вариантите).  Втората вече е разглеждана. Тя  също може да се реализира чрез пълно изчерпване (реализацията е представена в  книгата на Преслав Наков, Панайот Добриков. Програмиране = ++Алгоритми, TopTeam Co., София, 2002  и практически е неприложима при големи n).</vt:lpstr>
      <vt:lpstr> Например, за следния граф е  Хамилтонов. С червено е означен  минималния Хамилтонов цикъл,  който е 1 2 3 5 4 6 1 и има цена 28. Получен е чрез преглеждане на всички маршрути, започващи от даден базов възел ( в случая - 1). Ако на дадена стъпка получаваме междинна цена на изграждания маршрут, по-голяма от тази на минималния, изграждането на този маршрут се прекратява.    Поради широкото си приложение, задачата е изследвана много подробно в литературата. За решението й съществуват десетки алгоритми, някои от които гарантират точно решение с полиномиална сложност (например, метод на клоните и границите). Известни са и евристични подходи за решаване на задачата.  </vt:lpstr>
      <vt:lpstr>  Ойлерови цикли  В теорията на графите се разглежда специален вид цикли, наречен на името на техния пръв изследовател Леонард Ойлер. Градът Кьонингсберг, където през XVIII век е живял Ойлер, е имал седем моста на река Прегел, построени по следния начин:        Хората там често си задавали въпроса: дали е възможно да се премине точно веднъж по всеки от мостовете и обиколката да приключи в изходната позиция. Ойлер е представил мостовете с мултиграф и показал, че това е невъзможно.  Граф G(V,E) се нарича мултиграф, ако множеството на ребрата му допуска повторение (т.е. E е мултимножество).     </vt:lpstr>
      <vt:lpstr>Нека е даден свързан мултиграф G(V,E). Цикъл, в който всяко ребро участва точно по веднъж, се нарича Ойлеров цикъл. Един мултиграф се нарича Ойлеров, ако в него съществува Ойлеров цикъл.   Ойлеров път в граф се нарича път, в който всяко ребро участва точно по веднъж.  Теорема 1. (Изказана от Ойлер без доказателство). Свързан неориентиран мултиграф съдържа Ойлеров цикъл тогава и само тогава, когато всички върхове на графа са от четна степен.  Следствие 1. Свързан неориентиран мултиграф съдържа  Ойлеров път тогава и само тогава, когато има точно два върха от нечетна степен.              Ойлеров   път                Ойлеров цикъл: (1,2),(2,3),(3,4),(4,2),(2,5),(5,3),(3,5),(5,6),(6,3),(3,7),(7,8),(8,1)</vt:lpstr>
      <vt:lpstr>Теорема 2. Свързан ориентиран мултиграф съдържа Ойлеров цикъл тогава и само тогава, когато полустепента на входа d’(i) на всеки връх i е равна на полустепента на изхода d(i), т.е. d’(i)=d(i) за всеки възел  i в множеството V.  Следствие 2. Свързан ориентиран мултиграф съдържа Ойлеров път тогава и само тогава, когато има точно два върха i и j, такива че  d’(i)=d(i)+1,  d’(j)=d(j)-1 и  d’(k)=d(k)  за всяко k от множеството V, когато  k&lt;&gt;i, k&lt;&gt;j.  (На дясната фигура: i=8,  j=1, k=2, 3, 4, 5, 6, 7)        </vt:lpstr>
      <vt:lpstr> Как да се намери Ойлеров цикъл?  Започваме обхождане на графа от произволен връх i. Намираме инцидентно с него ребро (i, j) и го маркираме като посетено.  Продължаваме с върха j: за него намираме непосетено ребро (j,k), маркираме го като посетено и преминаваме в k. Продължавайки по този начин, в даден момент ще се озовем в началния връх i и ще затворим цикъла. Ако всички ребра на графа вече са маркирани, то този цикъл е Ойлеров. Ако са останали непосетени ребра, то намираме връх x, принадлежащ на току-що намерения цикъл и инцидентен с поне едно непосетено ребро. От това, че всеки връх трябва да бъде от четна степен, следва, че x е инцидентен с четен брой (т.е. поне две) непосетени ребра . От х започваме да изграждаме цикъл по вече описания начин, докато отново се върнем в него. Получаваме втори цикъл, който обединяваме с първия (общата им точка ще бъде върхът х). Така, след краен брой стъпки, всички ребра ще се включат в един общ цикъл - търсеният Ойлеров цикъл. В случая, че търсим Ойлеров път, можем  да приложим следната проста модификация: съединяваме върховете от нечетна степен с ребро  (от. Следств.1: съществуват точно два такива върха) и намираме Ойлеров цикъл по описания алгоритъм. След отстраняване на добавеното ребро  получаваме търсения Ойлеров път.</vt:lpstr>
      <vt:lpstr>Алгоритъм за намиране на Ойлеров цикъл  Нека графът е представен с матрица на съседство А[][]. За реализацията ще се използват два стека: stack[] - за текущо построявания цикъл, и cstack[] - за обединението на всички построени до момента цикли. И двата стека първоначално ще бъдат празни.  Добавяме произволен връх i в stack; While (stack не е празен)      { Вземаме върха i от върха на stack без да го изключваме;         if (i има наследници)           { Вземаме произволен наследник j на i;              Слагаме j в stack;              A[j][i]=0; A[j][i]=0; //изключваме реброто от графа            }            else { Изключваме i от stack;                       Включваме i в cstack;                    }       }  Реализацията е представена в  книгата на Преслав Наков, Панайот Добриков. Програмиране = ++Алгоритми, TopTeam Co., София, 2002 </vt:lpstr>
    </vt:vector>
  </TitlesOfParts>
  <Company>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TU - Varna</dc:creator>
  <cp:lastModifiedBy>Елена Рачева</cp:lastModifiedBy>
  <cp:revision>359</cp:revision>
  <dcterms:created xsi:type="dcterms:W3CDTF">2003-08-28T08:49:01Z</dcterms:created>
  <dcterms:modified xsi:type="dcterms:W3CDTF">2020-02-11T15:57:54Z</dcterms:modified>
</cp:coreProperties>
</file>
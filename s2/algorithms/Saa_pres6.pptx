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xls" ContentType="application/vnd.ms-excel"/>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sldIdLst>
    <p:sldId id="383" r:id="rId2"/>
    <p:sldId id="279" r:id="rId3"/>
    <p:sldId id="280" r:id="rId4"/>
    <p:sldId id="346" r:id="rId5"/>
    <p:sldId id="281" r:id="rId6"/>
    <p:sldId id="344" r:id="rId7"/>
    <p:sldId id="282" r:id="rId8"/>
    <p:sldId id="283" r:id="rId9"/>
    <p:sldId id="382" r:id="rId10"/>
    <p:sldId id="284" r:id="rId11"/>
    <p:sldId id="285" r:id="rId12"/>
    <p:sldId id="286" r:id="rId13"/>
    <p:sldId id="329" r:id="rId14"/>
    <p:sldId id="288" r:id="rId15"/>
    <p:sldId id="289" r:id="rId16"/>
    <p:sldId id="347" r:id="rId17"/>
    <p:sldId id="381" r:id="rId18"/>
    <p:sldId id="287" r:id="rId19"/>
    <p:sldId id="348" r:id="rId20"/>
    <p:sldId id="349" r:id="rId21"/>
    <p:sldId id="290" r:id="rId22"/>
    <p:sldId id="341" r:id="rId23"/>
    <p:sldId id="342" r:id="rId24"/>
    <p:sldId id="343" r:id="rId25"/>
    <p:sldId id="292" r:id="rId26"/>
    <p:sldId id="293" r:id="rId27"/>
    <p:sldId id="294" r:id="rId28"/>
    <p:sldId id="295" r:id="rId29"/>
    <p:sldId id="296" r:id="rId30"/>
    <p:sldId id="299" r:id="rId31"/>
    <p:sldId id="332" r:id="rId32"/>
    <p:sldId id="298" r:id="rId33"/>
    <p:sldId id="333" r:id="rId34"/>
    <p:sldId id="300" r:id="rId35"/>
    <p:sldId id="330" r:id="rId36"/>
    <p:sldId id="335" r:id="rId37"/>
    <p:sldId id="336" r:id="rId38"/>
    <p:sldId id="337" r:id="rId39"/>
    <p:sldId id="338" r:id="rId40"/>
    <p:sldId id="339" r:id="rId41"/>
    <p:sldId id="340" r:id="rId42"/>
    <p:sldId id="326" r:id="rId43"/>
    <p:sldId id="328" r:id="rId44"/>
    <p:sldId id="345" r:id="rId45"/>
    <p:sldId id="350" r:id="rId46"/>
    <p:sldId id="351" r:id="rId47"/>
    <p:sldId id="352" r:id="rId48"/>
    <p:sldId id="353" r:id="rId49"/>
    <p:sldId id="354" r:id="rId50"/>
    <p:sldId id="355" r:id="rId51"/>
    <p:sldId id="356" r:id="rId52"/>
    <p:sldId id="357" r:id="rId53"/>
    <p:sldId id="358" r:id="rId54"/>
    <p:sldId id="360" r:id="rId55"/>
    <p:sldId id="361" r:id="rId56"/>
    <p:sldId id="362" r:id="rId57"/>
    <p:sldId id="365" r:id="rId58"/>
    <p:sldId id="366" r:id="rId59"/>
    <p:sldId id="367" r:id="rId60"/>
    <p:sldId id="368" r:id="rId61"/>
    <p:sldId id="372" r:id="rId62"/>
    <p:sldId id="369" r:id="rId63"/>
    <p:sldId id="370" r:id="rId64"/>
    <p:sldId id="375" r:id="rId65"/>
    <p:sldId id="376" r:id="rId66"/>
    <p:sldId id="377" r:id="rId67"/>
    <p:sldId id="378" r:id="rId6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907"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D7DD7E4F-DF06-49E0-887E-FDD65628693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9CA02041-F9BE-47CB-A27F-4DC50040F73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hangingPunct="1">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325651EE-7159-4EFF-8F0D-EFC04EA1C5F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BFA25F5B-7010-4639-BF19-52209E65AE2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15BE2445-2431-4FFC-BCC3-824338F3726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3F8421D6-5B3E-4912-A73A-65D64F98CC3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4" name="Date Placeholder 1"/>
          <p:cNvSpPr>
            <a:spLocks noGrp="1"/>
          </p:cNvSpPr>
          <p:nvPr>
            <p:ph type="dt" sz="half" idx="10"/>
          </p:nvPr>
        </p:nvSpPr>
        <p:spPr/>
        <p:txBody>
          <a:bodyPr/>
          <a:lstStyle>
            <a:lvl1pPr>
              <a:defRPr/>
            </a:lvl1pPr>
            <a:extLst/>
          </a:lstStyle>
          <a:p>
            <a:pPr>
              <a:defRPr/>
            </a:pPr>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87B5EC52-58CE-4413-9EAD-0335E2226B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D90A468A-83B1-4209-9E65-5F0F42FFC63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eaLnBrk="1" hangingPunct="1">
              <a:lnSpc>
                <a:spcPts val="3000"/>
              </a:lnSpc>
              <a:spcBef>
                <a:spcPts val="600"/>
              </a:spcBef>
              <a:buClr>
                <a:schemeClr val="accent1"/>
              </a:buClr>
              <a:buSzPct val="80000"/>
              <a:buFont typeface="Wingdings 2"/>
              <a:buNone/>
              <a:defRPr/>
            </a:pPr>
            <a:endParaRPr lang="en-US" sz="320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72CD7944-9C3E-47E1-A19E-F5E4998EECB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1109930D-99A9-4EE0-B7E6-97640C914FE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67FB51C2-5C8E-4357-A0DC-D67F588E2E6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smtClean="0"/>
              <a:t>Click to edit Master title style</a:t>
            </a:r>
            <a:endParaRPr lang="en-US"/>
          </a:p>
        </p:txBody>
      </p:sp>
      <p:sp>
        <p:nvSpPr>
          <p:cNvPr id="3081"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defRPr/>
            </a:pPr>
            <a:fld id="{50F5A8D0-F713-43DB-B69E-D395A45C0814}"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700" r:id="rId1"/>
    <p:sldLayoutId id="2147483695" r:id="rId2"/>
    <p:sldLayoutId id="2147483701" r:id="rId3"/>
    <p:sldLayoutId id="2147483696" r:id="rId4"/>
    <p:sldLayoutId id="2147483702" r:id="rId5"/>
    <p:sldLayoutId id="2147483697" r:id="rId6"/>
    <p:sldLayoutId id="2147483703" r:id="rId7"/>
    <p:sldLayoutId id="2147483704" r:id="rId8"/>
    <p:sldLayoutId id="2147483705" r:id="rId9"/>
    <p:sldLayoutId id="2147483698" r:id="rId10"/>
    <p:sldLayoutId id="2147483699" r:id="rId11"/>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Microsoft_Excel_97-2003_Worksheet1.xls"/></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emf"/><Relationship Id="rId4" Type="http://schemas.openxmlformats.org/officeDocument/2006/relationships/oleObject" Target="../embeddings/Microsoft_Excel_97-2003_Worksheet2.xls"/></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984250" y="260350"/>
            <a:ext cx="8159750" cy="4191000"/>
          </a:xfrm>
        </p:spPr>
        <p:txBody>
          <a:bodyPr/>
          <a:lstStyle/>
          <a:p>
            <a:pPr eaLnBrk="1" fontAlgn="auto" hangingPunct="1">
              <a:spcAft>
                <a:spcPts val="0"/>
              </a:spcAft>
              <a:defRPr/>
            </a:pPr>
            <a:r>
              <a:rPr lang="en-US" b="1" dirty="0">
                <a:solidFill>
                  <a:schemeClr val="tx1"/>
                </a:solidFill>
              </a:rPr>
              <a:t> </a:t>
            </a:r>
            <a:r>
              <a:rPr lang="bg-BG" sz="3200" b="1" dirty="0">
                <a:solidFill>
                  <a:schemeClr val="tx1"/>
                </a:solidFill>
              </a:rPr>
              <a:t>Нелинейни динамични структури от данни</a:t>
            </a:r>
            <a:br>
              <a:rPr lang="bg-BG" sz="3200" b="1" dirty="0">
                <a:solidFill>
                  <a:schemeClr val="tx1"/>
                </a:solidFill>
              </a:rPr>
            </a:br>
            <a:r>
              <a:rPr lang="bg-BG" sz="1600" b="1" dirty="0">
                <a:solidFill>
                  <a:schemeClr val="tx1"/>
                </a:solidFill>
              </a:rPr>
              <a:t/>
            </a:r>
            <a:br>
              <a:rPr lang="bg-BG" sz="1600" b="1" dirty="0">
                <a:solidFill>
                  <a:schemeClr val="tx1"/>
                </a:solidFill>
              </a:rPr>
            </a:br>
            <a:r>
              <a:rPr lang="bg-BG" sz="3200" b="1" dirty="0">
                <a:solidFill>
                  <a:schemeClr val="tx1"/>
                </a:solidFill>
              </a:rPr>
              <a:t>		</a:t>
            </a:r>
            <a:r>
              <a:rPr lang="bg-BG" sz="2400" b="1" dirty="0">
                <a:solidFill>
                  <a:schemeClr val="tx1"/>
                </a:solidFill>
              </a:rPr>
              <a:t>ДЪРВОВИДНИ  СТРУКТУРИ</a:t>
            </a:r>
            <a:r>
              <a:rPr lang="bg-BG" sz="2800" b="1" dirty="0">
                <a:solidFill>
                  <a:schemeClr val="tx1"/>
                </a:solidFill>
              </a:rPr>
              <a:t/>
            </a:r>
            <a:br>
              <a:rPr lang="bg-BG" sz="2800" b="1" dirty="0">
                <a:solidFill>
                  <a:schemeClr val="tx1"/>
                </a:solidFill>
              </a:rPr>
            </a:br>
            <a:r>
              <a:rPr lang="bg-BG" sz="800" dirty="0">
                <a:solidFill>
                  <a:schemeClr val="tx1"/>
                </a:solidFill>
              </a:rPr>
              <a:t/>
            </a:r>
            <a:br>
              <a:rPr lang="bg-BG" sz="800" dirty="0">
                <a:solidFill>
                  <a:schemeClr val="tx1"/>
                </a:solidFill>
              </a:rPr>
            </a:br>
            <a:r>
              <a:rPr lang="bg-BG" sz="800" dirty="0">
                <a:solidFill>
                  <a:schemeClr val="tx1"/>
                </a:solidFill>
              </a:rPr>
              <a:t>	</a:t>
            </a:r>
            <a:r>
              <a:rPr lang="bg-BG" sz="2400" dirty="0">
                <a:solidFill>
                  <a:schemeClr val="tx2">
                    <a:satMod val="130000"/>
                  </a:schemeClr>
                </a:solidFill>
              </a:rPr>
              <a:t>Съществуват две дефиниции на дървовидна структура или дърво.</a:t>
            </a:r>
            <a:br>
              <a:rPr lang="bg-BG" sz="2400" dirty="0">
                <a:solidFill>
                  <a:schemeClr val="tx2">
                    <a:satMod val="130000"/>
                  </a:schemeClr>
                </a:solidFill>
              </a:rPr>
            </a:br>
            <a:r>
              <a:rPr lang="bg-BG" sz="2400" dirty="0">
                <a:solidFill>
                  <a:schemeClr val="tx1"/>
                </a:solidFill>
              </a:rPr>
              <a:t>	</a:t>
            </a:r>
            <a:r>
              <a:rPr lang="bg-BG" sz="2400" b="1" dirty="0">
                <a:solidFill>
                  <a:schemeClr val="tx1"/>
                </a:solidFill>
              </a:rPr>
              <a:t>Нерекурсивна:</a:t>
            </a:r>
            <a:r>
              <a:rPr lang="bg-BG" sz="2400" dirty="0">
                <a:solidFill>
                  <a:schemeClr val="tx1"/>
                </a:solidFill>
              </a:rPr>
              <a:t> Дърво е свързан граф без цикли.</a:t>
            </a:r>
            <a:br>
              <a:rPr lang="bg-BG" sz="2400" dirty="0">
                <a:solidFill>
                  <a:schemeClr val="tx1"/>
                </a:solidFill>
              </a:rPr>
            </a:br>
            <a:r>
              <a:rPr lang="bg-BG" sz="2400" dirty="0">
                <a:solidFill>
                  <a:schemeClr val="tx1"/>
                </a:solidFill>
              </a:rPr>
              <a:t>	</a:t>
            </a:r>
            <a:r>
              <a:rPr lang="bg-BG" sz="2400" b="1" dirty="0">
                <a:solidFill>
                  <a:schemeClr val="tx1"/>
                </a:solidFill>
              </a:rPr>
              <a:t>Рекурсивна:</a:t>
            </a:r>
            <a:r>
              <a:rPr lang="bg-BG" sz="2400" dirty="0">
                <a:solidFill>
                  <a:schemeClr val="tx1"/>
                </a:solidFill>
              </a:rPr>
              <a:t> Дърво от тип Т е структура, образувана от </a:t>
            </a:r>
            <a:r>
              <a:rPr lang="bg-BG" sz="2400" dirty="0" err="1">
                <a:solidFill>
                  <a:schemeClr val="tx1"/>
                </a:solidFill>
              </a:rPr>
              <a:t>данна</a:t>
            </a:r>
            <a:r>
              <a:rPr lang="bg-BG" sz="2400" dirty="0">
                <a:solidFill>
                  <a:schemeClr val="tx1"/>
                </a:solidFill>
              </a:rPr>
              <a:t> от тип Т, наречена “корен”, и крайно множество (възможно и празно</a:t>
            </a:r>
            <a:r>
              <a:rPr lang="bg-BG" sz="2400">
                <a:solidFill>
                  <a:schemeClr val="tx1"/>
                </a:solidFill>
              </a:rPr>
              <a:t>) </a:t>
            </a:r>
            <a:r>
              <a:rPr lang="bg-BG" sz="2400" smtClean="0">
                <a:solidFill>
                  <a:schemeClr val="tx1"/>
                </a:solidFill>
              </a:rPr>
              <a:t> елементи </a:t>
            </a:r>
            <a:r>
              <a:rPr lang="bg-BG" sz="2400" dirty="0">
                <a:solidFill>
                  <a:schemeClr val="tx1"/>
                </a:solidFill>
              </a:rPr>
              <a:t>- дървета от тип Т, наречени “</a:t>
            </a:r>
            <a:r>
              <a:rPr lang="bg-BG" sz="2400" dirty="0" err="1">
                <a:solidFill>
                  <a:schemeClr val="tx1"/>
                </a:solidFill>
              </a:rPr>
              <a:t>поддървета</a:t>
            </a:r>
            <a:r>
              <a:rPr lang="bg-BG" sz="2400" dirty="0">
                <a:solidFill>
                  <a:schemeClr val="tx1"/>
                </a:solidFill>
              </a:rPr>
              <a:t>”.</a:t>
            </a:r>
            <a:r>
              <a:rPr lang="en-AU" sz="2400" dirty="0">
                <a:solidFill>
                  <a:schemeClr val="tx1"/>
                </a:solidFill>
              </a:rPr>
              <a:t> </a:t>
            </a:r>
            <a:endParaRPr lang="en-US" sz="2400" dirty="0">
              <a:solidFill>
                <a:schemeClr val="tx1"/>
              </a:solidFill>
            </a:endParaRPr>
          </a:p>
        </p:txBody>
      </p:sp>
      <p:grpSp>
        <p:nvGrpSpPr>
          <p:cNvPr id="10243" name="Group 3"/>
          <p:cNvGrpSpPr>
            <a:grpSpLocks/>
          </p:cNvGrpSpPr>
          <p:nvPr/>
        </p:nvGrpSpPr>
        <p:grpSpPr bwMode="auto">
          <a:xfrm>
            <a:off x="3108325" y="4295775"/>
            <a:ext cx="2895600" cy="2209800"/>
            <a:chOff x="2758" y="5821"/>
            <a:chExt cx="2183" cy="1779"/>
          </a:xfrm>
        </p:grpSpPr>
        <p:sp>
          <p:nvSpPr>
            <p:cNvPr id="10244" name="Oval 4"/>
            <p:cNvSpPr>
              <a:spLocks noChangeArrowheads="1"/>
            </p:cNvSpPr>
            <p:nvPr/>
          </p:nvSpPr>
          <p:spPr bwMode="auto">
            <a:xfrm>
              <a:off x="3862" y="5821"/>
              <a:ext cx="379" cy="337"/>
            </a:xfrm>
            <a:prstGeom prst="ellipse">
              <a:avLst/>
            </a:prstGeom>
            <a:noFill/>
            <a:ln w="12700">
              <a:solidFill>
                <a:srgbClr val="000000"/>
              </a:solidFill>
              <a:round/>
              <a:headEnd/>
              <a:tailEnd/>
            </a:ln>
          </p:spPr>
          <p:txBody>
            <a:bodyPr/>
            <a:lstStyle/>
            <a:p>
              <a:endParaRPr lang="bg-BG"/>
            </a:p>
          </p:txBody>
        </p:sp>
        <p:sp>
          <p:nvSpPr>
            <p:cNvPr id="10245" name="Oval 5"/>
            <p:cNvSpPr>
              <a:spLocks noChangeArrowheads="1"/>
            </p:cNvSpPr>
            <p:nvPr/>
          </p:nvSpPr>
          <p:spPr bwMode="auto">
            <a:xfrm>
              <a:off x="3260" y="6478"/>
              <a:ext cx="379" cy="337"/>
            </a:xfrm>
            <a:prstGeom prst="ellipse">
              <a:avLst/>
            </a:prstGeom>
            <a:noFill/>
            <a:ln w="12700">
              <a:solidFill>
                <a:srgbClr val="000000"/>
              </a:solidFill>
              <a:round/>
              <a:headEnd/>
              <a:tailEnd/>
            </a:ln>
          </p:spPr>
          <p:txBody>
            <a:bodyPr/>
            <a:lstStyle/>
            <a:p>
              <a:endParaRPr lang="bg-BG"/>
            </a:p>
          </p:txBody>
        </p:sp>
        <p:sp>
          <p:nvSpPr>
            <p:cNvPr id="10246" name="Oval 6"/>
            <p:cNvSpPr>
              <a:spLocks noChangeArrowheads="1"/>
            </p:cNvSpPr>
            <p:nvPr/>
          </p:nvSpPr>
          <p:spPr bwMode="auto">
            <a:xfrm>
              <a:off x="4520" y="6506"/>
              <a:ext cx="379" cy="351"/>
            </a:xfrm>
            <a:prstGeom prst="ellipse">
              <a:avLst/>
            </a:prstGeom>
            <a:noFill/>
            <a:ln w="12700">
              <a:solidFill>
                <a:srgbClr val="000000"/>
              </a:solidFill>
              <a:round/>
              <a:headEnd/>
              <a:tailEnd/>
            </a:ln>
          </p:spPr>
          <p:txBody>
            <a:bodyPr/>
            <a:lstStyle/>
            <a:p>
              <a:endParaRPr lang="bg-BG"/>
            </a:p>
          </p:txBody>
        </p:sp>
        <p:sp>
          <p:nvSpPr>
            <p:cNvPr id="10247" name="Oval 7"/>
            <p:cNvSpPr>
              <a:spLocks noChangeArrowheads="1"/>
            </p:cNvSpPr>
            <p:nvPr/>
          </p:nvSpPr>
          <p:spPr bwMode="auto">
            <a:xfrm>
              <a:off x="2758" y="7185"/>
              <a:ext cx="379" cy="337"/>
            </a:xfrm>
            <a:prstGeom prst="ellipse">
              <a:avLst/>
            </a:prstGeom>
            <a:noFill/>
            <a:ln w="12700">
              <a:solidFill>
                <a:srgbClr val="000000"/>
              </a:solidFill>
              <a:round/>
              <a:headEnd/>
              <a:tailEnd/>
            </a:ln>
          </p:spPr>
          <p:txBody>
            <a:bodyPr/>
            <a:lstStyle/>
            <a:p>
              <a:endParaRPr lang="bg-BG"/>
            </a:p>
          </p:txBody>
        </p:sp>
        <p:sp>
          <p:nvSpPr>
            <p:cNvPr id="10248" name="Oval 8"/>
            <p:cNvSpPr>
              <a:spLocks noChangeArrowheads="1"/>
            </p:cNvSpPr>
            <p:nvPr/>
          </p:nvSpPr>
          <p:spPr bwMode="auto">
            <a:xfrm>
              <a:off x="3254" y="7259"/>
              <a:ext cx="379" cy="337"/>
            </a:xfrm>
            <a:prstGeom prst="ellipse">
              <a:avLst/>
            </a:prstGeom>
            <a:noFill/>
            <a:ln w="12700">
              <a:solidFill>
                <a:srgbClr val="000000"/>
              </a:solidFill>
              <a:round/>
              <a:headEnd/>
              <a:tailEnd/>
            </a:ln>
          </p:spPr>
          <p:txBody>
            <a:bodyPr/>
            <a:lstStyle/>
            <a:p>
              <a:endParaRPr lang="bg-BG"/>
            </a:p>
          </p:txBody>
        </p:sp>
        <p:sp>
          <p:nvSpPr>
            <p:cNvPr id="10249" name="Oval 9"/>
            <p:cNvSpPr>
              <a:spLocks noChangeArrowheads="1"/>
            </p:cNvSpPr>
            <p:nvPr/>
          </p:nvSpPr>
          <p:spPr bwMode="auto">
            <a:xfrm>
              <a:off x="3798" y="7209"/>
              <a:ext cx="379" cy="337"/>
            </a:xfrm>
            <a:prstGeom prst="ellipse">
              <a:avLst/>
            </a:prstGeom>
            <a:noFill/>
            <a:ln w="12700">
              <a:solidFill>
                <a:srgbClr val="000000"/>
              </a:solidFill>
              <a:round/>
              <a:headEnd/>
              <a:tailEnd/>
            </a:ln>
          </p:spPr>
          <p:txBody>
            <a:bodyPr/>
            <a:lstStyle/>
            <a:p>
              <a:endParaRPr lang="bg-BG"/>
            </a:p>
          </p:txBody>
        </p:sp>
        <p:sp>
          <p:nvSpPr>
            <p:cNvPr id="10250" name="Oval 10"/>
            <p:cNvSpPr>
              <a:spLocks noChangeArrowheads="1"/>
            </p:cNvSpPr>
            <p:nvPr/>
          </p:nvSpPr>
          <p:spPr bwMode="auto">
            <a:xfrm>
              <a:off x="4562" y="7263"/>
              <a:ext cx="379" cy="337"/>
            </a:xfrm>
            <a:prstGeom prst="ellipse">
              <a:avLst/>
            </a:prstGeom>
            <a:noFill/>
            <a:ln w="12700">
              <a:solidFill>
                <a:srgbClr val="000000"/>
              </a:solidFill>
              <a:round/>
              <a:headEnd/>
              <a:tailEnd/>
            </a:ln>
          </p:spPr>
          <p:txBody>
            <a:bodyPr/>
            <a:lstStyle/>
            <a:p>
              <a:endParaRPr lang="bg-BG"/>
            </a:p>
          </p:txBody>
        </p:sp>
        <p:sp>
          <p:nvSpPr>
            <p:cNvPr id="10251" name="Line 11"/>
            <p:cNvSpPr>
              <a:spLocks noChangeShapeType="1"/>
            </p:cNvSpPr>
            <p:nvPr/>
          </p:nvSpPr>
          <p:spPr bwMode="auto">
            <a:xfrm flipH="1">
              <a:off x="3554" y="6129"/>
              <a:ext cx="365" cy="365"/>
            </a:xfrm>
            <a:prstGeom prst="line">
              <a:avLst/>
            </a:prstGeom>
            <a:noFill/>
            <a:ln w="9525">
              <a:solidFill>
                <a:srgbClr val="000000"/>
              </a:solidFill>
              <a:round/>
              <a:headEnd type="none" w="sm" len="sm"/>
              <a:tailEnd type="triangle" w="sm" len="sm"/>
            </a:ln>
          </p:spPr>
          <p:txBody>
            <a:bodyPr/>
            <a:lstStyle/>
            <a:p>
              <a:endParaRPr lang="bg-BG"/>
            </a:p>
          </p:txBody>
        </p:sp>
        <p:sp>
          <p:nvSpPr>
            <p:cNvPr id="10252" name="Line 12"/>
            <p:cNvSpPr>
              <a:spLocks noChangeShapeType="1"/>
            </p:cNvSpPr>
            <p:nvPr/>
          </p:nvSpPr>
          <p:spPr bwMode="auto">
            <a:xfrm>
              <a:off x="4184" y="6115"/>
              <a:ext cx="393" cy="407"/>
            </a:xfrm>
            <a:prstGeom prst="line">
              <a:avLst/>
            </a:prstGeom>
            <a:noFill/>
            <a:ln w="9525">
              <a:solidFill>
                <a:srgbClr val="000000"/>
              </a:solidFill>
              <a:round/>
              <a:headEnd type="none" w="sm" len="sm"/>
              <a:tailEnd type="triangle" w="sm" len="sm"/>
            </a:ln>
          </p:spPr>
          <p:txBody>
            <a:bodyPr/>
            <a:lstStyle/>
            <a:p>
              <a:endParaRPr lang="bg-BG"/>
            </a:p>
          </p:txBody>
        </p:sp>
        <p:sp>
          <p:nvSpPr>
            <p:cNvPr id="10253" name="Line 13"/>
            <p:cNvSpPr>
              <a:spLocks noChangeShapeType="1"/>
            </p:cNvSpPr>
            <p:nvPr/>
          </p:nvSpPr>
          <p:spPr bwMode="auto">
            <a:xfrm>
              <a:off x="3442" y="6843"/>
              <a:ext cx="1" cy="393"/>
            </a:xfrm>
            <a:prstGeom prst="line">
              <a:avLst/>
            </a:prstGeom>
            <a:noFill/>
            <a:ln w="9525">
              <a:solidFill>
                <a:srgbClr val="000000"/>
              </a:solidFill>
              <a:round/>
              <a:headEnd type="none" w="sm" len="sm"/>
              <a:tailEnd type="triangle" w="sm" len="sm"/>
            </a:ln>
          </p:spPr>
          <p:txBody>
            <a:bodyPr/>
            <a:lstStyle/>
            <a:p>
              <a:endParaRPr lang="bg-BG"/>
            </a:p>
          </p:txBody>
        </p:sp>
        <p:sp>
          <p:nvSpPr>
            <p:cNvPr id="10254" name="Line 14"/>
            <p:cNvSpPr>
              <a:spLocks noChangeShapeType="1"/>
            </p:cNvSpPr>
            <p:nvPr/>
          </p:nvSpPr>
          <p:spPr bwMode="auto">
            <a:xfrm flipH="1">
              <a:off x="3040" y="6788"/>
              <a:ext cx="281" cy="407"/>
            </a:xfrm>
            <a:prstGeom prst="line">
              <a:avLst/>
            </a:prstGeom>
            <a:noFill/>
            <a:ln w="9525">
              <a:solidFill>
                <a:srgbClr val="000000"/>
              </a:solidFill>
              <a:round/>
              <a:headEnd type="none" w="sm" len="sm"/>
              <a:tailEnd type="triangle" w="sm" len="sm"/>
            </a:ln>
          </p:spPr>
          <p:txBody>
            <a:bodyPr/>
            <a:lstStyle/>
            <a:p>
              <a:endParaRPr lang="bg-BG"/>
            </a:p>
          </p:txBody>
        </p:sp>
        <p:sp>
          <p:nvSpPr>
            <p:cNvPr id="10255" name="Line 15"/>
            <p:cNvSpPr>
              <a:spLocks noChangeShapeType="1"/>
            </p:cNvSpPr>
            <p:nvPr/>
          </p:nvSpPr>
          <p:spPr bwMode="auto">
            <a:xfrm>
              <a:off x="3610" y="6787"/>
              <a:ext cx="281" cy="435"/>
            </a:xfrm>
            <a:prstGeom prst="line">
              <a:avLst/>
            </a:prstGeom>
            <a:noFill/>
            <a:ln w="9525">
              <a:solidFill>
                <a:srgbClr val="000000"/>
              </a:solidFill>
              <a:round/>
              <a:headEnd type="none" w="sm" len="sm"/>
              <a:tailEnd type="triangle" w="sm" len="sm"/>
            </a:ln>
          </p:spPr>
          <p:txBody>
            <a:bodyPr/>
            <a:lstStyle/>
            <a:p>
              <a:endParaRPr lang="bg-BG"/>
            </a:p>
          </p:txBody>
        </p:sp>
        <p:sp>
          <p:nvSpPr>
            <p:cNvPr id="10256" name="Line 16"/>
            <p:cNvSpPr>
              <a:spLocks noChangeShapeType="1"/>
            </p:cNvSpPr>
            <p:nvPr/>
          </p:nvSpPr>
          <p:spPr bwMode="auto">
            <a:xfrm>
              <a:off x="4730" y="6871"/>
              <a:ext cx="1" cy="365"/>
            </a:xfrm>
            <a:prstGeom prst="line">
              <a:avLst/>
            </a:prstGeom>
            <a:noFill/>
            <a:ln w="9525">
              <a:solidFill>
                <a:srgbClr val="000000"/>
              </a:solidFill>
              <a:round/>
              <a:headEnd type="none" w="sm" len="sm"/>
              <a:tailEnd type="triangle" w="sm" len="sm"/>
            </a:ln>
          </p:spPr>
          <p:txBody>
            <a:bodyPr/>
            <a:lstStyle/>
            <a:p>
              <a:endParaRPr lang="bg-BG"/>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7450" y="620713"/>
            <a:ext cx="7772400" cy="5867400"/>
          </a:xfrm>
        </p:spPr>
        <p:txBody>
          <a:bodyPr/>
          <a:lstStyle/>
          <a:p>
            <a:pPr eaLnBrk="1" fontAlgn="auto" hangingPunct="1">
              <a:spcAft>
                <a:spcPts val="0"/>
              </a:spcAft>
              <a:defRPr/>
            </a:pP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	</a:t>
            </a:r>
            <a:r>
              <a:rPr lang="bg-BG" sz="2400">
                <a:solidFill>
                  <a:schemeClr val="tx1"/>
                </a:solidFill>
              </a:rPr>
              <a:t>Всяко дърво се образува от възли и дъги, които ги свързват. Върховете могат да бъдат от два вида:</a:t>
            </a:r>
            <a:br>
              <a:rPr lang="bg-BG" sz="2400">
                <a:solidFill>
                  <a:schemeClr val="tx1"/>
                </a:solidFill>
              </a:rPr>
            </a:br>
            <a:r>
              <a:rPr lang="bg-BG" sz="2400">
                <a:solidFill>
                  <a:schemeClr val="tx1"/>
                </a:solidFill>
              </a:rPr>
              <a:t>	- родител</a:t>
            </a:r>
            <a:br>
              <a:rPr lang="bg-BG" sz="2400">
                <a:solidFill>
                  <a:schemeClr val="tx1"/>
                </a:solidFill>
              </a:rPr>
            </a:br>
            <a:r>
              <a:rPr lang="bg-BG" sz="2400">
                <a:solidFill>
                  <a:schemeClr val="tx1"/>
                </a:solidFill>
              </a:rPr>
              <a:t>	- наследник</a:t>
            </a:r>
            <a:br>
              <a:rPr lang="bg-BG" sz="2400">
                <a:solidFill>
                  <a:schemeClr val="tx1"/>
                </a:solidFill>
              </a:rPr>
            </a:br>
            <a:r>
              <a:rPr lang="bg-BG" sz="2400">
                <a:solidFill>
                  <a:schemeClr val="tx1"/>
                </a:solidFill>
              </a:rPr>
              <a:t>	Върхът без родител се нарича “корен” и всяко дърво има само един такъв връх.</a:t>
            </a:r>
            <a:endParaRPr lang="bg-BG">
              <a:solidFill>
                <a:schemeClr val="tx1"/>
              </a:solidFill>
            </a:endParaRPr>
          </a:p>
        </p:txBody>
      </p:sp>
      <p:grpSp>
        <p:nvGrpSpPr>
          <p:cNvPr id="11267" name="Group 3"/>
          <p:cNvGrpSpPr>
            <a:grpSpLocks/>
          </p:cNvGrpSpPr>
          <p:nvPr/>
        </p:nvGrpSpPr>
        <p:grpSpPr bwMode="auto">
          <a:xfrm>
            <a:off x="2590800" y="533400"/>
            <a:ext cx="3276600" cy="2667000"/>
            <a:chOff x="2758" y="5821"/>
            <a:chExt cx="2183" cy="1779"/>
          </a:xfrm>
        </p:grpSpPr>
        <p:sp>
          <p:nvSpPr>
            <p:cNvPr id="11268" name="Oval 4"/>
            <p:cNvSpPr>
              <a:spLocks noChangeArrowheads="1"/>
            </p:cNvSpPr>
            <p:nvPr/>
          </p:nvSpPr>
          <p:spPr bwMode="auto">
            <a:xfrm>
              <a:off x="3862" y="5821"/>
              <a:ext cx="379" cy="337"/>
            </a:xfrm>
            <a:prstGeom prst="ellipse">
              <a:avLst/>
            </a:prstGeom>
            <a:noFill/>
            <a:ln w="12700">
              <a:solidFill>
                <a:srgbClr val="000000"/>
              </a:solidFill>
              <a:round/>
              <a:headEnd/>
              <a:tailEnd/>
            </a:ln>
          </p:spPr>
          <p:txBody>
            <a:bodyPr/>
            <a:lstStyle/>
            <a:p>
              <a:endParaRPr lang="bg-BG"/>
            </a:p>
          </p:txBody>
        </p:sp>
        <p:sp>
          <p:nvSpPr>
            <p:cNvPr id="11269" name="Oval 5"/>
            <p:cNvSpPr>
              <a:spLocks noChangeArrowheads="1"/>
            </p:cNvSpPr>
            <p:nvPr/>
          </p:nvSpPr>
          <p:spPr bwMode="auto">
            <a:xfrm>
              <a:off x="3260" y="6478"/>
              <a:ext cx="379" cy="337"/>
            </a:xfrm>
            <a:prstGeom prst="ellipse">
              <a:avLst/>
            </a:prstGeom>
            <a:noFill/>
            <a:ln w="12700">
              <a:solidFill>
                <a:srgbClr val="000000"/>
              </a:solidFill>
              <a:round/>
              <a:headEnd/>
              <a:tailEnd/>
            </a:ln>
          </p:spPr>
          <p:txBody>
            <a:bodyPr/>
            <a:lstStyle/>
            <a:p>
              <a:endParaRPr lang="bg-BG"/>
            </a:p>
          </p:txBody>
        </p:sp>
        <p:sp>
          <p:nvSpPr>
            <p:cNvPr id="11270" name="Oval 6"/>
            <p:cNvSpPr>
              <a:spLocks noChangeArrowheads="1"/>
            </p:cNvSpPr>
            <p:nvPr/>
          </p:nvSpPr>
          <p:spPr bwMode="auto">
            <a:xfrm>
              <a:off x="4520" y="6506"/>
              <a:ext cx="379" cy="351"/>
            </a:xfrm>
            <a:prstGeom prst="ellipse">
              <a:avLst/>
            </a:prstGeom>
            <a:noFill/>
            <a:ln w="12700">
              <a:solidFill>
                <a:srgbClr val="000000"/>
              </a:solidFill>
              <a:round/>
              <a:headEnd/>
              <a:tailEnd/>
            </a:ln>
          </p:spPr>
          <p:txBody>
            <a:bodyPr/>
            <a:lstStyle/>
            <a:p>
              <a:endParaRPr lang="bg-BG"/>
            </a:p>
          </p:txBody>
        </p:sp>
        <p:sp>
          <p:nvSpPr>
            <p:cNvPr id="11271" name="Oval 7"/>
            <p:cNvSpPr>
              <a:spLocks noChangeArrowheads="1"/>
            </p:cNvSpPr>
            <p:nvPr/>
          </p:nvSpPr>
          <p:spPr bwMode="auto">
            <a:xfrm>
              <a:off x="2758" y="7185"/>
              <a:ext cx="379" cy="337"/>
            </a:xfrm>
            <a:prstGeom prst="ellipse">
              <a:avLst/>
            </a:prstGeom>
            <a:noFill/>
            <a:ln w="12700">
              <a:solidFill>
                <a:srgbClr val="000000"/>
              </a:solidFill>
              <a:round/>
              <a:headEnd/>
              <a:tailEnd/>
            </a:ln>
          </p:spPr>
          <p:txBody>
            <a:bodyPr/>
            <a:lstStyle/>
            <a:p>
              <a:endParaRPr lang="bg-BG"/>
            </a:p>
          </p:txBody>
        </p:sp>
        <p:sp>
          <p:nvSpPr>
            <p:cNvPr id="11272" name="Oval 8"/>
            <p:cNvSpPr>
              <a:spLocks noChangeArrowheads="1"/>
            </p:cNvSpPr>
            <p:nvPr/>
          </p:nvSpPr>
          <p:spPr bwMode="auto">
            <a:xfrm>
              <a:off x="3254" y="7259"/>
              <a:ext cx="379" cy="337"/>
            </a:xfrm>
            <a:prstGeom prst="ellipse">
              <a:avLst/>
            </a:prstGeom>
            <a:noFill/>
            <a:ln w="12700">
              <a:solidFill>
                <a:srgbClr val="000000"/>
              </a:solidFill>
              <a:round/>
              <a:headEnd/>
              <a:tailEnd/>
            </a:ln>
          </p:spPr>
          <p:txBody>
            <a:bodyPr/>
            <a:lstStyle/>
            <a:p>
              <a:endParaRPr lang="bg-BG"/>
            </a:p>
          </p:txBody>
        </p:sp>
        <p:sp>
          <p:nvSpPr>
            <p:cNvPr id="11273" name="Oval 9"/>
            <p:cNvSpPr>
              <a:spLocks noChangeArrowheads="1"/>
            </p:cNvSpPr>
            <p:nvPr/>
          </p:nvSpPr>
          <p:spPr bwMode="auto">
            <a:xfrm>
              <a:off x="3798" y="7209"/>
              <a:ext cx="379" cy="337"/>
            </a:xfrm>
            <a:prstGeom prst="ellipse">
              <a:avLst/>
            </a:prstGeom>
            <a:noFill/>
            <a:ln w="12700">
              <a:solidFill>
                <a:srgbClr val="000000"/>
              </a:solidFill>
              <a:round/>
              <a:headEnd/>
              <a:tailEnd/>
            </a:ln>
          </p:spPr>
          <p:txBody>
            <a:bodyPr/>
            <a:lstStyle/>
            <a:p>
              <a:endParaRPr lang="bg-BG"/>
            </a:p>
          </p:txBody>
        </p:sp>
        <p:sp>
          <p:nvSpPr>
            <p:cNvPr id="11274" name="Oval 10"/>
            <p:cNvSpPr>
              <a:spLocks noChangeArrowheads="1"/>
            </p:cNvSpPr>
            <p:nvPr/>
          </p:nvSpPr>
          <p:spPr bwMode="auto">
            <a:xfrm>
              <a:off x="4562" y="7263"/>
              <a:ext cx="379" cy="337"/>
            </a:xfrm>
            <a:prstGeom prst="ellipse">
              <a:avLst/>
            </a:prstGeom>
            <a:noFill/>
            <a:ln w="12700">
              <a:solidFill>
                <a:srgbClr val="000000"/>
              </a:solidFill>
              <a:round/>
              <a:headEnd/>
              <a:tailEnd/>
            </a:ln>
          </p:spPr>
          <p:txBody>
            <a:bodyPr/>
            <a:lstStyle/>
            <a:p>
              <a:endParaRPr lang="bg-BG"/>
            </a:p>
          </p:txBody>
        </p:sp>
        <p:sp>
          <p:nvSpPr>
            <p:cNvPr id="11275" name="Line 11"/>
            <p:cNvSpPr>
              <a:spLocks noChangeShapeType="1"/>
            </p:cNvSpPr>
            <p:nvPr/>
          </p:nvSpPr>
          <p:spPr bwMode="auto">
            <a:xfrm flipH="1">
              <a:off x="3554" y="6129"/>
              <a:ext cx="365" cy="365"/>
            </a:xfrm>
            <a:prstGeom prst="line">
              <a:avLst/>
            </a:prstGeom>
            <a:noFill/>
            <a:ln w="9525">
              <a:solidFill>
                <a:srgbClr val="000000"/>
              </a:solidFill>
              <a:round/>
              <a:headEnd type="none" w="sm" len="sm"/>
              <a:tailEnd type="triangle" w="sm" len="sm"/>
            </a:ln>
          </p:spPr>
          <p:txBody>
            <a:bodyPr/>
            <a:lstStyle/>
            <a:p>
              <a:endParaRPr lang="bg-BG"/>
            </a:p>
          </p:txBody>
        </p:sp>
        <p:sp>
          <p:nvSpPr>
            <p:cNvPr id="11276" name="Line 12"/>
            <p:cNvSpPr>
              <a:spLocks noChangeShapeType="1"/>
            </p:cNvSpPr>
            <p:nvPr/>
          </p:nvSpPr>
          <p:spPr bwMode="auto">
            <a:xfrm>
              <a:off x="4184" y="6115"/>
              <a:ext cx="393" cy="407"/>
            </a:xfrm>
            <a:prstGeom prst="line">
              <a:avLst/>
            </a:prstGeom>
            <a:noFill/>
            <a:ln w="9525">
              <a:solidFill>
                <a:srgbClr val="000000"/>
              </a:solidFill>
              <a:round/>
              <a:headEnd type="none" w="sm" len="sm"/>
              <a:tailEnd type="triangle" w="sm" len="sm"/>
            </a:ln>
          </p:spPr>
          <p:txBody>
            <a:bodyPr/>
            <a:lstStyle/>
            <a:p>
              <a:endParaRPr lang="bg-BG"/>
            </a:p>
          </p:txBody>
        </p:sp>
        <p:sp>
          <p:nvSpPr>
            <p:cNvPr id="11277" name="Line 13"/>
            <p:cNvSpPr>
              <a:spLocks noChangeShapeType="1"/>
            </p:cNvSpPr>
            <p:nvPr/>
          </p:nvSpPr>
          <p:spPr bwMode="auto">
            <a:xfrm>
              <a:off x="3442" y="6843"/>
              <a:ext cx="1" cy="393"/>
            </a:xfrm>
            <a:prstGeom prst="line">
              <a:avLst/>
            </a:prstGeom>
            <a:noFill/>
            <a:ln w="9525">
              <a:solidFill>
                <a:srgbClr val="000000"/>
              </a:solidFill>
              <a:round/>
              <a:headEnd type="none" w="sm" len="sm"/>
              <a:tailEnd type="triangle" w="sm" len="sm"/>
            </a:ln>
          </p:spPr>
          <p:txBody>
            <a:bodyPr/>
            <a:lstStyle/>
            <a:p>
              <a:endParaRPr lang="bg-BG"/>
            </a:p>
          </p:txBody>
        </p:sp>
        <p:sp>
          <p:nvSpPr>
            <p:cNvPr id="11278" name="Line 14"/>
            <p:cNvSpPr>
              <a:spLocks noChangeShapeType="1"/>
            </p:cNvSpPr>
            <p:nvPr/>
          </p:nvSpPr>
          <p:spPr bwMode="auto">
            <a:xfrm flipH="1">
              <a:off x="3040" y="6788"/>
              <a:ext cx="281" cy="407"/>
            </a:xfrm>
            <a:prstGeom prst="line">
              <a:avLst/>
            </a:prstGeom>
            <a:noFill/>
            <a:ln w="9525">
              <a:solidFill>
                <a:srgbClr val="000000"/>
              </a:solidFill>
              <a:round/>
              <a:headEnd type="none" w="sm" len="sm"/>
              <a:tailEnd type="triangle" w="sm" len="sm"/>
            </a:ln>
          </p:spPr>
          <p:txBody>
            <a:bodyPr/>
            <a:lstStyle/>
            <a:p>
              <a:endParaRPr lang="bg-BG"/>
            </a:p>
          </p:txBody>
        </p:sp>
        <p:sp>
          <p:nvSpPr>
            <p:cNvPr id="11279" name="Line 15"/>
            <p:cNvSpPr>
              <a:spLocks noChangeShapeType="1"/>
            </p:cNvSpPr>
            <p:nvPr/>
          </p:nvSpPr>
          <p:spPr bwMode="auto">
            <a:xfrm>
              <a:off x="3610" y="6787"/>
              <a:ext cx="281" cy="435"/>
            </a:xfrm>
            <a:prstGeom prst="line">
              <a:avLst/>
            </a:prstGeom>
            <a:noFill/>
            <a:ln w="9525">
              <a:solidFill>
                <a:srgbClr val="000000"/>
              </a:solidFill>
              <a:round/>
              <a:headEnd type="none" w="sm" len="sm"/>
              <a:tailEnd type="triangle" w="sm" len="sm"/>
            </a:ln>
          </p:spPr>
          <p:txBody>
            <a:bodyPr/>
            <a:lstStyle/>
            <a:p>
              <a:endParaRPr lang="bg-BG"/>
            </a:p>
          </p:txBody>
        </p:sp>
        <p:sp>
          <p:nvSpPr>
            <p:cNvPr id="11280" name="Line 16"/>
            <p:cNvSpPr>
              <a:spLocks noChangeShapeType="1"/>
            </p:cNvSpPr>
            <p:nvPr/>
          </p:nvSpPr>
          <p:spPr bwMode="auto">
            <a:xfrm>
              <a:off x="4730" y="6871"/>
              <a:ext cx="1" cy="365"/>
            </a:xfrm>
            <a:prstGeom prst="line">
              <a:avLst/>
            </a:prstGeom>
            <a:noFill/>
            <a:ln w="9525">
              <a:solidFill>
                <a:srgbClr val="000000"/>
              </a:solidFill>
              <a:round/>
              <a:headEnd type="none" w="sm" len="sm"/>
              <a:tailEnd type="triangle" w="sm" len="sm"/>
            </a:ln>
          </p:spPr>
          <p:txBody>
            <a:bodyPr/>
            <a:lstStyle/>
            <a:p>
              <a:endParaRPr lang="bg-BG"/>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116013" y="1557338"/>
            <a:ext cx="7772400" cy="4648200"/>
          </a:xfrm>
        </p:spPr>
        <p:txBody>
          <a:bodyPr>
            <a:normAutofit fontScale="90000"/>
          </a:bodyPr>
          <a:lstStyle/>
          <a:p>
            <a:pPr eaLnBrk="1" fontAlgn="auto" hangingPunct="1">
              <a:spcAft>
                <a:spcPts val="0"/>
              </a:spcAft>
              <a:defRPr/>
            </a:pPr>
            <a:r>
              <a:rPr lang="en-US" sz="2000">
                <a:solidFill>
                  <a:schemeClr val="tx1"/>
                </a:solidFill>
              </a:rPr>
              <a:t>	</a:t>
            </a:r>
            <a:r>
              <a:rPr lang="bg-BG" sz="2000">
                <a:solidFill>
                  <a:schemeClr val="tx1"/>
                </a:solidFill>
              </a:rPr>
              <a:t>От всеки връх могат да излизат няколко дъги (техния брой се нарича “степен” на елемента), но влиза само една дъга, т. е. връзката “родител-наследник” е еднопосочна и не позволява цикли</a:t>
            </a:r>
            <a:r>
              <a:rPr lang="bg-BG" sz="2000" smtClean="0">
                <a:solidFill>
                  <a:schemeClr val="tx1"/>
                </a:solidFill>
              </a:rPr>
              <a:t>:</a:t>
            </a:r>
            <a:r>
              <a:rPr lang="en-US" sz="2000" smtClean="0">
                <a:solidFill>
                  <a:schemeClr val="tx1"/>
                </a:solidFill>
              </a:rPr>
              <a:t/>
            </a:r>
            <a:br>
              <a:rPr lang="en-US" sz="2000"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Оттук се вижда, че структурата едносвързан списък представлява частен случай на дърво или т.н. “изродено” дърво.</a:t>
            </a:r>
            <a:br>
              <a:rPr lang="bg-BG" sz="2000">
                <a:solidFill>
                  <a:schemeClr val="tx1"/>
                </a:solidFill>
              </a:rPr>
            </a:br>
            <a:r>
              <a:rPr lang="en-US" sz="2000" smtClean="0">
                <a:solidFill>
                  <a:schemeClr val="tx1"/>
                </a:solidFill>
              </a:rPr>
              <a:t>	</a:t>
            </a:r>
            <a:r>
              <a:rPr lang="bg-BG" sz="2000" smtClean="0">
                <a:solidFill>
                  <a:schemeClr val="tx1"/>
                </a:solidFill>
              </a:rPr>
              <a:t>Степен </a:t>
            </a:r>
            <a:r>
              <a:rPr lang="bg-BG" sz="2000">
                <a:solidFill>
                  <a:schemeClr val="tx1"/>
                </a:solidFill>
              </a:rPr>
              <a:t>на дърво се нарича максималната степен на елемент от тази структура. За горния пример тя е 3.</a:t>
            </a:r>
            <a:r>
              <a:rPr lang="bg-BG" sz="2000">
                <a:solidFill>
                  <a:schemeClr val="tx2">
                    <a:satMod val="130000"/>
                  </a:schemeClr>
                </a:solidFill>
              </a:rPr>
              <a:t/>
            </a:r>
            <a:br>
              <a:rPr lang="bg-BG" sz="2000">
                <a:solidFill>
                  <a:schemeClr val="tx2">
                    <a:satMod val="130000"/>
                  </a:schemeClr>
                </a:solidFill>
              </a:rPr>
            </a:br>
            <a:r>
              <a:rPr lang="bg-BG" sz="2000">
                <a:solidFill>
                  <a:schemeClr val="tx1"/>
                </a:solidFill>
              </a:rPr>
              <a:t>	Върховете без наследници се наричат “листа”.</a:t>
            </a:r>
            <a:br>
              <a:rPr lang="bg-BG" sz="2000">
                <a:solidFill>
                  <a:schemeClr val="tx1"/>
                </a:solidFill>
              </a:rPr>
            </a:br>
            <a:r>
              <a:rPr lang="bg-BG" sz="2000">
                <a:solidFill>
                  <a:schemeClr val="tx1"/>
                </a:solidFill>
              </a:rPr>
              <a:t>	Височина на дърво е дължината на най-дългия път от корена до листо.</a:t>
            </a:r>
            <a:br>
              <a:rPr lang="bg-BG" sz="2000">
                <a:solidFill>
                  <a:schemeClr val="tx1"/>
                </a:solidFill>
              </a:rPr>
            </a:br>
            <a:r>
              <a:rPr lang="bg-BG" sz="2000">
                <a:solidFill>
                  <a:schemeClr val="tx1"/>
                </a:solidFill>
              </a:rPr>
              <a:t>	От дефиницията следва, че между два произволни върха в едно дърво съществува единствен път.</a:t>
            </a:r>
            <a:br>
              <a:rPr lang="bg-BG" sz="2000">
                <a:solidFill>
                  <a:schemeClr val="tx1"/>
                </a:solidFill>
              </a:rPr>
            </a:br>
            <a:r>
              <a:rPr lang="bg-BG" sz="2000">
                <a:solidFill>
                  <a:schemeClr val="tx1"/>
                </a:solidFill>
              </a:rPr>
              <a:t/>
            </a:r>
            <a:br>
              <a:rPr lang="bg-BG" sz="2000">
                <a:solidFill>
                  <a:schemeClr val="tx1"/>
                </a:solidFill>
              </a:rPr>
            </a:br>
            <a:endParaRPr lang="bg-BG" sz="2000">
              <a:solidFill>
                <a:schemeClr val="tx1"/>
              </a:solidFill>
            </a:endParaRPr>
          </a:p>
        </p:txBody>
      </p:sp>
      <p:grpSp>
        <p:nvGrpSpPr>
          <p:cNvPr id="12291" name="Group 3"/>
          <p:cNvGrpSpPr>
            <a:grpSpLocks/>
          </p:cNvGrpSpPr>
          <p:nvPr/>
        </p:nvGrpSpPr>
        <p:grpSpPr bwMode="auto">
          <a:xfrm>
            <a:off x="2743200" y="1676400"/>
            <a:ext cx="2743200" cy="2209800"/>
            <a:chOff x="2758" y="5821"/>
            <a:chExt cx="2183" cy="1779"/>
          </a:xfrm>
        </p:grpSpPr>
        <p:sp>
          <p:nvSpPr>
            <p:cNvPr id="12292" name="Oval 4"/>
            <p:cNvSpPr>
              <a:spLocks noChangeArrowheads="1"/>
            </p:cNvSpPr>
            <p:nvPr/>
          </p:nvSpPr>
          <p:spPr bwMode="auto">
            <a:xfrm>
              <a:off x="3862" y="5821"/>
              <a:ext cx="379" cy="337"/>
            </a:xfrm>
            <a:prstGeom prst="ellipse">
              <a:avLst/>
            </a:prstGeom>
            <a:noFill/>
            <a:ln w="12700">
              <a:solidFill>
                <a:srgbClr val="000000"/>
              </a:solidFill>
              <a:round/>
              <a:headEnd/>
              <a:tailEnd/>
            </a:ln>
          </p:spPr>
          <p:txBody>
            <a:bodyPr/>
            <a:lstStyle/>
            <a:p>
              <a:endParaRPr lang="bg-BG"/>
            </a:p>
          </p:txBody>
        </p:sp>
        <p:sp>
          <p:nvSpPr>
            <p:cNvPr id="12293" name="Oval 5"/>
            <p:cNvSpPr>
              <a:spLocks noChangeArrowheads="1"/>
            </p:cNvSpPr>
            <p:nvPr/>
          </p:nvSpPr>
          <p:spPr bwMode="auto">
            <a:xfrm>
              <a:off x="3260" y="6478"/>
              <a:ext cx="379" cy="337"/>
            </a:xfrm>
            <a:prstGeom prst="ellipse">
              <a:avLst/>
            </a:prstGeom>
            <a:noFill/>
            <a:ln w="12700">
              <a:solidFill>
                <a:srgbClr val="000000"/>
              </a:solidFill>
              <a:round/>
              <a:headEnd/>
              <a:tailEnd/>
            </a:ln>
          </p:spPr>
          <p:txBody>
            <a:bodyPr/>
            <a:lstStyle/>
            <a:p>
              <a:endParaRPr lang="bg-BG"/>
            </a:p>
          </p:txBody>
        </p:sp>
        <p:sp>
          <p:nvSpPr>
            <p:cNvPr id="12294" name="Oval 6"/>
            <p:cNvSpPr>
              <a:spLocks noChangeArrowheads="1"/>
            </p:cNvSpPr>
            <p:nvPr/>
          </p:nvSpPr>
          <p:spPr bwMode="auto">
            <a:xfrm>
              <a:off x="4520" y="6506"/>
              <a:ext cx="379" cy="351"/>
            </a:xfrm>
            <a:prstGeom prst="ellipse">
              <a:avLst/>
            </a:prstGeom>
            <a:noFill/>
            <a:ln w="12700">
              <a:solidFill>
                <a:srgbClr val="000000"/>
              </a:solidFill>
              <a:round/>
              <a:headEnd/>
              <a:tailEnd/>
            </a:ln>
          </p:spPr>
          <p:txBody>
            <a:bodyPr/>
            <a:lstStyle/>
            <a:p>
              <a:endParaRPr lang="bg-BG"/>
            </a:p>
          </p:txBody>
        </p:sp>
        <p:sp>
          <p:nvSpPr>
            <p:cNvPr id="12295" name="Oval 7"/>
            <p:cNvSpPr>
              <a:spLocks noChangeArrowheads="1"/>
            </p:cNvSpPr>
            <p:nvPr/>
          </p:nvSpPr>
          <p:spPr bwMode="auto">
            <a:xfrm>
              <a:off x="2758" y="7185"/>
              <a:ext cx="379" cy="337"/>
            </a:xfrm>
            <a:prstGeom prst="ellipse">
              <a:avLst/>
            </a:prstGeom>
            <a:noFill/>
            <a:ln w="12700">
              <a:solidFill>
                <a:srgbClr val="000000"/>
              </a:solidFill>
              <a:round/>
              <a:headEnd/>
              <a:tailEnd/>
            </a:ln>
          </p:spPr>
          <p:txBody>
            <a:bodyPr/>
            <a:lstStyle/>
            <a:p>
              <a:endParaRPr lang="bg-BG"/>
            </a:p>
          </p:txBody>
        </p:sp>
        <p:sp>
          <p:nvSpPr>
            <p:cNvPr id="12296" name="Oval 8"/>
            <p:cNvSpPr>
              <a:spLocks noChangeArrowheads="1"/>
            </p:cNvSpPr>
            <p:nvPr/>
          </p:nvSpPr>
          <p:spPr bwMode="auto">
            <a:xfrm>
              <a:off x="3254" y="7259"/>
              <a:ext cx="379" cy="337"/>
            </a:xfrm>
            <a:prstGeom prst="ellipse">
              <a:avLst/>
            </a:prstGeom>
            <a:noFill/>
            <a:ln w="12700">
              <a:solidFill>
                <a:srgbClr val="000000"/>
              </a:solidFill>
              <a:round/>
              <a:headEnd/>
              <a:tailEnd/>
            </a:ln>
          </p:spPr>
          <p:txBody>
            <a:bodyPr/>
            <a:lstStyle/>
            <a:p>
              <a:endParaRPr lang="bg-BG"/>
            </a:p>
          </p:txBody>
        </p:sp>
        <p:sp>
          <p:nvSpPr>
            <p:cNvPr id="12297" name="Oval 9"/>
            <p:cNvSpPr>
              <a:spLocks noChangeArrowheads="1"/>
            </p:cNvSpPr>
            <p:nvPr/>
          </p:nvSpPr>
          <p:spPr bwMode="auto">
            <a:xfrm>
              <a:off x="3798" y="7209"/>
              <a:ext cx="379" cy="337"/>
            </a:xfrm>
            <a:prstGeom prst="ellipse">
              <a:avLst/>
            </a:prstGeom>
            <a:noFill/>
            <a:ln w="12700">
              <a:solidFill>
                <a:srgbClr val="000000"/>
              </a:solidFill>
              <a:round/>
              <a:headEnd/>
              <a:tailEnd/>
            </a:ln>
          </p:spPr>
          <p:txBody>
            <a:bodyPr/>
            <a:lstStyle/>
            <a:p>
              <a:endParaRPr lang="bg-BG"/>
            </a:p>
          </p:txBody>
        </p:sp>
        <p:sp>
          <p:nvSpPr>
            <p:cNvPr id="12298" name="Oval 10"/>
            <p:cNvSpPr>
              <a:spLocks noChangeArrowheads="1"/>
            </p:cNvSpPr>
            <p:nvPr/>
          </p:nvSpPr>
          <p:spPr bwMode="auto">
            <a:xfrm>
              <a:off x="4562" y="7263"/>
              <a:ext cx="379" cy="337"/>
            </a:xfrm>
            <a:prstGeom prst="ellipse">
              <a:avLst/>
            </a:prstGeom>
            <a:noFill/>
            <a:ln w="12700">
              <a:solidFill>
                <a:srgbClr val="000000"/>
              </a:solidFill>
              <a:round/>
              <a:headEnd/>
              <a:tailEnd/>
            </a:ln>
          </p:spPr>
          <p:txBody>
            <a:bodyPr/>
            <a:lstStyle/>
            <a:p>
              <a:endParaRPr lang="bg-BG"/>
            </a:p>
          </p:txBody>
        </p:sp>
        <p:sp>
          <p:nvSpPr>
            <p:cNvPr id="12299" name="Line 11"/>
            <p:cNvSpPr>
              <a:spLocks noChangeShapeType="1"/>
            </p:cNvSpPr>
            <p:nvPr/>
          </p:nvSpPr>
          <p:spPr bwMode="auto">
            <a:xfrm flipH="1">
              <a:off x="3554" y="6129"/>
              <a:ext cx="365" cy="365"/>
            </a:xfrm>
            <a:prstGeom prst="line">
              <a:avLst/>
            </a:prstGeom>
            <a:noFill/>
            <a:ln w="9525">
              <a:solidFill>
                <a:srgbClr val="000000"/>
              </a:solidFill>
              <a:round/>
              <a:headEnd type="none" w="sm" len="sm"/>
              <a:tailEnd type="triangle" w="sm" len="sm"/>
            </a:ln>
          </p:spPr>
          <p:txBody>
            <a:bodyPr/>
            <a:lstStyle/>
            <a:p>
              <a:endParaRPr lang="bg-BG"/>
            </a:p>
          </p:txBody>
        </p:sp>
        <p:sp>
          <p:nvSpPr>
            <p:cNvPr id="12300" name="Line 12"/>
            <p:cNvSpPr>
              <a:spLocks noChangeShapeType="1"/>
            </p:cNvSpPr>
            <p:nvPr/>
          </p:nvSpPr>
          <p:spPr bwMode="auto">
            <a:xfrm>
              <a:off x="4184" y="6115"/>
              <a:ext cx="393" cy="407"/>
            </a:xfrm>
            <a:prstGeom prst="line">
              <a:avLst/>
            </a:prstGeom>
            <a:noFill/>
            <a:ln w="9525">
              <a:solidFill>
                <a:srgbClr val="000000"/>
              </a:solidFill>
              <a:round/>
              <a:headEnd type="none" w="sm" len="sm"/>
              <a:tailEnd type="triangle" w="sm" len="sm"/>
            </a:ln>
          </p:spPr>
          <p:txBody>
            <a:bodyPr/>
            <a:lstStyle/>
            <a:p>
              <a:endParaRPr lang="bg-BG"/>
            </a:p>
          </p:txBody>
        </p:sp>
        <p:sp>
          <p:nvSpPr>
            <p:cNvPr id="12301" name="Line 13"/>
            <p:cNvSpPr>
              <a:spLocks noChangeShapeType="1"/>
            </p:cNvSpPr>
            <p:nvPr/>
          </p:nvSpPr>
          <p:spPr bwMode="auto">
            <a:xfrm>
              <a:off x="3442" y="6843"/>
              <a:ext cx="1" cy="393"/>
            </a:xfrm>
            <a:prstGeom prst="line">
              <a:avLst/>
            </a:prstGeom>
            <a:noFill/>
            <a:ln w="9525">
              <a:solidFill>
                <a:srgbClr val="000000"/>
              </a:solidFill>
              <a:round/>
              <a:headEnd type="none" w="sm" len="sm"/>
              <a:tailEnd type="triangle" w="sm" len="sm"/>
            </a:ln>
          </p:spPr>
          <p:txBody>
            <a:bodyPr/>
            <a:lstStyle/>
            <a:p>
              <a:endParaRPr lang="bg-BG"/>
            </a:p>
          </p:txBody>
        </p:sp>
        <p:sp>
          <p:nvSpPr>
            <p:cNvPr id="12302" name="Line 14"/>
            <p:cNvSpPr>
              <a:spLocks noChangeShapeType="1"/>
            </p:cNvSpPr>
            <p:nvPr/>
          </p:nvSpPr>
          <p:spPr bwMode="auto">
            <a:xfrm flipH="1">
              <a:off x="3040" y="6788"/>
              <a:ext cx="281" cy="407"/>
            </a:xfrm>
            <a:prstGeom prst="line">
              <a:avLst/>
            </a:prstGeom>
            <a:noFill/>
            <a:ln w="9525">
              <a:solidFill>
                <a:srgbClr val="000000"/>
              </a:solidFill>
              <a:round/>
              <a:headEnd type="none" w="sm" len="sm"/>
              <a:tailEnd type="triangle" w="sm" len="sm"/>
            </a:ln>
          </p:spPr>
          <p:txBody>
            <a:bodyPr/>
            <a:lstStyle/>
            <a:p>
              <a:endParaRPr lang="bg-BG"/>
            </a:p>
          </p:txBody>
        </p:sp>
        <p:sp>
          <p:nvSpPr>
            <p:cNvPr id="12303" name="Line 15"/>
            <p:cNvSpPr>
              <a:spLocks noChangeShapeType="1"/>
            </p:cNvSpPr>
            <p:nvPr/>
          </p:nvSpPr>
          <p:spPr bwMode="auto">
            <a:xfrm>
              <a:off x="3610" y="6787"/>
              <a:ext cx="281" cy="435"/>
            </a:xfrm>
            <a:prstGeom prst="line">
              <a:avLst/>
            </a:prstGeom>
            <a:noFill/>
            <a:ln w="9525">
              <a:solidFill>
                <a:srgbClr val="000000"/>
              </a:solidFill>
              <a:round/>
              <a:headEnd type="none" w="sm" len="sm"/>
              <a:tailEnd type="triangle" w="sm" len="sm"/>
            </a:ln>
          </p:spPr>
          <p:txBody>
            <a:bodyPr/>
            <a:lstStyle/>
            <a:p>
              <a:endParaRPr lang="bg-BG"/>
            </a:p>
          </p:txBody>
        </p:sp>
        <p:sp>
          <p:nvSpPr>
            <p:cNvPr id="12304" name="Line 16"/>
            <p:cNvSpPr>
              <a:spLocks noChangeShapeType="1"/>
            </p:cNvSpPr>
            <p:nvPr/>
          </p:nvSpPr>
          <p:spPr bwMode="auto">
            <a:xfrm>
              <a:off x="4730" y="6871"/>
              <a:ext cx="1" cy="365"/>
            </a:xfrm>
            <a:prstGeom prst="line">
              <a:avLst/>
            </a:prstGeom>
            <a:noFill/>
            <a:ln w="9525">
              <a:solidFill>
                <a:srgbClr val="000000"/>
              </a:solidFill>
              <a:round/>
              <a:headEnd type="none" w="sm" len="sm"/>
              <a:tailEnd type="triangle" w="sm" len="sm"/>
            </a:ln>
          </p:spPr>
          <p:txBody>
            <a:bodyPr/>
            <a:lstStyle/>
            <a:p>
              <a:endParaRPr lang="bg-BG"/>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971550" y="549275"/>
            <a:ext cx="8077200" cy="5867400"/>
          </a:xfrm>
        </p:spPr>
        <p:txBody>
          <a:bodyPr/>
          <a:lstStyle/>
          <a:p>
            <a:pPr eaLnBrk="1" fontAlgn="auto" hangingPunct="1">
              <a:spcAft>
                <a:spcPts val="0"/>
              </a:spcAft>
              <a:defRPr/>
            </a:pPr>
            <a:r>
              <a:rPr lang="bg-BG" sz="3200">
                <a:solidFill>
                  <a:schemeClr val="tx2">
                    <a:satMod val="130000"/>
                  </a:schemeClr>
                </a:solidFill>
              </a:rPr>
              <a:t>Например:</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2400">
                <a:solidFill>
                  <a:schemeClr val="tx2">
                    <a:satMod val="130000"/>
                  </a:schemeClr>
                </a:solidFill>
              </a:rPr>
              <a:t>Дървото има степен 2</a:t>
            </a: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3200">
                <a:solidFill>
                  <a:schemeClr val="tx2">
                    <a:satMod val="130000"/>
                  </a:schemeClr>
                </a:solidFill>
              </a:rPr>
              <a:t/>
            </a:r>
            <a:br>
              <a:rPr lang="bg-BG" sz="3200">
                <a:solidFill>
                  <a:schemeClr val="tx2">
                    <a:satMod val="130000"/>
                  </a:schemeClr>
                </a:solidFill>
              </a:rPr>
            </a:br>
            <a:r>
              <a:rPr lang="bg-BG" sz="2400">
                <a:solidFill>
                  <a:schemeClr val="tx2">
                    <a:satMod val="130000"/>
                  </a:schemeClr>
                </a:solidFill>
              </a:rPr>
              <a:t>Височината на дървото е </a:t>
            </a:r>
            <a:r>
              <a:rPr lang="en-US" sz="2400">
                <a:solidFill>
                  <a:schemeClr val="tx2">
                    <a:satMod val="130000"/>
                  </a:schemeClr>
                </a:solidFill>
              </a:rPr>
              <a:t>5</a:t>
            </a:r>
            <a:endParaRPr lang="en-US">
              <a:solidFill>
                <a:schemeClr val="tx2">
                  <a:satMod val="130000"/>
                </a:schemeClr>
              </a:solidFill>
            </a:endParaRPr>
          </a:p>
        </p:txBody>
      </p:sp>
      <p:grpSp>
        <p:nvGrpSpPr>
          <p:cNvPr id="13315" name="Group 3"/>
          <p:cNvGrpSpPr>
            <a:grpSpLocks/>
          </p:cNvGrpSpPr>
          <p:nvPr/>
        </p:nvGrpSpPr>
        <p:grpSpPr bwMode="auto">
          <a:xfrm>
            <a:off x="3886200" y="1219200"/>
            <a:ext cx="3886200" cy="3886200"/>
            <a:chOff x="1083" y="1539"/>
            <a:chExt cx="4674" cy="4902"/>
          </a:xfrm>
        </p:grpSpPr>
        <p:sp>
          <p:nvSpPr>
            <p:cNvPr id="13316" name="Oval 4"/>
            <p:cNvSpPr>
              <a:spLocks noChangeArrowheads="1"/>
            </p:cNvSpPr>
            <p:nvPr/>
          </p:nvSpPr>
          <p:spPr bwMode="auto">
            <a:xfrm>
              <a:off x="3534" y="1539"/>
              <a:ext cx="741" cy="741"/>
            </a:xfrm>
            <a:prstGeom prst="ellipse">
              <a:avLst/>
            </a:prstGeom>
            <a:solidFill>
              <a:srgbClr val="FFFFFF"/>
            </a:solidFill>
            <a:ln w="9525">
              <a:solidFill>
                <a:srgbClr val="000000"/>
              </a:solidFill>
              <a:round/>
              <a:headEnd/>
              <a:tailEnd/>
            </a:ln>
          </p:spPr>
          <p:txBody>
            <a:bodyPr/>
            <a:lstStyle/>
            <a:p>
              <a:endParaRPr lang="bg-BG"/>
            </a:p>
          </p:txBody>
        </p:sp>
        <p:sp>
          <p:nvSpPr>
            <p:cNvPr id="13317" name="Oval 5"/>
            <p:cNvSpPr>
              <a:spLocks noChangeArrowheads="1"/>
            </p:cNvSpPr>
            <p:nvPr/>
          </p:nvSpPr>
          <p:spPr bwMode="auto">
            <a:xfrm>
              <a:off x="2736" y="2565"/>
              <a:ext cx="741" cy="741"/>
            </a:xfrm>
            <a:prstGeom prst="ellipse">
              <a:avLst/>
            </a:prstGeom>
            <a:solidFill>
              <a:srgbClr val="FFFFFF"/>
            </a:solidFill>
            <a:ln w="9525">
              <a:solidFill>
                <a:srgbClr val="000000"/>
              </a:solidFill>
              <a:round/>
              <a:headEnd/>
              <a:tailEnd/>
            </a:ln>
          </p:spPr>
          <p:txBody>
            <a:bodyPr/>
            <a:lstStyle/>
            <a:p>
              <a:endParaRPr lang="bg-BG"/>
            </a:p>
          </p:txBody>
        </p:sp>
        <p:sp>
          <p:nvSpPr>
            <p:cNvPr id="13318" name="Oval 6"/>
            <p:cNvSpPr>
              <a:spLocks noChangeArrowheads="1"/>
            </p:cNvSpPr>
            <p:nvPr/>
          </p:nvSpPr>
          <p:spPr bwMode="auto">
            <a:xfrm>
              <a:off x="1881" y="3591"/>
              <a:ext cx="741" cy="741"/>
            </a:xfrm>
            <a:prstGeom prst="ellipse">
              <a:avLst/>
            </a:prstGeom>
            <a:solidFill>
              <a:srgbClr val="FFFFFF"/>
            </a:solidFill>
            <a:ln w="9525">
              <a:solidFill>
                <a:srgbClr val="000000"/>
              </a:solidFill>
              <a:round/>
              <a:headEnd/>
              <a:tailEnd/>
            </a:ln>
          </p:spPr>
          <p:txBody>
            <a:bodyPr/>
            <a:lstStyle/>
            <a:p>
              <a:endParaRPr lang="bg-BG"/>
            </a:p>
          </p:txBody>
        </p:sp>
        <p:sp>
          <p:nvSpPr>
            <p:cNvPr id="13319" name="Oval 7"/>
            <p:cNvSpPr>
              <a:spLocks noChangeArrowheads="1"/>
            </p:cNvSpPr>
            <p:nvPr/>
          </p:nvSpPr>
          <p:spPr bwMode="auto">
            <a:xfrm>
              <a:off x="1083" y="4617"/>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0" name="Oval 8"/>
            <p:cNvSpPr>
              <a:spLocks noChangeArrowheads="1"/>
            </p:cNvSpPr>
            <p:nvPr/>
          </p:nvSpPr>
          <p:spPr bwMode="auto">
            <a:xfrm>
              <a:off x="1653" y="5700"/>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1" name="Oval 9"/>
            <p:cNvSpPr>
              <a:spLocks noChangeArrowheads="1"/>
            </p:cNvSpPr>
            <p:nvPr/>
          </p:nvSpPr>
          <p:spPr bwMode="auto">
            <a:xfrm>
              <a:off x="2223" y="4560"/>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2" name="Oval 10"/>
            <p:cNvSpPr>
              <a:spLocks noChangeArrowheads="1"/>
            </p:cNvSpPr>
            <p:nvPr/>
          </p:nvSpPr>
          <p:spPr bwMode="auto">
            <a:xfrm>
              <a:off x="3477" y="3591"/>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3" name="Oval 11"/>
            <p:cNvSpPr>
              <a:spLocks noChangeArrowheads="1"/>
            </p:cNvSpPr>
            <p:nvPr/>
          </p:nvSpPr>
          <p:spPr bwMode="auto">
            <a:xfrm>
              <a:off x="2736" y="5673"/>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4" name="Oval 12"/>
            <p:cNvSpPr>
              <a:spLocks noChangeArrowheads="1"/>
            </p:cNvSpPr>
            <p:nvPr/>
          </p:nvSpPr>
          <p:spPr bwMode="auto">
            <a:xfrm>
              <a:off x="3192" y="4557"/>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5" name="Oval 13"/>
            <p:cNvSpPr>
              <a:spLocks noChangeArrowheads="1"/>
            </p:cNvSpPr>
            <p:nvPr/>
          </p:nvSpPr>
          <p:spPr bwMode="auto">
            <a:xfrm>
              <a:off x="4329" y="4560"/>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6" name="Oval 14"/>
            <p:cNvSpPr>
              <a:spLocks noChangeArrowheads="1"/>
            </p:cNvSpPr>
            <p:nvPr/>
          </p:nvSpPr>
          <p:spPr bwMode="auto">
            <a:xfrm>
              <a:off x="3990" y="5643"/>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7" name="Oval 15"/>
            <p:cNvSpPr>
              <a:spLocks noChangeArrowheads="1"/>
            </p:cNvSpPr>
            <p:nvPr/>
          </p:nvSpPr>
          <p:spPr bwMode="auto">
            <a:xfrm>
              <a:off x="5016" y="5643"/>
              <a:ext cx="741" cy="741"/>
            </a:xfrm>
            <a:prstGeom prst="ellipse">
              <a:avLst/>
            </a:prstGeom>
            <a:solidFill>
              <a:srgbClr val="FFFFFF"/>
            </a:solidFill>
            <a:ln w="9525">
              <a:solidFill>
                <a:srgbClr val="000000"/>
              </a:solidFill>
              <a:round/>
              <a:headEnd/>
              <a:tailEnd/>
            </a:ln>
          </p:spPr>
          <p:txBody>
            <a:bodyPr/>
            <a:lstStyle/>
            <a:p>
              <a:endParaRPr lang="bg-BG"/>
            </a:p>
          </p:txBody>
        </p:sp>
        <p:sp>
          <p:nvSpPr>
            <p:cNvPr id="13328" name="Line 16"/>
            <p:cNvSpPr>
              <a:spLocks noChangeShapeType="1"/>
            </p:cNvSpPr>
            <p:nvPr/>
          </p:nvSpPr>
          <p:spPr bwMode="auto">
            <a:xfrm flipH="1">
              <a:off x="3306" y="2166"/>
              <a:ext cx="342" cy="456"/>
            </a:xfrm>
            <a:prstGeom prst="line">
              <a:avLst/>
            </a:prstGeom>
            <a:noFill/>
            <a:ln w="9525">
              <a:solidFill>
                <a:srgbClr val="000000"/>
              </a:solidFill>
              <a:round/>
              <a:headEnd/>
              <a:tailEnd type="triangle" w="med" len="med"/>
            </a:ln>
          </p:spPr>
          <p:txBody>
            <a:bodyPr/>
            <a:lstStyle/>
            <a:p>
              <a:endParaRPr lang="bg-BG"/>
            </a:p>
          </p:txBody>
        </p:sp>
        <p:sp>
          <p:nvSpPr>
            <p:cNvPr id="13329" name="Line 17"/>
            <p:cNvSpPr>
              <a:spLocks noChangeShapeType="1"/>
            </p:cNvSpPr>
            <p:nvPr/>
          </p:nvSpPr>
          <p:spPr bwMode="auto">
            <a:xfrm flipH="1">
              <a:off x="2451" y="3192"/>
              <a:ext cx="342" cy="456"/>
            </a:xfrm>
            <a:prstGeom prst="line">
              <a:avLst/>
            </a:prstGeom>
            <a:noFill/>
            <a:ln w="9525">
              <a:solidFill>
                <a:srgbClr val="000000"/>
              </a:solidFill>
              <a:round/>
              <a:headEnd/>
              <a:tailEnd type="triangle" w="med" len="med"/>
            </a:ln>
          </p:spPr>
          <p:txBody>
            <a:bodyPr/>
            <a:lstStyle/>
            <a:p>
              <a:endParaRPr lang="bg-BG"/>
            </a:p>
          </p:txBody>
        </p:sp>
        <p:sp>
          <p:nvSpPr>
            <p:cNvPr id="13330" name="Line 18"/>
            <p:cNvSpPr>
              <a:spLocks noChangeShapeType="1"/>
            </p:cNvSpPr>
            <p:nvPr/>
          </p:nvSpPr>
          <p:spPr bwMode="auto">
            <a:xfrm flipH="1">
              <a:off x="1596" y="4218"/>
              <a:ext cx="399" cy="456"/>
            </a:xfrm>
            <a:prstGeom prst="line">
              <a:avLst/>
            </a:prstGeom>
            <a:noFill/>
            <a:ln w="9525">
              <a:solidFill>
                <a:srgbClr val="000000"/>
              </a:solidFill>
              <a:round/>
              <a:headEnd/>
              <a:tailEnd type="triangle" w="med" len="med"/>
            </a:ln>
          </p:spPr>
          <p:txBody>
            <a:bodyPr/>
            <a:lstStyle/>
            <a:p>
              <a:endParaRPr lang="bg-BG"/>
            </a:p>
          </p:txBody>
        </p:sp>
        <p:sp>
          <p:nvSpPr>
            <p:cNvPr id="13331" name="Line 19"/>
            <p:cNvSpPr>
              <a:spLocks noChangeShapeType="1"/>
            </p:cNvSpPr>
            <p:nvPr/>
          </p:nvSpPr>
          <p:spPr bwMode="auto">
            <a:xfrm>
              <a:off x="1596" y="5358"/>
              <a:ext cx="228" cy="399"/>
            </a:xfrm>
            <a:prstGeom prst="line">
              <a:avLst/>
            </a:prstGeom>
            <a:noFill/>
            <a:ln w="9525">
              <a:solidFill>
                <a:srgbClr val="000000"/>
              </a:solidFill>
              <a:round/>
              <a:headEnd/>
              <a:tailEnd type="triangle" w="med" len="med"/>
            </a:ln>
          </p:spPr>
          <p:txBody>
            <a:bodyPr/>
            <a:lstStyle/>
            <a:p>
              <a:endParaRPr lang="bg-BG"/>
            </a:p>
          </p:txBody>
        </p:sp>
        <p:sp>
          <p:nvSpPr>
            <p:cNvPr id="13332" name="Line 20"/>
            <p:cNvSpPr>
              <a:spLocks noChangeShapeType="1"/>
            </p:cNvSpPr>
            <p:nvPr/>
          </p:nvSpPr>
          <p:spPr bwMode="auto">
            <a:xfrm>
              <a:off x="2451" y="4275"/>
              <a:ext cx="114" cy="285"/>
            </a:xfrm>
            <a:prstGeom prst="line">
              <a:avLst/>
            </a:prstGeom>
            <a:noFill/>
            <a:ln w="9525">
              <a:solidFill>
                <a:srgbClr val="000000"/>
              </a:solidFill>
              <a:round/>
              <a:headEnd/>
              <a:tailEnd type="triangle" w="med" len="med"/>
            </a:ln>
          </p:spPr>
          <p:txBody>
            <a:bodyPr/>
            <a:lstStyle/>
            <a:p>
              <a:endParaRPr lang="bg-BG"/>
            </a:p>
          </p:txBody>
        </p:sp>
        <p:sp>
          <p:nvSpPr>
            <p:cNvPr id="13333" name="Line 21"/>
            <p:cNvSpPr>
              <a:spLocks noChangeShapeType="1"/>
            </p:cNvSpPr>
            <p:nvPr/>
          </p:nvSpPr>
          <p:spPr bwMode="auto">
            <a:xfrm>
              <a:off x="2850" y="5244"/>
              <a:ext cx="228" cy="399"/>
            </a:xfrm>
            <a:prstGeom prst="line">
              <a:avLst/>
            </a:prstGeom>
            <a:noFill/>
            <a:ln w="9525">
              <a:solidFill>
                <a:srgbClr val="000000"/>
              </a:solidFill>
              <a:round/>
              <a:headEnd/>
              <a:tailEnd type="triangle" w="med" len="med"/>
            </a:ln>
          </p:spPr>
          <p:txBody>
            <a:bodyPr/>
            <a:lstStyle/>
            <a:p>
              <a:endParaRPr lang="bg-BG"/>
            </a:p>
          </p:txBody>
        </p:sp>
        <p:sp>
          <p:nvSpPr>
            <p:cNvPr id="13334" name="Line 22"/>
            <p:cNvSpPr>
              <a:spLocks noChangeShapeType="1"/>
            </p:cNvSpPr>
            <p:nvPr/>
          </p:nvSpPr>
          <p:spPr bwMode="auto">
            <a:xfrm>
              <a:off x="3420" y="3135"/>
              <a:ext cx="399" cy="456"/>
            </a:xfrm>
            <a:prstGeom prst="line">
              <a:avLst/>
            </a:prstGeom>
            <a:noFill/>
            <a:ln w="9525">
              <a:solidFill>
                <a:srgbClr val="000000"/>
              </a:solidFill>
              <a:round/>
              <a:headEnd/>
              <a:tailEnd type="triangle" w="med" len="med"/>
            </a:ln>
          </p:spPr>
          <p:txBody>
            <a:bodyPr/>
            <a:lstStyle/>
            <a:p>
              <a:endParaRPr lang="bg-BG"/>
            </a:p>
          </p:txBody>
        </p:sp>
        <p:sp>
          <p:nvSpPr>
            <p:cNvPr id="13335" name="Line 23"/>
            <p:cNvSpPr>
              <a:spLocks noChangeShapeType="1"/>
            </p:cNvSpPr>
            <p:nvPr/>
          </p:nvSpPr>
          <p:spPr bwMode="auto">
            <a:xfrm flipH="1">
              <a:off x="3591" y="4332"/>
              <a:ext cx="114" cy="228"/>
            </a:xfrm>
            <a:prstGeom prst="line">
              <a:avLst/>
            </a:prstGeom>
            <a:noFill/>
            <a:ln w="9525">
              <a:solidFill>
                <a:srgbClr val="000000"/>
              </a:solidFill>
              <a:round/>
              <a:headEnd/>
              <a:tailEnd type="triangle" w="med" len="med"/>
            </a:ln>
          </p:spPr>
          <p:txBody>
            <a:bodyPr/>
            <a:lstStyle/>
            <a:p>
              <a:endParaRPr lang="bg-BG"/>
            </a:p>
          </p:txBody>
        </p:sp>
        <p:sp>
          <p:nvSpPr>
            <p:cNvPr id="13336" name="Line 24"/>
            <p:cNvSpPr>
              <a:spLocks noChangeShapeType="1"/>
            </p:cNvSpPr>
            <p:nvPr/>
          </p:nvSpPr>
          <p:spPr bwMode="auto">
            <a:xfrm>
              <a:off x="4161" y="4161"/>
              <a:ext cx="399" cy="456"/>
            </a:xfrm>
            <a:prstGeom prst="line">
              <a:avLst/>
            </a:prstGeom>
            <a:noFill/>
            <a:ln w="9525">
              <a:solidFill>
                <a:srgbClr val="000000"/>
              </a:solidFill>
              <a:round/>
              <a:headEnd/>
              <a:tailEnd type="triangle" w="med" len="med"/>
            </a:ln>
          </p:spPr>
          <p:txBody>
            <a:bodyPr/>
            <a:lstStyle/>
            <a:p>
              <a:endParaRPr lang="bg-BG"/>
            </a:p>
          </p:txBody>
        </p:sp>
        <p:sp>
          <p:nvSpPr>
            <p:cNvPr id="13337" name="Line 25"/>
            <p:cNvSpPr>
              <a:spLocks noChangeShapeType="1"/>
            </p:cNvSpPr>
            <p:nvPr/>
          </p:nvSpPr>
          <p:spPr bwMode="auto">
            <a:xfrm flipH="1">
              <a:off x="4446" y="5301"/>
              <a:ext cx="171" cy="342"/>
            </a:xfrm>
            <a:prstGeom prst="line">
              <a:avLst/>
            </a:prstGeom>
            <a:noFill/>
            <a:ln w="9525">
              <a:solidFill>
                <a:srgbClr val="000000"/>
              </a:solidFill>
              <a:round/>
              <a:headEnd/>
              <a:tailEnd type="triangle" w="med" len="med"/>
            </a:ln>
          </p:spPr>
          <p:txBody>
            <a:bodyPr/>
            <a:lstStyle/>
            <a:p>
              <a:endParaRPr lang="bg-BG"/>
            </a:p>
          </p:txBody>
        </p:sp>
        <p:sp>
          <p:nvSpPr>
            <p:cNvPr id="13338" name="Line 26"/>
            <p:cNvSpPr>
              <a:spLocks noChangeShapeType="1"/>
            </p:cNvSpPr>
            <p:nvPr/>
          </p:nvSpPr>
          <p:spPr bwMode="auto">
            <a:xfrm>
              <a:off x="4959" y="5244"/>
              <a:ext cx="285" cy="399"/>
            </a:xfrm>
            <a:prstGeom prst="line">
              <a:avLst/>
            </a:prstGeom>
            <a:noFill/>
            <a:ln w="9525">
              <a:solidFill>
                <a:srgbClr val="000000"/>
              </a:solidFill>
              <a:round/>
              <a:headEnd/>
              <a:tailEnd type="triangle" w="med" len="med"/>
            </a:ln>
          </p:spPr>
          <p:txBody>
            <a:bodyPr/>
            <a:lstStyle/>
            <a:p>
              <a:endParaRPr lang="bg-BG"/>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116013" y="-315913"/>
            <a:ext cx="7848600" cy="5562601"/>
          </a:xfrm>
        </p:spPr>
        <p:txBody>
          <a:bodyPr/>
          <a:lstStyle/>
          <a:p>
            <a:pPr eaLnBrk="1" fontAlgn="auto" hangingPunct="1">
              <a:spcAft>
                <a:spcPts val="0"/>
              </a:spcAft>
              <a:defRPr/>
            </a:pPr>
            <a:r>
              <a:rPr lang="en-US" sz="2000">
                <a:solidFill>
                  <a:schemeClr val="tx1"/>
                </a:solidFill>
              </a:rPr>
              <a:t>	</a:t>
            </a:r>
            <a:r>
              <a:rPr lang="bg-BG" sz="2000">
                <a:solidFill>
                  <a:schemeClr val="tx1"/>
                </a:solidFill>
              </a:rPr>
              <a:t>Динамично представяне на структурата дърво (със степен 3):</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latin typeface="Courier New" pitchFamily="49" charset="0"/>
              </a:rPr>
              <a:t>struct elem</a:t>
            </a:r>
            <a:br>
              <a:rPr lang="bg-BG" sz="2000">
                <a:solidFill>
                  <a:schemeClr val="tx1"/>
                </a:solidFill>
                <a:latin typeface="Courier New" pitchFamily="49" charset="0"/>
              </a:rPr>
            </a:br>
            <a:r>
              <a:rPr lang="bg-BG" sz="2000">
                <a:solidFill>
                  <a:schemeClr val="tx1"/>
                </a:solidFill>
                <a:latin typeface="Courier New" pitchFamily="49" charset="0"/>
              </a:rPr>
              <a:t>   {char key; elem *p1, *p2, *p3;} *root;</a:t>
            </a:r>
            <a:br>
              <a:rPr lang="bg-BG" sz="2000">
                <a:solidFill>
                  <a:schemeClr val="tx1"/>
                </a:solidFill>
                <a:latin typeface="Courier New" pitchFamily="49" charset="0"/>
              </a:rPr>
            </a:br>
            <a:r>
              <a:rPr lang="bg-BG" sz="2000">
                <a:solidFill>
                  <a:schemeClr val="tx1"/>
                </a:solidFill>
                <a:latin typeface="Courier New" pitchFamily="49" charset="0"/>
              </a:rPr>
              <a:t/>
            </a:r>
            <a:br>
              <a:rPr lang="bg-BG" sz="2000">
                <a:solidFill>
                  <a:schemeClr val="tx1"/>
                </a:solidFill>
                <a:latin typeface="Courier New" pitchFamily="49" charset="0"/>
              </a:rPr>
            </a:br>
            <a:r>
              <a:rPr lang="bg-BG" sz="2000">
                <a:solidFill>
                  <a:schemeClr val="tx1"/>
                </a:solidFill>
                <a:latin typeface="Courier New" pitchFamily="49" charset="0"/>
              </a:rPr>
              <a:t>	</a:t>
            </a:r>
            <a:r>
              <a:rPr lang="bg-BG" sz="2000">
                <a:solidFill>
                  <a:schemeClr val="tx1"/>
                </a:solidFill>
              </a:rPr>
              <a:t>В така описаното дърво се съхраняват символни данни. </a:t>
            </a:r>
            <a:r>
              <a:rPr lang="en-US" sz="2000" smtClean="0">
                <a:solidFill>
                  <a:schemeClr val="tx1"/>
                </a:solidFill>
              </a:rPr>
              <a:t/>
            </a:r>
            <a:br>
              <a:rPr lang="en-US" sz="2000" smtClean="0">
                <a:solidFill>
                  <a:schemeClr val="tx1"/>
                </a:solidFill>
              </a:rPr>
            </a:br>
            <a:r>
              <a:rPr lang="en-US" sz="2000" smtClean="0">
                <a:solidFill>
                  <a:schemeClr val="tx1"/>
                </a:solidFill>
              </a:rPr>
              <a:t/>
            </a:r>
            <a:br>
              <a:rPr lang="en-US" sz="2000" smtClean="0">
                <a:solidFill>
                  <a:schemeClr val="tx1"/>
                </a:solidFill>
              </a:rPr>
            </a:br>
            <a:r>
              <a:rPr lang="en-US" sz="2000" smtClean="0">
                <a:solidFill>
                  <a:schemeClr val="tx1"/>
                </a:solidFill>
              </a:rPr>
              <a:t>	</a:t>
            </a:r>
            <a:r>
              <a:rPr lang="bg-BG" sz="2000" smtClean="0">
                <a:solidFill>
                  <a:schemeClr val="tx1"/>
                </a:solidFill>
              </a:rPr>
              <a:t>Коренът</a:t>
            </a:r>
            <a:r>
              <a:rPr lang="en-US" sz="2000" smtClean="0">
                <a:solidFill>
                  <a:schemeClr val="tx1"/>
                </a:solidFill>
              </a:rPr>
              <a:t> </a:t>
            </a:r>
            <a:r>
              <a:rPr lang="bg-BG" sz="2000" smtClean="0">
                <a:solidFill>
                  <a:schemeClr val="tx1"/>
                </a:solidFill>
              </a:rPr>
              <a:t>на </a:t>
            </a:r>
            <a:r>
              <a:rPr lang="bg-BG" sz="2000">
                <a:solidFill>
                  <a:schemeClr val="tx1"/>
                </a:solidFill>
              </a:rPr>
              <a:t>дървото е свързан с указателя </a:t>
            </a:r>
            <a:r>
              <a:rPr lang="bg-BG" sz="2000" b="1">
                <a:solidFill>
                  <a:schemeClr val="tx1"/>
                </a:solidFill>
              </a:rPr>
              <a:t>root</a:t>
            </a:r>
            <a:r>
              <a:rPr lang="bg-BG" sz="2000">
                <a:solidFill>
                  <a:schemeClr val="tx1"/>
                </a:solidFill>
              </a:rPr>
              <a:t>. В контекста посочената в примера дефиниция, представеното по-горе дърво може да се изобрази като:</a:t>
            </a:r>
            <a:r>
              <a:rPr lang="en-AU" sz="2000">
                <a:solidFill>
                  <a:schemeClr val="tx1"/>
                </a:solidFill>
              </a:rPr>
              <a:t/>
            </a:r>
            <a:br>
              <a:rPr lang="en-AU" sz="2000">
                <a:solidFill>
                  <a:schemeClr val="tx1"/>
                </a:solidFill>
              </a:rPr>
            </a:br>
            <a:r>
              <a:rPr lang="en-US" sz="2000">
                <a:solidFill>
                  <a:schemeClr val="tx1"/>
                </a:solidFill>
              </a:rPr>
              <a:t/>
            </a:r>
            <a:br>
              <a:rPr lang="en-US" sz="2000">
                <a:solidFill>
                  <a:schemeClr val="tx1"/>
                </a:solidFill>
              </a:rPr>
            </a:br>
            <a:endParaRPr lang="en-US">
              <a:solidFill>
                <a:schemeClr val="tx1"/>
              </a:solidFill>
            </a:endParaRPr>
          </a:p>
        </p:txBody>
      </p:sp>
      <p:grpSp>
        <p:nvGrpSpPr>
          <p:cNvPr id="14339" name="Group 107"/>
          <p:cNvGrpSpPr>
            <a:grpSpLocks/>
          </p:cNvGrpSpPr>
          <p:nvPr/>
        </p:nvGrpSpPr>
        <p:grpSpPr bwMode="auto">
          <a:xfrm>
            <a:off x="1258888" y="3644900"/>
            <a:ext cx="7620000" cy="2819400"/>
            <a:chOff x="1259632" y="3645024"/>
            <a:chExt cx="7620000" cy="2819400"/>
          </a:xfrm>
        </p:grpSpPr>
        <p:sp>
          <p:nvSpPr>
            <p:cNvPr id="14340" name="Oval 4"/>
            <p:cNvSpPr>
              <a:spLocks noChangeArrowheads="1"/>
            </p:cNvSpPr>
            <p:nvPr/>
          </p:nvSpPr>
          <p:spPr bwMode="auto">
            <a:xfrm>
              <a:off x="4817083" y="4006693"/>
              <a:ext cx="412569" cy="389401"/>
            </a:xfrm>
            <a:prstGeom prst="ellipse">
              <a:avLst/>
            </a:prstGeom>
            <a:noFill/>
            <a:ln w="12700">
              <a:solidFill>
                <a:srgbClr val="000000"/>
              </a:solidFill>
              <a:round/>
              <a:headEnd/>
              <a:tailEnd/>
            </a:ln>
          </p:spPr>
          <p:txBody>
            <a:bodyPr/>
            <a:lstStyle/>
            <a:p>
              <a:endParaRPr lang="bg-BG"/>
            </a:p>
          </p:txBody>
        </p:sp>
        <p:grpSp>
          <p:nvGrpSpPr>
            <p:cNvPr id="14341" name="Group 5"/>
            <p:cNvGrpSpPr>
              <a:grpSpLocks/>
            </p:cNvGrpSpPr>
            <p:nvPr/>
          </p:nvGrpSpPr>
          <p:grpSpPr bwMode="auto">
            <a:xfrm>
              <a:off x="4900903" y="4864068"/>
              <a:ext cx="228600" cy="121327"/>
              <a:chOff x="3030" y="2580"/>
              <a:chExt cx="210" cy="105"/>
            </a:xfrm>
          </p:grpSpPr>
          <p:sp>
            <p:nvSpPr>
              <p:cNvPr id="14439" name="Line 6"/>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40" name="Line 7"/>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41" name="Line 8"/>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4342" name="Oval 9"/>
            <p:cNvSpPr>
              <a:spLocks noChangeArrowheads="1"/>
            </p:cNvSpPr>
            <p:nvPr/>
          </p:nvSpPr>
          <p:spPr bwMode="auto">
            <a:xfrm>
              <a:off x="5930692" y="4717320"/>
              <a:ext cx="412569" cy="405578"/>
            </a:xfrm>
            <a:prstGeom prst="ellipse">
              <a:avLst/>
            </a:prstGeom>
            <a:noFill/>
            <a:ln w="12700">
              <a:solidFill>
                <a:srgbClr val="000000"/>
              </a:solidFill>
              <a:round/>
              <a:headEnd/>
              <a:tailEnd/>
            </a:ln>
          </p:spPr>
          <p:txBody>
            <a:bodyPr/>
            <a:lstStyle/>
            <a:p>
              <a:endParaRPr lang="bg-BG"/>
            </a:p>
          </p:txBody>
        </p:sp>
        <p:sp>
          <p:nvSpPr>
            <p:cNvPr id="14343" name="Oval 10"/>
            <p:cNvSpPr>
              <a:spLocks noChangeArrowheads="1"/>
            </p:cNvSpPr>
            <p:nvPr/>
          </p:nvSpPr>
          <p:spPr bwMode="auto">
            <a:xfrm>
              <a:off x="6085269" y="5522698"/>
              <a:ext cx="412569" cy="389401"/>
            </a:xfrm>
            <a:prstGeom prst="ellipse">
              <a:avLst/>
            </a:prstGeom>
            <a:noFill/>
            <a:ln w="12700">
              <a:solidFill>
                <a:srgbClr val="000000"/>
              </a:solidFill>
              <a:round/>
              <a:headEnd/>
              <a:tailEnd/>
            </a:ln>
          </p:spPr>
          <p:txBody>
            <a:bodyPr/>
            <a:lstStyle/>
            <a:p>
              <a:endParaRPr lang="bg-BG"/>
            </a:p>
          </p:txBody>
        </p:sp>
        <p:sp>
          <p:nvSpPr>
            <p:cNvPr id="14344" name="Line 11"/>
            <p:cNvSpPr>
              <a:spLocks noChangeShapeType="1"/>
            </p:cNvSpPr>
            <p:nvPr/>
          </p:nvSpPr>
          <p:spPr bwMode="auto">
            <a:xfrm>
              <a:off x="6235492" y="5104410"/>
              <a:ext cx="1089" cy="421755"/>
            </a:xfrm>
            <a:prstGeom prst="line">
              <a:avLst/>
            </a:prstGeom>
            <a:noFill/>
            <a:ln w="12700">
              <a:solidFill>
                <a:srgbClr val="000000"/>
              </a:solidFill>
              <a:round/>
              <a:headEnd type="none" w="sm" len="sm"/>
              <a:tailEnd type="none" w="sm" len="sm"/>
            </a:ln>
          </p:spPr>
          <p:txBody>
            <a:bodyPr/>
            <a:lstStyle/>
            <a:p>
              <a:endParaRPr lang="bg-BG"/>
            </a:p>
          </p:txBody>
        </p:sp>
        <p:sp>
          <p:nvSpPr>
            <p:cNvPr id="14345" name="Line 12"/>
            <p:cNvSpPr>
              <a:spLocks noChangeShapeType="1"/>
            </p:cNvSpPr>
            <p:nvPr/>
          </p:nvSpPr>
          <p:spPr bwMode="auto">
            <a:xfrm flipH="1">
              <a:off x="5875175" y="5095166"/>
              <a:ext cx="195943" cy="571968"/>
            </a:xfrm>
            <a:prstGeom prst="line">
              <a:avLst/>
            </a:prstGeom>
            <a:noFill/>
            <a:ln w="12700">
              <a:solidFill>
                <a:srgbClr val="000000"/>
              </a:solidFill>
              <a:round/>
              <a:headEnd/>
              <a:tailEnd/>
            </a:ln>
          </p:spPr>
          <p:txBody>
            <a:bodyPr/>
            <a:lstStyle/>
            <a:p>
              <a:endParaRPr lang="bg-BG"/>
            </a:p>
          </p:txBody>
        </p:sp>
        <p:sp>
          <p:nvSpPr>
            <p:cNvPr id="14346" name="Line 13"/>
            <p:cNvSpPr>
              <a:spLocks noChangeShapeType="1"/>
            </p:cNvSpPr>
            <p:nvPr/>
          </p:nvSpPr>
          <p:spPr bwMode="auto">
            <a:xfrm>
              <a:off x="6348703" y="4950730"/>
              <a:ext cx="375557" cy="502639"/>
            </a:xfrm>
            <a:prstGeom prst="line">
              <a:avLst/>
            </a:prstGeom>
            <a:noFill/>
            <a:ln w="12700">
              <a:solidFill>
                <a:srgbClr val="000000"/>
              </a:solidFill>
              <a:round/>
              <a:headEnd/>
              <a:tailEnd/>
            </a:ln>
          </p:spPr>
          <p:txBody>
            <a:bodyPr/>
            <a:lstStyle/>
            <a:p>
              <a:endParaRPr lang="bg-BG"/>
            </a:p>
          </p:txBody>
        </p:sp>
        <p:sp>
          <p:nvSpPr>
            <p:cNvPr id="14347" name="Line 14"/>
            <p:cNvSpPr>
              <a:spLocks noChangeShapeType="1"/>
            </p:cNvSpPr>
            <p:nvPr/>
          </p:nvSpPr>
          <p:spPr bwMode="auto">
            <a:xfrm flipH="1">
              <a:off x="5967703" y="5886678"/>
              <a:ext cx="195943" cy="329315"/>
            </a:xfrm>
            <a:prstGeom prst="line">
              <a:avLst/>
            </a:prstGeom>
            <a:noFill/>
            <a:ln w="12700">
              <a:solidFill>
                <a:srgbClr val="000000"/>
              </a:solidFill>
              <a:round/>
              <a:headEnd/>
              <a:tailEnd/>
            </a:ln>
          </p:spPr>
          <p:txBody>
            <a:bodyPr/>
            <a:lstStyle/>
            <a:p>
              <a:endParaRPr lang="bg-BG"/>
            </a:p>
          </p:txBody>
        </p:sp>
        <p:sp>
          <p:nvSpPr>
            <p:cNvPr id="14348" name="Line 15"/>
            <p:cNvSpPr>
              <a:spLocks noChangeShapeType="1"/>
            </p:cNvSpPr>
            <p:nvPr/>
          </p:nvSpPr>
          <p:spPr bwMode="auto">
            <a:xfrm>
              <a:off x="6452118" y="5857791"/>
              <a:ext cx="375557" cy="311983"/>
            </a:xfrm>
            <a:prstGeom prst="line">
              <a:avLst/>
            </a:prstGeom>
            <a:noFill/>
            <a:ln w="12700">
              <a:solidFill>
                <a:srgbClr val="000000"/>
              </a:solidFill>
              <a:round/>
              <a:headEnd/>
              <a:tailEnd/>
            </a:ln>
          </p:spPr>
          <p:txBody>
            <a:bodyPr/>
            <a:lstStyle/>
            <a:p>
              <a:endParaRPr lang="bg-BG"/>
            </a:p>
          </p:txBody>
        </p:sp>
        <p:sp>
          <p:nvSpPr>
            <p:cNvPr id="14349" name="Line 16"/>
            <p:cNvSpPr>
              <a:spLocks noChangeShapeType="1"/>
            </p:cNvSpPr>
            <p:nvPr/>
          </p:nvSpPr>
          <p:spPr bwMode="auto">
            <a:xfrm>
              <a:off x="6288832" y="5915565"/>
              <a:ext cx="0" cy="398645"/>
            </a:xfrm>
            <a:prstGeom prst="line">
              <a:avLst/>
            </a:prstGeom>
            <a:noFill/>
            <a:ln w="12700">
              <a:solidFill>
                <a:srgbClr val="000000"/>
              </a:solidFill>
              <a:round/>
              <a:headEnd/>
              <a:tailEnd/>
            </a:ln>
          </p:spPr>
          <p:txBody>
            <a:bodyPr/>
            <a:lstStyle/>
            <a:p>
              <a:endParaRPr lang="bg-BG"/>
            </a:p>
          </p:txBody>
        </p:sp>
        <p:grpSp>
          <p:nvGrpSpPr>
            <p:cNvPr id="14350" name="Group 17"/>
            <p:cNvGrpSpPr>
              <a:grpSpLocks/>
            </p:cNvGrpSpPr>
            <p:nvPr/>
          </p:nvGrpSpPr>
          <p:grpSpPr bwMode="auto">
            <a:xfrm>
              <a:off x="5864289" y="6221771"/>
              <a:ext cx="228600" cy="121327"/>
              <a:chOff x="3030" y="2580"/>
              <a:chExt cx="210" cy="105"/>
            </a:xfrm>
          </p:grpSpPr>
          <p:sp>
            <p:nvSpPr>
              <p:cNvPr id="14436" name="Line 1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37" name="Line 1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38" name="Line 2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51" name="Group 21"/>
            <p:cNvGrpSpPr>
              <a:grpSpLocks/>
            </p:cNvGrpSpPr>
            <p:nvPr/>
          </p:nvGrpSpPr>
          <p:grpSpPr bwMode="auto">
            <a:xfrm>
              <a:off x="5755432" y="5667135"/>
              <a:ext cx="228600" cy="121327"/>
              <a:chOff x="3030" y="2580"/>
              <a:chExt cx="210" cy="105"/>
            </a:xfrm>
          </p:grpSpPr>
          <p:sp>
            <p:nvSpPr>
              <p:cNvPr id="14433" name="Line 22"/>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34" name="Line 23"/>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35" name="Line 24"/>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52" name="Group 25"/>
            <p:cNvGrpSpPr>
              <a:grpSpLocks/>
            </p:cNvGrpSpPr>
            <p:nvPr/>
          </p:nvGrpSpPr>
          <p:grpSpPr bwMode="auto">
            <a:xfrm>
              <a:off x="6615403" y="5464924"/>
              <a:ext cx="228600" cy="121327"/>
              <a:chOff x="3030" y="2580"/>
              <a:chExt cx="210" cy="105"/>
            </a:xfrm>
          </p:grpSpPr>
          <p:sp>
            <p:nvSpPr>
              <p:cNvPr id="14430" name="Line 26"/>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31" name="Line 27"/>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32" name="Line 28"/>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53" name="Group 29"/>
            <p:cNvGrpSpPr>
              <a:grpSpLocks/>
            </p:cNvGrpSpPr>
            <p:nvPr/>
          </p:nvGrpSpPr>
          <p:grpSpPr bwMode="auto">
            <a:xfrm>
              <a:off x="6179975" y="6331542"/>
              <a:ext cx="228600" cy="121327"/>
              <a:chOff x="3030" y="2580"/>
              <a:chExt cx="210" cy="105"/>
            </a:xfrm>
          </p:grpSpPr>
          <p:sp>
            <p:nvSpPr>
              <p:cNvPr id="14427" name="Line 3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28" name="Line 3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29" name="Line 3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54" name="Group 33"/>
            <p:cNvGrpSpPr>
              <a:grpSpLocks/>
            </p:cNvGrpSpPr>
            <p:nvPr/>
          </p:nvGrpSpPr>
          <p:grpSpPr bwMode="auto">
            <a:xfrm>
              <a:off x="6713375" y="6175551"/>
              <a:ext cx="228600" cy="121327"/>
              <a:chOff x="3030" y="2580"/>
              <a:chExt cx="210" cy="105"/>
            </a:xfrm>
          </p:grpSpPr>
          <p:sp>
            <p:nvSpPr>
              <p:cNvPr id="14424" name="Line 3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25" name="Line 3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26" name="Line 3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4355" name="Line 37"/>
            <p:cNvSpPr>
              <a:spLocks noChangeShapeType="1"/>
            </p:cNvSpPr>
            <p:nvPr/>
          </p:nvSpPr>
          <p:spPr bwMode="auto">
            <a:xfrm>
              <a:off x="5189375" y="4297877"/>
              <a:ext cx="832757" cy="450642"/>
            </a:xfrm>
            <a:prstGeom prst="line">
              <a:avLst/>
            </a:prstGeom>
            <a:noFill/>
            <a:ln w="12700">
              <a:solidFill>
                <a:srgbClr val="000000"/>
              </a:solidFill>
              <a:round/>
              <a:headEnd/>
              <a:tailEnd/>
            </a:ln>
          </p:spPr>
          <p:txBody>
            <a:bodyPr/>
            <a:lstStyle/>
            <a:p>
              <a:endParaRPr lang="bg-BG"/>
            </a:p>
          </p:txBody>
        </p:sp>
        <p:sp>
          <p:nvSpPr>
            <p:cNvPr id="14356" name="Oval 38"/>
            <p:cNvSpPr>
              <a:spLocks noChangeArrowheads="1"/>
            </p:cNvSpPr>
            <p:nvPr/>
          </p:nvSpPr>
          <p:spPr bwMode="auto">
            <a:xfrm>
              <a:off x="4091006" y="4708076"/>
              <a:ext cx="412569" cy="389401"/>
            </a:xfrm>
            <a:prstGeom prst="ellipse">
              <a:avLst/>
            </a:prstGeom>
            <a:noFill/>
            <a:ln w="12700">
              <a:solidFill>
                <a:srgbClr val="000000"/>
              </a:solidFill>
              <a:round/>
              <a:headEnd/>
              <a:tailEnd/>
            </a:ln>
          </p:spPr>
          <p:txBody>
            <a:bodyPr/>
            <a:lstStyle/>
            <a:p>
              <a:endParaRPr lang="bg-BG"/>
            </a:p>
          </p:txBody>
        </p:sp>
        <p:sp>
          <p:nvSpPr>
            <p:cNvPr id="14357" name="Oval 39"/>
            <p:cNvSpPr>
              <a:spLocks noChangeArrowheads="1"/>
            </p:cNvSpPr>
            <p:nvPr/>
          </p:nvSpPr>
          <p:spPr bwMode="auto">
            <a:xfrm>
              <a:off x="4084475" y="5564296"/>
              <a:ext cx="412569" cy="389401"/>
            </a:xfrm>
            <a:prstGeom prst="ellipse">
              <a:avLst/>
            </a:prstGeom>
            <a:noFill/>
            <a:ln w="12700">
              <a:solidFill>
                <a:srgbClr val="000000"/>
              </a:solidFill>
              <a:round/>
              <a:headEnd/>
              <a:tailEnd/>
            </a:ln>
          </p:spPr>
          <p:txBody>
            <a:bodyPr/>
            <a:lstStyle/>
            <a:p>
              <a:endParaRPr lang="bg-BG"/>
            </a:p>
          </p:txBody>
        </p:sp>
        <p:sp>
          <p:nvSpPr>
            <p:cNvPr id="14358" name="Oval 40"/>
            <p:cNvSpPr>
              <a:spLocks noChangeArrowheads="1"/>
            </p:cNvSpPr>
            <p:nvPr/>
          </p:nvSpPr>
          <p:spPr bwMode="auto">
            <a:xfrm>
              <a:off x="5122972" y="5575851"/>
              <a:ext cx="412569" cy="389401"/>
            </a:xfrm>
            <a:prstGeom prst="ellipse">
              <a:avLst/>
            </a:prstGeom>
            <a:noFill/>
            <a:ln w="12700">
              <a:solidFill>
                <a:srgbClr val="000000"/>
              </a:solidFill>
              <a:round/>
              <a:headEnd/>
              <a:tailEnd/>
            </a:ln>
          </p:spPr>
          <p:txBody>
            <a:bodyPr/>
            <a:lstStyle/>
            <a:p>
              <a:endParaRPr lang="bg-BG"/>
            </a:p>
          </p:txBody>
        </p:sp>
        <p:sp>
          <p:nvSpPr>
            <p:cNvPr id="14359" name="Line 41"/>
            <p:cNvSpPr>
              <a:spLocks noChangeShapeType="1"/>
            </p:cNvSpPr>
            <p:nvPr/>
          </p:nvSpPr>
          <p:spPr bwMode="auto">
            <a:xfrm flipH="1">
              <a:off x="4432818" y="4339475"/>
              <a:ext cx="397329" cy="421755"/>
            </a:xfrm>
            <a:prstGeom prst="line">
              <a:avLst/>
            </a:prstGeom>
            <a:noFill/>
            <a:ln w="12700">
              <a:solidFill>
                <a:srgbClr val="000000"/>
              </a:solidFill>
              <a:round/>
              <a:headEnd type="none" w="sm" len="sm"/>
              <a:tailEnd type="none" w="sm" len="sm"/>
            </a:ln>
          </p:spPr>
          <p:txBody>
            <a:bodyPr/>
            <a:lstStyle/>
            <a:p>
              <a:endParaRPr lang="bg-BG"/>
            </a:p>
          </p:txBody>
        </p:sp>
        <p:sp>
          <p:nvSpPr>
            <p:cNvPr id="14360" name="Line 42"/>
            <p:cNvSpPr>
              <a:spLocks noChangeShapeType="1"/>
            </p:cNvSpPr>
            <p:nvPr/>
          </p:nvSpPr>
          <p:spPr bwMode="auto">
            <a:xfrm>
              <a:off x="4289126" y="5106721"/>
              <a:ext cx="1089" cy="454108"/>
            </a:xfrm>
            <a:prstGeom prst="line">
              <a:avLst/>
            </a:prstGeom>
            <a:noFill/>
            <a:ln w="12700">
              <a:solidFill>
                <a:srgbClr val="000000"/>
              </a:solidFill>
              <a:round/>
              <a:headEnd type="none" w="sm" len="sm"/>
              <a:tailEnd type="none" w="sm" len="sm"/>
            </a:ln>
          </p:spPr>
          <p:txBody>
            <a:bodyPr/>
            <a:lstStyle/>
            <a:p>
              <a:endParaRPr lang="bg-BG"/>
            </a:p>
          </p:txBody>
        </p:sp>
        <p:grpSp>
          <p:nvGrpSpPr>
            <p:cNvPr id="14361" name="Group 43"/>
            <p:cNvGrpSpPr>
              <a:grpSpLocks/>
            </p:cNvGrpSpPr>
            <p:nvPr/>
          </p:nvGrpSpPr>
          <p:grpSpPr bwMode="auto">
            <a:xfrm>
              <a:off x="4563446" y="6210216"/>
              <a:ext cx="228600" cy="121327"/>
              <a:chOff x="3030" y="2580"/>
              <a:chExt cx="210" cy="105"/>
            </a:xfrm>
          </p:grpSpPr>
          <p:sp>
            <p:nvSpPr>
              <p:cNvPr id="14421" name="Line 4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22" name="Line 4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23" name="Line 4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62" name="Group 47"/>
            <p:cNvGrpSpPr>
              <a:grpSpLocks/>
            </p:cNvGrpSpPr>
            <p:nvPr/>
          </p:nvGrpSpPr>
          <p:grpSpPr bwMode="auto">
            <a:xfrm>
              <a:off x="4166118" y="6267990"/>
              <a:ext cx="228600" cy="121327"/>
              <a:chOff x="3030" y="2580"/>
              <a:chExt cx="210" cy="105"/>
            </a:xfrm>
          </p:grpSpPr>
          <p:sp>
            <p:nvSpPr>
              <p:cNvPr id="14418" name="Line 4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19" name="Line 4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20" name="Line 5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63" name="Group 51"/>
            <p:cNvGrpSpPr>
              <a:grpSpLocks/>
            </p:cNvGrpSpPr>
            <p:nvPr/>
          </p:nvGrpSpPr>
          <p:grpSpPr bwMode="auto">
            <a:xfrm>
              <a:off x="3883089" y="6288789"/>
              <a:ext cx="228600" cy="121327"/>
              <a:chOff x="3030" y="2580"/>
              <a:chExt cx="210" cy="105"/>
            </a:xfrm>
          </p:grpSpPr>
          <p:sp>
            <p:nvSpPr>
              <p:cNvPr id="14415" name="Line 52"/>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16" name="Line 53"/>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17" name="Line 54"/>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4364" name="Oval 55"/>
            <p:cNvSpPr>
              <a:spLocks noChangeArrowheads="1"/>
            </p:cNvSpPr>
            <p:nvPr/>
          </p:nvSpPr>
          <p:spPr bwMode="auto">
            <a:xfrm>
              <a:off x="3223415" y="5542342"/>
              <a:ext cx="412569" cy="389401"/>
            </a:xfrm>
            <a:prstGeom prst="ellipse">
              <a:avLst/>
            </a:prstGeom>
            <a:noFill/>
            <a:ln w="12700">
              <a:solidFill>
                <a:srgbClr val="000000"/>
              </a:solidFill>
              <a:round/>
              <a:headEnd/>
              <a:tailEnd/>
            </a:ln>
          </p:spPr>
          <p:txBody>
            <a:bodyPr/>
            <a:lstStyle/>
            <a:p>
              <a:endParaRPr lang="bg-BG"/>
            </a:p>
          </p:txBody>
        </p:sp>
        <p:sp>
          <p:nvSpPr>
            <p:cNvPr id="14365" name="Line 56"/>
            <p:cNvSpPr>
              <a:spLocks noChangeShapeType="1"/>
            </p:cNvSpPr>
            <p:nvPr/>
          </p:nvSpPr>
          <p:spPr bwMode="auto">
            <a:xfrm flipH="1">
              <a:off x="3050332" y="5852013"/>
              <a:ext cx="195943" cy="381312"/>
            </a:xfrm>
            <a:prstGeom prst="line">
              <a:avLst/>
            </a:prstGeom>
            <a:noFill/>
            <a:ln w="12700">
              <a:solidFill>
                <a:srgbClr val="000000"/>
              </a:solidFill>
              <a:round/>
              <a:headEnd/>
              <a:tailEnd/>
            </a:ln>
          </p:spPr>
          <p:txBody>
            <a:bodyPr/>
            <a:lstStyle/>
            <a:p>
              <a:endParaRPr lang="bg-BG"/>
            </a:p>
          </p:txBody>
        </p:sp>
        <p:sp>
          <p:nvSpPr>
            <p:cNvPr id="14366" name="Line 57"/>
            <p:cNvSpPr>
              <a:spLocks noChangeShapeType="1"/>
            </p:cNvSpPr>
            <p:nvPr/>
          </p:nvSpPr>
          <p:spPr bwMode="auto">
            <a:xfrm>
              <a:off x="3398675" y="5932898"/>
              <a:ext cx="0" cy="277318"/>
            </a:xfrm>
            <a:prstGeom prst="line">
              <a:avLst/>
            </a:prstGeom>
            <a:noFill/>
            <a:ln w="12700">
              <a:solidFill>
                <a:srgbClr val="000000"/>
              </a:solidFill>
              <a:round/>
              <a:headEnd/>
              <a:tailEnd/>
            </a:ln>
          </p:spPr>
          <p:txBody>
            <a:bodyPr/>
            <a:lstStyle/>
            <a:p>
              <a:endParaRPr lang="bg-BG"/>
            </a:p>
          </p:txBody>
        </p:sp>
        <p:sp>
          <p:nvSpPr>
            <p:cNvPr id="14367" name="Line 58"/>
            <p:cNvSpPr>
              <a:spLocks noChangeShapeType="1"/>
            </p:cNvSpPr>
            <p:nvPr/>
          </p:nvSpPr>
          <p:spPr bwMode="auto">
            <a:xfrm>
              <a:off x="3556518" y="5898233"/>
              <a:ext cx="97971" cy="329315"/>
            </a:xfrm>
            <a:prstGeom prst="line">
              <a:avLst/>
            </a:prstGeom>
            <a:noFill/>
            <a:ln w="12700">
              <a:solidFill>
                <a:srgbClr val="000000"/>
              </a:solidFill>
              <a:round/>
              <a:headEnd/>
              <a:tailEnd/>
            </a:ln>
          </p:spPr>
          <p:txBody>
            <a:bodyPr/>
            <a:lstStyle/>
            <a:p>
              <a:endParaRPr lang="bg-BG"/>
            </a:p>
          </p:txBody>
        </p:sp>
        <p:grpSp>
          <p:nvGrpSpPr>
            <p:cNvPr id="14368" name="Group 59"/>
            <p:cNvGrpSpPr>
              <a:grpSpLocks/>
            </p:cNvGrpSpPr>
            <p:nvPr/>
          </p:nvGrpSpPr>
          <p:grpSpPr bwMode="auto">
            <a:xfrm>
              <a:off x="3540189" y="6244881"/>
              <a:ext cx="228600" cy="121327"/>
              <a:chOff x="3030" y="2580"/>
              <a:chExt cx="210" cy="105"/>
            </a:xfrm>
          </p:grpSpPr>
          <p:sp>
            <p:nvSpPr>
              <p:cNvPr id="14412" name="Line 6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13" name="Line 6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14" name="Line 6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69" name="Group 63"/>
            <p:cNvGrpSpPr>
              <a:grpSpLocks/>
            </p:cNvGrpSpPr>
            <p:nvPr/>
          </p:nvGrpSpPr>
          <p:grpSpPr bwMode="auto">
            <a:xfrm>
              <a:off x="3262603" y="6227548"/>
              <a:ext cx="228600" cy="121327"/>
              <a:chOff x="3030" y="2580"/>
              <a:chExt cx="210" cy="105"/>
            </a:xfrm>
          </p:grpSpPr>
          <p:sp>
            <p:nvSpPr>
              <p:cNvPr id="14409" name="Line 6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10" name="Line 6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11" name="Line 6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70" name="Group 67"/>
            <p:cNvGrpSpPr>
              <a:grpSpLocks/>
            </p:cNvGrpSpPr>
            <p:nvPr/>
          </p:nvGrpSpPr>
          <p:grpSpPr bwMode="auto">
            <a:xfrm>
              <a:off x="2919703" y="6256435"/>
              <a:ext cx="228600" cy="121327"/>
              <a:chOff x="3030" y="2580"/>
              <a:chExt cx="210" cy="105"/>
            </a:xfrm>
          </p:grpSpPr>
          <p:sp>
            <p:nvSpPr>
              <p:cNvPr id="14406" name="Line 6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07" name="Line 6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08" name="Line 7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4371" name="Line 71"/>
            <p:cNvSpPr>
              <a:spLocks noChangeShapeType="1"/>
            </p:cNvSpPr>
            <p:nvPr/>
          </p:nvSpPr>
          <p:spPr bwMode="auto">
            <a:xfrm flipH="1">
              <a:off x="3561961" y="5020059"/>
              <a:ext cx="555171" cy="554636"/>
            </a:xfrm>
            <a:prstGeom prst="line">
              <a:avLst/>
            </a:prstGeom>
            <a:noFill/>
            <a:ln w="12700">
              <a:solidFill>
                <a:srgbClr val="000000"/>
              </a:solidFill>
              <a:round/>
              <a:headEnd/>
              <a:tailEnd/>
            </a:ln>
          </p:spPr>
          <p:txBody>
            <a:bodyPr/>
            <a:lstStyle/>
            <a:p>
              <a:endParaRPr lang="bg-BG"/>
            </a:p>
          </p:txBody>
        </p:sp>
        <p:sp>
          <p:nvSpPr>
            <p:cNvPr id="14372" name="Line 72"/>
            <p:cNvSpPr>
              <a:spLocks noChangeShapeType="1"/>
            </p:cNvSpPr>
            <p:nvPr/>
          </p:nvSpPr>
          <p:spPr bwMode="auto">
            <a:xfrm>
              <a:off x="4481803" y="5008504"/>
              <a:ext cx="734786" cy="589301"/>
            </a:xfrm>
            <a:prstGeom prst="line">
              <a:avLst/>
            </a:prstGeom>
            <a:noFill/>
            <a:ln w="12700">
              <a:solidFill>
                <a:srgbClr val="000000"/>
              </a:solidFill>
              <a:round/>
              <a:headEnd/>
              <a:tailEnd/>
            </a:ln>
          </p:spPr>
          <p:txBody>
            <a:bodyPr/>
            <a:lstStyle/>
            <a:p>
              <a:endParaRPr lang="bg-BG"/>
            </a:p>
          </p:txBody>
        </p:sp>
        <p:sp>
          <p:nvSpPr>
            <p:cNvPr id="14373" name="Line 73"/>
            <p:cNvSpPr>
              <a:spLocks noChangeShapeType="1"/>
            </p:cNvSpPr>
            <p:nvPr/>
          </p:nvSpPr>
          <p:spPr bwMode="auto">
            <a:xfrm flipH="1">
              <a:off x="3997389" y="5944453"/>
              <a:ext cx="195943" cy="329315"/>
            </a:xfrm>
            <a:prstGeom prst="line">
              <a:avLst/>
            </a:prstGeom>
            <a:noFill/>
            <a:ln w="12700">
              <a:solidFill>
                <a:srgbClr val="000000"/>
              </a:solidFill>
              <a:round/>
              <a:headEnd/>
              <a:tailEnd/>
            </a:ln>
          </p:spPr>
          <p:txBody>
            <a:bodyPr/>
            <a:lstStyle/>
            <a:p>
              <a:endParaRPr lang="bg-BG"/>
            </a:p>
          </p:txBody>
        </p:sp>
        <p:sp>
          <p:nvSpPr>
            <p:cNvPr id="14374" name="Line 74"/>
            <p:cNvSpPr>
              <a:spLocks noChangeShapeType="1"/>
            </p:cNvSpPr>
            <p:nvPr/>
          </p:nvSpPr>
          <p:spPr bwMode="auto">
            <a:xfrm>
              <a:off x="4291303" y="5961785"/>
              <a:ext cx="0" cy="294650"/>
            </a:xfrm>
            <a:prstGeom prst="line">
              <a:avLst/>
            </a:prstGeom>
            <a:noFill/>
            <a:ln w="12700">
              <a:solidFill>
                <a:srgbClr val="000000"/>
              </a:solidFill>
              <a:round/>
              <a:headEnd/>
              <a:tailEnd/>
            </a:ln>
          </p:spPr>
          <p:txBody>
            <a:bodyPr/>
            <a:lstStyle/>
            <a:p>
              <a:endParaRPr lang="bg-BG"/>
            </a:p>
          </p:txBody>
        </p:sp>
        <p:sp>
          <p:nvSpPr>
            <p:cNvPr id="14375" name="Line 75"/>
            <p:cNvSpPr>
              <a:spLocks noChangeShapeType="1"/>
            </p:cNvSpPr>
            <p:nvPr/>
          </p:nvSpPr>
          <p:spPr bwMode="auto">
            <a:xfrm>
              <a:off x="4432818" y="5909788"/>
              <a:ext cx="244929" cy="294650"/>
            </a:xfrm>
            <a:prstGeom prst="line">
              <a:avLst/>
            </a:prstGeom>
            <a:noFill/>
            <a:ln w="12700">
              <a:solidFill>
                <a:srgbClr val="000000"/>
              </a:solidFill>
              <a:round/>
              <a:headEnd/>
              <a:tailEnd/>
            </a:ln>
          </p:spPr>
          <p:txBody>
            <a:bodyPr/>
            <a:lstStyle/>
            <a:p>
              <a:endParaRPr lang="bg-BG"/>
            </a:p>
          </p:txBody>
        </p:sp>
        <p:sp>
          <p:nvSpPr>
            <p:cNvPr id="14376" name="Line 76"/>
            <p:cNvSpPr>
              <a:spLocks noChangeShapeType="1"/>
            </p:cNvSpPr>
            <p:nvPr/>
          </p:nvSpPr>
          <p:spPr bwMode="auto">
            <a:xfrm flipH="1">
              <a:off x="5020646" y="5875123"/>
              <a:ext cx="146957" cy="259986"/>
            </a:xfrm>
            <a:prstGeom prst="line">
              <a:avLst/>
            </a:prstGeom>
            <a:noFill/>
            <a:ln w="12700">
              <a:solidFill>
                <a:srgbClr val="000000"/>
              </a:solidFill>
              <a:round/>
              <a:headEnd/>
              <a:tailEnd/>
            </a:ln>
          </p:spPr>
          <p:txBody>
            <a:bodyPr/>
            <a:lstStyle/>
            <a:p>
              <a:endParaRPr lang="bg-BG"/>
            </a:p>
          </p:txBody>
        </p:sp>
        <p:sp>
          <p:nvSpPr>
            <p:cNvPr id="14377" name="Line 77"/>
            <p:cNvSpPr>
              <a:spLocks noChangeShapeType="1"/>
            </p:cNvSpPr>
            <p:nvPr/>
          </p:nvSpPr>
          <p:spPr bwMode="auto">
            <a:xfrm>
              <a:off x="5320003" y="5979117"/>
              <a:ext cx="0" cy="346648"/>
            </a:xfrm>
            <a:prstGeom prst="line">
              <a:avLst/>
            </a:prstGeom>
            <a:noFill/>
            <a:ln w="12700">
              <a:solidFill>
                <a:srgbClr val="000000"/>
              </a:solidFill>
              <a:round/>
              <a:headEnd/>
              <a:tailEnd/>
            </a:ln>
          </p:spPr>
          <p:txBody>
            <a:bodyPr/>
            <a:lstStyle/>
            <a:p>
              <a:endParaRPr lang="bg-BG"/>
            </a:p>
          </p:txBody>
        </p:sp>
        <p:sp>
          <p:nvSpPr>
            <p:cNvPr id="14378" name="Line 78"/>
            <p:cNvSpPr>
              <a:spLocks noChangeShapeType="1"/>
            </p:cNvSpPr>
            <p:nvPr/>
          </p:nvSpPr>
          <p:spPr bwMode="auto">
            <a:xfrm>
              <a:off x="5466961" y="5892456"/>
              <a:ext cx="228600" cy="242653"/>
            </a:xfrm>
            <a:prstGeom prst="line">
              <a:avLst/>
            </a:prstGeom>
            <a:noFill/>
            <a:ln w="12700">
              <a:solidFill>
                <a:srgbClr val="000000"/>
              </a:solidFill>
              <a:round/>
              <a:headEnd/>
              <a:tailEnd/>
            </a:ln>
          </p:spPr>
          <p:txBody>
            <a:bodyPr/>
            <a:lstStyle/>
            <a:p>
              <a:endParaRPr lang="bg-BG"/>
            </a:p>
          </p:txBody>
        </p:sp>
        <p:grpSp>
          <p:nvGrpSpPr>
            <p:cNvPr id="14379" name="Group 79"/>
            <p:cNvGrpSpPr>
              <a:grpSpLocks/>
            </p:cNvGrpSpPr>
            <p:nvPr/>
          </p:nvGrpSpPr>
          <p:grpSpPr bwMode="auto">
            <a:xfrm>
              <a:off x="5586703" y="6140886"/>
              <a:ext cx="228600" cy="121327"/>
              <a:chOff x="3030" y="2580"/>
              <a:chExt cx="210" cy="105"/>
            </a:xfrm>
          </p:grpSpPr>
          <p:sp>
            <p:nvSpPr>
              <p:cNvPr id="14403" name="Line 8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04" name="Line 8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05" name="Line 8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80" name="Group 83"/>
            <p:cNvGrpSpPr>
              <a:grpSpLocks/>
            </p:cNvGrpSpPr>
            <p:nvPr/>
          </p:nvGrpSpPr>
          <p:grpSpPr bwMode="auto">
            <a:xfrm>
              <a:off x="5200261" y="6343097"/>
              <a:ext cx="228600" cy="121327"/>
              <a:chOff x="3030" y="2580"/>
              <a:chExt cx="210" cy="105"/>
            </a:xfrm>
          </p:grpSpPr>
          <p:sp>
            <p:nvSpPr>
              <p:cNvPr id="14400" name="Line 8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401" name="Line 8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402" name="Line 8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4381" name="Group 87"/>
            <p:cNvGrpSpPr>
              <a:grpSpLocks/>
            </p:cNvGrpSpPr>
            <p:nvPr/>
          </p:nvGrpSpPr>
          <p:grpSpPr bwMode="auto">
            <a:xfrm>
              <a:off x="4911789" y="6152441"/>
              <a:ext cx="228600" cy="121327"/>
              <a:chOff x="3030" y="2580"/>
              <a:chExt cx="210" cy="105"/>
            </a:xfrm>
          </p:grpSpPr>
          <p:sp>
            <p:nvSpPr>
              <p:cNvPr id="14397" name="Line 8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4398" name="Line 8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4399" name="Line 9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4382" name="Line 91"/>
            <p:cNvSpPr>
              <a:spLocks noChangeShapeType="1"/>
            </p:cNvSpPr>
            <p:nvPr/>
          </p:nvSpPr>
          <p:spPr bwMode="auto">
            <a:xfrm>
              <a:off x="5015203" y="4396094"/>
              <a:ext cx="0" cy="450642"/>
            </a:xfrm>
            <a:prstGeom prst="line">
              <a:avLst/>
            </a:prstGeom>
            <a:noFill/>
            <a:ln w="12700">
              <a:solidFill>
                <a:srgbClr val="000000"/>
              </a:solidFill>
              <a:round/>
              <a:headEnd/>
              <a:tailEnd/>
            </a:ln>
          </p:spPr>
          <p:txBody>
            <a:bodyPr/>
            <a:lstStyle/>
            <a:p>
              <a:endParaRPr lang="bg-BG"/>
            </a:p>
          </p:txBody>
        </p:sp>
        <p:sp>
          <p:nvSpPr>
            <p:cNvPr id="14383" name="Line 92"/>
            <p:cNvSpPr>
              <a:spLocks noChangeShapeType="1"/>
            </p:cNvSpPr>
            <p:nvPr/>
          </p:nvSpPr>
          <p:spPr bwMode="auto">
            <a:xfrm>
              <a:off x="4454589" y="3654268"/>
              <a:ext cx="555171" cy="0"/>
            </a:xfrm>
            <a:prstGeom prst="line">
              <a:avLst/>
            </a:prstGeom>
            <a:noFill/>
            <a:ln w="12700">
              <a:solidFill>
                <a:srgbClr val="000000"/>
              </a:solidFill>
              <a:round/>
              <a:headEnd/>
              <a:tailEnd/>
            </a:ln>
          </p:spPr>
          <p:txBody>
            <a:bodyPr/>
            <a:lstStyle/>
            <a:p>
              <a:endParaRPr lang="bg-BG"/>
            </a:p>
          </p:txBody>
        </p:sp>
        <p:sp>
          <p:nvSpPr>
            <p:cNvPr id="14384" name="Line 93"/>
            <p:cNvSpPr>
              <a:spLocks noChangeShapeType="1"/>
            </p:cNvSpPr>
            <p:nvPr/>
          </p:nvSpPr>
          <p:spPr bwMode="auto">
            <a:xfrm>
              <a:off x="5009761" y="3645024"/>
              <a:ext cx="0" cy="346648"/>
            </a:xfrm>
            <a:prstGeom prst="line">
              <a:avLst/>
            </a:prstGeom>
            <a:noFill/>
            <a:ln w="12700">
              <a:solidFill>
                <a:srgbClr val="000000"/>
              </a:solidFill>
              <a:round/>
              <a:headEnd/>
              <a:tailEnd type="triangle" w="sm" len="med"/>
            </a:ln>
          </p:spPr>
          <p:txBody>
            <a:bodyPr/>
            <a:lstStyle/>
            <a:p>
              <a:endParaRPr lang="bg-BG"/>
            </a:p>
          </p:txBody>
        </p:sp>
        <p:sp>
          <p:nvSpPr>
            <p:cNvPr id="14385" name="Text Box 94"/>
            <p:cNvSpPr txBox="1">
              <a:spLocks noChangeArrowheads="1"/>
            </p:cNvSpPr>
            <p:nvPr/>
          </p:nvSpPr>
          <p:spPr bwMode="auto">
            <a:xfrm>
              <a:off x="1259632" y="3760573"/>
              <a:ext cx="1175657" cy="415977"/>
            </a:xfrm>
            <a:prstGeom prst="rect">
              <a:avLst/>
            </a:prstGeom>
            <a:noFill/>
            <a:ln w="9525">
              <a:noFill/>
              <a:miter lim="800000"/>
              <a:headEnd/>
              <a:tailEnd/>
            </a:ln>
          </p:spPr>
          <p:txBody>
            <a:bodyPr/>
            <a:lstStyle/>
            <a:p>
              <a:r>
                <a:rPr lang="bg-BG" sz="2000" b="1">
                  <a:latin typeface="Courier New" pitchFamily="49" charset="0"/>
                </a:rPr>
                <a:t>Ниво 0</a:t>
              </a:r>
              <a:endParaRPr lang="bg-BG" sz="1000">
                <a:latin typeface="Courier New" pitchFamily="49" charset="0"/>
              </a:endParaRPr>
            </a:p>
          </p:txBody>
        </p:sp>
        <p:sp>
          <p:nvSpPr>
            <p:cNvPr id="14386" name="Text Box 95"/>
            <p:cNvSpPr txBox="1">
              <a:spLocks noChangeArrowheads="1"/>
            </p:cNvSpPr>
            <p:nvPr/>
          </p:nvSpPr>
          <p:spPr bwMode="auto">
            <a:xfrm>
              <a:off x="1259632" y="4592527"/>
              <a:ext cx="1175657" cy="415977"/>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4387" name="Text Box 96"/>
            <p:cNvSpPr txBox="1">
              <a:spLocks noChangeArrowheads="1"/>
            </p:cNvSpPr>
            <p:nvPr/>
          </p:nvSpPr>
          <p:spPr bwMode="auto">
            <a:xfrm>
              <a:off x="1259632" y="5424481"/>
              <a:ext cx="1175657" cy="415977"/>
            </a:xfrm>
            <a:prstGeom prst="rect">
              <a:avLst/>
            </a:prstGeom>
            <a:noFill/>
            <a:ln w="9525">
              <a:noFill/>
              <a:miter lim="800000"/>
              <a:headEnd/>
              <a:tailEnd/>
            </a:ln>
          </p:spPr>
          <p:txBody>
            <a:bodyPr/>
            <a:lstStyle/>
            <a:p>
              <a:r>
                <a:rPr lang="bg-BG" sz="2000" b="1">
                  <a:latin typeface="Courier New" pitchFamily="49" charset="0"/>
                </a:rPr>
                <a:t>Ниво 2</a:t>
              </a:r>
              <a:endParaRPr lang="bg-BG" sz="1000">
                <a:latin typeface="Courier New" pitchFamily="49" charset="0"/>
              </a:endParaRPr>
            </a:p>
          </p:txBody>
        </p:sp>
        <p:sp>
          <p:nvSpPr>
            <p:cNvPr id="14388" name="Text Box 97"/>
            <p:cNvSpPr txBox="1">
              <a:spLocks noChangeArrowheads="1"/>
            </p:cNvSpPr>
            <p:nvPr/>
          </p:nvSpPr>
          <p:spPr bwMode="auto">
            <a:xfrm>
              <a:off x="3219061" y="3760573"/>
              <a:ext cx="1175657" cy="415977"/>
            </a:xfrm>
            <a:prstGeom prst="rect">
              <a:avLst/>
            </a:prstGeom>
            <a:noFill/>
            <a:ln w="9525">
              <a:noFill/>
              <a:miter lim="800000"/>
              <a:headEnd/>
              <a:tailEnd/>
            </a:ln>
          </p:spPr>
          <p:txBody>
            <a:bodyPr/>
            <a:lstStyle/>
            <a:p>
              <a:r>
                <a:rPr lang="bg-BG" sz="1600" b="1">
                  <a:latin typeface="Courier New" pitchFamily="49" charset="0"/>
                </a:rPr>
                <a:t>Корен</a:t>
              </a:r>
              <a:endParaRPr lang="bg-BG" sz="1000">
                <a:latin typeface="Courier New" pitchFamily="49" charset="0"/>
              </a:endParaRPr>
            </a:p>
          </p:txBody>
        </p:sp>
        <p:sp>
          <p:nvSpPr>
            <p:cNvPr id="14389" name="Text Box 98"/>
            <p:cNvSpPr txBox="1">
              <a:spLocks noChangeArrowheads="1"/>
            </p:cNvSpPr>
            <p:nvPr/>
          </p:nvSpPr>
          <p:spPr bwMode="auto">
            <a:xfrm>
              <a:off x="2435289" y="4384539"/>
              <a:ext cx="2351314" cy="415977"/>
            </a:xfrm>
            <a:prstGeom prst="rect">
              <a:avLst/>
            </a:prstGeom>
            <a:noFill/>
            <a:ln w="9525">
              <a:noFill/>
              <a:miter lim="800000"/>
              <a:headEnd/>
              <a:tailEnd/>
            </a:ln>
          </p:spPr>
          <p:txBody>
            <a:bodyPr/>
            <a:lstStyle/>
            <a:p>
              <a:r>
                <a:rPr lang="bg-BG" sz="1600" b="1">
                  <a:latin typeface="Courier New" pitchFamily="49" charset="0"/>
                </a:rPr>
                <a:t>Вътрешен възел</a:t>
              </a:r>
            </a:p>
          </p:txBody>
        </p:sp>
        <p:sp>
          <p:nvSpPr>
            <p:cNvPr id="14390" name="Text Box 99"/>
            <p:cNvSpPr txBox="1">
              <a:spLocks noChangeArrowheads="1"/>
            </p:cNvSpPr>
            <p:nvPr/>
          </p:nvSpPr>
          <p:spPr bwMode="auto">
            <a:xfrm>
              <a:off x="2119603" y="5008504"/>
              <a:ext cx="1567543" cy="415977"/>
            </a:xfrm>
            <a:prstGeom prst="rect">
              <a:avLst/>
            </a:prstGeom>
            <a:noFill/>
            <a:ln w="9525">
              <a:noFill/>
              <a:miter lim="800000"/>
              <a:headEnd/>
              <a:tailEnd/>
            </a:ln>
          </p:spPr>
          <p:txBody>
            <a:bodyPr/>
            <a:lstStyle/>
            <a:p>
              <a:r>
                <a:rPr lang="bg-BG" sz="1600" b="1">
                  <a:latin typeface="Courier New" pitchFamily="49" charset="0"/>
                </a:rPr>
                <a:t>  Листо или</a:t>
              </a:r>
              <a:endParaRPr lang="bg-BG" sz="1600">
                <a:latin typeface="Courier New" pitchFamily="49" charset="0"/>
              </a:endParaRPr>
            </a:p>
          </p:txBody>
        </p:sp>
        <p:sp>
          <p:nvSpPr>
            <p:cNvPr id="14391" name="Text Box 100"/>
            <p:cNvSpPr txBox="1">
              <a:spLocks noChangeArrowheads="1"/>
            </p:cNvSpPr>
            <p:nvPr/>
          </p:nvSpPr>
          <p:spPr bwMode="auto">
            <a:xfrm>
              <a:off x="5788089" y="4349874"/>
              <a:ext cx="2547257" cy="415977"/>
            </a:xfrm>
            <a:prstGeom prst="rect">
              <a:avLst/>
            </a:prstGeom>
            <a:noFill/>
            <a:ln w="9525">
              <a:noFill/>
              <a:miter lim="800000"/>
              <a:headEnd/>
              <a:tailEnd/>
            </a:ln>
          </p:spPr>
          <p:txBody>
            <a:bodyPr/>
            <a:lstStyle/>
            <a:p>
              <a:r>
                <a:rPr lang="bg-BG" sz="1600" b="1">
                  <a:latin typeface="Courier New" pitchFamily="49" charset="0"/>
                </a:rPr>
                <a:t>Родител/наследник</a:t>
              </a:r>
              <a:endParaRPr lang="bg-BG" sz="1000">
                <a:latin typeface="Courier New" pitchFamily="49" charset="0"/>
              </a:endParaRPr>
            </a:p>
          </p:txBody>
        </p:sp>
        <p:sp>
          <p:nvSpPr>
            <p:cNvPr id="14392" name="Text Box 101"/>
            <p:cNvSpPr txBox="1">
              <a:spLocks noChangeArrowheads="1"/>
            </p:cNvSpPr>
            <p:nvPr/>
          </p:nvSpPr>
          <p:spPr bwMode="auto">
            <a:xfrm>
              <a:off x="2315546" y="5424481"/>
              <a:ext cx="1175657" cy="415977"/>
            </a:xfrm>
            <a:prstGeom prst="rect">
              <a:avLst/>
            </a:prstGeom>
            <a:noFill/>
            <a:ln w="9525">
              <a:noFill/>
              <a:miter lim="800000"/>
              <a:headEnd/>
              <a:tailEnd/>
            </a:ln>
          </p:spPr>
          <p:txBody>
            <a:bodyPr/>
            <a:lstStyle/>
            <a:p>
              <a:r>
                <a:rPr lang="bg-BG" sz="1600" b="1">
                  <a:latin typeface="Courier New" pitchFamily="49" charset="0"/>
                </a:rPr>
                <a:t>  възел</a:t>
              </a:r>
              <a:endParaRPr lang="bg-BG" sz="1000">
                <a:latin typeface="Courier New" pitchFamily="49" charset="0"/>
              </a:endParaRPr>
            </a:p>
          </p:txBody>
        </p:sp>
        <p:sp>
          <p:nvSpPr>
            <p:cNvPr id="14393" name="Text Box 102"/>
            <p:cNvSpPr txBox="1">
              <a:spLocks noChangeArrowheads="1"/>
            </p:cNvSpPr>
            <p:nvPr/>
          </p:nvSpPr>
          <p:spPr bwMode="auto">
            <a:xfrm>
              <a:off x="2043403" y="5216493"/>
              <a:ext cx="1763486" cy="415977"/>
            </a:xfrm>
            <a:prstGeom prst="rect">
              <a:avLst/>
            </a:prstGeom>
            <a:noFill/>
            <a:ln w="9525">
              <a:noFill/>
              <a:miter lim="800000"/>
              <a:headEnd/>
              <a:tailEnd/>
            </a:ln>
          </p:spPr>
          <p:txBody>
            <a:bodyPr/>
            <a:lstStyle/>
            <a:p>
              <a:r>
                <a:rPr lang="bg-BG" sz="1600" b="1">
                  <a:latin typeface="Courier New" pitchFamily="49" charset="0"/>
                </a:rPr>
                <a:t>  терминален</a:t>
              </a:r>
              <a:endParaRPr lang="bg-BG" sz="1600">
                <a:latin typeface="Courier New" pitchFamily="49" charset="0"/>
              </a:endParaRPr>
            </a:p>
          </p:txBody>
        </p:sp>
        <p:sp>
          <p:nvSpPr>
            <p:cNvPr id="14394" name="Text Box 103"/>
            <p:cNvSpPr txBox="1">
              <a:spLocks noChangeArrowheads="1"/>
            </p:cNvSpPr>
            <p:nvPr/>
          </p:nvSpPr>
          <p:spPr bwMode="auto">
            <a:xfrm>
              <a:off x="6833118" y="4996949"/>
              <a:ext cx="1959429" cy="415977"/>
            </a:xfrm>
            <a:prstGeom prst="rect">
              <a:avLst/>
            </a:prstGeom>
            <a:noFill/>
            <a:ln w="9525">
              <a:noFill/>
              <a:miter lim="800000"/>
              <a:headEnd/>
              <a:tailEnd/>
            </a:ln>
          </p:spPr>
          <p:txBody>
            <a:bodyPr/>
            <a:lstStyle/>
            <a:p>
              <a:r>
                <a:rPr lang="bg-BG" sz="1600" b="1">
                  <a:latin typeface="Courier New" pitchFamily="49" charset="0"/>
                </a:rPr>
                <a:t>Външен възел</a:t>
              </a:r>
            </a:p>
          </p:txBody>
        </p:sp>
        <p:sp>
          <p:nvSpPr>
            <p:cNvPr id="14395" name="Text Box 104"/>
            <p:cNvSpPr txBox="1">
              <a:spLocks noChangeArrowheads="1"/>
            </p:cNvSpPr>
            <p:nvPr/>
          </p:nvSpPr>
          <p:spPr bwMode="auto">
            <a:xfrm>
              <a:off x="6789575" y="5251158"/>
              <a:ext cx="2090057" cy="1039943"/>
            </a:xfrm>
            <a:prstGeom prst="rect">
              <a:avLst/>
            </a:prstGeom>
            <a:noFill/>
            <a:ln w="9525">
              <a:noFill/>
              <a:miter lim="800000"/>
              <a:headEnd/>
              <a:tailEnd/>
            </a:ln>
          </p:spPr>
          <p:txBody>
            <a:bodyPr/>
            <a:lstStyle/>
            <a:p>
              <a:pPr algn="ctr"/>
              <a:r>
                <a:rPr lang="bg-BG" sz="1600" b="1">
                  <a:latin typeface="Courier New" pitchFamily="49" charset="0"/>
                </a:rPr>
                <a:t>Указателят</a:t>
              </a:r>
            </a:p>
            <a:p>
              <a:pPr algn="ctr"/>
              <a:r>
                <a:rPr lang="bg-BG" sz="1600" b="1">
                  <a:latin typeface="Courier New" pitchFamily="49" charset="0"/>
                </a:rPr>
                <a:t>към него има стойност </a:t>
              </a:r>
              <a:r>
                <a:rPr lang="en-US" sz="1600" b="1">
                  <a:latin typeface="Courier New" pitchFamily="49" charset="0"/>
                </a:rPr>
                <a:t>NULL</a:t>
              </a:r>
            </a:p>
          </p:txBody>
        </p:sp>
        <p:sp>
          <p:nvSpPr>
            <p:cNvPr id="14396" name="Text Box 105"/>
            <p:cNvSpPr txBox="1">
              <a:spLocks noChangeArrowheads="1"/>
            </p:cNvSpPr>
            <p:nvPr/>
          </p:nvSpPr>
          <p:spPr bwMode="auto">
            <a:xfrm>
              <a:off x="1259632" y="6021288"/>
              <a:ext cx="1219200" cy="396875"/>
            </a:xfrm>
            <a:prstGeom prst="rect">
              <a:avLst/>
            </a:prstGeom>
            <a:noFill/>
            <a:ln w="9525">
              <a:noFill/>
              <a:miter lim="800000"/>
              <a:headEnd/>
              <a:tailEnd/>
            </a:ln>
          </p:spPr>
          <p:txBody>
            <a:bodyPr>
              <a:spAutoFit/>
            </a:bodyPr>
            <a:lstStyle/>
            <a:p>
              <a:pPr>
                <a:spcBef>
                  <a:spcPct val="50000"/>
                </a:spcBef>
              </a:pPr>
              <a:r>
                <a:rPr lang="bg-BG" sz="2000" b="1">
                  <a:latin typeface="Courier New" pitchFamily="49" charset="0"/>
                </a:rPr>
                <a:t>Ниво 3</a:t>
              </a:r>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042988" y="620713"/>
            <a:ext cx="8001000" cy="5486400"/>
          </a:xfrm>
        </p:spPr>
        <p:txBody>
          <a:bodyPr/>
          <a:lstStyle/>
          <a:p>
            <a:pPr eaLnBrk="1" fontAlgn="auto" hangingPunct="1">
              <a:spcAft>
                <a:spcPts val="0"/>
              </a:spcAft>
              <a:defRPr/>
            </a:pPr>
            <a:r>
              <a:rPr lang="bg-BG" sz="2800">
                <a:solidFill>
                  <a:schemeClr val="tx2">
                    <a:satMod val="130000"/>
                  </a:schemeClr>
                </a:solidFill>
              </a:rPr>
              <a:t>			</a:t>
            </a:r>
            <a:r>
              <a:rPr lang="bg-BG" sz="2800" u="sng">
                <a:solidFill>
                  <a:schemeClr val="tx2">
                    <a:satMod val="130000"/>
                  </a:schemeClr>
                </a:solidFill>
              </a:rPr>
              <a:t>Терминология:</a:t>
            </a:r>
            <a:r>
              <a:rPr lang="bg-BG" sz="2800">
                <a:solidFill>
                  <a:schemeClr val="tx2">
                    <a:satMod val="130000"/>
                  </a:schemeClr>
                </a:solidFill>
              </a:rPr>
              <a:t/>
            </a:r>
            <a:br>
              <a:rPr lang="bg-BG" sz="2800">
                <a:solidFill>
                  <a:schemeClr val="tx2">
                    <a:satMod val="130000"/>
                  </a:schemeClr>
                </a:solidFill>
              </a:rPr>
            </a:br>
            <a:r>
              <a:rPr lang="bg-BG" sz="1000">
                <a:solidFill>
                  <a:schemeClr val="tx2">
                    <a:satMod val="130000"/>
                  </a:schemeClr>
                </a:solidFill>
              </a:rPr>
              <a:t/>
            </a:r>
            <a:br>
              <a:rPr lang="bg-BG" sz="1000">
                <a:solidFill>
                  <a:schemeClr val="tx2">
                    <a:satMod val="130000"/>
                  </a:schemeClr>
                </a:solidFill>
              </a:rPr>
            </a:br>
            <a:r>
              <a:rPr lang="bg-BG" sz="2800">
                <a:solidFill>
                  <a:schemeClr val="tx2">
                    <a:satMod val="130000"/>
                  </a:schemeClr>
                </a:solidFill>
              </a:rPr>
              <a:t>Връх (</a:t>
            </a:r>
            <a:r>
              <a:rPr lang="en-US" sz="2800">
                <a:solidFill>
                  <a:schemeClr val="tx2">
                    <a:satMod val="130000"/>
                  </a:schemeClr>
                </a:solidFill>
              </a:rPr>
              <a:t>vertex)</a:t>
            </a:r>
            <a:br>
              <a:rPr lang="en-US" sz="2800">
                <a:solidFill>
                  <a:schemeClr val="tx2">
                    <a:satMod val="130000"/>
                  </a:schemeClr>
                </a:solidFill>
              </a:rPr>
            </a:br>
            <a:r>
              <a:rPr lang="bg-BG" sz="2800">
                <a:solidFill>
                  <a:schemeClr val="tx2">
                    <a:satMod val="130000"/>
                  </a:schemeClr>
                </a:solidFill>
              </a:rPr>
              <a:t>Възел </a:t>
            </a:r>
            <a:r>
              <a:rPr lang="en-US" sz="2800">
                <a:solidFill>
                  <a:schemeClr val="tx2">
                    <a:satMod val="130000"/>
                  </a:schemeClr>
                </a:solidFill>
              </a:rPr>
              <a:t>(node)</a:t>
            </a:r>
            <a:br>
              <a:rPr lang="en-US" sz="2800">
                <a:solidFill>
                  <a:schemeClr val="tx2">
                    <a:satMod val="130000"/>
                  </a:schemeClr>
                </a:solidFill>
              </a:rPr>
            </a:br>
            <a:r>
              <a:rPr lang="bg-BG" sz="2800">
                <a:solidFill>
                  <a:schemeClr val="tx2">
                    <a:satMod val="130000"/>
                  </a:schemeClr>
                </a:solidFill>
              </a:rPr>
              <a:t>Ребро </a:t>
            </a:r>
            <a:r>
              <a:rPr lang="en-US" sz="2800">
                <a:solidFill>
                  <a:schemeClr val="tx2">
                    <a:satMod val="130000"/>
                  </a:schemeClr>
                </a:solidFill>
              </a:rPr>
              <a:t>(edge)</a:t>
            </a:r>
            <a:br>
              <a:rPr lang="en-US" sz="2800">
                <a:solidFill>
                  <a:schemeClr val="tx2">
                    <a:satMod val="130000"/>
                  </a:schemeClr>
                </a:solidFill>
              </a:rPr>
            </a:br>
            <a:r>
              <a:rPr lang="bg-BG" sz="2800">
                <a:solidFill>
                  <a:schemeClr val="tx2">
                    <a:satMod val="130000"/>
                  </a:schemeClr>
                </a:solidFill>
              </a:rPr>
              <a:t>Дъга </a:t>
            </a:r>
            <a:r>
              <a:rPr lang="en-US" sz="2800">
                <a:solidFill>
                  <a:schemeClr val="tx2">
                    <a:satMod val="130000"/>
                  </a:schemeClr>
                </a:solidFill>
              </a:rPr>
              <a:t>(arc)</a:t>
            </a:r>
            <a:br>
              <a:rPr lang="en-US" sz="2800">
                <a:solidFill>
                  <a:schemeClr val="tx2">
                    <a:satMod val="130000"/>
                  </a:schemeClr>
                </a:solidFill>
              </a:rPr>
            </a:br>
            <a:r>
              <a:rPr lang="bg-BG" sz="2800">
                <a:solidFill>
                  <a:schemeClr val="tx2">
                    <a:satMod val="130000"/>
                  </a:schemeClr>
                </a:solidFill>
              </a:rPr>
              <a:t>Път </a:t>
            </a:r>
            <a:r>
              <a:rPr lang="en-US" sz="2800">
                <a:solidFill>
                  <a:schemeClr val="tx2">
                    <a:satMod val="130000"/>
                  </a:schemeClr>
                </a:solidFill>
              </a:rPr>
              <a:t>(path)</a:t>
            </a: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en-US" sz="2800">
                <a:solidFill>
                  <a:schemeClr val="tx2">
                    <a:satMod val="130000"/>
                  </a:schemeClr>
                </a:solidFill>
              </a:rPr>
              <a:t/>
            </a:r>
            <a:br>
              <a:rPr lang="en-US" sz="2800">
                <a:solidFill>
                  <a:schemeClr val="tx2">
                    <a:satMod val="130000"/>
                  </a:schemeClr>
                </a:solidFill>
              </a:rPr>
            </a:br>
            <a:endParaRPr lang="en-US" sz="2800">
              <a:solidFill>
                <a:schemeClr val="tx2">
                  <a:satMod val="130000"/>
                </a:schemeClr>
              </a:solidFill>
            </a:endParaRPr>
          </a:p>
        </p:txBody>
      </p:sp>
      <p:grpSp>
        <p:nvGrpSpPr>
          <p:cNvPr id="15363" name="Group 106"/>
          <p:cNvGrpSpPr>
            <a:grpSpLocks/>
          </p:cNvGrpSpPr>
          <p:nvPr/>
        </p:nvGrpSpPr>
        <p:grpSpPr bwMode="auto">
          <a:xfrm>
            <a:off x="1143000" y="1447800"/>
            <a:ext cx="7772400" cy="4724400"/>
            <a:chOff x="1143000" y="1447800"/>
            <a:chExt cx="7772400" cy="4724400"/>
          </a:xfrm>
        </p:grpSpPr>
        <p:sp>
          <p:nvSpPr>
            <p:cNvPr id="15364" name="Oval 4"/>
            <p:cNvSpPr>
              <a:spLocks noChangeArrowheads="1"/>
            </p:cNvSpPr>
            <p:nvPr/>
          </p:nvSpPr>
          <p:spPr bwMode="auto">
            <a:xfrm>
              <a:off x="4700588" y="3714750"/>
              <a:ext cx="412750" cy="388938"/>
            </a:xfrm>
            <a:prstGeom prst="ellipse">
              <a:avLst/>
            </a:prstGeom>
            <a:noFill/>
            <a:ln w="12700">
              <a:solidFill>
                <a:srgbClr val="000000"/>
              </a:solidFill>
              <a:round/>
              <a:headEnd/>
              <a:tailEnd/>
            </a:ln>
          </p:spPr>
          <p:txBody>
            <a:bodyPr/>
            <a:lstStyle/>
            <a:p>
              <a:endParaRPr lang="bg-BG"/>
            </a:p>
          </p:txBody>
        </p:sp>
        <p:grpSp>
          <p:nvGrpSpPr>
            <p:cNvPr id="15365" name="Group 5"/>
            <p:cNvGrpSpPr>
              <a:grpSpLocks/>
            </p:cNvGrpSpPr>
            <p:nvPr/>
          </p:nvGrpSpPr>
          <p:grpSpPr bwMode="auto">
            <a:xfrm>
              <a:off x="4784725" y="4572000"/>
              <a:ext cx="228600" cy="120650"/>
              <a:chOff x="3030" y="2580"/>
              <a:chExt cx="210" cy="105"/>
            </a:xfrm>
          </p:grpSpPr>
          <p:sp>
            <p:nvSpPr>
              <p:cNvPr id="15463" name="Line 6"/>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64" name="Line 7"/>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65" name="Line 8"/>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5366" name="Oval 9"/>
            <p:cNvSpPr>
              <a:spLocks noChangeArrowheads="1"/>
            </p:cNvSpPr>
            <p:nvPr/>
          </p:nvSpPr>
          <p:spPr bwMode="auto">
            <a:xfrm>
              <a:off x="5813425" y="4424363"/>
              <a:ext cx="412750" cy="406400"/>
            </a:xfrm>
            <a:prstGeom prst="ellipse">
              <a:avLst/>
            </a:prstGeom>
            <a:noFill/>
            <a:ln w="12700">
              <a:solidFill>
                <a:srgbClr val="000000"/>
              </a:solidFill>
              <a:round/>
              <a:headEnd/>
              <a:tailEnd/>
            </a:ln>
          </p:spPr>
          <p:txBody>
            <a:bodyPr/>
            <a:lstStyle/>
            <a:p>
              <a:endParaRPr lang="bg-BG"/>
            </a:p>
          </p:txBody>
        </p:sp>
        <p:sp>
          <p:nvSpPr>
            <p:cNvPr id="15367" name="Oval 10"/>
            <p:cNvSpPr>
              <a:spLocks noChangeArrowheads="1"/>
            </p:cNvSpPr>
            <p:nvPr/>
          </p:nvSpPr>
          <p:spPr bwMode="auto">
            <a:xfrm>
              <a:off x="5969000" y="5230813"/>
              <a:ext cx="412750" cy="388937"/>
            </a:xfrm>
            <a:prstGeom prst="ellipse">
              <a:avLst/>
            </a:prstGeom>
            <a:noFill/>
            <a:ln w="12700">
              <a:solidFill>
                <a:srgbClr val="000000"/>
              </a:solidFill>
              <a:round/>
              <a:headEnd/>
              <a:tailEnd/>
            </a:ln>
          </p:spPr>
          <p:txBody>
            <a:bodyPr/>
            <a:lstStyle/>
            <a:p>
              <a:endParaRPr lang="bg-BG"/>
            </a:p>
          </p:txBody>
        </p:sp>
        <p:sp>
          <p:nvSpPr>
            <p:cNvPr id="15368" name="Line 11"/>
            <p:cNvSpPr>
              <a:spLocks noChangeShapeType="1"/>
            </p:cNvSpPr>
            <p:nvPr/>
          </p:nvSpPr>
          <p:spPr bwMode="auto">
            <a:xfrm>
              <a:off x="6118225" y="4811713"/>
              <a:ext cx="1588" cy="422275"/>
            </a:xfrm>
            <a:prstGeom prst="line">
              <a:avLst/>
            </a:prstGeom>
            <a:noFill/>
            <a:ln w="12700">
              <a:solidFill>
                <a:srgbClr val="000000"/>
              </a:solidFill>
              <a:round/>
              <a:headEnd type="none" w="sm" len="sm"/>
              <a:tailEnd type="none" w="sm" len="sm"/>
            </a:ln>
          </p:spPr>
          <p:txBody>
            <a:bodyPr/>
            <a:lstStyle/>
            <a:p>
              <a:endParaRPr lang="bg-BG"/>
            </a:p>
          </p:txBody>
        </p:sp>
        <p:sp>
          <p:nvSpPr>
            <p:cNvPr id="15369" name="Line 12"/>
            <p:cNvSpPr>
              <a:spLocks noChangeShapeType="1"/>
            </p:cNvSpPr>
            <p:nvPr/>
          </p:nvSpPr>
          <p:spPr bwMode="auto">
            <a:xfrm flipH="1">
              <a:off x="5757863" y="4802188"/>
              <a:ext cx="196850" cy="573087"/>
            </a:xfrm>
            <a:prstGeom prst="line">
              <a:avLst/>
            </a:prstGeom>
            <a:noFill/>
            <a:ln w="12700">
              <a:solidFill>
                <a:srgbClr val="000000"/>
              </a:solidFill>
              <a:round/>
              <a:headEnd/>
              <a:tailEnd/>
            </a:ln>
          </p:spPr>
          <p:txBody>
            <a:bodyPr/>
            <a:lstStyle/>
            <a:p>
              <a:endParaRPr lang="bg-BG"/>
            </a:p>
          </p:txBody>
        </p:sp>
        <p:sp>
          <p:nvSpPr>
            <p:cNvPr id="15370" name="Line 13"/>
            <p:cNvSpPr>
              <a:spLocks noChangeShapeType="1"/>
            </p:cNvSpPr>
            <p:nvPr/>
          </p:nvSpPr>
          <p:spPr bwMode="auto">
            <a:xfrm>
              <a:off x="6232525" y="4657725"/>
              <a:ext cx="374650" cy="503238"/>
            </a:xfrm>
            <a:prstGeom prst="line">
              <a:avLst/>
            </a:prstGeom>
            <a:noFill/>
            <a:ln w="12700">
              <a:solidFill>
                <a:srgbClr val="000000"/>
              </a:solidFill>
              <a:round/>
              <a:headEnd/>
              <a:tailEnd/>
            </a:ln>
          </p:spPr>
          <p:txBody>
            <a:bodyPr/>
            <a:lstStyle/>
            <a:p>
              <a:endParaRPr lang="bg-BG"/>
            </a:p>
          </p:txBody>
        </p:sp>
        <p:sp>
          <p:nvSpPr>
            <p:cNvPr id="15371" name="Line 14"/>
            <p:cNvSpPr>
              <a:spLocks noChangeShapeType="1"/>
            </p:cNvSpPr>
            <p:nvPr/>
          </p:nvSpPr>
          <p:spPr bwMode="auto">
            <a:xfrm flipH="1">
              <a:off x="5851525" y="5594350"/>
              <a:ext cx="195263" cy="330200"/>
            </a:xfrm>
            <a:prstGeom prst="line">
              <a:avLst/>
            </a:prstGeom>
            <a:noFill/>
            <a:ln w="12700">
              <a:solidFill>
                <a:srgbClr val="000000"/>
              </a:solidFill>
              <a:round/>
              <a:headEnd/>
              <a:tailEnd/>
            </a:ln>
          </p:spPr>
          <p:txBody>
            <a:bodyPr/>
            <a:lstStyle/>
            <a:p>
              <a:endParaRPr lang="bg-BG"/>
            </a:p>
          </p:txBody>
        </p:sp>
        <p:sp>
          <p:nvSpPr>
            <p:cNvPr id="15372" name="Line 15"/>
            <p:cNvSpPr>
              <a:spLocks noChangeShapeType="1"/>
            </p:cNvSpPr>
            <p:nvPr/>
          </p:nvSpPr>
          <p:spPr bwMode="auto">
            <a:xfrm>
              <a:off x="6335713" y="5565775"/>
              <a:ext cx="374650" cy="311150"/>
            </a:xfrm>
            <a:prstGeom prst="line">
              <a:avLst/>
            </a:prstGeom>
            <a:noFill/>
            <a:ln w="12700">
              <a:solidFill>
                <a:srgbClr val="000000"/>
              </a:solidFill>
              <a:round/>
              <a:headEnd/>
              <a:tailEnd/>
            </a:ln>
          </p:spPr>
          <p:txBody>
            <a:bodyPr/>
            <a:lstStyle/>
            <a:p>
              <a:endParaRPr lang="bg-BG"/>
            </a:p>
          </p:txBody>
        </p:sp>
        <p:sp>
          <p:nvSpPr>
            <p:cNvPr id="15373" name="Line 16"/>
            <p:cNvSpPr>
              <a:spLocks noChangeShapeType="1"/>
            </p:cNvSpPr>
            <p:nvPr/>
          </p:nvSpPr>
          <p:spPr bwMode="auto">
            <a:xfrm>
              <a:off x="6172200" y="5622925"/>
              <a:ext cx="0" cy="398463"/>
            </a:xfrm>
            <a:prstGeom prst="line">
              <a:avLst/>
            </a:prstGeom>
            <a:noFill/>
            <a:ln w="12700">
              <a:solidFill>
                <a:srgbClr val="000000"/>
              </a:solidFill>
              <a:round/>
              <a:headEnd/>
              <a:tailEnd/>
            </a:ln>
          </p:spPr>
          <p:txBody>
            <a:bodyPr/>
            <a:lstStyle/>
            <a:p>
              <a:endParaRPr lang="bg-BG"/>
            </a:p>
          </p:txBody>
        </p:sp>
        <p:grpSp>
          <p:nvGrpSpPr>
            <p:cNvPr id="15374" name="Group 17"/>
            <p:cNvGrpSpPr>
              <a:grpSpLocks/>
            </p:cNvGrpSpPr>
            <p:nvPr/>
          </p:nvGrpSpPr>
          <p:grpSpPr bwMode="auto">
            <a:xfrm>
              <a:off x="5748338" y="5929313"/>
              <a:ext cx="228600" cy="122237"/>
              <a:chOff x="3030" y="2580"/>
              <a:chExt cx="210" cy="105"/>
            </a:xfrm>
          </p:grpSpPr>
          <p:sp>
            <p:nvSpPr>
              <p:cNvPr id="15460" name="Line 1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61" name="Line 1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62" name="Line 2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75" name="Group 21"/>
            <p:cNvGrpSpPr>
              <a:grpSpLocks/>
            </p:cNvGrpSpPr>
            <p:nvPr/>
          </p:nvGrpSpPr>
          <p:grpSpPr bwMode="auto">
            <a:xfrm>
              <a:off x="5638800" y="5375275"/>
              <a:ext cx="228600" cy="120650"/>
              <a:chOff x="3030" y="2580"/>
              <a:chExt cx="210" cy="105"/>
            </a:xfrm>
          </p:grpSpPr>
          <p:sp>
            <p:nvSpPr>
              <p:cNvPr id="15457" name="Line 22"/>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58" name="Line 23"/>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59" name="Line 24"/>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76" name="Group 25"/>
            <p:cNvGrpSpPr>
              <a:grpSpLocks/>
            </p:cNvGrpSpPr>
            <p:nvPr/>
          </p:nvGrpSpPr>
          <p:grpSpPr bwMode="auto">
            <a:xfrm>
              <a:off x="6499225" y="5172075"/>
              <a:ext cx="228600" cy="122238"/>
              <a:chOff x="3030" y="2580"/>
              <a:chExt cx="210" cy="105"/>
            </a:xfrm>
          </p:grpSpPr>
          <p:sp>
            <p:nvSpPr>
              <p:cNvPr id="15454" name="Line 26"/>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55" name="Line 27"/>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56" name="Line 28"/>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77" name="Group 29"/>
            <p:cNvGrpSpPr>
              <a:grpSpLocks/>
            </p:cNvGrpSpPr>
            <p:nvPr/>
          </p:nvGrpSpPr>
          <p:grpSpPr bwMode="auto">
            <a:xfrm>
              <a:off x="6062663" y="6038850"/>
              <a:ext cx="228600" cy="122238"/>
              <a:chOff x="3030" y="2580"/>
              <a:chExt cx="210" cy="105"/>
            </a:xfrm>
          </p:grpSpPr>
          <p:sp>
            <p:nvSpPr>
              <p:cNvPr id="15451" name="Line 3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52" name="Line 3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53" name="Line 3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78" name="Group 33"/>
            <p:cNvGrpSpPr>
              <a:grpSpLocks/>
            </p:cNvGrpSpPr>
            <p:nvPr/>
          </p:nvGrpSpPr>
          <p:grpSpPr bwMode="auto">
            <a:xfrm>
              <a:off x="6596063" y="5883275"/>
              <a:ext cx="228600" cy="120650"/>
              <a:chOff x="3030" y="2580"/>
              <a:chExt cx="210" cy="105"/>
            </a:xfrm>
          </p:grpSpPr>
          <p:sp>
            <p:nvSpPr>
              <p:cNvPr id="15448" name="Line 3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49" name="Line 3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50" name="Line 3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5379" name="Line 37"/>
            <p:cNvSpPr>
              <a:spLocks noChangeShapeType="1"/>
            </p:cNvSpPr>
            <p:nvPr/>
          </p:nvSpPr>
          <p:spPr bwMode="auto">
            <a:xfrm>
              <a:off x="5072063" y="4005263"/>
              <a:ext cx="833437" cy="450850"/>
            </a:xfrm>
            <a:prstGeom prst="line">
              <a:avLst/>
            </a:prstGeom>
            <a:noFill/>
            <a:ln w="12700">
              <a:solidFill>
                <a:srgbClr val="000000"/>
              </a:solidFill>
              <a:round/>
              <a:headEnd/>
              <a:tailEnd/>
            </a:ln>
          </p:spPr>
          <p:txBody>
            <a:bodyPr/>
            <a:lstStyle/>
            <a:p>
              <a:endParaRPr lang="bg-BG"/>
            </a:p>
          </p:txBody>
        </p:sp>
        <p:sp>
          <p:nvSpPr>
            <p:cNvPr id="15380" name="Oval 38"/>
            <p:cNvSpPr>
              <a:spLocks noChangeArrowheads="1"/>
            </p:cNvSpPr>
            <p:nvPr/>
          </p:nvSpPr>
          <p:spPr bwMode="auto">
            <a:xfrm>
              <a:off x="3975100" y="4416425"/>
              <a:ext cx="411163" cy="388938"/>
            </a:xfrm>
            <a:prstGeom prst="ellipse">
              <a:avLst/>
            </a:prstGeom>
            <a:noFill/>
            <a:ln w="12700">
              <a:solidFill>
                <a:srgbClr val="000000"/>
              </a:solidFill>
              <a:round/>
              <a:headEnd/>
              <a:tailEnd/>
            </a:ln>
          </p:spPr>
          <p:txBody>
            <a:bodyPr/>
            <a:lstStyle/>
            <a:p>
              <a:endParaRPr lang="bg-BG"/>
            </a:p>
          </p:txBody>
        </p:sp>
        <p:sp>
          <p:nvSpPr>
            <p:cNvPr id="15381" name="Oval 39"/>
            <p:cNvSpPr>
              <a:spLocks noChangeArrowheads="1"/>
            </p:cNvSpPr>
            <p:nvPr/>
          </p:nvSpPr>
          <p:spPr bwMode="auto">
            <a:xfrm>
              <a:off x="3967163" y="5272088"/>
              <a:ext cx="412750" cy="388937"/>
            </a:xfrm>
            <a:prstGeom prst="ellipse">
              <a:avLst/>
            </a:prstGeom>
            <a:noFill/>
            <a:ln w="12700">
              <a:solidFill>
                <a:srgbClr val="000000"/>
              </a:solidFill>
              <a:round/>
              <a:headEnd/>
              <a:tailEnd/>
            </a:ln>
          </p:spPr>
          <p:txBody>
            <a:bodyPr/>
            <a:lstStyle/>
            <a:p>
              <a:endParaRPr lang="bg-BG"/>
            </a:p>
          </p:txBody>
        </p:sp>
        <p:sp>
          <p:nvSpPr>
            <p:cNvPr id="15382" name="Oval 40"/>
            <p:cNvSpPr>
              <a:spLocks noChangeArrowheads="1"/>
            </p:cNvSpPr>
            <p:nvPr/>
          </p:nvSpPr>
          <p:spPr bwMode="auto">
            <a:xfrm>
              <a:off x="5006975" y="5283200"/>
              <a:ext cx="411163" cy="390525"/>
            </a:xfrm>
            <a:prstGeom prst="ellipse">
              <a:avLst/>
            </a:prstGeom>
            <a:noFill/>
            <a:ln w="12700">
              <a:solidFill>
                <a:srgbClr val="000000"/>
              </a:solidFill>
              <a:round/>
              <a:headEnd/>
              <a:tailEnd/>
            </a:ln>
          </p:spPr>
          <p:txBody>
            <a:bodyPr/>
            <a:lstStyle/>
            <a:p>
              <a:endParaRPr lang="bg-BG"/>
            </a:p>
          </p:txBody>
        </p:sp>
        <p:sp>
          <p:nvSpPr>
            <p:cNvPr id="15383" name="Line 41"/>
            <p:cNvSpPr>
              <a:spLocks noChangeShapeType="1"/>
            </p:cNvSpPr>
            <p:nvPr/>
          </p:nvSpPr>
          <p:spPr bwMode="auto">
            <a:xfrm flipH="1">
              <a:off x="4316413" y="4046538"/>
              <a:ext cx="396875" cy="422275"/>
            </a:xfrm>
            <a:prstGeom prst="line">
              <a:avLst/>
            </a:prstGeom>
            <a:noFill/>
            <a:ln w="12700">
              <a:solidFill>
                <a:srgbClr val="000000"/>
              </a:solidFill>
              <a:round/>
              <a:headEnd type="none" w="sm" len="sm"/>
              <a:tailEnd type="none" w="sm" len="sm"/>
            </a:ln>
          </p:spPr>
          <p:txBody>
            <a:bodyPr/>
            <a:lstStyle/>
            <a:p>
              <a:endParaRPr lang="bg-BG"/>
            </a:p>
          </p:txBody>
        </p:sp>
        <p:sp>
          <p:nvSpPr>
            <p:cNvPr id="15384" name="Line 42"/>
            <p:cNvSpPr>
              <a:spLocks noChangeShapeType="1"/>
            </p:cNvSpPr>
            <p:nvPr/>
          </p:nvSpPr>
          <p:spPr bwMode="auto">
            <a:xfrm>
              <a:off x="4171950" y="4814888"/>
              <a:ext cx="1588" cy="454025"/>
            </a:xfrm>
            <a:prstGeom prst="line">
              <a:avLst/>
            </a:prstGeom>
            <a:noFill/>
            <a:ln w="12700">
              <a:solidFill>
                <a:srgbClr val="000000"/>
              </a:solidFill>
              <a:round/>
              <a:headEnd type="none" w="sm" len="sm"/>
              <a:tailEnd type="none" w="sm" len="sm"/>
            </a:ln>
          </p:spPr>
          <p:txBody>
            <a:bodyPr/>
            <a:lstStyle/>
            <a:p>
              <a:endParaRPr lang="bg-BG"/>
            </a:p>
          </p:txBody>
        </p:sp>
        <p:grpSp>
          <p:nvGrpSpPr>
            <p:cNvPr id="15385" name="Group 43"/>
            <p:cNvGrpSpPr>
              <a:grpSpLocks/>
            </p:cNvGrpSpPr>
            <p:nvPr/>
          </p:nvGrpSpPr>
          <p:grpSpPr bwMode="auto">
            <a:xfrm>
              <a:off x="4446588" y="5918200"/>
              <a:ext cx="228600" cy="120650"/>
              <a:chOff x="3030" y="2580"/>
              <a:chExt cx="210" cy="105"/>
            </a:xfrm>
          </p:grpSpPr>
          <p:sp>
            <p:nvSpPr>
              <p:cNvPr id="15445" name="Line 4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46" name="Line 4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47" name="Line 4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86" name="Group 47"/>
            <p:cNvGrpSpPr>
              <a:grpSpLocks/>
            </p:cNvGrpSpPr>
            <p:nvPr/>
          </p:nvGrpSpPr>
          <p:grpSpPr bwMode="auto">
            <a:xfrm>
              <a:off x="4049713" y="5975350"/>
              <a:ext cx="228600" cy="122238"/>
              <a:chOff x="3030" y="2580"/>
              <a:chExt cx="210" cy="105"/>
            </a:xfrm>
          </p:grpSpPr>
          <p:sp>
            <p:nvSpPr>
              <p:cNvPr id="15442" name="Line 4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43" name="Line 4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44" name="Line 5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87" name="Group 51"/>
            <p:cNvGrpSpPr>
              <a:grpSpLocks/>
            </p:cNvGrpSpPr>
            <p:nvPr/>
          </p:nvGrpSpPr>
          <p:grpSpPr bwMode="auto">
            <a:xfrm>
              <a:off x="3767138" y="5995988"/>
              <a:ext cx="228600" cy="122237"/>
              <a:chOff x="3030" y="2580"/>
              <a:chExt cx="210" cy="105"/>
            </a:xfrm>
          </p:grpSpPr>
          <p:sp>
            <p:nvSpPr>
              <p:cNvPr id="15439" name="Line 52"/>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40" name="Line 53"/>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41" name="Line 54"/>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5388" name="Oval 55"/>
            <p:cNvSpPr>
              <a:spLocks noChangeArrowheads="1"/>
            </p:cNvSpPr>
            <p:nvPr/>
          </p:nvSpPr>
          <p:spPr bwMode="auto">
            <a:xfrm>
              <a:off x="3106738" y="5249863"/>
              <a:ext cx="412750" cy="388937"/>
            </a:xfrm>
            <a:prstGeom prst="ellipse">
              <a:avLst/>
            </a:prstGeom>
            <a:noFill/>
            <a:ln w="12700">
              <a:solidFill>
                <a:srgbClr val="000000"/>
              </a:solidFill>
              <a:round/>
              <a:headEnd/>
              <a:tailEnd/>
            </a:ln>
          </p:spPr>
          <p:txBody>
            <a:bodyPr/>
            <a:lstStyle/>
            <a:p>
              <a:endParaRPr lang="bg-BG"/>
            </a:p>
          </p:txBody>
        </p:sp>
        <p:sp>
          <p:nvSpPr>
            <p:cNvPr id="15389" name="Line 56"/>
            <p:cNvSpPr>
              <a:spLocks noChangeShapeType="1"/>
            </p:cNvSpPr>
            <p:nvPr/>
          </p:nvSpPr>
          <p:spPr bwMode="auto">
            <a:xfrm flipH="1">
              <a:off x="2933700" y="5559425"/>
              <a:ext cx="195263" cy="381000"/>
            </a:xfrm>
            <a:prstGeom prst="line">
              <a:avLst/>
            </a:prstGeom>
            <a:noFill/>
            <a:ln w="12700">
              <a:solidFill>
                <a:srgbClr val="000000"/>
              </a:solidFill>
              <a:round/>
              <a:headEnd/>
              <a:tailEnd/>
            </a:ln>
          </p:spPr>
          <p:txBody>
            <a:bodyPr/>
            <a:lstStyle/>
            <a:p>
              <a:endParaRPr lang="bg-BG"/>
            </a:p>
          </p:txBody>
        </p:sp>
        <p:sp>
          <p:nvSpPr>
            <p:cNvPr id="15390" name="Line 57"/>
            <p:cNvSpPr>
              <a:spLocks noChangeShapeType="1"/>
            </p:cNvSpPr>
            <p:nvPr/>
          </p:nvSpPr>
          <p:spPr bwMode="auto">
            <a:xfrm>
              <a:off x="3281363" y="5640388"/>
              <a:ext cx="0" cy="277812"/>
            </a:xfrm>
            <a:prstGeom prst="line">
              <a:avLst/>
            </a:prstGeom>
            <a:noFill/>
            <a:ln w="12700">
              <a:solidFill>
                <a:srgbClr val="000000"/>
              </a:solidFill>
              <a:round/>
              <a:headEnd/>
              <a:tailEnd/>
            </a:ln>
          </p:spPr>
          <p:txBody>
            <a:bodyPr/>
            <a:lstStyle/>
            <a:p>
              <a:endParaRPr lang="bg-BG"/>
            </a:p>
          </p:txBody>
        </p:sp>
        <p:sp>
          <p:nvSpPr>
            <p:cNvPr id="15391" name="Line 58"/>
            <p:cNvSpPr>
              <a:spLocks noChangeShapeType="1"/>
            </p:cNvSpPr>
            <p:nvPr/>
          </p:nvSpPr>
          <p:spPr bwMode="auto">
            <a:xfrm>
              <a:off x="3440113" y="5605463"/>
              <a:ext cx="98425" cy="330200"/>
            </a:xfrm>
            <a:prstGeom prst="line">
              <a:avLst/>
            </a:prstGeom>
            <a:noFill/>
            <a:ln w="12700">
              <a:solidFill>
                <a:srgbClr val="000000"/>
              </a:solidFill>
              <a:round/>
              <a:headEnd/>
              <a:tailEnd/>
            </a:ln>
          </p:spPr>
          <p:txBody>
            <a:bodyPr/>
            <a:lstStyle/>
            <a:p>
              <a:endParaRPr lang="bg-BG"/>
            </a:p>
          </p:txBody>
        </p:sp>
        <p:grpSp>
          <p:nvGrpSpPr>
            <p:cNvPr id="15392" name="Group 59"/>
            <p:cNvGrpSpPr>
              <a:grpSpLocks/>
            </p:cNvGrpSpPr>
            <p:nvPr/>
          </p:nvGrpSpPr>
          <p:grpSpPr bwMode="auto">
            <a:xfrm>
              <a:off x="3424238" y="5953125"/>
              <a:ext cx="228600" cy="120650"/>
              <a:chOff x="3030" y="2580"/>
              <a:chExt cx="210" cy="105"/>
            </a:xfrm>
          </p:grpSpPr>
          <p:sp>
            <p:nvSpPr>
              <p:cNvPr id="15436" name="Line 6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37" name="Line 6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38" name="Line 6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93" name="Group 63"/>
            <p:cNvGrpSpPr>
              <a:grpSpLocks/>
            </p:cNvGrpSpPr>
            <p:nvPr/>
          </p:nvGrpSpPr>
          <p:grpSpPr bwMode="auto">
            <a:xfrm>
              <a:off x="3146425" y="5935663"/>
              <a:ext cx="228600" cy="120650"/>
              <a:chOff x="3030" y="2580"/>
              <a:chExt cx="210" cy="105"/>
            </a:xfrm>
          </p:grpSpPr>
          <p:sp>
            <p:nvSpPr>
              <p:cNvPr id="15433" name="Line 6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34" name="Line 6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35" name="Line 6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394" name="Group 67"/>
            <p:cNvGrpSpPr>
              <a:grpSpLocks/>
            </p:cNvGrpSpPr>
            <p:nvPr/>
          </p:nvGrpSpPr>
          <p:grpSpPr bwMode="auto">
            <a:xfrm>
              <a:off x="2803525" y="5964238"/>
              <a:ext cx="228600" cy="120650"/>
              <a:chOff x="3030" y="2580"/>
              <a:chExt cx="210" cy="105"/>
            </a:xfrm>
          </p:grpSpPr>
          <p:sp>
            <p:nvSpPr>
              <p:cNvPr id="15430" name="Line 6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31" name="Line 6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32" name="Line 7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5395" name="Line 71"/>
            <p:cNvSpPr>
              <a:spLocks noChangeShapeType="1"/>
            </p:cNvSpPr>
            <p:nvPr/>
          </p:nvSpPr>
          <p:spPr bwMode="auto">
            <a:xfrm flipH="1">
              <a:off x="3444875" y="4727575"/>
              <a:ext cx="555625" cy="555625"/>
            </a:xfrm>
            <a:prstGeom prst="line">
              <a:avLst/>
            </a:prstGeom>
            <a:noFill/>
            <a:ln w="12700">
              <a:solidFill>
                <a:srgbClr val="000000"/>
              </a:solidFill>
              <a:round/>
              <a:headEnd/>
              <a:tailEnd/>
            </a:ln>
          </p:spPr>
          <p:txBody>
            <a:bodyPr/>
            <a:lstStyle/>
            <a:p>
              <a:endParaRPr lang="bg-BG"/>
            </a:p>
          </p:txBody>
        </p:sp>
        <p:sp>
          <p:nvSpPr>
            <p:cNvPr id="15396" name="Line 72"/>
            <p:cNvSpPr>
              <a:spLocks noChangeShapeType="1"/>
            </p:cNvSpPr>
            <p:nvPr/>
          </p:nvSpPr>
          <p:spPr bwMode="auto">
            <a:xfrm>
              <a:off x="4365625" y="4716463"/>
              <a:ext cx="735013" cy="588962"/>
            </a:xfrm>
            <a:prstGeom prst="line">
              <a:avLst/>
            </a:prstGeom>
            <a:noFill/>
            <a:ln w="12700">
              <a:solidFill>
                <a:srgbClr val="000000"/>
              </a:solidFill>
              <a:round/>
              <a:headEnd/>
              <a:tailEnd/>
            </a:ln>
          </p:spPr>
          <p:txBody>
            <a:bodyPr/>
            <a:lstStyle/>
            <a:p>
              <a:endParaRPr lang="bg-BG"/>
            </a:p>
          </p:txBody>
        </p:sp>
        <p:sp>
          <p:nvSpPr>
            <p:cNvPr id="15397" name="Line 73"/>
            <p:cNvSpPr>
              <a:spLocks noChangeShapeType="1"/>
            </p:cNvSpPr>
            <p:nvPr/>
          </p:nvSpPr>
          <p:spPr bwMode="auto">
            <a:xfrm flipH="1">
              <a:off x="3881438" y="5651500"/>
              <a:ext cx="195262" cy="330200"/>
            </a:xfrm>
            <a:prstGeom prst="line">
              <a:avLst/>
            </a:prstGeom>
            <a:noFill/>
            <a:ln w="12700">
              <a:solidFill>
                <a:srgbClr val="000000"/>
              </a:solidFill>
              <a:round/>
              <a:headEnd/>
              <a:tailEnd/>
            </a:ln>
          </p:spPr>
          <p:txBody>
            <a:bodyPr/>
            <a:lstStyle/>
            <a:p>
              <a:endParaRPr lang="bg-BG"/>
            </a:p>
          </p:txBody>
        </p:sp>
        <p:sp>
          <p:nvSpPr>
            <p:cNvPr id="15398" name="Line 74"/>
            <p:cNvSpPr>
              <a:spLocks noChangeShapeType="1"/>
            </p:cNvSpPr>
            <p:nvPr/>
          </p:nvSpPr>
          <p:spPr bwMode="auto">
            <a:xfrm>
              <a:off x="4175125" y="5668963"/>
              <a:ext cx="0" cy="295275"/>
            </a:xfrm>
            <a:prstGeom prst="line">
              <a:avLst/>
            </a:prstGeom>
            <a:noFill/>
            <a:ln w="12700">
              <a:solidFill>
                <a:srgbClr val="000000"/>
              </a:solidFill>
              <a:round/>
              <a:headEnd/>
              <a:tailEnd/>
            </a:ln>
          </p:spPr>
          <p:txBody>
            <a:bodyPr/>
            <a:lstStyle/>
            <a:p>
              <a:endParaRPr lang="bg-BG"/>
            </a:p>
          </p:txBody>
        </p:sp>
        <p:sp>
          <p:nvSpPr>
            <p:cNvPr id="15399" name="Line 75"/>
            <p:cNvSpPr>
              <a:spLocks noChangeShapeType="1"/>
            </p:cNvSpPr>
            <p:nvPr/>
          </p:nvSpPr>
          <p:spPr bwMode="auto">
            <a:xfrm>
              <a:off x="4316413" y="5618163"/>
              <a:ext cx="244475" cy="293687"/>
            </a:xfrm>
            <a:prstGeom prst="line">
              <a:avLst/>
            </a:prstGeom>
            <a:noFill/>
            <a:ln w="12700">
              <a:solidFill>
                <a:srgbClr val="000000"/>
              </a:solidFill>
              <a:round/>
              <a:headEnd/>
              <a:tailEnd/>
            </a:ln>
          </p:spPr>
          <p:txBody>
            <a:bodyPr/>
            <a:lstStyle/>
            <a:p>
              <a:endParaRPr lang="bg-BG"/>
            </a:p>
          </p:txBody>
        </p:sp>
        <p:sp>
          <p:nvSpPr>
            <p:cNvPr id="15400" name="Line 76"/>
            <p:cNvSpPr>
              <a:spLocks noChangeShapeType="1"/>
            </p:cNvSpPr>
            <p:nvPr/>
          </p:nvSpPr>
          <p:spPr bwMode="auto">
            <a:xfrm flipH="1">
              <a:off x="4903788" y="5583238"/>
              <a:ext cx="147637" cy="260350"/>
            </a:xfrm>
            <a:prstGeom prst="line">
              <a:avLst/>
            </a:prstGeom>
            <a:noFill/>
            <a:ln w="12700">
              <a:solidFill>
                <a:srgbClr val="000000"/>
              </a:solidFill>
              <a:round/>
              <a:headEnd/>
              <a:tailEnd/>
            </a:ln>
          </p:spPr>
          <p:txBody>
            <a:bodyPr/>
            <a:lstStyle/>
            <a:p>
              <a:endParaRPr lang="bg-BG"/>
            </a:p>
          </p:txBody>
        </p:sp>
        <p:sp>
          <p:nvSpPr>
            <p:cNvPr id="15401" name="Line 77"/>
            <p:cNvSpPr>
              <a:spLocks noChangeShapeType="1"/>
            </p:cNvSpPr>
            <p:nvPr/>
          </p:nvSpPr>
          <p:spPr bwMode="auto">
            <a:xfrm>
              <a:off x="5203825" y="5686425"/>
              <a:ext cx="0" cy="347663"/>
            </a:xfrm>
            <a:prstGeom prst="line">
              <a:avLst/>
            </a:prstGeom>
            <a:noFill/>
            <a:ln w="12700">
              <a:solidFill>
                <a:srgbClr val="000000"/>
              </a:solidFill>
              <a:round/>
              <a:headEnd/>
              <a:tailEnd/>
            </a:ln>
          </p:spPr>
          <p:txBody>
            <a:bodyPr/>
            <a:lstStyle/>
            <a:p>
              <a:endParaRPr lang="bg-BG"/>
            </a:p>
          </p:txBody>
        </p:sp>
        <p:sp>
          <p:nvSpPr>
            <p:cNvPr id="15402" name="Line 78"/>
            <p:cNvSpPr>
              <a:spLocks noChangeShapeType="1"/>
            </p:cNvSpPr>
            <p:nvPr/>
          </p:nvSpPr>
          <p:spPr bwMode="auto">
            <a:xfrm>
              <a:off x="5349875" y="5600700"/>
              <a:ext cx="228600" cy="242888"/>
            </a:xfrm>
            <a:prstGeom prst="line">
              <a:avLst/>
            </a:prstGeom>
            <a:noFill/>
            <a:ln w="12700">
              <a:solidFill>
                <a:srgbClr val="000000"/>
              </a:solidFill>
              <a:round/>
              <a:headEnd/>
              <a:tailEnd/>
            </a:ln>
          </p:spPr>
          <p:txBody>
            <a:bodyPr/>
            <a:lstStyle/>
            <a:p>
              <a:endParaRPr lang="bg-BG"/>
            </a:p>
          </p:txBody>
        </p:sp>
        <p:grpSp>
          <p:nvGrpSpPr>
            <p:cNvPr id="15403" name="Group 79"/>
            <p:cNvGrpSpPr>
              <a:grpSpLocks/>
            </p:cNvGrpSpPr>
            <p:nvPr/>
          </p:nvGrpSpPr>
          <p:grpSpPr bwMode="auto">
            <a:xfrm>
              <a:off x="5470525" y="5848350"/>
              <a:ext cx="228600" cy="122238"/>
              <a:chOff x="3030" y="2580"/>
              <a:chExt cx="210" cy="105"/>
            </a:xfrm>
          </p:grpSpPr>
          <p:sp>
            <p:nvSpPr>
              <p:cNvPr id="15427" name="Line 80"/>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28" name="Line 81"/>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29" name="Line 82"/>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404" name="Group 83"/>
            <p:cNvGrpSpPr>
              <a:grpSpLocks/>
            </p:cNvGrpSpPr>
            <p:nvPr/>
          </p:nvGrpSpPr>
          <p:grpSpPr bwMode="auto">
            <a:xfrm>
              <a:off x="5083175" y="6051550"/>
              <a:ext cx="228600" cy="120650"/>
              <a:chOff x="3030" y="2580"/>
              <a:chExt cx="210" cy="105"/>
            </a:xfrm>
          </p:grpSpPr>
          <p:sp>
            <p:nvSpPr>
              <p:cNvPr id="15424" name="Line 84"/>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25" name="Line 85"/>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26" name="Line 86"/>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grpSp>
          <p:nvGrpSpPr>
            <p:cNvPr id="15405" name="Group 87"/>
            <p:cNvGrpSpPr>
              <a:grpSpLocks/>
            </p:cNvGrpSpPr>
            <p:nvPr/>
          </p:nvGrpSpPr>
          <p:grpSpPr bwMode="auto">
            <a:xfrm>
              <a:off x="4795838" y="5859463"/>
              <a:ext cx="228600" cy="122237"/>
              <a:chOff x="3030" y="2580"/>
              <a:chExt cx="210" cy="105"/>
            </a:xfrm>
          </p:grpSpPr>
          <p:sp>
            <p:nvSpPr>
              <p:cNvPr id="15421" name="Line 88"/>
              <p:cNvSpPr>
                <a:spLocks noChangeShapeType="1"/>
              </p:cNvSpPr>
              <p:nvPr/>
            </p:nvSpPr>
            <p:spPr bwMode="auto">
              <a:xfrm>
                <a:off x="3060" y="2625"/>
                <a:ext cx="165" cy="0"/>
              </a:xfrm>
              <a:prstGeom prst="line">
                <a:avLst/>
              </a:prstGeom>
              <a:noFill/>
              <a:ln w="12700">
                <a:solidFill>
                  <a:srgbClr val="000000"/>
                </a:solidFill>
                <a:round/>
                <a:headEnd/>
                <a:tailEnd/>
              </a:ln>
            </p:spPr>
            <p:txBody>
              <a:bodyPr/>
              <a:lstStyle/>
              <a:p>
                <a:endParaRPr lang="bg-BG"/>
              </a:p>
            </p:txBody>
          </p:sp>
          <p:sp>
            <p:nvSpPr>
              <p:cNvPr id="15422" name="Line 89"/>
              <p:cNvSpPr>
                <a:spLocks noChangeShapeType="1"/>
              </p:cNvSpPr>
              <p:nvPr/>
            </p:nvSpPr>
            <p:spPr bwMode="auto">
              <a:xfrm>
                <a:off x="3030" y="2580"/>
                <a:ext cx="210" cy="0"/>
              </a:xfrm>
              <a:prstGeom prst="line">
                <a:avLst/>
              </a:prstGeom>
              <a:noFill/>
              <a:ln w="12700">
                <a:solidFill>
                  <a:srgbClr val="000000"/>
                </a:solidFill>
                <a:round/>
                <a:headEnd/>
                <a:tailEnd/>
              </a:ln>
            </p:spPr>
            <p:txBody>
              <a:bodyPr/>
              <a:lstStyle/>
              <a:p>
                <a:endParaRPr lang="bg-BG"/>
              </a:p>
            </p:txBody>
          </p:sp>
          <p:sp>
            <p:nvSpPr>
              <p:cNvPr id="15423" name="Line 90"/>
              <p:cNvSpPr>
                <a:spLocks noChangeShapeType="1"/>
              </p:cNvSpPr>
              <p:nvPr/>
            </p:nvSpPr>
            <p:spPr bwMode="auto">
              <a:xfrm>
                <a:off x="3120" y="2685"/>
                <a:ext cx="60" cy="0"/>
              </a:xfrm>
              <a:prstGeom prst="line">
                <a:avLst/>
              </a:prstGeom>
              <a:noFill/>
              <a:ln w="12700">
                <a:solidFill>
                  <a:srgbClr val="000000"/>
                </a:solidFill>
                <a:round/>
                <a:headEnd/>
                <a:tailEnd/>
              </a:ln>
            </p:spPr>
            <p:txBody>
              <a:bodyPr/>
              <a:lstStyle/>
              <a:p>
                <a:endParaRPr lang="bg-BG"/>
              </a:p>
            </p:txBody>
          </p:sp>
        </p:grpSp>
        <p:sp>
          <p:nvSpPr>
            <p:cNvPr id="15406" name="Line 91"/>
            <p:cNvSpPr>
              <a:spLocks noChangeShapeType="1"/>
            </p:cNvSpPr>
            <p:nvPr/>
          </p:nvSpPr>
          <p:spPr bwMode="auto">
            <a:xfrm>
              <a:off x="4899025" y="4103688"/>
              <a:ext cx="0" cy="450850"/>
            </a:xfrm>
            <a:prstGeom prst="line">
              <a:avLst/>
            </a:prstGeom>
            <a:noFill/>
            <a:ln w="12700">
              <a:solidFill>
                <a:srgbClr val="000000"/>
              </a:solidFill>
              <a:round/>
              <a:headEnd/>
              <a:tailEnd/>
            </a:ln>
          </p:spPr>
          <p:txBody>
            <a:bodyPr/>
            <a:lstStyle/>
            <a:p>
              <a:endParaRPr lang="bg-BG"/>
            </a:p>
          </p:txBody>
        </p:sp>
        <p:sp>
          <p:nvSpPr>
            <p:cNvPr id="15407" name="Line 92"/>
            <p:cNvSpPr>
              <a:spLocks noChangeShapeType="1"/>
            </p:cNvSpPr>
            <p:nvPr/>
          </p:nvSpPr>
          <p:spPr bwMode="auto">
            <a:xfrm>
              <a:off x="4338638" y="3362325"/>
              <a:ext cx="554037" cy="0"/>
            </a:xfrm>
            <a:prstGeom prst="line">
              <a:avLst/>
            </a:prstGeom>
            <a:noFill/>
            <a:ln w="12700">
              <a:solidFill>
                <a:srgbClr val="000000"/>
              </a:solidFill>
              <a:round/>
              <a:headEnd/>
              <a:tailEnd/>
            </a:ln>
          </p:spPr>
          <p:txBody>
            <a:bodyPr/>
            <a:lstStyle/>
            <a:p>
              <a:endParaRPr lang="bg-BG"/>
            </a:p>
          </p:txBody>
        </p:sp>
        <p:sp>
          <p:nvSpPr>
            <p:cNvPr id="15408" name="Line 93"/>
            <p:cNvSpPr>
              <a:spLocks noChangeShapeType="1"/>
            </p:cNvSpPr>
            <p:nvPr/>
          </p:nvSpPr>
          <p:spPr bwMode="auto">
            <a:xfrm>
              <a:off x="4892675" y="3352800"/>
              <a:ext cx="0" cy="346075"/>
            </a:xfrm>
            <a:prstGeom prst="line">
              <a:avLst/>
            </a:prstGeom>
            <a:noFill/>
            <a:ln w="12700">
              <a:solidFill>
                <a:srgbClr val="000000"/>
              </a:solidFill>
              <a:round/>
              <a:headEnd/>
              <a:tailEnd type="triangle" w="sm" len="med"/>
            </a:ln>
          </p:spPr>
          <p:txBody>
            <a:bodyPr/>
            <a:lstStyle/>
            <a:p>
              <a:endParaRPr lang="bg-BG"/>
            </a:p>
          </p:txBody>
        </p:sp>
        <p:sp>
          <p:nvSpPr>
            <p:cNvPr id="15409" name="Text Box 94"/>
            <p:cNvSpPr txBox="1">
              <a:spLocks noChangeArrowheads="1"/>
            </p:cNvSpPr>
            <p:nvPr/>
          </p:nvSpPr>
          <p:spPr bwMode="auto">
            <a:xfrm>
              <a:off x="1187624" y="3645024"/>
              <a:ext cx="1176338" cy="415925"/>
            </a:xfrm>
            <a:prstGeom prst="rect">
              <a:avLst/>
            </a:prstGeom>
            <a:noFill/>
            <a:ln w="9525">
              <a:noFill/>
              <a:miter lim="800000"/>
              <a:headEnd/>
              <a:tailEnd/>
            </a:ln>
          </p:spPr>
          <p:txBody>
            <a:bodyPr/>
            <a:lstStyle/>
            <a:p>
              <a:r>
                <a:rPr lang="bg-BG" sz="2000" b="1">
                  <a:latin typeface="Courier New" pitchFamily="49" charset="0"/>
                </a:rPr>
                <a:t>Ниво 0</a:t>
              </a:r>
              <a:endParaRPr lang="bg-BG" sz="1000">
                <a:latin typeface="Courier New" pitchFamily="49" charset="0"/>
              </a:endParaRPr>
            </a:p>
          </p:txBody>
        </p:sp>
        <p:sp>
          <p:nvSpPr>
            <p:cNvPr id="15410" name="Text Box 95"/>
            <p:cNvSpPr txBox="1">
              <a:spLocks noChangeArrowheads="1"/>
            </p:cNvSpPr>
            <p:nvPr/>
          </p:nvSpPr>
          <p:spPr bwMode="auto">
            <a:xfrm>
              <a:off x="1143000" y="4300538"/>
              <a:ext cx="1176338" cy="415925"/>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5411" name="Text Box 96"/>
            <p:cNvSpPr txBox="1">
              <a:spLocks noChangeArrowheads="1"/>
            </p:cNvSpPr>
            <p:nvPr/>
          </p:nvSpPr>
          <p:spPr bwMode="auto">
            <a:xfrm>
              <a:off x="1143000" y="5132388"/>
              <a:ext cx="1176338" cy="415925"/>
            </a:xfrm>
            <a:prstGeom prst="rect">
              <a:avLst/>
            </a:prstGeom>
            <a:noFill/>
            <a:ln w="9525">
              <a:noFill/>
              <a:miter lim="800000"/>
              <a:headEnd/>
              <a:tailEnd/>
            </a:ln>
          </p:spPr>
          <p:txBody>
            <a:bodyPr/>
            <a:lstStyle/>
            <a:p>
              <a:r>
                <a:rPr lang="bg-BG" sz="2000" b="1">
                  <a:latin typeface="Courier New" pitchFamily="49" charset="0"/>
                </a:rPr>
                <a:t>Ниво 2</a:t>
              </a:r>
              <a:endParaRPr lang="bg-BG" sz="1000">
                <a:latin typeface="Courier New" pitchFamily="49" charset="0"/>
              </a:endParaRPr>
            </a:p>
          </p:txBody>
        </p:sp>
        <p:sp>
          <p:nvSpPr>
            <p:cNvPr id="15412" name="Text Box 105"/>
            <p:cNvSpPr txBox="1">
              <a:spLocks noChangeArrowheads="1"/>
            </p:cNvSpPr>
            <p:nvPr/>
          </p:nvSpPr>
          <p:spPr bwMode="auto">
            <a:xfrm>
              <a:off x="7086600" y="4343400"/>
              <a:ext cx="1176338" cy="415925"/>
            </a:xfrm>
            <a:prstGeom prst="rect">
              <a:avLst/>
            </a:prstGeom>
            <a:noFill/>
            <a:ln w="9525">
              <a:noFill/>
              <a:miter lim="800000"/>
              <a:headEnd/>
              <a:tailEnd/>
            </a:ln>
          </p:spPr>
          <p:txBody>
            <a:bodyPr/>
            <a:lstStyle/>
            <a:p>
              <a:r>
                <a:rPr lang="bg-BG" sz="2000" b="1">
                  <a:latin typeface="Courier New" pitchFamily="49" charset="0"/>
                </a:rPr>
                <a:t>Ниво 2</a:t>
              </a:r>
              <a:endParaRPr lang="bg-BG" sz="1000">
                <a:latin typeface="Courier New" pitchFamily="49" charset="0"/>
              </a:endParaRPr>
            </a:p>
          </p:txBody>
        </p:sp>
        <p:sp>
          <p:nvSpPr>
            <p:cNvPr id="15413" name="Text Box 106"/>
            <p:cNvSpPr txBox="1">
              <a:spLocks noChangeArrowheads="1"/>
            </p:cNvSpPr>
            <p:nvPr/>
          </p:nvSpPr>
          <p:spPr bwMode="auto">
            <a:xfrm>
              <a:off x="7086600" y="3632200"/>
              <a:ext cx="1176338" cy="415925"/>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5414" name="Text Box 107"/>
            <p:cNvSpPr txBox="1">
              <a:spLocks noChangeArrowheads="1"/>
            </p:cNvSpPr>
            <p:nvPr/>
          </p:nvSpPr>
          <p:spPr bwMode="auto">
            <a:xfrm>
              <a:off x="1168400" y="5727700"/>
              <a:ext cx="1176338" cy="415925"/>
            </a:xfrm>
            <a:prstGeom prst="rect">
              <a:avLst/>
            </a:prstGeom>
            <a:noFill/>
            <a:ln w="9525">
              <a:noFill/>
              <a:miter lim="800000"/>
              <a:headEnd/>
              <a:tailEnd/>
            </a:ln>
          </p:spPr>
          <p:txBody>
            <a:bodyPr/>
            <a:lstStyle/>
            <a:p>
              <a:r>
                <a:rPr lang="bg-BG" sz="2000" b="1">
                  <a:latin typeface="Courier New" pitchFamily="49" charset="0"/>
                </a:rPr>
                <a:t>Ниво 3</a:t>
              </a:r>
              <a:endParaRPr lang="bg-BG" sz="1000">
                <a:latin typeface="Courier New" pitchFamily="49" charset="0"/>
              </a:endParaRPr>
            </a:p>
          </p:txBody>
        </p:sp>
        <p:sp>
          <p:nvSpPr>
            <p:cNvPr id="15415" name="Text Box 108"/>
            <p:cNvSpPr txBox="1">
              <a:spLocks noChangeArrowheads="1"/>
            </p:cNvSpPr>
            <p:nvPr/>
          </p:nvSpPr>
          <p:spPr bwMode="auto">
            <a:xfrm>
              <a:off x="7086600" y="5105400"/>
              <a:ext cx="1219200" cy="493713"/>
            </a:xfrm>
            <a:prstGeom prst="rect">
              <a:avLst/>
            </a:prstGeom>
            <a:noFill/>
            <a:ln w="9525">
              <a:noFill/>
              <a:miter lim="800000"/>
              <a:headEnd/>
              <a:tailEnd/>
            </a:ln>
          </p:spPr>
          <p:txBody>
            <a:bodyPr/>
            <a:lstStyle/>
            <a:p>
              <a:r>
                <a:rPr lang="bg-BG" sz="2000" b="1">
                  <a:latin typeface="Courier New" pitchFamily="49" charset="0"/>
                </a:rPr>
                <a:t>Ниво 3</a:t>
              </a:r>
              <a:endParaRPr lang="bg-BG" sz="1000">
                <a:latin typeface="Courier New" pitchFamily="49" charset="0"/>
              </a:endParaRPr>
            </a:p>
          </p:txBody>
        </p:sp>
        <p:sp>
          <p:nvSpPr>
            <p:cNvPr id="15416" name="Text Box 109"/>
            <p:cNvSpPr txBox="1">
              <a:spLocks noChangeArrowheads="1"/>
            </p:cNvSpPr>
            <p:nvPr/>
          </p:nvSpPr>
          <p:spPr bwMode="auto">
            <a:xfrm>
              <a:off x="7112000" y="5715000"/>
              <a:ext cx="1176338" cy="415925"/>
            </a:xfrm>
            <a:prstGeom prst="rect">
              <a:avLst/>
            </a:prstGeom>
            <a:noFill/>
            <a:ln w="9525">
              <a:noFill/>
              <a:miter lim="800000"/>
              <a:headEnd/>
              <a:tailEnd/>
            </a:ln>
          </p:spPr>
          <p:txBody>
            <a:bodyPr/>
            <a:lstStyle/>
            <a:p>
              <a:r>
                <a:rPr lang="bg-BG" sz="2000" b="1">
                  <a:latin typeface="Courier New" pitchFamily="49" charset="0"/>
                </a:rPr>
                <a:t>Ниво 4</a:t>
              </a:r>
              <a:endParaRPr lang="bg-BG" sz="1000">
                <a:latin typeface="Courier New" pitchFamily="49" charset="0"/>
              </a:endParaRPr>
            </a:p>
          </p:txBody>
        </p:sp>
        <p:sp>
          <p:nvSpPr>
            <p:cNvPr id="15417" name="Text Box 110"/>
            <p:cNvSpPr txBox="1">
              <a:spLocks noChangeArrowheads="1"/>
            </p:cNvSpPr>
            <p:nvPr/>
          </p:nvSpPr>
          <p:spPr bwMode="auto">
            <a:xfrm>
              <a:off x="3275856" y="1988840"/>
              <a:ext cx="2514600" cy="925513"/>
            </a:xfrm>
            <a:prstGeom prst="rect">
              <a:avLst/>
            </a:prstGeom>
            <a:noFill/>
            <a:ln w="9525">
              <a:solidFill>
                <a:schemeClr val="accent2"/>
              </a:solidFill>
              <a:miter lim="800000"/>
              <a:headEnd/>
              <a:tailEnd/>
            </a:ln>
          </p:spPr>
          <p:txBody>
            <a:bodyPr>
              <a:spAutoFit/>
            </a:bodyPr>
            <a:lstStyle/>
            <a:p>
              <a:pPr>
                <a:spcBef>
                  <a:spcPct val="50000"/>
                </a:spcBef>
              </a:pPr>
              <a:r>
                <a:rPr lang="bg-BG" sz="1800"/>
                <a:t>Робърт Седжуик, </a:t>
              </a:r>
              <a:r>
                <a:rPr lang="bg-BG" sz="1800" i="1"/>
                <a:t>Алгоритми на С, том 1,2,</a:t>
              </a:r>
              <a:r>
                <a:rPr lang="bg-BG" sz="1800"/>
                <a:t> Софтпрес, С., 2002</a:t>
              </a:r>
              <a:endParaRPr lang="en-US" sz="1800"/>
            </a:p>
          </p:txBody>
        </p:sp>
        <p:sp>
          <p:nvSpPr>
            <p:cNvPr id="15418" name="Line 111"/>
            <p:cNvSpPr>
              <a:spLocks noChangeShapeType="1"/>
            </p:cNvSpPr>
            <p:nvPr/>
          </p:nvSpPr>
          <p:spPr bwMode="auto">
            <a:xfrm flipH="1">
              <a:off x="2438400" y="2971800"/>
              <a:ext cx="609600" cy="914400"/>
            </a:xfrm>
            <a:prstGeom prst="line">
              <a:avLst/>
            </a:prstGeom>
            <a:noFill/>
            <a:ln w="9525">
              <a:solidFill>
                <a:schemeClr val="accent2"/>
              </a:solidFill>
              <a:round/>
              <a:headEnd/>
              <a:tailEnd type="triangle" w="med" len="med"/>
            </a:ln>
          </p:spPr>
          <p:txBody>
            <a:bodyPr wrap="none" anchor="ctr"/>
            <a:lstStyle/>
            <a:p>
              <a:endParaRPr lang="bg-BG"/>
            </a:p>
          </p:txBody>
        </p:sp>
        <p:sp>
          <p:nvSpPr>
            <p:cNvPr id="15419" name="Text Box 112"/>
            <p:cNvSpPr txBox="1">
              <a:spLocks noChangeArrowheads="1"/>
            </p:cNvSpPr>
            <p:nvPr/>
          </p:nvSpPr>
          <p:spPr bwMode="auto">
            <a:xfrm>
              <a:off x="6248400" y="1447800"/>
              <a:ext cx="2667000" cy="1200150"/>
            </a:xfrm>
            <a:prstGeom prst="rect">
              <a:avLst/>
            </a:prstGeom>
            <a:noFill/>
            <a:ln w="9525">
              <a:solidFill>
                <a:schemeClr val="accent2"/>
              </a:solidFill>
              <a:miter lim="800000"/>
              <a:headEnd/>
              <a:tailEnd/>
            </a:ln>
          </p:spPr>
          <p:txBody>
            <a:bodyPr>
              <a:spAutoFit/>
            </a:bodyPr>
            <a:lstStyle/>
            <a:p>
              <a:pPr>
                <a:spcBef>
                  <a:spcPct val="50000"/>
                </a:spcBef>
              </a:pPr>
              <a:r>
                <a:rPr lang="bg-BG" sz="1800"/>
                <a:t>Лендерт Амерал, </a:t>
              </a:r>
              <a:r>
                <a:rPr lang="bg-BG" sz="1800" i="1"/>
                <a:t>Алгоритми и структури от данни в С++, ИК СОФТЕХ,</a:t>
              </a:r>
              <a:r>
                <a:rPr lang="bg-BG" sz="1800"/>
                <a:t> С., 2001</a:t>
              </a:r>
              <a:endParaRPr lang="en-US" sz="1800"/>
            </a:p>
          </p:txBody>
        </p:sp>
        <p:sp>
          <p:nvSpPr>
            <p:cNvPr id="15420" name="Line 113"/>
            <p:cNvSpPr>
              <a:spLocks noChangeShapeType="1"/>
            </p:cNvSpPr>
            <p:nvPr/>
          </p:nvSpPr>
          <p:spPr bwMode="auto">
            <a:xfrm>
              <a:off x="7543800" y="2743200"/>
              <a:ext cx="0" cy="762000"/>
            </a:xfrm>
            <a:prstGeom prst="line">
              <a:avLst/>
            </a:prstGeom>
            <a:noFill/>
            <a:ln w="9525">
              <a:solidFill>
                <a:schemeClr val="accent2"/>
              </a:solidFill>
              <a:round/>
              <a:headEnd/>
              <a:tailEnd type="triangle" w="med" len="med"/>
            </a:ln>
          </p:spPr>
          <p:txBody>
            <a:bodyPr wrap="none" anchor="ctr"/>
            <a:lstStyle/>
            <a:p>
              <a:endParaRPr lang="bg-BG"/>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116013" y="404813"/>
            <a:ext cx="7772400" cy="5867400"/>
          </a:xfrm>
        </p:spPr>
        <p:txBody>
          <a:bodyPr>
            <a:normAutofit fontScale="90000"/>
          </a:bodyPr>
          <a:lstStyle/>
          <a:p>
            <a:pPr eaLnBrk="1" fontAlgn="auto" hangingPunct="1">
              <a:spcAft>
                <a:spcPts val="0"/>
              </a:spcAft>
              <a:defRPr/>
            </a:pPr>
            <a:r>
              <a:rPr lang="en-US" sz="2400">
                <a:solidFill>
                  <a:schemeClr val="tx2">
                    <a:satMod val="130000"/>
                  </a:schemeClr>
                </a:solidFill>
              </a:rPr>
              <a:t>	</a:t>
            </a:r>
            <a:br>
              <a:rPr lang="en-US" sz="2400">
                <a:solidFill>
                  <a:schemeClr val="tx2">
                    <a:satMod val="130000"/>
                  </a:schemeClr>
                </a:solidFill>
              </a:rPr>
            </a:br>
            <a:r>
              <a:rPr lang="en-US" sz="2400">
                <a:solidFill>
                  <a:schemeClr val="tx2">
                    <a:satMod val="130000"/>
                  </a:schemeClr>
                </a:solidFill>
              </a:rPr>
              <a:t/>
            </a:r>
            <a:br>
              <a:rPr lang="en-US" sz="2400">
                <a:solidFill>
                  <a:schemeClr val="tx2">
                    <a:satMod val="130000"/>
                  </a:schemeClr>
                </a:solidFill>
              </a:rPr>
            </a:br>
            <a:r>
              <a:rPr lang="en-US" sz="2400">
                <a:solidFill>
                  <a:schemeClr val="tx2">
                    <a:satMod val="130000"/>
                  </a:schemeClr>
                </a:solidFill>
              </a:rPr>
              <a:t/>
            </a:r>
            <a:br>
              <a:rPr lang="en-US" sz="2400">
                <a:solidFill>
                  <a:schemeClr val="tx2">
                    <a:satMod val="130000"/>
                  </a:schemeClr>
                </a:solidFill>
              </a:rPr>
            </a:br>
            <a:r>
              <a:rPr lang="en-US" sz="2400">
                <a:solidFill>
                  <a:schemeClr val="tx2">
                    <a:satMod val="130000"/>
                  </a:schemeClr>
                </a:solidFill>
              </a:rPr>
              <a:t>	</a:t>
            </a:r>
            <a:r>
              <a:rPr lang="bg-BG" sz="2400">
                <a:solidFill>
                  <a:schemeClr val="tx1"/>
                </a:solidFill>
              </a:rPr>
              <a:t>Най-голямо приложение намира частния случай на дървовидна структура - двоично или бинарно дърво </a:t>
            </a:r>
            <a:r>
              <a:rPr lang="bg-BG" sz="2400">
                <a:solidFill>
                  <a:schemeClr val="tx2">
                    <a:satMod val="130000"/>
                  </a:schemeClr>
                </a:solidFill>
              </a:rPr>
              <a:t/>
            </a:r>
            <a:br>
              <a:rPr lang="bg-BG" sz="2400">
                <a:solidFill>
                  <a:schemeClr val="tx2">
                    <a:satMod val="130000"/>
                  </a:schemeClr>
                </a:solidFill>
              </a:rPr>
            </a:br>
            <a:r>
              <a:rPr lang="bg-BG" sz="2400">
                <a:solidFill>
                  <a:schemeClr val="tx1"/>
                </a:solidFill>
              </a:rPr>
              <a:t>	Двоично дърво е дървовидна структура от степен 2, т.е. всеки възел има не повече от два наследника - ляв и десен:</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000">
                <a:solidFill>
                  <a:schemeClr val="tx1"/>
                </a:solidFill>
              </a:rPr>
              <a:t>Динамично представяне на двоично дърво.</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latin typeface="Courier New" pitchFamily="49" charset="0"/>
              </a:rPr>
              <a:t>struct elem</a:t>
            </a:r>
            <a:br>
              <a:rPr lang="bg-BG" sz="2000">
                <a:solidFill>
                  <a:schemeClr val="tx1"/>
                </a:solidFill>
                <a:latin typeface="Courier New" pitchFamily="49" charset="0"/>
              </a:rPr>
            </a:br>
            <a:r>
              <a:rPr lang="bg-BG" sz="2000">
                <a:solidFill>
                  <a:schemeClr val="tx1"/>
                </a:solidFill>
                <a:latin typeface="Courier New" pitchFamily="49" charset="0"/>
              </a:rPr>
              <a:t>   {char key; elem *left, *right;} *root;</a:t>
            </a:r>
            <a:r>
              <a:rPr lang="bg-BG">
                <a:solidFill>
                  <a:schemeClr val="tx1"/>
                </a:solidFill>
                <a:latin typeface="Courier New" pitchFamily="49" charset="0"/>
              </a:rPr>
              <a:t/>
            </a:r>
            <a:br>
              <a:rPr lang="bg-BG">
                <a:solidFill>
                  <a:schemeClr val="tx1"/>
                </a:solidFill>
                <a:latin typeface="Courier New" pitchFamily="49" charset="0"/>
              </a:rPr>
            </a:br>
            <a:r>
              <a:rPr lang="bg-BG">
                <a:solidFill>
                  <a:schemeClr val="tx1"/>
                </a:solidFill>
              </a:rPr>
              <a:t/>
            </a:r>
            <a:br>
              <a:rPr lang="bg-BG">
                <a:solidFill>
                  <a:schemeClr val="tx1"/>
                </a:solidFill>
              </a:rPr>
            </a:br>
            <a:endParaRPr lang="bg-BG">
              <a:solidFill>
                <a:schemeClr val="tx1"/>
              </a:solidFill>
            </a:endParaRPr>
          </a:p>
        </p:txBody>
      </p:sp>
      <p:grpSp>
        <p:nvGrpSpPr>
          <p:cNvPr id="16387" name="Group 61"/>
          <p:cNvGrpSpPr>
            <a:grpSpLocks/>
          </p:cNvGrpSpPr>
          <p:nvPr/>
        </p:nvGrpSpPr>
        <p:grpSpPr bwMode="auto">
          <a:xfrm>
            <a:off x="2268538" y="2276475"/>
            <a:ext cx="5791200" cy="2286000"/>
            <a:chOff x="1600200" y="2362200"/>
            <a:chExt cx="5791200" cy="2286000"/>
          </a:xfrm>
        </p:grpSpPr>
        <p:sp>
          <p:nvSpPr>
            <p:cNvPr id="16388" name="Oval 4"/>
            <p:cNvSpPr>
              <a:spLocks noChangeArrowheads="1"/>
            </p:cNvSpPr>
            <p:nvPr/>
          </p:nvSpPr>
          <p:spPr bwMode="auto">
            <a:xfrm>
              <a:off x="5331178" y="2403475"/>
              <a:ext cx="427849" cy="356658"/>
            </a:xfrm>
            <a:prstGeom prst="ellipse">
              <a:avLst/>
            </a:prstGeom>
            <a:noFill/>
            <a:ln w="12700">
              <a:solidFill>
                <a:srgbClr val="000000"/>
              </a:solidFill>
              <a:round/>
              <a:headEnd/>
              <a:tailEnd/>
            </a:ln>
          </p:spPr>
          <p:txBody>
            <a:bodyPr/>
            <a:lstStyle/>
            <a:p>
              <a:endParaRPr lang="bg-BG"/>
            </a:p>
          </p:txBody>
        </p:sp>
        <p:sp>
          <p:nvSpPr>
            <p:cNvPr id="16389" name="Oval 5"/>
            <p:cNvSpPr>
              <a:spLocks noChangeArrowheads="1"/>
            </p:cNvSpPr>
            <p:nvPr/>
          </p:nvSpPr>
          <p:spPr bwMode="auto">
            <a:xfrm>
              <a:off x="4651587" y="3097742"/>
              <a:ext cx="427849" cy="356658"/>
            </a:xfrm>
            <a:prstGeom prst="ellipse">
              <a:avLst/>
            </a:prstGeom>
            <a:noFill/>
            <a:ln w="12700">
              <a:solidFill>
                <a:srgbClr val="000000"/>
              </a:solidFill>
              <a:round/>
              <a:headEnd/>
              <a:tailEnd/>
            </a:ln>
          </p:spPr>
          <p:txBody>
            <a:bodyPr/>
            <a:lstStyle/>
            <a:p>
              <a:endParaRPr lang="bg-BG"/>
            </a:p>
          </p:txBody>
        </p:sp>
        <p:sp>
          <p:nvSpPr>
            <p:cNvPr id="16390" name="Oval 6"/>
            <p:cNvSpPr>
              <a:spLocks noChangeArrowheads="1"/>
            </p:cNvSpPr>
            <p:nvPr/>
          </p:nvSpPr>
          <p:spPr bwMode="auto">
            <a:xfrm>
              <a:off x="6073987" y="3075517"/>
              <a:ext cx="427849" cy="371475"/>
            </a:xfrm>
            <a:prstGeom prst="ellipse">
              <a:avLst/>
            </a:prstGeom>
            <a:noFill/>
            <a:ln w="12700">
              <a:solidFill>
                <a:srgbClr val="000000"/>
              </a:solidFill>
              <a:round/>
              <a:headEnd/>
              <a:tailEnd/>
            </a:ln>
          </p:spPr>
          <p:txBody>
            <a:bodyPr/>
            <a:lstStyle/>
            <a:p>
              <a:endParaRPr lang="bg-BG"/>
            </a:p>
          </p:txBody>
        </p:sp>
        <p:sp>
          <p:nvSpPr>
            <p:cNvPr id="16391" name="Oval 7"/>
            <p:cNvSpPr>
              <a:spLocks noChangeArrowheads="1"/>
            </p:cNvSpPr>
            <p:nvPr/>
          </p:nvSpPr>
          <p:spPr bwMode="auto">
            <a:xfrm>
              <a:off x="4089400" y="3822700"/>
              <a:ext cx="427849" cy="356658"/>
            </a:xfrm>
            <a:prstGeom prst="ellipse">
              <a:avLst/>
            </a:prstGeom>
            <a:noFill/>
            <a:ln w="12700">
              <a:solidFill>
                <a:srgbClr val="000000"/>
              </a:solidFill>
              <a:round/>
              <a:headEnd/>
              <a:tailEnd/>
            </a:ln>
          </p:spPr>
          <p:txBody>
            <a:bodyPr/>
            <a:lstStyle/>
            <a:p>
              <a:endParaRPr lang="bg-BG"/>
            </a:p>
          </p:txBody>
        </p:sp>
        <p:sp>
          <p:nvSpPr>
            <p:cNvPr id="16392" name="Oval 8"/>
            <p:cNvSpPr>
              <a:spLocks noChangeArrowheads="1"/>
            </p:cNvSpPr>
            <p:nvPr/>
          </p:nvSpPr>
          <p:spPr bwMode="auto">
            <a:xfrm>
              <a:off x="6609080" y="3716867"/>
              <a:ext cx="427849" cy="356658"/>
            </a:xfrm>
            <a:prstGeom prst="ellipse">
              <a:avLst/>
            </a:prstGeom>
            <a:noFill/>
            <a:ln w="12700">
              <a:solidFill>
                <a:srgbClr val="000000"/>
              </a:solidFill>
              <a:round/>
              <a:headEnd/>
              <a:tailEnd/>
            </a:ln>
          </p:spPr>
          <p:txBody>
            <a:bodyPr/>
            <a:lstStyle/>
            <a:p>
              <a:endParaRPr lang="bg-BG"/>
            </a:p>
          </p:txBody>
        </p:sp>
        <p:sp>
          <p:nvSpPr>
            <p:cNvPr id="16393" name="Oval 9"/>
            <p:cNvSpPr>
              <a:spLocks noChangeArrowheads="1"/>
            </p:cNvSpPr>
            <p:nvPr/>
          </p:nvSpPr>
          <p:spPr bwMode="auto">
            <a:xfrm>
              <a:off x="5067018" y="3801533"/>
              <a:ext cx="427849" cy="356658"/>
            </a:xfrm>
            <a:prstGeom prst="ellipse">
              <a:avLst/>
            </a:prstGeom>
            <a:noFill/>
            <a:ln w="12700">
              <a:solidFill>
                <a:srgbClr val="000000"/>
              </a:solidFill>
              <a:round/>
              <a:headEnd/>
              <a:tailEnd/>
            </a:ln>
          </p:spPr>
          <p:txBody>
            <a:bodyPr/>
            <a:lstStyle/>
            <a:p>
              <a:endParaRPr lang="bg-BG"/>
            </a:p>
          </p:txBody>
        </p:sp>
        <p:sp>
          <p:nvSpPr>
            <p:cNvPr id="16394" name="Line 10"/>
            <p:cNvSpPr>
              <a:spLocks noChangeShapeType="1"/>
            </p:cNvSpPr>
            <p:nvPr/>
          </p:nvSpPr>
          <p:spPr bwMode="auto">
            <a:xfrm flipH="1">
              <a:off x="4983480" y="2729442"/>
              <a:ext cx="412044" cy="386292"/>
            </a:xfrm>
            <a:prstGeom prst="line">
              <a:avLst/>
            </a:prstGeom>
            <a:noFill/>
            <a:ln w="12700">
              <a:solidFill>
                <a:srgbClr val="000000"/>
              </a:solidFill>
              <a:round/>
              <a:headEnd type="none" w="sm" len="sm"/>
              <a:tailEnd type="triangle" w="sm" len="med"/>
            </a:ln>
          </p:spPr>
          <p:txBody>
            <a:bodyPr/>
            <a:lstStyle/>
            <a:p>
              <a:endParaRPr lang="bg-BG"/>
            </a:p>
          </p:txBody>
        </p:sp>
        <p:sp>
          <p:nvSpPr>
            <p:cNvPr id="16395" name="Line 11"/>
            <p:cNvSpPr>
              <a:spLocks noChangeShapeType="1"/>
            </p:cNvSpPr>
            <p:nvPr/>
          </p:nvSpPr>
          <p:spPr bwMode="auto">
            <a:xfrm>
              <a:off x="5694680" y="2714625"/>
              <a:ext cx="443653" cy="430742"/>
            </a:xfrm>
            <a:prstGeom prst="line">
              <a:avLst/>
            </a:prstGeom>
            <a:noFill/>
            <a:ln w="12700">
              <a:solidFill>
                <a:srgbClr val="000000"/>
              </a:solidFill>
              <a:round/>
              <a:headEnd type="none" w="sm" len="sm"/>
              <a:tailEnd type="triangle" w="sm" len="med"/>
            </a:ln>
          </p:spPr>
          <p:txBody>
            <a:bodyPr/>
            <a:lstStyle/>
            <a:p>
              <a:endParaRPr lang="bg-BG"/>
            </a:p>
          </p:txBody>
        </p:sp>
        <p:sp>
          <p:nvSpPr>
            <p:cNvPr id="16396" name="Line 12"/>
            <p:cNvSpPr>
              <a:spLocks noChangeShapeType="1"/>
            </p:cNvSpPr>
            <p:nvPr/>
          </p:nvSpPr>
          <p:spPr bwMode="auto">
            <a:xfrm flipH="1">
              <a:off x="4376138" y="3403600"/>
              <a:ext cx="317218" cy="430742"/>
            </a:xfrm>
            <a:prstGeom prst="line">
              <a:avLst/>
            </a:prstGeom>
            <a:noFill/>
            <a:ln w="12700">
              <a:solidFill>
                <a:srgbClr val="000000"/>
              </a:solidFill>
              <a:round/>
              <a:headEnd type="none" w="sm" len="sm"/>
              <a:tailEnd type="triangle" w="sm" len="med"/>
            </a:ln>
          </p:spPr>
          <p:txBody>
            <a:bodyPr/>
            <a:lstStyle/>
            <a:p>
              <a:endParaRPr lang="bg-BG"/>
            </a:p>
          </p:txBody>
        </p:sp>
        <p:sp>
          <p:nvSpPr>
            <p:cNvPr id="16397" name="Line 13"/>
            <p:cNvSpPr>
              <a:spLocks noChangeShapeType="1"/>
            </p:cNvSpPr>
            <p:nvPr/>
          </p:nvSpPr>
          <p:spPr bwMode="auto">
            <a:xfrm>
              <a:off x="5035409" y="3391958"/>
              <a:ext cx="206587" cy="410633"/>
            </a:xfrm>
            <a:prstGeom prst="line">
              <a:avLst/>
            </a:prstGeom>
            <a:noFill/>
            <a:ln w="12700">
              <a:solidFill>
                <a:srgbClr val="000000"/>
              </a:solidFill>
              <a:round/>
              <a:headEnd type="none" w="sm" len="sm"/>
              <a:tailEnd type="triangle" w="sm" len="med"/>
            </a:ln>
          </p:spPr>
          <p:txBody>
            <a:bodyPr/>
            <a:lstStyle/>
            <a:p>
              <a:endParaRPr lang="bg-BG"/>
            </a:p>
          </p:txBody>
        </p:sp>
        <p:sp>
          <p:nvSpPr>
            <p:cNvPr id="16398" name="Line 14"/>
            <p:cNvSpPr>
              <a:spLocks noChangeShapeType="1"/>
            </p:cNvSpPr>
            <p:nvPr/>
          </p:nvSpPr>
          <p:spPr bwMode="auto">
            <a:xfrm>
              <a:off x="6444262" y="3399367"/>
              <a:ext cx="254000" cy="356658"/>
            </a:xfrm>
            <a:prstGeom prst="line">
              <a:avLst/>
            </a:prstGeom>
            <a:noFill/>
            <a:ln w="12700">
              <a:solidFill>
                <a:srgbClr val="000000"/>
              </a:solidFill>
              <a:round/>
              <a:headEnd type="none" w="sm" len="sm"/>
              <a:tailEnd type="triangle" w="sm" len="med"/>
            </a:ln>
          </p:spPr>
          <p:txBody>
            <a:bodyPr/>
            <a:lstStyle/>
            <a:p>
              <a:endParaRPr lang="bg-BG"/>
            </a:p>
          </p:txBody>
        </p:sp>
        <p:sp>
          <p:nvSpPr>
            <p:cNvPr id="16399" name="Line 15"/>
            <p:cNvSpPr>
              <a:spLocks noChangeShapeType="1"/>
            </p:cNvSpPr>
            <p:nvPr/>
          </p:nvSpPr>
          <p:spPr bwMode="auto">
            <a:xfrm flipH="1">
              <a:off x="3931356" y="4147608"/>
              <a:ext cx="203200" cy="269875"/>
            </a:xfrm>
            <a:prstGeom prst="line">
              <a:avLst/>
            </a:prstGeom>
            <a:noFill/>
            <a:ln w="12700">
              <a:solidFill>
                <a:srgbClr val="000000"/>
              </a:solidFill>
              <a:round/>
              <a:headEnd/>
              <a:tailEnd type="triangle" w="sm" len="med"/>
            </a:ln>
          </p:spPr>
          <p:txBody>
            <a:bodyPr/>
            <a:lstStyle/>
            <a:p>
              <a:endParaRPr lang="bg-BG"/>
            </a:p>
          </p:txBody>
        </p:sp>
        <p:sp>
          <p:nvSpPr>
            <p:cNvPr id="16400" name="Line 16"/>
            <p:cNvSpPr>
              <a:spLocks noChangeShapeType="1"/>
            </p:cNvSpPr>
            <p:nvPr/>
          </p:nvSpPr>
          <p:spPr bwMode="auto">
            <a:xfrm>
              <a:off x="4433711" y="4150783"/>
              <a:ext cx="169333" cy="254000"/>
            </a:xfrm>
            <a:prstGeom prst="line">
              <a:avLst/>
            </a:prstGeom>
            <a:noFill/>
            <a:ln w="12700">
              <a:solidFill>
                <a:srgbClr val="000000"/>
              </a:solidFill>
              <a:round/>
              <a:headEnd/>
              <a:tailEnd type="triangle" w="sm" len="med"/>
            </a:ln>
          </p:spPr>
          <p:txBody>
            <a:bodyPr/>
            <a:lstStyle/>
            <a:p>
              <a:endParaRPr lang="bg-BG"/>
            </a:p>
          </p:txBody>
        </p:sp>
        <p:sp>
          <p:nvSpPr>
            <p:cNvPr id="16401" name="Line 17"/>
            <p:cNvSpPr>
              <a:spLocks noChangeShapeType="1"/>
            </p:cNvSpPr>
            <p:nvPr/>
          </p:nvSpPr>
          <p:spPr bwMode="auto">
            <a:xfrm flipH="1">
              <a:off x="4992511" y="4140200"/>
              <a:ext cx="152400" cy="222250"/>
            </a:xfrm>
            <a:prstGeom prst="line">
              <a:avLst/>
            </a:prstGeom>
            <a:noFill/>
            <a:ln w="12700">
              <a:solidFill>
                <a:srgbClr val="000000"/>
              </a:solidFill>
              <a:round/>
              <a:headEnd/>
              <a:tailEnd type="triangle" w="sm" len="med"/>
            </a:ln>
          </p:spPr>
          <p:txBody>
            <a:bodyPr/>
            <a:lstStyle/>
            <a:p>
              <a:endParaRPr lang="bg-BG"/>
            </a:p>
          </p:txBody>
        </p:sp>
        <p:sp>
          <p:nvSpPr>
            <p:cNvPr id="16402" name="Line 18"/>
            <p:cNvSpPr>
              <a:spLocks noChangeShapeType="1"/>
            </p:cNvSpPr>
            <p:nvPr/>
          </p:nvSpPr>
          <p:spPr bwMode="auto">
            <a:xfrm>
              <a:off x="5404556" y="4119033"/>
              <a:ext cx="203200" cy="285750"/>
            </a:xfrm>
            <a:prstGeom prst="line">
              <a:avLst/>
            </a:prstGeom>
            <a:noFill/>
            <a:ln w="12700">
              <a:solidFill>
                <a:srgbClr val="000000"/>
              </a:solidFill>
              <a:round/>
              <a:headEnd/>
              <a:tailEnd type="triangle" w="sm" len="med"/>
            </a:ln>
          </p:spPr>
          <p:txBody>
            <a:bodyPr/>
            <a:lstStyle/>
            <a:p>
              <a:endParaRPr lang="bg-BG"/>
            </a:p>
          </p:txBody>
        </p:sp>
        <p:sp>
          <p:nvSpPr>
            <p:cNvPr id="16403" name="Line 19"/>
            <p:cNvSpPr>
              <a:spLocks noChangeShapeType="1"/>
            </p:cNvSpPr>
            <p:nvPr/>
          </p:nvSpPr>
          <p:spPr bwMode="auto">
            <a:xfrm flipH="1">
              <a:off x="5952067" y="3406775"/>
              <a:ext cx="186267" cy="396875"/>
            </a:xfrm>
            <a:prstGeom prst="line">
              <a:avLst/>
            </a:prstGeom>
            <a:noFill/>
            <a:ln w="12700">
              <a:solidFill>
                <a:srgbClr val="000000"/>
              </a:solidFill>
              <a:round/>
              <a:headEnd/>
              <a:tailEnd type="triangle" w="sm" len="med"/>
            </a:ln>
          </p:spPr>
          <p:txBody>
            <a:bodyPr/>
            <a:lstStyle/>
            <a:p>
              <a:endParaRPr lang="bg-BG"/>
            </a:p>
          </p:txBody>
        </p:sp>
        <p:sp>
          <p:nvSpPr>
            <p:cNvPr id="16404" name="Line 20"/>
            <p:cNvSpPr>
              <a:spLocks noChangeShapeType="1"/>
            </p:cNvSpPr>
            <p:nvPr/>
          </p:nvSpPr>
          <p:spPr bwMode="auto">
            <a:xfrm flipH="1">
              <a:off x="6499578" y="4034367"/>
              <a:ext cx="169333" cy="423333"/>
            </a:xfrm>
            <a:prstGeom prst="line">
              <a:avLst/>
            </a:prstGeom>
            <a:noFill/>
            <a:ln w="12700">
              <a:solidFill>
                <a:srgbClr val="000000"/>
              </a:solidFill>
              <a:round/>
              <a:headEnd/>
              <a:tailEnd type="triangle" w="sm" len="med"/>
            </a:ln>
          </p:spPr>
          <p:txBody>
            <a:bodyPr/>
            <a:lstStyle/>
            <a:p>
              <a:endParaRPr lang="bg-BG"/>
            </a:p>
          </p:txBody>
        </p:sp>
        <p:sp>
          <p:nvSpPr>
            <p:cNvPr id="16405" name="Line 21"/>
            <p:cNvSpPr>
              <a:spLocks noChangeShapeType="1"/>
            </p:cNvSpPr>
            <p:nvPr/>
          </p:nvSpPr>
          <p:spPr bwMode="auto">
            <a:xfrm>
              <a:off x="6979356" y="4034367"/>
              <a:ext cx="333022" cy="423333"/>
            </a:xfrm>
            <a:prstGeom prst="line">
              <a:avLst/>
            </a:prstGeom>
            <a:noFill/>
            <a:ln w="12700">
              <a:solidFill>
                <a:srgbClr val="000000"/>
              </a:solidFill>
              <a:round/>
              <a:headEnd/>
              <a:tailEnd type="triangle" w="sm" len="med"/>
            </a:ln>
          </p:spPr>
          <p:txBody>
            <a:bodyPr/>
            <a:lstStyle/>
            <a:p>
              <a:endParaRPr lang="bg-BG"/>
            </a:p>
          </p:txBody>
        </p:sp>
        <p:grpSp>
          <p:nvGrpSpPr>
            <p:cNvPr id="16406" name="Group 22"/>
            <p:cNvGrpSpPr>
              <a:grpSpLocks/>
            </p:cNvGrpSpPr>
            <p:nvPr/>
          </p:nvGrpSpPr>
          <p:grpSpPr bwMode="auto">
            <a:xfrm>
              <a:off x="4885267" y="4383617"/>
              <a:ext cx="237067" cy="111125"/>
              <a:chOff x="3151" y="9259"/>
              <a:chExt cx="210" cy="105"/>
            </a:xfrm>
          </p:grpSpPr>
          <p:sp>
            <p:nvSpPr>
              <p:cNvPr id="16441" name="Line 2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42" name="Line 2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43" name="Line 2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07" name="Group 26"/>
            <p:cNvGrpSpPr>
              <a:grpSpLocks/>
            </p:cNvGrpSpPr>
            <p:nvPr/>
          </p:nvGrpSpPr>
          <p:grpSpPr bwMode="auto">
            <a:xfrm>
              <a:off x="5483578" y="4415367"/>
              <a:ext cx="237067" cy="111125"/>
              <a:chOff x="3151" y="9259"/>
              <a:chExt cx="210" cy="105"/>
            </a:xfrm>
          </p:grpSpPr>
          <p:sp>
            <p:nvSpPr>
              <p:cNvPr id="16438" name="Line 2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39" name="Line 2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40" name="Line 2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08" name="Group 30"/>
            <p:cNvGrpSpPr>
              <a:grpSpLocks/>
            </p:cNvGrpSpPr>
            <p:nvPr/>
          </p:nvGrpSpPr>
          <p:grpSpPr bwMode="auto">
            <a:xfrm>
              <a:off x="6375400" y="4447117"/>
              <a:ext cx="237067" cy="111125"/>
              <a:chOff x="3151" y="9259"/>
              <a:chExt cx="210" cy="105"/>
            </a:xfrm>
          </p:grpSpPr>
          <p:sp>
            <p:nvSpPr>
              <p:cNvPr id="16435" name="Line 31"/>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36" name="Line 32"/>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37" name="Line 33"/>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09" name="Group 34"/>
            <p:cNvGrpSpPr>
              <a:grpSpLocks/>
            </p:cNvGrpSpPr>
            <p:nvPr/>
          </p:nvGrpSpPr>
          <p:grpSpPr bwMode="auto">
            <a:xfrm>
              <a:off x="7154333" y="4447117"/>
              <a:ext cx="237067" cy="111125"/>
              <a:chOff x="3151" y="9259"/>
              <a:chExt cx="210" cy="105"/>
            </a:xfrm>
          </p:grpSpPr>
          <p:sp>
            <p:nvSpPr>
              <p:cNvPr id="16432" name="Line 35"/>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33" name="Line 36"/>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34" name="Line 37"/>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10" name="Group 38"/>
            <p:cNvGrpSpPr>
              <a:grpSpLocks/>
            </p:cNvGrpSpPr>
            <p:nvPr/>
          </p:nvGrpSpPr>
          <p:grpSpPr bwMode="auto">
            <a:xfrm>
              <a:off x="5844822" y="3822700"/>
              <a:ext cx="237067" cy="111125"/>
              <a:chOff x="3151" y="9259"/>
              <a:chExt cx="210" cy="105"/>
            </a:xfrm>
          </p:grpSpPr>
          <p:sp>
            <p:nvSpPr>
              <p:cNvPr id="16429" name="Line 39"/>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30" name="Line 40"/>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31" name="Line 41"/>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11" name="Group 42"/>
            <p:cNvGrpSpPr>
              <a:grpSpLocks/>
            </p:cNvGrpSpPr>
            <p:nvPr/>
          </p:nvGrpSpPr>
          <p:grpSpPr bwMode="auto">
            <a:xfrm>
              <a:off x="4467578" y="4415367"/>
              <a:ext cx="237067" cy="111125"/>
              <a:chOff x="3151" y="9259"/>
              <a:chExt cx="210" cy="105"/>
            </a:xfrm>
          </p:grpSpPr>
          <p:sp>
            <p:nvSpPr>
              <p:cNvPr id="16426" name="Line 4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27" name="Line 4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28" name="Line 4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6412" name="Group 46"/>
            <p:cNvGrpSpPr>
              <a:grpSpLocks/>
            </p:cNvGrpSpPr>
            <p:nvPr/>
          </p:nvGrpSpPr>
          <p:grpSpPr bwMode="auto">
            <a:xfrm>
              <a:off x="3835400" y="4436533"/>
              <a:ext cx="237067" cy="111125"/>
              <a:chOff x="3151" y="9259"/>
              <a:chExt cx="210" cy="105"/>
            </a:xfrm>
          </p:grpSpPr>
          <p:sp>
            <p:nvSpPr>
              <p:cNvPr id="16423" name="Line 4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6424" name="Line 4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6425" name="Line 4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sp>
          <p:nvSpPr>
            <p:cNvPr id="16413" name="Text Box 50"/>
            <p:cNvSpPr txBox="1">
              <a:spLocks noChangeArrowheads="1"/>
            </p:cNvSpPr>
            <p:nvPr/>
          </p:nvSpPr>
          <p:spPr bwMode="auto">
            <a:xfrm>
              <a:off x="1600200" y="2362200"/>
              <a:ext cx="1219200" cy="381000"/>
            </a:xfrm>
            <a:prstGeom prst="rect">
              <a:avLst/>
            </a:prstGeom>
            <a:noFill/>
            <a:ln w="9525">
              <a:noFill/>
              <a:miter lim="800000"/>
              <a:headEnd/>
              <a:tailEnd/>
            </a:ln>
          </p:spPr>
          <p:txBody>
            <a:bodyPr/>
            <a:lstStyle/>
            <a:p>
              <a:r>
                <a:rPr lang="bg-BG" sz="2000" b="1">
                  <a:latin typeface="Courier New" pitchFamily="49" charset="0"/>
                </a:rPr>
                <a:t>Ниво 0</a:t>
              </a:r>
              <a:endParaRPr lang="bg-BG" sz="1000">
                <a:latin typeface="Courier New" pitchFamily="49" charset="0"/>
              </a:endParaRPr>
            </a:p>
          </p:txBody>
        </p:sp>
        <p:sp>
          <p:nvSpPr>
            <p:cNvPr id="16414" name="Text Box 51"/>
            <p:cNvSpPr txBox="1">
              <a:spLocks noChangeArrowheads="1"/>
            </p:cNvSpPr>
            <p:nvPr/>
          </p:nvSpPr>
          <p:spPr bwMode="auto">
            <a:xfrm>
              <a:off x="1600200" y="3060700"/>
              <a:ext cx="1219200" cy="381000"/>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6415" name="Text Box 52"/>
            <p:cNvSpPr txBox="1">
              <a:spLocks noChangeArrowheads="1"/>
            </p:cNvSpPr>
            <p:nvPr/>
          </p:nvSpPr>
          <p:spPr bwMode="auto">
            <a:xfrm>
              <a:off x="1600200" y="3695700"/>
              <a:ext cx="1219200" cy="381000"/>
            </a:xfrm>
            <a:prstGeom prst="rect">
              <a:avLst/>
            </a:prstGeom>
            <a:noFill/>
            <a:ln w="9525">
              <a:noFill/>
              <a:miter lim="800000"/>
              <a:headEnd/>
              <a:tailEnd/>
            </a:ln>
          </p:spPr>
          <p:txBody>
            <a:bodyPr/>
            <a:lstStyle/>
            <a:p>
              <a:r>
                <a:rPr lang="bg-BG" sz="2000" b="1">
                  <a:latin typeface="Courier New" pitchFamily="49" charset="0"/>
                </a:rPr>
                <a:t>Ниво 2</a:t>
              </a:r>
              <a:endParaRPr lang="en-US" sz="1000">
                <a:latin typeface="Courier New" pitchFamily="49" charset="0"/>
              </a:endParaRPr>
            </a:p>
          </p:txBody>
        </p:sp>
        <p:sp>
          <p:nvSpPr>
            <p:cNvPr id="16416" name="Text Box 53"/>
            <p:cNvSpPr txBox="1">
              <a:spLocks noChangeArrowheads="1"/>
            </p:cNvSpPr>
            <p:nvPr/>
          </p:nvSpPr>
          <p:spPr bwMode="auto">
            <a:xfrm>
              <a:off x="1600200" y="4267200"/>
              <a:ext cx="1219200" cy="381000"/>
            </a:xfrm>
            <a:prstGeom prst="rect">
              <a:avLst/>
            </a:prstGeom>
            <a:noFill/>
            <a:ln w="9525">
              <a:noFill/>
              <a:miter lim="800000"/>
              <a:headEnd/>
              <a:tailEnd/>
            </a:ln>
          </p:spPr>
          <p:txBody>
            <a:bodyPr/>
            <a:lstStyle/>
            <a:p>
              <a:r>
                <a:rPr lang="bg-BG" sz="2000" b="1">
                  <a:latin typeface="Courier New" pitchFamily="49" charset="0"/>
                </a:rPr>
                <a:t>Ниво </a:t>
              </a:r>
              <a:r>
                <a:rPr lang="en-US" sz="2000" b="1">
                  <a:latin typeface="Courier New" pitchFamily="49" charset="0"/>
                </a:rPr>
                <a:t>3</a:t>
              </a:r>
              <a:endParaRPr lang="en-US" sz="1000">
                <a:latin typeface="Courier New" pitchFamily="49" charset="0"/>
              </a:endParaRPr>
            </a:p>
          </p:txBody>
        </p:sp>
        <p:sp>
          <p:nvSpPr>
            <p:cNvPr id="16417" name="Text Box 54"/>
            <p:cNvSpPr txBox="1">
              <a:spLocks noChangeArrowheads="1"/>
            </p:cNvSpPr>
            <p:nvPr/>
          </p:nvSpPr>
          <p:spPr bwMode="auto">
            <a:xfrm>
              <a:off x="5325533" y="2372783"/>
              <a:ext cx="609600" cy="381000"/>
            </a:xfrm>
            <a:prstGeom prst="rect">
              <a:avLst/>
            </a:prstGeom>
            <a:noFill/>
            <a:ln w="9525">
              <a:noFill/>
              <a:miter lim="800000"/>
              <a:headEnd/>
              <a:tailEnd/>
            </a:ln>
          </p:spPr>
          <p:txBody>
            <a:bodyPr/>
            <a:lstStyle/>
            <a:p>
              <a:r>
                <a:rPr lang="en-US" sz="2000" b="1">
                  <a:latin typeface="Courier New" pitchFamily="49" charset="0"/>
                </a:rPr>
                <a:t>A</a:t>
              </a:r>
              <a:endParaRPr lang="en-US" sz="1000">
                <a:latin typeface="Courier New" pitchFamily="49" charset="0"/>
              </a:endParaRPr>
            </a:p>
          </p:txBody>
        </p:sp>
        <p:sp>
          <p:nvSpPr>
            <p:cNvPr id="16418" name="Text Box 55"/>
            <p:cNvSpPr txBox="1">
              <a:spLocks noChangeArrowheads="1"/>
            </p:cNvSpPr>
            <p:nvPr/>
          </p:nvSpPr>
          <p:spPr bwMode="auto">
            <a:xfrm>
              <a:off x="4625622" y="3081867"/>
              <a:ext cx="609600" cy="381000"/>
            </a:xfrm>
            <a:prstGeom prst="rect">
              <a:avLst/>
            </a:prstGeom>
            <a:noFill/>
            <a:ln w="9525">
              <a:noFill/>
              <a:miter lim="800000"/>
              <a:headEnd/>
              <a:tailEnd/>
            </a:ln>
          </p:spPr>
          <p:txBody>
            <a:bodyPr/>
            <a:lstStyle/>
            <a:p>
              <a:r>
                <a:rPr lang="en-US" sz="2000" b="1">
                  <a:latin typeface="Courier New" pitchFamily="49" charset="0"/>
                </a:rPr>
                <a:t>B</a:t>
              </a:r>
              <a:endParaRPr lang="en-US" sz="1000">
                <a:latin typeface="Courier New" pitchFamily="49" charset="0"/>
              </a:endParaRPr>
            </a:p>
          </p:txBody>
        </p:sp>
        <p:sp>
          <p:nvSpPr>
            <p:cNvPr id="16419" name="Text Box 56"/>
            <p:cNvSpPr txBox="1">
              <a:spLocks noChangeArrowheads="1"/>
            </p:cNvSpPr>
            <p:nvPr/>
          </p:nvSpPr>
          <p:spPr bwMode="auto">
            <a:xfrm>
              <a:off x="6048022" y="3071283"/>
              <a:ext cx="609600" cy="381000"/>
            </a:xfrm>
            <a:prstGeom prst="rect">
              <a:avLst/>
            </a:prstGeom>
            <a:noFill/>
            <a:ln w="9525">
              <a:noFill/>
              <a:miter lim="800000"/>
              <a:headEnd/>
              <a:tailEnd/>
            </a:ln>
          </p:spPr>
          <p:txBody>
            <a:bodyPr/>
            <a:lstStyle/>
            <a:p>
              <a:r>
                <a:rPr lang="en-US" sz="2000" b="1">
                  <a:latin typeface="Courier New" pitchFamily="49" charset="0"/>
                </a:rPr>
                <a:t>C</a:t>
              </a:r>
              <a:endParaRPr lang="en-US" sz="1000">
                <a:latin typeface="Courier New" pitchFamily="49" charset="0"/>
              </a:endParaRPr>
            </a:p>
          </p:txBody>
        </p:sp>
        <p:sp>
          <p:nvSpPr>
            <p:cNvPr id="16420" name="Text Box 57"/>
            <p:cNvSpPr txBox="1">
              <a:spLocks noChangeArrowheads="1"/>
            </p:cNvSpPr>
            <p:nvPr/>
          </p:nvSpPr>
          <p:spPr bwMode="auto">
            <a:xfrm>
              <a:off x="4072467" y="3801533"/>
              <a:ext cx="609600" cy="381000"/>
            </a:xfrm>
            <a:prstGeom prst="rect">
              <a:avLst/>
            </a:prstGeom>
            <a:noFill/>
            <a:ln w="9525">
              <a:noFill/>
              <a:miter lim="800000"/>
              <a:headEnd/>
              <a:tailEnd/>
            </a:ln>
          </p:spPr>
          <p:txBody>
            <a:bodyPr/>
            <a:lstStyle/>
            <a:p>
              <a:r>
                <a:rPr lang="en-US" sz="2000" b="1">
                  <a:latin typeface="Courier New" pitchFamily="49" charset="0"/>
                </a:rPr>
                <a:t>D</a:t>
              </a:r>
              <a:endParaRPr lang="en-US" sz="1000">
                <a:latin typeface="Courier New" pitchFamily="49" charset="0"/>
              </a:endParaRPr>
            </a:p>
          </p:txBody>
        </p:sp>
        <p:sp>
          <p:nvSpPr>
            <p:cNvPr id="16421" name="Text Box 58"/>
            <p:cNvSpPr txBox="1">
              <a:spLocks noChangeArrowheads="1"/>
            </p:cNvSpPr>
            <p:nvPr/>
          </p:nvSpPr>
          <p:spPr bwMode="auto">
            <a:xfrm>
              <a:off x="5043311" y="3780367"/>
              <a:ext cx="609600" cy="381000"/>
            </a:xfrm>
            <a:prstGeom prst="rect">
              <a:avLst/>
            </a:prstGeom>
            <a:noFill/>
            <a:ln w="9525">
              <a:noFill/>
              <a:miter lim="800000"/>
              <a:headEnd/>
              <a:tailEnd/>
            </a:ln>
          </p:spPr>
          <p:txBody>
            <a:bodyPr/>
            <a:lstStyle/>
            <a:p>
              <a:r>
                <a:rPr lang="en-US" sz="2000" b="1">
                  <a:latin typeface="Courier New" pitchFamily="49" charset="0"/>
                </a:rPr>
                <a:t>E</a:t>
              </a:r>
              <a:endParaRPr lang="en-US" sz="1000">
                <a:latin typeface="Courier New" pitchFamily="49" charset="0"/>
              </a:endParaRPr>
            </a:p>
          </p:txBody>
        </p:sp>
        <p:sp>
          <p:nvSpPr>
            <p:cNvPr id="16422" name="Text Box 59"/>
            <p:cNvSpPr txBox="1">
              <a:spLocks noChangeArrowheads="1"/>
            </p:cNvSpPr>
            <p:nvPr/>
          </p:nvSpPr>
          <p:spPr bwMode="auto">
            <a:xfrm>
              <a:off x="6589889" y="3706283"/>
              <a:ext cx="609600" cy="381000"/>
            </a:xfrm>
            <a:prstGeom prst="rect">
              <a:avLst/>
            </a:prstGeom>
            <a:noFill/>
            <a:ln w="9525">
              <a:noFill/>
              <a:miter lim="800000"/>
              <a:headEnd/>
              <a:tailEnd/>
            </a:ln>
          </p:spPr>
          <p:txBody>
            <a:bodyPr/>
            <a:lstStyle/>
            <a:p>
              <a:r>
                <a:rPr lang="en-US" sz="2000" b="1">
                  <a:latin typeface="Courier New" pitchFamily="49" charset="0"/>
                </a:rPr>
                <a:t>F</a:t>
              </a:r>
              <a:endParaRPr lang="bg-BG" sz="1000">
                <a:latin typeface="Courier New" pitchFamily="49"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116013" y="404813"/>
            <a:ext cx="7772400" cy="6096000"/>
          </a:xfrm>
        </p:spPr>
        <p:txBody>
          <a:bodyPr/>
          <a:lstStyle/>
          <a:p>
            <a:pPr eaLnBrk="1" fontAlgn="auto" hangingPunct="1">
              <a:spcAft>
                <a:spcPts val="0"/>
              </a:spcAft>
              <a:defRPr/>
            </a:pPr>
            <a:r>
              <a:rPr lang="bg-BG" sz="1800" u="sng">
                <a:solidFill>
                  <a:schemeClr val="tx1"/>
                </a:solidFill>
              </a:rPr>
              <a:t>Няколко допълнителни дефиниции:</a:t>
            </a:r>
            <a:r>
              <a:rPr lang="bg-BG" sz="1800">
                <a:solidFill>
                  <a:schemeClr val="tx1"/>
                </a:solidFill>
              </a:rPr>
              <a:t/>
            </a:r>
            <a:br>
              <a:rPr lang="bg-BG" sz="1800">
                <a:solidFill>
                  <a:schemeClr val="tx1"/>
                </a:solidFill>
              </a:rPr>
            </a:br>
            <a:r>
              <a:rPr lang="bg-BG" sz="1800">
                <a:solidFill>
                  <a:schemeClr val="tx1"/>
                </a:solidFill>
              </a:rPr>
              <a:t> -</a:t>
            </a:r>
            <a:r>
              <a:rPr lang="en-US" sz="1800">
                <a:solidFill>
                  <a:schemeClr val="tx1"/>
                </a:solidFill>
              </a:rPr>
              <a:t> </a:t>
            </a:r>
            <a:r>
              <a:rPr lang="bg-BG" sz="1800">
                <a:solidFill>
                  <a:schemeClr val="tx1"/>
                </a:solidFill>
              </a:rPr>
              <a:t>Дължина на пътищата в дърво е сумата на нивата на неговите възли (за даденото дърво - </a:t>
            </a:r>
            <a:r>
              <a:rPr lang="en-US" sz="1800" smtClean="0">
                <a:solidFill>
                  <a:schemeClr val="tx1"/>
                </a:solidFill>
              </a:rPr>
              <a:t>2</a:t>
            </a:r>
            <a:r>
              <a:rPr lang="bg-BG" sz="1800" smtClean="0">
                <a:solidFill>
                  <a:schemeClr val="tx1"/>
                </a:solidFill>
              </a:rPr>
              <a:t>8</a:t>
            </a:r>
            <a:r>
              <a:rPr lang="bg-BG" sz="1800">
                <a:solidFill>
                  <a:schemeClr val="tx1"/>
                </a:solidFill>
              </a:rPr>
              <a:t>).</a:t>
            </a:r>
            <a:br>
              <a:rPr lang="bg-BG" sz="1800">
                <a:solidFill>
                  <a:schemeClr val="tx1"/>
                </a:solidFill>
              </a:rPr>
            </a:br>
            <a:r>
              <a:rPr lang="bg-BG" sz="1800">
                <a:solidFill>
                  <a:schemeClr val="tx1"/>
                </a:solidFill>
              </a:rPr>
              <a:t> - Дължина на вътрешните пътища в бинарно дърво е сумата от нивата на всички негови вътрешни възли (за даденото дърво - 8).</a:t>
            </a:r>
            <a:br>
              <a:rPr lang="bg-BG" sz="1800">
                <a:solidFill>
                  <a:schemeClr val="tx1"/>
                </a:solidFill>
              </a:rPr>
            </a:br>
            <a:r>
              <a:rPr lang="bg-BG" sz="1800">
                <a:solidFill>
                  <a:schemeClr val="tx1"/>
                </a:solidFill>
              </a:rPr>
              <a:t> - Дължина на външните пътища в бинарно дърво е сумата от нивата на всички негови външни възли (за даденото дърво - </a:t>
            </a:r>
            <a:r>
              <a:rPr lang="en-US" sz="1800" smtClean="0">
                <a:solidFill>
                  <a:schemeClr val="tx1"/>
                </a:solidFill>
              </a:rPr>
              <a:t>20</a:t>
            </a:r>
            <a:r>
              <a:rPr lang="bg-BG" sz="1800" smtClean="0">
                <a:solidFill>
                  <a:schemeClr val="tx1"/>
                </a:solidFill>
              </a:rPr>
              <a:t>).</a:t>
            </a:r>
            <a:r>
              <a:rPr lang="bg-BG" sz="1800">
                <a:solidFill>
                  <a:schemeClr val="tx2">
                    <a:satMod val="130000"/>
                  </a:schemeClr>
                </a:solidFill>
              </a:rPr>
              <a:t/>
            </a:r>
            <a:br>
              <a:rPr lang="bg-BG"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en-US" sz="1800">
                <a:solidFill>
                  <a:schemeClr val="tx2">
                    <a:satMod val="130000"/>
                  </a:schemeClr>
                </a:solidFill>
              </a:rPr>
              <a:t/>
            </a:r>
            <a:br>
              <a:rPr lang="en-US" sz="1800">
                <a:solidFill>
                  <a:schemeClr val="tx2">
                    <a:satMod val="130000"/>
                  </a:schemeClr>
                </a:solidFill>
              </a:rPr>
            </a:br>
            <a:r>
              <a:rPr lang="bg-BG" sz="1800">
                <a:solidFill>
                  <a:schemeClr val="tx1"/>
                </a:solidFill>
              </a:rPr>
              <a:t/>
            </a:r>
            <a:br>
              <a:rPr lang="bg-BG" sz="1800">
                <a:solidFill>
                  <a:schemeClr val="tx1"/>
                </a:solidFill>
              </a:rPr>
            </a:br>
            <a:endParaRPr lang="bg-BG" sz="1800">
              <a:solidFill>
                <a:schemeClr val="tx1"/>
              </a:solidFill>
            </a:endParaRPr>
          </a:p>
        </p:txBody>
      </p:sp>
      <p:grpSp>
        <p:nvGrpSpPr>
          <p:cNvPr id="17411" name="Group 3"/>
          <p:cNvGrpSpPr>
            <a:grpSpLocks/>
          </p:cNvGrpSpPr>
          <p:nvPr/>
        </p:nvGrpSpPr>
        <p:grpSpPr bwMode="auto">
          <a:xfrm>
            <a:off x="1600200" y="3581400"/>
            <a:ext cx="5791200" cy="2286000"/>
            <a:chOff x="801" y="8464"/>
            <a:chExt cx="5130" cy="2160"/>
          </a:xfrm>
        </p:grpSpPr>
        <p:sp>
          <p:nvSpPr>
            <p:cNvPr id="17412" name="Oval 4"/>
            <p:cNvSpPr>
              <a:spLocks noChangeArrowheads="1"/>
            </p:cNvSpPr>
            <p:nvPr/>
          </p:nvSpPr>
          <p:spPr bwMode="auto">
            <a:xfrm>
              <a:off x="4106" y="8503"/>
              <a:ext cx="379" cy="337"/>
            </a:xfrm>
            <a:prstGeom prst="ellipse">
              <a:avLst/>
            </a:prstGeom>
            <a:noFill/>
            <a:ln w="12700">
              <a:solidFill>
                <a:srgbClr val="000000"/>
              </a:solidFill>
              <a:round/>
              <a:headEnd/>
              <a:tailEnd/>
            </a:ln>
          </p:spPr>
          <p:txBody>
            <a:bodyPr/>
            <a:lstStyle/>
            <a:p>
              <a:endParaRPr lang="bg-BG"/>
            </a:p>
          </p:txBody>
        </p:sp>
        <p:sp>
          <p:nvSpPr>
            <p:cNvPr id="17413" name="Oval 5"/>
            <p:cNvSpPr>
              <a:spLocks noChangeArrowheads="1"/>
            </p:cNvSpPr>
            <p:nvPr/>
          </p:nvSpPr>
          <p:spPr bwMode="auto">
            <a:xfrm>
              <a:off x="3504" y="9159"/>
              <a:ext cx="379" cy="337"/>
            </a:xfrm>
            <a:prstGeom prst="ellipse">
              <a:avLst/>
            </a:prstGeom>
            <a:noFill/>
            <a:ln w="12700">
              <a:solidFill>
                <a:srgbClr val="000000"/>
              </a:solidFill>
              <a:round/>
              <a:headEnd/>
              <a:tailEnd/>
            </a:ln>
          </p:spPr>
          <p:txBody>
            <a:bodyPr/>
            <a:lstStyle/>
            <a:p>
              <a:endParaRPr lang="bg-BG"/>
            </a:p>
          </p:txBody>
        </p:sp>
        <p:sp>
          <p:nvSpPr>
            <p:cNvPr id="17414" name="Oval 6"/>
            <p:cNvSpPr>
              <a:spLocks noChangeArrowheads="1"/>
            </p:cNvSpPr>
            <p:nvPr/>
          </p:nvSpPr>
          <p:spPr bwMode="auto">
            <a:xfrm>
              <a:off x="4764" y="9138"/>
              <a:ext cx="379" cy="351"/>
            </a:xfrm>
            <a:prstGeom prst="ellipse">
              <a:avLst/>
            </a:prstGeom>
            <a:noFill/>
            <a:ln w="12700">
              <a:solidFill>
                <a:srgbClr val="000000"/>
              </a:solidFill>
              <a:round/>
              <a:headEnd/>
              <a:tailEnd/>
            </a:ln>
          </p:spPr>
          <p:txBody>
            <a:bodyPr/>
            <a:lstStyle/>
            <a:p>
              <a:endParaRPr lang="bg-BG"/>
            </a:p>
          </p:txBody>
        </p:sp>
        <p:sp>
          <p:nvSpPr>
            <p:cNvPr id="17415" name="Oval 7"/>
            <p:cNvSpPr>
              <a:spLocks noChangeArrowheads="1"/>
            </p:cNvSpPr>
            <p:nvPr/>
          </p:nvSpPr>
          <p:spPr bwMode="auto">
            <a:xfrm>
              <a:off x="3006" y="9844"/>
              <a:ext cx="379" cy="337"/>
            </a:xfrm>
            <a:prstGeom prst="ellipse">
              <a:avLst/>
            </a:prstGeom>
            <a:noFill/>
            <a:ln w="12700">
              <a:solidFill>
                <a:srgbClr val="000000"/>
              </a:solidFill>
              <a:round/>
              <a:headEnd/>
              <a:tailEnd/>
            </a:ln>
          </p:spPr>
          <p:txBody>
            <a:bodyPr/>
            <a:lstStyle/>
            <a:p>
              <a:endParaRPr lang="bg-BG"/>
            </a:p>
          </p:txBody>
        </p:sp>
        <p:sp>
          <p:nvSpPr>
            <p:cNvPr id="17416" name="Oval 8"/>
            <p:cNvSpPr>
              <a:spLocks noChangeArrowheads="1"/>
            </p:cNvSpPr>
            <p:nvPr/>
          </p:nvSpPr>
          <p:spPr bwMode="auto">
            <a:xfrm>
              <a:off x="5238" y="9744"/>
              <a:ext cx="379" cy="337"/>
            </a:xfrm>
            <a:prstGeom prst="ellipse">
              <a:avLst/>
            </a:prstGeom>
            <a:noFill/>
            <a:ln w="12700">
              <a:solidFill>
                <a:srgbClr val="000000"/>
              </a:solidFill>
              <a:round/>
              <a:headEnd/>
              <a:tailEnd/>
            </a:ln>
          </p:spPr>
          <p:txBody>
            <a:bodyPr/>
            <a:lstStyle/>
            <a:p>
              <a:endParaRPr lang="bg-BG"/>
            </a:p>
          </p:txBody>
        </p:sp>
        <p:sp>
          <p:nvSpPr>
            <p:cNvPr id="17417" name="Oval 9"/>
            <p:cNvSpPr>
              <a:spLocks noChangeArrowheads="1"/>
            </p:cNvSpPr>
            <p:nvPr/>
          </p:nvSpPr>
          <p:spPr bwMode="auto">
            <a:xfrm>
              <a:off x="3872" y="9824"/>
              <a:ext cx="379" cy="337"/>
            </a:xfrm>
            <a:prstGeom prst="ellipse">
              <a:avLst/>
            </a:prstGeom>
            <a:noFill/>
            <a:ln w="12700">
              <a:solidFill>
                <a:srgbClr val="000000"/>
              </a:solidFill>
              <a:round/>
              <a:headEnd/>
              <a:tailEnd/>
            </a:ln>
          </p:spPr>
          <p:txBody>
            <a:bodyPr/>
            <a:lstStyle/>
            <a:p>
              <a:endParaRPr lang="bg-BG"/>
            </a:p>
          </p:txBody>
        </p:sp>
        <p:sp>
          <p:nvSpPr>
            <p:cNvPr id="17418" name="Line 10"/>
            <p:cNvSpPr>
              <a:spLocks noChangeShapeType="1"/>
            </p:cNvSpPr>
            <p:nvPr/>
          </p:nvSpPr>
          <p:spPr bwMode="auto">
            <a:xfrm flipH="1">
              <a:off x="3798" y="8811"/>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17419" name="Line 11"/>
            <p:cNvSpPr>
              <a:spLocks noChangeShapeType="1"/>
            </p:cNvSpPr>
            <p:nvPr/>
          </p:nvSpPr>
          <p:spPr bwMode="auto">
            <a:xfrm>
              <a:off x="4428" y="8797"/>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17420" name="Line 12"/>
            <p:cNvSpPr>
              <a:spLocks noChangeShapeType="1"/>
            </p:cNvSpPr>
            <p:nvPr/>
          </p:nvSpPr>
          <p:spPr bwMode="auto">
            <a:xfrm flipH="1">
              <a:off x="3260" y="9448"/>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17421" name="Line 13"/>
            <p:cNvSpPr>
              <a:spLocks noChangeShapeType="1"/>
            </p:cNvSpPr>
            <p:nvPr/>
          </p:nvSpPr>
          <p:spPr bwMode="auto">
            <a:xfrm>
              <a:off x="3844" y="9437"/>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17422" name="Line 14"/>
            <p:cNvSpPr>
              <a:spLocks noChangeShapeType="1"/>
            </p:cNvSpPr>
            <p:nvPr/>
          </p:nvSpPr>
          <p:spPr bwMode="auto">
            <a:xfrm>
              <a:off x="5092" y="9444"/>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17423" name="Line 15"/>
            <p:cNvSpPr>
              <a:spLocks noChangeShapeType="1"/>
            </p:cNvSpPr>
            <p:nvPr/>
          </p:nvSpPr>
          <p:spPr bwMode="auto">
            <a:xfrm flipH="1">
              <a:off x="2866" y="10151"/>
              <a:ext cx="180" cy="255"/>
            </a:xfrm>
            <a:prstGeom prst="line">
              <a:avLst/>
            </a:prstGeom>
            <a:noFill/>
            <a:ln w="12700">
              <a:solidFill>
                <a:srgbClr val="000000"/>
              </a:solidFill>
              <a:round/>
              <a:headEnd/>
              <a:tailEnd type="triangle" w="sm" len="med"/>
            </a:ln>
          </p:spPr>
          <p:txBody>
            <a:bodyPr/>
            <a:lstStyle/>
            <a:p>
              <a:endParaRPr lang="bg-BG"/>
            </a:p>
          </p:txBody>
        </p:sp>
        <p:sp>
          <p:nvSpPr>
            <p:cNvPr id="17424" name="Line 16"/>
            <p:cNvSpPr>
              <a:spLocks noChangeShapeType="1"/>
            </p:cNvSpPr>
            <p:nvPr/>
          </p:nvSpPr>
          <p:spPr bwMode="auto">
            <a:xfrm>
              <a:off x="3311" y="10154"/>
              <a:ext cx="150" cy="240"/>
            </a:xfrm>
            <a:prstGeom prst="line">
              <a:avLst/>
            </a:prstGeom>
            <a:noFill/>
            <a:ln w="12700">
              <a:solidFill>
                <a:srgbClr val="000000"/>
              </a:solidFill>
              <a:round/>
              <a:headEnd/>
              <a:tailEnd type="triangle" w="sm" len="med"/>
            </a:ln>
          </p:spPr>
          <p:txBody>
            <a:bodyPr/>
            <a:lstStyle/>
            <a:p>
              <a:endParaRPr lang="bg-BG"/>
            </a:p>
          </p:txBody>
        </p:sp>
        <p:sp>
          <p:nvSpPr>
            <p:cNvPr id="17425" name="Line 17"/>
            <p:cNvSpPr>
              <a:spLocks noChangeShapeType="1"/>
            </p:cNvSpPr>
            <p:nvPr/>
          </p:nvSpPr>
          <p:spPr bwMode="auto">
            <a:xfrm flipH="1">
              <a:off x="3806" y="10144"/>
              <a:ext cx="135" cy="210"/>
            </a:xfrm>
            <a:prstGeom prst="line">
              <a:avLst/>
            </a:prstGeom>
            <a:noFill/>
            <a:ln w="12700">
              <a:solidFill>
                <a:srgbClr val="000000"/>
              </a:solidFill>
              <a:round/>
              <a:headEnd/>
              <a:tailEnd type="triangle" w="sm" len="med"/>
            </a:ln>
          </p:spPr>
          <p:txBody>
            <a:bodyPr/>
            <a:lstStyle/>
            <a:p>
              <a:endParaRPr lang="bg-BG"/>
            </a:p>
          </p:txBody>
        </p:sp>
        <p:sp>
          <p:nvSpPr>
            <p:cNvPr id="17426" name="Line 18"/>
            <p:cNvSpPr>
              <a:spLocks noChangeShapeType="1"/>
            </p:cNvSpPr>
            <p:nvPr/>
          </p:nvSpPr>
          <p:spPr bwMode="auto">
            <a:xfrm>
              <a:off x="4171" y="10124"/>
              <a:ext cx="180" cy="270"/>
            </a:xfrm>
            <a:prstGeom prst="line">
              <a:avLst/>
            </a:prstGeom>
            <a:noFill/>
            <a:ln w="12700">
              <a:solidFill>
                <a:srgbClr val="000000"/>
              </a:solidFill>
              <a:round/>
              <a:headEnd/>
              <a:tailEnd type="triangle" w="sm" len="med"/>
            </a:ln>
          </p:spPr>
          <p:txBody>
            <a:bodyPr/>
            <a:lstStyle/>
            <a:p>
              <a:endParaRPr lang="bg-BG"/>
            </a:p>
          </p:txBody>
        </p:sp>
        <p:sp>
          <p:nvSpPr>
            <p:cNvPr id="17427" name="Line 19"/>
            <p:cNvSpPr>
              <a:spLocks noChangeShapeType="1"/>
            </p:cNvSpPr>
            <p:nvPr/>
          </p:nvSpPr>
          <p:spPr bwMode="auto">
            <a:xfrm flipH="1">
              <a:off x="4656" y="9451"/>
              <a:ext cx="165" cy="375"/>
            </a:xfrm>
            <a:prstGeom prst="line">
              <a:avLst/>
            </a:prstGeom>
            <a:noFill/>
            <a:ln w="12700">
              <a:solidFill>
                <a:srgbClr val="000000"/>
              </a:solidFill>
              <a:round/>
              <a:headEnd/>
              <a:tailEnd type="triangle" w="sm" len="med"/>
            </a:ln>
          </p:spPr>
          <p:txBody>
            <a:bodyPr/>
            <a:lstStyle/>
            <a:p>
              <a:endParaRPr lang="bg-BG"/>
            </a:p>
          </p:txBody>
        </p:sp>
        <p:sp>
          <p:nvSpPr>
            <p:cNvPr id="17428" name="Line 20"/>
            <p:cNvSpPr>
              <a:spLocks noChangeShapeType="1"/>
            </p:cNvSpPr>
            <p:nvPr/>
          </p:nvSpPr>
          <p:spPr bwMode="auto">
            <a:xfrm flipH="1">
              <a:off x="5141" y="10044"/>
              <a:ext cx="150" cy="400"/>
            </a:xfrm>
            <a:prstGeom prst="line">
              <a:avLst/>
            </a:prstGeom>
            <a:noFill/>
            <a:ln w="12700">
              <a:solidFill>
                <a:srgbClr val="000000"/>
              </a:solidFill>
              <a:round/>
              <a:headEnd/>
              <a:tailEnd type="triangle" w="sm" len="med"/>
            </a:ln>
          </p:spPr>
          <p:txBody>
            <a:bodyPr/>
            <a:lstStyle/>
            <a:p>
              <a:endParaRPr lang="bg-BG"/>
            </a:p>
          </p:txBody>
        </p:sp>
        <p:sp>
          <p:nvSpPr>
            <p:cNvPr id="17429" name="Line 21"/>
            <p:cNvSpPr>
              <a:spLocks noChangeShapeType="1"/>
            </p:cNvSpPr>
            <p:nvPr/>
          </p:nvSpPr>
          <p:spPr bwMode="auto">
            <a:xfrm>
              <a:off x="5566" y="10044"/>
              <a:ext cx="295" cy="400"/>
            </a:xfrm>
            <a:prstGeom prst="line">
              <a:avLst/>
            </a:prstGeom>
            <a:noFill/>
            <a:ln w="12700">
              <a:solidFill>
                <a:srgbClr val="000000"/>
              </a:solidFill>
              <a:round/>
              <a:headEnd/>
              <a:tailEnd type="triangle" w="sm" len="med"/>
            </a:ln>
          </p:spPr>
          <p:txBody>
            <a:bodyPr/>
            <a:lstStyle/>
            <a:p>
              <a:endParaRPr lang="bg-BG"/>
            </a:p>
          </p:txBody>
        </p:sp>
        <p:grpSp>
          <p:nvGrpSpPr>
            <p:cNvPr id="17430" name="Group 22"/>
            <p:cNvGrpSpPr>
              <a:grpSpLocks/>
            </p:cNvGrpSpPr>
            <p:nvPr/>
          </p:nvGrpSpPr>
          <p:grpSpPr bwMode="auto">
            <a:xfrm>
              <a:off x="3711" y="10374"/>
              <a:ext cx="210" cy="105"/>
              <a:chOff x="3151" y="9259"/>
              <a:chExt cx="210" cy="105"/>
            </a:xfrm>
          </p:grpSpPr>
          <p:sp>
            <p:nvSpPr>
              <p:cNvPr id="17465" name="Line 2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66" name="Line 2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67" name="Line 2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1" name="Group 26"/>
            <p:cNvGrpSpPr>
              <a:grpSpLocks/>
            </p:cNvGrpSpPr>
            <p:nvPr/>
          </p:nvGrpSpPr>
          <p:grpSpPr bwMode="auto">
            <a:xfrm>
              <a:off x="4241" y="10404"/>
              <a:ext cx="210" cy="105"/>
              <a:chOff x="3151" y="9259"/>
              <a:chExt cx="210" cy="105"/>
            </a:xfrm>
          </p:grpSpPr>
          <p:sp>
            <p:nvSpPr>
              <p:cNvPr id="17462" name="Line 2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63" name="Line 2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64" name="Line 2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2" name="Group 30"/>
            <p:cNvGrpSpPr>
              <a:grpSpLocks/>
            </p:cNvGrpSpPr>
            <p:nvPr/>
          </p:nvGrpSpPr>
          <p:grpSpPr bwMode="auto">
            <a:xfrm>
              <a:off x="5031" y="10434"/>
              <a:ext cx="210" cy="105"/>
              <a:chOff x="3151" y="9259"/>
              <a:chExt cx="210" cy="105"/>
            </a:xfrm>
          </p:grpSpPr>
          <p:sp>
            <p:nvSpPr>
              <p:cNvPr id="17459" name="Line 31"/>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60" name="Line 32"/>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61" name="Line 33"/>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3" name="Group 34"/>
            <p:cNvGrpSpPr>
              <a:grpSpLocks/>
            </p:cNvGrpSpPr>
            <p:nvPr/>
          </p:nvGrpSpPr>
          <p:grpSpPr bwMode="auto">
            <a:xfrm>
              <a:off x="5721" y="10434"/>
              <a:ext cx="210" cy="105"/>
              <a:chOff x="3151" y="9259"/>
              <a:chExt cx="210" cy="105"/>
            </a:xfrm>
          </p:grpSpPr>
          <p:sp>
            <p:nvSpPr>
              <p:cNvPr id="17456" name="Line 35"/>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57" name="Line 36"/>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58" name="Line 37"/>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4" name="Group 38"/>
            <p:cNvGrpSpPr>
              <a:grpSpLocks/>
            </p:cNvGrpSpPr>
            <p:nvPr/>
          </p:nvGrpSpPr>
          <p:grpSpPr bwMode="auto">
            <a:xfrm>
              <a:off x="4561" y="9844"/>
              <a:ext cx="210" cy="105"/>
              <a:chOff x="3151" y="9259"/>
              <a:chExt cx="210" cy="105"/>
            </a:xfrm>
          </p:grpSpPr>
          <p:sp>
            <p:nvSpPr>
              <p:cNvPr id="17453" name="Line 39"/>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54" name="Line 40"/>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55" name="Line 41"/>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5" name="Group 42"/>
            <p:cNvGrpSpPr>
              <a:grpSpLocks/>
            </p:cNvGrpSpPr>
            <p:nvPr/>
          </p:nvGrpSpPr>
          <p:grpSpPr bwMode="auto">
            <a:xfrm>
              <a:off x="3341" y="10404"/>
              <a:ext cx="210" cy="105"/>
              <a:chOff x="3151" y="9259"/>
              <a:chExt cx="210" cy="105"/>
            </a:xfrm>
          </p:grpSpPr>
          <p:sp>
            <p:nvSpPr>
              <p:cNvPr id="17450" name="Line 4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51" name="Line 4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52" name="Line 4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7436" name="Group 46"/>
            <p:cNvGrpSpPr>
              <a:grpSpLocks/>
            </p:cNvGrpSpPr>
            <p:nvPr/>
          </p:nvGrpSpPr>
          <p:grpSpPr bwMode="auto">
            <a:xfrm>
              <a:off x="2781" y="10424"/>
              <a:ext cx="210" cy="105"/>
              <a:chOff x="3151" y="9259"/>
              <a:chExt cx="210" cy="105"/>
            </a:xfrm>
          </p:grpSpPr>
          <p:sp>
            <p:nvSpPr>
              <p:cNvPr id="17447" name="Line 4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7448" name="Line 4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7449" name="Line 4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sp>
          <p:nvSpPr>
            <p:cNvPr id="17437" name="Text Box 50"/>
            <p:cNvSpPr txBox="1">
              <a:spLocks noChangeArrowheads="1"/>
            </p:cNvSpPr>
            <p:nvPr/>
          </p:nvSpPr>
          <p:spPr bwMode="auto">
            <a:xfrm>
              <a:off x="801" y="8464"/>
              <a:ext cx="1080" cy="360"/>
            </a:xfrm>
            <a:prstGeom prst="rect">
              <a:avLst/>
            </a:prstGeom>
            <a:noFill/>
            <a:ln w="9525">
              <a:noFill/>
              <a:miter lim="800000"/>
              <a:headEnd/>
              <a:tailEnd/>
            </a:ln>
          </p:spPr>
          <p:txBody>
            <a:bodyPr/>
            <a:lstStyle/>
            <a:p>
              <a:r>
                <a:rPr lang="bg-BG" sz="2000" b="1">
                  <a:latin typeface="Courier New" pitchFamily="49" charset="0"/>
                </a:rPr>
                <a:t>Ниво 0</a:t>
              </a:r>
              <a:endParaRPr lang="bg-BG" sz="1000">
                <a:latin typeface="Courier New" pitchFamily="49" charset="0"/>
              </a:endParaRPr>
            </a:p>
          </p:txBody>
        </p:sp>
        <p:sp>
          <p:nvSpPr>
            <p:cNvPr id="17438" name="Text Box 51"/>
            <p:cNvSpPr txBox="1">
              <a:spLocks noChangeArrowheads="1"/>
            </p:cNvSpPr>
            <p:nvPr/>
          </p:nvSpPr>
          <p:spPr bwMode="auto">
            <a:xfrm>
              <a:off x="801" y="9124"/>
              <a:ext cx="1080" cy="360"/>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7439" name="Text Box 52"/>
            <p:cNvSpPr txBox="1">
              <a:spLocks noChangeArrowheads="1"/>
            </p:cNvSpPr>
            <p:nvPr/>
          </p:nvSpPr>
          <p:spPr bwMode="auto">
            <a:xfrm>
              <a:off x="801" y="9724"/>
              <a:ext cx="1080" cy="360"/>
            </a:xfrm>
            <a:prstGeom prst="rect">
              <a:avLst/>
            </a:prstGeom>
            <a:noFill/>
            <a:ln w="9525">
              <a:noFill/>
              <a:miter lim="800000"/>
              <a:headEnd/>
              <a:tailEnd/>
            </a:ln>
          </p:spPr>
          <p:txBody>
            <a:bodyPr/>
            <a:lstStyle/>
            <a:p>
              <a:r>
                <a:rPr lang="bg-BG" sz="2000" b="1">
                  <a:latin typeface="Courier New" pitchFamily="49" charset="0"/>
                </a:rPr>
                <a:t>Ниво 2</a:t>
              </a:r>
              <a:endParaRPr lang="en-US" sz="1000">
                <a:latin typeface="Courier New" pitchFamily="49" charset="0"/>
              </a:endParaRPr>
            </a:p>
          </p:txBody>
        </p:sp>
        <p:sp>
          <p:nvSpPr>
            <p:cNvPr id="17440" name="Text Box 53"/>
            <p:cNvSpPr txBox="1">
              <a:spLocks noChangeArrowheads="1"/>
            </p:cNvSpPr>
            <p:nvPr/>
          </p:nvSpPr>
          <p:spPr bwMode="auto">
            <a:xfrm>
              <a:off x="801" y="10264"/>
              <a:ext cx="1080" cy="360"/>
            </a:xfrm>
            <a:prstGeom prst="rect">
              <a:avLst/>
            </a:prstGeom>
            <a:noFill/>
            <a:ln w="9525">
              <a:noFill/>
              <a:miter lim="800000"/>
              <a:headEnd/>
              <a:tailEnd/>
            </a:ln>
          </p:spPr>
          <p:txBody>
            <a:bodyPr/>
            <a:lstStyle/>
            <a:p>
              <a:r>
                <a:rPr lang="bg-BG" sz="2000" b="1">
                  <a:latin typeface="Courier New" pitchFamily="49" charset="0"/>
                </a:rPr>
                <a:t>Ниво </a:t>
              </a:r>
              <a:r>
                <a:rPr lang="en-US" sz="2000" b="1">
                  <a:latin typeface="Courier New" pitchFamily="49" charset="0"/>
                </a:rPr>
                <a:t>3</a:t>
              </a:r>
              <a:endParaRPr lang="en-US" sz="1000">
                <a:latin typeface="Courier New" pitchFamily="49" charset="0"/>
              </a:endParaRPr>
            </a:p>
          </p:txBody>
        </p:sp>
        <p:sp>
          <p:nvSpPr>
            <p:cNvPr id="17441" name="Text Box 54"/>
            <p:cNvSpPr txBox="1">
              <a:spLocks noChangeArrowheads="1"/>
            </p:cNvSpPr>
            <p:nvPr/>
          </p:nvSpPr>
          <p:spPr bwMode="auto">
            <a:xfrm>
              <a:off x="4101" y="8474"/>
              <a:ext cx="540" cy="360"/>
            </a:xfrm>
            <a:prstGeom prst="rect">
              <a:avLst/>
            </a:prstGeom>
            <a:noFill/>
            <a:ln w="9525">
              <a:noFill/>
              <a:miter lim="800000"/>
              <a:headEnd/>
              <a:tailEnd/>
            </a:ln>
          </p:spPr>
          <p:txBody>
            <a:bodyPr/>
            <a:lstStyle/>
            <a:p>
              <a:r>
                <a:rPr lang="en-US" sz="2000" b="1">
                  <a:latin typeface="Courier New" pitchFamily="49" charset="0"/>
                </a:rPr>
                <a:t>A</a:t>
              </a:r>
              <a:endParaRPr lang="en-US" sz="1000">
                <a:latin typeface="Courier New" pitchFamily="49" charset="0"/>
              </a:endParaRPr>
            </a:p>
          </p:txBody>
        </p:sp>
        <p:sp>
          <p:nvSpPr>
            <p:cNvPr id="17442" name="Text Box 55"/>
            <p:cNvSpPr txBox="1">
              <a:spLocks noChangeArrowheads="1"/>
            </p:cNvSpPr>
            <p:nvPr/>
          </p:nvSpPr>
          <p:spPr bwMode="auto">
            <a:xfrm>
              <a:off x="3481" y="9144"/>
              <a:ext cx="540" cy="360"/>
            </a:xfrm>
            <a:prstGeom prst="rect">
              <a:avLst/>
            </a:prstGeom>
            <a:noFill/>
            <a:ln w="9525">
              <a:noFill/>
              <a:miter lim="800000"/>
              <a:headEnd/>
              <a:tailEnd/>
            </a:ln>
          </p:spPr>
          <p:txBody>
            <a:bodyPr/>
            <a:lstStyle/>
            <a:p>
              <a:r>
                <a:rPr lang="en-US" sz="2000" b="1">
                  <a:latin typeface="Courier New" pitchFamily="49" charset="0"/>
                </a:rPr>
                <a:t>B</a:t>
              </a:r>
              <a:endParaRPr lang="en-US" sz="1000">
                <a:latin typeface="Courier New" pitchFamily="49" charset="0"/>
              </a:endParaRPr>
            </a:p>
          </p:txBody>
        </p:sp>
        <p:sp>
          <p:nvSpPr>
            <p:cNvPr id="17443" name="Text Box 56"/>
            <p:cNvSpPr txBox="1">
              <a:spLocks noChangeArrowheads="1"/>
            </p:cNvSpPr>
            <p:nvPr/>
          </p:nvSpPr>
          <p:spPr bwMode="auto">
            <a:xfrm>
              <a:off x="4741" y="9134"/>
              <a:ext cx="540" cy="360"/>
            </a:xfrm>
            <a:prstGeom prst="rect">
              <a:avLst/>
            </a:prstGeom>
            <a:noFill/>
            <a:ln w="9525">
              <a:noFill/>
              <a:miter lim="800000"/>
              <a:headEnd/>
              <a:tailEnd/>
            </a:ln>
          </p:spPr>
          <p:txBody>
            <a:bodyPr/>
            <a:lstStyle/>
            <a:p>
              <a:r>
                <a:rPr lang="en-US" sz="2000" b="1">
                  <a:latin typeface="Courier New" pitchFamily="49" charset="0"/>
                </a:rPr>
                <a:t>C</a:t>
              </a:r>
              <a:endParaRPr lang="en-US" sz="1000">
                <a:latin typeface="Courier New" pitchFamily="49" charset="0"/>
              </a:endParaRPr>
            </a:p>
          </p:txBody>
        </p:sp>
        <p:sp>
          <p:nvSpPr>
            <p:cNvPr id="17444" name="Text Box 57"/>
            <p:cNvSpPr txBox="1">
              <a:spLocks noChangeArrowheads="1"/>
            </p:cNvSpPr>
            <p:nvPr/>
          </p:nvSpPr>
          <p:spPr bwMode="auto">
            <a:xfrm>
              <a:off x="2991" y="9824"/>
              <a:ext cx="540" cy="360"/>
            </a:xfrm>
            <a:prstGeom prst="rect">
              <a:avLst/>
            </a:prstGeom>
            <a:noFill/>
            <a:ln w="9525">
              <a:noFill/>
              <a:miter lim="800000"/>
              <a:headEnd/>
              <a:tailEnd/>
            </a:ln>
          </p:spPr>
          <p:txBody>
            <a:bodyPr/>
            <a:lstStyle/>
            <a:p>
              <a:r>
                <a:rPr lang="en-US" sz="2000" b="1">
                  <a:latin typeface="Courier New" pitchFamily="49" charset="0"/>
                </a:rPr>
                <a:t>D</a:t>
              </a:r>
              <a:endParaRPr lang="en-US" sz="1000">
                <a:latin typeface="Courier New" pitchFamily="49" charset="0"/>
              </a:endParaRPr>
            </a:p>
          </p:txBody>
        </p:sp>
        <p:sp>
          <p:nvSpPr>
            <p:cNvPr id="17445" name="Text Box 58"/>
            <p:cNvSpPr txBox="1">
              <a:spLocks noChangeArrowheads="1"/>
            </p:cNvSpPr>
            <p:nvPr/>
          </p:nvSpPr>
          <p:spPr bwMode="auto">
            <a:xfrm>
              <a:off x="3851" y="9804"/>
              <a:ext cx="540" cy="360"/>
            </a:xfrm>
            <a:prstGeom prst="rect">
              <a:avLst/>
            </a:prstGeom>
            <a:noFill/>
            <a:ln w="9525">
              <a:noFill/>
              <a:miter lim="800000"/>
              <a:headEnd/>
              <a:tailEnd/>
            </a:ln>
          </p:spPr>
          <p:txBody>
            <a:bodyPr/>
            <a:lstStyle/>
            <a:p>
              <a:r>
                <a:rPr lang="en-US" sz="2000" b="1">
                  <a:latin typeface="Courier New" pitchFamily="49" charset="0"/>
                </a:rPr>
                <a:t>E</a:t>
              </a:r>
              <a:endParaRPr lang="en-US" sz="1000">
                <a:latin typeface="Courier New" pitchFamily="49" charset="0"/>
              </a:endParaRPr>
            </a:p>
          </p:txBody>
        </p:sp>
        <p:sp>
          <p:nvSpPr>
            <p:cNvPr id="17446" name="Text Box 59"/>
            <p:cNvSpPr txBox="1">
              <a:spLocks noChangeArrowheads="1"/>
            </p:cNvSpPr>
            <p:nvPr/>
          </p:nvSpPr>
          <p:spPr bwMode="auto">
            <a:xfrm>
              <a:off x="5221" y="9734"/>
              <a:ext cx="540" cy="360"/>
            </a:xfrm>
            <a:prstGeom prst="rect">
              <a:avLst/>
            </a:prstGeom>
            <a:noFill/>
            <a:ln w="9525">
              <a:noFill/>
              <a:miter lim="800000"/>
              <a:headEnd/>
              <a:tailEnd/>
            </a:ln>
          </p:spPr>
          <p:txBody>
            <a:bodyPr/>
            <a:lstStyle/>
            <a:p>
              <a:r>
                <a:rPr lang="en-US" sz="2000" b="1">
                  <a:latin typeface="Courier New" pitchFamily="49" charset="0"/>
                </a:rPr>
                <a:t>F</a:t>
              </a:r>
              <a:endParaRPr lang="bg-BG" sz="1000">
                <a:latin typeface="Courier New" pitchFamily="49" charset="0"/>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1116013" y="620713"/>
            <a:ext cx="7772400" cy="6019800"/>
          </a:xfrm>
        </p:spPr>
        <p:txBody>
          <a:bodyPr>
            <a:normAutofit fontScale="90000"/>
          </a:bodyPr>
          <a:lstStyle/>
          <a:p>
            <a:pPr eaLnBrk="1" fontAlgn="auto" hangingPunct="1">
              <a:spcAft>
                <a:spcPts val="0"/>
              </a:spcAft>
              <a:defRPr/>
            </a:pPr>
            <a:r>
              <a:rPr lang="bg-BG" sz="1800" u="sng">
                <a:solidFill>
                  <a:schemeClr val="tx2">
                    <a:satMod val="130000"/>
                  </a:schemeClr>
                </a:solidFill>
              </a:rPr>
              <a:t>Основни математически свойства на двоичните дървета:</a:t>
            </a:r>
            <a:br>
              <a:rPr lang="bg-BG" sz="1800" u="sng">
                <a:solidFill>
                  <a:schemeClr val="tx2">
                    <a:satMod val="130000"/>
                  </a:schemeClr>
                </a:solidFill>
              </a:rPr>
            </a:br>
            <a:r>
              <a:rPr lang="bg-BG" sz="1800">
                <a:solidFill>
                  <a:schemeClr val="tx2">
                    <a:satMod val="130000"/>
                  </a:schemeClr>
                </a:solidFill>
              </a:rPr>
              <a:t> - </a:t>
            </a:r>
            <a:r>
              <a:rPr lang="bg-BG" sz="1800">
                <a:solidFill>
                  <a:schemeClr val="tx1"/>
                </a:solidFill>
              </a:rPr>
              <a:t>Двоични дървета с </a:t>
            </a:r>
            <a:r>
              <a:rPr lang="bg-BG" sz="1800" b="1">
                <a:solidFill>
                  <a:schemeClr val="tx1"/>
                </a:solidFill>
              </a:rPr>
              <a:t>N</a:t>
            </a:r>
            <a:r>
              <a:rPr lang="bg-BG" sz="1800">
                <a:solidFill>
                  <a:schemeClr val="tx1"/>
                </a:solidFill>
              </a:rPr>
              <a:t> вътрешни възли има </a:t>
            </a:r>
            <a:r>
              <a:rPr lang="bg-BG" sz="1800" b="1">
                <a:solidFill>
                  <a:schemeClr val="tx1"/>
                </a:solidFill>
              </a:rPr>
              <a:t>N+1</a:t>
            </a:r>
            <a:r>
              <a:rPr lang="bg-BG" sz="1800">
                <a:solidFill>
                  <a:schemeClr val="tx1"/>
                </a:solidFill>
              </a:rPr>
              <a:t> външни възли.</a:t>
            </a:r>
            <a:br>
              <a:rPr lang="bg-BG" sz="1800">
                <a:solidFill>
                  <a:schemeClr val="tx1"/>
                </a:solidFill>
              </a:rPr>
            </a:br>
            <a:r>
              <a:rPr lang="bg-BG" sz="1800">
                <a:solidFill>
                  <a:schemeClr val="tx2">
                    <a:satMod val="130000"/>
                  </a:schemeClr>
                </a:solidFill>
              </a:rPr>
              <a:t> - </a:t>
            </a:r>
            <a:r>
              <a:rPr lang="bg-BG" sz="1800">
                <a:solidFill>
                  <a:schemeClr val="tx1"/>
                </a:solidFill>
              </a:rPr>
              <a:t>Двоично дърво с </a:t>
            </a:r>
            <a:r>
              <a:rPr lang="bg-BG" sz="1800" b="1">
                <a:solidFill>
                  <a:schemeClr val="tx1"/>
                </a:solidFill>
              </a:rPr>
              <a:t>N</a:t>
            </a:r>
            <a:r>
              <a:rPr lang="bg-BG" sz="1800">
                <a:solidFill>
                  <a:schemeClr val="tx1"/>
                </a:solidFill>
              </a:rPr>
              <a:t> вътрешни възли има </a:t>
            </a:r>
            <a:r>
              <a:rPr lang="bg-BG" sz="1800" b="1">
                <a:solidFill>
                  <a:schemeClr val="tx1"/>
                </a:solidFill>
              </a:rPr>
              <a:t>2N</a:t>
            </a:r>
            <a:r>
              <a:rPr lang="bg-BG" sz="1800">
                <a:solidFill>
                  <a:schemeClr val="tx1"/>
                </a:solidFill>
              </a:rPr>
              <a:t> връзки: </a:t>
            </a:r>
            <a:r>
              <a:rPr lang="bg-BG" sz="1800" b="1">
                <a:solidFill>
                  <a:schemeClr val="tx1"/>
                </a:solidFill>
              </a:rPr>
              <a:t>N-1</a:t>
            </a:r>
            <a:r>
              <a:rPr lang="bg-BG" sz="1800">
                <a:solidFill>
                  <a:schemeClr val="tx1"/>
                </a:solidFill>
              </a:rPr>
              <a:t> връзки към вътрешни възли и </a:t>
            </a:r>
            <a:r>
              <a:rPr lang="bg-BG" sz="1800" b="1">
                <a:solidFill>
                  <a:schemeClr val="tx1"/>
                </a:solidFill>
              </a:rPr>
              <a:t>N+1</a:t>
            </a:r>
            <a:r>
              <a:rPr lang="bg-BG" sz="1800">
                <a:solidFill>
                  <a:schemeClr val="tx1"/>
                </a:solidFill>
              </a:rPr>
              <a:t> връзки към външни възли.</a:t>
            </a:r>
            <a:br>
              <a:rPr lang="bg-BG" sz="1800">
                <a:solidFill>
                  <a:schemeClr val="tx1"/>
                </a:solidFill>
              </a:rPr>
            </a:br>
            <a:r>
              <a:rPr lang="bg-BG" sz="1800">
                <a:solidFill>
                  <a:schemeClr val="tx2">
                    <a:satMod val="130000"/>
                  </a:schemeClr>
                </a:solidFill>
              </a:rPr>
              <a:t> - </a:t>
            </a:r>
            <a:r>
              <a:rPr lang="bg-BG" sz="1800">
                <a:solidFill>
                  <a:schemeClr val="tx1"/>
                </a:solidFill>
              </a:rPr>
              <a:t>Дължината на външните пътища във всяко двоично дърво с </a:t>
            </a:r>
            <a:r>
              <a:rPr lang="bg-BG" sz="1800" b="1">
                <a:solidFill>
                  <a:schemeClr val="tx1"/>
                </a:solidFill>
              </a:rPr>
              <a:t>N</a:t>
            </a:r>
            <a:r>
              <a:rPr lang="bg-BG" sz="1800">
                <a:solidFill>
                  <a:schemeClr val="tx1"/>
                </a:solidFill>
              </a:rPr>
              <a:t> вътрешни възли е с </a:t>
            </a:r>
            <a:r>
              <a:rPr lang="bg-BG" sz="1800" b="1">
                <a:solidFill>
                  <a:schemeClr val="tx1"/>
                </a:solidFill>
              </a:rPr>
              <a:t>2N</a:t>
            </a:r>
            <a:r>
              <a:rPr lang="bg-BG" sz="1800">
                <a:solidFill>
                  <a:schemeClr val="tx1"/>
                </a:solidFill>
              </a:rPr>
              <a:t> по-голямо от дължината на вътрешните пътища.</a:t>
            </a:r>
            <a:br>
              <a:rPr lang="bg-BG" sz="1800">
                <a:solidFill>
                  <a:schemeClr val="tx1"/>
                </a:solidFill>
              </a:rPr>
            </a:br>
            <a:r>
              <a:rPr lang="bg-BG" sz="1800">
                <a:solidFill>
                  <a:schemeClr val="tx2">
                    <a:satMod val="130000"/>
                  </a:schemeClr>
                </a:solidFill>
              </a:rPr>
              <a:t> - </a:t>
            </a:r>
            <a:r>
              <a:rPr lang="bg-BG" sz="1800">
                <a:solidFill>
                  <a:schemeClr val="tx1"/>
                </a:solidFill>
              </a:rPr>
              <a:t>Височината на бинарно дърво с </a:t>
            </a:r>
            <a:r>
              <a:rPr lang="bg-BG" sz="1800" b="1">
                <a:solidFill>
                  <a:schemeClr val="tx1"/>
                </a:solidFill>
              </a:rPr>
              <a:t>N</a:t>
            </a:r>
            <a:r>
              <a:rPr lang="bg-BG" sz="1800">
                <a:solidFill>
                  <a:schemeClr val="tx1"/>
                </a:solidFill>
              </a:rPr>
              <a:t> вътрешни възли е не по-малка от </a:t>
            </a:r>
            <a:r>
              <a:rPr lang="bg-BG" sz="1800" b="1">
                <a:solidFill>
                  <a:schemeClr val="tx1"/>
                </a:solidFill>
              </a:rPr>
              <a:t>Log</a:t>
            </a:r>
            <a:r>
              <a:rPr lang="bg-BG" sz="1800" b="1" baseline="-25000">
                <a:solidFill>
                  <a:schemeClr val="tx1"/>
                </a:solidFill>
              </a:rPr>
              <a:t>2</a:t>
            </a:r>
            <a:r>
              <a:rPr lang="bg-BG" sz="1800" b="1">
                <a:solidFill>
                  <a:schemeClr val="tx1"/>
                </a:solidFill>
              </a:rPr>
              <a:t>N</a:t>
            </a:r>
            <a:r>
              <a:rPr lang="bg-BG" sz="1800">
                <a:solidFill>
                  <a:schemeClr val="tx1"/>
                </a:solidFill>
              </a:rPr>
              <a:t> и не по-голяма от </a:t>
            </a:r>
            <a:r>
              <a:rPr lang="bg-BG" sz="1800" b="1">
                <a:solidFill>
                  <a:schemeClr val="tx1"/>
                </a:solidFill>
              </a:rPr>
              <a:t>N - 1</a:t>
            </a:r>
            <a:r>
              <a:rPr lang="bg-BG" sz="1800">
                <a:solidFill>
                  <a:schemeClr val="tx1"/>
                </a:solidFill>
              </a:rPr>
              <a:t>. Ако височината е </a:t>
            </a:r>
            <a:r>
              <a:rPr lang="bg-BG" sz="1800" b="1">
                <a:solidFill>
                  <a:schemeClr val="tx1"/>
                </a:solidFill>
              </a:rPr>
              <a:t>h</a:t>
            </a:r>
            <a:r>
              <a:rPr lang="bg-BG" sz="1800">
                <a:solidFill>
                  <a:schemeClr val="tx1"/>
                </a:solidFill>
              </a:rPr>
              <a:t> (за даденото дърво - 3), тогава трябва да имаме:</a:t>
            </a:r>
            <a:br>
              <a:rPr lang="bg-BG" sz="1800">
                <a:solidFill>
                  <a:schemeClr val="tx1"/>
                </a:solidFill>
              </a:rPr>
            </a:br>
            <a:r>
              <a:rPr lang="bg-BG" sz="1800">
                <a:solidFill>
                  <a:schemeClr val="tx1"/>
                </a:solidFill>
              </a:rPr>
              <a:t>			</a:t>
            </a:r>
            <a:r>
              <a:rPr lang="bg-BG" sz="1800" b="1">
                <a:solidFill>
                  <a:schemeClr val="tx1"/>
                </a:solidFill>
              </a:rPr>
              <a:t>2</a:t>
            </a:r>
            <a:r>
              <a:rPr lang="bg-BG" sz="1800" b="1" baseline="30000">
                <a:solidFill>
                  <a:schemeClr val="tx1"/>
                </a:solidFill>
              </a:rPr>
              <a:t>h-1  </a:t>
            </a:r>
            <a:r>
              <a:rPr lang="bg-BG" sz="1800" b="1">
                <a:solidFill>
                  <a:schemeClr val="tx1"/>
                </a:solidFill>
              </a:rPr>
              <a:t>&lt; N </a:t>
            </a:r>
            <a:r>
              <a:rPr lang="bg-BG" sz="1800" b="1" smtClean="0">
                <a:solidFill>
                  <a:schemeClr val="tx1"/>
                </a:solidFill>
              </a:rPr>
              <a:t>+1  </a:t>
            </a:r>
            <a:r>
              <a:rPr lang="bg-BG" sz="1800" b="1">
                <a:solidFill>
                  <a:schemeClr val="tx1"/>
                </a:solidFill>
              </a:rPr>
              <a:t>&lt;= 2</a:t>
            </a:r>
            <a:r>
              <a:rPr lang="bg-BG" sz="1800" b="1" baseline="30000">
                <a:solidFill>
                  <a:schemeClr val="tx1"/>
                </a:solidFill>
              </a:rPr>
              <a:t>h</a:t>
            </a:r>
            <a:r>
              <a:rPr lang="bg-BG" sz="1800" b="1">
                <a:solidFill>
                  <a:schemeClr val="tx1"/>
                </a:solidFill>
              </a:rPr>
              <a:t/>
            </a:r>
            <a:br>
              <a:rPr lang="bg-BG" sz="1800" b="1">
                <a:solidFill>
                  <a:schemeClr val="tx1"/>
                </a:solidFill>
              </a:rPr>
            </a:br>
            <a:r>
              <a:rPr lang="bg-BG" sz="1800">
                <a:solidFill>
                  <a:schemeClr val="tx1"/>
                </a:solidFill>
              </a:rPr>
              <a:t>Неравенството означава, че височината в най-добрия случай е равна на </a:t>
            </a:r>
            <a:r>
              <a:rPr lang="bg-BG" sz="1800" b="1">
                <a:solidFill>
                  <a:schemeClr val="tx1"/>
                </a:solidFill>
              </a:rPr>
              <a:t>Log</a:t>
            </a:r>
            <a:r>
              <a:rPr lang="bg-BG" sz="1800" b="1" baseline="-25000">
                <a:solidFill>
                  <a:schemeClr val="tx1"/>
                </a:solidFill>
              </a:rPr>
              <a:t>2</a:t>
            </a:r>
            <a:r>
              <a:rPr lang="bg-BG" sz="1800" b="1">
                <a:solidFill>
                  <a:schemeClr val="tx1"/>
                </a:solidFill>
              </a:rPr>
              <a:t>N</a:t>
            </a:r>
            <a:r>
              <a:rPr lang="bg-BG" sz="1800">
                <a:solidFill>
                  <a:schemeClr val="tx1"/>
                </a:solidFill>
              </a:rPr>
              <a:t>, закръглено до най-близкото по-голямо цяло число.</a:t>
            </a:r>
            <a:br>
              <a:rPr lang="bg-BG" sz="1800">
                <a:solidFill>
                  <a:schemeClr val="tx1"/>
                </a:solidFill>
              </a:rPr>
            </a:br>
            <a:r>
              <a:rPr lang="bg-BG" sz="1800">
                <a:solidFill>
                  <a:schemeClr val="tx2">
                    <a:satMod val="130000"/>
                  </a:schemeClr>
                </a:solidFill>
              </a:rPr>
              <a:t> - </a:t>
            </a:r>
            <a:r>
              <a:rPr lang="bg-BG" sz="1800">
                <a:solidFill>
                  <a:schemeClr val="tx1"/>
                </a:solidFill>
              </a:rPr>
              <a:t>Дължината на вътрешните пътища на двоично дърво с </a:t>
            </a:r>
            <a:r>
              <a:rPr lang="bg-BG" sz="1800" b="1">
                <a:solidFill>
                  <a:schemeClr val="tx1"/>
                </a:solidFill>
              </a:rPr>
              <a:t>N</a:t>
            </a:r>
            <a:r>
              <a:rPr lang="bg-BG" sz="1800">
                <a:solidFill>
                  <a:schemeClr val="tx1"/>
                </a:solidFill>
              </a:rPr>
              <a:t> вътрешни възли е не по-малка от </a:t>
            </a:r>
            <a:r>
              <a:rPr lang="bg-BG" sz="1800" b="1">
                <a:solidFill>
                  <a:schemeClr val="tx1"/>
                </a:solidFill>
              </a:rPr>
              <a:t>N*Log</a:t>
            </a:r>
            <a:r>
              <a:rPr lang="bg-BG" sz="1800" b="1" baseline="-25000">
                <a:solidFill>
                  <a:schemeClr val="tx1"/>
                </a:solidFill>
              </a:rPr>
              <a:t>2 </a:t>
            </a:r>
            <a:r>
              <a:rPr lang="bg-BG" sz="1800" b="1">
                <a:solidFill>
                  <a:schemeClr val="tx1"/>
                </a:solidFill>
              </a:rPr>
              <a:t>(N/4)</a:t>
            </a:r>
            <a:r>
              <a:rPr lang="bg-BG" sz="1800">
                <a:solidFill>
                  <a:schemeClr val="tx1"/>
                </a:solidFill>
              </a:rPr>
              <a:t> и не по-голяма от </a:t>
            </a:r>
            <a:r>
              <a:rPr lang="bg-BG" sz="1800" b="1">
                <a:solidFill>
                  <a:schemeClr val="tx1"/>
                </a:solidFill>
              </a:rPr>
              <a:t>N*(N-1)/2</a:t>
            </a:r>
            <a:r>
              <a:rPr lang="bg-BG" sz="1800">
                <a:solidFill>
                  <a:schemeClr val="tx1"/>
                </a:solidFill>
              </a:rPr>
              <a:t>.</a:t>
            </a:r>
            <a:r>
              <a:rPr lang="bg-BG">
                <a:solidFill>
                  <a:schemeClr val="tx1"/>
                </a:solidFill>
              </a:rPr>
              <a:t/>
            </a:r>
            <a:br>
              <a:rPr lang="bg-BG">
                <a:solidFill>
                  <a:schemeClr val="tx1"/>
                </a:solidFill>
              </a:rPr>
            </a:br>
            <a:r>
              <a:rPr lang="en-US">
                <a:solidFill>
                  <a:schemeClr val="tx1"/>
                </a:solidFill>
              </a:rPr>
              <a:t/>
            </a:r>
            <a:br>
              <a:rPr lang="en-US">
                <a:solidFill>
                  <a:schemeClr val="tx1"/>
                </a:solidFill>
              </a:rPr>
            </a:br>
            <a:r>
              <a:rPr lang="en-US">
                <a:solidFill>
                  <a:schemeClr val="tx1"/>
                </a:solidFill>
              </a:rPr>
              <a:t/>
            </a:r>
            <a:br>
              <a:rPr lang="en-US">
                <a:solidFill>
                  <a:schemeClr val="tx1"/>
                </a:solidFill>
              </a:rPr>
            </a:br>
            <a:r>
              <a:rPr lang="en-US">
                <a:solidFill>
                  <a:schemeClr val="tx1"/>
                </a:solidFill>
              </a:rPr>
              <a:t/>
            </a:r>
            <a:br>
              <a:rPr lang="en-US">
                <a:solidFill>
                  <a:schemeClr val="tx1"/>
                </a:solidFill>
              </a:rPr>
            </a:br>
            <a:endParaRPr lang="en-US">
              <a:solidFill>
                <a:schemeClr val="tx1"/>
              </a:solidFill>
            </a:endParaRPr>
          </a:p>
        </p:txBody>
      </p:sp>
      <p:grpSp>
        <p:nvGrpSpPr>
          <p:cNvPr id="18435" name="Group 3"/>
          <p:cNvGrpSpPr>
            <a:grpSpLocks/>
          </p:cNvGrpSpPr>
          <p:nvPr/>
        </p:nvGrpSpPr>
        <p:grpSpPr bwMode="auto">
          <a:xfrm>
            <a:off x="1600200" y="4343400"/>
            <a:ext cx="5791200" cy="2286000"/>
            <a:chOff x="801" y="8464"/>
            <a:chExt cx="5130" cy="2160"/>
          </a:xfrm>
        </p:grpSpPr>
        <p:sp>
          <p:nvSpPr>
            <p:cNvPr id="18436" name="Oval 4"/>
            <p:cNvSpPr>
              <a:spLocks noChangeArrowheads="1"/>
            </p:cNvSpPr>
            <p:nvPr/>
          </p:nvSpPr>
          <p:spPr bwMode="auto">
            <a:xfrm>
              <a:off x="4106" y="8503"/>
              <a:ext cx="379" cy="337"/>
            </a:xfrm>
            <a:prstGeom prst="ellipse">
              <a:avLst/>
            </a:prstGeom>
            <a:noFill/>
            <a:ln w="12700">
              <a:solidFill>
                <a:srgbClr val="000000"/>
              </a:solidFill>
              <a:round/>
              <a:headEnd/>
              <a:tailEnd/>
            </a:ln>
          </p:spPr>
          <p:txBody>
            <a:bodyPr/>
            <a:lstStyle/>
            <a:p>
              <a:endParaRPr lang="bg-BG"/>
            </a:p>
          </p:txBody>
        </p:sp>
        <p:sp>
          <p:nvSpPr>
            <p:cNvPr id="18437" name="Oval 5"/>
            <p:cNvSpPr>
              <a:spLocks noChangeArrowheads="1"/>
            </p:cNvSpPr>
            <p:nvPr/>
          </p:nvSpPr>
          <p:spPr bwMode="auto">
            <a:xfrm>
              <a:off x="3504" y="9159"/>
              <a:ext cx="379" cy="337"/>
            </a:xfrm>
            <a:prstGeom prst="ellipse">
              <a:avLst/>
            </a:prstGeom>
            <a:noFill/>
            <a:ln w="12700">
              <a:solidFill>
                <a:srgbClr val="000000"/>
              </a:solidFill>
              <a:round/>
              <a:headEnd/>
              <a:tailEnd/>
            </a:ln>
          </p:spPr>
          <p:txBody>
            <a:bodyPr/>
            <a:lstStyle/>
            <a:p>
              <a:endParaRPr lang="bg-BG"/>
            </a:p>
          </p:txBody>
        </p:sp>
        <p:sp>
          <p:nvSpPr>
            <p:cNvPr id="18438" name="Oval 6"/>
            <p:cNvSpPr>
              <a:spLocks noChangeArrowheads="1"/>
            </p:cNvSpPr>
            <p:nvPr/>
          </p:nvSpPr>
          <p:spPr bwMode="auto">
            <a:xfrm>
              <a:off x="4764" y="9138"/>
              <a:ext cx="379" cy="351"/>
            </a:xfrm>
            <a:prstGeom prst="ellipse">
              <a:avLst/>
            </a:prstGeom>
            <a:noFill/>
            <a:ln w="12700">
              <a:solidFill>
                <a:srgbClr val="000000"/>
              </a:solidFill>
              <a:round/>
              <a:headEnd/>
              <a:tailEnd/>
            </a:ln>
          </p:spPr>
          <p:txBody>
            <a:bodyPr/>
            <a:lstStyle/>
            <a:p>
              <a:endParaRPr lang="bg-BG"/>
            </a:p>
          </p:txBody>
        </p:sp>
        <p:sp>
          <p:nvSpPr>
            <p:cNvPr id="18439" name="Oval 7"/>
            <p:cNvSpPr>
              <a:spLocks noChangeArrowheads="1"/>
            </p:cNvSpPr>
            <p:nvPr/>
          </p:nvSpPr>
          <p:spPr bwMode="auto">
            <a:xfrm>
              <a:off x="3006" y="9844"/>
              <a:ext cx="379" cy="337"/>
            </a:xfrm>
            <a:prstGeom prst="ellipse">
              <a:avLst/>
            </a:prstGeom>
            <a:noFill/>
            <a:ln w="12700">
              <a:solidFill>
                <a:srgbClr val="000000"/>
              </a:solidFill>
              <a:round/>
              <a:headEnd/>
              <a:tailEnd/>
            </a:ln>
          </p:spPr>
          <p:txBody>
            <a:bodyPr/>
            <a:lstStyle/>
            <a:p>
              <a:endParaRPr lang="bg-BG"/>
            </a:p>
          </p:txBody>
        </p:sp>
        <p:sp>
          <p:nvSpPr>
            <p:cNvPr id="18440" name="Oval 8"/>
            <p:cNvSpPr>
              <a:spLocks noChangeArrowheads="1"/>
            </p:cNvSpPr>
            <p:nvPr/>
          </p:nvSpPr>
          <p:spPr bwMode="auto">
            <a:xfrm>
              <a:off x="5238" y="9744"/>
              <a:ext cx="379" cy="337"/>
            </a:xfrm>
            <a:prstGeom prst="ellipse">
              <a:avLst/>
            </a:prstGeom>
            <a:noFill/>
            <a:ln w="12700">
              <a:solidFill>
                <a:srgbClr val="000000"/>
              </a:solidFill>
              <a:round/>
              <a:headEnd/>
              <a:tailEnd/>
            </a:ln>
          </p:spPr>
          <p:txBody>
            <a:bodyPr/>
            <a:lstStyle/>
            <a:p>
              <a:endParaRPr lang="bg-BG"/>
            </a:p>
          </p:txBody>
        </p:sp>
        <p:sp>
          <p:nvSpPr>
            <p:cNvPr id="18441" name="Oval 9"/>
            <p:cNvSpPr>
              <a:spLocks noChangeArrowheads="1"/>
            </p:cNvSpPr>
            <p:nvPr/>
          </p:nvSpPr>
          <p:spPr bwMode="auto">
            <a:xfrm>
              <a:off x="3872" y="9824"/>
              <a:ext cx="379" cy="337"/>
            </a:xfrm>
            <a:prstGeom prst="ellipse">
              <a:avLst/>
            </a:prstGeom>
            <a:noFill/>
            <a:ln w="12700">
              <a:solidFill>
                <a:srgbClr val="000000"/>
              </a:solidFill>
              <a:round/>
              <a:headEnd/>
              <a:tailEnd/>
            </a:ln>
          </p:spPr>
          <p:txBody>
            <a:bodyPr/>
            <a:lstStyle/>
            <a:p>
              <a:endParaRPr lang="bg-BG"/>
            </a:p>
          </p:txBody>
        </p:sp>
        <p:sp>
          <p:nvSpPr>
            <p:cNvPr id="18442" name="Line 10"/>
            <p:cNvSpPr>
              <a:spLocks noChangeShapeType="1"/>
            </p:cNvSpPr>
            <p:nvPr/>
          </p:nvSpPr>
          <p:spPr bwMode="auto">
            <a:xfrm flipH="1">
              <a:off x="3798" y="8811"/>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18443" name="Line 11"/>
            <p:cNvSpPr>
              <a:spLocks noChangeShapeType="1"/>
            </p:cNvSpPr>
            <p:nvPr/>
          </p:nvSpPr>
          <p:spPr bwMode="auto">
            <a:xfrm>
              <a:off x="4428" y="8797"/>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18444" name="Line 12"/>
            <p:cNvSpPr>
              <a:spLocks noChangeShapeType="1"/>
            </p:cNvSpPr>
            <p:nvPr/>
          </p:nvSpPr>
          <p:spPr bwMode="auto">
            <a:xfrm flipH="1">
              <a:off x="3260" y="9448"/>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18445" name="Line 13"/>
            <p:cNvSpPr>
              <a:spLocks noChangeShapeType="1"/>
            </p:cNvSpPr>
            <p:nvPr/>
          </p:nvSpPr>
          <p:spPr bwMode="auto">
            <a:xfrm>
              <a:off x="3844" y="9437"/>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18446" name="Line 14"/>
            <p:cNvSpPr>
              <a:spLocks noChangeShapeType="1"/>
            </p:cNvSpPr>
            <p:nvPr/>
          </p:nvSpPr>
          <p:spPr bwMode="auto">
            <a:xfrm>
              <a:off x="5092" y="9444"/>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18447" name="Line 15"/>
            <p:cNvSpPr>
              <a:spLocks noChangeShapeType="1"/>
            </p:cNvSpPr>
            <p:nvPr/>
          </p:nvSpPr>
          <p:spPr bwMode="auto">
            <a:xfrm flipH="1">
              <a:off x="2866" y="10151"/>
              <a:ext cx="180" cy="255"/>
            </a:xfrm>
            <a:prstGeom prst="line">
              <a:avLst/>
            </a:prstGeom>
            <a:noFill/>
            <a:ln w="12700">
              <a:solidFill>
                <a:srgbClr val="000000"/>
              </a:solidFill>
              <a:round/>
              <a:headEnd/>
              <a:tailEnd type="triangle" w="sm" len="med"/>
            </a:ln>
          </p:spPr>
          <p:txBody>
            <a:bodyPr/>
            <a:lstStyle/>
            <a:p>
              <a:endParaRPr lang="bg-BG"/>
            </a:p>
          </p:txBody>
        </p:sp>
        <p:sp>
          <p:nvSpPr>
            <p:cNvPr id="18448" name="Line 16"/>
            <p:cNvSpPr>
              <a:spLocks noChangeShapeType="1"/>
            </p:cNvSpPr>
            <p:nvPr/>
          </p:nvSpPr>
          <p:spPr bwMode="auto">
            <a:xfrm>
              <a:off x="3311" y="10154"/>
              <a:ext cx="150" cy="240"/>
            </a:xfrm>
            <a:prstGeom prst="line">
              <a:avLst/>
            </a:prstGeom>
            <a:noFill/>
            <a:ln w="12700">
              <a:solidFill>
                <a:srgbClr val="000000"/>
              </a:solidFill>
              <a:round/>
              <a:headEnd/>
              <a:tailEnd type="triangle" w="sm" len="med"/>
            </a:ln>
          </p:spPr>
          <p:txBody>
            <a:bodyPr/>
            <a:lstStyle/>
            <a:p>
              <a:endParaRPr lang="bg-BG"/>
            </a:p>
          </p:txBody>
        </p:sp>
        <p:sp>
          <p:nvSpPr>
            <p:cNvPr id="18449" name="Line 17"/>
            <p:cNvSpPr>
              <a:spLocks noChangeShapeType="1"/>
            </p:cNvSpPr>
            <p:nvPr/>
          </p:nvSpPr>
          <p:spPr bwMode="auto">
            <a:xfrm flipH="1">
              <a:off x="3806" y="10144"/>
              <a:ext cx="135" cy="210"/>
            </a:xfrm>
            <a:prstGeom prst="line">
              <a:avLst/>
            </a:prstGeom>
            <a:noFill/>
            <a:ln w="12700">
              <a:solidFill>
                <a:srgbClr val="000000"/>
              </a:solidFill>
              <a:round/>
              <a:headEnd/>
              <a:tailEnd type="triangle" w="sm" len="med"/>
            </a:ln>
          </p:spPr>
          <p:txBody>
            <a:bodyPr/>
            <a:lstStyle/>
            <a:p>
              <a:endParaRPr lang="bg-BG"/>
            </a:p>
          </p:txBody>
        </p:sp>
        <p:sp>
          <p:nvSpPr>
            <p:cNvPr id="18450" name="Line 18"/>
            <p:cNvSpPr>
              <a:spLocks noChangeShapeType="1"/>
            </p:cNvSpPr>
            <p:nvPr/>
          </p:nvSpPr>
          <p:spPr bwMode="auto">
            <a:xfrm>
              <a:off x="4171" y="10124"/>
              <a:ext cx="180" cy="270"/>
            </a:xfrm>
            <a:prstGeom prst="line">
              <a:avLst/>
            </a:prstGeom>
            <a:noFill/>
            <a:ln w="12700">
              <a:solidFill>
                <a:srgbClr val="000000"/>
              </a:solidFill>
              <a:round/>
              <a:headEnd/>
              <a:tailEnd type="triangle" w="sm" len="med"/>
            </a:ln>
          </p:spPr>
          <p:txBody>
            <a:bodyPr/>
            <a:lstStyle/>
            <a:p>
              <a:endParaRPr lang="bg-BG"/>
            </a:p>
          </p:txBody>
        </p:sp>
        <p:sp>
          <p:nvSpPr>
            <p:cNvPr id="18451" name="Line 19"/>
            <p:cNvSpPr>
              <a:spLocks noChangeShapeType="1"/>
            </p:cNvSpPr>
            <p:nvPr/>
          </p:nvSpPr>
          <p:spPr bwMode="auto">
            <a:xfrm flipH="1">
              <a:off x="4656" y="9451"/>
              <a:ext cx="165" cy="375"/>
            </a:xfrm>
            <a:prstGeom prst="line">
              <a:avLst/>
            </a:prstGeom>
            <a:noFill/>
            <a:ln w="12700">
              <a:solidFill>
                <a:srgbClr val="000000"/>
              </a:solidFill>
              <a:round/>
              <a:headEnd/>
              <a:tailEnd type="triangle" w="sm" len="med"/>
            </a:ln>
          </p:spPr>
          <p:txBody>
            <a:bodyPr/>
            <a:lstStyle/>
            <a:p>
              <a:endParaRPr lang="bg-BG"/>
            </a:p>
          </p:txBody>
        </p:sp>
        <p:sp>
          <p:nvSpPr>
            <p:cNvPr id="18452" name="Line 20"/>
            <p:cNvSpPr>
              <a:spLocks noChangeShapeType="1"/>
            </p:cNvSpPr>
            <p:nvPr/>
          </p:nvSpPr>
          <p:spPr bwMode="auto">
            <a:xfrm flipH="1">
              <a:off x="5141" y="10044"/>
              <a:ext cx="150" cy="400"/>
            </a:xfrm>
            <a:prstGeom prst="line">
              <a:avLst/>
            </a:prstGeom>
            <a:noFill/>
            <a:ln w="12700">
              <a:solidFill>
                <a:srgbClr val="000000"/>
              </a:solidFill>
              <a:round/>
              <a:headEnd/>
              <a:tailEnd type="triangle" w="sm" len="med"/>
            </a:ln>
          </p:spPr>
          <p:txBody>
            <a:bodyPr/>
            <a:lstStyle/>
            <a:p>
              <a:endParaRPr lang="bg-BG"/>
            </a:p>
          </p:txBody>
        </p:sp>
        <p:sp>
          <p:nvSpPr>
            <p:cNvPr id="18453" name="Line 21"/>
            <p:cNvSpPr>
              <a:spLocks noChangeShapeType="1"/>
            </p:cNvSpPr>
            <p:nvPr/>
          </p:nvSpPr>
          <p:spPr bwMode="auto">
            <a:xfrm>
              <a:off x="5566" y="10044"/>
              <a:ext cx="295" cy="400"/>
            </a:xfrm>
            <a:prstGeom prst="line">
              <a:avLst/>
            </a:prstGeom>
            <a:noFill/>
            <a:ln w="12700">
              <a:solidFill>
                <a:srgbClr val="000000"/>
              </a:solidFill>
              <a:round/>
              <a:headEnd/>
              <a:tailEnd type="triangle" w="sm" len="med"/>
            </a:ln>
          </p:spPr>
          <p:txBody>
            <a:bodyPr/>
            <a:lstStyle/>
            <a:p>
              <a:endParaRPr lang="bg-BG"/>
            </a:p>
          </p:txBody>
        </p:sp>
        <p:grpSp>
          <p:nvGrpSpPr>
            <p:cNvPr id="18454" name="Group 22"/>
            <p:cNvGrpSpPr>
              <a:grpSpLocks/>
            </p:cNvGrpSpPr>
            <p:nvPr/>
          </p:nvGrpSpPr>
          <p:grpSpPr bwMode="auto">
            <a:xfrm>
              <a:off x="3711" y="10374"/>
              <a:ext cx="210" cy="105"/>
              <a:chOff x="3151" y="9259"/>
              <a:chExt cx="210" cy="105"/>
            </a:xfrm>
          </p:grpSpPr>
          <p:sp>
            <p:nvSpPr>
              <p:cNvPr id="18489" name="Line 2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90" name="Line 2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91" name="Line 2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55" name="Group 26"/>
            <p:cNvGrpSpPr>
              <a:grpSpLocks/>
            </p:cNvGrpSpPr>
            <p:nvPr/>
          </p:nvGrpSpPr>
          <p:grpSpPr bwMode="auto">
            <a:xfrm>
              <a:off x="4241" y="10404"/>
              <a:ext cx="210" cy="105"/>
              <a:chOff x="3151" y="9259"/>
              <a:chExt cx="210" cy="105"/>
            </a:xfrm>
          </p:grpSpPr>
          <p:sp>
            <p:nvSpPr>
              <p:cNvPr id="18486" name="Line 2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87" name="Line 2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88" name="Line 2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56" name="Group 30"/>
            <p:cNvGrpSpPr>
              <a:grpSpLocks/>
            </p:cNvGrpSpPr>
            <p:nvPr/>
          </p:nvGrpSpPr>
          <p:grpSpPr bwMode="auto">
            <a:xfrm>
              <a:off x="5031" y="10434"/>
              <a:ext cx="210" cy="105"/>
              <a:chOff x="3151" y="9259"/>
              <a:chExt cx="210" cy="105"/>
            </a:xfrm>
          </p:grpSpPr>
          <p:sp>
            <p:nvSpPr>
              <p:cNvPr id="18483" name="Line 31"/>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84" name="Line 32"/>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85" name="Line 33"/>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57" name="Group 34"/>
            <p:cNvGrpSpPr>
              <a:grpSpLocks/>
            </p:cNvGrpSpPr>
            <p:nvPr/>
          </p:nvGrpSpPr>
          <p:grpSpPr bwMode="auto">
            <a:xfrm>
              <a:off x="5721" y="10434"/>
              <a:ext cx="210" cy="105"/>
              <a:chOff x="3151" y="9259"/>
              <a:chExt cx="210" cy="105"/>
            </a:xfrm>
          </p:grpSpPr>
          <p:sp>
            <p:nvSpPr>
              <p:cNvPr id="18480" name="Line 35"/>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81" name="Line 36"/>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82" name="Line 37"/>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58" name="Group 38"/>
            <p:cNvGrpSpPr>
              <a:grpSpLocks/>
            </p:cNvGrpSpPr>
            <p:nvPr/>
          </p:nvGrpSpPr>
          <p:grpSpPr bwMode="auto">
            <a:xfrm>
              <a:off x="4561" y="9844"/>
              <a:ext cx="210" cy="105"/>
              <a:chOff x="3151" y="9259"/>
              <a:chExt cx="210" cy="105"/>
            </a:xfrm>
          </p:grpSpPr>
          <p:sp>
            <p:nvSpPr>
              <p:cNvPr id="18477" name="Line 39"/>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78" name="Line 40"/>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79" name="Line 41"/>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59" name="Group 42"/>
            <p:cNvGrpSpPr>
              <a:grpSpLocks/>
            </p:cNvGrpSpPr>
            <p:nvPr/>
          </p:nvGrpSpPr>
          <p:grpSpPr bwMode="auto">
            <a:xfrm>
              <a:off x="3341" y="10404"/>
              <a:ext cx="210" cy="105"/>
              <a:chOff x="3151" y="9259"/>
              <a:chExt cx="210" cy="105"/>
            </a:xfrm>
          </p:grpSpPr>
          <p:sp>
            <p:nvSpPr>
              <p:cNvPr id="18474" name="Line 4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75" name="Line 4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76" name="Line 4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18460" name="Group 46"/>
            <p:cNvGrpSpPr>
              <a:grpSpLocks/>
            </p:cNvGrpSpPr>
            <p:nvPr/>
          </p:nvGrpSpPr>
          <p:grpSpPr bwMode="auto">
            <a:xfrm>
              <a:off x="2781" y="10424"/>
              <a:ext cx="210" cy="105"/>
              <a:chOff x="3151" y="9259"/>
              <a:chExt cx="210" cy="105"/>
            </a:xfrm>
          </p:grpSpPr>
          <p:sp>
            <p:nvSpPr>
              <p:cNvPr id="18471" name="Line 4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18472" name="Line 4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18473" name="Line 4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sp>
          <p:nvSpPr>
            <p:cNvPr id="18461" name="Text Box 50"/>
            <p:cNvSpPr txBox="1">
              <a:spLocks noChangeArrowheads="1"/>
            </p:cNvSpPr>
            <p:nvPr/>
          </p:nvSpPr>
          <p:spPr bwMode="auto">
            <a:xfrm>
              <a:off x="801" y="8464"/>
              <a:ext cx="1080" cy="360"/>
            </a:xfrm>
            <a:prstGeom prst="rect">
              <a:avLst/>
            </a:prstGeom>
            <a:noFill/>
            <a:ln w="9525">
              <a:noFill/>
              <a:miter lim="800000"/>
              <a:headEnd/>
              <a:tailEnd/>
            </a:ln>
          </p:spPr>
          <p:txBody>
            <a:bodyPr/>
            <a:lstStyle/>
            <a:p>
              <a:r>
                <a:rPr lang="bg-BG" sz="2000" b="1">
                  <a:latin typeface="Courier New" pitchFamily="49" charset="0"/>
                </a:rPr>
                <a:t>Ниво 0</a:t>
              </a:r>
              <a:endParaRPr lang="bg-BG" sz="1000">
                <a:latin typeface="Courier New" pitchFamily="49" charset="0"/>
              </a:endParaRPr>
            </a:p>
          </p:txBody>
        </p:sp>
        <p:sp>
          <p:nvSpPr>
            <p:cNvPr id="18462" name="Text Box 51"/>
            <p:cNvSpPr txBox="1">
              <a:spLocks noChangeArrowheads="1"/>
            </p:cNvSpPr>
            <p:nvPr/>
          </p:nvSpPr>
          <p:spPr bwMode="auto">
            <a:xfrm>
              <a:off x="801" y="9124"/>
              <a:ext cx="1080" cy="360"/>
            </a:xfrm>
            <a:prstGeom prst="rect">
              <a:avLst/>
            </a:prstGeom>
            <a:noFill/>
            <a:ln w="9525">
              <a:noFill/>
              <a:miter lim="800000"/>
              <a:headEnd/>
              <a:tailEnd/>
            </a:ln>
          </p:spPr>
          <p:txBody>
            <a:bodyPr/>
            <a:lstStyle/>
            <a:p>
              <a:r>
                <a:rPr lang="bg-BG" sz="2000" b="1">
                  <a:latin typeface="Courier New" pitchFamily="49" charset="0"/>
                </a:rPr>
                <a:t>Ниво 1</a:t>
              </a:r>
              <a:endParaRPr lang="bg-BG" sz="1000">
                <a:latin typeface="Courier New" pitchFamily="49" charset="0"/>
              </a:endParaRPr>
            </a:p>
          </p:txBody>
        </p:sp>
        <p:sp>
          <p:nvSpPr>
            <p:cNvPr id="18463" name="Text Box 52"/>
            <p:cNvSpPr txBox="1">
              <a:spLocks noChangeArrowheads="1"/>
            </p:cNvSpPr>
            <p:nvPr/>
          </p:nvSpPr>
          <p:spPr bwMode="auto">
            <a:xfrm>
              <a:off x="801" y="9724"/>
              <a:ext cx="1080" cy="360"/>
            </a:xfrm>
            <a:prstGeom prst="rect">
              <a:avLst/>
            </a:prstGeom>
            <a:noFill/>
            <a:ln w="9525">
              <a:noFill/>
              <a:miter lim="800000"/>
              <a:headEnd/>
              <a:tailEnd/>
            </a:ln>
          </p:spPr>
          <p:txBody>
            <a:bodyPr/>
            <a:lstStyle/>
            <a:p>
              <a:r>
                <a:rPr lang="bg-BG" sz="2000" b="1">
                  <a:latin typeface="Courier New" pitchFamily="49" charset="0"/>
                </a:rPr>
                <a:t>Ниво 2</a:t>
              </a:r>
              <a:endParaRPr lang="en-US" sz="1000">
                <a:latin typeface="Courier New" pitchFamily="49" charset="0"/>
              </a:endParaRPr>
            </a:p>
          </p:txBody>
        </p:sp>
        <p:sp>
          <p:nvSpPr>
            <p:cNvPr id="18464" name="Text Box 53"/>
            <p:cNvSpPr txBox="1">
              <a:spLocks noChangeArrowheads="1"/>
            </p:cNvSpPr>
            <p:nvPr/>
          </p:nvSpPr>
          <p:spPr bwMode="auto">
            <a:xfrm>
              <a:off x="801" y="10264"/>
              <a:ext cx="1080" cy="360"/>
            </a:xfrm>
            <a:prstGeom prst="rect">
              <a:avLst/>
            </a:prstGeom>
            <a:noFill/>
            <a:ln w="9525">
              <a:noFill/>
              <a:miter lim="800000"/>
              <a:headEnd/>
              <a:tailEnd/>
            </a:ln>
          </p:spPr>
          <p:txBody>
            <a:bodyPr/>
            <a:lstStyle/>
            <a:p>
              <a:r>
                <a:rPr lang="bg-BG" sz="2000" b="1">
                  <a:latin typeface="Courier New" pitchFamily="49" charset="0"/>
                </a:rPr>
                <a:t>Ниво </a:t>
              </a:r>
              <a:r>
                <a:rPr lang="en-US" sz="2000" b="1">
                  <a:latin typeface="Courier New" pitchFamily="49" charset="0"/>
                </a:rPr>
                <a:t>3</a:t>
              </a:r>
              <a:endParaRPr lang="en-US" sz="1000">
                <a:latin typeface="Courier New" pitchFamily="49" charset="0"/>
              </a:endParaRPr>
            </a:p>
          </p:txBody>
        </p:sp>
        <p:sp>
          <p:nvSpPr>
            <p:cNvPr id="18465" name="Text Box 54"/>
            <p:cNvSpPr txBox="1">
              <a:spLocks noChangeArrowheads="1"/>
            </p:cNvSpPr>
            <p:nvPr/>
          </p:nvSpPr>
          <p:spPr bwMode="auto">
            <a:xfrm>
              <a:off x="4101" y="8474"/>
              <a:ext cx="540" cy="360"/>
            </a:xfrm>
            <a:prstGeom prst="rect">
              <a:avLst/>
            </a:prstGeom>
            <a:noFill/>
            <a:ln w="9525">
              <a:noFill/>
              <a:miter lim="800000"/>
              <a:headEnd/>
              <a:tailEnd/>
            </a:ln>
          </p:spPr>
          <p:txBody>
            <a:bodyPr/>
            <a:lstStyle/>
            <a:p>
              <a:r>
                <a:rPr lang="en-US" sz="2000" b="1">
                  <a:latin typeface="Courier New" pitchFamily="49" charset="0"/>
                </a:rPr>
                <a:t>A</a:t>
              </a:r>
              <a:endParaRPr lang="en-US" sz="1000">
                <a:latin typeface="Courier New" pitchFamily="49" charset="0"/>
              </a:endParaRPr>
            </a:p>
          </p:txBody>
        </p:sp>
        <p:sp>
          <p:nvSpPr>
            <p:cNvPr id="18466" name="Text Box 55"/>
            <p:cNvSpPr txBox="1">
              <a:spLocks noChangeArrowheads="1"/>
            </p:cNvSpPr>
            <p:nvPr/>
          </p:nvSpPr>
          <p:spPr bwMode="auto">
            <a:xfrm>
              <a:off x="3481" y="9144"/>
              <a:ext cx="540" cy="360"/>
            </a:xfrm>
            <a:prstGeom prst="rect">
              <a:avLst/>
            </a:prstGeom>
            <a:noFill/>
            <a:ln w="9525">
              <a:noFill/>
              <a:miter lim="800000"/>
              <a:headEnd/>
              <a:tailEnd/>
            </a:ln>
          </p:spPr>
          <p:txBody>
            <a:bodyPr/>
            <a:lstStyle/>
            <a:p>
              <a:r>
                <a:rPr lang="en-US" sz="2000" b="1">
                  <a:latin typeface="Courier New" pitchFamily="49" charset="0"/>
                </a:rPr>
                <a:t>B</a:t>
              </a:r>
              <a:endParaRPr lang="en-US" sz="1000">
                <a:latin typeface="Courier New" pitchFamily="49" charset="0"/>
              </a:endParaRPr>
            </a:p>
          </p:txBody>
        </p:sp>
        <p:sp>
          <p:nvSpPr>
            <p:cNvPr id="18467" name="Text Box 56"/>
            <p:cNvSpPr txBox="1">
              <a:spLocks noChangeArrowheads="1"/>
            </p:cNvSpPr>
            <p:nvPr/>
          </p:nvSpPr>
          <p:spPr bwMode="auto">
            <a:xfrm>
              <a:off x="4741" y="9134"/>
              <a:ext cx="540" cy="360"/>
            </a:xfrm>
            <a:prstGeom prst="rect">
              <a:avLst/>
            </a:prstGeom>
            <a:noFill/>
            <a:ln w="9525">
              <a:noFill/>
              <a:miter lim="800000"/>
              <a:headEnd/>
              <a:tailEnd/>
            </a:ln>
          </p:spPr>
          <p:txBody>
            <a:bodyPr/>
            <a:lstStyle/>
            <a:p>
              <a:r>
                <a:rPr lang="en-US" sz="2000" b="1">
                  <a:latin typeface="Courier New" pitchFamily="49" charset="0"/>
                </a:rPr>
                <a:t>C</a:t>
              </a:r>
              <a:endParaRPr lang="en-US" sz="1000">
                <a:latin typeface="Courier New" pitchFamily="49" charset="0"/>
              </a:endParaRPr>
            </a:p>
          </p:txBody>
        </p:sp>
        <p:sp>
          <p:nvSpPr>
            <p:cNvPr id="18468" name="Text Box 57"/>
            <p:cNvSpPr txBox="1">
              <a:spLocks noChangeArrowheads="1"/>
            </p:cNvSpPr>
            <p:nvPr/>
          </p:nvSpPr>
          <p:spPr bwMode="auto">
            <a:xfrm>
              <a:off x="2991" y="9824"/>
              <a:ext cx="540" cy="360"/>
            </a:xfrm>
            <a:prstGeom prst="rect">
              <a:avLst/>
            </a:prstGeom>
            <a:noFill/>
            <a:ln w="9525">
              <a:noFill/>
              <a:miter lim="800000"/>
              <a:headEnd/>
              <a:tailEnd/>
            </a:ln>
          </p:spPr>
          <p:txBody>
            <a:bodyPr/>
            <a:lstStyle/>
            <a:p>
              <a:r>
                <a:rPr lang="en-US" sz="2000" b="1">
                  <a:latin typeface="Courier New" pitchFamily="49" charset="0"/>
                </a:rPr>
                <a:t>D</a:t>
              </a:r>
              <a:endParaRPr lang="en-US" sz="1000">
                <a:latin typeface="Courier New" pitchFamily="49" charset="0"/>
              </a:endParaRPr>
            </a:p>
          </p:txBody>
        </p:sp>
        <p:sp>
          <p:nvSpPr>
            <p:cNvPr id="18469" name="Text Box 58"/>
            <p:cNvSpPr txBox="1">
              <a:spLocks noChangeArrowheads="1"/>
            </p:cNvSpPr>
            <p:nvPr/>
          </p:nvSpPr>
          <p:spPr bwMode="auto">
            <a:xfrm>
              <a:off x="3851" y="9804"/>
              <a:ext cx="540" cy="360"/>
            </a:xfrm>
            <a:prstGeom prst="rect">
              <a:avLst/>
            </a:prstGeom>
            <a:noFill/>
            <a:ln w="9525">
              <a:noFill/>
              <a:miter lim="800000"/>
              <a:headEnd/>
              <a:tailEnd/>
            </a:ln>
          </p:spPr>
          <p:txBody>
            <a:bodyPr/>
            <a:lstStyle/>
            <a:p>
              <a:r>
                <a:rPr lang="en-US" sz="2000" b="1">
                  <a:latin typeface="Courier New" pitchFamily="49" charset="0"/>
                </a:rPr>
                <a:t>E</a:t>
              </a:r>
              <a:endParaRPr lang="en-US" sz="1000">
                <a:latin typeface="Courier New" pitchFamily="49" charset="0"/>
              </a:endParaRPr>
            </a:p>
          </p:txBody>
        </p:sp>
        <p:sp>
          <p:nvSpPr>
            <p:cNvPr id="18470" name="Text Box 59"/>
            <p:cNvSpPr txBox="1">
              <a:spLocks noChangeArrowheads="1"/>
            </p:cNvSpPr>
            <p:nvPr/>
          </p:nvSpPr>
          <p:spPr bwMode="auto">
            <a:xfrm>
              <a:off x="5221" y="9734"/>
              <a:ext cx="540" cy="360"/>
            </a:xfrm>
            <a:prstGeom prst="rect">
              <a:avLst/>
            </a:prstGeom>
            <a:noFill/>
            <a:ln w="9525">
              <a:noFill/>
              <a:miter lim="800000"/>
              <a:headEnd/>
              <a:tailEnd/>
            </a:ln>
          </p:spPr>
          <p:txBody>
            <a:bodyPr/>
            <a:lstStyle/>
            <a:p>
              <a:r>
                <a:rPr lang="en-US" sz="2000" b="1">
                  <a:latin typeface="Courier New" pitchFamily="49" charset="0"/>
                </a:rPr>
                <a:t>F</a:t>
              </a:r>
              <a:endParaRPr lang="bg-BG" sz="1000">
                <a:latin typeface="Courier New" pitchFamily="49"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58888" y="620713"/>
            <a:ext cx="7772400" cy="5638800"/>
          </a:xfrm>
        </p:spPr>
        <p:txBody>
          <a:bodyPr/>
          <a:lstStyle/>
          <a:p>
            <a:pPr eaLnBrk="1" fontAlgn="auto" hangingPunct="1">
              <a:spcAft>
                <a:spcPts val="0"/>
              </a:spcAft>
              <a:defRPr/>
            </a:pPr>
            <a:r>
              <a:rPr lang="en-US" sz="2400">
                <a:solidFill>
                  <a:schemeClr val="tx1"/>
                </a:solidFill>
              </a:rPr>
              <a:t>	</a:t>
            </a:r>
            <a:r>
              <a:rPr lang="bg-BG" sz="2400" u="sng">
                <a:solidFill>
                  <a:schemeClr val="tx1"/>
                </a:solidFill>
              </a:rPr>
              <a:t>Основни операции със структурата дърво </a:t>
            </a:r>
            <a:r>
              <a:rPr lang="bg-BG" sz="2400">
                <a:solidFill>
                  <a:schemeClr val="tx1"/>
                </a:solidFill>
              </a:rPr>
              <a:t/>
            </a:r>
            <a:br>
              <a:rPr lang="bg-BG" sz="2400">
                <a:solidFill>
                  <a:schemeClr val="tx1"/>
                </a:solidFill>
              </a:rPr>
            </a:br>
            <a:r>
              <a:rPr lang="bg-BG" sz="2400">
                <a:solidFill>
                  <a:schemeClr val="tx2">
                    <a:satMod val="130000"/>
                  </a:schemeClr>
                </a:solidFill>
              </a:rPr>
              <a:t>. </a:t>
            </a:r>
            <a:r>
              <a:rPr lang="bg-BG" sz="2400">
                <a:solidFill>
                  <a:schemeClr val="tx1"/>
                </a:solidFill>
              </a:rPr>
              <a:t>Инициализиране на дърво</a:t>
            </a:r>
            <a:br>
              <a:rPr lang="bg-BG" sz="2400">
                <a:solidFill>
                  <a:schemeClr val="tx1"/>
                </a:solidFill>
              </a:rPr>
            </a:br>
            <a:r>
              <a:rPr lang="bg-BG" sz="2400">
                <a:solidFill>
                  <a:schemeClr val="tx2">
                    <a:satMod val="130000"/>
                  </a:schemeClr>
                </a:solidFill>
              </a:rPr>
              <a:t>. </a:t>
            </a:r>
            <a:r>
              <a:rPr lang="bg-BG" sz="2400">
                <a:solidFill>
                  <a:schemeClr val="tx1"/>
                </a:solidFill>
              </a:rPr>
              <a:t>Обхождане на дърво</a:t>
            </a:r>
            <a:br>
              <a:rPr lang="bg-BG" sz="2400">
                <a:solidFill>
                  <a:schemeClr val="tx1"/>
                </a:solidFill>
              </a:rPr>
            </a:br>
            <a:r>
              <a:rPr lang="bg-BG" sz="2400">
                <a:solidFill>
                  <a:schemeClr val="tx2">
                    <a:satMod val="130000"/>
                  </a:schemeClr>
                </a:solidFill>
              </a:rPr>
              <a:t>. </a:t>
            </a:r>
            <a:r>
              <a:rPr lang="bg-BG" sz="2400">
                <a:solidFill>
                  <a:schemeClr val="tx1"/>
                </a:solidFill>
              </a:rPr>
              <a:t>Добавяне на елемент в дърво</a:t>
            </a:r>
            <a:br>
              <a:rPr lang="bg-BG" sz="2400">
                <a:solidFill>
                  <a:schemeClr val="tx1"/>
                </a:solidFill>
              </a:rPr>
            </a:br>
            <a:r>
              <a:rPr lang="bg-BG" sz="2400">
                <a:solidFill>
                  <a:schemeClr val="tx2">
                    <a:satMod val="130000"/>
                  </a:schemeClr>
                </a:solidFill>
              </a:rPr>
              <a:t>. </a:t>
            </a:r>
            <a:r>
              <a:rPr lang="bg-BG" sz="2400">
                <a:solidFill>
                  <a:schemeClr val="tx1"/>
                </a:solidFill>
              </a:rPr>
              <a:t>Премахване на елемент от дърво</a:t>
            </a:r>
            <a:br>
              <a:rPr lang="bg-BG" sz="2400">
                <a:solidFill>
                  <a:schemeClr val="tx1"/>
                </a:solidFill>
              </a:rPr>
            </a:br>
            <a:r>
              <a:rPr lang="bg-BG" sz="2400">
                <a:solidFill>
                  <a:schemeClr val="tx2">
                    <a:satMod val="130000"/>
                  </a:schemeClr>
                </a:solidFill>
              </a:rPr>
              <a:t>. </a:t>
            </a:r>
            <a:r>
              <a:rPr lang="bg-BG" sz="2400">
                <a:solidFill>
                  <a:schemeClr val="tx1"/>
                </a:solidFill>
              </a:rPr>
              <a:t>Търсене на елемент.</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t>
            </a:r>
            <a:r>
              <a:rPr lang="bg-BG" sz="2000">
                <a:solidFill>
                  <a:schemeClr val="tx1"/>
                </a:solidFill>
              </a:rPr>
              <a:t>Инициализация на двоично дърво</a:t>
            </a:r>
            <a:br>
              <a:rPr lang="bg-BG" sz="2000">
                <a:solidFill>
                  <a:schemeClr val="tx1"/>
                </a:solidFill>
              </a:rPr>
            </a:br>
            <a:r>
              <a:rPr lang="bg-BG" sz="2000">
                <a:solidFill>
                  <a:schemeClr val="tx1"/>
                </a:solidFill>
              </a:rPr>
              <a:t> </a:t>
            </a:r>
            <a:br>
              <a:rPr lang="bg-BG" sz="2000">
                <a:solidFill>
                  <a:schemeClr val="tx1"/>
                </a:solidFill>
              </a:rPr>
            </a:br>
            <a:r>
              <a:rPr lang="bg-BG" sz="2000">
                <a:solidFill>
                  <a:schemeClr val="tx1"/>
                </a:solidFill>
              </a:rPr>
              <a:t>	На указателя към корена на дървото се присвоява стойност </a:t>
            </a:r>
            <a:r>
              <a:rPr lang="bg-BG" sz="2000" b="1">
                <a:solidFill>
                  <a:schemeClr val="tx1"/>
                </a:solidFill>
              </a:rPr>
              <a:t>NULL</a:t>
            </a:r>
            <a:r>
              <a:rPr lang="bg-BG" sz="2000">
                <a:solidFill>
                  <a:schemeClr val="tx1"/>
                </a:solidFill>
              </a:rPr>
              <a:t> при дефинирането на структурата:</a:t>
            </a:r>
            <a:br>
              <a:rPr lang="bg-BG" sz="2000">
                <a:solidFill>
                  <a:schemeClr val="tx1"/>
                </a:solidFill>
              </a:rPr>
            </a:br>
            <a:r>
              <a:rPr lang="bg-BG" sz="2000">
                <a:solidFill>
                  <a:schemeClr val="tx1"/>
                </a:solidFill>
              </a:rPr>
              <a:t/>
            </a:r>
            <a:br>
              <a:rPr lang="bg-BG" sz="2000">
                <a:solidFill>
                  <a:schemeClr val="tx1"/>
                </a:solidFill>
              </a:rPr>
            </a:br>
            <a:r>
              <a:rPr lang="en-US" sz="2000">
                <a:solidFill>
                  <a:schemeClr val="tx1"/>
                </a:solidFill>
                <a:latin typeface="Courier New" pitchFamily="49" charset="0"/>
              </a:rPr>
              <a:t>struct elem</a:t>
            </a:r>
            <a:r>
              <a:rPr lang="bg-BG" sz="2000">
                <a:solidFill>
                  <a:schemeClr val="tx1"/>
                </a:solidFill>
                <a:latin typeface="Courier New" pitchFamily="49" charset="0"/>
              </a:rPr>
              <a:t/>
            </a:r>
            <a:br>
              <a:rPr lang="bg-BG" sz="2000">
                <a:solidFill>
                  <a:schemeClr val="tx1"/>
                </a:solidFill>
                <a:latin typeface="Courier New" pitchFamily="49" charset="0"/>
              </a:rPr>
            </a:br>
            <a:r>
              <a:rPr lang="en-US" sz="2000">
                <a:solidFill>
                  <a:schemeClr val="tx1"/>
                </a:solidFill>
                <a:latin typeface="Courier New" pitchFamily="49" charset="0"/>
              </a:rPr>
              <a:t>   {char key; elem *left, *right;} *root=NULL;</a:t>
            </a:r>
            <a:r>
              <a:rPr lang="en-US">
                <a:solidFill>
                  <a:schemeClr val="tx1"/>
                </a:solidFill>
                <a:latin typeface="Courier New" pitchFamily="49" charset="0"/>
              </a:rPr>
              <a:t/>
            </a:r>
            <a:br>
              <a:rPr lang="en-US">
                <a:solidFill>
                  <a:schemeClr val="tx1"/>
                </a:solidFill>
                <a:latin typeface="Courier New" pitchFamily="49" charset="0"/>
              </a:rPr>
            </a:br>
            <a:endParaRPr lang="en-US">
              <a:solidFill>
                <a:schemeClr val="tx1"/>
              </a:solidFill>
              <a:latin typeface="Courier New"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16013" y="404813"/>
            <a:ext cx="7956550" cy="6629400"/>
          </a:xfrm>
        </p:spPr>
        <p:txBody>
          <a:bodyPr>
            <a:normAutofit fontScale="90000"/>
          </a:bodyPr>
          <a:lstStyle/>
          <a:p>
            <a:pPr eaLnBrk="1" fontAlgn="auto" hangingPunct="1">
              <a:spcAft>
                <a:spcPts val="0"/>
              </a:spcAft>
              <a:defRPr/>
            </a:pPr>
            <a:r>
              <a:rPr lang="bg-BG" sz="2400">
                <a:solidFill>
                  <a:schemeClr val="tx1"/>
                </a:solidFill>
              </a:rPr>
              <a:t>		</a:t>
            </a:r>
            <a:r>
              <a:rPr lang="bg-BG" sz="2800">
                <a:solidFill>
                  <a:schemeClr val="tx1"/>
                </a:solidFill>
              </a:rPr>
              <a:t>Обхождане на двоично дърво</a:t>
            </a:r>
            <a:br>
              <a:rPr lang="bg-BG" sz="2800">
                <a:solidFill>
                  <a:schemeClr val="tx1"/>
                </a:solidFill>
              </a:rPr>
            </a:br>
            <a:r>
              <a:rPr lang="bg-BG" sz="2000">
                <a:solidFill>
                  <a:schemeClr val="tx1"/>
                </a:solidFill>
              </a:rPr>
              <a:t>	Обхождането означава посещаване на всеки възел по веднъж. Т.к. дървото е нелинейна структура, обхождането му може да става по различни начини. Различават методи за обхождане в ширина и в дълбочина, като последния се извършва по три стандартни начина:	</a:t>
            </a:r>
            <a:br>
              <a:rPr lang="bg-BG" sz="2000">
                <a:solidFill>
                  <a:schemeClr val="tx1"/>
                </a:solidFill>
              </a:rPr>
            </a:br>
            <a:r>
              <a:rPr lang="bg-BG" sz="2000">
                <a:solidFill>
                  <a:schemeClr val="tx1"/>
                </a:solidFill>
              </a:rPr>
              <a:t>	 - в прав ред - </a:t>
            </a:r>
            <a:r>
              <a:rPr lang="bg-BG" sz="2000" b="1">
                <a:solidFill>
                  <a:schemeClr val="tx1"/>
                </a:solidFill>
              </a:rPr>
              <a:t>PREORDER</a:t>
            </a:r>
            <a:br>
              <a:rPr lang="bg-BG" sz="2000" b="1">
                <a:solidFill>
                  <a:schemeClr val="tx1"/>
                </a:solidFill>
              </a:rPr>
            </a:br>
            <a:r>
              <a:rPr lang="bg-BG" sz="2000">
                <a:solidFill>
                  <a:schemeClr val="tx1"/>
                </a:solidFill>
              </a:rPr>
              <a:t>	 - във вътрешен ред (или симетрично обхождане) - </a:t>
            </a:r>
            <a:r>
              <a:rPr lang="bg-BG" sz="2000" b="1">
                <a:solidFill>
                  <a:schemeClr val="tx1"/>
                </a:solidFill>
              </a:rPr>
              <a:t>INORDER</a:t>
            </a:r>
            <a:r>
              <a:rPr lang="bg-BG" sz="2000">
                <a:solidFill>
                  <a:schemeClr val="tx1"/>
                </a:solidFill>
              </a:rPr>
              <a:t/>
            </a:r>
            <a:br>
              <a:rPr lang="bg-BG" sz="2000">
                <a:solidFill>
                  <a:schemeClr val="tx1"/>
                </a:solidFill>
              </a:rPr>
            </a:br>
            <a:r>
              <a:rPr lang="bg-BG" sz="2000">
                <a:solidFill>
                  <a:schemeClr val="tx1"/>
                </a:solidFill>
              </a:rPr>
              <a:t>	 - в обратен ред - </a:t>
            </a:r>
            <a:r>
              <a:rPr lang="bg-BG" sz="2000" b="1">
                <a:solidFill>
                  <a:schemeClr val="tx1"/>
                </a:solidFill>
              </a:rPr>
              <a:t>POSTORDER</a:t>
            </a:r>
            <a:r>
              <a:rPr lang="bg-BG" sz="2000">
                <a:solidFill>
                  <a:schemeClr val="tx1"/>
                </a:solidFill>
              </a:rPr>
              <a:t/>
            </a:r>
            <a:br>
              <a:rPr lang="bg-BG" sz="2000">
                <a:solidFill>
                  <a:schemeClr val="tx1"/>
                </a:solidFill>
              </a:rPr>
            </a:br>
            <a:r>
              <a:rPr lang="bg-BG" sz="2000">
                <a:solidFill>
                  <a:schemeClr val="tx1"/>
                </a:solidFill>
              </a:rPr>
              <a:t>	При обхождането в прав ред се възлите се посещават в следната последователност: корен - ляво поддърво - дясно поддърво, което за горния пример на двоично дърво ще даде такава последователност: </a:t>
            </a:r>
            <a:r>
              <a:rPr lang="bg-BG" sz="2000" b="1">
                <a:solidFill>
                  <a:schemeClr val="tx1"/>
                </a:solidFill>
              </a:rPr>
              <a:t>АBDECF.</a:t>
            </a:r>
            <a:r>
              <a:rPr lang="bg-BG" sz="2000">
                <a:solidFill>
                  <a:schemeClr val="tx1"/>
                </a:solidFill>
              </a:rPr>
              <a:t/>
            </a:r>
            <a:br>
              <a:rPr lang="bg-BG" sz="2000">
                <a:solidFill>
                  <a:schemeClr val="tx1"/>
                </a:solidFill>
              </a:rPr>
            </a:br>
            <a:r>
              <a:rPr lang="bg-BG" sz="2000">
                <a:solidFill>
                  <a:schemeClr val="tx1"/>
                </a:solidFill>
              </a:rPr>
              <a:t>	</a:t>
            </a:r>
            <a:r>
              <a:rPr lang="bg-BG">
                <a:solidFill>
                  <a:schemeClr val="tx1"/>
                </a:solidFill>
              </a:rPr>
              <a:t/>
            </a:r>
            <a:br>
              <a:rPr lang="bg-BG">
                <a:solidFill>
                  <a:schemeClr val="tx1"/>
                </a:solidFill>
              </a:rPr>
            </a:br>
            <a:r>
              <a:rPr lang="bg-BG" sz="2000">
                <a:solidFill>
                  <a:schemeClr val="tx1"/>
                </a:solidFill>
              </a:rPr>
              <a:t>Функция за рекурсивно обхождане на двоично дърво в прав ред:</a:t>
            </a:r>
            <a:r>
              <a:rPr lang="bg-BG" sz="1800">
                <a:solidFill>
                  <a:schemeClr val="tx1"/>
                </a:solidFill>
              </a:rPr>
              <a:t/>
            </a:r>
            <a:br>
              <a:rPr lang="bg-BG" sz="1800">
                <a:solidFill>
                  <a:schemeClr val="tx1"/>
                </a:solidFill>
              </a:rPr>
            </a:br>
            <a:r>
              <a:rPr lang="en-US" sz="1800">
                <a:solidFill>
                  <a:schemeClr val="tx1"/>
                </a:solidFill>
                <a:latin typeface="Courier New" pitchFamily="49" charset="0"/>
              </a:rPr>
              <a:t>void preorder(elem *t)</a:t>
            </a:r>
            <a:br>
              <a:rPr lang="en-US" sz="1800">
                <a:solidFill>
                  <a:schemeClr val="tx1"/>
                </a:solidFill>
                <a:latin typeface="Courier New" pitchFamily="49" charset="0"/>
              </a:rPr>
            </a:br>
            <a:r>
              <a:rPr lang="en-US" sz="1800">
                <a:solidFill>
                  <a:schemeClr val="tx1"/>
                </a:solidFill>
                <a:latin typeface="Courier New" pitchFamily="49" charset="0"/>
              </a:rPr>
              <a:t>{</a:t>
            </a:r>
            <a:r>
              <a:rPr lang="bg-BG" sz="1800">
                <a:solidFill>
                  <a:schemeClr val="tx1"/>
                </a:solidFill>
                <a:latin typeface="Courier New" pitchFamily="49" charset="0"/>
              </a:rPr>
              <a:t/>
            </a:r>
            <a:br>
              <a:rPr lang="bg-BG" sz="1800">
                <a:solidFill>
                  <a:schemeClr val="tx1"/>
                </a:solidFill>
                <a:latin typeface="Courier New" pitchFamily="49" charset="0"/>
              </a:rPr>
            </a:br>
            <a:r>
              <a:rPr lang="en-US" sz="1800">
                <a:solidFill>
                  <a:schemeClr val="tx1"/>
                </a:solidFill>
                <a:latin typeface="Courier New" pitchFamily="49" charset="0"/>
              </a:rPr>
              <a:t>  if (t)</a:t>
            </a:r>
            <a:r>
              <a:rPr lang="bg-BG" sz="1800">
                <a:solidFill>
                  <a:schemeClr val="tx1"/>
                </a:solidFill>
                <a:latin typeface="Courier New" pitchFamily="49" charset="0"/>
              </a:rPr>
              <a:t/>
            </a:r>
            <a:br>
              <a:rPr lang="bg-BG" sz="1800">
                <a:solidFill>
                  <a:schemeClr val="tx1"/>
                </a:solidFill>
                <a:latin typeface="Courier New" pitchFamily="49" charset="0"/>
              </a:rPr>
            </a:br>
            <a:r>
              <a:rPr lang="en-US" sz="1800">
                <a:solidFill>
                  <a:schemeClr val="tx1"/>
                </a:solidFill>
                <a:latin typeface="Courier New" pitchFamily="49" charset="0"/>
              </a:rPr>
              <a:t>    {</a:t>
            </a:r>
            <a:r>
              <a:rPr lang="bg-BG" sz="1800">
                <a:solidFill>
                  <a:schemeClr val="tx1"/>
                </a:solidFill>
                <a:latin typeface="Courier New" pitchFamily="49" charset="0"/>
              </a:rPr>
              <a:t/>
            </a:r>
            <a:br>
              <a:rPr lang="bg-BG" sz="1800">
                <a:solidFill>
                  <a:schemeClr val="tx1"/>
                </a:solidFill>
                <a:latin typeface="Courier New" pitchFamily="49" charset="0"/>
              </a:rPr>
            </a:br>
            <a:r>
              <a:rPr lang="en-US" sz="1800">
                <a:solidFill>
                  <a:schemeClr val="tx1"/>
                </a:solidFill>
                <a:latin typeface="Courier New" pitchFamily="49" charset="0"/>
              </a:rPr>
              <a:t>     cout&lt;&lt;t-&gt;key&lt;&lt;" ";</a:t>
            </a:r>
            <a:br>
              <a:rPr lang="en-US" sz="1800">
                <a:solidFill>
                  <a:schemeClr val="tx1"/>
                </a:solidFill>
                <a:latin typeface="Courier New" pitchFamily="49" charset="0"/>
              </a:rPr>
            </a:br>
            <a:r>
              <a:rPr lang="en-US" sz="1800">
                <a:solidFill>
                  <a:schemeClr val="tx1"/>
                </a:solidFill>
                <a:latin typeface="Courier New" pitchFamily="49" charset="0"/>
              </a:rPr>
              <a:t>     preorder(t-&gt;left);</a:t>
            </a:r>
            <a:br>
              <a:rPr lang="en-US" sz="1800">
                <a:solidFill>
                  <a:schemeClr val="tx1"/>
                </a:solidFill>
                <a:latin typeface="Courier New" pitchFamily="49" charset="0"/>
              </a:rPr>
            </a:br>
            <a:r>
              <a:rPr lang="en-US" sz="1800">
                <a:solidFill>
                  <a:schemeClr val="tx1"/>
                </a:solidFill>
                <a:latin typeface="Courier New" pitchFamily="49" charset="0"/>
              </a:rPr>
              <a:t>     preorder(t-&gt;right);</a:t>
            </a:r>
            <a:br>
              <a:rPr lang="en-US" sz="1800">
                <a:solidFill>
                  <a:schemeClr val="tx1"/>
                </a:solidFill>
                <a:latin typeface="Courier New" pitchFamily="49" charset="0"/>
              </a:rPr>
            </a:br>
            <a:r>
              <a:rPr lang="en-US" sz="1800">
                <a:solidFill>
                  <a:schemeClr val="tx1"/>
                </a:solidFill>
                <a:latin typeface="Courier New" pitchFamily="49" charset="0"/>
              </a:rPr>
              <a:t>    }</a:t>
            </a:r>
            <a:r>
              <a:rPr lang="bg-BG" sz="1800">
                <a:solidFill>
                  <a:schemeClr val="tx1"/>
                </a:solidFill>
                <a:latin typeface="Courier New" pitchFamily="49" charset="0"/>
              </a:rPr>
              <a:t/>
            </a:r>
            <a:br>
              <a:rPr lang="bg-BG" sz="1800">
                <a:solidFill>
                  <a:schemeClr val="tx1"/>
                </a:solidFill>
                <a:latin typeface="Courier New" pitchFamily="49" charset="0"/>
              </a:rPr>
            </a:br>
            <a:r>
              <a:rPr lang="en-US" sz="1800">
                <a:solidFill>
                  <a:schemeClr val="tx1"/>
                </a:solidFill>
                <a:latin typeface="Courier New" pitchFamily="49" charset="0"/>
              </a:rPr>
              <a:t>}</a:t>
            </a:r>
            <a:r>
              <a:rPr lang="bg-BG" sz="1800">
                <a:solidFill>
                  <a:schemeClr val="tx1"/>
                </a:solidFill>
                <a:latin typeface="Courier New" pitchFamily="49" charset="0"/>
              </a:rPr>
              <a:t/>
            </a:r>
            <a:br>
              <a:rPr lang="bg-BG" sz="1800">
                <a:solidFill>
                  <a:schemeClr val="tx1"/>
                </a:solidFill>
                <a:latin typeface="Courier New" pitchFamily="49" charset="0"/>
              </a:rPr>
            </a:br>
            <a:r>
              <a:rPr lang="bg-BG">
                <a:solidFill>
                  <a:schemeClr val="tx1"/>
                </a:solidFill>
              </a:rPr>
              <a:t/>
            </a:r>
            <a:br>
              <a:rPr lang="bg-BG">
                <a:solidFill>
                  <a:schemeClr val="tx1"/>
                </a:solidFill>
              </a:rPr>
            </a:br>
            <a:endParaRPr lang="en-US">
              <a:solidFill>
                <a:schemeClr val="tx1"/>
              </a:solidFill>
            </a:endParaRPr>
          </a:p>
        </p:txBody>
      </p:sp>
      <p:grpSp>
        <p:nvGrpSpPr>
          <p:cNvPr id="20483" name="Group 3"/>
          <p:cNvGrpSpPr>
            <a:grpSpLocks/>
          </p:cNvGrpSpPr>
          <p:nvPr/>
        </p:nvGrpSpPr>
        <p:grpSpPr bwMode="auto">
          <a:xfrm>
            <a:off x="2971800" y="4267200"/>
            <a:ext cx="5791200" cy="2286000"/>
            <a:chOff x="801" y="8464"/>
            <a:chExt cx="5130" cy="2160"/>
          </a:xfrm>
        </p:grpSpPr>
        <p:sp>
          <p:nvSpPr>
            <p:cNvPr id="20484" name="Oval 4"/>
            <p:cNvSpPr>
              <a:spLocks noChangeArrowheads="1"/>
            </p:cNvSpPr>
            <p:nvPr/>
          </p:nvSpPr>
          <p:spPr bwMode="auto">
            <a:xfrm>
              <a:off x="4106" y="8503"/>
              <a:ext cx="379" cy="337"/>
            </a:xfrm>
            <a:prstGeom prst="ellipse">
              <a:avLst/>
            </a:prstGeom>
            <a:noFill/>
            <a:ln w="12700">
              <a:solidFill>
                <a:srgbClr val="000000"/>
              </a:solidFill>
              <a:round/>
              <a:headEnd/>
              <a:tailEnd/>
            </a:ln>
          </p:spPr>
          <p:txBody>
            <a:bodyPr/>
            <a:lstStyle/>
            <a:p>
              <a:endParaRPr lang="bg-BG"/>
            </a:p>
          </p:txBody>
        </p:sp>
        <p:sp>
          <p:nvSpPr>
            <p:cNvPr id="20485" name="Oval 5"/>
            <p:cNvSpPr>
              <a:spLocks noChangeArrowheads="1"/>
            </p:cNvSpPr>
            <p:nvPr/>
          </p:nvSpPr>
          <p:spPr bwMode="auto">
            <a:xfrm>
              <a:off x="3504" y="9159"/>
              <a:ext cx="379" cy="337"/>
            </a:xfrm>
            <a:prstGeom prst="ellipse">
              <a:avLst/>
            </a:prstGeom>
            <a:noFill/>
            <a:ln w="12700">
              <a:solidFill>
                <a:srgbClr val="000000"/>
              </a:solidFill>
              <a:round/>
              <a:headEnd/>
              <a:tailEnd/>
            </a:ln>
          </p:spPr>
          <p:txBody>
            <a:bodyPr/>
            <a:lstStyle/>
            <a:p>
              <a:endParaRPr lang="bg-BG"/>
            </a:p>
          </p:txBody>
        </p:sp>
        <p:sp>
          <p:nvSpPr>
            <p:cNvPr id="20486" name="Oval 6"/>
            <p:cNvSpPr>
              <a:spLocks noChangeArrowheads="1"/>
            </p:cNvSpPr>
            <p:nvPr/>
          </p:nvSpPr>
          <p:spPr bwMode="auto">
            <a:xfrm>
              <a:off x="4764" y="9138"/>
              <a:ext cx="379" cy="351"/>
            </a:xfrm>
            <a:prstGeom prst="ellipse">
              <a:avLst/>
            </a:prstGeom>
            <a:noFill/>
            <a:ln w="12700">
              <a:solidFill>
                <a:srgbClr val="000000"/>
              </a:solidFill>
              <a:round/>
              <a:headEnd/>
              <a:tailEnd/>
            </a:ln>
          </p:spPr>
          <p:txBody>
            <a:bodyPr/>
            <a:lstStyle/>
            <a:p>
              <a:endParaRPr lang="bg-BG"/>
            </a:p>
          </p:txBody>
        </p:sp>
        <p:sp>
          <p:nvSpPr>
            <p:cNvPr id="20487" name="Oval 7"/>
            <p:cNvSpPr>
              <a:spLocks noChangeArrowheads="1"/>
            </p:cNvSpPr>
            <p:nvPr/>
          </p:nvSpPr>
          <p:spPr bwMode="auto">
            <a:xfrm>
              <a:off x="3006" y="9844"/>
              <a:ext cx="379" cy="337"/>
            </a:xfrm>
            <a:prstGeom prst="ellipse">
              <a:avLst/>
            </a:prstGeom>
            <a:noFill/>
            <a:ln w="12700">
              <a:solidFill>
                <a:srgbClr val="000000"/>
              </a:solidFill>
              <a:round/>
              <a:headEnd/>
              <a:tailEnd/>
            </a:ln>
          </p:spPr>
          <p:txBody>
            <a:bodyPr/>
            <a:lstStyle/>
            <a:p>
              <a:endParaRPr lang="bg-BG"/>
            </a:p>
          </p:txBody>
        </p:sp>
        <p:sp>
          <p:nvSpPr>
            <p:cNvPr id="20488" name="Oval 8"/>
            <p:cNvSpPr>
              <a:spLocks noChangeArrowheads="1"/>
            </p:cNvSpPr>
            <p:nvPr/>
          </p:nvSpPr>
          <p:spPr bwMode="auto">
            <a:xfrm>
              <a:off x="5238" y="9744"/>
              <a:ext cx="379" cy="337"/>
            </a:xfrm>
            <a:prstGeom prst="ellipse">
              <a:avLst/>
            </a:prstGeom>
            <a:noFill/>
            <a:ln w="12700">
              <a:solidFill>
                <a:srgbClr val="000000"/>
              </a:solidFill>
              <a:round/>
              <a:headEnd/>
              <a:tailEnd/>
            </a:ln>
          </p:spPr>
          <p:txBody>
            <a:bodyPr/>
            <a:lstStyle/>
            <a:p>
              <a:endParaRPr lang="bg-BG"/>
            </a:p>
          </p:txBody>
        </p:sp>
        <p:sp>
          <p:nvSpPr>
            <p:cNvPr id="20489" name="Oval 9"/>
            <p:cNvSpPr>
              <a:spLocks noChangeArrowheads="1"/>
            </p:cNvSpPr>
            <p:nvPr/>
          </p:nvSpPr>
          <p:spPr bwMode="auto">
            <a:xfrm>
              <a:off x="3872" y="9824"/>
              <a:ext cx="379" cy="337"/>
            </a:xfrm>
            <a:prstGeom prst="ellipse">
              <a:avLst/>
            </a:prstGeom>
            <a:noFill/>
            <a:ln w="12700">
              <a:solidFill>
                <a:srgbClr val="000000"/>
              </a:solidFill>
              <a:round/>
              <a:headEnd/>
              <a:tailEnd/>
            </a:ln>
          </p:spPr>
          <p:txBody>
            <a:bodyPr/>
            <a:lstStyle/>
            <a:p>
              <a:endParaRPr lang="bg-BG"/>
            </a:p>
          </p:txBody>
        </p:sp>
        <p:sp>
          <p:nvSpPr>
            <p:cNvPr id="20490" name="Line 10"/>
            <p:cNvSpPr>
              <a:spLocks noChangeShapeType="1"/>
            </p:cNvSpPr>
            <p:nvPr/>
          </p:nvSpPr>
          <p:spPr bwMode="auto">
            <a:xfrm flipH="1">
              <a:off x="3798" y="8811"/>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20491" name="Line 11"/>
            <p:cNvSpPr>
              <a:spLocks noChangeShapeType="1"/>
            </p:cNvSpPr>
            <p:nvPr/>
          </p:nvSpPr>
          <p:spPr bwMode="auto">
            <a:xfrm>
              <a:off x="4428" y="8797"/>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20492" name="Line 12"/>
            <p:cNvSpPr>
              <a:spLocks noChangeShapeType="1"/>
            </p:cNvSpPr>
            <p:nvPr/>
          </p:nvSpPr>
          <p:spPr bwMode="auto">
            <a:xfrm flipH="1">
              <a:off x="3260" y="9448"/>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20493" name="Line 13"/>
            <p:cNvSpPr>
              <a:spLocks noChangeShapeType="1"/>
            </p:cNvSpPr>
            <p:nvPr/>
          </p:nvSpPr>
          <p:spPr bwMode="auto">
            <a:xfrm>
              <a:off x="3844" y="9437"/>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20494" name="Line 14"/>
            <p:cNvSpPr>
              <a:spLocks noChangeShapeType="1"/>
            </p:cNvSpPr>
            <p:nvPr/>
          </p:nvSpPr>
          <p:spPr bwMode="auto">
            <a:xfrm>
              <a:off x="5092" y="9444"/>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20495" name="Line 15"/>
            <p:cNvSpPr>
              <a:spLocks noChangeShapeType="1"/>
            </p:cNvSpPr>
            <p:nvPr/>
          </p:nvSpPr>
          <p:spPr bwMode="auto">
            <a:xfrm flipH="1">
              <a:off x="2866" y="10151"/>
              <a:ext cx="180" cy="255"/>
            </a:xfrm>
            <a:prstGeom prst="line">
              <a:avLst/>
            </a:prstGeom>
            <a:noFill/>
            <a:ln w="12700">
              <a:solidFill>
                <a:srgbClr val="000000"/>
              </a:solidFill>
              <a:round/>
              <a:headEnd/>
              <a:tailEnd type="triangle" w="sm" len="med"/>
            </a:ln>
          </p:spPr>
          <p:txBody>
            <a:bodyPr/>
            <a:lstStyle/>
            <a:p>
              <a:endParaRPr lang="bg-BG"/>
            </a:p>
          </p:txBody>
        </p:sp>
        <p:sp>
          <p:nvSpPr>
            <p:cNvPr id="20496" name="Line 16"/>
            <p:cNvSpPr>
              <a:spLocks noChangeShapeType="1"/>
            </p:cNvSpPr>
            <p:nvPr/>
          </p:nvSpPr>
          <p:spPr bwMode="auto">
            <a:xfrm>
              <a:off x="3311" y="10154"/>
              <a:ext cx="150" cy="240"/>
            </a:xfrm>
            <a:prstGeom prst="line">
              <a:avLst/>
            </a:prstGeom>
            <a:noFill/>
            <a:ln w="12700">
              <a:solidFill>
                <a:srgbClr val="000000"/>
              </a:solidFill>
              <a:round/>
              <a:headEnd/>
              <a:tailEnd type="triangle" w="sm" len="med"/>
            </a:ln>
          </p:spPr>
          <p:txBody>
            <a:bodyPr/>
            <a:lstStyle/>
            <a:p>
              <a:endParaRPr lang="bg-BG"/>
            </a:p>
          </p:txBody>
        </p:sp>
        <p:sp>
          <p:nvSpPr>
            <p:cNvPr id="20497" name="Line 17"/>
            <p:cNvSpPr>
              <a:spLocks noChangeShapeType="1"/>
            </p:cNvSpPr>
            <p:nvPr/>
          </p:nvSpPr>
          <p:spPr bwMode="auto">
            <a:xfrm flipH="1">
              <a:off x="3806" y="10144"/>
              <a:ext cx="135" cy="210"/>
            </a:xfrm>
            <a:prstGeom prst="line">
              <a:avLst/>
            </a:prstGeom>
            <a:noFill/>
            <a:ln w="12700">
              <a:solidFill>
                <a:srgbClr val="000000"/>
              </a:solidFill>
              <a:round/>
              <a:headEnd/>
              <a:tailEnd type="triangle" w="sm" len="med"/>
            </a:ln>
          </p:spPr>
          <p:txBody>
            <a:bodyPr/>
            <a:lstStyle/>
            <a:p>
              <a:endParaRPr lang="bg-BG"/>
            </a:p>
          </p:txBody>
        </p:sp>
        <p:sp>
          <p:nvSpPr>
            <p:cNvPr id="20498" name="Line 18"/>
            <p:cNvSpPr>
              <a:spLocks noChangeShapeType="1"/>
            </p:cNvSpPr>
            <p:nvPr/>
          </p:nvSpPr>
          <p:spPr bwMode="auto">
            <a:xfrm>
              <a:off x="4171" y="10124"/>
              <a:ext cx="180" cy="270"/>
            </a:xfrm>
            <a:prstGeom prst="line">
              <a:avLst/>
            </a:prstGeom>
            <a:noFill/>
            <a:ln w="12700">
              <a:solidFill>
                <a:srgbClr val="000000"/>
              </a:solidFill>
              <a:round/>
              <a:headEnd/>
              <a:tailEnd type="triangle" w="sm" len="med"/>
            </a:ln>
          </p:spPr>
          <p:txBody>
            <a:bodyPr/>
            <a:lstStyle/>
            <a:p>
              <a:endParaRPr lang="bg-BG"/>
            </a:p>
          </p:txBody>
        </p:sp>
        <p:sp>
          <p:nvSpPr>
            <p:cNvPr id="20499" name="Line 19"/>
            <p:cNvSpPr>
              <a:spLocks noChangeShapeType="1"/>
            </p:cNvSpPr>
            <p:nvPr/>
          </p:nvSpPr>
          <p:spPr bwMode="auto">
            <a:xfrm flipH="1">
              <a:off x="4656" y="9451"/>
              <a:ext cx="165" cy="375"/>
            </a:xfrm>
            <a:prstGeom prst="line">
              <a:avLst/>
            </a:prstGeom>
            <a:noFill/>
            <a:ln w="12700">
              <a:solidFill>
                <a:srgbClr val="000000"/>
              </a:solidFill>
              <a:round/>
              <a:headEnd/>
              <a:tailEnd type="triangle" w="sm" len="med"/>
            </a:ln>
          </p:spPr>
          <p:txBody>
            <a:bodyPr/>
            <a:lstStyle/>
            <a:p>
              <a:endParaRPr lang="bg-BG"/>
            </a:p>
          </p:txBody>
        </p:sp>
        <p:sp>
          <p:nvSpPr>
            <p:cNvPr id="20500" name="Line 20"/>
            <p:cNvSpPr>
              <a:spLocks noChangeShapeType="1"/>
            </p:cNvSpPr>
            <p:nvPr/>
          </p:nvSpPr>
          <p:spPr bwMode="auto">
            <a:xfrm flipH="1">
              <a:off x="5141" y="10044"/>
              <a:ext cx="150" cy="400"/>
            </a:xfrm>
            <a:prstGeom prst="line">
              <a:avLst/>
            </a:prstGeom>
            <a:noFill/>
            <a:ln w="12700">
              <a:solidFill>
                <a:srgbClr val="000000"/>
              </a:solidFill>
              <a:round/>
              <a:headEnd/>
              <a:tailEnd type="triangle" w="sm" len="med"/>
            </a:ln>
          </p:spPr>
          <p:txBody>
            <a:bodyPr/>
            <a:lstStyle/>
            <a:p>
              <a:endParaRPr lang="bg-BG"/>
            </a:p>
          </p:txBody>
        </p:sp>
        <p:sp>
          <p:nvSpPr>
            <p:cNvPr id="20501" name="Line 21"/>
            <p:cNvSpPr>
              <a:spLocks noChangeShapeType="1"/>
            </p:cNvSpPr>
            <p:nvPr/>
          </p:nvSpPr>
          <p:spPr bwMode="auto">
            <a:xfrm>
              <a:off x="5566" y="10044"/>
              <a:ext cx="295" cy="400"/>
            </a:xfrm>
            <a:prstGeom prst="line">
              <a:avLst/>
            </a:prstGeom>
            <a:noFill/>
            <a:ln w="12700">
              <a:solidFill>
                <a:srgbClr val="000000"/>
              </a:solidFill>
              <a:round/>
              <a:headEnd/>
              <a:tailEnd type="triangle" w="sm" len="med"/>
            </a:ln>
          </p:spPr>
          <p:txBody>
            <a:bodyPr/>
            <a:lstStyle/>
            <a:p>
              <a:endParaRPr lang="bg-BG"/>
            </a:p>
          </p:txBody>
        </p:sp>
        <p:grpSp>
          <p:nvGrpSpPr>
            <p:cNvPr id="20502" name="Group 22"/>
            <p:cNvGrpSpPr>
              <a:grpSpLocks/>
            </p:cNvGrpSpPr>
            <p:nvPr/>
          </p:nvGrpSpPr>
          <p:grpSpPr bwMode="auto">
            <a:xfrm>
              <a:off x="3711" y="10374"/>
              <a:ext cx="210" cy="105"/>
              <a:chOff x="3151" y="9259"/>
              <a:chExt cx="210" cy="105"/>
            </a:xfrm>
          </p:grpSpPr>
          <p:sp>
            <p:nvSpPr>
              <p:cNvPr id="20537" name="Line 2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38" name="Line 2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39" name="Line 2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3" name="Group 26"/>
            <p:cNvGrpSpPr>
              <a:grpSpLocks/>
            </p:cNvGrpSpPr>
            <p:nvPr/>
          </p:nvGrpSpPr>
          <p:grpSpPr bwMode="auto">
            <a:xfrm>
              <a:off x="4241" y="10404"/>
              <a:ext cx="210" cy="105"/>
              <a:chOff x="3151" y="9259"/>
              <a:chExt cx="210" cy="105"/>
            </a:xfrm>
          </p:grpSpPr>
          <p:sp>
            <p:nvSpPr>
              <p:cNvPr id="20534" name="Line 2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35" name="Line 2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36" name="Line 2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4" name="Group 30"/>
            <p:cNvGrpSpPr>
              <a:grpSpLocks/>
            </p:cNvGrpSpPr>
            <p:nvPr/>
          </p:nvGrpSpPr>
          <p:grpSpPr bwMode="auto">
            <a:xfrm>
              <a:off x="5031" y="10434"/>
              <a:ext cx="210" cy="105"/>
              <a:chOff x="3151" y="9259"/>
              <a:chExt cx="210" cy="105"/>
            </a:xfrm>
          </p:grpSpPr>
          <p:sp>
            <p:nvSpPr>
              <p:cNvPr id="20531" name="Line 31"/>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32" name="Line 32"/>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33" name="Line 33"/>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5" name="Group 34"/>
            <p:cNvGrpSpPr>
              <a:grpSpLocks/>
            </p:cNvGrpSpPr>
            <p:nvPr/>
          </p:nvGrpSpPr>
          <p:grpSpPr bwMode="auto">
            <a:xfrm>
              <a:off x="5721" y="10434"/>
              <a:ext cx="210" cy="105"/>
              <a:chOff x="3151" y="9259"/>
              <a:chExt cx="210" cy="105"/>
            </a:xfrm>
          </p:grpSpPr>
          <p:sp>
            <p:nvSpPr>
              <p:cNvPr id="20528" name="Line 35"/>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29" name="Line 36"/>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30" name="Line 37"/>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6" name="Group 38"/>
            <p:cNvGrpSpPr>
              <a:grpSpLocks/>
            </p:cNvGrpSpPr>
            <p:nvPr/>
          </p:nvGrpSpPr>
          <p:grpSpPr bwMode="auto">
            <a:xfrm>
              <a:off x="4561" y="9844"/>
              <a:ext cx="210" cy="105"/>
              <a:chOff x="3151" y="9259"/>
              <a:chExt cx="210" cy="105"/>
            </a:xfrm>
          </p:grpSpPr>
          <p:sp>
            <p:nvSpPr>
              <p:cNvPr id="20525" name="Line 39"/>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26" name="Line 40"/>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27" name="Line 41"/>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7" name="Group 42"/>
            <p:cNvGrpSpPr>
              <a:grpSpLocks/>
            </p:cNvGrpSpPr>
            <p:nvPr/>
          </p:nvGrpSpPr>
          <p:grpSpPr bwMode="auto">
            <a:xfrm>
              <a:off x="3341" y="10404"/>
              <a:ext cx="210" cy="105"/>
              <a:chOff x="3151" y="9259"/>
              <a:chExt cx="210" cy="105"/>
            </a:xfrm>
          </p:grpSpPr>
          <p:sp>
            <p:nvSpPr>
              <p:cNvPr id="20522" name="Line 4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23" name="Line 4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24" name="Line 4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0508" name="Group 46"/>
            <p:cNvGrpSpPr>
              <a:grpSpLocks/>
            </p:cNvGrpSpPr>
            <p:nvPr/>
          </p:nvGrpSpPr>
          <p:grpSpPr bwMode="auto">
            <a:xfrm>
              <a:off x="2781" y="10424"/>
              <a:ext cx="210" cy="105"/>
              <a:chOff x="3151" y="9259"/>
              <a:chExt cx="210" cy="105"/>
            </a:xfrm>
          </p:grpSpPr>
          <p:sp>
            <p:nvSpPr>
              <p:cNvPr id="20519" name="Line 4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0520" name="Line 4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0521" name="Line 4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sp>
          <p:nvSpPr>
            <p:cNvPr id="20509" name="Text Box 50"/>
            <p:cNvSpPr txBox="1">
              <a:spLocks noChangeArrowheads="1"/>
            </p:cNvSpPr>
            <p:nvPr/>
          </p:nvSpPr>
          <p:spPr bwMode="auto">
            <a:xfrm>
              <a:off x="801" y="846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0510" name="Text Box 51"/>
            <p:cNvSpPr txBox="1">
              <a:spLocks noChangeArrowheads="1"/>
            </p:cNvSpPr>
            <p:nvPr/>
          </p:nvSpPr>
          <p:spPr bwMode="auto">
            <a:xfrm>
              <a:off x="801" y="912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0511" name="Text Box 52"/>
            <p:cNvSpPr txBox="1">
              <a:spLocks noChangeArrowheads="1"/>
            </p:cNvSpPr>
            <p:nvPr/>
          </p:nvSpPr>
          <p:spPr bwMode="auto">
            <a:xfrm>
              <a:off x="801" y="972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0512" name="Text Box 53"/>
            <p:cNvSpPr txBox="1">
              <a:spLocks noChangeArrowheads="1"/>
            </p:cNvSpPr>
            <p:nvPr/>
          </p:nvSpPr>
          <p:spPr bwMode="auto">
            <a:xfrm>
              <a:off x="801" y="1026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0513" name="Text Box 54"/>
            <p:cNvSpPr txBox="1">
              <a:spLocks noChangeArrowheads="1"/>
            </p:cNvSpPr>
            <p:nvPr/>
          </p:nvSpPr>
          <p:spPr bwMode="auto">
            <a:xfrm>
              <a:off x="4101" y="8474"/>
              <a:ext cx="540" cy="360"/>
            </a:xfrm>
            <a:prstGeom prst="rect">
              <a:avLst/>
            </a:prstGeom>
            <a:noFill/>
            <a:ln w="9525">
              <a:noFill/>
              <a:miter lim="800000"/>
              <a:headEnd/>
              <a:tailEnd/>
            </a:ln>
          </p:spPr>
          <p:txBody>
            <a:bodyPr/>
            <a:lstStyle/>
            <a:p>
              <a:r>
                <a:rPr lang="en-US" sz="2000" b="1">
                  <a:latin typeface="Courier New" pitchFamily="49" charset="0"/>
                </a:rPr>
                <a:t>A</a:t>
              </a:r>
              <a:endParaRPr lang="en-US" sz="1000">
                <a:latin typeface="Courier New" pitchFamily="49" charset="0"/>
              </a:endParaRPr>
            </a:p>
          </p:txBody>
        </p:sp>
        <p:sp>
          <p:nvSpPr>
            <p:cNvPr id="20514" name="Text Box 55"/>
            <p:cNvSpPr txBox="1">
              <a:spLocks noChangeArrowheads="1"/>
            </p:cNvSpPr>
            <p:nvPr/>
          </p:nvSpPr>
          <p:spPr bwMode="auto">
            <a:xfrm>
              <a:off x="3481" y="9144"/>
              <a:ext cx="540" cy="360"/>
            </a:xfrm>
            <a:prstGeom prst="rect">
              <a:avLst/>
            </a:prstGeom>
            <a:noFill/>
            <a:ln w="9525">
              <a:noFill/>
              <a:miter lim="800000"/>
              <a:headEnd/>
              <a:tailEnd/>
            </a:ln>
          </p:spPr>
          <p:txBody>
            <a:bodyPr/>
            <a:lstStyle/>
            <a:p>
              <a:r>
                <a:rPr lang="en-US" sz="2000" b="1">
                  <a:latin typeface="Courier New" pitchFamily="49" charset="0"/>
                </a:rPr>
                <a:t>B</a:t>
              </a:r>
              <a:endParaRPr lang="en-US" sz="1000">
                <a:latin typeface="Courier New" pitchFamily="49" charset="0"/>
              </a:endParaRPr>
            </a:p>
          </p:txBody>
        </p:sp>
        <p:sp>
          <p:nvSpPr>
            <p:cNvPr id="20515" name="Text Box 56"/>
            <p:cNvSpPr txBox="1">
              <a:spLocks noChangeArrowheads="1"/>
            </p:cNvSpPr>
            <p:nvPr/>
          </p:nvSpPr>
          <p:spPr bwMode="auto">
            <a:xfrm>
              <a:off x="4741" y="9134"/>
              <a:ext cx="540" cy="360"/>
            </a:xfrm>
            <a:prstGeom prst="rect">
              <a:avLst/>
            </a:prstGeom>
            <a:noFill/>
            <a:ln w="9525">
              <a:noFill/>
              <a:miter lim="800000"/>
              <a:headEnd/>
              <a:tailEnd/>
            </a:ln>
          </p:spPr>
          <p:txBody>
            <a:bodyPr/>
            <a:lstStyle/>
            <a:p>
              <a:r>
                <a:rPr lang="en-US" sz="2000" b="1">
                  <a:latin typeface="Courier New" pitchFamily="49" charset="0"/>
                </a:rPr>
                <a:t>C</a:t>
              </a:r>
              <a:endParaRPr lang="en-US" sz="1000">
                <a:latin typeface="Courier New" pitchFamily="49" charset="0"/>
              </a:endParaRPr>
            </a:p>
          </p:txBody>
        </p:sp>
        <p:sp>
          <p:nvSpPr>
            <p:cNvPr id="20516" name="Text Box 57"/>
            <p:cNvSpPr txBox="1">
              <a:spLocks noChangeArrowheads="1"/>
            </p:cNvSpPr>
            <p:nvPr/>
          </p:nvSpPr>
          <p:spPr bwMode="auto">
            <a:xfrm>
              <a:off x="2991" y="9824"/>
              <a:ext cx="540" cy="360"/>
            </a:xfrm>
            <a:prstGeom prst="rect">
              <a:avLst/>
            </a:prstGeom>
            <a:noFill/>
            <a:ln w="9525">
              <a:noFill/>
              <a:miter lim="800000"/>
              <a:headEnd/>
              <a:tailEnd/>
            </a:ln>
          </p:spPr>
          <p:txBody>
            <a:bodyPr/>
            <a:lstStyle/>
            <a:p>
              <a:r>
                <a:rPr lang="en-US" sz="2000" b="1">
                  <a:latin typeface="Courier New" pitchFamily="49" charset="0"/>
                </a:rPr>
                <a:t>D</a:t>
              </a:r>
              <a:endParaRPr lang="en-US" sz="1000">
                <a:latin typeface="Courier New" pitchFamily="49" charset="0"/>
              </a:endParaRPr>
            </a:p>
          </p:txBody>
        </p:sp>
        <p:sp>
          <p:nvSpPr>
            <p:cNvPr id="20517" name="Text Box 58"/>
            <p:cNvSpPr txBox="1">
              <a:spLocks noChangeArrowheads="1"/>
            </p:cNvSpPr>
            <p:nvPr/>
          </p:nvSpPr>
          <p:spPr bwMode="auto">
            <a:xfrm>
              <a:off x="3851" y="9804"/>
              <a:ext cx="540" cy="360"/>
            </a:xfrm>
            <a:prstGeom prst="rect">
              <a:avLst/>
            </a:prstGeom>
            <a:noFill/>
            <a:ln w="9525">
              <a:noFill/>
              <a:miter lim="800000"/>
              <a:headEnd/>
              <a:tailEnd/>
            </a:ln>
          </p:spPr>
          <p:txBody>
            <a:bodyPr/>
            <a:lstStyle/>
            <a:p>
              <a:r>
                <a:rPr lang="en-US" sz="2000" b="1">
                  <a:latin typeface="Courier New" pitchFamily="49" charset="0"/>
                </a:rPr>
                <a:t>E</a:t>
              </a:r>
              <a:endParaRPr lang="en-US" sz="1000">
                <a:latin typeface="Courier New" pitchFamily="49" charset="0"/>
              </a:endParaRPr>
            </a:p>
          </p:txBody>
        </p:sp>
        <p:sp>
          <p:nvSpPr>
            <p:cNvPr id="20518" name="Text Box 59"/>
            <p:cNvSpPr txBox="1">
              <a:spLocks noChangeArrowheads="1"/>
            </p:cNvSpPr>
            <p:nvPr/>
          </p:nvSpPr>
          <p:spPr bwMode="auto">
            <a:xfrm>
              <a:off x="5221" y="9734"/>
              <a:ext cx="540" cy="360"/>
            </a:xfrm>
            <a:prstGeom prst="rect">
              <a:avLst/>
            </a:prstGeom>
            <a:noFill/>
            <a:ln w="9525">
              <a:noFill/>
              <a:miter lim="800000"/>
              <a:headEnd/>
              <a:tailEnd/>
            </a:ln>
          </p:spPr>
          <p:txBody>
            <a:bodyPr/>
            <a:lstStyle/>
            <a:p>
              <a:r>
                <a:rPr lang="en-US" sz="2000" b="1">
                  <a:latin typeface="Courier New" pitchFamily="49" charset="0"/>
                </a:rPr>
                <a:t>F</a:t>
              </a:r>
              <a:endParaRPr lang="bg-BG" sz="1000">
                <a:latin typeface="Courier New" pitchFamily="49" charset="0"/>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03350" y="188913"/>
            <a:ext cx="7489825" cy="6480175"/>
          </a:xfrm>
        </p:spPr>
        <p:txBody>
          <a:bodyPr>
            <a:normAutofit fontScale="90000"/>
          </a:bodyPr>
          <a:lstStyle/>
          <a:p>
            <a:pPr eaLnBrk="1" fontAlgn="auto" hangingPunct="1">
              <a:lnSpc>
                <a:spcPct val="80000"/>
              </a:lnSpc>
              <a:spcAft>
                <a:spcPts val="0"/>
              </a:spcAft>
              <a:defRPr/>
            </a:pP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en-US" sz="2000">
                <a:solidFill>
                  <a:schemeClr val="tx1"/>
                </a:solidFill>
              </a:rPr>
              <a:t>	</a:t>
            </a:r>
            <a:r>
              <a:rPr lang="bg-BG" sz="2000">
                <a:solidFill>
                  <a:schemeClr val="tx1"/>
                </a:solidFill>
              </a:rPr>
              <a:t>Обхождането във вътрешен ред се извършва така: ляво поддърво - корен - дясно поддърво, т.е. за горния пример - </a:t>
            </a:r>
            <a:r>
              <a:rPr lang="bg-BG" sz="2000" b="1">
                <a:solidFill>
                  <a:schemeClr val="tx1"/>
                </a:solidFill>
              </a:rPr>
              <a:t>DBEACF</a:t>
            </a:r>
            <a:r>
              <a:rPr lang="bg-BG" sz="2000" smtClean="0">
                <a:solidFill>
                  <a:schemeClr val="tx1"/>
                </a:solidFill>
              </a:rPr>
              <a:t>.</a:t>
            </a:r>
            <a:r>
              <a:rPr lang="en-US" sz="2000" smtClean="0">
                <a:solidFill>
                  <a:schemeClr val="tx1"/>
                </a:solidFill>
              </a:rPr>
              <a:t/>
            </a:r>
            <a:br>
              <a:rPr lang="en-US" sz="2000" smtClean="0">
                <a:solidFill>
                  <a:schemeClr val="tx1"/>
                </a:solidFill>
              </a:rPr>
            </a:br>
            <a:r>
              <a:rPr lang="bg-BG" sz="2000">
                <a:solidFill>
                  <a:schemeClr val="tx1"/>
                </a:solidFill>
              </a:rPr>
              <a:t/>
            </a:r>
            <a:br>
              <a:rPr lang="bg-BG" sz="2000">
                <a:solidFill>
                  <a:schemeClr val="tx1"/>
                </a:solidFill>
              </a:rPr>
            </a:br>
            <a:r>
              <a:rPr lang="bg-BG" sz="2000">
                <a:solidFill>
                  <a:schemeClr val="tx1"/>
                </a:solidFill>
              </a:rPr>
              <a:t>	Функция за рекурсивно обхождане на двоично дърво във вътрешен </a:t>
            </a:r>
            <a:r>
              <a:rPr lang="bg-BG" sz="2000" smtClean="0">
                <a:solidFill>
                  <a:schemeClr val="tx1"/>
                </a:solidFill>
              </a:rPr>
              <a:t>ред</a:t>
            </a:r>
            <a:r>
              <a:rPr lang="en-US" sz="2000" smtClean="0">
                <a:solidFill>
                  <a:schemeClr val="tx1"/>
                </a:solidFill>
              </a:rPr>
              <a:t/>
            </a:r>
            <a:br>
              <a:rPr lang="en-US" sz="2000" smtClean="0">
                <a:solidFill>
                  <a:schemeClr val="tx1"/>
                </a:solidFill>
              </a:rPr>
            </a:br>
            <a:r>
              <a:rPr lang="bg-BG" sz="1800">
                <a:solidFill>
                  <a:schemeClr val="tx1"/>
                </a:solidFill>
              </a:rPr>
              <a:t/>
            </a:r>
            <a:br>
              <a:rPr lang="bg-BG" sz="1800">
                <a:solidFill>
                  <a:schemeClr val="tx1"/>
                </a:solidFill>
              </a:rPr>
            </a:br>
            <a:r>
              <a:rPr lang="bg-BG" sz="1800">
                <a:solidFill>
                  <a:schemeClr val="tx1"/>
                </a:solidFill>
                <a:latin typeface="Courier New" pitchFamily="49" charset="0"/>
              </a:rPr>
              <a:t>void inorder(elem *t)</a:t>
            </a:r>
            <a:br>
              <a:rPr lang="bg-BG" sz="1800">
                <a:solidFill>
                  <a:schemeClr val="tx1"/>
                </a:solidFill>
                <a:latin typeface="Courier New" pitchFamily="49" charset="0"/>
              </a:rPr>
            </a:br>
            <a:r>
              <a:rPr lang="bg-BG" sz="1800">
                <a:solidFill>
                  <a:schemeClr val="tx1"/>
                </a:solidFill>
                <a:latin typeface="Courier New" pitchFamily="49" charset="0"/>
              </a:rPr>
              <a:t>{</a:t>
            </a:r>
            <a:br>
              <a:rPr lang="bg-BG" sz="1800">
                <a:solidFill>
                  <a:schemeClr val="tx1"/>
                </a:solidFill>
                <a:latin typeface="Courier New" pitchFamily="49" charset="0"/>
              </a:rPr>
            </a:br>
            <a:r>
              <a:rPr lang="bg-BG" sz="1800">
                <a:solidFill>
                  <a:schemeClr val="tx1"/>
                </a:solidFill>
                <a:latin typeface="Courier New" pitchFamily="49" charset="0"/>
              </a:rPr>
              <a:t>  if (t)</a:t>
            </a:r>
            <a:br>
              <a:rPr lang="bg-BG" sz="1800">
                <a:solidFill>
                  <a:schemeClr val="tx1"/>
                </a:solidFill>
                <a:latin typeface="Courier New" pitchFamily="49" charset="0"/>
              </a:rPr>
            </a:br>
            <a:r>
              <a:rPr lang="bg-BG" sz="1800">
                <a:solidFill>
                  <a:schemeClr val="tx1"/>
                </a:solidFill>
                <a:latin typeface="Courier New" pitchFamily="49" charset="0"/>
              </a:rPr>
              <a:t>    {</a:t>
            </a:r>
            <a:br>
              <a:rPr lang="bg-BG" sz="1800">
                <a:solidFill>
                  <a:schemeClr val="tx1"/>
                </a:solidFill>
                <a:latin typeface="Courier New" pitchFamily="49" charset="0"/>
              </a:rPr>
            </a:br>
            <a:r>
              <a:rPr lang="bg-BG" sz="1800">
                <a:solidFill>
                  <a:schemeClr val="tx1"/>
                </a:solidFill>
                <a:latin typeface="Courier New" pitchFamily="49" charset="0"/>
              </a:rPr>
              <a:t>     inorder(t-&gt;left);</a:t>
            </a:r>
            <a:br>
              <a:rPr lang="bg-BG" sz="1800">
                <a:solidFill>
                  <a:schemeClr val="tx1"/>
                </a:solidFill>
                <a:latin typeface="Courier New" pitchFamily="49" charset="0"/>
              </a:rPr>
            </a:br>
            <a:r>
              <a:rPr lang="bg-BG" sz="1800">
                <a:solidFill>
                  <a:schemeClr val="tx1"/>
                </a:solidFill>
                <a:latin typeface="Courier New" pitchFamily="49" charset="0"/>
              </a:rPr>
              <a:t>     cout&lt;&lt;t-&gt;key&lt;&lt;" ";</a:t>
            </a:r>
            <a:br>
              <a:rPr lang="bg-BG" sz="1800">
                <a:solidFill>
                  <a:schemeClr val="tx1"/>
                </a:solidFill>
                <a:latin typeface="Courier New" pitchFamily="49" charset="0"/>
              </a:rPr>
            </a:br>
            <a:r>
              <a:rPr lang="bg-BG" sz="1800">
                <a:solidFill>
                  <a:schemeClr val="tx1"/>
                </a:solidFill>
                <a:latin typeface="Courier New" pitchFamily="49" charset="0"/>
              </a:rPr>
              <a:t>     inorder(t-&gt;right);</a:t>
            </a:r>
            <a:br>
              <a:rPr lang="bg-BG" sz="1800">
                <a:solidFill>
                  <a:schemeClr val="tx1"/>
                </a:solidFill>
                <a:latin typeface="Courier New" pitchFamily="49" charset="0"/>
              </a:rPr>
            </a:br>
            <a:r>
              <a:rPr lang="bg-BG" sz="1800">
                <a:solidFill>
                  <a:schemeClr val="tx1"/>
                </a:solidFill>
                <a:latin typeface="Courier New" pitchFamily="49" charset="0"/>
              </a:rPr>
              <a:t>    }</a:t>
            </a:r>
            <a:br>
              <a:rPr lang="bg-BG" sz="1800">
                <a:solidFill>
                  <a:schemeClr val="tx1"/>
                </a:solidFill>
                <a:latin typeface="Courier New" pitchFamily="49" charset="0"/>
              </a:rPr>
            </a:br>
            <a:r>
              <a:rPr lang="bg-BG" sz="1800">
                <a:solidFill>
                  <a:schemeClr val="tx1"/>
                </a:solidFill>
                <a:latin typeface="Courier New" pitchFamily="49" charset="0"/>
              </a:rPr>
              <a:t>}</a:t>
            </a:r>
            <a:br>
              <a:rPr lang="bg-BG" sz="1800">
                <a:solidFill>
                  <a:schemeClr val="tx1"/>
                </a:solidFill>
                <a:latin typeface="Courier New" pitchFamily="49" charset="0"/>
              </a:rPr>
            </a:br>
            <a:r>
              <a:rPr lang="bg-BG" sz="1800">
                <a:solidFill>
                  <a:schemeClr val="tx1"/>
                </a:solidFill>
                <a:latin typeface="Courier New" pitchFamily="49" charset="0"/>
              </a:rPr>
              <a:t>	</a:t>
            </a:r>
            <a:r>
              <a:rPr lang="en-US" sz="1800" smtClean="0">
                <a:solidFill>
                  <a:schemeClr val="tx1"/>
                </a:solidFill>
                <a:latin typeface="Courier New" pitchFamily="49" charset="0"/>
              </a:rPr>
              <a:t/>
            </a:r>
            <a:br>
              <a:rPr lang="en-US" sz="1800" smtClean="0">
                <a:solidFill>
                  <a:schemeClr val="tx1"/>
                </a:solidFill>
                <a:latin typeface="Courier New" pitchFamily="49" charset="0"/>
              </a:rPr>
            </a:br>
            <a:r>
              <a:rPr lang="en-US" sz="1800" smtClean="0">
                <a:solidFill>
                  <a:schemeClr val="tx1"/>
                </a:solidFill>
                <a:latin typeface="Courier New" pitchFamily="49" charset="0"/>
              </a:rPr>
              <a:t>	</a:t>
            </a:r>
            <a:r>
              <a:rPr lang="bg-BG" sz="2000" smtClean="0">
                <a:solidFill>
                  <a:schemeClr val="tx1"/>
                </a:solidFill>
              </a:rPr>
              <a:t>Обхождането </a:t>
            </a:r>
            <a:r>
              <a:rPr lang="bg-BG" sz="2000">
                <a:solidFill>
                  <a:schemeClr val="tx1"/>
                </a:solidFill>
              </a:rPr>
              <a:t>в обратен ред означава следната последователност на посещаваните възли: ляво поддърво - дясно поддърво - корен, за вече споменатия пример тя е </a:t>
            </a:r>
            <a:r>
              <a:rPr lang="bg-BG" sz="2000" b="1">
                <a:solidFill>
                  <a:schemeClr val="tx1"/>
                </a:solidFill>
              </a:rPr>
              <a:t>DEBFCA</a:t>
            </a:r>
            <a:r>
              <a:rPr lang="bg-BG" sz="2000">
                <a:solidFill>
                  <a:schemeClr val="tx1"/>
                </a:solidFill>
              </a:rPr>
              <a:t>.</a:t>
            </a:r>
            <a:br>
              <a:rPr lang="bg-BG" sz="2000">
                <a:solidFill>
                  <a:schemeClr val="tx1"/>
                </a:solidFill>
              </a:rPr>
            </a:br>
            <a:r>
              <a:rPr lang="en-US" sz="1800">
                <a:solidFill>
                  <a:schemeClr val="tx1"/>
                </a:solidFill>
              </a:rPr>
              <a:t/>
            </a:r>
            <a:br>
              <a:rPr lang="en-US" sz="1800">
                <a:solidFill>
                  <a:schemeClr val="tx1"/>
                </a:solidFill>
              </a:rPr>
            </a:br>
            <a:r>
              <a:rPr lang="en-US" sz="1800">
                <a:solidFill>
                  <a:schemeClr val="tx1"/>
                </a:solidFill>
                <a:latin typeface="Courier New" pitchFamily="49" charset="0"/>
              </a:rPr>
              <a:t>void postorder(elem *t)</a:t>
            </a:r>
            <a:br>
              <a:rPr lang="en-US" sz="1800">
                <a:solidFill>
                  <a:schemeClr val="tx1"/>
                </a:solidFill>
                <a:latin typeface="Courier New" pitchFamily="49" charset="0"/>
              </a:rPr>
            </a:br>
            <a:r>
              <a:rPr lang="en-US" sz="1800">
                <a:solidFill>
                  <a:schemeClr val="tx1"/>
                </a:solidFill>
                <a:latin typeface="Courier New" pitchFamily="49" charset="0"/>
              </a:rPr>
              <a:t>{</a:t>
            </a:r>
            <a:br>
              <a:rPr lang="en-US" sz="1800">
                <a:solidFill>
                  <a:schemeClr val="tx1"/>
                </a:solidFill>
                <a:latin typeface="Courier New" pitchFamily="49" charset="0"/>
              </a:rPr>
            </a:br>
            <a:r>
              <a:rPr lang="en-US" sz="1800">
                <a:solidFill>
                  <a:schemeClr val="tx1"/>
                </a:solidFill>
                <a:latin typeface="Courier New" pitchFamily="49" charset="0"/>
              </a:rPr>
              <a:t>  if (t)</a:t>
            </a:r>
            <a:br>
              <a:rPr lang="en-US" sz="1800">
                <a:solidFill>
                  <a:schemeClr val="tx1"/>
                </a:solidFill>
                <a:latin typeface="Courier New" pitchFamily="49" charset="0"/>
              </a:rPr>
            </a:br>
            <a:r>
              <a:rPr lang="en-US" sz="1800">
                <a:solidFill>
                  <a:schemeClr val="tx1"/>
                </a:solidFill>
                <a:latin typeface="Courier New" pitchFamily="49" charset="0"/>
              </a:rPr>
              <a:t>    {</a:t>
            </a:r>
            <a:br>
              <a:rPr lang="en-US" sz="1800">
                <a:solidFill>
                  <a:schemeClr val="tx1"/>
                </a:solidFill>
                <a:latin typeface="Courier New" pitchFamily="49" charset="0"/>
              </a:rPr>
            </a:br>
            <a:r>
              <a:rPr lang="en-US" sz="1800">
                <a:solidFill>
                  <a:schemeClr val="tx1"/>
                </a:solidFill>
                <a:latin typeface="Courier New" pitchFamily="49" charset="0"/>
              </a:rPr>
              <a:t>     postorder(t-&gt;left);</a:t>
            </a:r>
            <a:br>
              <a:rPr lang="en-US" sz="1800">
                <a:solidFill>
                  <a:schemeClr val="tx1"/>
                </a:solidFill>
                <a:latin typeface="Courier New" pitchFamily="49" charset="0"/>
              </a:rPr>
            </a:br>
            <a:r>
              <a:rPr lang="en-US" sz="1800">
                <a:solidFill>
                  <a:schemeClr val="tx1"/>
                </a:solidFill>
                <a:latin typeface="Courier New" pitchFamily="49" charset="0"/>
              </a:rPr>
              <a:t>     postorder(t-&gt;right);</a:t>
            </a:r>
            <a:br>
              <a:rPr lang="en-US" sz="1800">
                <a:solidFill>
                  <a:schemeClr val="tx1"/>
                </a:solidFill>
                <a:latin typeface="Courier New" pitchFamily="49" charset="0"/>
              </a:rPr>
            </a:br>
            <a:r>
              <a:rPr lang="en-US" sz="1800">
                <a:solidFill>
                  <a:schemeClr val="tx1"/>
                </a:solidFill>
                <a:latin typeface="Courier New" pitchFamily="49" charset="0"/>
              </a:rPr>
              <a:t>     cout&lt;&lt;t-&gt;key&lt;&lt;" ";</a:t>
            </a:r>
            <a:br>
              <a:rPr lang="en-US" sz="1800">
                <a:solidFill>
                  <a:schemeClr val="tx1"/>
                </a:solidFill>
                <a:latin typeface="Courier New" pitchFamily="49" charset="0"/>
              </a:rPr>
            </a:br>
            <a:r>
              <a:rPr lang="en-US" sz="1800">
                <a:solidFill>
                  <a:schemeClr val="tx1"/>
                </a:solidFill>
                <a:latin typeface="Courier New" pitchFamily="49" charset="0"/>
              </a:rPr>
              <a:t>    }</a:t>
            </a:r>
            <a:br>
              <a:rPr lang="en-US" sz="1800">
                <a:solidFill>
                  <a:schemeClr val="tx1"/>
                </a:solidFill>
                <a:latin typeface="Courier New" pitchFamily="49" charset="0"/>
              </a:rPr>
            </a:br>
            <a:r>
              <a:rPr lang="en-US" sz="1800">
                <a:solidFill>
                  <a:schemeClr val="tx1"/>
                </a:solidFill>
                <a:latin typeface="Courier New" pitchFamily="49" charset="0"/>
              </a:rPr>
              <a:t>}</a:t>
            </a:r>
            <a:r>
              <a:rPr lang="en-US" sz="2000">
                <a:solidFill>
                  <a:schemeClr val="tx1"/>
                </a:solidFill>
              </a:rPr>
              <a:t>	</a:t>
            </a:r>
          </a:p>
        </p:txBody>
      </p:sp>
      <p:grpSp>
        <p:nvGrpSpPr>
          <p:cNvPr id="21507" name="Group 3"/>
          <p:cNvGrpSpPr>
            <a:grpSpLocks/>
          </p:cNvGrpSpPr>
          <p:nvPr/>
        </p:nvGrpSpPr>
        <p:grpSpPr bwMode="auto">
          <a:xfrm>
            <a:off x="3236913" y="1744663"/>
            <a:ext cx="5486400" cy="2133600"/>
            <a:chOff x="801" y="8464"/>
            <a:chExt cx="5130" cy="2160"/>
          </a:xfrm>
        </p:grpSpPr>
        <p:sp>
          <p:nvSpPr>
            <p:cNvPr id="21508" name="Oval 4"/>
            <p:cNvSpPr>
              <a:spLocks noChangeArrowheads="1"/>
            </p:cNvSpPr>
            <p:nvPr/>
          </p:nvSpPr>
          <p:spPr bwMode="auto">
            <a:xfrm>
              <a:off x="4106" y="8503"/>
              <a:ext cx="379" cy="337"/>
            </a:xfrm>
            <a:prstGeom prst="ellipse">
              <a:avLst/>
            </a:prstGeom>
            <a:noFill/>
            <a:ln w="12700">
              <a:solidFill>
                <a:srgbClr val="000000"/>
              </a:solidFill>
              <a:round/>
              <a:headEnd/>
              <a:tailEnd/>
            </a:ln>
          </p:spPr>
          <p:txBody>
            <a:bodyPr/>
            <a:lstStyle/>
            <a:p>
              <a:endParaRPr lang="bg-BG"/>
            </a:p>
          </p:txBody>
        </p:sp>
        <p:sp>
          <p:nvSpPr>
            <p:cNvPr id="21509" name="Oval 5"/>
            <p:cNvSpPr>
              <a:spLocks noChangeArrowheads="1"/>
            </p:cNvSpPr>
            <p:nvPr/>
          </p:nvSpPr>
          <p:spPr bwMode="auto">
            <a:xfrm>
              <a:off x="3504" y="9159"/>
              <a:ext cx="379" cy="337"/>
            </a:xfrm>
            <a:prstGeom prst="ellipse">
              <a:avLst/>
            </a:prstGeom>
            <a:noFill/>
            <a:ln w="12700">
              <a:solidFill>
                <a:srgbClr val="000000"/>
              </a:solidFill>
              <a:round/>
              <a:headEnd/>
              <a:tailEnd/>
            </a:ln>
          </p:spPr>
          <p:txBody>
            <a:bodyPr/>
            <a:lstStyle/>
            <a:p>
              <a:endParaRPr lang="bg-BG"/>
            </a:p>
          </p:txBody>
        </p:sp>
        <p:sp>
          <p:nvSpPr>
            <p:cNvPr id="21510" name="Oval 6"/>
            <p:cNvSpPr>
              <a:spLocks noChangeArrowheads="1"/>
            </p:cNvSpPr>
            <p:nvPr/>
          </p:nvSpPr>
          <p:spPr bwMode="auto">
            <a:xfrm>
              <a:off x="4764" y="9138"/>
              <a:ext cx="379" cy="351"/>
            </a:xfrm>
            <a:prstGeom prst="ellipse">
              <a:avLst/>
            </a:prstGeom>
            <a:noFill/>
            <a:ln w="12700">
              <a:solidFill>
                <a:srgbClr val="000000"/>
              </a:solidFill>
              <a:round/>
              <a:headEnd/>
              <a:tailEnd/>
            </a:ln>
          </p:spPr>
          <p:txBody>
            <a:bodyPr/>
            <a:lstStyle/>
            <a:p>
              <a:endParaRPr lang="bg-BG"/>
            </a:p>
          </p:txBody>
        </p:sp>
        <p:sp>
          <p:nvSpPr>
            <p:cNvPr id="21511" name="Oval 7"/>
            <p:cNvSpPr>
              <a:spLocks noChangeArrowheads="1"/>
            </p:cNvSpPr>
            <p:nvPr/>
          </p:nvSpPr>
          <p:spPr bwMode="auto">
            <a:xfrm>
              <a:off x="3006" y="9844"/>
              <a:ext cx="379" cy="337"/>
            </a:xfrm>
            <a:prstGeom prst="ellipse">
              <a:avLst/>
            </a:prstGeom>
            <a:noFill/>
            <a:ln w="12700">
              <a:solidFill>
                <a:srgbClr val="000000"/>
              </a:solidFill>
              <a:round/>
              <a:headEnd/>
              <a:tailEnd/>
            </a:ln>
          </p:spPr>
          <p:txBody>
            <a:bodyPr/>
            <a:lstStyle/>
            <a:p>
              <a:endParaRPr lang="bg-BG"/>
            </a:p>
          </p:txBody>
        </p:sp>
        <p:sp>
          <p:nvSpPr>
            <p:cNvPr id="21512" name="Oval 8"/>
            <p:cNvSpPr>
              <a:spLocks noChangeArrowheads="1"/>
            </p:cNvSpPr>
            <p:nvPr/>
          </p:nvSpPr>
          <p:spPr bwMode="auto">
            <a:xfrm>
              <a:off x="5238" y="9744"/>
              <a:ext cx="379" cy="337"/>
            </a:xfrm>
            <a:prstGeom prst="ellipse">
              <a:avLst/>
            </a:prstGeom>
            <a:noFill/>
            <a:ln w="12700">
              <a:solidFill>
                <a:srgbClr val="000000"/>
              </a:solidFill>
              <a:round/>
              <a:headEnd/>
              <a:tailEnd/>
            </a:ln>
          </p:spPr>
          <p:txBody>
            <a:bodyPr/>
            <a:lstStyle/>
            <a:p>
              <a:endParaRPr lang="bg-BG"/>
            </a:p>
          </p:txBody>
        </p:sp>
        <p:sp>
          <p:nvSpPr>
            <p:cNvPr id="21513" name="Oval 9"/>
            <p:cNvSpPr>
              <a:spLocks noChangeArrowheads="1"/>
            </p:cNvSpPr>
            <p:nvPr/>
          </p:nvSpPr>
          <p:spPr bwMode="auto">
            <a:xfrm>
              <a:off x="3872" y="9824"/>
              <a:ext cx="379" cy="337"/>
            </a:xfrm>
            <a:prstGeom prst="ellipse">
              <a:avLst/>
            </a:prstGeom>
            <a:noFill/>
            <a:ln w="12700">
              <a:solidFill>
                <a:srgbClr val="000000"/>
              </a:solidFill>
              <a:round/>
              <a:headEnd/>
              <a:tailEnd/>
            </a:ln>
          </p:spPr>
          <p:txBody>
            <a:bodyPr/>
            <a:lstStyle/>
            <a:p>
              <a:endParaRPr lang="bg-BG"/>
            </a:p>
          </p:txBody>
        </p:sp>
        <p:sp>
          <p:nvSpPr>
            <p:cNvPr id="21514" name="Line 10"/>
            <p:cNvSpPr>
              <a:spLocks noChangeShapeType="1"/>
            </p:cNvSpPr>
            <p:nvPr/>
          </p:nvSpPr>
          <p:spPr bwMode="auto">
            <a:xfrm flipH="1">
              <a:off x="3798" y="8811"/>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21515" name="Line 11"/>
            <p:cNvSpPr>
              <a:spLocks noChangeShapeType="1"/>
            </p:cNvSpPr>
            <p:nvPr/>
          </p:nvSpPr>
          <p:spPr bwMode="auto">
            <a:xfrm>
              <a:off x="4428" y="8797"/>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21516" name="Line 12"/>
            <p:cNvSpPr>
              <a:spLocks noChangeShapeType="1"/>
            </p:cNvSpPr>
            <p:nvPr/>
          </p:nvSpPr>
          <p:spPr bwMode="auto">
            <a:xfrm flipH="1">
              <a:off x="3260" y="9448"/>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21517" name="Line 13"/>
            <p:cNvSpPr>
              <a:spLocks noChangeShapeType="1"/>
            </p:cNvSpPr>
            <p:nvPr/>
          </p:nvSpPr>
          <p:spPr bwMode="auto">
            <a:xfrm>
              <a:off x="3844" y="9437"/>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21518" name="Line 14"/>
            <p:cNvSpPr>
              <a:spLocks noChangeShapeType="1"/>
            </p:cNvSpPr>
            <p:nvPr/>
          </p:nvSpPr>
          <p:spPr bwMode="auto">
            <a:xfrm>
              <a:off x="5092" y="9444"/>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21519" name="Line 15"/>
            <p:cNvSpPr>
              <a:spLocks noChangeShapeType="1"/>
            </p:cNvSpPr>
            <p:nvPr/>
          </p:nvSpPr>
          <p:spPr bwMode="auto">
            <a:xfrm flipH="1">
              <a:off x="2866" y="10151"/>
              <a:ext cx="180" cy="255"/>
            </a:xfrm>
            <a:prstGeom prst="line">
              <a:avLst/>
            </a:prstGeom>
            <a:noFill/>
            <a:ln w="12700">
              <a:solidFill>
                <a:srgbClr val="000000"/>
              </a:solidFill>
              <a:round/>
              <a:headEnd/>
              <a:tailEnd type="triangle" w="sm" len="med"/>
            </a:ln>
          </p:spPr>
          <p:txBody>
            <a:bodyPr/>
            <a:lstStyle/>
            <a:p>
              <a:endParaRPr lang="bg-BG"/>
            </a:p>
          </p:txBody>
        </p:sp>
        <p:sp>
          <p:nvSpPr>
            <p:cNvPr id="21520" name="Line 16"/>
            <p:cNvSpPr>
              <a:spLocks noChangeShapeType="1"/>
            </p:cNvSpPr>
            <p:nvPr/>
          </p:nvSpPr>
          <p:spPr bwMode="auto">
            <a:xfrm>
              <a:off x="3311" y="10154"/>
              <a:ext cx="150" cy="240"/>
            </a:xfrm>
            <a:prstGeom prst="line">
              <a:avLst/>
            </a:prstGeom>
            <a:noFill/>
            <a:ln w="12700">
              <a:solidFill>
                <a:srgbClr val="000000"/>
              </a:solidFill>
              <a:round/>
              <a:headEnd/>
              <a:tailEnd type="triangle" w="sm" len="med"/>
            </a:ln>
          </p:spPr>
          <p:txBody>
            <a:bodyPr/>
            <a:lstStyle/>
            <a:p>
              <a:endParaRPr lang="bg-BG"/>
            </a:p>
          </p:txBody>
        </p:sp>
        <p:sp>
          <p:nvSpPr>
            <p:cNvPr id="21521" name="Line 17"/>
            <p:cNvSpPr>
              <a:spLocks noChangeShapeType="1"/>
            </p:cNvSpPr>
            <p:nvPr/>
          </p:nvSpPr>
          <p:spPr bwMode="auto">
            <a:xfrm flipH="1">
              <a:off x="3806" y="10144"/>
              <a:ext cx="135" cy="210"/>
            </a:xfrm>
            <a:prstGeom prst="line">
              <a:avLst/>
            </a:prstGeom>
            <a:noFill/>
            <a:ln w="12700">
              <a:solidFill>
                <a:srgbClr val="000000"/>
              </a:solidFill>
              <a:round/>
              <a:headEnd/>
              <a:tailEnd type="triangle" w="sm" len="med"/>
            </a:ln>
          </p:spPr>
          <p:txBody>
            <a:bodyPr/>
            <a:lstStyle/>
            <a:p>
              <a:endParaRPr lang="bg-BG"/>
            </a:p>
          </p:txBody>
        </p:sp>
        <p:sp>
          <p:nvSpPr>
            <p:cNvPr id="21522" name="Line 18"/>
            <p:cNvSpPr>
              <a:spLocks noChangeShapeType="1"/>
            </p:cNvSpPr>
            <p:nvPr/>
          </p:nvSpPr>
          <p:spPr bwMode="auto">
            <a:xfrm>
              <a:off x="4171" y="10124"/>
              <a:ext cx="180" cy="270"/>
            </a:xfrm>
            <a:prstGeom prst="line">
              <a:avLst/>
            </a:prstGeom>
            <a:noFill/>
            <a:ln w="12700">
              <a:solidFill>
                <a:srgbClr val="000000"/>
              </a:solidFill>
              <a:round/>
              <a:headEnd/>
              <a:tailEnd type="triangle" w="sm" len="med"/>
            </a:ln>
          </p:spPr>
          <p:txBody>
            <a:bodyPr/>
            <a:lstStyle/>
            <a:p>
              <a:endParaRPr lang="bg-BG"/>
            </a:p>
          </p:txBody>
        </p:sp>
        <p:sp>
          <p:nvSpPr>
            <p:cNvPr id="21523" name="Line 19"/>
            <p:cNvSpPr>
              <a:spLocks noChangeShapeType="1"/>
            </p:cNvSpPr>
            <p:nvPr/>
          </p:nvSpPr>
          <p:spPr bwMode="auto">
            <a:xfrm flipH="1">
              <a:off x="4656" y="9451"/>
              <a:ext cx="165" cy="375"/>
            </a:xfrm>
            <a:prstGeom prst="line">
              <a:avLst/>
            </a:prstGeom>
            <a:noFill/>
            <a:ln w="12700">
              <a:solidFill>
                <a:srgbClr val="000000"/>
              </a:solidFill>
              <a:round/>
              <a:headEnd/>
              <a:tailEnd type="triangle" w="sm" len="med"/>
            </a:ln>
          </p:spPr>
          <p:txBody>
            <a:bodyPr/>
            <a:lstStyle/>
            <a:p>
              <a:endParaRPr lang="bg-BG"/>
            </a:p>
          </p:txBody>
        </p:sp>
        <p:sp>
          <p:nvSpPr>
            <p:cNvPr id="21524" name="Line 20"/>
            <p:cNvSpPr>
              <a:spLocks noChangeShapeType="1"/>
            </p:cNvSpPr>
            <p:nvPr/>
          </p:nvSpPr>
          <p:spPr bwMode="auto">
            <a:xfrm flipH="1">
              <a:off x="5141" y="10044"/>
              <a:ext cx="150" cy="400"/>
            </a:xfrm>
            <a:prstGeom prst="line">
              <a:avLst/>
            </a:prstGeom>
            <a:noFill/>
            <a:ln w="12700">
              <a:solidFill>
                <a:srgbClr val="000000"/>
              </a:solidFill>
              <a:round/>
              <a:headEnd/>
              <a:tailEnd type="triangle" w="sm" len="med"/>
            </a:ln>
          </p:spPr>
          <p:txBody>
            <a:bodyPr/>
            <a:lstStyle/>
            <a:p>
              <a:endParaRPr lang="bg-BG"/>
            </a:p>
          </p:txBody>
        </p:sp>
        <p:sp>
          <p:nvSpPr>
            <p:cNvPr id="21525" name="Line 21"/>
            <p:cNvSpPr>
              <a:spLocks noChangeShapeType="1"/>
            </p:cNvSpPr>
            <p:nvPr/>
          </p:nvSpPr>
          <p:spPr bwMode="auto">
            <a:xfrm>
              <a:off x="5566" y="10044"/>
              <a:ext cx="295" cy="400"/>
            </a:xfrm>
            <a:prstGeom prst="line">
              <a:avLst/>
            </a:prstGeom>
            <a:noFill/>
            <a:ln w="12700">
              <a:solidFill>
                <a:srgbClr val="000000"/>
              </a:solidFill>
              <a:round/>
              <a:headEnd/>
              <a:tailEnd type="triangle" w="sm" len="med"/>
            </a:ln>
          </p:spPr>
          <p:txBody>
            <a:bodyPr/>
            <a:lstStyle/>
            <a:p>
              <a:endParaRPr lang="bg-BG"/>
            </a:p>
          </p:txBody>
        </p:sp>
        <p:grpSp>
          <p:nvGrpSpPr>
            <p:cNvPr id="21526" name="Group 22"/>
            <p:cNvGrpSpPr>
              <a:grpSpLocks/>
            </p:cNvGrpSpPr>
            <p:nvPr/>
          </p:nvGrpSpPr>
          <p:grpSpPr bwMode="auto">
            <a:xfrm>
              <a:off x="3711" y="10374"/>
              <a:ext cx="210" cy="105"/>
              <a:chOff x="3151" y="9259"/>
              <a:chExt cx="210" cy="105"/>
            </a:xfrm>
          </p:grpSpPr>
          <p:sp>
            <p:nvSpPr>
              <p:cNvPr id="21561" name="Line 2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62" name="Line 2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63" name="Line 2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27" name="Group 26"/>
            <p:cNvGrpSpPr>
              <a:grpSpLocks/>
            </p:cNvGrpSpPr>
            <p:nvPr/>
          </p:nvGrpSpPr>
          <p:grpSpPr bwMode="auto">
            <a:xfrm>
              <a:off x="4241" y="10404"/>
              <a:ext cx="210" cy="105"/>
              <a:chOff x="3151" y="9259"/>
              <a:chExt cx="210" cy="105"/>
            </a:xfrm>
          </p:grpSpPr>
          <p:sp>
            <p:nvSpPr>
              <p:cNvPr id="21558" name="Line 2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59" name="Line 2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60" name="Line 2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28" name="Group 30"/>
            <p:cNvGrpSpPr>
              <a:grpSpLocks/>
            </p:cNvGrpSpPr>
            <p:nvPr/>
          </p:nvGrpSpPr>
          <p:grpSpPr bwMode="auto">
            <a:xfrm>
              <a:off x="5031" y="10434"/>
              <a:ext cx="210" cy="105"/>
              <a:chOff x="3151" y="9259"/>
              <a:chExt cx="210" cy="105"/>
            </a:xfrm>
          </p:grpSpPr>
          <p:sp>
            <p:nvSpPr>
              <p:cNvPr id="21555" name="Line 31"/>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56" name="Line 32"/>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57" name="Line 33"/>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29" name="Group 34"/>
            <p:cNvGrpSpPr>
              <a:grpSpLocks/>
            </p:cNvGrpSpPr>
            <p:nvPr/>
          </p:nvGrpSpPr>
          <p:grpSpPr bwMode="auto">
            <a:xfrm>
              <a:off x="5721" y="10434"/>
              <a:ext cx="210" cy="105"/>
              <a:chOff x="3151" y="9259"/>
              <a:chExt cx="210" cy="105"/>
            </a:xfrm>
          </p:grpSpPr>
          <p:sp>
            <p:nvSpPr>
              <p:cNvPr id="21552" name="Line 35"/>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53" name="Line 36"/>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54" name="Line 37"/>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30" name="Group 38"/>
            <p:cNvGrpSpPr>
              <a:grpSpLocks/>
            </p:cNvGrpSpPr>
            <p:nvPr/>
          </p:nvGrpSpPr>
          <p:grpSpPr bwMode="auto">
            <a:xfrm>
              <a:off x="4561" y="9844"/>
              <a:ext cx="210" cy="105"/>
              <a:chOff x="3151" y="9259"/>
              <a:chExt cx="210" cy="105"/>
            </a:xfrm>
          </p:grpSpPr>
          <p:sp>
            <p:nvSpPr>
              <p:cNvPr id="21549" name="Line 39"/>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50" name="Line 40"/>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51" name="Line 41"/>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31" name="Group 42"/>
            <p:cNvGrpSpPr>
              <a:grpSpLocks/>
            </p:cNvGrpSpPr>
            <p:nvPr/>
          </p:nvGrpSpPr>
          <p:grpSpPr bwMode="auto">
            <a:xfrm>
              <a:off x="3341" y="10404"/>
              <a:ext cx="210" cy="105"/>
              <a:chOff x="3151" y="9259"/>
              <a:chExt cx="210" cy="105"/>
            </a:xfrm>
          </p:grpSpPr>
          <p:sp>
            <p:nvSpPr>
              <p:cNvPr id="21546" name="Line 43"/>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47" name="Line 44"/>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48" name="Line 45"/>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grpSp>
          <p:nvGrpSpPr>
            <p:cNvPr id="21532" name="Group 46"/>
            <p:cNvGrpSpPr>
              <a:grpSpLocks/>
            </p:cNvGrpSpPr>
            <p:nvPr/>
          </p:nvGrpSpPr>
          <p:grpSpPr bwMode="auto">
            <a:xfrm>
              <a:off x="2781" y="10424"/>
              <a:ext cx="210" cy="105"/>
              <a:chOff x="3151" y="9259"/>
              <a:chExt cx="210" cy="105"/>
            </a:xfrm>
          </p:grpSpPr>
          <p:sp>
            <p:nvSpPr>
              <p:cNvPr id="21543" name="Line 47"/>
              <p:cNvSpPr>
                <a:spLocks noChangeShapeType="1"/>
              </p:cNvSpPr>
              <p:nvPr/>
            </p:nvSpPr>
            <p:spPr bwMode="auto">
              <a:xfrm>
                <a:off x="3171" y="9314"/>
                <a:ext cx="165" cy="0"/>
              </a:xfrm>
              <a:prstGeom prst="line">
                <a:avLst/>
              </a:prstGeom>
              <a:noFill/>
              <a:ln w="12700">
                <a:solidFill>
                  <a:srgbClr val="000000"/>
                </a:solidFill>
                <a:round/>
                <a:headEnd/>
                <a:tailEnd/>
              </a:ln>
            </p:spPr>
            <p:txBody>
              <a:bodyPr/>
              <a:lstStyle/>
              <a:p>
                <a:endParaRPr lang="bg-BG"/>
              </a:p>
            </p:txBody>
          </p:sp>
          <p:sp>
            <p:nvSpPr>
              <p:cNvPr id="21544" name="Line 48"/>
              <p:cNvSpPr>
                <a:spLocks noChangeShapeType="1"/>
              </p:cNvSpPr>
              <p:nvPr/>
            </p:nvSpPr>
            <p:spPr bwMode="auto">
              <a:xfrm>
                <a:off x="3151" y="9259"/>
                <a:ext cx="210" cy="0"/>
              </a:xfrm>
              <a:prstGeom prst="line">
                <a:avLst/>
              </a:prstGeom>
              <a:noFill/>
              <a:ln w="12700">
                <a:solidFill>
                  <a:srgbClr val="000000"/>
                </a:solidFill>
                <a:round/>
                <a:headEnd/>
                <a:tailEnd/>
              </a:ln>
            </p:spPr>
            <p:txBody>
              <a:bodyPr/>
              <a:lstStyle/>
              <a:p>
                <a:endParaRPr lang="bg-BG"/>
              </a:p>
            </p:txBody>
          </p:sp>
          <p:sp>
            <p:nvSpPr>
              <p:cNvPr id="21545" name="Line 49"/>
              <p:cNvSpPr>
                <a:spLocks noChangeShapeType="1"/>
              </p:cNvSpPr>
              <p:nvPr/>
            </p:nvSpPr>
            <p:spPr bwMode="auto">
              <a:xfrm>
                <a:off x="3231" y="9364"/>
                <a:ext cx="60" cy="0"/>
              </a:xfrm>
              <a:prstGeom prst="line">
                <a:avLst/>
              </a:prstGeom>
              <a:noFill/>
              <a:ln w="12700">
                <a:solidFill>
                  <a:srgbClr val="000000"/>
                </a:solidFill>
                <a:round/>
                <a:headEnd/>
                <a:tailEnd/>
              </a:ln>
            </p:spPr>
            <p:txBody>
              <a:bodyPr/>
              <a:lstStyle/>
              <a:p>
                <a:endParaRPr lang="bg-BG"/>
              </a:p>
            </p:txBody>
          </p:sp>
        </p:grpSp>
        <p:sp>
          <p:nvSpPr>
            <p:cNvPr id="21533" name="Text Box 50"/>
            <p:cNvSpPr txBox="1">
              <a:spLocks noChangeArrowheads="1"/>
            </p:cNvSpPr>
            <p:nvPr/>
          </p:nvSpPr>
          <p:spPr bwMode="auto">
            <a:xfrm>
              <a:off x="801" y="846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1534" name="Text Box 51"/>
            <p:cNvSpPr txBox="1">
              <a:spLocks noChangeArrowheads="1"/>
            </p:cNvSpPr>
            <p:nvPr/>
          </p:nvSpPr>
          <p:spPr bwMode="auto">
            <a:xfrm>
              <a:off x="801" y="912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1535" name="Text Box 52"/>
            <p:cNvSpPr txBox="1">
              <a:spLocks noChangeArrowheads="1"/>
            </p:cNvSpPr>
            <p:nvPr/>
          </p:nvSpPr>
          <p:spPr bwMode="auto">
            <a:xfrm>
              <a:off x="801" y="972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1536" name="Text Box 53"/>
            <p:cNvSpPr txBox="1">
              <a:spLocks noChangeArrowheads="1"/>
            </p:cNvSpPr>
            <p:nvPr/>
          </p:nvSpPr>
          <p:spPr bwMode="auto">
            <a:xfrm>
              <a:off x="801" y="10264"/>
              <a:ext cx="1080" cy="360"/>
            </a:xfrm>
            <a:prstGeom prst="rect">
              <a:avLst/>
            </a:prstGeom>
            <a:noFill/>
            <a:ln w="9525">
              <a:noFill/>
              <a:miter lim="800000"/>
              <a:headEnd/>
              <a:tailEnd/>
            </a:ln>
          </p:spPr>
          <p:txBody>
            <a:bodyPr/>
            <a:lstStyle/>
            <a:p>
              <a:endParaRPr lang="bg-BG" sz="1000">
                <a:latin typeface="Courier New" pitchFamily="49" charset="0"/>
              </a:endParaRPr>
            </a:p>
          </p:txBody>
        </p:sp>
        <p:sp>
          <p:nvSpPr>
            <p:cNvPr id="21537" name="Text Box 54"/>
            <p:cNvSpPr txBox="1">
              <a:spLocks noChangeArrowheads="1"/>
            </p:cNvSpPr>
            <p:nvPr/>
          </p:nvSpPr>
          <p:spPr bwMode="auto">
            <a:xfrm>
              <a:off x="4101" y="8474"/>
              <a:ext cx="540" cy="360"/>
            </a:xfrm>
            <a:prstGeom prst="rect">
              <a:avLst/>
            </a:prstGeom>
            <a:noFill/>
            <a:ln w="9525">
              <a:noFill/>
              <a:miter lim="800000"/>
              <a:headEnd/>
              <a:tailEnd/>
            </a:ln>
          </p:spPr>
          <p:txBody>
            <a:bodyPr/>
            <a:lstStyle/>
            <a:p>
              <a:r>
                <a:rPr lang="en-US" sz="2000" b="1">
                  <a:latin typeface="Courier New" pitchFamily="49" charset="0"/>
                </a:rPr>
                <a:t>A</a:t>
              </a:r>
              <a:endParaRPr lang="en-US" sz="1000">
                <a:latin typeface="Courier New" pitchFamily="49" charset="0"/>
              </a:endParaRPr>
            </a:p>
          </p:txBody>
        </p:sp>
        <p:sp>
          <p:nvSpPr>
            <p:cNvPr id="21538" name="Text Box 55"/>
            <p:cNvSpPr txBox="1">
              <a:spLocks noChangeArrowheads="1"/>
            </p:cNvSpPr>
            <p:nvPr/>
          </p:nvSpPr>
          <p:spPr bwMode="auto">
            <a:xfrm>
              <a:off x="3481" y="9144"/>
              <a:ext cx="540" cy="360"/>
            </a:xfrm>
            <a:prstGeom prst="rect">
              <a:avLst/>
            </a:prstGeom>
            <a:noFill/>
            <a:ln w="9525">
              <a:noFill/>
              <a:miter lim="800000"/>
              <a:headEnd/>
              <a:tailEnd/>
            </a:ln>
          </p:spPr>
          <p:txBody>
            <a:bodyPr/>
            <a:lstStyle/>
            <a:p>
              <a:r>
                <a:rPr lang="en-US" sz="2000" b="1">
                  <a:latin typeface="Courier New" pitchFamily="49" charset="0"/>
                </a:rPr>
                <a:t>B</a:t>
              </a:r>
              <a:endParaRPr lang="en-US" sz="1000">
                <a:latin typeface="Courier New" pitchFamily="49" charset="0"/>
              </a:endParaRPr>
            </a:p>
          </p:txBody>
        </p:sp>
        <p:sp>
          <p:nvSpPr>
            <p:cNvPr id="21539" name="Text Box 56"/>
            <p:cNvSpPr txBox="1">
              <a:spLocks noChangeArrowheads="1"/>
            </p:cNvSpPr>
            <p:nvPr/>
          </p:nvSpPr>
          <p:spPr bwMode="auto">
            <a:xfrm>
              <a:off x="4741" y="9134"/>
              <a:ext cx="540" cy="360"/>
            </a:xfrm>
            <a:prstGeom prst="rect">
              <a:avLst/>
            </a:prstGeom>
            <a:noFill/>
            <a:ln w="9525">
              <a:noFill/>
              <a:miter lim="800000"/>
              <a:headEnd/>
              <a:tailEnd/>
            </a:ln>
          </p:spPr>
          <p:txBody>
            <a:bodyPr/>
            <a:lstStyle/>
            <a:p>
              <a:r>
                <a:rPr lang="en-US" sz="2000" b="1">
                  <a:latin typeface="Courier New" pitchFamily="49" charset="0"/>
                </a:rPr>
                <a:t>C</a:t>
              </a:r>
              <a:endParaRPr lang="en-US" sz="1000">
                <a:latin typeface="Courier New" pitchFamily="49" charset="0"/>
              </a:endParaRPr>
            </a:p>
          </p:txBody>
        </p:sp>
        <p:sp>
          <p:nvSpPr>
            <p:cNvPr id="21540" name="Text Box 57"/>
            <p:cNvSpPr txBox="1">
              <a:spLocks noChangeArrowheads="1"/>
            </p:cNvSpPr>
            <p:nvPr/>
          </p:nvSpPr>
          <p:spPr bwMode="auto">
            <a:xfrm>
              <a:off x="2991" y="9824"/>
              <a:ext cx="540" cy="360"/>
            </a:xfrm>
            <a:prstGeom prst="rect">
              <a:avLst/>
            </a:prstGeom>
            <a:noFill/>
            <a:ln w="9525">
              <a:noFill/>
              <a:miter lim="800000"/>
              <a:headEnd/>
              <a:tailEnd/>
            </a:ln>
          </p:spPr>
          <p:txBody>
            <a:bodyPr/>
            <a:lstStyle/>
            <a:p>
              <a:r>
                <a:rPr lang="en-US" sz="2000" b="1">
                  <a:latin typeface="Courier New" pitchFamily="49" charset="0"/>
                </a:rPr>
                <a:t>D</a:t>
              </a:r>
              <a:endParaRPr lang="en-US" sz="1000">
                <a:latin typeface="Courier New" pitchFamily="49" charset="0"/>
              </a:endParaRPr>
            </a:p>
          </p:txBody>
        </p:sp>
        <p:sp>
          <p:nvSpPr>
            <p:cNvPr id="21541" name="Text Box 58"/>
            <p:cNvSpPr txBox="1">
              <a:spLocks noChangeArrowheads="1"/>
            </p:cNvSpPr>
            <p:nvPr/>
          </p:nvSpPr>
          <p:spPr bwMode="auto">
            <a:xfrm>
              <a:off x="3851" y="9804"/>
              <a:ext cx="540" cy="360"/>
            </a:xfrm>
            <a:prstGeom prst="rect">
              <a:avLst/>
            </a:prstGeom>
            <a:noFill/>
            <a:ln w="9525">
              <a:noFill/>
              <a:miter lim="800000"/>
              <a:headEnd/>
              <a:tailEnd/>
            </a:ln>
          </p:spPr>
          <p:txBody>
            <a:bodyPr/>
            <a:lstStyle/>
            <a:p>
              <a:r>
                <a:rPr lang="en-US" sz="2000" b="1">
                  <a:latin typeface="Courier New" pitchFamily="49" charset="0"/>
                </a:rPr>
                <a:t>E</a:t>
              </a:r>
              <a:endParaRPr lang="en-US" sz="1000">
                <a:latin typeface="Courier New" pitchFamily="49" charset="0"/>
              </a:endParaRPr>
            </a:p>
          </p:txBody>
        </p:sp>
        <p:sp>
          <p:nvSpPr>
            <p:cNvPr id="21542" name="Text Box 59"/>
            <p:cNvSpPr txBox="1">
              <a:spLocks noChangeArrowheads="1"/>
            </p:cNvSpPr>
            <p:nvPr/>
          </p:nvSpPr>
          <p:spPr bwMode="auto">
            <a:xfrm>
              <a:off x="5221" y="9734"/>
              <a:ext cx="540" cy="360"/>
            </a:xfrm>
            <a:prstGeom prst="rect">
              <a:avLst/>
            </a:prstGeom>
            <a:noFill/>
            <a:ln w="9525">
              <a:noFill/>
              <a:miter lim="800000"/>
              <a:headEnd/>
              <a:tailEnd/>
            </a:ln>
          </p:spPr>
          <p:txBody>
            <a:bodyPr/>
            <a:lstStyle/>
            <a:p>
              <a:r>
                <a:rPr lang="en-US" sz="2000" b="1">
                  <a:latin typeface="Courier New" pitchFamily="49" charset="0"/>
                </a:rPr>
                <a:t>F</a:t>
              </a:r>
              <a:endParaRPr lang="bg-BG" sz="1000">
                <a:latin typeface="Courier New" pitchFamily="49"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304800" y="609600"/>
            <a:ext cx="8153400" cy="5791200"/>
          </a:xfrm>
        </p:spPr>
        <p:txBody>
          <a:bodyPr>
            <a:normAutofit fontScale="90000"/>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Още </a:t>
            </a:r>
            <a:r>
              <a:rPr lang="bg-BG" sz="2800">
                <a:solidFill>
                  <a:schemeClr val="tx2">
                    <a:satMod val="130000"/>
                  </a:schemeClr>
                </a:solidFill>
              </a:rPr>
              <a:t>един пример за обхождане на двоично дърво:</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en-US" sz="2800" smtClean="0">
                <a:solidFill>
                  <a:schemeClr val="tx2">
                    <a:satMod val="130000"/>
                  </a:schemeClr>
                </a:solidFill>
              </a:rPr>
              <a:t>		Preorder  </a:t>
            </a:r>
            <a:r>
              <a:rPr lang="en-US" sz="2800">
                <a:solidFill>
                  <a:schemeClr val="tx2">
                    <a:satMod val="130000"/>
                  </a:schemeClr>
                </a:solidFill>
              </a:rPr>
              <a:t>(</a:t>
            </a:r>
            <a:r>
              <a:rPr lang="bg-BG" sz="2800">
                <a:solidFill>
                  <a:schemeClr val="tx2">
                    <a:satMod val="130000"/>
                  </a:schemeClr>
                </a:solidFill>
              </a:rPr>
              <a:t>КЛД): </a:t>
            </a:r>
            <a:r>
              <a:rPr lang="en-US" sz="2800">
                <a:solidFill>
                  <a:schemeClr val="tx2">
                    <a:satMod val="130000"/>
                  </a:schemeClr>
                </a:solidFill>
              </a:rPr>
              <a:t>A B C E I F J D G H K L</a:t>
            </a:r>
            <a:br>
              <a:rPr lang="en-US" sz="2800">
                <a:solidFill>
                  <a:schemeClr val="tx2">
                    <a:satMod val="130000"/>
                  </a:schemeClr>
                </a:solidFill>
              </a:rPr>
            </a:br>
            <a:r>
              <a:rPr lang="en-US" sz="2800" smtClean="0">
                <a:solidFill>
                  <a:schemeClr val="tx2">
                    <a:satMod val="130000"/>
                  </a:schemeClr>
                </a:solidFill>
              </a:rPr>
              <a:t>		Inorder    </a:t>
            </a:r>
            <a:r>
              <a:rPr lang="en-US" sz="2800">
                <a:solidFill>
                  <a:schemeClr val="tx2">
                    <a:satMod val="130000"/>
                  </a:schemeClr>
                </a:solidFill>
              </a:rPr>
              <a:t>(</a:t>
            </a:r>
            <a:r>
              <a:rPr lang="bg-BG" sz="2800">
                <a:solidFill>
                  <a:schemeClr val="tx2">
                    <a:satMod val="130000"/>
                  </a:schemeClr>
                </a:solidFill>
              </a:rPr>
              <a:t>ЛКД): </a:t>
            </a:r>
            <a:r>
              <a:rPr lang="en-US" sz="2800">
                <a:solidFill>
                  <a:schemeClr val="tx2">
                    <a:satMod val="130000"/>
                  </a:schemeClr>
                </a:solidFill>
              </a:rPr>
              <a:t>E I C F J B G D K H L A</a:t>
            </a:r>
            <a:r>
              <a:rPr lang="bg-BG" sz="2800">
                <a:solidFill>
                  <a:schemeClr val="tx2">
                    <a:satMod val="130000"/>
                  </a:schemeClr>
                </a:solidFill>
              </a:rPr>
              <a:t/>
            </a:r>
            <a:br>
              <a:rPr lang="bg-BG" sz="2800">
                <a:solidFill>
                  <a:schemeClr val="tx2">
                    <a:satMod val="130000"/>
                  </a:schemeClr>
                </a:solidFill>
              </a:rPr>
            </a:br>
            <a:r>
              <a:rPr lang="en-US" sz="2800" smtClean="0">
                <a:solidFill>
                  <a:schemeClr val="tx2">
                    <a:satMod val="130000"/>
                  </a:schemeClr>
                </a:solidFill>
              </a:rPr>
              <a:t>		Postorder </a:t>
            </a:r>
            <a:r>
              <a:rPr lang="en-US" sz="2800">
                <a:solidFill>
                  <a:schemeClr val="tx2">
                    <a:satMod val="130000"/>
                  </a:schemeClr>
                </a:solidFill>
              </a:rPr>
              <a:t>(</a:t>
            </a:r>
            <a:r>
              <a:rPr lang="bg-BG" sz="2800">
                <a:solidFill>
                  <a:schemeClr val="tx2">
                    <a:satMod val="130000"/>
                  </a:schemeClr>
                </a:solidFill>
              </a:rPr>
              <a:t>ЛДК): </a:t>
            </a:r>
            <a:r>
              <a:rPr lang="en-US" sz="2800">
                <a:solidFill>
                  <a:schemeClr val="tx2">
                    <a:satMod val="130000"/>
                  </a:schemeClr>
                </a:solidFill>
              </a:rPr>
              <a:t>I E J F C G K L H D B A</a:t>
            </a:r>
            <a:endParaRPr lang="en-US" sz="3200">
              <a:solidFill>
                <a:schemeClr val="tx2">
                  <a:satMod val="130000"/>
                </a:schemeClr>
              </a:solidFill>
            </a:endParaRPr>
          </a:p>
        </p:txBody>
      </p:sp>
      <p:grpSp>
        <p:nvGrpSpPr>
          <p:cNvPr id="22531" name="Group 41"/>
          <p:cNvGrpSpPr>
            <a:grpSpLocks/>
          </p:cNvGrpSpPr>
          <p:nvPr/>
        </p:nvGrpSpPr>
        <p:grpSpPr bwMode="auto">
          <a:xfrm>
            <a:off x="3132138" y="1268413"/>
            <a:ext cx="3886200" cy="3886200"/>
            <a:chOff x="2514600" y="1143000"/>
            <a:chExt cx="3886200" cy="3886200"/>
          </a:xfrm>
        </p:grpSpPr>
        <p:sp>
          <p:nvSpPr>
            <p:cNvPr id="22532" name="Oval 5"/>
            <p:cNvSpPr>
              <a:spLocks noChangeArrowheads="1"/>
            </p:cNvSpPr>
            <p:nvPr/>
          </p:nvSpPr>
          <p:spPr bwMode="auto">
            <a:xfrm>
              <a:off x="4552485" y="1143000"/>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3" name="Oval 6"/>
            <p:cNvSpPr>
              <a:spLocks noChangeArrowheads="1"/>
            </p:cNvSpPr>
            <p:nvPr/>
          </p:nvSpPr>
          <p:spPr bwMode="auto">
            <a:xfrm>
              <a:off x="3888988" y="1956391"/>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4" name="Oval 7"/>
            <p:cNvSpPr>
              <a:spLocks noChangeArrowheads="1"/>
            </p:cNvSpPr>
            <p:nvPr/>
          </p:nvSpPr>
          <p:spPr bwMode="auto">
            <a:xfrm>
              <a:off x="3178098" y="2769781"/>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5" name="Oval 8"/>
            <p:cNvSpPr>
              <a:spLocks noChangeArrowheads="1"/>
            </p:cNvSpPr>
            <p:nvPr/>
          </p:nvSpPr>
          <p:spPr bwMode="auto">
            <a:xfrm>
              <a:off x="2514600" y="3583172"/>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6" name="Oval 9"/>
            <p:cNvSpPr>
              <a:spLocks noChangeArrowheads="1"/>
            </p:cNvSpPr>
            <p:nvPr/>
          </p:nvSpPr>
          <p:spPr bwMode="auto">
            <a:xfrm>
              <a:off x="2988527" y="4441751"/>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7" name="Oval 10"/>
            <p:cNvSpPr>
              <a:spLocks noChangeArrowheads="1"/>
            </p:cNvSpPr>
            <p:nvPr/>
          </p:nvSpPr>
          <p:spPr bwMode="auto">
            <a:xfrm>
              <a:off x="3462454" y="3537984"/>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8" name="Oval 11"/>
            <p:cNvSpPr>
              <a:spLocks noChangeArrowheads="1"/>
            </p:cNvSpPr>
            <p:nvPr/>
          </p:nvSpPr>
          <p:spPr bwMode="auto">
            <a:xfrm>
              <a:off x="4505093" y="2769781"/>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39" name="Oval 12"/>
            <p:cNvSpPr>
              <a:spLocks noChangeArrowheads="1"/>
            </p:cNvSpPr>
            <p:nvPr/>
          </p:nvSpPr>
          <p:spPr bwMode="auto">
            <a:xfrm>
              <a:off x="3888988" y="4420346"/>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40" name="Oval 13"/>
            <p:cNvSpPr>
              <a:spLocks noChangeArrowheads="1"/>
            </p:cNvSpPr>
            <p:nvPr/>
          </p:nvSpPr>
          <p:spPr bwMode="auto">
            <a:xfrm>
              <a:off x="4268129" y="3535605"/>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41" name="Oval 14"/>
            <p:cNvSpPr>
              <a:spLocks noChangeArrowheads="1"/>
            </p:cNvSpPr>
            <p:nvPr/>
          </p:nvSpPr>
          <p:spPr bwMode="auto">
            <a:xfrm>
              <a:off x="5213489" y="3537984"/>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42" name="Oval 15"/>
            <p:cNvSpPr>
              <a:spLocks noChangeArrowheads="1"/>
            </p:cNvSpPr>
            <p:nvPr/>
          </p:nvSpPr>
          <p:spPr bwMode="auto">
            <a:xfrm>
              <a:off x="4931627" y="4396563"/>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43" name="Oval 16"/>
            <p:cNvSpPr>
              <a:spLocks noChangeArrowheads="1"/>
            </p:cNvSpPr>
            <p:nvPr/>
          </p:nvSpPr>
          <p:spPr bwMode="auto">
            <a:xfrm>
              <a:off x="5784695" y="4396563"/>
              <a:ext cx="616105" cy="587449"/>
            </a:xfrm>
            <a:prstGeom prst="ellipse">
              <a:avLst/>
            </a:prstGeom>
            <a:solidFill>
              <a:srgbClr val="FFFFFF"/>
            </a:solidFill>
            <a:ln w="9525">
              <a:solidFill>
                <a:srgbClr val="000000"/>
              </a:solidFill>
              <a:round/>
              <a:headEnd/>
              <a:tailEnd/>
            </a:ln>
          </p:spPr>
          <p:txBody>
            <a:bodyPr/>
            <a:lstStyle/>
            <a:p>
              <a:endParaRPr lang="bg-BG"/>
            </a:p>
          </p:txBody>
        </p:sp>
        <p:sp>
          <p:nvSpPr>
            <p:cNvPr id="22544" name="Line 17"/>
            <p:cNvSpPr>
              <a:spLocks noChangeShapeType="1"/>
            </p:cNvSpPr>
            <p:nvPr/>
          </p:nvSpPr>
          <p:spPr bwMode="auto">
            <a:xfrm flipH="1">
              <a:off x="4362915" y="1640072"/>
              <a:ext cx="284356" cy="361507"/>
            </a:xfrm>
            <a:prstGeom prst="line">
              <a:avLst/>
            </a:prstGeom>
            <a:noFill/>
            <a:ln w="9525">
              <a:solidFill>
                <a:srgbClr val="000000"/>
              </a:solidFill>
              <a:round/>
              <a:headEnd/>
              <a:tailEnd type="triangle" w="med" len="med"/>
            </a:ln>
          </p:spPr>
          <p:txBody>
            <a:bodyPr/>
            <a:lstStyle/>
            <a:p>
              <a:endParaRPr lang="bg-BG"/>
            </a:p>
          </p:txBody>
        </p:sp>
        <p:sp>
          <p:nvSpPr>
            <p:cNvPr id="22545" name="Line 18"/>
            <p:cNvSpPr>
              <a:spLocks noChangeShapeType="1"/>
            </p:cNvSpPr>
            <p:nvPr/>
          </p:nvSpPr>
          <p:spPr bwMode="auto">
            <a:xfrm flipH="1">
              <a:off x="3652024" y="2453463"/>
              <a:ext cx="284356" cy="361507"/>
            </a:xfrm>
            <a:prstGeom prst="line">
              <a:avLst/>
            </a:prstGeom>
            <a:noFill/>
            <a:ln w="9525">
              <a:solidFill>
                <a:srgbClr val="000000"/>
              </a:solidFill>
              <a:round/>
              <a:headEnd/>
              <a:tailEnd type="triangle" w="med" len="med"/>
            </a:ln>
          </p:spPr>
          <p:txBody>
            <a:bodyPr/>
            <a:lstStyle/>
            <a:p>
              <a:endParaRPr lang="bg-BG"/>
            </a:p>
          </p:txBody>
        </p:sp>
        <p:sp>
          <p:nvSpPr>
            <p:cNvPr id="22546" name="Line 19"/>
            <p:cNvSpPr>
              <a:spLocks noChangeShapeType="1"/>
            </p:cNvSpPr>
            <p:nvPr/>
          </p:nvSpPr>
          <p:spPr bwMode="auto">
            <a:xfrm flipH="1">
              <a:off x="2941134" y="3266853"/>
              <a:ext cx="331749" cy="361507"/>
            </a:xfrm>
            <a:prstGeom prst="line">
              <a:avLst/>
            </a:prstGeom>
            <a:noFill/>
            <a:ln w="9525">
              <a:solidFill>
                <a:srgbClr val="000000"/>
              </a:solidFill>
              <a:round/>
              <a:headEnd/>
              <a:tailEnd type="triangle" w="med" len="med"/>
            </a:ln>
          </p:spPr>
          <p:txBody>
            <a:bodyPr/>
            <a:lstStyle/>
            <a:p>
              <a:endParaRPr lang="bg-BG"/>
            </a:p>
          </p:txBody>
        </p:sp>
        <p:sp>
          <p:nvSpPr>
            <p:cNvPr id="22547" name="Line 20"/>
            <p:cNvSpPr>
              <a:spLocks noChangeShapeType="1"/>
            </p:cNvSpPr>
            <p:nvPr/>
          </p:nvSpPr>
          <p:spPr bwMode="auto">
            <a:xfrm>
              <a:off x="2941134" y="4170621"/>
              <a:ext cx="189571" cy="316319"/>
            </a:xfrm>
            <a:prstGeom prst="line">
              <a:avLst/>
            </a:prstGeom>
            <a:noFill/>
            <a:ln w="9525">
              <a:solidFill>
                <a:srgbClr val="000000"/>
              </a:solidFill>
              <a:round/>
              <a:headEnd/>
              <a:tailEnd type="triangle" w="med" len="med"/>
            </a:ln>
          </p:spPr>
          <p:txBody>
            <a:bodyPr/>
            <a:lstStyle/>
            <a:p>
              <a:endParaRPr lang="bg-BG"/>
            </a:p>
          </p:txBody>
        </p:sp>
        <p:sp>
          <p:nvSpPr>
            <p:cNvPr id="22548" name="Line 21"/>
            <p:cNvSpPr>
              <a:spLocks noChangeShapeType="1"/>
            </p:cNvSpPr>
            <p:nvPr/>
          </p:nvSpPr>
          <p:spPr bwMode="auto">
            <a:xfrm>
              <a:off x="3652024" y="3312042"/>
              <a:ext cx="94785" cy="225942"/>
            </a:xfrm>
            <a:prstGeom prst="line">
              <a:avLst/>
            </a:prstGeom>
            <a:noFill/>
            <a:ln w="9525">
              <a:solidFill>
                <a:srgbClr val="000000"/>
              </a:solidFill>
              <a:round/>
              <a:headEnd/>
              <a:tailEnd type="triangle" w="med" len="med"/>
            </a:ln>
          </p:spPr>
          <p:txBody>
            <a:bodyPr/>
            <a:lstStyle/>
            <a:p>
              <a:endParaRPr lang="bg-BG"/>
            </a:p>
          </p:txBody>
        </p:sp>
        <p:sp>
          <p:nvSpPr>
            <p:cNvPr id="22549" name="Line 22"/>
            <p:cNvSpPr>
              <a:spLocks noChangeShapeType="1"/>
            </p:cNvSpPr>
            <p:nvPr/>
          </p:nvSpPr>
          <p:spPr bwMode="auto">
            <a:xfrm>
              <a:off x="3983773" y="4080244"/>
              <a:ext cx="189571" cy="316319"/>
            </a:xfrm>
            <a:prstGeom prst="line">
              <a:avLst/>
            </a:prstGeom>
            <a:noFill/>
            <a:ln w="9525">
              <a:solidFill>
                <a:srgbClr val="000000"/>
              </a:solidFill>
              <a:round/>
              <a:headEnd/>
              <a:tailEnd type="triangle" w="med" len="med"/>
            </a:ln>
          </p:spPr>
          <p:txBody>
            <a:bodyPr/>
            <a:lstStyle/>
            <a:p>
              <a:endParaRPr lang="bg-BG"/>
            </a:p>
          </p:txBody>
        </p:sp>
        <p:sp>
          <p:nvSpPr>
            <p:cNvPr id="22550" name="Line 23"/>
            <p:cNvSpPr>
              <a:spLocks noChangeShapeType="1"/>
            </p:cNvSpPr>
            <p:nvPr/>
          </p:nvSpPr>
          <p:spPr bwMode="auto">
            <a:xfrm>
              <a:off x="4457700" y="2408274"/>
              <a:ext cx="331749" cy="361507"/>
            </a:xfrm>
            <a:prstGeom prst="line">
              <a:avLst/>
            </a:prstGeom>
            <a:noFill/>
            <a:ln w="9525">
              <a:solidFill>
                <a:srgbClr val="000000"/>
              </a:solidFill>
              <a:round/>
              <a:headEnd/>
              <a:tailEnd type="triangle" w="med" len="med"/>
            </a:ln>
          </p:spPr>
          <p:txBody>
            <a:bodyPr/>
            <a:lstStyle/>
            <a:p>
              <a:endParaRPr lang="bg-BG"/>
            </a:p>
          </p:txBody>
        </p:sp>
        <p:sp>
          <p:nvSpPr>
            <p:cNvPr id="22551" name="Line 24"/>
            <p:cNvSpPr>
              <a:spLocks noChangeShapeType="1"/>
            </p:cNvSpPr>
            <p:nvPr/>
          </p:nvSpPr>
          <p:spPr bwMode="auto">
            <a:xfrm flipH="1">
              <a:off x="4599878" y="3357230"/>
              <a:ext cx="94785" cy="180753"/>
            </a:xfrm>
            <a:prstGeom prst="line">
              <a:avLst/>
            </a:prstGeom>
            <a:noFill/>
            <a:ln w="9525">
              <a:solidFill>
                <a:srgbClr val="000000"/>
              </a:solidFill>
              <a:round/>
              <a:headEnd/>
              <a:tailEnd type="triangle" w="med" len="med"/>
            </a:ln>
          </p:spPr>
          <p:txBody>
            <a:bodyPr/>
            <a:lstStyle/>
            <a:p>
              <a:endParaRPr lang="bg-BG"/>
            </a:p>
          </p:txBody>
        </p:sp>
        <p:sp>
          <p:nvSpPr>
            <p:cNvPr id="22552" name="Line 25"/>
            <p:cNvSpPr>
              <a:spLocks noChangeShapeType="1"/>
            </p:cNvSpPr>
            <p:nvPr/>
          </p:nvSpPr>
          <p:spPr bwMode="auto">
            <a:xfrm>
              <a:off x="5073805" y="3221665"/>
              <a:ext cx="331749" cy="361507"/>
            </a:xfrm>
            <a:prstGeom prst="line">
              <a:avLst/>
            </a:prstGeom>
            <a:noFill/>
            <a:ln w="9525">
              <a:solidFill>
                <a:srgbClr val="000000"/>
              </a:solidFill>
              <a:round/>
              <a:headEnd/>
              <a:tailEnd type="triangle" w="med" len="med"/>
            </a:ln>
          </p:spPr>
          <p:txBody>
            <a:bodyPr/>
            <a:lstStyle/>
            <a:p>
              <a:endParaRPr lang="bg-BG"/>
            </a:p>
          </p:txBody>
        </p:sp>
        <p:sp>
          <p:nvSpPr>
            <p:cNvPr id="22553" name="Line 26"/>
            <p:cNvSpPr>
              <a:spLocks noChangeShapeType="1"/>
            </p:cNvSpPr>
            <p:nvPr/>
          </p:nvSpPr>
          <p:spPr bwMode="auto">
            <a:xfrm flipH="1">
              <a:off x="5310768" y="4125433"/>
              <a:ext cx="142178" cy="271130"/>
            </a:xfrm>
            <a:prstGeom prst="line">
              <a:avLst/>
            </a:prstGeom>
            <a:noFill/>
            <a:ln w="9525">
              <a:solidFill>
                <a:srgbClr val="000000"/>
              </a:solidFill>
              <a:round/>
              <a:headEnd/>
              <a:tailEnd type="triangle" w="med" len="med"/>
            </a:ln>
          </p:spPr>
          <p:txBody>
            <a:bodyPr/>
            <a:lstStyle/>
            <a:p>
              <a:endParaRPr lang="bg-BG"/>
            </a:p>
          </p:txBody>
        </p:sp>
        <p:sp>
          <p:nvSpPr>
            <p:cNvPr id="22554" name="Line 27"/>
            <p:cNvSpPr>
              <a:spLocks noChangeShapeType="1"/>
            </p:cNvSpPr>
            <p:nvPr/>
          </p:nvSpPr>
          <p:spPr bwMode="auto">
            <a:xfrm>
              <a:off x="5737302" y="4080244"/>
              <a:ext cx="236963" cy="316319"/>
            </a:xfrm>
            <a:prstGeom prst="line">
              <a:avLst/>
            </a:prstGeom>
            <a:noFill/>
            <a:ln w="9525">
              <a:solidFill>
                <a:srgbClr val="000000"/>
              </a:solidFill>
              <a:round/>
              <a:headEnd/>
              <a:tailEnd type="triangle" w="med" len="med"/>
            </a:ln>
          </p:spPr>
          <p:txBody>
            <a:bodyPr/>
            <a:lstStyle/>
            <a:p>
              <a:endParaRPr lang="bg-BG"/>
            </a:p>
          </p:txBody>
        </p:sp>
        <p:sp>
          <p:nvSpPr>
            <p:cNvPr id="22555" name="Text Box 29"/>
            <p:cNvSpPr txBox="1">
              <a:spLocks noChangeArrowheads="1"/>
            </p:cNvSpPr>
            <p:nvPr/>
          </p:nvSpPr>
          <p:spPr bwMode="auto">
            <a:xfrm>
              <a:off x="4648200" y="1219200"/>
              <a:ext cx="457200" cy="457200"/>
            </a:xfrm>
            <a:prstGeom prst="rect">
              <a:avLst/>
            </a:prstGeom>
            <a:noFill/>
            <a:ln w="9525">
              <a:noFill/>
              <a:miter lim="800000"/>
              <a:headEnd/>
              <a:tailEnd/>
            </a:ln>
          </p:spPr>
          <p:txBody>
            <a:bodyPr>
              <a:spAutoFit/>
            </a:bodyPr>
            <a:lstStyle/>
            <a:p>
              <a:pPr>
                <a:spcBef>
                  <a:spcPct val="50000"/>
                </a:spcBef>
              </a:pPr>
              <a:r>
                <a:rPr lang="en-US"/>
                <a:t>A</a:t>
              </a:r>
            </a:p>
          </p:txBody>
        </p:sp>
        <p:sp>
          <p:nvSpPr>
            <p:cNvPr id="22556" name="Text Box 30"/>
            <p:cNvSpPr txBox="1">
              <a:spLocks noChangeArrowheads="1"/>
            </p:cNvSpPr>
            <p:nvPr/>
          </p:nvSpPr>
          <p:spPr bwMode="auto">
            <a:xfrm>
              <a:off x="4038600" y="1981200"/>
              <a:ext cx="457200" cy="457200"/>
            </a:xfrm>
            <a:prstGeom prst="rect">
              <a:avLst/>
            </a:prstGeom>
            <a:noFill/>
            <a:ln w="9525">
              <a:noFill/>
              <a:miter lim="800000"/>
              <a:headEnd/>
              <a:tailEnd/>
            </a:ln>
          </p:spPr>
          <p:txBody>
            <a:bodyPr>
              <a:spAutoFit/>
            </a:bodyPr>
            <a:lstStyle/>
            <a:p>
              <a:pPr>
                <a:spcBef>
                  <a:spcPct val="50000"/>
                </a:spcBef>
              </a:pPr>
              <a:r>
                <a:rPr lang="en-US"/>
                <a:t>B</a:t>
              </a:r>
            </a:p>
          </p:txBody>
        </p:sp>
        <p:sp>
          <p:nvSpPr>
            <p:cNvPr id="22557" name="Text Box 31"/>
            <p:cNvSpPr txBox="1">
              <a:spLocks noChangeArrowheads="1"/>
            </p:cNvSpPr>
            <p:nvPr/>
          </p:nvSpPr>
          <p:spPr bwMode="auto">
            <a:xfrm>
              <a:off x="3276600" y="2819400"/>
              <a:ext cx="457200" cy="457200"/>
            </a:xfrm>
            <a:prstGeom prst="rect">
              <a:avLst/>
            </a:prstGeom>
            <a:noFill/>
            <a:ln w="9525">
              <a:noFill/>
              <a:miter lim="800000"/>
              <a:headEnd/>
              <a:tailEnd/>
            </a:ln>
          </p:spPr>
          <p:txBody>
            <a:bodyPr>
              <a:spAutoFit/>
            </a:bodyPr>
            <a:lstStyle/>
            <a:p>
              <a:pPr>
                <a:spcBef>
                  <a:spcPct val="50000"/>
                </a:spcBef>
              </a:pPr>
              <a:r>
                <a:rPr lang="en-US"/>
                <a:t>C</a:t>
              </a:r>
            </a:p>
          </p:txBody>
        </p:sp>
        <p:sp>
          <p:nvSpPr>
            <p:cNvPr id="22558" name="Text Box 32"/>
            <p:cNvSpPr txBox="1">
              <a:spLocks noChangeArrowheads="1"/>
            </p:cNvSpPr>
            <p:nvPr/>
          </p:nvSpPr>
          <p:spPr bwMode="auto">
            <a:xfrm>
              <a:off x="4648200" y="2819400"/>
              <a:ext cx="457200" cy="457200"/>
            </a:xfrm>
            <a:prstGeom prst="rect">
              <a:avLst/>
            </a:prstGeom>
            <a:noFill/>
            <a:ln w="9525">
              <a:noFill/>
              <a:miter lim="800000"/>
              <a:headEnd/>
              <a:tailEnd/>
            </a:ln>
          </p:spPr>
          <p:txBody>
            <a:bodyPr>
              <a:spAutoFit/>
            </a:bodyPr>
            <a:lstStyle/>
            <a:p>
              <a:pPr>
                <a:spcBef>
                  <a:spcPct val="50000"/>
                </a:spcBef>
              </a:pPr>
              <a:r>
                <a:rPr lang="en-US"/>
                <a:t>D</a:t>
              </a:r>
            </a:p>
          </p:txBody>
        </p:sp>
        <p:sp>
          <p:nvSpPr>
            <p:cNvPr id="22559" name="Text Box 33"/>
            <p:cNvSpPr txBox="1">
              <a:spLocks noChangeArrowheads="1"/>
            </p:cNvSpPr>
            <p:nvPr/>
          </p:nvSpPr>
          <p:spPr bwMode="auto">
            <a:xfrm>
              <a:off x="5334000" y="3581400"/>
              <a:ext cx="457200" cy="457200"/>
            </a:xfrm>
            <a:prstGeom prst="rect">
              <a:avLst/>
            </a:prstGeom>
            <a:noFill/>
            <a:ln w="9525">
              <a:noFill/>
              <a:miter lim="800000"/>
              <a:headEnd/>
              <a:tailEnd/>
            </a:ln>
          </p:spPr>
          <p:txBody>
            <a:bodyPr>
              <a:spAutoFit/>
            </a:bodyPr>
            <a:lstStyle/>
            <a:p>
              <a:pPr>
                <a:spcBef>
                  <a:spcPct val="50000"/>
                </a:spcBef>
              </a:pPr>
              <a:r>
                <a:rPr lang="en-US"/>
                <a:t>H</a:t>
              </a:r>
            </a:p>
          </p:txBody>
        </p:sp>
        <p:sp>
          <p:nvSpPr>
            <p:cNvPr id="22560" name="Text Box 34"/>
            <p:cNvSpPr txBox="1">
              <a:spLocks noChangeArrowheads="1"/>
            </p:cNvSpPr>
            <p:nvPr/>
          </p:nvSpPr>
          <p:spPr bwMode="auto">
            <a:xfrm>
              <a:off x="5943600" y="4419600"/>
              <a:ext cx="457200" cy="457200"/>
            </a:xfrm>
            <a:prstGeom prst="rect">
              <a:avLst/>
            </a:prstGeom>
            <a:noFill/>
            <a:ln w="9525">
              <a:noFill/>
              <a:miter lim="800000"/>
              <a:headEnd/>
              <a:tailEnd/>
            </a:ln>
          </p:spPr>
          <p:txBody>
            <a:bodyPr>
              <a:spAutoFit/>
            </a:bodyPr>
            <a:lstStyle/>
            <a:p>
              <a:pPr>
                <a:spcBef>
                  <a:spcPct val="50000"/>
                </a:spcBef>
              </a:pPr>
              <a:r>
                <a:rPr lang="en-US"/>
                <a:t>L</a:t>
              </a:r>
            </a:p>
          </p:txBody>
        </p:sp>
        <p:sp>
          <p:nvSpPr>
            <p:cNvPr id="22561" name="Text Box 35"/>
            <p:cNvSpPr txBox="1">
              <a:spLocks noChangeArrowheads="1"/>
            </p:cNvSpPr>
            <p:nvPr/>
          </p:nvSpPr>
          <p:spPr bwMode="auto">
            <a:xfrm>
              <a:off x="5029200" y="4419600"/>
              <a:ext cx="457200" cy="457200"/>
            </a:xfrm>
            <a:prstGeom prst="rect">
              <a:avLst/>
            </a:prstGeom>
            <a:noFill/>
            <a:ln w="9525">
              <a:noFill/>
              <a:miter lim="800000"/>
              <a:headEnd/>
              <a:tailEnd/>
            </a:ln>
          </p:spPr>
          <p:txBody>
            <a:bodyPr>
              <a:spAutoFit/>
            </a:bodyPr>
            <a:lstStyle/>
            <a:p>
              <a:pPr>
                <a:spcBef>
                  <a:spcPct val="50000"/>
                </a:spcBef>
              </a:pPr>
              <a:r>
                <a:rPr lang="en-US"/>
                <a:t>K</a:t>
              </a:r>
            </a:p>
          </p:txBody>
        </p:sp>
        <p:sp>
          <p:nvSpPr>
            <p:cNvPr id="22562" name="Text Box 36"/>
            <p:cNvSpPr txBox="1">
              <a:spLocks noChangeArrowheads="1"/>
            </p:cNvSpPr>
            <p:nvPr/>
          </p:nvSpPr>
          <p:spPr bwMode="auto">
            <a:xfrm>
              <a:off x="3048000" y="4495800"/>
              <a:ext cx="457200" cy="457200"/>
            </a:xfrm>
            <a:prstGeom prst="rect">
              <a:avLst/>
            </a:prstGeom>
            <a:noFill/>
            <a:ln w="9525">
              <a:noFill/>
              <a:miter lim="800000"/>
              <a:headEnd/>
              <a:tailEnd/>
            </a:ln>
          </p:spPr>
          <p:txBody>
            <a:bodyPr>
              <a:spAutoFit/>
            </a:bodyPr>
            <a:lstStyle/>
            <a:p>
              <a:pPr>
                <a:spcBef>
                  <a:spcPct val="50000"/>
                </a:spcBef>
              </a:pPr>
              <a:r>
                <a:rPr lang="en-US"/>
                <a:t> I</a:t>
              </a:r>
            </a:p>
          </p:txBody>
        </p:sp>
        <p:sp>
          <p:nvSpPr>
            <p:cNvPr id="22563" name="Text Box 37"/>
            <p:cNvSpPr txBox="1">
              <a:spLocks noChangeArrowheads="1"/>
            </p:cNvSpPr>
            <p:nvPr/>
          </p:nvSpPr>
          <p:spPr bwMode="auto">
            <a:xfrm>
              <a:off x="4038600" y="4495800"/>
              <a:ext cx="457200" cy="457200"/>
            </a:xfrm>
            <a:prstGeom prst="rect">
              <a:avLst/>
            </a:prstGeom>
            <a:noFill/>
            <a:ln w="9525">
              <a:noFill/>
              <a:miter lim="800000"/>
              <a:headEnd/>
              <a:tailEnd/>
            </a:ln>
          </p:spPr>
          <p:txBody>
            <a:bodyPr>
              <a:spAutoFit/>
            </a:bodyPr>
            <a:lstStyle/>
            <a:p>
              <a:pPr>
                <a:spcBef>
                  <a:spcPct val="50000"/>
                </a:spcBef>
              </a:pPr>
              <a:r>
                <a:rPr lang="en-US"/>
                <a:t>J</a:t>
              </a:r>
            </a:p>
          </p:txBody>
        </p:sp>
        <p:sp>
          <p:nvSpPr>
            <p:cNvPr id="22564" name="Text Box 38"/>
            <p:cNvSpPr txBox="1">
              <a:spLocks noChangeArrowheads="1"/>
            </p:cNvSpPr>
            <p:nvPr/>
          </p:nvSpPr>
          <p:spPr bwMode="auto">
            <a:xfrm>
              <a:off x="4343400" y="3581400"/>
              <a:ext cx="457200" cy="457200"/>
            </a:xfrm>
            <a:prstGeom prst="rect">
              <a:avLst/>
            </a:prstGeom>
            <a:noFill/>
            <a:ln w="9525">
              <a:noFill/>
              <a:miter lim="800000"/>
              <a:headEnd/>
              <a:tailEnd/>
            </a:ln>
          </p:spPr>
          <p:txBody>
            <a:bodyPr>
              <a:spAutoFit/>
            </a:bodyPr>
            <a:lstStyle/>
            <a:p>
              <a:pPr>
                <a:spcBef>
                  <a:spcPct val="50000"/>
                </a:spcBef>
              </a:pPr>
              <a:r>
                <a:rPr lang="en-US"/>
                <a:t>G</a:t>
              </a:r>
            </a:p>
          </p:txBody>
        </p:sp>
        <p:sp>
          <p:nvSpPr>
            <p:cNvPr id="22565" name="Text Box 39"/>
            <p:cNvSpPr txBox="1">
              <a:spLocks noChangeArrowheads="1"/>
            </p:cNvSpPr>
            <p:nvPr/>
          </p:nvSpPr>
          <p:spPr bwMode="auto">
            <a:xfrm>
              <a:off x="3581400" y="3581400"/>
              <a:ext cx="457200" cy="457200"/>
            </a:xfrm>
            <a:prstGeom prst="rect">
              <a:avLst/>
            </a:prstGeom>
            <a:noFill/>
            <a:ln w="9525">
              <a:noFill/>
              <a:miter lim="800000"/>
              <a:headEnd/>
              <a:tailEnd/>
            </a:ln>
          </p:spPr>
          <p:txBody>
            <a:bodyPr>
              <a:spAutoFit/>
            </a:bodyPr>
            <a:lstStyle/>
            <a:p>
              <a:pPr>
                <a:spcBef>
                  <a:spcPct val="50000"/>
                </a:spcBef>
              </a:pPr>
              <a:r>
                <a:rPr lang="en-US"/>
                <a:t>F</a:t>
              </a:r>
            </a:p>
          </p:txBody>
        </p:sp>
        <p:sp>
          <p:nvSpPr>
            <p:cNvPr id="22566" name="Text Box 40"/>
            <p:cNvSpPr txBox="1">
              <a:spLocks noChangeArrowheads="1"/>
            </p:cNvSpPr>
            <p:nvPr/>
          </p:nvSpPr>
          <p:spPr bwMode="auto">
            <a:xfrm>
              <a:off x="2667000" y="3657600"/>
              <a:ext cx="457200" cy="457200"/>
            </a:xfrm>
            <a:prstGeom prst="rect">
              <a:avLst/>
            </a:prstGeom>
            <a:noFill/>
            <a:ln w="9525">
              <a:noFill/>
              <a:miter lim="800000"/>
              <a:headEnd/>
              <a:tailEnd/>
            </a:ln>
          </p:spPr>
          <p:txBody>
            <a:bodyPr>
              <a:spAutoFit/>
            </a:bodyPr>
            <a:lstStyle/>
            <a:p>
              <a:pPr>
                <a:spcBef>
                  <a:spcPct val="50000"/>
                </a:spcBef>
              </a:pPr>
              <a:r>
                <a:rPr lang="en-US"/>
                <a: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71550" y="620713"/>
            <a:ext cx="8064500" cy="5903912"/>
          </a:xfrm>
        </p:spPr>
        <p:txBody>
          <a:bodyPr/>
          <a:lstStyle/>
          <a:p>
            <a:pPr eaLnBrk="1" fontAlgn="auto" hangingPunct="1">
              <a:spcAft>
                <a:spcPts val="0"/>
              </a:spcAft>
              <a:defRPr/>
            </a:pPr>
            <a:r>
              <a:rPr lang="en-US" sz="2000">
                <a:solidFill>
                  <a:schemeClr val="tx1"/>
                </a:solidFill>
              </a:rPr>
              <a:t>	</a:t>
            </a:r>
            <a:r>
              <a:rPr lang="bg-BG" sz="2000">
                <a:solidFill>
                  <a:schemeClr val="tx1"/>
                </a:solidFill>
              </a:rPr>
              <a:t>Останалите три основни операции с дървовидни структури - добавяне, изключване и търсене на елемент - ще разгледаме върху една често използвана разновидност на структурата - </a:t>
            </a:r>
            <a:r>
              <a:rPr lang="bg-BG" sz="2000" b="1">
                <a:solidFill>
                  <a:schemeClr val="tx1"/>
                </a:solidFill>
              </a:rPr>
              <a:t>двоични дървета за търсене </a:t>
            </a:r>
            <a:r>
              <a:rPr lang="bg-BG" sz="2000">
                <a:solidFill>
                  <a:schemeClr val="tx1"/>
                </a:solidFill>
              </a:rPr>
              <a:t>или </a:t>
            </a:r>
            <a:r>
              <a:rPr lang="bg-BG" sz="2000" b="1">
                <a:solidFill>
                  <a:schemeClr val="tx1"/>
                </a:solidFill>
              </a:rPr>
              <a:t>подредени двоични дървета (или BST - Binary Search Tree)</a:t>
            </a:r>
            <a:r>
              <a:rPr lang="bg-BG" sz="2000">
                <a:solidFill>
                  <a:schemeClr val="tx1"/>
                </a:solidFill>
              </a:rPr>
              <a:t>.</a:t>
            </a:r>
            <a:br>
              <a:rPr lang="bg-BG" sz="2000">
                <a:solidFill>
                  <a:schemeClr val="tx1"/>
                </a:solidFill>
              </a:rPr>
            </a:br>
            <a:r>
              <a:rPr lang="bg-BG" sz="2000">
                <a:solidFill>
                  <a:schemeClr val="tx1"/>
                </a:solidFill>
              </a:rPr>
              <a:t>	Едно двоично дърво се нарича </a:t>
            </a:r>
            <a:r>
              <a:rPr lang="bg-BG" sz="2000" b="1">
                <a:solidFill>
                  <a:schemeClr val="tx1"/>
                </a:solidFill>
              </a:rPr>
              <a:t>двоично дърво за търсене</a:t>
            </a:r>
            <a:r>
              <a:rPr lang="bg-BG" sz="2000">
                <a:solidFill>
                  <a:schemeClr val="tx1"/>
                </a:solidFill>
              </a:rPr>
              <a:t>, ако за всеки връх с ключова стойност </a:t>
            </a:r>
            <a:r>
              <a:rPr lang="bg-BG" sz="2000" b="1">
                <a:solidFill>
                  <a:schemeClr val="tx1"/>
                </a:solidFill>
              </a:rPr>
              <a:t>К</a:t>
            </a:r>
            <a:r>
              <a:rPr lang="bg-BG" sz="2000">
                <a:solidFill>
                  <a:schemeClr val="tx1"/>
                </a:solidFill>
              </a:rPr>
              <a:t> е вярно:</a:t>
            </a:r>
            <a:br>
              <a:rPr lang="bg-BG" sz="2000">
                <a:solidFill>
                  <a:schemeClr val="tx1"/>
                </a:solidFill>
              </a:rPr>
            </a:br>
            <a:r>
              <a:rPr lang="bg-BG" sz="2000">
                <a:solidFill>
                  <a:schemeClr val="tx1"/>
                </a:solidFill>
              </a:rPr>
              <a:t>	- всички елементи в лявото му поддърво имат ключови стойности по-малки от </a:t>
            </a:r>
            <a:r>
              <a:rPr lang="bg-BG" sz="2000" b="1">
                <a:solidFill>
                  <a:schemeClr val="tx1"/>
                </a:solidFill>
              </a:rPr>
              <a:t>К</a:t>
            </a:r>
            <a:r>
              <a:rPr lang="bg-BG" sz="2000">
                <a:solidFill>
                  <a:schemeClr val="tx1"/>
                </a:solidFill>
              </a:rPr>
              <a:t>;</a:t>
            </a:r>
            <a:br>
              <a:rPr lang="bg-BG" sz="2000">
                <a:solidFill>
                  <a:schemeClr val="tx1"/>
                </a:solidFill>
              </a:rPr>
            </a:br>
            <a:r>
              <a:rPr lang="bg-BG" sz="2000">
                <a:solidFill>
                  <a:schemeClr val="tx1"/>
                </a:solidFill>
              </a:rPr>
              <a:t>	- всички елементи в дясното му поддърво имат ключови стойности по-големи от </a:t>
            </a:r>
            <a:r>
              <a:rPr lang="bg-BG" sz="2000" b="1">
                <a:solidFill>
                  <a:schemeClr val="tx1"/>
                </a:solidFill>
              </a:rPr>
              <a:t>К</a:t>
            </a:r>
            <a:r>
              <a:rPr lang="bg-BG" sz="2000">
                <a:solidFill>
                  <a:schemeClr val="tx1"/>
                </a:solidFill>
              </a:rPr>
              <a:t>;</a:t>
            </a:r>
            <a:br>
              <a:rPr lang="bg-BG" sz="2000">
                <a:solidFill>
                  <a:schemeClr val="tx1"/>
                </a:solidFill>
              </a:rPr>
            </a:br>
            <a:r>
              <a:rPr lang="bg-BG" sz="2000">
                <a:solidFill>
                  <a:schemeClr val="tx1"/>
                </a:solidFill>
              </a:rPr>
              <a:t>	- ключовите стойности са уникални.  Например:</a:t>
            </a:r>
            <a:br>
              <a:rPr lang="bg-BG" sz="2000">
                <a:solidFill>
                  <a:schemeClr val="tx1"/>
                </a:solidFill>
              </a:rPr>
            </a:br>
            <a:r>
              <a:rPr lang="bg-BG" sz="2000">
                <a:solidFill>
                  <a:schemeClr val="tx1"/>
                </a:solidFill>
                <a:latin typeface="Arial" charset="0"/>
              </a:rPr>
              <a:t/>
            </a:r>
            <a:br>
              <a:rPr lang="bg-BG" sz="2000">
                <a:solidFill>
                  <a:schemeClr val="tx1"/>
                </a:solidFill>
                <a:latin typeface="Arial" charset="0"/>
              </a:rPr>
            </a:br>
            <a:r>
              <a:rPr lang="bg-BG" sz="2000">
                <a:solidFill>
                  <a:schemeClr val="tx1"/>
                </a:solidFill>
                <a:latin typeface="Arial" charset="0"/>
              </a:rPr>
              <a:t>	</a:t>
            </a:r>
            <a:r>
              <a:rPr lang="bg-BG" sz="2000">
                <a:solidFill>
                  <a:schemeClr val="tx1"/>
                </a:solidFill>
              </a:rPr>
              <a:t/>
            </a:r>
            <a:br>
              <a:rPr lang="bg-BG" sz="2000">
                <a:solidFill>
                  <a:schemeClr val="tx1"/>
                </a:solidFill>
              </a:rPr>
            </a:br>
            <a:r>
              <a:rPr lang="bg-BG" sz="2000">
                <a:solidFill>
                  <a:schemeClr val="tx1"/>
                </a:solidFill>
              </a:rPr>
              <a:t>Симетричното обхождане на двоично дърво</a:t>
            </a:r>
            <a:br>
              <a:rPr lang="bg-BG" sz="2000">
                <a:solidFill>
                  <a:schemeClr val="tx1"/>
                </a:solidFill>
              </a:rPr>
            </a:br>
            <a:r>
              <a:rPr lang="bg-BG" sz="2000">
                <a:solidFill>
                  <a:schemeClr val="tx1"/>
                </a:solidFill>
              </a:rPr>
              <a:t> за търсене извежда ключовите стойности на</a:t>
            </a:r>
            <a:br>
              <a:rPr lang="bg-BG" sz="2000">
                <a:solidFill>
                  <a:schemeClr val="tx1"/>
                </a:solidFill>
              </a:rPr>
            </a:br>
            <a:r>
              <a:rPr lang="bg-BG" sz="2000">
                <a:solidFill>
                  <a:schemeClr val="tx1"/>
                </a:solidFill>
              </a:rPr>
              <a:t> структурата, подредени в нарастващ ред. </a:t>
            </a:r>
            <a:br>
              <a:rPr lang="bg-BG" sz="2000">
                <a:solidFill>
                  <a:schemeClr val="tx1"/>
                </a:solidFill>
              </a:rPr>
            </a:br>
            <a:r>
              <a:rPr lang="bg-BG" sz="2000">
                <a:solidFill>
                  <a:schemeClr val="tx1"/>
                </a:solidFill>
              </a:rPr>
              <a:t>Така за горния пример функция INORDER ще </a:t>
            </a:r>
            <a:br>
              <a:rPr lang="bg-BG" sz="2000">
                <a:solidFill>
                  <a:schemeClr val="tx1"/>
                </a:solidFill>
              </a:rPr>
            </a:br>
            <a:r>
              <a:rPr lang="bg-BG" sz="2000">
                <a:solidFill>
                  <a:schemeClr val="tx1"/>
                </a:solidFill>
              </a:rPr>
              <a:t>даде следния резултат</a:t>
            </a:r>
            <a:r>
              <a:rPr lang="en-AU" sz="2000">
                <a:solidFill>
                  <a:schemeClr val="tx1"/>
                </a:solidFill>
              </a:rPr>
              <a:t>: 5 10 15 20 30 35 38</a:t>
            </a:r>
            <a:endParaRPr lang="en-US" sz="2000">
              <a:solidFill>
                <a:schemeClr val="tx1"/>
              </a:solidFill>
            </a:endParaRPr>
          </a:p>
        </p:txBody>
      </p:sp>
      <p:grpSp>
        <p:nvGrpSpPr>
          <p:cNvPr id="23555" name="Group 3"/>
          <p:cNvGrpSpPr>
            <a:grpSpLocks/>
          </p:cNvGrpSpPr>
          <p:nvPr/>
        </p:nvGrpSpPr>
        <p:grpSpPr bwMode="auto">
          <a:xfrm>
            <a:off x="6183313" y="3967163"/>
            <a:ext cx="3084512" cy="2730500"/>
            <a:chOff x="3581" y="3364"/>
            <a:chExt cx="2860" cy="2500"/>
          </a:xfrm>
        </p:grpSpPr>
        <p:sp>
          <p:nvSpPr>
            <p:cNvPr id="23556" name="Oval 4"/>
            <p:cNvSpPr>
              <a:spLocks noChangeArrowheads="1"/>
            </p:cNvSpPr>
            <p:nvPr/>
          </p:nvSpPr>
          <p:spPr bwMode="auto">
            <a:xfrm>
              <a:off x="4694" y="3376"/>
              <a:ext cx="379" cy="337"/>
            </a:xfrm>
            <a:prstGeom prst="ellipse">
              <a:avLst/>
            </a:prstGeom>
            <a:noFill/>
            <a:ln w="12700">
              <a:solidFill>
                <a:srgbClr val="000000"/>
              </a:solidFill>
              <a:round/>
              <a:headEnd/>
              <a:tailEnd/>
            </a:ln>
          </p:spPr>
          <p:txBody>
            <a:bodyPr/>
            <a:lstStyle/>
            <a:p>
              <a:endParaRPr lang="bg-BG"/>
            </a:p>
          </p:txBody>
        </p:sp>
        <p:sp>
          <p:nvSpPr>
            <p:cNvPr id="23557" name="Oval 5"/>
            <p:cNvSpPr>
              <a:spLocks noChangeArrowheads="1"/>
            </p:cNvSpPr>
            <p:nvPr/>
          </p:nvSpPr>
          <p:spPr bwMode="auto">
            <a:xfrm>
              <a:off x="4102" y="4012"/>
              <a:ext cx="379" cy="337"/>
            </a:xfrm>
            <a:prstGeom prst="ellipse">
              <a:avLst/>
            </a:prstGeom>
            <a:noFill/>
            <a:ln w="12700">
              <a:solidFill>
                <a:srgbClr val="000000"/>
              </a:solidFill>
              <a:round/>
              <a:headEnd/>
              <a:tailEnd/>
            </a:ln>
          </p:spPr>
          <p:txBody>
            <a:bodyPr/>
            <a:lstStyle/>
            <a:p>
              <a:endParaRPr lang="bg-BG"/>
            </a:p>
          </p:txBody>
        </p:sp>
        <p:sp>
          <p:nvSpPr>
            <p:cNvPr id="23558" name="Oval 6"/>
            <p:cNvSpPr>
              <a:spLocks noChangeArrowheads="1"/>
            </p:cNvSpPr>
            <p:nvPr/>
          </p:nvSpPr>
          <p:spPr bwMode="auto">
            <a:xfrm>
              <a:off x="5352" y="4061"/>
              <a:ext cx="379" cy="351"/>
            </a:xfrm>
            <a:prstGeom prst="ellipse">
              <a:avLst/>
            </a:prstGeom>
            <a:noFill/>
            <a:ln w="12700">
              <a:solidFill>
                <a:srgbClr val="000000"/>
              </a:solidFill>
              <a:round/>
              <a:headEnd/>
              <a:tailEnd/>
            </a:ln>
          </p:spPr>
          <p:txBody>
            <a:bodyPr/>
            <a:lstStyle/>
            <a:p>
              <a:endParaRPr lang="bg-BG"/>
            </a:p>
          </p:txBody>
        </p:sp>
        <p:sp>
          <p:nvSpPr>
            <p:cNvPr id="23559" name="Oval 7"/>
            <p:cNvSpPr>
              <a:spLocks noChangeArrowheads="1"/>
            </p:cNvSpPr>
            <p:nvPr/>
          </p:nvSpPr>
          <p:spPr bwMode="auto">
            <a:xfrm>
              <a:off x="3604" y="4677"/>
              <a:ext cx="379" cy="337"/>
            </a:xfrm>
            <a:prstGeom prst="ellipse">
              <a:avLst/>
            </a:prstGeom>
            <a:noFill/>
            <a:ln w="12700">
              <a:solidFill>
                <a:srgbClr val="000000"/>
              </a:solidFill>
              <a:round/>
              <a:headEnd/>
              <a:tailEnd/>
            </a:ln>
          </p:spPr>
          <p:txBody>
            <a:bodyPr/>
            <a:lstStyle/>
            <a:p>
              <a:endParaRPr lang="bg-BG"/>
            </a:p>
          </p:txBody>
        </p:sp>
        <p:sp>
          <p:nvSpPr>
            <p:cNvPr id="23560" name="Oval 8"/>
            <p:cNvSpPr>
              <a:spLocks noChangeArrowheads="1"/>
            </p:cNvSpPr>
            <p:nvPr/>
          </p:nvSpPr>
          <p:spPr bwMode="auto">
            <a:xfrm>
              <a:off x="5796" y="4674"/>
              <a:ext cx="379" cy="337"/>
            </a:xfrm>
            <a:prstGeom prst="ellipse">
              <a:avLst/>
            </a:prstGeom>
            <a:noFill/>
            <a:ln w="12700">
              <a:solidFill>
                <a:srgbClr val="000000"/>
              </a:solidFill>
              <a:round/>
              <a:headEnd/>
              <a:tailEnd/>
            </a:ln>
          </p:spPr>
          <p:txBody>
            <a:bodyPr/>
            <a:lstStyle/>
            <a:p>
              <a:endParaRPr lang="bg-BG"/>
            </a:p>
          </p:txBody>
        </p:sp>
        <p:sp>
          <p:nvSpPr>
            <p:cNvPr id="23561" name="Oval 9"/>
            <p:cNvSpPr>
              <a:spLocks noChangeArrowheads="1"/>
            </p:cNvSpPr>
            <p:nvPr/>
          </p:nvSpPr>
          <p:spPr bwMode="auto">
            <a:xfrm>
              <a:off x="4470" y="4697"/>
              <a:ext cx="379" cy="337"/>
            </a:xfrm>
            <a:prstGeom prst="ellipse">
              <a:avLst/>
            </a:prstGeom>
            <a:noFill/>
            <a:ln w="12700">
              <a:solidFill>
                <a:srgbClr val="000000"/>
              </a:solidFill>
              <a:round/>
              <a:headEnd/>
              <a:tailEnd/>
            </a:ln>
          </p:spPr>
          <p:txBody>
            <a:bodyPr/>
            <a:lstStyle/>
            <a:p>
              <a:endParaRPr lang="bg-BG"/>
            </a:p>
          </p:txBody>
        </p:sp>
        <p:sp>
          <p:nvSpPr>
            <p:cNvPr id="23562" name="Line 10"/>
            <p:cNvSpPr>
              <a:spLocks noChangeShapeType="1"/>
            </p:cNvSpPr>
            <p:nvPr/>
          </p:nvSpPr>
          <p:spPr bwMode="auto">
            <a:xfrm flipH="1">
              <a:off x="4386" y="3684"/>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23563" name="Line 11"/>
            <p:cNvSpPr>
              <a:spLocks noChangeShapeType="1"/>
            </p:cNvSpPr>
            <p:nvPr/>
          </p:nvSpPr>
          <p:spPr bwMode="auto">
            <a:xfrm>
              <a:off x="5016" y="3670"/>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23564" name="Line 12"/>
            <p:cNvSpPr>
              <a:spLocks noChangeShapeType="1"/>
            </p:cNvSpPr>
            <p:nvPr/>
          </p:nvSpPr>
          <p:spPr bwMode="auto">
            <a:xfrm flipH="1">
              <a:off x="3868" y="4291"/>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23565" name="Line 13"/>
            <p:cNvSpPr>
              <a:spLocks noChangeShapeType="1"/>
            </p:cNvSpPr>
            <p:nvPr/>
          </p:nvSpPr>
          <p:spPr bwMode="auto">
            <a:xfrm>
              <a:off x="4442" y="4300"/>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23566" name="Line 14"/>
            <p:cNvSpPr>
              <a:spLocks noChangeShapeType="1"/>
            </p:cNvSpPr>
            <p:nvPr/>
          </p:nvSpPr>
          <p:spPr bwMode="auto">
            <a:xfrm>
              <a:off x="5680" y="4347"/>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23567" name="Oval 15"/>
            <p:cNvSpPr>
              <a:spLocks noChangeArrowheads="1"/>
            </p:cNvSpPr>
            <p:nvPr/>
          </p:nvSpPr>
          <p:spPr bwMode="auto">
            <a:xfrm>
              <a:off x="5576" y="5502"/>
              <a:ext cx="379" cy="351"/>
            </a:xfrm>
            <a:prstGeom prst="ellipse">
              <a:avLst/>
            </a:prstGeom>
            <a:noFill/>
            <a:ln w="12700">
              <a:solidFill>
                <a:srgbClr val="000000"/>
              </a:solidFill>
              <a:round/>
              <a:headEnd/>
              <a:tailEnd/>
            </a:ln>
          </p:spPr>
          <p:txBody>
            <a:bodyPr/>
            <a:lstStyle/>
            <a:p>
              <a:endParaRPr lang="bg-BG"/>
            </a:p>
          </p:txBody>
        </p:sp>
        <p:sp>
          <p:nvSpPr>
            <p:cNvPr id="23568" name="Line 16"/>
            <p:cNvSpPr>
              <a:spLocks noChangeShapeType="1"/>
            </p:cNvSpPr>
            <p:nvPr/>
          </p:nvSpPr>
          <p:spPr bwMode="auto">
            <a:xfrm flipH="1">
              <a:off x="5802" y="5004"/>
              <a:ext cx="99" cy="491"/>
            </a:xfrm>
            <a:prstGeom prst="line">
              <a:avLst/>
            </a:prstGeom>
            <a:noFill/>
            <a:ln w="12700">
              <a:solidFill>
                <a:srgbClr val="000000"/>
              </a:solidFill>
              <a:round/>
              <a:headEnd type="none" w="sm" len="sm"/>
              <a:tailEnd type="triangle" w="sm" len="med"/>
            </a:ln>
          </p:spPr>
          <p:txBody>
            <a:bodyPr/>
            <a:lstStyle/>
            <a:p>
              <a:endParaRPr lang="bg-BG"/>
            </a:p>
          </p:txBody>
        </p:sp>
        <p:sp>
          <p:nvSpPr>
            <p:cNvPr id="23569" name="Text Box 17"/>
            <p:cNvSpPr txBox="1">
              <a:spLocks noChangeArrowheads="1"/>
            </p:cNvSpPr>
            <p:nvPr/>
          </p:nvSpPr>
          <p:spPr bwMode="auto">
            <a:xfrm>
              <a:off x="4611" y="3364"/>
              <a:ext cx="720" cy="360"/>
            </a:xfrm>
            <a:prstGeom prst="rect">
              <a:avLst/>
            </a:prstGeom>
            <a:noFill/>
            <a:ln w="9525">
              <a:noFill/>
              <a:miter lim="800000"/>
              <a:headEnd/>
              <a:tailEnd/>
            </a:ln>
          </p:spPr>
          <p:txBody>
            <a:bodyPr/>
            <a:lstStyle/>
            <a:p>
              <a:r>
                <a:rPr lang="bg-BG" sz="2000" b="1">
                  <a:latin typeface="Courier New" pitchFamily="49" charset="0"/>
                </a:rPr>
                <a:t>20</a:t>
              </a:r>
              <a:endParaRPr lang="bg-BG" sz="1000">
                <a:latin typeface="Courier New" pitchFamily="49" charset="0"/>
              </a:endParaRPr>
            </a:p>
          </p:txBody>
        </p:sp>
        <p:sp>
          <p:nvSpPr>
            <p:cNvPr id="23570" name="Text Box 18"/>
            <p:cNvSpPr txBox="1">
              <a:spLocks noChangeArrowheads="1"/>
            </p:cNvSpPr>
            <p:nvPr/>
          </p:nvSpPr>
          <p:spPr bwMode="auto">
            <a:xfrm>
              <a:off x="5271" y="4054"/>
              <a:ext cx="720" cy="360"/>
            </a:xfrm>
            <a:prstGeom prst="rect">
              <a:avLst/>
            </a:prstGeom>
            <a:noFill/>
            <a:ln w="9525">
              <a:noFill/>
              <a:miter lim="800000"/>
              <a:headEnd/>
              <a:tailEnd/>
            </a:ln>
          </p:spPr>
          <p:txBody>
            <a:bodyPr/>
            <a:lstStyle/>
            <a:p>
              <a:r>
                <a:rPr lang="bg-BG" sz="2000" b="1">
                  <a:latin typeface="Courier New" pitchFamily="49" charset="0"/>
                </a:rPr>
                <a:t>30</a:t>
              </a:r>
              <a:endParaRPr lang="en-US" sz="1000">
                <a:latin typeface="Courier New" pitchFamily="49" charset="0"/>
              </a:endParaRPr>
            </a:p>
          </p:txBody>
        </p:sp>
        <p:sp>
          <p:nvSpPr>
            <p:cNvPr id="23571" name="Text Box 19"/>
            <p:cNvSpPr txBox="1">
              <a:spLocks noChangeArrowheads="1"/>
            </p:cNvSpPr>
            <p:nvPr/>
          </p:nvSpPr>
          <p:spPr bwMode="auto">
            <a:xfrm>
              <a:off x="4021" y="3994"/>
              <a:ext cx="720" cy="360"/>
            </a:xfrm>
            <a:prstGeom prst="rect">
              <a:avLst/>
            </a:prstGeom>
            <a:noFill/>
            <a:ln w="9525">
              <a:noFill/>
              <a:miter lim="800000"/>
              <a:headEnd/>
              <a:tailEnd/>
            </a:ln>
          </p:spPr>
          <p:txBody>
            <a:bodyPr/>
            <a:lstStyle/>
            <a:p>
              <a:r>
                <a:rPr lang="bg-BG" sz="2000" b="1">
                  <a:latin typeface="Courier New" pitchFamily="49" charset="0"/>
                </a:rPr>
                <a:t>10</a:t>
              </a:r>
              <a:endParaRPr lang="en-US" sz="1000">
                <a:latin typeface="Courier New" pitchFamily="49" charset="0"/>
              </a:endParaRPr>
            </a:p>
          </p:txBody>
        </p:sp>
        <p:sp>
          <p:nvSpPr>
            <p:cNvPr id="23572" name="Text Box 20"/>
            <p:cNvSpPr txBox="1">
              <a:spLocks noChangeArrowheads="1"/>
            </p:cNvSpPr>
            <p:nvPr/>
          </p:nvSpPr>
          <p:spPr bwMode="auto">
            <a:xfrm>
              <a:off x="5721" y="4654"/>
              <a:ext cx="720" cy="360"/>
            </a:xfrm>
            <a:prstGeom prst="rect">
              <a:avLst/>
            </a:prstGeom>
            <a:noFill/>
            <a:ln w="9525">
              <a:noFill/>
              <a:miter lim="800000"/>
              <a:headEnd/>
              <a:tailEnd/>
            </a:ln>
          </p:spPr>
          <p:txBody>
            <a:bodyPr/>
            <a:lstStyle/>
            <a:p>
              <a:r>
                <a:rPr lang="bg-BG" sz="2000" b="1">
                  <a:latin typeface="Courier New" pitchFamily="49" charset="0"/>
                </a:rPr>
                <a:t>38</a:t>
              </a:r>
              <a:endParaRPr lang="en-US" sz="1000">
                <a:latin typeface="Courier New" pitchFamily="49" charset="0"/>
              </a:endParaRPr>
            </a:p>
          </p:txBody>
        </p:sp>
        <p:sp>
          <p:nvSpPr>
            <p:cNvPr id="23573" name="Text Box 21"/>
            <p:cNvSpPr txBox="1">
              <a:spLocks noChangeArrowheads="1"/>
            </p:cNvSpPr>
            <p:nvPr/>
          </p:nvSpPr>
          <p:spPr bwMode="auto">
            <a:xfrm>
              <a:off x="4391" y="4684"/>
              <a:ext cx="720" cy="360"/>
            </a:xfrm>
            <a:prstGeom prst="rect">
              <a:avLst/>
            </a:prstGeom>
            <a:noFill/>
            <a:ln w="9525">
              <a:noFill/>
              <a:miter lim="800000"/>
              <a:headEnd/>
              <a:tailEnd/>
            </a:ln>
          </p:spPr>
          <p:txBody>
            <a:bodyPr/>
            <a:lstStyle/>
            <a:p>
              <a:r>
                <a:rPr lang="bg-BG" sz="1800" b="1">
                  <a:latin typeface="Courier New" pitchFamily="49" charset="0"/>
                </a:rPr>
                <a:t>15</a:t>
              </a:r>
              <a:endParaRPr lang="en-US" sz="1000">
                <a:latin typeface="Courier New" pitchFamily="49" charset="0"/>
              </a:endParaRPr>
            </a:p>
          </p:txBody>
        </p:sp>
        <p:sp>
          <p:nvSpPr>
            <p:cNvPr id="23574" name="Text Box 22"/>
            <p:cNvSpPr txBox="1">
              <a:spLocks noChangeArrowheads="1"/>
            </p:cNvSpPr>
            <p:nvPr/>
          </p:nvSpPr>
          <p:spPr bwMode="auto">
            <a:xfrm>
              <a:off x="5501" y="5504"/>
              <a:ext cx="720" cy="360"/>
            </a:xfrm>
            <a:prstGeom prst="rect">
              <a:avLst/>
            </a:prstGeom>
            <a:noFill/>
            <a:ln w="9525">
              <a:noFill/>
              <a:miter lim="800000"/>
              <a:headEnd/>
              <a:tailEnd/>
            </a:ln>
          </p:spPr>
          <p:txBody>
            <a:bodyPr/>
            <a:lstStyle/>
            <a:p>
              <a:r>
                <a:rPr lang="bg-BG" sz="2000" b="1">
                  <a:latin typeface="Courier New" pitchFamily="49" charset="0"/>
                </a:rPr>
                <a:t>35</a:t>
              </a:r>
              <a:endParaRPr lang="en-US" sz="1000">
                <a:latin typeface="Courier New" pitchFamily="49" charset="0"/>
              </a:endParaRPr>
            </a:p>
          </p:txBody>
        </p:sp>
        <p:sp>
          <p:nvSpPr>
            <p:cNvPr id="23575" name="Text Box 23"/>
            <p:cNvSpPr txBox="1">
              <a:spLocks noChangeArrowheads="1"/>
            </p:cNvSpPr>
            <p:nvPr/>
          </p:nvSpPr>
          <p:spPr bwMode="auto">
            <a:xfrm>
              <a:off x="3581" y="4664"/>
              <a:ext cx="720" cy="360"/>
            </a:xfrm>
            <a:prstGeom prst="rect">
              <a:avLst/>
            </a:prstGeom>
            <a:noFill/>
            <a:ln w="9525">
              <a:noFill/>
              <a:miter lim="800000"/>
              <a:headEnd/>
              <a:tailEnd/>
            </a:ln>
          </p:spPr>
          <p:txBody>
            <a:bodyPr/>
            <a:lstStyle/>
            <a:p>
              <a:r>
                <a:rPr lang="bg-BG" sz="2000" b="1">
                  <a:latin typeface="Courier New" pitchFamily="49" charset="0"/>
                </a:rPr>
                <a:t>5</a:t>
              </a:r>
              <a:endParaRPr lang="bg-BG" sz="1000">
                <a:latin typeface="Courier New" pitchFamily="49"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16013" y="476250"/>
            <a:ext cx="7772400" cy="5943600"/>
          </a:xfrm>
        </p:spPr>
        <p:txBody>
          <a:bodyPr>
            <a:normAutofit fontScale="90000"/>
          </a:bodyPr>
          <a:lstStyle/>
          <a:p>
            <a:pPr eaLnBrk="1" fontAlgn="auto" hangingPunct="1">
              <a:lnSpc>
                <a:spcPct val="90000"/>
              </a:lnSpc>
              <a:spcAft>
                <a:spcPts val="0"/>
              </a:spcAft>
              <a:defRPr/>
            </a:pPr>
            <a:r>
              <a:rPr lang="en-US" sz="2400" dirty="0">
                <a:solidFill>
                  <a:schemeClr val="tx1"/>
                </a:solidFill>
              </a:rPr>
              <a:t>      </a:t>
            </a:r>
            <a:r>
              <a:rPr lang="bg-BG" sz="2400" dirty="0">
                <a:solidFill>
                  <a:schemeClr val="tx1"/>
                </a:solidFill>
              </a:rPr>
              <a:t>Добавяне на елемент в подредено двоично дърво</a:t>
            </a:r>
            <a:r>
              <a:rPr lang="bg-BG" dirty="0">
                <a:solidFill>
                  <a:schemeClr val="tx1"/>
                </a:solidFill>
              </a:rPr>
              <a:t> </a:t>
            </a:r>
            <a:br>
              <a:rPr lang="bg-BG" dirty="0">
                <a:solidFill>
                  <a:schemeClr val="tx1"/>
                </a:solidFill>
              </a:rPr>
            </a:br>
            <a:r>
              <a:rPr lang="bg-BG" dirty="0">
                <a:solidFill>
                  <a:schemeClr val="tx1"/>
                </a:solidFill>
              </a:rPr>
              <a:t>	</a:t>
            </a:r>
            <a:r>
              <a:rPr lang="bg-BG" sz="2000" dirty="0">
                <a:solidFill>
                  <a:schemeClr val="tx1"/>
                </a:solidFill>
              </a:rPr>
              <a:t>Нови елементи се добавят в структурата във вид на листа. Разгледаната долу операция за добавяне на нов възел в двоично дърво за търсене е реализирана като рекурсивна функция. </a:t>
            </a:r>
            <a:br>
              <a:rPr lang="bg-BG" sz="2000" dirty="0">
                <a:solidFill>
                  <a:schemeClr val="tx1"/>
                </a:solidFill>
              </a:rPr>
            </a:br>
            <a:r>
              <a:rPr lang="bg-BG" sz="2000" b="1" dirty="0">
                <a:solidFill>
                  <a:schemeClr val="tx1"/>
                </a:solidFill>
              </a:rPr>
              <a:t/>
            </a:r>
            <a:br>
              <a:rPr lang="bg-BG" sz="2000" b="1" dirty="0">
                <a:solidFill>
                  <a:schemeClr val="tx1"/>
                </a:solidFill>
              </a:rPr>
            </a:br>
            <a:r>
              <a:rPr lang="en-US" sz="2000" dirty="0">
                <a:solidFill>
                  <a:schemeClr val="tx1"/>
                </a:solidFill>
                <a:latin typeface="Courier New" pitchFamily="49" charset="0"/>
              </a:rPr>
              <a:t>void add(</a:t>
            </a:r>
            <a:r>
              <a:rPr lang="en-US" sz="2000" dirty="0" err="1">
                <a:solidFill>
                  <a:schemeClr val="tx1"/>
                </a:solidFill>
                <a:latin typeface="Courier New" pitchFamily="49" charset="0"/>
              </a:rPr>
              <a:t>int</a:t>
            </a:r>
            <a:r>
              <a:rPr lang="en-US" sz="2000" dirty="0">
                <a:solidFill>
                  <a:schemeClr val="tx1"/>
                </a:solidFill>
                <a:latin typeface="Courier New" pitchFamily="49" charset="0"/>
              </a:rPr>
              <a:t> n, </a:t>
            </a:r>
            <a:r>
              <a:rPr lang="en-US" sz="2000" dirty="0" err="1">
                <a:solidFill>
                  <a:schemeClr val="tx1"/>
                </a:solidFill>
                <a:latin typeface="Courier New" pitchFamily="49" charset="0"/>
              </a:rPr>
              <a:t>elem</a:t>
            </a:r>
            <a:r>
              <a:rPr lang="en-US" sz="2000" dirty="0">
                <a:solidFill>
                  <a:schemeClr val="tx1"/>
                </a:solidFill>
                <a:latin typeface="Courier New" pitchFamily="49" charset="0"/>
              </a:rPr>
              <a:t>* &amp;t)</a:t>
            </a:r>
            <a:br>
              <a:rPr lang="en-US" sz="2000" dirty="0">
                <a:solidFill>
                  <a:schemeClr val="tx1"/>
                </a:solidFill>
                <a:latin typeface="Courier New" pitchFamily="49" charset="0"/>
              </a:rPr>
            </a:br>
            <a:r>
              <a:rPr lang="en-US" sz="2000" dirty="0">
                <a:solidFill>
                  <a:schemeClr val="tx1"/>
                </a:solidFill>
                <a:latin typeface="Courier New" pitchFamily="49" charset="0"/>
              </a:rPr>
              <a:t>{</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en-US" sz="2000" dirty="0">
                <a:solidFill>
                  <a:schemeClr val="tx1"/>
                </a:solidFill>
                <a:latin typeface="Courier New" pitchFamily="49" charset="0"/>
              </a:rPr>
              <a:t>  if (t==NULL)</a:t>
            </a:r>
            <a:br>
              <a:rPr lang="en-US" sz="2000" dirty="0">
                <a:solidFill>
                  <a:schemeClr val="tx1"/>
                </a:solidFill>
                <a:latin typeface="Courier New" pitchFamily="49" charset="0"/>
              </a:rPr>
            </a:br>
            <a:r>
              <a:rPr lang="en-US" sz="2000" dirty="0">
                <a:solidFill>
                  <a:schemeClr val="tx1"/>
                </a:solidFill>
                <a:latin typeface="Courier New" pitchFamily="49" charset="0"/>
              </a:rPr>
              <a:t>    {</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en-US" sz="2000" dirty="0">
                <a:solidFill>
                  <a:schemeClr val="tx1"/>
                </a:solidFill>
                <a:latin typeface="Courier New" pitchFamily="49" charset="0"/>
              </a:rPr>
              <a:t>      t=new </a:t>
            </a:r>
            <a:r>
              <a:rPr lang="en-US" sz="2000" dirty="0" err="1">
                <a:solidFill>
                  <a:schemeClr val="tx1"/>
                </a:solidFill>
                <a:latin typeface="Courier New" pitchFamily="49" charset="0"/>
              </a:rPr>
              <a:t>elem</a:t>
            </a:r>
            <a:r>
              <a:rPr lang="en-US" sz="2000" dirty="0">
                <a:solidFill>
                  <a:schemeClr val="tx1"/>
                </a:solidFill>
                <a:latin typeface="Courier New" pitchFamily="49" charset="0"/>
              </a:rPr>
              <a:t>;</a:t>
            </a:r>
            <a:br>
              <a:rPr lang="en-US" sz="2000" dirty="0">
                <a:solidFill>
                  <a:schemeClr val="tx1"/>
                </a:solidFill>
                <a:latin typeface="Courier New" pitchFamily="49" charset="0"/>
              </a:rPr>
            </a:br>
            <a:r>
              <a:rPr lang="en-US" sz="2000" dirty="0">
                <a:solidFill>
                  <a:schemeClr val="tx1"/>
                </a:solidFill>
                <a:latin typeface="Courier New" pitchFamily="49" charset="0"/>
              </a:rPr>
              <a:t>      t-&gt;key=n;</a:t>
            </a:r>
            <a:br>
              <a:rPr lang="en-US" sz="2000" dirty="0">
                <a:solidFill>
                  <a:schemeClr val="tx1"/>
                </a:solidFill>
                <a:latin typeface="Courier New" pitchFamily="49" charset="0"/>
              </a:rPr>
            </a:br>
            <a:r>
              <a:rPr lang="en-US" sz="2000" dirty="0">
                <a:solidFill>
                  <a:schemeClr val="tx1"/>
                </a:solidFill>
                <a:latin typeface="Courier New" pitchFamily="49" charset="0"/>
              </a:rPr>
              <a:t>      t-&gt;left=t-&gt;right=NULL;</a:t>
            </a:r>
            <a:br>
              <a:rPr lang="en-US" sz="2000" dirty="0">
                <a:solidFill>
                  <a:schemeClr val="tx1"/>
                </a:solidFill>
                <a:latin typeface="Courier New" pitchFamily="49" charset="0"/>
              </a:rPr>
            </a:br>
            <a:r>
              <a:rPr lang="en-US" sz="2000" dirty="0">
                <a:solidFill>
                  <a:schemeClr val="tx1"/>
                </a:solidFill>
                <a:latin typeface="Courier New" pitchFamily="49" charset="0"/>
              </a:rPr>
              <a:t>    }</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en-US" sz="2000" dirty="0">
                <a:solidFill>
                  <a:schemeClr val="tx1"/>
                </a:solidFill>
                <a:latin typeface="Courier New" pitchFamily="49" charset="0"/>
              </a:rPr>
              <a:t>      else</a:t>
            </a:r>
            <a:br>
              <a:rPr lang="en-US" sz="2000" dirty="0">
                <a:solidFill>
                  <a:schemeClr val="tx1"/>
                </a:solidFill>
                <a:latin typeface="Courier New" pitchFamily="49" charset="0"/>
              </a:rPr>
            </a:br>
            <a:r>
              <a:rPr lang="en-US" sz="2000" dirty="0">
                <a:solidFill>
                  <a:schemeClr val="tx1"/>
                </a:solidFill>
                <a:latin typeface="Courier New" pitchFamily="49" charset="0"/>
              </a:rPr>
              <a:t>    {</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en-US" sz="2000" dirty="0">
                <a:solidFill>
                  <a:schemeClr val="tx1"/>
                </a:solidFill>
                <a:latin typeface="Courier New" pitchFamily="49" charset="0"/>
              </a:rPr>
              <a:t>      if (t-&gt;key&lt;n)</a:t>
            </a:r>
            <a:br>
              <a:rPr lang="en-US" sz="2000" dirty="0">
                <a:solidFill>
                  <a:schemeClr val="tx1"/>
                </a:solidFill>
                <a:latin typeface="Courier New" pitchFamily="49" charset="0"/>
              </a:rPr>
            </a:br>
            <a:r>
              <a:rPr lang="en-US" sz="2000" dirty="0">
                <a:solidFill>
                  <a:schemeClr val="tx1"/>
                </a:solidFill>
                <a:latin typeface="Courier New" pitchFamily="49" charset="0"/>
              </a:rPr>
              <a:t>	  add(</a:t>
            </a:r>
            <a:r>
              <a:rPr lang="en-US" sz="2000" dirty="0" err="1">
                <a:solidFill>
                  <a:schemeClr val="tx1"/>
                </a:solidFill>
                <a:latin typeface="Courier New" pitchFamily="49" charset="0"/>
              </a:rPr>
              <a:t>n,t</a:t>
            </a:r>
            <a:r>
              <a:rPr lang="en-US" sz="2000" dirty="0">
                <a:solidFill>
                  <a:schemeClr val="tx1"/>
                </a:solidFill>
                <a:latin typeface="Courier New" pitchFamily="49" charset="0"/>
              </a:rPr>
              <a:t>-&gt;right);</a:t>
            </a:r>
            <a:br>
              <a:rPr lang="en-US" sz="2000" dirty="0">
                <a:solidFill>
                  <a:schemeClr val="tx1"/>
                </a:solidFill>
                <a:latin typeface="Courier New" pitchFamily="49" charset="0"/>
              </a:rPr>
            </a:br>
            <a:r>
              <a:rPr lang="en-US" sz="2000" dirty="0">
                <a:solidFill>
                  <a:schemeClr val="tx1"/>
                </a:solidFill>
                <a:latin typeface="Courier New" pitchFamily="49" charset="0"/>
              </a:rPr>
              <a:t>	else</a:t>
            </a:r>
            <a:br>
              <a:rPr lang="en-US" sz="2000" dirty="0">
                <a:solidFill>
                  <a:schemeClr val="tx1"/>
                </a:solidFill>
                <a:latin typeface="Courier New" pitchFamily="49" charset="0"/>
              </a:rPr>
            </a:br>
            <a:r>
              <a:rPr lang="en-US" sz="2000" dirty="0">
                <a:solidFill>
                  <a:schemeClr val="tx1"/>
                </a:solidFill>
                <a:latin typeface="Courier New" pitchFamily="49" charset="0"/>
              </a:rPr>
              <a:t>	  add(</a:t>
            </a:r>
            <a:r>
              <a:rPr lang="en-US" sz="2000" dirty="0" err="1">
                <a:solidFill>
                  <a:schemeClr val="tx1"/>
                </a:solidFill>
                <a:latin typeface="Courier New" pitchFamily="49" charset="0"/>
              </a:rPr>
              <a:t>n,t</a:t>
            </a:r>
            <a:r>
              <a:rPr lang="en-US" sz="2000" dirty="0">
                <a:solidFill>
                  <a:schemeClr val="tx1"/>
                </a:solidFill>
                <a:latin typeface="Courier New" pitchFamily="49" charset="0"/>
              </a:rPr>
              <a:t>-&gt;left);</a:t>
            </a:r>
            <a:br>
              <a:rPr lang="en-US" sz="2000" dirty="0">
                <a:solidFill>
                  <a:schemeClr val="tx1"/>
                </a:solidFill>
                <a:latin typeface="Courier New" pitchFamily="49" charset="0"/>
              </a:rPr>
            </a:br>
            <a:r>
              <a:rPr lang="en-US" sz="2000" dirty="0">
                <a:solidFill>
                  <a:schemeClr val="tx1"/>
                </a:solidFill>
                <a:latin typeface="Courier New" pitchFamily="49" charset="0"/>
              </a:rPr>
              <a:t>    }</a:t>
            </a:r>
            <a:r>
              <a:rPr lang="bg-BG" sz="2000" dirty="0">
                <a:solidFill>
                  <a:schemeClr val="tx1"/>
                </a:solidFill>
                <a:latin typeface="Courier New" pitchFamily="49" charset="0"/>
              </a:rPr>
              <a:t/>
            </a:r>
            <a:br>
              <a:rPr lang="bg-BG" sz="2000" dirty="0">
                <a:solidFill>
                  <a:schemeClr val="tx1"/>
                </a:solidFill>
                <a:latin typeface="Courier New" pitchFamily="49" charset="0"/>
              </a:rPr>
            </a:br>
            <a:r>
              <a:rPr lang="en-US" sz="2000" dirty="0">
                <a:solidFill>
                  <a:schemeClr val="tx1"/>
                </a:solidFill>
                <a:latin typeface="Courier New" pitchFamily="49" charset="0"/>
              </a:rPr>
              <a:t>}</a:t>
            </a:r>
            <a:endParaRPr lang="en-US" dirty="0">
              <a:solidFill>
                <a:schemeClr val="tx1"/>
              </a:solidFill>
              <a:latin typeface="Courier New" pitchFamily="49" charset="0"/>
            </a:endParaRPr>
          </a:p>
        </p:txBody>
      </p:sp>
      <p:grpSp>
        <p:nvGrpSpPr>
          <p:cNvPr id="3" name="Group 39"/>
          <p:cNvGrpSpPr>
            <a:grpSpLocks/>
          </p:cNvGrpSpPr>
          <p:nvPr/>
        </p:nvGrpSpPr>
        <p:grpSpPr bwMode="auto">
          <a:xfrm>
            <a:off x="5138523" y="2387044"/>
            <a:ext cx="3663950" cy="2514600"/>
            <a:chOff x="5390722" y="1447800"/>
            <a:chExt cx="3664378" cy="2515088"/>
          </a:xfrm>
        </p:grpSpPr>
        <p:sp>
          <p:nvSpPr>
            <p:cNvPr id="4" name="Oval 4"/>
            <p:cNvSpPr>
              <a:spLocks noChangeArrowheads="1"/>
            </p:cNvSpPr>
            <p:nvPr/>
          </p:nvSpPr>
          <p:spPr bwMode="auto">
            <a:xfrm>
              <a:off x="6875323" y="1448288"/>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5" name="Oval 5"/>
            <p:cNvSpPr>
              <a:spLocks noChangeArrowheads="1"/>
            </p:cNvSpPr>
            <p:nvPr/>
          </p:nvSpPr>
          <p:spPr bwMode="auto">
            <a:xfrm>
              <a:off x="6203811" y="2124215"/>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6" name="Oval 6"/>
            <p:cNvSpPr>
              <a:spLocks noChangeArrowheads="1"/>
            </p:cNvSpPr>
            <p:nvPr/>
          </p:nvSpPr>
          <p:spPr bwMode="auto">
            <a:xfrm>
              <a:off x="7581905" y="2124215"/>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7" name="Oval 7"/>
            <p:cNvSpPr>
              <a:spLocks noChangeArrowheads="1"/>
            </p:cNvSpPr>
            <p:nvPr/>
          </p:nvSpPr>
          <p:spPr bwMode="auto">
            <a:xfrm>
              <a:off x="7228614" y="275414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8" name="Oval 8"/>
            <p:cNvSpPr>
              <a:spLocks noChangeArrowheads="1"/>
            </p:cNvSpPr>
            <p:nvPr/>
          </p:nvSpPr>
          <p:spPr bwMode="auto">
            <a:xfrm>
              <a:off x="6946761" y="3506733"/>
              <a:ext cx="458499" cy="449766"/>
            </a:xfrm>
            <a:prstGeom prst="ellipse">
              <a:avLst/>
            </a:prstGeom>
            <a:solidFill>
              <a:srgbClr val="FFFFFF"/>
            </a:solidFill>
            <a:ln w="9525">
              <a:solidFill>
                <a:srgbClr val="000000"/>
              </a:solidFill>
              <a:round/>
              <a:headEnd/>
              <a:tailEnd/>
            </a:ln>
          </p:spPr>
          <p:txBody>
            <a:bodyPr/>
            <a:lstStyle/>
            <a:p>
              <a:endParaRPr lang="bg-BG"/>
            </a:p>
          </p:txBody>
        </p:sp>
        <p:sp>
          <p:nvSpPr>
            <p:cNvPr id="9" name="Oval 9"/>
            <p:cNvSpPr>
              <a:spLocks noChangeArrowheads="1"/>
            </p:cNvSpPr>
            <p:nvPr/>
          </p:nvSpPr>
          <p:spPr bwMode="auto">
            <a:xfrm>
              <a:off x="8006633" y="2743920"/>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10" name="Oval 10"/>
            <p:cNvSpPr>
              <a:spLocks noChangeArrowheads="1"/>
            </p:cNvSpPr>
            <p:nvPr/>
          </p:nvSpPr>
          <p:spPr bwMode="auto">
            <a:xfrm>
              <a:off x="7688412" y="351312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11" name="Oval 11"/>
            <p:cNvSpPr>
              <a:spLocks noChangeArrowheads="1"/>
            </p:cNvSpPr>
            <p:nvPr/>
          </p:nvSpPr>
          <p:spPr bwMode="auto">
            <a:xfrm>
              <a:off x="8359924" y="351312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12" name="Oval 12"/>
            <p:cNvSpPr>
              <a:spLocks noChangeArrowheads="1"/>
            </p:cNvSpPr>
            <p:nvPr/>
          </p:nvSpPr>
          <p:spPr bwMode="auto">
            <a:xfrm>
              <a:off x="5390722" y="3439013"/>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13" name="Oval 13"/>
            <p:cNvSpPr>
              <a:spLocks noChangeArrowheads="1"/>
            </p:cNvSpPr>
            <p:nvPr/>
          </p:nvSpPr>
          <p:spPr bwMode="auto">
            <a:xfrm>
              <a:off x="6592171" y="2761809"/>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14" name="Oval 14"/>
            <p:cNvSpPr>
              <a:spLocks noChangeArrowheads="1"/>
            </p:cNvSpPr>
            <p:nvPr/>
          </p:nvSpPr>
          <p:spPr bwMode="auto">
            <a:xfrm>
              <a:off x="5815450" y="2761809"/>
              <a:ext cx="458499" cy="451044"/>
            </a:xfrm>
            <a:prstGeom prst="ellipse">
              <a:avLst/>
            </a:prstGeom>
            <a:solidFill>
              <a:srgbClr val="FFFFFF"/>
            </a:solidFill>
            <a:ln w="9525">
              <a:solidFill>
                <a:srgbClr val="000000"/>
              </a:solidFill>
              <a:round/>
              <a:headEnd/>
              <a:tailEnd/>
            </a:ln>
          </p:spPr>
          <p:txBody>
            <a:bodyPr/>
            <a:lstStyle/>
            <a:p>
              <a:endParaRPr lang="bg-BG"/>
            </a:p>
          </p:txBody>
        </p:sp>
        <p:sp>
          <p:nvSpPr>
            <p:cNvPr id="15" name="Line 15"/>
            <p:cNvSpPr>
              <a:spLocks noChangeShapeType="1"/>
            </p:cNvSpPr>
            <p:nvPr/>
          </p:nvSpPr>
          <p:spPr bwMode="auto">
            <a:xfrm flipH="1">
              <a:off x="6592171" y="1823945"/>
              <a:ext cx="318222" cy="337324"/>
            </a:xfrm>
            <a:prstGeom prst="line">
              <a:avLst/>
            </a:prstGeom>
            <a:noFill/>
            <a:ln w="9525">
              <a:solidFill>
                <a:srgbClr val="000000"/>
              </a:solidFill>
              <a:round/>
              <a:headEnd/>
              <a:tailEnd type="triangle" w="med" len="med"/>
            </a:ln>
          </p:spPr>
          <p:txBody>
            <a:bodyPr/>
            <a:lstStyle/>
            <a:p>
              <a:endParaRPr lang="bg-BG"/>
            </a:p>
          </p:txBody>
        </p:sp>
        <p:sp>
          <p:nvSpPr>
            <p:cNvPr id="16" name="Line 16"/>
            <p:cNvSpPr>
              <a:spLocks noChangeShapeType="1"/>
            </p:cNvSpPr>
            <p:nvPr/>
          </p:nvSpPr>
          <p:spPr bwMode="auto">
            <a:xfrm flipH="1">
              <a:off x="6133672" y="2536926"/>
              <a:ext cx="176645" cy="224883"/>
            </a:xfrm>
            <a:prstGeom prst="line">
              <a:avLst/>
            </a:prstGeom>
            <a:noFill/>
            <a:ln w="9525">
              <a:solidFill>
                <a:srgbClr val="000000"/>
              </a:solidFill>
              <a:round/>
              <a:headEnd/>
              <a:tailEnd type="triangle" w="med" len="med"/>
            </a:ln>
          </p:spPr>
          <p:txBody>
            <a:bodyPr/>
            <a:lstStyle/>
            <a:p>
              <a:endParaRPr lang="bg-BG"/>
            </a:p>
          </p:txBody>
        </p:sp>
        <p:sp>
          <p:nvSpPr>
            <p:cNvPr id="17" name="Line 17"/>
            <p:cNvSpPr>
              <a:spLocks noChangeShapeType="1"/>
            </p:cNvSpPr>
            <p:nvPr/>
          </p:nvSpPr>
          <p:spPr bwMode="auto">
            <a:xfrm flipH="1">
              <a:off x="5708944" y="3174520"/>
              <a:ext cx="176645" cy="263215"/>
            </a:xfrm>
            <a:prstGeom prst="line">
              <a:avLst/>
            </a:prstGeom>
            <a:noFill/>
            <a:ln w="9525">
              <a:solidFill>
                <a:srgbClr val="000000"/>
              </a:solidFill>
              <a:round/>
              <a:headEnd/>
              <a:tailEnd type="triangle" w="med" len="med"/>
            </a:ln>
          </p:spPr>
          <p:txBody>
            <a:bodyPr/>
            <a:lstStyle/>
            <a:p>
              <a:endParaRPr lang="bg-BG"/>
            </a:p>
          </p:txBody>
        </p:sp>
        <p:sp>
          <p:nvSpPr>
            <p:cNvPr id="18" name="Line 18"/>
            <p:cNvSpPr>
              <a:spLocks noChangeShapeType="1"/>
            </p:cNvSpPr>
            <p:nvPr/>
          </p:nvSpPr>
          <p:spPr bwMode="auto">
            <a:xfrm>
              <a:off x="6592171" y="2536926"/>
              <a:ext cx="213014" cy="224883"/>
            </a:xfrm>
            <a:prstGeom prst="line">
              <a:avLst/>
            </a:prstGeom>
            <a:noFill/>
            <a:ln w="9525">
              <a:solidFill>
                <a:srgbClr val="000000"/>
              </a:solidFill>
              <a:round/>
              <a:headEnd/>
              <a:tailEnd type="triangle" w="med" len="med"/>
            </a:ln>
          </p:spPr>
          <p:txBody>
            <a:bodyPr/>
            <a:lstStyle/>
            <a:p>
              <a:endParaRPr lang="bg-BG"/>
            </a:p>
          </p:txBody>
        </p:sp>
        <p:sp>
          <p:nvSpPr>
            <p:cNvPr id="19" name="Line 19"/>
            <p:cNvSpPr>
              <a:spLocks noChangeShapeType="1"/>
            </p:cNvSpPr>
            <p:nvPr/>
          </p:nvSpPr>
          <p:spPr bwMode="auto">
            <a:xfrm>
              <a:off x="7263683" y="1823945"/>
              <a:ext cx="424728" cy="337324"/>
            </a:xfrm>
            <a:prstGeom prst="line">
              <a:avLst/>
            </a:prstGeom>
            <a:noFill/>
            <a:ln w="9525">
              <a:solidFill>
                <a:srgbClr val="000000"/>
              </a:solidFill>
              <a:round/>
              <a:headEnd/>
              <a:tailEnd type="triangle" w="med" len="med"/>
            </a:ln>
          </p:spPr>
          <p:txBody>
            <a:bodyPr/>
            <a:lstStyle/>
            <a:p>
              <a:endParaRPr lang="bg-BG"/>
            </a:p>
          </p:txBody>
        </p:sp>
        <p:sp>
          <p:nvSpPr>
            <p:cNvPr id="20" name="Line 20"/>
            <p:cNvSpPr>
              <a:spLocks noChangeShapeType="1"/>
            </p:cNvSpPr>
            <p:nvPr/>
          </p:nvSpPr>
          <p:spPr bwMode="auto">
            <a:xfrm flipH="1">
              <a:off x="7546836" y="2536926"/>
              <a:ext cx="141576" cy="224883"/>
            </a:xfrm>
            <a:prstGeom prst="line">
              <a:avLst/>
            </a:prstGeom>
            <a:noFill/>
            <a:ln w="9525">
              <a:solidFill>
                <a:srgbClr val="000000"/>
              </a:solidFill>
              <a:round/>
              <a:headEnd/>
              <a:tailEnd type="triangle" w="med" len="med"/>
            </a:ln>
          </p:spPr>
          <p:txBody>
            <a:bodyPr/>
            <a:lstStyle/>
            <a:p>
              <a:endParaRPr lang="bg-BG"/>
            </a:p>
          </p:txBody>
        </p:sp>
        <p:sp>
          <p:nvSpPr>
            <p:cNvPr id="21" name="Line 21"/>
            <p:cNvSpPr>
              <a:spLocks noChangeShapeType="1"/>
            </p:cNvSpPr>
            <p:nvPr/>
          </p:nvSpPr>
          <p:spPr bwMode="auto">
            <a:xfrm flipH="1">
              <a:off x="7228614" y="3174520"/>
              <a:ext cx="141576" cy="338602"/>
            </a:xfrm>
            <a:prstGeom prst="line">
              <a:avLst/>
            </a:prstGeom>
            <a:noFill/>
            <a:ln w="9525">
              <a:solidFill>
                <a:srgbClr val="000000"/>
              </a:solidFill>
              <a:round/>
              <a:headEnd/>
              <a:tailEnd type="triangle" w="med" len="med"/>
            </a:ln>
          </p:spPr>
          <p:txBody>
            <a:bodyPr/>
            <a:lstStyle/>
            <a:p>
              <a:endParaRPr lang="bg-BG"/>
            </a:p>
          </p:txBody>
        </p:sp>
        <p:sp>
          <p:nvSpPr>
            <p:cNvPr id="22" name="Line 22"/>
            <p:cNvSpPr>
              <a:spLocks noChangeShapeType="1"/>
            </p:cNvSpPr>
            <p:nvPr/>
          </p:nvSpPr>
          <p:spPr bwMode="auto">
            <a:xfrm>
              <a:off x="8324855" y="3174520"/>
              <a:ext cx="211715" cy="338602"/>
            </a:xfrm>
            <a:prstGeom prst="line">
              <a:avLst/>
            </a:prstGeom>
            <a:noFill/>
            <a:ln w="9525">
              <a:solidFill>
                <a:srgbClr val="000000"/>
              </a:solidFill>
              <a:round/>
              <a:headEnd/>
              <a:tailEnd type="triangle" w="med" len="med"/>
            </a:ln>
          </p:spPr>
          <p:txBody>
            <a:bodyPr/>
            <a:lstStyle/>
            <a:p>
              <a:endParaRPr lang="bg-BG"/>
            </a:p>
          </p:txBody>
        </p:sp>
        <p:sp>
          <p:nvSpPr>
            <p:cNvPr id="23" name="Line 23"/>
            <p:cNvSpPr>
              <a:spLocks noChangeShapeType="1"/>
            </p:cNvSpPr>
            <p:nvPr/>
          </p:nvSpPr>
          <p:spPr bwMode="auto">
            <a:xfrm>
              <a:off x="7936495" y="2536926"/>
              <a:ext cx="211715" cy="224883"/>
            </a:xfrm>
            <a:prstGeom prst="line">
              <a:avLst/>
            </a:prstGeom>
            <a:noFill/>
            <a:ln w="9525">
              <a:solidFill>
                <a:srgbClr val="000000"/>
              </a:solidFill>
              <a:round/>
              <a:headEnd/>
              <a:tailEnd type="triangle" w="med" len="med"/>
            </a:ln>
          </p:spPr>
          <p:txBody>
            <a:bodyPr/>
            <a:lstStyle/>
            <a:p>
              <a:endParaRPr lang="bg-BG"/>
            </a:p>
          </p:txBody>
        </p:sp>
        <p:sp>
          <p:nvSpPr>
            <p:cNvPr id="24" name="Line 24"/>
            <p:cNvSpPr>
              <a:spLocks noChangeShapeType="1"/>
            </p:cNvSpPr>
            <p:nvPr/>
          </p:nvSpPr>
          <p:spPr bwMode="auto">
            <a:xfrm flipH="1">
              <a:off x="7936495" y="3174520"/>
              <a:ext cx="176645" cy="338602"/>
            </a:xfrm>
            <a:prstGeom prst="line">
              <a:avLst/>
            </a:prstGeom>
            <a:noFill/>
            <a:ln w="9525">
              <a:solidFill>
                <a:srgbClr val="000000"/>
              </a:solidFill>
              <a:round/>
              <a:headEnd/>
              <a:tailEnd type="triangle" w="med" len="med"/>
            </a:ln>
          </p:spPr>
          <p:txBody>
            <a:bodyPr/>
            <a:lstStyle/>
            <a:p>
              <a:endParaRPr lang="bg-BG"/>
            </a:p>
          </p:txBody>
        </p:sp>
        <p:sp>
          <p:nvSpPr>
            <p:cNvPr id="25" name="Text Box 25"/>
            <p:cNvSpPr txBox="1">
              <a:spLocks noChangeArrowheads="1"/>
            </p:cNvSpPr>
            <p:nvPr/>
          </p:nvSpPr>
          <p:spPr bwMode="auto">
            <a:xfrm>
              <a:off x="6946900" y="1447800"/>
              <a:ext cx="381000" cy="457200"/>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26" name="Text Box 26"/>
            <p:cNvSpPr txBox="1">
              <a:spLocks noChangeArrowheads="1"/>
            </p:cNvSpPr>
            <p:nvPr/>
          </p:nvSpPr>
          <p:spPr bwMode="auto">
            <a:xfrm>
              <a:off x="7010400" y="3505200"/>
              <a:ext cx="381000" cy="457200"/>
            </a:xfrm>
            <a:prstGeom prst="rect">
              <a:avLst/>
            </a:prstGeom>
            <a:noFill/>
            <a:ln w="9525">
              <a:noFill/>
              <a:miter lim="800000"/>
              <a:headEnd/>
              <a:tailEnd/>
            </a:ln>
          </p:spPr>
          <p:txBody>
            <a:bodyPr>
              <a:spAutoFit/>
            </a:bodyPr>
            <a:lstStyle/>
            <a:p>
              <a:pPr>
                <a:spcBef>
                  <a:spcPct val="50000"/>
                </a:spcBef>
              </a:pPr>
              <a:r>
                <a:rPr lang="bg-BG" dirty="0"/>
                <a:t>8</a:t>
              </a:r>
              <a:endParaRPr lang="en-US" dirty="0"/>
            </a:p>
          </p:txBody>
        </p:sp>
        <p:sp>
          <p:nvSpPr>
            <p:cNvPr id="27" name="Text Box 27"/>
            <p:cNvSpPr txBox="1">
              <a:spLocks noChangeArrowheads="1"/>
            </p:cNvSpPr>
            <p:nvPr/>
          </p:nvSpPr>
          <p:spPr bwMode="auto">
            <a:xfrm>
              <a:off x="7315200" y="2743200"/>
              <a:ext cx="3810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8" name="Text Box 28"/>
            <p:cNvSpPr txBox="1">
              <a:spLocks noChangeArrowheads="1"/>
            </p:cNvSpPr>
            <p:nvPr/>
          </p:nvSpPr>
          <p:spPr bwMode="auto">
            <a:xfrm>
              <a:off x="8001000" y="2730500"/>
              <a:ext cx="609600" cy="457200"/>
            </a:xfrm>
            <a:prstGeom prst="rect">
              <a:avLst/>
            </a:prstGeom>
            <a:noFill/>
            <a:ln w="9525">
              <a:noFill/>
              <a:miter lim="800000"/>
              <a:headEnd/>
              <a:tailEnd/>
            </a:ln>
          </p:spPr>
          <p:txBody>
            <a:bodyPr>
              <a:spAutoFit/>
            </a:bodyPr>
            <a:lstStyle/>
            <a:p>
              <a:pPr>
                <a:spcBef>
                  <a:spcPct val="50000"/>
                </a:spcBef>
              </a:pPr>
              <a:r>
                <a:rPr lang="bg-BG" dirty="0"/>
                <a:t>1</a:t>
              </a:r>
              <a:r>
                <a:rPr lang="en-US" dirty="0"/>
                <a:t>5</a:t>
              </a:r>
            </a:p>
          </p:txBody>
        </p:sp>
        <p:sp>
          <p:nvSpPr>
            <p:cNvPr id="29" name="Text Box 29"/>
            <p:cNvSpPr txBox="1">
              <a:spLocks noChangeArrowheads="1"/>
            </p:cNvSpPr>
            <p:nvPr/>
          </p:nvSpPr>
          <p:spPr bwMode="auto">
            <a:xfrm>
              <a:off x="8369300" y="3467100"/>
              <a:ext cx="685800" cy="457200"/>
            </a:xfrm>
            <a:prstGeom prst="rect">
              <a:avLst/>
            </a:prstGeom>
            <a:noFill/>
            <a:ln w="9525">
              <a:noFill/>
              <a:miter lim="800000"/>
              <a:headEnd/>
              <a:tailEnd/>
            </a:ln>
          </p:spPr>
          <p:txBody>
            <a:bodyPr>
              <a:spAutoFit/>
            </a:bodyPr>
            <a:lstStyle/>
            <a:p>
              <a:pPr>
                <a:spcBef>
                  <a:spcPct val="50000"/>
                </a:spcBef>
              </a:pPr>
              <a:r>
                <a:rPr lang="bg-BG"/>
                <a:t>2</a:t>
              </a:r>
              <a:r>
                <a:rPr lang="en-US"/>
                <a:t>0</a:t>
              </a:r>
            </a:p>
          </p:txBody>
        </p:sp>
        <p:sp>
          <p:nvSpPr>
            <p:cNvPr id="30" name="Text Box 30"/>
            <p:cNvSpPr txBox="1">
              <a:spLocks noChangeArrowheads="1"/>
            </p:cNvSpPr>
            <p:nvPr/>
          </p:nvSpPr>
          <p:spPr bwMode="auto">
            <a:xfrm>
              <a:off x="7569200" y="2095500"/>
              <a:ext cx="596900" cy="457200"/>
            </a:xfrm>
            <a:prstGeom prst="rect">
              <a:avLst/>
            </a:prstGeom>
            <a:noFill/>
            <a:ln w="9525">
              <a:noFill/>
              <a:miter lim="800000"/>
              <a:headEnd/>
              <a:tailEnd/>
            </a:ln>
          </p:spPr>
          <p:txBody>
            <a:bodyPr>
              <a:spAutoFit/>
            </a:bodyPr>
            <a:lstStyle/>
            <a:p>
              <a:pPr>
                <a:spcBef>
                  <a:spcPct val="50000"/>
                </a:spcBef>
              </a:pPr>
              <a:r>
                <a:rPr lang="bg-BG"/>
                <a:t>1</a:t>
              </a:r>
              <a:r>
                <a:rPr lang="en-US"/>
                <a:t>2</a:t>
              </a:r>
            </a:p>
          </p:txBody>
        </p:sp>
        <p:sp>
          <p:nvSpPr>
            <p:cNvPr id="31" name="Text Box 31"/>
            <p:cNvSpPr txBox="1">
              <a:spLocks noChangeArrowheads="1"/>
            </p:cNvSpPr>
            <p:nvPr/>
          </p:nvSpPr>
          <p:spPr bwMode="auto">
            <a:xfrm>
              <a:off x="6654800" y="2755900"/>
              <a:ext cx="381000" cy="457200"/>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32" name="Text Box 32"/>
            <p:cNvSpPr txBox="1">
              <a:spLocks noChangeArrowheads="1"/>
            </p:cNvSpPr>
            <p:nvPr/>
          </p:nvSpPr>
          <p:spPr bwMode="auto">
            <a:xfrm>
              <a:off x="6261100" y="2108200"/>
              <a:ext cx="3810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33" name="Text Box 33"/>
            <p:cNvSpPr txBox="1">
              <a:spLocks noChangeArrowheads="1"/>
            </p:cNvSpPr>
            <p:nvPr/>
          </p:nvSpPr>
          <p:spPr bwMode="auto">
            <a:xfrm>
              <a:off x="5892800" y="2755900"/>
              <a:ext cx="381000" cy="457200"/>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34" name="Text Box 34"/>
            <p:cNvSpPr txBox="1">
              <a:spLocks noChangeArrowheads="1"/>
            </p:cNvSpPr>
            <p:nvPr/>
          </p:nvSpPr>
          <p:spPr bwMode="auto">
            <a:xfrm>
              <a:off x="5448300" y="3429000"/>
              <a:ext cx="3810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35" name="Text Box 35"/>
            <p:cNvSpPr txBox="1">
              <a:spLocks noChangeArrowheads="1"/>
            </p:cNvSpPr>
            <p:nvPr/>
          </p:nvSpPr>
          <p:spPr bwMode="auto">
            <a:xfrm>
              <a:off x="7683500" y="3479800"/>
              <a:ext cx="533400" cy="457200"/>
            </a:xfrm>
            <a:prstGeom prst="rect">
              <a:avLst/>
            </a:prstGeom>
            <a:noFill/>
            <a:ln w="9525">
              <a:noFill/>
              <a:miter lim="800000"/>
              <a:headEnd/>
              <a:tailEnd/>
            </a:ln>
          </p:spPr>
          <p:txBody>
            <a:bodyPr>
              <a:spAutoFit/>
            </a:bodyPr>
            <a:lstStyle/>
            <a:p>
              <a:pPr>
                <a:spcBef>
                  <a:spcPct val="50000"/>
                </a:spcBef>
              </a:pPr>
              <a:r>
                <a:rPr lang="bg-BG" dirty="0"/>
                <a:t>1</a:t>
              </a:r>
              <a:r>
                <a:rPr lang="en-US" dirty="0"/>
                <a:t>4</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971550" y="476250"/>
            <a:ext cx="8077200" cy="6019800"/>
          </a:xfrm>
        </p:spPr>
        <p:txBody>
          <a:bodyPr>
            <a:normAutofit fontScale="90000"/>
          </a:bodyPr>
          <a:lstStyle/>
          <a:p>
            <a:pPr eaLnBrk="1" fontAlgn="auto" hangingPunct="1">
              <a:spcAft>
                <a:spcPts val="0"/>
              </a:spcAft>
              <a:defRPr/>
            </a:pPr>
            <a:r>
              <a:rPr lang="bg-BG" sz="2400" dirty="0">
                <a:solidFill>
                  <a:schemeClr val="tx1"/>
                </a:solidFill>
              </a:rPr>
              <a:t>Търсене на елемент в двоично дърво</a:t>
            </a:r>
            <a:br>
              <a:rPr lang="bg-BG" sz="2400" dirty="0">
                <a:solidFill>
                  <a:schemeClr val="tx1"/>
                </a:solidFill>
              </a:rPr>
            </a:br>
            <a:r>
              <a:rPr lang="bg-BG" sz="1600" dirty="0">
                <a:solidFill>
                  <a:schemeClr val="tx1"/>
                </a:solidFill>
              </a:rPr>
              <a:t/>
            </a:r>
            <a:br>
              <a:rPr lang="bg-BG" sz="1600" dirty="0">
                <a:solidFill>
                  <a:schemeClr val="tx1"/>
                </a:solidFill>
              </a:rPr>
            </a:br>
            <a:r>
              <a:rPr lang="bg-BG" sz="1600" dirty="0">
                <a:solidFill>
                  <a:schemeClr val="tx1"/>
                </a:solidFill>
              </a:rPr>
              <a:t>	</a:t>
            </a:r>
            <a:r>
              <a:rPr lang="bg-BG" sz="1800" dirty="0">
                <a:solidFill>
                  <a:schemeClr val="tx1"/>
                </a:solidFill>
              </a:rPr>
              <a:t>Двете примерни функции връщат като резултат указател към търсения елемент. Ако елементът не принадлежи на дървото, върнатата стойност е NULL</a:t>
            </a:r>
            <a:br>
              <a:rPr lang="bg-BG" sz="1800" dirty="0">
                <a:solidFill>
                  <a:schemeClr val="tx1"/>
                </a:solidFill>
              </a:rPr>
            </a:br>
            <a:r>
              <a:rPr lang="bg-BG" sz="800" dirty="0">
                <a:solidFill>
                  <a:schemeClr val="tx1"/>
                </a:solidFill>
              </a:rPr>
              <a:t/>
            </a:r>
            <a:br>
              <a:rPr lang="bg-BG" sz="800" dirty="0">
                <a:solidFill>
                  <a:schemeClr val="tx1"/>
                </a:solidFill>
              </a:rPr>
            </a:br>
            <a:r>
              <a:rPr lang="bg-BG" sz="1600" dirty="0">
                <a:solidFill>
                  <a:schemeClr val="tx1"/>
                </a:solidFill>
              </a:rPr>
              <a:t>Итеративно търсене на елемент в подредено двоично дърво </a:t>
            </a:r>
            <a:br>
              <a:rPr lang="bg-BG" sz="1600" dirty="0">
                <a:solidFill>
                  <a:schemeClr val="tx1"/>
                </a:solidFill>
              </a:rPr>
            </a:br>
            <a:r>
              <a:rPr lang="bg-BG" sz="1600" dirty="0">
                <a:solidFill>
                  <a:schemeClr val="tx1"/>
                </a:solidFill>
                <a:latin typeface="Courier New" pitchFamily="49" charset="0"/>
              </a:rPr>
              <a:t>elem *search_iter(elem *t, int k)</a:t>
            </a:r>
            <a:br>
              <a:rPr lang="bg-BG" sz="1600" dirty="0">
                <a:solidFill>
                  <a:schemeClr val="tx1"/>
                </a:solidFill>
                <a:latin typeface="Courier New" pitchFamily="49" charset="0"/>
              </a:rPr>
            </a:br>
            <a:r>
              <a:rPr lang="bg-BG" sz="1600" dirty="0">
                <a:solidFill>
                  <a:schemeClr val="tx1"/>
                </a:solidFill>
                <a:latin typeface="Courier New" pitchFamily="49" charset="0"/>
              </a:rPr>
              <a:t>{</a:t>
            </a:r>
            <a:br>
              <a:rPr lang="bg-BG" sz="1600" dirty="0">
                <a:solidFill>
                  <a:schemeClr val="tx1"/>
                </a:solidFill>
                <a:latin typeface="Courier New" pitchFamily="49" charset="0"/>
              </a:rPr>
            </a:br>
            <a:r>
              <a:rPr lang="bg-BG" sz="1600" dirty="0">
                <a:solidFill>
                  <a:schemeClr val="tx1"/>
                </a:solidFill>
                <a:latin typeface="Courier New" pitchFamily="49" charset="0"/>
              </a:rPr>
              <a:t>  while ((t!=NULL)&amp;&amp;(t-&gt;key!=k))</a:t>
            </a:r>
            <a:br>
              <a:rPr lang="bg-BG" sz="1600" dirty="0">
                <a:solidFill>
                  <a:schemeClr val="tx1"/>
                </a:solidFill>
                <a:latin typeface="Courier New" pitchFamily="49" charset="0"/>
              </a:rPr>
            </a:br>
            <a:r>
              <a:rPr lang="bg-BG" sz="1600" dirty="0">
                <a:solidFill>
                  <a:schemeClr val="tx1"/>
                </a:solidFill>
                <a:latin typeface="Courier New" pitchFamily="49" charset="0"/>
              </a:rPr>
              <a:t>   if (t-&gt;key&lt;k)</a:t>
            </a:r>
            <a:br>
              <a:rPr lang="bg-BG" sz="1600" dirty="0">
                <a:solidFill>
                  <a:schemeClr val="tx1"/>
                </a:solidFill>
                <a:latin typeface="Courier New" pitchFamily="49" charset="0"/>
              </a:rPr>
            </a:br>
            <a:r>
              <a:rPr lang="bg-BG" sz="1600" dirty="0">
                <a:solidFill>
                  <a:schemeClr val="tx1"/>
                </a:solidFill>
                <a:latin typeface="Courier New" pitchFamily="49" charset="0"/>
              </a:rPr>
              <a:t>       t=t-&gt;right;</a:t>
            </a:r>
            <a:br>
              <a:rPr lang="bg-BG" sz="1600" dirty="0">
                <a:solidFill>
                  <a:schemeClr val="tx1"/>
                </a:solidFill>
                <a:latin typeface="Courier New" pitchFamily="49" charset="0"/>
              </a:rPr>
            </a:br>
            <a:r>
              <a:rPr lang="bg-BG" sz="1600" dirty="0">
                <a:solidFill>
                  <a:schemeClr val="tx1"/>
                </a:solidFill>
                <a:latin typeface="Courier New" pitchFamily="49" charset="0"/>
              </a:rPr>
              <a:t>     else</a:t>
            </a:r>
            <a:br>
              <a:rPr lang="bg-BG" sz="1600" dirty="0">
                <a:solidFill>
                  <a:schemeClr val="tx1"/>
                </a:solidFill>
                <a:latin typeface="Courier New" pitchFamily="49" charset="0"/>
              </a:rPr>
            </a:br>
            <a:r>
              <a:rPr lang="bg-BG" sz="1600" dirty="0">
                <a:solidFill>
                  <a:schemeClr val="tx1"/>
                </a:solidFill>
                <a:latin typeface="Courier New" pitchFamily="49" charset="0"/>
              </a:rPr>
              <a:t>       t=t-&gt;left;</a:t>
            </a:r>
            <a:br>
              <a:rPr lang="bg-BG" sz="1600" dirty="0">
                <a:solidFill>
                  <a:schemeClr val="tx1"/>
                </a:solidFill>
                <a:latin typeface="Courier New" pitchFamily="49" charset="0"/>
              </a:rPr>
            </a:br>
            <a:r>
              <a:rPr lang="bg-BG" sz="1600" dirty="0">
                <a:solidFill>
                  <a:schemeClr val="tx1"/>
                </a:solidFill>
                <a:latin typeface="Courier New" pitchFamily="49" charset="0"/>
              </a:rPr>
              <a:t>  return t;</a:t>
            </a:r>
            <a:br>
              <a:rPr lang="bg-BG" sz="1600" dirty="0">
                <a:solidFill>
                  <a:schemeClr val="tx1"/>
                </a:solidFill>
                <a:latin typeface="Courier New" pitchFamily="49" charset="0"/>
              </a:rPr>
            </a:br>
            <a:r>
              <a:rPr lang="bg-BG" sz="1600" dirty="0">
                <a:solidFill>
                  <a:schemeClr val="tx1"/>
                </a:solidFill>
                <a:latin typeface="Courier New" pitchFamily="49" charset="0"/>
              </a:rPr>
              <a:t>}</a:t>
            </a:r>
            <a:br>
              <a:rPr lang="bg-BG" sz="1600" dirty="0">
                <a:solidFill>
                  <a:schemeClr val="tx1"/>
                </a:solidFill>
                <a:latin typeface="Courier New" pitchFamily="49" charset="0"/>
              </a:rPr>
            </a:br>
            <a:r>
              <a:rPr lang="bg-BG" sz="1600" dirty="0">
                <a:solidFill>
                  <a:schemeClr val="tx1"/>
                </a:solidFill>
                <a:latin typeface="Courier New" pitchFamily="49" charset="0"/>
              </a:rPr>
              <a:t/>
            </a:r>
            <a:br>
              <a:rPr lang="bg-BG" sz="1600" dirty="0">
                <a:solidFill>
                  <a:schemeClr val="tx1"/>
                </a:solidFill>
                <a:latin typeface="Courier New" pitchFamily="49" charset="0"/>
              </a:rPr>
            </a:br>
            <a:r>
              <a:rPr lang="bg-BG" sz="1600" dirty="0">
                <a:solidFill>
                  <a:schemeClr val="tx1"/>
                </a:solidFill>
              </a:rPr>
              <a:t>Рекурсивно търсене на елемент в подредено двоично дърво: </a:t>
            </a:r>
            <a:br>
              <a:rPr lang="bg-BG" sz="1600" dirty="0">
                <a:solidFill>
                  <a:schemeClr val="tx1"/>
                </a:solidFill>
              </a:rPr>
            </a:br>
            <a:r>
              <a:rPr lang="en-US" sz="1600" dirty="0" err="1">
                <a:solidFill>
                  <a:schemeClr val="tx1"/>
                </a:solidFill>
                <a:latin typeface="Courier New" pitchFamily="49" charset="0"/>
              </a:rPr>
              <a:t>elem</a:t>
            </a:r>
            <a:r>
              <a:rPr lang="en-US" sz="1600" dirty="0">
                <a:solidFill>
                  <a:schemeClr val="tx1"/>
                </a:solidFill>
                <a:latin typeface="Courier New" pitchFamily="49" charset="0"/>
              </a:rPr>
              <a:t> *</a:t>
            </a:r>
            <a:r>
              <a:rPr lang="en-US" sz="1600" dirty="0" err="1">
                <a:solidFill>
                  <a:schemeClr val="tx1"/>
                </a:solidFill>
                <a:latin typeface="Courier New" pitchFamily="49" charset="0"/>
              </a:rPr>
              <a:t>search_rec</a:t>
            </a:r>
            <a:r>
              <a:rPr lang="en-US" sz="1600" dirty="0">
                <a:solidFill>
                  <a:schemeClr val="tx1"/>
                </a:solidFill>
                <a:latin typeface="Courier New" pitchFamily="49" charset="0"/>
              </a:rPr>
              <a:t>(</a:t>
            </a:r>
            <a:r>
              <a:rPr lang="en-US" sz="1600" dirty="0" err="1">
                <a:solidFill>
                  <a:schemeClr val="tx1"/>
                </a:solidFill>
                <a:latin typeface="Courier New" pitchFamily="49" charset="0"/>
              </a:rPr>
              <a:t>elem</a:t>
            </a:r>
            <a:r>
              <a:rPr lang="en-US" sz="1600" dirty="0">
                <a:solidFill>
                  <a:schemeClr val="tx1"/>
                </a:solidFill>
                <a:latin typeface="Courier New" pitchFamily="49" charset="0"/>
              </a:rPr>
              <a:t> *t, </a:t>
            </a:r>
            <a:r>
              <a:rPr lang="en-US" sz="1600" dirty="0" err="1">
                <a:solidFill>
                  <a:schemeClr val="tx1"/>
                </a:solidFill>
                <a:latin typeface="Courier New" pitchFamily="49" charset="0"/>
              </a:rPr>
              <a:t>int</a:t>
            </a:r>
            <a:r>
              <a:rPr lang="en-US" sz="1600" dirty="0">
                <a:solidFill>
                  <a:schemeClr val="tx1"/>
                </a:solidFill>
                <a:latin typeface="Courier New" pitchFamily="49" charset="0"/>
              </a:rPr>
              <a:t> k)</a:t>
            </a:r>
            <a:br>
              <a:rPr lang="en-US" sz="1600" dirty="0">
                <a:solidFill>
                  <a:schemeClr val="tx1"/>
                </a:solidFill>
                <a:latin typeface="Courier New" pitchFamily="49" charset="0"/>
              </a:rPr>
            </a:br>
            <a:r>
              <a:rPr lang="en-US" sz="1600" dirty="0">
                <a:solidFill>
                  <a:schemeClr val="tx1"/>
                </a:solidFill>
                <a:latin typeface="Courier New" pitchFamily="49" charset="0"/>
              </a:rPr>
              <a:t>{</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if (t!=NULL)</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if (t-&gt;key&lt;k)</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t=</a:t>
            </a:r>
            <a:r>
              <a:rPr lang="en-US" sz="1600" dirty="0" err="1">
                <a:solidFill>
                  <a:schemeClr val="tx1"/>
                </a:solidFill>
                <a:latin typeface="Courier New" pitchFamily="49" charset="0"/>
              </a:rPr>
              <a:t>search_rec</a:t>
            </a:r>
            <a:r>
              <a:rPr lang="en-US" sz="1600" dirty="0">
                <a:solidFill>
                  <a:schemeClr val="tx1"/>
                </a:solidFill>
                <a:latin typeface="Courier New" pitchFamily="49" charset="0"/>
              </a:rPr>
              <a:t>(t-&gt;right, k);</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else</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if(t-&gt;key&gt;k)</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	  t=</a:t>
            </a:r>
            <a:r>
              <a:rPr lang="en-US" sz="1600" dirty="0" err="1">
                <a:solidFill>
                  <a:schemeClr val="tx1"/>
                </a:solidFill>
                <a:latin typeface="Courier New" pitchFamily="49" charset="0"/>
              </a:rPr>
              <a:t>search_rec</a:t>
            </a:r>
            <a:r>
              <a:rPr lang="en-US" sz="1600" dirty="0">
                <a:solidFill>
                  <a:schemeClr val="tx1"/>
                </a:solidFill>
                <a:latin typeface="Courier New" pitchFamily="49" charset="0"/>
              </a:rPr>
              <a:t>(t-&gt;left, k);</a:t>
            </a:r>
            <a:br>
              <a:rPr lang="en-US" sz="1600" dirty="0">
                <a:solidFill>
                  <a:schemeClr val="tx1"/>
                </a:solidFill>
                <a:latin typeface="Courier New" pitchFamily="49" charset="0"/>
              </a:rPr>
            </a:br>
            <a:r>
              <a:rPr lang="en-US" sz="1600" dirty="0">
                <a:solidFill>
                  <a:schemeClr val="tx1"/>
                </a:solidFill>
                <a:latin typeface="Courier New" pitchFamily="49" charset="0"/>
              </a:rPr>
              <a:t>  return t;</a:t>
            </a:r>
            <a:r>
              <a:rPr lang="bg-BG" sz="1600" dirty="0">
                <a:solidFill>
                  <a:schemeClr val="tx1"/>
                </a:solidFill>
                <a:latin typeface="Courier New" pitchFamily="49" charset="0"/>
              </a:rPr>
              <a:t/>
            </a:r>
            <a:br>
              <a:rPr lang="bg-BG" sz="1600" dirty="0">
                <a:solidFill>
                  <a:schemeClr val="tx1"/>
                </a:solidFill>
                <a:latin typeface="Courier New" pitchFamily="49" charset="0"/>
              </a:rPr>
            </a:br>
            <a:r>
              <a:rPr lang="en-US" sz="1600" dirty="0">
                <a:solidFill>
                  <a:schemeClr val="tx1"/>
                </a:solidFill>
                <a:latin typeface="Courier New" pitchFamily="49" charset="0"/>
              </a:rPr>
              <a:t>}</a:t>
            </a:r>
          </a:p>
        </p:txBody>
      </p:sp>
      <p:grpSp>
        <p:nvGrpSpPr>
          <p:cNvPr id="25603" name="Group 39"/>
          <p:cNvGrpSpPr>
            <a:grpSpLocks/>
          </p:cNvGrpSpPr>
          <p:nvPr/>
        </p:nvGrpSpPr>
        <p:grpSpPr bwMode="auto">
          <a:xfrm>
            <a:off x="5430838" y="1625600"/>
            <a:ext cx="3663950" cy="2514600"/>
            <a:chOff x="5390722" y="1447800"/>
            <a:chExt cx="3664378" cy="2515088"/>
          </a:xfrm>
        </p:grpSpPr>
        <p:sp>
          <p:nvSpPr>
            <p:cNvPr id="25604" name="Oval 4"/>
            <p:cNvSpPr>
              <a:spLocks noChangeArrowheads="1"/>
            </p:cNvSpPr>
            <p:nvPr/>
          </p:nvSpPr>
          <p:spPr bwMode="auto">
            <a:xfrm>
              <a:off x="6875323" y="1448288"/>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05" name="Oval 5"/>
            <p:cNvSpPr>
              <a:spLocks noChangeArrowheads="1"/>
            </p:cNvSpPr>
            <p:nvPr/>
          </p:nvSpPr>
          <p:spPr bwMode="auto">
            <a:xfrm>
              <a:off x="6203811" y="2124215"/>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06" name="Oval 6"/>
            <p:cNvSpPr>
              <a:spLocks noChangeArrowheads="1"/>
            </p:cNvSpPr>
            <p:nvPr/>
          </p:nvSpPr>
          <p:spPr bwMode="auto">
            <a:xfrm>
              <a:off x="7581905" y="2124215"/>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07" name="Oval 7"/>
            <p:cNvSpPr>
              <a:spLocks noChangeArrowheads="1"/>
            </p:cNvSpPr>
            <p:nvPr/>
          </p:nvSpPr>
          <p:spPr bwMode="auto">
            <a:xfrm>
              <a:off x="7228614" y="275414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08" name="Oval 8"/>
            <p:cNvSpPr>
              <a:spLocks noChangeArrowheads="1"/>
            </p:cNvSpPr>
            <p:nvPr/>
          </p:nvSpPr>
          <p:spPr bwMode="auto">
            <a:xfrm>
              <a:off x="6946761" y="3506733"/>
              <a:ext cx="458499" cy="449766"/>
            </a:xfrm>
            <a:prstGeom prst="ellipse">
              <a:avLst/>
            </a:prstGeom>
            <a:solidFill>
              <a:srgbClr val="FFFFFF"/>
            </a:solidFill>
            <a:ln w="9525">
              <a:solidFill>
                <a:srgbClr val="000000"/>
              </a:solidFill>
              <a:round/>
              <a:headEnd/>
              <a:tailEnd/>
            </a:ln>
          </p:spPr>
          <p:txBody>
            <a:bodyPr/>
            <a:lstStyle/>
            <a:p>
              <a:endParaRPr lang="bg-BG"/>
            </a:p>
          </p:txBody>
        </p:sp>
        <p:sp>
          <p:nvSpPr>
            <p:cNvPr id="25609" name="Oval 9"/>
            <p:cNvSpPr>
              <a:spLocks noChangeArrowheads="1"/>
            </p:cNvSpPr>
            <p:nvPr/>
          </p:nvSpPr>
          <p:spPr bwMode="auto">
            <a:xfrm>
              <a:off x="8006633" y="2743920"/>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25610" name="Oval 10"/>
            <p:cNvSpPr>
              <a:spLocks noChangeArrowheads="1"/>
            </p:cNvSpPr>
            <p:nvPr/>
          </p:nvSpPr>
          <p:spPr bwMode="auto">
            <a:xfrm>
              <a:off x="7688412" y="351312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11" name="Oval 11"/>
            <p:cNvSpPr>
              <a:spLocks noChangeArrowheads="1"/>
            </p:cNvSpPr>
            <p:nvPr/>
          </p:nvSpPr>
          <p:spPr bwMode="auto">
            <a:xfrm>
              <a:off x="8359924" y="3513122"/>
              <a:ext cx="459798" cy="449766"/>
            </a:xfrm>
            <a:prstGeom prst="ellipse">
              <a:avLst/>
            </a:prstGeom>
            <a:solidFill>
              <a:srgbClr val="FFFFFF"/>
            </a:solidFill>
            <a:ln w="9525">
              <a:solidFill>
                <a:srgbClr val="000000"/>
              </a:solidFill>
              <a:round/>
              <a:headEnd/>
              <a:tailEnd/>
            </a:ln>
          </p:spPr>
          <p:txBody>
            <a:bodyPr/>
            <a:lstStyle/>
            <a:p>
              <a:endParaRPr lang="bg-BG"/>
            </a:p>
          </p:txBody>
        </p:sp>
        <p:sp>
          <p:nvSpPr>
            <p:cNvPr id="25612" name="Oval 12"/>
            <p:cNvSpPr>
              <a:spLocks noChangeArrowheads="1"/>
            </p:cNvSpPr>
            <p:nvPr/>
          </p:nvSpPr>
          <p:spPr bwMode="auto">
            <a:xfrm>
              <a:off x="5390722" y="3439013"/>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25613" name="Oval 13"/>
            <p:cNvSpPr>
              <a:spLocks noChangeArrowheads="1"/>
            </p:cNvSpPr>
            <p:nvPr/>
          </p:nvSpPr>
          <p:spPr bwMode="auto">
            <a:xfrm>
              <a:off x="6592171" y="2761809"/>
              <a:ext cx="459798" cy="451044"/>
            </a:xfrm>
            <a:prstGeom prst="ellipse">
              <a:avLst/>
            </a:prstGeom>
            <a:solidFill>
              <a:srgbClr val="FFFFFF"/>
            </a:solidFill>
            <a:ln w="9525">
              <a:solidFill>
                <a:srgbClr val="000000"/>
              </a:solidFill>
              <a:round/>
              <a:headEnd/>
              <a:tailEnd/>
            </a:ln>
          </p:spPr>
          <p:txBody>
            <a:bodyPr/>
            <a:lstStyle/>
            <a:p>
              <a:endParaRPr lang="bg-BG"/>
            </a:p>
          </p:txBody>
        </p:sp>
        <p:sp>
          <p:nvSpPr>
            <p:cNvPr id="25614" name="Oval 14"/>
            <p:cNvSpPr>
              <a:spLocks noChangeArrowheads="1"/>
            </p:cNvSpPr>
            <p:nvPr/>
          </p:nvSpPr>
          <p:spPr bwMode="auto">
            <a:xfrm>
              <a:off x="5815450" y="2761809"/>
              <a:ext cx="458499" cy="451044"/>
            </a:xfrm>
            <a:prstGeom prst="ellipse">
              <a:avLst/>
            </a:prstGeom>
            <a:solidFill>
              <a:srgbClr val="FFFFFF"/>
            </a:solidFill>
            <a:ln w="9525">
              <a:solidFill>
                <a:srgbClr val="000000"/>
              </a:solidFill>
              <a:round/>
              <a:headEnd/>
              <a:tailEnd/>
            </a:ln>
          </p:spPr>
          <p:txBody>
            <a:bodyPr/>
            <a:lstStyle/>
            <a:p>
              <a:endParaRPr lang="bg-BG"/>
            </a:p>
          </p:txBody>
        </p:sp>
        <p:sp>
          <p:nvSpPr>
            <p:cNvPr id="25615" name="Line 15"/>
            <p:cNvSpPr>
              <a:spLocks noChangeShapeType="1"/>
            </p:cNvSpPr>
            <p:nvPr/>
          </p:nvSpPr>
          <p:spPr bwMode="auto">
            <a:xfrm flipH="1">
              <a:off x="6592171" y="1823945"/>
              <a:ext cx="318222" cy="337324"/>
            </a:xfrm>
            <a:prstGeom prst="line">
              <a:avLst/>
            </a:prstGeom>
            <a:noFill/>
            <a:ln w="9525">
              <a:solidFill>
                <a:srgbClr val="000000"/>
              </a:solidFill>
              <a:round/>
              <a:headEnd/>
              <a:tailEnd type="triangle" w="med" len="med"/>
            </a:ln>
          </p:spPr>
          <p:txBody>
            <a:bodyPr/>
            <a:lstStyle/>
            <a:p>
              <a:endParaRPr lang="bg-BG"/>
            </a:p>
          </p:txBody>
        </p:sp>
        <p:sp>
          <p:nvSpPr>
            <p:cNvPr id="25616" name="Line 16"/>
            <p:cNvSpPr>
              <a:spLocks noChangeShapeType="1"/>
            </p:cNvSpPr>
            <p:nvPr/>
          </p:nvSpPr>
          <p:spPr bwMode="auto">
            <a:xfrm flipH="1">
              <a:off x="6133672" y="2536926"/>
              <a:ext cx="176645" cy="224883"/>
            </a:xfrm>
            <a:prstGeom prst="line">
              <a:avLst/>
            </a:prstGeom>
            <a:noFill/>
            <a:ln w="9525">
              <a:solidFill>
                <a:srgbClr val="000000"/>
              </a:solidFill>
              <a:round/>
              <a:headEnd/>
              <a:tailEnd type="triangle" w="med" len="med"/>
            </a:ln>
          </p:spPr>
          <p:txBody>
            <a:bodyPr/>
            <a:lstStyle/>
            <a:p>
              <a:endParaRPr lang="bg-BG"/>
            </a:p>
          </p:txBody>
        </p:sp>
        <p:sp>
          <p:nvSpPr>
            <p:cNvPr id="25617" name="Line 17"/>
            <p:cNvSpPr>
              <a:spLocks noChangeShapeType="1"/>
            </p:cNvSpPr>
            <p:nvPr/>
          </p:nvSpPr>
          <p:spPr bwMode="auto">
            <a:xfrm flipH="1">
              <a:off x="5708944" y="3174520"/>
              <a:ext cx="176645" cy="263215"/>
            </a:xfrm>
            <a:prstGeom prst="line">
              <a:avLst/>
            </a:prstGeom>
            <a:noFill/>
            <a:ln w="9525">
              <a:solidFill>
                <a:srgbClr val="000000"/>
              </a:solidFill>
              <a:round/>
              <a:headEnd/>
              <a:tailEnd type="triangle" w="med" len="med"/>
            </a:ln>
          </p:spPr>
          <p:txBody>
            <a:bodyPr/>
            <a:lstStyle/>
            <a:p>
              <a:endParaRPr lang="bg-BG"/>
            </a:p>
          </p:txBody>
        </p:sp>
        <p:sp>
          <p:nvSpPr>
            <p:cNvPr id="25618" name="Line 18"/>
            <p:cNvSpPr>
              <a:spLocks noChangeShapeType="1"/>
            </p:cNvSpPr>
            <p:nvPr/>
          </p:nvSpPr>
          <p:spPr bwMode="auto">
            <a:xfrm>
              <a:off x="6592171" y="2536926"/>
              <a:ext cx="213014" cy="224883"/>
            </a:xfrm>
            <a:prstGeom prst="line">
              <a:avLst/>
            </a:prstGeom>
            <a:noFill/>
            <a:ln w="9525">
              <a:solidFill>
                <a:srgbClr val="000000"/>
              </a:solidFill>
              <a:round/>
              <a:headEnd/>
              <a:tailEnd type="triangle" w="med" len="med"/>
            </a:ln>
          </p:spPr>
          <p:txBody>
            <a:bodyPr/>
            <a:lstStyle/>
            <a:p>
              <a:endParaRPr lang="bg-BG"/>
            </a:p>
          </p:txBody>
        </p:sp>
        <p:sp>
          <p:nvSpPr>
            <p:cNvPr id="25619" name="Line 19"/>
            <p:cNvSpPr>
              <a:spLocks noChangeShapeType="1"/>
            </p:cNvSpPr>
            <p:nvPr/>
          </p:nvSpPr>
          <p:spPr bwMode="auto">
            <a:xfrm>
              <a:off x="7263683" y="1823945"/>
              <a:ext cx="424728" cy="337324"/>
            </a:xfrm>
            <a:prstGeom prst="line">
              <a:avLst/>
            </a:prstGeom>
            <a:noFill/>
            <a:ln w="9525">
              <a:solidFill>
                <a:srgbClr val="000000"/>
              </a:solidFill>
              <a:round/>
              <a:headEnd/>
              <a:tailEnd type="triangle" w="med" len="med"/>
            </a:ln>
          </p:spPr>
          <p:txBody>
            <a:bodyPr/>
            <a:lstStyle/>
            <a:p>
              <a:endParaRPr lang="bg-BG"/>
            </a:p>
          </p:txBody>
        </p:sp>
        <p:sp>
          <p:nvSpPr>
            <p:cNvPr id="25620" name="Line 20"/>
            <p:cNvSpPr>
              <a:spLocks noChangeShapeType="1"/>
            </p:cNvSpPr>
            <p:nvPr/>
          </p:nvSpPr>
          <p:spPr bwMode="auto">
            <a:xfrm flipH="1">
              <a:off x="7546836" y="2536926"/>
              <a:ext cx="141576" cy="224883"/>
            </a:xfrm>
            <a:prstGeom prst="line">
              <a:avLst/>
            </a:prstGeom>
            <a:noFill/>
            <a:ln w="9525">
              <a:solidFill>
                <a:srgbClr val="000000"/>
              </a:solidFill>
              <a:round/>
              <a:headEnd/>
              <a:tailEnd type="triangle" w="med" len="med"/>
            </a:ln>
          </p:spPr>
          <p:txBody>
            <a:bodyPr/>
            <a:lstStyle/>
            <a:p>
              <a:endParaRPr lang="bg-BG"/>
            </a:p>
          </p:txBody>
        </p:sp>
        <p:sp>
          <p:nvSpPr>
            <p:cNvPr id="25621" name="Line 21"/>
            <p:cNvSpPr>
              <a:spLocks noChangeShapeType="1"/>
            </p:cNvSpPr>
            <p:nvPr/>
          </p:nvSpPr>
          <p:spPr bwMode="auto">
            <a:xfrm flipH="1">
              <a:off x="7228614" y="3174520"/>
              <a:ext cx="141576" cy="338602"/>
            </a:xfrm>
            <a:prstGeom prst="line">
              <a:avLst/>
            </a:prstGeom>
            <a:noFill/>
            <a:ln w="9525">
              <a:solidFill>
                <a:srgbClr val="000000"/>
              </a:solidFill>
              <a:round/>
              <a:headEnd/>
              <a:tailEnd type="triangle" w="med" len="med"/>
            </a:ln>
          </p:spPr>
          <p:txBody>
            <a:bodyPr/>
            <a:lstStyle/>
            <a:p>
              <a:endParaRPr lang="bg-BG"/>
            </a:p>
          </p:txBody>
        </p:sp>
        <p:sp>
          <p:nvSpPr>
            <p:cNvPr id="25622" name="Line 22"/>
            <p:cNvSpPr>
              <a:spLocks noChangeShapeType="1"/>
            </p:cNvSpPr>
            <p:nvPr/>
          </p:nvSpPr>
          <p:spPr bwMode="auto">
            <a:xfrm>
              <a:off x="8324855" y="3174520"/>
              <a:ext cx="211715" cy="338602"/>
            </a:xfrm>
            <a:prstGeom prst="line">
              <a:avLst/>
            </a:prstGeom>
            <a:noFill/>
            <a:ln w="9525">
              <a:solidFill>
                <a:srgbClr val="000000"/>
              </a:solidFill>
              <a:round/>
              <a:headEnd/>
              <a:tailEnd type="triangle" w="med" len="med"/>
            </a:ln>
          </p:spPr>
          <p:txBody>
            <a:bodyPr/>
            <a:lstStyle/>
            <a:p>
              <a:endParaRPr lang="bg-BG"/>
            </a:p>
          </p:txBody>
        </p:sp>
        <p:sp>
          <p:nvSpPr>
            <p:cNvPr id="25623" name="Line 23"/>
            <p:cNvSpPr>
              <a:spLocks noChangeShapeType="1"/>
            </p:cNvSpPr>
            <p:nvPr/>
          </p:nvSpPr>
          <p:spPr bwMode="auto">
            <a:xfrm>
              <a:off x="7936495" y="2536926"/>
              <a:ext cx="211715" cy="224883"/>
            </a:xfrm>
            <a:prstGeom prst="line">
              <a:avLst/>
            </a:prstGeom>
            <a:noFill/>
            <a:ln w="9525">
              <a:solidFill>
                <a:srgbClr val="000000"/>
              </a:solidFill>
              <a:round/>
              <a:headEnd/>
              <a:tailEnd type="triangle" w="med" len="med"/>
            </a:ln>
          </p:spPr>
          <p:txBody>
            <a:bodyPr/>
            <a:lstStyle/>
            <a:p>
              <a:endParaRPr lang="bg-BG"/>
            </a:p>
          </p:txBody>
        </p:sp>
        <p:sp>
          <p:nvSpPr>
            <p:cNvPr id="25624" name="Line 24"/>
            <p:cNvSpPr>
              <a:spLocks noChangeShapeType="1"/>
            </p:cNvSpPr>
            <p:nvPr/>
          </p:nvSpPr>
          <p:spPr bwMode="auto">
            <a:xfrm flipH="1">
              <a:off x="7936495" y="3174520"/>
              <a:ext cx="176645" cy="338602"/>
            </a:xfrm>
            <a:prstGeom prst="line">
              <a:avLst/>
            </a:prstGeom>
            <a:noFill/>
            <a:ln w="9525">
              <a:solidFill>
                <a:srgbClr val="000000"/>
              </a:solidFill>
              <a:round/>
              <a:headEnd/>
              <a:tailEnd type="triangle" w="med" len="med"/>
            </a:ln>
          </p:spPr>
          <p:txBody>
            <a:bodyPr/>
            <a:lstStyle/>
            <a:p>
              <a:endParaRPr lang="bg-BG"/>
            </a:p>
          </p:txBody>
        </p:sp>
        <p:sp>
          <p:nvSpPr>
            <p:cNvPr id="25625" name="Text Box 25"/>
            <p:cNvSpPr txBox="1">
              <a:spLocks noChangeArrowheads="1"/>
            </p:cNvSpPr>
            <p:nvPr/>
          </p:nvSpPr>
          <p:spPr bwMode="auto">
            <a:xfrm>
              <a:off x="6946900" y="1447800"/>
              <a:ext cx="381000" cy="457200"/>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25626" name="Text Box 26"/>
            <p:cNvSpPr txBox="1">
              <a:spLocks noChangeArrowheads="1"/>
            </p:cNvSpPr>
            <p:nvPr/>
          </p:nvSpPr>
          <p:spPr bwMode="auto">
            <a:xfrm>
              <a:off x="7010400" y="3505200"/>
              <a:ext cx="381000" cy="457200"/>
            </a:xfrm>
            <a:prstGeom prst="rect">
              <a:avLst/>
            </a:prstGeom>
            <a:noFill/>
            <a:ln w="9525">
              <a:noFill/>
              <a:miter lim="800000"/>
              <a:headEnd/>
              <a:tailEnd/>
            </a:ln>
          </p:spPr>
          <p:txBody>
            <a:bodyPr>
              <a:spAutoFit/>
            </a:bodyPr>
            <a:lstStyle/>
            <a:p>
              <a:pPr>
                <a:spcBef>
                  <a:spcPct val="50000"/>
                </a:spcBef>
              </a:pPr>
              <a:r>
                <a:rPr lang="bg-BG" dirty="0"/>
                <a:t>8</a:t>
              </a:r>
              <a:endParaRPr lang="en-US" dirty="0"/>
            </a:p>
          </p:txBody>
        </p:sp>
        <p:sp>
          <p:nvSpPr>
            <p:cNvPr id="25627" name="Text Box 27"/>
            <p:cNvSpPr txBox="1">
              <a:spLocks noChangeArrowheads="1"/>
            </p:cNvSpPr>
            <p:nvPr/>
          </p:nvSpPr>
          <p:spPr bwMode="auto">
            <a:xfrm>
              <a:off x="7315200" y="2743200"/>
              <a:ext cx="3810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5628" name="Text Box 28"/>
            <p:cNvSpPr txBox="1">
              <a:spLocks noChangeArrowheads="1"/>
            </p:cNvSpPr>
            <p:nvPr/>
          </p:nvSpPr>
          <p:spPr bwMode="auto">
            <a:xfrm>
              <a:off x="8001000" y="2730500"/>
              <a:ext cx="609600" cy="457200"/>
            </a:xfrm>
            <a:prstGeom prst="rect">
              <a:avLst/>
            </a:prstGeom>
            <a:noFill/>
            <a:ln w="9525">
              <a:noFill/>
              <a:miter lim="800000"/>
              <a:headEnd/>
              <a:tailEnd/>
            </a:ln>
          </p:spPr>
          <p:txBody>
            <a:bodyPr>
              <a:spAutoFit/>
            </a:bodyPr>
            <a:lstStyle/>
            <a:p>
              <a:pPr>
                <a:spcBef>
                  <a:spcPct val="50000"/>
                </a:spcBef>
              </a:pPr>
              <a:r>
                <a:rPr lang="bg-BG"/>
                <a:t>1</a:t>
              </a:r>
              <a:r>
                <a:rPr lang="en-US"/>
                <a:t>5</a:t>
              </a:r>
            </a:p>
          </p:txBody>
        </p:sp>
        <p:sp>
          <p:nvSpPr>
            <p:cNvPr id="25629" name="Text Box 29"/>
            <p:cNvSpPr txBox="1">
              <a:spLocks noChangeArrowheads="1"/>
            </p:cNvSpPr>
            <p:nvPr/>
          </p:nvSpPr>
          <p:spPr bwMode="auto">
            <a:xfrm>
              <a:off x="8369300" y="3467100"/>
              <a:ext cx="685800" cy="457200"/>
            </a:xfrm>
            <a:prstGeom prst="rect">
              <a:avLst/>
            </a:prstGeom>
            <a:noFill/>
            <a:ln w="9525">
              <a:noFill/>
              <a:miter lim="800000"/>
              <a:headEnd/>
              <a:tailEnd/>
            </a:ln>
          </p:spPr>
          <p:txBody>
            <a:bodyPr>
              <a:spAutoFit/>
            </a:bodyPr>
            <a:lstStyle/>
            <a:p>
              <a:pPr>
                <a:spcBef>
                  <a:spcPct val="50000"/>
                </a:spcBef>
              </a:pPr>
              <a:r>
                <a:rPr lang="bg-BG"/>
                <a:t>2</a:t>
              </a:r>
              <a:r>
                <a:rPr lang="en-US"/>
                <a:t>0</a:t>
              </a:r>
            </a:p>
          </p:txBody>
        </p:sp>
        <p:sp>
          <p:nvSpPr>
            <p:cNvPr id="25630" name="Text Box 30"/>
            <p:cNvSpPr txBox="1">
              <a:spLocks noChangeArrowheads="1"/>
            </p:cNvSpPr>
            <p:nvPr/>
          </p:nvSpPr>
          <p:spPr bwMode="auto">
            <a:xfrm>
              <a:off x="7569200" y="2095500"/>
              <a:ext cx="596900" cy="457200"/>
            </a:xfrm>
            <a:prstGeom prst="rect">
              <a:avLst/>
            </a:prstGeom>
            <a:noFill/>
            <a:ln w="9525">
              <a:noFill/>
              <a:miter lim="800000"/>
              <a:headEnd/>
              <a:tailEnd/>
            </a:ln>
          </p:spPr>
          <p:txBody>
            <a:bodyPr>
              <a:spAutoFit/>
            </a:bodyPr>
            <a:lstStyle/>
            <a:p>
              <a:pPr>
                <a:spcBef>
                  <a:spcPct val="50000"/>
                </a:spcBef>
              </a:pPr>
              <a:r>
                <a:rPr lang="bg-BG"/>
                <a:t>1</a:t>
              </a:r>
              <a:r>
                <a:rPr lang="en-US"/>
                <a:t>2</a:t>
              </a:r>
            </a:p>
          </p:txBody>
        </p:sp>
        <p:sp>
          <p:nvSpPr>
            <p:cNvPr id="25631" name="Text Box 31"/>
            <p:cNvSpPr txBox="1">
              <a:spLocks noChangeArrowheads="1"/>
            </p:cNvSpPr>
            <p:nvPr/>
          </p:nvSpPr>
          <p:spPr bwMode="auto">
            <a:xfrm>
              <a:off x="6654800" y="2755900"/>
              <a:ext cx="381000" cy="457200"/>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25632" name="Text Box 32"/>
            <p:cNvSpPr txBox="1">
              <a:spLocks noChangeArrowheads="1"/>
            </p:cNvSpPr>
            <p:nvPr/>
          </p:nvSpPr>
          <p:spPr bwMode="auto">
            <a:xfrm>
              <a:off x="6261100" y="2108200"/>
              <a:ext cx="3810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5633" name="Text Box 33"/>
            <p:cNvSpPr txBox="1">
              <a:spLocks noChangeArrowheads="1"/>
            </p:cNvSpPr>
            <p:nvPr/>
          </p:nvSpPr>
          <p:spPr bwMode="auto">
            <a:xfrm>
              <a:off x="5892800" y="2755900"/>
              <a:ext cx="381000" cy="457200"/>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25634" name="Text Box 34"/>
            <p:cNvSpPr txBox="1">
              <a:spLocks noChangeArrowheads="1"/>
            </p:cNvSpPr>
            <p:nvPr/>
          </p:nvSpPr>
          <p:spPr bwMode="auto">
            <a:xfrm>
              <a:off x="5448300" y="3429000"/>
              <a:ext cx="3810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5635" name="Text Box 35"/>
            <p:cNvSpPr txBox="1">
              <a:spLocks noChangeArrowheads="1"/>
            </p:cNvSpPr>
            <p:nvPr/>
          </p:nvSpPr>
          <p:spPr bwMode="auto">
            <a:xfrm>
              <a:off x="7683500" y="3479800"/>
              <a:ext cx="533400" cy="457200"/>
            </a:xfrm>
            <a:prstGeom prst="rect">
              <a:avLst/>
            </a:prstGeom>
            <a:noFill/>
            <a:ln w="9525">
              <a:noFill/>
              <a:miter lim="800000"/>
              <a:headEnd/>
              <a:tailEnd/>
            </a:ln>
          </p:spPr>
          <p:txBody>
            <a:bodyPr>
              <a:spAutoFit/>
            </a:bodyPr>
            <a:lstStyle/>
            <a:p>
              <a:pPr>
                <a:spcBef>
                  <a:spcPct val="50000"/>
                </a:spcBef>
              </a:pPr>
              <a:r>
                <a:rPr lang="bg-BG"/>
                <a:t>1</a:t>
              </a:r>
              <a:r>
                <a:rPr lang="en-US"/>
                <a:t>4</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1131888" y="620713"/>
            <a:ext cx="8012112" cy="6019800"/>
          </a:xfrm>
        </p:spPr>
        <p:txBody>
          <a:bodyPr>
            <a:normAutofit fontScale="90000"/>
          </a:bodyPr>
          <a:lstStyle/>
          <a:p>
            <a:pPr eaLnBrk="1" fontAlgn="auto" hangingPunct="1">
              <a:spcAft>
                <a:spcPts val="0"/>
              </a:spcAft>
              <a:defRPr/>
            </a:pPr>
            <a:r>
              <a:rPr lang="bg-BG" sz="2400">
                <a:solidFill>
                  <a:schemeClr val="tx1"/>
                </a:solidFill>
              </a:rPr>
              <a:t>Още един вариант на итеративна функция за търсене в двоично дърво:</a:t>
            </a: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400">
                <a:solidFill>
                  <a:schemeClr val="tx1"/>
                </a:solidFill>
              </a:rPr>
              <a:t>elem * &amp;search(int k) //</a:t>
            </a:r>
            <a:r>
              <a:rPr lang="bg-BG" sz="2400">
                <a:solidFill>
                  <a:schemeClr val="tx1"/>
                </a:solidFill>
              </a:rPr>
              <a:t> функцията връща адреса на указател</a:t>
            </a:r>
            <a:r>
              <a:rPr lang="en-US" sz="2400">
                <a:solidFill>
                  <a:schemeClr val="tx1"/>
                </a:solidFill>
              </a:rPr>
              <a:t/>
            </a:r>
            <a:br>
              <a:rPr lang="en-US" sz="2400">
                <a:solidFill>
                  <a:schemeClr val="tx1"/>
                </a:solidFill>
              </a:rPr>
            </a:br>
            <a:r>
              <a:rPr lang="en-US" sz="2400">
                <a:solidFill>
                  <a:schemeClr val="tx1"/>
                </a:solidFill>
              </a:rPr>
              <a:t>{</a:t>
            </a:r>
            <a:r>
              <a:rPr lang="bg-BG" sz="2400">
                <a:solidFill>
                  <a:schemeClr val="tx1"/>
                </a:solidFill>
              </a:rPr>
              <a:t>			// към търсения елемент</a:t>
            </a:r>
            <a:r>
              <a:rPr lang="en-US" sz="2400">
                <a:solidFill>
                  <a:schemeClr val="tx1"/>
                </a:solidFill>
              </a:rPr>
              <a:t/>
            </a:r>
            <a:br>
              <a:rPr lang="en-US" sz="2400">
                <a:solidFill>
                  <a:schemeClr val="tx1"/>
                </a:solidFill>
              </a:rPr>
            </a:br>
            <a:r>
              <a:rPr lang="en-US" sz="2400">
                <a:solidFill>
                  <a:schemeClr val="tx1"/>
                </a:solidFill>
              </a:rPr>
              <a:t>  elem **p=&amp;root;</a:t>
            </a:r>
            <a:br>
              <a:rPr lang="en-US" sz="2400">
                <a:solidFill>
                  <a:schemeClr val="tx1"/>
                </a:solidFill>
              </a:rPr>
            </a:br>
            <a:r>
              <a:rPr lang="en-US" sz="2400">
                <a:solidFill>
                  <a:schemeClr val="tx1"/>
                </a:solidFill>
              </a:rPr>
              <a:t>  for (;;)</a:t>
            </a:r>
            <a:br>
              <a:rPr lang="en-US" sz="2400">
                <a:solidFill>
                  <a:schemeClr val="tx1"/>
                </a:solidFill>
              </a:rPr>
            </a:br>
            <a:r>
              <a:rPr lang="en-US" sz="2400">
                <a:solidFill>
                  <a:schemeClr val="tx1"/>
                </a:solidFill>
              </a:rPr>
              <a:t>  {</a:t>
            </a:r>
            <a:br>
              <a:rPr lang="en-US" sz="2400">
                <a:solidFill>
                  <a:schemeClr val="tx1"/>
                </a:solidFill>
              </a:rPr>
            </a:br>
            <a:r>
              <a:rPr lang="en-US" sz="2400">
                <a:solidFill>
                  <a:schemeClr val="tx1"/>
                </a:solidFill>
              </a:rPr>
              <a:t>    if (*p==NULL) return *p;</a:t>
            </a:r>
            <a:br>
              <a:rPr lang="en-US" sz="2400">
                <a:solidFill>
                  <a:schemeClr val="tx1"/>
                </a:solidFill>
              </a:rPr>
            </a:br>
            <a:r>
              <a:rPr lang="en-US" sz="2400">
                <a:solidFill>
                  <a:schemeClr val="tx1"/>
                </a:solidFill>
              </a:rPr>
              <a:t>    if (k&lt;(*p)-&gt;key) p=&amp;(*p)-&gt;left;</a:t>
            </a:r>
            <a:br>
              <a:rPr lang="en-US" sz="2400">
                <a:solidFill>
                  <a:schemeClr val="tx1"/>
                </a:solidFill>
              </a:rPr>
            </a:br>
            <a:r>
              <a:rPr lang="en-US" sz="2400">
                <a:solidFill>
                  <a:schemeClr val="tx1"/>
                </a:solidFill>
              </a:rPr>
              <a:t>       else</a:t>
            </a:r>
            <a:br>
              <a:rPr lang="en-US" sz="2400">
                <a:solidFill>
                  <a:schemeClr val="tx1"/>
                </a:solidFill>
              </a:rPr>
            </a:br>
            <a:r>
              <a:rPr lang="en-US" sz="2400">
                <a:solidFill>
                  <a:schemeClr val="tx1"/>
                </a:solidFill>
              </a:rPr>
              <a:t>    if (k&gt;(*p)-&gt;key) p=&amp;(*p)-&gt;right;</a:t>
            </a:r>
            <a:br>
              <a:rPr lang="en-US" sz="2400">
                <a:solidFill>
                  <a:schemeClr val="tx1"/>
                </a:solidFill>
              </a:rPr>
            </a:br>
            <a:r>
              <a:rPr lang="en-US" sz="2400">
                <a:solidFill>
                  <a:schemeClr val="tx1"/>
                </a:solidFill>
              </a:rPr>
              <a:t>       else</a:t>
            </a:r>
            <a:br>
              <a:rPr lang="en-US" sz="2400">
                <a:solidFill>
                  <a:schemeClr val="tx1"/>
                </a:solidFill>
              </a:rPr>
            </a:br>
            <a:r>
              <a:rPr lang="en-US" sz="2400">
                <a:solidFill>
                  <a:schemeClr val="tx1"/>
                </a:solidFill>
              </a:rPr>
              <a:t>	  return *p;</a:t>
            </a:r>
            <a:br>
              <a:rPr lang="en-US" sz="2400">
                <a:solidFill>
                  <a:schemeClr val="tx1"/>
                </a:solidFill>
              </a:rPr>
            </a:br>
            <a:r>
              <a:rPr lang="en-US" sz="2400">
                <a:solidFill>
                  <a:schemeClr val="tx1"/>
                </a:solidFill>
              </a:rPr>
              <a:t>  }</a:t>
            </a:r>
            <a:br>
              <a:rPr lang="en-US" sz="2400">
                <a:solidFill>
                  <a:schemeClr val="tx1"/>
                </a:solidFill>
              </a:rPr>
            </a:br>
            <a:r>
              <a:rPr lang="en-US" sz="2400">
                <a:solidFill>
                  <a:schemeClr val="tx1"/>
                </a:solidFill>
              </a:rPr>
              <a:t>}</a:t>
            </a:r>
            <a:br>
              <a:rPr lang="en-US" sz="2400">
                <a:solidFill>
                  <a:schemeClr val="tx1"/>
                </a:solidFill>
              </a:rPr>
            </a:br>
            <a:r>
              <a:rPr lang="en-US" sz="2000">
                <a:solidFill>
                  <a:schemeClr val="tx1"/>
                </a:solidFill>
              </a:rPr>
              <a:t/>
            </a:r>
            <a:br>
              <a:rPr lang="en-US" sz="2000">
                <a:solidFill>
                  <a:schemeClr val="tx1"/>
                </a:solidFill>
              </a:rPr>
            </a:br>
            <a:endParaRPr lang="en-US" sz="180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87450" y="908050"/>
            <a:ext cx="7772400" cy="5638800"/>
          </a:xfrm>
        </p:spPr>
        <p:txBody>
          <a:bodyPr>
            <a:normAutofit fontScale="90000"/>
          </a:bodyPr>
          <a:lstStyle/>
          <a:p>
            <a:pPr eaLnBrk="1" fontAlgn="auto" hangingPunct="1">
              <a:lnSpc>
                <a:spcPct val="150000"/>
              </a:lnSpc>
              <a:spcAft>
                <a:spcPts val="0"/>
              </a:spcAft>
              <a:defRPr/>
            </a:pPr>
            <a:r>
              <a:rPr lang="bg-BG" sz="2000">
                <a:solidFill>
                  <a:schemeClr val="tx2">
                    <a:satMod val="130000"/>
                  </a:schemeClr>
                </a:solidFill>
              </a:rPr>
              <a:t>	</a:t>
            </a:r>
            <a:r>
              <a:rPr lang="bg-BG" sz="2000">
                <a:solidFill>
                  <a:schemeClr val="tx1"/>
                </a:solidFill>
              </a:rPr>
              <a:t>ПРЕМАХВАНЕ НА ВЪЗЕЛ ОТ ДВОИЧНО ДЪРВО</a:t>
            </a: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bg-BG" sz="2000">
                <a:solidFill>
                  <a:schemeClr val="tx1"/>
                </a:solidFill>
              </a:rPr>
              <a:t>	Операцията премахване на възел от двоично дърво за търсене не трябва да нарушава подредбата на структурата. Възможни са следните варианти:</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 </a:t>
            </a:r>
            <a:r>
              <a:rPr lang="bg-BG" sz="2000">
                <a:solidFill>
                  <a:schemeClr val="tx1"/>
                </a:solidFill>
              </a:rPr>
              <a:t>Ако премахваният елемент е листо, неговото отстраняване не нарушава структурата;</a:t>
            </a:r>
            <a:br>
              <a:rPr lang="bg-BG" sz="2000">
                <a:solidFill>
                  <a:schemeClr val="tx1"/>
                </a:solidFill>
              </a:rPr>
            </a:br>
            <a:r>
              <a:rPr lang="bg-BG" sz="2000">
                <a:solidFill>
                  <a:schemeClr val="tx1"/>
                </a:solidFill>
              </a:rPr>
              <a:t>	- Ако премахваният елемент има само един наследник, той замества изтривания възел;</a:t>
            </a:r>
            <a:br>
              <a:rPr lang="bg-BG" sz="2000">
                <a:solidFill>
                  <a:schemeClr val="tx1"/>
                </a:solidFill>
              </a:rPr>
            </a:br>
            <a:r>
              <a:rPr lang="bg-BG" sz="2000">
                <a:solidFill>
                  <a:schemeClr val="tx1"/>
                </a:solidFill>
              </a:rPr>
              <a:t>	- Ако премахваният елемент има два наследника, то изтриваният възел се замества или с най-десния (най-големия) елемент от лявото му поддърво или с най-левия (най-малкия) елемент от дясното му поддърво.</a:t>
            </a:r>
            <a:r>
              <a:rPr lang="bg-BG">
                <a:solidFill>
                  <a:schemeClr val="tx1"/>
                </a:solidFill>
              </a:rPr>
              <a:t/>
            </a:r>
            <a:br>
              <a:rPr lang="bg-BG">
                <a:solidFill>
                  <a:schemeClr val="tx1"/>
                </a:solidFill>
              </a:rPr>
            </a:br>
            <a:endParaRPr lang="bg-BG">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23850" y="620713"/>
            <a:ext cx="8153400" cy="57912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Например</a:t>
            </a:r>
            <a:r>
              <a:rPr lang="bg-BG" sz="2800">
                <a:solidFill>
                  <a:schemeClr val="tx2">
                    <a:satMod val="130000"/>
                  </a:schemeClr>
                </a:solidFill>
              </a:rPr>
              <a:t>:</a:t>
            </a: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grpSp>
        <p:nvGrpSpPr>
          <p:cNvPr id="28675" name="Group 37"/>
          <p:cNvGrpSpPr>
            <a:grpSpLocks/>
          </p:cNvGrpSpPr>
          <p:nvPr/>
        </p:nvGrpSpPr>
        <p:grpSpPr bwMode="auto">
          <a:xfrm>
            <a:off x="2627313" y="1628775"/>
            <a:ext cx="4254500" cy="3124200"/>
            <a:chOff x="2286000" y="1358900"/>
            <a:chExt cx="4254500" cy="3124200"/>
          </a:xfrm>
        </p:grpSpPr>
        <p:sp>
          <p:nvSpPr>
            <p:cNvPr id="28676" name="Oval 5"/>
            <p:cNvSpPr>
              <a:spLocks noChangeArrowheads="1"/>
            </p:cNvSpPr>
            <p:nvPr/>
          </p:nvSpPr>
          <p:spPr bwMode="auto">
            <a:xfrm>
              <a:off x="4100513" y="1358900"/>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77" name="Oval 6"/>
            <p:cNvSpPr>
              <a:spLocks noChangeArrowheads="1"/>
            </p:cNvSpPr>
            <p:nvPr/>
          </p:nvSpPr>
          <p:spPr bwMode="auto">
            <a:xfrm>
              <a:off x="3279775" y="2198688"/>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78" name="Oval 7"/>
            <p:cNvSpPr>
              <a:spLocks noChangeArrowheads="1"/>
            </p:cNvSpPr>
            <p:nvPr/>
          </p:nvSpPr>
          <p:spPr bwMode="auto">
            <a:xfrm>
              <a:off x="4964113" y="2198688"/>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79" name="Oval 8"/>
            <p:cNvSpPr>
              <a:spLocks noChangeArrowheads="1"/>
            </p:cNvSpPr>
            <p:nvPr/>
          </p:nvSpPr>
          <p:spPr bwMode="auto">
            <a:xfrm>
              <a:off x="4532313" y="2981325"/>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80" name="Oval 9"/>
            <p:cNvSpPr>
              <a:spLocks noChangeArrowheads="1"/>
            </p:cNvSpPr>
            <p:nvPr/>
          </p:nvSpPr>
          <p:spPr bwMode="auto">
            <a:xfrm>
              <a:off x="4187825" y="3916363"/>
              <a:ext cx="560388" cy="558800"/>
            </a:xfrm>
            <a:prstGeom prst="ellipse">
              <a:avLst/>
            </a:prstGeom>
            <a:solidFill>
              <a:srgbClr val="FFFFFF"/>
            </a:solidFill>
            <a:ln w="9525">
              <a:solidFill>
                <a:srgbClr val="000000"/>
              </a:solidFill>
              <a:round/>
              <a:headEnd/>
              <a:tailEnd/>
            </a:ln>
          </p:spPr>
          <p:txBody>
            <a:bodyPr/>
            <a:lstStyle/>
            <a:p>
              <a:endParaRPr lang="bg-BG"/>
            </a:p>
          </p:txBody>
        </p:sp>
        <p:sp>
          <p:nvSpPr>
            <p:cNvPr id="28681" name="Oval 10"/>
            <p:cNvSpPr>
              <a:spLocks noChangeArrowheads="1"/>
            </p:cNvSpPr>
            <p:nvPr/>
          </p:nvSpPr>
          <p:spPr bwMode="auto">
            <a:xfrm>
              <a:off x="5483225" y="2968625"/>
              <a:ext cx="561975" cy="560388"/>
            </a:xfrm>
            <a:prstGeom prst="ellipse">
              <a:avLst/>
            </a:prstGeom>
            <a:solidFill>
              <a:srgbClr val="FFFFFF"/>
            </a:solidFill>
            <a:ln w="9525">
              <a:solidFill>
                <a:srgbClr val="000000"/>
              </a:solidFill>
              <a:round/>
              <a:headEnd/>
              <a:tailEnd/>
            </a:ln>
          </p:spPr>
          <p:txBody>
            <a:bodyPr/>
            <a:lstStyle/>
            <a:p>
              <a:endParaRPr lang="bg-BG"/>
            </a:p>
          </p:txBody>
        </p:sp>
        <p:sp>
          <p:nvSpPr>
            <p:cNvPr id="28682" name="Oval 11"/>
            <p:cNvSpPr>
              <a:spLocks noChangeArrowheads="1"/>
            </p:cNvSpPr>
            <p:nvPr/>
          </p:nvSpPr>
          <p:spPr bwMode="auto">
            <a:xfrm>
              <a:off x="5094288" y="3924300"/>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83" name="Oval 12"/>
            <p:cNvSpPr>
              <a:spLocks noChangeArrowheads="1"/>
            </p:cNvSpPr>
            <p:nvPr/>
          </p:nvSpPr>
          <p:spPr bwMode="auto">
            <a:xfrm>
              <a:off x="5915025" y="3924300"/>
              <a:ext cx="561975" cy="558800"/>
            </a:xfrm>
            <a:prstGeom prst="ellipse">
              <a:avLst/>
            </a:prstGeom>
            <a:solidFill>
              <a:srgbClr val="FFFFFF"/>
            </a:solidFill>
            <a:ln w="9525">
              <a:solidFill>
                <a:srgbClr val="000000"/>
              </a:solidFill>
              <a:round/>
              <a:headEnd/>
              <a:tailEnd/>
            </a:ln>
          </p:spPr>
          <p:txBody>
            <a:bodyPr/>
            <a:lstStyle/>
            <a:p>
              <a:endParaRPr lang="bg-BG"/>
            </a:p>
          </p:txBody>
        </p:sp>
        <p:sp>
          <p:nvSpPr>
            <p:cNvPr id="28684" name="Oval 13"/>
            <p:cNvSpPr>
              <a:spLocks noChangeArrowheads="1"/>
            </p:cNvSpPr>
            <p:nvPr/>
          </p:nvSpPr>
          <p:spPr bwMode="auto">
            <a:xfrm>
              <a:off x="2286000" y="3832225"/>
              <a:ext cx="561975" cy="560388"/>
            </a:xfrm>
            <a:prstGeom prst="ellipse">
              <a:avLst/>
            </a:prstGeom>
            <a:solidFill>
              <a:srgbClr val="FFFFFF"/>
            </a:solidFill>
            <a:ln w="9525">
              <a:solidFill>
                <a:srgbClr val="000000"/>
              </a:solidFill>
              <a:round/>
              <a:headEnd/>
              <a:tailEnd/>
            </a:ln>
          </p:spPr>
          <p:txBody>
            <a:bodyPr/>
            <a:lstStyle/>
            <a:p>
              <a:endParaRPr lang="bg-BG"/>
            </a:p>
          </p:txBody>
        </p:sp>
        <p:sp>
          <p:nvSpPr>
            <p:cNvPr id="28685" name="Oval 14"/>
            <p:cNvSpPr>
              <a:spLocks noChangeArrowheads="1"/>
            </p:cNvSpPr>
            <p:nvPr/>
          </p:nvSpPr>
          <p:spPr bwMode="auto">
            <a:xfrm>
              <a:off x="3754438" y="2990850"/>
              <a:ext cx="561975" cy="560388"/>
            </a:xfrm>
            <a:prstGeom prst="ellipse">
              <a:avLst/>
            </a:prstGeom>
            <a:solidFill>
              <a:srgbClr val="FFFFFF"/>
            </a:solidFill>
            <a:ln w="9525">
              <a:solidFill>
                <a:srgbClr val="000000"/>
              </a:solidFill>
              <a:round/>
              <a:headEnd/>
              <a:tailEnd/>
            </a:ln>
          </p:spPr>
          <p:txBody>
            <a:bodyPr/>
            <a:lstStyle/>
            <a:p>
              <a:endParaRPr lang="bg-BG"/>
            </a:p>
          </p:txBody>
        </p:sp>
        <p:sp>
          <p:nvSpPr>
            <p:cNvPr id="28686" name="Oval 15"/>
            <p:cNvSpPr>
              <a:spLocks noChangeArrowheads="1"/>
            </p:cNvSpPr>
            <p:nvPr/>
          </p:nvSpPr>
          <p:spPr bwMode="auto">
            <a:xfrm>
              <a:off x="2805113" y="2990850"/>
              <a:ext cx="560388" cy="560388"/>
            </a:xfrm>
            <a:prstGeom prst="ellipse">
              <a:avLst/>
            </a:prstGeom>
            <a:solidFill>
              <a:srgbClr val="FFFFFF"/>
            </a:solidFill>
            <a:ln w="9525">
              <a:solidFill>
                <a:srgbClr val="000000"/>
              </a:solidFill>
              <a:round/>
              <a:headEnd/>
              <a:tailEnd/>
            </a:ln>
          </p:spPr>
          <p:txBody>
            <a:bodyPr/>
            <a:lstStyle/>
            <a:p>
              <a:endParaRPr lang="bg-BG"/>
            </a:p>
          </p:txBody>
        </p:sp>
        <p:sp>
          <p:nvSpPr>
            <p:cNvPr id="28687" name="Line 16"/>
            <p:cNvSpPr>
              <a:spLocks noChangeShapeType="1"/>
            </p:cNvSpPr>
            <p:nvPr/>
          </p:nvSpPr>
          <p:spPr bwMode="auto">
            <a:xfrm flipH="1">
              <a:off x="3754438" y="1825625"/>
              <a:ext cx="388938" cy="419100"/>
            </a:xfrm>
            <a:prstGeom prst="line">
              <a:avLst/>
            </a:prstGeom>
            <a:noFill/>
            <a:ln w="9525">
              <a:solidFill>
                <a:srgbClr val="000000"/>
              </a:solidFill>
              <a:round/>
              <a:headEnd/>
              <a:tailEnd type="triangle" w="med" len="med"/>
            </a:ln>
          </p:spPr>
          <p:txBody>
            <a:bodyPr/>
            <a:lstStyle/>
            <a:p>
              <a:endParaRPr lang="bg-BG"/>
            </a:p>
          </p:txBody>
        </p:sp>
        <p:sp>
          <p:nvSpPr>
            <p:cNvPr id="28688" name="Line 17"/>
            <p:cNvSpPr>
              <a:spLocks noChangeShapeType="1"/>
            </p:cNvSpPr>
            <p:nvPr/>
          </p:nvSpPr>
          <p:spPr bwMode="auto">
            <a:xfrm flipH="1">
              <a:off x="3194050" y="2711450"/>
              <a:ext cx="215900" cy="279400"/>
            </a:xfrm>
            <a:prstGeom prst="line">
              <a:avLst/>
            </a:prstGeom>
            <a:noFill/>
            <a:ln w="9525">
              <a:solidFill>
                <a:srgbClr val="000000"/>
              </a:solidFill>
              <a:round/>
              <a:headEnd/>
              <a:tailEnd type="triangle" w="med" len="med"/>
            </a:ln>
          </p:spPr>
          <p:txBody>
            <a:bodyPr/>
            <a:lstStyle/>
            <a:p>
              <a:endParaRPr lang="bg-BG"/>
            </a:p>
          </p:txBody>
        </p:sp>
        <p:sp>
          <p:nvSpPr>
            <p:cNvPr id="28689" name="Line 18"/>
            <p:cNvSpPr>
              <a:spLocks noChangeShapeType="1"/>
            </p:cNvSpPr>
            <p:nvPr/>
          </p:nvSpPr>
          <p:spPr bwMode="auto">
            <a:xfrm flipH="1">
              <a:off x="2674938" y="3503613"/>
              <a:ext cx="215900" cy="327025"/>
            </a:xfrm>
            <a:prstGeom prst="line">
              <a:avLst/>
            </a:prstGeom>
            <a:noFill/>
            <a:ln w="9525">
              <a:solidFill>
                <a:srgbClr val="000000"/>
              </a:solidFill>
              <a:round/>
              <a:headEnd/>
              <a:tailEnd type="triangle" w="med" len="med"/>
            </a:ln>
          </p:spPr>
          <p:txBody>
            <a:bodyPr/>
            <a:lstStyle/>
            <a:p>
              <a:endParaRPr lang="bg-BG"/>
            </a:p>
          </p:txBody>
        </p:sp>
        <p:sp>
          <p:nvSpPr>
            <p:cNvPr id="28690" name="Line 19"/>
            <p:cNvSpPr>
              <a:spLocks noChangeShapeType="1"/>
            </p:cNvSpPr>
            <p:nvPr/>
          </p:nvSpPr>
          <p:spPr bwMode="auto">
            <a:xfrm>
              <a:off x="3754438" y="2711450"/>
              <a:ext cx="260350" cy="279400"/>
            </a:xfrm>
            <a:prstGeom prst="line">
              <a:avLst/>
            </a:prstGeom>
            <a:noFill/>
            <a:ln w="9525">
              <a:solidFill>
                <a:srgbClr val="000000"/>
              </a:solidFill>
              <a:round/>
              <a:headEnd/>
              <a:tailEnd type="triangle" w="med" len="med"/>
            </a:ln>
          </p:spPr>
          <p:txBody>
            <a:bodyPr/>
            <a:lstStyle/>
            <a:p>
              <a:endParaRPr lang="bg-BG"/>
            </a:p>
          </p:txBody>
        </p:sp>
        <p:sp>
          <p:nvSpPr>
            <p:cNvPr id="28691" name="Line 20"/>
            <p:cNvSpPr>
              <a:spLocks noChangeShapeType="1"/>
            </p:cNvSpPr>
            <p:nvPr/>
          </p:nvSpPr>
          <p:spPr bwMode="auto">
            <a:xfrm>
              <a:off x="4575175" y="1825625"/>
              <a:ext cx="519113" cy="419100"/>
            </a:xfrm>
            <a:prstGeom prst="line">
              <a:avLst/>
            </a:prstGeom>
            <a:noFill/>
            <a:ln w="9525">
              <a:solidFill>
                <a:srgbClr val="000000"/>
              </a:solidFill>
              <a:round/>
              <a:headEnd/>
              <a:tailEnd type="triangle" w="med" len="med"/>
            </a:ln>
          </p:spPr>
          <p:txBody>
            <a:bodyPr/>
            <a:lstStyle/>
            <a:p>
              <a:endParaRPr lang="bg-BG"/>
            </a:p>
          </p:txBody>
        </p:sp>
        <p:sp>
          <p:nvSpPr>
            <p:cNvPr id="28692" name="Line 21"/>
            <p:cNvSpPr>
              <a:spLocks noChangeShapeType="1"/>
            </p:cNvSpPr>
            <p:nvPr/>
          </p:nvSpPr>
          <p:spPr bwMode="auto">
            <a:xfrm flipH="1">
              <a:off x="4921250" y="2711450"/>
              <a:ext cx="173038" cy="279400"/>
            </a:xfrm>
            <a:prstGeom prst="line">
              <a:avLst/>
            </a:prstGeom>
            <a:noFill/>
            <a:ln w="9525">
              <a:solidFill>
                <a:srgbClr val="000000"/>
              </a:solidFill>
              <a:round/>
              <a:headEnd/>
              <a:tailEnd type="triangle" w="med" len="med"/>
            </a:ln>
          </p:spPr>
          <p:txBody>
            <a:bodyPr/>
            <a:lstStyle/>
            <a:p>
              <a:endParaRPr lang="bg-BG"/>
            </a:p>
          </p:txBody>
        </p:sp>
        <p:sp>
          <p:nvSpPr>
            <p:cNvPr id="28693" name="Line 22"/>
            <p:cNvSpPr>
              <a:spLocks noChangeShapeType="1"/>
            </p:cNvSpPr>
            <p:nvPr/>
          </p:nvSpPr>
          <p:spPr bwMode="auto">
            <a:xfrm flipH="1">
              <a:off x="4532313" y="3503613"/>
              <a:ext cx="173038" cy="420688"/>
            </a:xfrm>
            <a:prstGeom prst="line">
              <a:avLst/>
            </a:prstGeom>
            <a:noFill/>
            <a:ln w="9525">
              <a:solidFill>
                <a:srgbClr val="000000"/>
              </a:solidFill>
              <a:round/>
              <a:headEnd/>
              <a:tailEnd type="triangle" w="med" len="med"/>
            </a:ln>
          </p:spPr>
          <p:txBody>
            <a:bodyPr/>
            <a:lstStyle/>
            <a:p>
              <a:endParaRPr lang="bg-BG"/>
            </a:p>
          </p:txBody>
        </p:sp>
        <p:sp>
          <p:nvSpPr>
            <p:cNvPr id="28694" name="Line 23"/>
            <p:cNvSpPr>
              <a:spLocks noChangeShapeType="1"/>
            </p:cNvSpPr>
            <p:nvPr/>
          </p:nvSpPr>
          <p:spPr bwMode="auto">
            <a:xfrm>
              <a:off x="5872163" y="3503613"/>
              <a:ext cx="258763" cy="420688"/>
            </a:xfrm>
            <a:prstGeom prst="line">
              <a:avLst/>
            </a:prstGeom>
            <a:noFill/>
            <a:ln w="9525">
              <a:solidFill>
                <a:srgbClr val="000000"/>
              </a:solidFill>
              <a:round/>
              <a:headEnd/>
              <a:tailEnd type="triangle" w="med" len="med"/>
            </a:ln>
          </p:spPr>
          <p:txBody>
            <a:bodyPr/>
            <a:lstStyle/>
            <a:p>
              <a:endParaRPr lang="bg-BG"/>
            </a:p>
          </p:txBody>
        </p:sp>
        <p:sp>
          <p:nvSpPr>
            <p:cNvPr id="28695" name="Line 24"/>
            <p:cNvSpPr>
              <a:spLocks noChangeShapeType="1"/>
            </p:cNvSpPr>
            <p:nvPr/>
          </p:nvSpPr>
          <p:spPr bwMode="auto">
            <a:xfrm>
              <a:off x="5397500" y="2711450"/>
              <a:ext cx="258763" cy="279400"/>
            </a:xfrm>
            <a:prstGeom prst="line">
              <a:avLst/>
            </a:prstGeom>
            <a:noFill/>
            <a:ln w="9525">
              <a:solidFill>
                <a:srgbClr val="000000"/>
              </a:solidFill>
              <a:round/>
              <a:headEnd/>
              <a:tailEnd type="triangle" w="med" len="med"/>
            </a:ln>
          </p:spPr>
          <p:txBody>
            <a:bodyPr/>
            <a:lstStyle/>
            <a:p>
              <a:endParaRPr lang="bg-BG"/>
            </a:p>
          </p:txBody>
        </p:sp>
        <p:sp>
          <p:nvSpPr>
            <p:cNvPr id="28696" name="Line 25"/>
            <p:cNvSpPr>
              <a:spLocks noChangeShapeType="1"/>
            </p:cNvSpPr>
            <p:nvPr/>
          </p:nvSpPr>
          <p:spPr bwMode="auto">
            <a:xfrm flipH="1">
              <a:off x="5397500" y="3503613"/>
              <a:ext cx="215900" cy="420688"/>
            </a:xfrm>
            <a:prstGeom prst="line">
              <a:avLst/>
            </a:prstGeom>
            <a:noFill/>
            <a:ln w="9525">
              <a:solidFill>
                <a:srgbClr val="000000"/>
              </a:solidFill>
              <a:round/>
              <a:headEnd/>
              <a:tailEnd type="triangle" w="med" len="med"/>
            </a:ln>
          </p:spPr>
          <p:txBody>
            <a:bodyPr/>
            <a:lstStyle/>
            <a:p>
              <a:endParaRPr lang="bg-BG"/>
            </a:p>
          </p:txBody>
        </p:sp>
        <p:sp>
          <p:nvSpPr>
            <p:cNvPr id="28697" name="Text Box 46"/>
            <p:cNvSpPr txBox="1">
              <a:spLocks noChangeArrowheads="1"/>
            </p:cNvSpPr>
            <p:nvPr/>
          </p:nvSpPr>
          <p:spPr bwMode="auto">
            <a:xfrm>
              <a:off x="4127500" y="1409700"/>
              <a:ext cx="6096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28698" name="Text Box 47"/>
            <p:cNvSpPr txBox="1">
              <a:spLocks noChangeArrowheads="1"/>
            </p:cNvSpPr>
            <p:nvPr/>
          </p:nvSpPr>
          <p:spPr bwMode="auto">
            <a:xfrm>
              <a:off x="2400300" y="3886200"/>
              <a:ext cx="6096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8699" name="Text Box 48"/>
            <p:cNvSpPr txBox="1">
              <a:spLocks noChangeArrowheads="1"/>
            </p:cNvSpPr>
            <p:nvPr/>
          </p:nvSpPr>
          <p:spPr bwMode="auto">
            <a:xfrm>
              <a:off x="2895600" y="3035300"/>
              <a:ext cx="6096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8700" name="Text Box 49"/>
            <p:cNvSpPr txBox="1">
              <a:spLocks noChangeArrowheads="1"/>
            </p:cNvSpPr>
            <p:nvPr/>
          </p:nvSpPr>
          <p:spPr bwMode="auto">
            <a:xfrm>
              <a:off x="4203700" y="3962400"/>
              <a:ext cx="609600" cy="457200"/>
            </a:xfrm>
            <a:prstGeom prst="rect">
              <a:avLst/>
            </a:prstGeom>
            <a:noFill/>
            <a:ln w="9525">
              <a:noFill/>
              <a:miter lim="800000"/>
              <a:headEnd/>
              <a:tailEnd/>
            </a:ln>
          </p:spPr>
          <p:txBody>
            <a:bodyPr>
              <a:spAutoFit/>
            </a:bodyPr>
            <a:lstStyle/>
            <a:p>
              <a:pPr>
                <a:spcBef>
                  <a:spcPct val="50000"/>
                </a:spcBef>
              </a:pPr>
              <a:r>
                <a:rPr lang="bg-BG"/>
                <a:t>12</a:t>
              </a:r>
              <a:endParaRPr lang="en-US"/>
            </a:p>
          </p:txBody>
        </p:sp>
        <p:sp>
          <p:nvSpPr>
            <p:cNvPr id="28701" name="Text Box 50"/>
            <p:cNvSpPr txBox="1">
              <a:spLocks noChangeArrowheads="1"/>
            </p:cNvSpPr>
            <p:nvPr/>
          </p:nvSpPr>
          <p:spPr bwMode="auto">
            <a:xfrm>
              <a:off x="4991100" y="2247900"/>
              <a:ext cx="6096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28702" name="Text Box 51"/>
            <p:cNvSpPr txBox="1">
              <a:spLocks noChangeArrowheads="1"/>
            </p:cNvSpPr>
            <p:nvPr/>
          </p:nvSpPr>
          <p:spPr bwMode="auto">
            <a:xfrm>
              <a:off x="3390900" y="2260600"/>
              <a:ext cx="609600" cy="457200"/>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28703" name="Text Box 52"/>
            <p:cNvSpPr txBox="1">
              <a:spLocks noChangeArrowheads="1"/>
            </p:cNvSpPr>
            <p:nvPr/>
          </p:nvSpPr>
          <p:spPr bwMode="auto">
            <a:xfrm>
              <a:off x="3848100" y="3048000"/>
              <a:ext cx="6096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8704" name="Text Box 53"/>
            <p:cNvSpPr txBox="1">
              <a:spLocks noChangeArrowheads="1"/>
            </p:cNvSpPr>
            <p:nvPr/>
          </p:nvSpPr>
          <p:spPr bwMode="auto">
            <a:xfrm>
              <a:off x="4572000" y="3022600"/>
              <a:ext cx="6096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28705" name="Text Box 54"/>
            <p:cNvSpPr txBox="1">
              <a:spLocks noChangeArrowheads="1"/>
            </p:cNvSpPr>
            <p:nvPr/>
          </p:nvSpPr>
          <p:spPr bwMode="auto">
            <a:xfrm>
              <a:off x="5511800" y="3009900"/>
              <a:ext cx="6096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28706" name="Text Box 55"/>
            <p:cNvSpPr txBox="1">
              <a:spLocks noChangeArrowheads="1"/>
            </p:cNvSpPr>
            <p:nvPr/>
          </p:nvSpPr>
          <p:spPr bwMode="auto">
            <a:xfrm>
              <a:off x="5118100" y="3975100"/>
              <a:ext cx="609600" cy="457200"/>
            </a:xfrm>
            <a:prstGeom prst="rect">
              <a:avLst/>
            </a:prstGeom>
            <a:noFill/>
            <a:ln w="9525">
              <a:noFill/>
              <a:miter lim="800000"/>
              <a:headEnd/>
              <a:tailEnd/>
            </a:ln>
          </p:spPr>
          <p:txBody>
            <a:bodyPr>
              <a:spAutoFit/>
            </a:bodyPr>
            <a:lstStyle/>
            <a:p>
              <a:pPr>
                <a:spcBef>
                  <a:spcPct val="50000"/>
                </a:spcBef>
              </a:pPr>
              <a:r>
                <a:rPr lang="bg-BG"/>
                <a:t>22</a:t>
              </a:r>
              <a:endParaRPr lang="en-US"/>
            </a:p>
          </p:txBody>
        </p:sp>
        <p:sp>
          <p:nvSpPr>
            <p:cNvPr id="28707" name="Text Box 56"/>
            <p:cNvSpPr txBox="1">
              <a:spLocks noChangeArrowheads="1"/>
            </p:cNvSpPr>
            <p:nvPr/>
          </p:nvSpPr>
          <p:spPr bwMode="auto">
            <a:xfrm>
              <a:off x="5930900" y="3962400"/>
              <a:ext cx="6096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4"/>
          <p:cNvSpPr>
            <a:spLocks noChangeArrowheads="1"/>
          </p:cNvSpPr>
          <p:nvPr/>
        </p:nvSpPr>
        <p:spPr bwMode="auto">
          <a:xfrm>
            <a:off x="990600" y="520700"/>
            <a:ext cx="8153400" cy="5791200"/>
          </a:xfrm>
          <a:prstGeom prst="rect">
            <a:avLst/>
          </a:prstGeom>
          <a:noFill/>
          <a:ln w="9525">
            <a:noFill/>
            <a:miter lim="800000"/>
            <a:headEnd/>
            <a:tailEnd/>
          </a:ln>
        </p:spPr>
        <p:txBody>
          <a:bodyPr anchor="ctr"/>
          <a:lstStyle/>
          <a:p>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endParaRPr lang="en-US" sz="4400">
              <a:solidFill>
                <a:schemeClr val="tx2"/>
              </a:solidFill>
            </a:endParaRPr>
          </a:p>
        </p:txBody>
      </p:sp>
      <p:sp>
        <p:nvSpPr>
          <p:cNvPr id="29699" name="Rectangle 58"/>
          <p:cNvSpPr>
            <a:spLocks noChangeArrowheads="1"/>
          </p:cNvSpPr>
          <p:nvPr/>
        </p:nvSpPr>
        <p:spPr bwMode="auto">
          <a:xfrm>
            <a:off x="3276600" y="1066800"/>
            <a:ext cx="8153400" cy="5791200"/>
          </a:xfrm>
          <a:prstGeom prst="rect">
            <a:avLst/>
          </a:prstGeom>
          <a:noFill/>
          <a:ln w="9525">
            <a:noFill/>
            <a:miter lim="800000"/>
            <a:headEnd/>
            <a:tailEnd/>
          </a:ln>
        </p:spPr>
        <p:txBody>
          <a:bodyPr anchor="ctr"/>
          <a:lstStyle/>
          <a:p>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endParaRPr lang="en-US" sz="4400">
              <a:solidFill>
                <a:schemeClr val="tx2"/>
              </a:solidFill>
            </a:endParaRPr>
          </a:p>
        </p:txBody>
      </p:sp>
      <p:sp>
        <p:nvSpPr>
          <p:cNvPr id="29700" name="Rectangle 92"/>
          <p:cNvSpPr>
            <a:spLocks noChangeArrowheads="1"/>
          </p:cNvSpPr>
          <p:nvPr/>
        </p:nvSpPr>
        <p:spPr bwMode="auto">
          <a:xfrm>
            <a:off x="1187450" y="549275"/>
            <a:ext cx="7561263" cy="5791200"/>
          </a:xfrm>
          <a:prstGeom prst="rect">
            <a:avLst/>
          </a:prstGeom>
          <a:noFill/>
          <a:ln w="9525">
            <a:noFill/>
            <a:miter lim="800000"/>
            <a:headEnd/>
            <a:tailEnd/>
          </a:ln>
        </p:spPr>
        <p:txBody>
          <a:bodyPr anchor="ctr"/>
          <a:lstStyle/>
          <a:p>
            <a:r>
              <a:rPr lang="bg-BG" sz="2800">
                <a:solidFill>
                  <a:schemeClr val="tx2"/>
                </a:solidFill>
              </a:rPr>
              <a:t>Например:</a:t>
            </a: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r>
              <a:rPr lang="bg-BG" sz="4400">
                <a:solidFill>
                  <a:schemeClr val="tx2"/>
                </a:solidFill>
              </a:rPr>
              <a:t/>
            </a:r>
            <a:br>
              <a:rPr lang="bg-BG" sz="4400">
                <a:solidFill>
                  <a:schemeClr val="tx2"/>
                </a:solidFill>
              </a:rPr>
            </a:br>
            <a:endParaRPr lang="en-US" sz="4400">
              <a:solidFill>
                <a:schemeClr val="tx2"/>
              </a:solidFill>
            </a:endParaRPr>
          </a:p>
        </p:txBody>
      </p:sp>
      <p:grpSp>
        <p:nvGrpSpPr>
          <p:cNvPr id="29701" name="Group 100"/>
          <p:cNvGrpSpPr>
            <a:grpSpLocks/>
          </p:cNvGrpSpPr>
          <p:nvPr/>
        </p:nvGrpSpPr>
        <p:grpSpPr bwMode="auto">
          <a:xfrm>
            <a:off x="1135063" y="835025"/>
            <a:ext cx="7823200" cy="5499100"/>
            <a:chOff x="609600" y="292100"/>
            <a:chExt cx="7823200" cy="5499100"/>
          </a:xfrm>
        </p:grpSpPr>
        <p:grpSp>
          <p:nvGrpSpPr>
            <p:cNvPr id="29702" name="Group 2"/>
            <p:cNvGrpSpPr>
              <a:grpSpLocks/>
            </p:cNvGrpSpPr>
            <p:nvPr/>
          </p:nvGrpSpPr>
          <p:grpSpPr bwMode="auto">
            <a:xfrm>
              <a:off x="609600" y="1905000"/>
              <a:ext cx="3276600" cy="2438400"/>
              <a:chOff x="1440" y="856"/>
              <a:chExt cx="2640" cy="1968"/>
            </a:xfrm>
          </p:grpSpPr>
          <p:sp>
            <p:nvSpPr>
              <p:cNvPr id="29774" name="Oval 3"/>
              <p:cNvSpPr>
                <a:spLocks noChangeArrowheads="1"/>
              </p:cNvSpPr>
              <p:nvPr/>
            </p:nvSpPr>
            <p:spPr bwMode="auto">
              <a:xfrm>
                <a:off x="2583" y="856"/>
                <a:ext cx="354" cy="352"/>
              </a:xfrm>
              <a:prstGeom prst="ellipse">
                <a:avLst/>
              </a:prstGeom>
              <a:solidFill>
                <a:srgbClr val="FFFFFF"/>
              </a:solidFill>
              <a:ln w="9525">
                <a:solidFill>
                  <a:srgbClr val="000000"/>
                </a:solidFill>
                <a:round/>
                <a:headEnd/>
                <a:tailEnd/>
              </a:ln>
            </p:spPr>
            <p:txBody>
              <a:bodyPr/>
              <a:lstStyle/>
              <a:p>
                <a:endParaRPr lang="bg-BG"/>
              </a:p>
            </p:txBody>
          </p:sp>
          <p:sp>
            <p:nvSpPr>
              <p:cNvPr id="29775" name="Oval 4"/>
              <p:cNvSpPr>
                <a:spLocks noChangeArrowheads="1"/>
              </p:cNvSpPr>
              <p:nvPr/>
            </p:nvSpPr>
            <p:spPr bwMode="auto">
              <a:xfrm>
                <a:off x="2066" y="1385"/>
                <a:ext cx="354" cy="352"/>
              </a:xfrm>
              <a:prstGeom prst="ellipse">
                <a:avLst/>
              </a:prstGeom>
              <a:solidFill>
                <a:srgbClr val="FFFFFF"/>
              </a:solidFill>
              <a:ln w="9525">
                <a:solidFill>
                  <a:srgbClr val="000000"/>
                </a:solidFill>
                <a:round/>
                <a:headEnd/>
                <a:tailEnd/>
              </a:ln>
            </p:spPr>
            <p:txBody>
              <a:bodyPr/>
              <a:lstStyle/>
              <a:p>
                <a:endParaRPr lang="bg-BG"/>
              </a:p>
            </p:txBody>
          </p:sp>
          <p:sp>
            <p:nvSpPr>
              <p:cNvPr id="29776" name="Oval 5"/>
              <p:cNvSpPr>
                <a:spLocks noChangeArrowheads="1"/>
              </p:cNvSpPr>
              <p:nvPr/>
            </p:nvSpPr>
            <p:spPr bwMode="auto">
              <a:xfrm>
                <a:off x="3127" y="1385"/>
                <a:ext cx="354" cy="352"/>
              </a:xfrm>
              <a:prstGeom prst="ellipse">
                <a:avLst/>
              </a:prstGeom>
              <a:solidFill>
                <a:srgbClr val="FFFFFF"/>
              </a:solidFill>
              <a:ln w="9525">
                <a:solidFill>
                  <a:srgbClr val="000000"/>
                </a:solidFill>
                <a:round/>
                <a:headEnd/>
                <a:tailEnd/>
              </a:ln>
            </p:spPr>
            <p:txBody>
              <a:bodyPr/>
              <a:lstStyle/>
              <a:p>
                <a:endParaRPr lang="bg-BG"/>
              </a:p>
            </p:txBody>
          </p:sp>
          <p:sp>
            <p:nvSpPr>
              <p:cNvPr id="29777" name="Oval 6"/>
              <p:cNvSpPr>
                <a:spLocks noChangeArrowheads="1"/>
              </p:cNvSpPr>
              <p:nvPr/>
            </p:nvSpPr>
            <p:spPr bwMode="auto">
              <a:xfrm>
                <a:off x="2855" y="1878"/>
                <a:ext cx="354" cy="352"/>
              </a:xfrm>
              <a:prstGeom prst="ellipse">
                <a:avLst/>
              </a:prstGeom>
              <a:solidFill>
                <a:srgbClr val="FFFFFF"/>
              </a:solidFill>
              <a:ln w="9525">
                <a:solidFill>
                  <a:srgbClr val="000000"/>
                </a:solidFill>
                <a:round/>
                <a:headEnd/>
                <a:tailEnd/>
              </a:ln>
            </p:spPr>
            <p:txBody>
              <a:bodyPr/>
              <a:lstStyle/>
              <a:p>
                <a:endParaRPr lang="bg-BG"/>
              </a:p>
            </p:txBody>
          </p:sp>
          <p:sp>
            <p:nvSpPr>
              <p:cNvPr id="29778" name="Oval 7"/>
              <p:cNvSpPr>
                <a:spLocks noChangeArrowheads="1"/>
              </p:cNvSpPr>
              <p:nvPr/>
            </p:nvSpPr>
            <p:spPr bwMode="auto">
              <a:xfrm>
                <a:off x="2638" y="2467"/>
                <a:ext cx="353" cy="352"/>
              </a:xfrm>
              <a:prstGeom prst="ellipse">
                <a:avLst/>
              </a:prstGeom>
              <a:solidFill>
                <a:srgbClr val="FFFFFF"/>
              </a:solidFill>
              <a:ln w="9525">
                <a:solidFill>
                  <a:srgbClr val="000000"/>
                </a:solidFill>
                <a:round/>
                <a:headEnd/>
                <a:tailEnd/>
              </a:ln>
            </p:spPr>
            <p:txBody>
              <a:bodyPr/>
              <a:lstStyle/>
              <a:p>
                <a:endParaRPr lang="bg-BG"/>
              </a:p>
            </p:txBody>
          </p:sp>
          <p:sp>
            <p:nvSpPr>
              <p:cNvPr id="29779" name="Oval 8"/>
              <p:cNvSpPr>
                <a:spLocks noChangeArrowheads="1"/>
              </p:cNvSpPr>
              <p:nvPr/>
            </p:nvSpPr>
            <p:spPr bwMode="auto">
              <a:xfrm>
                <a:off x="3454" y="1870"/>
                <a:ext cx="354" cy="353"/>
              </a:xfrm>
              <a:prstGeom prst="ellipse">
                <a:avLst/>
              </a:prstGeom>
              <a:solidFill>
                <a:srgbClr val="FFFFFF"/>
              </a:solidFill>
              <a:ln w="9525">
                <a:solidFill>
                  <a:srgbClr val="000000"/>
                </a:solidFill>
                <a:round/>
                <a:headEnd/>
                <a:tailEnd/>
              </a:ln>
            </p:spPr>
            <p:txBody>
              <a:bodyPr/>
              <a:lstStyle/>
              <a:p>
                <a:endParaRPr lang="bg-BG"/>
              </a:p>
            </p:txBody>
          </p:sp>
          <p:sp>
            <p:nvSpPr>
              <p:cNvPr id="29780" name="Oval 9"/>
              <p:cNvSpPr>
                <a:spLocks noChangeArrowheads="1"/>
              </p:cNvSpPr>
              <p:nvPr/>
            </p:nvSpPr>
            <p:spPr bwMode="auto">
              <a:xfrm>
                <a:off x="3209" y="2472"/>
                <a:ext cx="354" cy="352"/>
              </a:xfrm>
              <a:prstGeom prst="ellipse">
                <a:avLst/>
              </a:prstGeom>
              <a:solidFill>
                <a:srgbClr val="FFFFFF"/>
              </a:solidFill>
              <a:ln w="9525">
                <a:solidFill>
                  <a:srgbClr val="000000"/>
                </a:solidFill>
                <a:round/>
                <a:headEnd/>
                <a:tailEnd/>
              </a:ln>
            </p:spPr>
            <p:txBody>
              <a:bodyPr/>
              <a:lstStyle/>
              <a:p>
                <a:endParaRPr lang="bg-BG"/>
              </a:p>
            </p:txBody>
          </p:sp>
          <p:sp>
            <p:nvSpPr>
              <p:cNvPr id="29781" name="Oval 10"/>
              <p:cNvSpPr>
                <a:spLocks noChangeArrowheads="1"/>
              </p:cNvSpPr>
              <p:nvPr/>
            </p:nvSpPr>
            <p:spPr bwMode="auto">
              <a:xfrm>
                <a:off x="3726" y="2472"/>
                <a:ext cx="354" cy="352"/>
              </a:xfrm>
              <a:prstGeom prst="ellipse">
                <a:avLst/>
              </a:prstGeom>
              <a:solidFill>
                <a:srgbClr val="FFFFFF"/>
              </a:solidFill>
              <a:ln w="9525">
                <a:solidFill>
                  <a:srgbClr val="000000"/>
                </a:solidFill>
                <a:round/>
                <a:headEnd/>
                <a:tailEnd/>
              </a:ln>
            </p:spPr>
            <p:txBody>
              <a:bodyPr/>
              <a:lstStyle/>
              <a:p>
                <a:endParaRPr lang="bg-BG"/>
              </a:p>
            </p:txBody>
          </p:sp>
          <p:sp>
            <p:nvSpPr>
              <p:cNvPr id="29782" name="Oval 11"/>
              <p:cNvSpPr>
                <a:spLocks noChangeArrowheads="1"/>
              </p:cNvSpPr>
              <p:nvPr/>
            </p:nvSpPr>
            <p:spPr bwMode="auto">
              <a:xfrm>
                <a:off x="1440" y="2414"/>
                <a:ext cx="354" cy="353"/>
              </a:xfrm>
              <a:prstGeom prst="ellipse">
                <a:avLst/>
              </a:prstGeom>
              <a:solidFill>
                <a:srgbClr val="FFFFFF"/>
              </a:solidFill>
              <a:ln w="9525">
                <a:solidFill>
                  <a:srgbClr val="000000"/>
                </a:solidFill>
                <a:round/>
                <a:headEnd/>
                <a:tailEnd/>
              </a:ln>
            </p:spPr>
            <p:txBody>
              <a:bodyPr/>
              <a:lstStyle/>
              <a:p>
                <a:endParaRPr lang="bg-BG"/>
              </a:p>
            </p:txBody>
          </p:sp>
          <p:sp>
            <p:nvSpPr>
              <p:cNvPr id="29783" name="Oval 12"/>
              <p:cNvSpPr>
                <a:spLocks noChangeArrowheads="1"/>
              </p:cNvSpPr>
              <p:nvPr/>
            </p:nvSpPr>
            <p:spPr bwMode="auto">
              <a:xfrm>
                <a:off x="2365" y="1884"/>
                <a:ext cx="354" cy="353"/>
              </a:xfrm>
              <a:prstGeom prst="ellipse">
                <a:avLst/>
              </a:prstGeom>
              <a:solidFill>
                <a:srgbClr val="FFFFFF"/>
              </a:solidFill>
              <a:ln w="9525">
                <a:solidFill>
                  <a:srgbClr val="000000"/>
                </a:solidFill>
                <a:round/>
                <a:headEnd/>
                <a:tailEnd/>
              </a:ln>
            </p:spPr>
            <p:txBody>
              <a:bodyPr/>
              <a:lstStyle/>
              <a:p>
                <a:endParaRPr lang="bg-BG"/>
              </a:p>
            </p:txBody>
          </p:sp>
          <p:sp>
            <p:nvSpPr>
              <p:cNvPr id="29784" name="Oval 13"/>
              <p:cNvSpPr>
                <a:spLocks noChangeArrowheads="1"/>
              </p:cNvSpPr>
              <p:nvPr/>
            </p:nvSpPr>
            <p:spPr bwMode="auto">
              <a:xfrm>
                <a:off x="1767" y="1884"/>
                <a:ext cx="353" cy="353"/>
              </a:xfrm>
              <a:prstGeom prst="ellipse">
                <a:avLst/>
              </a:prstGeom>
              <a:solidFill>
                <a:srgbClr val="FFFFFF"/>
              </a:solidFill>
              <a:ln w="9525">
                <a:solidFill>
                  <a:srgbClr val="000000"/>
                </a:solidFill>
                <a:round/>
                <a:headEnd/>
                <a:tailEnd/>
              </a:ln>
            </p:spPr>
            <p:txBody>
              <a:bodyPr/>
              <a:lstStyle/>
              <a:p>
                <a:endParaRPr lang="bg-BG"/>
              </a:p>
            </p:txBody>
          </p:sp>
          <p:sp>
            <p:nvSpPr>
              <p:cNvPr id="29785" name="Line 14"/>
              <p:cNvSpPr>
                <a:spLocks noChangeShapeType="1"/>
              </p:cNvSpPr>
              <p:nvPr/>
            </p:nvSpPr>
            <p:spPr bwMode="auto">
              <a:xfrm flipH="1">
                <a:off x="2365" y="1150"/>
                <a:ext cx="245" cy="264"/>
              </a:xfrm>
              <a:prstGeom prst="line">
                <a:avLst/>
              </a:prstGeom>
              <a:noFill/>
              <a:ln w="9525">
                <a:solidFill>
                  <a:srgbClr val="000000"/>
                </a:solidFill>
                <a:round/>
                <a:headEnd/>
                <a:tailEnd type="triangle" w="med" len="med"/>
              </a:ln>
            </p:spPr>
            <p:txBody>
              <a:bodyPr/>
              <a:lstStyle/>
              <a:p>
                <a:endParaRPr lang="bg-BG"/>
              </a:p>
            </p:txBody>
          </p:sp>
          <p:sp>
            <p:nvSpPr>
              <p:cNvPr id="29786" name="Line 15"/>
              <p:cNvSpPr>
                <a:spLocks noChangeShapeType="1"/>
              </p:cNvSpPr>
              <p:nvPr/>
            </p:nvSpPr>
            <p:spPr bwMode="auto">
              <a:xfrm flipH="1">
                <a:off x="2012" y="1708"/>
                <a:ext cx="136" cy="176"/>
              </a:xfrm>
              <a:prstGeom prst="line">
                <a:avLst/>
              </a:prstGeom>
              <a:noFill/>
              <a:ln w="9525">
                <a:solidFill>
                  <a:srgbClr val="000000"/>
                </a:solidFill>
                <a:round/>
                <a:headEnd/>
                <a:tailEnd type="triangle" w="med" len="med"/>
              </a:ln>
            </p:spPr>
            <p:txBody>
              <a:bodyPr/>
              <a:lstStyle/>
              <a:p>
                <a:endParaRPr lang="bg-BG"/>
              </a:p>
            </p:txBody>
          </p:sp>
          <p:sp>
            <p:nvSpPr>
              <p:cNvPr id="29787" name="Line 16"/>
              <p:cNvSpPr>
                <a:spLocks noChangeShapeType="1"/>
              </p:cNvSpPr>
              <p:nvPr/>
            </p:nvSpPr>
            <p:spPr bwMode="auto">
              <a:xfrm flipH="1">
                <a:off x="1685" y="2207"/>
                <a:ext cx="136" cy="206"/>
              </a:xfrm>
              <a:prstGeom prst="line">
                <a:avLst/>
              </a:prstGeom>
              <a:noFill/>
              <a:ln w="9525">
                <a:solidFill>
                  <a:srgbClr val="000000"/>
                </a:solidFill>
                <a:round/>
                <a:headEnd/>
                <a:tailEnd type="triangle" w="med" len="med"/>
              </a:ln>
            </p:spPr>
            <p:txBody>
              <a:bodyPr/>
              <a:lstStyle/>
              <a:p>
                <a:endParaRPr lang="bg-BG"/>
              </a:p>
            </p:txBody>
          </p:sp>
          <p:sp>
            <p:nvSpPr>
              <p:cNvPr id="29788" name="Line 17"/>
              <p:cNvSpPr>
                <a:spLocks noChangeShapeType="1"/>
              </p:cNvSpPr>
              <p:nvPr/>
            </p:nvSpPr>
            <p:spPr bwMode="auto">
              <a:xfrm>
                <a:off x="2365" y="1708"/>
                <a:ext cx="164" cy="176"/>
              </a:xfrm>
              <a:prstGeom prst="line">
                <a:avLst/>
              </a:prstGeom>
              <a:noFill/>
              <a:ln w="9525">
                <a:solidFill>
                  <a:srgbClr val="000000"/>
                </a:solidFill>
                <a:round/>
                <a:headEnd/>
                <a:tailEnd type="triangle" w="med" len="med"/>
              </a:ln>
            </p:spPr>
            <p:txBody>
              <a:bodyPr/>
              <a:lstStyle/>
              <a:p>
                <a:endParaRPr lang="bg-BG"/>
              </a:p>
            </p:txBody>
          </p:sp>
          <p:sp>
            <p:nvSpPr>
              <p:cNvPr id="29789" name="Line 18"/>
              <p:cNvSpPr>
                <a:spLocks noChangeShapeType="1"/>
              </p:cNvSpPr>
              <p:nvPr/>
            </p:nvSpPr>
            <p:spPr bwMode="auto">
              <a:xfrm>
                <a:off x="2882" y="1150"/>
                <a:ext cx="327" cy="264"/>
              </a:xfrm>
              <a:prstGeom prst="line">
                <a:avLst/>
              </a:prstGeom>
              <a:noFill/>
              <a:ln w="9525">
                <a:solidFill>
                  <a:srgbClr val="000000"/>
                </a:solidFill>
                <a:round/>
                <a:headEnd/>
                <a:tailEnd type="triangle" w="med" len="med"/>
              </a:ln>
            </p:spPr>
            <p:txBody>
              <a:bodyPr/>
              <a:lstStyle/>
              <a:p>
                <a:endParaRPr lang="bg-BG"/>
              </a:p>
            </p:txBody>
          </p:sp>
          <p:sp>
            <p:nvSpPr>
              <p:cNvPr id="29790" name="Line 19"/>
              <p:cNvSpPr>
                <a:spLocks noChangeShapeType="1"/>
              </p:cNvSpPr>
              <p:nvPr/>
            </p:nvSpPr>
            <p:spPr bwMode="auto">
              <a:xfrm flipH="1">
                <a:off x="3100" y="1708"/>
                <a:ext cx="109" cy="176"/>
              </a:xfrm>
              <a:prstGeom prst="line">
                <a:avLst/>
              </a:prstGeom>
              <a:noFill/>
              <a:ln w="9525">
                <a:solidFill>
                  <a:srgbClr val="000000"/>
                </a:solidFill>
                <a:round/>
                <a:headEnd/>
                <a:tailEnd type="triangle" w="med" len="med"/>
              </a:ln>
            </p:spPr>
            <p:txBody>
              <a:bodyPr/>
              <a:lstStyle/>
              <a:p>
                <a:endParaRPr lang="bg-BG"/>
              </a:p>
            </p:txBody>
          </p:sp>
          <p:sp>
            <p:nvSpPr>
              <p:cNvPr id="29791" name="Line 20"/>
              <p:cNvSpPr>
                <a:spLocks noChangeShapeType="1"/>
              </p:cNvSpPr>
              <p:nvPr/>
            </p:nvSpPr>
            <p:spPr bwMode="auto">
              <a:xfrm flipH="1">
                <a:off x="2855" y="2207"/>
                <a:ext cx="109" cy="265"/>
              </a:xfrm>
              <a:prstGeom prst="line">
                <a:avLst/>
              </a:prstGeom>
              <a:noFill/>
              <a:ln w="9525">
                <a:solidFill>
                  <a:srgbClr val="000000"/>
                </a:solidFill>
                <a:round/>
                <a:headEnd/>
                <a:tailEnd type="triangle" w="med" len="med"/>
              </a:ln>
            </p:spPr>
            <p:txBody>
              <a:bodyPr/>
              <a:lstStyle/>
              <a:p>
                <a:endParaRPr lang="bg-BG"/>
              </a:p>
            </p:txBody>
          </p:sp>
          <p:sp>
            <p:nvSpPr>
              <p:cNvPr id="29792" name="Line 21"/>
              <p:cNvSpPr>
                <a:spLocks noChangeShapeType="1"/>
              </p:cNvSpPr>
              <p:nvPr/>
            </p:nvSpPr>
            <p:spPr bwMode="auto">
              <a:xfrm>
                <a:off x="3699" y="2207"/>
                <a:ext cx="163" cy="265"/>
              </a:xfrm>
              <a:prstGeom prst="line">
                <a:avLst/>
              </a:prstGeom>
              <a:noFill/>
              <a:ln w="9525">
                <a:solidFill>
                  <a:srgbClr val="000000"/>
                </a:solidFill>
                <a:round/>
                <a:headEnd/>
                <a:tailEnd type="triangle" w="med" len="med"/>
              </a:ln>
            </p:spPr>
            <p:txBody>
              <a:bodyPr/>
              <a:lstStyle/>
              <a:p>
                <a:endParaRPr lang="bg-BG"/>
              </a:p>
            </p:txBody>
          </p:sp>
          <p:sp>
            <p:nvSpPr>
              <p:cNvPr id="29793" name="Line 22"/>
              <p:cNvSpPr>
                <a:spLocks noChangeShapeType="1"/>
              </p:cNvSpPr>
              <p:nvPr/>
            </p:nvSpPr>
            <p:spPr bwMode="auto">
              <a:xfrm>
                <a:off x="3400" y="1708"/>
                <a:ext cx="163" cy="176"/>
              </a:xfrm>
              <a:prstGeom prst="line">
                <a:avLst/>
              </a:prstGeom>
              <a:noFill/>
              <a:ln w="9525">
                <a:solidFill>
                  <a:srgbClr val="000000"/>
                </a:solidFill>
                <a:round/>
                <a:headEnd/>
                <a:tailEnd type="triangle" w="med" len="med"/>
              </a:ln>
            </p:spPr>
            <p:txBody>
              <a:bodyPr/>
              <a:lstStyle/>
              <a:p>
                <a:endParaRPr lang="bg-BG"/>
              </a:p>
            </p:txBody>
          </p:sp>
          <p:sp>
            <p:nvSpPr>
              <p:cNvPr id="29794" name="Line 23"/>
              <p:cNvSpPr>
                <a:spLocks noChangeShapeType="1"/>
              </p:cNvSpPr>
              <p:nvPr/>
            </p:nvSpPr>
            <p:spPr bwMode="auto">
              <a:xfrm flipH="1">
                <a:off x="3400" y="2207"/>
                <a:ext cx="136" cy="265"/>
              </a:xfrm>
              <a:prstGeom prst="line">
                <a:avLst/>
              </a:prstGeom>
              <a:noFill/>
              <a:ln w="9525">
                <a:solidFill>
                  <a:srgbClr val="000000"/>
                </a:solidFill>
                <a:round/>
                <a:headEnd/>
                <a:tailEnd type="triangle" w="med" len="med"/>
              </a:ln>
            </p:spPr>
            <p:txBody>
              <a:bodyPr/>
              <a:lstStyle/>
              <a:p>
                <a:endParaRPr lang="bg-BG"/>
              </a:p>
            </p:txBody>
          </p:sp>
        </p:grpSp>
        <p:sp>
          <p:nvSpPr>
            <p:cNvPr id="29703" name="Text Box 47"/>
            <p:cNvSpPr txBox="1">
              <a:spLocks noChangeArrowheads="1"/>
            </p:cNvSpPr>
            <p:nvPr/>
          </p:nvSpPr>
          <p:spPr bwMode="auto">
            <a:xfrm>
              <a:off x="1981200" y="1879600"/>
              <a:ext cx="609600" cy="457200"/>
            </a:xfrm>
            <a:prstGeom prst="rect">
              <a:avLst/>
            </a:prstGeom>
            <a:noFill/>
            <a:ln w="9525">
              <a:noFill/>
              <a:miter lim="800000"/>
              <a:headEnd/>
              <a:tailEnd/>
            </a:ln>
          </p:spPr>
          <p:txBody>
            <a:bodyPr>
              <a:spAutoFit/>
            </a:bodyPr>
            <a:lstStyle/>
            <a:p>
              <a:pPr>
                <a:spcBef>
                  <a:spcPct val="50000"/>
                </a:spcBef>
              </a:pPr>
              <a:r>
                <a:rPr lang="bg-BG">
                  <a:solidFill>
                    <a:srgbClr val="CC0066"/>
                  </a:solidFill>
                </a:rPr>
                <a:t>10</a:t>
              </a:r>
              <a:endParaRPr lang="en-US"/>
            </a:p>
          </p:txBody>
        </p:sp>
        <p:sp>
          <p:nvSpPr>
            <p:cNvPr id="29704" name="Text Box 48"/>
            <p:cNvSpPr txBox="1">
              <a:spLocks noChangeArrowheads="1"/>
            </p:cNvSpPr>
            <p:nvPr/>
          </p:nvSpPr>
          <p:spPr bwMode="auto">
            <a:xfrm>
              <a:off x="660400" y="3810000"/>
              <a:ext cx="6096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9705" name="Text Box 49"/>
            <p:cNvSpPr txBox="1">
              <a:spLocks noChangeArrowheads="1"/>
            </p:cNvSpPr>
            <p:nvPr/>
          </p:nvSpPr>
          <p:spPr bwMode="auto">
            <a:xfrm>
              <a:off x="1041400" y="3149600"/>
              <a:ext cx="6096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9706" name="Text Box 50"/>
            <p:cNvSpPr txBox="1">
              <a:spLocks noChangeArrowheads="1"/>
            </p:cNvSpPr>
            <p:nvPr/>
          </p:nvSpPr>
          <p:spPr bwMode="auto">
            <a:xfrm>
              <a:off x="2070100" y="3886200"/>
              <a:ext cx="609600" cy="457200"/>
            </a:xfrm>
            <a:prstGeom prst="rect">
              <a:avLst/>
            </a:prstGeom>
            <a:noFill/>
            <a:ln w="9525">
              <a:noFill/>
              <a:miter lim="800000"/>
              <a:headEnd/>
              <a:tailEnd/>
            </a:ln>
          </p:spPr>
          <p:txBody>
            <a:bodyPr>
              <a:spAutoFit/>
            </a:bodyPr>
            <a:lstStyle/>
            <a:p>
              <a:pPr>
                <a:spcBef>
                  <a:spcPct val="50000"/>
                </a:spcBef>
              </a:pPr>
              <a:r>
                <a:rPr lang="bg-BG"/>
                <a:t>12</a:t>
              </a:r>
              <a:endParaRPr lang="en-US"/>
            </a:p>
          </p:txBody>
        </p:sp>
        <p:sp>
          <p:nvSpPr>
            <p:cNvPr id="29707" name="Text Box 51"/>
            <p:cNvSpPr txBox="1">
              <a:spLocks noChangeArrowheads="1"/>
            </p:cNvSpPr>
            <p:nvPr/>
          </p:nvSpPr>
          <p:spPr bwMode="auto">
            <a:xfrm>
              <a:off x="2692400" y="2540000"/>
              <a:ext cx="6096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29708" name="Text Box 52"/>
            <p:cNvSpPr txBox="1">
              <a:spLocks noChangeArrowheads="1"/>
            </p:cNvSpPr>
            <p:nvPr/>
          </p:nvSpPr>
          <p:spPr bwMode="auto">
            <a:xfrm>
              <a:off x="1447800" y="2540000"/>
              <a:ext cx="609600" cy="457200"/>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29709" name="Text Box 53"/>
            <p:cNvSpPr txBox="1">
              <a:spLocks noChangeArrowheads="1"/>
            </p:cNvSpPr>
            <p:nvPr/>
          </p:nvSpPr>
          <p:spPr bwMode="auto">
            <a:xfrm>
              <a:off x="1816100" y="3162300"/>
              <a:ext cx="6096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9710" name="Text Box 54"/>
            <p:cNvSpPr txBox="1">
              <a:spLocks noChangeArrowheads="1"/>
            </p:cNvSpPr>
            <p:nvPr/>
          </p:nvSpPr>
          <p:spPr bwMode="auto">
            <a:xfrm>
              <a:off x="2336800" y="3162300"/>
              <a:ext cx="6096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29711" name="Text Box 55"/>
            <p:cNvSpPr txBox="1">
              <a:spLocks noChangeArrowheads="1"/>
            </p:cNvSpPr>
            <p:nvPr/>
          </p:nvSpPr>
          <p:spPr bwMode="auto">
            <a:xfrm>
              <a:off x="3086100" y="3136900"/>
              <a:ext cx="6096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29712" name="Text Box 56"/>
            <p:cNvSpPr txBox="1">
              <a:spLocks noChangeArrowheads="1"/>
            </p:cNvSpPr>
            <p:nvPr/>
          </p:nvSpPr>
          <p:spPr bwMode="auto">
            <a:xfrm>
              <a:off x="2794000" y="3886200"/>
              <a:ext cx="609600" cy="457200"/>
            </a:xfrm>
            <a:prstGeom prst="rect">
              <a:avLst/>
            </a:prstGeom>
            <a:noFill/>
            <a:ln w="9525">
              <a:noFill/>
              <a:miter lim="800000"/>
              <a:headEnd/>
              <a:tailEnd/>
            </a:ln>
          </p:spPr>
          <p:txBody>
            <a:bodyPr>
              <a:spAutoFit/>
            </a:bodyPr>
            <a:lstStyle/>
            <a:p>
              <a:pPr>
                <a:spcBef>
                  <a:spcPct val="50000"/>
                </a:spcBef>
              </a:pPr>
              <a:r>
                <a:rPr lang="bg-BG"/>
                <a:t>22</a:t>
              </a:r>
              <a:endParaRPr lang="en-US"/>
            </a:p>
          </p:txBody>
        </p:sp>
        <p:sp>
          <p:nvSpPr>
            <p:cNvPr id="29713" name="Text Box 57"/>
            <p:cNvSpPr txBox="1">
              <a:spLocks noChangeArrowheads="1"/>
            </p:cNvSpPr>
            <p:nvPr/>
          </p:nvSpPr>
          <p:spPr bwMode="auto">
            <a:xfrm>
              <a:off x="3429000" y="3886200"/>
              <a:ext cx="6096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29714" name="Oval 60"/>
            <p:cNvSpPr>
              <a:spLocks noChangeArrowheads="1"/>
            </p:cNvSpPr>
            <p:nvPr/>
          </p:nvSpPr>
          <p:spPr bwMode="auto">
            <a:xfrm>
              <a:off x="6289675" y="304800"/>
              <a:ext cx="438150" cy="425450"/>
            </a:xfrm>
            <a:prstGeom prst="ellipse">
              <a:avLst/>
            </a:prstGeom>
            <a:solidFill>
              <a:srgbClr val="FFFFFF"/>
            </a:solidFill>
            <a:ln w="9525">
              <a:solidFill>
                <a:srgbClr val="000000"/>
              </a:solidFill>
              <a:round/>
              <a:headEnd/>
              <a:tailEnd/>
            </a:ln>
          </p:spPr>
          <p:txBody>
            <a:bodyPr/>
            <a:lstStyle/>
            <a:p>
              <a:endParaRPr lang="bg-BG"/>
            </a:p>
          </p:txBody>
        </p:sp>
        <p:sp>
          <p:nvSpPr>
            <p:cNvPr id="29715" name="Oval 61"/>
            <p:cNvSpPr>
              <a:spLocks noChangeArrowheads="1"/>
            </p:cNvSpPr>
            <p:nvPr/>
          </p:nvSpPr>
          <p:spPr bwMode="auto">
            <a:xfrm>
              <a:off x="5651500" y="942975"/>
              <a:ext cx="436563" cy="425450"/>
            </a:xfrm>
            <a:prstGeom prst="ellipse">
              <a:avLst/>
            </a:prstGeom>
            <a:solidFill>
              <a:srgbClr val="FFFFFF"/>
            </a:solidFill>
            <a:ln w="9525">
              <a:solidFill>
                <a:srgbClr val="000000"/>
              </a:solidFill>
              <a:round/>
              <a:headEnd/>
              <a:tailEnd/>
            </a:ln>
          </p:spPr>
          <p:txBody>
            <a:bodyPr/>
            <a:lstStyle/>
            <a:p>
              <a:endParaRPr lang="bg-BG"/>
            </a:p>
          </p:txBody>
        </p:sp>
        <p:sp>
          <p:nvSpPr>
            <p:cNvPr id="29716" name="Oval 62"/>
            <p:cNvSpPr>
              <a:spLocks noChangeArrowheads="1"/>
            </p:cNvSpPr>
            <p:nvPr/>
          </p:nvSpPr>
          <p:spPr bwMode="auto">
            <a:xfrm>
              <a:off x="6962775" y="942975"/>
              <a:ext cx="438150" cy="425450"/>
            </a:xfrm>
            <a:prstGeom prst="ellipse">
              <a:avLst/>
            </a:prstGeom>
            <a:solidFill>
              <a:srgbClr val="FFFFFF"/>
            </a:solidFill>
            <a:ln w="9525">
              <a:solidFill>
                <a:srgbClr val="000000"/>
              </a:solidFill>
              <a:round/>
              <a:headEnd/>
              <a:tailEnd/>
            </a:ln>
          </p:spPr>
          <p:txBody>
            <a:bodyPr/>
            <a:lstStyle/>
            <a:p>
              <a:endParaRPr lang="bg-BG"/>
            </a:p>
          </p:txBody>
        </p:sp>
        <p:sp>
          <p:nvSpPr>
            <p:cNvPr id="29717" name="Oval 63"/>
            <p:cNvSpPr>
              <a:spLocks noChangeArrowheads="1"/>
            </p:cNvSpPr>
            <p:nvPr/>
          </p:nvSpPr>
          <p:spPr bwMode="auto">
            <a:xfrm>
              <a:off x="6626225" y="1538288"/>
              <a:ext cx="438150" cy="423863"/>
            </a:xfrm>
            <a:prstGeom prst="ellipse">
              <a:avLst/>
            </a:prstGeom>
            <a:solidFill>
              <a:srgbClr val="FFFFFF"/>
            </a:solidFill>
            <a:ln w="9525">
              <a:solidFill>
                <a:srgbClr val="000000"/>
              </a:solidFill>
              <a:round/>
              <a:headEnd/>
              <a:tailEnd/>
            </a:ln>
          </p:spPr>
          <p:txBody>
            <a:bodyPr/>
            <a:lstStyle/>
            <a:p>
              <a:endParaRPr lang="bg-BG"/>
            </a:p>
          </p:txBody>
        </p:sp>
        <p:sp>
          <p:nvSpPr>
            <p:cNvPr id="29718" name="Oval 64"/>
            <p:cNvSpPr>
              <a:spLocks noChangeArrowheads="1"/>
            </p:cNvSpPr>
            <p:nvPr/>
          </p:nvSpPr>
          <p:spPr bwMode="auto">
            <a:xfrm>
              <a:off x="6357938" y="2249488"/>
              <a:ext cx="436563" cy="423863"/>
            </a:xfrm>
            <a:prstGeom prst="ellipse">
              <a:avLst/>
            </a:prstGeom>
            <a:solidFill>
              <a:srgbClr val="FFFFFF"/>
            </a:solidFill>
            <a:ln w="9525">
              <a:solidFill>
                <a:srgbClr val="000000"/>
              </a:solidFill>
              <a:round/>
              <a:headEnd/>
              <a:tailEnd/>
            </a:ln>
          </p:spPr>
          <p:txBody>
            <a:bodyPr/>
            <a:lstStyle/>
            <a:p>
              <a:endParaRPr lang="bg-BG"/>
            </a:p>
          </p:txBody>
        </p:sp>
        <p:sp>
          <p:nvSpPr>
            <p:cNvPr id="29719" name="Oval 65"/>
            <p:cNvSpPr>
              <a:spLocks noChangeArrowheads="1"/>
            </p:cNvSpPr>
            <p:nvPr/>
          </p:nvSpPr>
          <p:spPr bwMode="auto">
            <a:xfrm>
              <a:off x="7366000" y="1528763"/>
              <a:ext cx="438150" cy="425450"/>
            </a:xfrm>
            <a:prstGeom prst="ellipse">
              <a:avLst/>
            </a:prstGeom>
            <a:solidFill>
              <a:srgbClr val="FFFFFF"/>
            </a:solidFill>
            <a:ln w="9525">
              <a:solidFill>
                <a:srgbClr val="000000"/>
              </a:solidFill>
              <a:round/>
              <a:headEnd/>
              <a:tailEnd/>
            </a:ln>
          </p:spPr>
          <p:txBody>
            <a:bodyPr/>
            <a:lstStyle/>
            <a:p>
              <a:endParaRPr lang="bg-BG"/>
            </a:p>
          </p:txBody>
        </p:sp>
        <p:sp>
          <p:nvSpPr>
            <p:cNvPr id="29720" name="Oval 66"/>
            <p:cNvSpPr>
              <a:spLocks noChangeArrowheads="1"/>
            </p:cNvSpPr>
            <p:nvPr/>
          </p:nvSpPr>
          <p:spPr bwMode="auto">
            <a:xfrm>
              <a:off x="7064375" y="2254250"/>
              <a:ext cx="436563" cy="425450"/>
            </a:xfrm>
            <a:prstGeom prst="ellipse">
              <a:avLst/>
            </a:prstGeom>
            <a:solidFill>
              <a:srgbClr val="FFFFFF"/>
            </a:solidFill>
            <a:ln w="9525">
              <a:solidFill>
                <a:srgbClr val="000000"/>
              </a:solidFill>
              <a:round/>
              <a:headEnd/>
              <a:tailEnd/>
            </a:ln>
          </p:spPr>
          <p:txBody>
            <a:bodyPr/>
            <a:lstStyle/>
            <a:p>
              <a:endParaRPr lang="bg-BG"/>
            </a:p>
          </p:txBody>
        </p:sp>
        <p:sp>
          <p:nvSpPr>
            <p:cNvPr id="29721" name="Oval 67"/>
            <p:cNvSpPr>
              <a:spLocks noChangeArrowheads="1"/>
            </p:cNvSpPr>
            <p:nvPr/>
          </p:nvSpPr>
          <p:spPr bwMode="auto">
            <a:xfrm>
              <a:off x="7702550" y="2254250"/>
              <a:ext cx="438150" cy="425450"/>
            </a:xfrm>
            <a:prstGeom prst="ellipse">
              <a:avLst/>
            </a:prstGeom>
            <a:solidFill>
              <a:srgbClr val="FFFFFF"/>
            </a:solidFill>
            <a:ln w="9525">
              <a:solidFill>
                <a:srgbClr val="000000"/>
              </a:solidFill>
              <a:round/>
              <a:headEnd/>
              <a:tailEnd/>
            </a:ln>
          </p:spPr>
          <p:txBody>
            <a:bodyPr/>
            <a:lstStyle/>
            <a:p>
              <a:endParaRPr lang="bg-BG"/>
            </a:p>
          </p:txBody>
        </p:sp>
        <p:sp>
          <p:nvSpPr>
            <p:cNvPr id="29722" name="Oval 68"/>
            <p:cNvSpPr>
              <a:spLocks noChangeArrowheads="1"/>
            </p:cNvSpPr>
            <p:nvPr/>
          </p:nvSpPr>
          <p:spPr bwMode="auto">
            <a:xfrm>
              <a:off x="4876800" y="2184400"/>
              <a:ext cx="438150" cy="427038"/>
            </a:xfrm>
            <a:prstGeom prst="ellipse">
              <a:avLst/>
            </a:prstGeom>
            <a:solidFill>
              <a:srgbClr val="FFFFFF"/>
            </a:solidFill>
            <a:ln w="9525">
              <a:solidFill>
                <a:srgbClr val="000000"/>
              </a:solidFill>
              <a:round/>
              <a:headEnd/>
              <a:tailEnd/>
            </a:ln>
          </p:spPr>
          <p:txBody>
            <a:bodyPr/>
            <a:lstStyle/>
            <a:p>
              <a:endParaRPr lang="bg-BG"/>
            </a:p>
          </p:txBody>
        </p:sp>
        <p:sp>
          <p:nvSpPr>
            <p:cNvPr id="29723" name="Oval 70"/>
            <p:cNvSpPr>
              <a:spLocks noChangeArrowheads="1"/>
            </p:cNvSpPr>
            <p:nvPr/>
          </p:nvSpPr>
          <p:spPr bwMode="auto">
            <a:xfrm>
              <a:off x="5281613" y="1544638"/>
              <a:ext cx="436563" cy="427038"/>
            </a:xfrm>
            <a:prstGeom prst="ellipse">
              <a:avLst/>
            </a:prstGeom>
            <a:solidFill>
              <a:srgbClr val="FFFFFF"/>
            </a:solidFill>
            <a:ln w="9525">
              <a:solidFill>
                <a:srgbClr val="000000"/>
              </a:solidFill>
              <a:round/>
              <a:headEnd/>
              <a:tailEnd/>
            </a:ln>
          </p:spPr>
          <p:txBody>
            <a:bodyPr/>
            <a:lstStyle/>
            <a:p>
              <a:endParaRPr lang="bg-BG"/>
            </a:p>
          </p:txBody>
        </p:sp>
        <p:sp>
          <p:nvSpPr>
            <p:cNvPr id="29724" name="Line 71"/>
            <p:cNvSpPr>
              <a:spLocks noChangeShapeType="1"/>
            </p:cNvSpPr>
            <p:nvPr/>
          </p:nvSpPr>
          <p:spPr bwMode="auto">
            <a:xfrm flipH="1">
              <a:off x="6019800" y="658813"/>
              <a:ext cx="303213" cy="319088"/>
            </a:xfrm>
            <a:prstGeom prst="line">
              <a:avLst/>
            </a:prstGeom>
            <a:noFill/>
            <a:ln w="9525">
              <a:solidFill>
                <a:srgbClr val="000000"/>
              </a:solidFill>
              <a:round/>
              <a:headEnd/>
              <a:tailEnd type="triangle" w="med" len="med"/>
            </a:ln>
          </p:spPr>
          <p:txBody>
            <a:bodyPr/>
            <a:lstStyle/>
            <a:p>
              <a:endParaRPr lang="bg-BG"/>
            </a:p>
          </p:txBody>
        </p:sp>
        <p:sp>
          <p:nvSpPr>
            <p:cNvPr id="29725" name="Line 72"/>
            <p:cNvSpPr>
              <a:spLocks noChangeShapeType="1"/>
            </p:cNvSpPr>
            <p:nvPr/>
          </p:nvSpPr>
          <p:spPr bwMode="auto">
            <a:xfrm flipH="1">
              <a:off x="5583238" y="1333500"/>
              <a:ext cx="168275" cy="211138"/>
            </a:xfrm>
            <a:prstGeom prst="line">
              <a:avLst/>
            </a:prstGeom>
            <a:noFill/>
            <a:ln w="9525">
              <a:solidFill>
                <a:srgbClr val="000000"/>
              </a:solidFill>
              <a:round/>
              <a:headEnd/>
              <a:tailEnd type="triangle" w="med" len="med"/>
            </a:ln>
          </p:spPr>
          <p:txBody>
            <a:bodyPr/>
            <a:lstStyle/>
            <a:p>
              <a:endParaRPr lang="bg-BG"/>
            </a:p>
          </p:txBody>
        </p:sp>
        <p:sp>
          <p:nvSpPr>
            <p:cNvPr id="29726" name="Line 73"/>
            <p:cNvSpPr>
              <a:spLocks noChangeShapeType="1"/>
            </p:cNvSpPr>
            <p:nvPr/>
          </p:nvSpPr>
          <p:spPr bwMode="auto">
            <a:xfrm flipH="1">
              <a:off x="5180013" y="1935163"/>
              <a:ext cx="168275" cy="249238"/>
            </a:xfrm>
            <a:prstGeom prst="line">
              <a:avLst/>
            </a:prstGeom>
            <a:noFill/>
            <a:ln w="9525">
              <a:solidFill>
                <a:srgbClr val="000000"/>
              </a:solidFill>
              <a:round/>
              <a:headEnd/>
              <a:tailEnd type="triangle" w="med" len="med"/>
            </a:ln>
          </p:spPr>
          <p:txBody>
            <a:bodyPr/>
            <a:lstStyle/>
            <a:p>
              <a:endParaRPr lang="bg-BG"/>
            </a:p>
          </p:txBody>
        </p:sp>
        <p:sp>
          <p:nvSpPr>
            <p:cNvPr id="29727" name="Line 75"/>
            <p:cNvSpPr>
              <a:spLocks noChangeShapeType="1"/>
            </p:cNvSpPr>
            <p:nvPr/>
          </p:nvSpPr>
          <p:spPr bwMode="auto">
            <a:xfrm>
              <a:off x="6659563" y="658813"/>
              <a:ext cx="404813" cy="319088"/>
            </a:xfrm>
            <a:prstGeom prst="line">
              <a:avLst/>
            </a:prstGeom>
            <a:noFill/>
            <a:ln w="9525">
              <a:solidFill>
                <a:srgbClr val="000000"/>
              </a:solidFill>
              <a:round/>
              <a:headEnd/>
              <a:tailEnd type="triangle" w="med" len="med"/>
            </a:ln>
          </p:spPr>
          <p:txBody>
            <a:bodyPr/>
            <a:lstStyle/>
            <a:p>
              <a:endParaRPr lang="bg-BG"/>
            </a:p>
          </p:txBody>
        </p:sp>
        <p:sp>
          <p:nvSpPr>
            <p:cNvPr id="29728" name="Line 76"/>
            <p:cNvSpPr>
              <a:spLocks noChangeShapeType="1"/>
            </p:cNvSpPr>
            <p:nvPr/>
          </p:nvSpPr>
          <p:spPr bwMode="auto">
            <a:xfrm flipH="1">
              <a:off x="6929438" y="1333500"/>
              <a:ext cx="134938" cy="211138"/>
            </a:xfrm>
            <a:prstGeom prst="line">
              <a:avLst/>
            </a:prstGeom>
            <a:noFill/>
            <a:ln w="9525">
              <a:solidFill>
                <a:srgbClr val="000000"/>
              </a:solidFill>
              <a:round/>
              <a:headEnd/>
              <a:tailEnd type="triangle" w="med" len="med"/>
            </a:ln>
          </p:spPr>
          <p:txBody>
            <a:bodyPr/>
            <a:lstStyle/>
            <a:p>
              <a:endParaRPr lang="bg-BG"/>
            </a:p>
          </p:txBody>
        </p:sp>
        <p:sp>
          <p:nvSpPr>
            <p:cNvPr id="29729" name="Line 77"/>
            <p:cNvSpPr>
              <a:spLocks noChangeShapeType="1"/>
            </p:cNvSpPr>
            <p:nvPr/>
          </p:nvSpPr>
          <p:spPr bwMode="auto">
            <a:xfrm flipH="1">
              <a:off x="6626225" y="1935163"/>
              <a:ext cx="134938" cy="319088"/>
            </a:xfrm>
            <a:prstGeom prst="line">
              <a:avLst/>
            </a:prstGeom>
            <a:noFill/>
            <a:ln w="9525">
              <a:solidFill>
                <a:srgbClr val="000000"/>
              </a:solidFill>
              <a:round/>
              <a:headEnd/>
              <a:tailEnd type="triangle" w="med" len="med"/>
            </a:ln>
          </p:spPr>
          <p:txBody>
            <a:bodyPr/>
            <a:lstStyle/>
            <a:p>
              <a:endParaRPr lang="bg-BG"/>
            </a:p>
          </p:txBody>
        </p:sp>
        <p:sp>
          <p:nvSpPr>
            <p:cNvPr id="29730" name="Line 78"/>
            <p:cNvSpPr>
              <a:spLocks noChangeShapeType="1"/>
            </p:cNvSpPr>
            <p:nvPr/>
          </p:nvSpPr>
          <p:spPr bwMode="auto">
            <a:xfrm>
              <a:off x="7669213" y="1935163"/>
              <a:ext cx="201613" cy="319088"/>
            </a:xfrm>
            <a:prstGeom prst="line">
              <a:avLst/>
            </a:prstGeom>
            <a:noFill/>
            <a:ln w="9525">
              <a:solidFill>
                <a:srgbClr val="000000"/>
              </a:solidFill>
              <a:round/>
              <a:headEnd/>
              <a:tailEnd type="triangle" w="med" len="med"/>
            </a:ln>
          </p:spPr>
          <p:txBody>
            <a:bodyPr/>
            <a:lstStyle/>
            <a:p>
              <a:endParaRPr lang="bg-BG"/>
            </a:p>
          </p:txBody>
        </p:sp>
        <p:sp>
          <p:nvSpPr>
            <p:cNvPr id="29731" name="Line 79"/>
            <p:cNvSpPr>
              <a:spLocks noChangeShapeType="1"/>
            </p:cNvSpPr>
            <p:nvPr/>
          </p:nvSpPr>
          <p:spPr bwMode="auto">
            <a:xfrm>
              <a:off x="7299325" y="1333500"/>
              <a:ext cx="201613" cy="211138"/>
            </a:xfrm>
            <a:prstGeom prst="line">
              <a:avLst/>
            </a:prstGeom>
            <a:noFill/>
            <a:ln w="9525">
              <a:solidFill>
                <a:srgbClr val="000000"/>
              </a:solidFill>
              <a:round/>
              <a:headEnd/>
              <a:tailEnd type="triangle" w="med" len="med"/>
            </a:ln>
          </p:spPr>
          <p:txBody>
            <a:bodyPr/>
            <a:lstStyle/>
            <a:p>
              <a:endParaRPr lang="bg-BG"/>
            </a:p>
          </p:txBody>
        </p:sp>
        <p:sp>
          <p:nvSpPr>
            <p:cNvPr id="29732" name="Line 80"/>
            <p:cNvSpPr>
              <a:spLocks noChangeShapeType="1"/>
            </p:cNvSpPr>
            <p:nvPr/>
          </p:nvSpPr>
          <p:spPr bwMode="auto">
            <a:xfrm flipH="1">
              <a:off x="7299325" y="1935163"/>
              <a:ext cx="168275" cy="319088"/>
            </a:xfrm>
            <a:prstGeom prst="line">
              <a:avLst/>
            </a:prstGeom>
            <a:noFill/>
            <a:ln w="9525">
              <a:solidFill>
                <a:srgbClr val="000000"/>
              </a:solidFill>
              <a:round/>
              <a:headEnd/>
              <a:tailEnd type="triangle" w="med" len="med"/>
            </a:ln>
          </p:spPr>
          <p:txBody>
            <a:bodyPr/>
            <a:lstStyle/>
            <a:p>
              <a:endParaRPr lang="bg-BG"/>
            </a:p>
          </p:txBody>
        </p:sp>
        <p:sp>
          <p:nvSpPr>
            <p:cNvPr id="29733" name="Text Box 82"/>
            <p:cNvSpPr txBox="1">
              <a:spLocks noChangeArrowheads="1"/>
            </p:cNvSpPr>
            <p:nvPr/>
          </p:nvSpPr>
          <p:spPr bwMode="auto">
            <a:xfrm>
              <a:off x="4927600" y="2159000"/>
              <a:ext cx="6096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9734" name="Text Box 83"/>
            <p:cNvSpPr txBox="1">
              <a:spLocks noChangeArrowheads="1"/>
            </p:cNvSpPr>
            <p:nvPr/>
          </p:nvSpPr>
          <p:spPr bwMode="auto">
            <a:xfrm>
              <a:off x="5308600" y="1524000"/>
              <a:ext cx="6096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9735" name="Text Box 84"/>
            <p:cNvSpPr txBox="1">
              <a:spLocks noChangeArrowheads="1"/>
            </p:cNvSpPr>
            <p:nvPr/>
          </p:nvSpPr>
          <p:spPr bwMode="auto">
            <a:xfrm>
              <a:off x="6311900" y="2222500"/>
              <a:ext cx="609600" cy="457200"/>
            </a:xfrm>
            <a:prstGeom prst="rect">
              <a:avLst/>
            </a:prstGeom>
            <a:noFill/>
            <a:ln w="9525">
              <a:noFill/>
              <a:miter lim="800000"/>
              <a:headEnd/>
              <a:tailEnd/>
            </a:ln>
          </p:spPr>
          <p:txBody>
            <a:bodyPr>
              <a:spAutoFit/>
            </a:bodyPr>
            <a:lstStyle/>
            <a:p>
              <a:pPr>
                <a:spcBef>
                  <a:spcPct val="50000"/>
                </a:spcBef>
              </a:pPr>
              <a:r>
                <a:rPr lang="bg-BG"/>
                <a:t>12</a:t>
              </a:r>
              <a:endParaRPr lang="en-US"/>
            </a:p>
          </p:txBody>
        </p:sp>
        <p:sp>
          <p:nvSpPr>
            <p:cNvPr id="29736" name="Text Box 85"/>
            <p:cNvSpPr txBox="1">
              <a:spLocks noChangeArrowheads="1"/>
            </p:cNvSpPr>
            <p:nvPr/>
          </p:nvSpPr>
          <p:spPr bwMode="auto">
            <a:xfrm>
              <a:off x="6934200" y="914400"/>
              <a:ext cx="6096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29737" name="Text Box 86"/>
            <p:cNvSpPr txBox="1">
              <a:spLocks noChangeArrowheads="1"/>
            </p:cNvSpPr>
            <p:nvPr/>
          </p:nvSpPr>
          <p:spPr bwMode="auto">
            <a:xfrm>
              <a:off x="5702300" y="914400"/>
              <a:ext cx="609600" cy="457200"/>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29738" name="Text Box 87"/>
            <p:cNvSpPr txBox="1">
              <a:spLocks noChangeArrowheads="1"/>
            </p:cNvSpPr>
            <p:nvPr/>
          </p:nvSpPr>
          <p:spPr bwMode="auto">
            <a:xfrm>
              <a:off x="6337300" y="292100"/>
              <a:ext cx="6096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9739" name="Text Box 88"/>
            <p:cNvSpPr txBox="1">
              <a:spLocks noChangeArrowheads="1"/>
            </p:cNvSpPr>
            <p:nvPr/>
          </p:nvSpPr>
          <p:spPr bwMode="auto">
            <a:xfrm>
              <a:off x="6591300" y="1498600"/>
              <a:ext cx="6096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29740" name="Text Box 89"/>
            <p:cNvSpPr txBox="1">
              <a:spLocks noChangeArrowheads="1"/>
            </p:cNvSpPr>
            <p:nvPr/>
          </p:nvSpPr>
          <p:spPr bwMode="auto">
            <a:xfrm>
              <a:off x="7340600" y="1498600"/>
              <a:ext cx="6096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29741" name="Text Box 90"/>
            <p:cNvSpPr txBox="1">
              <a:spLocks noChangeArrowheads="1"/>
            </p:cNvSpPr>
            <p:nvPr/>
          </p:nvSpPr>
          <p:spPr bwMode="auto">
            <a:xfrm>
              <a:off x="7048500" y="2235200"/>
              <a:ext cx="609600" cy="457200"/>
            </a:xfrm>
            <a:prstGeom prst="rect">
              <a:avLst/>
            </a:prstGeom>
            <a:noFill/>
            <a:ln w="9525">
              <a:noFill/>
              <a:miter lim="800000"/>
              <a:headEnd/>
              <a:tailEnd/>
            </a:ln>
          </p:spPr>
          <p:txBody>
            <a:bodyPr>
              <a:spAutoFit/>
            </a:bodyPr>
            <a:lstStyle/>
            <a:p>
              <a:pPr>
                <a:spcBef>
                  <a:spcPct val="50000"/>
                </a:spcBef>
              </a:pPr>
              <a:r>
                <a:rPr lang="bg-BG"/>
                <a:t>22</a:t>
              </a:r>
              <a:endParaRPr lang="en-US"/>
            </a:p>
          </p:txBody>
        </p:sp>
        <p:sp>
          <p:nvSpPr>
            <p:cNvPr id="29742" name="Text Box 91"/>
            <p:cNvSpPr txBox="1">
              <a:spLocks noChangeArrowheads="1"/>
            </p:cNvSpPr>
            <p:nvPr/>
          </p:nvSpPr>
          <p:spPr bwMode="auto">
            <a:xfrm>
              <a:off x="7670800" y="2222500"/>
              <a:ext cx="6096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29743" name="Oval 94"/>
            <p:cNvSpPr>
              <a:spLocks noChangeArrowheads="1"/>
            </p:cNvSpPr>
            <p:nvPr/>
          </p:nvSpPr>
          <p:spPr bwMode="auto">
            <a:xfrm>
              <a:off x="6318250" y="3200400"/>
              <a:ext cx="469900" cy="463550"/>
            </a:xfrm>
            <a:prstGeom prst="ellipse">
              <a:avLst/>
            </a:prstGeom>
            <a:solidFill>
              <a:srgbClr val="FFFFFF"/>
            </a:solidFill>
            <a:ln w="9525">
              <a:solidFill>
                <a:srgbClr val="000000"/>
              </a:solidFill>
              <a:round/>
              <a:headEnd/>
              <a:tailEnd/>
            </a:ln>
          </p:spPr>
          <p:txBody>
            <a:bodyPr/>
            <a:lstStyle/>
            <a:p>
              <a:endParaRPr lang="bg-BG"/>
            </a:p>
          </p:txBody>
        </p:sp>
        <p:sp>
          <p:nvSpPr>
            <p:cNvPr id="29744" name="Oval 95"/>
            <p:cNvSpPr>
              <a:spLocks noChangeArrowheads="1"/>
            </p:cNvSpPr>
            <p:nvPr/>
          </p:nvSpPr>
          <p:spPr bwMode="auto">
            <a:xfrm>
              <a:off x="5632450" y="3897313"/>
              <a:ext cx="469900" cy="463550"/>
            </a:xfrm>
            <a:prstGeom prst="ellipse">
              <a:avLst/>
            </a:prstGeom>
            <a:solidFill>
              <a:srgbClr val="FFFFFF"/>
            </a:solidFill>
            <a:ln w="9525">
              <a:solidFill>
                <a:srgbClr val="000000"/>
              </a:solidFill>
              <a:round/>
              <a:headEnd/>
              <a:tailEnd/>
            </a:ln>
          </p:spPr>
          <p:txBody>
            <a:bodyPr/>
            <a:lstStyle/>
            <a:p>
              <a:endParaRPr lang="bg-BG"/>
            </a:p>
          </p:txBody>
        </p:sp>
        <p:sp>
          <p:nvSpPr>
            <p:cNvPr id="29745" name="Oval 96"/>
            <p:cNvSpPr>
              <a:spLocks noChangeArrowheads="1"/>
            </p:cNvSpPr>
            <p:nvPr/>
          </p:nvSpPr>
          <p:spPr bwMode="auto">
            <a:xfrm>
              <a:off x="7040563" y="3897313"/>
              <a:ext cx="469900" cy="463550"/>
            </a:xfrm>
            <a:prstGeom prst="ellipse">
              <a:avLst/>
            </a:prstGeom>
            <a:solidFill>
              <a:srgbClr val="FFFFFF"/>
            </a:solidFill>
            <a:ln w="9525">
              <a:solidFill>
                <a:srgbClr val="000000"/>
              </a:solidFill>
              <a:round/>
              <a:headEnd/>
              <a:tailEnd/>
            </a:ln>
          </p:spPr>
          <p:txBody>
            <a:bodyPr/>
            <a:lstStyle/>
            <a:p>
              <a:endParaRPr lang="bg-BG"/>
            </a:p>
          </p:txBody>
        </p:sp>
        <p:sp>
          <p:nvSpPr>
            <p:cNvPr id="29746" name="Oval 97"/>
            <p:cNvSpPr>
              <a:spLocks noChangeArrowheads="1"/>
            </p:cNvSpPr>
            <p:nvPr/>
          </p:nvSpPr>
          <p:spPr bwMode="auto">
            <a:xfrm>
              <a:off x="6678613" y="4546600"/>
              <a:ext cx="471488" cy="461963"/>
            </a:xfrm>
            <a:prstGeom prst="ellipse">
              <a:avLst/>
            </a:prstGeom>
            <a:solidFill>
              <a:srgbClr val="FFFFFF"/>
            </a:solidFill>
            <a:ln w="9525">
              <a:solidFill>
                <a:srgbClr val="000000"/>
              </a:solidFill>
              <a:round/>
              <a:headEnd/>
              <a:tailEnd/>
            </a:ln>
          </p:spPr>
          <p:txBody>
            <a:bodyPr/>
            <a:lstStyle/>
            <a:p>
              <a:endParaRPr lang="bg-BG"/>
            </a:p>
          </p:txBody>
        </p:sp>
        <p:sp>
          <p:nvSpPr>
            <p:cNvPr id="29747" name="Oval 99"/>
            <p:cNvSpPr>
              <a:spLocks noChangeArrowheads="1"/>
            </p:cNvSpPr>
            <p:nvPr/>
          </p:nvSpPr>
          <p:spPr bwMode="auto">
            <a:xfrm>
              <a:off x="7473950" y="4535488"/>
              <a:ext cx="471488" cy="465138"/>
            </a:xfrm>
            <a:prstGeom prst="ellipse">
              <a:avLst/>
            </a:prstGeom>
            <a:solidFill>
              <a:srgbClr val="FFFFFF"/>
            </a:solidFill>
            <a:ln w="9525">
              <a:solidFill>
                <a:srgbClr val="000000"/>
              </a:solidFill>
              <a:round/>
              <a:headEnd/>
              <a:tailEnd/>
            </a:ln>
          </p:spPr>
          <p:txBody>
            <a:bodyPr/>
            <a:lstStyle/>
            <a:p>
              <a:endParaRPr lang="bg-BG"/>
            </a:p>
          </p:txBody>
        </p:sp>
        <p:sp>
          <p:nvSpPr>
            <p:cNvPr id="29748" name="Oval 100"/>
            <p:cNvSpPr>
              <a:spLocks noChangeArrowheads="1"/>
            </p:cNvSpPr>
            <p:nvPr/>
          </p:nvSpPr>
          <p:spPr bwMode="auto">
            <a:xfrm>
              <a:off x="7150100" y="5327650"/>
              <a:ext cx="469900" cy="463550"/>
            </a:xfrm>
            <a:prstGeom prst="ellipse">
              <a:avLst/>
            </a:prstGeom>
            <a:solidFill>
              <a:srgbClr val="FFFFFF"/>
            </a:solidFill>
            <a:ln w="9525">
              <a:solidFill>
                <a:srgbClr val="000000"/>
              </a:solidFill>
              <a:round/>
              <a:headEnd/>
              <a:tailEnd/>
            </a:ln>
          </p:spPr>
          <p:txBody>
            <a:bodyPr/>
            <a:lstStyle/>
            <a:p>
              <a:endParaRPr lang="bg-BG"/>
            </a:p>
          </p:txBody>
        </p:sp>
        <p:sp>
          <p:nvSpPr>
            <p:cNvPr id="29749" name="Oval 101"/>
            <p:cNvSpPr>
              <a:spLocks noChangeArrowheads="1"/>
            </p:cNvSpPr>
            <p:nvPr/>
          </p:nvSpPr>
          <p:spPr bwMode="auto">
            <a:xfrm>
              <a:off x="7835900" y="5327650"/>
              <a:ext cx="469900" cy="463550"/>
            </a:xfrm>
            <a:prstGeom prst="ellipse">
              <a:avLst/>
            </a:prstGeom>
            <a:solidFill>
              <a:srgbClr val="FFFFFF"/>
            </a:solidFill>
            <a:ln w="9525">
              <a:solidFill>
                <a:srgbClr val="000000"/>
              </a:solidFill>
              <a:round/>
              <a:headEnd/>
              <a:tailEnd/>
            </a:ln>
          </p:spPr>
          <p:txBody>
            <a:bodyPr/>
            <a:lstStyle/>
            <a:p>
              <a:endParaRPr lang="bg-BG"/>
            </a:p>
          </p:txBody>
        </p:sp>
        <p:sp>
          <p:nvSpPr>
            <p:cNvPr id="29750" name="Oval 102"/>
            <p:cNvSpPr>
              <a:spLocks noChangeArrowheads="1"/>
            </p:cNvSpPr>
            <p:nvPr/>
          </p:nvSpPr>
          <p:spPr bwMode="auto">
            <a:xfrm>
              <a:off x="4800600" y="5251450"/>
              <a:ext cx="469900" cy="465138"/>
            </a:xfrm>
            <a:prstGeom prst="ellipse">
              <a:avLst/>
            </a:prstGeom>
            <a:solidFill>
              <a:srgbClr val="FFFFFF"/>
            </a:solidFill>
            <a:ln w="9525">
              <a:solidFill>
                <a:srgbClr val="000000"/>
              </a:solidFill>
              <a:round/>
              <a:headEnd/>
              <a:tailEnd/>
            </a:ln>
          </p:spPr>
          <p:txBody>
            <a:bodyPr/>
            <a:lstStyle/>
            <a:p>
              <a:endParaRPr lang="bg-BG"/>
            </a:p>
          </p:txBody>
        </p:sp>
        <p:sp>
          <p:nvSpPr>
            <p:cNvPr id="29751" name="Oval 103"/>
            <p:cNvSpPr>
              <a:spLocks noChangeArrowheads="1"/>
            </p:cNvSpPr>
            <p:nvPr/>
          </p:nvSpPr>
          <p:spPr bwMode="auto">
            <a:xfrm>
              <a:off x="6029325" y="4552950"/>
              <a:ext cx="469900" cy="465138"/>
            </a:xfrm>
            <a:prstGeom prst="ellipse">
              <a:avLst/>
            </a:prstGeom>
            <a:solidFill>
              <a:srgbClr val="FFFFFF"/>
            </a:solidFill>
            <a:ln w="9525">
              <a:solidFill>
                <a:srgbClr val="000000"/>
              </a:solidFill>
              <a:round/>
              <a:headEnd/>
              <a:tailEnd/>
            </a:ln>
          </p:spPr>
          <p:txBody>
            <a:bodyPr/>
            <a:lstStyle/>
            <a:p>
              <a:endParaRPr lang="bg-BG"/>
            </a:p>
          </p:txBody>
        </p:sp>
        <p:sp>
          <p:nvSpPr>
            <p:cNvPr id="29752" name="Oval 104"/>
            <p:cNvSpPr>
              <a:spLocks noChangeArrowheads="1"/>
            </p:cNvSpPr>
            <p:nvPr/>
          </p:nvSpPr>
          <p:spPr bwMode="auto">
            <a:xfrm>
              <a:off x="5233988" y="4552950"/>
              <a:ext cx="469900" cy="465138"/>
            </a:xfrm>
            <a:prstGeom prst="ellipse">
              <a:avLst/>
            </a:prstGeom>
            <a:solidFill>
              <a:srgbClr val="FFFFFF"/>
            </a:solidFill>
            <a:ln w="9525">
              <a:solidFill>
                <a:srgbClr val="000000"/>
              </a:solidFill>
              <a:round/>
              <a:headEnd/>
              <a:tailEnd/>
            </a:ln>
          </p:spPr>
          <p:txBody>
            <a:bodyPr/>
            <a:lstStyle/>
            <a:p>
              <a:endParaRPr lang="bg-BG"/>
            </a:p>
          </p:txBody>
        </p:sp>
        <p:sp>
          <p:nvSpPr>
            <p:cNvPr id="29753" name="Line 105"/>
            <p:cNvSpPr>
              <a:spLocks noChangeShapeType="1"/>
            </p:cNvSpPr>
            <p:nvPr/>
          </p:nvSpPr>
          <p:spPr bwMode="auto">
            <a:xfrm flipH="1">
              <a:off x="6029325" y="3587750"/>
              <a:ext cx="325438" cy="347663"/>
            </a:xfrm>
            <a:prstGeom prst="line">
              <a:avLst/>
            </a:prstGeom>
            <a:noFill/>
            <a:ln w="9525">
              <a:solidFill>
                <a:srgbClr val="000000"/>
              </a:solidFill>
              <a:round/>
              <a:headEnd/>
              <a:tailEnd type="triangle" w="med" len="med"/>
            </a:ln>
          </p:spPr>
          <p:txBody>
            <a:bodyPr/>
            <a:lstStyle/>
            <a:p>
              <a:endParaRPr lang="bg-BG"/>
            </a:p>
          </p:txBody>
        </p:sp>
        <p:sp>
          <p:nvSpPr>
            <p:cNvPr id="29754" name="Line 106"/>
            <p:cNvSpPr>
              <a:spLocks noChangeShapeType="1"/>
            </p:cNvSpPr>
            <p:nvPr/>
          </p:nvSpPr>
          <p:spPr bwMode="auto">
            <a:xfrm flipH="1">
              <a:off x="5559425" y="4322763"/>
              <a:ext cx="180975" cy="230188"/>
            </a:xfrm>
            <a:prstGeom prst="line">
              <a:avLst/>
            </a:prstGeom>
            <a:noFill/>
            <a:ln w="9525">
              <a:solidFill>
                <a:srgbClr val="000000"/>
              </a:solidFill>
              <a:round/>
              <a:headEnd/>
              <a:tailEnd type="triangle" w="med" len="med"/>
            </a:ln>
          </p:spPr>
          <p:txBody>
            <a:bodyPr/>
            <a:lstStyle/>
            <a:p>
              <a:endParaRPr lang="bg-BG"/>
            </a:p>
          </p:txBody>
        </p:sp>
        <p:sp>
          <p:nvSpPr>
            <p:cNvPr id="29755" name="Line 107"/>
            <p:cNvSpPr>
              <a:spLocks noChangeShapeType="1"/>
            </p:cNvSpPr>
            <p:nvPr/>
          </p:nvSpPr>
          <p:spPr bwMode="auto">
            <a:xfrm flipH="1">
              <a:off x="5126038" y="4978400"/>
              <a:ext cx="180975" cy="271463"/>
            </a:xfrm>
            <a:prstGeom prst="line">
              <a:avLst/>
            </a:prstGeom>
            <a:noFill/>
            <a:ln w="9525">
              <a:solidFill>
                <a:srgbClr val="000000"/>
              </a:solidFill>
              <a:round/>
              <a:headEnd/>
              <a:tailEnd type="triangle" w="med" len="med"/>
            </a:ln>
          </p:spPr>
          <p:txBody>
            <a:bodyPr/>
            <a:lstStyle/>
            <a:p>
              <a:endParaRPr lang="bg-BG"/>
            </a:p>
          </p:txBody>
        </p:sp>
        <p:sp>
          <p:nvSpPr>
            <p:cNvPr id="29756" name="Line 108"/>
            <p:cNvSpPr>
              <a:spLocks noChangeShapeType="1"/>
            </p:cNvSpPr>
            <p:nvPr/>
          </p:nvSpPr>
          <p:spPr bwMode="auto">
            <a:xfrm>
              <a:off x="6029325" y="4322763"/>
              <a:ext cx="217488" cy="230188"/>
            </a:xfrm>
            <a:prstGeom prst="line">
              <a:avLst/>
            </a:prstGeom>
            <a:noFill/>
            <a:ln w="9525">
              <a:solidFill>
                <a:srgbClr val="000000"/>
              </a:solidFill>
              <a:round/>
              <a:headEnd/>
              <a:tailEnd type="triangle" w="med" len="med"/>
            </a:ln>
          </p:spPr>
          <p:txBody>
            <a:bodyPr/>
            <a:lstStyle/>
            <a:p>
              <a:endParaRPr lang="bg-BG"/>
            </a:p>
          </p:txBody>
        </p:sp>
        <p:sp>
          <p:nvSpPr>
            <p:cNvPr id="29757" name="Line 109"/>
            <p:cNvSpPr>
              <a:spLocks noChangeShapeType="1"/>
            </p:cNvSpPr>
            <p:nvPr/>
          </p:nvSpPr>
          <p:spPr bwMode="auto">
            <a:xfrm>
              <a:off x="6715125" y="3587750"/>
              <a:ext cx="434975" cy="347663"/>
            </a:xfrm>
            <a:prstGeom prst="line">
              <a:avLst/>
            </a:prstGeom>
            <a:noFill/>
            <a:ln w="9525">
              <a:solidFill>
                <a:srgbClr val="000000"/>
              </a:solidFill>
              <a:round/>
              <a:headEnd/>
              <a:tailEnd type="triangle" w="med" len="med"/>
            </a:ln>
          </p:spPr>
          <p:txBody>
            <a:bodyPr/>
            <a:lstStyle/>
            <a:p>
              <a:endParaRPr lang="bg-BG"/>
            </a:p>
          </p:txBody>
        </p:sp>
        <p:sp>
          <p:nvSpPr>
            <p:cNvPr id="29758" name="Line 110"/>
            <p:cNvSpPr>
              <a:spLocks noChangeShapeType="1"/>
            </p:cNvSpPr>
            <p:nvPr/>
          </p:nvSpPr>
          <p:spPr bwMode="auto">
            <a:xfrm flipH="1">
              <a:off x="7004050" y="4322763"/>
              <a:ext cx="146050" cy="230188"/>
            </a:xfrm>
            <a:prstGeom prst="line">
              <a:avLst/>
            </a:prstGeom>
            <a:noFill/>
            <a:ln w="9525">
              <a:solidFill>
                <a:srgbClr val="000000"/>
              </a:solidFill>
              <a:round/>
              <a:headEnd/>
              <a:tailEnd type="triangle" w="med" len="med"/>
            </a:ln>
          </p:spPr>
          <p:txBody>
            <a:bodyPr/>
            <a:lstStyle/>
            <a:p>
              <a:endParaRPr lang="bg-BG"/>
            </a:p>
          </p:txBody>
        </p:sp>
        <p:sp>
          <p:nvSpPr>
            <p:cNvPr id="29759" name="Line 112"/>
            <p:cNvSpPr>
              <a:spLocks noChangeShapeType="1"/>
            </p:cNvSpPr>
            <p:nvPr/>
          </p:nvSpPr>
          <p:spPr bwMode="auto">
            <a:xfrm>
              <a:off x="7799388" y="4978400"/>
              <a:ext cx="217488" cy="349250"/>
            </a:xfrm>
            <a:prstGeom prst="line">
              <a:avLst/>
            </a:prstGeom>
            <a:noFill/>
            <a:ln w="9525">
              <a:solidFill>
                <a:srgbClr val="000000"/>
              </a:solidFill>
              <a:round/>
              <a:headEnd/>
              <a:tailEnd type="triangle" w="med" len="med"/>
            </a:ln>
          </p:spPr>
          <p:txBody>
            <a:bodyPr/>
            <a:lstStyle/>
            <a:p>
              <a:endParaRPr lang="bg-BG"/>
            </a:p>
          </p:txBody>
        </p:sp>
        <p:sp>
          <p:nvSpPr>
            <p:cNvPr id="29760" name="Line 113"/>
            <p:cNvSpPr>
              <a:spLocks noChangeShapeType="1"/>
            </p:cNvSpPr>
            <p:nvPr/>
          </p:nvSpPr>
          <p:spPr bwMode="auto">
            <a:xfrm>
              <a:off x="7402513" y="4322763"/>
              <a:ext cx="217488" cy="230188"/>
            </a:xfrm>
            <a:prstGeom prst="line">
              <a:avLst/>
            </a:prstGeom>
            <a:noFill/>
            <a:ln w="9525">
              <a:solidFill>
                <a:srgbClr val="000000"/>
              </a:solidFill>
              <a:round/>
              <a:headEnd/>
              <a:tailEnd type="triangle" w="med" len="med"/>
            </a:ln>
          </p:spPr>
          <p:txBody>
            <a:bodyPr/>
            <a:lstStyle/>
            <a:p>
              <a:endParaRPr lang="bg-BG"/>
            </a:p>
          </p:txBody>
        </p:sp>
        <p:sp>
          <p:nvSpPr>
            <p:cNvPr id="29761" name="Line 114"/>
            <p:cNvSpPr>
              <a:spLocks noChangeShapeType="1"/>
            </p:cNvSpPr>
            <p:nvPr/>
          </p:nvSpPr>
          <p:spPr bwMode="auto">
            <a:xfrm flipH="1">
              <a:off x="7402513" y="4978400"/>
              <a:ext cx="180975" cy="349250"/>
            </a:xfrm>
            <a:prstGeom prst="line">
              <a:avLst/>
            </a:prstGeom>
            <a:noFill/>
            <a:ln w="9525">
              <a:solidFill>
                <a:srgbClr val="000000"/>
              </a:solidFill>
              <a:round/>
              <a:headEnd/>
              <a:tailEnd type="triangle" w="med" len="med"/>
            </a:ln>
          </p:spPr>
          <p:txBody>
            <a:bodyPr/>
            <a:lstStyle/>
            <a:p>
              <a:endParaRPr lang="bg-BG"/>
            </a:p>
          </p:txBody>
        </p:sp>
        <p:sp>
          <p:nvSpPr>
            <p:cNvPr id="29762" name="Text Box 116"/>
            <p:cNvSpPr txBox="1">
              <a:spLocks noChangeArrowheads="1"/>
            </p:cNvSpPr>
            <p:nvPr/>
          </p:nvSpPr>
          <p:spPr bwMode="auto">
            <a:xfrm>
              <a:off x="4864100" y="5245100"/>
              <a:ext cx="6096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29763" name="Text Box 117"/>
            <p:cNvSpPr txBox="1">
              <a:spLocks noChangeArrowheads="1"/>
            </p:cNvSpPr>
            <p:nvPr/>
          </p:nvSpPr>
          <p:spPr bwMode="auto">
            <a:xfrm>
              <a:off x="5283200" y="4546600"/>
              <a:ext cx="609600" cy="457200"/>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29764" name="Text Box 118"/>
            <p:cNvSpPr txBox="1">
              <a:spLocks noChangeArrowheads="1"/>
            </p:cNvSpPr>
            <p:nvPr/>
          </p:nvSpPr>
          <p:spPr bwMode="auto">
            <a:xfrm>
              <a:off x="6286500" y="3200400"/>
              <a:ext cx="609600" cy="457200"/>
            </a:xfrm>
            <a:prstGeom prst="rect">
              <a:avLst/>
            </a:prstGeom>
            <a:noFill/>
            <a:ln w="9525">
              <a:noFill/>
              <a:miter lim="800000"/>
              <a:headEnd/>
              <a:tailEnd/>
            </a:ln>
          </p:spPr>
          <p:txBody>
            <a:bodyPr>
              <a:spAutoFit/>
            </a:bodyPr>
            <a:lstStyle/>
            <a:p>
              <a:pPr>
                <a:spcBef>
                  <a:spcPct val="50000"/>
                </a:spcBef>
              </a:pPr>
              <a:r>
                <a:rPr lang="bg-BG"/>
                <a:t>12</a:t>
              </a:r>
              <a:endParaRPr lang="en-US"/>
            </a:p>
          </p:txBody>
        </p:sp>
        <p:sp>
          <p:nvSpPr>
            <p:cNvPr id="29765" name="Text Box 119"/>
            <p:cNvSpPr txBox="1">
              <a:spLocks noChangeArrowheads="1"/>
            </p:cNvSpPr>
            <p:nvPr/>
          </p:nvSpPr>
          <p:spPr bwMode="auto">
            <a:xfrm>
              <a:off x="7035800" y="3886200"/>
              <a:ext cx="6096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29766" name="Text Box 120"/>
            <p:cNvSpPr txBox="1">
              <a:spLocks noChangeArrowheads="1"/>
            </p:cNvSpPr>
            <p:nvPr/>
          </p:nvSpPr>
          <p:spPr bwMode="auto">
            <a:xfrm>
              <a:off x="5702300" y="3898900"/>
              <a:ext cx="609600" cy="457200"/>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29767" name="Text Box 121"/>
            <p:cNvSpPr txBox="1">
              <a:spLocks noChangeArrowheads="1"/>
            </p:cNvSpPr>
            <p:nvPr/>
          </p:nvSpPr>
          <p:spPr bwMode="auto">
            <a:xfrm>
              <a:off x="6108700" y="4559300"/>
              <a:ext cx="6096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29768" name="Text Box 122"/>
            <p:cNvSpPr txBox="1">
              <a:spLocks noChangeArrowheads="1"/>
            </p:cNvSpPr>
            <p:nvPr/>
          </p:nvSpPr>
          <p:spPr bwMode="auto">
            <a:xfrm>
              <a:off x="6654800" y="4546600"/>
              <a:ext cx="6096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29769" name="Text Box 123"/>
            <p:cNvSpPr txBox="1">
              <a:spLocks noChangeArrowheads="1"/>
            </p:cNvSpPr>
            <p:nvPr/>
          </p:nvSpPr>
          <p:spPr bwMode="auto">
            <a:xfrm>
              <a:off x="7454900" y="4533900"/>
              <a:ext cx="6096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29770" name="Text Box 124"/>
            <p:cNvSpPr txBox="1">
              <a:spLocks noChangeArrowheads="1"/>
            </p:cNvSpPr>
            <p:nvPr/>
          </p:nvSpPr>
          <p:spPr bwMode="auto">
            <a:xfrm>
              <a:off x="7137400" y="5334000"/>
              <a:ext cx="609600" cy="457200"/>
            </a:xfrm>
            <a:prstGeom prst="rect">
              <a:avLst/>
            </a:prstGeom>
            <a:noFill/>
            <a:ln w="9525">
              <a:noFill/>
              <a:miter lim="800000"/>
              <a:headEnd/>
              <a:tailEnd/>
            </a:ln>
          </p:spPr>
          <p:txBody>
            <a:bodyPr>
              <a:spAutoFit/>
            </a:bodyPr>
            <a:lstStyle/>
            <a:p>
              <a:pPr>
                <a:spcBef>
                  <a:spcPct val="50000"/>
                </a:spcBef>
              </a:pPr>
              <a:r>
                <a:rPr lang="bg-BG"/>
                <a:t>22</a:t>
              </a:r>
              <a:endParaRPr lang="en-US"/>
            </a:p>
          </p:txBody>
        </p:sp>
        <p:sp>
          <p:nvSpPr>
            <p:cNvPr id="29771" name="Text Box 125"/>
            <p:cNvSpPr txBox="1">
              <a:spLocks noChangeArrowheads="1"/>
            </p:cNvSpPr>
            <p:nvPr/>
          </p:nvSpPr>
          <p:spPr bwMode="auto">
            <a:xfrm>
              <a:off x="7823200" y="5334000"/>
              <a:ext cx="6096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29772" name="Line 126"/>
            <p:cNvSpPr>
              <a:spLocks noChangeShapeType="1"/>
            </p:cNvSpPr>
            <p:nvPr/>
          </p:nvSpPr>
          <p:spPr bwMode="auto">
            <a:xfrm flipV="1">
              <a:off x="3657600" y="1828800"/>
              <a:ext cx="1143000" cy="457200"/>
            </a:xfrm>
            <a:prstGeom prst="line">
              <a:avLst/>
            </a:prstGeom>
            <a:noFill/>
            <a:ln w="9525">
              <a:solidFill>
                <a:schemeClr val="tx1"/>
              </a:solidFill>
              <a:round/>
              <a:headEnd/>
              <a:tailEnd type="triangle" w="med" len="med"/>
            </a:ln>
          </p:spPr>
          <p:txBody>
            <a:bodyPr wrap="none" anchor="ctr"/>
            <a:lstStyle/>
            <a:p>
              <a:endParaRPr lang="bg-BG"/>
            </a:p>
          </p:txBody>
        </p:sp>
        <p:sp>
          <p:nvSpPr>
            <p:cNvPr id="29773" name="Line 127"/>
            <p:cNvSpPr>
              <a:spLocks noChangeShapeType="1"/>
            </p:cNvSpPr>
            <p:nvPr/>
          </p:nvSpPr>
          <p:spPr bwMode="auto">
            <a:xfrm>
              <a:off x="3733800" y="3048000"/>
              <a:ext cx="1828800" cy="533400"/>
            </a:xfrm>
            <a:prstGeom prst="line">
              <a:avLst/>
            </a:prstGeom>
            <a:noFill/>
            <a:ln w="9525">
              <a:solidFill>
                <a:schemeClr val="tx1"/>
              </a:solidFill>
              <a:round/>
              <a:headEnd/>
              <a:tailEnd type="triangle" w="med" len="med"/>
            </a:ln>
          </p:spPr>
          <p:txBody>
            <a:bodyPr wrap="none" anchor="ctr"/>
            <a:lstStyle/>
            <a:p>
              <a:endParaRPr lang="bg-BG"/>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87450" y="188913"/>
            <a:ext cx="7772400" cy="6477000"/>
          </a:xfrm>
        </p:spPr>
        <p:txBody>
          <a:bodyPr>
            <a:normAutofit fontScale="90000"/>
          </a:bodyPr>
          <a:lstStyle/>
          <a:p>
            <a:pPr eaLnBrk="1" fontAlgn="auto" hangingPunct="1">
              <a:lnSpc>
                <a:spcPct val="80000"/>
              </a:lnSpc>
              <a:spcAft>
                <a:spcPts val="0"/>
              </a:spcAft>
              <a:defRPr/>
            </a:pPr>
            <a:r>
              <a:rPr lang="bg-BG" sz="2000">
                <a:solidFill>
                  <a:schemeClr val="tx1"/>
                </a:solidFill>
                <a:latin typeface="Courier New" pitchFamily="49" charset="0"/>
              </a:rPr>
              <a:t>Изтриване на възел:</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struct tree</a:t>
            </a:r>
            <a:r>
              <a:rPr lang="bg-BG" sz="1600">
                <a:solidFill>
                  <a:schemeClr val="tx1"/>
                </a:solidFill>
                <a:latin typeface="Courier New" pitchFamily="49" charset="0"/>
              </a:rPr>
              <a:t>  </a:t>
            </a:r>
            <a:r>
              <a:rPr lang="en-US" sz="1600">
                <a:solidFill>
                  <a:schemeClr val="tx1"/>
                </a:solidFill>
                <a:latin typeface="Courier New" pitchFamily="49" charset="0"/>
              </a:rPr>
              <a:t>{</a:t>
            </a:r>
            <a:br>
              <a:rPr lang="en-US" sz="1600">
                <a:solidFill>
                  <a:schemeClr val="tx1"/>
                </a:solidFill>
                <a:latin typeface="Courier New" pitchFamily="49" charset="0"/>
              </a:rPr>
            </a:br>
            <a:r>
              <a:rPr lang="en-US" sz="1600">
                <a:solidFill>
                  <a:schemeClr val="tx1"/>
                </a:solidFill>
                <a:latin typeface="Courier New" pitchFamily="49" charset="0"/>
              </a:rPr>
              <a:t>		int key;</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tree *left,*right;</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tree *root=NULL,*z;</a:t>
            </a:r>
            <a:r>
              <a:rPr lang="bg-BG" sz="1600">
                <a:solidFill>
                  <a:schemeClr val="tx1"/>
                </a:solidFill>
                <a:latin typeface="Courier New" pitchFamily="49" charset="0"/>
              </a:rPr>
              <a:t/>
            </a:r>
            <a:br>
              <a:rPr lang="bg-BG" sz="1600">
                <a:solidFill>
                  <a:schemeClr val="tx1"/>
                </a:solidFill>
                <a:latin typeface="Courier New" pitchFamily="49" charset="0"/>
              </a:rPr>
            </a:br>
            <a:r>
              <a:rPr lang="bg-BG" sz="1600">
                <a:solidFill>
                  <a:schemeClr val="tx1"/>
                </a:solidFill>
                <a:latin typeface="Courier New" pitchFamily="49" charset="0"/>
              </a:rPr>
              <a:t>...</a:t>
            </a:r>
            <a:br>
              <a:rPr lang="bg-BG" sz="1600">
                <a:solidFill>
                  <a:schemeClr val="tx1"/>
                </a:solidFill>
                <a:latin typeface="Courier New" pitchFamily="49" charset="0"/>
              </a:rPr>
            </a:br>
            <a:r>
              <a:rPr lang="en-US" sz="1600">
                <a:solidFill>
                  <a:schemeClr val="tx1"/>
                </a:solidFill>
                <a:latin typeface="Courier New" pitchFamily="49" charset="0"/>
              </a:rPr>
              <a:t>int del(int k)</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tree * &amp;p=search(k), *p0=p, **qq, *q;</a:t>
            </a:r>
            <a:r>
              <a:rPr lang="bg-BG" sz="1600">
                <a:solidFill>
                  <a:schemeClr val="tx1"/>
                </a:solidFill>
                <a:latin typeface="Courier New" pitchFamily="49" charset="0"/>
              </a:rPr>
              <a:t/>
            </a:r>
            <a:br>
              <a:rPr lang="bg-BG" sz="1600">
                <a:solidFill>
                  <a:schemeClr val="tx1"/>
                </a:solidFill>
                <a:latin typeface="Courier New" pitchFamily="49" charset="0"/>
              </a:rPr>
            </a:br>
            <a:r>
              <a:rPr lang="bg-BG" sz="1600">
                <a:solidFill>
                  <a:schemeClr val="tx1"/>
                </a:solidFill>
                <a:latin typeface="Courier New" pitchFamily="49" charset="0"/>
              </a:rPr>
              <a:t>//</a:t>
            </a:r>
            <a:r>
              <a:rPr lang="en-US" sz="1600">
                <a:solidFill>
                  <a:schemeClr val="tx1"/>
                </a:solidFill>
                <a:latin typeface="Courier New" pitchFamily="49" charset="0"/>
              </a:rPr>
              <a:t> search(k)</a:t>
            </a:r>
            <a:r>
              <a:rPr lang="bg-BG" sz="1600">
                <a:solidFill>
                  <a:schemeClr val="tx1"/>
                </a:solidFill>
                <a:latin typeface="Courier New" pitchFamily="49" charset="0"/>
              </a:rPr>
              <a:t>- функция, която търси в дървото възел </a:t>
            </a:r>
            <a:r>
              <a:rPr lang="en-US" sz="1600">
                <a:solidFill>
                  <a:schemeClr val="tx1"/>
                </a:solidFill>
                <a:latin typeface="Courier New" pitchFamily="49" charset="0"/>
              </a:rPr>
              <a:t/>
            </a:r>
            <a:br>
              <a:rPr lang="en-US" sz="1600">
                <a:solidFill>
                  <a:schemeClr val="tx1"/>
                </a:solidFill>
                <a:latin typeface="Courier New" pitchFamily="49" charset="0"/>
              </a:rPr>
            </a:br>
            <a:r>
              <a:rPr lang="en-US" sz="1600">
                <a:solidFill>
                  <a:schemeClr val="tx1"/>
                </a:solidFill>
                <a:latin typeface="Courier New" pitchFamily="49" charset="0"/>
              </a:rPr>
              <a:t>//</a:t>
            </a:r>
            <a:r>
              <a:rPr lang="bg-BG" sz="1600">
                <a:solidFill>
                  <a:schemeClr val="tx1"/>
                </a:solidFill>
                <a:latin typeface="Courier New" pitchFamily="49" charset="0"/>
              </a:rPr>
              <a:t> с ключова стойност </a:t>
            </a:r>
            <a:r>
              <a:rPr lang="en-US" sz="1600">
                <a:solidFill>
                  <a:schemeClr val="tx1"/>
                </a:solidFill>
                <a:latin typeface="Courier New" pitchFamily="49" charset="0"/>
              </a:rPr>
              <a:t>k</a:t>
            </a:r>
            <a:r>
              <a:rPr lang="bg-BG" sz="1600">
                <a:solidFill>
                  <a:schemeClr val="tx1"/>
                </a:solidFill>
                <a:latin typeface="Courier New" pitchFamily="49" charset="0"/>
              </a:rPr>
              <a:t> и връща адреса на указател към него</a:t>
            </a:r>
            <a:br>
              <a:rPr lang="bg-BG" sz="1600">
                <a:solidFill>
                  <a:schemeClr val="tx1"/>
                </a:solidFill>
                <a:latin typeface="Courier New" pitchFamily="49" charset="0"/>
              </a:rPr>
            </a:br>
            <a:r>
              <a:rPr lang="en-US" sz="1600">
                <a:solidFill>
                  <a:schemeClr val="tx1"/>
                </a:solidFill>
                <a:latin typeface="Courier New" pitchFamily="49" charset="0"/>
              </a:rPr>
              <a:t>  if (p==NULL) return 0;</a:t>
            </a:r>
            <a:r>
              <a:rPr lang="bg-BG" sz="1600">
                <a:solidFill>
                  <a:schemeClr val="tx1"/>
                </a:solidFill>
                <a:latin typeface="Courier New" pitchFamily="49" charset="0"/>
              </a:rPr>
              <a:t>	</a:t>
            </a:r>
            <a:r>
              <a:rPr lang="en-US" sz="1600">
                <a:solidFill>
                  <a:schemeClr val="tx1"/>
                </a:solidFill>
                <a:latin typeface="Courier New" pitchFamily="49" charset="0"/>
              </a:rPr>
              <a:t>//</a:t>
            </a:r>
            <a:r>
              <a:rPr lang="bg-BG" sz="1600">
                <a:solidFill>
                  <a:schemeClr val="tx1"/>
                </a:solidFill>
                <a:latin typeface="Courier New" pitchFamily="49" charset="0"/>
              </a:rPr>
              <a:t>Възелът не е намерен</a:t>
            </a:r>
            <a:br>
              <a:rPr lang="bg-BG" sz="1600">
                <a:solidFill>
                  <a:schemeClr val="tx1"/>
                </a:solidFill>
                <a:latin typeface="Courier New" pitchFamily="49" charset="0"/>
              </a:rPr>
            </a:br>
            <a:r>
              <a:rPr lang="en-US" sz="1600">
                <a:solidFill>
                  <a:schemeClr val="tx1"/>
                </a:solidFill>
                <a:latin typeface="Courier New" pitchFamily="49" charset="0"/>
              </a:rPr>
              <a:t>  if ((p-&gt;right==NULL))</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p=p-&gt;left; delete p0;</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else</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if(p-&gt;left==NULL)</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p=p-&gt;right; delete p0;</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else</a:t>
            </a:r>
            <a:r>
              <a:rPr lang="bg-BG" sz="1600">
                <a:solidFill>
                  <a:schemeClr val="tx1"/>
                </a:solidFill>
                <a:latin typeface="Courier New" pitchFamily="49" charset="0"/>
              </a:rPr>
              <a:t>			</a:t>
            </a:r>
            <a:r>
              <a:rPr lang="en-US" sz="1600">
                <a:solidFill>
                  <a:schemeClr val="tx1"/>
                </a:solidFill>
                <a:latin typeface="Courier New" pitchFamily="49" charset="0"/>
              </a:rPr>
              <a:t> //</a:t>
            </a:r>
            <a:r>
              <a:rPr lang="bg-BG" sz="1600">
                <a:solidFill>
                  <a:schemeClr val="tx1"/>
                </a:solidFill>
                <a:latin typeface="Courier New" pitchFamily="49" charset="0"/>
              </a:rPr>
              <a:t>Възелът е с два наследника</a:t>
            </a:r>
            <a:r>
              <a:rPr lang="en-US" sz="1600">
                <a:solidFill>
                  <a:schemeClr val="tx1"/>
                </a:solidFill>
                <a:latin typeface="Courier New" pitchFamily="49" charset="0"/>
              </a:rPr>
              <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qq=&amp;p-&gt;left;</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while ((*qq)-&gt;right)</a:t>
            </a:r>
            <a:br>
              <a:rPr lang="en-US" sz="1600">
                <a:solidFill>
                  <a:schemeClr val="tx1"/>
                </a:solidFill>
                <a:latin typeface="Courier New" pitchFamily="49" charset="0"/>
              </a:rPr>
            </a:br>
            <a:r>
              <a:rPr lang="en-US" sz="1600">
                <a:solidFill>
                  <a:schemeClr val="tx1"/>
                </a:solidFill>
                <a:latin typeface="Courier New" pitchFamily="49" charset="0"/>
              </a:rPr>
              <a:t>	   qq=&amp;(*qq)-&gt;right;</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p-&gt;key=(*qq)-&gt;key;</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q=*qq;</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*qq=q-&gt;left;</a:t>
            </a:r>
            <a:br>
              <a:rPr lang="en-US"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t>
            </a:r>
            <a:r>
              <a:rPr lang="en-US" sz="1600">
                <a:solidFill>
                  <a:schemeClr val="tx1"/>
                </a:solidFill>
                <a:latin typeface="Courier New" pitchFamily="49" charset="0"/>
              </a:rPr>
              <a:t>delete q;</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a:t>
            </a:r>
            <a:r>
              <a:rPr lang="bg-BG" sz="1600">
                <a:solidFill>
                  <a:schemeClr val="tx1"/>
                </a:solidFill>
                <a:latin typeface="Courier New" pitchFamily="49" charset="0"/>
              </a:rPr>
              <a:t/>
            </a:r>
            <a:br>
              <a:rPr lang="bg-BG" sz="1600">
                <a:solidFill>
                  <a:schemeClr val="tx1"/>
                </a:solidFill>
                <a:latin typeface="Courier New" pitchFamily="49" charset="0"/>
              </a:rPr>
            </a:br>
            <a:r>
              <a:rPr lang="en-US" sz="1600">
                <a:solidFill>
                  <a:schemeClr val="tx1"/>
                </a:solidFill>
                <a:latin typeface="Courier New" pitchFamily="49" charset="0"/>
              </a:rPr>
              <a:t>    return 1;</a:t>
            </a:r>
            <a:r>
              <a:rPr lang="bg-BG" sz="1600">
                <a:solidFill>
                  <a:schemeClr val="tx1"/>
                </a:solidFill>
                <a:latin typeface="Courier New" pitchFamily="49" charset="0"/>
              </a:rPr>
              <a:t/>
            </a:r>
            <a:br>
              <a:rPr lang="bg-BG" sz="1600">
                <a:solidFill>
                  <a:schemeClr val="tx1"/>
                </a:solidFill>
                <a:latin typeface="Courier New" pitchFamily="49" charset="0"/>
              </a:rPr>
            </a:br>
            <a:r>
              <a:rPr lang="en-AU" sz="1600">
                <a:solidFill>
                  <a:schemeClr val="tx1"/>
                </a:solidFill>
                <a:latin typeface="Courier New" pitchFamily="49" charset="0"/>
              </a:rPr>
              <a:t>}</a:t>
            </a:r>
            <a:endParaRPr lang="en-US">
              <a:solidFill>
                <a:schemeClr val="tx1"/>
              </a:solidFill>
              <a:latin typeface="Courier New" pitchFamily="49"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079500" y="476250"/>
            <a:ext cx="8064500" cy="6096000"/>
          </a:xfrm>
        </p:spPr>
        <p:txBody>
          <a:bodyPr>
            <a:normAutofit fontScale="90000"/>
          </a:bodyPr>
          <a:lstStyle/>
          <a:p>
            <a:pPr eaLnBrk="1" fontAlgn="auto" hangingPunct="1">
              <a:lnSpc>
                <a:spcPct val="90000"/>
              </a:lnSpc>
              <a:spcAft>
                <a:spcPts val="0"/>
              </a:spcAft>
              <a:defRPr/>
            </a:pPr>
            <a:r>
              <a:rPr lang="bg-BG" sz="2800" u="sng">
                <a:solidFill>
                  <a:schemeClr val="tx1"/>
                </a:solidFill>
              </a:rPr>
              <a:t>Задача:</a:t>
            </a:r>
            <a:r>
              <a:rPr lang="bg-BG" sz="2400">
                <a:solidFill>
                  <a:schemeClr val="tx1"/>
                </a:solidFill>
              </a:rPr>
              <a:t> създаване на двоично дърво, пресмятане на неговата височина и брой възли с последващо изобразяване на дървото.</a:t>
            </a:r>
            <a:br>
              <a:rPr lang="bg-BG" sz="2400">
                <a:solidFill>
                  <a:schemeClr val="tx1"/>
                </a:solidFill>
              </a:rPr>
            </a:br>
            <a:r>
              <a:rPr lang="bg-BG" sz="2400">
                <a:solidFill>
                  <a:schemeClr val="tx1"/>
                </a:solidFill>
              </a:rPr>
              <a:t>(Елементите на дървото са от символен тип.)</a:t>
            </a:r>
            <a:br>
              <a:rPr lang="bg-BG" sz="2400">
                <a:solidFill>
                  <a:schemeClr val="tx1"/>
                </a:solidFill>
              </a:rPr>
            </a:br>
            <a:r>
              <a:rPr lang="bg-BG" sz="2000">
                <a:solidFill>
                  <a:schemeClr val="tx1"/>
                </a:solidFill>
              </a:rPr>
              <a:t>/</a:t>
            </a:r>
            <a:r>
              <a:rPr lang="en-US" sz="2000">
                <a:solidFill>
                  <a:schemeClr val="tx1"/>
                </a:solidFill>
              </a:rPr>
              <a:t>/TREE'S PARAMETERS</a:t>
            </a:r>
            <a:br>
              <a:rPr lang="en-US" sz="2000">
                <a:solidFill>
                  <a:schemeClr val="tx1"/>
                </a:solidFill>
              </a:rPr>
            </a:br>
            <a:r>
              <a:rPr lang="en-US" sz="2000">
                <a:solidFill>
                  <a:schemeClr val="tx1"/>
                </a:solidFill>
              </a:rPr>
              <a:t>#include &lt;</a:t>
            </a:r>
            <a:r>
              <a:rPr lang="en-US" sz="2000" smtClean="0">
                <a:solidFill>
                  <a:schemeClr val="tx1"/>
                </a:solidFill>
              </a:rPr>
              <a:t>iostream&gt;</a:t>
            </a:r>
            <a:br>
              <a:rPr lang="en-US" sz="2000" smtClean="0">
                <a:solidFill>
                  <a:schemeClr val="tx1"/>
                </a:solidFill>
              </a:rPr>
            </a:br>
            <a:r>
              <a:rPr lang="en-US" sz="2000" smtClean="0">
                <a:solidFill>
                  <a:schemeClr val="tx1"/>
                </a:solidFill>
              </a:rPr>
              <a:t>using namespace std;</a:t>
            </a:r>
            <a:r>
              <a:rPr lang="en-US" sz="2000">
                <a:solidFill>
                  <a:schemeClr val="tx1"/>
                </a:solidFill>
              </a:rPr>
              <a:t/>
            </a:r>
            <a:br>
              <a:rPr lang="en-US" sz="2000">
                <a:solidFill>
                  <a:schemeClr val="tx1"/>
                </a:solidFill>
              </a:rPr>
            </a:br>
            <a:r>
              <a:rPr lang="en-US" sz="2000">
                <a:solidFill>
                  <a:schemeClr val="tx1"/>
                </a:solidFill>
              </a:rPr>
              <a:t>struct elem</a:t>
            </a:r>
            <a:br>
              <a:rPr lang="en-US" sz="2000">
                <a:solidFill>
                  <a:schemeClr val="tx1"/>
                </a:solidFill>
              </a:rPr>
            </a:br>
            <a:r>
              <a:rPr lang="en-US" sz="2000">
                <a:solidFill>
                  <a:schemeClr val="tx1"/>
                </a:solidFill>
              </a:rPr>
              <a:t>   { char key; elem *left, *right;} *root=NULL;</a:t>
            </a:r>
            <a:br>
              <a:rPr lang="en-US" sz="2000">
                <a:solidFill>
                  <a:schemeClr val="tx1"/>
                </a:solidFill>
              </a:rPr>
            </a:br>
            <a:r>
              <a:rPr lang="en-US" sz="800">
                <a:solidFill>
                  <a:schemeClr val="tx1"/>
                </a:solidFill>
              </a:rPr>
              <a:t/>
            </a:r>
            <a:br>
              <a:rPr lang="en-US" sz="800">
                <a:solidFill>
                  <a:schemeClr val="tx1"/>
                </a:solidFill>
              </a:rPr>
            </a:br>
            <a:r>
              <a:rPr lang="en-US" sz="2000">
                <a:solidFill>
                  <a:schemeClr val="tx1"/>
                </a:solidFill>
              </a:rPr>
              <a:t>void add(char n, elem* &amp;t);    //prototypes</a:t>
            </a:r>
            <a:br>
              <a:rPr lang="en-US" sz="2000">
                <a:solidFill>
                  <a:schemeClr val="tx1"/>
                </a:solidFill>
              </a:rPr>
            </a:br>
            <a:r>
              <a:rPr lang="en-US" sz="2000">
                <a:solidFill>
                  <a:schemeClr val="tx1"/>
                </a:solidFill>
              </a:rPr>
              <a:t>int count(elem *t);</a:t>
            </a:r>
            <a:br>
              <a:rPr lang="en-US" sz="2000">
                <a:solidFill>
                  <a:schemeClr val="tx1"/>
                </a:solidFill>
              </a:rPr>
            </a:br>
            <a:r>
              <a:rPr lang="en-US" sz="2000">
                <a:solidFill>
                  <a:schemeClr val="tx1"/>
                </a:solidFill>
              </a:rPr>
              <a:t>int height(elem *t);</a:t>
            </a:r>
            <a:br>
              <a:rPr lang="en-US" sz="2000">
                <a:solidFill>
                  <a:schemeClr val="tx1"/>
                </a:solidFill>
              </a:rPr>
            </a:br>
            <a:r>
              <a:rPr lang="en-US" sz="2000">
                <a:solidFill>
                  <a:schemeClr val="tx1"/>
                </a:solidFill>
              </a:rPr>
              <a:t>void printnode(char n, int h);</a:t>
            </a:r>
            <a:br>
              <a:rPr lang="en-US" sz="2000">
                <a:solidFill>
                  <a:schemeClr val="tx1"/>
                </a:solidFill>
              </a:rPr>
            </a:br>
            <a:r>
              <a:rPr lang="en-US" sz="2000">
                <a:solidFill>
                  <a:schemeClr val="tx1"/>
                </a:solidFill>
              </a:rPr>
              <a:t>void show (elem *t, int h);</a:t>
            </a:r>
            <a:br>
              <a:rPr lang="en-US" sz="2000">
                <a:solidFill>
                  <a:schemeClr val="tx1"/>
                </a:solidFill>
              </a:rPr>
            </a:br>
            <a:r>
              <a:rPr lang="en-US" sz="2000">
                <a:solidFill>
                  <a:schemeClr val="tx1"/>
                </a:solidFill>
              </a:rPr>
              <a:t>void main()</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char c;</a:t>
            </a:r>
            <a:br>
              <a:rPr lang="en-US" sz="2000">
                <a:solidFill>
                  <a:schemeClr val="tx1"/>
                </a:solidFill>
              </a:rPr>
            </a:br>
            <a:r>
              <a:rPr lang="en-US" sz="2000">
                <a:solidFill>
                  <a:schemeClr val="tx1"/>
                </a:solidFill>
              </a:rPr>
              <a:t>  cout&lt;&lt;"Enter some characters to be placed in a binary tree (followed by /): \n";</a:t>
            </a:r>
            <a:br>
              <a:rPr lang="en-US" sz="2000">
                <a:solidFill>
                  <a:schemeClr val="tx1"/>
                </a:solidFill>
              </a:rPr>
            </a:br>
            <a:r>
              <a:rPr lang="en-US" sz="2000">
                <a:solidFill>
                  <a:schemeClr val="tx1"/>
                </a:solidFill>
              </a:rPr>
              <a:t>  while ((cin&gt;&gt;c)&amp;&amp;(c!='/'))</a:t>
            </a:r>
            <a:br>
              <a:rPr lang="en-US" sz="2000">
                <a:solidFill>
                  <a:schemeClr val="tx1"/>
                </a:solidFill>
              </a:rPr>
            </a:br>
            <a:r>
              <a:rPr lang="en-US" sz="2000">
                <a:solidFill>
                  <a:schemeClr val="tx1"/>
                </a:solidFill>
              </a:rPr>
              <a:t>       add(c, root);</a:t>
            </a:r>
            <a:br>
              <a:rPr lang="en-US" sz="2000">
                <a:solidFill>
                  <a:schemeClr val="tx1"/>
                </a:solidFill>
              </a:rPr>
            </a:br>
            <a:r>
              <a:rPr lang="en-US" sz="2000">
                <a:solidFill>
                  <a:schemeClr val="tx1"/>
                </a:solidFill>
              </a:rPr>
              <a:t>  cout&lt;&lt;"\nNode's count: "&lt;&lt;count(root);</a:t>
            </a:r>
            <a:br>
              <a:rPr lang="en-US" sz="2000">
                <a:solidFill>
                  <a:schemeClr val="tx1"/>
                </a:solidFill>
              </a:rPr>
            </a:br>
            <a:r>
              <a:rPr lang="en-US" sz="2000">
                <a:solidFill>
                  <a:schemeClr val="tx1"/>
                </a:solidFill>
              </a:rPr>
              <a:t>  int h=height(root)+1;</a:t>
            </a:r>
            <a:r>
              <a:rPr lang="bg-BG" sz="2000">
                <a:solidFill>
                  <a:schemeClr val="tx1"/>
                </a:solidFill>
              </a:rPr>
              <a:t>         </a:t>
            </a:r>
            <a:r>
              <a:rPr lang="en-US" sz="2000">
                <a:solidFill>
                  <a:schemeClr val="tx1"/>
                </a:solidFill>
              </a:rPr>
              <a:t>//+1 - for NULL-nodes</a:t>
            </a:r>
            <a:br>
              <a:rPr lang="en-US" sz="2000">
                <a:solidFill>
                  <a:schemeClr val="tx1"/>
                </a:solidFill>
              </a:rPr>
            </a:br>
            <a:r>
              <a:rPr lang="en-US" sz="2000">
                <a:solidFill>
                  <a:schemeClr val="tx1"/>
                </a:solidFill>
              </a:rPr>
              <a:t>  cout&lt;&lt;"\nTree's height: "&lt;&lt;h&lt;&lt;'\n';</a:t>
            </a:r>
            <a:br>
              <a:rPr lang="en-US" sz="2000">
                <a:solidFill>
                  <a:schemeClr val="tx1"/>
                </a:solidFill>
              </a:rPr>
            </a:br>
            <a:r>
              <a:rPr lang="en-US" sz="2000">
                <a:solidFill>
                  <a:schemeClr val="tx1"/>
                </a:solidFill>
              </a:rPr>
              <a:t>  show(root, h);</a:t>
            </a:r>
            <a:br>
              <a:rPr lang="en-US" sz="2000">
                <a:solidFill>
                  <a:schemeClr val="tx1"/>
                </a:solidFill>
              </a:rPr>
            </a:br>
            <a:r>
              <a:rPr lang="en-US" sz="2000">
                <a:solidFill>
                  <a:schemeClr val="tx1"/>
                </a:solidFill>
              </a:rPr>
              <a:t>}</a:t>
            </a:r>
            <a:r>
              <a:rPr lang="en-US" sz="2400">
                <a:solidFill>
                  <a:schemeClr val="tx1"/>
                </a:solidFill>
              </a:rPr>
              <a:t/>
            </a:r>
            <a:br>
              <a:rPr lang="en-US" sz="2400">
                <a:solidFill>
                  <a:schemeClr val="tx1"/>
                </a:solidFill>
              </a:rPr>
            </a:br>
            <a:endParaRPr lang="en-US" sz="240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331913" y="404813"/>
            <a:ext cx="6715125" cy="5867400"/>
          </a:xfrm>
        </p:spPr>
        <p:txBody>
          <a:bodyPr>
            <a:normAutofit fontScale="90000"/>
          </a:bodyPr>
          <a:lstStyle/>
          <a:p>
            <a:pPr eaLnBrk="1" fontAlgn="auto" hangingPunct="1">
              <a:lnSpc>
                <a:spcPct val="90000"/>
              </a:lnSpc>
              <a:spcAft>
                <a:spcPts val="0"/>
              </a:spcAft>
              <a:defRPr/>
            </a:pPr>
            <a:r>
              <a:rPr lang="en-US" sz="2400">
                <a:solidFill>
                  <a:schemeClr val="tx2">
                    <a:satMod val="130000"/>
                  </a:schemeClr>
                </a:solidFill>
              </a:rPr>
              <a:t/>
            </a:r>
            <a:br>
              <a:rPr lang="en-US" sz="2400">
                <a:solidFill>
                  <a:schemeClr val="tx2">
                    <a:satMod val="130000"/>
                  </a:schemeClr>
                </a:solidFill>
              </a:rPr>
            </a:br>
            <a:r>
              <a:rPr lang="en-US" sz="2400">
                <a:solidFill>
                  <a:schemeClr val="tx1"/>
                </a:solidFill>
              </a:rPr>
              <a:t/>
            </a:r>
            <a:br>
              <a:rPr lang="en-US" sz="2400">
                <a:solidFill>
                  <a:schemeClr val="tx1"/>
                </a:solidFill>
              </a:rPr>
            </a:br>
            <a:r>
              <a:rPr lang="en-US" sz="2000">
                <a:solidFill>
                  <a:schemeClr val="tx1"/>
                </a:solidFill>
              </a:rPr>
              <a:t>void add(char n, elem* &amp;t)</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if (t==NULL)</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t=new elem;</a:t>
            </a:r>
            <a:br>
              <a:rPr lang="en-US" sz="2000">
                <a:solidFill>
                  <a:schemeClr val="tx1"/>
                </a:solidFill>
              </a:rPr>
            </a:br>
            <a:r>
              <a:rPr lang="en-US" sz="2000">
                <a:solidFill>
                  <a:schemeClr val="tx1"/>
                </a:solidFill>
              </a:rPr>
              <a:t>      t-&gt;key=n;</a:t>
            </a:r>
            <a:br>
              <a:rPr lang="en-US" sz="2000">
                <a:solidFill>
                  <a:schemeClr val="tx1"/>
                </a:solidFill>
              </a:rPr>
            </a:br>
            <a:r>
              <a:rPr lang="en-US" sz="2000">
                <a:solidFill>
                  <a:schemeClr val="tx1"/>
                </a:solidFill>
              </a:rPr>
              <a:t>      t-&gt;left=t-&gt;right=NULL;</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else</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if (t-&gt;key&lt;n)</a:t>
            </a:r>
            <a:br>
              <a:rPr lang="en-US" sz="2000">
                <a:solidFill>
                  <a:schemeClr val="tx1"/>
                </a:solidFill>
              </a:rPr>
            </a:br>
            <a:r>
              <a:rPr lang="en-US" sz="2000">
                <a:solidFill>
                  <a:schemeClr val="tx1"/>
                </a:solidFill>
              </a:rPr>
              <a:t>	  add(n,t-&gt;right);</a:t>
            </a:r>
            <a:br>
              <a:rPr lang="en-US" sz="2000">
                <a:solidFill>
                  <a:schemeClr val="tx1"/>
                </a:solidFill>
              </a:rPr>
            </a:br>
            <a:r>
              <a:rPr lang="en-US" sz="2000">
                <a:solidFill>
                  <a:schemeClr val="tx1"/>
                </a:solidFill>
              </a:rPr>
              <a:t>	else</a:t>
            </a:r>
            <a:br>
              <a:rPr lang="en-US" sz="2000">
                <a:solidFill>
                  <a:schemeClr val="tx1"/>
                </a:solidFill>
              </a:rPr>
            </a:br>
            <a:r>
              <a:rPr lang="en-US" sz="2000">
                <a:solidFill>
                  <a:schemeClr val="tx1"/>
                </a:solidFill>
              </a:rPr>
              <a:t>	  add(n,t-&gt;left);</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int count (elem *t)</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if (t==NULL) return 0;</a:t>
            </a:r>
            <a:br>
              <a:rPr lang="en-US" sz="2000">
                <a:solidFill>
                  <a:schemeClr val="tx1"/>
                </a:solidFill>
              </a:rPr>
            </a:br>
            <a:r>
              <a:rPr lang="en-US" sz="2000">
                <a:solidFill>
                  <a:schemeClr val="tx1"/>
                </a:solidFill>
              </a:rPr>
              <a:t>  return count(t-&gt;left)+count(t-&gt;right)+1;</a:t>
            </a:r>
            <a:br>
              <a:rPr lang="en-US" sz="2000">
                <a:solidFill>
                  <a:schemeClr val="tx1"/>
                </a:solidFill>
              </a:rPr>
            </a:br>
            <a:r>
              <a:rPr lang="en-US" sz="2000">
                <a:solidFill>
                  <a:schemeClr val="tx1"/>
                </a:solidFill>
              </a:rPr>
              <a:t>}</a:t>
            </a:r>
            <a:br>
              <a:rPr lang="en-US" sz="2000">
                <a:solidFill>
                  <a:schemeClr val="tx1"/>
                </a:solidFill>
              </a:rPr>
            </a:br>
            <a:endParaRPr lang="en-US" sz="240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116013" y="260350"/>
            <a:ext cx="6786562" cy="5867400"/>
          </a:xfrm>
        </p:spPr>
        <p:txBody>
          <a:bodyPr>
            <a:normAutofit fontScale="90000"/>
          </a:bodyPr>
          <a:lstStyle/>
          <a:p>
            <a:pPr eaLnBrk="1" fontAlgn="auto" hangingPunct="1">
              <a:lnSpc>
                <a:spcPct val="80000"/>
              </a:lnSpc>
              <a:spcAft>
                <a:spcPts val="0"/>
              </a:spcAft>
              <a:defRPr/>
            </a:pPr>
            <a:r>
              <a:rPr lang="en-US" sz="2400">
                <a:solidFill>
                  <a:schemeClr val="tx1"/>
                </a:solidFill>
              </a:rPr>
              <a:t/>
            </a:r>
            <a:br>
              <a:rPr lang="en-US" sz="2400">
                <a:solidFill>
                  <a:schemeClr val="tx1"/>
                </a:solidFill>
              </a:rPr>
            </a:br>
            <a:r>
              <a:rPr lang="en-US" sz="2400">
                <a:solidFill>
                  <a:schemeClr val="tx1"/>
                </a:solidFill>
              </a:rPr>
              <a:t/>
            </a:r>
            <a:br>
              <a:rPr lang="en-US" sz="2400">
                <a:solidFill>
                  <a:schemeClr val="tx1"/>
                </a:solidFill>
              </a:rPr>
            </a:br>
            <a:r>
              <a:rPr lang="en-US" sz="2000">
                <a:solidFill>
                  <a:schemeClr val="tx1"/>
                </a:solidFill>
              </a:rPr>
              <a:t>int height (elem *t)</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if (t==NULL) return -1;</a:t>
            </a:r>
            <a:br>
              <a:rPr lang="en-US" sz="2000">
                <a:solidFill>
                  <a:schemeClr val="tx1"/>
                </a:solidFill>
              </a:rPr>
            </a:br>
            <a:r>
              <a:rPr lang="en-US" sz="2000">
                <a:solidFill>
                  <a:schemeClr val="tx1"/>
                </a:solidFill>
              </a:rPr>
              <a:t>  int u=height(t-&gt;left), v=height(t-&gt;right);</a:t>
            </a:r>
            <a:br>
              <a:rPr lang="en-US" sz="2000">
                <a:solidFill>
                  <a:schemeClr val="tx1"/>
                </a:solidFill>
              </a:rPr>
            </a:br>
            <a:r>
              <a:rPr lang="en-US" sz="2000">
                <a:solidFill>
                  <a:schemeClr val="tx1"/>
                </a:solidFill>
              </a:rPr>
              <a:t>  if (u&gt;v) return u+1;</a:t>
            </a:r>
            <a:br>
              <a:rPr lang="en-US" sz="2000">
                <a:solidFill>
                  <a:schemeClr val="tx1"/>
                </a:solidFill>
              </a:rPr>
            </a:br>
            <a:r>
              <a:rPr lang="en-US" sz="2000">
                <a:solidFill>
                  <a:schemeClr val="tx1"/>
                </a:solidFill>
              </a:rPr>
              <a:t>     else</a:t>
            </a:r>
            <a:br>
              <a:rPr lang="en-US" sz="2000">
                <a:solidFill>
                  <a:schemeClr val="tx1"/>
                </a:solidFill>
              </a:rPr>
            </a:br>
            <a:r>
              <a:rPr lang="en-US" sz="2000">
                <a:solidFill>
                  <a:schemeClr val="tx1"/>
                </a:solidFill>
              </a:rPr>
              <a:t>	   return v+1;</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void printnode (char n, int h)</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for (int i=0; i&lt;h; i++)</a:t>
            </a:r>
            <a:br>
              <a:rPr lang="en-US" sz="2000">
                <a:solidFill>
                  <a:schemeClr val="tx1"/>
                </a:solidFill>
              </a:rPr>
            </a:br>
            <a:r>
              <a:rPr lang="en-US" sz="2000">
                <a:solidFill>
                  <a:schemeClr val="tx1"/>
                </a:solidFill>
              </a:rPr>
              <a:t>     cout&lt;&lt;"   ";</a:t>
            </a:r>
            <a:br>
              <a:rPr lang="en-US" sz="2000">
                <a:solidFill>
                  <a:schemeClr val="tx1"/>
                </a:solidFill>
              </a:rPr>
            </a:br>
            <a:r>
              <a:rPr lang="en-US" sz="2000">
                <a:solidFill>
                  <a:schemeClr val="tx1"/>
                </a:solidFill>
              </a:rPr>
              <a:t>  cout&lt;&lt;n&lt;&lt;'\n';</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void show (elem *t, int h)</a:t>
            </a:r>
            <a:br>
              <a:rPr lang="en-US" sz="2000">
                <a:solidFill>
                  <a:schemeClr val="tx1"/>
                </a:solidFill>
              </a:rPr>
            </a:br>
            <a:r>
              <a:rPr lang="en-US" sz="2000">
                <a:solidFill>
                  <a:schemeClr val="tx1"/>
                </a:solidFill>
              </a:rPr>
              <a:t>{</a:t>
            </a:r>
            <a:br>
              <a:rPr lang="en-US" sz="2000">
                <a:solidFill>
                  <a:schemeClr val="tx1"/>
                </a:solidFill>
              </a:rPr>
            </a:br>
            <a:r>
              <a:rPr lang="en-US" sz="2000">
                <a:solidFill>
                  <a:schemeClr val="tx1"/>
                </a:solidFill>
              </a:rPr>
              <a:t>  if (t==NULL)</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printnode('*', h);</a:t>
            </a:r>
            <a:br>
              <a:rPr lang="en-US" sz="2000">
                <a:solidFill>
                  <a:schemeClr val="tx1"/>
                </a:solidFill>
              </a:rPr>
            </a:br>
            <a:r>
              <a:rPr lang="en-US" sz="2000">
                <a:solidFill>
                  <a:schemeClr val="tx1"/>
                </a:solidFill>
              </a:rPr>
              <a:t>      return;</a:t>
            </a:r>
            <a:br>
              <a:rPr lang="en-US" sz="2000">
                <a:solidFill>
                  <a:schemeClr val="tx1"/>
                </a:solidFill>
              </a:rPr>
            </a:br>
            <a:r>
              <a:rPr lang="en-US" sz="2000">
                <a:solidFill>
                  <a:schemeClr val="tx1"/>
                </a:solidFill>
              </a:rPr>
              <a:t>    }</a:t>
            </a:r>
            <a:br>
              <a:rPr lang="en-US" sz="2000">
                <a:solidFill>
                  <a:schemeClr val="tx1"/>
                </a:solidFill>
              </a:rPr>
            </a:br>
            <a:r>
              <a:rPr lang="en-US" sz="2000">
                <a:solidFill>
                  <a:schemeClr val="tx1"/>
                </a:solidFill>
              </a:rPr>
              <a:t>  show(t-&gt;right, h+1);</a:t>
            </a:r>
            <a:br>
              <a:rPr lang="en-US" sz="2000">
                <a:solidFill>
                  <a:schemeClr val="tx1"/>
                </a:solidFill>
              </a:rPr>
            </a:br>
            <a:r>
              <a:rPr lang="en-US" sz="2000">
                <a:solidFill>
                  <a:schemeClr val="tx1"/>
                </a:solidFill>
              </a:rPr>
              <a:t>  printnode(t-&gt;key, h);</a:t>
            </a:r>
            <a:br>
              <a:rPr lang="en-US" sz="2000">
                <a:solidFill>
                  <a:schemeClr val="tx1"/>
                </a:solidFill>
              </a:rPr>
            </a:br>
            <a:r>
              <a:rPr lang="en-US" sz="2000">
                <a:solidFill>
                  <a:schemeClr val="tx1"/>
                </a:solidFill>
              </a:rPr>
              <a:t>  show(t-&gt;left, h+1);</a:t>
            </a:r>
            <a:br>
              <a:rPr lang="en-US" sz="2000">
                <a:solidFill>
                  <a:schemeClr val="tx1"/>
                </a:solidFill>
              </a:rPr>
            </a:br>
            <a:r>
              <a:rPr lang="en-US" sz="2000">
                <a:solidFill>
                  <a:schemeClr val="tx1"/>
                </a:solidFill>
              </a:rPr>
              <a:t>}</a:t>
            </a:r>
            <a:endParaRPr lang="en-US" sz="240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116013" y="1371600"/>
            <a:ext cx="7772400" cy="5486400"/>
          </a:xfrm>
        </p:spPr>
        <p:txBody>
          <a:bodyPr>
            <a:normAutofit fontScale="90000"/>
          </a:bodyPr>
          <a:lstStyle/>
          <a:p>
            <a:pPr eaLnBrk="1" fontAlgn="auto" hangingPunct="1">
              <a:lnSpc>
                <a:spcPct val="120000"/>
              </a:lnSpc>
              <a:spcAft>
                <a:spcPts val="0"/>
              </a:spcAft>
              <a:defRPr/>
            </a:pPr>
            <a:r>
              <a:rPr lang="bg-BG" sz="2800">
                <a:solidFill>
                  <a:schemeClr val="tx2">
                    <a:satMod val="130000"/>
                  </a:schemeClr>
                </a:solidFill>
              </a:rPr>
              <a:t>	     </a:t>
            </a:r>
            <a:r>
              <a:rPr lang="bg-BG" sz="2800">
                <a:solidFill>
                  <a:schemeClr val="tx1"/>
                </a:solidFill>
              </a:rPr>
              <a:t>Балансирани двоични дървета</a:t>
            </a:r>
            <a:r>
              <a:rPr lang="bg-BG" sz="2800">
                <a:solidFill>
                  <a:schemeClr val="tx2">
                    <a:satMod val="130000"/>
                  </a:schemeClr>
                </a:solidFill>
              </a:rPr>
              <a:t/>
            </a:r>
            <a:br>
              <a:rPr lang="bg-BG" sz="2800">
                <a:solidFill>
                  <a:schemeClr val="tx2">
                    <a:satMod val="130000"/>
                  </a:schemeClr>
                </a:solidFill>
              </a:rPr>
            </a:br>
            <a:r>
              <a:rPr lang="bg-BG" sz="1400">
                <a:solidFill>
                  <a:schemeClr val="tx2">
                    <a:satMod val="130000"/>
                  </a:schemeClr>
                </a:solidFill>
              </a:rPr>
              <a:t/>
            </a:r>
            <a:br>
              <a:rPr lang="bg-BG" sz="1400">
                <a:solidFill>
                  <a:schemeClr val="tx2">
                    <a:satMod val="130000"/>
                  </a:schemeClr>
                </a:solidFill>
              </a:rPr>
            </a:br>
            <a:r>
              <a:rPr lang="bg-BG" sz="2800">
                <a:solidFill>
                  <a:schemeClr val="tx2">
                    <a:satMod val="130000"/>
                  </a:schemeClr>
                </a:solidFill>
              </a:rPr>
              <a:t>	</a:t>
            </a:r>
            <a:r>
              <a:rPr lang="bg-BG" sz="2400">
                <a:solidFill>
                  <a:schemeClr val="tx1"/>
                </a:solidFill>
              </a:rPr>
              <a:t>Всяко двоично дърво може да бъде </a:t>
            </a:r>
            <a:r>
              <a:rPr lang="bg-BG" sz="2400" b="1">
                <a:solidFill>
                  <a:schemeClr val="tx1"/>
                </a:solidFill>
              </a:rPr>
              <a:t>балансирано</a:t>
            </a:r>
            <a:r>
              <a:rPr lang="bg-BG" sz="2400">
                <a:solidFill>
                  <a:schemeClr val="tx1"/>
                </a:solidFill>
              </a:rPr>
              <a:t>. Двоично дърво се нарича </a:t>
            </a:r>
            <a:r>
              <a:rPr lang="bg-BG" sz="2400" b="1">
                <a:solidFill>
                  <a:schemeClr val="tx1"/>
                </a:solidFill>
              </a:rPr>
              <a:t>балансирано</a:t>
            </a:r>
            <a:r>
              <a:rPr lang="bg-BG" sz="2400">
                <a:solidFill>
                  <a:schemeClr val="tx1"/>
                </a:solidFill>
              </a:rPr>
              <a:t> или </a:t>
            </a:r>
            <a:r>
              <a:rPr lang="bg-BG" sz="2400" b="1">
                <a:solidFill>
                  <a:schemeClr val="tx1"/>
                </a:solidFill>
              </a:rPr>
              <a:t>балансирано по височина</a:t>
            </a:r>
            <a:r>
              <a:rPr lang="bg-BG" sz="2400">
                <a:solidFill>
                  <a:schemeClr val="tx1"/>
                </a:solidFill>
              </a:rPr>
              <a:t>, ако разликата във височините на поддърветата на всеки негов възел е най-много 1</a:t>
            </a:r>
            <a:r>
              <a:rPr lang="bg-BG" sz="2400" smtClean="0">
                <a:solidFill>
                  <a:schemeClr val="tx1"/>
                </a:solidFill>
              </a:rPr>
              <a:t>:</a:t>
            </a:r>
            <a:r>
              <a:rPr lang="en-US" sz="2400" smtClean="0">
                <a:solidFill>
                  <a:schemeClr val="tx1"/>
                </a:solidFill>
              </a:rPr>
              <a:t/>
            </a:r>
            <a:br>
              <a:rPr lang="en-US" sz="2400" smtClean="0">
                <a:solidFill>
                  <a:schemeClr val="tx1"/>
                </a:solidFill>
              </a:rPr>
            </a:br>
            <a:r>
              <a:rPr lang="bg-BG" sz="2400">
                <a:solidFill>
                  <a:schemeClr val="tx1"/>
                </a:solidFill>
              </a:rPr>
              <a:t/>
            </a:r>
            <a:br>
              <a:rPr lang="bg-BG" sz="24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400">
                <a:solidFill>
                  <a:schemeClr val="tx1"/>
                </a:solidFill>
              </a:rPr>
              <a:t>Лявото дърво не е балансирано. Дясното е балансирано</a:t>
            </a:r>
            <a:r>
              <a:rPr lang="en-AU" sz="2000">
                <a:solidFill>
                  <a:schemeClr val="tx1"/>
                </a:solidFill>
              </a:rPr>
              <a:t>.</a:t>
            </a:r>
            <a:br>
              <a:rPr lang="en-AU"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endParaRPr lang="en-US" sz="2000">
              <a:solidFill>
                <a:schemeClr val="tx1"/>
              </a:solidFill>
            </a:endParaRPr>
          </a:p>
        </p:txBody>
      </p:sp>
      <p:grpSp>
        <p:nvGrpSpPr>
          <p:cNvPr id="34819" name="Group 3"/>
          <p:cNvGrpSpPr>
            <a:grpSpLocks/>
          </p:cNvGrpSpPr>
          <p:nvPr/>
        </p:nvGrpSpPr>
        <p:grpSpPr bwMode="auto">
          <a:xfrm>
            <a:off x="2195513" y="2997200"/>
            <a:ext cx="5867400" cy="2667000"/>
            <a:chOff x="1161" y="6664"/>
            <a:chExt cx="6136" cy="2527"/>
          </a:xfrm>
        </p:grpSpPr>
        <p:sp>
          <p:nvSpPr>
            <p:cNvPr id="34820" name="Oval 4"/>
            <p:cNvSpPr>
              <a:spLocks noChangeArrowheads="1"/>
            </p:cNvSpPr>
            <p:nvPr/>
          </p:nvSpPr>
          <p:spPr bwMode="auto">
            <a:xfrm>
              <a:off x="2211" y="6664"/>
              <a:ext cx="379" cy="337"/>
            </a:xfrm>
            <a:prstGeom prst="ellipse">
              <a:avLst/>
            </a:prstGeom>
            <a:noFill/>
            <a:ln w="12700">
              <a:solidFill>
                <a:srgbClr val="000000"/>
              </a:solidFill>
              <a:round/>
              <a:headEnd/>
              <a:tailEnd/>
            </a:ln>
          </p:spPr>
          <p:txBody>
            <a:bodyPr/>
            <a:lstStyle/>
            <a:p>
              <a:endParaRPr lang="bg-BG"/>
            </a:p>
          </p:txBody>
        </p:sp>
        <p:sp>
          <p:nvSpPr>
            <p:cNvPr id="34821" name="Oval 5"/>
            <p:cNvSpPr>
              <a:spLocks noChangeArrowheads="1"/>
            </p:cNvSpPr>
            <p:nvPr/>
          </p:nvSpPr>
          <p:spPr bwMode="auto">
            <a:xfrm>
              <a:off x="1609" y="7320"/>
              <a:ext cx="379" cy="337"/>
            </a:xfrm>
            <a:prstGeom prst="ellipse">
              <a:avLst/>
            </a:prstGeom>
            <a:noFill/>
            <a:ln w="12700">
              <a:solidFill>
                <a:srgbClr val="000000"/>
              </a:solidFill>
              <a:round/>
              <a:headEnd/>
              <a:tailEnd/>
            </a:ln>
          </p:spPr>
          <p:txBody>
            <a:bodyPr/>
            <a:lstStyle/>
            <a:p>
              <a:endParaRPr lang="bg-BG"/>
            </a:p>
          </p:txBody>
        </p:sp>
        <p:sp>
          <p:nvSpPr>
            <p:cNvPr id="34822" name="Oval 6"/>
            <p:cNvSpPr>
              <a:spLocks noChangeArrowheads="1"/>
            </p:cNvSpPr>
            <p:nvPr/>
          </p:nvSpPr>
          <p:spPr bwMode="auto">
            <a:xfrm>
              <a:off x="2869" y="7349"/>
              <a:ext cx="379" cy="351"/>
            </a:xfrm>
            <a:prstGeom prst="ellipse">
              <a:avLst/>
            </a:prstGeom>
            <a:noFill/>
            <a:ln w="12700">
              <a:solidFill>
                <a:srgbClr val="000000"/>
              </a:solidFill>
              <a:round/>
              <a:headEnd/>
              <a:tailEnd/>
            </a:ln>
          </p:spPr>
          <p:txBody>
            <a:bodyPr/>
            <a:lstStyle/>
            <a:p>
              <a:endParaRPr lang="bg-BG"/>
            </a:p>
          </p:txBody>
        </p:sp>
        <p:sp>
          <p:nvSpPr>
            <p:cNvPr id="34823" name="Oval 7"/>
            <p:cNvSpPr>
              <a:spLocks noChangeArrowheads="1"/>
            </p:cNvSpPr>
            <p:nvPr/>
          </p:nvSpPr>
          <p:spPr bwMode="auto">
            <a:xfrm>
              <a:off x="1161" y="8045"/>
              <a:ext cx="379" cy="337"/>
            </a:xfrm>
            <a:prstGeom prst="ellipse">
              <a:avLst/>
            </a:prstGeom>
            <a:noFill/>
            <a:ln w="12700">
              <a:solidFill>
                <a:srgbClr val="000000"/>
              </a:solidFill>
              <a:round/>
              <a:headEnd/>
              <a:tailEnd/>
            </a:ln>
          </p:spPr>
          <p:txBody>
            <a:bodyPr/>
            <a:lstStyle/>
            <a:p>
              <a:endParaRPr lang="bg-BG"/>
            </a:p>
          </p:txBody>
        </p:sp>
        <p:sp>
          <p:nvSpPr>
            <p:cNvPr id="34824" name="Oval 8"/>
            <p:cNvSpPr>
              <a:spLocks noChangeArrowheads="1"/>
            </p:cNvSpPr>
            <p:nvPr/>
          </p:nvSpPr>
          <p:spPr bwMode="auto">
            <a:xfrm>
              <a:off x="3253" y="8001"/>
              <a:ext cx="379" cy="337"/>
            </a:xfrm>
            <a:prstGeom prst="ellipse">
              <a:avLst/>
            </a:prstGeom>
            <a:noFill/>
            <a:ln w="12700">
              <a:solidFill>
                <a:srgbClr val="000000"/>
              </a:solidFill>
              <a:round/>
              <a:headEnd/>
              <a:tailEnd/>
            </a:ln>
          </p:spPr>
          <p:txBody>
            <a:bodyPr/>
            <a:lstStyle/>
            <a:p>
              <a:endParaRPr lang="bg-BG"/>
            </a:p>
          </p:txBody>
        </p:sp>
        <p:sp>
          <p:nvSpPr>
            <p:cNvPr id="34825" name="Oval 9"/>
            <p:cNvSpPr>
              <a:spLocks noChangeArrowheads="1"/>
            </p:cNvSpPr>
            <p:nvPr/>
          </p:nvSpPr>
          <p:spPr bwMode="auto">
            <a:xfrm>
              <a:off x="1977" y="8015"/>
              <a:ext cx="379" cy="337"/>
            </a:xfrm>
            <a:prstGeom prst="ellipse">
              <a:avLst/>
            </a:prstGeom>
            <a:noFill/>
            <a:ln w="12700">
              <a:solidFill>
                <a:srgbClr val="000000"/>
              </a:solidFill>
              <a:round/>
              <a:headEnd/>
              <a:tailEnd/>
            </a:ln>
          </p:spPr>
          <p:txBody>
            <a:bodyPr/>
            <a:lstStyle/>
            <a:p>
              <a:endParaRPr lang="bg-BG"/>
            </a:p>
          </p:txBody>
        </p:sp>
        <p:sp>
          <p:nvSpPr>
            <p:cNvPr id="34826" name="Line 10"/>
            <p:cNvSpPr>
              <a:spLocks noChangeShapeType="1"/>
            </p:cNvSpPr>
            <p:nvPr/>
          </p:nvSpPr>
          <p:spPr bwMode="auto">
            <a:xfrm flipH="1">
              <a:off x="1903" y="6972"/>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34827" name="Line 11"/>
            <p:cNvSpPr>
              <a:spLocks noChangeShapeType="1"/>
            </p:cNvSpPr>
            <p:nvPr/>
          </p:nvSpPr>
          <p:spPr bwMode="auto">
            <a:xfrm>
              <a:off x="2533" y="6958"/>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34828" name="Line 12"/>
            <p:cNvSpPr>
              <a:spLocks noChangeShapeType="1"/>
            </p:cNvSpPr>
            <p:nvPr/>
          </p:nvSpPr>
          <p:spPr bwMode="auto">
            <a:xfrm flipH="1">
              <a:off x="1405" y="7629"/>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34829" name="Line 13"/>
            <p:cNvSpPr>
              <a:spLocks noChangeShapeType="1"/>
            </p:cNvSpPr>
            <p:nvPr/>
          </p:nvSpPr>
          <p:spPr bwMode="auto">
            <a:xfrm>
              <a:off x="1929" y="7618"/>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34830" name="Line 14"/>
            <p:cNvSpPr>
              <a:spLocks noChangeShapeType="1"/>
            </p:cNvSpPr>
            <p:nvPr/>
          </p:nvSpPr>
          <p:spPr bwMode="auto">
            <a:xfrm>
              <a:off x="3177" y="7665"/>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34831" name="Oval 15"/>
            <p:cNvSpPr>
              <a:spLocks noChangeArrowheads="1"/>
            </p:cNvSpPr>
            <p:nvPr/>
          </p:nvSpPr>
          <p:spPr bwMode="auto">
            <a:xfrm>
              <a:off x="3093" y="8840"/>
              <a:ext cx="379" cy="351"/>
            </a:xfrm>
            <a:prstGeom prst="ellipse">
              <a:avLst/>
            </a:prstGeom>
            <a:noFill/>
            <a:ln w="12700">
              <a:solidFill>
                <a:srgbClr val="000000"/>
              </a:solidFill>
              <a:round/>
              <a:headEnd/>
              <a:tailEnd/>
            </a:ln>
          </p:spPr>
          <p:txBody>
            <a:bodyPr/>
            <a:lstStyle/>
            <a:p>
              <a:endParaRPr lang="bg-BG"/>
            </a:p>
          </p:txBody>
        </p:sp>
        <p:sp>
          <p:nvSpPr>
            <p:cNvPr id="34832" name="Line 16"/>
            <p:cNvSpPr>
              <a:spLocks noChangeShapeType="1"/>
            </p:cNvSpPr>
            <p:nvPr/>
          </p:nvSpPr>
          <p:spPr bwMode="auto">
            <a:xfrm flipH="1">
              <a:off x="3289" y="8340"/>
              <a:ext cx="99" cy="491"/>
            </a:xfrm>
            <a:prstGeom prst="line">
              <a:avLst/>
            </a:prstGeom>
            <a:noFill/>
            <a:ln w="12700">
              <a:solidFill>
                <a:srgbClr val="000000"/>
              </a:solidFill>
              <a:round/>
              <a:headEnd type="none" w="sm" len="sm"/>
              <a:tailEnd type="triangle" w="sm" len="med"/>
            </a:ln>
          </p:spPr>
          <p:txBody>
            <a:bodyPr/>
            <a:lstStyle/>
            <a:p>
              <a:endParaRPr lang="bg-BG"/>
            </a:p>
          </p:txBody>
        </p:sp>
        <p:sp>
          <p:nvSpPr>
            <p:cNvPr id="34833" name="Oval 17"/>
            <p:cNvSpPr>
              <a:spLocks noChangeArrowheads="1"/>
            </p:cNvSpPr>
            <p:nvPr/>
          </p:nvSpPr>
          <p:spPr bwMode="auto">
            <a:xfrm>
              <a:off x="5451" y="6670"/>
              <a:ext cx="379" cy="337"/>
            </a:xfrm>
            <a:prstGeom prst="ellipse">
              <a:avLst/>
            </a:prstGeom>
            <a:noFill/>
            <a:ln w="12700">
              <a:solidFill>
                <a:srgbClr val="000000"/>
              </a:solidFill>
              <a:round/>
              <a:headEnd/>
              <a:tailEnd/>
            </a:ln>
          </p:spPr>
          <p:txBody>
            <a:bodyPr/>
            <a:lstStyle/>
            <a:p>
              <a:endParaRPr lang="bg-BG"/>
            </a:p>
          </p:txBody>
        </p:sp>
        <p:sp>
          <p:nvSpPr>
            <p:cNvPr id="34834" name="Oval 18"/>
            <p:cNvSpPr>
              <a:spLocks noChangeArrowheads="1"/>
            </p:cNvSpPr>
            <p:nvPr/>
          </p:nvSpPr>
          <p:spPr bwMode="auto">
            <a:xfrm>
              <a:off x="4849" y="7326"/>
              <a:ext cx="379" cy="337"/>
            </a:xfrm>
            <a:prstGeom prst="ellipse">
              <a:avLst/>
            </a:prstGeom>
            <a:noFill/>
            <a:ln w="12700">
              <a:solidFill>
                <a:srgbClr val="000000"/>
              </a:solidFill>
              <a:round/>
              <a:headEnd/>
              <a:tailEnd/>
            </a:ln>
          </p:spPr>
          <p:txBody>
            <a:bodyPr/>
            <a:lstStyle/>
            <a:p>
              <a:endParaRPr lang="bg-BG"/>
            </a:p>
          </p:txBody>
        </p:sp>
        <p:sp>
          <p:nvSpPr>
            <p:cNvPr id="34835" name="Oval 19"/>
            <p:cNvSpPr>
              <a:spLocks noChangeArrowheads="1"/>
            </p:cNvSpPr>
            <p:nvPr/>
          </p:nvSpPr>
          <p:spPr bwMode="auto">
            <a:xfrm>
              <a:off x="6109" y="7355"/>
              <a:ext cx="379" cy="351"/>
            </a:xfrm>
            <a:prstGeom prst="ellipse">
              <a:avLst/>
            </a:prstGeom>
            <a:noFill/>
            <a:ln w="12700">
              <a:solidFill>
                <a:srgbClr val="000000"/>
              </a:solidFill>
              <a:round/>
              <a:headEnd/>
              <a:tailEnd/>
            </a:ln>
          </p:spPr>
          <p:txBody>
            <a:bodyPr/>
            <a:lstStyle/>
            <a:p>
              <a:endParaRPr lang="bg-BG"/>
            </a:p>
          </p:txBody>
        </p:sp>
        <p:sp>
          <p:nvSpPr>
            <p:cNvPr id="34836" name="Oval 20"/>
            <p:cNvSpPr>
              <a:spLocks noChangeArrowheads="1"/>
            </p:cNvSpPr>
            <p:nvPr/>
          </p:nvSpPr>
          <p:spPr bwMode="auto">
            <a:xfrm>
              <a:off x="4391" y="8021"/>
              <a:ext cx="379" cy="337"/>
            </a:xfrm>
            <a:prstGeom prst="ellipse">
              <a:avLst/>
            </a:prstGeom>
            <a:noFill/>
            <a:ln w="12700">
              <a:solidFill>
                <a:srgbClr val="000000"/>
              </a:solidFill>
              <a:round/>
              <a:headEnd/>
              <a:tailEnd/>
            </a:ln>
          </p:spPr>
          <p:txBody>
            <a:bodyPr/>
            <a:lstStyle/>
            <a:p>
              <a:endParaRPr lang="bg-BG"/>
            </a:p>
          </p:txBody>
        </p:sp>
        <p:sp>
          <p:nvSpPr>
            <p:cNvPr id="34837" name="Oval 21"/>
            <p:cNvSpPr>
              <a:spLocks noChangeArrowheads="1"/>
            </p:cNvSpPr>
            <p:nvPr/>
          </p:nvSpPr>
          <p:spPr bwMode="auto">
            <a:xfrm>
              <a:off x="6543" y="8007"/>
              <a:ext cx="379" cy="337"/>
            </a:xfrm>
            <a:prstGeom prst="ellipse">
              <a:avLst/>
            </a:prstGeom>
            <a:noFill/>
            <a:ln w="12700">
              <a:solidFill>
                <a:srgbClr val="000000"/>
              </a:solidFill>
              <a:round/>
              <a:headEnd/>
              <a:tailEnd/>
            </a:ln>
          </p:spPr>
          <p:txBody>
            <a:bodyPr/>
            <a:lstStyle/>
            <a:p>
              <a:endParaRPr lang="bg-BG"/>
            </a:p>
          </p:txBody>
        </p:sp>
        <p:sp>
          <p:nvSpPr>
            <p:cNvPr id="34838" name="Oval 22"/>
            <p:cNvSpPr>
              <a:spLocks noChangeArrowheads="1"/>
            </p:cNvSpPr>
            <p:nvPr/>
          </p:nvSpPr>
          <p:spPr bwMode="auto">
            <a:xfrm>
              <a:off x="5207" y="8001"/>
              <a:ext cx="379" cy="337"/>
            </a:xfrm>
            <a:prstGeom prst="ellipse">
              <a:avLst/>
            </a:prstGeom>
            <a:noFill/>
            <a:ln w="12700">
              <a:solidFill>
                <a:srgbClr val="000000"/>
              </a:solidFill>
              <a:round/>
              <a:headEnd/>
              <a:tailEnd/>
            </a:ln>
          </p:spPr>
          <p:txBody>
            <a:bodyPr/>
            <a:lstStyle/>
            <a:p>
              <a:endParaRPr lang="bg-BG"/>
            </a:p>
          </p:txBody>
        </p:sp>
        <p:sp>
          <p:nvSpPr>
            <p:cNvPr id="34839" name="Line 23"/>
            <p:cNvSpPr>
              <a:spLocks noChangeShapeType="1"/>
            </p:cNvSpPr>
            <p:nvPr/>
          </p:nvSpPr>
          <p:spPr bwMode="auto">
            <a:xfrm flipH="1">
              <a:off x="5143" y="6978"/>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34840" name="Line 24"/>
            <p:cNvSpPr>
              <a:spLocks noChangeShapeType="1"/>
            </p:cNvSpPr>
            <p:nvPr/>
          </p:nvSpPr>
          <p:spPr bwMode="auto">
            <a:xfrm>
              <a:off x="5773" y="6964"/>
              <a:ext cx="421" cy="421"/>
            </a:xfrm>
            <a:prstGeom prst="line">
              <a:avLst/>
            </a:prstGeom>
            <a:noFill/>
            <a:ln w="12700">
              <a:solidFill>
                <a:srgbClr val="000000"/>
              </a:solidFill>
              <a:round/>
              <a:headEnd type="none" w="sm" len="sm"/>
              <a:tailEnd type="triangle" w="sm" len="med"/>
            </a:ln>
          </p:spPr>
          <p:txBody>
            <a:bodyPr/>
            <a:lstStyle/>
            <a:p>
              <a:endParaRPr lang="bg-BG"/>
            </a:p>
          </p:txBody>
        </p:sp>
        <p:sp>
          <p:nvSpPr>
            <p:cNvPr id="34841" name="Line 25"/>
            <p:cNvSpPr>
              <a:spLocks noChangeShapeType="1"/>
            </p:cNvSpPr>
            <p:nvPr/>
          </p:nvSpPr>
          <p:spPr bwMode="auto">
            <a:xfrm flipH="1">
              <a:off x="4615" y="7615"/>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34842" name="Line 26"/>
            <p:cNvSpPr>
              <a:spLocks noChangeShapeType="1"/>
            </p:cNvSpPr>
            <p:nvPr/>
          </p:nvSpPr>
          <p:spPr bwMode="auto">
            <a:xfrm>
              <a:off x="5179" y="7614"/>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34843" name="Line 27"/>
            <p:cNvSpPr>
              <a:spLocks noChangeShapeType="1"/>
            </p:cNvSpPr>
            <p:nvPr/>
          </p:nvSpPr>
          <p:spPr bwMode="auto">
            <a:xfrm>
              <a:off x="6427" y="7671"/>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34844" name="Oval 28"/>
            <p:cNvSpPr>
              <a:spLocks noChangeArrowheads="1"/>
            </p:cNvSpPr>
            <p:nvPr/>
          </p:nvSpPr>
          <p:spPr bwMode="auto">
            <a:xfrm>
              <a:off x="6293" y="8816"/>
              <a:ext cx="379" cy="351"/>
            </a:xfrm>
            <a:prstGeom prst="ellipse">
              <a:avLst/>
            </a:prstGeom>
            <a:noFill/>
            <a:ln w="12700">
              <a:solidFill>
                <a:srgbClr val="000000"/>
              </a:solidFill>
              <a:round/>
              <a:headEnd/>
              <a:tailEnd/>
            </a:ln>
          </p:spPr>
          <p:txBody>
            <a:bodyPr/>
            <a:lstStyle/>
            <a:p>
              <a:endParaRPr lang="bg-BG"/>
            </a:p>
          </p:txBody>
        </p:sp>
        <p:sp>
          <p:nvSpPr>
            <p:cNvPr id="34845" name="Line 29"/>
            <p:cNvSpPr>
              <a:spLocks noChangeShapeType="1"/>
            </p:cNvSpPr>
            <p:nvPr/>
          </p:nvSpPr>
          <p:spPr bwMode="auto">
            <a:xfrm flipH="1">
              <a:off x="6499" y="8306"/>
              <a:ext cx="99" cy="491"/>
            </a:xfrm>
            <a:prstGeom prst="line">
              <a:avLst/>
            </a:prstGeom>
            <a:noFill/>
            <a:ln w="12700">
              <a:solidFill>
                <a:srgbClr val="000000"/>
              </a:solidFill>
              <a:round/>
              <a:headEnd type="none" w="sm" len="sm"/>
              <a:tailEnd type="triangle" w="sm" len="med"/>
            </a:ln>
          </p:spPr>
          <p:txBody>
            <a:bodyPr/>
            <a:lstStyle/>
            <a:p>
              <a:endParaRPr lang="bg-BG"/>
            </a:p>
          </p:txBody>
        </p:sp>
        <p:sp>
          <p:nvSpPr>
            <p:cNvPr id="34846" name="Oval 30"/>
            <p:cNvSpPr>
              <a:spLocks noChangeArrowheads="1"/>
            </p:cNvSpPr>
            <p:nvPr/>
          </p:nvSpPr>
          <p:spPr bwMode="auto">
            <a:xfrm>
              <a:off x="5861" y="8076"/>
              <a:ext cx="379" cy="351"/>
            </a:xfrm>
            <a:prstGeom prst="ellipse">
              <a:avLst/>
            </a:prstGeom>
            <a:noFill/>
            <a:ln w="12700">
              <a:solidFill>
                <a:srgbClr val="000000"/>
              </a:solidFill>
              <a:round/>
              <a:headEnd/>
              <a:tailEnd/>
            </a:ln>
          </p:spPr>
          <p:txBody>
            <a:bodyPr/>
            <a:lstStyle/>
            <a:p>
              <a:endParaRPr lang="bg-BG"/>
            </a:p>
          </p:txBody>
        </p:sp>
        <p:sp>
          <p:nvSpPr>
            <p:cNvPr id="34847" name="Line 31"/>
            <p:cNvSpPr>
              <a:spLocks noChangeShapeType="1"/>
            </p:cNvSpPr>
            <p:nvPr/>
          </p:nvSpPr>
          <p:spPr bwMode="auto">
            <a:xfrm flipH="1">
              <a:off x="6067" y="7705"/>
              <a:ext cx="155" cy="365"/>
            </a:xfrm>
            <a:prstGeom prst="line">
              <a:avLst/>
            </a:prstGeom>
            <a:noFill/>
            <a:ln w="12700">
              <a:solidFill>
                <a:srgbClr val="000000"/>
              </a:solidFill>
              <a:round/>
              <a:headEnd type="none" w="sm" len="sm"/>
              <a:tailEnd type="triangle" w="sm" len="med"/>
            </a:ln>
          </p:spPr>
          <p:txBody>
            <a:bodyPr/>
            <a:lstStyle/>
            <a:p>
              <a:endParaRPr lang="bg-BG"/>
            </a:p>
          </p:txBody>
        </p:sp>
        <p:sp>
          <p:nvSpPr>
            <p:cNvPr id="34848" name="Oval 32"/>
            <p:cNvSpPr>
              <a:spLocks noChangeArrowheads="1"/>
            </p:cNvSpPr>
            <p:nvPr/>
          </p:nvSpPr>
          <p:spPr bwMode="auto">
            <a:xfrm>
              <a:off x="4853" y="8831"/>
              <a:ext cx="379" cy="351"/>
            </a:xfrm>
            <a:prstGeom prst="ellipse">
              <a:avLst/>
            </a:prstGeom>
            <a:noFill/>
            <a:ln w="12700">
              <a:solidFill>
                <a:srgbClr val="000000"/>
              </a:solidFill>
              <a:round/>
              <a:headEnd/>
              <a:tailEnd/>
            </a:ln>
          </p:spPr>
          <p:txBody>
            <a:bodyPr/>
            <a:lstStyle/>
            <a:p>
              <a:endParaRPr lang="bg-BG"/>
            </a:p>
          </p:txBody>
        </p:sp>
        <p:sp>
          <p:nvSpPr>
            <p:cNvPr id="34849" name="Line 33"/>
            <p:cNvSpPr>
              <a:spLocks noChangeShapeType="1"/>
            </p:cNvSpPr>
            <p:nvPr/>
          </p:nvSpPr>
          <p:spPr bwMode="auto">
            <a:xfrm>
              <a:off x="4709" y="8324"/>
              <a:ext cx="253" cy="505"/>
            </a:xfrm>
            <a:prstGeom prst="line">
              <a:avLst/>
            </a:prstGeom>
            <a:noFill/>
            <a:ln w="12700">
              <a:solidFill>
                <a:srgbClr val="000000"/>
              </a:solidFill>
              <a:round/>
              <a:headEnd type="none" w="sm" len="sm"/>
              <a:tailEnd type="triangle" w="sm" len="med"/>
            </a:ln>
          </p:spPr>
          <p:txBody>
            <a:bodyPr/>
            <a:lstStyle/>
            <a:p>
              <a:endParaRPr lang="bg-BG"/>
            </a:p>
          </p:txBody>
        </p:sp>
        <p:sp>
          <p:nvSpPr>
            <p:cNvPr id="34850" name="Line 34"/>
            <p:cNvSpPr>
              <a:spLocks noChangeShapeType="1"/>
            </p:cNvSpPr>
            <p:nvPr/>
          </p:nvSpPr>
          <p:spPr bwMode="auto">
            <a:xfrm>
              <a:off x="6878" y="8275"/>
              <a:ext cx="180" cy="495"/>
            </a:xfrm>
            <a:prstGeom prst="line">
              <a:avLst/>
            </a:prstGeom>
            <a:noFill/>
            <a:ln w="12700">
              <a:solidFill>
                <a:srgbClr val="000000"/>
              </a:solidFill>
              <a:round/>
              <a:headEnd/>
              <a:tailEnd type="triangle" w="sm" len="med"/>
            </a:ln>
          </p:spPr>
          <p:txBody>
            <a:bodyPr/>
            <a:lstStyle/>
            <a:p>
              <a:endParaRPr lang="bg-BG"/>
            </a:p>
          </p:txBody>
        </p:sp>
        <p:sp>
          <p:nvSpPr>
            <p:cNvPr id="34851" name="Oval 35"/>
            <p:cNvSpPr>
              <a:spLocks noChangeArrowheads="1"/>
            </p:cNvSpPr>
            <p:nvPr/>
          </p:nvSpPr>
          <p:spPr bwMode="auto">
            <a:xfrm>
              <a:off x="6918" y="8766"/>
              <a:ext cx="379" cy="351"/>
            </a:xfrm>
            <a:prstGeom prst="ellipse">
              <a:avLst/>
            </a:prstGeom>
            <a:noFill/>
            <a:ln w="12700">
              <a:solidFill>
                <a:srgbClr val="000000"/>
              </a:solidFill>
              <a:round/>
              <a:headEnd/>
              <a:tailEnd/>
            </a:ln>
          </p:spPr>
          <p:txBody>
            <a:bodyPr/>
            <a:lstStyle/>
            <a:p>
              <a:endParaRPr lang="bg-BG"/>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116013" y="1341438"/>
            <a:ext cx="7772400" cy="5715000"/>
          </a:xfrm>
        </p:spPr>
        <p:txBody>
          <a:bodyPr>
            <a:normAutofit fontScale="90000"/>
          </a:bodyPr>
          <a:lstStyle/>
          <a:p>
            <a:pPr eaLnBrk="1" fontAlgn="auto" hangingPunct="1">
              <a:spcAft>
                <a:spcPts val="0"/>
              </a:spcAft>
              <a:defRPr/>
            </a:pPr>
            <a:r>
              <a:rPr lang="bg-BG" sz="2000">
                <a:solidFill>
                  <a:schemeClr val="tx2">
                    <a:satMod val="130000"/>
                  </a:schemeClr>
                </a:solidFill>
              </a:rPr>
              <a:t>	</a:t>
            </a:r>
            <a:r>
              <a:rPr lang="bg-BG" sz="2400">
                <a:solidFill>
                  <a:schemeClr val="tx1"/>
                </a:solidFill>
              </a:rPr>
              <a:t>Едно двоично дърво се нарича </a:t>
            </a:r>
            <a:r>
              <a:rPr lang="bg-BG" sz="2400" b="1">
                <a:solidFill>
                  <a:schemeClr val="tx1"/>
                </a:solidFill>
              </a:rPr>
              <a:t>идеално балансирано</a:t>
            </a:r>
            <a:r>
              <a:rPr lang="bg-BG" sz="2400">
                <a:solidFill>
                  <a:schemeClr val="tx1"/>
                </a:solidFill>
              </a:rPr>
              <a:t> или с </a:t>
            </a:r>
            <a:r>
              <a:rPr lang="bg-BG" sz="2400" b="1">
                <a:solidFill>
                  <a:schemeClr val="tx1"/>
                </a:solidFill>
              </a:rPr>
              <a:t>балансирано тегло</a:t>
            </a:r>
            <a:r>
              <a:rPr lang="bg-BG" sz="2400">
                <a:solidFill>
                  <a:schemeClr val="tx1"/>
                </a:solidFill>
              </a:rPr>
              <a:t>, ако всеки негов възел има ляво и дясно поддърво, в които броят на възлите се различава най-много с 1:</a:t>
            </a:r>
            <a:br>
              <a:rPr lang="bg-BG" sz="24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t>
            </a:r>
            <a:r>
              <a:rPr lang="bg-BG" sz="2400">
                <a:solidFill>
                  <a:schemeClr val="tx1"/>
                </a:solidFill>
              </a:rPr>
              <a:t>Очевидно е, че всяко идеално балансирано дърво (с балансирано тегло) също така е дърво с балансирана височина. Обратното твърдение не е вярно.</a:t>
            </a:r>
            <a:r>
              <a:rPr lang="bg-BG" sz="2400">
                <a:solidFill>
                  <a:schemeClr val="tx2">
                    <a:satMod val="130000"/>
                  </a:schemeClr>
                </a:solidFill>
              </a:rPr>
              <a:t/>
            </a:r>
            <a:br>
              <a:rPr lang="bg-BG" sz="24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endParaRPr lang="en-US" sz="2000">
              <a:solidFill>
                <a:schemeClr val="tx2">
                  <a:satMod val="130000"/>
                </a:schemeClr>
              </a:solidFill>
            </a:endParaRPr>
          </a:p>
        </p:txBody>
      </p:sp>
      <p:grpSp>
        <p:nvGrpSpPr>
          <p:cNvPr id="35843" name="Group 3"/>
          <p:cNvGrpSpPr>
            <a:grpSpLocks/>
          </p:cNvGrpSpPr>
          <p:nvPr/>
        </p:nvGrpSpPr>
        <p:grpSpPr bwMode="auto">
          <a:xfrm>
            <a:off x="1828800" y="2514600"/>
            <a:ext cx="5181600" cy="2057400"/>
            <a:chOff x="1361" y="1517"/>
            <a:chExt cx="4994" cy="1719"/>
          </a:xfrm>
        </p:grpSpPr>
        <p:sp>
          <p:nvSpPr>
            <p:cNvPr id="35844" name="Oval 4"/>
            <p:cNvSpPr>
              <a:spLocks noChangeArrowheads="1"/>
            </p:cNvSpPr>
            <p:nvPr/>
          </p:nvSpPr>
          <p:spPr bwMode="auto">
            <a:xfrm>
              <a:off x="2441" y="1517"/>
              <a:ext cx="379" cy="337"/>
            </a:xfrm>
            <a:prstGeom prst="ellipse">
              <a:avLst/>
            </a:prstGeom>
            <a:noFill/>
            <a:ln w="12700">
              <a:solidFill>
                <a:srgbClr val="000000"/>
              </a:solidFill>
              <a:round/>
              <a:headEnd/>
              <a:tailEnd/>
            </a:ln>
          </p:spPr>
          <p:txBody>
            <a:bodyPr/>
            <a:lstStyle/>
            <a:p>
              <a:endParaRPr lang="bg-BG"/>
            </a:p>
          </p:txBody>
        </p:sp>
        <p:sp>
          <p:nvSpPr>
            <p:cNvPr id="35845" name="Oval 5"/>
            <p:cNvSpPr>
              <a:spLocks noChangeArrowheads="1"/>
            </p:cNvSpPr>
            <p:nvPr/>
          </p:nvSpPr>
          <p:spPr bwMode="auto">
            <a:xfrm>
              <a:off x="1864" y="2168"/>
              <a:ext cx="379" cy="337"/>
            </a:xfrm>
            <a:prstGeom prst="ellipse">
              <a:avLst/>
            </a:prstGeom>
            <a:noFill/>
            <a:ln w="12700">
              <a:solidFill>
                <a:srgbClr val="000000"/>
              </a:solidFill>
              <a:round/>
              <a:headEnd/>
              <a:tailEnd/>
            </a:ln>
          </p:spPr>
          <p:txBody>
            <a:bodyPr/>
            <a:lstStyle/>
            <a:p>
              <a:endParaRPr lang="bg-BG"/>
            </a:p>
          </p:txBody>
        </p:sp>
        <p:sp>
          <p:nvSpPr>
            <p:cNvPr id="35846" name="Oval 6"/>
            <p:cNvSpPr>
              <a:spLocks noChangeArrowheads="1"/>
            </p:cNvSpPr>
            <p:nvPr/>
          </p:nvSpPr>
          <p:spPr bwMode="auto">
            <a:xfrm>
              <a:off x="3049" y="2202"/>
              <a:ext cx="379" cy="351"/>
            </a:xfrm>
            <a:prstGeom prst="ellipse">
              <a:avLst/>
            </a:prstGeom>
            <a:noFill/>
            <a:ln w="12700">
              <a:solidFill>
                <a:srgbClr val="000000"/>
              </a:solidFill>
              <a:round/>
              <a:headEnd/>
              <a:tailEnd/>
            </a:ln>
          </p:spPr>
          <p:txBody>
            <a:bodyPr/>
            <a:lstStyle/>
            <a:p>
              <a:endParaRPr lang="bg-BG"/>
            </a:p>
          </p:txBody>
        </p:sp>
        <p:sp>
          <p:nvSpPr>
            <p:cNvPr id="35847" name="Oval 7"/>
            <p:cNvSpPr>
              <a:spLocks noChangeArrowheads="1"/>
            </p:cNvSpPr>
            <p:nvPr/>
          </p:nvSpPr>
          <p:spPr bwMode="auto">
            <a:xfrm>
              <a:off x="1361" y="2868"/>
              <a:ext cx="379" cy="337"/>
            </a:xfrm>
            <a:prstGeom prst="ellipse">
              <a:avLst/>
            </a:prstGeom>
            <a:noFill/>
            <a:ln w="12700">
              <a:solidFill>
                <a:srgbClr val="000000"/>
              </a:solidFill>
              <a:round/>
              <a:headEnd/>
              <a:tailEnd/>
            </a:ln>
          </p:spPr>
          <p:txBody>
            <a:bodyPr/>
            <a:lstStyle/>
            <a:p>
              <a:endParaRPr lang="bg-BG"/>
            </a:p>
          </p:txBody>
        </p:sp>
        <p:sp>
          <p:nvSpPr>
            <p:cNvPr id="35848" name="Oval 8"/>
            <p:cNvSpPr>
              <a:spLocks noChangeArrowheads="1"/>
            </p:cNvSpPr>
            <p:nvPr/>
          </p:nvSpPr>
          <p:spPr bwMode="auto">
            <a:xfrm>
              <a:off x="3473" y="2844"/>
              <a:ext cx="379" cy="337"/>
            </a:xfrm>
            <a:prstGeom prst="ellipse">
              <a:avLst/>
            </a:prstGeom>
            <a:noFill/>
            <a:ln w="12700">
              <a:solidFill>
                <a:srgbClr val="000000"/>
              </a:solidFill>
              <a:round/>
              <a:headEnd/>
              <a:tailEnd/>
            </a:ln>
          </p:spPr>
          <p:txBody>
            <a:bodyPr/>
            <a:lstStyle/>
            <a:p>
              <a:endParaRPr lang="bg-BG"/>
            </a:p>
          </p:txBody>
        </p:sp>
        <p:sp>
          <p:nvSpPr>
            <p:cNvPr id="35849" name="Oval 9"/>
            <p:cNvSpPr>
              <a:spLocks noChangeArrowheads="1"/>
            </p:cNvSpPr>
            <p:nvPr/>
          </p:nvSpPr>
          <p:spPr bwMode="auto">
            <a:xfrm>
              <a:off x="2237" y="2858"/>
              <a:ext cx="379" cy="337"/>
            </a:xfrm>
            <a:prstGeom prst="ellipse">
              <a:avLst/>
            </a:prstGeom>
            <a:noFill/>
            <a:ln w="12700">
              <a:solidFill>
                <a:srgbClr val="000000"/>
              </a:solidFill>
              <a:round/>
              <a:headEnd/>
              <a:tailEnd/>
            </a:ln>
          </p:spPr>
          <p:txBody>
            <a:bodyPr/>
            <a:lstStyle/>
            <a:p>
              <a:endParaRPr lang="bg-BG"/>
            </a:p>
          </p:txBody>
        </p:sp>
        <p:sp>
          <p:nvSpPr>
            <p:cNvPr id="35850" name="Line 10"/>
            <p:cNvSpPr>
              <a:spLocks noChangeShapeType="1"/>
            </p:cNvSpPr>
            <p:nvPr/>
          </p:nvSpPr>
          <p:spPr bwMode="auto">
            <a:xfrm flipH="1">
              <a:off x="2133" y="1825"/>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35851" name="Line 11"/>
            <p:cNvSpPr>
              <a:spLocks noChangeShapeType="1"/>
            </p:cNvSpPr>
            <p:nvPr/>
          </p:nvSpPr>
          <p:spPr bwMode="auto">
            <a:xfrm>
              <a:off x="2763" y="1811"/>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35852" name="Line 12"/>
            <p:cNvSpPr>
              <a:spLocks noChangeShapeType="1"/>
            </p:cNvSpPr>
            <p:nvPr/>
          </p:nvSpPr>
          <p:spPr bwMode="auto">
            <a:xfrm flipH="1">
              <a:off x="1615" y="2462"/>
              <a:ext cx="281" cy="407"/>
            </a:xfrm>
            <a:prstGeom prst="line">
              <a:avLst/>
            </a:prstGeom>
            <a:noFill/>
            <a:ln w="12700">
              <a:solidFill>
                <a:srgbClr val="000000"/>
              </a:solidFill>
              <a:round/>
              <a:headEnd type="none" w="sm" len="sm"/>
              <a:tailEnd type="triangle" w="sm" len="med"/>
            </a:ln>
          </p:spPr>
          <p:txBody>
            <a:bodyPr/>
            <a:lstStyle/>
            <a:p>
              <a:endParaRPr lang="bg-BG"/>
            </a:p>
          </p:txBody>
        </p:sp>
        <p:sp>
          <p:nvSpPr>
            <p:cNvPr id="35853" name="Line 13"/>
            <p:cNvSpPr>
              <a:spLocks noChangeShapeType="1"/>
            </p:cNvSpPr>
            <p:nvPr/>
          </p:nvSpPr>
          <p:spPr bwMode="auto">
            <a:xfrm>
              <a:off x="2199" y="2461"/>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35854" name="Line 14"/>
            <p:cNvSpPr>
              <a:spLocks noChangeShapeType="1"/>
            </p:cNvSpPr>
            <p:nvPr/>
          </p:nvSpPr>
          <p:spPr bwMode="auto">
            <a:xfrm>
              <a:off x="3377" y="2498"/>
              <a:ext cx="225" cy="337"/>
            </a:xfrm>
            <a:prstGeom prst="line">
              <a:avLst/>
            </a:prstGeom>
            <a:noFill/>
            <a:ln w="12700">
              <a:solidFill>
                <a:srgbClr val="000000"/>
              </a:solidFill>
              <a:round/>
              <a:headEnd type="none" w="sm" len="sm"/>
              <a:tailEnd type="triangle" w="sm" len="med"/>
            </a:ln>
          </p:spPr>
          <p:txBody>
            <a:bodyPr/>
            <a:lstStyle/>
            <a:p>
              <a:endParaRPr lang="bg-BG"/>
            </a:p>
          </p:txBody>
        </p:sp>
        <p:sp>
          <p:nvSpPr>
            <p:cNvPr id="35855" name="Oval 15"/>
            <p:cNvSpPr>
              <a:spLocks noChangeArrowheads="1"/>
            </p:cNvSpPr>
            <p:nvPr/>
          </p:nvSpPr>
          <p:spPr bwMode="auto">
            <a:xfrm>
              <a:off x="2761" y="2877"/>
              <a:ext cx="379" cy="351"/>
            </a:xfrm>
            <a:prstGeom prst="ellipse">
              <a:avLst/>
            </a:prstGeom>
            <a:noFill/>
            <a:ln w="12700">
              <a:solidFill>
                <a:srgbClr val="000000"/>
              </a:solidFill>
              <a:round/>
              <a:headEnd/>
              <a:tailEnd/>
            </a:ln>
          </p:spPr>
          <p:txBody>
            <a:bodyPr/>
            <a:lstStyle/>
            <a:p>
              <a:endParaRPr lang="bg-BG"/>
            </a:p>
          </p:txBody>
        </p:sp>
        <p:sp>
          <p:nvSpPr>
            <p:cNvPr id="35856" name="Line 16"/>
            <p:cNvSpPr>
              <a:spLocks noChangeShapeType="1"/>
            </p:cNvSpPr>
            <p:nvPr/>
          </p:nvSpPr>
          <p:spPr bwMode="auto">
            <a:xfrm flipH="1">
              <a:off x="2991" y="2533"/>
              <a:ext cx="169" cy="351"/>
            </a:xfrm>
            <a:prstGeom prst="line">
              <a:avLst/>
            </a:prstGeom>
            <a:noFill/>
            <a:ln w="12700">
              <a:solidFill>
                <a:srgbClr val="000000"/>
              </a:solidFill>
              <a:round/>
              <a:headEnd type="none" w="sm" len="sm"/>
              <a:tailEnd type="triangle" w="sm" len="med"/>
            </a:ln>
          </p:spPr>
          <p:txBody>
            <a:bodyPr/>
            <a:lstStyle/>
            <a:p>
              <a:endParaRPr lang="bg-BG"/>
            </a:p>
          </p:txBody>
        </p:sp>
        <p:sp>
          <p:nvSpPr>
            <p:cNvPr id="35857" name="Oval 17"/>
            <p:cNvSpPr>
              <a:spLocks noChangeArrowheads="1"/>
            </p:cNvSpPr>
            <p:nvPr/>
          </p:nvSpPr>
          <p:spPr bwMode="auto">
            <a:xfrm>
              <a:off x="5348" y="1517"/>
              <a:ext cx="379" cy="337"/>
            </a:xfrm>
            <a:prstGeom prst="ellipse">
              <a:avLst/>
            </a:prstGeom>
            <a:noFill/>
            <a:ln w="12700">
              <a:solidFill>
                <a:srgbClr val="000000"/>
              </a:solidFill>
              <a:round/>
              <a:headEnd/>
              <a:tailEnd/>
            </a:ln>
          </p:spPr>
          <p:txBody>
            <a:bodyPr/>
            <a:lstStyle/>
            <a:p>
              <a:endParaRPr lang="bg-BG"/>
            </a:p>
          </p:txBody>
        </p:sp>
        <p:sp>
          <p:nvSpPr>
            <p:cNvPr id="35858" name="Oval 18"/>
            <p:cNvSpPr>
              <a:spLocks noChangeArrowheads="1"/>
            </p:cNvSpPr>
            <p:nvPr/>
          </p:nvSpPr>
          <p:spPr bwMode="auto">
            <a:xfrm>
              <a:off x="4761" y="2136"/>
              <a:ext cx="379" cy="337"/>
            </a:xfrm>
            <a:prstGeom prst="ellipse">
              <a:avLst/>
            </a:prstGeom>
            <a:noFill/>
            <a:ln w="12700">
              <a:solidFill>
                <a:srgbClr val="000000"/>
              </a:solidFill>
              <a:round/>
              <a:headEnd/>
              <a:tailEnd/>
            </a:ln>
          </p:spPr>
          <p:txBody>
            <a:bodyPr/>
            <a:lstStyle/>
            <a:p>
              <a:endParaRPr lang="bg-BG"/>
            </a:p>
          </p:txBody>
        </p:sp>
        <p:sp>
          <p:nvSpPr>
            <p:cNvPr id="35859" name="Oval 19"/>
            <p:cNvSpPr>
              <a:spLocks noChangeArrowheads="1"/>
            </p:cNvSpPr>
            <p:nvPr/>
          </p:nvSpPr>
          <p:spPr bwMode="auto">
            <a:xfrm>
              <a:off x="5976" y="2180"/>
              <a:ext cx="379" cy="351"/>
            </a:xfrm>
            <a:prstGeom prst="ellipse">
              <a:avLst/>
            </a:prstGeom>
            <a:noFill/>
            <a:ln w="12700">
              <a:solidFill>
                <a:srgbClr val="000000"/>
              </a:solidFill>
              <a:round/>
              <a:headEnd/>
              <a:tailEnd/>
            </a:ln>
          </p:spPr>
          <p:txBody>
            <a:bodyPr/>
            <a:lstStyle/>
            <a:p>
              <a:endParaRPr lang="bg-BG"/>
            </a:p>
          </p:txBody>
        </p:sp>
        <p:sp>
          <p:nvSpPr>
            <p:cNvPr id="35860" name="Oval 20"/>
            <p:cNvSpPr>
              <a:spLocks noChangeArrowheads="1"/>
            </p:cNvSpPr>
            <p:nvPr/>
          </p:nvSpPr>
          <p:spPr bwMode="auto">
            <a:xfrm>
              <a:off x="5094" y="2836"/>
              <a:ext cx="379" cy="337"/>
            </a:xfrm>
            <a:prstGeom prst="ellipse">
              <a:avLst/>
            </a:prstGeom>
            <a:noFill/>
            <a:ln w="12700">
              <a:solidFill>
                <a:srgbClr val="000000"/>
              </a:solidFill>
              <a:round/>
              <a:headEnd/>
              <a:tailEnd/>
            </a:ln>
          </p:spPr>
          <p:txBody>
            <a:bodyPr/>
            <a:lstStyle/>
            <a:p>
              <a:endParaRPr lang="bg-BG"/>
            </a:p>
          </p:txBody>
        </p:sp>
        <p:sp>
          <p:nvSpPr>
            <p:cNvPr id="35861" name="Line 21"/>
            <p:cNvSpPr>
              <a:spLocks noChangeShapeType="1"/>
            </p:cNvSpPr>
            <p:nvPr/>
          </p:nvSpPr>
          <p:spPr bwMode="auto">
            <a:xfrm flipH="1">
              <a:off x="5040" y="1793"/>
              <a:ext cx="365" cy="365"/>
            </a:xfrm>
            <a:prstGeom prst="line">
              <a:avLst/>
            </a:prstGeom>
            <a:noFill/>
            <a:ln w="12700">
              <a:solidFill>
                <a:srgbClr val="000000"/>
              </a:solidFill>
              <a:round/>
              <a:headEnd type="none" w="sm" len="sm"/>
              <a:tailEnd type="triangle" w="sm" len="med"/>
            </a:ln>
          </p:spPr>
          <p:txBody>
            <a:bodyPr/>
            <a:lstStyle/>
            <a:p>
              <a:endParaRPr lang="bg-BG"/>
            </a:p>
          </p:txBody>
        </p:sp>
        <p:sp>
          <p:nvSpPr>
            <p:cNvPr id="35862" name="Line 22"/>
            <p:cNvSpPr>
              <a:spLocks noChangeShapeType="1"/>
            </p:cNvSpPr>
            <p:nvPr/>
          </p:nvSpPr>
          <p:spPr bwMode="auto">
            <a:xfrm>
              <a:off x="5670" y="1779"/>
              <a:ext cx="393" cy="407"/>
            </a:xfrm>
            <a:prstGeom prst="line">
              <a:avLst/>
            </a:prstGeom>
            <a:noFill/>
            <a:ln w="12700">
              <a:solidFill>
                <a:srgbClr val="000000"/>
              </a:solidFill>
              <a:round/>
              <a:headEnd type="none" w="sm" len="sm"/>
              <a:tailEnd type="triangle" w="sm" len="med"/>
            </a:ln>
          </p:spPr>
          <p:txBody>
            <a:bodyPr/>
            <a:lstStyle/>
            <a:p>
              <a:endParaRPr lang="bg-BG"/>
            </a:p>
          </p:txBody>
        </p:sp>
        <p:sp>
          <p:nvSpPr>
            <p:cNvPr id="35863" name="Line 23"/>
            <p:cNvSpPr>
              <a:spLocks noChangeShapeType="1"/>
            </p:cNvSpPr>
            <p:nvPr/>
          </p:nvSpPr>
          <p:spPr bwMode="auto">
            <a:xfrm>
              <a:off x="5036" y="2449"/>
              <a:ext cx="183" cy="388"/>
            </a:xfrm>
            <a:prstGeom prst="line">
              <a:avLst/>
            </a:prstGeom>
            <a:noFill/>
            <a:ln w="12700">
              <a:solidFill>
                <a:srgbClr val="000000"/>
              </a:solidFill>
              <a:round/>
              <a:headEnd type="none" w="sm" len="sm"/>
              <a:tailEnd type="triangle" w="sm" len="med"/>
            </a:ln>
          </p:spPr>
          <p:txBody>
            <a:bodyPr/>
            <a:lstStyle/>
            <a:p>
              <a:endParaRPr lang="bg-BG"/>
            </a:p>
          </p:txBody>
        </p:sp>
        <p:sp>
          <p:nvSpPr>
            <p:cNvPr id="35864" name="Oval 24"/>
            <p:cNvSpPr>
              <a:spLocks noChangeArrowheads="1"/>
            </p:cNvSpPr>
            <p:nvPr/>
          </p:nvSpPr>
          <p:spPr bwMode="auto">
            <a:xfrm>
              <a:off x="5698" y="2885"/>
              <a:ext cx="379" cy="351"/>
            </a:xfrm>
            <a:prstGeom prst="ellipse">
              <a:avLst/>
            </a:prstGeom>
            <a:noFill/>
            <a:ln w="12700">
              <a:solidFill>
                <a:srgbClr val="000000"/>
              </a:solidFill>
              <a:round/>
              <a:headEnd/>
              <a:tailEnd/>
            </a:ln>
          </p:spPr>
          <p:txBody>
            <a:bodyPr/>
            <a:lstStyle/>
            <a:p>
              <a:endParaRPr lang="bg-BG"/>
            </a:p>
          </p:txBody>
        </p:sp>
        <p:sp>
          <p:nvSpPr>
            <p:cNvPr id="35865" name="Line 25"/>
            <p:cNvSpPr>
              <a:spLocks noChangeShapeType="1"/>
            </p:cNvSpPr>
            <p:nvPr/>
          </p:nvSpPr>
          <p:spPr bwMode="auto">
            <a:xfrm flipH="1">
              <a:off x="5908" y="2521"/>
              <a:ext cx="169" cy="351"/>
            </a:xfrm>
            <a:prstGeom prst="line">
              <a:avLst/>
            </a:prstGeom>
            <a:noFill/>
            <a:ln w="12700">
              <a:solidFill>
                <a:srgbClr val="000000"/>
              </a:solidFill>
              <a:round/>
              <a:headEnd type="none" w="sm" len="sm"/>
              <a:tailEnd type="triangle" w="sm" len="med"/>
            </a:ln>
          </p:spPr>
          <p:txBody>
            <a:bodyPr/>
            <a:lstStyle/>
            <a:p>
              <a:endParaRPr lang="bg-BG"/>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16013" y="620713"/>
            <a:ext cx="7772400" cy="5791200"/>
          </a:xfrm>
        </p:spPr>
        <p:txBody>
          <a:bodyPr>
            <a:normAutofit fontScale="90000"/>
          </a:bodyPr>
          <a:lstStyle/>
          <a:p>
            <a:pPr eaLnBrk="1" fontAlgn="auto" hangingPunct="1">
              <a:spcAft>
                <a:spcPts val="0"/>
              </a:spcAft>
              <a:defRPr/>
            </a:pPr>
            <a:r>
              <a:rPr lang="bg-BG" sz="2000">
                <a:solidFill>
                  <a:schemeClr val="tx1"/>
                </a:solidFill>
              </a:rPr>
              <a:t>	Идеално балансираното дърво може да бъде </a:t>
            </a:r>
            <a:r>
              <a:rPr lang="bg-BG" sz="2000" b="1">
                <a:solidFill>
                  <a:schemeClr val="tx1"/>
                </a:solidFill>
              </a:rPr>
              <a:t>пълно</a:t>
            </a:r>
            <a:r>
              <a:rPr lang="bg-BG" sz="2000">
                <a:solidFill>
                  <a:schemeClr val="tx1"/>
                </a:solidFill>
              </a:rPr>
              <a:t>, ако за всеки възел разликата в броя на възлите в неговите поддървета е нула. Лявото дърво на горната фигура е пълно.</a:t>
            </a:r>
            <a:br>
              <a:rPr lang="bg-BG" sz="2000">
                <a:solidFill>
                  <a:schemeClr val="tx1"/>
                </a:solidFill>
              </a:rPr>
            </a:br>
            <a:r>
              <a:rPr lang="bg-BG" sz="2000">
                <a:solidFill>
                  <a:schemeClr val="tx1"/>
                </a:solidFill>
              </a:rPr>
              <a:t>	За да бъде двоичното дървото пълно, броят на възлите му трябва да е нечетен. Ако </a:t>
            </a:r>
            <a:r>
              <a:rPr lang="bg-BG" sz="2000" b="1">
                <a:solidFill>
                  <a:schemeClr val="tx1"/>
                </a:solidFill>
              </a:rPr>
              <a:t>К</a:t>
            </a:r>
            <a:r>
              <a:rPr lang="bg-BG" sz="2000">
                <a:solidFill>
                  <a:schemeClr val="tx1"/>
                </a:solidFill>
              </a:rPr>
              <a:t> е броя на нивата в дървото (коренът се брои за 0-во ниво), то броят на вътрешните възлите в пълното двоично дърво </a:t>
            </a:r>
            <a:r>
              <a:rPr lang="bg-BG" sz="2000" b="1">
                <a:solidFill>
                  <a:schemeClr val="tx1"/>
                </a:solidFill>
              </a:rPr>
              <a:t>N</a:t>
            </a:r>
            <a:r>
              <a:rPr lang="bg-BG" sz="2000">
                <a:solidFill>
                  <a:schemeClr val="tx1"/>
                </a:solidFill>
              </a:rPr>
              <a:t> е равен на </a:t>
            </a:r>
            <a:r>
              <a:rPr lang="bg-BG" sz="2000" b="1">
                <a:solidFill>
                  <a:schemeClr val="tx1"/>
                </a:solidFill>
              </a:rPr>
              <a:t>2</a:t>
            </a:r>
            <a:r>
              <a:rPr lang="bg-BG" sz="2000" b="1" baseline="30000">
                <a:solidFill>
                  <a:schemeClr val="tx1"/>
                </a:solidFill>
              </a:rPr>
              <a:t>К+1 </a:t>
            </a:r>
            <a:r>
              <a:rPr lang="bg-BG" sz="2000" b="1">
                <a:solidFill>
                  <a:schemeClr val="tx1"/>
                </a:solidFill>
              </a:rPr>
              <a:t>-1</a:t>
            </a:r>
            <a:r>
              <a:rPr lang="bg-BG" sz="2000">
                <a:solidFill>
                  <a:schemeClr val="tx1"/>
                </a:solidFill>
              </a:rPr>
              <a:t>.</a:t>
            </a:r>
            <a:br>
              <a:rPr lang="bg-BG" sz="2000">
                <a:solidFill>
                  <a:schemeClr val="tx1"/>
                </a:solidFill>
              </a:rPr>
            </a:br>
            <a:r>
              <a:rPr lang="bg-BG" sz="2000">
                <a:solidFill>
                  <a:schemeClr val="tx1"/>
                </a:solidFill>
              </a:rPr>
              <a:t>	Балансът обикновено е важен фактор при работа с двоични дървета за търсене, където е от значение времето за търсене и не трябва да има отделни дълги клони. Балансираните дървета често наричат AVL-дървета в чест на Adelson-Velski и Landis - двамата учени, създали най-много алгоритми за този клас дървовидни структури. </a:t>
            </a: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t>
            </a:r>
            <a:r>
              <a:rPr lang="bg-BG" sz="2000">
                <a:solidFill>
                  <a:schemeClr val="tx1"/>
                </a:solidFill>
              </a:rPr>
              <a:t>Основните операции с балансираните дървета - добавяне, премахване и търсене на елемент с зададена ключова стойност - имат сложност </a:t>
            </a:r>
            <a:r>
              <a:rPr lang="bg-BG" sz="2000" b="1">
                <a:solidFill>
                  <a:schemeClr val="tx1"/>
                </a:solidFill>
              </a:rPr>
              <a:t>О(Log</a:t>
            </a:r>
            <a:r>
              <a:rPr lang="bg-BG" sz="2000" b="1" baseline="-25000">
                <a:solidFill>
                  <a:schemeClr val="tx1"/>
                </a:solidFill>
              </a:rPr>
              <a:t>2</a:t>
            </a:r>
            <a:r>
              <a:rPr lang="bg-BG" sz="2000" b="1">
                <a:solidFill>
                  <a:schemeClr val="tx1"/>
                </a:solidFill>
              </a:rPr>
              <a:t>N).</a:t>
            </a:r>
            <a:r>
              <a:rPr lang="bg-BG" sz="2000">
                <a:solidFill>
                  <a:schemeClr val="tx1"/>
                </a:solidFill>
              </a:rPr>
              <a:t/>
            </a:r>
            <a:br>
              <a:rPr lang="bg-BG" sz="2000">
                <a:solidFill>
                  <a:schemeClr val="tx1"/>
                </a:solidFill>
              </a:rPr>
            </a:br>
            <a:r>
              <a:rPr lang="bg-BG" sz="2000">
                <a:solidFill>
                  <a:schemeClr val="tx1"/>
                </a:solidFill>
              </a:rPr>
              <a:t>	Ако </a:t>
            </a:r>
            <a:r>
              <a:rPr lang="bg-BG" sz="2000" b="1">
                <a:solidFill>
                  <a:schemeClr val="tx1"/>
                </a:solidFill>
              </a:rPr>
              <a:t>h(N)</a:t>
            </a:r>
            <a:r>
              <a:rPr lang="bg-BG" sz="2000">
                <a:solidFill>
                  <a:schemeClr val="tx1"/>
                </a:solidFill>
              </a:rPr>
              <a:t> е височината на балансирано двоично дърво с </a:t>
            </a:r>
            <a:r>
              <a:rPr lang="bg-BG" sz="2000" b="1">
                <a:solidFill>
                  <a:schemeClr val="tx1"/>
                </a:solidFill>
              </a:rPr>
              <a:t>N</a:t>
            </a:r>
            <a:r>
              <a:rPr lang="bg-BG" sz="2000">
                <a:solidFill>
                  <a:schemeClr val="tx1"/>
                </a:solidFill>
              </a:rPr>
              <a:t> вътрешни възела, то</a:t>
            </a:r>
            <a:r>
              <a:rPr lang="en-US" sz="2000">
                <a:solidFill>
                  <a:schemeClr val="tx1"/>
                </a:solidFill>
              </a:rPr>
              <a:t/>
            </a:r>
            <a:br>
              <a:rPr lang="en-US" sz="2000">
                <a:solidFill>
                  <a:schemeClr val="tx1"/>
                </a:solidFill>
              </a:rPr>
            </a:br>
            <a:r>
              <a:rPr lang="bg-BG" sz="2000">
                <a:solidFill>
                  <a:schemeClr val="tx1"/>
                </a:solidFill>
              </a:rPr>
              <a:t>	</a:t>
            </a:r>
            <a:r>
              <a:rPr lang="en-AU" sz="2000" b="1">
                <a:solidFill>
                  <a:schemeClr val="tx1"/>
                </a:solidFill>
              </a:rPr>
              <a:t>L</a:t>
            </a:r>
            <a:r>
              <a:rPr lang="en-US" sz="2000" b="1">
                <a:solidFill>
                  <a:schemeClr val="tx1"/>
                </a:solidFill>
              </a:rPr>
              <a:t>og</a:t>
            </a:r>
            <a:r>
              <a:rPr lang="en-US" sz="2000" b="1" baseline="-25000">
                <a:solidFill>
                  <a:schemeClr val="tx1"/>
                </a:solidFill>
              </a:rPr>
              <a:t>2</a:t>
            </a:r>
            <a:r>
              <a:rPr lang="en-US" sz="2000" b="1">
                <a:solidFill>
                  <a:schemeClr val="tx1"/>
                </a:solidFill>
              </a:rPr>
              <a:t>(N+1) &lt;= h(N)&lt;=</a:t>
            </a:r>
            <a:r>
              <a:rPr lang="en-AU" sz="2000" b="1">
                <a:solidFill>
                  <a:schemeClr val="tx1"/>
                </a:solidFill>
              </a:rPr>
              <a:t> </a:t>
            </a:r>
            <a:r>
              <a:rPr lang="en-US" sz="2000" b="1">
                <a:solidFill>
                  <a:schemeClr val="tx1"/>
                </a:solidFill>
              </a:rPr>
              <a:t>1.4404</a:t>
            </a:r>
            <a:r>
              <a:rPr lang="en-AU" sz="2000" b="1">
                <a:solidFill>
                  <a:schemeClr val="tx1"/>
                </a:solidFill>
              </a:rPr>
              <a:t>L</a:t>
            </a:r>
            <a:r>
              <a:rPr lang="en-US" sz="2000" b="1">
                <a:solidFill>
                  <a:schemeClr val="tx1"/>
                </a:solidFill>
              </a:rPr>
              <a:t>og</a:t>
            </a:r>
            <a:r>
              <a:rPr lang="en-US" sz="2000" b="1" baseline="-25000">
                <a:solidFill>
                  <a:schemeClr val="tx1"/>
                </a:solidFill>
              </a:rPr>
              <a:t>2</a:t>
            </a:r>
            <a:r>
              <a:rPr lang="en-AU" sz="2000" b="1">
                <a:solidFill>
                  <a:schemeClr val="tx1"/>
                </a:solidFill>
              </a:rPr>
              <a:t>(</a:t>
            </a:r>
            <a:r>
              <a:rPr lang="en-US" sz="2000" b="1">
                <a:solidFill>
                  <a:schemeClr val="tx1"/>
                </a:solidFill>
              </a:rPr>
              <a:t>N+2) - 0.328</a:t>
            </a:r>
            <a:endParaRPr lang="en-US" b="1">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87450" y="620713"/>
            <a:ext cx="7956550" cy="5791200"/>
          </a:xfrm>
        </p:spPr>
        <p:txBody>
          <a:bodyPr>
            <a:normAutofit fontScale="90000"/>
          </a:bodyPr>
          <a:lstStyle/>
          <a:p>
            <a:pPr eaLnBrk="1" fontAlgn="auto" hangingPunct="1">
              <a:lnSpc>
                <a:spcPct val="110000"/>
              </a:lnSpc>
              <a:spcAft>
                <a:spcPts val="0"/>
              </a:spcAft>
              <a:defRPr/>
            </a:pPr>
            <a:r>
              <a:rPr lang="bg-BG" sz="2000">
                <a:solidFill>
                  <a:schemeClr val="tx1"/>
                </a:solidFill>
              </a:rPr>
              <a:t>     </a:t>
            </a:r>
            <a:r>
              <a:rPr lang="bg-BG" sz="2200">
                <a:solidFill>
                  <a:schemeClr val="tx1"/>
                </a:solidFill>
              </a:rPr>
              <a:t>Динамична променлива, описваща балансирано двоично дърво</a:t>
            </a:r>
            <a:r>
              <a:rPr lang="bg-BG" sz="2000">
                <a:solidFill>
                  <a:schemeClr val="tx1"/>
                </a:solidFill>
              </a:rPr>
              <a:t>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Във всеки възел на такава структура необходимо е да се съхранява информация за баланса на съответните поддървета: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latin typeface="Courier New" pitchFamily="49" charset="0"/>
              </a:rPr>
              <a:t>struct tree{</a:t>
            </a:r>
            <a:br>
              <a:rPr lang="bg-BG" sz="2000">
                <a:solidFill>
                  <a:schemeClr val="tx1"/>
                </a:solidFill>
                <a:latin typeface="Courier New" pitchFamily="49" charset="0"/>
              </a:rPr>
            </a:br>
            <a:r>
              <a:rPr lang="bg-BG" sz="2000">
                <a:solidFill>
                  <a:schemeClr val="tx1"/>
                </a:solidFill>
                <a:latin typeface="Courier New" pitchFamily="49" charset="0"/>
              </a:rPr>
              <a:t>		int key;</a:t>
            </a:r>
            <a:br>
              <a:rPr lang="bg-BG" sz="2000">
                <a:solidFill>
                  <a:schemeClr val="tx1"/>
                </a:solidFill>
                <a:latin typeface="Courier New" pitchFamily="49" charset="0"/>
              </a:rPr>
            </a:br>
            <a:r>
              <a:rPr lang="bg-BG" sz="2000">
                <a:solidFill>
                  <a:schemeClr val="tx1"/>
                </a:solidFill>
                <a:latin typeface="Courier New" pitchFamily="49" charset="0"/>
              </a:rPr>
              <a:t>		int bal;	</a:t>
            </a:r>
            <a:r>
              <a:rPr lang="bg-BG" sz="2000" smtClean="0">
                <a:solidFill>
                  <a:schemeClr val="tx1"/>
                </a:solidFill>
                <a:latin typeface="Courier New" pitchFamily="49" charset="0"/>
              </a:rPr>
              <a:t>//</a:t>
            </a:r>
            <a:r>
              <a:rPr lang="en-US" sz="2000" smtClean="0">
                <a:solidFill>
                  <a:schemeClr val="tx1"/>
                </a:solidFill>
                <a:latin typeface="Courier New" pitchFamily="49" charset="0"/>
              </a:rPr>
              <a:t> </a:t>
            </a:r>
            <a:r>
              <a:rPr lang="bg-BG" sz="2000" smtClean="0">
                <a:solidFill>
                  <a:schemeClr val="tx1"/>
                </a:solidFill>
                <a:latin typeface="Courier New" pitchFamily="49" charset="0"/>
              </a:rPr>
              <a:t>0 </a:t>
            </a:r>
            <a:r>
              <a:rPr lang="bg-BG" sz="2000">
                <a:solidFill>
                  <a:schemeClr val="tx1"/>
                </a:solidFill>
                <a:latin typeface="Courier New" pitchFamily="49" charset="0"/>
              </a:rPr>
              <a:t>- двата клона на възела </a:t>
            </a:r>
            <a:br>
              <a:rPr lang="bg-BG" sz="2000">
                <a:solidFill>
                  <a:schemeClr val="tx1"/>
                </a:solidFill>
                <a:latin typeface="Courier New" pitchFamily="49" charset="0"/>
              </a:rPr>
            </a:br>
            <a:r>
              <a:rPr lang="bg-BG" sz="2000">
                <a:solidFill>
                  <a:schemeClr val="tx1"/>
                </a:solidFill>
                <a:latin typeface="Courier New" pitchFamily="49" charset="0"/>
              </a:rPr>
              <a:t>				// с еднаква дължина</a:t>
            </a:r>
            <a:br>
              <a:rPr lang="bg-BG" sz="2000">
                <a:solidFill>
                  <a:schemeClr val="tx1"/>
                </a:solidFill>
                <a:latin typeface="Courier New" pitchFamily="49" charset="0"/>
              </a:rPr>
            </a:br>
            <a:r>
              <a:rPr lang="bg-BG" sz="2000">
                <a:solidFill>
                  <a:schemeClr val="tx1"/>
                </a:solidFill>
                <a:latin typeface="Courier New" pitchFamily="49" charset="0"/>
              </a:rPr>
              <a:t>				</a:t>
            </a:r>
            <a:r>
              <a:rPr lang="bg-BG" sz="2000" smtClean="0">
                <a:solidFill>
                  <a:schemeClr val="tx1"/>
                </a:solidFill>
                <a:latin typeface="Courier New" pitchFamily="49" charset="0"/>
              </a:rPr>
              <a:t>//</a:t>
            </a:r>
            <a:r>
              <a:rPr lang="en-US" sz="2000" smtClean="0">
                <a:solidFill>
                  <a:schemeClr val="tx1"/>
                </a:solidFill>
                <a:latin typeface="Courier New" pitchFamily="49" charset="0"/>
              </a:rPr>
              <a:t> </a:t>
            </a:r>
            <a:r>
              <a:rPr lang="bg-BG" sz="2000" smtClean="0">
                <a:solidFill>
                  <a:schemeClr val="tx1"/>
                </a:solidFill>
                <a:latin typeface="Courier New" pitchFamily="49" charset="0"/>
              </a:rPr>
              <a:t>-</a:t>
            </a:r>
            <a:r>
              <a:rPr lang="bg-BG" sz="2000">
                <a:solidFill>
                  <a:schemeClr val="tx1"/>
                </a:solidFill>
                <a:latin typeface="Courier New" pitchFamily="49" charset="0"/>
              </a:rPr>
              <a:t>1 - левия клон е по-дълъг;</a:t>
            </a:r>
            <a:br>
              <a:rPr lang="bg-BG" sz="2000">
                <a:solidFill>
                  <a:schemeClr val="tx1"/>
                </a:solidFill>
                <a:latin typeface="Courier New" pitchFamily="49" charset="0"/>
              </a:rPr>
            </a:br>
            <a:r>
              <a:rPr lang="bg-BG" sz="2000">
                <a:solidFill>
                  <a:schemeClr val="tx1"/>
                </a:solidFill>
                <a:latin typeface="Courier New" pitchFamily="49" charset="0"/>
              </a:rPr>
              <a:t>				// +1 - десния е по-дълъг </a:t>
            </a:r>
            <a:br>
              <a:rPr lang="bg-BG" sz="2000">
                <a:solidFill>
                  <a:schemeClr val="tx1"/>
                </a:solidFill>
                <a:latin typeface="Courier New" pitchFamily="49" charset="0"/>
              </a:rPr>
            </a:br>
            <a:r>
              <a:rPr lang="bg-BG" sz="2000">
                <a:solidFill>
                  <a:schemeClr val="tx1"/>
                </a:solidFill>
                <a:latin typeface="Courier New" pitchFamily="49" charset="0"/>
              </a:rPr>
              <a:t>		tree *left,*right;</a:t>
            </a:r>
            <a:br>
              <a:rPr lang="bg-BG" sz="2000">
                <a:solidFill>
                  <a:schemeClr val="tx1"/>
                </a:solidFill>
                <a:latin typeface="Courier New" pitchFamily="49" charset="0"/>
              </a:rPr>
            </a:br>
            <a:r>
              <a:rPr lang="en-US" sz="2000">
                <a:solidFill>
                  <a:schemeClr val="tx1"/>
                </a:solidFill>
                <a:latin typeface="Courier New" pitchFamily="49" charset="0"/>
              </a:rPr>
              <a:t>	</a:t>
            </a:r>
            <a:r>
              <a:rPr lang="bg-BG" sz="2000">
                <a:solidFill>
                  <a:schemeClr val="tx1"/>
                </a:solidFill>
                <a:latin typeface="Courier New" pitchFamily="49" charset="0"/>
              </a:rPr>
              <a:t>     </a:t>
            </a:r>
            <a:r>
              <a:rPr lang="en-US" sz="2000">
                <a:solidFill>
                  <a:schemeClr val="tx1"/>
                </a:solidFill>
                <a:latin typeface="Courier New" pitchFamily="49" charset="0"/>
              </a:rPr>
              <a:t>};</a:t>
            </a:r>
            <a:br>
              <a:rPr lang="en-US" sz="2000">
                <a:solidFill>
                  <a:schemeClr val="tx1"/>
                </a:solidFill>
                <a:latin typeface="Courier New" pitchFamily="49" charset="0"/>
              </a:rPr>
            </a:br>
            <a:r>
              <a:rPr lang="en-US" sz="2000">
                <a:solidFill>
                  <a:schemeClr val="tx1"/>
                </a:solidFill>
                <a:latin typeface="Courier New" pitchFamily="49" charset="0"/>
              </a:rPr>
              <a:t>tree *root=NULL;</a:t>
            </a: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endParaRPr lang="en-US" sz="2000">
              <a:solidFill>
                <a:schemeClr val="tx2">
                  <a:satMod val="130000"/>
                </a:schemeClr>
              </a:solidFill>
              <a:latin typeface="Courier New"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116013" y="-333375"/>
            <a:ext cx="7777162" cy="7467600"/>
          </a:xfrm>
        </p:spPr>
        <p:txBody>
          <a:bodyPr/>
          <a:lstStyle/>
          <a:p>
            <a:pPr eaLnBrk="1" fontAlgn="auto" hangingPunct="1">
              <a:lnSpc>
                <a:spcPct val="90000"/>
              </a:lnSpc>
              <a:spcAft>
                <a:spcPts val="0"/>
              </a:spcAft>
              <a:defRPr/>
            </a:pPr>
            <a:r>
              <a:rPr lang="en-US">
                <a:solidFill>
                  <a:schemeClr val="tx1"/>
                </a:solidFill>
              </a:rPr>
              <a:t>	</a:t>
            </a:r>
            <a:r>
              <a:rPr lang="bg-BG" sz="1800">
                <a:solidFill>
                  <a:schemeClr val="tx1"/>
                </a:solidFill>
              </a:rPr>
              <a:t>Всяко двоично дърво може да бъде балансирано. </a:t>
            </a:r>
            <a:br>
              <a:rPr lang="bg-BG" sz="1800">
                <a:solidFill>
                  <a:schemeClr val="tx1"/>
                </a:solidFill>
              </a:rPr>
            </a:br>
            <a:r>
              <a:rPr lang="bg-BG" sz="1800">
                <a:solidFill>
                  <a:schemeClr val="tx1"/>
                </a:solidFill>
              </a:rPr>
              <a:t>   Има 4 основните операции за балансиране на двоично дърво, наречени ротации. </a:t>
            </a:r>
            <a:br>
              <a:rPr lang="bg-BG" sz="1800">
                <a:solidFill>
                  <a:schemeClr val="tx1"/>
                </a:solidFill>
              </a:rPr>
            </a:br>
            <a:r>
              <a:rPr lang="bg-BG" sz="1800">
                <a:solidFill>
                  <a:schemeClr val="tx1"/>
                </a:solidFill>
              </a:rPr>
              <a:t>-</a:t>
            </a:r>
            <a:r>
              <a:rPr lang="bg-BG" sz="1800" b="1">
                <a:solidFill>
                  <a:schemeClr val="tx1"/>
                </a:solidFill>
              </a:rPr>
              <a:t> Дясна ротация</a:t>
            </a:r>
            <a:r>
              <a:rPr lang="bg-BG" sz="1800">
                <a:solidFill>
                  <a:schemeClr val="tx1"/>
                </a:solidFill>
              </a:rPr>
              <a:t>. Тази операция е необходима тогава, когато във вече балансираното двоично дърво се добавя елемент към най-левия клон:</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en-US" sz="1800" smtClean="0">
                <a:solidFill>
                  <a:schemeClr val="tx1"/>
                </a:solidFill>
              </a:rPr>
              <a:t/>
            </a:r>
            <a:br>
              <a:rPr lang="en-US" sz="1800" smtClean="0">
                <a:solidFill>
                  <a:schemeClr val="tx1"/>
                </a:solidFill>
              </a:rPr>
            </a:br>
            <a:r>
              <a:rPr lang="bg-BG" sz="1800" smtClean="0">
                <a:solidFill>
                  <a:schemeClr val="tx2">
                    <a:satMod val="130000"/>
                  </a:schemeClr>
                </a:solidFill>
              </a:rPr>
              <a:t>Функция </a:t>
            </a:r>
            <a:r>
              <a:rPr lang="bg-BG" sz="1800">
                <a:solidFill>
                  <a:schemeClr val="tx2">
                    <a:satMod val="130000"/>
                  </a:schemeClr>
                </a:solidFill>
              </a:rPr>
              <a:t>за</a:t>
            </a:r>
            <a:r>
              <a:rPr lang="bg-BG" sz="1800">
                <a:solidFill>
                  <a:schemeClr val="tx1"/>
                </a:solidFill>
              </a:rPr>
              <a:t> </a:t>
            </a:r>
            <a:r>
              <a:rPr lang="bg-BG" sz="1800" b="1">
                <a:solidFill>
                  <a:schemeClr val="tx1"/>
                </a:solidFill>
              </a:rPr>
              <a:t>дясна ротация</a:t>
            </a:r>
            <a:r>
              <a:rPr lang="bg-BG" sz="1800">
                <a:solidFill>
                  <a:schemeClr val="tx1"/>
                </a:solidFill>
              </a:rPr>
              <a:t> в двоично дърво за търсене:</a:t>
            </a:r>
            <a:br>
              <a:rPr lang="bg-BG" sz="1800">
                <a:solidFill>
                  <a:schemeClr val="tx1"/>
                </a:solidFill>
              </a:rPr>
            </a:br>
            <a:r>
              <a:rPr lang="bg-BG" sz="1800">
                <a:solidFill>
                  <a:schemeClr val="tx2">
                    <a:satMod val="130000"/>
                  </a:schemeClr>
                </a:solidFill>
                <a:latin typeface="Courier New" pitchFamily="49" charset="0"/>
              </a:rPr>
              <a:t>void R_rot(tree * &amp;p)</a:t>
            </a:r>
            <a:br>
              <a:rPr lang="bg-BG"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tree *q;</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if(p-&gt;bal==-1){</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q=p-&gt;left;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if(q-&gt;bal==-1)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p-&gt;left=q-&gt;right;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q-&gt;right=p;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p=q;</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AU" sz="1800">
                <a:solidFill>
                  <a:schemeClr val="tx1"/>
                </a:solidFill>
                <a:latin typeface="Courier New" pitchFamily="49" charset="0"/>
              </a:rPr>
              <a:t>}</a:t>
            </a:r>
            <a:endParaRPr lang="en-US">
              <a:solidFill>
                <a:schemeClr val="tx1"/>
              </a:solidFill>
              <a:latin typeface="Courier New" pitchFamily="49" charset="0"/>
            </a:endParaRPr>
          </a:p>
        </p:txBody>
      </p:sp>
      <p:grpSp>
        <p:nvGrpSpPr>
          <p:cNvPr id="38915" name="Group 44"/>
          <p:cNvGrpSpPr>
            <a:grpSpLocks/>
          </p:cNvGrpSpPr>
          <p:nvPr/>
        </p:nvGrpSpPr>
        <p:grpSpPr bwMode="auto">
          <a:xfrm>
            <a:off x="2736850" y="1619250"/>
            <a:ext cx="3943350" cy="1657350"/>
            <a:chOff x="2737304" y="1734484"/>
            <a:chExt cx="3943350" cy="1657350"/>
          </a:xfrm>
        </p:grpSpPr>
        <p:sp>
          <p:nvSpPr>
            <p:cNvPr id="38916" name="Oval 4"/>
            <p:cNvSpPr>
              <a:spLocks noChangeArrowheads="1"/>
            </p:cNvSpPr>
            <p:nvPr/>
          </p:nvSpPr>
          <p:spPr bwMode="auto">
            <a:xfrm>
              <a:off x="3677739" y="2095164"/>
              <a:ext cx="240665" cy="213995"/>
            </a:xfrm>
            <a:prstGeom prst="ellipse">
              <a:avLst/>
            </a:prstGeom>
            <a:noFill/>
            <a:ln w="12700">
              <a:solidFill>
                <a:srgbClr val="000000"/>
              </a:solidFill>
              <a:round/>
              <a:headEnd/>
              <a:tailEnd/>
            </a:ln>
          </p:spPr>
          <p:txBody>
            <a:bodyPr/>
            <a:lstStyle/>
            <a:p>
              <a:endParaRPr lang="bg-BG"/>
            </a:p>
          </p:txBody>
        </p:sp>
        <p:sp>
          <p:nvSpPr>
            <p:cNvPr id="38917" name="Oval 5"/>
            <p:cNvSpPr>
              <a:spLocks noChangeArrowheads="1"/>
            </p:cNvSpPr>
            <p:nvPr/>
          </p:nvSpPr>
          <p:spPr bwMode="auto">
            <a:xfrm>
              <a:off x="3286579" y="2502834"/>
              <a:ext cx="240665" cy="213995"/>
            </a:xfrm>
            <a:prstGeom prst="ellipse">
              <a:avLst/>
            </a:prstGeom>
            <a:noFill/>
            <a:ln w="12700">
              <a:solidFill>
                <a:srgbClr val="000000"/>
              </a:solidFill>
              <a:round/>
              <a:headEnd/>
              <a:tailEnd/>
            </a:ln>
          </p:spPr>
          <p:txBody>
            <a:bodyPr/>
            <a:lstStyle/>
            <a:p>
              <a:endParaRPr lang="bg-BG"/>
            </a:p>
          </p:txBody>
        </p:sp>
        <p:sp>
          <p:nvSpPr>
            <p:cNvPr id="38918" name="Oval 6"/>
            <p:cNvSpPr>
              <a:spLocks noChangeArrowheads="1"/>
            </p:cNvSpPr>
            <p:nvPr/>
          </p:nvSpPr>
          <p:spPr bwMode="auto">
            <a:xfrm>
              <a:off x="4077789" y="2477434"/>
              <a:ext cx="240665" cy="222885"/>
            </a:xfrm>
            <a:prstGeom prst="ellipse">
              <a:avLst/>
            </a:prstGeom>
            <a:noFill/>
            <a:ln w="12700">
              <a:solidFill>
                <a:srgbClr val="000000"/>
              </a:solidFill>
              <a:round/>
              <a:headEnd/>
              <a:tailEnd/>
            </a:ln>
          </p:spPr>
          <p:txBody>
            <a:bodyPr/>
            <a:lstStyle/>
            <a:p>
              <a:endParaRPr lang="bg-BG"/>
            </a:p>
          </p:txBody>
        </p:sp>
        <p:sp>
          <p:nvSpPr>
            <p:cNvPr id="38919" name="Oval 7"/>
            <p:cNvSpPr>
              <a:spLocks noChangeArrowheads="1"/>
            </p:cNvSpPr>
            <p:nvPr/>
          </p:nvSpPr>
          <p:spPr bwMode="auto">
            <a:xfrm>
              <a:off x="3023689" y="2827954"/>
              <a:ext cx="240665" cy="213995"/>
            </a:xfrm>
            <a:prstGeom prst="ellipse">
              <a:avLst/>
            </a:prstGeom>
            <a:noFill/>
            <a:ln w="12700">
              <a:solidFill>
                <a:srgbClr val="000000"/>
              </a:solidFill>
              <a:round/>
              <a:headEnd/>
              <a:tailEnd/>
            </a:ln>
          </p:spPr>
          <p:txBody>
            <a:bodyPr/>
            <a:lstStyle/>
            <a:p>
              <a:endParaRPr lang="bg-BG"/>
            </a:p>
          </p:txBody>
        </p:sp>
        <p:sp>
          <p:nvSpPr>
            <p:cNvPr id="38920" name="Oval 8"/>
            <p:cNvSpPr>
              <a:spLocks noChangeArrowheads="1"/>
            </p:cNvSpPr>
            <p:nvPr/>
          </p:nvSpPr>
          <p:spPr bwMode="auto">
            <a:xfrm>
              <a:off x="3535499" y="2864784"/>
              <a:ext cx="240665" cy="213995"/>
            </a:xfrm>
            <a:prstGeom prst="ellipse">
              <a:avLst/>
            </a:prstGeom>
            <a:noFill/>
            <a:ln w="12700">
              <a:solidFill>
                <a:srgbClr val="000000"/>
              </a:solidFill>
              <a:round/>
              <a:headEnd/>
              <a:tailEnd/>
            </a:ln>
          </p:spPr>
          <p:txBody>
            <a:bodyPr/>
            <a:lstStyle/>
            <a:p>
              <a:endParaRPr lang="bg-BG"/>
            </a:p>
          </p:txBody>
        </p:sp>
        <p:sp>
          <p:nvSpPr>
            <p:cNvPr id="38921" name="Line 9"/>
            <p:cNvSpPr>
              <a:spLocks noChangeShapeType="1"/>
            </p:cNvSpPr>
            <p:nvPr/>
          </p:nvSpPr>
          <p:spPr bwMode="auto">
            <a:xfrm flipH="1">
              <a:off x="3482159" y="2290744"/>
              <a:ext cx="231775" cy="231775"/>
            </a:xfrm>
            <a:prstGeom prst="line">
              <a:avLst/>
            </a:prstGeom>
            <a:noFill/>
            <a:ln w="12700">
              <a:solidFill>
                <a:srgbClr val="000000"/>
              </a:solidFill>
              <a:round/>
              <a:headEnd type="none" w="sm" len="sm"/>
              <a:tailEnd type="triangle" w="sm" len="sm"/>
            </a:ln>
          </p:spPr>
          <p:txBody>
            <a:bodyPr/>
            <a:lstStyle/>
            <a:p>
              <a:endParaRPr lang="bg-BG"/>
            </a:p>
          </p:txBody>
        </p:sp>
        <p:sp>
          <p:nvSpPr>
            <p:cNvPr id="38922" name="Line 10"/>
            <p:cNvSpPr>
              <a:spLocks noChangeShapeType="1"/>
            </p:cNvSpPr>
            <p:nvPr/>
          </p:nvSpPr>
          <p:spPr bwMode="auto">
            <a:xfrm>
              <a:off x="3882209" y="2290744"/>
              <a:ext cx="222885" cy="222885"/>
            </a:xfrm>
            <a:prstGeom prst="line">
              <a:avLst/>
            </a:prstGeom>
            <a:noFill/>
            <a:ln w="12700">
              <a:solidFill>
                <a:srgbClr val="000000"/>
              </a:solidFill>
              <a:round/>
              <a:headEnd type="none" w="sm" len="sm"/>
              <a:tailEnd type="triangle" w="sm" len="med"/>
            </a:ln>
          </p:spPr>
          <p:txBody>
            <a:bodyPr/>
            <a:lstStyle/>
            <a:p>
              <a:endParaRPr lang="bg-BG"/>
            </a:p>
          </p:txBody>
        </p:sp>
        <p:sp>
          <p:nvSpPr>
            <p:cNvPr id="38923" name="Line 11"/>
            <p:cNvSpPr>
              <a:spLocks noChangeShapeType="1"/>
            </p:cNvSpPr>
            <p:nvPr/>
          </p:nvSpPr>
          <p:spPr bwMode="auto">
            <a:xfrm flipH="1">
              <a:off x="3192599" y="2697144"/>
              <a:ext cx="133985" cy="142875"/>
            </a:xfrm>
            <a:prstGeom prst="line">
              <a:avLst/>
            </a:prstGeom>
            <a:noFill/>
            <a:ln w="12700">
              <a:solidFill>
                <a:srgbClr val="000000"/>
              </a:solidFill>
              <a:round/>
              <a:headEnd type="none" w="sm" len="sm"/>
              <a:tailEnd type="triangle" w="sm" len="med"/>
            </a:ln>
          </p:spPr>
          <p:txBody>
            <a:bodyPr/>
            <a:lstStyle/>
            <a:p>
              <a:endParaRPr lang="bg-BG"/>
            </a:p>
          </p:txBody>
        </p:sp>
        <p:sp>
          <p:nvSpPr>
            <p:cNvPr id="38924" name="Line 12"/>
            <p:cNvSpPr>
              <a:spLocks noChangeShapeType="1"/>
            </p:cNvSpPr>
            <p:nvPr/>
          </p:nvSpPr>
          <p:spPr bwMode="auto">
            <a:xfrm>
              <a:off x="3485969" y="2698414"/>
              <a:ext cx="116205" cy="169545"/>
            </a:xfrm>
            <a:prstGeom prst="line">
              <a:avLst/>
            </a:prstGeom>
            <a:noFill/>
            <a:ln w="12700">
              <a:solidFill>
                <a:srgbClr val="000000"/>
              </a:solidFill>
              <a:round/>
              <a:headEnd type="none" w="sm" len="sm"/>
              <a:tailEnd type="triangle" w="sm" len="med"/>
            </a:ln>
          </p:spPr>
          <p:txBody>
            <a:bodyPr/>
            <a:lstStyle/>
            <a:p>
              <a:endParaRPr lang="bg-BG"/>
            </a:p>
          </p:txBody>
        </p:sp>
        <p:sp>
          <p:nvSpPr>
            <p:cNvPr id="38925" name="Oval 13"/>
            <p:cNvSpPr>
              <a:spLocks noChangeArrowheads="1"/>
            </p:cNvSpPr>
            <p:nvPr/>
          </p:nvSpPr>
          <p:spPr bwMode="auto">
            <a:xfrm>
              <a:off x="2750639" y="3165774"/>
              <a:ext cx="240665" cy="222885"/>
            </a:xfrm>
            <a:prstGeom prst="ellipse">
              <a:avLst/>
            </a:prstGeom>
            <a:noFill/>
            <a:ln w="12700">
              <a:solidFill>
                <a:srgbClr val="000000"/>
              </a:solidFill>
              <a:prstDash val="sysDot"/>
              <a:round/>
              <a:headEnd/>
              <a:tailEnd/>
            </a:ln>
          </p:spPr>
          <p:txBody>
            <a:bodyPr/>
            <a:lstStyle/>
            <a:p>
              <a:endParaRPr lang="bg-BG"/>
            </a:p>
          </p:txBody>
        </p:sp>
        <p:sp>
          <p:nvSpPr>
            <p:cNvPr id="38926" name="Line 14"/>
            <p:cNvSpPr>
              <a:spLocks noChangeShapeType="1"/>
            </p:cNvSpPr>
            <p:nvPr/>
          </p:nvSpPr>
          <p:spPr bwMode="auto">
            <a:xfrm flipH="1">
              <a:off x="2938599" y="3026709"/>
              <a:ext cx="142875" cy="169545"/>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38927" name="Oval 15"/>
            <p:cNvSpPr>
              <a:spLocks noChangeArrowheads="1"/>
            </p:cNvSpPr>
            <p:nvPr/>
          </p:nvSpPr>
          <p:spPr bwMode="auto">
            <a:xfrm>
              <a:off x="5649414" y="2119294"/>
              <a:ext cx="240665" cy="213995"/>
            </a:xfrm>
            <a:prstGeom prst="ellipse">
              <a:avLst/>
            </a:prstGeom>
            <a:noFill/>
            <a:ln w="12700">
              <a:solidFill>
                <a:srgbClr val="000000"/>
              </a:solidFill>
              <a:round/>
              <a:headEnd/>
              <a:tailEnd/>
            </a:ln>
          </p:spPr>
          <p:txBody>
            <a:bodyPr/>
            <a:lstStyle/>
            <a:p>
              <a:endParaRPr lang="bg-BG"/>
            </a:p>
          </p:txBody>
        </p:sp>
        <p:sp>
          <p:nvSpPr>
            <p:cNvPr id="38928" name="Oval 16"/>
            <p:cNvSpPr>
              <a:spLocks noChangeArrowheads="1"/>
            </p:cNvSpPr>
            <p:nvPr/>
          </p:nvSpPr>
          <p:spPr bwMode="auto">
            <a:xfrm>
              <a:off x="5267144" y="2474894"/>
              <a:ext cx="240665" cy="224155"/>
            </a:xfrm>
            <a:prstGeom prst="ellipse">
              <a:avLst/>
            </a:prstGeom>
            <a:noFill/>
            <a:ln w="12700">
              <a:solidFill>
                <a:srgbClr val="000000"/>
              </a:solidFill>
              <a:round/>
              <a:headEnd/>
              <a:tailEnd/>
            </a:ln>
          </p:spPr>
          <p:txBody>
            <a:bodyPr/>
            <a:lstStyle/>
            <a:p>
              <a:endParaRPr lang="bg-BG"/>
            </a:p>
          </p:txBody>
        </p:sp>
        <p:sp>
          <p:nvSpPr>
            <p:cNvPr id="38929" name="Oval 17"/>
            <p:cNvSpPr>
              <a:spLocks noChangeArrowheads="1"/>
            </p:cNvSpPr>
            <p:nvPr/>
          </p:nvSpPr>
          <p:spPr bwMode="auto">
            <a:xfrm>
              <a:off x="6049464" y="2474894"/>
              <a:ext cx="240665" cy="222885"/>
            </a:xfrm>
            <a:prstGeom prst="ellipse">
              <a:avLst/>
            </a:prstGeom>
            <a:noFill/>
            <a:ln w="12700">
              <a:solidFill>
                <a:srgbClr val="000000"/>
              </a:solidFill>
              <a:round/>
              <a:headEnd/>
              <a:tailEnd/>
            </a:ln>
          </p:spPr>
          <p:txBody>
            <a:bodyPr/>
            <a:lstStyle/>
            <a:p>
              <a:endParaRPr lang="bg-BG"/>
            </a:p>
          </p:txBody>
        </p:sp>
        <p:sp>
          <p:nvSpPr>
            <p:cNvPr id="38930" name="Oval 18"/>
            <p:cNvSpPr>
              <a:spLocks noChangeArrowheads="1"/>
            </p:cNvSpPr>
            <p:nvPr/>
          </p:nvSpPr>
          <p:spPr bwMode="auto">
            <a:xfrm>
              <a:off x="4947104" y="2831129"/>
              <a:ext cx="240665" cy="213995"/>
            </a:xfrm>
            <a:prstGeom prst="ellipse">
              <a:avLst/>
            </a:prstGeom>
            <a:noFill/>
            <a:ln w="12700">
              <a:solidFill>
                <a:srgbClr val="000000"/>
              </a:solidFill>
              <a:round/>
              <a:headEnd/>
              <a:tailEnd/>
            </a:ln>
          </p:spPr>
          <p:txBody>
            <a:bodyPr/>
            <a:lstStyle/>
            <a:p>
              <a:endParaRPr lang="bg-BG"/>
            </a:p>
          </p:txBody>
        </p:sp>
        <p:sp>
          <p:nvSpPr>
            <p:cNvPr id="38931" name="Oval 19"/>
            <p:cNvSpPr>
              <a:spLocks noChangeArrowheads="1"/>
            </p:cNvSpPr>
            <p:nvPr/>
          </p:nvSpPr>
          <p:spPr bwMode="auto">
            <a:xfrm>
              <a:off x="6349184" y="2856529"/>
              <a:ext cx="240665" cy="213995"/>
            </a:xfrm>
            <a:prstGeom prst="ellipse">
              <a:avLst/>
            </a:prstGeom>
            <a:noFill/>
            <a:ln w="12700">
              <a:solidFill>
                <a:srgbClr val="000000"/>
              </a:solidFill>
              <a:round/>
              <a:headEnd/>
              <a:tailEnd/>
            </a:ln>
          </p:spPr>
          <p:txBody>
            <a:bodyPr/>
            <a:lstStyle/>
            <a:p>
              <a:endParaRPr lang="bg-BG"/>
            </a:p>
          </p:txBody>
        </p:sp>
        <p:sp>
          <p:nvSpPr>
            <p:cNvPr id="38932" name="Line 20"/>
            <p:cNvSpPr>
              <a:spLocks noChangeShapeType="1"/>
            </p:cNvSpPr>
            <p:nvPr/>
          </p:nvSpPr>
          <p:spPr bwMode="auto">
            <a:xfrm flipH="1">
              <a:off x="5462724" y="2314874"/>
              <a:ext cx="222885" cy="178435"/>
            </a:xfrm>
            <a:prstGeom prst="line">
              <a:avLst/>
            </a:prstGeom>
            <a:noFill/>
            <a:ln w="12700">
              <a:solidFill>
                <a:srgbClr val="000000"/>
              </a:solidFill>
              <a:round/>
              <a:headEnd type="none" w="sm" len="sm"/>
              <a:tailEnd type="triangle" w="sm" len="med"/>
            </a:ln>
          </p:spPr>
          <p:txBody>
            <a:bodyPr/>
            <a:lstStyle/>
            <a:p>
              <a:endParaRPr lang="bg-BG"/>
            </a:p>
          </p:txBody>
        </p:sp>
        <p:sp>
          <p:nvSpPr>
            <p:cNvPr id="38933" name="Line 21"/>
            <p:cNvSpPr>
              <a:spLocks noChangeShapeType="1"/>
            </p:cNvSpPr>
            <p:nvPr/>
          </p:nvSpPr>
          <p:spPr bwMode="auto">
            <a:xfrm>
              <a:off x="5853884" y="2305984"/>
              <a:ext cx="249555" cy="187325"/>
            </a:xfrm>
            <a:prstGeom prst="line">
              <a:avLst/>
            </a:prstGeom>
            <a:noFill/>
            <a:ln w="12700">
              <a:solidFill>
                <a:srgbClr val="000000"/>
              </a:solidFill>
              <a:round/>
              <a:headEnd type="none" w="sm" len="sm"/>
              <a:tailEnd type="triangle" w="sm" len="med"/>
            </a:ln>
          </p:spPr>
          <p:txBody>
            <a:bodyPr/>
            <a:lstStyle/>
            <a:p>
              <a:endParaRPr lang="bg-BG"/>
            </a:p>
          </p:txBody>
        </p:sp>
        <p:sp>
          <p:nvSpPr>
            <p:cNvPr id="38934" name="Line 22"/>
            <p:cNvSpPr>
              <a:spLocks noChangeShapeType="1"/>
            </p:cNvSpPr>
            <p:nvPr/>
          </p:nvSpPr>
          <p:spPr bwMode="auto">
            <a:xfrm flipH="1">
              <a:off x="5150304" y="2671109"/>
              <a:ext cx="151765" cy="178435"/>
            </a:xfrm>
            <a:prstGeom prst="line">
              <a:avLst/>
            </a:prstGeom>
            <a:noFill/>
            <a:ln w="12700">
              <a:solidFill>
                <a:srgbClr val="000000"/>
              </a:solidFill>
              <a:round/>
              <a:headEnd type="none" w="sm" len="sm"/>
              <a:tailEnd type="triangle" w="sm" len="med"/>
            </a:ln>
          </p:spPr>
          <p:txBody>
            <a:bodyPr/>
            <a:lstStyle/>
            <a:p>
              <a:endParaRPr lang="bg-BG"/>
            </a:p>
          </p:txBody>
        </p:sp>
        <p:sp>
          <p:nvSpPr>
            <p:cNvPr id="38935" name="Line 23"/>
            <p:cNvSpPr>
              <a:spLocks noChangeShapeType="1"/>
            </p:cNvSpPr>
            <p:nvPr/>
          </p:nvSpPr>
          <p:spPr bwMode="auto">
            <a:xfrm>
              <a:off x="6271714" y="2645709"/>
              <a:ext cx="142875" cy="213995"/>
            </a:xfrm>
            <a:prstGeom prst="line">
              <a:avLst/>
            </a:prstGeom>
            <a:noFill/>
            <a:ln w="12700">
              <a:solidFill>
                <a:srgbClr val="000000"/>
              </a:solidFill>
              <a:round/>
              <a:headEnd type="none" w="sm" len="sm"/>
              <a:tailEnd type="triangle" w="sm" len="med"/>
            </a:ln>
          </p:spPr>
          <p:txBody>
            <a:bodyPr/>
            <a:lstStyle/>
            <a:p>
              <a:endParaRPr lang="bg-BG"/>
            </a:p>
          </p:txBody>
        </p:sp>
        <p:sp>
          <p:nvSpPr>
            <p:cNvPr id="38936" name="Oval 24"/>
            <p:cNvSpPr>
              <a:spLocks noChangeArrowheads="1"/>
            </p:cNvSpPr>
            <p:nvPr/>
          </p:nvSpPr>
          <p:spPr bwMode="auto">
            <a:xfrm>
              <a:off x="5825944" y="2903519"/>
              <a:ext cx="240665" cy="222885"/>
            </a:xfrm>
            <a:prstGeom prst="ellipse">
              <a:avLst/>
            </a:prstGeom>
            <a:noFill/>
            <a:ln w="12700">
              <a:solidFill>
                <a:srgbClr val="000000"/>
              </a:solidFill>
              <a:round/>
              <a:headEnd/>
              <a:tailEnd/>
            </a:ln>
          </p:spPr>
          <p:txBody>
            <a:bodyPr/>
            <a:lstStyle/>
            <a:p>
              <a:endParaRPr lang="bg-BG"/>
            </a:p>
          </p:txBody>
        </p:sp>
        <p:sp>
          <p:nvSpPr>
            <p:cNvPr id="38937" name="Line 25"/>
            <p:cNvSpPr>
              <a:spLocks noChangeShapeType="1"/>
            </p:cNvSpPr>
            <p:nvPr/>
          </p:nvSpPr>
          <p:spPr bwMode="auto">
            <a:xfrm flipH="1">
              <a:off x="5978344" y="2662219"/>
              <a:ext cx="98425" cy="231775"/>
            </a:xfrm>
            <a:prstGeom prst="line">
              <a:avLst/>
            </a:prstGeom>
            <a:noFill/>
            <a:ln w="12700">
              <a:solidFill>
                <a:srgbClr val="000000"/>
              </a:solidFill>
              <a:round/>
              <a:headEnd type="none" w="sm" len="sm"/>
              <a:tailEnd type="triangle" w="sm" len="med"/>
            </a:ln>
          </p:spPr>
          <p:txBody>
            <a:bodyPr/>
            <a:lstStyle/>
            <a:p>
              <a:endParaRPr lang="bg-BG"/>
            </a:p>
          </p:txBody>
        </p:sp>
        <p:sp>
          <p:nvSpPr>
            <p:cNvPr id="38938" name="Line 26"/>
            <p:cNvSpPr>
              <a:spLocks noChangeShapeType="1"/>
            </p:cNvSpPr>
            <p:nvPr/>
          </p:nvSpPr>
          <p:spPr bwMode="auto">
            <a:xfrm>
              <a:off x="3802199" y="1909744"/>
              <a:ext cx="635" cy="179705"/>
            </a:xfrm>
            <a:prstGeom prst="line">
              <a:avLst/>
            </a:prstGeom>
            <a:noFill/>
            <a:ln w="12700">
              <a:solidFill>
                <a:srgbClr val="000000"/>
              </a:solidFill>
              <a:round/>
              <a:headEnd type="none" w="sm" len="sm"/>
              <a:tailEnd type="triangle" w="sm" len="med"/>
            </a:ln>
          </p:spPr>
          <p:txBody>
            <a:bodyPr/>
            <a:lstStyle/>
            <a:p>
              <a:endParaRPr lang="bg-BG"/>
            </a:p>
          </p:txBody>
        </p:sp>
        <p:sp>
          <p:nvSpPr>
            <p:cNvPr id="38939" name="Line 27"/>
            <p:cNvSpPr>
              <a:spLocks noChangeShapeType="1"/>
            </p:cNvSpPr>
            <p:nvPr/>
          </p:nvSpPr>
          <p:spPr bwMode="auto">
            <a:xfrm>
              <a:off x="3402149" y="2288839"/>
              <a:ext cx="635" cy="179705"/>
            </a:xfrm>
            <a:prstGeom prst="line">
              <a:avLst/>
            </a:prstGeom>
            <a:noFill/>
            <a:ln w="12700">
              <a:solidFill>
                <a:srgbClr val="000000"/>
              </a:solidFill>
              <a:round/>
              <a:headEnd type="none" w="sm" len="sm"/>
              <a:tailEnd type="triangle" w="sm" len="med"/>
            </a:ln>
          </p:spPr>
          <p:txBody>
            <a:bodyPr/>
            <a:lstStyle/>
            <a:p>
              <a:endParaRPr lang="bg-BG"/>
            </a:p>
          </p:txBody>
        </p:sp>
        <p:sp>
          <p:nvSpPr>
            <p:cNvPr id="38940" name="Text Box 28"/>
            <p:cNvSpPr txBox="1">
              <a:spLocks noChangeArrowheads="1"/>
            </p:cNvSpPr>
            <p:nvPr/>
          </p:nvSpPr>
          <p:spPr bwMode="auto">
            <a:xfrm>
              <a:off x="2737304" y="3163234"/>
              <a:ext cx="342900" cy="228600"/>
            </a:xfrm>
            <a:prstGeom prst="rect">
              <a:avLst/>
            </a:prstGeom>
            <a:noFill/>
            <a:ln w="9525">
              <a:noFill/>
              <a:miter lim="800000"/>
              <a:headEnd/>
              <a:tailEnd/>
            </a:ln>
          </p:spPr>
          <p:txBody>
            <a:bodyPr/>
            <a:lstStyle/>
            <a:p>
              <a:r>
                <a:rPr lang="bg-BG" sz="1400" b="1" noProof="1">
                  <a:solidFill>
                    <a:srgbClr val="FF0000"/>
                  </a:solidFill>
                  <a:latin typeface="Courier New" pitchFamily="49" charset="0"/>
                </a:rPr>
                <a:t>1</a:t>
              </a:r>
              <a:endParaRPr lang="bg-BG" sz="1000">
                <a:solidFill>
                  <a:srgbClr val="FF0000"/>
                </a:solidFill>
                <a:latin typeface="Courier New" pitchFamily="49" charset="0"/>
              </a:endParaRPr>
            </a:p>
          </p:txBody>
        </p:sp>
        <p:sp>
          <p:nvSpPr>
            <p:cNvPr id="38941" name="Text Box 29"/>
            <p:cNvSpPr txBox="1">
              <a:spLocks noChangeArrowheads="1"/>
            </p:cNvSpPr>
            <p:nvPr/>
          </p:nvSpPr>
          <p:spPr bwMode="auto">
            <a:xfrm>
              <a:off x="3010354" y="2820334"/>
              <a:ext cx="342900" cy="228600"/>
            </a:xfrm>
            <a:prstGeom prst="rect">
              <a:avLst/>
            </a:prstGeom>
            <a:noFill/>
            <a:ln w="9525">
              <a:noFill/>
              <a:miter lim="800000"/>
              <a:headEnd/>
              <a:tailEnd/>
            </a:ln>
          </p:spPr>
          <p:txBody>
            <a:bodyPr/>
            <a:lstStyle/>
            <a:p>
              <a:r>
                <a:rPr lang="bg-BG" sz="1400" b="1" noProof="1">
                  <a:latin typeface="Courier New" pitchFamily="49" charset="0"/>
                </a:rPr>
                <a:t>3</a:t>
              </a:r>
              <a:endParaRPr lang="bg-BG" sz="1000" noProof="1">
                <a:latin typeface="Courier New" pitchFamily="49" charset="0"/>
              </a:endParaRPr>
            </a:p>
          </p:txBody>
        </p:sp>
        <p:sp>
          <p:nvSpPr>
            <p:cNvPr id="38942" name="Text Box 30"/>
            <p:cNvSpPr txBox="1">
              <a:spLocks noChangeArrowheads="1"/>
            </p:cNvSpPr>
            <p:nvPr/>
          </p:nvSpPr>
          <p:spPr bwMode="auto">
            <a:xfrm>
              <a:off x="3277054" y="2496484"/>
              <a:ext cx="342900" cy="228600"/>
            </a:xfrm>
            <a:prstGeom prst="rect">
              <a:avLst/>
            </a:prstGeom>
            <a:noFill/>
            <a:ln w="9525">
              <a:noFill/>
              <a:miter lim="800000"/>
              <a:headEnd/>
              <a:tailEnd/>
            </a:ln>
          </p:spPr>
          <p:txBody>
            <a:bodyPr/>
            <a:lstStyle/>
            <a:p>
              <a:r>
                <a:rPr lang="bg-BG" sz="1400" b="1" noProof="1">
                  <a:latin typeface="Courier New" pitchFamily="49" charset="0"/>
                </a:rPr>
                <a:t>5</a:t>
              </a:r>
              <a:endParaRPr lang="bg-BG" sz="1000">
                <a:latin typeface="Courier New" pitchFamily="49" charset="0"/>
              </a:endParaRPr>
            </a:p>
          </p:txBody>
        </p:sp>
        <p:sp>
          <p:nvSpPr>
            <p:cNvPr id="38943" name="Text Box 31"/>
            <p:cNvSpPr txBox="1">
              <a:spLocks noChangeArrowheads="1"/>
            </p:cNvSpPr>
            <p:nvPr/>
          </p:nvSpPr>
          <p:spPr bwMode="auto">
            <a:xfrm>
              <a:off x="3658054" y="2083734"/>
              <a:ext cx="342900" cy="228600"/>
            </a:xfrm>
            <a:prstGeom prst="rect">
              <a:avLst/>
            </a:prstGeom>
            <a:noFill/>
            <a:ln w="9525">
              <a:noFill/>
              <a:miter lim="800000"/>
              <a:headEnd/>
              <a:tailEnd/>
            </a:ln>
          </p:spPr>
          <p:txBody>
            <a:bodyPr/>
            <a:lstStyle/>
            <a:p>
              <a:r>
                <a:rPr lang="bg-BG" sz="1400" b="1" noProof="1">
                  <a:latin typeface="Courier New" pitchFamily="49" charset="0"/>
                </a:rPr>
                <a:t>7</a:t>
              </a:r>
              <a:endParaRPr lang="bg-BG" sz="1000" noProof="1">
                <a:latin typeface="Courier New" pitchFamily="49" charset="0"/>
              </a:endParaRPr>
            </a:p>
          </p:txBody>
        </p:sp>
        <p:sp>
          <p:nvSpPr>
            <p:cNvPr id="38944" name="Text Box 32"/>
            <p:cNvSpPr txBox="1">
              <a:spLocks noChangeArrowheads="1"/>
            </p:cNvSpPr>
            <p:nvPr/>
          </p:nvSpPr>
          <p:spPr bwMode="auto">
            <a:xfrm>
              <a:off x="4064454" y="2477434"/>
              <a:ext cx="342900" cy="228600"/>
            </a:xfrm>
            <a:prstGeom prst="rect">
              <a:avLst/>
            </a:prstGeom>
            <a:noFill/>
            <a:ln w="9525">
              <a:noFill/>
              <a:miter lim="800000"/>
              <a:headEnd/>
              <a:tailEnd/>
            </a:ln>
          </p:spPr>
          <p:txBody>
            <a:bodyPr/>
            <a:lstStyle/>
            <a:p>
              <a:r>
                <a:rPr lang="bg-BG" sz="1400" b="1" noProof="1">
                  <a:latin typeface="Courier New" pitchFamily="49" charset="0"/>
                </a:rPr>
                <a:t>9</a:t>
              </a:r>
              <a:endParaRPr lang="bg-BG" sz="1000">
                <a:latin typeface="Courier New" pitchFamily="49" charset="0"/>
              </a:endParaRPr>
            </a:p>
          </p:txBody>
        </p:sp>
        <p:sp>
          <p:nvSpPr>
            <p:cNvPr id="38945" name="Text Box 33"/>
            <p:cNvSpPr txBox="1">
              <a:spLocks noChangeArrowheads="1"/>
            </p:cNvSpPr>
            <p:nvPr/>
          </p:nvSpPr>
          <p:spPr bwMode="auto">
            <a:xfrm>
              <a:off x="3518354" y="2852084"/>
              <a:ext cx="342900" cy="228600"/>
            </a:xfrm>
            <a:prstGeom prst="rect">
              <a:avLst/>
            </a:prstGeom>
            <a:noFill/>
            <a:ln w="9525">
              <a:noFill/>
              <a:miter lim="800000"/>
              <a:headEnd/>
              <a:tailEnd/>
            </a:ln>
          </p:spPr>
          <p:txBody>
            <a:bodyPr/>
            <a:lstStyle/>
            <a:p>
              <a:r>
                <a:rPr lang="bg-BG" sz="1400" b="1" noProof="1">
                  <a:latin typeface="Courier New" pitchFamily="49" charset="0"/>
                </a:rPr>
                <a:t>6</a:t>
              </a:r>
              <a:endParaRPr lang="bg-BG" sz="1000">
                <a:latin typeface="Courier New" pitchFamily="49" charset="0"/>
              </a:endParaRPr>
            </a:p>
          </p:txBody>
        </p:sp>
        <p:sp>
          <p:nvSpPr>
            <p:cNvPr id="38946" name="Text Box 34"/>
            <p:cNvSpPr txBox="1">
              <a:spLocks noChangeArrowheads="1"/>
            </p:cNvSpPr>
            <p:nvPr/>
          </p:nvSpPr>
          <p:spPr bwMode="auto">
            <a:xfrm>
              <a:off x="3575504" y="1734484"/>
              <a:ext cx="342900" cy="228600"/>
            </a:xfrm>
            <a:prstGeom prst="rect">
              <a:avLst/>
            </a:prstGeom>
            <a:noFill/>
            <a:ln w="9525">
              <a:noFill/>
              <a:miter lim="800000"/>
              <a:headEnd/>
              <a:tailEnd/>
            </a:ln>
          </p:spPr>
          <p:txBody>
            <a:bodyPr/>
            <a:lstStyle/>
            <a:p>
              <a:r>
                <a:rPr lang="en-US" sz="1600" b="1" noProof="1">
                  <a:latin typeface="Courier New" pitchFamily="49" charset="0"/>
                </a:rPr>
                <a:t>p</a:t>
              </a:r>
              <a:endParaRPr lang="en-US" sz="1000">
                <a:latin typeface="Courier New" pitchFamily="49" charset="0"/>
              </a:endParaRPr>
            </a:p>
          </p:txBody>
        </p:sp>
        <p:sp>
          <p:nvSpPr>
            <p:cNvPr id="38947" name="Text Box 35"/>
            <p:cNvSpPr txBox="1">
              <a:spLocks noChangeArrowheads="1"/>
            </p:cNvSpPr>
            <p:nvPr/>
          </p:nvSpPr>
          <p:spPr bwMode="auto">
            <a:xfrm>
              <a:off x="3232604" y="2077384"/>
              <a:ext cx="342900" cy="228600"/>
            </a:xfrm>
            <a:prstGeom prst="rect">
              <a:avLst/>
            </a:prstGeom>
            <a:noFill/>
            <a:ln w="9525">
              <a:noFill/>
              <a:miter lim="800000"/>
              <a:headEnd/>
              <a:tailEnd/>
            </a:ln>
          </p:spPr>
          <p:txBody>
            <a:bodyPr/>
            <a:lstStyle/>
            <a:p>
              <a:r>
                <a:rPr lang="en-US" sz="1600" b="1" noProof="1">
                  <a:latin typeface="Courier New" pitchFamily="49" charset="0"/>
                </a:rPr>
                <a:t>q</a:t>
              </a:r>
              <a:endParaRPr lang="en-US" sz="1000">
                <a:latin typeface="Courier New" pitchFamily="49" charset="0"/>
              </a:endParaRPr>
            </a:p>
          </p:txBody>
        </p:sp>
        <p:sp>
          <p:nvSpPr>
            <p:cNvPr id="38948" name="Text Box 36"/>
            <p:cNvSpPr txBox="1">
              <a:spLocks noChangeArrowheads="1"/>
            </p:cNvSpPr>
            <p:nvPr/>
          </p:nvSpPr>
          <p:spPr bwMode="auto">
            <a:xfrm>
              <a:off x="5251904" y="2471084"/>
              <a:ext cx="342900" cy="228600"/>
            </a:xfrm>
            <a:prstGeom prst="rect">
              <a:avLst/>
            </a:prstGeom>
            <a:noFill/>
            <a:ln w="9525">
              <a:noFill/>
              <a:miter lim="800000"/>
              <a:headEnd/>
              <a:tailEnd/>
            </a:ln>
          </p:spPr>
          <p:txBody>
            <a:bodyPr/>
            <a:lstStyle/>
            <a:p>
              <a:r>
                <a:rPr lang="bg-BG" sz="1200" b="1" noProof="1">
                  <a:latin typeface="Courier New" pitchFamily="49" charset="0"/>
                </a:rPr>
                <a:t>3</a:t>
              </a:r>
              <a:endParaRPr lang="en-US" sz="1000">
                <a:latin typeface="Courier New" pitchFamily="49" charset="0"/>
              </a:endParaRPr>
            </a:p>
          </p:txBody>
        </p:sp>
        <p:sp>
          <p:nvSpPr>
            <p:cNvPr id="38949" name="Text Box 37"/>
            <p:cNvSpPr txBox="1">
              <a:spLocks noChangeArrowheads="1"/>
            </p:cNvSpPr>
            <p:nvPr/>
          </p:nvSpPr>
          <p:spPr bwMode="auto">
            <a:xfrm>
              <a:off x="5639254" y="2109134"/>
              <a:ext cx="342900" cy="228600"/>
            </a:xfrm>
            <a:prstGeom prst="rect">
              <a:avLst/>
            </a:prstGeom>
            <a:noFill/>
            <a:ln w="9525">
              <a:noFill/>
              <a:miter lim="800000"/>
              <a:headEnd/>
              <a:tailEnd/>
            </a:ln>
          </p:spPr>
          <p:txBody>
            <a:bodyPr/>
            <a:lstStyle/>
            <a:p>
              <a:r>
                <a:rPr lang="bg-BG" sz="1400" b="1" noProof="1">
                  <a:latin typeface="Courier New" pitchFamily="49" charset="0"/>
                </a:rPr>
                <a:t>5</a:t>
              </a:r>
              <a:endParaRPr lang="en-US" sz="1000">
                <a:latin typeface="Courier New" pitchFamily="49" charset="0"/>
              </a:endParaRPr>
            </a:p>
          </p:txBody>
        </p:sp>
        <p:sp>
          <p:nvSpPr>
            <p:cNvPr id="38950" name="Text Box 38"/>
            <p:cNvSpPr txBox="1">
              <a:spLocks noChangeArrowheads="1"/>
            </p:cNvSpPr>
            <p:nvPr/>
          </p:nvSpPr>
          <p:spPr bwMode="auto">
            <a:xfrm>
              <a:off x="6032954" y="2471084"/>
              <a:ext cx="342900" cy="228600"/>
            </a:xfrm>
            <a:prstGeom prst="rect">
              <a:avLst/>
            </a:prstGeom>
            <a:noFill/>
            <a:ln w="9525">
              <a:noFill/>
              <a:miter lim="800000"/>
              <a:headEnd/>
              <a:tailEnd/>
            </a:ln>
          </p:spPr>
          <p:txBody>
            <a:bodyPr/>
            <a:lstStyle/>
            <a:p>
              <a:r>
                <a:rPr lang="bg-BG" sz="1400" b="1" noProof="1">
                  <a:latin typeface="Courier New" pitchFamily="49" charset="0"/>
                </a:rPr>
                <a:t>7</a:t>
              </a:r>
              <a:endParaRPr lang="en-US" sz="1000">
                <a:latin typeface="Courier New" pitchFamily="49" charset="0"/>
              </a:endParaRPr>
            </a:p>
          </p:txBody>
        </p:sp>
        <p:sp>
          <p:nvSpPr>
            <p:cNvPr id="38951" name="Text Box 39"/>
            <p:cNvSpPr txBox="1">
              <a:spLocks noChangeArrowheads="1"/>
            </p:cNvSpPr>
            <p:nvPr/>
          </p:nvSpPr>
          <p:spPr bwMode="auto">
            <a:xfrm>
              <a:off x="4934404" y="2826684"/>
              <a:ext cx="342900" cy="228600"/>
            </a:xfrm>
            <a:prstGeom prst="rect">
              <a:avLst/>
            </a:prstGeom>
            <a:noFill/>
            <a:ln w="9525">
              <a:noFill/>
              <a:miter lim="800000"/>
              <a:headEnd/>
              <a:tailEnd/>
            </a:ln>
          </p:spPr>
          <p:txBody>
            <a:bodyPr/>
            <a:lstStyle/>
            <a:p>
              <a:r>
                <a:rPr lang="bg-BG" sz="1400" b="1" noProof="1">
                  <a:latin typeface="Courier New" pitchFamily="49" charset="0"/>
                </a:rPr>
                <a:t>1</a:t>
              </a:r>
              <a:endParaRPr lang="en-US" sz="1000">
                <a:latin typeface="Courier New" pitchFamily="49" charset="0"/>
              </a:endParaRPr>
            </a:p>
          </p:txBody>
        </p:sp>
        <p:sp>
          <p:nvSpPr>
            <p:cNvPr id="38952" name="Text Box 40"/>
            <p:cNvSpPr txBox="1">
              <a:spLocks noChangeArrowheads="1"/>
            </p:cNvSpPr>
            <p:nvPr/>
          </p:nvSpPr>
          <p:spPr bwMode="auto">
            <a:xfrm>
              <a:off x="5804354" y="2902884"/>
              <a:ext cx="342900" cy="228600"/>
            </a:xfrm>
            <a:prstGeom prst="rect">
              <a:avLst/>
            </a:prstGeom>
            <a:noFill/>
            <a:ln w="9525">
              <a:noFill/>
              <a:miter lim="800000"/>
              <a:headEnd/>
              <a:tailEnd/>
            </a:ln>
          </p:spPr>
          <p:txBody>
            <a:bodyPr/>
            <a:lstStyle/>
            <a:p>
              <a:r>
                <a:rPr lang="bg-BG" sz="1400" b="1" noProof="1">
                  <a:latin typeface="Courier New" pitchFamily="49" charset="0"/>
                </a:rPr>
                <a:t>6</a:t>
              </a:r>
              <a:endParaRPr lang="en-US" sz="1000">
                <a:latin typeface="Courier New" pitchFamily="49" charset="0"/>
              </a:endParaRPr>
            </a:p>
          </p:txBody>
        </p:sp>
        <p:sp>
          <p:nvSpPr>
            <p:cNvPr id="38953" name="Text Box 41"/>
            <p:cNvSpPr txBox="1">
              <a:spLocks noChangeArrowheads="1"/>
            </p:cNvSpPr>
            <p:nvPr/>
          </p:nvSpPr>
          <p:spPr bwMode="auto">
            <a:xfrm>
              <a:off x="6337754" y="2852084"/>
              <a:ext cx="342900" cy="228600"/>
            </a:xfrm>
            <a:prstGeom prst="rect">
              <a:avLst/>
            </a:prstGeom>
            <a:noFill/>
            <a:ln w="9525">
              <a:noFill/>
              <a:miter lim="800000"/>
              <a:headEnd/>
              <a:tailEnd/>
            </a:ln>
          </p:spPr>
          <p:txBody>
            <a:bodyPr/>
            <a:lstStyle/>
            <a:p>
              <a:r>
                <a:rPr lang="bg-BG" sz="1400" b="1" noProof="1">
                  <a:latin typeface="Courier New" pitchFamily="49" charset="0"/>
                </a:rPr>
                <a:t>9</a:t>
              </a:r>
              <a:endParaRPr lang="en-US" sz="1000">
                <a:latin typeface="Courier New" pitchFamily="49" charset="0"/>
              </a:endParaRPr>
            </a:p>
          </p:txBody>
        </p:sp>
        <p:sp>
          <p:nvSpPr>
            <p:cNvPr id="38954" name="Line 42"/>
            <p:cNvSpPr>
              <a:spLocks noChangeShapeType="1"/>
            </p:cNvSpPr>
            <p:nvPr/>
          </p:nvSpPr>
          <p:spPr bwMode="auto">
            <a:xfrm>
              <a:off x="4604204" y="2591734"/>
              <a:ext cx="342900" cy="0"/>
            </a:xfrm>
            <a:prstGeom prst="line">
              <a:avLst/>
            </a:prstGeom>
            <a:noFill/>
            <a:ln w="25400">
              <a:solidFill>
                <a:srgbClr val="000000"/>
              </a:solidFill>
              <a:round/>
              <a:headEnd/>
              <a:tailEnd type="triangle" w="sm" len="med"/>
            </a:ln>
          </p:spPr>
          <p:txBody>
            <a:bodyPr/>
            <a:lstStyle/>
            <a:p>
              <a:endParaRPr lang="bg-BG"/>
            </a:p>
          </p:txBody>
        </p:sp>
        <p:sp>
          <p:nvSpPr>
            <p:cNvPr id="38955" name="Line 43"/>
            <p:cNvSpPr>
              <a:spLocks noChangeShapeType="1"/>
            </p:cNvSpPr>
            <p:nvPr/>
          </p:nvSpPr>
          <p:spPr bwMode="auto">
            <a:xfrm>
              <a:off x="5777396" y="1889214"/>
              <a:ext cx="0" cy="228600"/>
            </a:xfrm>
            <a:prstGeom prst="line">
              <a:avLst/>
            </a:prstGeom>
            <a:noFill/>
            <a:ln w="9525">
              <a:solidFill>
                <a:schemeClr val="tx1"/>
              </a:solidFill>
              <a:round/>
              <a:headEnd/>
              <a:tailEnd type="triangle" w="med" len="med"/>
            </a:ln>
          </p:spPr>
          <p:txBody>
            <a:bodyPr wrap="none" anchor="ctr"/>
            <a:lstStyle/>
            <a:p>
              <a:endParaRPr lang="bg-BG"/>
            </a:p>
          </p:txBody>
        </p:sp>
        <p:sp>
          <p:nvSpPr>
            <p:cNvPr id="38956" name="Text Box 44"/>
            <p:cNvSpPr txBox="1">
              <a:spLocks noChangeArrowheads="1"/>
            </p:cNvSpPr>
            <p:nvPr/>
          </p:nvSpPr>
          <p:spPr bwMode="auto">
            <a:xfrm>
              <a:off x="5868144" y="1916832"/>
              <a:ext cx="381000" cy="336550"/>
            </a:xfrm>
            <a:prstGeom prst="rect">
              <a:avLst/>
            </a:prstGeom>
            <a:noFill/>
            <a:ln w="9525">
              <a:noFill/>
              <a:miter lim="800000"/>
              <a:headEnd/>
              <a:tailEnd/>
            </a:ln>
          </p:spPr>
          <p:txBody>
            <a:bodyPr>
              <a:spAutoFit/>
            </a:bodyPr>
            <a:lstStyle/>
            <a:p>
              <a:pPr>
                <a:spcBef>
                  <a:spcPct val="50000"/>
                </a:spcBef>
              </a:pPr>
              <a:r>
                <a:rPr lang="en-US" sz="1600" b="1">
                  <a:latin typeface="Courier New" pitchFamily="49" charset="0"/>
                </a:rPr>
                <a:t>p</a:t>
              </a:r>
              <a:endParaRPr lang="en-US" sz="160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title"/>
          </p:nvPr>
        </p:nvSpPr>
        <p:spPr>
          <a:xfrm>
            <a:off x="1258888" y="549275"/>
            <a:ext cx="7724775" cy="6019800"/>
          </a:xfrm>
        </p:spPr>
        <p:txBody>
          <a:bodyPr>
            <a:normAutofit fontScale="90000"/>
          </a:bodyPr>
          <a:lstStyle/>
          <a:p>
            <a:pPr eaLnBrk="1" fontAlgn="auto" hangingPunct="1">
              <a:lnSpc>
                <a:spcPct val="90000"/>
              </a:lnSpc>
              <a:spcAft>
                <a:spcPts val="0"/>
              </a:spcAft>
              <a:defRPr/>
            </a:pPr>
            <a:r>
              <a:rPr lang="bg-BG" sz="1800" b="1">
                <a:solidFill>
                  <a:schemeClr val="tx1"/>
                </a:solidFill>
              </a:rPr>
              <a:t>- Лява ротация</a:t>
            </a:r>
            <a:r>
              <a:rPr lang="bg-BG" sz="1800">
                <a:solidFill>
                  <a:schemeClr val="tx1"/>
                </a:solidFill>
              </a:rPr>
              <a:t>. Тази операция е необходима тогава, когато във вече балансираното двоично дърво се добавя елемент към най-десния клон</a:t>
            </a:r>
            <a:r>
              <a:rPr lang="bg-BG" sz="1800" smtClean="0">
                <a:solidFill>
                  <a:schemeClr val="tx1"/>
                </a:solidFill>
              </a:rPr>
              <a:t>:</a:t>
            </a:r>
            <a:r>
              <a:rPr lang="en-US" sz="1800" smtClean="0">
                <a:solidFill>
                  <a:schemeClr val="tx1"/>
                </a:solidFill>
              </a:rPr>
              <a:t/>
            </a:r>
            <a:br>
              <a:rPr lang="en-US" sz="1800" smtClean="0">
                <a:solidFill>
                  <a:schemeClr val="tx1"/>
                </a:solidFill>
              </a:rPr>
            </a:br>
            <a:r>
              <a:rPr lang="en-US" sz="1800" smtClean="0">
                <a:solidFill>
                  <a:schemeClr val="tx1"/>
                </a:solidFill>
              </a:rPr>
              <a:t/>
            </a:r>
            <a:br>
              <a:rPr lang="en-US" sz="1800" smtClean="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800">
                <a:solidFill>
                  <a:schemeClr val="tx1"/>
                </a:solidFill>
              </a:rPr>
              <a:t/>
            </a:r>
            <a:br>
              <a:rPr lang="bg-BG" sz="800">
                <a:solidFill>
                  <a:schemeClr val="tx1"/>
                </a:solidFill>
              </a:rPr>
            </a:br>
            <a:r>
              <a:rPr lang="bg-BG" sz="1800">
                <a:solidFill>
                  <a:schemeClr val="tx1"/>
                </a:solidFill>
              </a:rPr>
              <a:t>Функция, реализираща операцията лява ротация в двоично дърво за търсене:</a:t>
            </a:r>
            <a:br>
              <a:rPr lang="bg-BG" sz="1800">
                <a:solidFill>
                  <a:schemeClr val="tx1"/>
                </a:solidFill>
              </a:rPr>
            </a:br>
            <a:r>
              <a:rPr lang="bg-BG" sz="1800">
                <a:solidFill>
                  <a:schemeClr val="tx2">
                    <a:satMod val="130000"/>
                  </a:schemeClr>
                </a:solidFill>
                <a:latin typeface="Courier New" pitchFamily="49" charset="0"/>
              </a:rPr>
              <a:t>void L_rot(tree * &amp;p)</a:t>
            </a:r>
            <a:br>
              <a:rPr lang="bg-BG"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tree *q;</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if(p-&gt;bal==1){</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q=p-&gt;right;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if(q-&gt;bal==1)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p-&gt;right=q-&gt;left;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q-&gt;left=p;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p=q;</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endParaRPr lang="en-US" b="1">
              <a:solidFill>
                <a:schemeClr val="tx1"/>
              </a:solidFill>
            </a:endParaRPr>
          </a:p>
        </p:txBody>
      </p:sp>
      <p:grpSp>
        <p:nvGrpSpPr>
          <p:cNvPr id="39939" name="Group 45"/>
          <p:cNvGrpSpPr>
            <a:grpSpLocks/>
          </p:cNvGrpSpPr>
          <p:nvPr/>
        </p:nvGrpSpPr>
        <p:grpSpPr bwMode="auto">
          <a:xfrm>
            <a:off x="2719388" y="1196975"/>
            <a:ext cx="4064000" cy="2068513"/>
            <a:chOff x="2524232" y="1143000"/>
            <a:chExt cx="4064000" cy="2069040"/>
          </a:xfrm>
        </p:grpSpPr>
        <p:sp>
          <p:nvSpPr>
            <p:cNvPr id="39940" name="Oval 5"/>
            <p:cNvSpPr>
              <a:spLocks noChangeArrowheads="1"/>
            </p:cNvSpPr>
            <p:nvPr/>
          </p:nvSpPr>
          <p:spPr bwMode="auto">
            <a:xfrm>
              <a:off x="2843002" y="1484043"/>
              <a:ext cx="240665" cy="214094"/>
            </a:xfrm>
            <a:prstGeom prst="ellipse">
              <a:avLst/>
            </a:prstGeom>
            <a:noFill/>
            <a:ln w="12700">
              <a:solidFill>
                <a:srgbClr val="000000"/>
              </a:solidFill>
              <a:round/>
              <a:headEnd/>
              <a:tailEnd/>
            </a:ln>
          </p:spPr>
          <p:txBody>
            <a:bodyPr/>
            <a:lstStyle/>
            <a:p>
              <a:endParaRPr lang="bg-BG"/>
            </a:p>
          </p:txBody>
        </p:sp>
        <p:sp>
          <p:nvSpPr>
            <p:cNvPr id="39941" name="Oval 6"/>
            <p:cNvSpPr>
              <a:spLocks noChangeArrowheads="1"/>
            </p:cNvSpPr>
            <p:nvPr/>
          </p:nvSpPr>
          <p:spPr bwMode="auto">
            <a:xfrm>
              <a:off x="2530582" y="1989101"/>
              <a:ext cx="240665" cy="214094"/>
            </a:xfrm>
            <a:prstGeom prst="ellipse">
              <a:avLst/>
            </a:prstGeom>
            <a:noFill/>
            <a:ln w="12700">
              <a:solidFill>
                <a:srgbClr val="000000"/>
              </a:solidFill>
              <a:round/>
              <a:headEnd/>
              <a:tailEnd/>
            </a:ln>
          </p:spPr>
          <p:txBody>
            <a:bodyPr/>
            <a:lstStyle/>
            <a:p>
              <a:endParaRPr lang="bg-BG"/>
            </a:p>
          </p:txBody>
        </p:sp>
        <p:sp>
          <p:nvSpPr>
            <p:cNvPr id="39942" name="Oval 7"/>
            <p:cNvSpPr>
              <a:spLocks noChangeArrowheads="1"/>
            </p:cNvSpPr>
            <p:nvPr/>
          </p:nvSpPr>
          <p:spPr bwMode="auto">
            <a:xfrm>
              <a:off x="3221462" y="1999265"/>
              <a:ext cx="267335" cy="222988"/>
            </a:xfrm>
            <a:prstGeom prst="ellipse">
              <a:avLst/>
            </a:prstGeom>
            <a:noFill/>
            <a:ln w="12700">
              <a:solidFill>
                <a:srgbClr val="000000"/>
              </a:solidFill>
              <a:round/>
              <a:headEnd/>
              <a:tailEnd/>
            </a:ln>
          </p:spPr>
          <p:txBody>
            <a:bodyPr/>
            <a:lstStyle/>
            <a:p>
              <a:endParaRPr lang="bg-BG"/>
            </a:p>
          </p:txBody>
        </p:sp>
        <p:sp>
          <p:nvSpPr>
            <p:cNvPr id="39943" name="Oval 8"/>
            <p:cNvSpPr>
              <a:spLocks noChangeArrowheads="1"/>
            </p:cNvSpPr>
            <p:nvPr/>
          </p:nvSpPr>
          <p:spPr bwMode="auto">
            <a:xfrm>
              <a:off x="3538962" y="2518935"/>
              <a:ext cx="240665" cy="214094"/>
            </a:xfrm>
            <a:prstGeom prst="ellipse">
              <a:avLst/>
            </a:prstGeom>
            <a:noFill/>
            <a:ln w="12700">
              <a:solidFill>
                <a:srgbClr val="000000"/>
              </a:solidFill>
              <a:round/>
              <a:headEnd/>
              <a:tailEnd/>
            </a:ln>
          </p:spPr>
          <p:txBody>
            <a:bodyPr/>
            <a:lstStyle/>
            <a:p>
              <a:endParaRPr lang="bg-BG"/>
            </a:p>
          </p:txBody>
        </p:sp>
        <p:sp>
          <p:nvSpPr>
            <p:cNvPr id="39944" name="Line 9"/>
            <p:cNvSpPr>
              <a:spLocks noChangeShapeType="1"/>
            </p:cNvSpPr>
            <p:nvPr/>
          </p:nvSpPr>
          <p:spPr bwMode="auto">
            <a:xfrm flipH="1">
              <a:off x="2691872" y="1670819"/>
              <a:ext cx="196215" cy="320823"/>
            </a:xfrm>
            <a:prstGeom prst="line">
              <a:avLst/>
            </a:prstGeom>
            <a:noFill/>
            <a:ln w="12700">
              <a:solidFill>
                <a:srgbClr val="000000"/>
              </a:solidFill>
              <a:round/>
              <a:headEnd type="none" w="sm" len="sm"/>
              <a:tailEnd type="triangle" w="sm" len="med"/>
            </a:ln>
          </p:spPr>
          <p:txBody>
            <a:bodyPr/>
            <a:lstStyle/>
            <a:p>
              <a:endParaRPr lang="bg-BG"/>
            </a:p>
          </p:txBody>
        </p:sp>
        <p:sp>
          <p:nvSpPr>
            <p:cNvPr id="39945" name="Line 10"/>
            <p:cNvSpPr>
              <a:spLocks noChangeShapeType="1"/>
            </p:cNvSpPr>
            <p:nvPr/>
          </p:nvSpPr>
          <p:spPr bwMode="auto">
            <a:xfrm>
              <a:off x="3047472" y="1679078"/>
              <a:ext cx="231775" cy="320823"/>
            </a:xfrm>
            <a:prstGeom prst="line">
              <a:avLst/>
            </a:prstGeom>
            <a:noFill/>
            <a:ln w="12700">
              <a:solidFill>
                <a:srgbClr val="000000"/>
              </a:solidFill>
              <a:round/>
              <a:headEnd type="none" w="sm" len="sm"/>
              <a:tailEnd type="triangle" w="sm" len="med"/>
            </a:ln>
          </p:spPr>
          <p:txBody>
            <a:bodyPr/>
            <a:lstStyle/>
            <a:p>
              <a:endParaRPr lang="bg-BG"/>
            </a:p>
          </p:txBody>
        </p:sp>
        <p:sp>
          <p:nvSpPr>
            <p:cNvPr id="39946" name="Line 11"/>
            <p:cNvSpPr>
              <a:spLocks noChangeShapeType="1"/>
            </p:cNvSpPr>
            <p:nvPr/>
          </p:nvSpPr>
          <p:spPr bwMode="auto">
            <a:xfrm>
              <a:off x="3467842" y="2188583"/>
              <a:ext cx="151765" cy="329717"/>
            </a:xfrm>
            <a:prstGeom prst="line">
              <a:avLst/>
            </a:prstGeom>
            <a:noFill/>
            <a:ln w="12700">
              <a:solidFill>
                <a:srgbClr val="000000"/>
              </a:solidFill>
              <a:round/>
              <a:headEnd type="none" w="sm" len="sm"/>
              <a:tailEnd type="triangle" w="sm" len="med"/>
            </a:ln>
          </p:spPr>
          <p:txBody>
            <a:bodyPr/>
            <a:lstStyle/>
            <a:p>
              <a:endParaRPr lang="bg-BG"/>
            </a:p>
          </p:txBody>
        </p:sp>
        <p:sp>
          <p:nvSpPr>
            <p:cNvPr id="39947" name="Oval 12"/>
            <p:cNvSpPr>
              <a:spLocks noChangeArrowheads="1"/>
            </p:cNvSpPr>
            <p:nvPr/>
          </p:nvSpPr>
          <p:spPr bwMode="auto">
            <a:xfrm>
              <a:off x="3806297" y="2989052"/>
              <a:ext cx="240665" cy="222988"/>
            </a:xfrm>
            <a:prstGeom prst="ellipse">
              <a:avLst/>
            </a:prstGeom>
            <a:noFill/>
            <a:ln w="12700">
              <a:solidFill>
                <a:srgbClr val="000000"/>
              </a:solidFill>
              <a:prstDash val="sysDot"/>
              <a:round/>
              <a:headEnd/>
              <a:tailEnd/>
            </a:ln>
          </p:spPr>
          <p:txBody>
            <a:bodyPr/>
            <a:lstStyle/>
            <a:p>
              <a:endParaRPr lang="bg-BG"/>
            </a:p>
          </p:txBody>
        </p:sp>
        <p:sp>
          <p:nvSpPr>
            <p:cNvPr id="39948" name="Oval 13"/>
            <p:cNvSpPr>
              <a:spLocks noChangeArrowheads="1"/>
            </p:cNvSpPr>
            <p:nvPr/>
          </p:nvSpPr>
          <p:spPr bwMode="auto">
            <a:xfrm>
              <a:off x="3020802" y="2565947"/>
              <a:ext cx="240665" cy="222988"/>
            </a:xfrm>
            <a:prstGeom prst="ellipse">
              <a:avLst/>
            </a:prstGeom>
            <a:noFill/>
            <a:ln w="12700">
              <a:solidFill>
                <a:srgbClr val="000000"/>
              </a:solidFill>
              <a:round/>
              <a:headEnd/>
              <a:tailEnd/>
            </a:ln>
          </p:spPr>
          <p:txBody>
            <a:bodyPr/>
            <a:lstStyle/>
            <a:p>
              <a:endParaRPr lang="bg-BG"/>
            </a:p>
          </p:txBody>
        </p:sp>
        <p:sp>
          <p:nvSpPr>
            <p:cNvPr id="39949" name="Line 14"/>
            <p:cNvSpPr>
              <a:spLocks noChangeShapeType="1"/>
            </p:cNvSpPr>
            <p:nvPr/>
          </p:nvSpPr>
          <p:spPr bwMode="auto">
            <a:xfrm flipH="1">
              <a:off x="3182092" y="2209547"/>
              <a:ext cx="98425" cy="356399"/>
            </a:xfrm>
            <a:prstGeom prst="line">
              <a:avLst/>
            </a:prstGeom>
            <a:noFill/>
            <a:ln w="12700">
              <a:solidFill>
                <a:srgbClr val="000000"/>
              </a:solidFill>
              <a:round/>
              <a:headEnd type="none" w="sm" len="sm"/>
              <a:tailEnd type="triangle" w="sm" len="med"/>
            </a:ln>
          </p:spPr>
          <p:txBody>
            <a:bodyPr/>
            <a:lstStyle/>
            <a:p>
              <a:endParaRPr lang="bg-BG"/>
            </a:p>
          </p:txBody>
        </p:sp>
        <p:sp>
          <p:nvSpPr>
            <p:cNvPr id="39950" name="Oval 15"/>
            <p:cNvSpPr>
              <a:spLocks noChangeArrowheads="1"/>
            </p:cNvSpPr>
            <p:nvPr/>
          </p:nvSpPr>
          <p:spPr bwMode="auto">
            <a:xfrm>
              <a:off x="5563342" y="1466254"/>
              <a:ext cx="240665" cy="214094"/>
            </a:xfrm>
            <a:prstGeom prst="ellipse">
              <a:avLst/>
            </a:prstGeom>
            <a:noFill/>
            <a:ln w="12700">
              <a:solidFill>
                <a:srgbClr val="000000"/>
              </a:solidFill>
              <a:round/>
              <a:headEnd/>
              <a:tailEnd/>
            </a:ln>
          </p:spPr>
          <p:txBody>
            <a:bodyPr/>
            <a:lstStyle/>
            <a:p>
              <a:endParaRPr lang="bg-BG"/>
            </a:p>
          </p:txBody>
        </p:sp>
        <p:sp>
          <p:nvSpPr>
            <p:cNvPr id="39951" name="Oval 16"/>
            <p:cNvSpPr>
              <a:spLocks noChangeArrowheads="1"/>
            </p:cNvSpPr>
            <p:nvPr/>
          </p:nvSpPr>
          <p:spPr bwMode="auto">
            <a:xfrm>
              <a:off x="5172182" y="1990371"/>
              <a:ext cx="240665" cy="214094"/>
            </a:xfrm>
            <a:prstGeom prst="ellipse">
              <a:avLst/>
            </a:prstGeom>
            <a:noFill/>
            <a:ln w="12700">
              <a:solidFill>
                <a:srgbClr val="000000"/>
              </a:solidFill>
              <a:round/>
              <a:headEnd/>
              <a:tailEnd/>
            </a:ln>
          </p:spPr>
          <p:txBody>
            <a:bodyPr/>
            <a:lstStyle/>
            <a:p>
              <a:endParaRPr lang="bg-BG"/>
            </a:p>
          </p:txBody>
        </p:sp>
        <p:sp>
          <p:nvSpPr>
            <p:cNvPr id="39952" name="Oval 17"/>
            <p:cNvSpPr>
              <a:spLocks noChangeArrowheads="1"/>
            </p:cNvSpPr>
            <p:nvPr/>
          </p:nvSpPr>
          <p:spPr bwMode="auto">
            <a:xfrm>
              <a:off x="5998952" y="1995454"/>
              <a:ext cx="240665" cy="222988"/>
            </a:xfrm>
            <a:prstGeom prst="ellipse">
              <a:avLst/>
            </a:prstGeom>
            <a:noFill/>
            <a:ln w="12700">
              <a:solidFill>
                <a:srgbClr val="000000"/>
              </a:solidFill>
              <a:round/>
              <a:headEnd/>
              <a:tailEnd/>
            </a:ln>
          </p:spPr>
          <p:txBody>
            <a:bodyPr/>
            <a:lstStyle/>
            <a:p>
              <a:endParaRPr lang="bg-BG"/>
            </a:p>
          </p:txBody>
        </p:sp>
        <p:sp>
          <p:nvSpPr>
            <p:cNvPr id="39953" name="Oval 18"/>
            <p:cNvSpPr>
              <a:spLocks noChangeArrowheads="1"/>
            </p:cNvSpPr>
            <p:nvPr/>
          </p:nvSpPr>
          <p:spPr bwMode="auto">
            <a:xfrm>
              <a:off x="4877542" y="2524018"/>
              <a:ext cx="240665" cy="214094"/>
            </a:xfrm>
            <a:prstGeom prst="ellipse">
              <a:avLst/>
            </a:prstGeom>
            <a:noFill/>
            <a:ln w="12700">
              <a:solidFill>
                <a:srgbClr val="000000"/>
              </a:solidFill>
              <a:round/>
              <a:headEnd/>
              <a:tailEnd/>
            </a:ln>
          </p:spPr>
          <p:txBody>
            <a:bodyPr/>
            <a:lstStyle/>
            <a:p>
              <a:endParaRPr lang="bg-BG"/>
            </a:p>
          </p:txBody>
        </p:sp>
        <p:sp>
          <p:nvSpPr>
            <p:cNvPr id="39954" name="Oval 19"/>
            <p:cNvSpPr>
              <a:spLocks noChangeArrowheads="1"/>
            </p:cNvSpPr>
            <p:nvPr/>
          </p:nvSpPr>
          <p:spPr bwMode="auto">
            <a:xfrm>
              <a:off x="6287242" y="2534182"/>
              <a:ext cx="240665" cy="214094"/>
            </a:xfrm>
            <a:prstGeom prst="ellipse">
              <a:avLst/>
            </a:prstGeom>
            <a:noFill/>
            <a:ln w="12700">
              <a:solidFill>
                <a:srgbClr val="000000"/>
              </a:solidFill>
              <a:round/>
              <a:headEnd/>
              <a:tailEnd/>
            </a:ln>
          </p:spPr>
          <p:txBody>
            <a:bodyPr/>
            <a:lstStyle/>
            <a:p>
              <a:endParaRPr lang="bg-BG"/>
            </a:p>
          </p:txBody>
        </p:sp>
        <p:sp>
          <p:nvSpPr>
            <p:cNvPr id="39955" name="Oval 20"/>
            <p:cNvSpPr>
              <a:spLocks noChangeArrowheads="1"/>
            </p:cNvSpPr>
            <p:nvPr/>
          </p:nvSpPr>
          <p:spPr bwMode="auto">
            <a:xfrm>
              <a:off x="5487142" y="2499876"/>
              <a:ext cx="240665" cy="214094"/>
            </a:xfrm>
            <a:prstGeom prst="ellipse">
              <a:avLst/>
            </a:prstGeom>
            <a:noFill/>
            <a:ln w="12700">
              <a:solidFill>
                <a:srgbClr val="000000"/>
              </a:solidFill>
              <a:round/>
              <a:headEnd/>
              <a:tailEnd/>
            </a:ln>
          </p:spPr>
          <p:txBody>
            <a:bodyPr/>
            <a:lstStyle/>
            <a:p>
              <a:endParaRPr lang="bg-BG"/>
            </a:p>
          </p:txBody>
        </p:sp>
        <p:sp>
          <p:nvSpPr>
            <p:cNvPr id="39956" name="Line 21"/>
            <p:cNvSpPr>
              <a:spLocks noChangeShapeType="1"/>
            </p:cNvSpPr>
            <p:nvPr/>
          </p:nvSpPr>
          <p:spPr bwMode="auto">
            <a:xfrm flipH="1">
              <a:off x="5349982" y="1661289"/>
              <a:ext cx="249555" cy="338611"/>
            </a:xfrm>
            <a:prstGeom prst="line">
              <a:avLst/>
            </a:prstGeom>
            <a:noFill/>
            <a:ln w="12700">
              <a:solidFill>
                <a:srgbClr val="000000"/>
              </a:solidFill>
              <a:round/>
              <a:headEnd type="none" w="sm" len="sm"/>
              <a:tailEnd type="triangle" w="sm" len="med"/>
            </a:ln>
          </p:spPr>
          <p:txBody>
            <a:bodyPr/>
            <a:lstStyle/>
            <a:p>
              <a:endParaRPr lang="bg-BG"/>
            </a:p>
          </p:txBody>
        </p:sp>
        <p:sp>
          <p:nvSpPr>
            <p:cNvPr id="39957" name="Line 22"/>
            <p:cNvSpPr>
              <a:spLocks noChangeShapeType="1"/>
            </p:cNvSpPr>
            <p:nvPr/>
          </p:nvSpPr>
          <p:spPr bwMode="auto">
            <a:xfrm>
              <a:off x="5767812" y="1653031"/>
              <a:ext cx="276225" cy="365294"/>
            </a:xfrm>
            <a:prstGeom prst="line">
              <a:avLst/>
            </a:prstGeom>
            <a:noFill/>
            <a:ln w="12700">
              <a:solidFill>
                <a:srgbClr val="000000"/>
              </a:solidFill>
              <a:round/>
              <a:headEnd type="none" w="sm" len="sm"/>
              <a:tailEnd type="triangle" w="sm" len="med"/>
            </a:ln>
          </p:spPr>
          <p:txBody>
            <a:bodyPr/>
            <a:lstStyle/>
            <a:p>
              <a:endParaRPr lang="bg-BG"/>
            </a:p>
          </p:txBody>
        </p:sp>
        <p:sp>
          <p:nvSpPr>
            <p:cNvPr id="39958" name="Line 23"/>
            <p:cNvSpPr>
              <a:spLocks noChangeShapeType="1"/>
            </p:cNvSpPr>
            <p:nvPr/>
          </p:nvSpPr>
          <p:spPr bwMode="auto">
            <a:xfrm flipH="1">
              <a:off x="5041372" y="2184136"/>
              <a:ext cx="169545" cy="338611"/>
            </a:xfrm>
            <a:prstGeom prst="line">
              <a:avLst/>
            </a:prstGeom>
            <a:noFill/>
            <a:ln w="12700">
              <a:solidFill>
                <a:srgbClr val="000000"/>
              </a:solidFill>
              <a:round/>
              <a:headEnd type="none" w="sm" len="sm"/>
              <a:tailEnd type="triangle" w="sm" len="med"/>
            </a:ln>
          </p:spPr>
          <p:txBody>
            <a:bodyPr/>
            <a:lstStyle/>
            <a:p>
              <a:endParaRPr lang="bg-BG"/>
            </a:p>
          </p:txBody>
        </p:sp>
        <p:sp>
          <p:nvSpPr>
            <p:cNvPr id="39959" name="Line 24"/>
            <p:cNvSpPr>
              <a:spLocks noChangeShapeType="1"/>
            </p:cNvSpPr>
            <p:nvPr/>
          </p:nvSpPr>
          <p:spPr bwMode="auto">
            <a:xfrm>
              <a:off x="5394432" y="2162536"/>
              <a:ext cx="169545" cy="338611"/>
            </a:xfrm>
            <a:prstGeom prst="line">
              <a:avLst/>
            </a:prstGeom>
            <a:noFill/>
            <a:ln w="12700">
              <a:solidFill>
                <a:srgbClr val="000000"/>
              </a:solidFill>
              <a:round/>
              <a:headEnd type="none" w="sm" len="sm"/>
              <a:tailEnd type="triangle" w="sm" len="med"/>
            </a:ln>
          </p:spPr>
          <p:txBody>
            <a:bodyPr/>
            <a:lstStyle/>
            <a:p>
              <a:endParaRPr lang="bg-BG"/>
            </a:p>
          </p:txBody>
        </p:sp>
        <p:sp>
          <p:nvSpPr>
            <p:cNvPr id="39960" name="Line 25"/>
            <p:cNvSpPr>
              <a:spLocks noChangeShapeType="1"/>
            </p:cNvSpPr>
            <p:nvPr/>
          </p:nvSpPr>
          <p:spPr bwMode="auto">
            <a:xfrm>
              <a:off x="6194532" y="2190489"/>
              <a:ext cx="187325" cy="338611"/>
            </a:xfrm>
            <a:prstGeom prst="line">
              <a:avLst/>
            </a:prstGeom>
            <a:noFill/>
            <a:ln w="12700">
              <a:solidFill>
                <a:srgbClr val="000000"/>
              </a:solidFill>
              <a:round/>
              <a:headEnd type="none" w="sm" len="sm"/>
              <a:tailEnd type="triangle" w="sm" len="med"/>
            </a:ln>
          </p:spPr>
          <p:txBody>
            <a:bodyPr/>
            <a:lstStyle/>
            <a:p>
              <a:endParaRPr lang="bg-BG"/>
            </a:p>
          </p:txBody>
        </p:sp>
        <p:sp>
          <p:nvSpPr>
            <p:cNvPr id="39961" name="Line 26"/>
            <p:cNvSpPr>
              <a:spLocks noChangeShapeType="1"/>
            </p:cNvSpPr>
            <p:nvPr/>
          </p:nvSpPr>
          <p:spPr bwMode="auto">
            <a:xfrm>
              <a:off x="3714222" y="2719688"/>
              <a:ext cx="178435" cy="267458"/>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39962" name="Line 27"/>
            <p:cNvSpPr>
              <a:spLocks noChangeShapeType="1"/>
            </p:cNvSpPr>
            <p:nvPr/>
          </p:nvSpPr>
          <p:spPr bwMode="auto">
            <a:xfrm>
              <a:off x="2968732" y="1311243"/>
              <a:ext cx="635" cy="178517"/>
            </a:xfrm>
            <a:prstGeom prst="line">
              <a:avLst/>
            </a:prstGeom>
            <a:noFill/>
            <a:ln w="12700">
              <a:solidFill>
                <a:srgbClr val="000000"/>
              </a:solidFill>
              <a:round/>
              <a:headEnd type="none" w="sm" len="sm"/>
              <a:tailEnd type="triangle" w="sm" len="med"/>
            </a:ln>
          </p:spPr>
          <p:txBody>
            <a:bodyPr/>
            <a:lstStyle/>
            <a:p>
              <a:endParaRPr lang="bg-BG"/>
            </a:p>
          </p:txBody>
        </p:sp>
        <p:sp>
          <p:nvSpPr>
            <p:cNvPr id="39963" name="Line 28"/>
            <p:cNvSpPr>
              <a:spLocks noChangeShapeType="1"/>
            </p:cNvSpPr>
            <p:nvPr/>
          </p:nvSpPr>
          <p:spPr bwMode="auto">
            <a:xfrm>
              <a:off x="3356082" y="1834724"/>
              <a:ext cx="635" cy="169623"/>
            </a:xfrm>
            <a:prstGeom prst="line">
              <a:avLst/>
            </a:prstGeom>
            <a:noFill/>
            <a:ln w="12700">
              <a:solidFill>
                <a:srgbClr val="000000"/>
              </a:solidFill>
              <a:round/>
              <a:headEnd type="none" w="sm" len="sm"/>
              <a:tailEnd type="triangle" w="sm" len="med"/>
            </a:ln>
          </p:spPr>
          <p:txBody>
            <a:bodyPr/>
            <a:lstStyle/>
            <a:p>
              <a:endParaRPr lang="bg-BG"/>
            </a:p>
          </p:txBody>
        </p:sp>
        <p:sp>
          <p:nvSpPr>
            <p:cNvPr id="39964" name="Text Box 29"/>
            <p:cNvSpPr txBox="1">
              <a:spLocks noChangeArrowheads="1"/>
            </p:cNvSpPr>
            <p:nvPr/>
          </p:nvSpPr>
          <p:spPr bwMode="auto">
            <a:xfrm>
              <a:off x="2524232" y="1985289"/>
              <a:ext cx="342900" cy="228706"/>
            </a:xfrm>
            <a:prstGeom prst="rect">
              <a:avLst/>
            </a:prstGeom>
            <a:noFill/>
            <a:ln w="9525">
              <a:noFill/>
              <a:miter lim="800000"/>
              <a:headEnd/>
              <a:tailEnd/>
            </a:ln>
          </p:spPr>
          <p:txBody>
            <a:bodyPr/>
            <a:lstStyle/>
            <a:p>
              <a:r>
                <a:rPr lang="bg-BG" sz="1000" b="1" noProof="1">
                  <a:latin typeface="Courier New" pitchFamily="49" charset="0"/>
                </a:rPr>
                <a:t>8</a:t>
              </a:r>
              <a:endParaRPr lang="bg-BG" sz="1000">
                <a:latin typeface="Courier New" pitchFamily="49" charset="0"/>
              </a:endParaRPr>
            </a:p>
          </p:txBody>
        </p:sp>
        <p:sp>
          <p:nvSpPr>
            <p:cNvPr id="39965" name="Text Box 30"/>
            <p:cNvSpPr txBox="1">
              <a:spLocks noChangeArrowheads="1"/>
            </p:cNvSpPr>
            <p:nvPr/>
          </p:nvSpPr>
          <p:spPr bwMode="auto">
            <a:xfrm>
              <a:off x="2740132" y="1146702"/>
              <a:ext cx="342900" cy="228706"/>
            </a:xfrm>
            <a:prstGeom prst="rect">
              <a:avLst/>
            </a:prstGeom>
            <a:noFill/>
            <a:ln w="9525">
              <a:noFill/>
              <a:miter lim="800000"/>
              <a:headEnd/>
              <a:tailEnd/>
            </a:ln>
          </p:spPr>
          <p:txBody>
            <a:bodyPr/>
            <a:lstStyle/>
            <a:p>
              <a:r>
                <a:rPr lang="en-US" sz="1400" b="1" noProof="1">
                  <a:latin typeface="Courier New" pitchFamily="49" charset="0"/>
                </a:rPr>
                <a:t>p</a:t>
              </a:r>
              <a:endParaRPr lang="bg-BG" sz="1000">
                <a:latin typeface="Courier New" pitchFamily="49" charset="0"/>
              </a:endParaRPr>
            </a:p>
          </p:txBody>
        </p:sp>
        <p:sp>
          <p:nvSpPr>
            <p:cNvPr id="39966" name="Text Box 31"/>
            <p:cNvSpPr txBox="1">
              <a:spLocks noChangeArrowheads="1"/>
            </p:cNvSpPr>
            <p:nvPr/>
          </p:nvSpPr>
          <p:spPr bwMode="auto">
            <a:xfrm>
              <a:off x="3273532" y="1616819"/>
              <a:ext cx="342900" cy="228706"/>
            </a:xfrm>
            <a:prstGeom prst="rect">
              <a:avLst/>
            </a:prstGeom>
            <a:noFill/>
            <a:ln w="9525">
              <a:noFill/>
              <a:miter lim="800000"/>
              <a:headEnd/>
              <a:tailEnd/>
            </a:ln>
          </p:spPr>
          <p:txBody>
            <a:bodyPr/>
            <a:lstStyle/>
            <a:p>
              <a:r>
                <a:rPr lang="en-US" sz="1400" b="1" noProof="1">
                  <a:latin typeface="Courier New" pitchFamily="49" charset="0"/>
                </a:rPr>
                <a:t>q</a:t>
              </a:r>
              <a:endParaRPr lang="en-US" sz="1000">
                <a:latin typeface="Courier New" pitchFamily="49" charset="0"/>
              </a:endParaRPr>
            </a:p>
          </p:txBody>
        </p:sp>
        <p:sp>
          <p:nvSpPr>
            <p:cNvPr id="39967" name="Text Box 32"/>
            <p:cNvSpPr txBox="1">
              <a:spLocks noChangeArrowheads="1"/>
            </p:cNvSpPr>
            <p:nvPr/>
          </p:nvSpPr>
          <p:spPr bwMode="auto">
            <a:xfrm>
              <a:off x="4867382" y="2518935"/>
              <a:ext cx="342900" cy="228706"/>
            </a:xfrm>
            <a:prstGeom prst="rect">
              <a:avLst/>
            </a:prstGeom>
            <a:noFill/>
            <a:ln w="9525">
              <a:noFill/>
              <a:miter lim="800000"/>
              <a:headEnd/>
              <a:tailEnd/>
            </a:ln>
          </p:spPr>
          <p:txBody>
            <a:bodyPr/>
            <a:lstStyle/>
            <a:p>
              <a:r>
                <a:rPr lang="bg-BG" sz="1000" b="1" noProof="1">
                  <a:latin typeface="Courier New" pitchFamily="49" charset="0"/>
                </a:rPr>
                <a:t>8</a:t>
              </a:r>
              <a:endParaRPr lang="bg-BG" sz="1000" b="1">
                <a:latin typeface="Courier New" pitchFamily="49" charset="0"/>
              </a:endParaRPr>
            </a:p>
          </p:txBody>
        </p:sp>
        <p:sp>
          <p:nvSpPr>
            <p:cNvPr id="39968" name="Text Box 33"/>
            <p:cNvSpPr txBox="1">
              <a:spLocks noChangeArrowheads="1"/>
            </p:cNvSpPr>
            <p:nvPr/>
          </p:nvSpPr>
          <p:spPr bwMode="auto">
            <a:xfrm>
              <a:off x="5121382" y="1978936"/>
              <a:ext cx="342900" cy="228706"/>
            </a:xfrm>
            <a:prstGeom prst="rect">
              <a:avLst/>
            </a:prstGeom>
            <a:noFill/>
            <a:ln w="9525">
              <a:noFill/>
              <a:miter lim="800000"/>
              <a:headEnd/>
              <a:tailEnd/>
            </a:ln>
          </p:spPr>
          <p:txBody>
            <a:bodyPr/>
            <a:lstStyle/>
            <a:p>
              <a:r>
                <a:rPr lang="bg-BG" sz="1000" b="1" noProof="1">
                  <a:latin typeface="Courier New" pitchFamily="49" charset="0"/>
                </a:rPr>
                <a:t>10</a:t>
              </a:r>
              <a:endParaRPr lang="bg-BG" sz="1000">
                <a:latin typeface="Courier New" pitchFamily="49" charset="0"/>
              </a:endParaRPr>
            </a:p>
          </p:txBody>
        </p:sp>
        <p:sp>
          <p:nvSpPr>
            <p:cNvPr id="39969" name="Text Box 34"/>
            <p:cNvSpPr txBox="1">
              <a:spLocks noChangeArrowheads="1"/>
            </p:cNvSpPr>
            <p:nvPr/>
          </p:nvSpPr>
          <p:spPr bwMode="auto">
            <a:xfrm>
              <a:off x="2790932" y="1477054"/>
              <a:ext cx="342900" cy="228706"/>
            </a:xfrm>
            <a:prstGeom prst="rect">
              <a:avLst/>
            </a:prstGeom>
            <a:noFill/>
            <a:ln w="9525">
              <a:noFill/>
              <a:miter lim="800000"/>
              <a:headEnd/>
              <a:tailEnd/>
            </a:ln>
          </p:spPr>
          <p:txBody>
            <a:bodyPr/>
            <a:lstStyle/>
            <a:p>
              <a:r>
                <a:rPr lang="bg-BG" sz="1000" b="1" noProof="1">
                  <a:latin typeface="Courier New" pitchFamily="49" charset="0"/>
                </a:rPr>
                <a:t>10</a:t>
              </a:r>
              <a:endParaRPr lang="bg-BG" sz="1000">
                <a:latin typeface="Courier New" pitchFamily="49" charset="0"/>
              </a:endParaRPr>
            </a:p>
          </p:txBody>
        </p:sp>
        <p:sp>
          <p:nvSpPr>
            <p:cNvPr id="39970" name="Text Box 35"/>
            <p:cNvSpPr txBox="1">
              <a:spLocks noChangeArrowheads="1"/>
            </p:cNvSpPr>
            <p:nvPr/>
          </p:nvSpPr>
          <p:spPr bwMode="auto">
            <a:xfrm>
              <a:off x="5438882" y="2493523"/>
              <a:ext cx="342900" cy="228706"/>
            </a:xfrm>
            <a:prstGeom prst="rect">
              <a:avLst/>
            </a:prstGeom>
            <a:noFill/>
            <a:ln w="9525">
              <a:noFill/>
              <a:miter lim="800000"/>
              <a:headEnd/>
              <a:tailEnd/>
            </a:ln>
          </p:spPr>
          <p:txBody>
            <a:bodyPr/>
            <a:lstStyle/>
            <a:p>
              <a:r>
                <a:rPr lang="bg-BG" sz="1000" b="1" noProof="1">
                  <a:latin typeface="Courier New" pitchFamily="49" charset="0"/>
                </a:rPr>
                <a:t>11</a:t>
              </a:r>
              <a:endParaRPr lang="bg-BG" sz="1000">
                <a:latin typeface="Courier New" pitchFamily="49" charset="0"/>
              </a:endParaRPr>
            </a:p>
          </p:txBody>
        </p:sp>
        <p:sp>
          <p:nvSpPr>
            <p:cNvPr id="39971" name="Text Box 36"/>
            <p:cNvSpPr txBox="1">
              <a:spLocks noChangeArrowheads="1"/>
            </p:cNvSpPr>
            <p:nvPr/>
          </p:nvSpPr>
          <p:spPr bwMode="auto">
            <a:xfrm>
              <a:off x="2968732" y="2563406"/>
              <a:ext cx="342900" cy="228706"/>
            </a:xfrm>
            <a:prstGeom prst="rect">
              <a:avLst/>
            </a:prstGeom>
            <a:noFill/>
            <a:ln w="9525">
              <a:noFill/>
              <a:miter lim="800000"/>
              <a:headEnd/>
              <a:tailEnd/>
            </a:ln>
          </p:spPr>
          <p:txBody>
            <a:bodyPr/>
            <a:lstStyle/>
            <a:p>
              <a:r>
                <a:rPr lang="bg-BG" sz="1000" b="1" noProof="1">
                  <a:latin typeface="Courier New" pitchFamily="49" charset="0"/>
                </a:rPr>
                <a:t>11</a:t>
              </a:r>
              <a:endParaRPr lang="bg-BG" sz="1000">
                <a:latin typeface="Courier New" pitchFamily="49" charset="0"/>
              </a:endParaRPr>
            </a:p>
          </p:txBody>
        </p:sp>
        <p:sp>
          <p:nvSpPr>
            <p:cNvPr id="39972" name="Text Box 37"/>
            <p:cNvSpPr txBox="1">
              <a:spLocks noChangeArrowheads="1"/>
            </p:cNvSpPr>
            <p:nvPr/>
          </p:nvSpPr>
          <p:spPr bwMode="auto">
            <a:xfrm>
              <a:off x="3184632" y="1991642"/>
              <a:ext cx="342900" cy="228706"/>
            </a:xfrm>
            <a:prstGeom prst="rect">
              <a:avLst/>
            </a:prstGeom>
            <a:noFill/>
            <a:ln w="9525">
              <a:noFill/>
              <a:miter lim="800000"/>
              <a:headEnd/>
              <a:tailEnd/>
            </a:ln>
          </p:spPr>
          <p:txBody>
            <a:bodyPr/>
            <a:lstStyle/>
            <a:p>
              <a:r>
                <a:rPr lang="bg-BG" sz="1000" b="1" noProof="1">
                  <a:latin typeface="Courier New" pitchFamily="49" charset="0"/>
                </a:rPr>
                <a:t>12</a:t>
              </a:r>
              <a:endParaRPr lang="bg-BG" sz="1000">
                <a:latin typeface="Courier New" pitchFamily="49" charset="0"/>
              </a:endParaRPr>
            </a:p>
          </p:txBody>
        </p:sp>
        <p:sp>
          <p:nvSpPr>
            <p:cNvPr id="39973" name="Text Box 38"/>
            <p:cNvSpPr txBox="1">
              <a:spLocks noChangeArrowheads="1"/>
            </p:cNvSpPr>
            <p:nvPr/>
          </p:nvSpPr>
          <p:spPr bwMode="auto">
            <a:xfrm>
              <a:off x="5515082" y="1457996"/>
              <a:ext cx="342900" cy="228706"/>
            </a:xfrm>
            <a:prstGeom prst="rect">
              <a:avLst/>
            </a:prstGeom>
            <a:noFill/>
            <a:ln w="9525">
              <a:noFill/>
              <a:miter lim="800000"/>
              <a:headEnd/>
              <a:tailEnd/>
            </a:ln>
          </p:spPr>
          <p:txBody>
            <a:bodyPr/>
            <a:lstStyle/>
            <a:p>
              <a:r>
                <a:rPr lang="bg-BG" sz="1000" b="1" noProof="1">
                  <a:latin typeface="Courier New" pitchFamily="49" charset="0"/>
                </a:rPr>
                <a:t>12</a:t>
              </a:r>
              <a:endParaRPr lang="bg-BG" sz="1000">
                <a:latin typeface="Courier New" pitchFamily="49" charset="0"/>
              </a:endParaRPr>
            </a:p>
          </p:txBody>
        </p:sp>
        <p:sp>
          <p:nvSpPr>
            <p:cNvPr id="39974" name="Text Box 39"/>
            <p:cNvSpPr txBox="1">
              <a:spLocks noChangeArrowheads="1"/>
            </p:cNvSpPr>
            <p:nvPr/>
          </p:nvSpPr>
          <p:spPr bwMode="auto">
            <a:xfrm>
              <a:off x="5946882" y="1991642"/>
              <a:ext cx="342900" cy="228706"/>
            </a:xfrm>
            <a:prstGeom prst="rect">
              <a:avLst/>
            </a:prstGeom>
            <a:noFill/>
            <a:ln w="9525">
              <a:noFill/>
              <a:miter lim="800000"/>
              <a:headEnd/>
              <a:tailEnd/>
            </a:ln>
          </p:spPr>
          <p:txBody>
            <a:bodyPr/>
            <a:lstStyle/>
            <a:p>
              <a:r>
                <a:rPr lang="bg-BG" sz="1000" b="1" noProof="1">
                  <a:latin typeface="Courier New" pitchFamily="49" charset="0"/>
                </a:rPr>
                <a:t>30</a:t>
              </a:r>
              <a:endParaRPr lang="bg-BG" sz="1000">
                <a:latin typeface="Courier New" pitchFamily="49" charset="0"/>
              </a:endParaRPr>
            </a:p>
          </p:txBody>
        </p:sp>
        <p:sp>
          <p:nvSpPr>
            <p:cNvPr id="39975" name="Text Box 40"/>
            <p:cNvSpPr txBox="1">
              <a:spLocks noChangeArrowheads="1"/>
            </p:cNvSpPr>
            <p:nvPr/>
          </p:nvSpPr>
          <p:spPr bwMode="auto">
            <a:xfrm>
              <a:off x="3489432" y="2512582"/>
              <a:ext cx="342900" cy="228706"/>
            </a:xfrm>
            <a:prstGeom prst="rect">
              <a:avLst/>
            </a:prstGeom>
            <a:noFill/>
            <a:ln w="9525">
              <a:noFill/>
              <a:miter lim="800000"/>
              <a:headEnd/>
              <a:tailEnd/>
            </a:ln>
          </p:spPr>
          <p:txBody>
            <a:bodyPr/>
            <a:lstStyle/>
            <a:p>
              <a:r>
                <a:rPr lang="bg-BG" sz="1000" b="1" noProof="1">
                  <a:latin typeface="Courier New" pitchFamily="49" charset="0"/>
                </a:rPr>
                <a:t>30</a:t>
              </a:r>
              <a:endParaRPr lang="bg-BG" sz="1000" b="1">
                <a:latin typeface="Courier New" pitchFamily="49" charset="0"/>
              </a:endParaRPr>
            </a:p>
          </p:txBody>
        </p:sp>
        <p:sp>
          <p:nvSpPr>
            <p:cNvPr id="39976" name="Text Box 41"/>
            <p:cNvSpPr txBox="1">
              <a:spLocks noChangeArrowheads="1"/>
            </p:cNvSpPr>
            <p:nvPr/>
          </p:nvSpPr>
          <p:spPr bwMode="auto">
            <a:xfrm>
              <a:off x="3762482" y="2982699"/>
              <a:ext cx="342900" cy="228706"/>
            </a:xfrm>
            <a:prstGeom prst="rect">
              <a:avLst/>
            </a:prstGeom>
            <a:noFill/>
            <a:ln w="9525">
              <a:noFill/>
              <a:miter lim="800000"/>
              <a:headEnd/>
              <a:tailEnd/>
            </a:ln>
          </p:spPr>
          <p:txBody>
            <a:bodyPr/>
            <a:lstStyle/>
            <a:p>
              <a:r>
                <a:rPr lang="bg-BG" sz="1000" b="1" noProof="1">
                  <a:solidFill>
                    <a:srgbClr val="FF0000"/>
                  </a:solidFill>
                  <a:latin typeface="Courier New" pitchFamily="49" charset="0"/>
                </a:rPr>
                <a:t>35</a:t>
              </a:r>
              <a:endParaRPr lang="bg-BG" sz="1000">
                <a:solidFill>
                  <a:srgbClr val="FF0000"/>
                </a:solidFill>
                <a:latin typeface="Courier New" pitchFamily="49" charset="0"/>
              </a:endParaRPr>
            </a:p>
          </p:txBody>
        </p:sp>
        <p:sp>
          <p:nvSpPr>
            <p:cNvPr id="39977" name="Text Box 42"/>
            <p:cNvSpPr txBox="1">
              <a:spLocks noChangeArrowheads="1"/>
            </p:cNvSpPr>
            <p:nvPr/>
          </p:nvSpPr>
          <p:spPr bwMode="auto">
            <a:xfrm>
              <a:off x="6245332" y="2531641"/>
              <a:ext cx="342900" cy="228706"/>
            </a:xfrm>
            <a:prstGeom prst="rect">
              <a:avLst/>
            </a:prstGeom>
            <a:noFill/>
            <a:ln w="9525">
              <a:noFill/>
              <a:miter lim="800000"/>
              <a:headEnd/>
              <a:tailEnd/>
            </a:ln>
          </p:spPr>
          <p:txBody>
            <a:bodyPr/>
            <a:lstStyle/>
            <a:p>
              <a:r>
                <a:rPr lang="bg-BG" sz="1000" b="1" noProof="1">
                  <a:latin typeface="Courier New" pitchFamily="49" charset="0"/>
                </a:rPr>
                <a:t>35</a:t>
              </a:r>
              <a:endParaRPr lang="bg-BG" sz="1000">
                <a:latin typeface="Courier New" pitchFamily="49" charset="0"/>
              </a:endParaRPr>
            </a:p>
          </p:txBody>
        </p:sp>
        <p:sp>
          <p:nvSpPr>
            <p:cNvPr id="39978" name="Line 43"/>
            <p:cNvSpPr>
              <a:spLocks noChangeShapeType="1"/>
            </p:cNvSpPr>
            <p:nvPr/>
          </p:nvSpPr>
          <p:spPr bwMode="auto">
            <a:xfrm>
              <a:off x="4264132" y="2074230"/>
              <a:ext cx="342900" cy="0"/>
            </a:xfrm>
            <a:prstGeom prst="line">
              <a:avLst/>
            </a:prstGeom>
            <a:noFill/>
            <a:ln w="25400">
              <a:solidFill>
                <a:srgbClr val="000000"/>
              </a:solidFill>
              <a:round/>
              <a:headEnd/>
              <a:tailEnd type="triangle" w="sm" len="med"/>
            </a:ln>
          </p:spPr>
          <p:txBody>
            <a:bodyPr/>
            <a:lstStyle/>
            <a:p>
              <a:endParaRPr lang="bg-BG"/>
            </a:p>
          </p:txBody>
        </p:sp>
        <p:sp>
          <p:nvSpPr>
            <p:cNvPr id="39979" name="Line 44"/>
            <p:cNvSpPr>
              <a:spLocks noChangeShapeType="1"/>
            </p:cNvSpPr>
            <p:nvPr/>
          </p:nvSpPr>
          <p:spPr bwMode="auto">
            <a:xfrm>
              <a:off x="5679738" y="1241142"/>
              <a:ext cx="0" cy="228600"/>
            </a:xfrm>
            <a:prstGeom prst="line">
              <a:avLst/>
            </a:prstGeom>
            <a:noFill/>
            <a:ln w="9525">
              <a:solidFill>
                <a:schemeClr val="tx1"/>
              </a:solidFill>
              <a:round/>
              <a:headEnd/>
              <a:tailEnd type="triangle" w="med" len="med"/>
            </a:ln>
          </p:spPr>
          <p:txBody>
            <a:bodyPr wrap="none" anchor="ctr"/>
            <a:lstStyle/>
            <a:p>
              <a:endParaRPr lang="bg-BG"/>
            </a:p>
          </p:txBody>
        </p:sp>
        <p:sp>
          <p:nvSpPr>
            <p:cNvPr id="39980" name="Text Box 45"/>
            <p:cNvSpPr txBox="1">
              <a:spLocks noChangeArrowheads="1"/>
            </p:cNvSpPr>
            <p:nvPr/>
          </p:nvSpPr>
          <p:spPr bwMode="auto">
            <a:xfrm>
              <a:off x="5410200" y="1143000"/>
              <a:ext cx="304800" cy="304800"/>
            </a:xfrm>
            <a:prstGeom prst="rect">
              <a:avLst/>
            </a:prstGeom>
            <a:noFill/>
            <a:ln w="9525">
              <a:noFill/>
              <a:miter lim="800000"/>
              <a:headEnd/>
              <a:tailEnd/>
            </a:ln>
          </p:spPr>
          <p:txBody>
            <a:bodyPr>
              <a:spAutoFit/>
            </a:bodyPr>
            <a:lstStyle/>
            <a:p>
              <a:pPr>
                <a:spcBef>
                  <a:spcPct val="50000"/>
                </a:spcBef>
              </a:pPr>
              <a:r>
                <a:rPr lang="en-US" sz="1400" b="1"/>
                <a:t>p</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116013" y="404813"/>
            <a:ext cx="7772400" cy="6019800"/>
          </a:xfrm>
        </p:spPr>
        <p:txBody>
          <a:bodyPr/>
          <a:lstStyle/>
          <a:p>
            <a:pPr eaLnBrk="1" fontAlgn="auto" hangingPunct="1">
              <a:spcAft>
                <a:spcPts val="0"/>
              </a:spcAft>
              <a:defRPr/>
            </a:pPr>
            <a:r>
              <a:rPr lang="bg-BG" sz="2400">
                <a:solidFill>
                  <a:schemeClr val="tx2">
                    <a:satMod val="130000"/>
                  </a:schemeClr>
                </a:solidFill>
              </a:rPr>
              <a:t>Двойни ротации:</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000">
                <a:solidFill>
                  <a:schemeClr val="tx2">
                    <a:satMod val="130000"/>
                  </a:schemeClr>
                </a:solidFill>
              </a:rPr>
              <a:t>лява ротация                          дясна</a:t>
            </a:r>
            <a:br>
              <a:rPr lang="bg-BG" sz="2000">
                <a:solidFill>
                  <a:schemeClr val="tx2">
                    <a:satMod val="130000"/>
                  </a:schemeClr>
                </a:solidFill>
              </a:rPr>
            </a:br>
            <a:r>
              <a:rPr lang="bg-BG" sz="2000">
                <a:solidFill>
                  <a:schemeClr val="tx2">
                    <a:satMod val="130000"/>
                  </a:schemeClr>
                </a:solidFill>
              </a:rPr>
              <a:t> 	   на лявото поддърво                  ротация</a:t>
            </a:r>
            <a:br>
              <a:rPr lang="bg-BG" sz="2000">
                <a:solidFill>
                  <a:schemeClr val="tx2">
                    <a:satMod val="130000"/>
                  </a:schemeClr>
                </a:solidFill>
              </a:rPr>
            </a:br>
            <a:r>
              <a:rPr lang="en-US" sz="2400">
                <a:solidFill>
                  <a:schemeClr val="tx2">
                    <a:satMod val="130000"/>
                  </a:schemeClr>
                </a:solidFill>
              </a:rPr>
              <a:t>		</a:t>
            </a: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 ляво-дясна ротация</a:t>
            </a:r>
            <a:endParaRPr lang="en-US" sz="2400">
              <a:solidFill>
                <a:schemeClr val="tx2">
                  <a:satMod val="130000"/>
                </a:schemeClr>
              </a:solidFill>
            </a:endParaRPr>
          </a:p>
        </p:txBody>
      </p:sp>
      <p:grpSp>
        <p:nvGrpSpPr>
          <p:cNvPr id="40963" name="Group 68"/>
          <p:cNvGrpSpPr>
            <a:grpSpLocks/>
          </p:cNvGrpSpPr>
          <p:nvPr/>
        </p:nvGrpSpPr>
        <p:grpSpPr bwMode="auto">
          <a:xfrm>
            <a:off x="1179513" y="2424113"/>
            <a:ext cx="7569200" cy="2438400"/>
            <a:chOff x="762000" y="2362200"/>
            <a:chExt cx="7569200" cy="2438400"/>
          </a:xfrm>
        </p:grpSpPr>
        <p:sp>
          <p:nvSpPr>
            <p:cNvPr id="40964" name="Oval 5"/>
            <p:cNvSpPr>
              <a:spLocks noChangeArrowheads="1"/>
            </p:cNvSpPr>
            <p:nvPr/>
          </p:nvSpPr>
          <p:spPr bwMode="auto">
            <a:xfrm>
              <a:off x="1517650" y="2362200"/>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65" name="Oval 6"/>
            <p:cNvSpPr>
              <a:spLocks noChangeArrowheads="1"/>
            </p:cNvSpPr>
            <p:nvPr/>
          </p:nvSpPr>
          <p:spPr bwMode="auto">
            <a:xfrm>
              <a:off x="1126958" y="2988881"/>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66" name="Oval 7"/>
            <p:cNvSpPr>
              <a:spLocks noChangeArrowheads="1"/>
            </p:cNvSpPr>
            <p:nvPr/>
          </p:nvSpPr>
          <p:spPr bwMode="auto">
            <a:xfrm>
              <a:off x="1828800" y="2988881"/>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67" name="Oval 8"/>
            <p:cNvSpPr>
              <a:spLocks noChangeArrowheads="1"/>
            </p:cNvSpPr>
            <p:nvPr/>
          </p:nvSpPr>
          <p:spPr bwMode="auto">
            <a:xfrm>
              <a:off x="762000" y="3660324"/>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68" name="Oval 9"/>
            <p:cNvSpPr>
              <a:spLocks noChangeArrowheads="1"/>
            </p:cNvSpPr>
            <p:nvPr/>
          </p:nvSpPr>
          <p:spPr bwMode="auto">
            <a:xfrm>
              <a:off x="1473200" y="3660324"/>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69" name="Oval 10"/>
            <p:cNvSpPr>
              <a:spLocks noChangeArrowheads="1"/>
            </p:cNvSpPr>
            <p:nvPr/>
          </p:nvSpPr>
          <p:spPr bwMode="auto">
            <a:xfrm>
              <a:off x="1138655" y="4352971"/>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70" name="Oval 11"/>
            <p:cNvSpPr>
              <a:spLocks noChangeArrowheads="1"/>
            </p:cNvSpPr>
            <p:nvPr/>
          </p:nvSpPr>
          <p:spPr bwMode="auto">
            <a:xfrm>
              <a:off x="1828800" y="4341191"/>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71" name="Line 12"/>
            <p:cNvSpPr>
              <a:spLocks noChangeShapeType="1"/>
            </p:cNvSpPr>
            <p:nvPr/>
          </p:nvSpPr>
          <p:spPr bwMode="auto">
            <a:xfrm flipH="1">
              <a:off x="1473200" y="2809829"/>
              <a:ext cx="133350" cy="179052"/>
            </a:xfrm>
            <a:prstGeom prst="line">
              <a:avLst/>
            </a:prstGeom>
            <a:noFill/>
            <a:ln w="9525">
              <a:solidFill>
                <a:srgbClr val="000000"/>
              </a:solidFill>
              <a:round/>
              <a:headEnd/>
              <a:tailEnd type="triangle" w="med" len="med"/>
            </a:ln>
          </p:spPr>
          <p:txBody>
            <a:bodyPr/>
            <a:lstStyle/>
            <a:p>
              <a:endParaRPr lang="bg-BG"/>
            </a:p>
          </p:txBody>
        </p:sp>
        <p:sp>
          <p:nvSpPr>
            <p:cNvPr id="40972" name="Line 13"/>
            <p:cNvSpPr>
              <a:spLocks noChangeShapeType="1"/>
            </p:cNvSpPr>
            <p:nvPr/>
          </p:nvSpPr>
          <p:spPr bwMode="auto">
            <a:xfrm flipH="1">
              <a:off x="1073150" y="3436510"/>
              <a:ext cx="177800" cy="223814"/>
            </a:xfrm>
            <a:prstGeom prst="line">
              <a:avLst/>
            </a:prstGeom>
            <a:noFill/>
            <a:ln w="9525">
              <a:solidFill>
                <a:srgbClr val="000000"/>
              </a:solidFill>
              <a:round/>
              <a:headEnd/>
              <a:tailEnd type="triangle" w="med" len="med"/>
            </a:ln>
          </p:spPr>
          <p:txBody>
            <a:bodyPr/>
            <a:lstStyle/>
            <a:p>
              <a:endParaRPr lang="bg-BG"/>
            </a:p>
          </p:txBody>
        </p:sp>
        <p:sp>
          <p:nvSpPr>
            <p:cNvPr id="40973" name="Line 14"/>
            <p:cNvSpPr>
              <a:spLocks noChangeShapeType="1"/>
            </p:cNvSpPr>
            <p:nvPr/>
          </p:nvSpPr>
          <p:spPr bwMode="auto">
            <a:xfrm>
              <a:off x="1828800" y="2765066"/>
              <a:ext cx="133350" cy="223814"/>
            </a:xfrm>
            <a:prstGeom prst="line">
              <a:avLst/>
            </a:prstGeom>
            <a:noFill/>
            <a:ln w="9525">
              <a:solidFill>
                <a:srgbClr val="000000"/>
              </a:solidFill>
              <a:round/>
              <a:headEnd/>
              <a:tailEnd type="triangle" w="med" len="med"/>
            </a:ln>
          </p:spPr>
          <p:txBody>
            <a:bodyPr/>
            <a:lstStyle/>
            <a:p>
              <a:endParaRPr lang="bg-BG"/>
            </a:p>
          </p:txBody>
        </p:sp>
        <p:sp>
          <p:nvSpPr>
            <p:cNvPr id="40974" name="Line 15"/>
            <p:cNvSpPr>
              <a:spLocks noChangeShapeType="1"/>
            </p:cNvSpPr>
            <p:nvPr/>
          </p:nvSpPr>
          <p:spPr bwMode="auto">
            <a:xfrm>
              <a:off x="1473200" y="3391747"/>
              <a:ext cx="177800" cy="223814"/>
            </a:xfrm>
            <a:prstGeom prst="line">
              <a:avLst/>
            </a:prstGeom>
            <a:noFill/>
            <a:ln w="9525">
              <a:solidFill>
                <a:srgbClr val="000000"/>
              </a:solidFill>
              <a:round/>
              <a:headEnd/>
              <a:tailEnd type="triangle" w="med" len="med"/>
            </a:ln>
          </p:spPr>
          <p:txBody>
            <a:bodyPr/>
            <a:lstStyle/>
            <a:p>
              <a:endParaRPr lang="bg-BG"/>
            </a:p>
          </p:txBody>
        </p:sp>
        <p:sp>
          <p:nvSpPr>
            <p:cNvPr id="40975" name="Line 16"/>
            <p:cNvSpPr>
              <a:spLocks noChangeShapeType="1"/>
            </p:cNvSpPr>
            <p:nvPr/>
          </p:nvSpPr>
          <p:spPr bwMode="auto">
            <a:xfrm flipH="1">
              <a:off x="1428750" y="4107953"/>
              <a:ext cx="177800" cy="268577"/>
            </a:xfrm>
            <a:prstGeom prst="line">
              <a:avLst/>
            </a:prstGeom>
            <a:noFill/>
            <a:ln w="9525">
              <a:solidFill>
                <a:srgbClr val="000000"/>
              </a:solidFill>
              <a:round/>
              <a:headEnd/>
              <a:tailEnd type="triangle" w="med" len="med"/>
            </a:ln>
          </p:spPr>
          <p:txBody>
            <a:bodyPr/>
            <a:lstStyle/>
            <a:p>
              <a:endParaRPr lang="bg-BG"/>
            </a:p>
          </p:txBody>
        </p:sp>
        <p:sp>
          <p:nvSpPr>
            <p:cNvPr id="40976" name="Line 17"/>
            <p:cNvSpPr>
              <a:spLocks noChangeShapeType="1"/>
            </p:cNvSpPr>
            <p:nvPr/>
          </p:nvSpPr>
          <p:spPr bwMode="auto">
            <a:xfrm>
              <a:off x="1828800" y="4063190"/>
              <a:ext cx="177800" cy="268577"/>
            </a:xfrm>
            <a:prstGeom prst="line">
              <a:avLst/>
            </a:prstGeom>
            <a:noFill/>
            <a:ln w="9525">
              <a:solidFill>
                <a:srgbClr val="000000"/>
              </a:solidFill>
              <a:round/>
              <a:headEnd/>
              <a:tailEnd type="triangle" w="med" len="med"/>
            </a:ln>
          </p:spPr>
          <p:txBody>
            <a:bodyPr/>
            <a:lstStyle/>
            <a:p>
              <a:endParaRPr lang="bg-BG"/>
            </a:p>
          </p:txBody>
        </p:sp>
        <p:sp>
          <p:nvSpPr>
            <p:cNvPr id="40977" name="Oval 19"/>
            <p:cNvSpPr>
              <a:spLocks noChangeArrowheads="1"/>
            </p:cNvSpPr>
            <p:nvPr/>
          </p:nvSpPr>
          <p:spPr bwMode="auto">
            <a:xfrm>
              <a:off x="6875045" y="2364556"/>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78" name="Oval 20"/>
            <p:cNvSpPr>
              <a:spLocks noChangeArrowheads="1"/>
            </p:cNvSpPr>
            <p:nvPr/>
          </p:nvSpPr>
          <p:spPr bwMode="auto">
            <a:xfrm>
              <a:off x="6318250" y="2899355"/>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79" name="Oval 21"/>
            <p:cNvSpPr>
              <a:spLocks noChangeArrowheads="1"/>
            </p:cNvSpPr>
            <p:nvPr/>
          </p:nvSpPr>
          <p:spPr bwMode="auto">
            <a:xfrm>
              <a:off x="7385050" y="2944118"/>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80" name="Oval 22"/>
            <p:cNvSpPr>
              <a:spLocks noChangeArrowheads="1"/>
            </p:cNvSpPr>
            <p:nvPr/>
          </p:nvSpPr>
          <p:spPr bwMode="auto">
            <a:xfrm>
              <a:off x="5962650" y="3526036"/>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81" name="Oval 23"/>
            <p:cNvSpPr>
              <a:spLocks noChangeArrowheads="1"/>
            </p:cNvSpPr>
            <p:nvPr/>
          </p:nvSpPr>
          <p:spPr bwMode="auto">
            <a:xfrm>
              <a:off x="6540500" y="3526036"/>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82" name="Oval 24"/>
            <p:cNvSpPr>
              <a:spLocks noChangeArrowheads="1"/>
            </p:cNvSpPr>
            <p:nvPr/>
          </p:nvSpPr>
          <p:spPr bwMode="auto">
            <a:xfrm>
              <a:off x="7162800" y="3547239"/>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83" name="Oval 25"/>
            <p:cNvSpPr>
              <a:spLocks noChangeArrowheads="1"/>
            </p:cNvSpPr>
            <p:nvPr/>
          </p:nvSpPr>
          <p:spPr bwMode="auto">
            <a:xfrm>
              <a:off x="7785100" y="3511900"/>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84" name="Line 26"/>
            <p:cNvSpPr>
              <a:spLocks noChangeShapeType="1"/>
            </p:cNvSpPr>
            <p:nvPr/>
          </p:nvSpPr>
          <p:spPr bwMode="auto">
            <a:xfrm flipH="1">
              <a:off x="6250405" y="3316357"/>
              <a:ext cx="177800" cy="223815"/>
            </a:xfrm>
            <a:prstGeom prst="line">
              <a:avLst/>
            </a:prstGeom>
            <a:noFill/>
            <a:ln w="9525">
              <a:solidFill>
                <a:srgbClr val="000000"/>
              </a:solidFill>
              <a:round/>
              <a:headEnd/>
              <a:tailEnd type="triangle" w="med" len="med"/>
            </a:ln>
          </p:spPr>
          <p:txBody>
            <a:bodyPr/>
            <a:lstStyle/>
            <a:p>
              <a:endParaRPr lang="bg-BG"/>
            </a:p>
          </p:txBody>
        </p:sp>
        <p:sp>
          <p:nvSpPr>
            <p:cNvPr id="40985" name="Line 27"/>
            <p:cNvSpPr>
              <a:spLocks noChangeShapeType="1"/>
            </p:cNvSpPr>
            <p:nvPr/>
          </p:nvSpPr>
          <p:spPr bwMode="auto">
            <a:xfrm>
              <a:off x="7785100" y="3346984"/>
              <a:ext cx="177800" cy="223815"/>
            </a:xfrm>
            <a:prstGeom prst="line">
              <a:avLst/>
            </a:prstGeom>
            <a:noFill/>
            <a:ln w="9525">
              <a:solidFill>
                <a:srgbClr val="000000"/>
              </a:solidFill>
              <a:round/>
              <a:headEnd/>
              <a:tailEnd type="triangle" w="med" len="med"/>
            </a:ln>
          </p:spPr>
          <p:txBody>
            <a:bodyPr/>
            <a:lstStyle/>
            <a:p>
              <a:endParaRPr lang="bg-BG"/>
            </a:p>
          </p:txBody>
        </p:sp>
        <p:sp>
          <p:nvSpPr>
            <p:cNvPr id="40986" name="Line 28"/>
            <p:cNvSpPr>
              <a:spLocks noChangeShapeType="1"/>
            </p:cNvSpPr>
            <p:nvPr/>
          </p:nvSpPr>
          <p:spPr bwMode="auto">
            <a:xfrm>
              <a:off x="6673850" y="3302221"/>
              <a:ext cx="177800" cy="268577"/>
            </a:xfrm>
            <a:prstGeom prst="line">
              <a:avLst/>
            </a:prstGeom>
            <a:noFill/>
            <a:ln w="9525">
              <a:solidFill>
                <a:srgbClr val="000000"/>
              </a:solidFill>
              <a:round/>
              <a:headEnd/>
              <a:tailEnd type="triangle" w="med" len="med"/>
            </a:ln>
          </p:spPr>
          <p:txBody>
            <a:bodyPr/>
            <a:lstStyle/>
            <a:p>
              <a:endParaRPr lang="bg-BG"/>
            </a:p>
          </p:txBody>
        </p:sp>
        <p:sp>
          <p:nvSpPr>
            <p:cNvPr id="40987" name="Line 29"/>
            <p:cNvSpPr>
              <a:spLocks noChangeShapeType="1"/>
            </p:cNvSpPr>
            <p:nvPr/>
          </p:nvSpPr>
          <p:spPr bwMode="auto">
            <a:xfrm flipH="1">
              <a:off x="6629400" y="2765066"/>
              <a:ext cx="311150" cy="179052"/>
            </a:xfrm>
            <a:prstGeom prst="line">
              <a:avLst/>
            </a:prstGeom>
            <a:noFill/>
            <a:ln w="9525">
              <a:solidFill>
                <a:srgbClr val="000000"/>
              </a:solidFill>
              <a:round/>
              <a:headEnd/>
              <a:tailEnd type="triangle" w="med" len="med"/>
            </a:ln>
          </p:spPr>
          <p:txBody>
            <a:bodyPr/>
            <a:lstStyle/>
            <a:p>
              <a:endParaRPr lang="bg-BG"/>
            </a:p>
          </p:txBody>
        </p:sp>
        <p:sp>
          <p:nvSpPr>
            <p:cNvPr id="40988" name="Line 30"/>
            <p:cNvSpPr>
              <a:spLocks noChangeShapeType="1"/>
            </p:cNvSpPr>
            <p:nvPr/>
          </p:nvSpPr>
          <p:spPr bwMode="auto">
            <a:xfrm>
              <a:off x="7251700" y="2720303"/>
              <a:ext cx="222250" cy="223815"/>
            </a:xfrm>
            <a:prstGeom prst="line">
              <a:avLst/>
            </a:prstGeom>
            <a:noFill/>
            <a:ln w="9525">
              <a:solidFill>
                <a:srgbClr val="000000"/>
              </a:solidFill>
              <a:round/>
              <a:headEnd/>
              <a:tailEnd type="triangle" w="med" len="med"/>
            </a:ln>
          </p:spPr>
          <p:txBody>
            <a:bodyPr/>
            <a:lstStyle/>
            <a:p>
              <a:endParaRPr lang="bg-BG"/>
            </a:p>
          </p:txBody>
        </p:sp>
        <p:sp>
          <p:nvSpPr>
            <p:cNvPr id="40989" name="Line 31"/>
            <p:cNvSpPr>
              <a:spLocks noChangeShapeType="1"/>
            </p:cNvSpPr>
            <p:nvPr/>
          </p:nvSpPr>
          <p:spPr bwMode="auto">
            <a:xfrm flipH="1">
              <a:off x="7385050" y="3346984"/>
              <a:ext cx="133350" cy="179052"/>
            </a:xfrm>
            <a:prstGeom prst="line">
              <a:avLst/>
            </a:prstGeom>
            <a:noFill/>
            <a:ln w="9525">
              <a:solidFill>
                <a:srgbClr val="000000"/>
              </a:solidFill>
              <a:round/>
              <a:headEnd/>
              <a:tailEnd type="triangle" w="med" len="med"/>
            </a:ln>
          </p:spPr>
          <p:txBody>
            <a:bodyPr/>
            <a:lstStyle/>
            <a:p>
              <a:endParaRPr lang="bg-BG"/>
            </a:p>
          </p:txBody>
        </p:sp>
        <p:sp>
          <p:nvSpPr>
            <p:cNvPr id="40990" name="Oval 33"/>
            <p:cNvSpPr>
              <a:spLocks noChangeArrowheads="1"/>
            </p:cNvSpPr>
            <p:nvPr/>
          </p:nvSpPr>
          <p:spPr bwMode="auto">
            <a:xfrm>
              <a:off x="4198687" y="2362200"/>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91" name="Oval 34"/>
            <p:cNvSpPr>
              <a:spLocks noChangeArrowheads="1"/>
            </p:cNvSpPr>
            <p:nvPr/>
          </p:nvSpPr>
          <p:spPr bwMode="auto">
            <a:xfrm>
              <a:off x="3807995" y="2988881"/>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92" name="Oval 35"/>
            <p:cNvSpPr>
              <a:spLocks noChangeArrowheads="1"/>
            </p:cNvSpPr>
            <p:nvPr/>
          </p:nvSpPr>
          <p:spPr bwMode="auto">
            <a:xfrm>
              <a:off x="4509837" y="2988881"/>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93" name="Oval 36"/>
            <p:cNvSpPr>
              <a:spLocks noChangeArrowheads="1"/>
            </p:cNvSpPr>
            <p:nvPr/>
          </p:nvSpPr>
          <p:spPr bwMode="auto">
            <a:xfrm>
              <a:off x="3443037" y="3660324"/>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94" name="Oval 37"/>
            <p:cNvSpPr>
              <a:spLocks noChangeArrowheads="1"/>
            </p:cNvSpPr>
            <p:nvPr/>
          </p:nvSpPr>
          <p:spPr bwMode="auto">
            <a:xfrm>
              <a:off x="4165934" y="3624985"/>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95" name="Oval 38"/>
            <p:cNvSpPr>
              <a:spLocks noChangeArrowheads="1"/>
            </p:cNvSpPr>
            <p:nvPr/>
          </p:nvSpPr>
          <p:spPr bwMode="auto">
            <a:xfrm>
              <a:off x="3073400" y="4312920"/>
              <a:ext cx="444500" cy="447629"/>
            </a:xfrm>
            <a:prstGeom prst="ellipse">
              <a:avLst/>
            </a:prstGeom>
            <a:solidFill>
              <a:srgbClr val="FFFFFF"/>
            </a:solidFill>
            <a:ln w="9525">
              <a:solidFill>
                <a:srgbClr val="000000"/>
              </a:solidFill>
              <a:round/>
              <a:headEnd/>
              <a:tailEnd/>
            </a:ln>
          </p:spPr>
          <p:txBody>
            <a:bodyPr/>
            <a:lstStyle/>
            <a:p>
              <a:endParaRPr lang="bg-BG"/>
            </a:p>
          </p:txBody>
        </p:sp>
        <p:sp>
          <p:nvSpPr>
            <p:cNvPr id="40996" name="Oval 39"/>
            <p:cNvSpPr>
              <a:spLocks noChangeArrowheads="1"/>
            </p:cNvSpPr>
            <p:nvPr/>
          </p:nvSpPr>
          <p:spPr bwMode="auto">
            <a:xfrm>
              <a:off x="3695700" y="4312920"/>
              <a:ext cx="444500" cy="447629"/>
            </a:xfrm>
            <a:prstGeom prst="ellipse">
              <a:avLst/>
            </a:prstGeom>
            <a:solidFill>
              <a:srgbClr val="FFFFFF"/>
            </a:solidFill>
            <a:ln w="9525">
              <a:solidFill>
                <a:srgbClr val="0000FF"/>
              </a:solidFill>
              <a:round/>
              <a:headEnd/>
              <a:tailEnd/>
            </a:ln>
          </p:spPr>
          <p:txBody>
            <a:bodyPr/>
            <a:lstStyle/>
            <a:p>
              <a:endParaRPr lang="bg-BG"/>
            </a:p>
          </p:txBody>
        </p:sp>
        <p:sp>
          <p:nvSpPr>
            <p:cNvPr id="40997" name="Line 40"/>
            <p:cNvSpPr>
              <a:spLocks noChangeShapeType="1"/>
            </p:cNvSpPr>
            <p:nvPr/>
          </p:nvSpPr>
          <p:spPr bwMode="auto">
            <a:xfrm flipH="1">
              <a:off x="4154237" y="2809829"/>
              <a:ext cx="133350" cy="179052"/>
            </a:xfrm>
            <a:prstGeom prst="line">
              <a:avLst/>
            </a:prstGeom>
            <a:noFill/>
            <a:ln w="9525">
              <a:solidFill>
                <a:srgbClr val="000000"/>
              </a:solidFill>
              <a:round/>
              <a:headEnd/>
              <a:tailEnd type="triangle" w="med" len="med"/>
            </a:ln>
          </p:spPr>
          <p:txBody>
            <a:bodyPr/>
            <a:lstStyle/>
            <a:p>
              <a:endParaRPr lang="bg-BG"/>
            </a:p>
          </p:txBody>
        </p:sp>
        <p:sp>
          <p:nvSpPr>
            <p:cNvPr id="40998" name="Line 41"/>
            <p:cNvSpPr>
              <a:spLocks noChangeShapeType="1"/>
            </p:cNvSpPr>
            <p:nvPr/>
          </p:nvSpPr>
          <p:spPr bwMode="auto">
            <a:xfrm flipH="1">
              <a:off x="3754187" y="3436510"/>
              <a:ext cx="177800" cy="223814"/>
            </a:xfrm>
            <a:prstGeom prst="line">
              <a:avLst/>
            </a:prstGeom>
            <a:noFill/>
            <a:ln w="9525">
              <a:solidFill>
                <a:srgbClr val="000000"/>
              </a:solidFill>
              <a:round/>
              <a:headEnd/>
              <a:tailEnd type="triangle" w="med" len="med"/>
            </a:ln>
          </p:spPr>
          <p:txBody>
            <a:bodyPr/>
            <a:lstStyle/>
            <a:p>
              <a:endParaRPr lang="bg-BG"/>
            </a:p>
          </p:txBody>
        </p:sp>
        <p:sp>
          <p:nvSpPr>
            <p:cNvPr id="40999" name="Line 42"/>
            <p:cNvSpPr>
              <a:spLocks noChangeShapeType="1"/>
            </p:cNvSpPr>
            <p:nvPr/>
          </p:nvSpPr>
          <p:spPr bwMode="auto">
            <a:xfrm>
              <a:off x="4521534" y="2776846"/>
              <a:ext cx="133350" cy="223814"/>
            </a:xfrm>
            <a:prstGeom prst="line">
              <a:avLst/>
            </a:prstGeom>
            <a:noFill/>
            <a:ln w="9525">
              <a:solidFill>
                <a:srgbClr val="000000"/>
              </a:solidFill>
              <a:round/>
              <a:headEnd/>
              <a:tailEnd type="triangle" w="med" len="med"/>
            </a:ln>
          </p:spPr>
          <p:txBody>
            <a:bodyPr/>
            <a:lstStyle/>
            <a:p>
              <a:endParaRPr lang="bg-BG"/>
            </a:p>
          </p:txBody>
        </p:sp>
        <p:sp>
          <p:nvSpPr>
            <p:cNvPr id="41000" name="Line 43"/>
            <p:cNvSpPr>
              <a:spLocks noChangeShapeType="1"/>
            </p:cNvSpPr>
            <p:nvPr/>
          </p:nvSpPr>
          <p:spPr bwMode="auto">
            <a:xfrm>
              <a:off x="4154237" y="3391747"/>
              <a:ext cx="177800" cy="223814"/>
            </a:xfrm>
            <a:prstGeom prst="line">
              <a:avLst/>
            </a:prstGeom>
            <a:noFill/>
            <a:ln w="9525">
              <a:solidFill>
                <a:srgbClr val="000000"/>
              </a:solidFill>
              <a:round/>
              <a:headEnd/>
              <a:tailEnd type="triangle" w="med" len="med"/>
            </a:ln>
          </p:spPr>
          <p:txBody>
            <a:bodyPr/>
            <a:lstStyle/>
            <a:p>
              <a:endParaRPr lang="bg-BG"/>
            </a:p>
          </p:txBody>
        </p:sp>
        <p:sp>
          <p:nvSpPr>
            <p:cNvPr id="41001" name="Line 44"/>
            <p:cNvSpPr>
              <a:spLocks noChangeShapeType="1"/>
            </p:cNvSpPr>
            <p:nvPr/>
          </p:nvSpPr>
          <p:spPr bwMode="auto">
            <a:xfrm flipH="1">
              <a:off x="3340100" y="4053766"/>
              <a:ext cx="177800" cy="268577"/>
            </a:xfrm>
            <a:prstGeom prst="line">
              <a:avLst/>
            </a:prstGeom>
            <a:noFill/>
            <a:ln w="9525">
              <a:solidFill>
                <a:srgbClr val="000000"/>
              </a:solidFill>
              <a:round/>
              <a:headEnd/>
              <a:tailEnd type="triangle" w="med" len="med"/>
            </a:ln>
          </p:spPr>
          <p:txBody>
            <a:bodyPr/>
            <a:lstStyle/>
            <a:p>
              <a:endParaRPr lang="bg-BG"/>
            </a:p>
          </p:txBody>
        </p:sp>
        <p:sp>
          <p:nvSpPr>
            <p:cNvPr id="41002" name="Line 45"/>
            <p:cNvSpPr>
              <a:spLocks noChangeShapeType="1"/>
            </p:cNvSpPr>
            <p:nvPr/>
          </p:nvSpPr>
          <p:spPr bwMode="auto">
            <a:xfrm>
              <a:off x="3784600" y="4096173"/>
              <a:ext cx="177800" cy="223814"/>
            </a:xfrm>
            <a:prstGeom prst="line">
              <a:avLst/>
            </a:prstGeom>
            <a:noFill/>
            <a:ln w="9525">
              <a:solidFill>
                <a:srgbClr val="000000"/>
              </a:solidFill>
              <a:round/>
              <a:headEnd/>
              <a:tailEnd type="triangle" w="med" len="med"/>
            </a:ln>
          </p:spPr>
          <p:txBody>
            <a:bodyPr/>
            <a:lstStyle/>
            <a:p>
              <a:endParaRPr lang="bg-BG"/>
            </a:p>
          </p:txBody>
        </p:sp>
        <p:sp>
          <p:nvSpPr>
            <p:cNvPr id="41003" name="Line 46"/>
            <p:cNvSpPr>
              <a:spLocks noChangeShapeType="1"/>
            </p:cNvSpPr>
            <p:nvPr/>
          </p:nvSpPr>
          <p:spPr bwMode="auto">
            <a:xfrm>
              <a:off x="2628900" y="3436510"/>
              <a:ext cx="666750" cy="0"/>
            </a:xfrm>
            <a:prstGeom prst="line">
              <a:avLst/>
            </a:prstGeom>
            <a:noFill/>
            <a:ln w="9525">
              <a:solidFill>
                <a:srgbClr val="000000"/>
              </a:solidFill>
              <a:round/>
              <a:headEnd/>
              <a:tailEnd type="triangle" w="med" len="med"/>
            </a:ln>
          </p:spPr>
          <p:txBody>
            <a:bodyPr/>
            <a:lstStyle/>
            <a:p>
              <a:endParaRPr lang="bg-BG"/>
            </a:p>
          </p:txBody>
        </p:sp>
        <p:sp>
          <p:nvSpPr>
            <p:cNvPr id="41004" name="Line 47"/>
            <p:cNvSpPr>
              <a:spLocks noChangeShapeType="1"/>
            </p:cNvSpPr>
            <p:nvPr/>
          </p:nvSpPr>
          <p:spPr bwMode="auto">
            <a:xfrm>
              <a:off x="5162550" y="3436510"/>
              <a:ext cx="755650" cy="0"/>
            </a:xfrm>
            <a:prstGeom prst="line">
              <a:avLst/>
            </a:prstGeom>
            <a:noFill/>
            <a:ln w="9525">
              <a:solidFill>
                <a:srgbClr val="000000"/>
              </a:solidFill>
              <a:round/>
              <a:headEnd/>
              <a:tailEnd type="triangle" w="med" len="med"/>
            </a:ln>
          </p:spPr>
          <p:txBody>
            <a:bodyPr/>
            <a:lstStyle/>
            <a:p>
              <a:endParaRPr lang="bg-BG"/>
            </a:p>
          </p:txBody>
        </p:sp>
        <p:sp>
          <p:nvSpPr>
            <p:cNvPr id="41005" name="Text Box 49"/>
            <p:cNvSpPr txBox="1">
              <a:spLocks noChangeArrowheads="1"/>
            </p:cNvSpPr>
            <p:nvPr/>
          </p:nvSpPr>
          <p:spPr bwMode="auto">
            <a:xfrm>
              <a:off x="1549400" y="2400300"/>
              <a:ext cx="533400" cy="366713"/>
            </a:xfrm>
            <a:prstGeom prst="rect">
              <a:avLst/>
            </a:prstGeom>
            <a:noFill/>
            <a:ln w="9525">
              <a:noFill/>
              <a:miter lim="800000"/>
              <a:headEnd/>
              <a:tailEnd/>
            </a:ln>
          </p:spPr>
          <p:txBody>
            <a:bodyPr>
              <a:spAutoFit/>
            </a:bodyPr>
            <a:lstStyle/>
            <a:p>
              <a:pPr>
                <a:spcBef>
                  <a:spcPct val="50000"/>
                </a:spcBef>
              </a:pPr>
              <a:r>
                <a:rPr lang="bg-BG" sz="1800"/>
                <a:t>25</a:t>
              </a:r>
              <a:endParaRPr lang="en-US" sz="1800"/>
            </a:p>
          </p:txBody>
        </p:sp>
        <p:sp>
          <p:nvSpPr>
            <p:cNvPr id="41006" name="Text Box 50"/>
            <p:cNvSpPr txBox="1">
              <a:spLocks noChangeArrowheads="1"/>
            </p:cNvSpPr>
            <p:nvPr/>
          </p:nvSpPr>
          <p:spPr bwMode="auto">
            <a:xfrm>
              <a:off x="1866900" y="3022600"/>
              <a:ext cx="533400" cy="366713"/>
            </a:xfrm>
            <a:prstGeom prst="rect">
              <a:avLst/>
            </a:prstGeom>
            <a:noFill/>
            <a:ln w="9525">
              <a:noFill/>
              <a:miter lim="800000"/>
              <a:headEnd/>
              <a:tailEnd/>
            </a:ln>
          </p:spPr>
          <p:txBody>
            <a:bodyPr>
              <a:spAutoFit/>
            </a:bodyPr>
            <a:lstStyle/>
            <a:p>
              <a:pPr>
                <a:spcBef>
                  <a:spcPct val="50000"/>
                </a:spcBef>
              </a:pPr>
              <a:r>
                <a:rPr lang="bg-BG" sz="1800"/>
                <a:t>30</a:t>
              </a:r>
              <a:endParaRPr lang="en-US" sz="1800"/>
            </a:p>
          </p:txBody>
        </p:sp>
        <p:sp>
          <p:nvSpPr>
            <p:cNvPr id="41007" name="Text Box 51"/>
            <p:cNvSpPr txBox="1">
              <a:spLocks noChangeArrowheads="1"/>
            </p:cNvSpPr>
            <p:nvPr/>
          </p:nvSpPr>
          <p:spPr bwMode="auto">
            <a:xfrm>
              <a:off x="1498600" y="3695700"/>
              <a:ext cx="533400" cy="366713"/>
            </a:xfrm>
            <a:prstGeom prst="rect">
              <a:avLst/>
            </a:prstGeom>
            <a:noFill/>
            <a:ln w="9525">
              <a:noFill/>
              <a:miter lim="800000"/>
              <a:headEnd/>
              <a:tailEnd/>
            </a:ln>
          </p:spPr>
          <p:txBody>
            <a:bodyPr>
              <a:spAutoFit/>
            </a:bodyPr>
            <a:lstStyle/>
            <a:p>
              <a:pPr>
                <a:spcBef>
                  <a:spcPct val="50000"/>
                </a:spcBef>
              </a:pPr>
              <a:r>
                <a:rPr lang="bg-BG" sz="1800"/>
                <a:t>22</a:t>
              </a:r>
              <a:endParaRPr lang="en-US" sz="1800"/>
            </a:p>
          </p:txBody>
        </p:sp>
        <p:sp>
          <p:nvSpPr>
            <p:cNvPr id="41008" name="Text Box 52"/>
            <p:cNvSpPr txBox="1">
              <a:spLocks noChangeArrowheads="1"/>
            </p:cNvSpPr>
            <p:nvPr/>
          </p:nvSpPr>
          <p:spPr bwMode="auto">
            <a:xfrm>
              <a:off x="787400" y="3695700"/>
              <a:ext cx="533400" cy="366713"/>
            </a:xfrm>
            <a:prstGeom prst="rect">
              <a:avLst/>
            </a:prstGeom>
            <a:noFill/>
            <a:ln w="9525">
              <a:noFill/>
              <a:miter lim="800000"/>
              <a:headEnd/>
              <a:tailEnd/>
            </a:ln>
          </p:spPr>
          <p:txBody>
            <a:bodyPr>
              <a:spAutoFit/>
            </a:bodyPr>
            <a:lstStyle/>
            <a:p>
              <a:pPr>
                <a:spcBef>
                  <a:spcPct val="50000"/>
                </a:spcBef>
              </a:pPr>
              <a:r>
                <a:rPr lang="bg-BG" sz="1800"/>
                <a:t>10</a:t>
              </a:r>
              <a:endParaRPr lang="en-US" sz="1800"/>
            </a:p>
          </p:txBody>
        </p:sp>
        <p:sp>
          <p:nvSpPr>
            <p:cNvPr id="41009" name="Text Box 53"/>
            <p:cNvSpPr txBox="1">
              <a:spLocks noChangeArrowheads="1"/>
            </p:cNvSpPr>
            <p:nvPr/>
          </p:nvSpPr>
          <p:spPr bwMode="auto">
            <a:xfrm>
              <a:off x="1155700" y="3022600"/>
              <a:ext cx="533400" cy="366713"/>
            </a:xfrm>
            <a:prstGeom prst="rect">
              <a:avLst/>
            </a:prstGeom>
            <a:noFill/>
            <a:ln w="9525">
              <a:noFill/>
              <a:miter lim="800000"/>
              <a:headEnd/>
              <a:tailEnd/>
            </a:ln>
          </p:spPr>
          <p:txBody>
            <a:bodyPr>
              <a:spAutoFit/>
            </a:bodyPr>
            <a:lstStyle/>
            <a:p>
              <a:pPr>
                <a:spcBef>
                  <a:spcPct val="50000"/>
                </a:spcBef>
              </a:pPr>
              <a:r>
                <a:rPr lang="bg-BG" sz="1800"/>
                <a:t>20</a:t>
              </a:r>
              <a:endParaRPr lang="en-US" sz="1800"/>
            </a:p>
          </p:txBody>
        </p:sp>
        <p:sp>
          <p:nvSpPr>
            <p:cNvPr id="41010" name="Text Box 54"/>
            <p:cNvSpPr txBox="1">
              <a:spLocks noChangeArrowheads="1"/>
            </p:cNvSpPr>
            <p:nvPr/>
          </p:nvSpPr>
          <p:spPr bwMode="auto">
            <a:xfrm>
              <a:off x="1866900" y="43688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24</a:t>
              </a:r>
              <a:endParaRPr lang="en-US" sz="1800">
                <a:solidFill>
                  <a:srgbClr val="FF0000"/>
                </a:solidFill>
              </a:endParaRPr>
            </a:p>
          </p:txBody>
        </p:sp>
        <p:sp>
          <p:nvSpPr>
            <p:cNvPr id="41011" name="Text Box 55"/>
            <p:cNvSpPr txBox="1">
              <a:spLocks noChangeArrowheads="1"/>
            </p:cNvSpPr>
            <p:nvPr/>
          </p:nvSpPr>
          <p:spPr bwMode="auto">
            <a:xfrm>
              <a:off x="1155700" y="43815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21</a:t>
              </a:r>
              <a:endParaRPr lang="en-US" sz="1800">
                <a:solidFill>
                  <a:srgbClr val="FF0000"/>
                </a:solidFill>
              </a:endParaRPr>
            </a:p>
          </p:txBody>
        </p:sp>
        <p:sp>
          <p:nvSpPr>
            <p:cNvPr id="41012" name="Text Box 56"/>
            <p:cNvSpPr txBox="1">
              <a:spLocks noChangeArrowheads="1"/>
            </p:cNvSpPr>
            <p:nvPr/>
          </p:nvSpPr>
          <p:spPr bwMode="auto">
            <a:xfrm>
              <a:off x="3086100" y="4343400"/>
              <a:ext cx="533400" cy="366713"/>
            </a:xfrm>
            <a:prstGeom prst="rect">
              <a:avLst/>
            </a:prstGeom>
            <a:noFill/>
            <a:ln w="9525">
              <a:noFill/>
              <a:miter lim="800000"/>
              <a:headEnd/>
              <a:tailEnd/>
            </a:ln>
          </p:spPr>
          <p:txBody>
            <a:bodyPr>
              <a:spAutoFit/>
            </a:bodyPr>
            <a:lstStyle/>
            <a:p>
              <a:pPr>
                <a:spcBef>
                  <a:spcPct val="50000"/>
                </a:spcBef>
              </a:pPr>
              <a:r>
                <a:rPr lang="bg-BG" sz="1800"/>
                <a:t>10</a:t>
              </a:r>
              <a:endParaRPr lang="en-US" sz="1800"/>
            </a:p>
          </p:txBody>
        </p:sp>
        <p:sp>
          <p:nvSpPr>
            <p:cNvPr id="41013" name="Text Box 57"/>
            <p:cNvSpPr txBox="1">
              <a:spLocks noChangeArrowheads="1"/>
            </p:cNvSpPr>
            <p:nvPr/>
          </p:nvSpPr>
          <p:spPr bwMode="auto">
            <a:xfrm>
              <a:off x="4191000" y="36576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24</a:t>
              </a:r>
              <a:endParaRPr lang="en-US" sz="1800">
                <a:solidFill>
                  <a:srgbClr val="FF0000"/>
                </a:solidFill>
              </a:endParaRPr>
            </a:p>
          </p:txBody>
        </p:sp>
        <p:sp>
          <p:nvSpPr>
            <p:cNvPr id="41014" name="Text Box 58"/>
            <p:cNvSpPr txBox="1">
              <a:spLocks noChangeArrowheads="1"/>
            </p:cNvSpPr>
            <p:nvPr/>
          </p:nvSpPr>
          <p:spPr bwMode="auto">
            <a:xfrm>
              <a:off x="4546600" y="3035300"/>
              <a:ext cx="533400" cy="366713"/>
            </a:xfrm>
            <a:prstGeom prst="rect">
              <a:avLst/>
            </a:prstGeom>
            <a:noFill/>
            <a:ln w="9525">
              <a:noFill/>
              <a:miter lim="800000"/>
              <a:headEnd/>
              <a:tailEnd/>
            </a:ln>
          </p:spPr>
          <p:txBody>
            <a:bodyPr>
              <a:spAutoFit/>
            </a:bodyPr>
            <a:lstStyle/>
            <a:p>
              <a:pPr>
                <a:spcBef>
                  <a:spcPct val="50000"/>
                </a:spcBef>
              </a:pPr>
              <a:r>
                <a:rPr lang="bg-BG" sz="1800"/>
                <a:t>30</a:t>
              </a:r>
              <a:endParaRPr lang="en-US" sz="1800"/>
            </a:p>
          </p:txBody>
        </p:sp>
        <p:sp>
          <p:nvSpPr>
            <p:cNvPr id="41015" name="Text Box 59"/>
            <p:cNvSpPr txBox="1">
              <a:spLocks noChangeArrowheads="1"/>
            </p:cNvSpPr>
            <p:nvPr/>
          </p:nvSpPr>
          <p:spPr bwMode="auto">
            <a:xfrm>
              <a:off x="3467100" y="3695700"/>
              <a:ext cx="533400" cy="366713"/>
            </a:xfrm>
            <a:prstGeom prst="rect">
              <a:avLst/>
            </a:prstGeom>
            <a:noFill/>
            <a:ln w="9525">
              <a:noFill/>
              <a:miter lim="800000"/>
              <a:headEnd/>
              <a:tailEnd/>
            </a:ln>
          </p:spPr>
          <p:txBody>
            <a:bodyPr>
              <a:spAutoFit/>
            </a:bodyPr>
            <a:lstStyle/>
            <a:p>
              <a:pPr>
                <a:spcBef>
                  <a:spcPct val="50000"/>
                </a:spcBef>
              </a:pPr>
              <a:r>
                <a:rPr lang="bg-BG" sz="1800"/>
                <a:t>20</a:t>
              </a:r>
              <a:endParaRPr lang="en-US" sz="1800"/>
            </a:p>
          </p:txBody>
        </p:sp>
        <p:sp>
          <p:nvSpPr>
            <p:cNvPr id="41016" name="Text Box 60"/>
            <p:cNvSpPr txBox="1">
              <a:spLocks noChangeArrowheads="1"/>
            </p:cNvSpPr>
            <p:nvPr/>
          </p:nvSpPr>
          <p:spPr bwMode="auto">
            <a:xfrm>
              <a:off x="3835400" y="3022600"/>
              <a:ext cx="533400" cy="366713"/>
            </a:xfrm>
            <a:prstGeom prst="rect">
              <a:avLst/>
            </a:prstGeom>
            <a:noFill/>
            <a:ln w="9525">
              <a:noFill/>
              <a:miter lim="800000"/>
              <a:headEnd/>
              <a:tailEnd/>
            </a:ln>
          </p:spPr>
          <p:txBody>
            <a:bodyPr>
              <a:spAutoFit/>
            </a:bodyPr>
            <a:lstStyle/>
            <a:p>
              <a:pPr>
                <a:spcBef>
                  <a:spcPct val="50000"/>
                </a:spcBef>
              </a:pPr>
              <a:r>
                <a:rPr lang="bg-BG" sz="1800"/>
                <a:t>22</a:t>
              </a:r>
              <a:endParaRPr lang="en-US" sz="1800"/>
            </a:p>
          </p:txBody>
        </p:sp>
        <p:sp>
          <p:nvSpPr>
            <p:cNvPr id="41017" name="Text Box 61"/>
            <p:cNvSpPr txBox="1">
              <a:spLocks noChangeArrowheads="1"/>
            </p:cNvSpPr>
            <p:nvPr/>
          </p:nvSpPr>
          <p:spPr bwMode="auto">
            <a:xfrm>
              <a:off x="4229100" y="2400300"/>
              <a:ext cx="533400" cy="366713"/>
            </a:xfrm>
            <a:prstGeom prst="rect">
              <a:avLst/>
            </a:prstGeom>
            <a:noFill/>
            <a:ln w="9525">
              <a:noFill/>
              <a:miter lim="800000"/>
              <a:headEnd/>
              <a:tailEnd/>
            </a:ln>
          </p:spPr>
          <p:txBody>
            <a:bodyPr>
              <a:spAutoFit/>
            </a:bodyPr>
            <a:lstStyle/>
            <a:p>
              <a:pPr>
                <a:spcBef>
                  <a:spcPct val="50000"/>
                </a:spcBef>
              </a:pPr>
              <a:r>
                <a:rPr lang="bg-BG" sz="1800"/>
                <a:t>25</a:t>
              </a:r>
              <a:endParaRPr lang="en-US" sz="1800"/>
            </a:p>
          </p:txBody>
        </p:sp>
        <p:sp>
          <p:nvSpPr>
            <p:cNvPr id="41018" name="Text Box 62"/>
            <p:cNvSpPr txBox="1">
              <a:spLocks noChangeArrowheads="1"/>
            </p:cNvSpPr>
            <p:nvPr/>
          </p:nvSpPr>
          <p:spPr bwMode="auto">
            <a:xfrm>
              <a:off x="3733800" y="43434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21</a:t>
              </a:r>
              <a:endParaRPr lang="en-US" sz="1800">
                <a:solidFill>
                  <a:srgbClr val="FF0000"/>
                </a:solidFill>
              </a:endParaRPr>
            </a:p>
          </p:txBody>
        </p:sp>
        <p:sp>
          <p:nvSpPr>
            <p:cNvPr id="41019" name="Text Box 63"/>
            <p:cNvSpPr txBox="1">
              <a:spLocks noChangeArrowheads="1"/>
            </p:cNvSpPr>
            <p:nvPr/>
          </p:nvSpPr>
          <p:spPr bwMode="auto">
            <a:xfrm>
              <a:off x="7797800" y="3530600"/>
              <a:ext cx="533400" cy="366713"/>
            </a:xfrm>
            <a:prstGeom prst="rect">
              <a:avLst/>
            </a:prstGeom>
            <a:noFill/>
            <a:ln w="9525">
              <a:noFill/>
              <a:miter lim="800000"/>
              <a:headEnd/>
              <a:tailEnd/>
            </a:ln>
          </p:spPr>
          <p:txBody>
            <a:bodyPr>
              <a:spAutoFit/>
            </a:bodyPr>
            <a:lstStyle/>
            <a:p>
              <a:pPr>
                <a:spcBef>
                  <a:spcPct val="50000"/>
                </a:spcBef>
              </a:pPr>
              <a:r>
                <a:rPr lang="bg-BG" sz="1800"/>
                <a:t>30</a:t>
              </a:r>
              <a:endParaRPr lang="en-US" sz="1800"/>
            </a:p>
          </p:txBody>
        </p:sp>
        <p:sp>
          <p:nvSpPr>
            <p:cNvPr id="41020" name="Text Box 64"/>
            <p:cNvSpPr txBox="1">
              <a:spLocks noChangeArrowheads="1"/>
            </p:cNvSpPr>
            <p:nvPr/>
          </p:nvSpPr>
          <p:spPr bwMode="auto">
            <a:xfrm>
              <a:off x="7175500" y="35814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24</a:t>
              </a:r>
              <a:endParaRPr lang="en-US" sz="1800">
                <a:solidFill>
                  <a:srgbClr val="FF0000"/>
                </a:solidFill>
              </a:endParaRPr>
            </a:p>
          </p:txBody>
        </p:sp>
        <p:sp>
          <p:nvSpPr>
            <p:cNvPr id="41021" name="Text Box 65"/>
            <p:cNvSpPr txBox="1">
              <a:spLocks noChangeArrowheads="1"/>
            </p:cNvSpPr>
            <p:nvPr/>
          </p:nvSpPr>
          <p:spPr bwMode="auto">
            <a:xfrm>
              <a:off x="6578600" y="3556000"/>
              <a:ext cx="533400" cy="366713"/>
            </a:xfrm>
            <a:prstGeom prst="rect">
              <a:avLst/>
            </a:prstGeom>
            <a:noFill/>
            <a:ln w="9525">
              <a:noFill/>
              <a:miter lim="800000"/>
              <a:headEnd/>
              <a:tailEnd/>
            </a:ln>
          </p:spPr>
          <p:txBody>
            <a:bodyPr>
              <a:spAutoFit/>
            </a:bodyPr>
            <a:lstStyle/>
            <a:p>
              <a:pPr>
                <a:spcBef>
                  <a:spcPct val="50000"/>
                </a:spcBef>
              </a:pPr>
              <a:r>
                <a:rPr lang="bg-BG" sz="1800">
                  <a:solidFill>
                    <a:srgbClr val="FF0000"/>
                  </a:solidFill>
                </a:rPr>
                <a:t>21</a:t>
              </a:r>
              <a:endParaRPr lang="en-US" sz="1800">
                <a:solidFill>
                  <a:srgbClr val="FF0000"/>
                </a:solidFill>
              </a:endParaRPr>
            </a:p>
          </p:txBody>
        </p:sp>
        <p:sp>
          <p:nvSpPr>
            <p:cNvPr id="41022" name="Text Box 66"/>
            <p:cNvSpPr txBox="1">
              <a:spLocks noChangeArrowheads="1"/>
            </p:cNvSpPr>
            <p:nvPr/>
          </p:nvSpPr>
          <p:spPr bwMode="auto">
            <a:xfrm>
              <a:off x="7416800" y="2971800"/>
              <a:ext cx="533400" cy="366713"/>
            </a:xfrm>
            <a:prstGeom prst="rect">
              <a:avLst/>
            </a:prstGeom>
            <a:noFill/>
            <a:ln w="9525">
              <a:noFill/>
              <a:miter lim="800000"/>
              <a:headEnd/>
              <a:tailEnd/>
            </a:ln>
          </p:spPr>
          <p:txBody>
            <a:bodyPr>
              <a:spAutoFit/>
            </a:bodyPr>
            <a:lstStyle/>
            <a:p>
              <a:pPr>
                <a:spcBef>
                  <a:spcPct val="50000"/>
                </a:spcBef>
              </a:pPr>
              <a:r>
                <a:rPr lang="bg-BG" sz="1800"/>
                <a:t>25</a:t>
              </a:r>
              <a:endParaRPr lang="en-US" sz="1800"/>
            </a:p>
          </p:txBody>
        </p:sp>
        <p:sp>
          <p:nvSpPr>
            <p:cNvPr id="41023" name="Text Box 67"/>
            <p:cNvSpPr txBox="1">
              <a:spLocks noChangeArrowheads="1"/>
            </p:cNvSpPr>
            <p:nvPr/>
          </p:nvSpPr>
          <p:spPr bwMode="auto">
            <a:xfrm>
              <a:off x="6350000" y="2921000"/>
              <a:ext cx="533400" cy="366713"/>
            </a:xfrm>
            <a:prstGeom prst="rect">
              <a:avLst/>
            </a:prstGeom>
            <a:noFill/>
            <a:ln w="9525">
              <a:noFill/>
              <a:miter lim="800000"/>
              <a:headEnd/>
              <a:tailEnd/>
            </a:ln>
          </p:spPr>
          <p:txBody>
            <a:bodyPr>
              <a:spAutoFit/>
            </a:bodyPr>
            <a:lstStyle/>
            <a:p>
              <a:pPr>
                <a:spcBef>
                  <a:spcPct val="50000"/>
                </a:spcBef>
              </a:pPr>
              <a:r>
                <a:rPr lang="bg-BG" sz="1800"/>
                <a:t>20</a:t>
              </a:r>
              <a:endParaRPr lang="en-US" sz="1800"/>
            </a:p>
          </p:txBody>
        </p:sp>
        <p:sp>
          <p:nvSpPr>
            <p:cNvPr id="41024" name="Text Box 68"/>
            <p:cNvSpPr txBox="1">
              <a:spLocks noChangeArrowheads="1"/>
            </p:cNvSpPr>
            <p:nvPr/>
          </p:nvSpPr>
          <p:spPr bwMode="auto">
            <a:xfrm>
              <a:off x="5981700" y="3556000"/>
              <a:ext cx="533400" cy="366713"/>
            </a:xfrm>
            <a:prstGeom prst="rect">
              <a:avLst/>
            </a:prstGeom>
            <a:noFill/>
            <a:ln w="9525">
              <a:noFill/>
              <a:miter lim="800000"/>
              <a:headEnd/>
              <a:tailEnd/>
            </a:ln>
          </p:spPr>
          <p:txBody>
            <a:bodyPr>
              <a:spAutoFit/>
            </a:bodyPr>
            <a:lstStyle/>
            <a:p>
              <a:pPr>
                <a:spcBef>
                  <a:spcPct val="50000"/>
                </a:spcBef>
              </a:pPr>
              <a:r>
                <a:rPr lang="bg-BG" sz="1800"/>
                <a:t>10</a:t>
              </a:r>
              <a:endParaRPr lang="en-US" sz="1800"/>
            </a:p>
          </p:txBody>
        </p:sp>
        <p:sp>
          <p:nvSpPr>
            <p:cNvPr id="41025" name="Text Box 69"/>
            <p:cNvSpPr txBox="1">
              <a:spLocks noChangeArrowheads="1"/>
            </p:cNvSpPr>
            <p:nvPr/>
          </p:nvSpPr>
          <p:spPr bwMode="auto">
            <a:xfrm>
              <a:off x="6908800" y="2400300"/>
              <a:ext cx="533400" cy="366713"/>
            </a:xfrm>
            <a:prstGeom prst="rect">
              <a:avLst/>
            </a:prstGeom>
            <a:noFill/>
            <a:ln w="9525">
              <a:noFill/>
              <a:miter lim="800000"/>
              <a:headEnd/>
              <a:tailEnd/>
            </a:ln>
          </p:spPr>
          <p:txBody>
            <a:bodyPr>
              <a:spAutoFit/>
            </a:bodyPr>
            <a:lstStyle/>
            <a:p>
              <a:pPr>
                <a:spcBef>
                  <a:spcPct val="50000"/>
                </a:spcBef>
              </a:pPr>
              <a:r>
                <a:rPr lang="bg-BG" sz="1800"/>
                <a:t>22</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71550" y="620713"/>
            <a:ext cx="7004050" cy="6019800"/>
          </a:xfrm>
        </p:spPr>
        <p:txBody>
          <a:bodyPr>
            <a:normAutofit fontScale="90000"/>
          </a:bodyPr>
          <a:lstStyle/>
          <a:p>
            <a:pPr eaLnBrk="1" fontAlgn="auto" hangingPunct="1">
              <a:spcAft>
                <a:spcPts val="0"/>
              </a:spcAft>
              <a:defRPr/>
            </a:pPr>
            <a:r>
              <a:rPr lang="en-AU" sz="1800" b="1">
                <a:solidFill>
                  <a:schemeClr val="tx1"/>
                </a:solidFill>
                <a:cs typeface="Times New Roman" charset="0"/>
              </a:rPr>
              <a:t>-</a:t>
            </a:r>
            <a:r>
              <a:rPr lang="en-US" sz="1800" b="1">
                <a:solidFill>
                  <a:schemeClr val="tx1"/>
                </a:solidFill>
                <a:cs typeface="Times New Roman" charset="0"/>
              </a:rPr>
              <a:t> </a:t>
            </a:r>
            <a:r>
              <a:rPr lang="bg-BG" sz="1800" b="1">
                <a:solidFill>
                  <a:schemeClr val="tx1"/>
                </a:solidFill>
              </a:rPr>
              <a:t>Ляво-дясна ротация</a:t>
            </a:r>
            <a:r>
              <a:rPr lang="bg-BG" sz="1800">
                <a:solidFill>
                  <a:schemeClr val="tx1"/>
                </a:solidFill>
              </a:rPr>
              <a:t>. Тази операция е необходима тогава, когато във вече балансираното двоично дърво се добавя елемент към дясното листо на по-високото ляво поддърво, в случая 21 или 24:</a:t>
            </a:r>
            <a:r>
              <a:rPr lang="bg-BG">
                <a:solidFill>
                  <a:schemeClr val="tx1"/>
                </a:solidFill>
              </a:rPr>
              <a:t/>
            </a:r>
            <a:br>
              <a:rPr lang="bg-BG">
                <a:solidFill>
                  <a:schemeClr val="tx1"/>
                </a:solidFill>
              </a:rPr>
            </a:br>
            <a:r>
              <a:rPr lang="bg-BG" sz="1800">
                <a:solidFill>
                  <a:schemeClr val="tx1"/>
                </a:solidFill>
              </a:rPr>
              <a:t>    Функция за ляво-дясна ротация двоично дърво за търсене</a:t>
            </a:r>
            <a:r>
              <a:rPr lang="bg-BG" sz="1800" smtClean="0">
                <a:solidFill>
                  <a:schemeClr val="tx1"/>
                </a:solidFill>
              </a:rPr>
              <a:t>:</a:t>
            </a:r>
            <a:r>
              <a:rPr lang="en-US" sz="1800" smtClean="0">
                <a:solidFill>
                  <a:schemeClr val="tx1"/>
                </a:solidFill>
              </a:rPr>
              <a:t/>
            </a:r>
            <a:br>
              <a:rPr lang="en-US" sz="1800" smtClean="0">
                <a:solidFill>
                  <a:schemeClr val="tx1"/>
                </a:solidFill>
              </a:rPr>
            </a:br>
            <a:r>
              <a:rPr lang="bg-BG" sz="1800">
                <a:solidFill>
                  <a:schemeClr val="tx1"/>
                </a:solidFill>
                <a:latin typeface="Arial" charset="0"/>
              </a:rPr>
              <a:t/>
            </a:r>
            <a:br>
              <a:rPr lang="bg-BG" sz="1800">
                <a:solidFill>
                  <a:schemeClr val="tx1"/>
                </a:solidFill>
                <a:latin typeface="Arial" charset="0"/>
              </a:rPr>
            </a:br>
            <a:r>
              <a:rPr lang="en-US" sz="1800">
                <a:solidFill>
                  <a:schemeClr val="tx2">
                    <a:satMod val="130000"/>
                  </a:schemeClr>
                </a:solidFill>
                <a:latin typeface="Courier New" pitchFamily="49" charset="0"/>
              </a:rPr>
              <a:t>void L_R_rot(tree * &amp;p)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tree *q,*s;</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if(p-&gt;bal==-1)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q=p-&gt;left;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if(q-&gt;bal==1)	</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{s=q-&gt;right;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q-&gt;right=s-&gt;left;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s-&gt;left=q;</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p-&gt;left=s-&gt;right;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s-&gt;right=p;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if(s-&gt;bal==-1) p-&gt;bal=1;</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else p-&gt;bal=0;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if(s-&gt;bal==1) q-&gt;bal=-1;</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else q-&gt;bal=0;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p=s;</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br>
              <a:rPr lang="en-US" sz="1800">
                <a:solidFill>
                  <a:schemeClr val="tx2">
                    <a:satMod val="130000"/>
                  </a:schemeClr>
                </a:solidFill>
                <a:latin typeface="Courier New" pitchFamily="49" charset="0"/>
              </a:rPr>
            </a:br>
            <a:r>
              <a:rPr lang="en-AU" sz="1800">
                <a:solidFill>
                  <a:schemeClr val="tx2">
                    <a:satMod val="130000"/>
                  </a:schemeClr>
                </a:solidFill>
                <a:latin typeface="Courier New" pitchFamily="49" charset="0"/>
              </a:rPr>
              <a:t>}</a:t>
            </a:r>
            <a:r>
              <a:rPr lang="en-US" sz="1800">
                <a:solidFill>
                  <a:schemeClr val="tx2">
                    <a:satMod val="130000"/>
                  </a:schemeClr>
                </a:solidFill>
                <a:latin typeface="Courier New" pitchFamily="49" charset="0"/>
              </a:rPr>
              <a:t/>
            </a:r>
            <a:br>
              <a:rPr lang="en-US" sz="1800">
                <a:solidFill>
                  <a:schemeClr val="tx2">
                    <a:satMod val="130000"/>
                  </a:schemeClr>
                </a:solidFill>
                <a:latin typeface="Courier New" pitchFamily="49" charset="0"/>
              </a:rPr>
            </a:br>
            <a:endParaRPr lang="en-US" sz="1800">
              <a:solidFill>
                <a:schemeClr val="tx2">
                  <a:satMod val="130000"/>
                </a:schemeClr>
              </a:solidFill>
              <a:latin typeface="Courier New" pitchFamily="49" charset="0"/>
            </a:endParaRPr>
          </a:p>
        </p:txBody>
      </p:sp>
      <p:grpSp>
        <p:nvGrpSpPr>
          <p:cNvPr id="41987" name="Group 53"/>
          <p:cNvGrpSpPr>
            <a:grpSpLocks/>
          </p:cNvGrpSpPr>
          <p:nvPr/>
        </p:nvGrpSpPr>
        <p:grpSpPr bwMode="auto">
          <a:xfrm>
            <a:off x="3635375" y="1516063"/>
            <a:ext cx="5508625" cy="2665412"/>
            <a:chOff x="3186346" y="1362722"/>
            <a:chExt cx="6019800" cy="2819400"/>
          </a:xfrm>
        </p:grpSpPr>
        <p:sp>
          <p:nvSpPr>
            <p:cNvPr id="41988" name="Oval 4"/>
            <p:cNvSpPr>
              <a:spLocks noChangeArrowheads="1"/>
            </p:cNvSpPr>
            <p:nvPr/>
          </p:nvSpPr>
          <p:spPr bwMode="auto">
            <a:xfrm>
              <a:off x="7604961" y="1856015"/>
              <a:ext cx="388011" cy="342763"/>
            </a:xfrm>
            <a:prstGeom prst="ellipse">
              <a:avLst/>
            </a:prstGeom>
            <a:noFill/>
            <a:ln w="12700">
              <a:solidFill>
                <a:srgbClr val="000000"/>
              </a:solidFill>
              <a:round/>
              <a:headEnd/>
              <a:tailEnd/>
            </a:ln>
          </p:spPr>
          <p:txBody>
            <a:bodyPr/>
            <a:lstStyle/>
            <a:p>
              <a:endParaRPr lang="bg-BG"/>
            </a:p>
          </p:txBody>
        </p:sp>
        <p:sp>
          <p:nvSpPr>
            <p:cNvPr id="41989" name="Oval 5"/>
            <p:cNvSpPr>
              <a:spLocks noChangeArrowheads="1"/>
            </p:cNvSpPr>
            <p:nvPr/>
          </p:nvSpPr>
          <p:spPr bwMode="auto">
            <a:xfrm>
              <a:off x="6988648" y="2425591"/>
              <a:ext cx="388011" cy="359036"/>
            </a:xfrm>
            <a:prstGeom prst="ellipse">
              <a:avLst/>
            </a:prstGeom>
            <a:noFill/>
            <a:ln w="12700">
              <a:solidFill>
                <a:srgbClr val="000000"/>
              </a:solidFill>
              <a:round/>
              <a:headEnd/>
              <a:tailEnd/>
            </a:ln>
          </p:spPr>
          <p:txBody>
            <a:bodyPr/>
            <a:lstStyle/>
            <a:p>
              <a:endParaRPr lang="bg-BG"/>
            </a:p>
          </p:txBody>
        </p:sp>
        <p:sp>
          <p:nvSpPr>
            <p:cNvPr id="41990" name="Oval 6"/>
            <p:cNvSpPr>
              <a:spLocks noChangeArrowheads="1"/>
            </p:cNvSpPr>
            <p:nvPr/>
          </p:nvSpPr>
          <p:spPr bwMode="auto">
            <a:xfrm>
              <a:off x="8249940" y="2425591"/>
              <a:ext cx="388011" cy="357002"/>
            </a:xfrm>
            <a:prstGeom prst="ellipse">
              <a:avLst/>
            </a:prstGeom>
            <a:noFill/>
            <a:ln w="12700">
              <a:solidFill>
                <a:srgbClr val="000000"/>
              </a:solidFill>
              <a:round/>
              <a:headEnd/>
              <a:tailEnd/>
            </a:ln>
          </p:spPr>
          <p:txBody>
            <a:bodyPr/>
            <a:lstStyle/>
            <a:p>
              <a:endParaRPr lang="bg-BG"/>
            </a:p>
          </p:txBody>
        </p:sp>
        <p:sp>
          <p:nvSpPr>
            <p:cNvPr id="41991" name="Oval 7"/>
            <p:cNvSpPr>
              <a:spLocks noChangeArrowheads="1"/>
            </p:cNvSpPr>
            <p:nvPr/>
          </p:nvSpPr>
          <p:spPr bwMode="auto">
            <a:xfrm>
              <a:off x="6472665" y="2975842"/>
              <a:ext cx="388011" cy="342763"/>
            </a:xfrm>
            <a:prstGeom prst="ellipse">
              <a:avLst/>
            </a:prstGeom>
            <a:noFill/>
            <a:ln w="12700">
              <a:solidFill>
                <a:srgbClr val="000000"/>
              </a:solidFill>
              <a:round/>
              <a:headEnd/>
              <a:tailEnd/>
            </a:ln>
          </p:spPr>
          <p:txBody>
            <a:bodyPr/>
            <a:lstStyle/>
            <a:p>
              <a:endParaRPr lang="bg-BG"/>
            </a:p>
          </p:txBody>
        </p:sp>
        <p:sp>
          <p:nvSpPr>
            <p:cNvPr id="41992" name="Oval 8"/>
            <p:cNvSpPr>
              <a:spLocks noChangeArrowheads="1"/>
            </p:cNvSpPr>
            <p:nvPr/>
          </p:nvSpPr>
          <p:spPr bwMode="auto">
            <a:xfrm>
              <a:off x="8722924" y="2955500"/>
              <a:ext cx="388011" cy="342763"/>
            </a:xfrm>
            <a:prstGeom prst="ellipse">
              <a:avLst/>
            </a:prstGeom>
            <a:noFill/>
            <a:ln w="12700">
              <a:solidFill>
                <a:srgbClr val="000000"/>
              </a:solidFill>
              <a:round/>
              <a:headEnd/>
              <a:tailEnd/>
            </a:ln>
          </p:spPr>
          <p:txBody>
            <a:bodyPr/>
            <a:lstStyle/>
            <a:p>
              <a:endParaRPr lang="bg-BG"/>
            </a:p>
          </p:txBody>
        </p:sp>
        <p:sp>
          <p:nvSpPr>
            <p:cNvPr id="41993" name="Line 9"/>
            <p:cNvSpPr>
              <a:spLocks noChangeShapeType="1"/>
            </p:cNvSpPr>
            <p:nvPr/>
          </p:nvSpPr>
          <p:spPr bwMode="auto">
            <a:xfrm flipH="1">
              <a:off x="7303971" y="2169282"/>
              <a:ext cx="359345" cy="285805"/>
            </a:xfrm>
            <a:prstGeom prst="line">
              <a:avLst/>
            </a:prstGeom>
            <a:noFill/>
            <a:ln w="12700">
              <a:solidFill>
                <a:srgbClr val="000000"/>
              </a:solidFill>
              <a:round/>
              <a:headEnd type="none" w="sm" len="sm"/>
              <a:tailEnd type="triangle" w="sm" len="med"/>
            </a:ln>
          </p:spPr>
          <p:txBody>
            <a:bodyPr/>
            <a:lstStyle/>
            <a:p>
              <a:endParaRPr lang="bg-BG"/>
            </a:p>
          </p:txBody>
        </p:sp>
        <p:sp>
          <p:nvSpPr>
            <p:cNvPr id="41994" name="Line 10"/>
            <p:cNvSpPr>
              <a:spLocks noChangeShapeType="1"/>
            </p:cNvSpPr>
            <p:nvPr/>
          </p:nvSpPr>
          <p:spPr bwMode="auto">
            <a:xfrm>
              <a:off x="7934617" y="2155043"/>
              <a:ext cx="402344" cy="300044"/>
            </a:xfrm>
            <a:prstGeom prst="line">
              <a:avLst/>
            </a:prstGeom>
            <a:noFill/>
            <a:ln w="12700">
              <a:solidFill>
                <a:srgbClr val="000000"/>
              </a:solidFill>
              <a:round/>
              <a:headEnd type="none" w="sm" len="sm"/>
              <a:tailEnd type="triangle" w="sm" len="med"/>
            </a:ln>
          </p:spPr>
          <p:txBody>
            <a:bodyPr/>
            <a:lstStyle/>
            <a:p>
              <a:endParaRPr lang="bg-BG"/>
            </a:p>
          </p:txBody>
        </p:sp>
        <p:sp>
          <p:nvSpPr>
            <p:cNvPr id="41995" name="Line 11"/>
            <p:cNvSpPr>
              <a:spLocks noChangeShapeType="1"/>
            </p:cNvSpPr>
            <p:nvPr/>
          </p:nvSpPr>
          <p:spPr bwMode="auto">
            <a:xfrm flipH="1">
              <a:off x="6769560" y="2699191"/>
              <a:ext cx="244682" cy="285805"/>
            </a:xfrm>
            <a:prstGeom prst="line">
              <a:avLst/>
            </a:prstGeom>
            <a:noFill/>
            <a:ln w="12700">
              <a:solidFill>
                <a:srgbClr val="000000"/>
              </a:solidFill>
              <a:round/>
              <a:headEnd type="none" w="sm" len="sm"/>
              <a:tailEnd type="triangle" w="sm" len="med"/>
            </a:ln>
          </p:spPr>
          <p:txBody>
            <a:bodyPr/>
            <a:lstStyle/>
            <a:p>
              <a:endParaRPr lang="bg-BG"/>
            </a:p>
          </p:txBody>
        </p:sp>
        <p:sp>
          <p:nvSpPr>
            <p:cNvPr id="41996" name="Line 12"/>
            <p:cNvSpPr>
              <a:spLocks noChangeShapeType="1"/>
            </p:cNvSpPr>
            <p:nvPr/>
          </p:nvSpPr>
          <p:spPr bwMode="auto">
            <a:xfrm>
              <a:off x="8618499" y="2710379"/>
              <a:ext cx="187351" cy="264446"/>
            </a:xfrm>
            <a:prstGeom prst="line">
              <a:avLst/>
            </a:prstGeom>
            <a:noFill/>
            <a:ln w="12700">
              <a:solidFill>
                <a:srgbClr val="000000"/>
              </a:solidFill>
              <a:round/>
              <a:headEnd type="none" w="sm" len="sm"/>
              <a:tailEnd type="triangle" w="sm" len="med"/>
            </a:ln>
          </p:spPr>
          <p:txBody>
            <a:bodyPr/>
            <a:lstStyle/>
            <a:p>
              <a:endParaRPr lang="bg-BG"/>
            </a:p>
          </p:txBody>
        </p:sp>
        <p:sp>
          <p:nvSpPr>
            <p:cNvPr id="41997" name="Oval 13"/>
            <p:cNvSpPr>
              <a:spLocks noChangeArrowheads="1"/>
            </p:cNvSpPr>
            <p:nvPr/>
          </p:nvSpPr>
          <p:spPr bwMode="auto">
            <a:xfrm>
              <a:off x="7991948" y="3010423"/>
              <a:ext cx="388011" cy="357002"/>
            </a:xfrm>
            <a:prstGeom prst="ellipse">
              <a:avLst/>
            </a:prstGeom>
            <a:noFill/>
            <a:ln w="12700">
              <a:solidFill>
                <a:srgbClr val="000000"/>
              </a:solidFill>
              <a:round/>
              <a:headEnd/>
              <a:tailEnd/>
            </a:ln>
          </p:spPr>
          <p:txBody>
            <a:bodyPr/>
            <a:lstStyle/>
            <a:p>
              <a:endParaRPr lang="bg-BG"/>
            </a:p>
          </p:txBody>
        </p:sp>
        <p:sp>
          <p:nvSpPr>
            <p:cNvPr id="41998" name="Line 14"/>
            <p:cNvSpPr>
              <a:spLocks noChangeShapeType="1"/>
            </p:cNvSpPr>
            <p:nvPr/>
          </p:nvSpPr>
          <p:spPr bwMode="auto">
            <a:xfrm flipH="1">
              <a:off x="8235607" y="2775473"/>
              <a:ext cx="130019" cy="243087"/>
            </a:xfrm>
            <a:prstGeom prst="line">
              <a:avLst/>
            </a:prstGeom>
            <a:noFill/>
            <a:ln w="12700">
              <a:solidFill>
                <a:srgbClr val="000000"/>
              </a:solidFill>
              <a:round/>
              <a:headEnd type="none" w="sm" len="sm"/>
              <a:tailEnd type="triangle" w="sm" len="med"/>
            </a:ln>
          </p:spPr>
          <p:txBody>
            <a:bodyPr/>
            <a:lstStyle/>
            <a:p>
              <a:endParaRPr lang="bg-BG"/>
            </a:p>
          </p:txBody>
        </p:sp>
        <p:sp>
          <p:nvSpPr>
            <p:cNvPr id="41999" name="Oval 15"/>
            <p:cNvSpPr>
              <a:spLocks noChangeArrowheads="1"/>
            </p:cNvSpPr>
            <p:nvPr/>
          </p:nvSpPr>
          <p:spPr bwMode="auto">
            <a:xfrm>
              <a:off x="4340141" y="1946537"/>
              <a:ext cx="359345" cy="357002"/>
            </a:xfrm>
            <a:prstGeom prst="ellipse">
              <a:avLst/>
            </a:prstGeom>
            <a:noFill/>
            <a:ln w="12700">
              <a:solidFill>
                <a:srgbClr val="000000"/>
              </a:solidFill>
              <a:round/>
              <a:headEnd/>
              <a:tailEnd/>
            </a:ln>
          </p:spPr>
          <p:txBody>
            <a:bodyPr/>
            <a:lstStyle/>
            <a:p>
              <a:endParaRPr lang="bg-BG"/>
            </a:p>
          </p:txBody>
        </p:sp>
        <p:sp>
          <p:nvSpPr>
            <p:cNvPr id="42000" name="Oval 16"/>
            <p:cNvSpPr>
              <a:spLocks noChangeArrowheads="1"/>
            </p:cNvSpPr>
            <p:nvPr/>
          </p:nvSpPr>
          <p:spPr bwMode="auto">
            <a:xfrm>
              <a:off x="3709495" y="2543575"/>
              <a:ext cx="402344" cy="342763"/>
            </a:xfrm>
            <a:prstGeom prst="ellipse">
              <a:avLst/>
            </a:prstGeom>
            <a:noFill/>
            <a:ln w="12700">
              <a:solidFill>
                <a:srgbClr val="000000"/>
              </a:solidFill>
              <a:round/>
              <a:headEnd/>
              <a:tailEnd/>
            </a:ln>
          </p:spPr>
          <p:txBody>
            <a:bodyPr/>
            <a:lstStyle/>
            <a:p>
              <a:endParaRPr lang="bg-BG"/>
            </a:p>
          </p:txBody>
        </p:sp>
        <p:sp>
          <p:nvSpPr>
            <p:cNvPr id="42001" name="Oval 17"/>
            <p:cNvSpPr>
              <a:spLocks noChangeArrowheads="1"/>
            </p:cNvSpPr>
            <p:nvPr/>
          </p:nvSpPr>
          <p:spPr bwMode="auto">
            <a:xfrm>
              <a:off x="4985120" y="2506959"/>
              <a:ext cx="402344" cy="371241"/>
            </a:xfrm>
            <a:prstGeom prst="ellipse">
              <a:avLst/>
            </a:prstGeom>
            <a:noFill/>
            <a:ln w="12700">
              <a:solidFill>
                <a:srgbClr val="000000"/>
              </a:solidFill>
              <a:round/>
              <a:headEnd/>
              <a:tailEnd/>
            </a:ln>
          </p:spPr>
          <p:txBody>
            <a:bodyPr/>
            <a:lstStyle/>
            <a:p>
              <a:endParaRPr lang="bg-BG"/>
            </a:p>
          </p:txBody>
        </p:sp>
        <p:sp>
          <p:nvSpPr>
            <p:cNvPr id="42002" name="Oval 18"/>
            <p:cNvSpPr>
              <a:spLocks noChangeArrowheads="1"/>
            </p:cNvSpPr>
            <p:nvPr/>
          </p:nvSpPr>
          <p:spPr bwMode="auto">
            <a:xfrm>
              <a:off x="3265177" y="3085689"/>
              <a:ext cx="402344" cy="342763"/>
            </a:xfrm>
            <a:prstGeom prst="ellipse">
              <a:avLst/>
            </a:prstGeom>
            <a:noFill/>
            <a:ln w="12700">
              <a:solidFill>
                <a:srgbClr val="000000"/>
              </a:solidFill>
              <a:round/>
              <a:headEnd/>
              <a:tailEnd/>
            </a:ln>
          </p:spPr>
          <p:txBody>
            <a:bodyPr/>
            <a:lstStyle/>
            <a:p>
              <a:endParaRPr lang="bg-BG"/>
            </a:p>
          </p:txBody>
        </p:sp>
        <p:sp>
          <p:nvSpPr>
            <p:cNvPr id="42003" name="Oval 19"/>
            <p:cNvSpPr>
              <a:spLocks noChangeArrowheads="1"/>
            </p:cNvSpPr>
            <p:nvPr/>
          </p:nvSpPr>
          <p:spPr bwMode="auto">
            <a:xfrm>
              <a:off x="4110815" y="3114167"/>
              <a:ext cx="402344" cy="357002"/>
            </a:xfrm>
            <a:prstGeom prst="ellipse">
              <a:avLst/>
            </a:prstGeom>
            <a:noFill/>
            <a:ln w="12700">
              <a:solidFill>
                <a:srgbClr val="000000"/>
              </a:solidFill>
              <a:round/>
              <a:headEnd/>
              <a:tailEnd/>
            </a:ln>
          </p:spPr>
          <p:txBody>
            <a:bodyPr/>
            <a:lstStyle/>
            <a:p>
              <a:endParaRPr lang="bg-BG"/>
            </a:p>
          </p:txBody>
        </p:sp>
        <p:sp>
          <p:nvSpPr>
            <p:cNvPr id="42004" name="Line 20"/>
            <p:cNvSpPr>
              <a:spLocks noChangeShapeType="1"/>
            </p:cNvSpPr>
            <p:nvPr/>
          </p:nvSpPr>
          <p:spPr bwMode="auto">
            <a:xfrm flipH="1">
              <a:off x="4024818" y="2259804"/>
              <a:ext cx="388011" cy="314284"/>
            </a:xfrm>
            <a:prstGeom prst="line">
              <a:avLst/>
            </a:prstGeom>
            <a:noFill/>
            <a:ln w="12700">
              <a:solidFill>
                <a:srgbClr val="000000"/>
              </a:solidFill>
              <a:round/>
              <a:headEnd type="none" w="sm" len="sm"/>
              <a:tailEnd type="triangle" w="sm" len="med"/>
            </a:ln>
          </p:spPr>
          <p:txBody>
            <a:bodyPr/>
            <a:lstStyle/>
            <a:p>
              <a:endParaRPr lang="bg-BG"/>
            </a:p>
          </p:txBody>
        </p:sp>
        <p:sp>
          <p:nvSpPr>
            <p:cNvPr id="42005" name="Line 21"/>
            <p:cNvSpPr>
              <a:spLocks noChangeShapeType="1"/>
            </p:cNvSpPr>
            <p:nvPr/>
          </p:nvSpPr>
          <p:spPr bwMode="auto">
            <a:xfrm>
              <a:off x="4649321" y="2249633"/>
              <a:ext cx="373678" cy="300044"/>
            </a:xfrm>
            <a:prstGeom prst="line">
              <a:avLst/>
            </a:prstGeom>
            <a:noFill/>
            <a:ln w="12700">
              <a:solidFill>
                <a:srgbClr val="000000"/>
              </a:solidFill>
              <a:round/>
              <a:headEnd type="none" w="sm" len="sm"/>
              <a:tailEnd type="triangle" w="sm" len="sm"/>
            </a:ln>
          </p:spPr>
          <p:txBody>
            <a:bodyPr/>
            <a:lstStyle/>
            <a:p>
              <a:endParaRPr lang="bg-BG"/>
            </a:p>
          </p:txBody>
        </p:sp>
        <p:sp>
          <p:nvSpPr>
            <p:cNvPr id="42006" name="Line 22"/>
            <p:cNvSpPr>
              <a:spLocks noChangeShapeType="1"/>
            </p:cNvSpPr>
            <p:nvPr/>
          </p:nvSpPr>
          <p:spPr bwMode="auto">
            <a:xfrm flipH="1">
              <a:off x="3594832" y="2857858"/>
              <a:ext cx="216017" cy="257326"/>
            </a:xfrm>
            <a:prstGeom prst="line">
              <a:avLst/>
            </a:prstGeom>
            <a:noFill/>
            <a:ln w="12700">
              <a:solidFill>
                <a:srgbClr val="000000"/>
              </a:solidFill>
              <a:round/>
              <a:headEnd type="none" w="sm" len="sm"/>
              <a:tailEnd type="triangle" w="sm" len="med"/>
            </a:ln>
          </p:spPr>
          <p:txBody>
            <a:bodyPr/>
            <a:lstStyle/>
            <a:p>
              <a:endParaRPr lang="bg-BG"/>
            </a:p>
          </p:txBody>
        </p:sp>
        <p:sp>
          <p:nvSpPr>
            <p:cNvPr id="42007" name="Line 23"/>
            <p:cNvSpPr>
              <a:spLocks noChangeShapeType="1"/>
            </p:cNvSpPr>
            <p:nvPr/>
          </p:nvSpPr>
          <p:spPr bwMode="auto">
            <a:xfrm>
              <a:off x="4010485" y="2872098"/>
              <a:ext cx="173018" cy="300044"/>
            </a:xfrm>
            <a:prstGeom prst="line">
              <a:avLst/>
            </a:prstGeom>
            <a:noFill/>
            <a:ln w="12700">
              <a:solidFill>
                <a:srgbClr val="000000"/>
              </a:solidFill>
              <a:round/>
              <a:headEnd type="none" w="sm" len="sm"/>
              <a:tailEnd type="triangle" w="sm" len="med"/>
            </a:ln>
          </p:spPr>
          <p:txBody>
            <a:bodyPr/>
            <a:lstStyle/>
            <a:p>
              <a:endParaRPr lang="bg-BG"/>
            </a:p>
          </p:txBody>
        </p:sp>
        <p:sp>
          <p:nvSpPr>
            <p:cNvPr id="42008" name="Oval 24"/>
            <p:cNvSpPr>
              <a:spLocks noChangeArrowheads="1"/>
            </p:cNvSpPr>
            <p:nvPr/>
          </p:nvSpPr>
          <p:spPr bwMode="auto">
            <a:xfrm>
              <a:off x="3732018" y="3616615"/>
              <a:ext cx="402344" cy="413960"/>
            </a:xfrm>
            <a:prstGeom prst="ellipse">
              <a:avLst/>
            </a:prstGeom>
            <a:noFill/>
            <a:ln w="12700">
              <a:solidFill>
                <a:srgbClr val="000000"/>
              </a:solidFill>
              <a:prstDash val="sysDot"/>
              <a:round/>
              <a:headEnd/>
              <a:tailEnd/>
            </a:ln>
          </p:spPr>
          <p:txBody>
            <a:bodyPr/>
            <a:lstStyle/>
            <a:p>
              <a:endParaRPr lang="bg-BG"/>
            </a:p>
          </p:txBody>
        </p:sp>
        <p:sp>
          <p:nvSpPr>
            <p:cNvPr id="42009" name="Oval 25"/>
            <p:cNvSpPr>
              <a:spLocks noChangeArrowheads="1"/>
            </p:cNvSpPr>
            <p:nvPr/>
          </p:nvSpPr>
          <p:spPr bwMode="auto">
            <a:xfrm>
              <a:off x="4557181" y="3700017"/>
              <a:ext cx="402344" cy="385481"/>
            </a:xfrm>
            <a:prstGeom prst="ellipse">
              <a:avLst/>
            </a:prstGeom>
            <a:noFill/>
            <a:ln w="12700">
              <a:solidFill>
                <a:srgbClr val="000000"/>
              </a:solidFill>
              <a:prstDash val="sysDot"/>
              <a:round/>
              <a:headEnd/>
              <a:tailEnd/>
            </a:ln>
          </p:spPr>
          <p:txBody>
            <a:bodyPr/>
            <a:lstStyle/>
            <a:p>
              <a:endParaRPr lang="bg-BG"/>
            </a:p>
          </p:txBody>
        </p:sp>
        <p:sp>
          <p:nvSpPr>
            <p:cNvPr id="42010" name="Line 26"/>
            <p:cNvSpPr>
              <a:spLocks noChangeShapeType="1"/>
            </p:cNvSpPr>
            <p:nvPr/>
          </p:nvSpPr>
          <p:spPr bwMode="auto">
            <a:xfrm flipH="1">
              <a:off x="4053484" y="3421332"/>
              <a:ext cx="101354" cy="214608"/>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42011" name="Line 27"/>
            <p:cNvSpPr>
              <a:spLocks noChangeShapeType="1"/>
            </p:cNvSpPr>
            <p:nvPr/>
          </p:nvSpPr>
          <p:spPr bwMode="auto">
            <a:xfrm flipH="1" flipV="1">
              <a:off x="4368807" y="4152626"/>
              <a:ext cx="15357" cy="29496"/>
            </a:xfrm>
            <a:prstGeom prst="line">
              <a:avLst/>
            </a:prstGeom>
            <a:noFill/>
            <a:ln w="6350">
              <a:solidFill>
                <a:srgbClr val="000000"/>
              </a:solidFill>
              <a:prstDash val="sysDot"/>
              <a:round/>
              <a:headEnd type="none" w="sm" len="sm"/>
              <a:tailEnd type="none" w="sm" len="sm"/>
            </a:ln>
          </p:spPr>
          <p:txBody>
            <a:bodyPr/>
            <a:lstStyle/>
            <a:p>
              <a:endParaRPr lang="bg-BG"/>
            </a:p>
          </p:txBody>
        </p:sp>
        <p:sp>
          <p:nvSpPr>
            <p:cNvPr id="42012" name="Line 28"/>
            <p:cNvSpPr>
              <a:spLocks noChangeShapeType="1"/>
            </p:cNvSpPr>
            <p:nvPr/>
          </p:nvSpPr>
          <p:spPr bwMode="auto">
            <a:xfrm>
              <a:off x="4483470" y="3390819"/>
              <a:ext cx="187351" cy="314284"/>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42013" name="Oval 29"/>
            <p:cNvSpPr>
              <a:spLocks noChangeArrowheads="1"/>
            </p:cNvSpPr>
            <p:nvPr/>
          </p:nvSpPr>
          <p:spPr bwMode="auto">
            <a:xfrm>
              <a:off x="7412491" y="2994150"/>
              <a:ext cx="402344" cy="342763"/>
            </a:xfrm>
            <a:prstGeom prst="ellipse">
              <a:avLst/>
            </a:prstGeom>
            <a:noFill/>
            <a:ln w="12700">
              <a:solidFill>
                <a:srgbClr val="000000"/>
              </a:solidFill>
              <a:round/>
              <a:headEnd/>
              <a:tailEnd/>
            </a:ln>
          </p:spPr>
          <p:txBody>
            <a:bodyPr/>
            <a:lstStyle/>
            <a:p>
              <a:endParaRPr lang="bg-BG"/>
            </a:p>
          </p:txBody>
        </p:sp>
        <p:sp>
          <p:nvSpPr>
            <p:cNvPr id="42014" name="Line 30"/>
            <p:cNvSpPr>
              <a:spLocks noChangeShapeType="1"/>
            </p:cNvSpPr>
            <p:nvPr/>
          </p:nvSpPr>
          <p:spPr bwMode="auto">
            <a:xfrm>
              <a:off x="7361303" y="2704276"/>
              <a:ext cx="187351" cy="285805"/>
            </a:xfrm>
            <a:prstGeom prst="line">
              <a:avLst/>
            </a:prstGeom>
            <a:noFill/>
            <a:ln w="12700">
              <a:solidFill>
                <a:srgbClr val="000000"/>
              </a:solidFill>
              <a:round/>
              <a:headEnd type="none" w="sm" len="sm"/>
              <a:tailEnd type="triangle" w="sm" len="med"/>
            </a:ln>
          </p:spPr>
          <p:txBody>
            <a:bodyPr/>
            <a:lstStyle/>
            <a:p>
              <a:endParaRPr lang="bg-BG"/>
            </a:p>
          </p:txBody>
        </p:sp>
        <p:sp>
          <p:nvSpPr>
            <p:cNvPr id="42015" name="Line 31"/>
            <p:cNvSpPr>
              <a:spLocks noChangeShapeType="1"/>
            </p:cNvSpPr>
            <p:nvPr/>
          </p:nvSpPr>
          <p:spPr bwMode="auto">
            <a:xfrm>
              <a:off x="4527492" y="1596655"/>
              <a:ext cx="1024" cy="345814"/>
            </a:xfrm>
            <a:prstGeom prst="line">
              <a:avLst/>
            </a:prstGeom>
            <a:noFill/>
            <a:ln w="12700">
              <a:solidFill>
                <a:srgbClr val="000000"/>
              </a:solidFill>
              <a:round/>
              <a:headEnd type="none" w="sm" len="sm"/>
              <a:tailEnd type="triangle" w="sm" len="med"/>
            </a:ln>
          </p:spPr>
          <p:txBody>
            <a:bodyPr/>
            <a:lstStyle/>
            <a:p>
              <a:endParaRPr lang="bg-BG"/>
            </a:p>
          </p:txBody>
        </p:sp>
        <p:sp>
          <p:nvSpPr>
            <p:cNvPr id="42016" name="Line 32"/>
            <p:cNvSpPr>
              <a:spLocks noChangeShapeType="1"/>
            </p:cNvSpPr>
            <p:nvPr/>
          </p:nvSpPr>
          <p:spPr bwMode="auto">
            <a:xfrm>
              <a:off x="3913227" y="2196744"/>
              <a:ext cx="1024" cy="345814"/>
            </a:xfrm>
            <a:prstGeom prst="line">
              <a:avLst/>
            </a:prstGeom>
            <a:noFill/>
            <a:ln w="12700">
              <a:solidFill>
                <a:srgbClr val="000000"/>
              </a:solidFill>
              <a:round/>
              <a:headEnd type="none" w="sm" len="sm"/>
              <a:tailEnd type="triangle" w="sm" len="med"/>
            </a:ln>
          </p:spPr>
          <p:txBody>
            <a:bodyPr/>
            <a:lstStyle/>
            <a:p>
              <a:endParaRPr lang="bg-BG"/>
            </a:p>
          </p:txBody>
        </p:sp>
        <p:sp>
          <p:nvSpPr>
            <p:cNvPr id="42017" name="Line 33"/>
            <p:cNvSpPr>
              <a:spLocks noChangeShapeType="1"/>
            </p:cNvSpPr>
            <p:nvPr/>
          </p:nvSpPr>
          <p:spPr bwMode="auto">
            <a:xfrm>
              <a:off x="4312499" y="2766319"/>
              <a:ext cx="1024" cy="345814"/>
            </a:xfrm>
            <a:prstGeom prst="line">
              <a:avLst/>
            </a:prstGeom>
            <a:noFill/>
            <a:ln w="12700">
              <a:solidFill>
                <a:srgbClr val="000000"/>
              </a:solidFill>
              <a:round/>
              <a:headEnd type="none" w="sm" len="sm"/>
              <a:tailEnd type="triangle" w="sm" len="med"/>
            </a:ln>
          </p:spPr>
          <p:txBody>
            <a:bodyPr/>
            <a:lstStyle/>
            <a:p>
              <a:endParaRPr lang="bg-BG"/>
            </a:p>
          </p:txBody>
        </p:sp>
        <p:sp>
          <p:nvSpPr>
            <p:cNvPr id="42018" name="Text Box 34"/>
            <p:cNvSpPr txBox="1">
              <a:spLocks noChangeArrowheads="1"/>
            </p:cNvSpPr>
            <p:nvPr/>
          </p:nvSpPr>
          <p:spPr bwMode="auto">
            <a:xfrm>
              <a:off x="3186346" y="3081620"/>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10</a:t>
              </a:r>
              <a:endParaRPr lang="bg-BG" sz="1000">
                <a:latin typeface="Courier New" pitchFamily="49" charset="0"/>
              </a:endParaRPr>
            </a:p>
          </p:txBody>
        </p:sp>
        <p:sp>
          <p:nvSpPr>
            <p:cNvPr id="42019" name="Text Box 35"/>
            <p:cNvSpPr txBox="1">
              <a:spLocks noChangeArrowheads="1"/>
            </p:cNvSpPr>
            <p:nvPr/>
          </p:nvSpPr>
          <p:spPr bwMode="auto">
            <a:xfrm>
              <a:off x="4117982" y="1362722"/>
              <a:ext cx="552839" cy="366156"/>
            </a:xfrm>
            <a:prstGeom prst="rect">
              <a:avLst/>
            </a:prstGeom>
            <a:noFill/>
            <a:ln w="9525">
              <a:noFill/>
              <a:miter lim="800000"/>
              <a:headEnd/>
              <a:tailEnd/>
            </a:ln>
          </p:spPr>
          <p:txBody>
            <a:bodyPr/>
            <a:lstStyle/>
            <a:p>
              <a:r>
                <a:rPr lang="en-US" sz="1600" b="1" noProof="1">
                  <a:latin typeface="Courier New" pitchFamily="49" charset="0"/>
                </a:rPr>
                <a:t>p</a:t>
              </a:r>
              <a:endParaRPr lang="bg-BG" sz="1600">
                <a:latin typeface="Courier New" pitchFamily="49" charset="0"/>
              </a:endParaRPr>
            </a:p>
          </p:txBody>
        </p:sp>
        <p:sp>
          <p:nvSpPr>
            <p:cNvPr id="42020" name="Text Box 36"/>
            <p:cNvSpPr txBox="1">
              <a:spLocks noChangeArrowheads="1"/>
            </p:cNvSpPr>
            <p:nvPr/>
          </p:nvSpPr>
          <p:spPr bwMode="auto">
            <a:xfrm>
              <a:off x="3565143" y="1911956"/>
              <a:ext cx="552839" cy="366156"/>
            </a:xfrm>
            <a:prstGeom prst="rect">
              <a:avLst/>
            </a:prstGeom>
            <a:noFill/>
            <a:ln w="9525">
              <a:noFill/>
              <a:miter lim="800000"/>
              <a:headEnd/>
              <a:tailEnd/>
            </a:ln>
          </p:spPr>
          <p:txBody>
            <a:bodyPr/>
            <a:lstStyle/>
            <a:p>
              <a:r>
                <a:rPr lang="en-US" sz="1600" b="1" noProof="1">
                  <a:latin typeface="Courier New" pitchFamily="49" charset="0"/>
                </a:rPr>
                <a:t>q</a:t>
              </a:r>
              <a:endParaRPr lang="bg-BG" sz="1000">
                <a:latin typeface="Courier New" pitchFamily="49" charset="0"/>
              </a:endParaRPr>
            </a:p>
          </p:txBody>
        </p:sp>
        <p:sp>
          <p:nvSpPr>
            <p:cNvPr id="42021" name="Text Box 37"/>
            <p:cNvSpPr txBox="1">
              <a:spLocks noChangeArrowheads="1"/>
            </p:cNvSpPr>
            <p:nvPr/>
          </p:nvSpPr>
          <p:spPr bwMode="auto">
            <a:xfrm>
              <a:off x="8172133" y="2422540"/>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25</a:t>
              </a:r>
              <a:endParaRPr lang="bg-BG" sz="1000">
                <a:latin typeface="Courier New" pitchFamily="49" charset="0"/>
              </a:endParaRPr>
            </a:p>
          </p:txBody>
        </p:sp>
        <p:sp>
          <p:nvSpPr>
            <p:cNvPr id="42022" name="Text Box 38"/>
            <p:cNvSpPr txBox="1">
              <a:spLocks noChangeArrowheads="1"/>
            </p:cNvSpPr>
            <p:nvPr/>
          </p:nvSpPr>
          <p:spPr bwMode="auto">
            <a:xfrm>
              <a:off x="4251073" y="2583241"/>
              <a:ext cx="552839" cy="366156"/>
            </a:xfrm>
            <a:prstGeom prst="rect">
              <a:avLst/>
            </a:prstGeom>
            <a:noFill/>
            <a:ln w="9525">
              <a:noFill/>
              <a:miter lim="800000"/>
              <a:headEnd/>
              <a:tailEnd/>
            </a:ln>
          </p:spPr>
          <p:txBody>
            <a:bodyPr/>
            <a:lstStyle/>
            <a:p>
              <a:r>
                <a:rPr lang="en-US" sz="1800" b="1" noProof="1">
                  <a:latin typeface="Courier New" pitchFamily="49" charset="0"/>
                </a:rPr>
                <a:t>s</a:t>
              </a:r>
              <a:endParaRPr lang="bg-BG" sz="1800" b="1">
                <a:latin typeface="Courier New" pitchFamily="49" charset="0"/>
              </a:endParaRPr>
            </a:p>
          </p:txBody>
        </p:sp>
        <p:sp>
          <p:nvSpPr>
            <p:cNvPr id="42023" name="Text Box 39"/>
            <p:cNvSpPr txBox="1">
              <a:spLocks noChangeArrowheads="1"/>
            </p:cNvSpPr>
            <p:nvPr/>
          </p:nvSpPr>
          <p:spPr bwMode="auto">
            <a:xfrm>
              <a:off x="6390763" y="2961603"/>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10</a:t>
              </a:r>
              <a:endParaRPr lang="bg-BG" sz="1400" b="1">
                <a:latin typeface="Courier New" pitchFamily="49" charset="0"/>
              </a:endParaRPr>
            </a:p>
          </p:txBody>
        </p:sp>
        <p:sp>
          <p:nvSpPr>
            <p:cNvPr id="42024" name="Text Box 40"/>
            <p:cNvSpPr txBox="1">
              <a:spLocks noChangeArrowheads="1"/>
            </p:cNvSpPr>
            <p:nvPr/>
          </p:nvSpPr>
          <p:spPr bwMode="auto">
            <a:xfrm>
              <a:off x="6912889" y="2412369"/>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20</a:t>
              </a:r>
              <a:endParaRPr lang="bg-BG" sz="1400" b="1">
                <a:latin typeface="Courier New" pitchFamily="49" charset="0"/>
              </a:endParaRPr>
            </a:p>
          </p:txBody>
        </p:sp>
        <p:sp>
          <p:nvSpPr>
            <p:cNvPr id="42025" name="Text Box 41"/>
            <p:cNvSpPr txBox="1">
              <a:spLocks noChangeArrowheads="1"/>
            </p:cNvSpPr>
            <p:nvPr/>
          </p:nvSpPr>
          <p:spPr bwMode="auto">
            <a:xfrm>
              <a:off x="3636807" y="2522216"/>
              <a:ext cx="552839" cy="366156"/>
            </a:xfrm>
            <a:prstGeom prst="rect">
              <a:avLst/>
            </a:prstGeom>
            <a:noFill/>
            <a:ln w="9525">
              <a:noFill/>
              <a:miter lim="800000"/>
              <a:headEnd/>
              <a:tailEnd/>
            </a:ln>
          </p:spPr>
          <p:txBody>
            <a:bodyPr/>
            <a:lstStyle/>
            <a:p>
              <a:r>
                <a:rPr lang="en-US" sz="1400" b="1">
                  <a:latin typeface="Courier New" pitchFamily="49" charset="0"/>
                </a:rPr>
                <a:t> </a:t>
              </a:r>
              <a:r>
                <a:rPr lang="en-US" sz="1400" b="1" noProof="1">
                  <a:latin typeface="Courier New" pitchFamily="49" charset="0"/>
                </a:rPr>
                <a:t>20</a:t>
              </a:r>
              <a:endParaRPr lang="bg-BG" sz="1000">
                <a:latin typeface="Courier New" pitchFamily="49" charset="0"/>
              </a:endParaRPr>
            </a:p>
          </p:txBody>
        </p:sp>
        <p:sp>
          <p:nvSpPr>
            <p:cNvPr id="42026" name="Text Box 42"/>
            <p:cNvSpPr txBox="1">
              <a:spLocks noChangeArrowheads="1"/>
            </p:cNvSpPr>
            <p:nvPr/>
          </p:nvSpPr>
          <p:spPr bwMode="auto">
            <a:xfrm>
              <a:off x="4036080" y="3112133"/>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22</a:t>
              </a:r>
              <a:endParaRPr lang="bg-BG" sz="1000">
                <a:latin typeface="Courier New" pitchFamily="49" charset="0"/>
              </a:endParaRPr>
            </a:p>
          </p:txBody>
        </p:sp>
        <p:sp>
          <p:nvSpPr>
            <p:cNvPr id="42027" name="Text Box 43"/>
            <p:cNvSpPr txBox="1">
              <a:spLocks noChangeArrowheads="1"/>
            </p:cNvSpPr>
            <p:nvPr/>
          </p:nvSpPr>
          <p:spPr bwMode="auto">
            <a:xfrm>
              <a:off x="4251073" y="1942469"/>
              <a:ext cx="552839" cy="366156"/>
            </a:xfrm>
            <a:prstGeom prst="rect">
              <a:avLst/>
            </a:prstGeom>
            <a:noFill/>
            <a:ln w="9525">
              <a:noFill/>
              <a:miter lim="800000"/>
              <a:headEnd/>
              <a:tailEnd/>
            </a:ln>
          </p:spPr>
          <p:txBody>
            <a:bodyPr/>
            <a:lstStyle/>
            <a:p>
              <a:r>
                <a:rPr lang="en-US" sz="1400" b="1">
                  <a:latin typeface="Courier New" pitchFamily="49" charset="0"/>
                </a:rPr>
                <a:t> </a:t>
              </a:r>
              <a:r>
                <a:rPr lang="en-US" sz="1400" b="1" noProof="1">
                  <a:latin typeface="Courier New" pitchFamily="49" charset="0"/>
                </a:rPr>
                <a:t>25</a:t>
              </a:r>
              <a:endParaRPr lang="bg-BG" sz="1000">
                <a:latin typeface="Courier New" pitchFamily="49" charset="0"/>
              </a:endParaRPr>
            </a:p>
          </p:txBody>
        </p:sp>
        <p:sp>
          <p:nvSpPr>
            <p:cNvPr id="42028" name="Text Box 44"/>
            <p:cNvSpPr txBox="1">
              <a:spLocks noChangeArrowheads="1"/>
            </p:cNvSpPr>
            <p:nvPr/>
          </p:nvSpPr>
          <p:spPr bwMode="auto">
            <a:xfrm>
              <a:off x="3667520" y="3641025"/>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21</a:t>
              </a:r>
              <a:endParaRPr lang="bg-BG" sz="1400" b="1">
                <a:latin typeface="Courier New" pitchFamily="49" charset="0"/>
              </a:endParaRPr>
            </a:p>
          </p:txBody>
        </p:sp>
        <p:sp>
          <p:nvSpPr>
            <p:cNvPr id="42029" name="Text Box 45"/>
            <p:cNvSpPr txBox="1">
              <a:spLocks noChangeArrowheads="1"/>
            </p:cNvSpPr>
            <p:nvPr/>
          </p:nvSpPr>
          <p:spPr bwMode="auto">
            <a:xfrm>
              <a:off x="7527154" y="1842793"/>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22</a:t>
              </a:r>
              <a:endParaRPr lang="bg-BG" sz="1000">
                <a:latin typeface="Courier New" pitchFamily="49" charset="0"/>
              </a:endParaRPr>
            </a:p>
          </p:txBody>
        </p:sp>
        <p:sp>
          <p:nvSpPr>
            <p:cNvPr id="42030" name="Text Box 46"/>
            <p:cNvSpPr txBox="1">
              <a:spLocks noChangeArrowheads="1"/>
            </p:cNvSpPr>
            <p:nvPr/>
          </p:nvSpPr>
          <p:spPr bwMode="auto">
            <a:xfrm>
              <a:off x="7342875" y="2981945"/>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21</a:t>
              </a:r>
              <a:endParaRPr lang="bg-BG" sz="1400" b="1">
                <a:latin typeface="Courier New" pitchFamily="49" charset="0"/>
              </a:endParaRPr>
            </a:p>
          </p:txBody>
        </p:sp>
        <p:sp>
          <p:nvSpPr>
            <p:cNvPr id="42031" name="Text Box 47"/>
            <p:cNvSpPr txBox="1">
              <a:spLocks noChangeArrowheads="1"/>
            </p:cNvSpPr>
            <p:nvPr/>
          </p:nvSpPr>
          <p:spPr bwMode="auto">
            <a:xfrm>
              <a:off x="7916189" y="3002287"/>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24</a:t>
              </a:r>
              <a:endParaRPr lang="bg-BG" sz="1400" b="1">
                <a:latin typeface="Courier New" pitchFamily="49" charset="0"/>
              </a:endParaRPr>
            </a:p>
          </p:txBody>
        </p:sp>
        <p:sp>
          <p:nvSpPr>
            <p:cNvPr id="42032" name="Text Box 48"/>
            <p:cNvSpPr txBox="1">
              <a:spLocks noChangeArrowheads="1"/>
            </p:cNvSpPr>
            <p:nvPr/>
          </p:nvSpPr>
          <p:spPr bwMode="auto">
            <a:xfrm>
              <a:off x="4486541" y="3702051"/>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24</a:t>
              </a:r>
              <a:endParaRPr lang="bg-BG" sz="1000">
                <a:latin typeface="Courier New" pitchFamily="49" charset="0"/>
              </a:endParaRPr>
            </a:p>
          </p:txBody>
        </p:sp>
        <p:sp>
          <p:nvSpPr>
            <p:cNvPr id="42033" name="Text Box 49"/>
            <p:cNvSpPr txBox="1">
              <a:spLocks noChangeArrowheads="1"/>
            </p:cNvSpPr>
            <p:nvPr/>
          </p:nvSpPr>
          <p:spPr bwMode="auto">
            <a:xfrm>
              <a:off x="4916527" y="2512045"/>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30</a:t>
              </a:r>
              <a:endParaRPr lang="bg-BG" sz="1000">
                <a:latin typeface="Courier New" pitchFamily="49" charset="0"/>
              </a:endParaRPr>
            </a:p>
          </p:txBody>
        </p:sp>
        <p:sp>
          <p:nvSpPr>
            <p:cNvPr id="42034" name="Text Box 50"/>
            <p:cNvSpPr txBox="1">
              <a:spLocks noChangeArrowheads="1"/>
            </p:cNvSpPr>
            <p:nvPr/>
          </p:nvSpPr>
          <p:spPr bwMode="auto">
            <a:xfrm>
              <a:off x="8653307" y="2951432"/>
              <a:ext cx="552839" cy="366156"/>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30</a:t>
              </a:r>
              <a:endParaRPr lang="bg-BG" sz="1000">
                <a:latin typeface="Courier New" pitchFamily="49" charset="0"/>
              </a:endParaRPr>
            </a:p>
          </p:txBody>
        </p:sp>
        <p:sp>
          <p:nvSpPr>
            <p:cNvPr id="42035" name="Line 51"/>
            <p:cNvSpPr>
              <a:spLocks noChangeShapeType="1"/>
            </p:cNvSpPr>
            <p:nvPr/>
          </p:nvSpPr>
          <p:spPr bwMode="auto">
            <a:xfrm>
              <a:off x="5837925" y="2644267"/>
              <a:ext cx="552839" cy="0"/>
            </a:xfrm>
            <a:prstGeom prst="line">
              <a:avLst/>
            </a:prstGeom>
            <a:noFill/>
            <a:ln w="25400">
              <a:solidFill>
                <a:srgbClr val="000000"/>
              </a:solidFill>
              <a:round/>
              <a:headEnd/>
              <a:tailEnd type="triangle" w="sm" len="med"/>
            </a:ln>
          </p:spPr>
          <p:txBody>
            <a:bodyPr/>
            <a:lstStyle/>
            <a:p>
              <a:endParaRPr lang="bg-BG"/>
            </a:p>
          </p:txBody>
        </p:sp>
        <p:sp>
          <p:nvSpPr>
            <p:cNvPr id="42036" name="Line 52"/>
            <p:cNvSpPr>
              <a:spLocks noChangeShapeType="1"/>
            </p:cNvSpPr>
            <p:nvPr/>
          </p:nvSpPr>
          <p:spPr bwMode="auto">
            <a:xfrm>
              <a:off x="7772400" y="1549400"/>
              <a:ext cx="0" cy="304800"/>
            </a:xfrm>
            <a:prstGeom prst="line">
              <a:avLst/>
            </a:prstGeom>
            <a:noFill/>
            <a:ln w="9525">
              <a:solidFill>
                <a:schemeClr val="tx1"/>
              </a:solidFill>
              <a:round/>
              <a:headEnd/>
              <a:tailEnd type="triangle" w="med" len="med"/>
            </a:ln>
          </p:spPr>
          <p:txBody>
            <a:bodyPr wrap="none" anchor="ctr"/>
            <a:lstStyle/>
            <a:p>
              <a:endParaRPr lang="bg-BG"/>
            </a:p>
          </p:txBody>
        </p:sp>
        <p:sp>
          <p:nvSpPr>
            <p:cNvPr id="42037" name="Text Box 53"/>
            <p:cNvSpPr txBox="1">
              <a:spLocks noChangeArrowheads="1"/>
            </p:cNvSpPr>
            <p:nvPr/>
          </p:nvSpPr>
          <p:spPr bwMode="auto">
            <a:xfrm>
              <a:off x="7772400" y="1447800"/>
              <a:ext cx="381000" cy="336550"/>
            </a:xfrm>
            <a:prstGeom prst="rect">
              <a:avLst/>
            </a:prstGeom>
            <a:noFill/>
            <a:ln w="9525">
              <a:noFill/>
              <a:miter lim="800000"/>
              <a:headEnd/>
              <a:tailEnd/>
            </a:ln>
          </p:spPr>
          <p:txBody>
            <a:bodyPr>
              <a:spAutoFit/>
            </a:bodyPr>
            <a:lstStyle/>
            <a:p>
              <a:pPr>
                <a:spcBef>
                  <a:spcPct val="50000"/>
                </a:spcBef>
              </a:pPr>
              <a:r>
                <a:rPr lang="en-US" sz="1600" b="1">
                  <a:latin typeface="Courier New" pitchFamily="49" charset="0"/>
                </a:rPr>
                <a:t>p</a:t>
              </a:r>
              <a:endParaRPr lang="en-US" sz="1600">
                <a:latin typeface="Courier New" pitchFamily="49"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1000" y="609600"/>
            <a:ext cx="8382000" cy="5867400"/>
          </a:xfrm>
        </p:spPr>
        <p:txBody>
          <a:bodyPr>
            <a:normAutofit/>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Още </a:t>
            </a:r>
            <a:r>
              <a:rPr lang="bg-BG" sz="2800">
                <a:solidFill>
                  <a:schemeClr val="tx2">
                    <a:satMod val="130000"/>
                  </a:schemeClr>
                </a:solidFill>
              </a:rPr>
              <a:t>един пример</a:t>
            </a:r>
            <a:r>
              <a:rPr lang="bg-BG" sz="2800" smtClean="0">
                <a:solidFill>
                  <a:schemeClr val="tx2">
                    <a:satMod val="130000"/>
                  </a:schemeClr>
                </a:solidFill>
              </a:rPr>
              <a:t>:</a:t>
            </a: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t>
            </a:r>
            <a:r>
              <a:rPr lang="en-US" sz="2800" smtClean="0">
                <a:solidFill>
                  <a:schemeClr val="tx2">
                    <a:satMod val="130000"/>
                  </a:schemeClr>
                </a:solidFill>
              </a:rPr>
              <a:t>	</a:t>
            </a:r>
            <a:r>
              <a:rPr lang="bg-BG" sz="2800" smtClean="0">
                <a:solidFill>
                  <a:schemeClr val="tx2">
                    <a:satMod val="130000"/>
                  </a:schemeClr>
                </a:solidFill>
              </a:rPr>
              <a:t> </a:t>
            </a:r>
            <a:r>
              <a:rPr lang="bg-BG" sz="1800">
                <a:solidFill>
                  <a:schemeClr val="tx2">
                    <a:satMod val="130000"/>
                  </a:schemeClr>
                </a:solidFill>
              </a:rPr>
              <a:t>дясна ротация                                    </a:t>
            </a:r>
            <a:r>
              <a:rPr lang="en-US" sz="1800" smtClean="0">
                <a:solidFill>
                  <a:schemeClr val="tx2">
                    <a:satMod val="130000"/>
                  </a:schemeClr>
                </a:solidFill>
              </a:rPr>
              <a:t>	</a:t>
            </a:r>
            <a:r>
              <a:rPr lang="bg-BG" sz="1800" smtClean="0">
                <a:solidFill>
                  <a:schemeClr val="tx2">
                    <a:satMod val="130000"/>
                  </a:schemeClr>
                </a:solidFill>
              </a:rPr>
              <a:t>лява</a:t>
            </a:r>
            <a:r>
              <a:rPr lang="bg-BG" sz="1800">
                <a:solidFill>
                  <a:schemeClr val="tx2">
                    <a:satMod val="130000"/>
                  </a:schemeClr>
                </a:solidFill>
              </a:rPr>
              <a:t/>
            </a:r>
            <a:br>
              <a:rPr lang="bg-BG" sz="1800">
                <a:solidFill>
                  <a:schemeClr val="tx2">
                    <a:satMod val="130000"/>
                  </a:schemeClr>
                </a:solidFill>
              </a:rPr>
            </a:br>
            <a:r>
              <a:rPr lang="bg-BG" sz="1800">
                <a:solidFill>
                  <a:schemeClr val="tx2">
                    <a:satMod val="130000"/>
                  </a:schemeClr>
                </a:solidFill>
              </a:rPr>
              <a:t>                      </a:t>
            </a:r>
            <a:r>
              <a:rPr lang="en-US" sz="1800" smtClean="0">
                <a:solidFill>
                  <a:schemeClr val="tx2">
                    <a:satMod val="130000"/>
                  </a:schemeClr>
                </a:solidFill>
              </a:rPr>
              <a:t>	</a:t>
            </a:r>
            <a:r>
              <a:rPr lang="bg-BG" sz="1800" smtClean="0">
                <a:solidFill>
                  <a:schemeClr val="tx2">
                    <a:satMod val="130000"/>
                  </a:schemeClr>
                </a:solidFill>
              </a:rPr>
              <a:t>на </a:t>
            </a:r>
            <a:r>
              <a:rPr lang="bg-BG" sz="1800">
                <a:solidFill>
                  <a:schemeClr val="tx2">
                    <a:satMod val="130000"/>
                  </a:schemeClr>
                </a:solidFill>
              </a:rPr>
              <a:t>дясното поддърво                          ротация</a:t>
            </a: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en-US" sz="2800" smtClean="0">
                <a:solidFill>
                  <a:schemeClr val="tx2">
                    <a:satMod val="130000"/>
                  </a:schemeClr>
                </a:solidFill>
              </a:rPr>
              <a:t>	</a:t>
            </a:r>
            <a:r>
              <a:rPr lang="bg-BG" sz="2800" smtClean="0">
                <a:solidFill>
                  <a:schemeClr val="tx2">
                    <a:satMod val="130000"/>
                  </a:schemeClr>
                </a:solidFill>
              </a:rPr>
              <a:t>- </a:t>
            </a:r>
            <a:r>
              <a:rPr lang="bg-BG" sz="2800">
                <a:solidFill>
                  <a:schemeClr val="tx2">
                    <a:satMod val="130000"/>
                  </a:schemeClr>
                </a:solidFill>
              </a:rPr>
              <a:t>дясно-лява ротация</a:t>
            </a:r>
            <a:endParaRPr lang="en-US" sz="2800">
              <a:solidFill>
                <a:schemeClr val="tx2">
                  <a:satMod val="130000"/>
                </a:schemeClr>
              </a:solidFill>
            </a:endParaRPr>
          </a:p>
        </p:txBody>
      </p:sp>
      <p:grpSp>
        <p:nvGrpSpPr>
          <p:cNvPr id="68" name="Group 67"/>
          <p:cNvGrpSpPr/>
          <p:nvPr/>
        </p:nvGrpSpPr>
        <p:grpSpPr>
          <a:xfrm>
            <a:off x="1043608" y="2924944"/>
            <a:ext cx="7848600" cy="2728913"/>
            <a:chOff x="685800" y="2438400"/>
            <a:chExt cx="7848600" cy="2728913"/>
          </a:xfrm>
        </p:grpSpPr>
        <p:sp>
          <p:nvSpPr>
            <p:cNvPr id="43033" name="Oval 4"/>
            <p:cNvSpPr>
              <a:spLocks noChangeArrowheads="1"/>
            </p:cNvSpPr>
            <p:nvPr/>
          </p:nvSpPr>
          <p:spPr bwMode="auto">
            <a:xfrm>
              <a:off x="1117525" y="2438400"/>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34" name="Oval 5"/>
            <p:cNvSpPr>
              <a:spLocks noChangeArrowheads="1"/>
            </p:cNvSpPr>
            <p:nvPr/>
          </p:nvSpPr>
          <p:spPr bwMode="auto">
            <a:xfrm>
              <a:off x="685800" y="3141783"/>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35" name="Oval 6"/>
            <p:cNvSpPr>
              <a:spLocks noChangeArrowheads="1"/>
            </p:cNvSpPr>
            <p:nvPr/>
          </p:nvSpPr>
          <p:spPr bwMode="auto">
            <a:xfrm>
              <a:off x="1461353" y="3141783"/>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36" name="Oval 7"/>
            <p:cNvSpPr>
              <a:spLocks noChangeArrowheads="1"/>
            </p:cNvSpPr>
            <p:nvPr/>
          </p:nvSpPr>
          <p:spPr bwMode="auto">
            <a:xfrm>
              <a:off x="1805182" y="3861031"/>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37" name="Line 8"/>
            <p:cNvSpPr>
              <a:spLocks noChangeShapeType="1"/>
            </p:cNvSpPr>
            <p:nvPr/>
          </p:nvSpPr>
          <p:spPr bwMode="auto">
            <a:xfrm flipH="1">
              <a:off x="1068406" y="2940816"/>
              <a:ext cx="147355" cy="200966"/>
            </a:xfrm>
            <a:prstGeom prst="line">
              <a:avLst/>
            </a:prstGeom>
            <a:noFill/>
            <a:ln w="9525">
              <a:solidFill>
                <a:srgbClr val="000000"/>
              </a:solidFill>
              <a:round/>
              <a:headEnd/>
              <a:tailEnd type="triangle" w="med" len="med"/>
            </a:ln>
          </p:spPr>
          <p:txBody>
            <a:bodyPr/>
            <a:lstStyle/>
            <a:p>
              <a:endParaRPr lang="bg-BG"/>
            </a:p>
          </p:txBody>
        </p:sp>
        <p:sp>
          <p:nvSpPr>
            <p:cNvPr id="43038" name="Line 9"/>
            <p:cNvSpPr>
              <a:spLocks noChangeShapeType="1"/>
            </p:cNvSpPr>
            <p:nvPr/>
          </p:nvSpPr>
          <p:spPr bwMode="auto">
            <a:xfrm flipH="1">
              <a:off x="1412235" y="3644199"/>
              <a:ext cx="196474" cy="251208"/>
            </a:xfrm>
            <a:prstGeom prst="line">
              <a:avLst/>
            </a:prstGeom>
            <a:noFill/>
            <a:ln w="9525">
              <a:solidFill>
                <a:srgbClr val="000000"/>
              </a:solidFill>
              <a:round/>
              <a:headEnd/>
              <a:tailEnd type="triangle" w="med" len="med"/>
            </a:ln>
          </p:spPr>
          <p:txBody>
            <a:bodyPr/>
            <a:lstStyle/>
            <a:p>
              <a:endParaRPr lang="bg-BG"/>
            </a:p>
          </p:txBody>
        </p:sp>
        <p:sp>
          <p:nvSpPr>
            <p:cNvPr id="43039" name="Line 10"/>
            <p:cNvSpPr>
              <a:spLocks noChangeShapeType="1"/>
            </p:cNvSpPr>
            <p:nvPr/>
          </p:nvSpPr>
          <p:spPr bwMode="auto">
            <a:xfrm>
              <a:off x="1461353" y="2890575"/>
              <a:ext cx="147355" cy="251208"/>
            </a:xfrm>
            <a:prstGeom prst="line">
              <a:avLst/>
            </a:prstGeom>
            <a:noFill/>
            <a:ln w="9525">
              <a:solidFill>
                <a:srgbClr val="000000"/>
              </a:solidFill>
              <a:round/>
              <a:headEnd/>
              <a:tailEnd type="triangle" w="med" len="med"/>
            </a:ln>
          </p:spPr>
          <p:txBody>
            <a:bodyPr/>
            <a:lstStyle/>
            <a:p>
              <a:endParaRPr lang="bg-BG"/>
            </a:p>
          </p:txBody>
        </p:sp>
        <p:sp>
          <p:nvSpPr>
            <p:cNvPr id="43040" name="Line 11"/>
            <p:cNvSpPr>
              <a:spLocks noChangeShapeType="1"/>
            </p:cNvSpPr>
            <p:nvPr/>
          </p:nvSpPr>
          <p:spPr bwMode="auto">
            <a:xfrm>
              <a:off x="1805182" y="3644199"/>
              <a:ext cx="196474" cy="251208"/>
            </a:xfrm>
            <a:prstGeom prst="line">
              <a:avLst/>
            </a:prstGeom>
            <a:noFill/>
            <a:ln w="9525">
              <a:solidFill>
                <a:srgbClr val="000000"/>
              </a:solidFill>
              <a:round/>
              <a:headEnd/>
              <a:tailEnd type="triangle" w="med" len="med"/>
            </a:ln>
          </p:spPr>
          <p:txBody>
            <a:bodyPr/>
            <a:lstStyle/>
            <a:p>
              <a:endParaRPr lang="bg-BG"/>
            </a:p>
          </p:txBody>
        </p:sp>
        <p:sp>
          <p:nvSpPr>
            <p:cNvPr id="43070" name="Oval 13"/>
            <p:cNvSpPr>
              <a:spLocks noChangeArrowheads="1"/>
            </p:cNvSpPr>
            <p:nvPr/>
          </p:nvSpPr>
          <p:spPr bwMode="auto">
            <a:xfrm>
              <a:off x="1094258" y="3887474"/>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71" name="Oval 14"/>
            <p:cNvSpPr>
              <a:spLocks noChangeArrowheads="1"/>
            </p:cNvSpPr>
            <p:nvPr/>
          </p:nvSpPr>
          <p:spPr bwMode="auto">
            <a:xfrm>
              <a:off x="724578" y="4664897"/>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72" name="Oval 15"/>
            <p:cNvSpPr>
              <a:spLocks noChangeArrowheads="1"/>
            </p:cNvSpPr>
            <p:nvPr/>
          </p:nvSpPr>
          <p:spPr bwMode="auto">
            <a:xfrm>
              <a:off x="1487205" y="4651675"/>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73" name="Line 16"/>
            <p:cNvSpPr>
              <a:spLocks noChangeShapeType="1"/>
            </p:cNvSpPr>
            <p:nvPr/>
          </p:nvSpPr>
          <p:spPr bwMode="auto">
            <a:xfrm flipH="1">
              <a:off x="1045140" y="4389890"/>
              <a:ext cx="196473" cy="301450"/>
            </a:xfrm>
            <a:prstGeom prst="line">
              <a:avLst/>
            </a:prstGeom>
            <a:noFill/>
            <a:ln w="9525">
              <a:solidFill>
                <a:srgbClr val="000000"/>
              </a:solidFill>
              <a:round/>
              <a:headEnd/>
              <a:tailEnd type="triangle" w="med" len="med"/>
            </a:ln>
          </p:spPr>
          <p:txBody>
            <a:bodyPr/>
            <a:lstStyle/>
            <a:p>
              <a:endParaRPr lang="bg-BG"/>
            </a:p>
          </p:txBody>
        </p:sp>
        <p:sp>
          <p:nvSpPr>
            <p:cNvPr id="43074" name="Line 17"/>
            <p:cNvSpPr>
              <a:spLocks noChangeShapeType="1"/>
            </p:cNvSpPr>
            <p:nvPr/>
          </p:nvSpPr>
          <p:spPr bwMode="auto">
            <a:xfrm>
              <a:off x="1487205" y="4339649"/>
              <a:ext cx="196473" cy="301450"/>
            </a:xfrm>
            <a:prstGeom prst="line">
              <a:avLst/>
            </a:prstGeom>
            <a:noFill/>
            <a:ln w="9525">
              <a:solidFill>
                <a:srgbClr val="000000"/>
              </a:solidFill>
              <a:round/>
              <a:headEnd/>
              <a:tailEnd type="triangle" w="med" len="med"/>
            </a:ln>
          </p:spPr>
          <p:txBody>
            <a:bodyPr/>
            <a:lstStyle/>
            <a:p>
              <a:endParaRPr lang="bg-BG"/>
            </a:p>
          </p:txBody>
        </p:sp>
        <p:sp>
          <p:nvSpPr>
            <p:cNvPr id="43042" name="Oval 18"/>
            <p:cNvSpPr>
              <a:spLocks noChangeArrowheads="1"/>
            </p:cNvSpPr>
            <p:nvPr/>
          </p:nvSpPr>
          <p:spPr bwMode="auto">
            <a:xfrm>
              <a:off x="7037582" y="2441044"/>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43" name="Oval 19"/>
            <p:cNvSpPr>
              <a:spLocks noChangeArrowheads="1"/>
            </p:cNvSpPr>
            <p:nvPr/>
          </p:nvSpPr>
          <p:spPr bwMode="auto">
            <a:xfrm>
              <a:off x="6422310" y="3041299"/>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44" name="Oval 20"/>
            <p:cNvSpPr>
              <a:spLocks noChangeArrowheads="1"/>
            </p:cNvSpPr>
            <p:nvPr/>
          </p:nvSpPr>
          <p:spPr bwMode="auto">
            <a:xfrm>
              <a:off x="7601151" y="3091541"/>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45" name="Oval 21"/>
            <p:cNvSpPr>
              <a:spLocks noChangeArrowheads="1"/>
            </p:cNvSpPr>
            <p:nvPr/>
          </p:nvSpPr>
          <p:spPr bwMode="auto">
            <a:xfrm>
              <a:off x="6029363" y="3744682"/>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46" name="Oval 22"/>
            <p:cNvSpPr>
              <a:spLocks noChangeArrowheads="1"/>
            </p:cNvSpPr>
            <p:nvPr/>
          </p:nvSpPr>
          <p:spPr bwMode="auto">
            <a:xfrm>
              <a:off x="6667902" y="3744682"/>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47" name="Oval 23"/>
            <p:cNvSpPr>
              <a:spLocks noChangeArrowheads="1"/>
            </p:cNvSpPr>
            <p:nvPr/>
          </p:nvSpPr>
          <p:spPr bwMode="auto">
            <a:xfrm>
              <a:off x="7355559" y="3768481"/>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48" name="Oval 24"/>
            <p:cNvSpPr>
              <a:spLocks noChangeArrowheads="1"/>
            </p:cNvSpPr>
            <p:nvPr/>
          </p:nvSpPr>
          <p:spPr bwMode="auto">
            <a:xfrm>
              <a:off x="8043216" y="3728816"/>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49" name="Line 25"/>
            <p:cNvSpPr>
              <a:spLocks noChangeShapeType="1"/>
            </p:cNvSpPr>
            <p:nvPr/>
          </p:nvSpPr>
          <p:spPr bwMode="auto">
            <a:xfrm flipH="1">
              <a:off x="6347340" y="3509340"/>
              <a:ext cx="196474" cy="251208"/>
            </a:xfrm>
            <a:prstGeom prst="line">
              <a:avLst/>
            </a:prstGeom>
            <a:noFill/>
            <a:ln w="9525">
              <a:solidFill>
                <a:srgbClr val="000000"/>
              </a:solidFill>
              <a:round/>
              <a:headEnd/>
              <a:tailEnd type="triangle" w="med" len="med"/>
            </a:ln>
          </p:spPr>
          <p:txBody>
            <a:bodyPr/>
            <a:lstStyle/>
            <a:p>
              <a:endParaRPr lang="bg-BG"/>
            </a:p>
          </p:txBody>
        </p:sp>
        <p:sp>
          <p:nvSpPr>
            <p:cNvPr id="43050" name="Line 26"/>
            <p:cNvSpPr>
              <a:spLocks noChangeShapeType="1"/>
            </p:cNvSpPr>
            <p:nvPr/>
          </p:nvSpPr>
          <p:spPr bwMode="auto">
            <a:xfrm>
              <a:off x="8043216" y="3543716"/>
              <a:ext cx="196474" cy="251208"/>
            </a:xfrm>
            <a:prstGeom prst="line">
              <a:avLst/>
            </a:prstGeom>
            <a:noFill/>
            <a:ln w="9525">
              <a:solidFill>
                <a:srgbClr val="000000"/>
              </a:solidFill>
              <a:round/>
              <a:headEnd/>
              <a:tailEnd type="triangle" w="med" len="med"/>
            </a:ln>
          </p:spPr>
          <p:txBody>
            <a:bodyPr/>
            <a:lstStyle/>
            <a:p>
              <a:endParaRPr lang="bg-BG"/>
            </a:p>
          </p:txBody>
        </p:sp>
        <p:sp>
          <p:nvSpPr>
            <p:cNvPr id="43051" name="Line 27"/>
            <p:cNvSpPr>
              <a:spLocks noChangeShapeType="1"/>
            </p:cNvSpPr>
            <p:nvPr/>
          </p:nvSpPr>
          <p:spPr bwMode="auto">
            <a:xfrm>
              <a:off x="6815257" y="3493474"/>
              <a:ext cx="196474" cy="301450"/>
            </a:xfrm>
            <a:prstGeom prst="line">
              <a:avLst/>
            </a:prstGeom>
            <a:noFill/>
            <a:ln w="9525">
              <a:solidFill>
                <a:srgbClr val="000000"/>
              </a:solidFill>
              <a:round/>
              <a:headEnd/>
              <a:tailEnd type="triangle" w="med" len="med"/>
            </a:ln>
          </p:spPr>
          <p:txBody>
            <a:bodyPr/>
            <a:lstStyle/>
            <a:p>
              <a:endParaRPr lang="bg-BG"/>
            </a:p>
          </p:txBody>
        </p:sp>
        <p:sp>
          <p:nvSpPr>
            <p:cNvPr id="43052" name="Line 28"/>
            <p:cNvSpPr>
              <a:spLocks noChangeShapeType="1"/>
            </p:cNvSpPr>
            <p:nvPr/>
          </p:nvSpPr>
          <p:spPr bwMode="auto">
            <a:xfrm flipH="1">
              <a:off x="6766138" y="2890575"/>
              <a:ext cx="343829" cy="200966"/>
            </a:xfrm>
            <a:prstGeom prst="line">
              <a:avLst/>
            </a:prstGeom>
            <a:noFill/>
            <a:ln w="9525">
              <a:solidFill>
                <a:srgbClr val="000000"/>
              </a:solidFill>
              <a:round/>
              <a:headEnd/>
              <a:tailEnd type="triangle" w="med" len="med"/>
            </a:ln>
          </p:spPr>
          <p:txBody>
            <a:bodyPr/>
            <a:lstStyle/>
            <a:p>
              <a:endParaRPr lang="bg-BG"/>
            </a:p>
          </p:txBody>
        </p:sp>
        <p:sp>
          <p:nvSpPr>
            <p:cNvPr id="43053" name="Line 29"/>
            <p:cNvSpPr>
              <a:spLocks noChangeShapeType="1"/>
            </p:cNvSpPr>
            <p:nvPr/>
          </p:nvSpPr>
          <p:spPr bwMode="auto">
            <a:xfrm>
              <a:off x="7453796" y="2840333"/>
              <a:ext cx="245592" cy="251208"/>
            </a:xfrm>
            <a:prstGeom prst="line">
              <a:avLst/>
            </a:prstGeom>
            <a:noFill/>
            <a:ln w="9525">
              <a:solidFill>
                <a:srgbClr val="000000"/>
              </a:solidFill>
              <a:round/>
              <a:headEnd/>
              <a:tailEnd type="triangle" w="med" len="med"/>
            </a:ln>
          </p:spPr>
          <p:txBody>
            <a:bodyPr/>
            <a:lstStyle/>
            <a:p>
              <a:endParaRPr lang="bg-BG"/>
            </a:p>
          </p:txBody>
        </p:sp>
        <p:sp>
          <p:nvSpPr>
            <p:cNvPr id="43054" name="Line 30"/>
            <p:cNvSpPr>
              <a:spLocks noChangeShapeType="1"/>
            </p:cNvSpPr>
            <p:nvPr/>
          </p:nvSpPr>
          <p:spPr bwMode="auto">
            <a:xfrm flipH="1">
              <a:off x="7601151" y="3543716"/>
              <a:ext cx="147355" cy="200966"/>
            </a:xfrm>
            <a:prstGeom prst="line">
              <a:avLst/>
            </a:prstGeom>
            <a:noFill/>
            <a:ln w="9525">
              <a:solidFill>
                <a:srgbClr val="000000"/>
              </a:solidFill>
              <a:round/>
              <a:headEnd/>
              <a:tailEnd type="triangle" w="med" len="med"/>
            </a:ln>
          </p:spPr>
          <p:txBody>
            <a:bodyPr/>
            <a:lstStyle/>
            <a:p>
              <a:endParaRPr lang="bg-BG"/>
            </a:p>
          </p:txBody>
        </p:sp>
        <p:sp>
          <p:nvSpPr>
            <p:cNvPr id="43055" name="Oval 31"/>
            <p:cNvSpPr>
              <a:spLocks noChangeArrowheads="1"/>
            </p:cNvSpPr>
            <p:nvPr/>
          </p:nvSpPr>
          <p:spPr bwMode="auto">
            <a:xfrm>
              <a:off x="4080139" y="2438400"/>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56" name="Oval 32"/>
            <p:cNvSpPr>
              <a:spLocks noChangeArrowheads="1"/>
            </p:cNvSpPr>
            <p:nvPr/>
          </p:nvSpPr>
          <p:spPr bwMode="auto">
            <a:xfrm>
              <a:off x="3648414" y="3141783"/>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57" name="Oval 33"/>
            <p:cNvSpPr>
              <a:spLocks noChangeArrowheads="1"/>
            </p:cNvSpPr>
            <p:nvPr/>
          </p:nvSpPr>
          <p:spPr bwMode="auto">
            <a:xfrm>
              <a:off x="4423967" y="3141783"/>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58" name="Oval 34"/>
            <p:cNvSpPr>
              <a:spLocks noChangeArrowheads="1"/>
            </p:cNvSpPr>
            <p:nvPr/>
          </p:nvSpPr>
          <p:spPr bwMode="auto">
            <a:xfrm>
              <a:off x="4043946" y="3855742"/>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59" name="Line 35"/>
            <p:cNvSpPr>
              <a:spLocks noChangeShapeType="1"/>
            </p:cNvSpPr>
            <p:nvPr/>
          </p:nvSpPr>
          <p:spPr bwMode="auto">
            <a:xfrm flipH="1">
              <a:off x="4031020" y="2940816"/>
              <a:ext cx="147355" cy="200966"/>
            </a:xfrm>
            <a:prstGeom prst="line">
              <a:avLst/>
            </a:prstGeom>
            <a:noFill/>
            <a:ln w="9525">
              <a:solidFill>
                <a:srgbClr val="000000"/>
              </a:solidFill>
              <a:round/>
              <a:headEnd/>
              <a:tailEnd type="triangle" w="med" len="med"/>
            </a:ln>
          </p:spPr>
          <p:txBody>
            <a:bodyPr/>
            <a:lstStyle/>
            <a:p>
              <a:endParaRPr lang="bg-BG"/>
            </a:p>
          </p:txBody>
        </p:sp>
        <p:sp>
          <p:nvSpPr>
            <p:cNvPr id="43060" name="Line 36"/>
            <p:cNvSpPr>
              <a:spLocks noChangeShapeType="1"/>
            </p:cNvSpPr>
            <p:nvPr/>
          </p:nvSpPr>
          <p:spPr bwMode="auto">
            <a:xfrm flipH="1">
              <a:off x="4359338" y="3644199"/>
              <a:ext cx="196474" cy="251208"/>
            </a:xfrm>
            <a:prstGeom prst="line">
              <a:avLst/>
            </a:prstGeom>
            <a:noFill/>
            <a:ln w="9525">
              <a:solidFill>
                <a:srgbClr val="000000"/>
              </a:solidFill>
              <a:round/>
              <a:headEnd/>
              <a:tailEnd type="triangle" w="med" len="med"/>
            </a:ln>
          </p:spPr>
          <p:txBody>
            <a:bodyPr/>
            <a:lstStyle/>
            <a:p>
              <a:endParaRPr lang="bg-BG"/>
            </a:p>
          </p:txBody>
        </p:sp>
        <p:sp>
          <p:nvSpPr>
            <p:cNvPr id="43061" name="Line 37"/>
            <p:cNvSpPr>
              <a:spLocks noChangeShapeType="1"/>
            </p:cNvSpPr>
            <p:nvPr/>
          </p:nvSpPr>
          <p:spPr bwMode="auto">
            <a:xfrm>
              <a:off x="4436893" y="2903796"/>
              <a:ext cx="147355" cy="251208"/>
            </a:xfrm>
            <a:prstGeom prst="line">
              <a:avLst/>
            </a:prstGeom>
            <a:noFill/>
            <a:ln w="9525">
              <a:solidFill>
                <a:srgbClr val="000000"/>
              </a:solidFill>
              <a:round/>
              <a:headEnd/>
              <a:tailEnd type="triangle" w="med" len="med"/>
            </a:ln>
          </p:spPr>
          <p:txBody>
            <a:bodyPr/>
            <a:lstStyle/>
            <a:p>
              <a:endParaRPr lang="bg-BG"/>
            </a:p>
          </p:txBody>
        </p:sp>
        <p:sp>
          <p:nvSpPr>
            <p:cNvPr id="43062" name="Oval 38"/>
            <p:cNvSpPr>
              <a:spLocks noChangeArrowheads="1"/>
            </p:cNvSpPr>
            <p:nvPr/>
          </p:nvSpPr>
          <p:spPr bwMode="auto">
            <a:xfrm>
              <a:off x="4801403" y="3845165"/>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63" name="Oval 39"/>
            <p:cNvSpPr>
              <a:spLocks noChangeArrowheads="1"/>
            </p:cNvSpPr>
            <p:nvPr/>
          </p:nvSpPr>
          <p:spPr bwMode="auto">
            <a:xfrm>
              <a:off x="4408456" y="4548548"/>
              <a:ext cx="491184" cy="502416"/>
            </a:xfrm>
            <a:prstGeom prst="ellipse">
              <a:avLst/>
            </a:prstGeom>
            <a:solidFill>
              <a:srgbClr val="FFFFFF"/>
            </a:solidFill>
            <a:ln w="9525">
              <a:solidFill>
                <a:srgbClr val="0000FF"/>
              </a:solidFill>
              <a:round/>
              <a:headEnd/>
              <a:tailEnd/>
            </a:ln>
          </p:spPr>
          <p:txBody>
            <a:bodyPr/>
            <a:lstStyle/>
            <a:p>
              <a:endParaRPr lang="bg-BG"/>
            </a:p>
          </p:txBody>
        </p:sp>
        <p:sp>
          <p:nvSpPr>
            <p:cNvPr id="43064" name="Oval 40"/>
            <p:cNvSpPr>
              <a:spLocks noChangeArrowheads="1"/>
            </p:cNvSpPr>
            <p:nvPr/>
          </p:nvSpPr>
          <p:spPr bwMode="auto">
            <a:xfrm>
              <a:off x="5096113" y="4548548"/>
              <a:ext cx="491184" cy="502416"/>
            </a:xfrm>
            <a:prstGeom prst="ellipse">
              <a:avLst/>
            </a:prstGeom>
            <a:solidFill>
              <a:srgbClr val="FFFFFF"/>
            </a:solidFill>
            <a:ln w="9525">
              <a:solidFill>
                <a:srgbClr val="000000"/>
              </a:solidFill>
              <a:round/>
              <a:headEnd/>
              <a:tailEnd/>
            </a:ln>
          </p:spPr>
          <p:txBody>
            <a:bodyPr/>
            <a:lstStyle/>
            <a:p>
              <a:endParaRPr lang="bg-BG"/>
            </a:p>
          </p:txBody>
        </p:sp>
        <p:sp>
          <p:nvSpPr>
            <p:cNvPr id="43065" name="Line 41"/>
            <p:cNvSpPr>
              <a:spLocks noChangeShapeType="1"/>
            </p:cNvSpPr>
            <p:nvPr/>
          </p:nvSpPr>
          <p:spPr bwMode="auto">
            <a:xfrm flipH="1">
              <a:off x="4703166" y="4257675"/>
              <a:ext cx="196474" cy="301450"/>
            </a:xfrm>
            <a:prstGeom prst="line">
              <a:avLst/>
            </a:prstGeom>
            <a:noFill/>
            <a:ln w="9525">
              <a:solidFill>
                <a:srgbClr val="000000"/>
              </a:solidFill>
              <a:round/>
              <a:headEnd/>
              <a:tailEnd type="triangle" w="med" len="med"/>
            </a:ln>
          </p:spPr>
          <p:txBody>
            <a:bodyPr/>
            <a:lstStyle/>
            <a:p>
              <a:endParaRPr lang="bg-BG"/>
            </a:p>
          </p:txBody>
        </p:sp>
        <p:sp>
          <p:nvSpPr>
            <p:cNvPr id="43066" name="Line 42"/>
            <p:cNvSpPr>
              <a:spLocks noChangeShapeType="1"/>
            </p:cNvSpPr>
            <p:nvPr/>
          </p:nvSpPr>
          <p:spPr bwMode="auto">
            <a:xfrm>
              <a:off x="5194350" y="4305273"/>
              <a:ext cx="196474" cy="251208"/>
            </a:xfrm>
            <a:prstGeom prst="line">
              <a:avLst/>
            </a:prstGeom>
            <a:noFill/>
            <a:ln w="9525">
              <a:solidFill>
                <a:srgbClr val="000000"/>
              </a:solidFill>
              <a:round/>
              <a:headEnd/>
              <a:tailEnd type="triangle" w="med" len="med"/>
            </a:ln>
          </p:spPr>
          <p:txBody>
            <a:bodyPr/>
            <a:lstStyle/>
            <a:p>
              <a:endParaRPr lang="bg-BG"/>
            </a:p>
          </p:txBody>
        </p:sp>
        <p:sp>
          <p:nvSpPr>
            <p:cNvPr id="43067" name="Line 43"/>
            <p:cNvSpPr>
              <a:spLocks noChangeShapeType="1"/>
            </p:cNvSpPr>
            <p:nvPr/>
          </p:nvSpPr>
          <p:spPr bwMode="auto">
            <a:xfrm>
              <a:off x="2345484" y="3644199"/>
              <a:ext cx="736776" cy="0"/>
            </a:xfrm>
            <a:prstGeom prst="line">
              <a:avLst/>
            </a:prstGeom>
            <a:noFill/>
            <a:ln w="9525">
              <a:solidFill>
                <a:srgbClr val="000000"/>
              </a:solidFill>
              <a:round/>
              <a:headEnd/>
              <a:tailEnd type="triangle" w="med" len="med"/>
            </a:ln>
          </p:spPr>
          <p:txBody>
            <a:bodyPr/>
            <a:lstStyle/>
            <a:p>
              <a:endParaRPr lang="bg-BG"/>
            </a:p>
          </p:txBody>
        </p:sp>
        <p:sp>
          <p:nvSpPr>
            <p:cNvPr id="43068" name="Line 44"/>
            <p:cNvSpPr>
              <a:spLocks noChangeShapeType="1"/>
            </p:cNvSpPr>
            <p:nvPr/>
          </p:nvSpPr>
          <p:spPr bwMode="auto">
            <a:xfrm>
              <a:off x="5145232" y="3644199"/>
              <a:ext cx="835012" cy="0"/>
            </a:xfrm>
            <a:prstGeom prst="line">
              <a:avLst/>
            </a:prstGeom>
            <a:noFill/>
            <a:ln w="9525">
              <a:solidFill>
                <a:srgbClr val="000000"/>
              </a:solidFill>
              <a:round/>
              <a:headEnd/>
              <a:tailEnd type="triangle" w="med" len="med"/>
            </a:ln>
          </p:spPr>
          <p:txBody>
            <a:bodyPr/>
            <a:lstStyle/>
            <a:p>
              <a:endParaRPr lang="bg-BG"/>
            </a:p>
          </p:txBody>
        </p:sp>
        <p:sp>
          <p:nvSpPr>
            <p:cNvPr id="43069" name="Line 45"/>
            <p:cNvSpPr>
              <a:spLocks noChangeShapeType="1"/>
            </p:cNvSpPr>
            <p:nvPr/>
          </p:nvSpPr>
          <p:spPr bwMode="auto">
            <a:xfrm>
              <a:off x="4801403" y="3593957"/>
              <a:ext cx="147355" cy="251208"/>
            </a:xfrm>
            <a:prstGeom prst="line">
              <a:avLst/>
            </a:prstGeom>
            <a:noFill/>
            <a:ln w="9525">
              <a:solidFill>
                <a:srgbClr val="000000"/>
              </a:solidFill>
              <a:round/>
              <a:headEnd/>
              <a:tailEnd type="triangle" w="med" len="med"/>
            </a:ln>
          </p:spPr>
          <p:txBody>
            <a:bodyPr/>
            <a:lstStyle/>
            <a:p>
              <a:endParaRPr lang="bg-BG"/>
            </a:p>
          </p:txBody>
        </p:sp>
        <p:sp>
          <p:nvSpPr>
            <p:cNvPr id="43012" name="Text Box 46"/>
            <p:cNvSpPr txBox="1">
              <a:spLocks noChangeArrowheads="1"/>
            </p:cNvSpPr>
            <p:nvPr/>
          </p:nvSpPr>
          <p:spPr bwMode="auto">
            <a:xfrm>
              <a:off x="1193800" y="2463800"/>
              <a:ext cx="457200" cy="457200"/>
            </a:xfrm>
            <a:prstGeom prst="rect">
              <a:avLst/>
            </a:prstGeom>
            <a:noFill/>
            <a:ln w="9525">
              <a:noFill/>
              <a:miter lim="800000"/>
              <a:headEnd/>
              <a:tailEnd/>
            </a:ln>
          </p:spPr>
          <p:txBody>
            <a:bodyPr>
              <a:spAutoFit/>
            </a:bodyPr>
            <a:lstStyle/>
            <a:p>
              <a:pPr>
                <a:spcBef>
                  <a:spcPct val="50000"/>
                </a:spcBef>
              </a:pPr>
              <a:r>
                <a:rPr lang="bg-BG"/>
                <a:t>5</a:t>
              </a:r>
              <a:endParaRPr lang="en-US" sz="2000"/>
            </a:p>
          </p:txBody>
        </p:sp>
        <p:sp>
          <p:nvSpPr>
            <p:cNvPr id="43013" name="Text Box 47"/>
            <p:cNvSpPr txBox="1">
              <a:spLocks noChangeArrowheads="1"/>
            </p:cNvSpPr>
            <p:nvPr/>
          </p:nvSpPr>
          <p:spPr bwMode="auto">
            <a:xfrm>
              <a:off x="762000" y="3149600"/>
              <a:ext cx="457200" cy="457200"/>
            </a:xfrm>
            <a:prstGeom prst="rect">
              <a:avLst/>
            </a:prstGeom>
            <a:noFill/>
            <a:ln w="9525">
              <a:noFill/>
              <a:miter lim="800000"/>
              <a:headEnd/>
              <a:tailEnd/>
            </a:ln>
          </p:spPr>
          <p:txBody>
            <a:bodyPr>
              <a:spAutoFit/>
            </a:bodyPr>
            <a:lstStyle/>
            <a:p>
              <a:pPr>
                <a:spcBef>
                  <a:spcPct val="50000"/>
                </a:spcBef>
              </a:pPr>
              <a:r>
                <a:rPr lang="bg-BG"/>
                <a:t>3</a:t>
              </a:r>
              <a:endParaRPr lang="en-US" sz="2000"/>
            </a:p>
          </p:txBody>
        </p:sp>
        <p:sp>
          <p:nvSpPr>
            <p:cNvPr id="43014" name="Text Box 48"/>
            <p:cNvSpPr txBox="1">
              <a:spLocks noChangeArrowheads="1"/>
            </p:cNvSpPr>
            <p:nvPr/>
          </p:nvSpPr>
          <p:spPr bwMode="auto">
            <a:xfrm>
              <a:off x="1447800" y="3149600"/>
              <a:ext cx="533400" cy="457200"/>
            </a:xfrm>
            <a:prstGeom prst="rect">
              <a:avLst/>
            </a:prstGeom>
            <a:noFill/>
            <a:ln w="9525">
              <a:noFill/>
              <a:miter lim="800000"/>
              <a:headEnd/>
              <a:tailEnd/>
            </a:ln>
          </p:spPr>
          <p:txBody>
            <a:bodyPr>
              <a:spAutoFit/>
            </a:bodyPr>
            <a:lstStyle/>
            <a:p>
              <a:pPr>
                <a:spcBef>
                  <a:spcPct val="50000"/>
                </a:spcBef>
              </a:pPr>
              <a:r>
                <a:rPr lang="bg-BG"/>
                <a:t>10</a:t>
              </a:r>
              <a:endParaRPr lang="en-US" sz="2000"/>
            </a:p>
          </p:txBody>
        </p:sp>
        <p:sp>
          <p:nvSpPr>
            <p:cNvPr id="43015" name="Text Box 49"/>
            <p:cNvSpPr txBox="1">
              <a:spLocks noChangeArrowheads="1"/>
            </p:cNvSpPr>
            <p:nvPr/>
          </p:nvSpPr>
          <p:spPr bwMode="auto">
            <a:xfrm>
              <a:off x="1803400" y="3886200"/>
              <a:ext cx="609600" cy="457200"/>
            </a:xfrm>
            <a:prstGeom prst="rect">
              <a:avLst/>
            </a:prstGeom>
            <a:noFill/>
            <a:ln w="9525">
              <a:noFill/>
              <a:miter lim="800000"/>
              <a:headEnd/>
              <a:tailEnd/>
            </a:ln>
          </p:spPr>
          <p:txBody>
            <a:bodyPr>
              <a:spAutoFit/>
            </a:bodyPr>
            <a:lstStyle/>
            <a:p>
              <a:pPr>
                <a:spcBef>
                  <a:spcPct val="50000"/>
                </a:spcBef>
              </a:pPr>
              <a:r>
                <a:rPr lang="bg-BG"/>
                <a:t>12</a:t>
              </a:r>
              <a:endParaRPr lang="en-US" sz="2000"/>
            </a:p>
          </p:txBody>
        </p:sp>
        <p:sp>
          <p:nvSpPr>
            <p:cNvPr id="43016" name="Text Box 50"/>
            <p:cNvSpPr txBox="1">
              <a:spLocks noChangeArrowheads="1"/>
            </p:cNvSpPr>
            <p:nvPr/>
          </p:nvSpPr>
          <p:spPr bwMode="auto">
            <a:xfrm>
              <a:off x="1181100" y="3898900"/>
              <a:ext cx="457200" cy="457200"/>
            </a:xfrm>
            <a:prstGeom prst="rect">
              <a:avLst/>
            </a:prstGeom>
            <a:noFill/>
            <a:ln w="9525">
              <a:noFill/>
              <a:miter lim="800000"/>
              <a:headEnd/>
              <a:tailEnd/>
            </a:ln>
          </p:spPr>
          <p:txBody>
            <a:bodyPr>
              <a:spAutoFit/>
            </a:bodyPr>
            <a:lstStyle/>
            <a:p>
              <a:pPr>
                <a:spcBef>
                  <a:spcPct val="50000"/>
                </a:spcBef>
              </a:pPr>
              <a:r>
                <a:rPr lang="bg-BG"/>
                <a:t>8</a:t>
              </a:r>
              <a:endParaRPr lang="en-US" sz="2000"/>
            </a:p>
          </p:txBody>
        </p:sp>
        <p:sp>
          <p:nvSpPr>
            <p:cNvPr id="43017" name="Text Box 51"/>
            <p:cNvSpPr txBox="1">
              <a:spLocks noChangeArrowheads="1"/>
            </p:cNvSpPr>
            <p:nvPr/>
          </p:nvSpPr>
          <p:spPr bwMode="auto">
            <a:xfrm>
              <a:off x="3733800" y="3162300"/>
              <a:ext cx="457200" cy="457200"/>
            </a:xfrm>
            <a:prstGeom prst="rect">
              <a:avLst/>
            </a:prstGeom>
            <a:noFill/>
            <a:ln w="9525">
              <a:noFill/>
              <a:miter lim="800000"/>
              <a:headEnd/>
              <a:tailEnd/>
            </a:ln>
          </p:spPr>
          <p:txBody>
            <a:bodyPr>
              <a:spAutoFit/>
            </a:bodyPr>
            <a:lstStyle/>
            <a:p>
              <a:pPr>
                <a:spcBef>
                  <a:spcPct val="50000"/>
                </a:spcBef>
              </a:pPr>
              <a:r>
                <a:rPr lang="bg-BG"/>
                <a:t>3</a:t>
              </a:r>
              <a:endParaRPr lang="en-US" sz="2000"/>
            </a:p>
          </p:txBody>
        </p:sp>
        <p:sp>
          <p:nvSpPr>
            <p:cNvPr id="43018" name="Text Box 52"/>
            <p:cNvSpPr txBox="1">
              <a:spLocks noChangeArrowheads="1"/>
            </p:cNvSpPr>
            <p:nvPr/>
          </p:nvSpPr>
          <p:spPr bwMode="auto">
            <a:xfrm>
              <a:off x="4165600" y="2451100"/>
              <a:ext cx="457200" cy="457200"/>
            </a:xfrm>
            <a:prstGeom prst="rect">
              <a:avLst/>
            </a:prstGeom>
            <a:noFill/>
            <a:ln w="9525">
              <a:noFill/>
              <a:miter lim="800000"/>
              <a:headEnd/>
              <a:tailEnd/>
            </a:ln>
          </p:spPr>
          <p:txBody>
            <a:bodyPr>
              <a:spAutoFit/>
            </a:bodyPr>
            <a:lstStyle/>
            <a:p>
              <a:pPr>
                <a:spcBef>
                  <a:spcPct val="50000"/>
                </a:spcBef>
              </a:pPr>
              <a:r>
                <a:rPr lang="bg-BG"/>
                <a:t>5</a:t>
              </a:r>
              <a:endParaRPr lang="en-US" sz="2000"/>
            </a:p>
          </p:txBody>
        </p:sp>
        <p:sp>
          <p:nvSpPr>
            <p:cNvPr id="43019" name="Text Box 53"/>
            <p:cNvSpPr txBox="1">
              <a:spLocks noChangeArrowheads="1"/>
            </p:cNvSpPr>
            <p:nvPr/>
          </p:nvSpPr>
          <p:spPr bwMode="auto">
            <a:xfrm>
              <a:off x="4127500" y="38735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6</a:t>
              </a:r>
              <a:endParaRPr lang="en-US" sz="2000"/>
            </a:p>
          </p:txBody>
        </p:sp>
        <p:sp>
          <p:nvSpPr>
            <p:cNvPr id="43020" name="Text Box 54"/>
            <p:cNvSpPr txBox="1">
              <a:spLocks noChangeArrowheads="1"/>
            </p:cNvSpPr>
            <p:nvPr/>
          </p:nvSpPr>
          <p:spPr bwMode="auto">
            <a:xfrm>
              <a:off x="4495800" y="3136900"/>
              <a:ext cx="457200" cy="457200"/>
            </a:xfrm>
            <a:prstGeom prst="rect">
              <a:avLst/>
            </a:prstGeom>
            <a:noFill/>
            <a:ln w="9525">
              <a:noFill/>
              <a:miter lim="800000"/>
              <a:headEnd/>
              <a:tailEnd/>
            </a:ln>
          </p:spPr>
          <p:txBody>
            <a:bodyPr>
              <a:spAutoFit/>
            </a:bodyPr>
            <a:lstStyle/>
            <a:p>
              <a:pPr>
                <a:spcBef>
                  <a:spcPct val="50000"/>
                </a:spcBef>
              </a:pPr>
              <a:r>
                <a:rPr lang="bg-BG"/>
                <a:t>8</a:t>
              </a:r>
              <a:endParaRPr lang="en-US" sz="2000"/>
            </a:p>
          </p:txBody>
        </p:sp>
        <p:sp>
          <p:nvSpPr>
            <p:cNvPr id="43021" name="Text Box 55"/>
            <p:cNvSpPr txBox="1">
              <a:spLocks noChangeArrowheads="1"/>
            </p:cNvSpPr>
            <p:nvPr/>
          </p:nvSpPr>
          <p:spPr bwMode="auto">
            <a:xfrm>
              <a:off x="5105400" y="4572000"/>
              <a:ext cx="1066800" cy="457200"/>
            </a:xfrm>
            <a:prstGeom prst="rect">
              <a:avLst/>
            </a:prstGeom>
            <a:noFill/>
            <a:ln w="9525">
              <a:noFill/>
              <a:miter lim="800000"/>
              <a:headEnd/>
              <a:tailEnd/>
            </a:ln>
          </p:spPr>
          <p:txBody>
            <a:bodyPr>
              <a:spAutoFit/>
            </a:bodyPr>
            <a:lstStyle/>
            <a:p>
              <a:pPr>
                <a:spcBef>
                  <a:spcPct val="50000"/>
                </a:spcBef>
              </a:pPr>
              <a:r>
                <a:rPr lang="bg-BG"/>
                <a:t>12</a:t>
              </a:r>
              <a:endParaRPr lang="en-US" sz="2000"/>
            </a:p>
          </p:txBody>
        </p:sp>
        <p:sp>
          <p:nvSpPr>
            <p:cNvPr id="43022" name="Text Box 56"/>
            <p:cNvSpPr txBox="1">
              <a:spLocks noChangeArrowheads="1"/>
            </p:cNvSpPr>
            <p:nvPr/>
          </p:nvSpPr>
          <p:spPr bwMode="auto">
            <a:xfrm>
              <a:off x="4495800" y="45720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9</a:t>
              </a:r>
              <a:endParaRPr lang="en-US" sz="2000"/>
            </a:p>
          </p:txBody>
        </p:sp>
        <p:sp>
          <p:nvSpPr>
            <p:cNvPr id="43023" name="Text Box 57"/>
            <p:cNvSpPr txBox="1">
              <a:spLocks noChangeArrowheads="1"/>
            </p:cNvSpPr>
            <p:nvPr/>
          </p:nvSpPr>
          <p:spPr bwMode="auto">
            <a:xfrm>
              <a:off x="4800600" y="3848100"/>
              <a:ext cx="685800" cy="457200"/>
            </a:xfrm>
            <a:prstGeom prst="rect">
              <a:avLst/>
            </a:prstGeom>
            <a:noFill/>
            <a:ln w="9525">
              <a:noFill/>
              <a:miter lim="800000"/>
              <a:headEnd/>
              <a:tailEnd/>
            </a:ln>
          </p:spPr>
          <p:txBody>
            <a:bodyPr>
              <a:spAutoFit/>
            </a:bodyPr>
            <a:lstStyle/>
            <a:p>
              <a:pPr>
                <a:spcBef>
                  <a:spcPct val="50000"/>
                </a:spcBef>
              </a:pPr>
              <a:r>
                <a:rPr lang="bg-BG"/>
                <a:t>10</a:t>
              </a:r>
              <a:endParaRPr lang="en-US" sz="2000"/>
            </a:p>
          </p:txBody>
        </p:sp>
        <p:sp>
          <p:nvSpPr>
            <p:cNvPr id="43024" name="Text Box 58"/>
            <p:cNvSpPr txBox="1">
              <a:spLocks noChangeArrowheads="1"/>
            </p:cNvSpPr>
            <p:nvPr/>
          </p:nvSpPr>
          <p:spPr bwMode="auto">
            <a:xfrm>
              <a:off x="6502400" y="3060700"/>
              <a:ext cx="457200" cy="457200"/>
            </a:xfrm>
            <a:prstGeom prst="rect">
              <a:avLst/>
            </a:prstGeom>
            <a:noFill/>
            <a:ln w="9525">
              <a:noFill/>
              <a:miter lim="800000"/>
              <a:headEnd/>
              <a:tailEnd/>
            </a:ln>
          </p:spPr>
          <p:txBody>
            <a:bodyPr>
              <a:spAutoFit/>
            </a:bodyPr>
            <a:lstStyle/>
            <a:p>
              <a:pPr>
                <a:spcBef>
                  <a:spcPct val="50000"/>
                </a:spcBef>
              </a:pPr>
              <a:r>
                <a:rPr lang="bg-BG"/>
                <a:t>5</a:t>
              </a:r>
              <a:endParaRPr lang="en-US" sz="2000"/>
            </a:p>
          </p:txBody>
        </p:sp>
        <p:sp>
          <p:nvSpPr>
            <p:cNvPr id="43025" name="Text Box 59"/>
            <p:cNvSpPr txBox="1">
              <a:spLocks noChangeArrowheads="1"/>
            </p:cNvSpPr>
            <p:nvPr/>
          </p:nvSpPr>
          <p:spPr bwMode="auto">
            <a:xfrm>
              <a:off x="7112000" y="2451100"/>
              <a:ext cx="457200" cy="457200"/>
            </a:xfrm>
            <a:prstGeom prst="rect">
              <a:avLst/>
            </a:prstGeom>
            <a:noFill/>
            <a:ln w="9525">
              <a:noFill/>
              <a:miter lim="800000"/>
              <a:headEnd/>
              <a:tailEnd/>
            </a:ln>
          </p:spPr>
          <p:txBody>
            <a:bodyPr>
              <a:spAutoFit/>
            </a:bodyPr>
            <a:lstStyle/>
            <a:p>
              <a:pPr>
                <a:spcBef>
                  <a:spcPct val="50000"/>
                </a:spcBef>
              </a:pPr>
              <a:r>
                <a:rPr lang="bg-BG"/>
                <a:t>8</a:t>
              </a:r>
              <a:endParaRPr lang="en-US" sz="2000"/>
            </a:p>
          </p:txBody>
        </p:sp>
        <p:sp>
          <p:nvSpPr>
            <p:cNvPr id="43026" name="Text Box 60"/>
            <p:cNvSpPr txBox="1">
              <a:spLocks noChangeArrowheads="1"/>
            </p:cNvSpPr>
            <p:nvPr/>
          </p:nvSpPr>
          <p:spPr bwMode="auto">
            <a:xfrm>
              <a:off x="7581900" y="3098800"/>
              <a:ext cx="660400" cy="457200"/>
            </a:xfrm>
            <a:prstGeom prst="rect">
              <a:avLst/>
            </a:prstGeom>
            <a:noFill/>
            <a:ln w="9525">
              <a:noFill/>
              <a:miter lim="800000"/>
              <a:headEnd/>
              <a:tailEnd/>
            </a:ln>
          </p:spPr>
          <p:txBody>
            <a:bodyPr>
              <a:spAutoFit/>
            </a:bodyPr>
            <a:lstStyle/>
            <a:p>
              <a:pPr>
                <a:spcBef>
                  <a:spcPct val="50000"/>
                </a:spcBef>
              </a:pPr>
              <a:r>
                <a:rPr lang="bg-BG"/>
                <a:t>10</a:t>
              </a:r>
              <a:endParaRPr lang="en-US" sz="2000"/>
            </a:p>
          </p:txBody>
        </p:sp>
        <p:sp>
          <p:nvSpPr>
            <p:cNvPr id="43027" name="Text Box 61"/>
            <p:cNvSpPr txBox="1">
              <a:spLocks noChangeArrowheads="1"/>
            </p:cNvSpPr>
            <p:nvPr/>
          </p:nvSpPr>
          <p:spPr bwMode="auto">
            <a:xfrm>
              <a:off x="7442200" y="37973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9</a:t>
              </a:r>
              <a:endParaRPr lang="en-US" sz="2000"/>
            </a:p>
          </p:txBody>
        </p:sp>
        <p:sp>
          <p:nvSpPr>
            <p:cNvPr id="43028" name="Text Box 62"/>
            <p:cNvSpPr txBox="1">
              <a:spLocks noChangeArrowheads="1"/>
            </p:cNvSpPr>
            <p:nvPr/>
          </p:nvSpPr>
          <p:spPr bwMode="auto">
            <a:xfrm>
              <a:off x="6096000" y="3771900"/>
              <a:ext cx="457200" cy="457200"/>
            </a:xfrm>
            <a:prstGeom prst="rect">
              <a:avLst/>
            </a:prstGeom>
            <a:noFill/>
            <a:ln w="9525">
              <a:noFill/>
              <a:miter lim="800000"/>
              <a:headEnd/>
              <a:tailEnd/>
            </a:ln>
          </p:spPr>
          <p:txBody>
            <a:bodyPr>
              <a:spAutoFit/>
            </a:bodyPr>
            <a:lstStyle/>
            <a:p>
              <a:pPr>
                <a:spcBef>
                  <a:spcPct val="50000"/>
                </a:spcBef>
              </a:pPr>
              <a:r>
                <a:rPr lang="bg-BG"/>
                <a:t>3</a:t>
              </a:r>
              <a:endParaRPr lang="en-US" sz="2000"/>
            </a:p>
          </p:txBody>
        </p:sp>
        <p:sp>
          <p:nvSpPr>
            <p:cNvPr id="43029" name="Text Box 63"/>
            <p:cNvSpPr txBox="1">
              <a:spLocks noChangeArrowheads="1"/>
            </p:cNvSpPr>
            <p:nvPr/>
          </p:nvSpPr>
          <p:spPr bwMode="auto">
            <a:xfrm>
              <a:off x="6756400" y="37592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6</a:t>
              </a:r>
              <a:endParaRPr lang="en-US" sz="2000"/>
            </a:p>
          </p:txBody>
        </p:sp>
        <p:sp>
          <p:nvSpPr>
            <p:cNvPr id="43030" name="Text Box 64"/>
            <p:cNvSpPr txBox="1">
              <a:spLocks noChangeArrowheads="1"/>
            </p:cNvSpPr>
            <p:nvPr/>
          </p:nvSpPr>
          <p:spPr bwMode="auto">
            <a:xfrm>
              <a:off x="1574800" y="46863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9</a:t>
              </a:r>
              <a:endParaRPr lang="en-US" sz="2000"/>
            </a:p>
          </p:txBody>
        </p:sp>
        <p:sp>
          <p:nvSpPr>
            <p:cNvPr id="43031" name="Text Box 65"/>
            <p:cNvSpPr txBox="1">
              <a:spLocks noChangeArrowheads="1"/>
            </p:cNvSpPr>
            <p:nvPr/>
          </p:nvSpPr>
          <p:spPr bwMode="auto">
            <a:xfrm>
              <a:off x="800100" y="4686300"/>
              <a:ext cx="457200" cy="457200"/>
            </a:xfrm>
            <a:prstGeom prst="rect">
              <a:avLst/>
            </a:prstGeom>
            <a:noFill/>
            <a:ln w="9525">
              <a:noFill/>
              <a:miter lim="800000"/>
              <a:headEnd/>
              <a:tailEnd/>
            </a:ln>
          </p:spPr>
          <p:txBody>
            <a:bodyPr>
              <a:spAutoFit/>
            </a:bodyPr>
            <a:lstStyle/>
            <a:p>
              <a:pPr>
                <a:spcBef>
                  <a:spcPct val="50000"/>
                </a:spcBef>
              </a:pPr>
              <a:r>
                <a:rPr lang="bg-BG">
                  <a:solidFill>
                    <a:schemeClr val="accent2"/>
                  </a:solidFill>
                </a:rPr>
                <a:t>6</a:t>
              </a:r>
              <a:endParaRPr lang="en-US" sz="2000">
                <a:solidFill>
                  <a:schemeClr val="accent2"/>
                </a:solidFill>
              </a:endParaRPr>
            </a:p>
          </p:txBody>
        </p:sp>
        <p:sp>
          <p:nvSpPr>
            <p:cNvPr id="43032" name="Text Box 66"/>
            <p:cNvSpPr txBox="1">
              <a:spLocks noChangeArrowheads="1"/>
            </p:cNvSpPr>
            <p:nvPr/>
          </p:nvSpPr>
          <p:spPr bwMode="auto">
            <a:xfrm>
              <a:off x="8039100" y="3746500"/>
              <a:ext cx="493340" cy="457200"/>
            </a:xfrm>
            <a:prstGeom prst="rect">
              <a:avLst/>
            </a:prstGeom>
            <a:noFill/>
            <a:ln w="9525">
              <a:noFill/>
              <a:miter lim="800000"/>
              <a:headEnd/>
              <a:tailEnd/>
            </a:ln>
          </p:spPr>
          <p:txBody>
            <a:bodyPr wrap="square">
              <a:spAutoFit/>
            </a:bodyPr>
            <a:lstStyle/>
            <a:p>
              <a:pPr>
                <a:spcBef>
                  <a:spcPct val="50000"/>
                </a:spcBef>
              </a:pPr>
              <a:r>
                <a:rPr lang="bg-BG"/>
                <a:t>12</a:t>
              </a:r>
              <a:endParaRPr lang="en-US" sz="20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043608" y="609600"/>
            <a:ext cx="7992888" cy="5943600"/>
          </a:xfrm>
        </p:spPr>
        <p:txBody>
          <a:bodyPr>
            <a:normAutofit fontScale="90000"/>
          </a:bodyPr>
          <a:lstStyle/>
          <a:p>
            <a:pPr eaLnBrk="1" fontAlgn="auto" hangingPunct="1">
              <a:lnSpc>
                <a:spcPct val="90000"/>
              </a:lnSpc>
              <a:spcAft>
                <a:spcPts val="0"/>
              </a:spcAft>
              <a:defRPr/>
            </a:pPr>
            <a:r>
              <a:rPr lang="en-AU" sz="1800" b="1">
                <a:solidFill>
                  <a:schemeClr val="tx1"/>
                </a:solidFill>
                <a:cs typeface="Times New Roman" charset="0"/>
              </a:rPr>
              <a:t>-</a:t>
            </a:r>
            <a:r>
              <a:rPr lang="bg-BG" sz="1800" b="1">
                <a:solidFill>
                  <a:schemeClr val="tx1"/>
                </a:solidFill>
                <a:cs typeface="Times New Roman" charset="0"/>
              </a:rPr>
              <a:t> </a:t>
            </a:r>
            <a:r>
              <a:rPr lang="bg-BG" sz="1800" b="1">
                <a:solidFill>
                  <a:schemeClr val="tx1"/>
                </a:solidFill>
              </a:rPr>
              <a:t>Дясно-лява ротация</a:t>
            </a:r>
            <a:r>
              <a:rPr lang="bg-BG" sz="1800">
                <a:solidFill>
                  <a:schemeClr val="tx1"/>
                </a:solidFill>
              </a:rPr>
              <a:t>. Тази операция е необходима тогава, когато във вече балансираното двоично дърво се добавя елемент към лявото листо на по-високото дясно поддърво, в случая 6 или 9:</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Функция за дясно-лява ротация двоично дърво за търсене</a:t>
            </a:r>
            <a:br>
              <a:rPr lang="bg-BG" sz="1800">
                <a:solidFill>
                  <a:schemeClr val="tx1"/>
                </a:solidFill>
              </a:rPr>
            </a:br>
            <a:r>
              <a:rPr lang="bg-BG" sz="1800">
                <a:solidFill>
                  <a:schemeClr val="tx1"/>
                </a:solidFill>
              </a:rPr>
              <a:t/>
            </a:r>
            <a:br>
              <a:rPr lang="bg-BG" sz="1800">
                <a:solidFill>
                  <a:schemeClr val="tx1"/>
                </a:solidFill>
              </a:rPr>
            </a:br>
            <a:r>
              <a:rPr lang="bg-BG" sz="1800">
                <a:solidFill>
                  <a:schemeClr val="tx1"/>
                </a:solidFill>
              </a:rPr>
              <a:t/>
            </a:r>
            <a:br>
              <a:rPr lang="bg-BG" sz="1800">
                <a:solidFill>
                  <a:schemeClr val="tx1"/>
                </a:solidFill>
              </a:rPr>
            </a:br>
            <a:r>
              <a:rPr lang="en-US" sz="1800">
                <a:solidFill>
                  <a:schemeClr val="tx2">
                    <a:satMod val="130000"/>
                  </a:schemeClr>
                </a:solidFill>
                <a:latin typeface="Courier New" pitchFamily="49" charset="0"/>
              </a:rPr>
              <a:t>void R_L_rot(tree * &amp;p)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tree *q,*s;</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if(p-&gt;bal==1) </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q=p-&gt;right;</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if(q-&gt;bal==-1)	</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s=q-&gt;left;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q-&gt;left=s-&gt;right;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s-&gt;right=q;</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p-&gt;right=s-&gt;left;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s-&gt;left=p;</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if(s-&gt;bal==1) p-&gt;bal=1;</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else p-&gt;bal=0;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if(s-&gt;bal==-1) q-&gt;bal=1;</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else q-&gt;bal=0;</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	</a:t>
            </a: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p=s;</a:t>
            </a:r>
            <a:br>
              <a:rPr lang="en-US"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r>
              <a:rPr lang="bg-BG" sz="1800">
                <a:solidFill>
                  <a:schemeClr val="tx2">
                    <a:satMod val="130000"/>
                  </a:schemeClr>
                </a:solidFill>
                <a:latin typeface="Courier New" pitchFamily="49" charset="0"/>
              </a:rPr>
              <a:t>  </a:t>
            </a:r>
            <a:r>
              <a:rPr lang="en-US" sz="1800">
                <a:solidFill>
                  <a:schemeClr val="tx2">
                    <a:satMod val="130000"/>
                  </a:schemeClr>
                </a:solidFill>
                <a:latin typeface="Courier New" pitchFamily="49" charset="0"/>
              </a:rPr>
              <a:t>}</a:t>
            </a:r>
            <a:br>
              <a:rPr lang="en-US" sz="1800">
                <a:solidFill>
                  <a:schemeClr val="tx2">
                    <a:satMod val="130000"/>
                  </a:schemeClr>
                </a:solidFill>
                <a:latin typeface="Courier New" pitchFamily="49" charset="0"/>
              </a:rPr>
            </a:br>
            <a:r>
              <a:rPr lang="en-US" sz="1800">
                <a:solidFill>
                  <a:schemeClr val="tx2">
                    <a:satMod val="130000"/>
                  </a:schemeClr>
                </a:solidFill>
                <a:latin typeface="Courier New" pitchFamily="49" charset="0"/>
              </a:rPr>
              <a:t>}</a:t>
            </a:r>
            <a:r>
              <a:rPr lang="bg-BG" sz="1800">
                <a:solidFill>
                  <a:schemeClr val="tx2">
                    <a:satMod val="130000"/>
                  </a:schemeClr>
                </a:solidFill>
                <a:latin typeface="Courier New" pitchFamily="49" charset="0"/>
              </a:rPr>
              <a:t/>
            </a:r>
            <a:br>
              <a:rPr lang="bg-BG" sz="1800">
                <a:solidFill>
                  <a:schemeClr val="tx2">
                    <a:satMod val="130000"/>
                  </a:schemeClr>
                </a:solidFill>
                <a:latin typeface="Courier New" pitchFamily="49" charset="0"/>
              </a:rPr>
            </a:br>
            <a:endParaRPr lang="en-US" sz="1600">
              <a:solidFill>
                <a:schemeClr val="tx2">
                  <a:satMod val="130000"/>
                </a:schemeClr>
              </a:solidFill>
              <a:latin typeface="Courier New" pitchFamily="49" charset="0"/>
            </a:endParaRPr>
          </a:p>
        </p:txBody>
      </p:sp>
      <p:grpSp>
        <p:nvGrpSpPr>
          <p:cNvPr id="53" name="Group 52"/>
          <p:cNvGrpSpPr/>
          <p:nvPr/>
        </p:nvGrpSpPr>
        <p:grpSpPr>
          <a:xfrm>
            <a:off x="4067944" y="1628800"/>
            <a:ext cx="5076056" cy="2736304"/>
            <a:chOff x="3733800" y="1628800"/>
            <a:chExt cx="5410200" cy="2734816"/>
          </a:xfrm>
        </p:grpSpPr>
        <p:sp>
          <p:nvSpPr>
            <p:cNvPr id="44038" name="Oval 4"/>
            <p:cNvSpPr>
              <a:spLocks noChangeArrowheads="1"/>
            </p:cNvSpPr>
            <p:nvPr/>
          </p:nvSpPr>
          <p:spPr bwMode="auto">
            <a:xfrm>
              <a:off x="4283882" y="2295721"/>
              <a:ext cx="356149" cy="319817"/>
            </a:xfrm>
            <a:prstGeom prst="ellipse">
              <a:avLst/>
            </a:prstGeom>
            <a:noFill/>
            <a:ln w="12700">
              <a:solidFill>
                <a:srgbClr val="000000"/>
              </a:solidFill>
              <a:round/>
              <a:headEnd/>
              <a:tailEnd/>
            </a:ln>
          </p:spPr>
          <p:txBody>
            <a:bodyPr/>
            <a:lstStyle/>
            <a:p>
              <a:endParaRPr lang="bg-BG"/>
            </a:p>
          </p:txBody>
        </p:sp>
        <p:sp>
          <p:nvSpPr>
            <p:cNvPr id="44039" name="Oval 5"/>
            <p:cNvSpPr>
              <a:spLocks noChangeArrowheads="1"/>
            </p:cNvSpPr>
            <p:nvPr/>
          </p:nvSpPr>
          <p:spPr bwMode="auto">
            <a:xfrm>
              <a:off x="3751018" y="2813881"/>
              <a:ext cx="343462" cy="335001"/>
            </a:xfrm>
            <a:prstGeom prst="ellipse">
              <a:avLst/>
            </a:prstGeom>
            <a:noFill/>
            <a:ln w="12700">
              <a:solidFill>
                <a:srgbClr val="000000"/>
              </a:solidFill>
              <a:round/>
              <a:headEnd/>
              <a:tailEnd/>
            </a:ln>
          </p:spPr>
          <p:txBody>
            <a:bodyPr/>
            <a:lstStyle/>
            <a:p>
              <a:endParaRPr lang="bg-BG"/>
            </a:p>
          </p:txBody>
        </p:sp>
        <p:sp>
          <p:nvSpPr>
            <p:cNvPr id="44040" name="Oval 6"/>
            <p:cNvSpPr>
              <a:spLocks noChangeArrowheads="1"/>
            </p:cNvSpPr>
            <p:nvPr/>
          </p:nvSpPr>
          <p:spPr bwMode="auto">
            <a:xfrm>
              <a:off x="4842121" y="2800595"/>
              <a:ext cx="343462" cy="333103"/>
            </a:xfrm>
            <a:prstGeom prst="ellipse">
              <a:avLst/>
            </a:prstGeom>
            <a:noFill/>
            <a:ln w="12700">
              <a:solidFill>
                <a:srgbClr val="000000"/>
              </a:solidFill>
              <a:round/>
              <a:headEnd/>
              <a:tailEnd/>
            </a:ln>
          </p:spPr>
          <p:txBody>
            <a:bodyPr/>
            <a:lstStyle/>
            <a:p>
              <a:endParaRPr lang="bg-BG"/>
            </a:p>
          </p:txBody>
        </p:sp>
        <p:sp>
          <p:nvSpPr>
            <p:cNvPr id="44041" name="Oval 7"/>
            <p:cNvSpPr>
              <a:spLocks noChangeArrowheads="1"/>
            </p:cNvSpPr>
            <p:nvPr/>
          </p:nvSpPr>
          <p:spPr bwMode="auto">
            <a:xfrm>
              <a:off x="5257175" y="3597764"/>
              <a:ext cx="343462" cy="319817"/>
            </a:xfrm>
            <a:prstGeom prst="ellipse">
              <a:avLst/>
            </a:prstGeom>
            <a:noFill/>
            <a:ln w="12700">
              <a:solidFill>
                <a:srgbClr val="000000"/>
              </a:solidFill>
              <a:round/>
              <a:headEnd/>
              <a:tailEnd/>
            </a:ln>
          </p:spPr>
          <p:txBody>
            <a:bodyPr/>
            <a:lstStyle/>
            <a:p>
              <a:endParaRPr lang="bg-BG"/>
            </a:p>
          </p:txBody>
        </p:sp>
        <p:sp>
          <p:nvSpPr>
            <p:cNvPr id="44042" name="Line 8"/>
            <p:cNvSpPr>
              <a:spLocks noChangeShapeType="1"/>
            </p:cNvSpPr>
            <p:nvPr/>
          </p:nvSpPr>
          <p:spPr bwMode="auto">
            <a:xfrm flipH="1">
              <a:off x="4017450" y="2588016"/>
              <a:ext cx="318087" cy="266672"/>
            </a:xfrm>
            <a:prstGeom prst="line">
              <a:avLst/>
            </a:prstGeom>
            <a:noFill/>
            <a:ln w="12700">
              <a:solidFill>
                <a:srgbClr val="000000"/>
              </a:solidFill>
              <a:round/>
              <a:headEnd type="none" w="sm" len="sm"/>
              <a:tailEnd type="triangle" w="sm" len="med"/>
            </a:ln>
          </p:spPr>
          <p:txBody>
            <a:bodyPr/>
            <a:lstStyle/>
            <a:p>
              <a:endParaRPr lang="bg-BG"/>
            </a:p>
          </p:txBody>
        </p:sp>
        <p:sp>
          <p:nvSpPr>
            <p:cNvPr id="44043" name="Line 9"/>
            <p:cNvSpPr>
              <a:spLocks noChangeShapeType="1"/>
            </p:cNvSpPr>
            <p:nvPr/>
          </p:nvSpPr>
          <p:spPr bwMode="auto">
            <a:xfrm>
              <a:off x="4563002" y="2601303"/>
              <a:ext cx="318087" cy="253386"/>
            </a:xfrm>
            <a:prstGeom prst="line">
              <a:avLst/>
            </a:prstGeom>
            <a:noFill/>
            <a:ln w="12700">
              <a:solidFill>
                <a:srgbClr val="000000"/>
              </a:solidFill>
              <a:round/>
              <a:headEnd type="none" w="sm" len="sm"/>
              <a:tailEnd type="triangle" w="sm" len="med"/>
            </a:ln>
          </p:spPr>
          <p:txBody>
            <a:bodyPr/>
            <a:lstStyle/>
            <a:p>
              <a:endParaRPr lang="bg-BG"/>
            </a:p>
          </p:txBody>
        </p:sp>
        <p:sp>
          <p:nvSpPr>
            <p:cNvPr id="44044" name="Line 10"/>
            <p:cNvSpPr>
              <a:spLocks noChangeShapeType="1"/>
            </p:cNvSpPr>
            <p:nvPr/>
          </p:nvSpPr>
          <p:spPr bwMode="auto">
            <a:xfrm>
              <a:off x="5108553" y="3118514"/>
              <a:ext cx="254651" cy="479251"/>
            </a:xfrm>
            <a:prstGeom prst="line">
              <a:avLst/>
            </a:prstGeom>
            <a:noFill/>
            <a:ln w="12700">
              <a:solidFill>
                <a:srgbClr val="000000"/>
              </a:solidFill>
              <a:round/>
              <a:headEnd type="none" w="sm" len="sm"/>
              <a:tailEnd type="triangle" w="sm" len="med"/>
            </a:ln>
          </p:spPr>
          <p:txBody>
            <a:bodyPr/>
            <a:lstStyle/>
            <a:p>
              <a:endParaRPr lang="bg-BG"/>
            </a:p>
          </p:txBody>
        </p:sp>
        <p:sp>
          <p:nvSpPr>
            <p:cNvPr id="44045" name="Oval 11"/>
            <p:cNvSpPr>
              <a:spLocks noChangeArrowheads="1"/>
            </p:cNvSpPr>
            <p:nvPr/>
          </p:nvSpPr>
          <p:spPr bwMode="auto">
            <a:xfrm>
              <a:off x="4563002" y="3592070"/>
              <a:ext cx="343462" cy="333103"/>
            </a:xfrm>
            <a:prstGeom prst="ellipse">
              <a:avLst/>
            </a:prstGeom>
            <a:noFill/>
            <a:ln w="12700">
              <a:solidFill>
                <a:srgbClr val="000000"/>
              </a:solidFill>
              <a:round/>
              <a:headEnd/>
              <a:tailEnd/>
            </a:ln>
          </p:spPr>
          <p:txBody>
            <a:bodyPr/>
            <a:lstStyle/>
            <a:p>
              <a:endParaRPr lang="bg-BG"/>
            </a:p>
          </p:txBody>
        </p:sp>
        <p:sp>
          <p:nvSpPr>
            <p:cNvPr id="44046" name="Line 12"/>
            <p:cNvSpPr>
              <a:spLocks noChangeShapeType="1"/>
            </p:cNvSpPr>
            <p:nvPr/>
          </p:nvSpPr>
          <p:spPr bwMode="auto">
            <a:xfrm flipH="1">
              <a:off x="4740623" y="3131800"/>
              <a:ext cx="203902" cy="452678"/>
            </a:xfrm>
            <a:prstGeom prst="line">
              <a:avLst/>
            </a:prstGeom>
            <a:noFill/>
            <a:ln w="12700">
              <a:solidFill>
                <a:srgbClr val="000000"/>
              </a:solidFill>
              <a:round/>
              <a:headEnd type="none" w="sm" len="sm"/>
              <a:tailEnd type="triangle" w="sm" len="med"/>
            </a:ln>
          </p:spPr>
          <p:txBody>
            <a:bodyPr/>
            <a:lstStyle/>
            <a:p>
              <a:endParaRPr lang="bg-BG"/>
            </a:p>
          </p:txBody>
        </p:sp>
        <p:sp>
          <p:nvSpPr>
            <p:cNvPr id="44047" name="Oval 13"/>
            <p:cNvSpPr>
              <a:spLocks noChangeArrowheads="1"/>
            </p:cNvSpPr>
            <p:nvPr/>
          </p:nvSpPr>
          <p:spPr bwMode="auto">
            <a:xfrm>
              <a:off x="7735717" y="2084092"/>
              <a:ext cx="343462" cy="319817"/>
            </a:xfrm>
            <a:prstGeom prst="ellipse">
              <a:avLst/>
            </a:prstGeom>
            <a:noFill/>
            <a:ln w="12700">
              <a:solidFill>
                <a:srgbClr val="000000"/>
              </a:solidFill>
              <a:round/>
              <a:headEnd/>
              <a:tailEnd/>
            </a:ln>
          </p:spPr>
          <p:txBody>
            <a:bodyPr/>
            <a:lstStyle/>
            <a:p>
              <a:endParaRPr lang="bg-BG"/>
            </a:p>
          </p:txBody>
        </p:sp>
        <p:sp>
          <p:nvSpPr>
            <p:cNvPr id="44048" name="Oval 14"/>
            <p:cNvSpPr>
              <a:spLocks noChangeArrowheads="1"/>
            </p:cNvSpPr>
            <p:nvPr/>
          </p:nvSpPr>
          <p:spPr bwMode="auto">
            <a:xfrm>
              <a:off x="7190166" y="2615538"/>
              <a:ext cx="343462" cy="335001"/>
            </a:xfrm>
            <a:prstGeom prst="ellipse">
              <a:avLst/>
            </a:prstGeom>
            <a:noFill/>
            <a:ln w="12700">
              <a:solidFill>
                <a:srgbClr val="000000"/>
              </a:solidFill>
              <a:round/>
              <a:headEnd/>
              <a:tailEnd/>
            </a:ln>
          </p:spPr>
          <p:txBody>
            <a:bodyPr/>
            <a:lstStyle/>
            <a:p>
              <a:endParaRPr lang="bg-BG"/>
            </a:p>
          </p:txBody>
        </p:sp>
        <p:sp>
          <p:nvSpPr>
            <p:cNvPr id="44049" name="Oval 15"/>
            <p:cNvSpPr>
              <a:spLocks noChangeArrowheads="1"/>
            </p:cNvSpPr>
            <p:nvPr/>
          </p:nvSpPr>
          <p:spPr bwMode="auto">
            <a:xfrm>
              <a:off x="8306642" y="2615538"/>
              <a:ext cx="343462" cy="333103"/>
            </a:xfrm>
            <a:prstGeom prst="ellipse">
              <a:avLst/>
            </a:prstGeom>
            <a:noFill/>
            <a:ln w="12700">
              <a:solidFill>
                <a:srgbClr val="000000"/>
              </a:solidFill>
              <a:round/>
              <a:headEnd/>
              <a:tailEnd/>
            </a:ln>
          </p:spPr>
          <p:txBody>
            <a:bodyPr/>
            <a:lstStyle/>
            <a:p>
              <a:endParaRPr lang="bg-BG"/>
            </a:p>
          </p:txBody>
        </p:sp>
        <p:sp>
          <p:nvSpPr>
            <p:cNvPr id="44050" name="Oval 16"/>
            <p:cNvSpPr>
              <a:spLocks noChangeArrowheads="1"/>
            </p:cNvSpPr>
            <p:nvPr/>
          </p:nvSpPr>
          <p:spPr bwMode="auto">
            <a:xfrm>
              <a:off x="6733425" y="3156474"/>
              <a:ext cx="343462" cy="319817"/>
            </a:xfrm>
            <a:prstGeom prst="ellipse">
              <a:avLst/>
            </a:prstGeom>
            <a:noFill/>
            <a:ln w="12700">
              <a:solidFill>
                <a:srgbClr val="000000"/>
              </a:solidFill>
              <a:round/>
              <a:headEnd/>
              <a:tailEnd/>
            </a:ln>
          </p:spPr>
          <p:txBody>
            <a:bodyPr/>
            <a:lstStyle/>
            <a:p>
              <a:endParaRPr lang="bg-BG"/>
            </a:p>
          </p:txBody>
        </p:sp>
        <p:sp>
          <p:nvSpPr>
            <p:cNvPr id="44051" name="Oval 17"/>
            <p:cNvSpPr>
              <a:spLocks noChangeArrowheads="1"/>
            </p:cNvSpPr>
            <p:nvPr/>
          </p:nvSpPr>
          <p:spPr bwMode="auto">
            <a:xfrm>
              <a:off x="8725321" y="3194434"/>
              <a:ext cx="343462" cy="319817"/>
            </a:xfrm>
            <a:prstGeom prst="ellipse">
              <a:avLst/>
            </a:prstGeom>
            <a:noFill/>
            <a:ln w="12700">
              <a:solidFill>
                <a:srgbClr val="000000"/>
              </a:solidFill>
              <a:round/>
              <a:headEnd/>
              <a:tailEnd/>
            </a:ln>
          </p:spPr>
          <p:txBody>
            <a:bodyPr/>
            <a:lstStyle/>
            <a:p>
              <a:endParaRPr lang="bg-BG"/>
            </a:p>
          </p:txBody>
        </p:sp>
        <p:sp>
          <p:nvSpPr>
            <p:cNvPr id="44052" name="Line 18"/>
            <p:cNvSpPr>
              <a:spLocks noChangeShapeType="1"/>
            </p:cNvSpPr>
            <p:nvPr/>
          </p:nvSpPr>
          <p:spPr bwMode="auto">
            <a:xfrm flipH="1">
              <a:off x="7469285" y="2376387"/>
              <a:ext cx="318087" cy="266672"/>
            </a:xfrm>
            <a:prstGeom prst="line">
              <a:avLst/>
            </a:prstGeom>
            <a:noFill/>
            <a:ln w="12700">
              <a:solidFill>
                <a:srgbClr val="000000"/>
              </a:solidFill>
              <a:round/>
              <a:headEnd type="none" w="sm" len="sm"/>
              <a:tailEnd type="triangle" w="sm" len="med"/>
            </a:ln>
          </p:spPr>
          <p:txBody>
            <a:bodyPr/>
            <a:lstStyle/>
            <a:p>
              <a:endParaRPr lang="bg-BG"/>
            </a:p>
          </p:txBody>
        </p:sp>
        <p:sp>
          <p:nvSpPr>
            <p:cNvPr id="44053" name="Line 19"/>
            <p:cNvSpPr>
              <a:spLocks noChangeShapeType="1"/>
            </p:cNvSpPr>
            <p:nvPr/>
          </p:nvSpPr>
          <p:spPr bwMode="auto">
            <a:xfrm>
              <a:off x="8027523" y="2363101"/>
              <a:ext cx="356149" cy="279958"/>
            </a:xfrm>
            <a:prstGeom prst="line">
              <a:avLst/>
            </a:prstGeom>
            <a:noFill/>
            <a:ln w="12700">
              <a:solidFill>
                <a:srgbClr val="000000"/>
              </a:solidFill>
              <a:round/>
              <a:headEnd type="none" w="sm" len="sm"/>
              <a:tailEnd type="triangle" w="sm" len="med"/>
            </a:ln>
          </p:spPr>
          <p:txBody>
            <a:bodyPr/>
            <a:lstStyle/>
            <a:p>
              <a:endParaRPr lang="bg-BG"/>
            </a:p>
          </p:txBody>
        </p:sp>
        <p:sp>
          <p:nvSpPr>
            <p:cNvPr id="44054" name="Line 20"/>
            <p:cNvSpPr>
              <a:spLocks noChangeShapeType="1"/>
            </p:cNvSpPr>
            <p:nvPr/>
          </p:nvSpPr>
          <p:spPr bwMode="auto">
            <a:xfrm flipH="1">
              <a:off x="7005294" y="2908782"/>
              <a:ext cx="216589" cy="266672"/>
            </a:xfrm>
            <a:prstGeom prst="line">
              <a:avLst/>
            </a:prstGeom>
            <a:noFill/>
            <a:ln w="12700">
              <a:solidFill>
                <a:srgbClr val="000000"/>
              </a:solidFill>
              <a:round/>
              <a:headEnd type="none" w="sm" len="sm"/>
              <a:tailEnd type="triangle" w="sm" len="med"/>
            </a:ln>
          </p:spPr>
          <p:txBody>
            <a:bodyPr/>
            <a:lstStyle/>
            <a:p>
              <a:endParaRPr lang="bg-BG"/>
            </a:p>
          </p:txBody>
        </p:sp>
        <p:sp>
          <p:nvSpPr>
            <p:cNvPr id="44055" name="Line 21"/>
            <p:cNvSpPr>
              <a:spLocks noChangeShapeType="1"/>
            </p:cNvSpPr>
            <p:nvPr/>
          </p:nvSpPr>
          <p:spPr bwMode="auto">
            <a:xfrm>
              <a:off x="8632886" y="2870822"/>
              <a:ext cx="203902" cy="319817"/>
            </a:xfrm>
            <a:prstGeom prst="line">
              <a:avLst/>
            </a:prstGeom>
            <a:noFill/>
            <a:ln w="12700">
              <a:solidFill>
                <a:srgbClr val="000000"/>
              </a:solidFill>
              <a:round/>
              <a:headEnd type="none" w="sm" len="sm"/>
              <a:tailEnd type="triangle" w="sm" len="med"/>
            </a:ln>
          </p:spPr>
          <p:txBody>
            <a:bodyPr/>
            <a:lstStyle/>
            <a:p>
              <a:endParaRPr lang="bg-BG"/>
            </a:p>
          </p:txBody>
        </p:sp>
        <p:sp>
          <p:nvSpPr>
            <p:cNvPr id="44056" name="Oval 22"/>
            <p:cNvSpPr>
              <a:spLocks noChangeArrowheads="1"/>
            </p:cNvSpPr>
            <p:nvPr/>
          </p:nvSpPr>
          <p:spPr bwMode="auto">
            <a:xfrm>
              <a:off x="8060148" y="3217211"/>
              <a:ext cx="343462" cy="333103"/>
            </a:xfrm>
            <a:prstGeom prst="ellipse">
              <a:avLst/>
            </a:prstGeom>
            <a:noFill/>
            <a:ln w="12700">
              <a:solidFill>
                <a:srgbClr val="000000"/>
              </a:solidFill>
              <a:round/>
              <a:headEnd/>
              <a:tailEnd/>
            </a:ln>
          </p:spPr>
          <p:txBody>
            <a:bodyPr/>
            <a:lstStyle/>
            <a:p>
              <a:endParaRPr lang="bg-BG"/>
            </a:p>
          </p:txBody>
        </p:sp>
        <p:sp>
          <p:nvSpPr>
            <p:cNvPr id="44057" name="Line 23"/>
            <p:cNvSpPr>
              <a:spLocks noChangeShapeType="1"/>
            </p:cNvSpPr>
            <p:nvPr/>
          </p:nvSpPr>
          <p:spPr bwMode="auto">
            <a:xfrm flipH="1">
              <a:off x="8268581" y="2906884"/>
              <a:ext cx="115091" cy="307480"/>
            </a:xfrm>
            <a:prstGeom prst="line">
              <a:avLst/>
            </a:prstGeom>
            <a:noFill/>
            <a:ln w="12700">
              <a:solidFill>
                <a:srgbClr val="000000"/>
              </a:solidFill>
              <a:round/>
              <a:headEnd type="none" w="sm" len="sm"/>
              <a:tailEnd type="triangle" w="sm" len="med"/>
            </a:ln>
          </p:spPr>
          <p:txBody>
            <a:bodyPr/>
            <a:lstStyle/>
            <a:p>
              <a:endParaRPr lang="bg-BG"/>
            </a:p>
          </p:txBody>
        </p:sp>
        <p:sp>
          <p:nvSpPr>
            <p:cNvPr id="44058" name="Line 24"/>
            <p:cNvSpPr>
              <a:spLocks noChangeShapeType="1"/>
            </p:cNvSpPr>
            <p:nvPr/>
          </p:nvSpPr>
          <p:spPr bwMode="auto">
            <a:xfrm>
              <a:off x="4445191" y="2027151"/>
              <a:ext cx="906" cy="268570"/>
            </a:xfrm>
            <a:prstGeom prst="line">
              <a:avLst/>
            </a:prstGeom>
            <a:noFill/>
            <a:ln w="12700">
              <a:solidFill>
                <a:srgbClr val="000000"/>
              </a:solidFill>
              <a:round/>
              <a:headEnd type="none" w="sm" len="sm"/>
              <a:tailEnd type="triangle" w="sm" len="med"/>
            </a:ln>
          </p:spPr>
          <p:txBody>
            <a:bodyPr/>
            <a:lstStyle/>
            <a:p>
              <a:endParaRPr lang="bg-BG"/>
            </a:p>
          </p:txBody>
        </p:sp>
        <p:sp>
          <p:nvSpPr>
            <p:cNvPr id="44059" name="Line 25"/>
            <p:cNvSpPr>
              <a:spLocks noChangeShapeType="1"/>
            </p:cNvSpPr>
            <p:nvPr/>
          </p:nvSpPr>
          <p:spPr bwMode="auto">
            <a:xfrm>
              <a:off x="5007055" y="2538668"/>
              <a:ext cx="906" cy="268570"/>
            </a:xfrm>
            <a:prstGeom prst="line">
              <a:avLst/>
            </a:prstGeom>
            <a:noFill/>
            <a:ln w="12700">
              <a:solidFill>
                <a:srgbClr val="000000"/>
              </a:solidFill>
              <a:round/>
              <a:headEnd type="none" w="sm" len="sm"/>
              <a:tailEnd type="triangle" w="sm" len="med"/>
            </a:ln>
          </p:spPr>
          <p:txBody>
            <a:bodyPr/>
            <a:lstStyle/>
            <a:p>
              <a:endParaRPr lang="bg-BG"/>
            </a:p>
          </p:txBody>
        </p:sp>
        <p:sp>
          <p:nvSpPr>
            <p:cNvPr id="44060" name="Oval 26"/>
            <p:cNvSpPr>
              <a:spLocks noChangeArrowheads="1"/>
            </p:cNvSpPr>
            <p:nvPr/>
          </p:nvSpPr>
          <p:spPr bwMode="auto">
            <a:xfrm>
              <a:off x="4031950" y="4030513"/>
              <a:ext cx="343462" cy="333103"/>
            </a:xfrm>
            <a:prstGeom prst="ellipse">
              <a:avLst/>
            </a:prstGeom>
            <a:noFill/>
            <a:ln w="12700">
              <a:solidFill>
                <a:srgbClr val="000000"/>
              </a:solidFill>
              <a:prstDash val="sysDot"/>
              <a:round/>
              <a:headEnd/>
              <a:tailEnd/>
            </a:ln>
          </p:spPr>
          <p:txBody>
            <a:bodyPr/>
            <a:lstStyle/>
            <a:p>
              <a:endParaRPr lang="bg-BG"/>
            </a:p>
          </p:txBody>
        </p:sp>
        <p:sp>
          <p:nvSpPr>
            <p:cNvPr id="44061" name="Oval 27"/>
            <p:cNvSpPr>
              <a:spLocks noChangeArrowheads="1"/>
            </p:cNvSpPr>
            <p:nvPr/>
          </p:nvSpPr>
          <p:spPr bwMode="auto">
            <a:xfrm>
              <a:off x="5029711" y="3973572"/>
              <a:ext cx="343462" cy="333103"/>
            </a:xfrm>
            <a:prstGeom prst="ellipse">
              <a:avLst/>
            </a:prstGeom>
            <a:noFill/>
            <a:ln w="12700">
              <a:solidFill>
                <a:srgbClr val="000000"/>
              </a:solidFill>
              <a:prstDash val="sysDot"/>
              <a:round/>
              <a:headEnd/>
              <a:tailEnd/>
            </a:ln>
          </p:spPr>
          <p:txBody>
            <a:bodyPr/>
            <a:lstStyle/>
            <a:p>
              <a:endParaRPr lang="bg-BG"/>
            </a:p>
          </p:txBody>
        </p:sp>
        <p:sp>
          <p:nvSpPr>
            <p:cNvPr id="44062" name="Line 28"/>
            <p:cNvSpPr>
              <a:spLocks noChangeShapeType="1"/>
            </p:cNvSpPr>
            <p:nvPr/>
          </p:nvSpPr>
          <p:spPr bwMode="auto">
            <a:xfrm flipH="1">
              <a:off x="4333725" y="3831221"/>
              <a:ext cx="241964" cy="266672"/>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44063" name="Line 29"/>
            <p:cNvSpPr>
              <a:spLocks noChangeShapeType="1"/>
            </p:cNvSpPr>
            <p:nvPr/>
          </p:nvSpPr>
          <p:spPr bwMode="auto">
            <a:xfrm>
              <a:off x="4901932" y="3832170"/>
              <a:ext cx="191215" cy="200241"/>
            </a:xfrm>
            <a:prstGeom prst="line">
              <a:avLst/>
            </a:prstGeom>
            <a:noFill/>
            <a:ln w="12700">
              <a:solidFill>
                <a:srgbClr val="000000"/>
              </a:solidFill>
              <a:prstDash val="sysDot"/>
              <a:round/>
              <a:headEnd type="none" w="sm" len="sm"/>
              <a:tailEnd type="none" w="sm" len="sm"/>
            </a:ln>
          </p:spPr>
          <p:txBody>
            <a:bodyPr/>
            <a:lstStyle/>
            <a:p>
              <a:endParaRPr lang="bg-BG"/>
            </a:p>
          </p:txBody>
        </p:sp>
        <p:sp>
          <p:nvSpPr>
            <p:cNvPr id="44064" name="Line 30"/>
            <p:cNvSpPr>
              <a:spLocks noChangeShapeType="1"/>
            </p:cNvSpPr>
            <p:nvPr/>
          </p:nvSpPr>
          <p:spPr bwMode="auto">
            <a:xfrm>
              <a:off x="4707998" y="3309265"/>
              <a:ext cx="906" cy="268570"/>
            </a:xfrm>
            <a:prstGeom prst="line">
              <a:avLst/>
            </a:prstGeom>
            <a:noFill/>
            <a:ln w="12700">
              <a:solidFill>
                <a:srgbClr val="000000"/>
              </a:solidFill>
              <a:round/>
              <a:headEnd type="none" w="sm" len="sm"/>
              <a:tailEnd type="triangle" w="sm" len="med"/>
            </a:ln>
          </p:spPr>
          <p:txBody>
            <a:bodyPr/>
            <a:lstStyle/>
            <a:p>
              <a:endParaRPr lang="bg-BG"/>
            </a:p>
          </p:txBody>
        </p:sp>
        <p:sp>
          <p:nvSpPr>
            <p:cNvPr id="44065" name="Oval 31"/>
            <p:cNvSpPr>
              <a:spLocks noChangeArrowheads="1"/>
            </p:cNvSpPr>
            <p:nvPr/>
          </p:nvSpPr>
          <p:spPr bwMode="auto">
            <a:xfrm>
              <a:off x="7433036" y="3169760"/>
              <a:ext cx="343462" cy="335001"/>
            </a:xfrm>
            <a:prstGeom prst="ellipse">
              <a:avLst/>
            </a:prstGeom>
            <a:noFill/>
            <a:ln w="12700">
              <a:solidFill>
                <a:srgbClr val="000000"/>
              </a:solidFill>
              <a:round/>
              <a:headEnd/>
              <a:tailEnd/>
            </a:ln>
          </p:spPr>
          <p:txBody>
            <a:bodyPr/>
            <a:lstStyle/>
            <a:p>
              <a:endParaRPr lang="bg-BG"/>
            </a:p>
          </p:txBody>
        </p:sp>
        <p:sp>
          <p:nvSpPr>
            <p:cNvPr id="44066" name="Line 32"/>
            <p:cNvSpPr>
              <a:spLocks noChangeShapeType="1"/>
            </p:cNvSpPr>
            <p:nvPr/>
          </p:nvSpPr>
          <p:spPr bwMode="auto">
            <a:xfrm>
              <a:off x="7421255" y="2934405"/>
              <a:ext cx="140466" cy="226814"/>
            </a:xfrm>
            <a:prstGeom prst="line">
              <a:avLst/>
            </a:prstGeom>
            <a:noFill/>
            <a:ln w="12700">
              <a:solidFill>
                <a:srgbClr val="000000"/>
              </a:solidFill>
              <a:round/>
              <a:headEnd type="none" w="sm" len="sm"/>
              <a:tailEnd type="triangle" w="sm" len="med"/>
            </a:ln>
          </p:spPr>
          <p:txBody>
            <a:bodyPr/>
            <a:lstStyle/>
            <a:p>
              <a:endParaRPr lang="bg-BG"/>
            </a:p>
          </p:txBody>
        </p:sp>
        <p:sp>
          <p:nvSpPr>
            <p:cNvPr id="44067" name="Text Box 33"/>
            <p:cNvSpPr txBox="1">
              <a:spLocks noChangeArrowheads="1"/>
            </p:cNvSpPr>
            <p:nvPr/>
          </p:nvSpPr>
          <p:spPr bwMode="auto">
            <a:xfrm>
              <a:off x="4549408" y="3594917"/>
              <a:ext cx="489365" cy="341644"/>
            </a:xfrm>
            <a:prstGeom prst="rect">
              <a:avLst/>
            </a:prstGeom>
            <a:noFill/>
            <a:ln w="9525">
              <a:noFill/>
              <a:miter lim="800000"/>
              <a:headEnd/>
              <a:tailEnd/>
            </a:ln>
          </p:spPr>
          <p:txBody>
            <a:bodyPr/>
            <a:lstStyle/>
            <a:p>
              <a:r>
                <a:rPr lang="bg-BG" sz="1400" b="1" noProof="1">
                  <a:latin typeface="Courier New" pitchFamily="49" charset="0"/>
                </a:rPr>
                <a:t>8</a:t>
              </a:r>
              <a:endParaRPr lang="bg-BG" sz="1000">
                <a:latin typeface="Courier New" pitchFamily="49" charset="0"/>
              </a:endParaRPr>
            </a:p>
          </p:txBody>
        </p:sp>
        <p:sp>
          <p:nvSpPr>
            <p:cNvPr id="44068" name="Text Box 34"/>
            <p:cNvSpPr txBox="1">
              <a:spLocks noChangeArrowheads="1"/>
            </p:cNvSpPr>
            <p:nvPr/>
          </p:nvSpPr>
          <p:spPr bwMode="auto">
            <a:xfrm>
              <a:off x="4140698" y="1772816"/>
              <a:ext cx="489365" cy="341644"/>
            </a:xfrm>
            <a:prstGeom prst="rect">
              <a:avLst/>
            </a:prstGeom>
            <a:noFill/>
            <a:ln w="9525">
              <a:noFill/>
              <a:miter lim="800000"/>
              <a:headEnd/>
              <a:tailEnd/>
            </a:ln>
          </p:spPr>
          <p:txBody>
            <a:bodyPr/>
            <a:lstStyle/>
            <a:p>
              <a:r>
                <a:rPr lang="bg-BG" sz="1400" b="1">
                  <a:latin typeface="Courier New" pitchFamily="49" charset="0"/>
                </a:rPr>
                <a:t> </a:t>
              </a:r>
              <a:r>
                <a:rPr lang="en-US" sz="1400" b="1" noProof="1">
                  <a:latin typeface="Courier New" pitchFamily="49" charset="0"/>
                </a:rPr>
                <a:t>p</a:t>
              </a:r>
              <a:endParaRPr lang="bg-BG" sz="1000">
                <a:latin typeface="Courier New" pitchFamily="49" charset="0"/>
              </a:endParaRPr>
            </a:p>
          </p:txBody>
        </p:sp>
        <p:sp>
          <p:nvSpPr>
            <p:cNvPr id="44069" name="Text Box 35"/>
            <p:cNvSpPr txBox="1">
              <a:spLocks noChangeArrowheads="1"/>
            </p:cNvSpPr>
            <p:nvPr/>
          </p:nvSpPr>
          <p:spPr bwMode="auto">
            <a:xfrm>
              <a:off x="4892870" y="2237831"/>
              <a:ext cx="489365" cy="341644"/>
            </a:xfrm>
            <a:prstGeom prst="rect">
              <a:avLst/>
            </a:prstGeom>
            <a:noFill/>
            <a:ln w="9525">
              <a:noFill/>
              <a:miter lim="800000"/>
              <a:headEnd/>
              <a:tailEnd/>
            </a:ln>
          </p:spPr>
          <p:txBody>
            <a:bodyPr/>
            <a:lstStyle/>
            <a:p>
              <a:r>
                <a:rPr lang="en-US" sz="1400" b="1" noProof="1">
                  <a:latin typeface="Courier New" pitchFamily="49" charset="0"/>
                </a:rPr>
                <a:t>q</a:t>
              </a:r>
              <a:endParaRPr lang="bg-BG" sz="1000">
                <a:latin typeface="Courier New" pitchFamily="49" charset="0"/>
              </a:endParaRPr>
            </a:p>
          </p:txBody>
        </p:sp>
        <p:sp>
          <p:nvSpPr>
            <p:cNvPr id="44070" name="Text Box 36"/>
            <p:cNvSpPr txBox="1">
              <a:spLocks noChangeArrowheads="1"/>
            </p:cNvSpPr>
            <p:nvPr/>
          </p:nvSpPr>
          <p:spPr bwMode="auto">
            <a:xfrm>
              <a:off x="4403505" y="3053981"/>
              <a:ext cx="489365" cy="341644"/>
            </a:xfrm>
            <a:prstGeom prst="rect">
              <a:avLst/>
            </a:prstGeom>
            <a:noFill/>
            <a:ln w="9525">
              <a:noFill/>
              <a:miter lim="800000"/>
              <a:headEnd/>
              <a:tailEnd/>
            </a:ln>
          </p:spPr>
          <p:txBody>
            <a:bodyPr/>
            <a:lstStyle/>
            <a:p>
              <a:r>
                <a:rPr lang="en-US" sz="1600" b="1" noProof="1">
                  <a:latin typeface="Courier New" pitchFamily="49" charset="0"/>
                </a:rPr>
                <a:t>s</a:t>
              </a:r>
              <a:endParaRPr lang="bg-BG" sz="1000">
                <a:latin typeface="Courier New" pitchFamily="49" charset="0"/>
              </a:endParaRPr>
            </a:p>
          </p:txBody>
        </p:sp>
        <p:sp>
          <p:nvSpPr>
            <p:cNvPr id="44071" name="Text Box 37"/>
            <p:cNvSpPr txBox="1">
              <a:spLocks noChangeArrowheads="1"/>
            </p:cNvSpPr>
            <p:nvPr/>
          </p:nvSpPr>
          <p:spPr bwMode="auto">
            <a:xfrm>
              <a:off x="8237769" y="2607946"/>
              <a:ext cx="489365" cy="341644"/>
            </a:xfrm>
            <a:prstGeom prst="rect">
              <a:avLst/>
            </a:prstGeom>
            <a:noFill/>
            <a:ln w="9525">
              <a:noFill/>
              <a:miter lim="800000"/>
              <a:headEnd/>
              <a:tailEnd/>
            </a:ln>
          </p:spPr>
          <p:txBody>
            <a:bodyPr/>
            <a:lstStyle/>
            <a:p>
              <a:r>
                <a:rPr lang="bg-BG" sz="1400" b="1" noProof="1">
                  <a:latin typeface="Courier New" pitchFamily="49" charset="0"/>
                </a:rPr>
                <a:t>10</a:t>
              </a:r>
              <a:endParaRPr lang="bg-BG" sz="1000">
                <a:latin typeface="Courier New" pitchFamily="49" charset="0"/>
              </a:endParaRPr>
            </a:p>
          </p:txBody>
        </p:sp>
        <p:sp>
          <p:nvSpPr>
            <p:cNvPr id="44072" name="Text Box 38"/>
            <p:cNvSpPr txBox="1">
              <a:spLocks noChangeArrowheads="1"/>
            </p:cNvSpPr>
            <p:nvPr/>
          </p:nvSpPr>
          <p:spPr bwMode="auto">
            <a:xfrm>
              <a:off x="4766904" y="2797748"/>
              <a:ext cx="489365" cy="341644"/>
            </a:xfrm>
            <a:prstGeom prst="rect">
              <a:avLst/>
            </a:prstGeom>
            <a:noFill/>
            <a:ln w="9525">
              <a:noFill/>
              <a:miter lim="800000"/>
              <a:headEnd/>
              <a:tailEnd/>
            </a:ln>
          </p:spPr>
          <p:txBody>
            <a:bodyPr/>
            <a:lstStyle/>
            <a:p>
              <a:r>
                <a:rPr lang="bg-BG" sz="1400" b="1" noProof="1">
                  <a:latin typeface="Courier New" pitchFamily="49" charset="0"/>
                </a:rPr>
                <a:t>10</a:t>
              </a:r>
              <a:endParaRPr lang="bg-BG" sz="1000">
                <a:latin typeface="Courier New" pitchFamily="49" charset="0"/>
              </a:endParaRPr>
            </a:p>
          </p:txBody>
        </p:sp>
        <p:sp>
          <p:nvSpPr>
            <p:cNvPr id="44073" name="Text Box 39"/>
            <p:cNvSpPr txBox="1">
              <a:spLocks noChangeArrowheads="1"/>
            </p:cNvSpPr>
            <p:nvPr/>
          </p:nvSpPr>
          <p:spPr bwMode="auto">
            <a:xfrm>
              <a:off x="8654635" y="3177352"/>
              <a:ext cx="489365" cy="341644"/>
            </a:xfrm>
            <a:prstGeom prst="rect">
              <a:avLst/>
            </a:prstGeom>
            <a:noFill/>
            <a:ln w="9525">
              <a:noFill/>
              <a:miter lim="800000"/>
              <a:headEnd/>
              <a:tailEnd/>
            </a:ln>
          </p:spPr>
          <p:txBody>
            <a:bodyPr/>
            <a:lstStyle/>
            <a:p>
              <a:r>
                <a:rPr lang="bg-BG" sz="1400" b="1" noProof="1">
                  <a:latin typeface="Courier New" pitchFamily="49" charset="0"/>
                </a:rPr>
                <a:t>12</a:t>
              </a:r>
              <a:endParaRPr lang="bg-BG" sz="1000">
                <a:latin typeface="Courier New" pitchFamily="49" charset="0"/>
              </a:endParaRPr>
            </a:p>
          </p:txBody>
        </p:sp>
        <p:sp>
          <p:nvSpPr>
            <p:cNvPr id="44074" name="Text Box 40"/>
            <p:cNvSpPr txBox="1">
              <a:spLocks noChangeArrowheads="1"/>
            </p:cNvSpPr>
            <p:nvPr/>
          </p:nvSpPr>
          <p:spPr bwMode="auto">
            <a:xfrm>
              <a:off x="5183770" y="3585427"/>
              <a:ext cx="489365" cy="341644"/>
            </a:xfrm>
            <a:prstGeom prst="rect">
              <a:avLst/>
            </a:prstGeom>
            <a:noFill/>
            <a:ln w="9525">
              <a:noFill/>
              <a:miter lim="800000"/>
              <a:headEnd/>
              <a:tailEnd/>
            </a:ln>
          </p:spPr>
          <p:txBody>
            <a:bodyPr/>
            <a:lstStyle/>
            <a:p>
              <a:r>
                <a:rPr lang="bg-BG" sz="1200" b="1">
                  <a:latin typeface="Courier New" pitchFamily="49" charset="0"/>
                </a:rPr>
                <a:t> </a:t>
              </a:r>
              <a:r>
                <a:rPr lang="bg-BG" sz="1200" b="1" noProof="1">
                  <a:latin typeface="Courier New" pitchFamily="49" charset="0"/>
                </a:rPr>
                <a:t>12</a:t>
              </a:r>
              <a:endParaRPr lang="bg-BG" sz="1000">
                <a:latin typeface="Courier New" pitchFamily="49" charset="0"/>
              </a:endParaRPr>
            </a:p>
          </p:txBody>
        </p:sp>
        <p:sp>
          <p:nvSpPr>
            <p:cNvPr id="44075" name="Text Box 41"/>
            <p:cNvSpPr txBox="1">
              <a:spLocks noChangeArrowheads="1"/>
            </p:cNvSpPr>
            <p:nvPr/>
          </p:nvSpPr>
          <p:spPr bwMode="auto">
            <a:xfrm>
              <a:off x="7177478" y="2607946"/>
              <a:ext cx="489365" cy="341644"/>
            </a:xfrm>
            <a:prstGeom prst="rect">
              <a:avLst/>
            </a:prstGeom>
            <a:noFill/>
            <a:ln w="9525">
              <a:noFill/>
              <a:miter lim="800000"/>
              <a:headEnd/>
              <a:tailEnd/>
            </a:ln>
          </p:spPr>
          <p:txBody>
            <a:bodyPr/>
            <a:lstStyle/>
            <a:p>
              <a:r>
                <a:rPr lang="bg-BG" sz="1400" b="1" noProof="1">
                  <a:latin typeface="Courier New" pitchFamily="49" charset="0"/>
                </a:rPr>
                <a:t>5</a:t>
              </a:r>
              <a:endParaRPr lang="bg-BG" sz="1000">
                <a:latin typeface="Courier New" pitchFamily="49" charset="0"/>
              </a:endParaRPr>
            </a:p>
          </p:txBody>
        </p:sp>
        <p:sp>
          <p:nvSpPr>
            <p:cNvPr id="44076" name="Text Box 42"/>
            <p:cNvSpPr txBox="1">
              <a:spLocks noChangeArrowheads="1"/>
            </p:cNvSpPr>
            <p:nvPr/>
          </p:nvSpPr>
          <p:spPr bwMode="auto">
            <a:xfrm>
              <a:off x="4277539" y="2285282"/>
              <a:ext cx="489365" cy="341644"/>
            </a:xfrm>
            <a:prstGeom prst="rect">
              <a:avLst/>
            </a:prstGeom>
            <a:noFill/>
            <a:ln w="9525">
              <a:noFill/>
              <a:miter lim="800000"/>
              <a:headEnd/>
              <a:tailEnd/>
            </a:ln>
          </p:spPr>
          <p:txBody>
            <a:bodyPr/>
            <a:lstStyle/>
            <a:p>
              <a:r>
                <a:rPr lang="bg-BG" sz="1400" b="1" noProof="1">
                  <a:latin typeface="Courier New" pitchFamily="49" charset="0"/>
                </a:rPr>
                <a:t>5</a:t>
              </a:r>
              <a:endParaRPr lang="bg-BG" sz="1400" b="1">
                <a:latin typeface="Courier New" pitchFamily="49" charset="0"/>
              </a:endParaRPr>
            </a:p>
          </p:txBody>
        </p:sp>
        <p:sp>
          <p:nvSpPr>
            <p:cNvPr id="44077" name="Text Box 43"/>
            <p:cNvSpPr txBox="1">
              <a:spLocks noChangeArrowheads="1"/>
            </p:cNvSpPr>
            <p:nvPr/>
          </p:nvSpPr>
          <p:spPr bwMode="auto">
            <a:xfrm>
              <a:off x="7730279" y="2076500"/>
              <a:ext cx="489365" cy="341644"/>
            </a:xfrm>
            <a:prstGeom prst="rect">
              <a:avLst/>
            </a:prstGeom>
            <a:noFill/>
            <a:ln w="9525">
              <a:noFill/>
              <a:miter lim="800000"/>
              <a:headEnd/>
              <a:tailEnd/>
            </a:ln>
          </p:spPr>
          <p:txBody>
            <a:bodyPr/>
            <a:lstStyle/>
            <a:p>
              <a:r>
                <a:rPr lang="bg-BG" sz="1400" b="1" noProof="1">
                  <a:latin typeface="Courier New" pitchFamily="49" charset="0"/>
                </a:rPr>
                <a:t>8</a:t>
              </a:r>
              <a:endParaRPr lang="bg-BG" sz="1400" b="1">
                <a:latin typeface="Courier New" pitchFamily="49" charset="0"/>
              </a:endParaRPr>
            </a:p>
          </p:txBody>
        </p:sp>
        <p:sp>
          <p:nvSpPr>
            <p:cNvPr id="44078" name="Text Box 44"/>
            <p:cNvSpPr txBox="1">
              <a:spLocks noChangeArrowheads="1"/>
            </p:cNvSpPr>
            <p:nvPr/>
          </p:nvSpPr>
          <p:spPr bwMode="auto">
            <a:xfrm>
              <a:off x="6715301" y="3139392"/>
              <a:ext cx="489365" cy="341644"/>
            </a:xfrm>
            <a:prstGeom prst="rect">
              <a:avLst/>
            </a:prstGeom>
            <a:noFill/>
            <a:ln w="9525">
              <a:noFill/>
              <a:miter lim="800000"/>
              <a:headEnd/>
              <a:tailEnd/>
            </a:ln>
          </p:spPr>
          <p:txBody>
            <a:bodyPr/>
            <a:lstStyle/>
            <a:p>
              <a:r>
                <a:rPr lang="bg-BG" sz="1400" b="1" noProof="1">
                  <a:latin typeface="Courier New" pitchFamily="49" charset="0"/>
                </a:rPr>
                <a:t>3</a:t>
              </a:r>
              <a:endParaRPr lang="bg-BG" sz="1400" b="1">
                <a:latin typeface="Courier New" pitchFamily="49" charset="0"/>
              </a:endParaRPr>
            </a:p>
          </p:txBody>
        </p:sp>
        <p:sp>
          <p:nvSpPr>
            <p:cNvPr id="44079" name="Text Box 45"/>
            <p:cNvSpPr txBox="1">
              <a:spLocks noChangeArrowheads="1"/>
            </p:cNvSpPr>
            <p:nvPr/>
          </p:nvSpPr>
          <p:spPr bwMode="auto">
            <a:xfrm>
              <a:off x="3733800" y="2816728"/>
              <a:ext cx="489365" cy="341644"/>
            </a:xfrm>
            <a:prstGeom prst="rect">
              <a:avLst/>
            </a:prstGeom>
            <a:noFill/>
            <a:ln w="9525">
              <a:noFill/>
              <a:miter lim="800000"/>
              <a:headEnd/>
              <a:tailEnd/>
            </a:ln>
          </p:spPr>
          <p:txBody>
            <a:bodyPr/>
            <a:lstStyle/>
            <a:p>
              <a:r>
                <a:rPr lang="bg-BG" sz="1400" b="1" noProof="1">
                  <a:latin typeface="Courier New" pitchFamily="49" charset="0"/>
                </a:rPr>
                <a:t>3</a:t>
              </a:r>
              <a:endParaRPr lang="bg-BG" sz="1000">
                <a:latin typeface="Courier New" pitchFamily="49" charset="0"/>
              </a:endParaRPr>
            </a:p>
          </p:txBody>
        </p:sp>
        <p:sp>
          <p:nvSpPr>
            <p:cNvPr id="44080" name="Text Box 46"/>
            <p:cNvSpPr txBox="1">
              <a:spLocks noChangeArrowheads="1"/>
            </p:cNvSpPr>
            <p:nvPr/>
          </p:nvSpPr>
          <p:spPr bwMode="auto">
            <a:xfrm>
              <a:off x="7404036" y="3167862"/>
              <a:ext cx="489365" cy="341644"/>
            </a:xfrm>
            <a:prstGeom prst="rect">
              <a:avLst/>
            </a:prstGeom>
            <a:noFill/>
            <a:ln w="9525">
              <a:noFill/>
              <a:miter lim="800000"/>
              <a:headEnd/>
              <a:tailEnd/>
            </a:ln>
          </p:spPr>
          <p:txBody>
            <a:bodyPr/>
            <a:lstStyle/>
            <a:p>
              <a:r>
                <a:rPr lang="bg-BG" sz="1400" b="1" noProof="1">
                  <a:latin typeface="Courier New" pitchFamily="49" charset="0"/>
                </a:rPr>
                <a:t>6</a:t>
              </a:r>
              <a:endParaRPr lang="bg-BG" sz="1000">
                <a:latin typeface="Courier New" pitchFamily="49" charset="0"/>
              </a:endParaRPr>
            </a:p>
          </p:txBody>
        </p:sp>
        <p:sp>
          <p:nvSpPr>
            <p:cNvPr id="44081" name="Text Box 47"/>
            <p:cNvSpPr txBox="1">
              <a:spLocks noChangeArrowheads="1"/>
            </p:cNvSpPr>
            <p:nvPr/>
          </p:nvSpPr>
          <p:spPr bwMode="auto">
            <a:xfrm>
              <a:off x="4005669" y="4021972"/>
              <a:ext cx="489365" cy="341644"/>
            </a:xfrm>
            <a:prstGeom prst="rect">
              <a:avLst/>
            </a:prstGeom>
            <a:noFill/>
            <a:ln w="9525">
              <a:noFill/>
              <a:miter lim="800000"/>
              <a:headEnd/>
              <a:tailEnd/>
            </a:ln>
          </p:spPr>
          <p:txBody>
            <a:bodyPr/>
            <a:lstStyle/>
            <a:p>
              <a:r>
                <a:rPr lang="bg-BG" sz="1400" b="1">
                  <a:latin typeface="Courier New" pitchFamily="49" charset="0"/>
                </a:rPr>
                <a:t> </a:t>
              </a:r>
              <a:r>
                <a:rPr lang="bg-BG" sz="1400" b="1" noProof="1">
                  <a:latin typeface="Courier New" pitchFamily="49" charset="0"/>
                </a:rPr>
                <a:t>6</a:t>
              </a:r>
              <a:endParaRPr lang="bg-BG" sz="1000">
                <a:latin typeface="Courier New" pitchFamily="49" charset="0"/>
              </a:endParaRPr>
            </a:p>
          </p:txBody>
        </p:sp>
        <p:sp>
          <p:nvSpPr>
            <p:cNvPr id="44082" name="Text Box 48"/>
            <p:cNvSpPr txBox="1">
              <a:spLocks noChangeArrowheads="1"/>
            </p:cNvSpPr>
            <p:nvPr/>
          </p:nvSpPr>
          <p:spPr bwMode="auto">
            <a:xfrm>
              <a:off x="5020648" y="3974521"/>
              <a:ext cx="489365" cy="341644"/>
            </a:xfrm>
            <a:prstGeom prst="rect">
              <a:avLst/>
            </a:prstGeom>
            <a:noFill/>
            <a:ln w="9525">
              <a:noFill/>
              <a:miter lim="800000"/>
              <a:headEnd/>
              <a:tailEnd/>
            </a:ln>
          </p:spPr>
          <p:txBody>
            <a:bodyPr/>
            <a:lstStyle/>
            <a:p>
              <a:r>
                <a:rPr lang="bg-BG" sz="1400" b="1" noProof="1">
                  <a:latin typeface="Courier New" pitchFamily="49" charset="0"/>
                </a:rPr>
                <a:t>9</a:t>
              </a:r>
              <a:endParaRPr lang="bg-BG" sz="1000">
                <a:latin typeface="Courier New" pitchFamily="49" charset="0"/>
              </a:endParaRPr>
            </a:p>
          </p:txBody>
        </p:sp>
        <p:sp>
          <p:nvSpPr>
            <p:cNvPr id="44083" name="Text Box 49"/>
            <p:cNvSpPr txBox="1">
              <a:spLocks noChangeArrowheads="1"/>
            </p:cNvSpPr>
            <p:nvPr/>
          </p:nvSpPr>
          <p:spPr bwMode="auto">
            <a:xfrm>
              <a:off x="8047460" y="3215313"/>
              <a:ext cx="489365" cy="341644"/>
            </a:xfrm>
            <a:prstGeom prst="rect">
              <a:avLst/>
            </a:prstGeom>
            <a:noFill/>
            <a:ln w="9525">
              <a:noFill/>
              <a:miter lim="800000"/>
              <a:headEnd/>
              <a:tailEnd/>
            </a:ln>
          </p:spPr>
          <p:txBody>
            <a:bodyPr/>
            <a:lstStyle/>
            <a:p>
              <a:r>
                <a:rPr lang="bg-BG" sz="1400" b="1" noProof="1">
                  <a:latin typeface="Courier New" pitchFamily="49" charset="0"/>
                </a:rPr>
                <a:t>9</a:t>
              </a:r>
              <a:endParaRPr lang="bg-BG" sz="1000">
                <a:latin typeface="Courier New" pitchFamily="49" charset="0"/>
              </a:endParaRPr>
            </a:p>
          </p:txBody>
        </p:sp>
        <p:sp>
          <p:nvSpPr>
            <p:cNvPr id="44084" name="Line 50"/>
            <p:cNvSpPr>
              <a:spLocks noChangeShapeType="1"/>
            </p:cNvSpPr>
            <p:nvPr/>
          </p:nvSpPr>
          <p:spPr bwMode="auto">
            <a:xfrm>
              <a:off x="5917817" y="2826218"/>
              <a:ext cx="489365" cy="0"/>
            </a:xfrm>
            <a:prstGeom prst="line">
              <a:avLst/>
            </a:prstGeom>
            <a:noFill/>
            <a:ln w="25400">
              <a:solidFill>
                <a:srgbClr val="000000"/>
              </a:solidFill>
              <a:round/>
              <a:headEnd/>
              <a:tailEnd type="triangle" w="sm" len="med"/>
            </a:ln>
          </p:spPr>
          <p:txBody>
            <a:bodyPr/>
            <a:lstStyle/>
            <a:p>
              <a:endParaRPr lang="bg-BG"/>
            </a:p>
          </p:txBody>
        </p:sp>
        <p:sp>
          <p:nvSpPr>
            <p:cNvPr id="44036" name="Line 51"/>
            <p:cNvSpPr>
              <a:spLocks noChangeShapeType="1"/>
            </p:cNvSpPr>
            <p:nvPr/>
          </p:nvSpPr>
          <p:spPr bwMode="auto">
            <a:xfrm>
              <a:off x="7884368" y="1844824"/>
              <a:ext cx="0" cy="228600"/>
            </a:xfrm>
            <a:prstGeom prst="line">
              <a:avLst/>
            </a:prstGeom>
            <a:noFill/>
            <a:ln w="9525">
              <a:solidFill>
                <a:schemeClr val="tx1"/>
              </a:solidFill>
              <a:round/>
              <a:headEnd/>
              <a:tailEnd type="triangle" w="med" len="med"/>
            </a:ln>
          </p:spPr>
          <p:txBody>
            <a:bodyPr wrap="none" anchor="ctr"/>
            <a:lstStyle/>
            <a:p>
              <a:endParaRPr lang="bg-BG"/>
            </a:p>
          </p:txBody>
        </p:sp>
        <p:sp>
          <p:nvSpPr>
            <p:cNvPr id="44037" name="Text Box 52"/>
            <p:cNvSpPr txBox="1">
              <a:spLocks noChangeArrowheads="1"/>
            </p:cNvSpPr>
            <p:nvPr/>
          </p:nvSpPr>
          <p:spPr bwMode="auto">
            <a:xfrm>
              <a:off x="7884368" y="1628800"/>
              <a:ext cx="533400" cy="304800"/>
            </a:xfrm>
            <a:prstGeom prst="rect">
              <a:avLst/>
            </a:prstGeom>
            <a:noFill/>
            <a:ln w="9525">
              <a:noFill/>
              <a:miter lim="800000"/>
              <a:headEnd/>
              <a:tailEnd/>
            </a:ln>
          </p:spPr>
          <p:txBody>
            <a:bodyPr>
              <a:spAutoFit/>
            </a:bodyPr>
            <a:lstStyle/>
            <a:p>
              <a:pPr>
                <a:spcBef>
                  <a:spcPct val="50000"/>
                </a:spcBef>
              </a:pPr>
              <a:r>
                <a:rPr lang="en-US" sz="1400" b="1">
                  <a:latin typeface="Courier New" pitchFamily="49" charset="0"/>
                </a:rPr>
                <a:t>p</a:t>
              </a:r>
              <a:endParaRPr lang="en-US" b="1">
                <a:latin typeface="Courier New" pitchFamily="49" charset="0"/>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331640" y="620688"/>
            <a:ext cx="7571184" cy="5715000"/>
          </a:xfrm>
        </p:spPr>
        <p:txBody>
          <a:bodyPr>
            <a:normAutofit fontScale="90000"/>
          </a:bodyPr>
          <a:lstStyle/>
          <a:p>
            <a:pPr eaLnBrk="1" fontAlgn="auto" hangingPunct="1">
              <a:spcAft>
                <a:spcPts val="0"/>
              </a:spcAft>
              <a:defRPr/>
            </a:pPr>
            <a:r>
              <a:rPr lang="bg-BG" sz="2800">
                <a:solidFill>
                  <a:schemeClr val="tx2">
                    <a:satMod val="130000"/>
                  </a:schemeClr>
                </a:solidFill>
              </a:rPr>
              <a:t>Изтриване на възел с последващо балансиране на двоично дърво:</a:t>
            </a:r>
            <a:br>
              <a:rPr lang="bg-BG" sz="2800">
                <a:solidFill>
                  <a:schemeClr val="tx2">
                    <a:satMod val="130000"/>
                  </a:schemeClr>
                </a:solidFill>
              </a:rPr>
            </a:br>
            <a:r>
              <a:rPr lang="bg-BG" sz="1800">
                <a:solidFill>
                  <a:schemeClr val="tx2">
                    <a:satMod val="130000"/>
                  </a:schemeClr>
                </a:solidFill>
              </a:rPr>
              <a:t/>
            </a:r>
            <a:br>
              <a:rPr lang="bg-BG" sz="1800">
                <a:solidFill>
                  <a:schemeClr val="tx2">
                    <a:satMod val="130000"/>
                  </a:schemeClr>
                </a:solidFill>
              </a:rPr>
            </a:br>
            <a:r>
              <a:rPr lang="bg-BG" sz="2800">
                <a:solidFill>
                  <a:schemeClr val="tx2">
                    <a:satMod val="130000"/>
                  </a:schemeClr>
                </a:solidFill>
              </a:rPr>
              <a:t>	например, възел със стойност 4</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endParaRPr lang="en-US" sz="2800">
              <a:solidFill>
                <a:schemeClr val="tx2">
                  <a:satMod val="130000"/>
                </a:schemeClr>
              </a:solidFill>
            </a:endParaRPr>
          </a:p>
        </p:txBody>
      </p:sp>
      <p:grpSp>
        <p:nvGrpSpPr>
          <p:cNvPr id="45059" name="Group 73"/>
          <p:cNvGrpSpPr>
            <a:grpSpLocks/>
          </p:cNvGrpSpPr>
          <p:nvPr/>
        </p:nvGrpSpPr>
        <p:grpSpPr bwMode="auto">
          <a:xfrm>
            <a:off x="1260642" y="2286000"/>
            <a:ext cx="7467600" cy="2514600"/>
            <a:chOff x="576" y="1440"/>
            <a:chExt cx="4704" cy="1584"/>
          </a:xfrm>
        </p:grpSpPr>
        <p:grpSp>
          <p:nvGrpSpPr>
            <p:cNvPr id="45061" name="Group 3"/>
            <p:cNvGrpSpPr>
              <a:grpSpLocks/>
            </p:cNvGrpSpPr>
            <p:nvPr/>
          </p:nvGrpSpPr>
          <p:grpSpPr bwMode="auto">
            <a:xfrm>
              <a:off x="576" y="1440"/>
              <a:ext cx="4537" cy="1570"/>
              <a:chOff x="342" y="1083"/>
              <a:chExt cx="11343" cy="3924"/>
            </a:xfrm>
          </p:grpSpPr>
          <p:grpSp>
            <p:nvGrpSpPr>
              <p:cNvPr id="45084" name="Group 4"/>
              <p:cNvGrpSpPr>
                <a:grpSpLocks/>
              </p:cNvGrpSpPr>
              <p:nvPr/>
            </p:nvGrpSpPr>
            <p:grpSpPr bwMode="auto">
              <a:xfrm>
                <a:off x="342" y="1083"/>
                <a:ext cx="5529" cy="3819"/>
                <a:chOff x="342" y="1083"/>
                <a:chExt cx="5529" cy="3819"/>
              </a:xfrm>
            </p:grpSpPr>
            <p:sp>
              <p:nvSpPr>
                <p:cNvPr id="45105" name="Oval 5"/>
                <p:cNvSpPr>
                  <a:spLocks noChangeArrowheads="1"/>
                </p:cNvSpPr>
                <p:nvPr/>
              </p:nvSpPr>
              <p:spPr bwMode="auto">
                <a:xfrm>
                  <a:off x="2736" y="1083"/>
                  <a:ext cx="741" cy="684"/>
                </a:xfrm>
                <a:prstGeom prst="ellipse">
                  <a:avLst/>
                </a:prstGeom>
                <a:solidFill>
                  <a:srgbClr val="FFFFFF"/>
                </a:solidFill>
                <a:ln w="9525">
                  <a:solidFill>
                    <a:srgbClr val="000000"/>
                  </a:solidFill>
                  <a:round/>
                  <a:headEnd/>
                  <a:tailEnd/>
                </a:ln>
              </p:spPr>
              <p:txBody>
                <a:bodyPr/>
                <a:lstStyle/>
                <a:p>
                  <a:endParaRPr lang="bg-BG"/>
                </a:p>
              </p:txBody>
            </p:sp>
            <p:sp>
              <p:nvSpPr>
                <p:cNvPr id="45106" name="Oval 6"/>
                <p:cNvSpPr>
                  <a:spLocks noChangeArrowheads="1"/>
                </p:cNvSpPr>
                <p:nvPr/>
              </p:nvSpPr>
              <p:spPr bwMode="auto">
                <a:xfrm>
                  <a:off x="1653" y="2109"/>
                  <a:ext cx="741" cy="684"/>
                </a:xfrm>
                <a:prstGeom prst="ellipse">
                  <a:avLst/>
                </a:prstGeom>
                <a:solidFill>
                  <a:srgbClr val="FFFFFF"/>
                </a:solidFill>
                <a:ln w="9525">
                  <a:solidFill>
                    <a:srgbClr val="000000"/>
                  </a:solidFill>
                  <a:round/>
                  <a:headEnd/>
                  <a:tailEnd/>
                </a:ln>
              </p:spPr>
              <p:txBody>
                <a:bodyPr/>
                <a:lstStyle/>
                <a:p>
                  <a:endParaRPr lang="bg-BG"/>
                </a:p>
              </p:txBody>
            </p:sp>
            <p:sp>
              <p:nvSpPr>
                <p:cNvPr id="45107" name="Oval 7"/>
                <p:cNvSpPr>
                  <a:spLocks noChangeArrowheads="1"/>
                </p:cNvSpPr>
                <p:nvPr/>
              </p:nvSpPr>
              <p:spPr bwMode="auto">
                <a:xfrm>
                  <a:off x="3876" y="2109"/>
                  <a:ext cx="741" cy="684"/>
                </a:xfrm>
                <a:prstGeom prst="ellipse">
                  <a:avLst/>
                </a:prstGeom>
                <a:solidFill>
                  <a:srgbClr val="FFFFFF"/>
                </a:solidFill>
                <a:ln w="9525">
                  <a:solidFill>
                    <a:srgbClr val="000000"/>
                  </a:solidFill>
                  <a:round/>
                  <a:headEnd/>
                  <a:tailEnd/>
                </a:ln>
              </p:spPr>
              <p:txBody>
                <a:bodyPr/>
                <a:lstStyle/>
                <a:p>
                  <a:endParaRPr lang="bg-BG"/>
                </a:p>
              </p:txBody>
            </p:sp>
            <p:sp>
              <p:nvSpPr>
                <p:cNvPr id="45108" name="Oval 8"/>
                <p:cNvSpPr>
                  <a:spLocks noChangeArrowheads="1"/>
                </p:cNvSpPr>
                <p:nvPr/>
              </p:nvSpPr>
              <p:spPr bwMode="auto">
                <a:xfrm>
                  <a:off x="3306" y="3066"/>
                  <a:ext cx="741" cy="684"/>
                </a:xfrm>
                <a:prstGeom prst="ellipse">
                  <a:avLst/>
                </a:prstGeom>
                <a:solidFill>
                  <a:srgbClr val="FFFFFF"/>
                </a:solidFill>
                <a:ln w="9525">
                  <a:solidFill>
                    <a:srgbClr val="000000"/>
                  </a:solidFill>
                  <a:round/>
                  <a:headEnd/>
                  <a:tailEnd/>
                </a:ln>
              </p:spPr>
              <p:txBody>
                <a:bodyPr/>
                <a:lstStyle/>
                <a:p>
                  <a:endParaRPr lang="bg-BG"/>
                </a:p>
              </p:txBody>
            </p:sp>
            <p:sp>
              <p:nvSpPr>
                <p:cNvPr id="45109" name="Oval 9"/>
                <p:cNvSpPr>
                  <a:spLocks noChangeArrowheads="1"/>
                </p:cNvSpPr>
                <p:nvPr/>
              </p:nvSpPr>
              <p:spPr bwMode="auto">
                <a:xfrm>
                  <a:off x="2850" y="4209"/>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0" name="Oval 10"/>
                <p:cNvSpPr>
                  <a:spLocks noChangeArrowheads="1"/>
                </p:cNvSpPr>
                <p:nvPr/>
              </p:nvSpPr>
              <p:spPr bwMode="auto">
                <a:xfrm>
                  <a:off x="4560" y="3051"/>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1" name="Oval 11"/>
                <p:cNvSpPr>
                  <a:spLocks noChangeArrowheads="1"/>
                </p:cNvSpPr>
                <p:nvPr/>
              </p:nvSpPr>
              <p:spPr bwMode="auto">
                <a:xfrm>
                  <a:off x="4047" y="4218"/>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2" name="Oval 12"/>
                <p:cNvSpPr>
                  <a:spLocks noChangeArrowheads="1"/>
                </p:cNvSpPr>
                <p:nvPr/>
              </p:nvSpPr>
              <p:spPr bwMode="auto">
                <a:xfrm>
                  <a:off x="5130" y="4218"/>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3" name="Oval 13"/>
                <p:cNvSpPr>
                  <a:spLocks noChangeArrowheads="1"/>
                </p:cNvSpPr>
                <p:nvPr/>
              </p:nvSpPr>
              <p:spPr bwMode="auto">
                <a:xfrm>
                  <a:off x="342" y="4107"/>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4" name="Oval 14"/>
                <p:cNvSpPr>
                  <a:spLocks noChangeArrowheads="1"/>
                </p:cNvSpPr>
                <p:nvPr/>
              </p:nvSpPr>
              <p:spPr bwMode="auto">
                <a:xfrm>
                  <a:off x="2280" y="3078"/>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5" name="Oval 15"/>
                <p:cNvSpPr>
                  <a:spLocks noChangeArrowheads="1"/>
                </p:cNvSpPr>
                <p:nvPr/>
              </p:nvSpPr>
              <p:spPr bwMode="auto">
                <a:xfrm>
                  <a:off x="1026" y="3078"/>
                  <a:ext cx="741" cy="684"/>
                </a:xfrm>
                <a:prstGeom prst="ellipse">
                  <a:avLst/>
                </a:prstGeom>
                <a:solidFill>
                  <a:srgbClr val="FFFFFF"/>
                </a:solidFill>
                <a:ln w="9525">
                  <a:solidFill>
                    <a:srgbClr val="000000"/>
                  </a:solidFill>
                  <a:round/>
                  <a:headEnd/>
                  <a:tailEnd/>
                </a:ln>
              </p:spPr>
              <p:txBody>
                <a:bodyPr/>
                <a:lstStyle/>
                <a:p>
                  <a:endParaRPr lang="bg-BG"/>
                </a:p>
              </p:txBody>
            </p:sp>
            <p:sp>
              <p:nvSpPr>
                <p:cNvPr id="45116" name="Line 16"/>
                <p:cNvSpPr>
                  <a:spLocks noChangeShapeType="1"/>
                </p:cNvSpPr>
                <p:nvPr/>
              </p:nvSpPr>
              <p:spPr bwMode="auto">
                <a:xfrm flipH="1">
                  <a:off x="2280" y="1653"/>
                  <a:ext cx="513" cy="513"/>
                </a:xfrm>
                <a:prstGeom prst="line">
                  <a:avLst/>
                </a:prstGeom>
                <a:noFill/>
                <a:ln w="9525">
                  <a:solidFill>
                    <a:srgbClr val="000000"/>
                  </a:solidFill>
                  <a:round/>
                  <a:headEnd/>
                  <a:tailEnd type="triangle" w="med" len="med"/>
                </a:ln>
              </p:spPr>
              <p:txBody>
                <a:bodyPr/>
                <a:lstStyle/>
                <a:p>
                  <a:endParaRPr lang="bg-BG"/>
                </a:p>
              </p:txBody>
            </p:sp>
            <p:sp>
              <p:nvSpPr>
                <p:cNvPr id="45117" name="Line 17"/>
                <p:cNvSpPr>
                  <a:spLocks noChangeShapeType="1"/>
                </p:cNvSpPr>
                <p:nvPr/>
              </p:nvSpPr>
              <p:spPr bwMode="auto">
                <a:xfrm flipH="1">
                  <a:off x="1539" y="2736"/>
                  <a:ext cx="285" cy="342"/>
                </a:xfrm>
                <a:prstGeom prst="line">
                  <a:avLst/>
                </a:prstGeom>
                <a:noFill/>
                <a:ln w="9525">
                  <a:solidFill>
                    <a:srgbClr val="000000"/>
                  </a:solidFill>
                  <a:round/>
                  <a:headEnd/>
                  <a:tailEnd type="triangle" w="med" len="med"/>
                </a:ln>
              </p:spPr>
              <p:txBody>
                <a:bodyPr/>
                <a:lstStyle/>
                <a:p>
                  <a:endParaRPr lang="bg-BG"/>
                </a:p>
              </p:txBody>
            </p:sp>
            <p:sp>
              <p:nvSpPr>
                <p:cNvPr id="45118" name="Line 18"/>
                <p:cNvSpPr>
                  <a:spLocks noChangeShapeType="1"/>
                </p:cNvSpPr>
                <p:nvPr/>
              </p:nvSpPr>
              <p:spPr bwMode="auto">
                <a:xfrm flipH="1">
                  <a:off x="855" y="3705"/>
                  <a:ext cx="285" cy="399"/>
                </a:xfrm>
                <a:prstGeom prst="line">
                  <a:avLst/>
                </a:prstGeom>
                <a:noFill/>
                <a:ln w="9525">
                  <a:solidFill>
                    <a:srgbClr val="000000"/>
                  </a:solidFill>
                  <a:round/>
                  <a:headEnd/>
                  <a:tailEnd type="triangle" w="med" len="med"/>
                </a:ln>
              </p:spPr>
              <p:txBody>
                <a:bodyPr/>
                <a:lstStyle/>
                <a:p>
                  <a:endParaRPr lang="bg-BG"/>
                </a:p>
              </p:txBody>
            </p:sp>
            <p:sp>
              <p:nvSpPr>
                <p:cNvPr id="45119" name="Line 19"/>
                <p:cNvSpPr>
                  <a:spLocks noChangeShapeType="1"/>
                </p:cNvSpPr>
                <p:nvPr/>
              </p:nvSpPr>
              <p:spPr bwMode="auto">
                <a:xfrm>
                  <a:off x="2280" y="2736"/>
                  <a:ext cx="342" cy="342"/>
                </a:xfrm>
                <a:prstGeom prst="line">
                  <a:avLst/>
                </a:prstGeom>
                <a:noFill/>
                <a:ln w="9525">
                  <a:solidFill>
                    <a:srgbClr val="000000"/>
                  </a:solidFill>
                  <a:round/>
                  <a:headEnd/>
                  <a:tailEnd type="triangle" w="med" len="med"/>
                </a:ln>
              </p:spPr>
              <p:txBody>
                <a:bodyPr/>
                <a:lstStyle/>
                <a:p>
                  <a:endParaRPr lang="bg-BG"/>
                </a:p>
              </p:txBody>
            </p:sp>
            <p:sp>
              <p:nvSpPr>
                <p:cNvPr id="45120" name="Line 20"/>
                <p:cNvSpPr>
                  <a:spLocks noChangeShapeType="1"/>
                </p:cNvSpPr>
                <p:nvPr/>
              </p:nvSpPr>
              <p:spPr bwMode="auto">
                <a:xfrm>
                  <a:off x="3363" y="1653"/>
                  <a:ext cx="684" cy="513"/>
                </a:xfrm>
                <a:prstGeom prst="line">
                  <a:avLst/>
                </a:prstGeom>
                <a:noFill/>
                <a:ln w="9525">
                  <a:solidFill>
                    <a:srgbClr val="000000"/>
                  </a:solidFill>
                  <a:round/>
                  <a:headEnd/>
                  <a:tailEnd type="triangle" w="med" len="med"/>
                </a:ln>
              </p:spPr>
              <p:txBody>
                <a:bodyPr/>
                <a:lstStyle/>
                <a:p>
                  <a:endParaRPr lang="bg-BG"/>
                </a:p>
              </p:txBody>
            </p:sp>
            <p:sp>
              <p:nvSpPr>
                <p:cNvPr id="45121" name="Line 21"/>
                <p:cNvSpPr>
                  <a:spLocks noChangeShapeType="1"/>
                </p:cNvSpPr>
                <p:nvPr/>
              </p:nvSpPr>
              <p:spPr bwMode="auto">
                <a:xfrm flipH="1">
                  <a:off x="3819" y="2736"/>
                  <a:ext cx="228" cy="342"/>
                </a:xfrm>
                <a:prstGeom prst="line">
                  <a:avLst/>
                </a:prstGeom>
                <a:noFill/>
                <a:ln w="9525">
                  <a:solidFill>
                    <a:srgbClr val="000000"/>
                  </a:solidFill>
                  <a:round/>
                  <a:headEnd/>
                  <a:tailEnd type="triangle" w="med" len="med"/>
                </a:ln>
              </p:spPr>
              <p:txBody>
                <a:bodyPr/>
                <a:lstStyle/>
                <a:p>
                  <a:endParaRPr lang="bg-BG"/>
                </a:p>
              </p:txBody>
            </p:sp>
            <p:sp>
              <p:nvSpPr>
                <p:cNvPr id="45122" name="Line 22"/>
                <p:cNvSpPr>
                  <a:spLocks noChangeShapeType="1"/>
                </p:cNvSpPr>
                <p:nvPr/>
              </p:nvSpPr>
              <p:spPr bwMode="auto">
                <a:xfrm flipH="1">
                  <a:off x="3306" y="3705"/>
                  <a:ext cx="228" cy="513"/>
                </a:xfrm>
                <a:prstGeom prst="line">
                  <a:avLst/>
                </a:prstGeom>
                <a:noFill/>
                <a:ln w="9525">
                  <a:solidFill>
                    <a:srgbClr val="000000"/>
                  </a:solidFill>
                  <a:round/>
                  <a:headEnd/>
                  <a:tailEnd type="triangle" w="med" len="med"/>
                </a:ln>
              </p:spPr>
              <p:txBody>
                <a:bodyPr/>
                <a:lstStyle/>
                <a:p>
                  <a:endParaRPr lang="bg-BG"/>
                </a:p>
              </p:txBody>
            </p:sp>
            <p:sp>
              <p:nvSpPr>
                <p:cNvPr id="45123" name="Line 23"/>
                <p:cNvSpPr>
                  <a:spLocks noChangeShapeType="1"/>
                </p:cNvSpPr>
                <p:nvPr/>
              </p:nvSpPr>
              <p:spPr bwMode="auto">
                <a:xfrm>
                  <a:off x="5073" y="3705"/>
                  <a:ext cx="342" cy="513"/>
                </a:xfrm>
                <a:prstGeom prst="line">
                  <a:avLst/>
                </a:prstGeom>
                <a:noFill/>
                <a:ln w="9525">
                  <a:solidFill>
                    <a:srgbClr val="000000"/>
                  </a:solidFill>
                  <a:round/>
                  <a:headEnd/>
                  <a:tailEnd type="triangle" w="med" len="med"/>
                </a:ln>
              </p:spPr>
              <p:txBody>
                <a:bodyPr/>
                <a:lstStyle/>
                <a:p>
                  <a:endParaRPr lang="bg-BG"/>
                </a:p>
              </p:txBody>
            </p:sp>
            <p:sp>
              <p:nvSpPr>
                <p:cNvPr id="45124" name="Line 24"/>
                <p:cNvSpPr>
                  <a:spLocks noChangeShapeType="1"/>
                </p:cNvSpPr>
                <p:nvPr/>
              </p:nvSpPr>
              <p:spPr bwMode="auto">
                <a:xfrm>
                  <a:off x="4446" y="2736"/>
                  <a:ext cx="342" cy="342"/>
                </a:xfrm>
                <a:prstGeom prst="line">
                  <a:avLst/>
                </a:prstGeom>
                <a:noFill/>
                <a:ln w="9525">
                  <a:solidFill>
                    <a:srgbClr val="000000"/>
                  </a:solidFill>
                  <a:round/>
                  <a:headEnd/>
                  <a:tailEnd type="triangle" w="med" len="med"/>
                </a:ln>
              </p:spPr>
              <p:txBody>
                <a:bodyPr/>
                <a:lstStyle/>
                <a:p>
                  <a:endParaRPr lang="bg-BG"/>
                </a:p>
              </p:txBody>
            </p:sp>
            <p:sp>
              <p:nvSpPr>
                <p:cNvPr id="45125" name="Line 25"/>
                <p:cNvSpPr>
                  <a:spLocks noChangeShapeType="1"/>
                </p:cNvSpPr>
                <p:nvPr/>
              </p:nvSpPr>
              <p:spPr bwMode="auto">
                <a:xfrm flipH="1">
                  <a:off x="4446" y="3705"/>
                  <a:ext cx="285" cy="513"/>
                </a:xfrm>
                <a:prstGeom prst="line">
                  <a:avLst/>
                </a:prstGeom>
                <a:noFill/>
                <a:ln w="9525">
                  <a:solidFill>
                    <a:srgbClr val="000000"/>
                  </a:solidFill>
                  <a:round/>
                  <a:headEnd/>
                  <a:tailEnd type="triangle" w="med" len="med"/>
                </a:ln>
              </p:spPr>
              <p:txBody>
                <a:bodyPr/>
                <a:lstStyle/>
                <a:p>
                  <a:endParaRPr lang="bg-BG"/>
                </a:p>
              </p:txBody>
            </p:sp>
          </p:grpSp>
          <p:grpSp>
            <p:nvGrpSpPr>
              <p:cNvPr id="45085" name="Group 26"/>
              <p:cNvGrpSpPr>
                <a:grpSpLocks/>
              </p:cNvGrpSpPr>
              <p:nvPr/>
            </p:nvGrpSpPr>
            <p:grpSpPr bwMode="auto">
              <a:xfrm>
                <a:off x="6840" y="1188"/>
                <a:ext cx="4845" cy="3819"/>
                <a:chOff x="6840" y="1188"/>
                <a:chExt cx="4845" cy="3819"/>
              </a:xfrm>
            </p:grpSpPr>
            <p:sp>
              <p:nvSpPr>
                <p:cNvPr id="45086" name="Oval 27"/>
                <p:cNvSpPr>
                  <a:spLocks noChangeArrowheads="1"/>
                </p:cNvSpPr>
                <p:nvPr/>
              </p:nvSpPr>
              <p:spPr bwMode="auto">
                <a:xfrm>
                  <a:off x="8550" y="1188"/>
                  <a:ext cx="741" cy="684"/>
                </a:xfrm>
                <a:prstGeom prst="ellipse">
                  <a:avLst/>
                </a:prstGeom>
                <a:solidFill>
                  <a:srgbClr val="FFFFFF"/>
                </a:solidFill>
                <a:ln w="9525">
                  <a:solidFill>
                    <a:srgbClr val="000000"/>
                  </a:solidFill>
                  <a:round/>
                  <a:headEnd/>
                  <a:tailEnd/>
                </a:ln>
              </p:spPr>
              <p:txBody>
                <a:bodyPr/>
                <a:lstStyle/>
                <a:p>
                  <a:endParaRPr lang="bg-BG"/>
                </a:p>
              </p:txBody>
            </p:sp>
            <p:sp>
              <p:nvSpPr>
                <p:cNvPr id="45087" name="Oval 28"/>
                <p:cNvSpPr>
                  <a:spLocks noChangeArrowheads="1"/>
                </p:cNvSpPr>
                <p:nvPr/>
              </p:nvSpPr>
              <p:spPr bwMode="auto">
                <a:xfrm>
                  <a:off x="7467" y="2214"/>
                  <a:ext cx="741" cy="684"/>
                </a:xfrm>
                <a:prstGeom prst="ellipse">
                  <a:avLst/>
                </a:prstGeom>
                <a:solidFill>
                  <a:srgbClr val="FFFFFF"/>
                </a:solidFill>
                <a:ln w="9525">
                  <a:solidFill>
                    <a:srgbClr val="000000"/>
                  </a:solidFill>
                  <a:round/>
                  <a:headEnd/>
                  <a:tailEnd/>
                </a:ln>
              </p:spPr>
              <p:txBody>
                <a:bodyPr/>
                <a:lstStyle/>
                <a:p>
                  <a:endParaRPr lang="bg-BG"/>
                </a:p>
              </p:txBody>
            </p:sp>
            <p:sp>
              <p:nvSpPr>
                <p:cNvPr id="45088" name="Oval 29"/>
                <p:cNvSpPr>
                  <a:spLocks noChangeArrowheads="1"/>
                </p:cNvSpPr>
                <p:nvPr/>
              </p:nvSpPr>
              <p:spPr bwMode="auto">
                <a:xfrm>
                  <a:off x="9690" y="2214"/>
                  <a:ext cx="741" cy="684"/>
                </a:xfrm>
                <a:prstGeom prst="ellipse">
                  <a:avLst/>
                </a:prstGeom>
                <a:solidFill>
                  <a:srgbClr val="FFFFFF"/>
                </a:solidFill>
                <a:ln w="9525">
                  <a:solidFill>
                    <a:srgbClr val="000000"/>
                  </a:solidFill>
                  <a:round/>
                  <a:headEnd/>
                  <a:tailEnd/>
                </a:ln>
              </p:spPr>
              <p:txBody>
                <a:bodyPr/>
                <a:lstStyle/>
                <a:p>
                  <a:endParaRPr lang="bg-BG"/>
                </a:p>
              </p:txBody>
            </p:sp>
            <p:sp>
              <p:nvSpPr>
                <p:cNvPr id="45089" name="Oval 30"/>
                <p:cNvSpPr>
                  <a:spLocks noChangeArrowheads="1"/>
                </p:cNvSpPr>
                <p:nvPr/>
              </p:nvSpPr>
              <p:spPr bwMode="auto">
                <a:xfrm>
                  <a:off x="9120" y="3171"/>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0" name="Oval 31"/>
                <p:cNvSpPr>
                  <a:spLocks noChangeArrowheads="1"/>
                </p:cNvSpPr>
                <p:nvPr/>
              </p:nvSpPr>
              <p:spPr bwMode="auto">
                <a:xfrm>
                  <a:off x="8664" y="4314"/>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1" name="Oval 32"/>
                <p:cNvSpPr>
                  <a:spLocks noChangeArrowheads="1"/>
                </p:cNvSpPr>
                <p:nvPr/>
              </p:nvSpPr>
              <p:spPr bwMode="auto">
                <a:xfrm>
                  <a:off x="10374" y="3156"/>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2" name="Oval 33"/>
                <p:cNvSpPr>
                  <a:spLocks noChangeArrowheads="1"/>
                </p:cNvSpPr>
                <p:nvPr/>
              </p:nvSpPr>
              <p:spPr bwMode="auto">
                <a:xfrm>
                  <a:off x="9861" y="4323"/>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3" name="Oval 34"/>
                <p:cNvSpPr>
                  <a:spLocks noChangeArrowheads="1"/>
                </p:cNvSpPr>
                <p:nvPr/>
              </p:nvSpPr>
              <p:spPr bwMode="auto">
                <a:xfrm>
                  <a:off x="10944" y="4323"/>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4" name="Oval 35"/>
                <p:cNvSpPr>
                  <a:spLocks noChangeArrowheads="1"/>
                </p:cNvSpPr>
                <p:nvPr/>
              </p:nvSpPr>
              <p:spPr bwMode="auto">
                <a:xfrm>
                  <a:off x="8094" y="3183"/>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5" name="Oval 36"/>
                <p:cNvSpPr>
                  <a:spLocks noChangeArrowheads="1"/>
                </p:cNvSpPr>
                <p:nvPr/>
              </p:nvSpPr>
              <p:spPr bwMode="auto">
                <a:xfrm>
                  <a:off x="6840" y="3183"/>
                  <a:ext cx="741" cy="684"/>
                </a:xfrm>
                <a:prstGeom prst="ellipse">
                  <a:avLst/>
                </a:prstGeom>
                <a:solidFill>
                  <a:srgbClr val="FFFFFF"/>
                </a:solidFill>
                <a:ln w="9525">
                  <a:solidFill>
                    <a:srgbClr val="000000"/>
                  </a:solidFill>
                  <a:round/>
                  <a:headEnd/>
                  <a:tailEnd/>
                </a:ln>
              </p:spPr>
              <p:txBody>
                <a:bodyPr/>
                <a:lstStyle/>
                <a:p>
                  <a:endParaRPr lang="bg-BG"/>
                </a:p>
              </p:txBody>
            </p:sp>
            <p:sp>
              <p:nvSpPr>
                <p:cNvPr id="45096" name="Line 37"/>
                <p:cNvSpPr>
                  <a:spLocks noChangeShapeType="1"/>
                </p:cNvSpPr>
                <p:nvPr/>
              </p:nvSpPr>
              <p:spPr bwMode="auto">
                <a:xfrm flipH="1">
                  <a:off x="8094" y="1758"/>
                  <a:ext cx="513" cy="513"/>
                </a:xfrm>
                <a:prstGeom prst="line">
                  <a:avLst/>
                </a:prstGeom>
                <a:noFill/>
                <a:ln w="9525">
                  <a:solidFill>
                    <a:srgbClr val="000000"/>
                  </a:solidFill>
                  <a:round/>
                  <a:headEnd/>
                  <a:tailEnd type="triangle" w="med" len="med"/>
                </a:ln>
              </p:spPr>
              <p:txBody>
                <a:bodyPr/>
                <a:lstStyle/>
                <a:p>
                  <a:endParaRPr lang="bg-BG"/>
                </a:p>
              </p:txBody>
            </p:sp>
            <p:sp>
              <p:nvSpPr>
                <p:cNvPr id="45097" name="Line 38"/>
                <p:cNvSpPr>
                  <a:spLocks noChangeShapeType="1"/>
                </p:cNvSpPr>
                <p:nvPr/>
              </p:nvSpPr>
              <p:spPr bwMode="auto">
                <a:xfrm flipH="1">
                  <a:off x="7353" y="2841"/>
                  <a:ext cx="285" cy="342"/>
                </a:xfrm>
                <a:prstGeom prst="line">
                  <a:avLst/>
                </a:prstGeom>
                <a:noFill/>
                <a:ln w="9525">
                  <a:solidFill>
                    <a:srgbClr val="000000"/>
                  </a:solidFill>
                  <a:round/>
                  <a:headEnd/>
                  <a:tailEnd type="triangle" w="med" len="med"/>
                </a:ln>
              </p:spPr>
              <p:txBody>
                <a:bodyPr/>
                <a:lstStyle/>
                <a:p>
                  <a:endParaRPr lang="bg-BG"/>
                </a:p>
              </p:txBody>
            </p:sp>
            <p:sp>
              <p:nvSpPr>
                <p:cNvPr id="45098" name="Line 39"/>
                <p:cNvSpPr>
                  <a:spLocks noChangeShapeType="1"/>
                </p:cNvSpPr>
                <p:nvPr/>
              </p:nvSpPr>
              <p:spPr bwMode="auto">
                <a:xfrm>
                  <a:off x="8094" y="2841"/>
                  <a:ext cx="342" cy="342"/>
                </a:xfrm>
                <a:prstGeom prst="line">
                  <a:avLst/>
                </a:prstGeom>
                <a:noFill/>
                <a:ln w="9525">
                  <a:solidFill>
                    <a:srgbClr val="000000"/>
                  </a:solidFill>
                  <a:round/>
                  <a:headEnd/>
                  <a:tailEnd type="triangle" w="med" len="med"/>
                </a:ln>
              </p:spPr>
              <p:txBody>
                <a:bodyPr/>
                <a:lstStyle/>
                <a:p>
                  <a:endParaRPr lang="bg-BG"/>
                </a:p>
              </p:txBody>
            </p:sp>
            <p:sp>
              <p:nvSpPr>
                <p:cNvPr id="45099" name="Line 40"/>
                <p:cNvSpPr>
                  <a:spLocks noChangeShapeType="1"/>
                </p:cNvSpPr>
                <p:nvPr/>
              </p:nvSpPr>
              <p:spPr bwMode="auto">
                <a:xfrm>
                  <a:off x="9177" y="1758"/>
                  <a:ext cx="684" cy="513"/>
                </a:xfrm>
                <a:prstGeom prst="line">
                  <a:avLst/>
                </a:prstGeom>
                <a:noFill/>
                <a:ln w="9525">
                  <a:solidFill>
                    <a:srgbClr val="000000"/>
                  </a:solidFill>
                  <a:round/>
                  <a:headEnd/>
                  <a:tailEnd type="triangle" w="med" len="med"/>
                </a:ln>
              </p:spPr>
              <p:txBody>
                <a:bodyPr/>
                <a:lstStyle/>
                <a:p>
                  <a:endParaRPr lang="bg-BG"/>
                </a:p>
              </p:txBody>
            </p:sp>
            <p:sp>
              <p:nvSpPr>
                <p:cNvPr id="45100" name="Line 41"/>
                <p:cNvSpPr>
                  <a:spLocks noChangeShapeType="1"/>
                </p:cNvSpPr>
                <p:nvPr/>
              </p:nvSpPr>
              <p:spPr bwMode="auto">
                <a:xfrm flipH="1">
                  <a:off x="9633" y="2841"/>
                  <a:ext cx="228" cy="342"/>
                </a:xfrm>
                <a:prstGeom prst="line">
                  <a:avLst/>
                </a:prstGeom>
                <a:noFill/>
                <a:ln w="9525">
                  <a:solidFill>
                    <a:srgbClr val="000000"/>
                  </a:solidFill>
                  <a:round/>
                  <a:headEnd/>
                  <a:tailEnd type="triangle" w="med" len="med"/>
                </a:ln>
              </p:spPr>
              <p:txBody>
                <a:bodyPr/>
                <a:lstStyle/>
                <a:p>
                  <a:endParaRPr lang="bg-BG"/>
                </a:p>
              </p:txBody>
            </p:sp>
            <p:sp>
              <p:nvSpPr>
                <p:cNvPr id="45101" name="Line 42"/>
                <p:cNvSpPr>
                  <a:spLocks noChangeShapeType="1"/>
                </p:cNvSpPr>
                <p:nvPr/>
              </p:nvSpPr>
              <p:spPr bwMode="auto">
                <a:xfrm flipH="1">
                  <a:off x="9120" y="3810"/>
                  <a:ext cx="228" cy="513"/>
                </a:xfrm>
                <a:prstGeom prst="line">
                  <a:avLst/>
                </a:prstGeom>
                <a:noFill/>
                <a:ln w="9525">
                  <a:solidFill>
                    <a:srgbClr val="000000"/>
                  </a:solidFill>
                  <a:round/>
                  <a:headEnd/>
                  <a:tailEnd type="triangle" w="med" len="med"/>
                </a:ln>
              </p:spPr>
              <p:txBody>
                <a:bodyPr/>
                <a:lstStyle/>
                <a:p>
                  <a:endParaRPr lang="bg-BG"/>
                </a:p>
              </p:txBody>
            </p:sp>
            <p:sp>
              <p:nvSpPr>
                <p:cNvPr id="45102" name="Line 43"/>
                <p:cNvSpPr>
                  <a:spLocks noChangeShapeType="1"/>
                </p:cNvSpPr>
                <p:nvPr/>
              </p:nvSpPr>
              <p:spPr bwMode="auto">
                <a:xfrm>
                  <a:off x="10887" y="3810"/>
                  <a:ext cx="342" cy="513"/>
                </a:xfrm>
                <a:prstGeom prst="line">
                  <a:avLst/>
                </a:prstGeom>
                <a:noFill/>
                <a:ln w="9525">
                  <a:solidFill>
                    <a:srgbClr val="000000"/>
                  </a:solidFill>
                  <a:round/>
                  <a:headEnd/>
                  <a:tailEnd type="triangle" w="med" len="med"/>
                </a:ln>
              </p:spPr>
              <p:txBody>
                <a:bodyPr/>
                <a:lstStyle/>
                <a:p>
                  <a:endParaRPr lang="bg-BG"/>
                </a:p>
              </p:txBody>
            </p:sp>
            <p:sp>
              <p:nvSpPr>
                <p:cNvPr id="45103" name="Line 44"/>
                <p:cNvSpPr>
                  <a:spLocks noChangeShapeType="1"/>
                </p:cNvSpPr>
                <p:nvPr/>
              </p:nvSpPr>
              <p:spPr bwMode="auto">
                <a:xfrm>
                  <a:off x="10260" y="2841"/>
                  <a:ext cx="342" cy="342"/>
                </a:xfrm>
                <a:prstGeom prst="line">
                  <a:avLst/>
                </a:prstGeom>
                <a:noFill/>
                <a:ln w="9525">
                  <a:solidFill>
                    <a:srgbClr val="000000"/>
                  </a:solidFill>
                  <a:round/>
                  <a:headEnd/>
                  <a:tailEnd type="triangle" w="med" len="med"/>
                </a:ln>
              </p:spPr>
              <p:txBody>
                <a:bodyPr/>
                <a:lstStyle/>
                <a:p>
                  <a:endParaRPr lang="bg-BG"/>
                </a:p>
              </p:txBody>
            </p:sp>
            <p:sp>
              <p:nvSpPr>
                <p:cNvPr id="45104" name="Line 45"/>
                <p:cNvSpPr>
                  <a:spLocks noChangeShapeType="1"/>
                </p:cNvSpPr>
                <p:nvPr/>
              </p:nvSpPr>
              <p:spPr bwMode="auto">
                <a:xfrm flipH="1">
                  <a:off x="10260" y="3810"/>
                  <a:ext cx="285" cy="513"/>
                </a:xfrm>
                <a:prstGeom prst="line">
                  <a:avLst/>
                </a:prstGeom>
                <a:noFill/>
                <a:ln w="9525">
                  <a:solidFill>
                    <a:srgbClr val="000000"/>
                  </a:solidFill>
                  <a:round/>
                  <a:headEnd/>
                  <a:tailEnd type="triangle" w="med" len="med"/>
                </a:ln>
              </p:spPr>
              <p:txBody>
                <a:bodyPr/>
                <a:lstStyle/>
                <a:p>
                  <a:endParaRPr lang="bg-BG"/>
                </a:p>
              </p:txBody>
            </p:sp>
          </p:grpSp>
        </p:grpSp>
        <p:sp>
          <p:nvSpPr>
            <p:cNvPr id="45062" name="Text Box 47"/>
            <p:cNvSpPr txBox="1">
              <a:spLocks noChangeArrowheads="1"/>
            </p:cNvSpPr>
            <p:nvPr/>
          </p:nvSpPr>
          <p:spPr bwMode="auto">
            <a:xfrm>
              <a:off x="1568" y="1440"/>
              <a:ext cx="288"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5063" name="Text Box 48"/>
            <p:cNvSpPr txBox="1">
              <a:spLocks noChangeArrowheads="1"/>
            </p:cNvSpPr>
            <p:nvPr/>
          </p:nvSpPr>
          <p:spPr bwMode="auto">
            <a:xfrm>
              <a:off x="896" y="2216"/>
              <a:ext cx="288"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5064" name="Text Box 49"/>
            <p:cNvSpPr txBox="1">
              <a:spLocks noChangeArrowheads="1"/>
            </p:cNvSpPr>
            <p:nvPr/>
          </p:nvSpPr>
          <p:spPr bwMode="auto">
            <a:xfrm>
              <a:off x="1376" y="2224"/>
              <a:ext cx="288" cy="288"/>
            </a:xfrm>
            <a:prstGeom prst="rect">
              <a:avLst/>
            </a:prstGeom>
            <a:noFill/>
            <a:ln w="9525">
              <a:noFill/>
              <a:miter lim="800000"/>
              <a:headEnd/>
              <a:tailEnd/>
            </a:ln>
          </p:spPr>
          <p:txBody>
            <a:bodyPr>
              <a:spAutoFit/>
            </a:bodyPr>
            <a:lstStyle/>
            <a:p>
              <a:pPr>
                <a:spcBef>
                  <a:spcPct val="50000"/>
                </a:spcBef>
              </a:pPr>
              <a:r>
                <a:rPr lang="bg-BG">
                  <a:solidFill>
                    <a:srgbClr val="CC0066"/>
                  </a:solidFill>
                </a:rPr>
                <a:t>4</a:t>
              </a:r>
              <a:endParaRPr lang="en-US"/>
            </a:p>
          </p:txBody>
        </p:sp>
        <p:sp>
          <p:nvSpPr>
            <p:cNvPr id="45065" name="Text Box 50"/>
            <p:cNvSpPr txBox="1">
              <a:spLocks noChangeArrowheads="1"/>
            </p:cNvSpPr>
            <p:nvPr/>
          </p:nvSpPr>
          <p:spPr bwMode="auto">
            <a:xfrm>
              <a:off x="1144" y="1840"/>
              <a:ext cx="288"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5066" name="Text Box 51"/>
            <p:cNvSpPr txBox="1">
              <a:spLocks noChangeArrowheads="1"/>
            </p:cNvSpPr>
            <p:nvPr/>
          </p:nvSpPr>
          <p:spPr bwMode="auto">
            <a:xfrm>
              <a:off x="2032" y="1840"/>
              <a:ext cx="288" cy="288"/>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45067" name="Text Box 52"/>
            <p:cNvSpPr txBox="1">
              <a:spLocks noChangeArrowheads="1"/>
            </p:cNvSpPr>
            <p:nvPr/>
          </p:nvSpPr>
          <p:spPr bwMode="auto">
            <a:xfrm>
              <a:off x="1800" y="2232"/>
              <a:ext cx="288"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5068" name="Text Box 53"/>
            <p:cNvSpPr txBox="1">
              <a:spLocks noChangeArrowheads="1"/>
            </p:cNvSpPr>
            <p:nvPr/>
          </p:nvSpPr>
          <p:spPr bwMode="auto">
            <a:xfrm>
              <a:off x="2104" y="2688"/>
              <a:ext cx="288"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5069" name="Text Box 54"/>
            <p:cNvSpPr txBox="1">
              <a:spLocks noChangeArrowheads="1"/>
            </p:cNvSpPr>
            <p:nvPr/>
          </p:nvSpPr>
          <p:spPr bwMode="auto">
            <a:xfrm>
              <a:off x="1624" y="2680"/>
              <a:ext cx="288" cy="288"/>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45070" name="Text Box 55"/>
            <p:cNvSpPr txBox="1">
              <a:spLocks noChangeArrowheads="1"/>
            </p:cNvSpPr>
            <p:nvPr/>
          </p:nvSpPr>
          <p:spPr bwMode="auto">
            <a:xfrm>
              <a:off x="2256" y="2216"/>
              <a:ext cx="352"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5071" name="Text Box 56"/>
            <p:cNvSpPr txBox="1">
              <a:spLocks noChangeArrowheads="1"/>
            </p:cNvSpPr>
            <p:nvPr/>
          </p:nvSpPr>
          <p:spPr bwMode="auto">
            <a:xfrm>
              <a:off x="2496" y="2688"/>
              <a:ext cx="384"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5072" name="Text Box 57"/>
            <p:cNvSpPr txBox="1">
              <a:spLocks noChangeArrowheads="1"/>
            </p:cNvSpPr>
            <p:nvPr/>
          </p:nvSpPr>
          <p:spPr bwMode="auto">
            <a:xfrm>
              <a:off x="3888" y="1472"/>
              <a:ext cx="288"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5073" name="Text Box 58"/>
            <p:cNvSpPr txBox="1">
              <a:spLocks noChangeArrowheads="1"/>
            </p:cNvSpPr>
            <p:nvPr/>
          </p:nvSpPr>
          <p:spPr bwMode="auto">
            <a:xfrm>
              <a:off x="3472" y="1880"/>
              <a:ext cx="288"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5074" name="Text Box 59"/>
            <p:cNvSpPr txBox="1">
              <a:spLocks noChangeArrowheads="1"/>
            </p:cNvSpPr>
            <p:nvPr/>
          </p:nvSpPr>
          <p:spPr bwMode="auto">
            <a:xfrm>
              <a:off x="616" y="2640"/>
              <a:ext cx="288"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5075" name="Text Box 60"/>
            <p:cNvSpPr txBox="1">
              <a:spLocks noChangeArrowheads="1"/>
            </p:cNvSpPr>
            <p:nvPr/>
          </p:nvSpPr>
          <p:spPr bwMode="auto">
            <a:xfrm>
              <a:off x="3216" y="2272"/>
              <a:ext cx="288"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5076" name="Text Box 61"/>
            <p:cNvSpPr txBox="1">
              <a:spLocks noChangeArrowheads="1"/>
            </p:cNvSpPr>
            <p:nvPr/>
          </p:nvSpPr>
          <p:spPr bwMode="auto">
            <a:xfrm>
              <a:off x="3936" y="2728"/>
              <a:ext cx="288" cy="288"/>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45077" name="Text Box 62"/>
            <p:cNvSpPr txBox="1">
              <a:spLocks noChangeArrowheads="1"/>
            </p:cNvSpPr>
            <p:nvPr/>
          </p:nvSpPr>
          <p:spPr bwMode="auto">
            <a:xfrm>
              <a:off x="3720" y="2264"/>
              <a:ext cx="288"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5078" name="Text Box 63"/>
            <p:cNvSpPr txBox="1">
              <a:spLocks noChangeArrowheads="1"/>
            </p:cNvSpPr>
            <p:nvPr/>
          </p:nvSpPr>
          <p:spPr bwMode="auto">
            <a:xfrm>
              <a:off x="4368" y="1880"/>
              <a:ext cx="288" cy="288"/>
            </a:xfrm>
            <a:prstGeom prst="rect">
              <a:avLst/>
            </a:prstGeom>
            <a:noFill/>
            <a:ln w="9525">
              <a:noFill/>
              <a:miter lim="800000"/>
              <a:headEnd/>
              <a:tailEnd/>
            </a:ln>
          </p:spPr>
          <p:txBody>
            <a:bodyPr>
              <a:spAutoFit/>
            </a:bodyPr>
            <a:lstStyle/>
            <a:p>
              <a:pPr>
                <a:spcBef>
                  <a:spcPct val="50000"/>
                </a:spcBef>
              </a:pPr>
              <a:r>
                <a:rPr lang="bg-BG"/>
                <a:t>8</a:t>
              </a:r>
              <a:endParaRPr lang="en-US"/>
            </a:p>
          </p:txBody>
        </p:sp>
        <p:sp>
          <p:nvSpPr>
            <p:cNvPr id="45079" name="Text Box 65"/>
            <p:cNvSpPr txBox="1">
              <a:spLocks noChangeArrowheads="1"/>
            </p:cNvSpPr>
            <p:nvPr/>
          </p:nvSpPr>
          <p:spPr bwMode="auto">
            <a:xfrm>
              <a:off x="4120" y="2264"/>
              <a:ext cx="288"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5080" name="Text Box 66"/>
            <p:cNvSpPr txBox="1">
              <a:spLocks noChangeArrowheads="1"/>
            </p:cNvSpPr>
            <p:nvPr/>
          </p:nvSpPr>
          <p:spPr bwMode="auto">
            <a:xfrm>
              <a:off x="4584" y="2256"/>
              <a:ext cx="432"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5081" name="Text Box 67"/>
            <p:cNvSpPr txBox="1">
              <a:spLocks noChangeArrowheads="1"/>
            </p:cNvSpPr>
            <p:nvPr/>
          </p:nvSpPr>
          <p:spPr bwMode="auto">
            <a:xfrm>
              <a:off x="4816" y="2728"/>
              <a:ext cx="464"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5082" name="Text Box 68"/>
            <p:cNvSpPr txBox="1">
              <a:spLocks noChangeArrowheads="1"/>
            </p:cNvSpPr>
            <p:nvPr/>
          </p:nvSpPr>
          <p:spPr bwMode="auto">
            <a:xfrm>
              <a:off x="4432" y="2736"/>
              <a:ext cx="288"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5083" name="Line 69"/>
            <p:cNvSpPr>
              <a:spLocks noChangeShapeType="1"/>
            </p:cNvSpPr>
            <p:nvPr/>
          </p:nvSpPr>
          <p:spPr bwMode="auto">
            <a:xfrm>
              <a:off x="2736" y="2160"/>
              <a:ext cx="432" cy="0"/>
            </a:xfrm>
            <a:prstGeom prst="line">
              <a:avLst/>
            </a:prstGeom>
            <a:noFill/>
            <a:ln w="9525">
              <a:solidFill>
                <a:schemeClr val="tx1"/>
              </a:solidFill>
              <a:round/>
              <a:headEnd/>
              <a:tailEnd type="triangle" w="med" len="med"/>
            </a:ln>
          </p:spPr>
          <p:txBody>
            <a:bodyPr wrap="none" anchor="ctr"/>
            <a:lstStyle/>
            <a:p>
              <a:endParaRPr lang="bg-BG"/>
            </a:p>
          </p:txBody>
        </p:sp>
      </p:grpSp>
      <p:sp>
        <p:nvSpPr>
          <p:cNvPr id="45060" name="Text Box 70"/>
          <p:cNvSpPr txBox="1">
            <a:spLocks noChangeArrowheads="1"/>
          </p:cNvSpPr>
          <p:nvPr/>
        </p:nvSpPr>
        <p:spPr bwMode="auto">
          <a:xfrm>
            <a:off x="1331640" y="5157192"/>
            <a:ext cx="7575376" cy="1107996"/>
          </a:xfrm>
          <a:prstGeom prst="rect">
            <a:avLst/>
          </a:prstGeom>
          <a:noFill/>
          <a:ln w="9525">
            <a:noFill/>
            <a:miter lim="800000"/>
            <a:headEnd/>
            <a:tailEnd/>
          </a:ln>
        </p:spPr>
        <p:txBody>
          <a:bodyPr wrap="square">
            <a:spAutoFit/>
          </a:bodyPr>
          <a:lstStyle/>
          <a:p>
            <a:pPr>
              <a:spcBef>
                <a:spcPct val="50000"/>
              </a:spcBef>
            </a:pPr>
            <a:r>
              <a:rPr lang="bg-BG" sz="2200"/>
              <a:t>Структурата на дървото не се променя, но е необходима дясна ротация на лявото поддърво, за да се възстанови баланса</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123"/>
          <p:cNvGrpSpPr>
            <a:grpSpLocks/>
          </p:cNvGrpSpPr>
          <p:nvPr/>
        </p:nvGrpSpPr>
        <p:grpSpPr bwMode="auto">
          <a:xfrm>
            <a:off x="1043608" y="620688"/>
            <a:ext cx="7920880" cy="5791200"/>
            <a:chOff x="240" y="384"/>
            <a:chExt cx="5088" cy="3648"/>
          </a:xfrm>
        </p:grpSpPr>
        <p:grpSp>
          <p:nvGrpSpPr>
            <p:cNvPr id="46083" name="Group 26"/>
            <p:cNvGrpSpPr>
              <a:grpSpLocks/>
            </p:cNvGrpSpPr>
            <p:nvPr/>
          </p:nvGrpSpPr>
          <p:grpSpPr bwMode="auto">
            <a:xfrm>
              <a:off x="336" y="1344"/>
              <a:ext cx="1938" cy="1528"/>
              <a:chOff x="6840" y="1188"/>
              <a:chExt cx="4845" cy="3819"/>
            </a:xfrm>
          </p:grpSpPr>
          <p:sp>
            <p:nvSpPr>
              <p:cNvPr id="46151" name="Oval 27"/>
              <p:cNvSpPr>
                <a:spLocks noChangeArrowheads="1"/>
              </p:cNvSpPr>
              <p:nvPr/>
            </p:nvSpPr>
            <p:spPr bwMode="auto">
              <a:xfrm>
                <a:off x="8550" y="1188"/>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2" name="Oval 28"/>
              <p:cNvSpPr>
                <a:spLocks noChangeArrowheads="1"/>
              </p:cNvSpPr>
              <p:nvPr/>
            </p:nvSpPr>
            <p:spPr bwMode="auto">
              <a:xfrm>
                <a:off x="7467" y="221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3" name="Oval 29"/>
              <p:cNvSpPr>
                <a:spLocks noChangeArrowheads="1"/>
              </p:cNvSpPr>
              <p:nvPr/>
            </p:nvSpPr>
            <p:spPr bwMode="auto">
              <a:xfrm>
                <a:off x="9690" y="221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4" name="Oval 30"/>
              <p:cNvSpPr>
                <a:spLocks noChangeArrowheads="1"/>
              </p:cNvSpPr>
              <p:nvPr/>
            </p:nvSpPr>
            <p:spPr bwMode="auto">
              <a:xfrm>
                <a:off x="9120" y="3171"/>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5" name="Oval 31"/>
              <p:cNvSpPr>
                <a:spLocks noChangeArrowheads="1"/>
              </p:cNvSpPr>
              <p:nvPr/>
            </p:nvSpPr>
            <p:spPr bwMode="auto">
              <a:xfrm>
                <a:off x="8664" y="431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6" name="Oval 32"/>
              <p:cNvSpPr>
                <a:spLocks noChangeArrowheads="1"/>
              </p:cNvSpPr>
              <p:nvPr/>
            </p:nvSpPr>
            <p:spPr bwMode="auto">
              <a:xfrm>
                <a:off x="10374" y="3156"/>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7" name="Oval 33"/>
              <p:cNvSpPr>
                <a:spLocks noChangeArrowheads="1"/>
              </p:cNvSpPr>
              <p:nvPr/>
            </p:nvSpPr>
            <p:spPr bwMode="auto">
              <a:xfrm>
                <a:off x="9861" y="432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8" name="Oval 34"/>
              <p:cNvSpPr>
                <a:spLocks noChangeArrowheads="1"/>
              </p:cNvSpPr>
              <p:nvPr/>
            </p:nvSpPr>
            <p:spPr bwMode="auto">
              <a:xfrm>
                <a:off x="10944" y="432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59" name="Oval 35"/>
              <p:cNvSpPr>
                <a:spLocks noChangeArrowheads="1"/>
              </p:cNvSpPr>
              <p:nvPr/>
            </p:nvSpPr>
            <p:spPr bwMode="auto">
              <a:xfrm>
                <a:off x="8094" y="318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60" name="Oval 36"/>
              <p:cNvSpPr>
                <a:spLocks noChangeArrowheads="1"/>
              </p:cNvSpPr>
              <p:nvPr/>
            </p:nvSpPr>
            <p:spPr bwMode="auto">
              <a:xfrm>
                <a:off x="6840" y="318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61" name="Line 37"/>
              <p:cNvSpPr>
                <a:spLocks noChangeShapeType="1"/>
              </p:cNvSpPr>
              <p:nvPr/>
            </p:nvSpPr>
            <p:spPr bwMode="auto">
              <a:xfrm flipH="1">
                <a:off x="8094" y="1758"/>
                <a:ext cx="513" cy="513"/>
              </a:xfrm>
              <a:prstGeom prst="line">
                <a:avLst/>
              </a:prstGeom>
              <a:noFill/>
              <a:ln w="9525">
                <a:solidFill>
                  <a:srgbClr val="000000"/>
                </a:solidFill>
                <a:round/>
                <a:headEnd/>
                <a:tailEnd type="triangle" w="med" len="med"/>
              </a:ln>
            </p:spPr>
            <p:txBody>
              <a:bodyPr/>
              <a:lstStyle/>
              <a:p>
                <a:endParaRPr lang="bg-BG"/>
              </a:p>
            </p:txBody>
          </p:sp>
          <p:sp>
            <p:nvSpPr>
              <p:cNvPr id="46162" name="Line 38"/>
              <p:cNvSpPr>
                <a:spLocks noChangeShapeType="1"/>
              </p:cNvSpPr>
              <p:nvPr/>
            </p:nvSpPr>
            <p:spPr bwMode="auto">
              <a:xfrm flipH="1">
                <a:off x="7353" y="2841"/>
                <a:ext cx="285" cy="342"/>
              </a:xfrm>
              <a:prstGeom prst="line">
                <a:avLst/>
              </a:prstGeom>
              <a:noFill/>
              <a:ln w="9525">
                <a:solidFill>
                  <a:srgbClr val="000000"/>
                </a:solidFill>
                <a:round/>
                <a:headEnd/>
                <a:tailEnd type="triangle" w="med" len="med"/>
              </a:ln>
            </p:spPr>
            <p:txBody>
              <a:bodyPr/>
              <a:lstStyle/>
              <a:p>
                <a:endParaRPr lang="bg-BG"/>
              </a:p>
            </p:txBody>
          </p:sp>
          <p:sp>
            <p:nvSpPr>
              <p:cNvPr id="46163" name="Line 39"/>
              <p:cNvSpPr>
                <a:spLocks noChangeShapeType="1"/>
              </p:cNvSpPr>
              <p:nvPr/>
            </p:nvSpPr>
            <p:spPr bwMode="auto">
              <a:xfrm>
                <a:off x="8094" y="2841"/>
                <a:ext cx="342" cy="342"/>
              </a:xfrm>
              <a:prstGeom prst="line">
                <a:avLst/>
              </a:prstGeom>
              <a:noFill/>
              <a:ln w="9525">
                <a:solidFill>
                  <a:srgbClr val="000000"/>
                </a:solidFill>
                <a:round/>
                <a:headEnd/>
                <a:tailEnd type="triangle" w="med" len="med"/>
              </a:ln>
            </p:spPr>
            <p:txBody>
              <a:bodyPr/>
              <a:lstStyle/>
              <a:p>
                <a:endParaRPr lang="bg-BG"/>
              </a:p>
            </p:txBody>
          </p:sp>
          <p:sp>
            <p:nvSpPr>
              <p:cNvPr id="46164" name="Line 40"/>
              <p:cNvSpPr>
                <a:spLocks noChangeShapeType="1"/>
              </p:cNvSpPr>
              <p:nvPr/>
            </p:nvSpPr>
            <p:spPr bwMode="auto">
              <a:xfrm>
                <a:off x="9177" y="1758"/>
                <a:ext cx="684" cy="513"/>
              </a:xfrm>
              <a:prstGeom prst="line">
                <a:avLst/>
              </a:prstGeom>
              <a:noFill/>
              <a:ln w="9525">
                <a:solidFill>
                  <a:srgbClr val="000000"/>
                </a:solidFill>
                <a:round/>
                <a:headEnd/>
                <a:tailEnd type="triangle" w="med" len="med"/>
              </a:ln>
            </p:spPr>
            <p:txBody>
              <a:bodyPr/>
              <a:lstStyle/>
              <a:p>
                <a:endParaRPr lang="bg-BG"/>
              </a:p>
            </p:txBody>
          </p:sp>
          <p:sp>
            <p:nvSpPr>
              <p:cNvPr id="46165" name="Line 41"/>
              <p:cNvSpPr>
                <a:spLocks noChangeShapeType="1"/>
              </p:cNvSpPr>
              <p:nvPr/>
            </p:nvSpPr>
            <p:spPr bwMode="auto">
              <a:xfrm flipH="1">
                <a:off x="9633" y="2841"/>
                <a:ext cx="228" cy="342"/>
              </a:xfrm>
              <a:prstGeom prst="line">
                <a:avLst/>
              </a:prstGeom>
              <a:noFill/>
              <a:ln w="9525">
                <a:solidFill>
                  <a:srgbClr val="000000"/>
                </a:solidFill>
                <a:round/>
                <a:headEnd/>
                <a:tailEnd type="triangle" w="med" len="med"/>
              </a:ln>
            </p:spPr>
            <p:txBody>
              <a:bodyPr/>
              <a:lstStyle/>
              <a:p>
                <a:endParaRPr lang="bg-BG"/>
              </a:p>
            </p:txBody>
          </p:sp>
          <p:sp>
            <p:nvSpPr>
              <p:cNvPr id="46166" name="Line 42"/>
              <p:cNvSpPr>
                <a:spLocks noChangeShapeType="1"/>
              </p:cNvSpPr>
              <p:nvPr/>
            </p:nvSpPr>
            <p:spPr bwMode="auto">
              <a:xfrm flipH="1">
                <a:off x="9120" y="3810"/>
                <a:ext cx="228" cy="513"/>
              </a:xfrm>
              <a:prstGeom prst="line">
                <a:avLst/>
              </a:prstGeom>
              <a:noFill/>
              <a:ln w="9525">
                <a:solidFill>
                  <a:srgbClr val="000000"/>
                </a:solidFill>
                <a:round/>
                <a:headEnd/>
                <a:tailEnd type="triangle" w="med" len="med"/>
              </a:ln>
            </p:spPr>
            <p:txBody>
              <a:bodyPr/>
              <a:lstStyle/>
              <a:p>
                <a:endParaRPr lang="bg-BG"/>
              </a:p>
            </p:txBody>
          </p:sp>
          <p:sp>
            <p:nvSpPr>
              <p:cNvPr id="46167" name="Line 43"/>
              <p:cNvSpPr>
                <a:spLocks noChangeShapeType="1"/>
              </p:cNvSpPr>
              <p:nvPr/>
            </p:nvSpPr>
            <p:spPr bwMode="auto">
              <a:xfrm>
                <a:off x="10887" y="3810"/>
                <a:ext cx="342" cy="513"/>
              </a:xfrm>
              <a:prstGeom prst="line">
                <a:avLst/>
              </a:prstGeom>
              <a:noFill/>
              <a:ln w="9525">
                <a:solidFill>
                  <a:srgbClr val="000000"/>
                </a:solidFill>
                <a:round/>
                <a:headEnd/>
                <a:tailEnd type="triangle" w="med" len="med"/>
              </a:ln>
            </p:spPr>
            <p:txBody>
              <a:bodyPr/>
              <a:lstStyle/>
              <a:p>
                <a:endParaRPr lang="bg-BG"/>
              </a:p>
            </p:txBody>
          </p:sp>
          <p:sp>
            <p:nvSpPr>
              <p:cNvPr id="46168" name="Line 44"/>
              <p:cNvSpPr>
                <a:spLocks noChangeShapeType="1"/>
              </p:cNvSpPr>
              <p:nvPr/>
            </p:nvSpPr>
            <p:spPr bwMode="auto">
              <a:xfrm>
                <a:off x="10260" y="2841"/>
                <a:ext cx="342" cy="342"/>
              </a:xfrm>
              <a:prstGeom prst="line">
                <a:avLst/>
              </a:prstGeom>
              <a:noFill/>
              <a:ln w="9525">
                <a:solidFill>
                  <a:srgbClr val="000000"/>
                </a:solidFill>
                <a:round/>
                <a:headEnd/>
                <a:tailEnd type="triangle" w="med" len="med"/>
              </a:ln>
            </p:spPr>
            <p:txBody>
              <a:bodyPr/>
              <a:lstStyle/>
              <a:p>
                <a:endParaRPr lang="bg-BG"/>
              </a:p>
            </p:txBody>
          </p:sp>
          <p:sp>
            <p:nvSpPr>
              <p:cNvPr id="46169" name="Line 45"/>
              <p:cNvSpPr>
                <a:spLocks noChangeShapeType="1"/>
              </p:cNvSpPr>
              <p:nvPr/>
            </p:nvSpPr>
            <p:spPr bwMode="auto">
              <a:xfrm flipH="1">
                <a:off x="10260" y="3810"/>
                <a:ext cx="285" cy="513"/>
              </a:xfrm>
              <a:prstGeom prst="line">
                <a:avLst/>
              </a:prstGeom>
              <a:noFill/>
              <a:ln w="9525">
                <a:solidFill>
                  <a:srgbClr val="000000"/>
                </a:solidFill>
                <a:round/>
                <a:headEnd/>
                <a:tailEnd type="triangle" w="med" len="med"/>
              </a:ln>
            </p:spPr>
            <p:txBody>
              <a:bodyPr/>
              <a:lstStyle/>
              <a:p>
                <a:endParaRPr lang="bg-BG"/>
              </a:p>
            </p:txBody>
          </p:sp>
        </p:grpSp>
        <p:sp>
          <p:nvSpPr>
            <p:cNvPr id="46084" name="Text Box 46"/>
            <p:cNvSpPr txBox="1">
              <a:spLocks noChangeArrowheads="1"/>
            </p:cNvSpPr>
            <p:nvPr/>
          </p:nvSpPr>
          <p:spPr bwMode="auto">
            <a:xfrm>
              <a:off x="1040" y="1328"/>
              <a:ext cx="288"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6085" name="Text Box 47"/>
            <p:cNvSpPr txBox="1">
              <a:spLocks noChangeArrowheads="1"/>
            </p:cNvSpPr>
            <p:nvPr/>
          </p:nvSpPr>
          <p:spPr bwMode="auto">
            <a:xfrm>
              <a:off x="624" y="1736"/>
              <a:ext cx="288"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6086" name="Text Box 48"/>
            <p:cNvSpPr txBox="1">
              <a:spLocks noChangeArrowheads="1"/>
            </p:cNvSpPr>
            <p:nvPr/>
          </p:nvSpPr>
          <p:spPr bwMode="auto">
            <a:xfrm>
              <a:off x="368" y="2128"/>
              <a:ext cx="288"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6087" name="Text Box 49"/>
            <p:cNvSpPr txBox="1">
              <a:spLocks noChangeArrowheads="1"/>
            </p:cNvSpPr>
            <p:nvPr/>
          </p:nvSpPr>
          <p:spPr bwMode="auto">
            <a:xfrm>
              <a:off x="1088" y="2584"/>
              <a:ext cx="288" cy="288"/>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46088" name="Text Box 50"/>
            <p:cNvSpPr txBox="1">
              <a:spLocks noChangeArrowheads="1"/>
            </p:cNvSpPr>
            <p:nvPr/>
          </p:nvSpPr>
          <p:spPr bwMode="auto">
            <a:xfrm>
              <a:off x="872" y="2120"/>
              <a:ext cx="288"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6089" name="Text Box 51"/>
            <p:cNvSpPr txBox="1">
              <a:spLocks noChangeArrowheads="1"/>
            </p:cNvSpPr>
            <p:nvPr/>
          </p:nvSpPr>
          <p:spPr bwMode="auto">
            <a:xfrm>
              <a:off x="1504" y="1736"/>
              <a:ext cx="288" cy="288"/>
            </a:xfrm>
            <a:prstGeom prst="rect">
              <a:avLst/>
            </a:prstGeom>
            <a:noFill/>
            <a:ln w="9525">
              <a:noFill/>
              <a:miter lim="800000"/>
              <a:headEnd/>
              <a:tailEnd/>
            </a:ln>
          </p:spPr>
          <p:txBody>
            <a:bodyPr>
              <a:spAutoFit/>
            </a:bodyPr>
            <a:lstStyle/>
            <a:p>
              <a:pPr>
                <a:spcBef>
                  <a:spcPct val="50000"/>
                </a:spcBef>
              </a:pPr>
              <a:r>
                <a:rPr lang="bg-BG">
                  <a:solidFill>
                    <a:srgbClr val="CC0066"/>
                  </a:solidFill>
                </a:rPr>
                <a:t>8</a:t>
              </a:r>
              <a:endParaRPr lang="en-US"/>
            </a:p>
          </p:txBody>
        </p:sp>
        <p:sp>
          <p:nvSpPr>
            <p:cNvPr id="46090" name="Text Box 52"/>
            <p:cNvSpPr txBox="1">
              <a:spLocks noChangeArrowheads="1"/>
            </p:cNvSpPr>
            <p:nvPr/>
          </p:nvSpPr>
          <p:spPr bwMode="auto">
            <a:xfrm>
              <a:off x="1272" y="2120"/>
              <a:ext cx="288"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6091" name="Text Box 53"/>
            <p:cNvSpPr txBox="1">
              <a:spLocks noChangeArrowheads="1"/>
            </p:cNvSpPr>
            <p:nvPr/>
          </p:nvSpPr>
          <p:spPr bwMode="auto">
            <a:xfrm>
              <a:off x="1736" y="2112"/>
              <a:ext cx="432"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6092" name="Text Box 54"/>
            <p:cNvSpPr txBox="1">
              <a:spLocks noChangeArrowheads="1"/>
            </p:cNvSpPr>
            <p:nvPr/>
          </p:nvSpPr>
          <p:spPr bwMode="auto">
            <a:xfrm>
              <a:off x="1968" y="2584"/>
              <a:ext cx="464"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6093" name="Text Box 55"/>
            <p:cNvSpPr txBox="1">
              <a:spLocks noChangeArrowheads="1"/>
            </p:cNvSpPr>
            <p:nvPr/>
          </p:nvSpPr>
          <p:spPr bwMode="auto">
            <a:xfrm>
              <a:off x="1584" y="2592"/>
              <a:ext cx="288" cy="288"/>
            </a:xfrm>
            <a:prstGeom prst="rect">
              <a:avLst/>
            </a:prstGeom>
            <a:noFill/>
            <a:ln w="9525">
              <a:noFill/>
              <a:miter lim="800000"/>
              <a:headEnd/>
              <a:tailEnd/>
            </a:ln>
          </p:spPr>
          <p:txBody>
            <a:bodyPr>
              <a:spAutoFit/>
            </a:bodyPr>
            <a:lstStyle/>
            <a:p>
              <a:pPr>
                <a:spcBef>
                  <a:spcPct val="50000"/>
                </a:spcBef>
              </a:pPr>
              <a:r>
                <a:rPr lang="bg-BG"/>
                <a:t>9</a:t>
              </a:r>
              <a:endParaRPr lang="en-US"/>
            </a:p>
          </p:txBody>
        </p:sp>
        <p:grpSp>
          <p:nvGrpSpPr>
            <p:cNvPr id="46094" name="Group 56"/>
            <p:cNvGrpSpPr>
              <a:grpSpLocks/>
            </p:cNvGrpSpPr>
            <p:nvPr/>
          </p:nvGrpSpPr>
          <p:grpSpPr bwMode="auto">
            <a:xfrm>
              <a:off x="2832" y="480"/>
              <a:ext cx="1984" cy="3420"/>
              <a:chOff x="6555" y="5928"/>
              <a:chExt cx="4959" cy="8550"/>
            </a:xfrm>
          </p:grpSpPr>
          <p:sp>
            <p:nvSpPr>
              <p:cNvPr id="46117" name="Oval 57"/>
              <p:cNvSpPr>
                <a:spLocks noChangeArrowheads="1"/>
              </p:cNvSpPr>
              <p:nvPr/>
            </p:nvSpPr>
            <p:spPr bwMode="auto">
              <a:xfrm>
                <a:off x="8379" y="10659"/>
                <a:ext cx="741" cy="684"/>
              </a:xfrm>
              <a:prstGeom prst="ellipse">
                <a:avLst/>
              </a:prstGeom>
              <a:solidFill>
                <a:srgbClr val="FFFFFF"/>
              </a:solidFill>
              <a:ln w="9525">
                <a:solidFill>
                  <a:srgbClr val="000000"/>
                </a:solidFill>
                <a:round/>
                <a:headEnd/>
                <a:tailEnd/>
              </a:ln>
            </p:spPr>
            <p:txBody>
              <a:bodyPr/>
              <a:lstStyle/>
              <a:p>
                <a:endParaRPr lang="bg-BG"/>
              </a:p>
            </p:txBody>
          </p:sp>
          <p:sp>
            <p:nvSpPr>
              <p:cNvPr id="46118" name="Oval 58"/>
              <p:cNvSpPr>
                <a:spLocks noChangeArrowheads="1"/>
              </p:cNvSpPr>
              <p:nvPr/>
            </p:nvSpPr>
            <p:spPr bwMode="auto">
              <a:xfrm>
                <a:off x="7296" y="11685"/>
                <a:ext cx="741" cy="684"/>
              </a:xfrm>
              <a:prstGeom prst="ellipse">
                <a:avLst/>
              </a:prstGeom>
              <a:solidFill>
                <a:srgbClr val="FFFFFF"/>
              </a:solidFill>
              <a:ln w="9525">
                <a:solidFill>
                  <a:srgbClr val="000000"/>
                </a:solidFill>
                <a:round/>
                <a:headEnd/>
                <a:tailEnd/>
              </a:ln>
            </p:spPr>
            <p:txBody>
              <a:bodyPr/>
              <a:lstStyle/>
              <a:p>
                <a:endParaRPr lang="bg-BG"/>
              </a:p>
            </p:txBody>
          </p:sp>
          <p:sp>
            <p:nvSpPr>
              <p:cNvPr id="46119" name="Oval 59"/>
              <p:cNvSpPr>
                <a:spLocks noChangeArrowheads="1"/>
              </p:cNvSpPr>
              <p:nvPr/>
            </p:nvSpPr>
            <p:spPr bwMode="auto">
              <a:xfrm>
                <a:off x="9519" y="11685"/>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0" name="Oval 60"/>
              <p:cNvSpPr>
                <a:spLocks noChangeArrowheads="1"/>
              </p:cNvSpPr>
              <p:nvPr/>
            </p:nvSpPr>
            <p:spPr bwMode="auto">
              <a:xfrm>
                <a:off x="8949" y="12642"/>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1" name="Oval 61"/>
              <p:cNvSpPr>
                <a:spLocks noChangeArrowheads="1"/>
              </p:cNvSpPr>
              <p:nvPr/>
            </p:nvSpPr>
            <p:spPr bwMode="auto">
              <a:xfrm>
                <a:off x="10203" y="12627"/>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2" name="Oval 62"/>
              <p:cNvSpPr>
                <a:spLocks noChangeArrowheads="1"/>
              </p:cNvSpPr>
              <p:nvPr/>
            </p:nvSpPr>
            <p:spPr bwMode="auto">
              <a:xfrm>
                <a:off x="9690" y="1379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3" name="Oval 63"/>
              <p:cNvSpPr>
                <a:spLocks noChangeArrowheads="1"/>
              </p:cNvSpPr>
              <p:nvPr/>
            </p:nvSpPr>
            <p:spPr bwMode="auto">
              <a:xfrm>
                <a:off x="10773" y="1379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4" name="Oval 64"/>
              <p:cNvSpPr>
                <a:spLocks noChangeArrowheads="1"/>
              </p:cNvSpPr>
              <p:nvPr/>
            </p:nvSpPr>
            <p:spPr bwMode="auto">
              <a:xfrm>
                <a:off x="7923" y="1265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5" name="Oval 65"/>
              <p:cNvSpPr>
                <a:spLocks noChangeArrowheads="1"/>
              </p:cNvSpPr>
              <p:nvPr/>
            </p:nvSpPr>
            <p:spPr bwMode="auto">
              <a:xfrm>
                <a:off x="6669" y="1265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26" name="Line 66"/>
              <p:cNvSpPr>
                <a:spLocks noChangeShapeType="1"/>
              </p:cNvSpPr>
              <p:nvPr/>
            </p:nvSpPr>
            <p:spPr bwMode="auto">
              <a:xfrm flipH="1">
                <a:off x="7923" y="11229"/>
                <a:ext cx="513" cy="513"/>
              </a:xfrm>
              <a:prstGeom prst="line">
                <a:avLst/>
              </a:prstGeom>
              <a:noFill/>
              <a:ln w="9525">
                <a:solidFill>
                  <a:srgbClr val="000000"/>
                </a:solidFill>
                <a:round/>
                <a:headEnd/>
                <a:tailEnd type="triangle" w="med" len="med"/>
              </a:ln>
            </p:spPr>
            <p:txBody>
              <a:bodyPr/>
              <a:lstStyle/>
              <a:p>
                <a:endParaRPr lang="bg-BG"/>
              </a:p>
            </p:txBody>
          </p:sp>
          <p:sp>
            <p:nvSpPr>
              <p:cNvPr id="46127" name="Line 67"/>
              <p:cNvSpPr>
                <a:spLocks noChangeShapeType="1"/>
              </p:cNvSpPr>
              <p:nvPr/>
            </p:nvSpPr>
            <p:spPr bwMode="auto">
              <a:xfrm flipH="1">
                <a:off x="7182" y="12312"/>
                <a:ext cx="285" cy="342"/>
              </a:xfrm>
              <a:prstGeom prst="line">
                <a:avLst/>
              </a:prstGeom>
              <a:noFill/>
              <a:ln w="9525">
                <a:solidFill>
                  <a:srgbClr val="000000"/>
                </a:solidFill>
                <a:round/>
                <a:headEnd/>
                <a:tailEnd type="triangle" w="med" len="med"/>
              </a:ln>
            </p:spPr>
            <p:txBody>
              <a:bodyPr/>
              <a:lstStyle/>
              <a:p>
                <a:endParaRPr lang="bg-BG"/>
              </a:p>
            </p:txBody>
          </p:sp>
          <p:sp>
            <p:nvSpPr>
              <p:cNvPr id="46128" name="Line 68"/>
              <p:cNvSpPr>
                <a:spLocks noChangeShapeType="1"/>
              </p:cNvSpPr>
              <p:nvPr/>
            </p:nvSpPr>
            <p:spPr bwMode="auto">
              <a:xfrm>
                <a:off x="7923" y="12312"/>
                <a:ext cx="342" cy="342"/>
              </a:xfrm>
              <a:prstGeom prst="line">
                <a:avLst/>
              </a:prstGeom>
              <a:noFill/>
              <a:ln w="9525">
                <a:solidFill>
                  <a:srgbClr val="000000"/>
                </a:solidFill>
                <a:round/>
                <a:headEnd/>
                <a:tailEnd type="triangle" w="med" len="med"/>
              </a:ln>
            </p:spPr>
            <p:txBody>
              <a:bodyPr/>
              <a:lstStyle/>
              <a:p>
                <a:endParaRPr lang="bg-BG"/>
              </a:p>
            </p:txBody>
          </p:sp>
          <p:sp>
            <p:nvSpPr>
              <p:cNvPr id="46129" name="Line 69"/>
              <p:cNvSpPr>
                <a:spLocks noChangeShapeType="1"/>
              </p:cNvSpPr>
              <p:nvPr/>
            </p:nvSpPr>
            <p:spPr bwMode="auto">
              <a:xfrm>
                <a:off x="9006" y="11229"/>
                <a:ext cx="684" cy="513"/>
              </a:xfrm>
              <a:prstGeom prst="line">
                <a:avLst/>
              </a:prstGeom>
              <a:noFill/>
              <a:ln w="9525">
                <a:solidFill>
                  <a:srgbClr val="000000"/>
                </a:solidFill>
                <a:round/>
                <a:headEnd/>
                <a:tailEnd type="triangle" w="med" len="med"/>
              </a:ln>
            </p:spPr>
            <p:txBody>
              <a:bodyPr/>
              <a:lstStyle/>
              <a:p>
                <a:endParaRPr lang="bg-BG"/>
              </a:p>
            </p:txBody>
          </p:sp>
          <p:sp>
            <p:nvSpPr>
              <p:cNvPr id="46130" name="Line 70"/>
              <p:cNvSpPr>
                <a:spLocks noChangeShapeType="1"/>
              </p:cNvSpPr>
              <p:nvPr/>
            </p:nvSpPr>
            <p:spPr bwMode="auto">
              <a:xfrm flipH="1">
                <a:off x="9462" y="12312"/>
                <a:ext cx="228" cy="342"/>
              </a:xfrm>
              <a:prstGeom prst="line">
                <a:avLst/>
              </a:prstGeom>
              <a:noFill/>
              <a:ln w="9525">
                <a:solidFill>
                  <a:srgbClr val="000000"/>
                </a:solidFill>
                <a:round/>
                <a:headEnd/>
                <a:tailEnd type="triangle" w="med" len="med"/>
              </a:ln>
            </p:spPr>
            <p:txBody>
              <a:bodyPr/>
              <a:lstStyle/>
              <a:p>
                <a:endParaRPr lang="bg-BG"/>
              </a:p>
            </p:txBody>
          </p:sp>
          <p:sp>
            <p:nvSpPr>
              <p:cNvPr id="46131" name="Line 71"/>
              <p:cNvSpPr>
                <a:spLocks noChangeShapeType="1"/>
              </p:cNvSpPr>
              <p:nvPr/>
            </p:nvSpPr>
            <p:spPr bwMode="auto">
              <a:xfrm>
                <a:off x="10716" y="13281"/>
                <a:ext cx="342" cy="513"/>
              </a:xfrm>
              <a:prstGeom prst="line">
                <a:avLst/>
              </a:prstGeom>
              <a:noFill/>
              <a:ln w="9525">
                <a:solidFill>
                  <a:srgbClr val="000000"/>
                </a:solidFill>
                <a:round/>
                <a:headEnd/>
                <a:tailEnd type="triangle" w="med" len="med"/>
              </a:ln>
            </p:spPr>
            <p:txBody>
              <a:bodyPr/>
              <a:lstStyle/>
              <a:p>
                <a:endParaRPr lang="bg-BG"/>
              </a:p>
            </p:txBody>
          </p:sp>
          <p:sp>
            <p:nvSpPr>
              <p:cNvPr id="46132" name="Line 72"/>
              <p:cNvSpPr>
                <a:spLocks noChangeShapeType="1"/>
              </p:cNvSpPr>
              <p:nvPr/>
            </p:nvSpPr>
            <p:spPr bwMode="auto">
              <a:xfrm>
                <a:off x="10089" y="12312"/>
                <a:ext cx="342" cy="342"/>
              </a:xfrm>
              <a:prstGeom prst="line">
                <a:avLst/>
              </a:prstGeom>
              <a:noFill/>
              <a:ln w="9525">
                <a:solidFill>
                  <a:srgbClr val="000000"/>
                </a:solidFill>
                <a:round/>
                <a:headEnd/>
                <a:tailEnd type="triangle" w="med" len="med"/>
              </a:ln>
            </p:spPr>
            <p:txBody>
              <a:bodyPr/>
              <a:lstStyle/>
              <a:p>
                <a:endParaRPr lang="bg-BG"/>
              </a:p>
            </p:txBody>
          </p:sp>
          <p:sp>
            <p:nvSpPr>
              <p:cNvPr id="46133" name="Line 73"/>
              <p:cNvSpPr>
                <a:spLocks noChangeShapeType="1"/>
              </p:cNvSpPr>
              <p:nvPr/>
            </p:nvSpPr>
            <p:spPr bwMode="auto">
              <a:xfrm flipH="1">
                <a:off x="10089" y="13281"/>
                <a:ext cx="285" cy="513"/>
              </a:xfrm>
              <a:prstGeom prst="line">
                <a:avLst/>
              </a:prstGeom>
              <a:noFill/>
              <a:ln w="9525">
                <a:solidFill>
                  <a:srgbClr val="000000"/>
                </a:solidFill>
                <a:round/>
                <a:headEnd/>
                <a:tailEnd type="triangle" w="med" len="med"/>
              </a:ln>
            </p:spPr>
            <p:txBody>
              <a:bodyPr/>
              <a:lstStyle/>
              <a:p>
                <a:endParaRPr lang="bg-BG"/>
              </a:p>
            </p:txBody>
          </p:sp>
          <p:sp>
            <p:nvSpPr>
              <p:cNvPr id="46134" name="Oval 74"/>
              <p:cNvSpPr>
                <a:spLocks noChangeArrowheads="1"/>
              </p:cNvSpPr>
              <p:nvPr/>
            </p:nvSpPr>
            <p:spPr bwMode="auto">
              <a:xfrm>
                <a:off x="8265" y="5928"/>
                <a:ext cx="741" cy="684"/>
              </a:xfrm>
              <a:prstGeom prst="ellipse">
                <a:avLst/>
              </a:prstGeom>
              <a:solidFill>
                <a:srgbClr val="FFFFFF"/>
              </a:solidFill>
              <a:ln w="9525">
                <a:solidFill>
                  <a:srgbClr val="000000"/>
                </a:solidFill>
                <a:round/>
                <a:headEnd/>
                <a:tailEnd/>
              </a:ln>
            </p:spPr>
            <p:txBody>
              <a:bodyPr/>
              <a:lstStyle/>
              <a:p>
                <a:endParaRPr lang="bg-BG"/>
              </a:p>
            </p:txBody>
          </p:sp>
          <p:sp>
            <p:nvSpPr>
              <p:cNvPr id="46135" name="Oval 75"/>
              <p:cNvSpPr>
                <a:spLocks noChangeArrowheads="1"/>
              </p:cNvSpPr>
              <p:nvPr/>
            </p:nvSpPr>
            <p:spPr bwMode="auto">
              <a:xfrm>
                <a:off x="7182" y="695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36" name="Oval 76"/>
              <p:cNvSpPr>
                <a:spLocks noChangeArrowheads="1"/>
              </p:cNvSpPr>
              <p:nvPr/>
            </p:nvSpPr>
            <p:spPr bwMode="auto">
              <a:xfrm>
                <a:off x="9405" y="695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37" name="Oval 77"/>
              <p:cNvSpPr>
                <a:spLocks noChangeArrowheads="1"/>
              </p:cNvSpPr>
              <p:nvPr/>
            </p:nvSpPr>
            <p:spPr bwMode="auto">
              <a:xfrm>
                <a:off x="8835" y="7911"/>
                <a:ext cx="741" cy="684"/>
              </a:xfrm>
              <a:prstGeom prst="ellipse">
                <a:avLst/>
              </a:prstGeom>
              <a:solidFill>
                <a:srgbClr val="FFFFFF"/>
              </a:solidFill>
              <a:ln w="9525">
                <a:solidFill>
                  <a:srgbClr val="000000"/>
                </a:solidFill>
                <a:round/>
                <a:headEnd/>
                <a:tailEnd/>
              </a:ln>
            </p:spPr>
            <p:txBody>
              <a:bodyPr/>
              <a:lstStyle/>
              <a:p>
                <a:endParaRPr lang="bg-BG"/>
              </a:p>
            </p:txBody>
          </p:sp>
          <p:sp>
            <p:nvSpPr>
              <p:cNvPr id="46138" name="Oval 78"/>
              <p:cNvSpPr>
                <a:spLocks noChangeArrowheads="1"/>
              </p:cNvSpPr>
              <p:nvPr/>
            </p:nvSpPr>
            <p:spPr bwMode="auto">
              <a:xfrm>
                <a:off x="8379" y="9054"/>
                <a:ext cx="741" cy="684"/>
              </a:xfrm>
              <a:prstGeom prst="ellipse">
                <a:avLst/>
              </a:prstGeom>
              <a:solidFill>
                <a:srgbClr val="FFFFFF"/>
              </a:solidFill>
              <a:ln w="9525">
                <a:solidFill>
                  <a:srgbClr val="000000"/>
                </a:solidFill>
                <a:round/>
                <a:headEnd/>
                <a:tailEnd/>
              </a:ln>
            </p:spPr>
            <p:txBody>
              <a:bodyPr/>
              <a:lstStyle/>
              <a:p>
                <a:endParaRPr lang="bg-BG"/>
              </a:p>
            </p:txBody>
          </p:sp>
          <p:sp>
            <p:nvSpPr>
              <p:cNvPr id="46139" name="Oval 79"/>
              <p:cNvSpPr>
                <a:spLocks noChangeArrowheads="1"/>
              </p:cNvSpPr>
              <p:nvPr/>
            </p:nvSpPr>
            <p:spPr bwMode="auto">
              <a:xfrm>
                <a:off x="10089" y="7896"/>
                <a:ext cx="741" cy="684"/>
              </a:xfrm>
              <a:prstGeom prst="ellipse">
                <a:avLst/>
              </a:prstGeom>
              <a:solidFill>
                <a:srgbClr val="FFFFFF"/>
              </a:solidFill>
              <a:ln w="9525">
                <a:solidFill>
                  <a:srgbClr val="000000"/>
                </a:solidFill>
                <a:round/>
                <a:headEnd/>
                <a:tailEnd/>
              </a:ln>
            </p:spPr>
            <p:txBody>
              <a:bodyPr/>
              <a:lstStyle/>
              <a:p>
                <a:endParaRPr lang="bg-BG"/>
              </a:p>
            </p:txBody>
          </p:sp>
          <p:sp>
            <p:nvSpPr>
              <p:cNvPr id="46140" name="Oval 80"/>
              <p:cNvSpPr>
                <a:spLocks noChangeArrowheads="1"/>
              </p:cNvSpPr>
              <p:nvPr/>
            </p:nvSpPr>
            <p:spPr bwMode="auto">
              <a:xfrm>
                <a:off x="10659" y="906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41" name="Oval 81"/>
              <p:cNvSpPr>
                <a:spLocks noChangeArrowheads="1"/>
              </p:cNvSpPr>
              <p:nvPr/>
            </p:nvSpPr>
            <p:spPr bwMode="auto">
              <a:xfrm>
                <a:off x="7809" y="792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42" name="Oval 82"/>
              <p:cNvSpPr>
                <a:spLocks noChangeArrowheads="1"/>
              </p:cNvSpPr>
              <p:nvPr/>
            </p:nvSpPr>
            <p:spPr bwMode="auto">
              <a:xfrm>
                <a:off x="6555" y="7923"/>
                <a:ext cx="741" cy="684"/>
              </a:xfrm>
              <a:prstGeom prst="ellipse">
                <a:avLst/>
              </a:prstGeom>
              <a:solidFill>
                <a:srgbClr val="FFFFFF"/>
              </a:solidFill>
              <a:ln w="9525">
                <a:solidFill>
                  <a:srgbClr val="000000"/>
                </a:solidFill>
                <a:round/>
                <a:headEnd/>
                <a:tailEnd/>
              </a:ln>
            </p:spPr>
            <p:txBody>
              <a:bodyPr/>
              <a:lstStyle/>
              <a:p>
                <a:endParaRPr lang="bg-BG"/>
              </a:p>
            </p:txBody>
          </p:sp>
          <p:sp>
            <p:nvSpPr>
              <p:cNvPr id="46143" name="Line 83"/>
              <p:cNvSpPr>
                <a:spLocks noChangeShapeType="1"/>
              </p:cNvSpPr>
              <p:nvPr/>
            </p:nvSpPr>
            <p:spPr bwMode="auto">
              <a:xfrm flipH="1">
                <a:off x="7809" y="6498"/>
                <a:ext cx="513" cy="513"/>
              </a:xfrm>
              <a:prstGeom prst="line">
                <a:avLst/>
              </a:prstGeom>
              <a:noFill/>
              <a:ln w="9525">
                <a:solidFill>
                  <a:srgbClr val="000000"/>
                </a:solidFill>
                <a:round/>
                <a:headEnd/>
                <a:tailEnd type="triangle" w="med" len="med"/>
              </a:ln>
            </p:spPr>
            <p:txBody>
              <a:bodyPr/>
              <a:lstStyle/>
              <a:p>
                <a:endParaRPr lang="bg-BG"/>
              </a:p>
            </p:txBody>
          </p:sp>
          <p:sp>
            <p:nvSpPr>
              <p:cNvPr id="46144" name="Line 84"/>
              <p:cNvSpPr>
                <a:spLocks noChangeShapeType="1"/>
              </p:cNvSpPr>
              <p:nvPr/>
            </p:nvSpPr>
            <p:spPr bwMode="auto">
              <a:xfrm flipH="1">
                <a:off x="7068" y="7581"/>
                <a:ext cx="285" cy="342"/>
              </a:xfrm>
              <a:prstGeom prst="line">
                <a:avLst/>
              </a:prstGeom>
              <a:noFill/>
              <a:ln w="9525">
                <a:solidFill>
                  <a:srgbClr val="000000"/>
                </a:solidFill>
                <a:round/>
                <a:headEnd/>
                <a:tailEnd type="triangle" w="med" len="med"/>
              </a:ln>
            </p:spPr>
            <p:txBody>
              <a:bodyPr/>
              <a:lstStyle/>
              <a:p>
                <a:endParaRPr lang="bg-BG"/>
              </a:p>
            </p:txBody>
          </p:sp>
          <p:sp>
            <p:nvSpPr>
              <p:cNvPr id="46145" name="Line 85"/>
              <p:cNvSpPr>
                <a:spLocks noChangeShapeType="1"/>
              </p:cNvSpPr>
              <p:nvPr/>
            </p:nvSpPr>
            <p:spPr bwMode="auto">
              <a:xfrm>
                <a:off x="7809" y="7581"/>
                <a:ext cx="342" cy="342"/>
              </a:xfrm>
              <a:prstGeom prst="line">
                <a:avLst/>
              </a:prstGeom>
              <a:noFill/>
              <a:ln w="9525">
                <a:solidFill>
                  <a:srgbClr val="000000"/>
                </a:solidFill>
                <a:round/>
                <a:headEnd/>
                <a:tailEnd type="triangle" w="med" len="med"/>
              </a:ln>
            </p:spPr>
            <p:txBody>
              <a:bodyPr/>
              <a:lstStyle/>
              <a:p>
                <a:endParaRPr lang="bg-BG"/>
              </a:p>
            </p:txBody>
          </p:sp>
          <p:sp>
            <p:nvSpPr>
              <p:cNvPr id="46146" name="Line 86"/>
              <p:cNvSpPr>
                <a:spLocks noChangeShapeType="1"/>
              </p:cNvSpPr>
              <p:nvPr/>
            </p:nvSpPr>
            <p:spPr bwMode="auto">
              <a:xfrm>
                <a:off x="8892" y="6498"/>
                <a:ext cx="684" cy="513"/>
              </a:xfrm>
              <a:prstGeom prst="line">
                <a:avLst/>
              </a:prstGeom>
              <a:noFill/>
              <a:ln w="9525">
                <a:solidFill>
                  <a:srgbClr val="000000"/>
                </a:solidFill>
                <a:round/>
                <a:headEnd/>
                <a:tailEnd type="triangle" w="med" len="med"/>
              </a:ln>
            </p:spPr>
            <p:txBody>
              <a:bodyPr/>
              <a:lstStyle/>
              <a:p>
                <a:endParaRPr lang="bg-BG"/>
              </a:p>
            </p:txBody>
          </p:sp>
          <p:sp>
            <p:nvSpPr>
              <p:cNvPr id="46147" name="Line 87"/>
              <p:cNvSpPr>
                <a:spLocks noChangeShapeType="1"/>
              </p:cNvSpPr>
              <p:nvPr/>
            </p:nvSpPr>
            <p:spPr bwMode="auto">
              <a:xfrm flipH="1">
                <a:off x="9348" y="7581"/>
                <a:ext cx="228" cy="342"/>
              </a:xfrm>
              <a:prstGeom prst="line">
                <a:avLst/>
              </a:prstGeom>
              <a:noFill/>
              <a:ln w="9525">
                <a:solidFill>
                  <a:srgbClr val="000000"/>
                </a:solidFill>
                <a:round/>
                <a:headEnd/>
                <a:tailEnd type="triangle" w="med" len="med"/>
              </a:ln>
            </p:spPr>
            <p:txBody>
              <a:bodyPr/>
              <a:lstStyle/>
              <a:p>
                <a:endParaRPr lang="bg-BG"/>
              </a:p>
            </p:txBody>
          </p:sp>
          <p:sp>
            <p:nvSpPr>
              <p:cNvPr id="46148" name="Line 88"/>
              <p:cNvSpPr>
                <a:spLocks noChangeShapeType="1"/>
              </p:cNvSpPr>
              <p:nvPr/>
            </p:nvSpPr>
            <p:spPr bwMode="auto">
              <a:xfrm flipH="1">
                <a:off x="8835" y="8550"/>
                <a:ext cx="228" cy="513"/>
              </a:xfrm>
              <a:prstGeom prst="line">
                <a:avLst/>
              </a:prstGeom>
              <a:noFill/>
              <a:ln w="9525">
                <a:solidFill>
                  <a:srgbClr val="000000"/>
                </a:solidFill>
                <a:round/>
                <a:headEnd/>
                <a:tailEnd type="triangle" w="med" len="med"/>
              </a:ln>
            </p:spPr>
            <p:txBody>
              <a:bodyPr/>
              <a:lstStyle/>
              <a:p>
                <a:endParaRPr lang="bg-BG"/>
              </a:p>
            </p:txBody>
          </p:sp>
          <p:sp>
            <p:nvSpPr>
              <p:cNvPr id="46149" name="Line 89"/>
              <p:cNvSpPr>
                <a:spLocks noChangeShapeType="1"/>
              </p:cNvSpPr>
              <p:nvPr/>
            </p:nvSpPr>
            <p:spPr bwMode="auto">
              <a:xfrm>
                <a:off x="10602" y="8550"/>
                <a:ext cx="342" cy="513"/>
              </a:xfrm>
              <a:prstGeom prst="line">
                <a:avLst/>
              </a:prstGeom>
              <a:noFill/>
              <a:ln w="9525">
                <a:solidFill>
                  <a:srgbClr val="000000"/>
                </a:solidFill>
                <a:round/>
                <a:headEnd/>
                <a:tailEnd type="triangle" w="med" len="med"/>
              </a:ln>
            </p:spPr>
            <p:txBody>
              <a:bodyPr/>
              <a:lstStyle/>
              <a:p>
                <a:endParaRPr lang="bg-BG"/>
              </a:p>
            </p:txBody>
          </p:sp>
          <p:sp>
            <p:nvSpPr>
              <p:cNvPr id="46150" name="Line 90"/>
              <p:cNvSpPr>
                <a:spLocks noChangeShapeType="1"/>
              </p:cNvSpPr>
              <p:nvPr/>
            </p:nvSpPr>
            <p:spPr bwMode="auto">
              <a:xfrm>
                <a:off x="9975" y="7581"/>
                <a:ext cx="342" cy="342"/>
              </a:xfrm>
              <a:prstGeom prst="line">
                <a:avLst/>
              </a:prstGeom>
              <a:noFill/>
              <a:ln w="9525">
                <a:solidFill>
                  <a:srgbClr val="000000"/>
                </a:solidFill>
                <a:round/>
                <a:headEnd/>
                <a:tailEnd type="triangle" w="med" len="med"/>
              </a:ln>
            </p:spPr>
            <p:txBody>
              <a:bodyPr/>
              <a:lstStyle/>
              <a:p>
                <a:endParaRPr lang="bg-BG"/>
              </a:p>
            </p:txBody>
          </p:sp>
        </p:grpSp>
        <p:sp>
          <p:nvSpPr>
            <p:cNvPr id="46095" name="Text Box 97"/>
            <p:cNvSpPr txBox="1">
              <a:spLocks noChangeArrowheads="1"/>
            </p:cNvSpPr>
            <p:nvPr/>
          </p:nvSpPr>
          <p:spPr bwMode="auto">
            <a:xfrm>
              <a:off x="240" y="384"/>
              <a:ext cx="5088" cy="3648"/>
            </a:xfrm>
            <a:prstGeom prst="rect">
              <a:avLst/>
            </a:prstGeom>
            <a:noFill/>
            <a:ln w="9525">
              <a:noFill/>
              <a:miter lim="800000"/>
              <a:headEnd/>
              <a:tailEnd/>
            </a:ln>
          </p:spPr>
          <p:txBody>
            <a:bodyPr anchor="ctr"/>
            <a:lstStyle/>
            <a:p>
              <a:pPr>
                <a:spcBef>
                  <a:spcPct val="50000"/>
                </a:spcBef>
              </a:pPr>
              <a:r>
                <a:rPr lang="bg-BG" sz="4400" dirty="0">
                  <a:solidFill>
                    <a:schemeClr val="bg1"/>
                  </a:solidFill>
                </a:rPr>
                <a:t/>
              </a:r>
              <a:br>
                <a:rPr lang="bg-BG" sz="4400" dirty="0">
                  <a:solidFill>
                    <a:schemeClr val="bg1"/>
                  </a:solidFill>
                </a:rPr>
              </a:br>
              <a:r>
                <a:rPr lang="bg-BG" sz="4400" dirty="0">
                  <a:solidFill>
                    <a:schemeClr val="bg1"/>
                  </a:solidFill>
                </a:rPr>
                <a:t/>
              </a:r>
              <a:br>
                <a:rPr lang="bg-BG" sz="4400" dirty="0">
                  <a:solidFill>
                    <a:schemeClr val="bg1"/>
                  </a:solidFill>
                </a:rPr>
              </a:br>
              <a:r>
                <a:rPr lang="bg-BG" sz="4400" dirty="0">
                  <a:solidFill>
                    <a:schemeClr val="bg1"/>
                  </a:solidFill>
                </a:rPr>
                <a:t/>
              </a:r>
              <a:br>
                <a:rPr lang="bg-BG" sz="4400" dirty="0">
                  <a:solidFill>
                    <a:schemeClr val="bg1"/>
                  </a:solidFill>
                </a:rPr>
              </a:br>
              <a:r>
                <a:rPr lang="bg-BG" sz="2800" dirty="0"/>
                <a:t>Например, 8:</a:t>
              </a: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r>
                <a:rPr lang="bg-BG" sz="4400" dirty="0"/>
                <a:t/>
              </a:r>
              <a:br>
                <a:rPr lang="bg-BG" sz="4400" dirty="0"/>
              </a:br>
              <a:endParaRPr lang="en-US" sz="4400" dirty="0">
                <a:solidFill>
                  <a:schemeClr val="tx2"/>
                </a:solidFill>
              </a:endParaRPr>
            </a:p>
          </p:txBody>
        </p:sp>
        <p:sp>
          <p:nvSpPr>
            <p:cNvPr id="46096" name="Text Box 98"/>
            <p:cNvSpPr txBox="1">
              <a:spLocks noChangeArrowheads="1"/>
            </p:cNvSpPr>
            <p:nvPr/>
          </p:nvSpPr>
          <p:spPr bwMode="auto">
            <a:xfrm>
              <a:off x="3560" y="472"/>
              <a:ext cx="288"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6097" name="Text Box 103"/>
            <p:cNvSpPr txBox="1">
              <a:spLocks noChangeArrowheads="1"/>
            </p:cNvSpPr>
            <p:nvPr/>
          </p:nvSpPr>
          <p:spPr bwMode="auto">
            <a:xfrm>
              <a:off x="3600" y="2352"/>
              <a:ext cx="240"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6098" name="Text Box 104"/>
            <p:cNvSpPr txBox="1">
              <a:spLocks noChangeArrowheads="1"/>
            </p:cNvSpPr>
            <p:nvPr/>
          </p:nvSpPr>
          <p:spPr bwMode="auto">
            <a:xfrm>
              <a:off x="3168" y="2768"/>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6099" name="Text Box 105"/>
            <p:cNvSpPr txBox="1">
              <a:spLocks noChangeArrowheads="1"/>
            </p:cNvSpPr>
            <p:nvPr/>
          </p:nvSpPr>
          <p:spPr bwMode="auto">
            <a:xfrm>
              <a:off x="4232" y="1256"/>
              <a:ext cx="336" cy="288"/>
            </a:xfrm>
            <a:prstGeom prst="rect">
              <a:avLst/>
            </a:prstGeom>
            <a:noFill/>
            <a:ln w="9525">
              <a:noFill/>
              <a:miter lim="800000"/>
              <a:headEnd/>
              <a:tailEnd/>
            </a:ln>
          </p:spPr>
          <p:txBody>
            <a:bodyPr>
              <a:spAutoFit/>
            </a:bodyPr>
            <a:lstStyle/>
            <a:p>
              <a:pPr>
                <a:spcBef>
                  <a:spcPct val="50000"/>
                </a:spcBef>
              </a:pPr>
              <a:r>
                <a:rPr lang="bg-BG"/>
                <a:t>1</a:t>
              </a:r>
              <a:r>
                <a:rPr lang="en-US"/>
                <a:t>0</a:t>
              </a:r>
            </a:p>
          </p:txBody>
        </p:sp>
        <p:sp>
          <p:nvSpPr>
            <p:cNvPr id="46100" name="Text Box 106"/>
            <p:cNvSpPr txBox="1">
              <a:spLocks noChangeArrowheads="1"/>
            </p:cNvSpPr>
            <p:nvPr/>
          </p:nvSpPr>
          <p:spPr bwMode="auto">
            <a:xfrm>
              <a:off x="3592" y="1712"/>
              <a:ext cx="240" cy="288"/>
            </a:xfrm>
            <a:prstGeom prst="rect">
              <a:avLst/>
            </a:prstGeom>
            <a:noFill/>
            <a:ln w="9525">
              <a:noFill/>
              <a:miter lim="800000"/>
              <a:headEnd/>
              <a:tailEnd/>
            </a:ln>
          </p:spPr>
          <p:txBody>
            <a:bodyPr>
              <a:spAutoFit/>
            </a:bodyPr>
            <a:lstStyle/>
            <a:p>
              <a:pPr>
                <a:spcBef>
                  <a:spcPct val="50000"/>
                </a:spcBef>
              </a:pPr>
              <a:r>
                <a:rPr lang="en-US"/>
                <a:t>6</a:t>
              </a:r>
            </a:p>
          </p:txBody>
        </p:sp>
        <p:sp>
          <p:nvSpPr>
            <p:cNvPr id="46101" name="Text Box 107"/>
            <p:cNvSpPr txBox="1">
              <a:spLocks noChangeArrowheads="1"/>
            </p:cNvSpPr>
            <p:nvPr/>
          </p:nvSpPr>
          <p:spPr bwMode="auto">
            <a:xfrm>
              <a:off x="3784" y="1272"/>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6102" name="Text Box 108"/>
            <p:cNvSpPr txBox="1">
              <a:spLocks noChangeArrowheads="1"/>
            </p:cNvSpPr>
            <p:nvPr/>
          </p:nvSpPr>
          <p:spPr bwMode="auto">
            <a:xfrm>
              <a:off x="4056" y="2776"/>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6103" name="Text Box 109"/>
            <p:cNvSpPr txBox="1">
              <a:spLocks noChangeArrowheads="1"/>
            </p:cNvSpPr>
            <p:nvPr/>
          </p:nvSpPr>
          <p:spPr bwMode="auto">
            <a:xfrm>
              <a:off x="4472" y="1728"/>
              <a:ext cx="384" cy="288"/>
            </a:xfrm>
            <a:prstGeom prst="rect">
              <a:avLst/>
            </a:prstGeom>
            <a:noFill/>
            <a:ln w="9525">
              <a:noFill/>
              <a:miter lim="800000"/>
              <a:headEnd/>
              <a:tailEnd/>
            </a:ln>
          </p:spPr>
          <p:txBody>
            <a:bodyPr>
              <a:spAutoFit/>
            </a:bodyPr>
            <a:lstStyle/>
            <a:p>
              <a:pPr>
                <a:spcBef>
                  <a:spcPct val="50000"/>
                </a:spcBef>
              </a:pPr>
              <a:r>
                <a:rPr lang="bg-BG"/>
                <a:t>1</a:t>
              </a:r>
              <a:r>
                <a:rPr lang="en-US"/>
                <a:t>1</a:t>
              </a:r>
            </a:p>
          </p:txBody>
        </p:sp>
        <p:sp>
          <p:nvSpPr>
            <p:cNvPr id="46104" name="Text Box 110"/>
            <p:cNvSpPr txBox="1">
              <a:spLocks noChangeArrowheads="1"/>
            </p:cNvSpPr>
            <p:nvPr/>
          </p:nvSpPr>
          <p:spPr bwMode="auto">
            <a:xfrm>
              <a:off x="3424" y="3152"/>
              <a:ext cx="240" cy="288"/>
            </a:xfrm>
            <a:prstGeom prst="rect">
              <a:avLst/>
            </a:prstGeom>
            <a:noFill/>
            <a:ln w="9525">
              <a:noFill/>
              <a:miter lim="800000"/>
              <a:headEnd/>
              <a:tailEnd/>
            </a:ln>
          </p:spPr>
          <p:txBody>
            <a:bodyPr>
              <a:spAutoFit/>
            </a:bodyPr>
            <a:lstStyle/>
            <a:p>
              <a:pPr>
                <a:spcBef>
                  <a:spcPct val="50000"/>
                </a:spcBef>
              </a:pPr>
              <a:r>
                <a:rPr lang="bg-BG" dirty="0"/>
                <a:t>3</a:t>
              </a:r>
              <a:endParaRPr lang="en-US" dirty="0"/>
            </a:p>
          </p:txBody>
        </p:sp>
        <p:sp>
          <p:nvSpPr>
            <p:cNvPr id="46105" name="Text Box 111"/>
            <p:cNvSpPr txBox="1">
              <a:spLocks noChangeArrowheads="1"/>
            </p:cNvSpPr>
            <p:nvPr/>
          </p:nvSpPr>
          <p:spPr bwMode="auto">
            <a:xfrm>
              <a:off x="4520" y="3616"/>
              <a:ext cx="384"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6106" name="Text Box 112"/>
            <p:cNvSpPr txBox="1">
              <a:spLocks noChangeArrowheads="1"/>
            </p:cNvSpPr>
            <p:nvPr/>
          </p:nvSpPr>
          <p:spPr bwMode="auto">
            <a:xfrm>
              <a:off x="4128" y="3624"/>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6107" name="Text Box 113"/>
            <p:cNvSpPr txBox="1">
              <a:spLocks noChangeArrowheads="1"/>
            </p:cNvSpPr>
            <p:nvPr/>
          </p:nvSpPr>
          <p:spPr bwMode="auto">
            <a:xfrm>
              <a:off x="4288" y="3144"/>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6108" name="Text Box 114"/>
            <p:cNvSpPr txBox="1">
              <a:spLocks noChangeArrowheads="1"/>
            </p:cNvSpPr>
            <p:nvPr/>
          </p:nvSpPr>
          <p:spPr bwMode="auto">
            <a:xfrm>
              <a:off x="3832" y="3152"/>
              <a:ext cx="240" cy="288"/>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46109" name="Text Box 115"/>
            <p:cNvSpPr txBox="1">
              <a:spLocks noChangeArrowheads="1"/>
            </p:cNvSpPr>
            <p:nvPr/>
          </p:nvSpPr>
          <p:spPr bwMode="auto">
            <a:xfrm>
              <a:off x="2928" y="3168"/>
              <a:ext cx="240" cy="288"/>
            </a:xfrm>
            <a:prstGeom prst="rect">
              <a:avLst/>
            </a:prstGeom>
            <a:noFill/>
            <a:ln w="9525">
              <a:noFill/>
              <a:miter lim="800000"/>
              <a:headEnd/>
              <a:tailEnd/>
            </a:ln>
          </p:spPr>
          <p:txBody>
            <a:bodyPr>
              <a:spAutoFit/>
            </a:bodyPr>
            <a:lstStyle/>
            <a:p>
              <a:pPr>
                <a:spcBef>
                  <a:spcPct val="50000"/>
                </a:spcBef>
              </a:pPr>
              <a:r>
                <a:rPr lang="bg-BG" dirty="0"/>
                <a:t>1</a:t>
              </a:r>
              <a:endParaRPr lang="en-US" dirty="0"/>
            </a:p>
          </p:txBody>
        </p:sp>
        <p:sp>
          <p:nvSpPr>
            <p:cNvPr id="46110" name="Text Box 116"/>
            <p:cNvSpPr txBox="1">
              <a:spLocks noChangeArrowheads="1"/>
            </p:cNvSpPr>
            <p:nvPr/>
          </p:nvSpPr>
          <p:spPr bwMode="auto">
            <a:xfrm>
              <a:off x="4032" y="864"/>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6111" name="Text Box 117"/>
            <p:cNvSpPr txBox="1">
              <a:spLocks noChangeArrowheads="1"/>
            </p:cNvSpPr>
            <p:nvPr/>
          </p:nvSpPr>
          <p:spPr bwMode="auto">
            <a:xfrm>
              <a:off x="3128" y="880"/>
              <a:ext cx="232" cy="288"/>
            </a:xfrm>
            <a:prstGeom prst="rect">
              <a:avLst/>
            </a:prstGeom>
            <a:noFill/>
            <a:ln w="9525">
              <a:noFill/>
              <a:miter lim="800000"/>
              <a:headEnd/>
              <a:tailEnd/>
            </a:ln>
          </p:spPr>
          <p:txBody>
            <a:bodyPr>
              <a:spAutoFit/>
            </a:bodyPr>
            <a:lstStyle/>
            <a:p>
              <a:pPr>
                <a:spcBef>
                  <a:spcPct val="50000"/>
                </a:spcBef>
              </a:pPr>
              <a:r>
                <a:rPr lang="en-US"/>
                <a:t>2</a:t>
              </a:r>
            </a:p>
          </p:txBody>
        </p:sp>
        <p:sp>
          <p:nvSpPr>
            <p:cNvPr id="46112" name="Text Box 118"/>
            <p:cNvSpPr txBox="1">
              <a:spLocks noChangeArrowheads="1"/>
            </p:cNvSpPr>
            <p:nvPr/>
          </p:nvSpPr>
          <p:spPr bwMode="auto">
            <a:xfrm>
              <a:off x="3376" y="1264"/>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6113" name="Text Box 119"/>
            <p:cNvSpPr txBox="1">
              <a:spLocks noChangeArrowheads="1"/>
            </p:cNvSpPr>
            <p:nvPr/>
          </p:nvSpPr>
          <p:spPr bwMode="auto">
            <a:xfrm>
              <a:off x="2880" y="1264"/>
              <a:ext cx="240" cy="288"/>
            </a:xfrm>
            <a:prstGeom prst="rect">
              <a:avLst/>
            </a:prstGeom>
            <a:noFill/>
            <a:ln w="9525">
              <a:noFill/>
              <a:miter lim="800000"/>
              <a:headEnd/>
              <a:tailEnd/>
            </a:ln>
          </p:spPr>
          <p:txBody>
            <a:bodyPr>
              <a:spAutoFit/>
            </a:bodyPr>
            <a:lstStyle/>
            <a:p>
              <a:pPr>
                <a:spcBef>
                  <a:spcPct val="50000"/>
                </a:spcBef>
              </a:pPr>
              <a:r>
                <a:rPr lang="en-US"/>
                <a:t>1</a:t>
              </a:r>
            </a:p>
          </p:txBody>
        </p:sp>
        <p:sp>
          <p:nvSpPr>
            <p:cNvPr id="46114" name="Line 120"/>
            <p:cNvSpPr>
              <a:spLocks noChangeShapeType="1"/>
            </p:cNvSpPr>
            <p:nvPr/>
          </p:nvSpPr>
          <p:spPr bwMode="auto">
            <a:xfrm flipV="1">
              <a:off x="2064" y="1296"/>
              <a:ext cx="720" cy="288"/>
            </a:xfrm>
            <a:prstGeom prst="line">
              <a:avLst/>
            </a:prstGeom>
            <a:noFill/>
            <a:ln w="9525">
              <a:solidFill>
                <a:schemeClr val="tx1"/>
              </a:solidFill>
              <a:round/>
              <a:headEnd/>
              <a:tailEnd type="triangle" w="med" len="med"/>
            </a:ln>
          </p:spPr>
          <p:txBody>
            <a:bodyPr wrap="none" anchor="ctr"/>
            <a:lstStyle/>
            <a:p>
              <a:endParaRPr lang="bg-BG"/>
            </a:p>
          </p:txBody>
        </p:sp>
        <p:sp>
          <p:nvSpPr>
            <p:cNvPr id="46115" name="Line 121"/>
            <p:cNvSpPr>
              <a:spLocks noChangeShapeType="1"/>
            </p:cNvSpPr>
            <p:nvPr/>
          </p:nvSpPr>
          <p:spPr bwMode="auto">
            <a:xfrm>
              <a:off x="2064" y="2016"/>
              <a:ext cx="1152" cy="576"/>
            </a:xfrm>
            <a:prstGeom prst="line">
              <a:avLst/>
            </a:prstGeom>
            <a:noFill/>
            <a:ln w="9525">
              <a:solidFill>
                <a:schemeClr val="tx1"/>
              </a:solidFill>
              <a:round/>
              <a:headEnd/>
              <a:tailEnd type="triangle" w="med" len="med"/>
            </a:ln>
          </p:spPr>
          <p:txBody>
            <a:bodyPr wrap="none" anchor="ctr"/>
            <a:lstStyle/>
            <a:p>
              <a:endParaRPr lang="bg-BG"/>
            </a:p>
          </p:txBody>
        </p:sp>
        <p:sp>
          <p:nvSpPr>
            <p:cNvPr id="46116" name="Text Box 122"/>
            <p:cNvSpPr txBox="1">
              <a:spLocks noChangeArrowheads="1"/>
            </p:cNvSpPr>
            <p:nvPr/>
          </p:nvSpPr>
          <p:spPr bwMode="auto">
            <a:xfrm>
              <a:off x="240" y="3168"/>
              <a:ext cx="2448" cy="748"/>
            </a:xfrm>
            <a:prstGeom prst="rect">
              <a:avLst/>
            </a:prstGeom>
            <a:noFill/>
            <a:ln w="9525">
              <a:noFill/>
              <a:miter lim="800000"/>
              <a:headEnd/>
              <a:tailEnd/>
            </a:ln>
          </p:spPr>
          <p:txBody>
            <a:bodyPr>
              <a:spAutoFit/>
            </a:bodyPr>
            <a:lstStyle/>
            <a:p>
              <a:pPr>
                <a:spcBef>
                  <a:spcPct val="50000"/>
                </a:spcBef>
              </a:pPr>
              <a:r>
                <a:rPr lang="bg-BG" dirty="0"/>
                <a:t>И двата варианта не изискват допълнително балансиране</a:t>
              </a:r>
              <a:endParaRPr lang="en-US" dirty="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685800" y="609600"/>
            <a:ext cx="7772400" cy="58674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Например</a:t>
            </a:r>
            <a:r>
              <a:rPr lang="bg-BG" sz="2800">
                <a:solidFill>
                  <a:schemeClr val="tx2">
                    <a:satMod val="130000"/>
                  </a:schemeClr>
                </a:solidFill>
              </a:rPr>
              <a:t>, 6:</a:t>
            </a: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grpSp>
        <p:nvGrpSpPr>
          <p:cNvPr id="47107" name="Group 102"/>
          <p:cNvGrpSpPr>
            <a:grpSpLocks/>
          </p:cNvGrpSpPr>
          <p:nvPr/>
        </p:nvGrpSpPr>
        <p:grpSpPr bwMode="auto">
          <a:xfrm>
            <a:off x="1475656" y="2060848"/>
            <a:ext cx="7429500" cy="2514600"/>
            <a:chOff x="336" y="1296"/>
            <a:chExt cx="4680" cy="1584"/>
          </a:xfrm>
        </p:grpSpPr>
        <p:grpSp>
          <p:nvGrpSpPr>
            <p:cNvPr id="47109" name="Group 70"/>
            <p:cNvGrpSpPr>
              <a:grpSpLocks/>
            </p:cNvGrpSpPr>
            <p:nvPr/>
          </p:nvGrpSpPr>
          <p:grpSpPr bwMode="auto">
            <a:xfrm>
              <a:off x="336" y="1336"/>
              <a:ext cx="1984" cy="1544"/>
              <a:chOff x="336" y="1336"/>
              <a:chExt cx="1984" cy="1544"/>
            </a:xfrm>
          </p:grpSpPr>
          <p:sp>
            <p:nvSpPr>
              <p:cNvPr id="47135" name="Oval 39"/>
              <p:cNvSpPr>
                <a:spLocks noChangeArrowheads="1"/>
              </p:cNvSpPr>
              <p:nvPr/>
            </p:nvSpPr>
            <p:spPr bwMode="auto">
              <a:xfrm>
                <a:off x="1020" y="1344"/>
                <a:ext cx="296" cy="274"/>
              </a:xfrm>
              <a:prstGeom prst="ellipse">
                <a:avLst/>
              </a:prstGeom>
              <a:solidFill>
                <a:srgbClr val="FFFFFF"/>
              </a:solidFill>
              <a:ln w="9525">
                <a:solidFill>
                  <a:srgbClr val="000000"/>
                </a:solidFill>
                <a:round/>
                <a:headEnd/>
                <a:tailEnd/>
              </a:ln>
            </p:spPr>
            <p:txBody>
              <a:bodyPr/>
              <a:lstStyle/>
              <a:p>
                <a:endParaRPr lang="bg-BG"/>
              </a:p>
            </p:txBody>
          </p:sp>
          <p:sp>
            <p:nvSpPr>
              <p:cNvPr id="47136" name="Oval 40"/>
              <p:cNvSpPr>
                <a:spLocks noChangeArrowheads="1"/>
              </p:cNvSpPr>
              <p:nvPr/>
            </p:nvSpPr>
            <p:spPr bwMode="auto">
              <a:xfrm>
                <a:off x="587" y="1755"/>
                <a:ext cx="296" cy="273"/>
              </a:xfrm>
              <a:prstGeom prst="ellipse">
                <a:avLst/>
              </a:prstGeom>
              <a:solidFill>
                <a:srgbClr val="FFFFFF"/>
              </a:solidFill>
              <a:ln w="9525">
                <a:solidFill>
                  <a:srgbClr val="000000"/>
                </a:solidFill>
                <a:round/>
                <a:headEnd/>
                <a:tailEnd/>
              </a:ln>
            </p:spPr>
            <p:txBody>
              <a:bodyPr/>
              <a:lstStyle/>
              <a:p>
                <a:endParaRPr lang="bg-BG"/>
              </a:p>
            </p:txBody>
          </p:sp>
          <p:sp>
            <p:nvSpPr>
              <p:cNvPr id="47137" name="Oval 41"/>
              <p:cNvSpPr>
                <a:spLocks noChangeArrowheads="1"/>
              </p:cNvSpPr>
              <p:nvPr/>
            </p:nvSpPr>
            <p:spPr bwMode="auto">
              <a:xfrm>
                <a:off x="1476" y="1755"/>
                <a:ext cx="296" cy="273"/>
              </a:xfrm>
              <a:prstGeom prst="ellipse">
                <a:avLst/>
              </a:prstGeom>
              <a:solidFill>
                <a:srgbClr val="FFFFFF"/>
              </a:solidFill>
              <a:ln w="9525">
                <a:solidFill>
                  <a:srgbClr val="000000"/>
                </a:solidFill>
                <a:round/>
                <a:headEnd/>
                <a:tailEnd/>
              </a:ln>
            </p:spPr>
            <p:txBody>
              <a:bodyPr/>
              <a:lstStyle/>
              <a:p>
                <a:endParaRPr lang="bg-BG"/>
              </a:p>
            </p:txBody>
          </p:sp>
          <p:sp>
            <p:nvSpPr>
              <p:cNvPr id="47138" name="Oval 42"/>
              <p:cNvSpPr>
                <a:spLocks noChangeArrowheads="1"/>
              </p:cNvSpPr>
              <p:nvPr/>
            </p:nvSpPr>
            <p:spPr bwMode="auto">
              <a:xfrm>
                <a:off x="1248" y="2137"/>
                <a:ext cx="296" cy="274"/>
              </a:xfrm>
              <a:prstGeom prst="ellipse">
                <a:avLst/>
              </a:prstGeom>
              <a:solidFill>
                <a:srgbClr val="FFFFFF"/>
              </a:solidFill>
              <a:ln w="9525">
                <a:solidFill>
                  <a:srgbClr val="000000"/>
                </a:solidFill>
                <a:round/>
                <a:headEnd/>
                <a:tailEnd/>
              </a:ln>
            </p:spPr>
            <p:txBody>
              <a:bodyPr/>
              <a:lstStyle/>
              <a:p>
                <a:endParaRPr lang="bg-BG"/>
              </a:p>
            </p:txBody>
          </p:sp>
          <p:sp>
            <p:nvSpPr>
              <p:cNvPr id="47139" name="Oval 44"/>
              <p:cNvSpPr>
                <a:spLocks noChangeArrowheads="1"/>
              </p:cNvSpPr>
              <p:nvPr/>
            </p:nvSpPr>
            <p:spPr bwMode="auto">
              <a:xfrm>
                <a:off x="1750" y="2131"/>
                <a:ext cx="296" cy="274"/>
              </a:xfrm>
              <a:prstGeom prst="ellipse">
                <a:avLst/>
              </a:prstGeom>
              <a:solidFill>
                <a:srgbClr val="FFFFFF"/>
              </a:solidFill>
              <a:ln w="9525">
                <a:solidFill>
                  <a:srgbClr val="000000"/>
                </a:solidFill>
                <a:round/>
                <a:headEnd/>
                <a:tailEnd/>
              </a:ln>
            </p:spPr>
            <p:txBody>
              <a:bodyPr/>
              <a:lstStyle/>
              <a:p>
                <a:endParaRPr lang="bg-BG"/>
              </a:p>
            </p:txBody>
          </p:sp>
          <p:sp>
            <p:nvSpPr>
              <p:cNvPr id="47140" name="Oval 45"/>
              <p:cNvSpPr>
                <a:spLocks noChangeArrowheads="1"/>
              </p:cNvSpPr>
              <p:nvPr/>
            </p:nvSpPr>
            <p:spPr bwMode="auto">
              <a:xfrm>
                <a:off x="1544" y="2598"/>
                <a:ext cx="297" cy="274"/>
              </a:xfrm>
              <a:prstGeom prst="ellipse">
                <a:avLst/>
              </a:prstGeom>
              <a:solidFill>
                <a:srgbClr val="FFFFFF"/>
              </a:solidFill>
              <a:ln w="9525">
                <a:solidFill>
                  <a:srgbClr val="000000"/>
                </a:solidFill>
                <a:round/>
                <a:headEnd/>
                <a:tailEnd/>
              </a:ln>
            </p:spPr>
            <p:txBody>
              <a:bodyPr/>
              <a:lstStyle/>
              <a:p>
                <a:endParaRPr lang="bg-BG"/>
              </a:p>
            </p:txBody>
          </p:sp>
          <p:sp>
            <p:nvSpPr>
              <p:cNvPr id="47141" name="Oval 46"/>
              <p:cNvSpPr>
                <a:spLocks noChangeArrowheads="1"/>
              </p:cNvSpPr>
              <p:nvPr/>
            </p:nvSpPr>
            <p:spPr bwMode="auto">
              <a:xfrm>
                <a:off x="1978" y="2598"/>
                <a:ext cx="296" cy="274"/>
              </a:xfrm>
              <a:prstGeom prst="ellipse">
                <a:avLst/>
              </a:prstGeom>
              <a:solidFill>
                <a:srgbClr val="FFFFFF"/>
              </a:solidFill>
              <a:ln w="9525">
                <a:solidFill>
                  <a:srgbClr val="000000"/>
                </a:solidFill>
                <a:round/>
                <a:headEnd/>
                <a:tailEnd/>
              </a:ln>
            </p:spPr>
            <p:txBody>
              <a:bodyPr/>
              <a:lstStyle/>
              <a:p>
                <a:endParaRPr lang="bg-BG"/>
              </a:p>
            </p:txBody>
          </p:sp>
          <p:sp>
            <p:nvSpPr>
              <p:cNvPr id="47142" name="Oval 47"/>
              <p:cNvSpPr>
                <a:spLocks noChangeArrowheads="1"/>
              </p:cNvSpPr>
              <p:nvPr/>
            </p:nvSpPr>
            <p:spPr bwMode="auto">
              <a:xfrm>
                <a:off x="838" y="2142"/>
                <a:ext cx="296" cy="274"/>
              </a:xfrm>
              <a:prstGeom prst="ellipse">
                <a:avLst/>
              </a:prstGeom>
              <a:solidFill>
                <a:srgbClr val="FFFFFF"/>
              </a:solidFill>
              <a:ln w="9525">
                <a:solidFill>
                  <a:srgbClr val="000000"/>
                </a:solidFill>
                <a:round/>
                <a:headEnd/>
                <a:tailEnd/>
              </a:ln>
            </p:spPr>
            <p:txBody>
              <a:bodyPr/>
              <a:lstStyle/>
              <a:p>
                <a:endParaRPr lang="bg-BG"/>
              </a:p>
            </p:txBody>
          </p:sp>
          <p:sp>
            <p:nvSpPr>
              <p:cNvPr id="47143" name="Oval 48"/>
              <p:cNvSpPr>
                <a:spLocks noChangeArrowheads="1"/>
              </p:cNvSpPr>
              <p:nvPr/>
            </p:nvSpPr>
            <p:spPr bwMode="auto">
              <a:xfrm>
                <a:off x="336" y="2142"/>
                <a:ext cx="296" cy="274"/>
              </a:xfrm>
              <a:prstGeom prst="ellipse">
                <a:avLst/>
              </a:prstGeom>
              <a:solidFill>
                <a:srgbClr val="FFFFFF"/>
              </a:solidFill>
              <a:ln w="9525">
                <a:solidFill>
                  <a:srgbClr val="000000"/>
                </a:solidFill>
                <a:round/>
                <a:headEnd/>
                <a:tailEnd/>
              </a:ln>
            </p:spPr>
            <p:txBody>
              <a:bodyPr/>
              <a:lstStyle/>
              <a:p>
                <a:endParaRPr lang="bg-BG"/>
              </a:p>
            </p:txBody>
          </p:sp>
          <p:sp>
            <p:nvSpPr>
              <p:cNvPr id="47144" name="Line 49"/>
              <p:cNvSpPr>
                <a:spLocks noChangeShapeType="1"/>
              </p:cNvSpPr>
              <p:nvPr/>
            </p:nvSpPr>
            <p:spPr bwMode="auto">
              <a:xfrm flipH="1">
                <a:off x="838" y="1572"/>
                <a:ext cx="205" cy="205"/>
              </a:xfrm>
              <a:prstGeom prst="line">
                <a:avLst/>
              </a:prstGeom>
              <a:noFill/>
              <a:ln w="9525">
                <a:solidFill>
                  <a:srgbClr val="000000"/>
                </a:solidFill>
                <a:round/>
                <a:headEnd/>
                <a:tailEnd type="triangle" w="med" len="med"/>
              </a:ln>
            </p:spPr>
            <p:txBody>
              <a:bodyPr/>
              <a:lstStyle/>
              <a:p>
                <a:endParaRPr lang="bg-BG"/>
              </a:p>
            </p:txBody>
          </p:sp>
          <p:sp>
            <p:nvSpPr>
              <p:cNvPr id="47145" name="Line 50"/>
              <p:cNvSpPr>
                <a:spLocks noChangeShapeType="1"/>
              </p:cNvSpPr>
              <p:nvPr/>
            </p:nvSpPr>
            <p:spPr bwMode="auto">
              <a:xfrm flipH="1">
                <a:off x="541" y="2005"/>
                <a:ext cx="114" cy="137"/>
              </a:xfrm>
              <a:prstGeom prst="line">
                <a:avLst/>
              </a:prstGeom>
              <a:noFill/>
              <a:ln w="9525">
                <a:solidFill>
                  <a:srgbClr val="000000"/>
                </a:solidFill>
                <a:round/>
                <a:headEnd/>
                <a:tailEnd type="triangle" w="med" len="med"/>
              </a:ln>
            </p:spPr>
            <p:txBody>
              <a:bodyPr/>
              <a:lstStyle/>
              <a:p>
                <a:endParaRPr lang="bg-BG"/>
              </a:p>
            </p:txBody>
          </p:sp>
          <p:sp>
            <p:nvSpPr>
              <p:cNvPr id="47146" name="Line 51"/>
              <p:cNvSpPr>
                <a:spLocks noChangeShapeType="1"/>
              </p:cNvSpPr>
              <p:nvPr/>
            </p:nvSpPr>
            <p:spPr bwMode="auto">
              <a:xfrm>
                <a:off x="838" y="2005"/>
                <a:ext cx="136" cy="137"/>
              </a:xfrm>
              <a:prstGeom prst="line">
                <a:avLst/>
              </a:prstGeom>
              <a:noFill/>
              <a:ln w="9525">
                <a:solidFill>
                  <a:srgbClr val="000000"/>
                </a:solidFill>
                <a:round/>
                <a:headEnd/>
                <a:tailEnd type="triangle" w="med" len="med"/>
              </a:ln>
            </p:spPr>
            <p:txBody>
              <a:bodyPr/>
              <a:lstStyle/>
              <a:p>
                <a:endParaRPr lang="bg-BG"/>
              </a:p>
            </p:txBody>
          </p:sp>
          <p:sp>
            <p:nvSpPr>
              <p:cNvPr id="47147" name="Line 52"/>
              <p:cNvSpPr>
                <a:spLocks noChangeShapeType="1"/>
              </p:cNvSpPr>
              <p:nvPr/>
            </p:nvSpPr>
            <p:spPr bwMode="auto">
              <a:xfrm>
                <a:off x="1271" y="1572"/>
                <a:ext cx="273" cy="205"/>
              </a:xfrm>
              <a:prstGeom prst="line">
                <a:avLst/>
              </a:prstGeom>
              <a:noFill/>
              <a:ln w="9525">
                <a:solidFill>
                  <a:srgbClr val="000000"/>
                </a:solidFill>
                <a:round/>
                <a:headEnd/>
                <a:tailEnd type="triangle" w="med" len="med"/>
              </a:ln>
            </p:spPr>
            <p:txBody>
              <a:bodyPr/>
              <a:lstStyle/>
              <a:p>
                <a:endParaRPr lang="bg-BG"/>
              </a:p>
            </p:txBody>
          </p:sp>
          <p:sp>
            <p:nvSpPr>
              <p:cNvPr id="47148" name="Line 53"/>
              <p:cNvSpPr>
                <a:spLocks noChangeShapeType="1"/>
              </p:cNvSpPr>
              <p:nvPr/>
            </p:nvSpPr>
            <p:spPr bwMode="auto">
              <a:xfrm flipH="1">
                <a:off x="1453" y="2005"/>
                <a:ext cx="91" cy="137"/>
              </a:xfrm>
              <a:prstGeom prst="line">
                <a:avLst/>
              </a:prstGeom>
              <a:noFill/>
              <a:ln w="9525">
                <a:solidFill>
                  <a:srgbClr val="000000"/>
                </a:solidFill>
                <a:round/>
                <a:headEnd/>
                <a:tailEnd type="triangle" w="med" len="med"/>
              </a:ln>
            </p:spPr>
            <p:txBody>
              <a:bodyPr/>
              <a:lstStyle/>
              <a:p>
                <a:endParaRPr lang="bg-BG"/>
              </a:p>
            </p:txBody>
          </p:sp>
          <p:sp>
            <p:nvSpPr>
              <p:cNvPr id="47149" name="Line 55"/>
              <p:cNvSpPr>
                <a:spLocks noChangeShapeType="1"/>
              </p:cNvSpPr>
              <p:nvPr/>
            </p:nvSpPr>
            <p:spPr bwMode="auto">
              <a:xfrm>
                <a:off x="1955" y="2393"/>
                <a:ext cx="137" cy="205"/>
              </a:xfrm>
              <a:prstGeom prst="line">
                <a:avLst/>
              </a:prstGeom>
              <a:noFill/>
              <a:ln w="9525">
                <a:solidFill>
                  <a:srgbClr val="000000"/>
                </a:solidFill>
                <a:round/>
                <a:headEnd/>
                <a:tailEnd type="triangle" w="med" len="med"/>
              </a:ln>
            </p:spPr>
            <p:txBody>
              <a:bodyPr/>
              <a:lstStyle/>
              <a:p>
                <a:endParaRPr lang="bg-BG"/>
              </a:p>
            </p:txBody>
          </p:sp>
          <p:sp>
            <p:nvSpPr>
              <p:cNvPr id="47150" name="Line 56"/>
              <p:cNvSpPr>
                <a:spLocks noChangeShapeType="1"/>
              </p:cNvSpPr>
              <p:nvPr/>
            </p:nvSpPr>
            <p:spPr bwMode="auto">
              <a:xfrm>
                <a:off x="1704" y="2005"/>
                <a:ext cx="137" cy="137"/>
              </a:xfrm>
              <a:prstGeom prst="line">
                <a:avLst/>
              </a:prstGeom>
              <a:noFill/>
              <a:ln w="9525">
                <a:solidFill>
                  <a:srgbClr val="000000"/>
                </a:solidFill>
                <a:round/>
                <a:headEnd/>
                <a:tailEnd type="triangle" w="med" len="med"/>
              </a:ln>
            </p:spPr>
            <p:txBody>
              <a:bodyPr/>
              <a:lstStyle/>
              <a:p>
                <a:endParaRPr lang="bg-BG"/>
              </a:p>
            </p:txBody>
          </p:sp>
          <p:sp>
            <p:nvSpPr>
              <p:cNvPr id="47151" name="Line 57"/>
              <p:cNvSpPr>
                <a:spLocks noChangeShapeType="1"/>
              </p:cNvSpPr>
              <p:nvPr/>
            </p:nvSpPr>
            <p:spPr bwMode="auto">
              <a:xfrm flipH="1">
                <a:off x="1704" y="2393"/>
                <a:ext cx="114" cy="205"/>
              </a:xfrm>
              <a:prstGeom prst="line">
                <a:avLst/>
              </a:prstGeom>
              <a:noFill/>
              <a:ln w="9525">
                <a:solidFill>
                  <a:srgbClr val="000000"/>
                </a:solidFill>
                <a:round/>
                <a:headEnd/>
                <a:tailEnd type="triangle" w="med" len="med"/>
              </a:ln>
            </p:spPr>
            <p:txBody>
              <a:bodyPr/>
              <a:lstStyle/>
              <a:p>
                <a:endParaRPr lang="bg-BG"/>
              </a:p>
            </p:txBody>
          </p:sp>
          <p:sp>
            <p:nvSpPr>
              <p:cNvPr id="47152" name="Text Box 58"/>
              <p:cNvSpPr txBox="1">
                <a:spLocks noChangeArrowheads="1"/>
              </p:cNvSpPr>
              <p:nvPr/>
            </p:nvSpPr>
            <p:spPr bwMode="auto">
              <a:xfrm>
                <a:off x="1064" y="1336"/>
                <a:ext cx="240"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7153" name="Text Box 59"/>
              <p:cNvSpPr txBox="1">
                <a:spLocks noChangeArrowheads="1"/>
              </p:cNvSpPr>
              <p:nvPr/>
            </p:nvSpPr>
            <p:spPr bwMode="auto">
              <a:xfrm>
                <a:off x="376" y="2128"/>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7154" name="Text Box 60"/>
              <p:cNvSpPr txBox="1">
                <a:spLocks noChangeArrowheads="1"/>
              </p:cNvSpPr>
              <p:nvPr/>
            </p:nvSpPr>
            <p:spPr bwMode="auto">
              <a:xfrm>
                <a:off x="888" y="2144"/>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7155" name="Text Box 61"/>
              <p:cNvSpPr txBox="1">
                <a:spLocks noChangeArrowheads="1"/>
              </p:cNvSpPr>
              <p:nvPr/>
            </p:nvSpPr>
            <p:spPr bwMode="auto">
              <a:xfrm>
                <a:off x="1280" y="2128"/>
                <a:ext cx="240" cy="288"/>
              </a:xfrm>
              <a:prstGeom prst="rect">
                <a:avLst/>
              </a:prstGeom>
              <a:noFill/>
              <a:ln w="9525">
                <a:noFill/>
                <a:miter lim="800000"/>
                <a:headEnd/>
                <a:tailEnd/>
              </a:ln>
            </p:spPr>
            <p:txBody>
              <a:bodyPr>
                <a:spAutoFit/>
              </a:bodyPr>
              <a:lstStyle/>
              <a:p>
                <a:pPr>
                  <a:spcBef>
                    <a:spcPct val="50000"/>
                  </a:spcBef>
                </a:pPr>
                <a:r>
                  <a:rPr lang="bg-BG">
                    <a:solidFill>
                      <a:srgbClr val="CC0066"/>
                    </a:solidFill>
                  </a:rPr>
                  <a:t>6</a:t>
                </a:r>
                <a:endParaRPr lang="en-US"/>
              </a:p>
            </p:txBody>
          </p:sp>
          <p:sp>
            <p:nvSpPr>
              <p:cNvPr id="47156" name="Text Box 62"/>
              <p:cNvSpPr txBox="1">
                <a:spLocks noChangeArrowheads="1"/>
              </p:cNvSpPr>
              <p:nvPr/>
            </p:nvSpPr>
            <p:spPr bwMode="auto">
              <a:xfrm>
                <a:off x="1512" y="1760"/>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7157" name="Text Box 65"/>
              <p:cNvSpPr txBox="1">
                <a:spLocks noChangeArrowheads="1"/>
              </p:cNvSpPr>
              <p:nvPr/>
            </p:nvSpPr>
            <p:spPr bwMode="auto">
              <a:xfrm>
                <a:off x="1752" y="2128"/>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7158" name="Text Box 66"/>
              <p:cNvSpPr txBox="1">
                <a:spLocks noChangeArrowheads="1"/>
              </p:cNvSpPr>
              <p:nvPr/>
            </p:nvSpPr>
            <p:spPr bwMode="auto">
              <a:xfrm>
                <a:off x="1984" y="2592"/>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7159" name="Text Box 67"/>
              <p:cNvSpPr txBox="1">
                <a:spLocks noChangeArrowheads="1"/>
              </p:cNvSpPr>
              <p:nvPr/>
            </p:nvSpPr>
            <p:spPr bwMode="auto">
              <a:xfrm>
                <a:off x="1584" y="259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7160" name="Text Box 68"/>
              <p:cNvSpPr txBox="1">
                <a:spLocks noChangeArrowheads="1"/>
              </p:cNvSpPr>
              <p:nvPr/>
            </p:nvSpPr>
            <p:spPr bwMode="auto">
              <a:xfrm>
                <a:off x="624" y="1744"/>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grpSp>
        <p:grpSp>
          <p:nvGrpSpPr>
            <p:cNvPr id="47110" name="Group 100"/>
            <p:cNvGrpSpPr>
              <a:grpSpLocks/>
            </p:cNvGrpSpPr>
            <p:nvPr/>
          </p:nvGrpSpPr>
          <p:grpSpPr bwMode="auto">
            <a:xfrm>
              <a:off x="3264" y="1296"/>
              <a:ext cx="1752" cy="1544"/>
              <a:chOff x="3264" y="1296"/>
              <a:chExt cx="1752" cy="1544"/>
            </a:xfrm>
          </p:grpSpPr>
          <p:sp>
            <p:nvSpPr>
              <p:cNvPr id="47112" name="Oval 72"/>
              <p:cNvSpPr>
                <a:spLocks noChangeArrowheads="1"/>
              </p:cNvSpPr>
              <p:nvPr/>
            </p:nvSpPr>
            <p:spPr bwMode="auto">
              <a:xfrm>
                <a:off x="3948" y="1304"/>
                <a:ext cx="296" cy="274"/>
              </a:xfrm>
              <a:prstGeom prst="ellipse">
                <a:avLst/>
              </a:prstGeom>
              <a:solidFill>
                <a:srgbClr val="FFFFFF"/>
              </a:solidFill>
              <a:ln w="9525">
                <a:solidFill>
                  <a:srgbClr val="000000"/>
                </a:solidFill>
                <a:round/>
                <a:headEnd/>
                <a:tailEnd/>
              </a:ln>
            </p:spPr>
            <p:txBody>
              <a:bodyPr/>
              <a:lstStyle/>
              <a:p>
                <a:endParaRPr lang="bg-BG"/>
              </a:p>
            </p:txBody>
          </p:sp>
          <p:sp>
            <p:nvSpPr>
              <p:cNvPr id="47113" name="Oval 73"/>
              <p:cNvSpPr>
                <a:spLocks noChangeArrowheads="1"/>
              </p:cNvSpPr>
              <p:nvPr/>
            </p:nvSpPr>
            <p:spPr bwMode="auto">
              <a:xfrm>
                <a:off x="3515" y="1715"/>
                <a:ext cx="296" cy="273"/>
              </a:xfrm>
              <a:prstGeom prst="ellipse">
                <a:avLst/>
              </a:prstGeom>
              <a:solidFill>
                <a:srgbClr val="FFFFFF"/>
              </a:solidFill>
              <a:ln w="9525">
                <a:solidFill>
                  <a:srgbClr val="000000"/>
                </a:solidFill>
                <a:round/>
                <a:headEnd/>
                <a:tailEnd/>
              </a:ln>
            </p:spPr>
            <p:txBody>
              <a:bodyPr/>
              <a:lstStyle/>
              <a:p>
                <a:endParaRPr lang="bg-BG"/>
              </a:p>
            </p:txBody>
          </p:sp>
          <p:sp>
            <p:nvSpPr>
              <p:cNvPr id="47114" name="Oval 74"/>
              <p:cNvSpPr>
                <a:spLocks noChangeArrowheads="1"/>
              </p:cNvSpPr>
              <p:nvPr/>
            </p:nvSpPr>
            <p:spPr bwMode="auto">
              <a:xfrm>
                <a:off x="4404" y="1715"/>
                <a:ext cx="296" cy="273"/>
              </a:xfrm>
              <a:prstGeom prst="ellipse">
                <a:avLst/>
              </a:prstGeom>
              <a:solidFill>
                <a:srgbClr val="FFFFFF"/>
              </a:solidFill>
              <a:ln w="9525">
                <a:solidFill>
                  <a:srgbClr val="000000"/>
                </a:solidFill>
                <a:round/>
                <a:headEnd/>
                <a:tailEnd/>
              </a:ln>
            </p:spPr>
            <p:txBody>
              <a:bodyPr/>
              <a:lstStyle/>
              <a:p>
                <a:endParaRPr lang="bg-BG"/>
              </a:p>
            </p:txBody>
          </p:sp>
          <p:sp>
            <p:nvSpPr>
              <p:cNvPr id="47115" name="Oval 75"/>
              <p:cNvSpPr>
                <a:spLocks noChangeArrowheads="1"/>
              </p:cNvSpPr>
              <p:nvPr/>
            </p:nvSpPr>
            <p:spPr bwMode="auto">
              <a:xfrm>
                <a:off x="4176" y="2097"/>
                <a:ext cx="296" cy="274"/>
              </a:xfrm>
              <a:prstGeom prst="ellipse">
                <a:avLst/>
              </a:prstGeom>
              <a:solidFill>
                <a:srgbClr val="FFFFFF"/>
              </a:solidFill>
              <a:ln w="9525">
                <a:solidFill>
                  <a:srgbClr val="000000"/>
                </a:solidFill>
                <a:round/>
                <a:headEnd/>
                <a:tailEnd/>
              </a:ln>
            </p:spPr>
            <p:txBody>
              <a:bodyPr/>
              <a:lstStyle/>
              <a:p>
                <a:endParaRPr lang="bg-BG"/>
              </a:p>
            </p:txBody>
          </p:sp>
          <p:sp>
            <p:nvSpPr>
              <p:cNvPr id="47116" name="Oval 76"/>
              <p:cNvSpPr>
                <a:spLocks noChangeArrowheads="1"/>
              </p:cNvSpPr>
              <p:nvPr/>
            </p:nvSpPr>
            <p:spPr bwMode="auto">
              <a:xfrm>
                <a:off x="4678" y="2091"/>
                <a:ext cx="296" cy="274"/>
              </a:xfrm>
              <a:prstGeom prst="ellipse">
                <a:avLst/>
              </a:prstGeom>
              <a:solidFill>
                <a:srgbClr val="FFFFFF"/>
              </a:solidFill>
              <a:ln w="9525">
                <a:solidFill>
                  <a:srgbClr val="000000"/>
                </a:solidFill>
                <a:round/>
                <a:headEnd/>
                <a:tailEnd/>
              </a:ln>
            </p:spPr>
            <p:txBody>
              <a:bodyPr/>
              <a:lstStyle/>
              <a:p>
                <a:endParaRPr lang="bg-BG"/>
              </a:p>
            </p:txBody>
          </p:sp>
          <p:sp>
            <p:nvSpPr>
              <p:cNvPr id="47117" name="Oval 77"/>
              <p:cNvSpPr>
                <a:spLocks noChangeArrowheads="1"/>
              </p:cNvSpPr>
              <p:nvPr/>
            </p:nvSpPr>
            <p:spPr bwMode="auto">
              <a:xfrm>
                <a:off x="4472" y="2558"/>
                <a:ext cx="297" cy="274"/>
              </a:xfrm>
              <a:prstGeom prst="ellipse">
                <a:avLst/>
              </a:prstGeom>
              <a:solidFill>
                <a:srgbClr val="FFFFFF"/>
              </a:solidFill>
              <a:ln w="9525">
                <a:solidFill>
                  <a:srgbClr val="000000"/>
                </a:solidFill>
                <a:round/>
                <a:headEnd/>
                <a:tailEnd/>
              </a:ln>
            </p:spPr>
            <p:txBody>
              <a:bodyPr/>
              <a:lstStyle/>
              <a:p>
                <a:endParaRPr lang="bg-BG"/>
              </a:p>
            </p:txBody>
          </p:sp>
          <p:sp>
            <p:nvSpPr>
              <p:cNvPr id="47118" name="Oval 79"/>
              <p:cNvSpPr>
                <a:spLocks noChangeArrowheads="1"/>
              </p:cNvSpPr>
              <p:nvPr/>
            </p:nvSpPr>
            <p:spPr bwMode="auto">
              <a:xfrm>
                <a:off x="3766" y="2102"/>
                <a:ext cx="296" cy="274"/>
              </a:xfrm>
              <a:prstGeom prst="ellipse">
                <a:avLst/>
              </a:prstGeom>
              <a:solidFill>
                <a:srgbClr val="FFFFFF"/>
              </a:solidFill>
              <a:ln w="9525">
                <a:solidFill>
                  <a:srgbClr val="000000"/>
                </a:solidFill>
                <a:round/>
                <a:headEnd/>
                <a:tailEnd/>
              </a:ln>
            </p:spPr>
            <p:txBody>
              <a:bodyPr/>
              <a:lstStyle/>
              <a:p>
                <a:endParaRPr lang="bg-BG"/>
              </a:p>
            </p:txBody>
          </p:sp>
          <p:sp>
            <p:nvSpPr>
              <p:cNvPr id="47119" name="Oval 80"/>
              <p:cNvSpPr>
                <a:spLocks noChangeArrowheads="1"/>
              </p:cNvSpPr>
              <p:nvPr/>
            </p:nvSpPr>
            <p:spPr bwMode="auto">
              <a:xfrm>
                <a:off x="3264" y="2102"/>
                <a:ext cx="296" cy="274"/>
              </a:xfrm>
              <a:prstGeom prst="ellipse">
                <a:avLst/>
              </a:prstGeom>
              <a:solidFill>
                <a:srgbClr val="FFFFFF"/>
              </a:solidFill>
              <a:ln w="9525">
                <a:solidFill>
                  <a:srgbClr val="000000"/>
                </a:solidFill>
                <a:round/>
                <a:headEnd/>
                <a:tailEnd/>
              </a:ln>
            </p:spPr>
            <p:txBody>
              <a:bodyPr/>
              <a:lstStyle/>
              <a:p>
                <a:endParaRPr lang="bg-BG"/>
              </a:p>
            </p:txBody>
          </p:sp>
          <p:sp>
            <p:nvSpPr>
              <p:cNvPr id="47120" name="Line 81"/>
              <p:cNvSpPr>
                <a:spLocks noChangeShapeType="1"/>
              </p:cNvSpPr>
              <p:nvPr/>
            </p:nvSpPr>
            <p:spPr bwMode="auto">
              <a:xfrm flipH="1">
                <a:off x="3766" y="1532"/>
                <a:ext cx="205" cy="205"/>
              </a:xfrm>
              <a:prstGeom prst="line">
                <a:avLst/>
              </a:prstGeom>
              <a:noFill/>
              <a:ln w="9525">
                <a:solidFill>
                  <a:srgbClr val="000000"/>
                </a:solidFill>
                <a:round/>
                <a:headEnd/>
                <a:tailEnd type="triangle" w="med" len="med"/>
              </a:ln>
            </p:spPr>
            <p:txBody>
              <a:bodyPr/>
              <a:lstStyle/>
              <a:p>
                <a:endParaRPr lang="bg-BG"/>
              </a:p>
            </p:txBody>
          </p:sp>
          <p:sp>
            <p:nvSpPr>
              <p:cNvPr id="47121" name="Line 82"/>
              <p:cNvSpPr>
                <a:spLocks noChangeShapeType="1"/>
              </p:cNvSpPr>
              <p:nvPr/>
            </p:nvSpPr>
            <p:spPr bwMode="auto">
              <a:xfrm flipH="1">
                <a:off x="3469" y="1965"/>
                <a:ext cx="114" cy="137"/>
              </a:xfrm>
              <a:prstGeom prst="line">
                <a:avLst/>
              </a:prstGeom>
              <a:noFill/>
              <a:ln w="9525">
                <a:solidFill>
                  <a:srgbClr val="000000"/>
                </a:solidFill>
                <a:round/>
                <a:headEnd/>
                <a:tailEnd type="triangle" w="med" len="med"/>
              </a:ln>
            </p:spPr>
            <p:txBody>
              <a:bodyPr/>
              <a:lstStyle/>
              <a:p>
                <a:endParaRPr lang="bg-BG"/>
              </a:p>
            </p:txBody>
          </p:sp>
          <p:sp>
            <p:nvSpPr>
              <p:cNvPr id="47122" name="Line 83"/>
              <p:cNvSpPr>
                <a:spLocks noChangeShapeType="1"/>
              </p:cNvSpPr>
              <p:nvPr/>
            </p:nvSpPr>
            <p:spPr bwMode="auto">
              <a:xfrm>
                <a:off x="3766" y="1965"/>
                <a:ext cx="136" cy="137"/>
              </a:xfrm>
              <a:prstGeom prst="line">
                <a:avLst/>
              </a:prstGeom>
              <a:noFill/>
              <a:ln w="9525">
                <a:solidFill>
                  <a:srgbClr val="000000"/>
                </a:solidFill>
                <a:round/>
                <a:headEnd/>
                <a:tailEnd type="triangle" w="med" len="med"/>
              </a:ln>
            </p:spPr>
            <p:txBody>
              <a:bodyPr/>
              <a:lstStyle/>
              <a:p>
                <a:endParaRPr lang="bg-BG"/>
              </a:p>
            </p:txBody>
          </p:sp>
          <p:sp>
            <p:nvSpPr>
              <p:cNvPr id="47123" name="Line 84"/>
              <p:cNvSpPr>
                <a:spLocks noChangeShapeType="1"/>
              </p:cNvSpPr>
              <p:nvPr/>
            </p:nvSpPr>
            <p:spPr bwMode="auto">
              <a:xfrm>
                <a:off x="4199" y="1532"/>
                <a:ext cx="273" cy="205"/>
              </a:xfrm>
              <a:prstGeom prst="line">
                <a:avLst/>
              </a:prstGeom>
              <a:noFill/>
              <a:ln w="9525">
                <a:solidFill>
                  <a:srgbClr val="000000"/>
                </a:solidFill>
                <a:round/>
                <a:headEnd/>
                <a:tailEnd type="triangle" w="med" len="med"/>
              </a:ln>
            </p:spPr>
            <p:txBody>
              <a:bodyPr/>
              <a:lstStyle/>
              <a:p>
                <a:endParaRPr lang="bg-BG"/>
              </a:p>
            </p:txBody>
          </p:sp>
          <p:sp>
            <p:nvSpPr>
              <p:cNvPr id="47124" name="Line 85"/>
              <p:cNvSpPr>
                <a:spLocks noChangeShapeType="1"/>
              </p:cNvSpPr>
              <p:nvPr/>
            </p:nvSpPr>
            <p:spPr bwMode="auto">
              <a:xfrm flipH="1">
                <a:off x="4381" y="1965"/>
                <a:ext cx="91" cy="137"/>
              </a:xfrm>
              <a:prstGeom prst="line">
                <a:avLst/>
              </a:prstGeom>
              <a:noFill/>
              <a:ln w="9525">
                <a:solidFill>
                  <a:srgbClr val="000000"/>
                </a:solidFill>
                <a:round/>
                <a:headEnd/>
                <a:tailEnd type="triangle" w="med" len="med"/>
              </a:ln>
            </p:spPr>
            <p:txBody>
              <a:bodyPr/>
              <a:lstStyle/>
              <a:p>
                <a:endParaRPr lang="bg-BG"/>
              </a:p>
            </p:txBody>
          </p:sp>
          <p:sp>
            <p:nvSpPr>
              <p:cNvPr id="47125" name="Line 87"/>
              <p:cNvSpPr>
                <a:spLocks noChangeShapeType="1"/>
              </p:cNvSpPr>
              <p:nvPr/>
            </p:nvSpPr>
            <p:spPr bwMode="auto">
              <a:xfrm>
                <a:off x="4632" y="1965"/>
                <a:ext cx="137" cy="137"/>
              </a:xfrm>
              <a:prstGeom prst="line">
                <a:avLst/>
              </a:prstGeom>
              <a:noFill/>
              <a:ln w="9525">
                <a:solidFill>
                  <a:srgbClr val="000000"/>
                </a:solidFill>
                <a:round/>
                <a:headEnd/>
                <a:tailEnd type="triangle" w="med" len="med"/>
              </a:ln>
            </p:spPr>
            <p:txBody>
              <a:bodyPr/>
              <a:lstStyle/>
              <a:p>
                <a:endParaRPr lang="bg-BG"/>
              </a:p>
            </p:txBody>
          </p:sp>
          <p:sp>
            <p:nvSpPr>
              <p:cNvPr id="47126" name="Text Box 89"/>
              <p:cNvSpPr txBox="1">
                <a:spLocks noChangeArrowheads="1"/>
              </p:cNvSpPr>
              <p:nvPr/>
            </p:nvSpPr>
            <p:spPr bwMode="auto">
              <a:xfrm>
                <a:off x="3992" y="1296"/>
                <a:ext cx="240"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47127" name="Text Box 90"/>
              <p:cNvSpPr txBox="1">
                <a:spLocks noChangeArrowheads="1"/>
              </p:cNvSpPr>
              <p:nvPr/>
            </p:nvSpPr>
            <p:spPr bwMode="auto">
              <a:xfrm>
                <a:off x="3304" y="2088"/>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7128" name="Text Box 91"/>
              <p:cNvSpPr txBox="1">
                <a:spLocks noChangeArrowheads="1"/>
              </p:cNvSpPr>
              <p:nvPr/>
            </p:nvSpPr>
            <p:spPr bwMode="auto">
              <a:xfrm>
                <a:off x="3816" y="2104"/>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7129" name="Text Box 92"/>
              <p:cNvSpPr txBox="1">
                <a:spLocks noChangeArrowheads="1"/>
              </p:cNvSpPr>
              <p:nvPr/>
            </p:nvSpPr>
            <p:spPr bwMode="auto">
              <a:xfrm>
                <a:off x="4208" y="2088"/>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7130" name="Text Box 93"/>
              <p:cNvSpPr txBox="1">
                <a:spLocks noChangeArrowheads="1"/>
              </p:cNvSpPr>
              <p:nvPr/>
            </p:nvSpPr>
            <p:spPr bwMode="auto">
              <a:xfrm>
                <a:off x="4392" y="1704"/>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7131" name="Text Box 94"/>
              <p:cNvSpPr txBox="1">
                <a:spLocks noChangeArrowheads="1"/>
              </p:cNvSpPr>
              <p:nvPr/>
            </p:nvSpPr>
            <p:spPr bwMode="auto">
              <a:xfrm>
                <a:off x="4680" y="2088"/>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7132" name="Text Box 96"/>
              <p:cNvSpPr txBox="1">
                <a:spLocks noChangeArrowheads="1"/>
              </p:cNvSpPr>
              <p:nvPr/>
            </p:nvSpPr>
            <p:spPr bwMode="auto">
              <a:xfrm>
                <a:off x="4512" y="255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7133" name="Text Box 97"/>
              <p:cNvSpPr txBox="1">
                <a:spLocks noChangeArrowheads="1"/>
              </p:cNvSpPr>
              <p:nvPr/>
            </p:nvSpPr>
            <p:spPr bwMode="auto">
              <a:xfrm>
                <a:off x="3552" y="1704"/>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7134" name="Line 98"/>
              <p:cNvSpPr>
                <a:spLocks noChangeShapeType="1"/>
              </p:cNvSpPr>
              <p:nvPr/>
            </p:nvSpPr>
            <p:spPr bwMode="auto">
              <a:xfrm>
                <a:off x="4416" y="2352"/>
                <a:ext cx="192" cy="192"/>
              </a:xfrm>
              <a:prstGeom prst="line">
                <a:avLst/>
              </a:prstGeom>
              <a:noFill/>
              <a:ln w="9525">
                <a:solidFill>
                  <a:schemeClr val="tx1"/>
                </a:solidFill>
                <a:round/>
                <a:headEnd/>
                <a:tailEnd type="triangle" w="med" len="med"/>
              </a:ln>
            </p:spPr>
            <p:txBody>
              <a:bodyPr wrap="none" anchor="ctr"/>
              <a:lstStyle/>
              <a:p>
                <a:endParaRPr lang="bg-BG"/>
              </a:p>
            </p:txBody>
          </p:sp>
        </p:grpSp>
        <p:sp>
          <p:nvSpPr>
            <p:cNvPr id="47111" name="Line 99"/>
            <p:cNvSpPr>
              <a:spLocks noChangeShapeType="1"/>
            </p:cNvSpPr>
            <p:nvPr/>
          </p:nvSpPr>
          <p:spPr bwMode="auto">
            <a:xfrm>
              <a:off x="2352" y="2016"/>
              <a:ext cx="768" cy="0"/>
            </a:xfrm>
            <a:prstGeom prst="line">
              <a:avLst/>
            </a:prstGeom>
            <a:noFill/>
            <a:ln w="9525">
              <a:solidFill>
                <a:schemeClr val="tx1"/>
              </a:solidFill>
              <a:round/>
              <a:headEnd/>
              <a:tailEnd type="triangle" w="med" len="med"/>
            </a:ln>
          </p:spPr>
          <p:txBody>
            <a:bodyPr wrap="none" anchor="ctr"/>
            <a:lstStyle/>
            <a:p>
              <a:endParaRPr lang="bg-BG"/>
            </a:p>
          </p:txBody>
        </p:sp>
      </p:grpSp>
      <p:sp>
        <p:nvSpPr>
          <p:cNvPr id="47108" name="Text Box 101"/>
          <p:cNvSpPr txBox="1">
            <a:spLocks noChangeArrowheads="1"/>
          </p:cNvSpPr>
          <p:nvPr/>
        </p:nvSpPr>
        <p:spPr bwMode="auto">
          <a:xfrm>
            <a:off x="3923928" y="5085184"/>
            <a:ext cx="4648200" cy="822325"/>
          </a:xfrm>
          <a:prstGeom prst="rect">
            <a:avLst/>
          </a:prstGeom>
          <a:noFill/>
          <a:ln w="9525">
            <a:noFill/>
            <a:miter lim="800000"/>
            <a:headEnd/>
            <a:tailEnd/>
          </a:ln>
        </p:spPr>
        <p:txBody>
          <a:bodyPr>
            <a:spAutoFit/>
          </a:bodyPr>
          <a:lstStyle/>
          <a:p>
            <a:pPr>
              <a:spcBef>
                <a:spcPct val="50000"/>
              </a:spcBef>
            </a:pPr>
            <a:r>
              <a:rPr lang="bg-BG"/>
              <a:t>Извършена е допълнителна лява ротация на дясното поддърво</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304800" y="609600"/>
            <a:ext cx="8610600" cy="59436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Примерно</a:t>
            </a:r>
            <a:r>
              <a:rPr lang="bg-BG" sz="2800">
                <a:solidFill>
                  <a:schemeClr val="tx2">
                    <a:satMod val="130000"/>
                  </a:schemeClr>
                </a:solidFill>
              </a:rPr>
              <a:t>, изтриваме </a:t>
            </a:r>
            <a:r>
              <a:rPr lang="en-US" sz="2800" smtClean="0">
                <a:solidFill>
                  <a:schemeClr val="tx2">
                    <a:satMod val="130000"/>
                  </a:schemeClr>
                </a:solidFill>
              </a:rPr>
              <a:t>5</a:t>
            </a:r>
            <a:r>
              <a:rPr lang="bg-BG" sz="2800" smtClean="0">
                <a:solidFill>
                  <a:schemeClr val="tx2">
                    <a:satMod val="130000"/>
                  </a:schemeClr>
                </a:solidFill>
              </a:rPr>
              <a:t>:</a:t>
            </a: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endParaRPr lang="en-US">
              <a:solidFill>
                <a:schemeClr val="tx2">
                  <a:satMod val="130000"/>
                </a:schemeClr>
              </a:solidFill>
            </a:endParaRPr>
          </a:p>
        </p:txBody>
      </p:sp>
      <p:grpSp>
        <p:nvGrpSpPr>
          <p:cNvPr id="72" name="Group 71"/>
          <p:cNvGrpSpPr/>
          <p:nvPr/>
        </p:nvGrpSpPr>
        <p:grpSpPr>
          <a:xfrm>
            <a:off x="1259632" y="836712"/>
            <a:ext cx="7533828" cy="5115396"/>
            <a:chOff x="1043608" y="836712"/>
            <a:chExt cx="7533828" cy="5115396"/>
          </a:xfrm>
        </p:grpSpPr>
        <p:grpSp>
          <p:nvGrpSpPr>
            <p:cNvPr id="48131" name="Group 3"/>
            <p:cNvGrpSpPr>
              <a:grpSpLocks/>
            </p:cNvGrpSpPr>
            <p:nvPr/>
          </p:nvGrpSpPr>
          <p:grpSpPr bwMode="auto">
            <a:xfrm>
              <a:off x="1043608" y="1844824"/>
              <a:ext cx="2781300" cy="2451100"/>
              <a:chOff x="3264" y="1296"/>
              <a:chExt cx="1752" cy="1544"/>
            </a:xfrm>
          </p:grpSpPr>
          <p:sp>
            <p:nvSpPr>
              <p:cNvPr id="48177" name="Oval 4"/>
              <p:cNvSpPr>
                <a:spLocks noChangeArrowheads="1"/>
              </p:cNvSpPr>
              <p:nvPr/>
            </p:nvSpPr>
            <p:spPr bwMode="auto">
              <a:xfrm>
                <a:off x="3948" y="1304"/>
                <a:ext cx="296" cy="274"/>
              </a:xfrm>
              <a:prstGeom prst="ellipse">
                <a:avLst/>
              </a:prstGeom>
              <a:solidFill>
                <a:srgbClr val="FFFFFF"/>
              </a:solidFill>
              <a:ln w="9525">
                <a:solidFill>
                  <a:srgbClr val="000000"/>
                </a:solidFill>
                <a:round/>
                <a:headEnd/>
                <a:tailEnd/>
              </a:ln>
            </p:spPr>
            <p:txBody>
              <a:bodyPr/>
              <a:lstStyle/>
              <a:p>
                <a:endParaRPr lang="bg-BG"/>
              </a:p>
            </p:txBody>
          </p:sp>
          <p:sp>
            <p:nvSpPr>
              <p:cNvPr id="48178" name="Oval 5"/>
              <p:cNvSpPr>
                <a:spLocks noChangeArrowheads="1"/>
              </p:cNvSpPr>
              <p:nvPr/>
            </p:nvSpPr>
            <p:spPr bwMode="auto">
              <a:xfrm>
                <a:off x="3515" y="1715"/>
                <a:ext cx="296" cy="273"/>
              </a:xfrm>
              <a:prstGeom prst="ellipse">
                <a:avLst/>
              </a:prstGeom>
              <a:solidFill>
                <a:srgbClr val="FFFFFF"/>
              </a:solidFill>
              <a:ln w="9525">
                <a:solidFill>
                  <a:srgbClr val="000000"/>
                </a:solidFill>
                <a:round/>
                <a:headEnd/>
                <a:tailEnd/>
              </a:ln>
            </p:spPr>
            <p:txBody>
              <a:bodyPr/>
              <a:lstStyle/>
              <a:p>
                <a:endParaRPr lang="bg-BG"/>
              </a:p>
            </p:txBody>
          </p:sp>
          <p:sp>
            <p:nvSpPr>
              <p:cNvPr id="48179" name="Oval 6"/>
              <p:cNvSpPr>
                <a:spLocks noChangeArrowheads="1"/>
              </p:cNvSpPr>
              <p:nvPr/>
            </p:nvSpPr>
            <p:spPr bwMode="auto">
              <a:xfrm>
                <a:off x="4404" y="1715"/>
                <a:ext cx="296" cy="273"/>
              </a:xfrm>
              <a:prstGeom prst="ellipse">
                <a:avLst/>
              </a:prstGeom>
              <a:solidFill>
                <a:srgbClr val="FFFFFF"/>
              </a:solidFill>
              <a:ln w="9525">
                <a:solidFill>
                  <a:srgbClr val="000000"/>
                </a:solidFill>
                <a:round/>
                <a:headEnd/>
                <a:tailEnd/>
              </a:ln>
            </p:spPr>
            <p:txBody>
              <a:bodyPr/>
              <a:lstStyle/>
              <a:p>
                <a:endParaRPr lang="bg-BG"/>
              </a:p>
            </p:txBody>
          </p:sp>
          <p:sp>
            <p:nvSpPr>
              <p:cNvPr id="48180" name="Oval 7"/>
              <p:cNvSpPr>
                <a:spLocks noChangeArrowheads="1"/>
              </p:cNvSpPr>
              <p:nvPr/>
            </p:nvSpPr>
            <p:spPr bwMode="auto">
              <a:xfrm>
                <a:off x="4176" y="2097"/>
                <a:ext cx="296" cy="274"/>
              </a:xfrm>
              <a:prstGeom prst="ellipse">
                <a:avLst/>
              </a:prstGeom>
              <a:solidFill>
                <a:srgbClr val="FFFFFF"/>
              </a:solidFill>
              <a:ln w="9525">
                <a:solidFill>
                  <a:srgbClr val="000000"/>
                </a:solidFill>
                <a:round/>
                <a:headEnd/>
                <a:tailEnd/>
              </a:ln>
            </p:spPr>
            <p:txBody>
              <a:bodyPr/>
              <a:lstStyle/>
              <a:p>
                <a:endParaRPr lang="bg-BG"/>
              </a:p>
            </p:txBody>
          </p:sp>
          <p:sp>
            <p:nvSpPr>
              <p:cNvPr id="48181" name="Oval 8"/>
              <p:cNvSpPr>
                <a:spLocks noChangeArrowheads="1"/>
              </p:cNvSpPr>
              <p:nvPr/>
            </p:nvSpPr>
            <p:spPr bwMode="auto">
              <a:xfrm>
                <a:off x="4678" y="2091"/>
                <a:ext cx="296" cy="274"/>
              </a:xfrm>
              <a:prstGeom prst="ellipse">
                <a:avLst/>
              </a:prstGeom>
              <a:solidFill>
                <a:srgbClr val="FFFFFF"/>
              </a:solidFill>
              <a:ln w="9525">
                <a:solidFill>
                  <a:srgbClr val="000000"/>
                </a:solidFill>
                <a:round/>
                <a:headEnd/>
                <a:tailEnd/>
              </a:ln>
            </p:spPr>
            <p:txBody>
              <a:bodyPr/>
              <a:lstStyle/>
              <a:p>
                <a:endParaRPr lang="bg-BG"/>
              </a:p>
            </p:txBody>
          </p:sp>
          <p:sp>
            <p:nvSpPr>
              <p:cNvPr id="48182" name="Oval 9"/>
              <p:cNvSpPr>
                <a:spLocks noChangeArrowheads="1"/>
              </p:cNvSpPr>
              <p:nvPr/>
            </p:nvSpPr>
            <p:spPr bwMode="auto">
              <a:xfrm>
                <a:off x="4472" y="2558"/>
                <a:ext cx="297" cy="274"/>
              </a:xfrm>
              <a:prstGeom prst="ellipse">
                <a:avLst/>
              </a:prstGeom>
              <a:solidFill>
                <a:srgbClr val="FFFFFF"/>
              </a:solidFill>
              <a:ln w="9525">
                <a:solidFill>
                  <a:srgbClr val="000000"/>
                </a:solidFill>
                <a:round/>
                <a:headEnd/>
                <a:tailEnd/>
              </a:ln>
            </p:spPr>
            <p:txBody>
              <a:bodyPr/>
              <a:lstStyle/>
              <a:p>
                <a:endParaRPr lang="bg-BG"/>
              </a:p>
            </p:txBody>
          </p:sp>
          <p:sp>
            <p:nvSpPr>
              <p:cNvPr id="48183" name="Oval 10"/>
              <p:cNvSpPr>
                <a:spLocks noChangeArrowheads="1"/>
              </p:cNvSpPr>
              <p:nvPr/>
            </p:nvSpPr>
            <p:spPr bwMode="auto">
              <a:xfrm>
                <a:off x="3766" y="2102"/>
                <a:ext cx="296" cy="274"/>
              </a:xfrm>
              <a:prstGeom prst="ellipse">
                <a:avLst/>
              </a:prstGeom>
              <a:solidFill>
                <a:srgbClr val="FFFFFF"/>
              </a:solidFill>
              <a:ln w="9525">
                <a:solidFill>
                  <a:srgbClr val="000000"/>
                </a:solidFill>
                <a:round/>
                <a:headEnd/>
                <a:tailEnd/>
              </a:ln>
            </p:spPr>
            <p:txBody>
              <a:bodyPr/>
              <a:lstStyle/>
              <a:p>
                <a:endParaRPr lang="bg-BG"/>
              </a:p>
            </p:txBody>
          </p:sp>
          <p:sp>
            <p:nvSpPr>
              <p:cNvPr id="48184" name="Oval 11"/>
              <p:cNvSpPr>
                <a:spLocks noChangeArrowheads="1"/>
              </p:cNvSpPr>
              <p:nvPr/>
            </p:nvSpPr>
            <p:spPr bwMode="auto">
              <a:xfrm>
                <a:off x="3264" y="2102"/>
                <a:ext cx="296" cy="274"/>
              </a:xfrm>
              <a:prstGeom prst="ellipse">
                <a:avLst/>
              </a:prstGeom>
              <a:solidFill>
                <a:srgbClr val="FFFFFF"/>
              </a:solidFill>
              <a:ln w="9525">
                <a:solidFill>
                  <a:srgbClr val="000000"/>
                </a:solidFill>
                <a:round/>
                <a:headEnd/>
                <a:tailEnd/>
              </a:ln>
            </p:spPr>
            <p:txBody>
              <a:bodyPr/>
              <a:lstStyle/>
              <a:p>
                <a:endParaRPr lang="bg-BG"/>
              </a:p>
            </p:txBody>
          </p:sp>
          <p:sp>
            <p:nvSpPr>
              <p:cNvPr id="48185" name="Line 12"/>
              <p:cNvSpPr>
                <a:spLocks noChangeShapeType="1"/>
              </p:cNvSpPr>
              <p:nvPr/>
            </p:nvSpPr>
            <p:spPr bwMode="auto">
              <a:xfrm flipH="1">
                <a:off x="3766" y="1532"/>
                <a:ext cx="205" cy="205"/>
              </a:xfrm>
              <a:prstGeom prst="line">
                <a:avLst/>
              </a:prstGeom>
              <a:noFill/>
              <a:ln w="9525">
                <a:solidFill>
                  <a:srgbClr val="000000"/>
                </a:solidFill>
                <a:round/>
                <a:headEnd/>
                <a:tailEnd type="triangle" w="med" len="med"/>
              </a:ln>
            </p:spPr>
            <p:txBody>
              <a:bodyPr/>
              <a:lstStyle/>
              <a:p>
                <a:endParaRPr lang="bg-BG"/>
              </a:p>
            </p:txBody>
          </p:sp>
          <p:sp>
            <p:nvSpPr>
              <p:cNvPr id="48186" name="Line 13"/>
              <p:cNvSpPr>
                <a:spLocks noChangeShapeType="1"/>
              </p:cNvSpPr>
              <p:nvPr/>
            </p:nvSpPr>
            <p:spPr bwMode="auto">
              <a:xfrm flipH="1">
                <a:off x="3469" y="1965"/>
                <a:ext cx="114" cy="137"/>
              </a:xfrm>
              <a:prstGeom prst="line">
                <a:avLst/>
              </a:prstGeom>
              <a:noFill/>
              <a:ln w="9525">
                <a:solidFill>
                  <a:srgbClr val="000000"/>
                </a:solidFill>
                <a:round/>
                <a:headEnd/>
                <a:tailEnd type="triangle" w="med" len="med"/>
              </a:ln>
            </p:spPr>
            <p:txBody>
              <a:bodyPr/>
              <a:lstStyle/>
              <a:p>
                <a:endParaRPr lang="bg-BG"/>
              </a:p>
            </p:txBody>
          </p:sp>
          <p:sp>
            <p:nvSpPr>
              <p:cNvPr id="48187" name="Line 14"/>
              <p:cNvSpPr>
                <a:spLocks noChangeShapeType="1"/>
              </p:cNvSpPr>
              <p:nvPr/>
            </p:nvSpPr>
            <p:spPr bwMode="auto">
              <a:xfrm>
                <a:off x="3766" y="1965"/>
                <a:ext cx="136" cy="137"/>
              </a:xfrm>
              <a:prstGeom prst="line">
                <a:avLst/>
              </a:prstGeom>
              <a:noFill/>
              <a:ln w="9525">
                <a:solidFill>
                  <a:srgbClr val="000000"/>
                </a:solidFill>
                <a:round/>
                <a:headEnd/>
                <a:tailEnd type="triangle" w="med" len="med"/>
              </a:ln>
            </p:spPr>
            <p:txBody>
              <a:bodyPr/>
              <a:lstStyle/>
              <a:p>
                <a:endParaRPr lang="bg-BG"/>
              </a:p>
            </p:txBody>
          </p:sp>
          <p:sp>
            <p:nvSpPr>
              <p:cNvPr id="48188" name="Line 15"/>
              <p:cNvSpPr>
                <a:spLocks noChangeShapeType="1"/>
              </p:cNvSpPr>
              <p:nvPr/>
            </p:nvSpPr>
            <p:spPr bwMode="auto">
              <a:xfrm>
                <a:off x="4199" y="1532"/>
                <a:ext cx="273" cy="205"/>
              </a:xfrm>
              <a:prstGeom prst="line">
                <a:avLst/>
              </a:prstGeom>
              <a:noFill/>
              <a:ln w="9525">
                <a:solidFill>
                  <a:srgbClr val="000000"/>
                </a:solidFill>
                <a:round/>
                <a:headEnd/>
                <a:tailEnd type="triangle" w="med" len="med"/>
              </a:ln>
            </p:spPr>
            <p:txBody>
              <a:bodyPr/>
              <a:lstStyle/>
              <a:p>
                <a:endParaRPr lang="bg-BG"/>
              </a:p>
            </p:txBody>
          </p:sp>
          <p:sp>
            <p:nvSpPr>
              <p:cNvPr id="48189" name="Line 16"/>
              <p:cNvSpPr>
                <a:spLocks noChangeShapeType="1"/>
              </p:cNvSpPr>
              <p:nvPr/>
            </p:nvSpPr>
            <p:spPr bwMode="auto">
              <a:xfrm flipH="1">
                <a:off x="4381" y="1965"/>
                <a:ext cx="91" cy="137"/>
              </a:xfrm>
              <a:prstGeom prst="line">
                <a:avLst/>
              </a:prstGeom>
              <a:noFill/>
              <a:ln w="9525">
                <a:solidFill>
                  <a:srgbClr val="000000"/>
                </a:solidFill>
                <a:round/>
                <a:headEnd/>
                <a:tailEnd type="triangle" w="med" len="med"/>
              </a:ln>
            </p:spPr>
            <p:txBody>
              <a:bodyPr/>
              <a:lstStyle/>
              <a:p>
                <a:endParaRPr lang="bg-BG"/>
              </a:p>
            </p:txBody>
          </p:sp>
          <p:sp>
            <p:nvSpPr>
              <p:cNvPr id="48190" name="Line 17"/>
              <p:cNvSpPr>
                <a:spLocks noChangeShapeType="1"/>
              </p:cNvSpPr>
              <p:nvPr/>
            </p:nvSpPr>
            <p:spPr bwMode="auto">
              <a:xfrm>
                <a:off x="4632" y="1965"/>
                <a:ext cx="137" cy="137"/>
              </a:xfrm>
              <a:prstGeom prst="line">
                <a:avLst/>
              </a:prstGeom>
              <a:noFill/>
              <a:ln w="9525">
                <a:solidFill>
                  <a:srgbClr val="000000"/>
                </a:solidFill>
                <a:round/>
                <a:headEnd/>
                <a:tailEnd type="triangle" w="med" len="med"/>
              </a:ln>
            </p:spPr>
            <p:txBody>
              <a:bodyPr/>
              <a:lstStyle/>
              <a:p>
                <a:endParaRPr lang="bg-BG"/>
              </a:p>
            </p:txBody>
          </p:sp>
          <p:sp>
            <p:nvSpPr>
              <p:cNvPr id="48191" name="Text Box 18"/>
              <p:cNvSpPr txBox="1">
                <a:spLocks noChangeArrowheads="1"/>
              </p:cNvSpPr>
              <p:nvPr/>
            </p:nvSpPr>
            <p:spPr bwMode="auto">
              <a:xfrm>
                <a:off x="3992" y="1296"/>
                <a:ext cx="240" cy="288"/>
              </a:xfrm>
              <a:prstGeom prst="rect">
                <a:avLst/>
              </a:prstGeom>
              <a:noFill/>
              <a:ln w="9525">
                <a:noFill/>
                <a:miter lim="800000"/>
                <a:headEnd/>
                <a:tailEnd/>
              </a:ln>
            </p:spPr>
            <p:txBody>
              <a:bodyPr>
                <a:spAutoFit/>
              </a:bodyPr>
              <a:lstStyle/>
              <a:p>
                <a:pPr>
                  <a:spcBef>
                    <a:spcPct val="50000"/>
                  </a:spcBef>
                </a:pPr>
                <a:r>
                  <a:rPr lang="bg-BG">
                    <a:solidFill>
                      <a:srgbClr val="CC0066"/>
                    </a:solidFill>
                  </a:rPr>
                  <a:t>5</a:t>
                </a:r>
                <a:endParaRPr lang="en-US"/>
              </a:p>
            </p:txBody>
          </p:sp>
          <p:sp>
            <p:nvSpPr>
              <p:cNvPr id="48192" name="Text Box 19"/>
              <p:cNvSpPr txBox="1">
                <a:spLocks noChangeArrowheads="1"/>
              </p:cNvSpPr>
              <p:nvPr/>
            </p:nvSpPr>
            <p:spPr bwMode="auto">
              <a:xfrm>
                <a:off x="3304" y="2088"/>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8193" name="Text Box 20"/>
              <p:cNvSpPr txBox="1">
                <a:spLocks noChangeArrowheads="1"/>
              </p:cNvSpPr>
              <p:nvPr/>
            </p:nvSpPr>
            <p:spPr bwMode="auto">
              <a:xfrm>
                <a:off x="3816" y="2104"/>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8194" name="Text Box 21"/>
              <p:cNvSpPr txBox="1">
                <a:spLocks noChangeArrowheads="1"/>
              </p:cNvSpPr>
              <p:nvPr/>
            </p:nvSpPr>
            <p:spPr bwMode="auto">
              <a:xfrm>
                <a:off x="4208" y="2088"/>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8195" name="Text Box 22"/>
              <p:cNvSpPr txBox="1">
                <a:spLocks noChangeArrowheads="1"/>
              </p:cNvSpPr>
              <p:nvPr/>
            </p:nvSpPr>
            <p:spPr bwMode="auto">
              <a:xfrm>
                <a:off x="4392" y="1704"/>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8196" name="Text Box 23"/>
              <p:cNvSpPr txBox="1">
                <a:spLocks noChangeArrowheads="1"/>
              </p:cNvSpPr>
              <p:nvPr/>
            </p:nvSpPr>
            <p:spPr bwMode="auto">
              <a:xfrm>
                <a:off x="4680" y="2088"/>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8197" name="Text Box 24"/>
              <p:cNvSpPr txBox="1">
                <a:spLocks noChangeArrowheads="1"/>
              </p:cNvSpPr>
              <p:nvPr/>
            </p:nvSpPr>
            <p:spPr bwMode="auto">
              <a:xfrm>
                <a:off x="4512" y="255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8198" name="Text Box 25"/>
              <p:cNvSpPr txBox="1">
                <a:spLocks noChangeArrowheads="1"/>
              </p:cNvSpPr>
              <p:nvPr/>
            </p:nvSpPr>
            <p:spPr bwMode="auto">
              <a:xfrm>
                <a:off x="3552" y="1704"/>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8199" name="Line 26"/>
              <p:cNvSpPr>
                <a:spLocks noChangeShapeType="1"/>
              </p:cNvSpPr>
              <p:nvPr/>
            </p:nvSpPr>
            <p:spPr bwMode="auto">
              <a:xfrm>
                <a:off x="4416" y="2352"/>
                <a:ext cx="192" cy="192"/>
              </a:xfrm>
              <a:prstGeom prst="line">
                <a:avLst/>
              </a:prstGeom>
              <a:noFill/>
              <a:ln w="9525">
                <a:solidFill>
                  <a:schemeClr val="tx1"/>
                </a:solidFill>
                <a:round/>
                <a:headEnd/>
                <a:tailEnd type="triangle" w="med" len="med"/>
              </a:ln>
            </p:spPr>
            <p:txBody>
              <a:bodyPr wrap="none" anchor="ctr"/>
              <a:lstStyle/>
              <a:p>
                <a:endParaRPr lang="bg-BG"/>
              </a:p>
            </p:txBody>
          </p:sp>
        </p:grpSp>
        <p:grpSp>
          <p:nvGrpSpPr>
            <p:cNvPr id="48132" name="Group 75"/>
            <p:cNvGrpSpPr>
              <a:grpSpLocks/>
            </p:cNvGrpSpPr>
            <p:nvPr/>
          </p:nvGrpSpPr>
          <p:grpSpPr bwMode="auto">
            <a:xfrm>
              <a:off x="5724128" y="836712"/>
              <a:ext cx="2781300" cy="1739900"/>
              <a:chOff x="3264" y="1104"/>
              <a:chExt cx="1752" cy="1096"/>
            </a:xfrm>
          </p:grpSpPr>
          <p:sp>
            <p:nvSpPr>
              <p:cNvPr id="48157" name="Oval 28"/>
              <p:cNvSpPr>
                <a:spLocks noChangeArrowheads="1"/>
              </p:cNvSpPr>
              <p:nvPr/>
            </p:nvSpPr>
            <p:spPr bwMode="auto">
              <a:xfrm>
                <a:off x="3948" y="1112"/>
                <a:ext cx="296" cy="274"/>
              </a:xfrm>
              <a:prstGeom prst="ellipse">
                <a:avLst/>
              </a:prstGeom>
              <a:solidFill>
                <a:srgbClr val="FFFFFF"/>
              </a:solidFill>
              <a:ln w="9525">
                <a:solidFill>
                  <a:srgbClr val="000000"/>
                </a:solidFill>
                <a:round/>
                <a:headEnd/>
                <a:tailEnd/>
              </a:ln>
            </p:spPr>
            <p:txBody>
              <a:bodyPr/>
              <a:lstStyle/>
              <a:p>
                <a:endParaRPr lang="bg-BG"/>
              </a:p>
            </p:txBody>
          </p:sp>
          <p:sp>
            <p:nvSpPr>
              <p:cNvPr id="48158" name="Oval 29"/>
              <p:cNvSpPr>
                <a:spLocks noChangeArrowheads="1"/>
              </p:cNvSpPr>
              <p:nvPr/>
            </p:nvSpPr>
            <p:spPr bwMode="auto">
              <a:xfrm>
                <a:off x="3515" y="1523"/>
                <a:ext cx="296" cy="273"/>
              </a:xfrm>
              <a:prstGeom prst="ellipse">
                <a:avLst/>
              </a:prstGeom>
              <a:solidFill>
                <a:srgbClr val="FFFFFF"/>
              </a:solidFill>
              <a:ln w="9525">
                <a:solidFill>
                  <a:srgbClr val="000000"/>
                </a:solidFill>
                <a:round/>
                <a:headEnd/>
                <a:tailEnd/>
              </a:ln>
            </p:spPr>
            <p:txBody>
              <a:bodyPr/>
              <a:lstStyle/>
              <a:p>
                <a:endParaRPr lang="bg-BG"/>
              </a:p>
            </p:txBody>
          </p:sp>
          <p:sp>
            <p:nvSpPr>
              <p:cNvPr id="48159" name="Oval 30"/>
              <p:cNvSpPr>
                <a:spLocks noChangeArrowheads="1"/>
              </p:cNvSpPr>
              <p:nvPr/>
            </p:nvSpPr>
            <p:spPr bwMode="auto">
              <a:xfrm>
                <a:off x="4404" y="1523"/>
                <a:ext cx="296" cy="273"/>
              </a:xfrm>
              <a:prstGeom prst="ellipse">
                <a:avLst/>
              </a:prstGeom>
              <a:solidFill>
                <a:srgbClr val="FFFFFF"/>
              </a:solidFill>
              <a:ln w="9525">
                <a:solidFill>
                  <a:srgbClr val="000000"/>
                </a:solidFill>
                <a:round/>
                <a:headEnd/>
                <a:tailEnd/>
              </a:ln>
            </p:spPr>
            <p:txBody>
              <a:bodyPr/>
              <a:lstStyle/>
              <a:p>
                <a:endParaRPr lang="bg-BG"/>
              </a:p>
            </p:txBody>
          </p:sp>
          <p:sp>
            <p:nvSpPr>
              <p:cNvPr id="48160" name="Oval 31"/>
              <p:cNvSpPr>
                <a:spLocks noChangeArrowheads="1"/>
              </p:cNvSpPr>
              <p:nvPr/>
            </p:nvSpPr>
            <p:spPr bwMode="auto">
              <a:xfrm>
                <a:off x="4176" y="1905"/>
                <a:ext cx="296" cy="274"/>
              </a:xfrm>
              <a:prstGeom prst="ellipse">
                <a:avLst/>
              </a:prstGeom>
              <a:solidFill>
                <a:srgbClr val="FFFFFF"/>
              </a:solidFill>
              <a:ln w="9525">
                <a:solidFill>
                  <a:srgbClr val="000000"/>
                </a:solidFill>
                <a:round/>
                <a:headEnd/>
                <a:tailEnd/>
              </a:ln>
            </p:spPr>
            <p:txBody>
              <a:bodyPr/>
              <a:lstStyle/>
              <a:p>
                <a:endParaRPr lang="bg-BG"/>
              </a:p>
            </p:txBody>
          </p:sp>
          <p:sp>
            <p:nvSpPr>
              <p:cNvPr id="48161" name="Oval 32"/>
              <p:cNvSpPr>
                <a:spLocks noChangeArrowheads="1"/>
              </p:cNvSpPr>
              <p:nvPr/>
            </p:nvSpPr>
            <p:spPr bwMode="auto">
              <a:xfrm>
                <a:off x="4678" y="1899"/>
                <a:ext cx="296" cy="274"/>
              </a:xfrm>
              <a:prstGeom prst="ellipse">
                <a:avLst/>
              </a:prstGeom>
              <a:solidFill>
                <a:srgbClr val="FFFFFF"/>
              </a:solidFill>
              <a:ln w="9525">
                <a:solidFill>
                  <a:srgbClr val="000000"/>
                </a:solidFill>
                <a:round/>
                <a:headEnd/>
                <a:tailEnd/>
              </a:ln>
            </p:spPr>
            <p:txBody>
              <a:bodyPr/>
              <a:lstStyle/>
              <a:p>
                <a:endParaRPr lang="bg-BG"/>
              </a:p>
            </p:txBody>
          </p:sp>
          <p:sp>
            <p:nvSpPr>
              <p:cNvPr id="48162" name="Oval 34"/>
              <p:cNvSpPr>
                <a:spLocks noChangeArrowheads="1"/>
              </p:cNvSpPr>
              <p:nvPr/>
            </p:nvSpPr>
            <p:spPr bwMode="auto">
              <a:xfrm>
                <a:off x="3766" y="1910"/>
                <a:ext cx="296" cy="274"/>
              </a:xfrm>
              <a:prstGeom prst="ellipse">
                <a:avLst/>
              </a:prstGeom>
              <a:solidFill>
                <a:srgbClr val="FFFFFF"/>
              </a:solidFill>
              <a:ln w="9525">
                <a:solidFill>
                  <a:srgbClr val="000000"/>
                </a:solidFill>
                <a:round/>
                <a:headEnd/>
                <a:tailEnd/>
              </a:ln>
            </p:spPr>
            <p:txBody>
              <a:bodyPr/>
              <a:lstStyle/>
              <a:p>
                <a:endParaRPr lang="bg-BG"/>
              </a:p>
            </p:txBody>
          </p:sp>
          <p:sp>
            <p:nvSpPr>
              <p:cNvPr id="48163" name="Oval 35"/>
              <p:cNvSpPr>
                <a:spLocks noChangeArrowheads="1"/>
              </p:cNvSpPr>
              <p:nvPr/>
            </p:nvSpPr>
            <p:spPr bwMode="auto">
              <a:xfrm>
                <a:off x="3264" y="1910"/>
                <a:ext cx="296" cy="274"/>
              </a:xfrm>
              <a:prstGeom prst="ellipse">
                <a:avLst/>
              </a:prstGeom>
              <a:solidFill>
                <a:srgbClr val="FFFFFF"/>
              </a:solidFill>
              <a:ln w="9525">
                <a:solidFill>
                  <a:srgbClr val="000000"/>
                </a:solidFill>
                <a:round/>
                <a:headEnd/>
                <a:tailEnd/>
              </a:ln>
            </p:spPr>
            <p:txBody>
              <a:bodyPr/>
              <a:lstStyle/>
              <a:p>
                <a:endParaRPr lang="bg-BG"/>
              </a:p>
            </p:txBody>
          </p:sp>
          <p:sp>
            <p:nvSpPr>
              <p:cNvPr id="48164" name="Line 36"/>
              <p:cNvSpPr>
                <a:spLocks noChangeShapeType="1"/>
              </p:cNvSpPr>
              <p:nvPr/>
            </p:nvSpPr>
            <p:spPr bwMode="auto">
              <a:xfrm flipH="1">
                <a:off x="3766" y="1340"/>
                <a:ext cx="205" cy="205"/>
              </a:xfrm>
              <a:prstGeom prst="line">
                <a:avLst/>
              </a:prstGeom>
              <a:noFill/>
              <a:ln w="9525">
                <a:solidFill>
                  <a:srgbClr val="000000"/>
                </a:solidFill>
                <a:round/>
                <a:headEnd/>
                <a:tailEnd type="triangle" w="med" len="med"/>
              </a:ln>
            </p:spPr>
            <p:txBody>
              <a:bodyPr/>
              <a:lstStyle/>
              <a:p>
                <a:endParaRPr lang="bg-BG"/>
              </a:p>
            </p:txBody>
          </p:sp>
          <p:sp>
            <p:nvSpPr>
              <p:cNvPr id="48165" name="Line 37"/>
              <p:cNvSpPr>
                <a:spLocks noChangeShapeType="1"/>
              </p:cNvSpPr>
              <p:nvPr/>
            </p:nvSpPr>
            <p:spPr bwMode="auto">
              <a:xfrm flipH="1">
                <a:off x="3469" y="1773"/>
                <a:ext cx="114" cy="137"/>
              </a:xfrm>
              <a:prstGeom prst="line">
                <a:avLst/>
              </a:prstGeom>
              <a:noFill/>
              <a:ln w="9525">
                <a:solidFill>
                  <a:srgbClr val="000000"/>
                </a:solidFill>
                <a:round/>
                <a:headEnd/>
                <a:tailEnd type="triangle" w="med" len="med"/>
              </a:ln>
            </p:spPr>
            <p:txBody>
              <a:bodyPr/>
              <a:lstStyle/>
              <a:p>
                <a:endParaRPr lang="bg-BG"/>
              </a:p>
            </p:txBody>
          </p:sp>
          <p:sp>
            <p:nvSpPr>
              <p:cNvPr id="48166" name="Line 38"/>
              <p:cNvSpPr>
                <a:spLocks noChangeShapeType="1"/>
              </p:cNvSpPr>
              <p:nvPr/>
            </p:nvSpPr>
            <p:spPr bwMode="auto">
              <a:xfrm>
                <a:off x="3766" y="1773"/>
                <a:ext cx="136" cy="137"/>
              </a:xfrm>
              <a:prstGeom prst="line">
                <a:avLst/>
              </a:prstGeom>
              <a:noFill/>
              <a:ln w="9525">
                <a:solidFill>
                  <a:srgbClr val="000000"/>
                </a:solidFill>
                <a:round/>
                <a:headEnd/>
                <a:tailEnd type="triangle" w="med" len="med"/>
              </a:ln>
            </p:spPr>
            <p:txBody>
              <a:bodyPr/>
              <a:lstStyle/>
              <a:p>
                <a:endParaRPr lang="bg-BG"/>
              </a:p>
            </p:txBody>
          </p:sp>
          <p:sp>
            <p:nvSpPr>
              <p:cNvPr id="48167" name="Line 39"/>
              <p:cNvSpPr>
                <a:spLocks noChangeShapeType="1"/>
              </p:cNvSpPr>
              <p:nvPr/>
            </p:nvSpPr>
            <p:spPr bwMode="auto">
              <a:xfrm>
                <a:off x="4199" y="1340"/>
                <a:ext cx="273" cy="205"/>
              </a:xfrm>
              <a:prstGeom prst="line">
                <a:avLst/>
              </a:prstGeom>
              <a:noFill/>
              <a:ln w="9525">
                <a:solidFill>
                  <a:srgbClr val="000000"/>
                </a:solidFill>
                <a:round/>
                <a:headEnd/>
                <a:tailEnd type="triangle" w="med" len="med"/>
              </a:ln>
            </p:spPr>
            <p:txBody>
              <a:bodyPr/>
              <a:lstStyle/>
              <a:p>
                <a:endParaRPr lang="bg-BG"/>
              </a:p>
            </p:txBody>
          </p:sp>
          <p:sp>
            <p:nvSpPr>
              <p:cNvPr id="48168" name="Line 40"/>
              <p:cNvSpPr>
                <a:spLocks noChangeShapeType="1"/>
              </p:cNvSpPr>
              <p:nvPr/>
            </p:nvSpPr>
            <p:spPr bwMode="auto">
              <a:xfrm flipH="1">
                <a:off x="4381" y="1773"/>
                <a:ext cx="91" cy="137"/>
              </a:xfrm>
              <a:prstGeom prst="line">
                <a:avLst/>
              </a:prstGeom>
              <a:noFill/>
              <a:ln w="9525">
                <a:solidFill>
                  <a:srgbClr val="000000"/>
                </a:solidFill>
                <a:round/>
                <a:headEnd/>
                <a:tailEnd type="triangle" w="med" len="med"/>
              </a:ln>
            </p:spPr>
            <p:txBody>
              <a:bodyPr/>
              <a:lstStyle/>
              <a:p>
                <a:endParaRPr lang="bg-BG"/>
              </a:p>
            </p:txBody>
          </p:sp>
          <p:sp>
            <p:nvSpPr>
              <p:cNvPr id="48169" name="Line 41"/>
              <p:cNvSpPr>
                <a:spLocks noChangeShapeType="1"/>
              </p:cNvSpPr>
              <p:nvPr/>
            </p:nvSpPr>
            <p:spPr bwMode="auto">
              <a:xfrm>
                <a:off x="4632" y="1773"/>
                <a:ext cx="137" cy="137"/>
              </a:xfrm>
              <a:prstGeom prst="line">
                <a:avLst/>
              </a:prstGeom>
              <a:noFill/>
              <a:ln w="9525">
                <a:solidFill>
                  <a:srgbClr val="000000"/>
                </a:solidFill>
                <a:round/>
                <a:headEnd/>
                <a:tailEnd type="triangle" w="med" len="med"/>
              </a:ln>
            </p:spPr>
            <p:txBody>
              <a:bodyPr/>
              <a:lstStyle/>
              <a:p>
                <a:endParaRPr lang="bg-BG"/>
              </a:p>
            </p:txBody>
          </p:sp>
          <p:sp>
            <p:nvSpPr>
              <p:cNvPr id="48170" name="Text Box 42"/>
              <p:cNvSpPr txBox="1">
                <a:spLocks noChangeArrowheads="1"/>
              </p:cNvSpPr>
              <p:nvPr/>
            </p:nvSpPr>
            <p:spPr bwMode="auto">
              <a:xfrm>
                <a:off x="3992" y="1104"/>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8171" name="Text Box 43"/>
              <p:cNvSpPr txBox="1">
                <a:spLocks noChangeArrowheads="1"/>
              </p:cNvSpPr>
              <p:nvPr/>
            </p:nvSpPr>
            <p:spPr bwMode="auto">
              <a:xfrm>
                <a:off x="3304" y="1896"/>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8172" name="Text Box 44"/>
              <p:cNvSpPr txBox="1">
                <a:spLocks noChangeArrowheads="1"/>
              </p:cNvSpPr>
              <p:nvPr/>
            </p:nvSpPr>
            <p:spPr bwMode="auto">
              <a:xfrm>
                <a:off x="3816" y="1912"/>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8173" name="Text Box 45"/>
              <p:cNvSpPr txBox="1">
                <a:spLocks noChangeArrowheads="1"/>
              </p:cNvSpPr>
              <p:nvPr/>
            </p:nvSpPr>
            <p:spPr bwMode="auto">
              <a:xfrm>
                <a:off x="4208" y="1896"/>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8174" name="Text Box 46"/>
              <p:cNvSpPr txBox="1">
                <a:spLocks noChangeArrowheads="1"/>
              </p:cNvSpPr>
              <p:nvPr/>
            </p:nvSpPr>
            <p:spPr bwMode="auto">
              <a:xfrm>
                <a:off x="4392" y="1512"/>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8175" name="Text Box 47"/>
              <p:cNvSpPr txBox="1">
                <a:spLocks noChangeArrowheads="1"/>
              </p:cNvSpPr>
              <p:nvPr/>
            </p:nvSpPr>
            <p:spPr bwMode="auto">
              <a:xfrm>
                <a:off x="4680" y="1896"/>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8176" name="Text Box 49"/>
              <p:cNvSpPr txBox="1">
                <a:spLocks noChangeArrowheads="1"/>
              </p:cNvSpPr>
              <p:nvPr/>
            </p:nvSpPr>
            <p:spPr bwMode="auto">
              <a:xfrm>
                <a:off x="3552" y="1512"/>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grpSp>
        <p:grpSp>
          <p:nvGrpSpPr>
            <p:cNvPr id="48133" name="Group 78"/>
            <p:cNvGrpSpPr>
              <a:grpSpLocks/>
            </p:cNvGrpSpPr>
            <p:nvPr/>
          </p:nvGrpSpPr>
          <p:grpSpPr bwMode="auto">
            <a:xfrm>
              <a:off x="5796136" y="3501008"/>
              <a:ext cx="2781300" cy="2451100"/>
              <a:chOff x="3312" y="2256"/>
              <a:chExt cx="1752" cy="1544"/>
            </a:xfrm>
          </p:grpSpPr>
          <p:sp>
            <p:nvSpPr>
              <p:cNvPr id="48137" name="Oval 52"/>
              <p:cNvSpPr>
                <a:spLocks noChangeArrowheads="1"/>
              </p:cNvSpPr>
              <p:nvPr/>
            </p:nvSpPr>
            <p:spPr bwMode="auto">
              <a:xfrm>
                <a:off x="3996" y="2264"/>
                <a:ext cx="296" cy="274"/>
              </a:xfrm>
              <a:prstGeom prst="ellipse">
                <a:avLst/>
              </a:prstGeom>
              <a:solidFill>
                <a:srgbClr val="FFFFFF"/>
              </a:solidFill>
              <a:ln w="9525">
                <a:solidFill>
                  <a:srgbClr val="000000"/>
                </a:solidFill>
                <a:round/>
                <a:headEnd/>
                <a:tailEnd/>
              </a:ln>
            </p:spPr>
            <p:txBody>
              <a:bodyPr/>
              <a:lstStyle/>
              <a:p>
                <a:endParaRPr lang="bg-BG"/>
              </a:p>
            </p:txBody>
          </p:sp>
          <p:sp>
            <p:nvSpPr>
              <p:cNvPr id="48138" name="Oval 53"/>
              <p:cNvSpPr>
                <a:spLocks noChangeArrowheads="1"/>
              </p:cNvSpPr>
              <p:nvPr/>
            </p:nvSpPr>
            <p:spPr bwMode="auto">
              <a:xfrm>
                <a:off x="3563" y="2675"/>
                <a:ext cx="296" cy="273"/>
              </a:xfrm>
              <a:prstGeom prst="ellipse">
                <a:avLst/>
              </a:prstGeom>
              <a:solidFill>
                <a:srgbClr val="FFFFFF"/>
              </a:solidFill>
              <a:ln w="9525">
                <a:solidFill>
                  <a:srgbClr val="000000"/>
                </a:solidFill>
                <a:round/>
                <a:headEnd/>
                <a:tailEnd/>
              </a:ln>
            </p:spPr>
            <p:txBody>
              <a:bodyPr/>
              <a:lstStyle/>
              <a:p>
                <a:endParaRPr lang="bg-BG"/>
              </a:p>
            </p:txBody>
          </p:sp>
          <p:sp>
            <p:nvSpPr>
              <p:cNvPr id="48139" name="Oval 54"/>
              <p:cNvSpPr>
                <a:spLocks noChangeArrowheads="1"/>
              </p:cNvSpPr>
              <p:nvPr/>
            </p:nvSpPr>
            <p:spPr bwMode="auto">
              <a:xfrm>
                <a:off x="4452" y="2675"/>
                <a:ext cx="296" cy="273"/>
              </a:xfrm>
              <a:prstGeom prst="ellipse">
                <a:avLst/>
              </a:prstGeom>
              <a:solidFill>
                <a:srgbClr val="FFFFFF"/>
              </a:solidFill>
              <a:ln w="9525">
                <a:solidFill>
                  <a:srgbClr val="000000"/>
                </a:solidFill>
                <a:round/>
                <a:headEnd/>
                <a:tailEnd/>
              </a:ln>
            </p:spPr>
            <p:txBody>
              <a:bodyPr/>
              <a:lstStyle/>
              <a:p>
                <a:endParaRPr lang="bg-BG"/>
              </a:p>
            </p:txBody>
          </p:sp>
          <p:sp>
            <p:nvSpPr>
              <p:cNvPr id="48140" name="Oval 55"/>
              <p:cNvSpPr>
                <a:spLocks noChangeArrowheads="1"/>
              </p:cNvSpPr>
              <p:nvPr/>
            </p:nvSpPr>
            <p:spPr bwMode="auto">
              <a:xfrm>
                <a:off x="4224" y="3057"/>
                <a:ext cx="296" cy="274"/>
              </a:xfrm>
              <a:prstGeom prst="ellipse">
                <a:avLst/>
              </a:prstGeom>
              <a:solidFill>
                <a:srgbClr val="FFFFFF"/>
              </a:solidFill>
              <a:ln w="9525">
                <a:solidFill>
                  <a:srgbClr val="000000"/>
                </a:solidFill>
                <a:round/>
                <a:headEnd/>
                <a:tailEnd/>
              </a:ln>
            </p:spPr>
            <p:txBody>
              <a:bodyPr/>
              <a:lstStyle/>
              <a:p>
                <a:endParaRPr lang="bg-BG"/>
              </a:p>
            </p:txBody>
          </p:sp>
          <p:sp>
            <p:nvSpPr>
              <p:cNvPr id="48141" name="Oval 56"/>
              <p:cNvSpPr>
                <a:spLocks noChangeArrowheads="1"/>
              </p:cNvSpPr>
              <p:nvPr/>
            </p:nvSpPr>
            <p:spPr bwMode="auto">
              <a:xfrm>
                <a:off x="4726" y="3051"/>
                <a:ext cx="296" cy="274"/>
              </a:xfrm>
              <a:prstGeom prst="ellipse">
                <a:avLst/>
              </a:prstGeom>
              <a:solidFill>
                <a:srgbClr val="FFFFFF"/>
              </a:solidFill>
              <a:ln w="9525">
                <a:solidFill>
                  <a:srgbClr val="000000"/>
                </a:solidFill>
                <a:round/>
                <a:headEnd/>
                <a:tailEnd/>
              </a:ln>
            </p:spPr>
            <p:txBody>
              <a:bodyPr/>
              <a:lstStyle/>
              <a:p>
                <a:endParaRPr lang="bg-BG"/>
              </a:p>
            </p:txBody>
          </p:sp>
          <p:sp>
            <p:nvSpPr>
              <p:cNvPr id="48142" name="Oval 57"/>
              <p:cNvSpPr>
                <a:spLocks noChangeArrowheads="1"/>
              </p:cNvSpPr>
              <p:nvPr/>
            </p:nvSpPr>
            <p:spPr bwMode="auto">
              <a:xfrm>
                <a:off x="4520" y="3518"/>
                <a:ext cx="297" cy="274"/>
              </a:xfrm>
              <a:prstGeom prst="ellipse">
                <a:avLst/>
              </a:prstGeom>
              <a:solidFill>
                <a:srgbClr val="FFFFFF"/>
              </a:solidFill>
              <a:ln w="9525">
                <a:solidFill>
                  <a:srgbClr val="000000"/>
                </a:solidFill>
                <a:round/>
                <a:headEnd/>
                <a:tailEnd/>
              </a:ln>
            </p:spPr>
            <p:txBody>
              <a:bodyPr/>
              <a:lstStyle/>
              <a:p>
                <a:endParaRPr lang="bg-BG"/>
              </a:p>
            </p:txBody>
          </p:sp>
          <p:sp>
            <p:nvSpPr>
              <p:cNvPr id="48143" name="Oval 59"/>
              <p:cNvSpPr>
                <a:spLocks noChangeArrowheads="1"/>
              </p:cNvSpPr>
              <p:nvPr/>
            </p:nvSpPr>
            <p:spPr bwMode="auto">
              <a:xfrm>
                <a:off x="3312" y="3062"/>
                <a:ext cx="296" cy="274"/>
              </a:xfrm>
              <a:prstGeom prst="ellipse">
                <a:avLst/>
              </a:prstGeom>
              <a:solidFill>
                <a:srgbClr val="FFFFFF"/>
              </a:solidFill>
              <a:ln w="9525">
                <a:solidFill>
                  <a:srgbClr val="000000"/>
                </a:solidFill>
                <a:round/>
                <a:headEnd/>
                <a:tailEnd/>
              </a:ln>
            </p:spPr>
            <p:txBody>
              <a:bodyPr/>
              <a:lstStyle/>
              <a:p>
                <a:endParaRPr lang="bg-BG"/>
              </a:p>
            </p:txBody>
          </p:sp>
          <p:sp>
            <p:nvSpPr>
              <p:cNvPr id="48144" name="Line 60"/>
              <p:cNvSpPr>
                <a:spLocks noChangeShapeType="1"/>
              </p:cNvSpPr>
              <p:nvPr/>
            </p:nvSpPr>
            <p:spPr bwMode="auto">
              <a:xfrm flipH="1">
                <a:off x="3814" y="2492"/>
                <a:ext cx="205" cy="205"/>
              </a:xfrm>
              <a:prstGeom prst="line">
                <a:avLst/>
              </a:prstGeom>
              <a:noFill/>
              <a:ln w="9525">
                <a:solidFill>
                  <a:srgbClr val="000000"/>
                </a:solidFill>
                <a:round/>
                <a:headEnd/>
                <a:tailEnd type="triangle" w="med" len="med"/>
              </a:ln>
            </p:spPr>
            <p:txBody>
              <a:bodyPr/>
              <a:lstStyle/>
              <a:p>
                <a:endParaRPr lang="bg-BG"/>
              </a:p>
            </p:txBody>
          </p:sp>
          <p:sp>
            <p:nvSpPr>
              <p:cNvPr id="48145" name="Line 61"/>
              <p:cNvSpPr>
                <a:spLocks noChangeShapeType="1"/>
              </p:cNvSpPr>
              <p:nvPr/>
            </p:nvSpPr>
            <p:spPr bwMode="auto">
              <a:xfrm flipH="1">
                <a:off x="3517" y="2925"/>
                <a:ext cx="114" cy="137"/>
              </a:xfrm>
              <a:prstGeom prst="line">
                <a:avLst/>
              </a:prstGeom>
              <a:noFill/>
              <a:ln w="9525">
                <a:solidFill>
                  <a:srgbClr val="000000"/>
                </a:solidFill>
                <a:round/>
                <a:headEnd/>
                <a:tailEnd type="triangle" w="med" len="med"/>
              </a:ln>
            </p:spPr>
            <p:txBody>
              <a:bodyPr/>
              <a:lstStyle/>
              <a:p>
                <a:endParaRPr lang="bg-BG"/>
              </a:p>
            </p:txBody>
          </p:sp>
          <p:sp>
            <p:nvSpPr>
              <p:cNvPr id="48146" name="Line 63"/>
              <p:cNvSpPr>
                <a:spLocks noChangeShapeType="1"/>
              </p:cNvSpPr>
              <p:nvPr/>
            </p:nvSpPr>
            <p:spPr bwMode="auto">
              <a:xfrm>
                <a:off x="4247" y="2492"/>
                <a:ext cx="273" cy="205"/>
              </a:xfrm>
              <a:prstGeom prst="line">
                <a:avLst/>
              </a:prstGeom>
              <a:noFill/>
              <a:ln w="9525">
                <a:solidFill>
                  <a:srgbClr val="000000"/>
                </a:solidFill>
                <a:round/>
                <a:headEnd/>
                <a:tailEnd type="triangle" w="med" len="med"/>
              </a:ln>
            </p:spPr>
            <p:txBody>
              <a:bodyPr/>
              <a:lstStyle/>
              <a:p>
                <a:endParaRPr lang="bg-BG"/>
              </a:p>
            </p:txBody>
          </p:sp>
          <p:sp>
            <p:nvSpPr>
              <p:cNvPr id="48147" name="Line 64"/>
              <p:cNvSpPr>
                <a:spLocks noChangeShapeType="1"/>
              </p:cNvSpPr>
              <p:nvPr/>
            </p:nvSpPr>
            <p:spPr bwMode="auto">
              <a:xfrm flipH="1">
                <a:off x="4429" y="2925"/>
                <a:ext cx="91" cy="137"/>
              </a:xfrm>
              <a:prstGeom prst="line">
                <a:avLst/>
              </a:prstGeom>
              <a:noFill/>
              <a:ln w="9525">
                <a:solidFill>
                  <a:srgbClr val="000000"/>
                </a:solidFill>
                <a:round/>
                <a:headEnd/>
                <a:tailEnd type="triangle" w="med" len="med"/>
              </a:ln>
            </p:spPr>
            <p:txBody>
              <a:bodyPr/>
              <a:lstStyle/>
              <a:p>
                <a:endParaRPr lang="bg-BG"/>
              </a:p>
            </p:txBody>
          </p:sp>
          <p:sp>
            <p:nvSpPr>
              <p:cNvPr id="48148" name="Line 65"/>
              <p:cNvSpPr>
                <a:spLocks noChangeShapeType="1"/>
              </p:cNvSpPr>
              <p:nvPr/>
            </p:nvSpPr>
            <p:spPr bwMode="auto">
              <a:xfrm>
                <a:off x="4680" y="2925"/>
                <a:ext cx="137" cy="137"/>
              </a:xfrm>
              <a:prstGeom prst="line">
                <a:avLst/>
              </a:prstGeom>
              <a:noFill/>
              <a:ln w="9525">
                <a:solidFill>
                  <a:srgbClr val="000000"/>
                </a:solidFill>
                <a:round/>
                <a:headEnd/>
                <a:tailEnd type="triangle" w="med" len="med"/>
              </a:ln>
            </p:spPr>
            <p:txBody>
              <a:bodyPr/>
              <a:lstStyle/>
              <a:p>
                <a:endParaRPr lang="bg-BG"/>
              </a:p>
            </p:txBody>
          </p:sp>
          <p:sp>
            <p:nvSpPr>
              <p:cNvPr id="48149" name="Text Box 66"/>
              <p:cNvSpPr txBox="1">
                <a:spLocks noChangeArrowheads="1"/>
              </p:cNvSpPr>
              <p:nvPr/>
            </p:nvSpPr>
            <p:spPr bwMode="auto">
              <a:xfrm>
                <a:off x="4040" y="2256"/>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8150" name="Text Box 67"/>
              <p:cNvSpPr txBox="1">
                <a:spLocks noChangeArrowheads="1"/>
              </p:cNvSpPr>
              <p:nvPr/>
            </p:nvSpPr>
            <p:spPr bwMode="auto">
              <a:xfrm>
                <a:off x="3352" y="3048"/>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8151" name="Text Box 69"/>
              <p:cNvSpPr txBox="1">
                <a:spLocks noChangeArrowheads="1"/>
              </p:cNvSpPr>
              <p:nvPr/>
            </p:nvSpPr>
            <p:spPr bwMode="auto">
              <a:xfrm>
                <a:off x="4256" y="3048"/>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8152" name="Text Box 70"/>
              <p:cNvSpPr txBox="1">
                <a:spLocks noChangeArrowheads="1"/>
              </p:cNvSpPr>
              <p:nvPr/>
            </p:nvSpPr>
            <p:spPr bwMode="auto">
              <a:xfrm>
                <a:off x="4440" y="2664"/>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8153" name="Text Box 71"/>
              <p:cNvSpPr txBox="1">
                <a:spLocks noChangeArrowheads="1"/>
              </p:cNvSpPr>
              <p:nvPr/>
            </p:nvSpPr>
            <p:spPr bwMode="auto">
              <a:xfrm>
                <a:off x="4728" y="3048"/>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8154" name="Text Box 72"/>
              <p:cNvSpPr txBox="1">
                <a:spLocks noChangeArrowheads="1"/>
              </p:cNvSpPr>
              <p:nvPr/>
            </p:nvSpPr>
            <p:spPr bwMode="auto">
              <a:xfrm>
                <a:off x="4560" y="351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8155" name="Text Box 73"/>
              <p:cNvSpPr txBox="1">
                <a:spLocks noChangeArrowheads="1"/>
              </p:cNvSpPr>
              <p:nvPr/>
            </p:nvSpPr>
            <p:spPr bwMode="auto">
              <a:xfrm>
                <a:off x="3600" y="2664"/>
                <a:ext cx="240" cy="288"/>
              </a:xfrm>
              <a:prstGeom prst="rect">
                <a:avLst/>
              </a:prstGeom>
              <a:noFill/>
              <a:ln w="9525">
                <a:noFill/>
                <a:miter lim="800000"/>
                <a:headEnd/>
                <a:tailEnd/>
              </a:ln>
            </p:spPr>
            <p:txBody>
              <a:bodyPr>
                <a:spAutoFit/>
              </a:bodyPr>
              <a:lstStyle/>
              <a:p>
                <a:pPr>
                  <a:spcBef>
                    <a:spcPct val="50000"/>
                  </a:spcBef>
                </a:pPr>
                <a:r>
                  <a:rPr lang="bg-BG"/>
                  <a:t>2</a:t>
                </a:r>
                <a:endParaRPr lang="en-US"/>
              </a:p>
            </p:txBody>
          </p:sp>
          <p:sp>
            <p:nvSpPr>
              <p:cNvPr id="48156" name="Line 74"/>
              <p:cNvSpPr>
                <a:spLocks noChangeShapeType="1"/>
              </p:cNvSpPr>
              <p:nvPr/>
            </p:nvSpPr>
            <p:spPr bwMode="auto">
              <a:xfrm>
                <a:off x="4464" y="3312"/>
                <a:ext cx="192" cy="192"/>
              </a:xfrm>
              <a:prstGeom prst="line">
                <a:avLst/>
              </a:prstGeom>
              <a:noFill/>
              <a:ln w="9525">
                <a:solidFill>
                  <a:schemeClr val="tx1"/>
                </a:solidFill>
                <a:round/>
                <a:headEnd/>
                <a:tailEnd type="triangle" w="med" len="med"/>
              </a:ln>
            </p:spPr>
            <p:txBody>
              <a:bodyPr wrap="none" anchor="ctr"/>
              <a:lstStyle/>
              <a:p>
                <a:endParaRPr lang="bg-BG"/>
              </a:p>
            </p:txBody>
          </p:sp>
        </p:grpSp>
        <p:sp>
          <p:nvSpPr>
            <p:cNvPr id="48134" name="Line 76"/>
            <p:cNvSpPr>
              <a:spLocks noChangeShapeType="1"/>
            </p:cNvSpPr>
            <p:nvPr/>
          </p:nvSpPr>
          <p:spPr bwMode="auto">
            <a:xfrm flipV="1">
              <a:off x="3923928" y="1916832"/>
              <a:ext cx="1676400" cy="457200"/>
            </a:xfrm>
            <a:prstGeom prst="line">
              <a:avLst/>
            </a:prstGeom>
            <a:noFill/>
            <a:ln w="9525">
              <a:solidFill>
                <a:schemeClr val="tx1"/>
              </a:solidFill>
              <a:round/>
              <a:headEnd/>
              <a:tailEnd type="triangle" w="med" len="med"/>
            </a:ln>
          </p:spPr>
          <p:txBody>
            <a:bodyPr wrap="none" anchor="ctr"/>
            <a:lstStyle/>
            <a:p>
              <a:endParaRPr lang="bg-BG"/>
            </a:p>
          </p:txBody>
        </p:sp>
        <p:sp>
          <p:nvSpPr>
            <p:cNvPr id="48135" name="Line 77"/>
            <p:cNvSpPr>
              <a:spLocks noChangeShapeType="1"/>
            </p:cNvSpPr>
            <p:nvPr/>
          </p:nvSpPr>
          <p:spPr bwMode="auto">
            <a:xfrm>
              <a:off x="3995936" y="3429000"/>
              <a:ext cx="1600200" cy="914400"/>
            </a:xfrm>
            <a:prstGeom prst="line">
              <a:avLst/>
            </a:prstGeom>
            <a:noFill/>
            <a:ln w="9525">
              <a:solidFill>
                <a:schemeClr val="tx1"/>
              </a:solidFill>
              <a:round/>
              <a:headEnd/>
              <a:tailEnd type="triangle" w="med" len="med"/>
            </a:ln>
          </p:spPr>
          <p:txBody>
            <a:bodyPr wrap="none" anchor="ctr"/>
            <a:lstStyle/>
            <a:p>
              <a:endParaRPr lang="bg-BG"/>
            </a:p>
          </p:txBody>
        </p:sp>
        <p:sp>
          <p:nvSpPr>
            <p:cNvPr id="48136" name="Text Box 79"/>
            <p:cNvSpPr txBox="1">
              <a:spLocks noChangeArrowheads="1"/>
            </p:cNvSpPr>
            <p:nvPr/>
          </p:nvSpPr>
          <p:spPr bwMode="auto">
            <a:xfrm>
              <a:off x="1331640" y="5085184"/>
              <a:ext cx="4114800" cy="822325"/>
            </a:xfrm>
            <a:prstGeom prst="rect">
              <a:avLst/>
            </a:prstGeom>
            <a:noFill/>
            <a:ln w="9525">
              <a:noFill/>
              <a:miter lim="800000"/>
              <a:headEnd/>
              <a:tailEnd/>
            </a:ln>
          </p:spPr>
          <p:txBody>
            <a:bodyPr>
              <a:spAutoFit/>
            </a:bodyPr>
            <a:lstStyle/>
            <a:p>
              <a:pPr>
                <a:spcBef>
                  <a:spcPct val="50000"/>
                </a:spcBef>
              </a:pPr>
              <a:r>
                <a:rPr lang="bg-BG"/>
                <a:t>(и в двата случая няма допълнително балансиране)</a:t>
              </a:r>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187624" y="620688"/>
            <a:ext cx="8077200" cy="5867400"/>
          </a:xfrm>
        </p:spPr>
        <p:txBody>
          <a:bodyPr/>
          <a:lstStyle/>
          <a:p>
            <a:pPr eaLnBrk="1" fontAlgn="auto" hangingPunct="1">
              <a:spcAft>
                <a:spcPts val="0"/>
              </a:spcAft>
              <a:defRPr/>
            </a:pPr>
            <a:r>
              <a:rPr lang="bg-BG" sz="2800">
                <a:solidFill>
                  <a:schemeClr val="tx2">
                    <a:satMod val="130000"/>
                  </a:schemeClr>
                </a:solidFill>
              </a:rPr>
              <a:t>Например, </a:t>
            </a:r>
            <a:r>
              <a:rPr lang="en-US" sz="2800" smtClean="0">
                <a:solidFill>
                  <a:schemeClr val="tx2">
                    <a:satMod val="130000"/>
                  </a:schemeClr>
                </a:solidFill>
              </a:rPr>
              <a:t>2</a:t>
            </a:r>
            <a:r>
              <a:rPr lang="bg-BG" sz="2800" smtClean="0">
                <a:solidFill>
                  <a:schemeClr val="tx2">
                    <a:satMod val="130000"/>
                  </a:schemeClr>
                </a:solidFill>
              </a:rPr>
              <a:t>:</a:t>
            </a: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grpSp>
        <p:nvGrpSpPr>
          <p:cNvPr id="62" name="Group 61"/>
          <p:cNvGrpSpPr/>
          <p:nvPr/>
        </p:nvGrpSpPr>
        <p:grpSpPr>
          <a:xfrm>
            <a:off x="1156048" y="1330906"/>
            <a:ext cx="7429500" cy="3924300"/>
            <a:chOff x="762000" y="1981200"/>
            <a:chExt cx="7429500" cy="3924300"/>
          </a:xfrm>
        </p:grpSpPr>
        <p:grpSp>
          <p:nvGrpSpPr>
            <p:cNvPr id="49155" name="Group 3"/>
            <p:cNvGrpSpPr>
              <a:grpSpLocks/>
            </p:cNvGrpSpPr>
            <p:nvPr/>
          </p:nvGrpSpPr>
          <p:grpSpPr bwMode="auto">
            <a:xfrm>
              <a:off x="762000" y="1981200"/>
              <a:ext cx="2781300" cy="2451100"/>
              <a:chOff x="3312" y="2256"/>
              <a:chExt cx="1752" cy="1544"/>
            </a:xfrm>
          </p:grpSpPr>
          <p:sp>
            <p:nvSpPr>
              <p:cNvPr id="49194" name="Oval 4"/>
              <p:cNvSpPr>
                <a:spLocks noChangeArrowheads="1"/>
              </p:cNvSpPr>
              <p:nvPr/>
            </p:nvSpPr>
            <p:spPr bwMode="auto">
              <a:xfrm>
                <a:off x="3996" y="2264"/>
                <a:ext cx="296" cy="274"/>
              </a:xfrm>
              <a:prstGeom prst="ellipse">
                <a:avLst/>
              </a:prstGeom>
              <a:solidFill>
                <a:srgbClr val="FFFFFF"/>
              </a:solidFill>
              <a:ln w="9525">
                <a:solidFill>
                  <a:srgbClr val="000000"/>
                </a:solidFill>
                <a:round/>
                <a:headEnd/>
                <a:tailEnd/>
              </a:ln>
            </p:spPr>
            <p:txBody>
              <a:bodyPr/>
              <a:lstStyle/>
              <a:p>
                <a:endParaRPr lang="bg-BG"/>
              </a:p>
            </p:txBody>
          </p:sp>
          <p:sp>
            <p:nvSpPr>
              <p:cNvPr id="49195" name="Oval 5"/>
              <p:cNvSpPr>
                <a:spLocks noChangeArrowheads="1"/>
              </p:cNvSpPr>
              <p:nvPr/>
            </p:nvSpPr>
            <p:spPr bwMode="auto">
              <a:xfrm>
                <a:off x="3563" y="2675"/>
                <a:ext cx="296" cy="273"/>
              </a:xfrm>
              <a:prstGeom prst="ellipse">
                <a:avLst/>
              </a:prstGeom>
              <a:solidFill>
                <a:srgbClr val="FFFFFF"/>
              </a:solidFill>
              <a:ln w="9525">
                <a:solidFill>
                  <a:srgbClr val="000000"/>
                </a:solidFill>
                <a:round/>
                <a:headEnd/>
                <a:tailEnd/>
              </a:ln>
            </p:spPr>
            <p:txBody>
              <a:bodyPr/>
              <a:lstStyle/>
              <a:p>
                <a:endParaRPr lang="bg-BG"/>
              </a:p>
            </p:txBody>
          </p:sp>
          <p:sp>
            <p:nvSpPr>
              <p:cNvPr id="49196" name="Oval 6"/>
              <p:cNvSpPr>
                <a:spLocks noChangeArrowheads="1"/>
              </p:cNvSpPr>
              <p:nvPr/>
            </p:nvSpPr>
            <p:spPr bwMode="auto">
              <a:xfrm>
                <a:off x="4452" y="2675"/>
                <a:ext cx="296" cy="273"/>
              </a:xfrm>
              <a:prstGeom prst="ellipse">
                <a:avLst/>
              </a:prstGeom>
              <a:solidFill>
                <a:srgbClr val="FFFFFF"/>
              </a:solidFill>
              <a:ln w="9525">
                <a:solidFill>
                  <a:srgbClr val="000000"/>
                </a:solidFill>
                <a:round/>
                <a:headEnd/>
                <a:tailEnd/>
              </a:ln>
            </p:spPr>
            <p:txBody>
              <a:bodyPr/>
              <a:lstStyle/>
              <a:p>
                <a:endParaRPr lang="bg-BG"/>
              </a:p>
            </p:txBody>
          </p:sp>
          <p:sp>
            <p:nvSpPr>
              <p:cNvPr id="49197" name="Oval 7"/>
              <p:cNvSpPr>
                <a:spLocks noChangeArrowheads="1"/>
              </p:cNvSpPr>
              <p:nvPr/>
            </p:nvSpPr>
            <p:spPr bwMode="auto">
              <a:xfrm>
                <a:off x="4224" y="3057"/>
                <a:ext cx="296" cy="274"/>
              </a:xfrm>
              <a:prstGeom prst="ellipse">
                <a:avLst/>
              </a:prstGeom>
              <a:solidFill>
                <a:srgbClr val="FFFFFF"/>
              </a:solidFill>
              <a:ln w="9525">
                <a:solidFill>
                  <a:srgbClr val="000000"/>
                </a:solidFill>
                <a:round/>
                <a:headEnd/>
                <a:tailEnd/>
              </a:ln>
            </p:spPr>
            <p:txBody>
              <a:bodyPr/>
              <a:lstStyle/>
              <a:p>
                <a:endParaRPr lang="bg-BG"/>
              </a:p>
            </p:txBody>
          </p:sp>
          <p:sp>
            <p:nvSpPr>
              <p:cNvPr id="49198" name="Oval 8"/>
              <p:cNvSpPr>
                <a:spLocks noChangeArrowheads="1"/>
              </p:cNvSpPr>
              <p:nvPr/>
            </p:nvSpPr>
            <p:spPr bwMode="auto">
              <a:xfrm>
                <a:off x="4726" y="3051"/>
                <a:ext cx="296" cy="274"/>
              </a:xfrm>
              <a:prstGeom prst="ellipse">
                <a:avLst/>
              </a:prstGeom>
              <a:solidFill>
                <a:srgbClr val="FFFFFF"/>
              </a:solidFill>
              <a:ln w="9525">
                <a:solidFill>
                  <a:srgbClr val="000000"/>
                </a:solidFill>
                <a:round/>
                <a:headEnd/>
                <a:tailEnd/>
              </a:ln>
            </p:spPr>
            <p:txBody>
              <a:bodyPr/>
              <a:lstStyle/>
              <a:p>
                <a:endParaRPr lang="bg-BG"/>
              </a:p>
            </p:txBody>
          </p:sp>
          <p:sp>
            <p:nvSpPr>
              <p:cNvPr id="49199" name="Oval 9"/>
              <p:cNvSpPr>
                <a:spLocks noChangeArrowheads="1"/>
              </p:cNvSpPr>
              <p:nvPr/>
            </p:nvSpPr>
            <p:spPr bwMode="auto">
              <a:xfrm>
                <a:off x="4520" y="3518"/>
                <a:ext cx="297" cy="274"/>
              </a:xfrm>
              <a:prstGeom prst="ellipse">
                <a:avLst/>
              </a:prstGeom>
              <a:solidFill>
                <a:srgbClr val="FFFFFF"/>
              </a:solidFill>
              <a:ln w="9525">
                <a:solidFill>
                  <a:srgbClr val="000000"/>
                </a:solidFill>
                <a:round/>
                <a:headEnd/>
                <a:tailEnd/>
              </a:ln>
            </p:spPr>
            <p:txBody>
              <a:bodyPr/>
              <a:lstStyle/>
              <a:p>
                <a:endParaRPr lang="bg-BG"/>
              </a:p>
            </p:txBody>
          </p:sp>
          <p:sp>
            <p:nvSpPr>
              <p:cNvPr id="49200" name="Oval 10"/>
              <p:cNvSpPr>
                <a:spLocks noChangeArrowheads="1"/>
              </p:cNvSpPr>
              <p:nvPr/>
            </p:nvSpPr>
            <p:spPr bwMode="auto">
              <a:xfrm>
                <a:off x="3312" y="3062"/>
                <a:ext cx="296" cy="274"/>
              </a:xfrm>
              <a:prstGeom prst="ellipse">
                <a:avLst/>
              </a:prstGeom>
              <a:solidFill>
                <a:srgbClr val="FFFFFF"/>
              </a:solidFill>
              <a:ln w="9525">
                <a:solidFill>
                  <a:srgbClr val="000000"/>
                </a:solidFill>
                <a:round/>
                <a:headEnd/>
                <a:tailEnd/>
              </a:ln>
            </p:spPr>
            <p:txBody>
              <a:bodyPr/>
              <a:lstStyle/>
              <a:p>
                <a:endParaRPr lang="bg-BG"/>
              </a:p>
            </p:txBody>
          </p:sp>
          <p:sp>
            <p:nvSpPr>
              <p:cNvPr id="49201" name="Line 11"/>
              <p:cNvSpPr>
                <a:spLocks noChangeShapeType="1"/>
              </p:cNvSpPr>
              <p:nvPr/>
            </p:nvSpPr>
            <p:spPr bwMode="auto">
              <a:xfrm flipH="1">
                <a:off x="3814" y="2492"/>
                <a:ext cx="205" cy="205"/>
              </a:xfrm>
              <a:prstGeom prst="line">
                <a:avLst/>
              </a:prstGeom>
              <a:noFill/>
              <a:ln w="9525">
                <a:solidFill>
                  <a:srgbClr val="000000"/>
                </a:solidFill>
                <a:round/>
                <a:headEnd/>
                <a:tailEnd type="triangle" w="med" len="med"/>
              </a:ln>
            </p:spPr>
            <p:txBody>
              <a:bodyPr/>
              <a:lstStyle/>
              <a:p>
                <a:endParaRPr lang="bg-BG"/>
              </a:p>
            </p:txBody>
          </p:sp>
          <p:sp>
            <p:nvSpPr>
              <p:cNvPr id="49202" name="Line 12"/>
              <p:cNvSpPr>
                <a:spLocks noChangeShapeType="1"/>
              </p:cNvSpPr>
              <p:nvPr/>
            </p:nvSpPr>
            <p:spPr bwMode="auto">
              <a:xfrm flipH="1">
                <a:off x="3517" y="2925"/>
                <a:ext cx="114" cy="137"/>
              </a:xfrm>
              <a:prstGeom prst="line">
                <a:avLst/>
              </a:prstGeom>
              <a:noFill/>
              <a:ln w="9525">
                <a:solidFill>
                  <a:srgbClr val="000000"/>
                </a:solidFill>
                <a:round/>
                <a:headEnd/>
                <a:tailEnd type="triangle" w="med" len="med"/>
              </a:ln>
            </p:spPr>
            <p:txBody>
              <a:bodyPr/>
              <a:lstStyle/>
              <a:p>
                <a:endParaRPr lang="bg-BG"/>
              </a:p>
            </p:txBody>
          </p:sp>
          <p:sp>
            <p:nvSpPr>
              <p:cNvPr id="49203" name="Line 13"/>
              <p:cNvSpPr>
                <a:spLocks noChangeShapeType="1"/>
              </p:cNvSpPr>
              <p:nvPr/>
            </p:nvSpPr>
            <p:spPr bwMode="auto">
              <a:xfrm>
                <a:off x="4247" y="2492"/>
                <a:ext cx="273" cy="205"/>
              </a:xfrm>
              <a:prstGeom prst="line">
                <a:avLst/>
              </a:prstGeom>
              <a:noFill/>
              <a:ln w="9525">
                <a:solidFill>
                  <a:srgbClr val="000000"/>
                </a:solidFill>
                <a:round/>
                <a:headEnd/>
                <a:tailEnd type="triangle" w="med" len="med"/>
              </a:ln>
            </p:spPr>
            <p:txBody>
              <a:bodyPr/>
              <a:lstStyle/>
              <a:p>
                <a:endParaRPr lang="bg-BG"/>
              </a:p>
            </p:txBody>
          </p:sp>
          <p:sp>
            <p:nvSpPr>
              <p:cNvPr id="49204" name="Line 14"/>
              <p:cNvSpPr>
                <a:spLocks noChangeShapeType="1"/>
              </p:cNvSpPr>
              <p:nvPr/>
            </p:nvSpPr>
            <p:spPr bwMode="auto">
              <a:xfrm flipH="1">
                <a:off x="4429" y="2925"/>
                <a:ext cx="91" cy="137"/>
              </a:xfrm>
              <a:prstGeom prst="line">
                <a:avLst/>
              </a:prstGeom>
              <a:noFill/>
              <a:ln w="9525">
                <a:solidFill>
                  <a:srgbClr val="000000"/>
                </a:solidFill>
                <a:round/>
                <a:headEnd/>
                <a:tailEnd type="triangle" w="med" len="med"/>
              </a:ln>
            </p:spPr>
            <p:txBody>
              <a:bodyPr/>
              <a:lstStyle/>
              <a:p>
                <a:endParaRPr lang="bg-BG"/>
              </a:p>
            </p:txBody>
          </p:sp>
          <p:sp>
            <p:nvSpPr>
              <p:cNvPr id="49205" name="Line 15"/>
              <p:cNvSpPr>
                <a:spLocks noChangeShapeType="1"/>
              </p:cNvSpPr>
              <p:nvPr/>
            </p:nvSpPr>
            <p:spPr bwMode="auto">
              <a:xfrm>
                <a:off x="4680" y="2925"/>
                <a:ext cx="137" cy="137"/>
              </a:xfrm>
              <a:prstGeom prst="line">
                <a:avLst/>
              </a:prstGeom>
              <a:noFill/>
              <a:ln w="9525">
                <a:solidFill>
                  <a:srgbClr val="000000"/>
                </a:solidFill>
                <a:round/>
                <a:headEnd/>
                <a:tailEnd type="triangle" w="med" len="med"/>
              </a:ln>
            </p:spPr>
            <p:txBody>
              <a:bodyPr/>
              <a:lstStyle/>
              <a:p>
                <a:endParaRPr lang="bg-BG"/>
              </a:p>
            </p:txBody>
          </p:sp>
          <p:sp>
            <p:nvSpPr>
              <p:cNvPr id="49206" name="Text Box 16"/>
              <p:cNvSpPr txBox="1">
                <a:spLocks noChangeArrowheads="1"/>
              </p:cNvSpPr>
              <p:nvPr/>
            </p:nvSpPr>
            <p:spPr bwMode="auto">
              <a:xfrm>
                <a:off x="4040" y="2256"/>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9207" name="Text Box 17"/>
              <p:cNvSpPr txBox="1">
                <a:spLocks noChangeArrowheads="1"/>
              </p:cNvSpPr>
              <p:nvPr/>
            </p:nvSpPr>
            <p:spPr bwMode="auto">
              <a:xfrm>
                <a:off x="3352" y="3048"/>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9208" name="Text Box 18"/>
              <p:cNvSpPr txBox="1">
                <a:spLocks noChangeArrowheads="1"/>
              </p:cNvSpPr>
              <p:nvPr/>
            </p:nvSpPr>
            <p:spPr bwMode="auto">
              <a:xfrm>
                <a:off x="4256" y="3048"/>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9209" name="Text Box 19"/>
              <p:cNvSpPr txBox="1">
                <a:spLocks noChangeArrowheads="1"/>
              </p:cNvSpPr>
              <p:nvPr/>
            </p:nvSpPr>
            <p:spPr bwMode="auto">
              <a:xfrm>
                <a:off x="4440" y="2664"/>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9210" name="Text Box 20"/>
              <p:cNvSpPr txBox="1">
                <a:spLocks noChangeArrowheads="1"/>
              </p:cNvSpPr>
              <p:nvPr/>
            </p:nvSpPr>
            <p:spPr bwMode="auto">
              <a:xfrm>
                <a:off x="4728" y="3048"/>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9211" name="Text Box 21"/>
              <p:cNvSpPr txBox="1">
                <a:spLocks noChangeArrowheads="1"/>
              </p:cNvSpPr>
              <p:nvPr/>
            </p:nvSpPr>
            <p:spPr bwMode="auto">
              <a:xfrm>
                <a:off x="4560" y="351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9212" name="Text Box 22"/>
              <p:cNvSpPr txBox="1">
                <a:spLocks noChangeArrowheads="1"/>
              </p:cNvSpPr>
              <p:nvPr/>
            </p:nvSpPr>
            <p:spPr bwMode="auto">
              <a:xfrm>
                <a:off x="3600" y="2664"/>
                <a:ext cx="240" cy="288"/>
              </a:xfrm>
              <a:prstGeom prst="rect">
                <a:avLst/>
              </a:prstGeom>
              <a:noFill/>
              <a:ln w="9525">
                <a:noFill/>
                <a:miter lim="800000"/>
                <a:headEnd/>
                <a:tailEnd/>
              </a:ln>
            </p:spPr>
            <p:txBody>
              <a:bodyPr>
                <a:spAutoFit/>
              </a:bodyPr>
              <a:lstStyle/>
              <a:p>
                <a:pPr>
                  <a:spcBef>
                    <a:spcPct val="50000"/>
                  </a:spcBef>
                </a:pPr>
                <a:r>
                  <a:rPr lang="bg-BG">
                    <a:solidFill>
                      <a:srgbClr val="CC0066"/>
                    </a:solidFill>
                  </a:rPr>
                  <a:t>2</a:t>
                </a:r>
                <a:endParaRPr lang="en-US"/>
              </a:p>
            </p:txBody>
          </p:sp>
          <p:sp>
            <p:nvSpPr>
              <p:cNvPr id="49213" name="Line 23"/>
              <p:cNvSpPr>
                <a:spLocks noChangeShapeType="1"/>
              </p:cNvSpPr>
              <p:nvPr/>
            </p:nvSpPr>
            <p:spPr bwMode="auto">
              <a:xfrm>
                <a:off x="4464" y="3312"/>
                <a:ext cx="192" cy="192"/>
              </a:xfrm>
              <a:prstGeom prst="line">
                <a:avLst/>
              </a:prstGeom>
              <a:noFill/>
              <a:ln w="9525">
                <a:solidFill>
                  <a:schemeClr val="tx1"/>
                </a:solidFill>
                <a:round/>
                <a:headEnd/>
                <a:tailEnd type="triangle" w="med" len="med"/>
              </a:ln>
            </p:spPr>
            <p:txBody>
              <a:bodyPr wrap="none" anchor="ctr"/>
              <a:lstStyle/>
              <a:p>
                <a:endParaRPr lang="bg-BG"/>
              </a:p>
            </p:txBody>
          </p:sp>
        </p:grpSp>
        <p:sp>
          <p:nvSpPr>
            <p:cNvPr id="49156" name="Oval 25"/>
            <p:cNvSpPr>
              <a:spLocks noChangeArrowheads="1"/>
            </p:cNvSpPr>
            <p:nvPr/>
          </p:nvSpPr>
          <p:spPr bwMode="auto">
            <a:xfrm>
              <a:off x="6496050" y="2070100"/>
              <a:ext cx="469900" cy="434975"/>
            </a:xfrm>
            <a:prstGeom prst="ellipse">
              <a:avLst/>
            </a:prstGeom>
            <a:solidFill>
              <a:srgbClr val="FFFFFF"/>
            </a:solidFill>
            <a:ln w="9525">
              <a:solidFill>
                <a:srgbClr val="000000"/>
              </a:solidFill>
              <a:round/>
              <a:headEnd/>
              <a:tailEnd/>
            </a:ln>
          </p:spPr>
          <p:txBody>
            <a:bodyPr/>
            <a:lstStyle/>
            <a:p>
              <a:endParaRPr lang="bg-BG"/>
            </a:p>
          </p:txBody>
        </p:sp>
        <p:sp>
          <p:nvSpPr>
            <p:cNvPr id="49157" name="Oval 26"/>
            <p:cNvSpPr>
              <a:spLocks noChangeArrowheads="1"/>
            </p:cNvSpPr>
            <p:nvPr/>
          </p:nvSpPr>
          <p:spPr bwMode="auto">
            <a:xfrm>
              <a:off x="5808663" y="2722563"/>
              <a:ext cx="469900" cy="433387"/>
            </a:xfrm>
            <a:prstGeom prst="ellipse">
              <a:avLst/>
            </a:prstGeom>
            <a:solidFill>
              <a:srgbClr val="FFFFFF"/>
            </a:solidFill>
            <a:ln w="9525">
              <a:solidFill>
                <a:srgbClr val="000000"/>
              </a:solidFill>
              <a:round/>
              <a:headEnd/>
              <a:tailEnd/>
            </a:ln>
          </p:spPr>
          <p:txBody>
            <a:bodyPr/>
            <a:lstStyle/>
            <a:p>
              <a:endParaRPr lang="bg-BG"/>
            </a:p>
          </p:txBody>
        </p:sp>
        <p:sp>
          <p:nvSpPr>
            <p:cNvPr id="49158" name="Oval 27"/>
            <p:cNvSpPr>
              <a:spLocks noChangeArrowheads="1"/>
            </p:cNvSpPr>
            <p:nvPr/>
          </p:nvSpPr>
          <p:spPr bwMode="auto">
            <a:xfrm>
              <a:off x="7219950" y="2722563"/>
              <a:ext cx="469900" cy="433387"/>
            </a:xfrm>
            <a:prstGeom prst="ellipse">
              <a:avLst/>
            </a:prstGeom>
            <a:solidFill>
              <a:srgbClr val="FFFFFF"/>
            </a:solidFill>
            <a:ln w="9525">
              <a:solidFill>
                <a:srgbClr val="000000"/>
              </a:solidFill>
              <a:round/>
              <a:headEnd/>
              <a:tailEnd/>
            </a:ln>
          </p:spPr>
          <p:txBody>
            <a:bodyPr/>
            <a:lstStyle/>
            <a:p>
              <a:endParaRPr lang="bg-BG"/>
            </a:p>
          </p:txBody>
        </p:sp>
        <p:sp>
          <p:nvSpPr>
            <p:cNvPr id="49159" name="Oval 28"/>
            <p:cNvSpPr>
              <a:spLocks noChangeArrowheads="1"/>
            </p:cNvSpPr>
            <p:nvPr/>
          </p:nvSpPr>
          <p:spPr bwMode="auto">
            <a:xfrm>
              <a:off x="6858000" y="3328988"/>
              <a:ext cx="469900" cy="434975"/>
            </a:xfrm>
            <a:prstGeom prst="ellipse">
              <a:avLst/>
            </a:prstGeom>
            <a:solidFill>
              <a:srgbClr val="FFFFFF"/>
            </a:solidFill>
            <a:ln w="9525">
              <a:solidFill>
                <a:srgbClr val="000000"/>
              </a:solidFill>
              <a:round/>
              <a:headEnd/>
              <a:tailEnd/>
            </a:ln>
          </p:spPr>
          <p:txBody>
            <a:bodyPr/>
            <a:lstStyle/>
            <a:p>
              <a:endParaRPr lang="bg-BG"/>
            </a:p>
          </p:txBody>
        </p:sp>
        <p:sp>
          <p:nvSpPr>
            <p:cNvPr id="49160" name="Oval 29"/>
            <p:cNvSpPr>
              <a:spLocks noChangeArrowheads="1"/>
            </p:cNvSpPr>
            <p:nvPr/>
          </p:nvSpPr>
          <p:spPr bwMode="auto">
            <a:xfrm>
              <a:off x="7654925" y="3319463"/>
              <a:ext cx="469900" cy="434975"/>
            </a:xfrm>
            <a:prstGeom prst="ellipse">
              <a:avLst/>
            </a:prstGeom>
            <a:solidFill>
              <a:srgbClr val="FFFFFF"/>
            </a:solidFill>
            <a:ln w="9525">
              <a:solidFill>
                <a:srgbClr val="000000"/>
              </a:solidFill>
              <a:round/>
              <a:headEnd/>
              <a:tailEnd/>
            </a:ln>
          </p:spPr>
          <p:txBody>
            <a:bodyPr/>
            <a:lstStyle/>
            <a:p>
              <a:endParaRPr lang="bg-BG"/>
            </a:p>
          </p:txBody>
        </p:sp>
        <p:sp>
          <p:nvSpPr>
            <p:cNvPr id="49161" name="Oval 30"/>
            <p:cNvSpPr>
              <a:spLocks noChangeArrowheads="1"/>
            </p:cNvSpPr>
            <p:nvPr/>
          </p:nvSpPr>
          <p:spPr bwMode="auto">
            <a:xfrm>
              <a:off x="7327900" y="4060825"/>
              <a:ext cx="471488" cy="434975"/>
            </a:xfrm>
            <a:prstGeom prst="ellipse">
              <a:avLst/>
            </a:prstGeom>
            <a:solidFill>
              <a:srgbClr val="FFFFFF"/>
            </a:solidFill>
            <a:ln w="9525">
              <a:solidFill>
                <a:srgbClr val="000000"/>
              </a:solidFill>
              <a:round/>
              <a:headEnd/>
              <a:tailEnd/>
            </a:ln>
          </p:spPr>
          <p:txBody>
            <a:bodyPr/>
            <a:lstStyle/>
            <a:p>
              <a:endParaRPr lang="bg-BG"/>
            </a:p>
          </p:txBody>
        </p:sp>
        <p:sp>
          <p:nvSpPr>
            <p:cNvPr id="49162" name="Line 32"/>
            <p:cNvSpPr>
              <a:spLocks noChangeShapeType="1"/>
            </p:cNvSpPr>
            <p:nvPr/>
          </p:nvSpPr>
          <p:spPr bwMode="auto">
            <a:xfrm flipH="1">
              <a:off x="6207125" y="2432050"/>
              <a:ext cx="325438" cy="325438"/>
            </a:xfrm>
            <a:prstGeom prst="line">
              <a:avLst/>
            </a:prstGeom>
            <a:noFill/>
            <a:ln w="9525">
              <a:solidFill>
                <a:srgbClr val="000000"/>
              </a:solidFill>
              <a:round/>
              <a:headEnd/>
              <a:tailEnd type="triangle" w="med" len="med"/>
            </a:ln>
          </p:spPr>
          <p:txBody>
            <a:bodyPr/>
            <a:lstStyle/>
            <a:p>
              <a:endParaRPr lang="bg-BG"/>
            </a:p>
          </p:txBody>
        </p:sp>
        <p:sp>
          <p:nvSpPr>
            <p:cNvPr id="49163" name="Line 34"/>
            <p:cNvSpPr>
              <a:spLocks noChangeShapeType="1"/>
            </p:cNvSpPr>
            <p:nvPr/>
          </p:nvSpPr>
          <p:spPr bwMode="auto">
            <a:xfrm>
              <a:off x="6894513" y="2432050"/>
              <a:ext cx="433387" cy="325438"/>
            </a:xfrm>
            <a:prstGeom prst="line">
              <a:avLst/>
            </a:prstGeom>
            <a:noFill/>
            <a:ln w="9525">
              <a:solidFill>
                <a:srgbClr val="000000"/>
              </a:solidFill>
              <a:round/>
              <a:headEnd/>
              <a:tailEnd type="triangle" w="med" len="med"/>
            </a:ln>
          </p:spPr>
          <p:txBody>
            <a:bodyPr/>
            <a:lstStyle/>
            <a:p>
              <a:endParaRPr lang="bg-BG"/>
            </a:p>
          </p:txBody>
        </p:sp>
        <p:sp>
          <p:nvSpPr>
            <p:cNvPr id="49164" name="Line 35"/>
            <p:cNvSpPr>
              <a:spLocks noChangeShapeType="1"/>
            </p:cNvSpPr>
            <p:nvPr/>
          </p:nvSpPr>
          <p:spPr bwMode="auto">
            <a:xfrm flipH="1">
              <a:off x="7183438" y="3119438"/>
              <a:ext cx="144462" cy="217487"/>
            </a:xfrm>
            <a:prstGeom prst="line">
              <a:avLst/>
            </a:prstGeom>
            <a:noFill/>
            <a:ln w="9525">
              <a:solidFill>
                <a:srgbClr val="000000"/>
              </a:solidFill>
              <a:round/>
              <a:headEnd/>
              <a:tailEnd type="triangle" w="med" len="med"/>
            </a:ln>
          </p:spPr>
          <p:txBody>
            <a:bodyPr/>
            <a:lstStyle/>
            <a:p>
              <a:endParaRPr lang="bg-BG"/>
            </a:p>
          </p:txBody>
        </p:sp>
        <p:sp>
          <p:nvSpPr>
            <p:cNvPr id="49165" name="Line 36"/>
            <p:cNvSpPr>
              <a:spLocks noChangeShapeType="1"/>
            </p:cNvSpPr>
            <p:nvPr/>
          </p:nvSpPr>
          <p:spPr bwMode="auto">
            <a:xfrm>
              <a:off x="7581900" y="3119438"/>
              <a:ext cx="217488" cy="217487"/>
            </a:xfrm>
            <a:prstGeom prst="line">
              <a:avLst/>
            </a:prstGeom>
            <a:noFill/>
            <a:ln w="9525">
              <a:solidFill>
                <a:srgbClr val="000000"/>
              </a:solidFill>
              <a:round/>
              <a:headEnd/>
              <a:tailEnd type="triangle" w="med" len="med"/>
            </a:ln>
          </p:spPr>
          <p:txBody>
            <a:bodyPr/>
            <a:lstStyle/>
            <a:p>
              <a:endParaRPr lang="bg-BG"/>
            </a:p>
          </p:txBody>
        </p:sp>
        <p:sp>
          <p:nvSpPr>
            <p:cNvPr id="49166" name="Text Box 37"/>
            <p:cNvSpPr txBox="1">
              <a:spLocks noChangeArrowheads="1"/>
            </p:cNvSpPr>
            <p:nvPr/>
          </p:nvSpPr>
          <p:spPr bwMode="auto">
            <a:xfrm>
              <a:off x="6565900" y="2057400"/>
              <a:ext cx="381000" cy="457200"/>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49167" name="Text Box 39"/>
            <p:cNvSpPr txBox="1">
              <a:spLocks noChangeArrowheads="1"/>
            </p:cNvSpPr>
            <p:nvPr/>
          </p:nvSpPr>
          <p:spPr bwMode="auto">
            <a:xfrm>
              <a:off x="6908800" y="3314700"/>
              <a:ext cx="381000" cy="457200"/>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9168" name="Text Box 40"/>
            <p:cNvSpPr txBox="1">
              <a:spLocks noChangeArrowheads="1"/>
            </p:cNvSpPr>
            <p:nvPr/>
          </p:nvSpPr>
          <p:spPr bwMode="auto">
            <a:xfrm>
              <a:off x="7200900" y="2705100"/>
              <a:ext cx="5715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9169" name="Text Box 41"/>
            <p:cNvSpPr txBox="1">
              <a:spLocks noChangeArrowheads="1"/>
            </p:cNvSpPr>
            <p:nvPr/>
          </p:nvSpPr>
          <p:spPr bwMode="auto">
            <a:xfrm>
              <a:off x="7658100" y="3314700"/>
              <a:ext cx="533400" cy="457200"/>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9170" name="Text Box 42"/>
            <p:cNvSpPr txBox="1">
              <a:spLocks noChangeArrowheads="1"/>
            </p:cNvSpPr>
            <p:nvPr/>
          </p:nvSpPr>
          <p:spPr bwMode="auto">
            <a:xfrm>
              <a:off x="7391400" y="4051300"/>
              <a:ext cx="381000" cy="457200"/>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9171" name="Text Box 43"/>
            <p:cNvSpPr txBox="1">
              <a:spLocks noChangeArrowheads="1"/>
            </p:cNvSpPr>
            <p:nvPr/>
          </p:nvSpPr>
          <p:spPr bwMode="auto">
            <a:xfrm>
              <a:off x="5867400" y="2705100"/>
              <a:ext cx="3810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9172" name="Line 44"/>
            <p:cNvSpPr>
              <a:spLocks noChangeShapeType="1"/>
            </p:cNvSpPr>
            <p:nvPr/>
          </p:nvSpPr>
          <p:spPr bwMode="auto">
            <a:xfrm>
              <a:off x="7239000" y="3733800"/>
              <a:ext cx="304800" cy="304800"/>
            </a:xfrm>
            <a:prstGeom prst="line">
              <a:avLst/>
            </a:prstGeom>
            <a:noFill/>
            <a:ln w="9525">
              <a:solidFill>
                <a:schemeClr val="tx1"/>
              </a:solidFill>
              <a:round/>
              <a:headEnd/>
              <a:tailEnd type="triangle" w="med" len="med"/>
            </a:ln>
          </p:spPr>
          <p:txBody>
            <a:bodyPr wrap="none" anchor="ctr"/>
            <a:lstStyle/>
            <a:p>
              <a:endParaRPr lang="bg-BG"/>
            </a:p>
          </p:txBody>
        </p:sp>
        <p:sp>
          <p:nvSpPr>
            <p:cNvPr id="49173" name="Line 45"/>
            <p:cNvSpPr>
              <a:spLocks noChangeShapeType="1"/>
            </p:cNvSpPr>
            <p:nvPr/>
          </p:nvSpPr>
          <p:spPr bwMode="auto">
            <a:xfrm>
              <a:off x="4038600" y="3124200"/>
              <a:ext cx="990600" cy="0"/>
            </a:xfrm>
            <a:prstGeom prst="line">
              <a:avLst/>
            </a:prstGeom>
            <a:noFill/>
            <a:ln w="9525">
              <a:solidFill>
                <a:schemeClr val="tx1"/>
              </a:solidFill>
              <a:round/>
              <a:headEnd/>
              <a:tailEnd type="triangle" w="med" len="med"/>
            </a:ln>
          </p:spPr>
          <p:txBody>
            <a:bodyPr wrap="none" anchor="ctr"/>
            <a:lstStyle/>
            <a:p>
              <a:endParaRPr lang="bg-BG"/>
            </a:p>
          </p:txBody>
        </p:sp>
        <p:grpSp>
          <p:nvGrpSpPr>
            <p:cNvPr id="49174" name="Group 70"/>
            <p:cNvGrpSpPr>
              <a:grpSpLocks/>
            </p:cNvGrpSpPr>
            <p:nvPr/>
          </p:nvGrpSpPr>
          <p:grpSpPr bwMode="auto">
            <a:xfrm>
              <a:off x="3505200" y="4191000"/>
              <a:ext cx="2781300" cy="1714500"/>
              <a:chOff x="2208" y="2640"/>
              <a:chExt cx="1752" cy="1080"/>
            </a:xfrm>
          </p:grpSpPr>
          <p:sp>
            <p:nvSpPr>
              <p:cNvPr id="49177" name="Oval 47"/>
              <p:cNvSpPr>
                <a:spLocks noChangeArrowheads="1"/>
              </p:cNvSpPr>
              <p:nvPr/>
            </p:nvSpPr>
            <p:spPr bwMode="auto">
              <a:xfrm>
                <a:off x="2892" y="2648"/>
                <a:ext cx="296" cy="274"/>
              </a:xfrm>
              <a:prstGeom prst="ellipse">
                <a:avLst/>
              </a:prstGeom>
              <a:solidFill>
                <a:srgbClr val="FFFFFF"/>
              </a:solidFill>
              <a:ln w="9525">
                <a:solidFill>
                  <a:srgbClr val="000000"/>
                </a:solidFill>
                <a:round/>
                <a:headEnd/>
                <a:tailEnd/>
              </a:ln>
            </p:spPr>
            <p:txBody>
              <a:bodyPr/>
              <a:lstStyle/>
              <a:p>
                <a:endParaRPr lang="bg-BG"/>
              </a:p>
            </p:txBody>
          </p:sp>
          <p:sp>
            <p:nvSpPr>
              <p:cNvPr id="49178" name="Oval 48"/>
              <p:cNvSpPr>
                <a:spLocks noChangeArrowheads="1"/>
              </p:cNvSpPr>
              <p:nvPr/>
            </p:nvSpPr>
            <p:spPr bwMode="auto">
              <a:xfrm>
                <a:off x="2459" y="3059"/>
                <a:ext cx="296" cy="273"/>
              </a:xfrm>
              <a:prstGeom prst="ellipse">
                <a:avLst/>
              </a:prstGeom>
              <a:solidFill>
                <a:srgbClr val="FFFFFF"/>
              </a:solidFill>
              <a:ln w="9525">
                <a:solidFill>
                  <a:srgbClr val="000000"/>
                </a:solidFill>
                <a:round/>
                <a:headEnd/>
                <a:tailEnd/>
              </a:ln>
            </p:spPr>
            <p:txBody>
              <a:bodyPr/>
              <a:lstStyle/>
              <a:p>
                <a:endParaRPr lang="bg-BG"/>
              </a:p>
            </p:txBody>
          </p:sp>
          <p:sp>
            <p:nvSpPr>
              <p:cNvPr id="49179" name="Oval 49"/>
              <p:cNvSpPr>
                <a:spLocks noChangeArrowheads="1"/>
              </p:cNvSpPr>
              <p:nvPr/>
            </p:nvSpPr>
            <p:spPr bwMode="auto">
              <a:xfrm>
                <a:off x="3348" y="3059"/>
                <a:ext cx="296" cy="273"/>
              </a:xfrm>
              <a:prstGeom prst="ellipse">
                <a:avLst/>
              </a:prstGeom>
              <a:solidFill>
                <a:srgbClr val="FFFFFF"/>
              </a:solidFill>
              <a:ln w="9525">
                <a:solidFill>
                  <a:srgbClr val="000000"/>
                </a:solidFill>
                <a:round/>
                <a:headEnd/>
                <a:tailEnd/>
              </a:ln>
            </p:spPr>
            <p:txBody>
              <a:bodyPr/>
              <a:lstStyle/>
              <a:p>
                <a:endParaRPr lang="bg-BG"/>
              </a:p>
            </p:txBody>
          </p:sp>
          <p:sp>
            <p:nvSpPr>
              <p:cNvPr id="49180" name="Oval 50"/>
              <p:cNvSpPr>
                <a:spLocks noChangeArrowheads="1"/>
              </p:cNvSpPr>
              <p:nvPr/>
            </p:nvSpPr>
            <p:spPr bwMode="auto">
              <a:xfrm>
                <a:off x="3120" y="3441"/>
                <a:ext cx="296" cy="274"/>
              </a:xfrm>
              <a:prstGeom prst="ellipse">
                <a:avLst/>
              </a:prstGeom>
              <a:solidFill>
                <a:srgbClr val="FFFFFF"/>
              </a:solidFill>
              <a:ln w="9525">
                <a:solidFill>
                  <a:srgbClr val="000000"/>
                </a:solidFill>
                <a:round/>
                <a:headEnd/>
                <a:tailEnd/>
              </a:ln>
            </p:spPr>
            <p:txBody>
              <a:bodyPr/>
              <a:lstStyle/>
              <a:p>
                <a:endParaRPr lang="bg-BG"/>
              </a:p>
            </p:txBody>
          </p:sp>
          <p:sp>
            <p:nvSpPr>
              <p:cNvPr id="49181" name="Oval 51"/>
              <p:cNvSpPr>
                <a:spLocks noChangeArrowheads="1"/>
              </p:cNvSpPr>
              <p:nvPr/>
            </p:nvSpPr>
            <p:spPr bwMode="auto">
              <a:xfrm>
                <a:off x="3622" y="3435"/>
                <a:ext cx="296" cy="274"/>
              </a:xfrm>
              <a:prstGeom prst="ellipse">
                <a:avLst/>
              </a:prstGeom>
              <a:solidFill>
                <a:srgbClr val="FFFFFF"/>
              </a:solidFill>
              <a:ln w="9525">
                <a:solidFill>
                  <a:srgbClr val="000000"/>
                </a:solidFill>
                <a:round/>
                <a:headEnd/>
                <a:tailEnd/>
              </a:ln>
            </p:spPr>
            <p:txBody>
              <a:bodyPr/>
              <a:lstStyle/>
              <a:p>
                <a:endParaRPr lang="bg-BG"/>
              </a:p>
            </p:txBody>
          </p:sp>
          <p:sp>
            <p:nvSpPr>
              <p:cNvPr id="49182" name="Oval 53"/>
              <p:cNvSpPr>
                <a:spLocks noChangeArrowheads="1"/>
              </p:cNvSpPr>
              <p:nvPr/>
            </p:nvSpPr>
            <p:spPr bwMode="auto">
              <a:xfrm>
                <a:off x="2208" y="3446"/>
                <a:ext cx="296" cy="274"/>
              </a:xfrm>
              <a:prstGeom prst="ellipse">
                <a:avLst/>
              </a:prstGeom>
              <a:solidFill>
                <a:srgbClr val="FFFFFF"/>
              </a:solidFill>
              <a:ln w="9525">
                <a:solidFill>
                  <a:srgbClr val="000000"/>
                </a:solidFill>
                <a:round/>
                <a:headEnd/>
                <a:tailEnd/>
              </a:ln>
            </p:spPr>
            <p:txBody>
              <a:bodyPr/>
              <a:lstStyle/>
              <a:p>
                <a:endParaRPr lang="bg-BG"/>
              </a:p>
            </p:txBody>
          </p:sp>
          <p:sp>
            <p:nvSpPr>
              <p:cNvPr id="49183" name="Line 54"/>
              <p:cNvSpPr>
                <a:spLocks noChangeShapeType="1"/>
              </p:cNvSpPr>
              <p:nvPr/>
            </p:nvSpPr>
            <p:spPr bwMode="auto">
              <a:xfrm flipH="1">
                <a:off x="2710" y="2876"/>
                <a:ext cx="205" cy="205"/>
              </a:xfrm>
              <a:prstGeom prst="line">
                <a:avLst/>
              </a:prstGeom>
              <a:noFill/>
              <a:ln w="9525">
                <a:solidFill>
                  <a:srgbClr val="000000"/>
                </a:solidFill>
                <a:round/>
                <a:headEnd/>
                <a:tailEnd type="triangle" w="med" len="med"/>
              </a:ln>
            </p:spPr>
            <p:txBody>
              <a:bodyPr/>
              <a:lstStyle/>
              <a:p>
                <a:endParaRPr lang="bg-BG"/>
              </a:p>
            </p:txBody>
          </p:sp>
          <p:sp>
            <p:nvSpPr>
              <p:cNvPr id="49184" name="Line 55"/>
              <p:cNvSpPr>
                <a:spLocks noChangeShapeType="1"/>
              </p:cNvSpPr>
              <p:nvPr/>
            </p:nvSpPr>
            <p:spPr bwMode="auto">
              <a:xfrm flipH="1">
                <a:off x="2413" y="3309"/>
                <a:ext cx="114" cy="137"/>
              </a:xfrm>
              <a:prstGeom prst="line">
                <a:avLst/>
              </a:prstGeom>
              <a:noFill/>
              <a:ln w="9525">
                <a:solidFill>
                  <a:srgbClr val="000000"/>
                </a:solidFill>
                <a:round/>
                <a:headEnd/>
                <a:tailEnd type="triangle" w="med" len="med"/>
              </a:ln>
            </p:spPr>
            <p:txBody>
              <a:bodyPr/>
              <a:lstStyle/>
              <a:p>
                <a:endParaRPr lang="bg-BG"/>
              </a:p>
            </p:txBody>
          </p:sp>
          <p:sp>
            <p:nvSpPr>
              <p:cNvPr id="49185" name="Line 56"/>
              <p:cNvSpPr>
                <a:spLocks noChangeShapeType="1"/>
              </p:cNvSpPr>
              <p:nvPr/>
            </p:nvSpPr>
            <p:spPr bwMode="auto">
              <a:xfrm>
                <a:off x="3143" y="2876"/>
                <a:ext cx="273" cy="205"/>
              </a:xfrm>
              <a:prstGeom prst="line">
                <a:avLst/>
              </a:prstGeom>
              <a:noFill/>
              <a:ln w="9525">
                <a:solidFill>
                  <a:srgbClr val="000000"/>
                </a:solidFill>
                <a:round/>
                <a:headEnd/>
                <a:tailEnd type="triangle" w="med" len="med"/>
              </a:ln>
            </p:spPr>
            <p:txBody>
              <a:bodyPr/>
              <a:lstStyle/>
              <a:p>
                <a:endParaRPr lang="bg-BG"/>
              </a:p>
            </p:txBody>
          </p:sp>
          <p:sp>
            <p:nvSpPr>
              <p:cNvPr id="49186" name="Line 57"/>
              <p:cNvSpPr>
                <a:spLocks noChangeShapeType="1"/>
              </p:cNvSpPr>
              <p:nvPr/>
            </p:nvSpPr>
            <p:spPr bwMode="auto">
              <a:xfrm flipH="1">
                <a:off x="3325" y="3309"/>
                <a:ext cx="91" cy="137"/>
              </a:xfrm>
              <a:prstGeom prst="line">
                <a:avLst/>
              </a:prstGeom>
              <a:noFill/>
              <a:ln w="9525">
                <a:solidFill>
                  <a:srgbClr val="000000"/>
                </a:solidFill>
                <a:round/>
                <a:headEnd/>
                <a:tailEnd type="triangle" w="med" len="med"/>
              </a:ln>
            </p:spPr>
            <p:txBody>
              <a:bodyPr/>
              <a:lstStyle/>
              <a:p>
                <a:endParaRPr lang="bg-BG"/>
              </a:p>
            </p:txBody>
          </p:sp>
          <p:sp>
            <p:nvSpPr>
              <p:cNvPr id="49187" name="Line 58"/>
              <p:cNvSpPr>
                <a:spLocks noChangeShapeType="1"/>
              </p:cNvSpPr>
              <p:nvPr/>
            </p:nvSpPr>
            <p:spPr bwMode="auto">
              <a:xfrm>
                <a:off x="3576" y="3309"/>
                <a:ext cx="137" cy="137"/>
              </a:xfrm>
              <a:prstGeom prst="line">
                <a:avLst/>
              </a:prstGeom>
              <a:noFill/>
              <a:ln w="9525">
                <a:solidFill>
                  <a:srgbClr val="000000"/>
                </a:solidFill>
                <a:round/>
                <a:headEnd/>
                <a:tailEnd type="triangle" w="med" len="med"/>
              </a:ln>
            </p:spPr>
            <p:txBody>
              <a:bodyPr/>
              <a:lstStyle/>
              <a:p>
                <a:endParaRPr lang="bg-BG"/>
              </a:p>
            </p:txBody>
          </p:sp>
          <p:sp>
            <p:nvSpPr>
              <p:cNvPr id="49188" name="Text Box 59"/>
              <p:cNvSpPr txBox="1">
                <a:spLocks noChangeArrowheads="1"/>
              </p:cNvSpPr>
              <p:nvPr/>
            </p:nvSpPr>
            <p:spPr bwMode="auto">
              <a:xfrm>
                <a:off x="2936" y="2640"/>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49189" name="Text Box 60"/>
              <p:cNvSpPr txBox="1">
                <a:spLocks noChangeArrowheads="1"/>
              </p:cNvSpPr>
              <p:nvPr/>
            </p:nvSpPr>
            <p:spPr bwMode="auto">
              <a:xfrm>
                <a:off x="2248" y="3432"/>
                <a:ext cx="240"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49190" name="Text Box 61"/>
              <p:cNvSpPr txBox="1">
                <a:spLocks noChangeArrowheads="1"/>
              </p:cNvSpPr>
              <p:nvPr/>
            </p:nvSpPr>
            <p:spPr bwMode="auto">
              <a:xfrm>
                <a:off x="3152" y="343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49191" name="Text Box 62"/>
              <p:cNvSpPr txBox="1">
                <a:spLocks noChangeArrowheads="1"/>
              </p:cNvSpPr>
              <p:nvPr/>
            </p:nvSpPr>
            <p:spPr bwMode="auto">
              <a:xfrm>
                <a:off x="3336" y="304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49192" name="Text Box 63"/>
              <p:cNvSpPr txBox="1">
                <a:spLocks noChangeArrowheads="1"/>
              </p:cNvSpPr>
              <p:nvPr/>
            </p:nvSpPr>
            <p:spPr bwMode="auto">
              <a:xfrm>
                <a:off x="3624" y="3432"/>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49193" name="Text Box 65"/>
              <p:cNvSpPr txBox="1">
                <a:spLocks noChangeArrowheads="1"/>
              </p:cNvSpPr>
              <p:nvPr/>
            </p:nvSpPr>
            <p:spPr bwMode="auto">
              <a:xfrm>
                <a:off x="2496" y="3048"/>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grpSp>
        <p:sp>
          <p:nvSpPr>
            <p:cNvPr id="49175" name="Line 67"/>
            <p:cNvSpPr>
              <a:spLocks noChangeShapeType="1"/>
            </p:cNvSpPr>
            <p:nvPr/>
          </p:nvSpPr>
          <p:spPr bwMode="auto">
            <a:xfrm flipH="1">
              <a:off x="5791200" y="3886200"/>
              <a:ext cx="762000" cy="533400"/>
            </a:xfrm>
            <a:prstGeom prst="line">
              <a:avLst/>
            </a:prstGeom>
            <a:noFill/>
            <a:ln w="9525">
              <a:solidFill>
                <a:schemeClr val="tx1"/>
              </a:solidFill>
              <a:round/>
              <a:headEnd/>
              <a:tailEnd type="triangle" w="med" len="med"/>
            </a:ln>
          </p:spPr>
          <p:txBody>
            <a:bodyPr wrap="none" anchor="ctr"/>
            <a:lstStyle/>
            <a:p>
              <a:endParaRPr lang="bg-BG"/>
            </a:p>
          </p:txBody>
        </p:sp>
      </p:grpSp>
      <p:sp>
        <p:nvSpPr>
          <p:cNvPr id="49176" name="Text Box 69"/>
          <p:cNvSpPr txBox="1">
            <a:spLocks noChangeArrowheads="1"/>
          </p:cNvSpPr>
          <p:nvPr/>
        </p:nvSpPr>
        <p:spPr bwMode="auto">
          <a:xfrm>
            <a:off x="6629400" y="5105400"/>
            <a:ext cx="2514600" cy="1006475"/>
          </a:xfrm>
          <a:prstGeom prst="rect">
            <a:avLst/>
          </a:prstGeom>
          <a:noFill/>
          <a:ln w="9525">
            <a:noFill/>
            <a:miter lim="800000"/>
            <a:headEnd/>
            <a:tailEnd/>
          </a:ln>
        </p:spPr>
        <p:txBody>
          <a:bodyPr>
            <a:spAutoFit/>
          </a:bodyPr>
          <a:lstStyle/>
          <a:p>
            <a:pPr>
              <a:spcBef>
                <a:spcPct val="50000"/>
              </a:spcBef>
            </a:pPr>
            <a:r>
              <a:rPr lang="bg-BG" sz="2000"/>
              <a:t>балансът се възстановява чрез дясно-лява ротация</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609600"/>
            <a:ext cx="8229600" cy="57912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Изтриваме </a:t>
            </a:r>
            <a:r>
              <a:rPr lang="bg-BG" sz="2800">
                <a:solidFill>
                  <a:schemeClr val="tx2">
                    <a:satMod val="130000"/>
                  </a:schemeClr>
                </a:solidFill>
              </a:rPr>
              <a:t>1:</a:t>
            </a:r>
            <a:br>
              <a:rPr lang="bg-BG" sz="2800">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r>
              <a:rPr lang="bg-BG">
                <a:solidFill>
                  <a:schemeClr val="tx2">
                    <a:satMod val="130000"/>
                  </a:schemeClr>
                </a:solidFill>
              </a:rPr>
              <a:t/>
            </a:r>
            <a:br>
              <a:rPr lang="bg-BG">
                <a:solidFill>
                  <a:schemeClr val="tx2">
                    <a:satMod val="130000"/>
                  </a:schemeClr>
                </a:solidFill>
              </a:rPr>
            </a:br>
            <a:endParaRPr lang="en-US">
              <a:solidFill>
                <a:schemeClr val="tx2">
                  <a:satMod val="130000"/>
                </a:schemeClr>
              </a:solidFill>
            </a:endParaRPr>
          </a:p>
        </p:txBody>
      </p:sp>
      <p:grpSp>
        <p:nvGrpSpPr>
          <p:cNvPr id="38" name="Group 37"/>
          <p:cNvGrpSpPr/>
          <p:nvPr/>
        </p:nvGrpSpPr>
        <p:grpSpPr>
          <a:xfrm>
            <a:off x="1691680" y="2276872"/>
            <a:ext cx="7124700" cy="1714500"/>
            <a:chOff x="990600" y="2286000"/>
            <a:chExt cx="7124700" cy="1714500"/>
          </a:xfrm>
        </p:grpSpPr>
        <p:grpSp>
          <p:nvGrpSpPr>
            <p:cNvPr id="50179" name="Group 3"/>
            <p:cNvGrpSpPr>
              <a:grpSpLocks/>
            </p:cNvGrpSpPr>
            <p:nvPr/>
          </p:nvGrpSpPr>
          <p:grpSpPr bwMode="auto">
            <a:xfrm>
              <a:off x="990600" y="2286000"/>
              <a:ext cx="2781300" cy="1714500"/>
              <a:chOff x="2208" y="2640"/>
              <a:chExt cx="1752" cy="1080"/>
            </a:xfrm>
          </p:grpSpPr>
          <p:sp>
            <p:nvSpPr>
              <p:cNvPr id="50197" name="Oval 4"/>
              <p:cNvSpPr>
                <a:spLocks noChangeArrowheads="1"/>
              </p:cNvSpPr>
              <p:nvPr/>
            </p:nvSpPr>
            <p:spPr bwMode="auto">
              <a:xfrm>
                <a:off x="2892" y="2648"/>
                <a:ext cx="296" cy="274"/>
              </a:xfrm>
              <a:prstGeom prst="ellipse">
                <a:avLst/>
              </a:prstGeom>
              <a:solidFill>
                <a:srgbClr val="FFFFFF"/>
              </a:solidFill>
              <a:ln w="9525">
                <a:solidFill>
                  <a:srgbClr val="000000"/>
                </a:solidFill>
                <a:round/>
                <a:headEnd/>
                <a:tailEnd/>
              </a:ln>
            </p:spPr>
            <p:txBody>
              <a:bodyPr/>
              <a:lstStyle/>
              <a:p>
                <a:endParaRPr lang="bg-BG"/>
              </a:p>
            </p:txBody>
          </p:sp>
          <p:sp>
            <p:nvSpPr>
              <p:cNvPr id="50198" name="Oval 5"/>
              <p:cNvSpPr>
                <a:spLocks noChangeArrowheads="1"/>
              </p:cNvSpPr>
              <p:nvPr/>
            </p:nvSpPr>
            <p:spPr bwMode="auto">
              <a:xfrm>
                <a:off x="2459" y="3059"/>
                <a:ext cx="296" cy="273"/>
              </a:xfrm>
              <a:prstGeom prst="ellipse">
                <a:avLst/>
              </a:prstGeom>
              <a:solidFill>
                <a:srgbClr val="FFFFFF"/>
              </a:solidFill>
              <a:ln w="9525">
                <a:solidFill>
                  <a:srgbClr val="000000"/>
                </a:solidFill>
                <a:round/>
                <a:headEnd/>
                <a:tailEnd/>
              </a:ln>
            </p:spPr>
            <p:txBody>
              <a:bodyPr/>
              <a:lstStyle/>
              <a:p>
                <a:endParaRPr lang="bg-BG"/>
              </a:p>
            </p:txBody>
          </p:sp>
          <p:sp>
            <p:nvSpPr>
              <p:cNvPr id="50199" name="Oval 6"/>
              <p:cNvSpPr>
                <a:spLocks noChangeArrowheads="1"/>
              </p:cNvSpPr>
              <p:nvPr/>
            </p:nvSpPr>
            <p:spPr bwMode="auto">
              <a:xfrm>
                <a:off x="3348" y="3059"/>
                <a:ext cx="296" cy="273"/>
              </a:xfrm>
              <a:prstGeom prst="ellipse">
                <a:avLst/>
              </a:prstGeom>
              <a:solidFill>
                <a:srgbClr val="FFFFFF"/>
              </a:solidFill>
              <a:ln w="9525">
                <a:solidFill>
                  <a:srgbClr val="000000"/>
                </a:solidFill>
                <a:round/>
                <a:headEnd/>
                <a:tailEnd/>
              </a:ln>
            </p:spPr>
            <p:txBody>
              <a:bodyPr/>
              <a:lstStyle/>
              <a:p>
                <a:endParaRPr lang="bg-BG"/>
              </a:p>
            </p:txBody>
          </p:sp>
          <p:sp>
            <p:nvSpPr>
              <p:cNvPr id="50200" name="Oval 7"/>
              <p:cNvSpPr>
                <a:spLocks noChangeArrowheads="1"/>
              </p:cNvSpPr>
              <p:nvPr/>
            </p:nvSpPr>
            <p:spPr bwMode="auto">
              <a:xfrm>
                <a:off x="3120" y="3441"/>
                <a:ext cx="296" cy="274"/>
              </a:xfrm>
              <a:prstGeom prst="ellipse">
                <a:avLst/>
              </a:prstGeom>
              <a:solidFill>
                <a:srgbClr val="FFFFFF"/>
              </a:solidFill>
              <a:ln w="9525">
                <a:solidFill>
                  <a:srgbClr val="000000"/>
                </a:solidFill>
                <a:round/>
                <a:headEnd/>
                <a:tailEnd/>
              </a:ln>
            </p:spPr>
            <p:txBody>
              <a:bodyPr/>
              <a:lstStyle/>
              <a:p>
                <a:endParaRPr lang="bg-BG"/>
              </a:p>
            </p:txBody>
          </p:sp>
          <p:sp>
            <p:nvSpPr>
              <p:cNvPr id="50201" name="Oval 8"/>
              <p:cNvSpPr>
                <a:spLocks noChangeArrowheads="1"/>
              </p:cNvSpPr>
              <p:nvPr/>
            </p:nvSpPr>
            <p:spPr bwMode="auto">
              <a:xfrm>
                <a:off x="3622" y="3435"/>
                <a:ext cx="296" cy="274"/>
              </a:xfrm>
              <a:prstGeom prst="ellipse">
                <a:avLst/>
              </a:prstGeom>
              <a:solidFill>
                <a:srgbClr val="FFFFFF"/>
              </a:solidFill>
              <a:ln w="9525">
                <a:solidFill>
                  <a:srgbClr val="000000"/>
                </a:solidFill>
                <a:round/>
                <a:headEnd/>
                <a:tailEnd/>
              </a:ln>
            </p:spPr>
            <p:txBody>
              <a:bodyPr/>
              <a:lstStyle/>
              <a:p>
                <a:endParaRPr lang="bg-BG"/>
              </a:p>
            </p:txBody>
          </p:sp>
          <p:sp>
            <p:nvSpPr>
              <p:cNvPr id="50202" name="Oval 9"/>
              <p:cNvSpPr>
                <a:spLocks noChangeArrowheads="1"/>
              </p:cNvSpPr>
              <p:nvPr/>
            </p:nvSpPr>
            <p:spPr bwMode="auto">
              <a:xfrm>
                <a:off x="2208" y="3446"/>
                <a:ext cx="296" cy="274"/>
              </a:xfrm>
              <a:prstGeom prst="ellipse">
                <a:avLst/>
              </a:prstGeom>
              <a:solidFill>
                <a:srgbClr val="FFFFFF"/>
              </a:solidFill>
              <a:ln w="9525">
                <a:solidFill>
                  <a:srgbClr val="000000"/>
                </a:solidFill>
                <a:round/>
                <a:headEnd/>
                <a:tailEnd/>
              </a:ln>
            </p:spPr>
            <p:txBody>
              <a:bodyPr/>
              <a:lstStyle/>
              <a:p>
                <a:endParaRPr lang="bg-BG"/>
              </a:p>
            </p:txBody>
          </p:sp>
          <p:sp>
            <p:nvSpPr>
              <p:cNvPr id="50203" name="Line 10"/>
              <p:cNvSpPr>
                <a:spLocks noChangeShapeType="1"/>
              </p:cNvSpPr>
              <p:nvPr/>
            </p:nvSpPr>
            <p:spPr bwMode="auto">
              <a:xfrm flipH="1">
                <a:off x="2710" y="2876"/>
                <a:ext cx="205" cy="205"/>
              </a:xfrm>
              <a:prstGeom prst="line">
                <a:avLst/>
              </a:prstGeom>
              <a:noFill/>
              <a:ln w="9525">
                <a:solidFill>
                  <a:srgbClr val="000000"/>
                </a:solidFill>
                <a:round/>
                <a:headEnd/>
                <a:tailEnd type="triangle" w="med" len="med"/>
              </a:ln>
            </p:spPr>
            <p:txBody>
              <a:bodyPr/>
              <a:lstStyle/>
              <a:p>
                <a:endParaRPr lang="bg-BG"/>
              </a:p>
            </p:txBody>
          </p:sp>
          <p:sp>
            <p:nvSpPr>
              <p:cNvPr id="50204" name="Line 11"/>
              <p:cNvSpPr>
                <a:spLocks noChangeShapeType="1"/>
              </p:cNvSpPr>
              <p:nvPr/>
            </p:nvSpPr>
            <p:spPr bwMode="auto">
              <a:xfrm flipH="1">
                <a:off x="2413" y="3309"/>
                <a:ext cx="114" cy="137"/>
              </a:xfrm>
              <a:prstGeom prst="line">
                <a:avLst/>
              </a:prstGeom>
              <a:noFill/>
              <a:ln w="9525">
                <a:solidFill>
                  <a:srgbClr val="000000"/>
                </a:solidFill>
                <a:round/>
                <a:headEnd/>
                <a:tailEnd type="triangle" w="med" len="med"/>
              </a:ln>
            </p:spPr>
            <p:txBody>
              <a:bodyPr/>
              <a:lstStyle/>
              <a:p>
                <a:endParaRPr lang="bg-BG"/>
              </a:p>
            </p:txBody>
          </p:sp>
          <p:sp>
            <p:nvSpPr>
              <p:cNvPr id="50205" name="Line 12"/>
              <p:cNvSpPr>
                <a:spLocks noChangeShapeType="1"/>
              </p:cNvSpPr>
              <p:nvPr/>
            </p:nvSpPr>
            <p:spPr bwMode="auto">
              <a:xfrm>
                <a:off x="3143" y="2876"/>
                <a:ext cx="273" cy="205"/>
              </a:xfrm>
              <a:prstGeom prst="line">
                <a:avLst/>
              </a:prstGeom>
              <a:noFill/>
              <a:ln w="9525">
                <a:solidFill>
                  <a:srgbClr val="000000"/>
                </a:solidFill>
                <a:round/>
                <a:headEnd/>
                <a:tailEnd type="triangle" w="med" len="med"/>
              </a:ln>
            </p:spPr>
            <p:txBody>
              <a:bodyPr/>
              <a:lstStyle/>
              <a:p>
                <a:endParaRPr lang="bg-BG"/>
              </a:p>
            </p:txBody>
          </p:sp>
          <p:sp>
            <p:nvSpPr>
              <p:cNvPr id="50206" name="Line 13"/>
              <p:cNvSpPr>
                <a:spLocks noChangeShapeType="1"/>
              </p:cNvSpPr>
              <p:nvPr/>
            </p:nvSpPr>
            <p:spPr bwMode="auto">
              <a:xfrm flipH="1">
                <a:off x="3325" y="3309"/>
                <a:ext cx="91" cy="137"/>
              </a:xfrm>
              <a:prstGeom prst="line">
                <a:avLst/>
              </a:prstGeom>
              <a:noFill/>
              <a:ln w="9525">
                <a:solidFill>
                  <a:srgbClr val="000000"/>
                </a:solidFill>
                <a:round/>
                <a:headEnd/>
                <a:tailEnd type="triangle" w="med" len="med"/>
              </a:ln>
            </p:spPr>
            <p:txBody>
              <a:bodyPr/>
              <a:lstStyle/>
              <a:p>
                <a:endParaRPr lang="bg-BG"/>
              </a:p>
            </p:txBody>
          </p:sp>
          <p:sp>
            <p:nvSpPr>
              <p:cNvPr id="50207" name="Line 14"/>
              <p:cNvSpPr>
                <a:spLocks noChangeShapeType="1"/>
              </p:cNvSpPr>
              <p:nvPr/>
            </p:nvSpPr>
            <p:spPr bwMode="auto">
              <a:xfrm>
                <a:off x="3576" y="3309"/>
                <a:ext cx="137" cy="137"/>
              </a:xfrm>
              <a:prstGeom prst="line">
                <a:avLst/>
              </a:prstGeom>
              <a:noFill/>
              <a:ln w="9525">
                <a:solidFill>
                  <a:srgbClr val="000000"/>
                </a:solidFill>
                <a:round/>
                <a:headEnd/>
                <a:tailEnd type="triangle" w="med" len="med"/>
              </a:ln>
            </p:spPr>
            <p:txBody>
              <a:bodyPr/>
              <a:lstStyle/>
              <a:p>
                <a:endParaRPr lang="bg-BG"/>
              </a:p>
            </p:txBody>
          </p:sp>
          <p:sp>
            <p:nvSpPr>
              <p:cNvPr id="50208" name="Text Box 15"/>
              <p:cNvSpPr txBox="1">
                <a:spLocks noChangeArrowheads="1"/>
              </p:cNvSpPr>
              <p:nvPr/>
            </p:nvSpPr>
            <p:spPr bwMode="auto">
              <a:xfrm>
                <a:off x="2936" y="2640"/>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50209" name="Text Box 16"/>
              <p:cNvSpPr txBox="1">
                <a:spLocks noChangeArrowheads="1"/>
              </p:cNvSpPr>
              <p:nvPr/>
            </p:nvSpPr>
            <p:spPr bwMode="auto">
              <a:xfrm>
                <a:off x="2248" y="3432"/>
                <a:ext cx="240" cy="288"/>
              </a:xfrm>
              <a:prstGeom prst="rect">
                <a:avLst/>
              </a:prstGeom>
              <a:noFill/>
              <a:ln w="9525">
                <a:noFill/>
                <a:miter lim="800000"/>
                <a:headEnd/>
                <a:tailEnd/>
              </a:ln>
            </p:spPr>
            <p:txBody>
              <a:bodyPr>
                <a:spAutoFit/>
              </a:bodyPr>
              <a:lstStyle/>
              <a:p>
                <a:pPr>
                  <a:spcBef>
                    <a:spcPct val="50000"/>
                  </a:spcBef>
                </a:pPr>
                <a:r>
                  <a:rPr lang="bg-BG">
                    <a:solidFill>
                      <a:srgbClr val="CC0066"/>
                    </a:solidFill>
                  </a:rPr>
                  <a:t>1</a:t>
                </a:r>
                <a:endParaRPr lang="en-US"/>
              </a:p>
            </p:txBody>
          </p:sp>
          <p:sp>
            <p:nvSpPr>
              <p:cNvPr id="50210" name="Text Box 17"/>
              <p:cNvSpPr txBox="1">
                <a:spLocks noChangeArrowheads="1"/>
              </p:cNvSpPr>
              <p:nvPr/>
            </p:nvSpPr>
            <p:spPr bwMode="auto">
              <a:xfrm>
                <a:off x="3152" y="343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50211" name="Text Box 18"/>
              <p:cNvSpPr txBox="1">
                <a:spLocks noChangeArrowheads="1"/>
              </p:cNvSpPr>
              <p:nvPr/>
            </p:nvSpPr>
            <p:spPr bwMode="auto">
              <a:xfrm>
                <a:off x="3336" y="304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0212" name="Text Box 19"/>
              <p:cNvSpPr txBox="1">
                <a:spLocks noChangeArrowheads="1"/>
              </p:cNvSpPr>
              <p:nvPr/>
            </p:nvSpPr>
            <p:spPr bwMode="auto">
              <a:xfrm>
                <a:off x="3624" y="3432"/>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50213" name="Text Box 20"/>
              <p:cNvSpPr txBox="1">
                <a:spLocks noChangeArrowheads="1"/>
              </p:cNvSpPr>
              <p:nvPr/>
            </p:nvSpPr>
            <p:spPr bwMode="auto">
              <a:xfrm>
                <a:off x="2496" y="3048"/>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grpSp>
        <p:grpSp>
          <p:nvGrpSpPr>
            <p:cNvPr id="50180" name="Group 41"/>
            <p:cNvGrpSpPr>
              <a:grpSpLocks/>
            </p:cNvGrpSpPr>
            <p:nvPr/>
          </p:nvGrpSpPr>
          <p:grpSpPr bwMode="auto">
            <a:xfrm>
              <a:off x="5732463" y="2286000"/>
              <a:ext cx="2382837" cy="1714500"/>
              <a:chOff x="3611" y="1440"/>
              <a:chExt cx="1501" cy="1080"/>
            </a:xfrm>
          </p:grpSpPr>
          <p:sp>
            <p:nvSpPr>
              <p:cNvPr id="50183" name="Oval 22"/>
              <p:cNvSpPr>
                <a:spLocks noChangeArrowheads="1"/>
              </p:cNvSpPr>
              <p:nvPr/>
            </p:nvSpPr>
            <p:spPr bwMode="auto">
              <a:xfrm>
                <a:off x="4044" y="1448"/>
                <a:ext cx="296" cy="274"/>
              </a:xfrm>
              <a:prstGeom prst="ellipse">
                <a:avLst/>
              </a:prstGeom>
              <a:solidFill>
                <a:srgbClr val="FFFFFF"/>
              </a:solidFill>
              <a:ln w="9525">
                <a:solidFill>
                  <a:srgbClr val="000000"/>
                </a:solidFill>
                <a:round/>
                <a:headEnd/>
                <a:tailEnd/>
              </a:ln>
            </p:spPr>
            <p:txBody>
              <a:bodyPr/>
              <a:lstStyle/>
              <a:p>
                <a:endParaRPr lang="bg-BG"/>
              </a:p>
            </p:txBody>
          </p:sp>
          <p:sp>
            <p:nvSpPr>
              <p:cNvPr id="50184" name="Oval 23"/>
              <p:cNvSpPr>
                <a:spLocks noChangeArrowheads="1"/>
              </p:cNvSpPr>
              <p:nvPr/>
            </p:nvSpPr>
            <p:spPr bwMode="auto">
              <a:xfrm>
                <a:off x="3611" y="1859"/>
                <a:ext cx="296" cy="273"/>
              </a:xfrm>
              <a:prstGeom prst="ellipse">
                <a:avLst/>
              </a:prstGeom>
              <a:solidFill>
                <a:srgbClr val="FFFFFF"/>
              </a:solidFill>
              <a:ln w="9525">
                <a:solidFill>
                  <a:srgbClr val="000000"/>
                </a:solidFill>
                <a:round/>
                <a:headEnd/>
                <a:tailEnd/>
              </a:ln>
            </p:spPr>
            <p:txBody>
              <a:bodyPr/>
              <a:lstStyle/>
              <a:p>
                <a:endParaRPr lang="bg-BG"/>
              </a:p>
            </p:txBody>
          </p:sp>
          <p:sp>
            <p:nvSpPr>
              <p:cNvPr id="50185" name="Oval 24"/>
              <p:cNvSpPr>
                <a:spLocks noChangeArrowheads="1"/>
              </p:cNvSpPr>
              <p:nvPr/>
            </p:nvSpPr>
            <p:spPr bwMode="auto">
              <a:xfrm>
                <a:off x="4500" y="1859"/>
                <a:ext cx="296" cy="273"/>
              </a:xfrm>
              <a:prstGeom prst="ellipse">
                <a:avLst/>
              </a:prstGeom>
              <a:solidFill>
                <a:srgbClr val="FFFFFF"/>
              </a:solidFill>
              <a:ln w="9525">
                <a:solidFill>
                  <a:srgbClr val="000000"/>
                </a:solidFill>
                <a:round/>
                <a:headEnd/>
                <a:tailEnd/>
              </a:ln>
            </p:spPr>
            <p:txBody>
              <a:bodyPr/>
              <a:lstStyle/>
              <a:p>
                <a:endParaRPr lang="bg-BG"/>
              </a:p>
            </p:txBody>
          </p:sp>
          <p:sp>
            <p:nvSpPr>
              <p:cNvPr id="50186" name="Oval 25"/>
              <p:cNvSpPr>
                <a:spLocks noChangeArrowheads="1"/>
              </p:cNvSpPr>
              <p:nvPr/>
            </p:nvSpPr>
            <p:spPr bwMode="auto">
              <a:xfrm>
                <a:off x="4272" y="2241"/>
                <a:ext cx="296" cy="274"/>
              </a:xfrm>
              <a:prstGeom prst="ellipse">
                <a:avLst/>
              </a:prstGeom>
              <a:solidFill>
                <a:srgbClr val="FFFFFF"/>
              </a:solidFill>
              <a:ln w="9525">
                <a:solidFill>
                  <a:srgbClr val="000000"/>
                </a:solidFill>
                <a:round/>
                <a:headEnd/>
                <a:tailEnd/>
              </a:ln>
            </p:spPr>
            <p:txBody>
              <a:bodyPr/>
              <a:lstStyle/>
              <a:p>
                <a:endParaRPr lang="bg-BG"/>
              </a:p>
            </p:txBody>
          </p:sp>
          <p:sp>
            <p:nvSpPr>
              <p:cNvPr id="50187" name="Oval 26"/>
              <p:cNvSpPr>
                <a:spLocks noChangeArrowheads="1"/>
              </p:cNvSpPr>
              <p:nvPr/>
            </p:nvSpPr>
            <p:spPr bwMode="auto">
              <a:xfrm>
                <a:off x="4774" y="2235"/>
                <a:ext cx="296" cy="274"/>
              </a:xfrm>
              <a:prstGeom prst="ellipse">
                <a:avLst/>
              </a:prstGeom>
              <a:solidFill>
                <a:srgbClr val="FFFFFF"/>
              </a:solidFill>
              <a:ln w="9525">
                <a:solidFill>
                  <a:srgbClr val="000000"/>
                </a:solidFill>
                <a:round/>
                <a:headEnd/>
                <a:tailEnd/>
              </a:ln>
            </p:spPr>
            <p:txBody>
              <a:bodyPr/>
              <a:lstStyle/>
              <a:p>
                <a:endParaRPr lang="bg-BG"/>
              </a:p>
            </p:txBody>
          </p:sp>
          <p:sp>
            <p:nvSpPr>
              <p:cNvPr id="50188" name="Line 28"/>
              <p:cNvSpPr>
                <a:spLocks noChangeShapeType="1"/>
              </p:cNvSpPr>
              <p:nvPr/>
            </p:nvSpPr>
            <p:spPr bwMode="auto">
              <a:xfrm flipH="1">
                <a:off x="3862" y="1676"/>
                <a:ext cx="205" cy="205"/>
              </a:xfrm>
              <a:prstGeom prst="line">
                <a:avLst/>
              </a:prstGeom>
              <a:noFill/>
              <a:ln w="9525">
                <a:solidFill>
                  <a:srgbClr val="000000"/>
                </a:solidFill>
                <a:round/>
                <a:headEnd/>
                <a:tailEnd type="triangle" w="med" len="med"/>
              </a:ln>
            </p:spPr>
            <p:txBody>
              <a:bodyPr/>
              <a:lstStyle/>
              <a:p>
                <a:endParaRPr lang="bg-BG"/>
              </a:p>
            </p:txBody>
          </p:sp>
          <p:sp>
            <p:nvSpPr>
              <p:cNvPr id="50189" name="Line 30"/>
              <p:cNvSpPr>
                <a:spLocks noChangeShapeType="1"/>
              </p:cNvSpPr>
              <p:nvPr/>
            </p:nvSpPr>
            <p:spPr bwMode="auto">
              <a:xfrm>
                <a:off x="4295" y="1676"/>
                <a:ext cx="273" cy="205"/>
              </a:xfrm>
              <a:prstGeom prst="line">
                <a:avLst/>
              </a:prstGeom>
              <a:noFill/>
              <a:ln w="9525">
                <a:solidFill>
                  <a:srgbClr val="000000"/>
                </a:solidFill>
                <a:round/>
                <a:headEnd/>
                <a:tailEnd type="triangle" w="med" len="med"/>
              </a:ln>
            </p:spPr>
            <p:txBody>
              <a:bodyPr/>
              <a:lstStyle/>
              <a:p>
                <a:endParaRPr lang="bg-BG"/>
              </a:p>
            </p:txBody>
          </p:sp>
          <p:sp>
            <p:nvSpPr>
              <p:cNvPr id="50190" name="Line 31"/>
              <p:cNvSpPr>
                <a:spLocks noChangeShapeType="1"/>
              </p:cNvSpPr>
              <p:nvPr/>
            </p:nvSpPr>
            <p:spPr bwMode="auto">
              <a:xfrm flipH="1">
                <a:off x="4477" y="2109"/>
                <a:ext cx="91" cy="137"/>
              </a:xfrm>
              <a:prstGeom prst="line">
                <a:avLst/>
              </a:prstGeom>
              <a:noFill/>
              <a:ln w="9525">
                <a:solidFill>
                  <a:srgbClr val="000000"/>
                </a:solidFill>
                <a:round/>
                <a:headEnd/>
                <a:tailEnd type="triangle" w="med" len="med"/>
              </a:ln>
            </p:spPr>
            <p:txBody>
              <a:bodyPr/>
              <a:lstStyle/>
              <a:p>
                <a:endParaRPr lang="bg-BG"/>
              </a:p>
            </p:txBody>
          </p:sp>
          <p:sp>
            <p:nvSpPr>
              <p:cNvPr id="50191" name="Line 32"/>
              <p:cNvSpPr>
                <a:spLocks noChangeShapeType="1"/>
              </p:cNvSpPr>
              <p:nvPr/>
            </p:nvSpPr>
            <p:spPr bwMode="auto">
              <a:xfrm>
                <a:off x="4728" y="2109"/>
                <a:ext cx="137" cy="137"/>
              </a:xfrm>
              <a:prstGeom prst="line">
                <a:avLst/>
              </a:prstGeom>
              <a:noFill/>
              <a:ln w="9525">
                <a:solidFill>
                  <a:srgbClr val="000000"/>
                </a:solidFill>
                <a:round/>
                <a:headEnd/>
                <a:tailEnd type="triangle" w="med" len="med"/>
              </a:ln>
            </p:spPr>
            <p:txBody>
              <a:bodyPr/>
              <a:lstStyle/>
              <a:p>
                <a:endParaRPr lang="bg-BG"/>
              </a:p>
            </p:txBody>
          </p:sp>
          <p:sp>
            <p:nvSpPr>
              <p:cNvPr id="50192" name="Text Box 33"/>
              <p:cNvSpPr txBox="1">
                <a:spLocks noChangeArrowheads="1"/>
              </p:cNvSpPr>
              <p:nvPr/>
            </p:nvSpPr>
            <p:spPr bwMode="auto">
              <a:xfrm>
                <a:off x="4088" y="1440"/>
                <a:ext cx="240"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50193" name="Text Box 35"/>
              <p:cNvSpPr txBox="1">
                <a:spLocks noChangeArrowheads="1"/>
              </p:cNvSpPr>
              <p:nvPr/>
            </p:nvSpPr>
            <p:spPr bwMode="auto">
              <a:xfrm>
                <a:off x="4304" y="223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50194" name="Text Box 36"/>
              <p:cNvSpPr txBox="1">
                <a:spLocks noChangeArrowheads="1"/>
              </p:cNvSpPr>
              <p:nvPr/>
            </p:nvSpPr>
            <p:spPr bwMode="auto">
              <a:xfrm>
                <a:off x="4488" y="184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0195" name="Text Box 37"/>
              <p:cNvSpPr txBox="1">
                <a:spLocks noChangeArrowheads="1"/>
              </p:cNvSpPr>
              <p:nvPr/>
            </p:nvSpPr>
            <p:spPr bwMode="auto">
              <a:xfrm>
                <a:off x="4776" y="2232"/>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50196" name="Text Box 38"/>
              <p:cNvSpPr txBox="1">
                <a:spLocks noChangeArrowheads="1"/>
              </p:cNvSpPr>
              <p:nvPr/>
            </p:nvSpPr>
            <p:spPr bwMode="auto">
              <a:xfrm>
                <a:off x="3648" y="1848"/>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grpSp>
        <p:sp>
          <p:nvSpPr>
            <p:cNvPr id="50181" name="Line 39"/>
            <p:cNvSpPr>
              <a:spLocks noChangeShapeType="1"/>
            </p:cNvSpPr>
            <p:nvPr/>
          </p:nvSpPr>
          <p:spPr bwMode="auto">
            <a:xfrm>
              <a:off x="4191000" y="3124200"/>
              <a:ext cx="990600" cy="0"/>
            </a:xfrm>
            <a:prstGeom prst="line">
              <a:avLst/>
            </a:prstGeom>
            <a:noFill/>
            <a:ln w="9525">
              <a:solidFill>
                <a:schemeClr val="tx1"/>
              </a:solidFill>
              <a:round/>
              <a:headEnd/>
              <a:tailEnd type="triangle" w="med" len="med"/>
            </a:ln>
          </p:spPr>
          <p:txBody>
            <a:bodyPr wrap="none" anchor="ctr"/>
            <a:lstStyle/>
            <a:p>
              <a:endParaRPr lang="bg-BG"/>
            </a:p>
          </p:txBody>
        </p:sp>
      </p:grpSp>
      <p:sp>
        <p:nvSpPr>
          <p:cNvPr id="50182" name="Text Box 40"/>
          <p:cNvSpPr txBox="1">
            <a:spLocks noChangeArrowheads="1"/>
          </p:cNvSpPr>
          <p:nvPr/>
        </p:nvSpPr>
        <p:spPr bwMode="auto">
          <a:xfrm>
            <a:off x="2057400" y="4419600"/>
            <a:ext cx="6096000" cy="457200"/>
          </a:xfrm>
          <a:prstGeom prst="rect">
            <a:avLst/>
          </a:prstGeom>
          <a:noFill/>
          <a:ln w="9525">
            <a:noFill/>
            <a:miter lim="800000"/>
            <a:headEnd/>
            <a:tailEnd/>
          </a:ln>
        </p:spPr>
        <p:txBody>
          <a:bodyPr>
            <a:spAutoFit/>
          </a:bodyPr>
          <a:lstStyle/>
          <a:p>
            <a:pPr>
              <a:spcBef>
                <a:spcPct val="50000"/>
              </a:spcBef>
            </a:pPr>
            <a:r>
              <a:rPr lang="bg-BG"/>
              <a:t>(не е нужно допълнително балансиране)</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67544" y="794048"/>
            <a:ext cx="8382000" cy="6063952"/>
          </a:xfrm>
        </p:spPr>
        <p:txBody>
          <a:bodyPr>
            <a:normAutofit/>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2">
                    <a:satMod val="130000"/>
                  </a:schemeClr>
                </a:solidFill>
              </a:rPr>
              <a:t>Изключваме </a:t>
            </a:r>
            <a:r>
              <a:rPr lang="bg-BG" sz="2800">
                <a:solidFill>
                  <a:schemeClr val="tx2">
                    <a:satMod val="130000"/>
                  </a:schemeClr>
                </a:solidFill>
              </a:rPr>
              <a:t>7:</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r>
              <a:rPr lang="bg-BG" sz="2800">
                <a:solidFill>
                  <a:schemeClr val="tx2">
                    <a:satMod val="130000"/>
                  </a:schemeClr>
                </a:solidFill>
              </a:rPr>
              <a:t/>
            </a:r>
            <a:br>
              <a:rPr lang="bg-BG" sz="2800">
                <a:solidFill>
                  <a:schemeClr val="tx2">
                    <a:satMod val="130000"/>
                  </a:schemeClr>
                </a:solidFill>
              </a:rPr>
            </a:br>
            <a:endParaRPr lang="en-US">
              <a:solidFill>
                <a:schemeClr val="tx2">
                  <a:satMod val="130000"/>
                </a:schemeClr>
              </a:solidFill>
            </a:endParaRPr>
          </a:p>
        </p:txBody>
      </p:sp>
      <p:grpSp>
        <p:nvGrpSpPr>
          <p:cNvPr id="56" name="Group 55"/>
          <p:cNvGrpSpPr/>
          <p:nvPr/>
        </p:nvGrpSpPr>
        <p:grpSpPr>
          <a:xfrm>
            <a:off x="1835696" y="948190"/>
            <a:ext cx="6650038" cy="5414665"/>
            <a:chOff x="990600" y="533400"/>
            <a:chExt cx="6650038" cy="5414665"/>
          </a:xfrm>
        </p:grpSpPr>
        <p:grpSp>
          <p:nvGrpSpPr>
            <p:cNvPr id="51203" name="Group 3"/>
            <p:cNvGrpSpPr>
              <a:grpSpLocks/>
            </p:cNvGrpSpPr>
            <p:nvPr/>
          </p:nvGrpSpPr>
          <p:grpSpPr bwMode="auto">
            <a:xfrm>
              <a:off x="990600" y="1219200"/>
              <a:ext cx="2382838" cy="1678875"/>
              <a:chOff x="3611" y="1440"/>
              <a:chExt cx="1501" cy="1080"/>
            </a:xfrm>
          </p:grpSpPr>
          <p:sp>
            <p:nvSpPr>
              <p:cNvPr id="51242" name="Oval 4"/>
              <p:cNvSpPr>
                <a:spLocks noChangeArrowheads="1"/>
              </p:cNvSpPr>
              <p:nvPr/>
            </p:nvSpPr>
            <p:spPr bwMode="auto">
              <a:xfrm>
                <a:off x="4044" y="1448"/>
                <a:ext cx="296" cy="274"/>
              </a:xfrm>
              <a:prstGeom prst="ellipse">
                <a:avLst/>
              </a:prstGeom>
              <a:solidFill>
                <a:srgbClr val="FFFFFF"/>
              </a:solidFill>
              <a:ln w="9525">
                <a:solidFill>
                  <a:srgbClr val="000000"/>
                </a:solidFill>
                <a:round/>
                <a:headEnd/>
                <a:tailEnd/>
              </a:ln>
            </p:spPr>
            <p:txBody>
              <a:bodyPr/>
              <a:lstStyle/>
              <a:p>
                <a:endParaRPr lang="bg-BG"/>
              </a:p>
            </p:txBody>
          </p:sp>
          <p:sp>
            <p:nvSpPr>
              <p:cNvPr id="51243" name="Oval 5"/>
              <p:cNvSpPr>
                <a:spLocks noChangeArrowheads="1"/>
              </p:cNvSpPr>
              <p:nvPr/>
            </p:nvSpPr>
            <p:spPr bwMode="auto">
              <a:xfrm>
                <a:off x="3611" y="1859"/>
                <a:ext cx="296" cy="273"/>
              </a:xfrm>
              <a:prstGeom prst="ellipse">
                <a:avLst/>
              </a:prstGeom>
              <a:solidFill>
                <a:srgbClr val="FFFFFF"/>
              </a:solidFill>
              <a:ln w="9525">
                <a:solidFill>
                  <a:srgbClr val="000000"/>
                </a:solidFill>
                <a:round/>
                <a:headEnd/>
                <a:tailEnd/>
              </a:ln>
            </p:spPr>
            <p:txBody>
              <a:bodyPr/>
              <a:lstStyle/>
              <a:p>
                <a:endParaRPr lang="bg-BG"/>
              </a:p>
            </p:txBody>
          </p:sp>
          <p:sp>
            <p:nvSpPr>
              <p:cNvPr id="51244" name="Oval 6"/>
              <p:cNvSpPr>
                <a:spLocks noChangeArrowheads="1"/>
              </p:cNvSpPr>
              <p:nvPr/>
            </p:nvSpPr>
            <p:spPr bwMode="auto">
              <a:xfrm>
                <a:off x="4500" y="1859"/>
                <a:ext cx="296" cy="273"/>
              </a:xfrm>
              <a:prstGeom prst="ellipse">
                <a:avLst/>
              </a:prstGeom>
              <a:solidFill>
                <a:srgbClr val="FFFFFF"/>
              </a:solidFill>
              <a:ln w="9525">
                <a:solidFill>
                  <a:srgbClr val="000000"/>
                </a:solidFill>
                <a:round/>
                <a:headEnd/>
                <a:tailEnd/>
              </a:ln>
            </p:spPr>
            <p:txBody>
              <a:bodyPr/>
              <a:lstStyle/>
              <a:p>
                <a:endParaRPr lang="bg-BG"/>
              </a:p>
            </p:txBody>
          </p:sp>
          <p:sp>
            <p:nvSpPr>
              <p:cNvPr id="51245" name="Oval 7"/>
              <p:cNvSpPr>
                <a:spLocks noChangeArrowheads="1"/>
              </p:cNvSpPr>
              <p:nvPr/>
            </p:nvSpPr>
            <p:spPr bwMode="auto">
              <a:xfrm>
                <a:off x="4272" y="2241"/>
                <a:ext cx="296" cy="274"/>
              </a:xfrm>
              <a:prstGeom prst="ellipse">
                <a:avLst/>
              </a:prstGeom>
              <a:solidFill>
                <a:srgbClr val="FFFFFF"/>
              </a:solidFill>
              <a:ln w="9525">
                <a:solidFill>
                  <a:srgbClr val="000000"/>
                </a:solidFill>
                <a:round/>
                <a:headEnd/>
                <a:tailEnd/>
              </a:ln>
            </p:spPr>
            <p:txBody>
              <a:bodyPr/>
              <a:lstStyle/>
              <a:p>
                <a:endParaRPr lang="bg-BG"/>
              </a:p>
            </p:txBody>
          </p:sp>
          <p:sp>
            <p:nvSpPr>
              <p:cNvPr id="51246" name="Oval 8"/>
              <p:cNvSpPr>
                <a:spLocks noChangeArrowheads="1"/>
              </p:cNvSpPr>
              <p:nvPr/>
            </p:nvSpPr>
            <p:spPr bwMode="auto">
              <a:xfrm>
                <a:off x="4774" y="2235"/>
                <a:ext cx="296" cy="274"/>
              </a:xfrm>
              <a:prstGeom prst="ellipse">
                <a:avLst/>
              </a:prstGeom>
              <a:solidFill>
                <a:srgbClr val="FFFFFF"/>
              </a:solidFill>
              <a:ln w="9525">
                <a:solidFill>
                  <a:srgbClr val="000000"/>
                </a:solidFill>
                <a:round/>
                <a:headEnd/>
                <a:tailEnd/>
              </a:ln>
            </p:spPr>
            <p:txBody>
              <a:bodyPr/>
              <a:lstStyle/>
              <a:p>
                <a:endParaRPr lang="bg-BG"/>
              </a:p>
            </p:txBody>
          </p:sp>
          <p:sp>
            <p:nvSpPr>
              <p:cNvPr id="51247" name="Line 9"/>
              <p:cNvSpPr>
                <a:spLocks noChangeShapeType="1"/>
              </p:cNvSpPr>
              <p:nvPr/>
            </p:nvSpPr>
            <p:spPr bwMode="auto">
              <a:xfrm flipH="1">
                <a:off x="3862" y="1676"/>
                <a:ext cx="205" cy="205"/>
              </a:xfrm>
              <a:prstGeom prst="line">
                <a:avLst/>
              </a:prstGeom>
              <a:noFill/>
              <a:ln w="9525">
                <a:solidFill>
                  <a:srgbClr val="000000"/>
                </a:solidFill>
                <a:round/>
                <a:headEnd/>
                <a:tailEnd type="triangle" w="med" len="med"/>
              </a:ln>
            </p:spPr>
            <p:txBody>
              <a:bodyPr/>
              <a:lstStyle/>
              <a:p>
                <a:endParaRPr lang="bg-BG"/>
              </a:p>
            </p:txBody>
          </p:sp>
          <p:sp>
            <p:nvSpPr>
              <p:cNvPr id="51248" name="Line 10"/>
              <p:cNvSpPr>
                <a:spLocks noChangeShapeType="1"/>
              </p:cNvSpPr>
              <p:nvPr/>
            </p:nvSpPr>
            <p:spPr bwMode="auto">
              <a:xfrm>
                <a:off x="4295" y="1676"/>
                <a:ext cx="273" cy="205"/>
              </a:xfrm>
              <a:prstGeom prst="line">
                <a:avLst/>
              </a:prstGeom>
              <a:noFill/>
              <a:ln w="9525">
                <a:solidFill>
                  <a:srgbClr val="000000"/>
                </a:solidFill>
                <a:round/>
                <a:headEnd/>
                <a:tailEnd type="triangle" w="med" len="med"/>
              </a:ln>
            </p:spPr>
            <p:txBody>
              <a:bodyPr/>
              <a:lstStyle/>
              <a:p>
                <a:endParaRPr lang="bg-BG"/>
              </a:p>
            </p:txBody>
          </p:sp>
          <p:sp>
            <p:nvSpPr>
              <p:cNvPr id="51249" name="Line 11"/>
              <p:cNvSpPr>
                <a:spLocks noChangeShapeType="1"/>
              </p:cNvSpPr>
              <p:nvPr/>
            </p:nvSpPr>
            <p:spPr bwMode="auto">
              <a:xfrm flipH="1">
                <a:off x="4477" y="2109"/>
                <a:ext cx="91" cy="137"/>
              </a:xfrm>
              <a:prstGeom prst="line">
                <a:avLst/>
              </a:prstGeom>
              <a:noFill/>
              <a:ln w="9525">
                <a:solidFill>
                  <a:srgbClr val="000000"/>
                </a:solidFill>
                <a:round/>
                <a:headEnd/>
                <a:tailEnd type="triangle" w="med" len="med"/>
              </a:ln>
            </p:spPr>
            <p:txBody>
              <a:bodyPr/>
              <a:lstStyle/>
              <a:p>
                <a:endParaRPr lang="bg-BG"/>
              </a:p>
            </p:txBody>
          </p:sp>
          <p:sp>
            <p:nvSpPr>
              <p:cNvPr id="51250" name="Line 12"/>
              <p:cNvSpPr>
                <a:spLocks noChangeShapeType="1"/>
              </p:cNvSpPr>
              <p:nvPr/>
            </p:nvSpPr>
            <p:spPr bwMode="auto">
              <a:xfrm>
                <a:off x="4728" y="2109"/>
                <a:ext cx="137" cy="137"/>
              </a:xfrm>
              <a:prstGeom prst="line">
                <a:avLst/>
              </a:prstGeom>
              <a:noFill/>
              <a:ln w="9525">
                <a:solidFill>
                  <a:srgbClr val="000000"/>
                </a:solidFill>
                <a:round/>
                <a:headEnd/>
                <a:tailEnd type="triangle" w="med" len="med"/>
              </a:ln>
            </p:spPr>
            <p:txBody>
              <a:bodyPr/>
              <a:lstStyle/>
              <a:p>
                <a:endParaRPr lang="bg-BG"/>
              </a:p>
            </p:txBody>
          </p:sp>
          <p:sp>
            <p:nvSpPr>
              <p:cNvPr id="51251" name="Text Box 13"/>
              <p:cNvSpPr txBox="1">
                <a:spLocks noChangeArrowheads="1"/>
              </p:cNvSpPr>
              <p:nvPr/>
            </p:nvSpPr>
            <p:spPr bwMode="auto">
              <a:xfrm>
                <a:off x="4088" y="1440"/>
                <a:ext cx="240" cy="288"/>
              </a:xfrm>
              <a:prstGeom prst="rect">
                <a:avLst/>
              </a:prstGeom>
              <a:noFill/>
              <a:ln w="9525">
                <a:noFill/>
                <a:miter lim="800000"/>
                <a:headEnd/>
                <a:tailEnd/>
              </a:ln>
            </p:spPr>
            <p:txBody>
              <a:bodyPr>
                <a:spAutoFit/>
              </a:bodyPr>
              <a:lstStyle/>
              <a:p>
                <a:pPr>
                  <a:spcBef>
                    <a:spcPct val="50000"/>
                  </a:spcBef>
                </a:pPr>
                <a:r>
                  <a:rPr lang="bg-BG">
                    <a:solidFill>
                      <a:srgbClr val="CC0066"/>
                    </a:solidFill>
                  </a:rPr>
                  <a:t>7</a:t>
                </a:r>
                <a:endParaRPr lang="en-US"/>
              </a:p>
            </p:txBody>
          </p:sp>
          <p:sp>
            <p:nvSpPr>
              <p:cNvPr id="51252" name="Text Box 14"/>
              <p:cNvSpPr txBox="1">
                <a:spLocks noChangeArrowheads="1"/>
              </p:cNvSpPr>
              <p:nvPr/>
            </p:nvSpPr>
            <p:spPr bwMode="auto">
              <a:xfrm>
                <a:off x="4304" y="2232"/>
                <a:ext cx="240" cy="288"/>
              </a:xfrm>
              <a:prstGeom prst="rect">
                <a:avLst/>
              </a:prstGeom>
              <a:noFill/>
              <a:ln w="9525">
                <a:noFill/>
                <a:miter lim="800000"/>
                <a:headEnd/>
                <a:tailEnd/>
              </a:ln>
            </p:spPr>
            <p:txBody>
              <a:bodyPr>
                <a:spAutoFit/>
              </a:bodyPr>
              <a:lstStyle/>
              <a:p>
                <a:pPr>
                  <a:spcBef>
                    <a:spcPct val="50000"/>
                  </a:spcBef>
                </a:pPr>
                <a:r>
                  <a:rPr lang="bg-BG"/>
                  <a:t>9</a:t>
                </a:r>
                <a:endParaRPr lang="en-US"/>
              </a:p>
            </p:txBody>
          </p:sp>
          <p:sp>
            <p:nvSpPr>
              <p:cNvPr id="51253" name="Text Box 15"/>
              <p:cNvSpPr txBox="1">
                <a:spLocks noChangeArrowheads="1"/>
              </p:cNvSpPr>
              <p:nvPr/>
            </p:nvSpPr>
            <p:spPr bwMode="auto">
              <a:xfrm>
                <a:off x="4488" y="184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1254" name="Text Box 16"/>
              <p:cNvSpPr txBox="1">
                <a:spLocks noChangeArrowheads="1"/>
              </p:cNvSpPr>
              <p:nvPr/>
            </p:nvSpPr>
            <p:spPr bwMode="auto">
              <a:xfrm>
                <a:off x="4776" y="2232"/>
                <a:ext cx="336" cy="288"/>
              </a:xfrm>
              <a:prstGeom prst="rect">
                <a:avLst/>
              </a:prstGeom>
              <a:noFill/>
              <a:ln w="9525">
                <a:noFill/>
                <a:miter lim="800000"/>
                <a:headEnd/>
                <a:tailEnd/>
              </a:ln>
            </p:spPr>
            <p:txBody>
              <a:bodyPr>
                <a:spAutoFit/>
              </a:bodyPr>
              <a:lstStyle/>
              <a:p>
                <a:pPr>
                  <a:spcBef>
                    <a:spcPct val="50000"/>
                  </a:spcBef>
                </a:pPr>
                <a:r>
                  <a:rPr lang="bg-BG"/>
                  <a:t>11</a:t>
                </a:r>
                <a:endParaRPr lang="en-US"/>
              </a:p>
            </p:txBody>
          </p:sp>
          <p:sp>
            <p:nvSpPr>
              <p:cNvPr id="51255" name="Text Box 17"/>
              <p:cNvSpPr txBox="1">
                <a:spLocks noChangeArrowheads="1"/>
              </p:cNvSpPr>
              <p:nvPr/>
            </p:nvSpPr>
            <p:spPr bwMode="auto">
              <a:xfrm>
                <a:off x="3648" y="1848"/>
                <a:ext cx="240" cy="288"/>
              </a:xfrm>
              <a:prstGeom prst="rect">
                <a:avLst/>
              </a:prstGeom>
              <a:noFill/>
              <a:ln w="9525">
                <a:noFill/>
                <a:miter lim="800000"/>
                <a:headEnd/>
                <a:tailEnd/>
              </a:ln>
            </p:spPr>
            <p:txBody>
              <a:bodyPr>
                <a:spAutoFit/>
              </a:bodyPr>
              <a:lstStyle/>
              <a:p>
                <a:pPr>
                  <a:spcBef>
                    <a:spcPct val="50000"/>
                  </a:spcBef>
                </a:pPr>
                <a:r>
                  <a:rPr lang="bg-BG"/>
                  <a:t>3</a:t>
                </a:r>
                <a:endParaRPr lang="en-US"/>
              </a:p>
            </p:txBody>
          </p:sp>
        </p:grpSp>
        <p:sp>
          <p:nvSpPr>
            <p:cNvPr id="51204" name="Oval 19"/>
            <p:cNvSpPr>
              <a:spLocks noChangeArrowheads="1"/>
            </p:cNvSpPr>
            <p:nvPr/>
          </p:nvSpPr>
          <p:spPr bwMode="auto">
            <a:xfrm>
              <a:off x="5868988" y="546100"/>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05" name="Oval 20"/>
            <p:cNvSpPr>
              <a:spLocks noChangeArrowheads="1"/>
            </p:cNvSpPr>
            <p:nvPr/>
          </p:nvSpPr>
          <p:spPr bwMode="auto">
            <a:xfrm>
              <a:off x="5181600" y="1198564"/>
              <a:ext cx="469900" cy="424382"/>
            </a:xfrm>
            <a:prstGeom prst="ellipse">
              <a:avLst/>
            </a:prstGeom>
            <a:solidFill>
              <a:srgbClr val="FFFFFF"/>
            </a:solidFill>
            <a:ln w="9525">
              <a:solidFill>
                <a:srgbClr val="000000"/>
              </a:solidFill>
              <a:round/>
              <a:headEnd/>
              <a:tailEnd/>
            </a:ln>
          </p:spPr>
          <p:txBody>
            <a:bodyPr/>
            <a:lstStyle/>
            <a:p>
              <a:endParaRPr lang="bg-BG"/>
            </a:p>
          </p:txBody>
        </p:sp>
        <p:sp>
          <p:nvSpPr>
            <p:cNvPr id="51206" name="Oval 21"/>
            <p:cNvSpPr>
              <a:spLocks noChangeArrowheads="1"/>
            </p:cNvSpPr>
            <p:nvPr/>
          </p:nvSpPr>
          <p:spPr bwMode="auto">
            <a:xfrm>
              <a:off x="6592888" y="1198564"/>
              <a:ext cx="469900" cy="424382"/>
            </a:xfrm>
            <a:prstGeom prst="ellipse">
              <a:avLst/>
            </a:prstGeom>
            <a:solidFill>
              <a:srgbClr val="FFFFFF"/>
            </a:solidFill>
            <a:ln w="9525">
              <a:solidFill>
                <a:srgbClr val="000000"/>
              </a:solidFill>
              <a:round/>
              <a:headEnd/>
              <a:tailEnd/>
            </a:ln>
          </p:spPr>
          <p:txBody>
            <a:bodyPr/>
            <a:lstStyle/>
            <a:p>
              <a:endParaRPr lang="bg-BG"/>
            </a:p>
          </p:txBody>
        </p:sp>
        <p:sp>
          <p:nvSpPr>
            <p:cNvPr id="51207" name="Oval 23"/>
            <p:cNvSpPr>
              <a:spLocks noChangeArrowheads="1"/>
            </p:cNvSpPr>
            <p:nvPr/>
          </p:nvSpPr>
          <p:spPr bwMode="auto">
            <a:xfrm>
              <a:off x="7027863" y="1795463"/>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08" name="Line 24"/>
            <p:cNvSpPr>
              <a:spLocks noChangeShapeType="1"/>
            </p:cNvSpPr>
            <p:nvPr/>
          </p:nvSpPr>
          <p:spPr bwMode="auto">
            <a:xfrm flipH="1">
              <a:off x="5580062" y="908050"/>
              <a:ext cx="325437" cy="318676"/>
            </a:xfrm>
            <a:prstGeom prst="line">
              <a:avLst/>
            </a:prstGeom>
            <a:noFill/>
            <a:ln w="9525">
              <a:solidFill>
                <a:srgbClr val="000000"/>
              </a:solidFill>
              <a:round/>
              <a:headEnd/>
              <a:tailEnd type="triangle" w="med" len="med"/>
            </a:ln>
          </p:spPr>
          <p:txBody>
            <a:bodyPr/>
            <a:lstStyle/>
            <a:p>
              <a:endParaRPr lang="bg-BG"/>
            </a:p>
          </p:txBody>
        </p:sp>
        <p:sp>
          <p:nvSpPr>
            <p:cNvPr id="51209" name="Line 25"/>
            <p:cNvSpPr>
              <a:spLocks noChangeShapeType="1"/>
            </p:cNvSpPr>
            <p:nvPr/>
          </p:nvSpPr>
          <p:spPr bwMode="auto">
            <a:xfrm>
              <a:off x="6267450" y="908050"/>
              <a:ext cx="433388" cy="318676"/>
            </a:xfrm>
            <a:prstGeom prst="line">
              <a:avLst/>
            </a:prstGeom>
            <a:noFill/>
            <a:ln w="9525">
              <a:solidFill>
                <a:srgbClr val="000000"/>
              </a:solidFill>
              <a:round/>
              <a:headEnd/>
              <a:tailEnd type="triangle" w="med" len="med"/>
            </a:ln>
          </p:spPr>
          <p:txBody>
            <a:bodyPr/>
            <a:lstStyle/>
            <a:p>
              <a:endParaRPr lang="bg-BG"/>
            </a:p>
          </p:txBody>
        </p:sp>
        <p:sp>
          <p:nvSpPr>
            <p:cNvPr id="51210" name="Line 27"/>
            <p:cNvSpPr>
              <a:spLocks noChangeShapeType="1"/>
            </p:cNvSpPr>
            <p:nvPr/>
          </p:nvSpPr>
          <p:spPr bwMode="auto">
            <a:xfrm>
              <a:off x="6954838" y="1595439"/>
              <a:ext cx="217487" cy="212968"/>
            </a:xfrm>
            <a:prstGeom prst="line">
              <a:avLst/>
            </a:prstGeom>
            <a:noFill/>
            <a:ln w="9525">
              <a:solidFill>
                <a:srgbClr val="000000"/>
              </a:solidFill>
              <a:round/>
              <a:headEnd/>
              <a:tailEnd type="triangle" w="med" len="med"/>
            </a:ln>
          </p:spPr>
          <p:txBody>
            <a:bodyPr/>
            <a:lstStyle/>
            <a:p>
              <a:endParaRPr lang="bg-BG"/>
            </a:p>
          </p:txBody>
        </p:sp>
        <p:sp>
          <p:nvSpPr>
            <p:cNvPr id="51211" name="Text Box 28"/>
            <p:cNvSpPr txBox="1">
              <a:spLocks noChangeArrowheads="1"/>
            </p:cNvSpPr>
            <p:nvPr/>
          </p:nvSpPr>
          <p:spPr bwMode="auto">
            <a:xfrm>
              <a:off x="5938838" y="533400"/>
              <a:ext cx="381000" cy="461665"/>
            </a:xfrm>
            <a:prstGeom prst="rect">
              <a:avLst/>
            </a:prstGeom>
            <a:noFill/>
            <a:ln w="9525">
              <a:noFill/>
              <a:miter lim="800000"/>
              <a:headEnd/>
              <a:tailEnd/>
            </a:ln>
          </p:spPr>
          <p:txBody>
            <a:bodyPr wrap="square">
              <a:spAutoFit/>
            </a:bodyPr>
            <a:lstStyle/>
            <a:p>
              <a:pPr>
                <a:spcBef>
                  <a:spcPct val="50000"/>
                </a:spcBef>
              </a:pPr>
              <a:r>
                <a:rPr lang="bg-BG"/>
                <a:t>9</a:t>
              </a:r>
              <a:endParaRPr lang="en-US"/>
            </a:p>
          </p:txBody>
        </p:sp>
        <p:sp>
          <p:nvSpPr>
            <p:cNvPr id="51212" name="Text Box 30"/>
            <p:cNvSpPr txBox="1">
              <a:spLocks noChangeArrowheads="1"/>
            </p:cNvSpPr>
            <p:nvPr/>
          </p:nvSpPr>
          <p:spPr bwMode="auto">
            <a:xfrm>
              <a:off x="6573838" y="1181100"/>
              <a:ext cx="571500" cy="461665"/>
            </a:xfrm>
            <a:prstGeom prst="rect">
              <a:avLst/>
            </a:prstGeom>
            <a:noFill/>
            <a:ln w="9525">
              <a:noFill/>
              <a:miter lim="800000"/>
              <a:headEnd/>
              <a:tailEnd/>
            </a:ln>
          </p:spPr>
          <p:txBody>
            <a:bodyPr wrap="square">
              <a:spAutoFit/>
            </a:bodyPr>
            <a:lstStyle/>
            <a:p>
              <a:pPr>
                <a:spcBef>
                  <a:spcPct val="50000"/>
                </a:spcBef>
              </a:pPr>
              <a:r>
                <a:rPr lang="bg-BG"/>
                <a:t>10</a:t>
              </a:r>
              <a:endParaRPr lang="en-US"/>
            </a:p>
          </p:txBody>
        </p:sp>
        <p:sp>
          <p:nvSpPr>
            <p:cNvPr id="51213" name="Text Box 31"/>
            <p:cNvSpPr txBox="1">
              <a:spLocks noChangeArrowheads="1"/>
            </p:cNvSpPr>
            <p:nvPr/>
          </p:nvSpPr>
          <p:spPr bwMode="auto">
            <a:xfrm>
              <a:off x="7031038" y="1790700"/>
              <a:ext cx="533400" cy="461665"/>
            </a:xfrm>
            <a:prstGeom prst="rect">
              <a:avLst/>
            </a:prstGeom>
            <a:noFill/>
            <a:ln w="9525">
              <a:noFill/>
              <a:miter lim="800000"/>
              <a:headEnd/>
              <a:tailEnd/>
            </a:ln>
          </p:spPr>
          <p:txBody>
            <a:bodyPr wrap="square">
              <a:spAutoFit/>
            </a:bodyPr>
            <a:lstStyle/>
            <a:p>
              <a:pPr>
                <a:spcBef>
                  <a:spcPct val="50000"/>
                </a:spcBef>
              </a:pPr>
              <a:r>
                <a:rPr lang="bg-BG"/>
                <a:t>11</a:t>
              </a:r>
              <a:endParaRPr lang="en-US"/>
            </a:p>
          </p:txBody>
        </p:sp>
        <p:sp>
          <p:nvSpPr>
            <p:cNvPr id="51214" name="Text Box 32"/>
            <p:cNvSpPr txBox="1">
              <a:spLocks noChangeArrowheads="1"/>
            </p:cNvSpPr>
            <p:nvPr/>
          </p:nvSpPr>
          <p:spPr bwMode="auto">
            <a:xfrm>
              <a:off x="5240338" y="1181100"/>
              <a:ext cx="381000" cy="461665"/>
            </a:xfrm>
            <a:prstGeom prst="rect">
              <a:avLst/>
            </a:prstGeom>
            <a:noFill/>
            <a:ln w="9525">
              <a:noFill/>
              <a:miter lim="800000"/>
              <a:headEnd/>
              <a:tailEnd/>
            </a:ln>
          </p:spPr>
          <p:txBody>
            <a:bodyPr wrap="square">
              <a:spAutoFit/>
            </a:bodyPr>
            <a:lstStyle/>
            <a:p>
              <a:pPr>
                <a:spcBef>
                  <a:spcPct val="50000"/>
                </a:spcBef>
              </a:pPr>
              <a:r>
                <a:rPr lang="bg-BG"/>
                <a:t>3</a:t>
              </a:r>
              <a:endParaRPr lang="en-US"/>
            </a:p>
          </p:txBody>
        </p:sp>
        <p:sp>
          <p:nvSpPr>
            <p:cNvPr id="51215" name="Oval 34"/>
            <p:cNvSpPr>
              <a:spLocks noChangeArrowheads="1"/>
            </p:cNvSpPr>
            <p:nvPr/>
          </p:nvSpPr>
          <p:spPr bwMode="auto">
            <a:xfrm>
              <a:off x="5945188" y="2984500"/>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16" name="Oval 36"/>
            <p:cNvSpPr>
              <a:spLocks noChangeArrowheads="1"/>
            </p:cNvSpPr>
            <p:nvPr/>
          </p:nvSpPr>
          <p:spPr bwMode="auto">
            <a:xfrm>
              <a:off x="6669088" y="3636964"/>
              <a:ext cx="469900" cy="424382"/>
            </a:xfrm>
            <a:prstGeom prst="ellipse">
              <a:avLst/>
            </a:prstGeom>
            <a:solidFill>
              <a:srgbClr val="FFFFFF"/>
            </a:solidFill>
            <a:ln w="9525">
              <a:solidFill>
                <a:srgbClr val="000000"/>
              </a:solidFill>
              <a:round/>
              <a:headEnd/>
              <a:tailEnd/>
            </a:ln>
          </p:spPr>
          <p:txBody>
            <a:bodyPr/>
            <a:lstStyle/>
            <a:p>
              <a:endParaRPr lang="bg-BG"/>
            </a:p>
          </p:txBody>
        </p:sp>
        <p:sp>
          <p:nvSpPr>
            <p:cNvPr id="51217" name="Oval 37"/>
            <p:cNvSpPr>
              <a:spLocks noChangeArrowheads="1"/>
            </p:cNvSpPr>
            <p:nvPr/>
          </p:nvSpPr>
          <p:spPr bwMode="auto">
            <a:xfrm>
              <a:off x="6307138" y="4243388"/>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18" name="Oval 38"/>
            <p:cNvSpPr>
              <a:spLocks noChangeArrowheads="1"/>
            </p:cNvSpPr>
            <p:nvPr/>
          </p:nvSpPr>
          <p:spPr bwMode="auto">
            <a:xfrm>
              <a:off x="7104063" y="4233863"/>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19" name="Line 40"/>
            <p:cNvSpPr>
              <a:spLocks noChangeShapeType="1"/>
            </p:cNvSpPr>
            <p:nvPr/>
          </p:nvSpPr>
          <p:spPr bwMode="auto">
            <a:xfrm>
              <a:off x="6343650" y="3346450"/>
              <a:ext cx="433388" cy="318676"/>
            </a:xfrm>
            <a:prstGeom prst="line">
              <a:avLst/>
            </a:prstGeom>
            <a:noFill/>
            <a:ln w="9525">
              <a:solidFill>
                <a:srgbClr val="000000"/>
              </a:solidFill>
              <a:round/>
              <a:headEnd/>
              <a:tailEnd type="triangle" w="med" len="med"/>
            </a:ln>
          </p:spPr>
          <p:txBody>
            <a:bodyPr/>
            <a:lstStyle/>
            <a:p>
              <a:endParaRPr lang="bg-BG"/>
            </a:p>
          </p:txBody>
        </p:sp>
        <p:sp>
          <p:nvSpPr>
            <p:cNvPr id="51220" name="Line 41"/>
            <p:cNvSpPr>
              <a:spLocks noChangeShapeType="1"/>
            </p:cNvSpPr>
            <p:nvPr/>
          </p:nvSpPr>
          <p:spPr bwMode="auto">
            <a:xfrm flipH="1">
              <a:off x="6632574" y="4033839"/>
              <a:ext cx="144463" cy="212968"/>
            </a:xfrm>
            <a:prstGeom prst="line">
              <a:avLst/>
            </a:prstGeom>
            <a:noFill/>
            <a:ln w="9525">
              <a:solidFill>
                <a:srgbClr val="000000"/>
              </a:solidFill>
              <a:round/>
              <a:headEnd/>
              <a:tailEnd type="triangle" w="med" len="med"/>
            </a:ln>
          </p:spPr>
          <p:txBody>
            <a:bodyPr/>
            <a:lstStyle/>
            <a:p>
              <a:endParaRPr lang="bg-BG"/>
            </a:p>
          </p:txBody>
        </p:sp>
        <p:sp>
          <p:nvSpPr>
            <p:cNvPr id="51221" name="Line 42"/>
            <p:cNvSpPr>
              <a:spLocks noChangeShapeType="1"/>
            </p:cNvSpPr>
            <p:nvPr/>
          </p:nvSpPr>
          <p:spPr bwMode="auto">
            <a:xfrm>
              <a:off x="7031038" y="4033839"/>
              <a:ext cx="217487" cy="212968"/>
            </a:xfrm>
            <a:prstGeom prst="line">
              <a:avLst/>
            </a:prstGeom>
            <a:noFill/>
            <a:ln w="9525">
              <a:solidFill>
                <a:srgbClr val="000000"/>
              </a:solidFill>
              <a:round/>
              <a:headEnd/>
              <a:tailEnd type="triangle" w="med" len="med"/>
            </a:ln>
          </p:spPr>
          <p:txBody>
            <a:bodyPr/>
            <a:lstStyle/>
            <a:p>
              <a:endParaRPr lang="bg-BG"/>
            </a:p>
          </p:txBody>
        </p:sp>
        <p:sp>
          <p:nvSpPr>
            <p:cNvPr id="51222" name="Text Box 43"/>
            <p:cNvSpPr txBox="1">
              <a:spLocks noChangeArrowheads="1"/>
            </p:cNvSpPr>
            <p:nvPr/>
          </p:nvSpPr>
          <p:spPr bwMode="auto">
            <a:xfrm>
              <a:off x="6015038" y="2971800"/>
              <a:ext cx="381000" cy="461665"/>
            </a:xfrm>
            <a:prstGeom prst="rect">
              <a:avLst/>
            </a:prstGeom>
            <a:noFill/>
            <a:ln w="9525">
              <a:noFill/>
              <a:miter lim="800000"/>
              <a:headEnd/>
              <a:tailEnd/>
            </a:ln>
          </p:spPr>
          <p:txBody>
            <a:bodyPr wrap="square">
              <a:spAutoFit/>
            </a:bodyPr>
            <a:lstStyle/>
            <a:p>
              <a:pPr>
                <a:spcBef>
                  <a:spcPct val="50000"/>
                </a:spcBef>
              </a:pPr>
              <a:r>
                <a:rPr lang="bg-BG"/>
                <a:t>3</a:t>
              </a:r>
              <a:endParaRPr lang="en-US"/>
            </a:p>
          </p:txBody>
        </p:sp>
        <p:sp>
          <p:nvSpPr>
            <p:cNvPr id="51223" name="Text Box 44"/>
            <p:cNvSpPr txBox="1">
              <a:spLocks noChangeArrowheads="1"/>
            </p:cNvSpPr>
            <p:nvPr/>
          </p:nvSpPr>
          <p:spPr bwMode="auto">
            <a:xfrm>
              <a:off x="6357938" y="4229100"/>
              <a:ext cx="381000" cy="461665"/>
            </a:xfrm>
            <a:prstGeom prst="rect">
              <a:avLst/>
            </a:prstGeom>
            <a:noFill/>
            <a:ln w="9525">
              <a:noFill/>
              <a:miter lim="800000"/>
              <a:headEnd/>
              <a:tailEnd/>
            </a:ln>
          </p:spPr>
          <p:txBody>
            <a:bodyPr wrap="square">
              <a:spAutoFit/>
            </a:bodyPr>
            <a:lstStyle/>
            <a:p>
              <a:pPr>
                <a:spcBef>
                  <a:spcPct val="50000"/>
                </a:spcBef>
              </a:pPr>
              <a:r>
                <a:rPr lang="bg-BG"/>
                <a:t>9</a:t>
              </a:r>
              <a:endParaRPr lang="en-US"/>
            </a:p>
          </p:txBody>
        </p:sp>
        <p:sp>
          <p:nvSpPr>
            <p:cNvPr id="51224" name="Text Box 45"/>
            <p:cNvSpPr txBox="1">
              <a:spLocks noChangeArrowheads="1"/>
            </p:cNvSpPr>
            <p:nvPr/>
          </p:nvSpPr>
          <p:spPr bwMode="auto">
            <a:xfrm>
              <a:off x="6650038" y="3619500"/>
              <a:ext cx="571500" cy="461665"/>
            </a:xfrm>
            <a:prstGeom prst="rect">
              <a:avLst/>
            </a:prstGeom>
            <a:noFill/>
            <a:ln w="9525">
              <a:noFill/>
              <a:miter lim="800000"/>
              <a:headEnd/>
              <a:tailEnd/>
            </a:ln>
          </p:spPr>
          <p:txBody>
            <a:bodyPr wrap="square">
              <a:spAutoFit/>
            </a:bodyPr>
            <a:lstStyle/>
            <a:p>
              <a:pPr>
                <a:spcBef>
                  <a:spcPct val="50000"/>
                </a:spcBef>
              </a:pPr>
              <a:r>
                <a:rPr lang="bg-BG"/>
                <a:t>10</a:t>
              </a:r>
              <a:endParaRPr lang="en-US"/>
            </a:p>
          </p:txBody>
        </p:sp>
        <p:sp>
          <p:nvSpPr>
            <p:cNvPr id="51225" name="Text Box 46"/>
            <p:cNvSpPr txBox="1">
              <a:spLocks noChangeArrowheads="1"/>
            </p:cNvSpPr>
            <p:nvPr/>
          </p:nvSpPr>
          <p:spPr bwMode="auto">
            <a:xfrm>
              <a:off x="7107238" y="4229100"/>
              <a:ext cx="533400" cy="461665"/>
            </a:xfrm>
            <a:prstGeom prst="rect">
              <a:avLst/>
            </a:prstGeom>
            <a:noFill/>
            <a:ln w="9525">
              <a:noFill/>
              <a:miter lim="800000"/>
              <a:headEnd/>
              <a:tailEnd/>
            </a:ln>
          </p:spPr>
          <p:txBody>
            <a:bodyPr wrap="square">
              <a:spAutoFit/>
            </a:bodyPr>
            <a:lstStyle/>
            <a:p>
              <a:pPr>
                <a:spcBef>
                  <a:spcPct val="50000"/>
                </a:spcBef>
              </a:pPr>
              <a:r>
                <a:rPr lang="bg-BG"/>
                <a:t>11</a:t>
              </a:r>
              <a:endParaRPr lang="en-US"/>
            </a:p>
          </p:txBody>
        </p:sp>
        <p:sp>
          <p:nvSpPr>
            <p:cNvPr id="51226" name="Line 48"/>
            <p:cNvSpPr>
              <a:spLocks noChangeShapeType="1"/>
            </p:cNvSpPr>
            <p:nvPr/>
          </p:nvSpPr>
          <p:spPr bwMode="auto">
            <a:xfrm flipV="1">
              <a:off x="3581400" y="1524000"/>
              <a:ext cx="1219200" cy="298467"/>
            </a:xfrm>
            <a:prstGeom prst="line">
              <a:avLst/>
            </a:prstGeom>
            <a:noFill/>
            <a:ln w="9525">
              <a:solidFill>
                <a:schemeClr val="tx1"/>
              </a:solidFill>
              <a:round/>
              <a:headEnd/>
              <a:tailEnd type="triangle" w="med" len="med"/>
            </a:ln>
          </p:spPr>
          <p:txBody>
            <a:bodyPr wrap="none" anchor="ctr"/>
            <a:lstStyle/>
            <a:p>
              <a:endParaRPr lang="bg-BG"/>
            </a:p>
          </p:txBody>
        </p:sp>
        <p:sp>
          <p:nvSpPr>
            <p:cNvPr id="51227" name="Line 49"/>
            <p:cNvSpPr>
              <a:spLocks noChangeShapeType="1"/>
            </p:cNvSpPr>
            <p:nvPr/>
          </p:nvSpPr>
          <p:spPr bwMode="auto">
            <a:xfrm>
              <a:off x="3581400" y="2362200"/>
              <a:ext cx="1295400" cy="373083"/>
            </a:xfrm>
            <a:prstGeom prst="line">
              <a:avLst/>
            </a:prstGeom>
            <a:noFill/>
            <a:ln w="9525">
              <a:solidFill>
                <a:schemeClr val="tx1"/>
              </a:solidFill>
              <a:round/>
              <a:headEnd/>
              <a:tailEnd type="triangle" w="med" len="med"/>
            </a:ln>
          </p:spPr>
          <p:txBody>
            <a:bodyPr wrap="none" anchor="ctr"/>
            <a:lstStyle/>
            <a:p>
              <a:endParaRPr lang="bg-BG"/>
            </a:p>
          </p:txBody>
        </p:sp>
        <p:sp>
          <p:nvSpPr>
            <p:cNvPr id="51228" name="Line 50"/>
            <p:cNvSpPr>
              <a:spLocks noChangeShapeType="1"/>
            </p:cNvSpPr>
            <p:nvPr/>
          </p:nvSpPr>
          <p:spPr bwMode="auto">
            <a:xfrm flipH="1">
              <a:off x="4495800" y="4038600"/>
              <a:ext cx="1143000" cy="522317"/>
            </a:xfrm>
            <a:prstGeom prst="line">
              <a:avLst/>
            </a:prstGeom>
            <a:noFill/>
            <a:ln w="9525">
              <a:solidFill>
                <a:schemeClr val="tx1"/>
              </a:solidFill>
              <a:round/>
              <a:headEnd/>
              <a:tailEnd type="triangle" w="med" len="med"/>
            </a:ln>
          </p:spPr>
          <p:txBody>
            <a:bodyPr wrap="none" anchor="ctr"/>
            <a:lstStyle/>
            <a:p>
              <a:endParaRPr lang="bg-BG"/>
            </a:p>
          </p:txBody>
        </p:sp>
        <p:sp>
          <p:nvSpPr>
            <p:cNvPr id="51229" name="Oval 52"/>
            <p:cNvSpPr>
              <a:spLocks noChangeArrowheads="1"/>
            </p:cNvSpPr>
            <p:nvPr/>
          </p:nvSpPr>
          <p:spPr bwMode="auto">
            <a:xfrm>
              <a:off x="1830388" y="4203700"/>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30" name="Oval 53"/>
            <p:cNvSpPr>
              <a:spLocks noChangeArrowheads="1"/>
            </p:cNvSpPr>
            <p:nvPr/>
          </p:nvSpPr>
          <p:spPr bwMode="auto">
            <a:xfrm>
              <a:off x="1143000" y="4856164"/>
              <a:ext cx="469900" cy="424382"/>
            </a:xfrm>
            <a:prstGeom prst="ellipse">
              <a:avLst/>
            </a:prstGeom>
            <a:solidFill>
              <a:srgbClr val="FFFFFF"/>
            </a:solidFill>
            <a:ln w="9525">
              <a:solidFill>
                <a:srgbClr val="000000"/>
              </a:solidFill>
              <a:round/>
              <a:headEnd/>
              <a:tailEnd/>
            </a:ln>
          </p:spPr>
          <p:txBody>
            <a:bodyPr/>
            <a:lstStyle/>
            <a:p>
              <a:endParaRPr lang="bg-BG"/>
            </a:p>
          </p:txBody>
        </p:sp>
        <p:sp>
          <p:nvSpPr>
            <p:cNvPr id="51231" name="Oval 54"/>
            <p:cNvSpPr>
              <a:spLocks noChangeArrowheads="1"/>
            </p:cNvSpPr>
            <p:nvPr/>
          </p:nvSpPr>
          <p:spPr bwMode="auto">
            <a:xfrm>
              <a:off x="2554288" y="4856164"/>
              <a:ext cx="469900" cy="424382"/>
            </a:xfrm>
            <a:prstGeom prst="ellipse">
              <a:avLst/>
            </a:prstGeom>
            <a:solidFill>
              <a:srgbClr val="FFFFFF"/>
            </a:solidFill>
            <a:ln w="9525">
              <a:solidFill>
                <a:srgbClr val="000000"/>
              </a:solidFill>
              <a:round/>
              <a:headEnd/>
              <a:tailEnd/>
            </a:ln>
          </p:spPr>
          <p:txBody>
            <a:bodyPr/>
            <a:lstStyle/>
            <a:p>
              <a:endParaRPr lang="bg-BG"/>
            </a:p>
          </p:txBody>
        </p:sp>
        <p:sp>
          <p:nvSpPr>
            <p:cNvPr id="51232" name="Oval 55"/>
            <p:cNvSpPr>
              <a:spLocks noChangeArrowheads="1"/>
            </p:cNvSpPr>
            <p:nvPr/>
          </p:nvSpPr>
          <p:spPr bwMode="auto">
            <a:xfrm>
              <a:off x="1524000" y="5486400"/>
              <a:ext cx="469900" cy="425937"/>
            </a:xfrm>
            <a:prstGeom prst="ellipse">
              <a:avLst/>
            </a:prstGeom>
            <a:solidFill>
              <a:srgbClr val="FFFFFF"/>
            </a:solidFill>
            <a:ln w="9525">
              <a:solidFill>
                <a:srgbClr val="000000"/>
              </a:solidFill>
              <a:round/>
              <a:headEnd/>
              <a:tailEnd/>
            </a:ln>
          </p:spPr>
          <p:txBody>
            <a:bodyPr/>
            <a:lstStyle/>
            <a:p>
              <a:endParaRPr lang="bg-BG"/>
            </a:p>
          </p:txBody>
        </p:sp>
        <p:sp>
          <p:nvSpPr>
            <p:cNvPr id="51233" name="Line 57"/>
            <p:cNvSpPr>
              <a:spLocks noChangeShapeType="1"/>
            </p:cNvSpPr>
            <p:nvPr/>
          </p:nvSpPr>
          <p:spPr bwMode="auto">
            <a:xfrm flipH="1">
              <a:off x="1541462" y="4565650"/>
              <a:ext cx="325437" cy="318676"/>
            </a:xfrm>
            <a:prstGeom prst="line">
              <a:avLst/>
            </a:prstGeom>
            <a:noFill/>
            <a:ln w="9525">
              <a:solidFill>
                <a:srgbClr val="000000"/>
              </a:solidFill>
              <a:round/>
              <a:headEnd/>
              <a:tailEnd type="triangle" w="med" len="med"/>
            </a:ln>
          </p:spPr>
          <p:txBody>
            <a:bodyPr/>
            <a:lstStyle/>
            <a:p>
              <a:endParaRPr lang="bg-BG"/>
            </a:p>
          </p:txBody>
        </p:sp>
        <p:sp>
          <p:nvSpPr>
            <p:cNvPr id="51234" name="Line 58"/>
            <p:cNvSpPr>
              <a:spLocks noChangeShapeType="1"/>
            </p:cNvSpPr>
            <p:nvPr/>
          </p:nvSpPr>
          <p:spPr bwMode="auto">
            <a:xfrm>
              <a:off x="2228850" y="4565650"/>
              <a:ext cx="433388" cy="318676"/>
            </a:xfrm>
            <a:prstGeom prst="line">
              <a:avLst/>
            </a:prstGeom>
            <a:noFill/>
            <a:ln w="9525">
              <a:solidFill>
                <a:srgbClr val="000000"/>
              </a:solidFill>
              <a:round/>
              <a:headEnd/>
              <a:tailEnd type="triangle" w="med" len="med"/>
            </a:ln>
          </p:spPr>
          <p:txBody>
            <a:bodyPr/>
            <a:lstStyle/>
            <a:p>
              <a:endParaRPr lang="bg-BG"/>
            </a:p>
          </p:txBody>
        </p:sp>
        <p:sp>
          <p:nvSpPr>
            <p:cNvPr id="51235" name="Text Box 61"/>
            <p:cNvSpPr txBox="1">
              <a:spLocks noChangeArrowheads="1"/>
            </p:cNvSpPr>
            <p:nvPr/>
          </p:nvSpPr>
          <p:spPr bwMode="auto">
            <a:xfrm>
              <a:off x="1824038" y="4191000"/>
              <a:ext cx="690562" cy="461665"/>
            </a:xfrm>
            <a:prstGeom prst="rect">
              <a:avLst/>
            </a:prstGeom>
            <a:noFill/>
            <a:ln w="9525">
              <a:noFill/>
              <a:miter lim="800000"/>
              <a:headEnd/>
              <a:tailEnd/>
            </a:ln>
          </p:spPr>
          <p:txBody>
            <a:bodyPr wrap="square">
              <a:spAutoFit/>
            </a:bodyPr>
            <a:lstStyle/>
            <a:p>
              <a:pPr>
                <a:spcBef>
                  <a:spcPct val="50000"/>
                </a:spcBef>
              </a:pPr>
              <a:r>
                <a:rPr lang="bg-BG"/>
                <a:t>10</a:t>
              </a:r>
              <a:endParaRPr lang="en-US"/>
            </a:p>
          </p:txBody>
        </p:sp>
        <p:sp>
          <p:nvSpPr>
            <p:cNvPr id="51236" name="Text Box 62"/>
            <p:cNvSpPr txBox="1">
              <a:spLocks noChangeArrowheads="1"/>
            </p:cNvSpPr>
            <p:nvPr/>
          </p:nvSpPr>
          <p:spPr bwMode="auto">
            <a:xfrm>
              <a:off x="1600200" y="5486400"/>
              <a:ext cx="381000" cy="461665"/>
            </a:xfrm>
            <a:prstGeom prst="rect">
              <a:avLst/>
            </a:prstGeom>
            <a:noFill/>
            <a:ln w="9525">
              <a:noFill/>
              <a:miter lim="800000"/>
              <a:headEnd/>
              <a:tailEnd/>
            </a:ln>
          </p:spPr>
          <p:txBody>
            <a:bodyPr wrap="square">
              <a:spAutoFit/>
            </a:bodyPr>
            <a:lstStyle/>
            <a:p>
              <a:pPr>
                <a:spcBef>
                  <a:spcPct val="50000"/>
                </a:spcBef>
              </a:pPr>
              <a:r>
                <a:rPr lang="bg-BG"/>
                <a:t>9</a:t>
              </a:r>
              <a:endParaRPr lang="en-US"/>
            </a:p>
          </p:txBody>
        </p:sp>
        <p:sp>
          <p:nvSpPr>
            <p:cNvPr id="51237" name="Text Box 63"/>
            <p:cNvSpPr txBox="1">
              <a:spLocks noChangeArrowheads="1"/>
            </p:cNvSpPr>
            <p:nvPr/>
          </p:nvSpPr>
          <p:spPr bwMode="auto">
            <a:xfrm>
              <a:off x="2535238" y="4838700"/>
              <a:ext cx="571500" cy="461665"/>
            </a:xfrm>
            <a:prstGeom prst="rect">
              <a:avLst/>
            </a:prstGeom>
            <a:noFill/>
            <a:ln w="9525">
              <a:noFill/>
              <a:miter lim="800000"/>
              <a:headEnd/>
              <a:tailEnd/>
            </a:ln>
          </p:spPr>
          <p:txBody>
            <a:bodyPr wrap="square">
              <a:spAutoFit/>
            </a:bodyPr>
            <a:lstStyle/>
            <a:p>
              <a:pPr>
                <a:spcBef>
                  <a:spcPct val="50000"/>
                </a:spcBef>
              </a:pPr>
              <a:r>
                <a:rPr lang="bg-BG"/>
                <a:t>11</a:t>
              </a:r>
              <a:endParaRPr lang="en-US"/>
            </a:p>
          </p:txBody>
        </p:sp>
        <p:sp>
          <p:nvSpPr>
            <p:cNvPr id="51238" name="Text Box 65"/>
            <p:cNvSpPr txBox="1">
              <a:spLocks noChangeArrowheads="1"/>
            </p:cNvSpPr>
            <p:nvPr/>
          </p:nvSpPr>
          <p:spPr bwMode="auto">
            <a:xfrm>
              <a:off x="1201738" y="4838700"/>
              <a:ext cx="381000" cy="461665"/>
            </a:xfrm>
            <a:prstGeom prst="rect">
              <a:avLst/>
            </a:prstGeom>
            <a:noFill/>
            <a:ln w="9525">
              <a:noFill/>
              <a:miter lim="800000"/>
              <a:headEnd/>
              <a:tailEnd/>
            </a:ln>
          </p:spPr>
          <p:txBody>
            <a:bodyPr wrap="square">
              <a:spAutoFit/>
            </a:bodyPr>
            <a:lstStyle/>
            <a:p>
              <a:pPr>
                <a:spcBef>
                  <a:spcPct val="50000"/>
                </a:spcBef>
              </a:pPr>
              <a:r>
                <a:rPr lang="bg-BG"/>
                <a:t>3</a:t>
              </a:r>
              <a:endParaRPr lang="en-US"/>
            </a:p>
          </p:txBody>
        </p:sp>
        <p:sp>
          <p:nvSpPr>
            <p:cNvPr id="51239" name="Line 66"/>
            <p:cNvSpPr>
              <a:spLocks noChangeShapeType="1"/>
            </p:cNvSpPr>
            <p:nvPr/>
          </p:nvSpPr>
          <p:spPr bwMode="auto">
            <a:xfrm>
              <a:off x="1511300" y="5295900"/>
              <a:ext cx="152400" cy="223850"/>
            </a:xfrm>
            <a:prstGeom prst="line">
              <a:avLst/>
            </a:prstGeom>
            <a:noFill/>
            <a:ln w="9525">
              <a:solidFill>
                <a:schemeClr val="tx1"/>
              </a:solidFill>
              <a:round/>
              <a:headEnd/>
              <a:tailEnd type="triangle" w="med" len="med"/>
            </a:ln>
          </p:spPr>
          <p:txBody>
            <a:bodyPr wrap="none" anchor="ctr"/>
            <a:lstStyle/>
            <a:p>
              <a:endParaRPr lang="bg-BG"/>
            </a:p>
          </p:txBody>
        </p:sp>
        <p:sp>
          <p:nvSpPr>
            <p:cNvPr id="51240" name="Text Box 67"/>
            <p:cNvSpPr txBox="1">
              <a:spLocks noChangeArrowheads="1"/>
            </p:cNvSpPr>
            <p:nvPr/>
          </p:nvSpPr>
          <p:spPr bwMode="auto">
            <a:xfrm>
              <a:off x="3505200" y="4876800"/>
              <a:ext cx="3962400" cy="461665"/>
            </a:xfrm>
            <a:prstGeom prst="rect">
              <a:avLst/>
            </a:prstGeom>
            <a:noFill/>
            <a:ln w="9525">
              <a:noFill/>
              <a:miter lim="800000"/>
              <a:headEnd/>
              <a:tailEnd/>
            </a:ln>
          </p:spPr>
          <p:txBody>
            <a:bodyPr wrap="square">
              <a:spAutoFit/>
            </a:bodyPr>
            <a:lstStyle/>
            <a:p>
              <a:pPr>
                <a:spcBef>
                  <a:spcPct val="50000"/>
                </a:spcBef>
              </a:pPr>
              <a:r>
                <a:rPr lang="bg-BG"/>
                <a:t>балансиране (от какъв тип?)</a:t>
              </a:r>
              <a:endParaRPr lang="en-US"/>
            </a:p>
          </p:txBody>
        </p:sp>
      </p:grpSp>
      <p:sp>
        <p:nvSpPr>
          <p:cNvPr id="51241" name="Text Box 68"/>
          <p:cNvSpPr txBox="1">
            <a:spLocks noChangeArrowheads="1"/>
          </p:cNvSpPr>
          <p:nvPr/>
        </p:nvSpPr>
        <p:spPr bwMode="auto">
          <a:xfrm>
            <a:off x="7086600" y="6172200"/>
            <a:ext cx="1371600" cy="457200"/>
          </a:xfrm>
          <a:prstGeom prst="rect">
            <a:avLst/>
          </a:prstGeom>
          <a:noFill/>
          <a:ln w="9525">
            <a:noFill/>
            <a:miter lim="800000"/>
            <a:headEnd/>
            <a:tailEnd/>
          </a:ln>
        </p:spPr>
        <p:txBody>
          <a:bodyPr>
            <a:spAutoFit/>
          </a:bodyPr>
          <a:lstStyle/>
          <a:p>
            <a:pPr>
              <a:spcBef>
                <a:spcPct val="50000"/>
              </a:spcBef>
            </a:pPr>
            <a:r>
              <a:rPr lang="bg-BG"/>
              <a:t>и т. н.</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971600" y="260648"/>
            <a:ext cx="7943800" cy="6248400"/>
          </a:xfrm>
        </p:spPr>
        <p:txBody>
          <a:bodyPr>
            <a:normAutofit fontScale="90000"/>
          </a:bodyPr>
          <a:lstStyle/>
          <a:p>
            <a:pPr eaLnBrk="1" fontAlgn="auto" hangingPunct="1">
              <a:spcAft>
                <a:spcPts val="0"/>
              </a:spcAft>
              <a:defRPr/>
            </a:pPr>
            <a:r>
              <a:rPr lang="bg-BG" sz="2800">
                <a:solidFill>
                  <a:schemeClr val="tx2">
                    <a:satMod val="130000"/>
                  </a:schemeClr>
                </a:solidFill>
              </a:rPr>
              <a:t>	</a:t>
            </a:r>
            <a:r>
              <a:rPr lang="bg-BG" sz="2800">
                <a:solidFill>
                  <a:schemeClr val="tx1"/>
                </a:solidFill>
              </a:rPr>
              <a:t>Статично представяне на дървовидни 			</a:t>
            </a:r>
            <a:r>
              <a:rPr lang="en-US" sz="2800">
                <a:solidFill>
                  <a:schemeClr val="tx1"/>
                </a:solidFill>
              </a:rPr>
              <a:t>         </a:t>
            </a:r>
            <a:r>
              <a:rPr lang="bg-BG" sz="2800">
                <a:solidFill>
                  <a:schemeClr val="tx1"/>
                </a:solidFill>
              </a:rPr>
              <a:t>структури (двоично дърво)</a:t>
            </a:r>
            <a:r>
              <a:rPr lang="en-US" sz="2800">
                <a:solidFill>
                  <a:schemeClr val="tx1"/>
                </a:solidFill>
              </a:rPr>
              <a:t/>
            </a:r>
            <a:br>
              <a:rPr lang="en-US" sz="2800">
                <a:solidFill>
                  <a:schemeClr val="tx1"/>
                </a:solidFill>
              </a:rPr>
            </a:br>
            <a:r>
              <a:rPr lang="en-US" sz="2800">
                <a:solidFill>
                  <a:schemeClr val="tx1"/>
                </a:solidFill>
              </a:rPr>
              <a:t>	</a:t>
            </a:r>
            <a:r>
              <a:rPr lang="bg-BG" sz="2000">
                <a:solidFill>
                  <a:schemeClr val="tx1"/>
                </a:solidFill>
              </a:rPr>
              <a:t>Ако дървото е пълно (съдържа </a:t>
            </a:r>
            <a:r>
              <a:rPr lang="en-US" sz="2000">
                <a:solidFill>
                  <a:schemeClr val="tx1"/>
                </a:solidFill>
              </a:rPr>
              <a:t>(</a:t>
            </a:r>
            <a:r>
              <a:rPr lang="bg-BG" sz="2400">
                <a:solidFill>
                  <a:schemeClr val="tx1"/>
                </a:solidFill>
              </a:rPr>
              <a:t>2</a:t>
            </a:r>
            <a:r>
              <a:rPr lang="en-US" sz="2400" b="1" baseline="30000">
                <a:solidFill>
                  <a:schemeClr val="tx1"/>
                </a:solidFill>
              </a:rPr>
              <a:t>h</a:t>
            </a:r>
            <a:r>
              <a:rPr lang="bg-BG" sz="2400" b="1" baseline="30000">
                <a:solidFill>
                  <a:schemeClr val="tx1"/>
                </a:solidFill>
              </a:rPr>
              <a:t>+1</a:t>
            </a:r>
            <a:r>
              <a:rPr lang="en-US" sz="2000">
                <a:solidFill>
                  <a:schemeClr val="tx1"/>
                </a:solidFill>
              </a:rPr>
              <a:t> </a:t>
            </a:r>
            <a:r>
              <a:rPr lang="bg-BG" sz="2000">
                <a:solidFill>
                  <a:schemeClr val="tx1"/>
                </a:solidFill>
              </a:rPr>
              <a:t>– </a:t>
            </a:r>
            <a:r>
              <a:rPr lang="bg-BG" sz="2000" smtClean="0">
                <a:solidFill>
                  <a:schemeClr val="tx1"/>
                </a:solidFill>
              </a:rPr>
              <a:t>1</a:t>
            </a:r>
            <a:r>
              <a:rPr lang="en-US" sz="2000" smtClean="0">
                <a:solidFill>
                  <a:schemeClr val="tx1"/>
                </a:solidFill>
              </a:rPr>
              <a:t>)</a:t>
            </a:r>
            <a:r>
              <a:rPr lang="bg-BG" sz="2000" smtClean="0">
                <a:solidFill>
                  <a:schemeClr val="tx1"/>
                </a:solidFill>
              </a:rPr>
              <a:t> </a:t>
            </a:r>
            <a:r>
              <a:rPr lang="bg-BG" sz="2000">
                <a:solidFill>
                  <a:schemeClr val="tx1"/>
                </a:solidFill>
              </a:rPr>
              <a:t>елементи, </a:t>
            </a:r>
            <a:r>
              <a:rPr lang="bg-BG" sz="2400">
                <a:solidFill>
                  <a:schemeClr val="tx1"/>
                </a:solidFill>
              </a:rPr>
              <a:t>2</a:t>
            </a:r>
            <a:r>
              <a:rPr lang="en-US" sz="2400" b="1" baseline="30000">
                <a:solidFill>
                  <a:schemeClr val="tx1"/>
                </a:solidFill>
              </a:rPr>
              <a:t>i</a:t>
            </a:r>
            <a:r>
              <a:rPr lang="en-US" sz="2000">
                <a:solidFill>
                  <a:schemeClr val="tx1"/>
                </a:solidFill>
              </a:rPr>
              <a:t> </a:t>
            </a:r>
            <a:r>
              <a:rPr lang="bg-BG" sz="2000">
                <a:solidFill>
                  <a:schemeClr val="tx1"/>
                </a:solidFill>
              </a:rPr>
              <a:t>на </a:t>
            </a:r>
            <a:r>
              <a:rPr lang="en-US" sz="2000">
                <a:solidFill>
                  <a:schemeClr val="tx1"/>
                </a:solidFill>
              </a:rPr>
              <a:t>i</a:t>
            </a:r>
            <a:r>
              <a:rPr lang="bg-BG" sz="2000">
                <a:solidFill>
                  <a:schemeClr val="tx1"/>
                </a:solidFill>
              </a:rPr>
              <a:t>-то ниво, </a:t>
            </a:r>
            <a:r>
              <a:rPr lang="en-US" sz="2000">
                <a:solidFill>
                  <a:schemeClr val="tx1"/>
                </a:solidFill>
              </a:rPr>
              <a:t>h</a:t>
            </a:r>
            <a:r>
              <a:rPr lang="bg-BG" sz="2000">
                <a:solidFill>
                  <a:schemeClr val="tx1"/>
                </a:solidFill>
              </a:rPr>
              <a:t> е височина на дървото, започва от 0 ниво), елементите му могат да се запишат в масив:</a:t>
            </a:r>
            <a:br>
              <a:rPr lang="bg-BG" sz="2000">
                <a:solidFill>
                  <a:schemeClr val="tx1"/>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2">
                    <a:satMod val="130000"/>
                  </a:schemeClr>
                </a:solidFill>
              </a:rPr>
              <a:t/>
            </a:r>
            <a:br>
              <a:rPr lang="bg-BG" sz="2000">
                <a:solidFill>
                  <a:schemeClr val="tx2">
                    <a:satMod val="130000"/>
                  </a:schemeClr>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a:r>
            <a:br>
              <a:rPr lang="bg-BG" sz="2000">
                <a:solidFill>
                  <a:schemeClr val="tx1"/>
                </a:solidFill>
              </a:rPr>
            </a:br>
            <a:r>
              <a:rPr lang="en-US" sz="1900">
                <a:solidFill>
                  <a:schemeClr val="tx1"/>
                </a:solidFill>
              </a:rPr>
              <a:t>Arr[i]      0       1       2      3     4     5     6     7     8     9     10    11    12    </a:t>
            </a:r>
            <a:r>
              <a:rPr lang="en-US" sz="1900" smtClean="0">
                <a:solidFill>
                  <a:schemeClr val="tx1"/>
                </a:solidFill>
              </a:rPr>
              <a:t>13     </a:t>
            </a:r>
            <a:r>
              <a:rPr lang="en-US" sz="1900">
                <a:solidFill>
                  <a:schemeClr val="tx1"/>
                </a:solidFill>
              </a:rPr>
              <a:t>14    </a:t>
            </a:r>
            <a:br>
              <a:rPr lang="en-US" sz="1900">
                <a:solidFill>
                  <a:schemeClr val="tx1"/>
                </a:solidFill>
              </a:rPr>
            </a:br>
            <a:r>
              <a:rPr lang="en-US" sz="1900">
                <a:solidFill>
                  <a:schemeClr val="tx1"/>
                </a:solidFill>
              </a:rPr>
              <a:t>               A      B      C      D    E     F    </a:t>
            </a:r>
            <a:r>
              <a:rPr lang="en-US" sz="1900" smtClean="0">
                <a:solidFill>
                  <a:schemeClr val="tx1"/>
                </a:solidFill>
              </a:rPr>
              <a:t> G    </a:t>
            </a:r>
            <a:r>
              <a:rPr lang="en-US" sz="1900">
                <a:solidFill>
                  <a:schemeClr val="tx1"/>
                </a:solidFill>
              </a:rPr>
              <a:t>H     L    M     N     O     P      R        S   </a:t>
            </a: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bg-BG" sz="2000">
                <a:solidFill>
                  <a:schemeClr val="tx1"/>
                </a:solidFill>
              </a:rPr>
              <a:t>ляв син на </a:t>
            </a:r>
            <a:r>
              <a:rPr lang="en-US" sz="2000">
                <a:solidFill>
                  <a:schemeClr val="tx1"/>
                </a:solidFill>
              </a:rPr>
              <a:t>Arr[i] -</a:t>
            </a:r>
            <a:r>
              <a:rPr lang="bg-BG" sz="2000">
                <a:solidFill>
                  <a:schemeClr val="tx1"/>
                </a:solidFill>
              </a:rPr>
              <a:t>&gt;</a:t>
            </a:r>
            <a:r>
              <a:rPr lang="en-US" sz="2000">
                <a:solidFill>
                  <a:schemeClr val="tx1"/>
                </a:solidFill>
              </a:rPr>
              <a:t> Arr[2i</a:t>
            </a:r>
            <a:r>
              <a:rPr lang="bg-BG" sz="2000">
                <a:solidFill>
                  <a:schemeClr val="tx1"/>
                </a:solidFill>
              </a:rPr>
              <a:t>+1</a:t>
            </a:r>
            <a:r>
              <a:rPr lang="en-US" sz="2000">
                <a:solidFill>
                  <a:schemeClr val="tx1"/>
                </a:solidFill>
              </a:rPr>
              <a:t>]	   	</a:t>
            </a:r>
            <a:r>
              <a:rPr lang="bg-BG" sz="2000">
                <a:solidFill>
                  <a:schemeClr val="tx1"/>
                </a:solidFill>
              </a:rPr>
              <a:t>десен син на </a:t>
            </a:r>
            <a:r>
              <a:rPr lang="en-US" sz="2000">
                <a:solidFill>
                  <a:schemeClr val="tx1"/>
                </a:solidFill>
              </a:rPr>
              <a:t>Arr[i] -</a:t>
            </a:r>
            <a:r>
              <a:rPr lang="bg-BG" sz="2000">
                <a:solidFill>
                  <a:schemeClr val="tx1"/>
                </a:solidFill>
              </a:rPr>
              <a:t>&gt;</a:t>
            </a:r>
            <a:r>
              <a:rPr lang="en-US" sz="2000">
                <a:solidFill>
                  <a:schemeClr val="tx1"/>
                </a:solidFill>
              </a:rPr>
              <a:t> Arr[2</a:t>
            </a:r>
            <a:r>
              <a:rPr lang="bg-BG" sz="2000">
                <a:solidFill>
                  <a:schemeClr val="tx1"/>
                </a:solidFill>
              </a:rPr>
              <a:t>*(</a:t>
            </a:r>
            <a:r>
              <a:rPr lang="en-US" sz="2000">
                <a:solidFill>
                  <a:schemeClr val="tx1"/>
                </a:solidFill>
              </a:rPr>
              <a:t>i+</a:t>
            </a:r>
            <a:r>
              <a:rPr lang="en-US" sz="2000">
                <a:solidFill>
                  <a:schemeClr val="tx1"/>
                </a:solidFill>
                <a:latin typeface="Corbel" pitchFamily="34" charset="0"/>
              </a:rPr>
              <a:t>1</a:t>
            </a:r>
            <a:r>
              <a:rPr lang="bg-BG" sz="2000">
                <a:solidFill>
                  <a:schemeClr val="tx1"/>
                </a:solidFill>
              </a:rPr>
              <a:t>)</a:t>
            </a:r>
            <a:r>
              <a:rPr lang="en-US" sz="2000">
                <a:solidFill>
                  <a:schemeClr val="tx1"/>
                </a:solidFill>
              </a:rPr>
              <a:t>]    </a:t>
            </a:r>
            <a:br>
              <a:rPr lang="en-US" sz="2000">
                <a:solidFill>
                  <a:schemeClr val="tx1"/>
                </a:solidFill>
              </a:rPr>
            </a:br>
            <a:r>
              <a:rPr lang="en-US" sz="2000">
                <a:solidFill>
                  <a:schemeClr val="tx1"/>
                </a:solidFill>
              </a:rPr>
              <a:t>                                             </a:t>
            </a:r>
            <a:r>
              <a:rPr lang="bg-BG" sz="2000">
                <a:solidFill>
                  <a:schemeClr val="tx1"/>
                </a:solidFill>
              </a:rPr>
              <a:t>родител на </a:t>
            </a:r>
            <a:r>
              <a:rPr lang="en-US" sz="2000">
                <a:solidFill>
                  <a:schemeClr val="tx1"/>
                </a:solidFill>
              </a:rPr>
              <a:t>Arr[i]-</a:t>
            </a:r>
            <a:r>
              <a:rPr lang="bg-BG" sz="2000">
                <a:solidFill>
                  <a:schemeClr val="tx1"/>
                </a:solidFill>
              </a:rPr>
              <a:t>&gt;</a:t>
            </a:r>
            <a:r>
              <a:rPr lang="en-US" sz="2000">
                <a:solidFill>
                  <a:schemeClr val="tx1"/>
                </a:solidFill>
              </a:rPr>
              <a:t> Arr[(i-</a:t>
            </a:r>
            <a:r>
              <a:rPr lang="bg-BG" sz="2000">
                <a:solidFill>
                  <a:schemeClr val="tx1"/>
                </a:solidFill>
              </a:rPr>
              <a:t>1</a:t>
            </a:r>
            <a:r>
              <a:rPr lang="en-US" sz="2000">
                <a:solidFill>
                  <a:schemeClr val="tx1"/>
                </a:solidFill>
              </a:rPr>
              <a:t>) /2]   </a:t>
            </a:r>
            <a:r>
              <a:rPr lang="bg-BG" sz="2000">
                <a:solidFill>
                  <a:schemeClr val="tx1"/>
                </a:solidFill>
              </a:rPr>
              <a:t/>
            </a:r>
            <a:br>
              <a:rPr lang="bg-BG" sz="2000">
                <a:solidFill>
                  <a:schemeClr val="tx1"/>
                </a:solidFill>
              </a:rPr>
            </a:br>
            <a:endParaRPr lang="en-US" sz="2000">
              <a:solidFill>
                <a:schemeClr val="tx1"/>
              </a:solidFill>
            </a:endParaRPr>
          </a:p>
        </p:txBody>
      </p:sp>
      <p:grpSp>
        <p:nvGrpSpPr>
          <p:cNvPr id="52227" name="Group 65"/>
          <p:cNvGrpSpPr>
            <a:grpSpLocks/>
          </p:cNvGrpSpPr>
          <p:nvPr/>
        </p:nvGrpSpPr>
        <p:grpSpPr bwMode="auto">
          <a:xfrm>
            <a:off x="2133600" y="2133600"/>
            <a:ext cx="4394200" cy="2266950"/>
            <a:chOff x="1344" y="1344"/>
            <a:chExt cx="2768" cy="1428"/>
          </a:xfrm>
        </p:grpSpPr>
        <p:grpSp>
          <p:nvGrpSpPr>
            <p:cNvPr id="52228" name="Group 64"/>
            <p:cNvGrpSpPr>
              <a:grpSpLocks/>
            </p:cNvGrpSpPr>
            <p:nvPr/>
          </p:nvGrpSpPr>
          <p:grpSpPr bwMode="auto">
            <a:xfrm>
              <a:off x="1344" y="1344"/>
              <a:ext cx="2688" cy="1428"/>
              <a:chOff x="720" y="1584"/>
              <a:chExt cx="2688" cy="1428"/>
            </a:xfrm>
          </p:grpSpPr>
          <p:sp>
            <p:nvSpPr>
              <p:cNvPr id="52244" name="Oval 14"/>
              <p:cNvSpPr>
                <a:spLocks noChangeArrowheads="1"/>
              </p:cNvSpPr>
              <p:nvPr/>
            </p:nvSpPr>
            <p:spPr bwMode="auto">
              <a:xfrm>
                <a:off x="1907" y="1584"/>
                <a:ext cx="287" cy="303"/>
              </a:xfrm>
              <a:prstGeom prst="ellipse">
                <a:avLst/>
              </a:prstGeom>
              <a:noFill/>
              <a:ln w="9525">
                <a:solidFill>
                  <a:srgbClr val="000000"/>
                </a:solidFill>
                <a:round/>
                <a:headEnd/>
                <a:tailEnd/>
              </a:ln>
            </p:spPr>
            <p:txBody>
              <a:bodyPr wrap="none" anchor="ctr"/>
              <a:lstStyle/>
              <a:p>
                <a:endParaRPr lang="bg-BG"/>
              </a:p>
            </p:txBody>
          </p:sp>
          <p:grpSp>
            <p:nvGrpSpPr>
              <p:cNvPr id="52245" name="Group 15"/>
              <p:cNvGrpSpPr>
                <a:grpSpLocks/>
              </p:cNvGrpSpPr>
              <p:nvPr/>
            </p:nvGrpSpPr>
            <p:grpSpPr bwMode="auto">
              <a:xfrm>
                <a:off x="720" y="1814"/>
                <a:ext cx="1319" cy="1198"/>
                <a:chOff x="2022" y="4446"/>
                <a:chExt cx="2756" cy="2370"/>
              </a:xfrm>
            </p:grpSpPr>
            <p:sp>
              <p:nvSpPr>
                <p:cNvPr id="52261" name="Oval 16"/>
                <p:cNvSpPr>
                  <a:spLocks noChangeArrowheads="1"/>
                </p:cNvSpPr>
                <p:nvPr/>
              </p:nvSpPr>
              <p:spPr bwMode="auto">
                <a:xfrm>
                  <a:off x="3078" y="4731"/>
                  <a:ext cx="600" cy="600"/>
                </a:xfrm>
                <a:prstGeom prst="ellipse">
                  <a:avLst/>
                </a:prstGeom>
                <a:noFill/>
                <a:ln w="9525">
                  <a:solidFill>
                    <a:srgbClr val="000000"/>
                  </a:solidFill>
                  <a:round/>
                  <a:headEnd/>
                  <a:tailEnd/>
                </a:ln>
              </p:spPr>
              <p:txBody>
                <a:bodyPr wrap="none" anchor="ctr"/>
                <a:lstStyle/>
                <a:p>
                  <a:endParaRPr lang="bg-BG"/>
                </a:p>
              </p:txBody>
            </p:sp>
            <p:sp>
              <p:nvSpPr>
                <p:cNvPr id="52262" name="Oval 17"/>
                <p:cNvSpPr>
                  <a:spLocks noChangeArrowheads="1"/>
                </p:cNvSpPr>
                <p:nvPr/>
              </p:nvSpPr>
              <p:spPr bwMode="auto">
                <a:xfrm>
                  <a:off x="2428" y="5472"/>
                  <a:ext cx="600" cy="600"/>
                </a:xfrm>
                <a:prstGeom prst="ellipse">
                  <a:avLst/>
                </a:prstGeom>
                <a:noFill/>
                <a:ln w="9525">
                  <a:solidFill>
                    <a:srgbClr val="000000"/>
                  </a:solidFill>
                  <a:round/>
                  <a:headEnd/>
                  <a:tailEnd/>
                </a:ln>
              </p:spPr>
              <p:txBody>
                <a:bodyPr wrap="none" anchor="ctr"/>
                <a:lstStyle/>
                <a:p>
                  <a:endParaRPr lang="bg-BG"/>
                </a:p>
              </p:txBody>
            </p:sp>
            <p:sp>
              <p:nvSpPr>
                <p:cNvPr id="52263" name="Oval 18"/>
                <p:cNvSpPr>
                  <a:spLocks noChangeArrowheads="1"/>
                </p:cNvSpPr>
                <p:nvPr/>
              </p:nvSpPr>
              <p:spPr bwMode="auto">
                <a:xfrm>
                  <a:off x="3742" y="5472"/>
                  <a:ext cx="600" cy="600"/>
                </a:xfrm>
                <a:prstGeom prst="ellipse">
                  <a:avLst/>
                </a:prstGeom>
                <a:noFill/>
                <a:ln w="9525">
                  <a:solidFill>
                    <a:srgbClr val="000000"/>
                  </a:solidFill>
                  <a:round/>
                  <a:headEnd/>
                  <a:tailEnd/>
                </a:ln>
              </p:spPr>
              <p:txBody>
                <a:bodyPr wrap="none" anchor="ctr"/>
                <a:lstStyle/>
                <a:p>
                  <a:endParaRPr lang="bg-BG"/>
                </a:p>
              </p:txBody>
            </p:sp>
            <p:sp>
              <p:nvSpPr>
                <p:cNvPr id="52264" name="Oval 19"/>
                <p:cNvSpPr>
                  <a:spLocks noChangeArrowheads="1"/>
                </p:cNvSpPr>
                <p:nvPr/>
              </p:nvSpPr>
              <p:spPr bwMode="auto">
                <a:xfrm>
                  <a:off x="2022" y="6213"/>
                  <a:ext cx="600" cy="600"/>
                </a:xfrm>
                <a:prstGeom prst="ellipse">
                  <a:avLst/>
                </a:prstGeom>
                <a:noFill/>
                <a:ln w="9525">
                  <a:solidFill>
                    <a:srgbClr val="000000"/>
                  </a:solidFill>
                  <a:round/>
                  <a:headEnd/>
                  <a:tailEnd/>
                </a:ln>
              </p:spPr>
              <p:txBody>
                <a:bodyPr wrap="none" anchor="ctr"/>
                <a:lstStyle/>
                <a:p>
                  <a:endParaRPr lang="bg-BG"/>
                </a:p>
              </p:txBody>
            </p:sp>
            <p:sp>
              <p:nvSpPr>
                <p:cNvPr id="52265" name="Oval 20"/>
                <p:cNvSpPr>
                  <a:spLocks noChangeArrowheads="1"/>
                </p:cNvSpPr>
                <p:nvPr/>
              </p:nvSpPr>
              <p:spPr bwMode="auto">
                <a:xfrm>
                  <a:off x="2753" y="6213"/>
                  <a:ext cx="600" cy="600"/>
                </a:xfrm>
                <a:prstGeom prst="ellipse">
                  <a:avLst/>
                </a:prstGeom>
                <a:noFill/>
                <a:ln w="9525">
                  <a:solidFill>
                    <a:srgbClr val="000000"/>
                  </a:solidFill>
                  <a:round/>
                  <a:headEnd/>
                  <a:tailEnd/>
                </a:ln>
              </p:spPr>
              <p:txBody>
                <a:bodyPr wrap="none" anchor="ctr"/>
                <a:lstStyle/>
                <a:p>
                  <a:endParaRPr lang="bg-BG"/>
                </a:p>
              </p:txBody>
            </p:sp>
            <p:sp>
              <p:nvSpPr>
                <p:cNvPr id="52266" name="Oval 21"/>
                <p:cNvSpPr>
                  <a:spLocks noChangeArrowheads="1"/>
                </p:cNvSpPr>
                <p:nvPr/>
              </p:nvSpPr>
              <p:spPr bwMode="auto">
                <a:xfrm>
                  <a:off x="3464" y="6216"/>
                  <a:ext cx="600" cy="600"/>
                </a:xfrm>
                <a:prstGeom prst="ellipse">
                  <a:avLst/>
                </a:prstGeom>
                <a:noFill/>
                <a:ln w="9525">
                  <a:solidFill>
                    <a:srgbClr val="000000"/>
                  </a:solidFill>
                  <a:round/>
                  <a:headEnd/>
                  <a:tailEnd/>
                </a:ln>
              </p:spPr>
              <p:txBody>
                <a:bodyPr wrap="none" anchor="ctr"/>
                <a:lstStyle/>
                <a:p>
                  <a:endParaRPr lang="bg-BG"/>
                </a:p>
              </p:txBody>
            </p:sp>
            <p:sp>
              <p:nvSpPr>
                <p:cNvPr id="52267" name="Oval 22"/>
                <p:cNvSpPr>
                  <a:spLocks noChangeArrowheads="1"/>
                </p:cNvSpPr>
                <p:nvPr/>
              </p:nvSpPr>
              <p:spPr bwMode="auto">
                <a:xfrm>
                  <a:off x="4178" y="6186"/>
                  <a:ext cx="600" cy="600"/>
                </a:xfrm>
                <a:prstGeom prst="ellipse">
                  <a:avLst/>
                </a:prstGeom>
                <a:noFill/>
                <a:ln w="9525">
                  <a:solidFill>
                    <a:srgbClr val="000000"/>
                  </a:solidFill>
                  <a:round/>
                  <a:headEnd/>
                  <a:tailEnd/>
                </a:ln>
              </p:spPr>
              <p:txBody>
                <a:bodyPr wrap="none" anchor="ctr"/>
                <a:lstStyle/>
                <a:p>
                  <a:endParaRPr lang="bg-BG"/>
                </a:p>
              </p:txBody>
            </p:sp>
            <p:sp>
              <p:nvSpPr>
                <p:cNvPr id="52268" name="Line 23"/>
                <p:cNvSpPr>
                  <a:spLocks noChangeShapeType="1"/>
                </p:cNvSpPr>
                <p:nvPr/>
              </p:nvSpPr>
              <p:spPr bwMode="auto">
                <a:xfrm flipH="1">
                  <a:off x="3648" y="4446"/>
                  <a:ext cx="912" cy="399"/>
                </a:xfrm>
                <a:prstGeom prst="line">
                  <a:avLst/>
                </a:prstGeom>
                <a:noFill/>
                <a:ln w="9525">
                  <a:solidFill>
                    <a:srgbClr val="000000"/>
                  </a:solidFill>
                  <a:round/>
                  <a:headEnd/>
                  <a:tailEnd type="triangle" w="med" len="med"/>
                </a:ln>
              </p:spPr>
              <p:txBody>
                <a:bodyPr/>
                <a:lstStyle/>
                <a:p>
                  <a:endParaRPr lang="bg-BG"/>
                </a:p>
              </p:txBody>
            </p:sp>
            <p:sp>
              <p:nvSpPr>
                <p:cNvPr id="52269" name="Line 24"/>
                <p:cNvSpPr>
                  <a:spLocks noChangeShapeType="1"/>
                </p:cNvSpPr>
                <p:nvPr/>
              </p:nvSpPr>
              <p:spPr bwMode="auto">
                <a:xfrm flipH="1">
                  <a:off x="2850" y="5244"/>
                  <a:ext cx="285" cy="228"/>
                </a:xfrm>
                <a:prstGeom prst="line">
                  <a:avLst/>
                </a:prstGeom>
                <a:noFill/>
                <a:ln w="9525">
                  <a:solidFill>
                    <a:srgbClr val="000000"/>
                  </a:solidFill>
                  <a:round/>
                  <a:headEnd/>
                  <a:tailEnd type="triangle" w="med" len="med"/>
                </a:ln>
              </p:spPr>
              <p:txBody>
                <a:bodyPr/>
                <a:lstStyle/>
                <a:p>
                  <a:endParaRPr lang="bg-BG"/>
                </a:p>
              </p:txBody>
            </p:sp>
            <p:sp>
              <p:nvSpPr>
                <p:cNvPr id="52270" name="Line 25"/>
                <p:cNvSpPr>
                  <a:spLocks noChangeShapeType="1"/>
                </p:cNvSpPr>
                <p:nvPr/>
              </p:nvSpPr>
              <p:spPr bwMode="auto">
                <a:xfrm>
                  <a:off x="3648" y="5187"/>
                  <a:ext cx="285" cy="285"/>
                </a:xfrm>
                <a:prstGeom prst="line">
                  <a:avLst/>
                </a:prstGeom>
                <a:noFill/>
                <a:ln w="9525">
                  <a:solidFill>
                    <a:srgbClr val="000000"/>
                  </a:solidFill>
                  <a:round/>
                  <a:headEnd/>
                  <a:tailEnd type="triangle" w="med" len="med"/>
                </a:ln>
              </p:spPr>
              <p:txBody>
                <a:bodyPr/>
                <a:lstStyle/>
                <a:p>
                  <a:endParaRPr lang="bg-BG"/>
                </a:p>
              </p:txBody>
            </p:sp>
            <p:sp>
              <p:nvSpPr>
                <p:cNvPr id="52271" name="Line 26"/>
                <p:cNvSpPr>
                  <a:spLocks noChangeShapeType="1"/>
                </p:cNvSpPr>
                <p:nvPr/>
              </p:nvSpPr>
              <p:spPr bwMode="auto">
                <a:xfrm flipH="1">
                  <a:off x="2451" y="6042"/>
                  <a:ext cx="114" cy="171"/>
                </a:xfrm>
                <a:prstGeom prst="line">
                  <a:avLst/>
                </a:prstGeom>
                <a:noFill/>
                <a:ln w="9525">
                  <a:solidFill>
                    <a:srgbClr val="000000"/>
                  </a:solidFill>
                  <a:round/>
                  <a:headEnd/>
                  <a:tailEnd type="triangle" w="med" len="med"/>
                </a:ln>
              </p:spPr>
              <p:txBody>
                <a:bodyPr/>
                <a:lstStyle/>
                <a:p>
                  <a:endParaRPr lang="bg-BG"/>
                </a:p>
              </p:txBody>
            </p:sp>
            <p:sp>
              <p:nvSpPr>
                <p:cNvPr id="52272" name="Line 27"/>
                <p:cNvSpPr>
                  <a:spLocks noChangeShapeType="1"/>
                </p:cNvSpPr>
                <p:nvPr/>
              </p:nvSpPr>
              <p:spPr bwMode="auto">
                <a:xfrm>
                  <a:off x="2850" y="6042"/>
                  <a:ext cx="114" cy="171"/>
                </a:xfrm>
                <a:prstGeom prst="line">
                  <a:avLst/>
                </a:prstGeom>
                <a:noFill/>
                <a:ln w="9525">
                  <a:solidFill>
                    <a:srgbClr val="000000"/>
                  </a:solidFill>
                  <a:round/>
                  <a:headEnd/>
                  <a:tailEnd type="triangle" w="med" len="med"/>
                </a:ln>
              </p:spPr>
              <p:txBody>
                <a:bodyPr/>
                <a:lstStyle/>
                <a:p>
                  <a:endParaRPr lang="bg-BG"/>
                </a:p>
              </p:txBody>
            </p:sp>
            <p:sp>
              <p:nvSpPr>
                <p:cNvPr id="52273" name="Line 28"/>
                <p:cNvSpPr>
                  <a:spLocks noChangeShapeType="1"/>
                </p:cNvSpPr>
                <p:nvPr/>
              </p:nvSpPr>
              <p:spPr bwMode="auto">
                <a:xfrm flipH="1">
                  <a:off x="3819" y="6042"/>
                  <a:ext cx="114" cy="171"/>
                </a:xfrm>
                <a:prstGeom prst="line">
                  <a:avLst/>
                </a:prstGeom>
                <a:noFill/>
                <a:ln w="9525">
                  <a:solidFill>
                    <a:srgbClr val="000000"/>
                  </a:solidFill>
                  <a:round/>
                  <a:headEnd/>
                  <a:tailEnd type="triangle" w="med" len="med"/>
                </a:ln>
              </p:spPr>
              <p:txBody>
                <a:bodyPr/>
                <a:lstStyle/>
                <a:p>
                  <a:endParaRPr lang="bg-BG"/>
                </a:p>
              </p:txBody>
            </p:sp>
            <p:sp>
              <p:nvSpPr>
                <p:cNvPr id="52274" name="Line 29"/>
                <p:cNvSpPr>
                  <a:spLocks noChangeShapeType="1"/>
                </p:cNvSpPr>
                <p:nvPr/>
              </p:nvSpPr>
              <p:spPr bwMode="auto">
                <a:xfrm>
                  <a:off x="4218" y="5985"/>
                  <a:ext cx="171" cy="171"/>
                </a:xfrm>
                <a:prstGeom prst="line">
                  <a:avLst/>
                </a:prstGeom>
                <a:noFill/>
                <a:ln w="9525">
                  <a:solidFill>
                    <a:srgbClr val="000000"/>
                  </a:solidFill>
                  <a:round/>
                  <a:headEnd/>
                  <a:tailEnd type="triangle" w="med" len="med"/>
                </a:ln>
              </p:spPr>
              <p:txBody>
                <a:bodyPr/>
                <a:lstStyle/>
                <a:p>
                  <a:endParaRPr lang="bg-BG"/>
                </a:p>
              </p:txBody>
            </p:sp>
          </p:grpSp>
          <p:sp>
            <p:nvSpPr>
              <p:cNvPr id="52246" name="Oval 30"/>
              <p:cNvSpPr>
                <a:spLocks noChangeArrowheads="1"/>
              </p:cNvSpPr>
              <p:nvPr/>
            </p:nvSpPr>
            <p:spPr bwMode="auto">
              <a:xfrm>
                <a:off x="2594" y="1952"/>
                <a:ext cx="288" cy="304"/>
              </a:xfrm>
              <a:prstGeom prst="ellipse">
                <a:avLst/>
              </a:prstGeom>
              <a:noFill/>
              <a:ln w="9525">
                <a:solidFill>
                  <a:srgbClr val="000000"/>
                </a:solidFill>
                <a:round/>
                <a:headEnd/>
                <a:tailEnd/>
              </a:ln>
            </p:spPr>
            <p:txBody>
              <a:bodyPr wrap="none" anchor="ctr"/>
              <a:lstStyle/>
              <a:p>
                <a:endParaRPr lang="bg-BG"/>
              </a:p>
            </p:txBody>
          </p:sp>
          <p:sp>
            <p:nvSpPr>
              <p:cNvPr id="52247" name="Oval 31"/>
              <p:cNvSpPr>
                <a:spLocks noChangeArrowheads="1"/>
              </p:cNvSpPr>
              <p:nvPr/>
            </p:nvSpPr>
            <p:spPr bwMode="auto">
              <a:xfrm>
                <a:off x="2283" y="2327"/>
                <a:ext cx="288" cy="303"/>
              </a:xfrm>
              <a:prstGeom prst="ellipse">
                <a:avLst/>
              </a:prstGeom>
              <a:noFill/>
              <a:ln w="9525">
                <a:solidFill>
                  <a:srgbClr val="000000"/>
                </a:solidFill>
                <a:round/>
                <a:headEnd/>
                <a:tailEnd/>
              </a:ln>
            </p:spPr>
            <p:txBody>
              <a:bodyPr wrap="none" anchor="ctr"/>
              <a:lstStyle/>
              <a:p>
                <a:endParaRPr lang="bg-BG"/>
              </a:p>
            </p:txBody>
          </p:sp>
          <p:sp>
            <p:nvSpPr>
              <p:cNvPr id="52248" name="Oval 32"/>
              <p:cNvSpPr>
                <a:spLocks noChangeArrowheads="1"/>
              </p:cNvSpPr>
              <p:nvPr/>
            </p:nvSpPr>
            <p:spPr bwMode="auto">
              <a:xfrm>
                <a:off x="2912" y="2327"/>
                <a:ext cx="287" cy="303"/>
              </a:xfrm>
              <a:prstGeom prst="ellipse">
                <a:avLst/>
              </a:prstGeom>
              <a:noFill/>
              <a:ln w="9525">
                <a:solidFill>
                  <a:srgbClr val="000000"/>
                </a:solidFill>
                <a:round/>
                <a:headEnd/>
                <a:tailEnd/>
              </a:ln>
            </p:spPr>
            <p:txBody>
              <a:bodyPr wrap="none" anchor="ctr"/>
              <a:lstStyle/>
              <a:p>
                <a:endParaRPr lang="bg-BG"/>
              </a:p>
            </p:txBody>
          </p:sp>
          <p:sp>
            <p:nvSpPr>
              <p:cNvPr id="52249" name="Oval 33"/>
              <p:cNvSpPr>
                <a:spLocks noChangeArrowheads="1"/>
              </p:cNvSpPr>
              <p:nvPr/>
            </p:nvSpPr>
            <p:spPr bwMode="auto">
              <a:xfrm>
                <a:off x="2089" y="2701"/>
                <a:ext cx="287" cy="303"/>
              </a:xfrm>
              <a:prstGeom prst="ellipse">
                <a:avLst/>
              </a:prstGeom>
              <a:noFill/>
              <a:ln w="9525">
                <a:solidFill>
                  <a:srgbClr val="000000"/>
                </a:solidFill>
                <a:round/>
                <a:headEnd/>
                <a:tailEnd/>
              </a:ln>
            </p:spPr>
            <p:txBody>
              <a:bodyPr wrap="none" anchor="ctr"/>
              <a:lstStyle/>
              <a:p>
                <a:endParaRPr lang="bg-BG"/>
              </a:p>
            </p:txBody>
          </p:sp>
          <p:sp>
            <p:nvSpPr>
              <p:cNvPr id="52250" name="Oval 34"/>
              <p:cNvSpPr>
                <a:spLocks noChangeArrowheads="1"/>
              </p:cNvSpPr>
              <p:nvPr/>
            </p:nvSpPr>
            <p:spPr bwMode="auto">
              <a:xfrm>
                <a:off x="2439" y="2701"/>
                <a:ext cx="287" cy="303"/>
              </a:xfrm>
              <a:prstGeom prst="ellipse">
                <a:avLst/>
              </a:prstGeom>
              <a:noFill/>
              <a:ln w="9525">
                <a:solidFill>
                  <a:srgbClr val="000000"/>
                </a:solidFill>
                <a:round/>
                <a:headEnd/>
                <a:tailEnd/>
              </a:ln>
            </p:spPr>
            <p:txBody>
              <a:bodyPr wrap="none" anchor="ctr"/>
              <a:lstStyle/>
              <a:p>
                <a:endParaRPr lang="bg-BG"/>
              </a:p>
            </p:txBody>
          </p:sp>
          <p:sp>
            <p:nvSpPr>
              <p:cNvPr id="52251" name="Oval 35"/>
              <p:cNvSpPr>
                <a:spLocks noChangeArrowheads="1"/>
              </p:cNvSpPr>
              <p:nvPr/>
            </p:nvSpPr>
            <p:spPr bwMode="auto">
              <a:xfrm>
                <a:off x="2779" y="2703"/>
                <a:ext cx="287" cy="303"/>
              </a:xfrm>
              <a:prstGeom prst="ellipse">
                <a:avLst/>
              </a:prstGeom>
              <a:noFill/>
              <a:ln w="9525">
                <a:solidFill>
                  <a:srgbClr val="000000"/>
                </a:solidFill>
                <a:round/>
                <a:headEnd/>
                <a:tailEnd/>
              </a:ln>
            </p:spPr>
            <p:txBody>
              <a:bodyPr wrap="none" anchor="ctr"/>
              <a:lstStyle/>
              <a:p>
                <a:endParaRPr lang="bg-BG"/>
              </a:p>
            </p:txBody>
          </p:sp>
          <p:sp>
            <p:nvSpPr>
              <p:cNvPr id="52252" name="Oval 36"/>
              <p:cNvSpPr>
                <a:spLocks noChangeArrowheads="1"/>
              </p:cNvSpPr>
              <p:nvPr/>
            </p:nvSpPr>
            <p:spPr bwMode="auto">
              <a:xfrm>
                <a:off x="3121" y="2688"/>
                <a:ext cx="287" cy="303"/>
              </a:xfrm>
              <a:prstGeom prst="ellipse">
                <a:avLst/>
              </a:prstGeom>
              <a:noFill/>
              <a:ln w="9525">
                <a:solidFill>
                  <a:srgbClr val="000000"/>
                </a:solidFill>
                <a:round/>
                <a:headEnd/>
                <a:tailEnd/>
              </a:ln>
            </p:spPr>
            <p:txBody>
              <a:bodyPr wrap="none" anchor="ctr"/>
              <a:lstStyle/>
              <a:p>
                <a:endParaRPr lang="bg-BG"/>
              </a:p>
            </p:txBody>
          </p:sp>
          <p:sp>
            <p:nvSpPr>
              <p:cNvPr id="52253" name="Line 37"/>
              <p:cNvSpPr>
                <a:spLocks noChangeShapeType="1"/>
              </p:cNvSpPr>
              <p:nvPr/>
            </p:nvSpPr>
            <p:spPr bwMode="auto">
              <a:xfrm flipH="1">
                <a:off x="2485" y="2212"/>
                <a:ext cx="137" cy="115"/>
              </a:xfrm>
              <a:prstGeom prst="line">
                <a:avLst/>
              </a:prstGeom>
              <a:noFill/>
              <a:ln w="9525">
                <a:solidFill>
                  <a:srgbClr val="000000"/>
                </a:solidFill>
                <a:round/>
                <a:headEnd/>
                <a:tailEnd type="triangle" w="med" len="med"/>
              </a:ln>
            </p:spPr>
            <p:txBody>
              <a:bodyPr/>
              <a:lstStyle/>
              <a:p>
                <a:endParaRPr lang="bg-BG"/>
              </a:p>
            </p:txBody>
          </p:sp>
          <p:sp>
            <p:nvSpPr>
              <p:cNvPr id="52254" name="Line 38"/>
              <p:cNvSpPr>
                <a:spLocks noChangeShapeType="1"/>
              </p:cNvSpPr>
              <p:nvPr/>
            </p:nvSpPr>
            <p:spPr bwMode="auto">
              <a:xfrm>
                <a:off x="2867" y="2183"/>
                <a:ext cx="137" cy="144"/>
              </a:xfrm>
              <a:prstGeom prst="line">
                <a:avLst/>
              </a:prstGeom>
              <a:noFill/>
              <a:ln w="9525">
                <a:solidFill>
                  <a:srgbClr val="000000"/>
                </a:solidFill>
                <a:round/>
                <a:headEnd/>
                <a:tailEnd type="triangle" w="med" len="med"/>
              </a:ln>
            </p:spPr>
            <p:txBody>
              <a:bodyPr/>
              <a:lstStyle/>
              <a:p>
                <a:endParaRPr lang="bg-BG"/>
              </a:p>
            </p:txBody>
          </p:sp>
          <p:sp>
            <p:nvSpPr>
              <p:cNvPr id="52255" name="Line 39"/>
              <p:cNvSpPr>
                <a:spLocks noChangeShapeType="1"/>
              </p:cNvSpPr>
              <p:nvPr/>
            </p:nvSpPr>
            <p:spPr bwMode="auto">
              <a:xfrm flipH="1">
                <a:off x="2294" y="2615"/>
                <a:ext cx="55" cy="86"/>
              </a:xfrm>
              <a:prstGeom prst="line">
                <a:avLst/>
              </a:prstGeom>
              <a:noFill/>
              <a:ln w="9525">
                <a:solidFill>
                  <a:srgbClr val="000000"/>
                </a:solidFill>
                <a:round/>
                <a:headEnd/>
                <a:tailEnd type="triangle" w="med" len="med"/>
              </a:ln>
            </p:spPr>
            <p:txBody>
              <a:bodyPr/>
              <a:lstStyle/>
              <a:p>
                <a:endParaRPr lang="bg-BG"/>
              </a:p>
            </p:txBody>
          </p:sp>
          <p:sp>
            <p:nvSpPr>
              <p:cNvPr id="52256" name="Line 40"/>
              <p:cNvSpPr>
                <a:spLocks noChangeShapeType="1"/>
              </p:cNvSpPr>
              <p:nvPr/>
            </p:nvSpPr>
            <p:spPr bwMode="auto">
              <a:xfrm>
                <a:off x="2485" y="2615"/>
                <a:ext cx="55" cy="86"/>
              </a:xfrm>
              <a:prstGeom prst="line">
                <a:avLst/>
              </a:prstGeom>
              <a:noFill/>
              <a:ln w="9525">
                <a:solidFill>
                  <a:srgbClr val="000000"/>
                </a:solidFill>
                <a:round/>
                <a:headEnd/>
                <a:tailEnd type="triangle" w="med" len="med"/>
              </a:ln>
            </p:spPr>
            <p:txBody>
              <a:bodyPr/>
              <a:lstStyle/>
              <a:p>
                <a:endParaRPr lang="bg-BG"/>
              </a:p>
            </p:txBody>
          </p:sp>
          <p:sp>
            <p:nvSpPr>
              <p:cNvPr id="52257" name="Line 41"/>
              <p:cNvSpPr>
                <a:spLocks noChangeShapeType="1"/>
              </p:cNvSpPr>
              <p:nvPr/>
            </p:nvSpPr>
            <p:spPr bwMode="auto">
              <a:xfrm flipH="1">
                <a:off x="2949" y="2615"/>
                <a:ext cx="55" cy="86"/>
              </a:xfrm>
              <a:prstGeom prst="line">
                <a:avLst/>
              </a:prstGeom>
              <a:noFill/>
              <a:ln w="9525">
                <a:solidFill>
                  <a:srgbClr val="000000"/>
                </a:solidFill>
                <a:round/>
                <a:headEnd/>
                <a:tailEnd type="triangle" w="med" len="med"/>
              </a:ln>
            </p:spPr>
            <p:txBody>
              <a:bodyPr/>
              <a:lstStyle/>
              <a:p>
                <a:endParaRPr lang="bg-BG"/>
              </a:p>
            </p:txBody>
          </p:sp>
          <p:sp>
            <p:nvSpPr>
              <p:cNvPr id="52258" name="Line 42"/>
              <p:cNvSpPr>
                <a:spLocks noChangeShapeType="1"/>
              </p:cNvSpPr>
              <p:nvPr/>
            </p:nvSpPr>
            <p:spPr bwMode="auto">
              <a:xfrm>
                <a:off x="3140" y="2586"/>
                <a:ext cx="82" cy="86"/>
              </a:xfrm>
              <a:prstGeom prst="line">
                <a:avLst/>
              </a:prstGeom>
              <a:noFill/>
              <a:ln w="9525">
                <a:solidFill>
                  <a:srgbClr val="000000"/>
                </a:solidFill>
                <a:round/>
                <a:headEnd/>
                <a:tailEnd type="triangle" w="med" len="med"/>
              </a:ln>
            </p:spPr>
            <p:txBody>
              <a:bodyPr/>
              <a:lstStyle/>
              <a:p>
                <a:endParaRPr lang="bg-BG"/>
              </a:p>
            </p:txBody>
          </p:sp>
          <p:sp>
            <p:nvSpPr>
              <p:cNvPr id="52259" name="Line 43"/>
              <p:cNvSpPr>
                <a:spLocks noChangeShapeType="1"/>
              </p:cNvSpPr>
              <p:nvPr/>
            </p:nvSpPr>
            <p:spPr bwMode="auto">
              <a:xfrm>
                <a:off x="2180" y="1786"/>
                <a:ext cx="436" cy="230"/>
              </a:xfrm>
              <a:prstGeom prst="line">
                <a:avLst/>
              </a:prstGeom>
              <a:noFill/>
              <a:ln w="9525">
                <a:solidFill>
                  <a:srgbClr val="000000"/>
                </a:solidFill>
                <a:round/>
                <a:headEnd/>
                <a:tailEnd type="triangle" w="med" len="med"/>
              </a:ln>
            </p:spPr>
            <p:txBody>
              <a:bodyPr/>
              <a:lstStyle/>
              <a:p>
                <a:endParaRPr lang="bg-BG"/>
              </a:p>
            </p:txBody>
          </p:sp>
          <p:sp>
            <p:nvSpPr>
              <p:cNvPr id="52260" name="Text Box 44"/>
              <p:cNvSpPr txBox="1">
                <a:spLocks noChangeArrowheads="1"/>
              </p:cNvSpPr>
              <p:nvPr/>
            </p:nvSpPr>
            <p:spPr bwMode="auto">
              <a:xfrm>
                <a:off x="1962" y="1613"/>
                <a:ext cx="163" cy="173"/>
              </a:xfrm>
              <a:prstGeom prst="rect">
                <a:avLst/>
              </a:prstGeom>
              <a:solidFill>
                <a:srgbClr val="FFFFFF"/>
              </a:solidFill>
              <a:ln w="9525">
                <a:noFill/>
                <a:miter lim="800000"/>
                <a:headEnd/>
                <a:tailEnd/>
              </a:ln>
            </p:spPr>
            <p:txBody>
              <a:bodyPr/>
              <a:lstStyle/>
              <a:p>
                <a:endParaRPr lang="bg-BG" sz="1000"/>
              </a:p>
            </p:txBody>
          </p:sp>
        </p:grpSp>
        <p:sp>
          <p:nvSpPr>
            <p:cNvPr id="52229" name="Text Box 45"/>
            <p:cNvSpPr txBox="1">
              <a:spLocks noChangeArrowheads="1"/>
            </p:cNvSpPr>
            <p:nvPr/>
          </p:nvSpPr>
          <p:spPr bwMode="auto">
            <a:xfrm>
              <a:off x="2544" y="1344"/>
              <a:ext cx="192" cy="288"/>
            </a:xfrm>
            <a:prstGeom prst="rect">
              <a:avLst/>
            </a:prstGeom>
            <a:noFill/>
            <a:ln w="9525">
              <a:noFill/>
              <a:miter lim="800000"/>
              <a:headEnd/>
              <a:tailEnd/>
            </a:ln>
          </p:spPr>
          <p:txBody>
            <a:bodyPr>
              <a:spAutoFit/>
            </a:bodyPr>
            <a:lstStyle/>
            <a:p>
              <a:pPr>
                <a:spcBef>
                  <a:spcPct val="50000"/>
                </a:spcBef>
              </a:pPr>
              <a:r>
                <a:rPr lang="en-US"/>
                <a:t>A</a:t>
              </a:r>
            </a:p>
          </p:txBody>
        </p:sp>
        <p:sp>
          <p:nvSpPr>
            <p:cNvPr id="52230" name="Text Box 46"/>
            <p:cNvSpPr txBox="1">
              <a:spLocks noChangeArrowheads="1"/>
            </p:cNvSpPr>
            <p:nvPr/>
          </p:nvSpPr>
          <p:spPr bwMode="auto">
            <a:xfrm>
              <a:off x="1872" y="1728"/>
              <a:ext cx="240" cy="288"/>
            </a:xfrm>
            <a:prstGeom prst="rect">
              <a:avLst/>
            </a:prstGeom>
            <a:noFill/>
            <a:ln w="9525">
              <a:noFill/>
              <a:miter lim="800000"/>
              <a:headEnd/>
              <a:tailEnd/>
            </a:ln>
          </p:spPr>
          <p:txBody>
            <a:bodyPr>
              <a:spAutoFit/>
            </a:bodyPr>
            <a:lstStyle/>
            <a:p>
              <a:pPr>
                <a:spcBef>
                  <a:spcPct val="50000"/>
                </a:spcBef>
              </a:pPr>
              <a:r>
                <a:rPr lang="en-US"/>
                <a:t>B</a:t>
              </a:r>
            </a:p>
          </p:txBody>
        </p:sp>
        <p:sp>
          <p:nvSpPr>
            <p:cNvPr id="52231" name="Text Box 47"/>
            <p:cNvSpPr txBox="1">
              <a:spLocks noChangeArrowheads="1"/>
            </p:cNvSpPr>
            <p:nvPr/>
          </p:nvSpPr>
          <p:spPr bwMode="auto">
            <a:xfrm>
              <a:off x="3256" y="1728"/>
              <a:ext cx="240" cy="288"/>
            </a:xfrm>
            <a:prstGeom prst="rect">
              <a:avLst/>
            </a:prstGeom>
            <a:noFill/>
            <a:ln w="9525">
              <a:noFill/>
              <a:miter lim="800000"/>
              <a:headEnd/>
              <a:tailEnd/>
            </a:ln>
          </p:spPr>
          <p:txBody>
            <a:bodyPr>
              <a:spAutoFit/>
            </a:bodyPr>
            <a:lstStyle/>
            <a:p>
              <a:pPr>
                <a:spcBef>
                  <a:spcPct val="50000"/>
                </a:spcBef>
              </a:pPr>
              <a:r>
                <a:rPr lang="en-US"/>
                <a:t>C</a:t>
              </a:r>
            </a:p>
          </p:txBody>
        </p:sp>
        <p:sp>
          <p:nvSpPr>
            <p:cNvPr id="52232" name="Text Box 48"/>
            <p:cNvSpPr txBox="1">
              <a:spLocks noChangeArrowheads="1"/>
            </p:cNvSpPr>
            <p:nvPr/>
          </p:nvSpPr>
          <p:spPr bwMode="auto">
            <a:xfrm>
              <a:off x="1560" y="2104"/>
              <a:ext cx="240" cy="288"/>
            </a:xfrm>
            <a:prstGeom prst="rect">
              <a:avLst/>
            </a:prstGeom>
            <a:noFill/>
            <a:ln w="9525">
              <a:noFill/>
              <a:miter lim="800000"/>
              <a:headEnd/>
              <a:tailEnd/>
            </a:ln>
          </p:spPr>
          <p:txBody>
            <a:bodyPr>
              <a:spAutoFit/>
            </a:bodyPr>
            <a:lstStyle/>
            <a:p>
              <a:pPr>
                <a:spcBef>
                  <a:spcPct val="50000"/>
                </a:spcBef>
              </a:pPr>
              <a:r>
                <a:rPr lang="en-US"/>
                <a:t>D</a:t>
              </a:r>
            </a:p>
          </p:txBody>
        </p:sp>
        <p:sp>
          <p:nvSpPr>
            <p:cNvPr id="52233" name="Text Box 50"/>
            <p:cNvSpPr txBox="1">
              <a:spLocks noChangeArrowheads="1"/>
            </p:cNvSpPr>
            <p:nvPr/>
          </p:nvSpPr>
          <p:spPr bwMode="auto">
            <a:xfrm>
              <a:off x="2192" y="2096"/>
              <a:ext cx="240" cy="288"/>
            </a:xfrm>
            <a:prstGeom prst="rect">
              <a:avLst/>
            </a:prstGeom>
            <a:noFill/>
            <a:ln w="9525">
              <a:noFill/>
              <a:miter lim="800000"/>
              <a:headEnd/>
              <a:tailEnd/>
            </a:ln>
          </p:spPr>
          <p:txBody>
            <a:bodyPr>
              <a:spAutoFit/>
            </a:bodyPr>
            <a:lstStyle/>
            <a:p>
              <a:pPr>
                <a:spcBef>
                  <a:spcPct val="50000"/>
                </a:spcBef>
              </a:pPr>
              <a:r>
                <a:rPr lang="en-US"/>
                <a:t>E</a:t>
              </a:r>
            </a:p>
          </p:txBody>
        </p:sp>
        <p:sp>
          <p:nvSpPr>
            <p:cNvPr id="52234" name="Text Box 51"/>
            <p:cNvSpPr txBox="1">
              <a:spLocks noChangeArrowheads="1"/>
            </p:cNvSpPr>
            <p:nvPr/>
          </p:nvSpPr>
          <p:spPr bwMode="auto">
            <a:xfrm>
              <a:off x="2944" y="2096"/>
              <a:ext cx="240" cy="288"/>
            </a:xfrm>
            <a:prstGeom prst="rect">
              <a:avLst/>
            </a:prstGeom>
            <a:noFill/>
            <a:ln w="9525">
              <a:noFill/>
              <a:miter lim="800000"/>
              <a:headEnd/>
              <a:tailEnd/>
            </a:ln>
          </p:spPr>
          <p:txBody>
            <a:bodyPr>
              <a:spAutoFit/>
            </a:bodyPr>
            <a:lstStyle/>
            <a:p>
              <a:pPr>
                <a:spcBef>
                  <a:spcPct val="50000"/>
                </a:spcBef>
              </a:pPr>
              <a:r>
                <a:rPr lang="en-US"/>
                <a:t>F</a:t>
              </a:r>
            </a:p>
          </p:txBody>
        </p:sp>
        <p:sp>
          <p:nvSpPr>
            <p:cNvPr id="52235" name="Text Box 53"/>
            <p:cNvSpPr txBox="1">
              <a:spLocks noChangeArrowheads="1"/>
            </p:cNvSpPr>
            <p:nvPr/>
          </p:nvSpPr>
          <p:spPr bwMode="auto">
            <a:xfrm>
              <a:off x="3568" y="2096"/>
              <a:ext cx="240" cy="288"/>
            </a:xfrm>
            <a:prstGeom prst="rect">
              <a:avLst/>
            </a:prstGeom>
            <a:noFill/>
            <a:ln w="9525">
              <a:noFill/>
              <a:miter lim="800000"/>
              <a:headEnd/>
              <a:tailEnd/>
            </a:ln>
          </p:spPr>
          <p:txBody>
            <a:bodyPr>
              <a:spAutoFit/>
            </a:bodyPr>
            <a:lstStyle/>
            <a:p>
              <a:pPr>
                <a:spcBef>
                  <a:spcPct val="50000"/>
                </a:spcBef>
              </a:pPr>
              <a:r>
                <a:rPr lang="en-US"/>
                <a:t>G</a:t>
              </a:r>
            </a:p>
          </p:txBody>
        </p:sp>
        <p:sp>
          <p:nvSpPr>
            <p:cNvPr id="52236" name="Text Box 54"/>
            <p:cNvSpPr txBox="1">
              <a:spLocks noChangeArrowheads="1"/>
            </p:cNvSpPr>
            <p:nvPr/>
          </p:nvSpPr>
          <p:spPr bwMode="auto">
            <a:xfrm>
              <a:off x="1352" y="2464"/>
              <a:ext cx="240" cy="288"/>
            </a:xfrm>
            <a:prstGeom prst="rect">
              <a:avLst/>
            </a:prstGeom>
            <a:noFill/>
            <a:ln w="9525">
              <a:noFill/>
              <a:miter lim="800000"/>
              <a:headEnd/>
              <a:tailEnd/>
            </a:ln>
          </p:spPr>
          <p:txBody>
            <a:bodyPr>
              <a:spAutoFit/>
            </a:bodyPr>
            <a:lstStyle/>
            <a:p>
              <a:pPr>
                <a:spcBef>
                  <a:spcPct val="50000"/>
                </a:spcBef>
              </a:pPr>
              <a:r>
                <a:rPr lang="en-US"/>
                <a:t>H</a:t>
              </a:r>
            </a:p>
          </p:txBody>
        </p:sp>
        <p:sp>
          <p:nvSpPr>
            <p:cNvPr id="52237" name="Text Box 56"/>
            <p:cNvSpPr txBox="1">
              <a:spLocks noChangeArrowheads="1"/>
            </p:cNvSpPr>
            <p:nvPr/>
          </p:nvSpPr>
          <p:spPr bwMode="auto">
            <a:xfrm>
              <a:off x="1736" y="2464"/>
              <a:ext cx="240" cy="288"/>
            </a:xfrm>
            <a:prstGeom prst="rect">
              <a:avLst/>
            </a:prstGeom>
            <a:noFill/>
            <a:ln w="9525">
              <a:noFill/>
              <a:miter lim="800000"/>
              <a:headEnd/>
              <a:tailEnd/>
            </a:ln>
          </p:spPr>
          <p:txBody>
            <a:bodyPr>
              <a:spAutoFit/>
            </a:bodyPr>
            <a:lstStyle/>
            <a:p>
              <a:pPr>
                <a:spcBef>
                  <a:spcPct val="50000"/>
                </a:spcBef>
              </a:pPr>
              <a:r>
                <a:rPr lang="en-US"/>
                <a:t>L</a:t>
              </a:r>
            </a:p>
          </p:txBody>
        </p:sp>
        <p:sp>
          <p:nvSpPr>
            <p:cNvPr id="52238" name="Text Box 58"/>
            <p:cNvSpPr txBox="1">
              <a:spLocks noChangeArrowheads="1"/>
            </p:cNvSpPr>
            <p:nvPr/>
          </p:nvSpPr>
          <p:spPr bwMode="auto">
            <a:xfrm>
              <a:off x="2040" y="2464"/>
              <a:ext cx="288" cy="288"/>
            </a:xfrm>
            <a:prstGeom prst="rect">
              <a:avLst/>
            </a:prstGeom>
            <a:noFill/>
            <a:ln w="9525">
              <a:noFill/>
              <a:miter lim="800000"/>
              <a:headEnd/>
              <a:tailEnd/>
            </a:ln>
          </p:spPr>
          <p:txBody>
            <a:bodyPr>
              <a:spAutoFit/>
            </a:bodyPr>
            <a:lstStyle/>
            <a:p>
              <a:pPr>
                <a:spcBef>
                  <a:spcPct val="50000"/>
                </a:spcBef>
              </a:pPr>
              <a:r>
                <a:rPr lang="en-US"/>
                <a:t>M</a:t>
              </a:r>
            </a:p>
          </p:txBody>
        </p:sp>
        <p:sp>
          <p:nvSpPr>
            <p:cNvPr id="52239" name="Text Box 59"/>
            <p:cNvSpPr txBox="1">
              <a:spLocks noChangeArrowheads="1"/>
            </p:cNvSpPr>
            <p:nvPr/>
          </p:nvSpPr>
          <p:spPr bwMode="auto">
            <a:xfrm>
              <a:off x="2392" y="2464"/>
              <a:ext cx="240" cy="288"/>
            </a:xfrm>
            <a:prstGeom prst="rect">
              <a:avLst/>
            </a:prstGeom>
            <a:noFill/>
            <a:ln w="9525">
              <a:noFill/>
              <a:miter lim="800000"/>
              <a:headEnd/>
              <a:tailEnd/>
            </a:ln>
          </p:spPr>
          <p:txBody>
            <a:bodyPr>
              <a:spAutoFit/>
            </a:bodyPr>
            <a:lstStyle/>
            <a:p>
              <a:pPr>
                <a:spcBef>
                  <a:spcPct val="50000"/>
                </a:spcBef>
              </a:pPr>
              <a:r>
                <a:rPr lang="en-US"/>
                <a:t>N</a:t>
              </a:r>
            </a:p>
          </p:txBody>
        </p:sp>
        <p:sp>
          <p:nvSpPr>
            <p:cNvPr id="52240" name="Text Box 60"/>
            <p:cNvSpPr txBox="1">
              <a:spLocks noChangeArrowheads="1"/>
            </p:cNvSpPr>
            <p:nvPr/>
          </p:nvSpPr>
          <p:spPr bwMode="auto">
            <a:xfrm>
              <a:off x="2728" y="2464"/>
              <a:ext cx="248" cy="288"/>
            </a:xfrm>
            <a:prstGeom prst="rect">
              <a:avLst/>
            </a:prstGeom>
            <a:noFill/>
            <a:ln w="9525">
              <a:noFill/>
              <a:miter lim="800000"/>
              <a:headEnd/>
              <a:tailEnd/>
            </a:ln>
          </p:spPr>
          <p:txBody>
            <a:bodyPr>
              <a:spAutoFit/>
            </a:bodyPr>
            <a:lstStyle/>
            <a:p>
              <a:pPr>
                <a:spcBef>
                  <a:spcPct val="50000"/>
                </a:spcBef>
              </a:pPr>
              <a:r>
                <a:rPr lang="en-US"/>
                <a:t>O</a:t>
              </a:r>
            </a:p>
          </p:txBody>
        </p:sp>
        <p:sp>
          <p:nvSpPr>
            <p:cNvPr id="52241" name="Text Box 61"/>
            <p:cNvSpPr txBox="1">
              <a:spLocks noChangeArrowheads="1"/>
            </p:cNvSpPr>
            <p:nvPr/>
          </p:nvSpPr>
          <p:spPr bwMode="auto">
            <a:xfrm>
              <a:off x="3096" y="2464"/>
              <a:ext cx="192" cy="288"/>
            </a:xfrm>
            <a:prstGeom prst="rect">
              <a:avLst/>
            </a:prstGeom>
            <a:noFill/>
            <a:ln w="9525">
              <a:noFill/>
              <a:miter lim="800000"/>
              <a:headEnd/>
              <a:tailEnd/>
            </a:ln>
          </p:spPr>
          <p:txBody>
            <a:bodyPr>
              <a:spAutoFit/>
            </a:bodyPr>
            <a:lstStyle/>
            <a:p>
              <a:pPr>
                <a:spcBef>
                  <a:spcPct val="50000"/>
                </a:spcBef>
              </a:pPr>
              <a:r>
                <a:rPr lang="en-US"/>
                <a:t>P</a:t>
              </a:r>
            </a:p>
          </p:txBody>
        </p:sp>
        <p:sp>
          <p:nvSpPr>
            <p:cNvPr id="52242" name="Text Box 62"/>
            <p:cNvSpPr txBox="1">
              <a:spLocks noChangeArrowheads="1"/>
            </p:cNvSpPr>
            <p:nvPr/>
          </p:nvSpPr>
          <p:spPr bwMode="auto">
            <a:xfrm>
              <a:off x="3440" y="2456"/>
              <a:ext cx="240" cy="288"/>
            </a:xfrm>
            <a:prstGeom prst="rect">
              <a:avLst/>
            </a:prstGeom>
            <a:noFill/>
            <a:ln w="9525">
              <a:noFill/>
              <a:miter lim="800000"/>
              <a:headEnd/>
              <a:tailEnd/>
            </a:ln>
          </p:spPr>
          <p:txBody>
            <a:bodyPr>
              <a:spAutoFit/>
            </a:bodyPr>
            <a:lstStyle/>
            <a:p>
              <a:pPr>
                <a:spcBef>
                  <a:spcPct val="50000"/>
                </a:spcBef>
              </a:pPr>
              <a:r>
                <a:rPr lang="en-US"/>
                <a:t>R</a:t>
              </a:r>
            </a:p>
          </p:txBody>
        </p:sp>
        <p:sp>
          <p:nvSpPr>
            <p:cNvPr id="52243" name="Text Box 63"/>
            <p:cNvSpPr txBox="1">
              <a:spLocks noChangeArrowheads="1"/>
            </p:cNvSpPr>
            <p:nvPr/>
          </p:nvSpPr>
          <p:spPr bwMode="auto">
            <a:xfrm>
              <a:off x="3776" y="2448"/>
              <a:ext cx="336" cy="288"/>
            </a:xfrm>
            <a:prstGeom prst="rect">
              <a:avLst/>
            </a:prstGeom>
            <a:noFill/>
            <a:ln w="9525">
              <a:noFill/>
              <a:miter lim="800000"/>
              <a:headEnd/>
              <a:tailEnd/>
            </a:ln>
          </p:spPr>
          <p:txBody>
            <a:bodyPr>
              <a:spAutoFit/>
            </a:bodyPr>
            <a:lstStyle/>
            <a:p>
              <a:pPr>
                <a:spcBef>
                  <a:spcPct val="50000"/>
                </a:spcBef>
              </a:pPr>
              <a:r>
                <a:rPr lang="en-US"/>
                <a:t>S</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187624" y="609600"/>
            <a:ext cx="7634808" cy="6248400"/>
          </a:xfrm>
        </p:spPr>
        <p:txBody>
          <a:bodyPr>
            <a:normAutofit fontScale="90000"/>
          </a:bodyPr>
          <a:lstStyle/>
          <a:p>
            <a:pPr eaLnBrk="1" fontAlgn="auto" hangingPunct="1">
              <a:spcAft>
                <a:spcPts val="0"/>
              </a:spcAft>
              <a:defRPr/>
            </a:pPr>
            <a:r>
              <a:rPr lang="bg-BG" sz="2400">
                <a:solidFill>
                  <a:schemeClr val="tx1"/>
                </a:solidFill>
              </a:rPr>
              <a:t>За непълни (разредени) дървета:</a:t>
            </a:r>
            <a:br>
              <a:rPr lang="bg-BG" sz="2400">
                <a:solidFill>
                  <a:schemeClr val="tx1"/>
                </a:solidFill>
              </a:rPr>
            </a:br>
            <a:r>
              <a:rPr lang="bg-BG" sz="2400">
                <a:solidFill>
                  <a:schemeClr val="tx1"/>
                </a:solidFill>
              </a:rPr>
              <a:t/>
            </a:r>
            <a:br>
              <a:rPr lang="bg-BG" sz="2400">
                <a:solidFill>
                  <a:schemeClr val="tx1"/>
                </a:solidFill>
              </a:rPr>
            </a:br>
            <a:r>
              <a:rPr lang="en-US" sz="2000">
                <a:solidFill>
                  <a:schemeClr val="tx1"/>
                </a:solidFill>
                <a:latin typeface="Courier New" pitchFamily="49" charset="0"/>
              </a:rPr>
              <a:t>struct tree</a:t>
            </a:r>
            <a:br>
              <a:rPr lang="en-US" sz="2000">
                <a:solidFill>
                  <a:schemeClr val="tx1"/>
                </a:solidFill>
                <a:latin typeface="Courier New" pitchFamily="49" charset="0"/>
              </a:rPr>
            </a:br>
            <a:r>
              <a:rPr lang="en-US" sz="2000">
                <a:solidFill>
                  <a:schemeClr val="tx1"/>
                </a:solidFill>
                <a:latin typeface="Courier New" pitchFamily="49" charset="0"/>
              </a:rPr>
              <a:t>       { char v; int left, right;</a:t>
            </a:r>
            <a:r>
              <a:rPr lang="bg-BG" sz="2400">
                <a:solidFill>
                  <a:schemeClr val="tx1"/>
                </a:solidFill>
              </a:rPr>
              <a:t> </a:t>
            </a:r>
            <a:r>
              <a:rPr lang="en-US" sz="2000">
                <a:solidFill>
                  <a:schemeClr val="tx1"/>
                </a:solidFill>
                <a:latin typeface="Courier New" pitchFamily="49" charset="0"/>
              </a:rPr>
              <a:t>} tab[10];</a:t>
            </a:r>
            <a:br>
              <a:rPr lang="en-US" sz="2000">
                <a:solidFill>
                  <a:schemeClr val="tx1"/>
                </a:solidFill>
                <a:latin typeface="Courier New" pitchFamily="49" charset="0"/>
              </a:rPr>
            </a:br>
            <a:r>
              <a:rPr lang="en-US" sz="2000">
                <a:solidFill>
                  <a:schemeClr val="tx1"/>
                </a:solidFill>
                <a:latin typeface="Courier New" pitchFamily="49" charset="0"/>
              </a:rPr>
              <a:t>struct b_tree</a:t>
            </a:r>
            <a:br>
              <a:rPr lang="en-US" sz="2000">
                <a:solidFill>
                  <a:schemeClr val="tx1"/>
                </a:solidFill>
                <a:latin typeface="Courier New" pitchFamily="49" charset="0"/>
              </a:rPr>
            </a:br>
            <a:r>
              <a:rPr lang="en-US" sz="2000">
                <a:solidFill>
                  <a:schemeClr val="tx1"/>
                </a:solidFill>
                <a:latin typeface="Courier New" pitchFamily="49" charset="0"/>
              </a:rPr>
              <a:t>       { int root; struct tree tab[10];} T;</a:t>
            </a:r>
            <a:br>
              <a:rPr lang="en-US" sz="2000">
                <a:solidFill>
                  <a:schemeClr val="tx1"/>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t>
            </a:r>
            <a:r>
              <a:rPr lang="en-US" sz="2000" smtClean="0">
                <a:solidFill>
                  <a:schemeClr val="tx2">
                    <a:satMod val="130000"/>
                  </a:schemeClr>
                </a:solidFill>
                <a:latin typeface="Courier New" pitchFamily="49" charset="0"/>
              </a:rPr>
              <a:t/>
            </a:r>
            <a:br>
              <a:rPr lang="en-US" sz="2000" smtClean="0">
                <a:solidFill>
                  <a:schemeClr val="tx2">
                    <a:satMod val="130000"/>
                  </a:schemeClr>
                </a:solidFill>
                <a:latin typeface="Courier New" pitchFamily="49" charset="0"/>
              </a:rPr>
            </a:br>
            <a:r>
              <a:rPr lang="en-US" sz="2000" smtClean="0">
                <a:solidFill>
                  <a:schemeClr val="tx2">
                    <a:satMod val="130000"/>
                  </a:schemeClr>
                </a:solidFill>
                <a:latin typeface="Courier New" pitchFamily="49" charset="0"/>
              </a:rPr>
              <a:t>				</a:t>
            </a:r>
            <a:r>
              <a:rPr lang="en-US" sz="2000" b="1" smtClean="0">
                <a:solidFill>
                  <a:schemeClr val="tx1"/>
                </a:solidFill>
                <a:latin typeface="Courier New" pitchFamily="49" charset="0"/>
              </a:rPr>
              <a:t>T.root=2</a:t>
            </a:r>
            <a:r>
              <a:rPr lang="en-US" sz="2000" b="1">
                <a:solidFill>
                  <a:schemeClr val="tx1"/>
                </a:solidFill>
                <a:latin typeface="Courier New" pitchFamily="49" charset="0"/>
              </a:rPr>
              <a:t/>
            </a:r>
            <a:br>
              <a:rPr lang="en-US" sz="2000" b="1">
                <a:solidFill>
                  <a:schemeClr val="tx1"/>
                </a:solidFill>
                <a:latin typeface="Courier New" pitchFamily="49" charset="0"/>
              </a:rPr>
            </a:br>
            <a:r>
              <a:rPr lang="en-US" sz="2000" b="1">
                <a:solidFill>
                  <a:schemeClr val="tx1"/>
                </a:solidFill>
                <a:latin typeface="Courier New" pitchFamily="49" charset="0"/>
              </a:rPr>
              <a:t>				</a:t>
            </a:r>
            <a:r>
              <a:rPr lang="en-US" sz="2000" b="1" smtClean="0">
                <a:solidFill>
                  <a:schemeClr val="tx1"/>
                </a:solidFill>
                <a:latin typeface="Courier New" pitchFamily="49" charset="0"/>
              </a:rPr>
              <a:t>T.root=0 </a:t>
            </a:r>
            <a:r>
              <a:rPr lang="en-US" sz="2000" b="1">
                <a:solidFill>
                  <a:schemeClr val="tx1"/>
                </a:solidFill>
                <a:latin typeface="Courier New" pitchFamily="49" charset="0"/>
              </a:rPr>
              <a:t>- </a:t>
            </a:r>
            <a:r>
              <a:rPr lang="bg-BG" sz="2000" b="1">
                <a:solidFill>
                  <a:schemeClr val="tx1"/>
                </a:solidFill>
                <a:latin typeface="Courier New" pitchFamily="49" charset="0"/>
              </a:rPr>
              <a:t>инициализация</a:t>
            </a: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r>
            <a:br>
              <a:rPr lang="en-US" sz="2000">
                <a:solidFill>
                  <a:schemeClr val="tx2">
                    <a:satMod val="130000"/>
                  </a:schemeClr>
                </a:solidFill>
                <a:latin typeface="Courier New" pitchFamily="49" charset="0"/>
              </a:rPr>
            </a:br>
            <a:r>
              <a:rPr lang="en-US" sz="2000">
                <a:solidFill>
                  <a:schemeClr val="tx2">
                    <a:satMod val="130000"/>
                  </a:schemeClr>
                </a:solidFill>
                <a:latin typeface="Courier New" pitchFamily="49" charset="0"/>
              </a:rPr>
              <a:t>		</a:t>
            </a:r>
          </a:p>
        </p:txBody>
      </p:sp>
      <p:grpSp>
        <p:nvGrpSpPr>
          <p:cNvPr id="1028" name="Group 3"/>
          <p:cNvGrpSpPr>
            <a:grpSpLocks/>
          </p:cNvGrpSpPr>
          <p:nvPr/>
        </p:nvGrpSpPr>
        <p:grpSpPr bwMode="auto">
          <a:xfrm>
            <a:off x="4499992" y="2348880"/>
            <a:ext cx="4267200" cy="3276600"/>
            <a:chOff x="2428" y="4654"/>
            <a:chExt cx="4775" cy="3527"/>
          </a:xfrm>
        </p:grpSpPr>
        <p:sp>
          <p:nvSpPr>
            <p:cNvPr id="1029" name="Oval 4"/>
            <p:cNvSpPr>
              <a:spLocks noChangeArrowheads="1"/>
            </p:cNvSpPr>
            <p:nvPr/>
          </p:nvSpPr>
          <p:spPr bwMode="auto">
            <a:xfrm>
              <a:off x="4503" y="4654"/>
              <a:ext cx="600" cy="600"/>
            </a:xfrm>
            <a:prstGeom prst="ellipse">
              <a:avLst/>
            </a:prstGeom>
            <a:noFill/>
            <a:ln w="9525">
              <a:solidFill>
                <a:srgbClr val="000000"/>
              </a:solidFill>
              <a:round/>
              <a:headEnd/>
              <a:tailEnd/>
            </a:ln>
          </p:spPr>
          <p:txBody>
            <a:bodyPr wrap="none" anchor="ctr"/>
            <a:lstStyle/>
            <a:p>
              <a:endParaRPr lang="bg-BG"/>
            </a:p>
          </p:txBody>
        </p:sp>
        <p:sp>
          <p:nvSpPr>
            <p:cNvPr id="1030" name="Oval 5"/>
            <p:cNvSpPr>
              <a:spLocks noChangeArrowheads="1"/>
            </p:cNvSpPr>
            <p:nvPr/>
          </p:nvSpPr>
          <p:spPr bwMode="auto">
            <a:xfrm>
              <a:off x="3078" y="5395"/>
              <a:ext cx="600" cy="600"/>
            </a:xfrm>
            <a:prstGeom prst="ellipse">
              <a:avLst/>
            </a:prstGeom>
            <a:noFill/>
            <a:ln w="9525">
              <a:solidFill>
                <a:srgbClr val="000000"/>
              </a:solidFill>
              <a:round/>
              <a:headEnd/>
              <a:tailEnd/>
            </a:ln>
          </p:spPr>
          <p:txBody>
            <a:bodyPr wrap="none" anchor="ctr"/>
            <a:lstStyle/>
            <a:p>
              <a:endParaRPr lang="bg-BG"/>
            </a:p>
          </p:txBody>
        </p:sp>
        <p:sp>
          <p:nvSpPr>
            <p:cNvPr id="1031" name="Oval 6"/>
            <p:cNvSpPr>
              <a:spLocks noChangeArrowheads="1"/>
            </p:cNvSpPr>
            <p:nvPr/>
          </p:nvSpPr>
          <p:spPr bwMode="auto">
            <a:xfrm>
              <a:off x="2428" y="6136"/>
              <a:ext cx="600" cy="600"/>
            </a:xfrm>
            <a:prstGeom prst="ellipse">
              <a:avLst/>
            </a:prstGeom>
            <a:noFill/>
            <a:ln w="9525">
              <a:solidFill>
                <a:srgbClr val="000000"/>
              </a:solidFill>
              <a:round/>
              <a:headEnd/>
              <a:tailEnd/>
            </a:ln>
          </p:spPr>
          <p:txBody>
            <a:bodyPr wrap="none" anchor="ctr"/>
            <a:lstStyle/>
            <a:p>
              <a:endParaRPr lang="bg-BG"/>
            </a:p>
          </p:txBody>
        </p:sp>
        <p:sp>
          <p:nvSpPr>
            <p:cNvPr id="1032" name="Oval 7"/>
            <p:cNvSpPr>
              <a:spLocks noChangeArrowheads="1"/>
            </p:cNvSpPr>
            <p:nvPr/>
          </p:nvSpPr>
          <p:spPr bwMode="auto">
            <a:xfrm>
              <a:off x="2843" y="6856"/>
              <a:ext cx="600" cy="600"/>
            </a:xfrm>
            <a:prstGeom prst="ellipse">
              <a:avLst/>
            </a:prstGeom>
            <a:noFill/>
            <a:ln w="9525">
              <a:solidFill>
                <a:srgbClr val="000000"/>
              </a:solidFill>
              <a:round/>
              <a:headEnd/>
              <a:tailEnd/>
            </a:ln>
          </p:spPr>
          <p:txBody>
            <a:bodyPr wrap="none" anchor="ctr"/>
            <a:lstStyle/>
            <a:p>
              <a:endParaRPr lang="bg-BG"/>
            </a:p>
          </p:txBody>
        </p:sp>
        <p:sp>
          <p:nvSpPr>
            <p:cNvPr id="1033" name="Oval 8"/>
            <p:cNvSpPr>
              <a:spLocks noChangeArrowheads="1"/>
            </p:cNvSpPr>
            <p:nvPr/>
          </p:nvSpPr>
          <p:spPr bwMode="auto">
            <a:xfrm>
              <a:off x="2451" y="7581"/>
              <a:ext cx="600" cy="600"/>
            </a:xfrm>
            <a:prstGeom prst="ellipse">
              <a:avLst/>
            </a:prstGeom>
            <a:noFill/>
            <a:ln w="9525">
              <a:solidFill>
                <a:srgbClr val="000000"/>
              </a:solidFill>
              <a:round/>
              <a:headEnd/>
              <a:tailEnd/>
            </a:ln>
          </p:spPr>
          <p:txBody>
            <a:bodyPr wrap="none" anchor="ctr"/>
            <a:lstStyle/>
            <a:p>
              <a:endParaRPr lang="bg-BG"/>
            </a:p>
          </p:txBody>
        </p:sp>
        <p:sp>
          <p:nvSpPr>
            <p:cNvPr id="1034" name="Oval 9"/>
            <p:cNvSpPr>
              <a:spLocks noChangeArrowheads="1"/>
            </p:cNvSpPr>
            <p:nvPr/>
          </p:nvSpPr>
          <p:spPr bwMode="auto">
            <a:xfrm>
              <a:off x="3249" y="7581"/>
              <a:ext cx="600" cy="600"/>
            </a:xfrm>
            <a:prstGeom prst="ellipse">
              <a:avLst/>
            </a:prstGeom>
            <a:noFill/>
            <a:ln w="9525">
              <a:solidFill>
                <a:srgbClr val="000000"/>
              </a:solidFill>
              <a:round/>
              <a:headEnd/>
              <a:tailEnd/>
            </a:ln>
          </p:spPr>
          <p:txBody>
            <a:bodyPr wrap="none" anchor="ctr"/>
            <a:lstStyle/>
            <a:p>
              <a:endParaRPr lang="bg-BG"/>
            </a:p>
          </p:txBody>
        </p:sp>
        <p:sp>
          <p:nvSpPr>
            <p:cNvPr id="1035" name="Line 10"/>
            <p:cNvSpPr>
              <a:spLocks noChangeShapeType="1"/>
            </p:cNvSpPr>
            <p:nvPr/>
          </p:nvSpPr>
          <p:spPr bwMode="auto">
            <a:xfrm flipH="1">
              <a:off x="3648" y="5110"/>
              <a:ext cx="912" cy="399"/>
            </a:xfrm>
            <a:prstGeom prst="line">
              <a:avLst/>
            </a:prstGeom>
            <a:noFill/>
            <a:ln w="9525">
              <a:solidFill>
                <a:srgbClr val="000000"/>
              </a:solidFill>
              <a:round/>
              <a:headEnd/>
              <a:tailEnd type="triangle" w="med" len="med"/>
            </a:ln>
          </p:spPr>
          <p:txBody>
            <a:bodyPr/>
            <a:lstStyle/>
            <a:p>
              <a:endParaRPr lang="bg-BG"/>
            </a:p>
          </p:txBody>
        </p:sp>
        <p:sp>
          <p:nvSpPr>
            <p:cNvPr id="1036" name="Line 11"/>
            <p:cNvSpPr>
              <a:spLocks noChangeShapeType="1"/>
            </p:cNvSpPr>
            <p:nvPr/>
          </p:nvSpPr>
          <p:spPr bwMode="auto">
            <a:xfrm flipH="1">
              <a:off x="2850" y="5908"/>
              <a:ext cx="285" cy="228"/>
            </a:xfrm>
            <a:prstGeom prst="line">
              <a:avLst/>
            </a:prstGeom>
            <a:noFill/>
            <a:ln w="9525">
              <a:solidFill>
                <a:srgbClr val="000000"/>
              </a:solidFill>
              <a:round/>
              <a:headEnd/>
              <a:tailEnd type="triangle" w="med" len="med"/>
            </a:ln>
          </p:spPr>
          <p:txBody>
            <a:bodyPr/>
            <a:lstStyle/>
            <a:p>
              <a:endParaRPr lang="bg-BG"/>
            </a:p>
          </p:txBody>
        </p:sp>
        <p:sp>
          <p:nvSpPr>
            <p:cNvPr id="1037" name="Oval 12"/>
            <p:cNvSpPr>
              <a:spLocks noChangeArrowheads="1"/>
            </p:cNvSpPr>
            <p:nvPr/>
          </p:nvSpPr>
          <p:spPr bwMode="auto">
            <a:xfrm>
              <a:off x="5939" y="5383"/>
              <a:ext cx="600" cy="600"/>
            </a:xfrm>
            <a:prstGeom prst="ellipse">
              <a:avLst/>
            </a:prstGeom>
            <a:noFill/>
            <a:ln w="9525">
              <a:solidFill>
                <a:srgbClr val="000000"/>
              </a:solidFill>
              <a:round/>
              <a:headEnd/>
              <a:tailEnd/>
            </a:ln>
          </p:spPr>
          <p:txBody>
            <a:bodyPr wrap="none" anchor="ctr"/>
            <a:lstStyle/>
            <a:p>
              <a:endParaRPr lang="bg-BG"/>
            </a:p>
          </p:txBody>
        </p:sp>
        <p:sp>
          <p:nvSpPr>
            <p:cNvPr id="1038" name="Oval 13"/>
            <p:cNvSpPr>
              <a:spLocks noChangeArrowheads="1"/>
            </p:cNvSpPr>
            <p:nvPr/>
          </p:nvSpPr>
          <p:spPr bwMode="auto">
            <a:xfrm>
              <a:off x="5289" y="6124"/>
              <a:ext cx="600" cy="600"/>
            </a:xfrm>
            <a:prstGeom prst="ellipse">
              <a:avLst/>
            </a:prstGeom>
            <a:noFill/>
            <a:ln w="9525">
              <a:solidFill>
                <a:srgbClr val="000000"/>
              </a:solidFill>
              <a:round/>
              <a:headEnd/>
              <a:tailEnd/>
            </a:ln>
          </p:spPr>
          <p:txBody>
            <a:bodyPr wrap="none" anchor="ctr"/>
            <a:lstStyle/>
            <a:p>
              <a:endParaRPr lang="bg-BG"/>
            </a:p>
          </p:txBody>
        </p:sp>
        <p:sp>
          <p:nvSpPr>
            <p:cNvPr id="1039" name="Oval 14"/>
            <p:cNvSpPr>
              <a:spLocks noChangeArrowheads="1"/>
            </p:cNvSpPr>
            <p:nvPr/>
          </p:nvSpPr>
          <p:spPr bwMode="auto">
            <a:xfrm>
              <a:off x="6603" y="6124"/>
              <a:ext cx="600" cy="600"/>
            </a:xfrm>
            <a:prstGeom prst="ellipse">
              <a:avLst/>
            </a:prstGeom>
            <a:noFill/>
            <a:ln w="9525">
              <a:solidFill>
                <a:srgbClr val="000000"/>
              </a:solidFill>
              <a:round/>
              <a:headEnd/>
              <a:tailEnd/>
            </a:ln>
          </p:spPr>
          <p:txBody>
            <a:bodyPr wrap="none" anchor="ctr"/>
            <a:lstStyle/>
            <a:p>
              <a:endParaRPr lang="bg-BG"/>
            </a:p>
          </p:txBody>
        </p:sp>
        <p:sp>
          <p:nvSpPr>
            <p:cNvPr id="1040" name="Oval 15"/>
            <p:cNvSpPr>
              <a:spLocks noChangeArrowheads="1"/>
            </p:cNvSpPr>
            <p:nvPr/>
          </p:nvSpPr>
          <p:spPr bwMode="auto">
            <a:xfrm>
              <a:off x="6325" y="6868"/>
              <a:ext cx="600" cy="600"/>
            </a:xfrm>
            <a:prstGeom prst="ellipse">
              <a:avLst/>
            </a:prstGeom>
            <a:noFill/>
            <a:ln w="9525">
              <a:solidFill>
                <a:srgbClr val="000000"/>
              </a:solidFill>
              <a:round/>
              <a:headEnd/>
              <a:tailEnd/>
            </a:ln>
          </p:spPr>
          <p:txBody>
            <a:bodyPr wrap="none" anchor="ctr"/>
            <a:lstStyle/>
            <a:p>
              <a:endParaRPr lang="bg-BG"/>
            </a:p>
          </p:txBody>
        </p:sp>
        <p:sp>
          <p:nvSpPr>
            <p:cNvPr id="1041" name="Line 16"/>
            <p:cNvSpPr>
              <a:spLocks noChangeShapeType="1"/>
            </p:cNvSpPr>
            <p:nvPr/>
          </p:nvSpPr>
          <p:spPr bwMode="auto">
            <a:xfrm flipH="1">
              <a:off x="5711" y="5896"/>
              <a:ext cx="285" cy="228"/>
            </a:xfrm>
            <a:prstGeom prst="line">
              <a:avLst/>
            </a:prstGeom>
            <a:noFill/>
            <a:ln w="9525">
              <a:solidFill>
                <a:srgbClr val="000000"/>
              </a:solidFill>
              <a:round/>
              <a:headEnd/>
              <a:tailEnd type="triangle" w="med" len="med"/>
            </a:ln>
          </p:spPr>
          <p:txBody>
            <a:bodyPr/>
            <a:lstStyle/>
            <a:p>
              <a:endParaRPr lang="bg-BG"/>
            </a:p>
          </p:txBody>
        </p:sp>
        <p:sp>
          <p:nvSpPr>
            <p:cNvPr id="1042" name="Line 17"/>
            <p:cNvSpPr>
              <a:spLocks noChangeShapeType="1"/>
            </p:cNvSpPr>
            <p:nvPr/>
          </p:nvSpPr>
          <p:spPr bwMode="auto">
            <a:xfrm>
              <a:off x="6509" y="5839"/>
              <a:ext cx="285" cy="285"/>
            </a:xfrm>
            <a:prstGeom prst="line">
              <a:avLst/>
            </a:prstGeom>
            <a:noFill/>
            <a:ln w="9525">
              <a:solidFill>
                <a:srgbClr val="000000"/>
              </a:solidFill>
              <a:round/>
              <a:headEnd/>
              <a:tailEnd type="triangle" w="med" len="med"/>
            </a:ln>
          </p:spPr>
          <p:txBody>
            <a:bodyPr/>
            <a:lstStyle/>
            <a:p>
              <a:endParaRPr lang="bg-BG"/>
            </a:p>
          </p:txBody>
        </p:sp>
        <p:sp>
          <p:nvSpPr>
            <p:cNvPr id="1043" name="Line 18"/>
            <p:cNvSpPr>
              <a:spLocks noChangeShapeType="1"/>
            </p:cNvSpPr>
            <p:nvPr/>
          </p:nvSpPr>
          <p:spPr bwMode="auto">
            <a:xfrm flipH="1">
              <a:off x="6680" y="6694"/>
              <a:ext cx="114" cy="171"/>
            </a:xfrm>
            <a:prstGeom prst="line">
              <a:avLst/>
            </a:prstGeom>
            <a:noFill/>
            <a:ln w="9525">
              <a:solidFill>
                <a:srgbClr val="000000"/>
              </a:solidFill>
              <a:round/>
              <a:headEnd/>
              <a:tailEnd type="triangle" w="med" len="med"/>
            </a:ln>
          </p:spPr>
          <p:txBody>
            <a:bodyPr/>
            <a:lstStyle/>
            <a:p>
              <a:endParaRPr lang="bg-BG"/>
            </a:p>
          </p:txBody>
        </p:sp>
        <p:sp>
          <p:nvSpPr>
            <p:cNvPr id="1044" name="Line 19"/>
            <p:cNvSpPr>
              <a:spLocks noChangeShapeType="1"/>
            </p:cNvSpPr>
            <p:nvPr/>
          </p:nvSpPr>
          <p:spPr bwMode="auto">
            <a:xfrm>
              <a:off x="5073" y="5053"/>
              <a:ext cx="912" cy="456"/>
            </a:xfrm>
            <a:prstGeom prst="line">
              <a:avLst/>
            </a:prstGeom>
            <a:noFill/>
            <a:ln w="9525">
              <a:solidFill>
                <a:srgbClr val="000000"/>
              </a:solidFill>
              <a:round/>
              <a:headEnd/>
              <a:tailEnd type="triangle" w="med" len="med"/>
            </a:ln>
          </p:spPr>
          <p:txBody>
            <a:bodyPr/>
            <a:lstStyle/>
            <a:p>
              <a:endParaRPr lang="bg-BG"/>
            </a:p>
          </p:txBody>
        </p:sp>
        <p:sp>
          <p:nvSpPr>
            <p:cNvPr id="1045" name="Text Box 20"/>
            <p:cNvSpPr txBox="1">
              <a:spLocks noChangeArrowheads="1"/>
            </p:cNvSpPr>
            <p:nvPr/>
          </p:nvSpPr>
          <p:spPr bwMode="auto">
            <a:xfrm>
              <a:off x="4617" y="4711"/>
              <a:ext cx="342" cy="342"/>
            </a:xfrm>
            <a:prstGeom prst="rect">
              <a:avLst/>
            </a:prstGeom>
            <a:solidFill>
              <a:srgbClr val="FFFFFF"/>
            </a:solidFill>
            <a:ln w="9525">
              <a:noFill/>
              <a:miter lim="800000"/>
              <a:headEnd/>
              <a:tailEnd/>
            </a:ln>
          </p:spPr>
          <p:txBody>
            <a:bodyPr/>
            <a:lstStyle/>
            <a:p>
              <a:endParaRPr lang="bg-BG" sz="1000"/>
            </a:p>
          </p:txBody>
        </p:sp>
        <p:sp>
          <p:nvSpPr>
            <p:cNvPr id="1046" name="Line 21"/>
            <p:cNvSpPr>
              <a:spLocks noChangeShapeType="1"/>
            </p:cNvSpPr>
            <p:nvPr/>
          </p:nvSpPr>
          <p:spPr bwMode="auto">
            <a:xfrm>
              <a:off x="2850" y="6726"/>
              <a:ext cx="114" cy="171"/>
            </a:xfrm>
            <a:prstGeom prst="line">
              <a:avLst/>
            </a:prstGeom>
            <a:noFill/>
            <a:ln w="9525">
              <a:solidFill>
                <a:srgbClr val="000000"/>
              </a:solidFill>
              <a:round/>
              <a:headEnd/>
              <a:tailEnd type="triangle" w="med" len="med"/>
            </a:ln>
          </p:spPr>
          <p:txBody>
            <a:bodyPr/>
            <a:lstStyle/>
            <a:p>
              <a:endParaRPr lang="bg-BG"/>
            </a:p>
          </p:txBody>
        </p:sp>
        <p:sp>
          <p:nvSpPr>
            <p:cNvPr id="1047" name="Line 22"/>
            <p:cNvSpPr>
              <a:spLocks noChangeShapeType="1"/>
            </p:cNvSpPr>
            <p:nvPr/>
          </p:nvSpPr>
          <p:spPr bwMode="auto">
            <a:xfrm flipH="1">
              <a:off x="2850" y="7410"/>
              <a:ext cx="114" cy="171"/>
            </a:xfrm>
            <a:prstGeom prst="line">
              <a:avLst/>
            </a:prstGeom>
            <a:noFill/>
            <a:ln w="9525">
              <a:solidFill>
                <a:srgbClr val="000000"/>
              </a:solidFill>
              <a:round/>
              <a:headEnd/>
              <a:tailEnd type="triangle" w="med" len="med"/>
            </a:ln>
          </p:spPr>
          <p:txBody>
            <a:bodyPr/>
            <a:lstStyle/>
            <a:p>
              <a:endParaRPr lang="bg-BG"/>
            </a:p>
          </p:txBody>
        </p:sp>
        <p:sp>
          <p:nvSpPr>
            <p:cNvPr id="1048" name="Line 23"/>
            <p:cNvSpPr>
              <a:spLocks noChangeShapeType="1"/>
            </p:cNvSpPr>
            <p:nvPr/>
          </p:nvSpPr>
          <p:spPr bwMode="auto">
            <a:xfrm>
              <a:off x="3306" y="7410"/>
              <a:ext cx="114" cy="171"/>
            </a:xfrm>
            <a:prstGeom prst="line">
              <a:avLst/>
            </a:prstGeom>
            <a:noFill/>
            <a:ln w="9525">
              <a:solidFill>
                <a:srgbClr val="000000"/>
              </a:solidFill>
              <a:round/>
              <a:headEnd/>
              <a:tailEnd type="triangle" w="med" len="med"/>
            </a:ln>
          </p:spPr>
          <p:txBody>
            <a:bodyPr/>
            <a:lstStyle/>
            <a:p>
              <a:endParaRPr lang="bg-BG"/>
            </a:p>
          </p:txBody>
        </p:sp>
        <p:sp>
          <p:nvSpPr>
            <p:cNvPr id="1049" name="Text Box 24"/>
            <p:cNvSpPr txBox="1">
              <a:spLocks noChangeArrowheads="1"/>
            </p:cNvSpPr>
            <p:nvPr/>
          </p:nvSpPr>
          <p:spPr bwMode="auto">
            <a:xfrm>
              <a:off x="4577" y="4758"/>
              <a:ext cx="456" cy="399"/>
            </a:xfrm>
            <a:prstGeom prst="rect">
              <a:avLst/>
            </a:prstGeom>
            <a:solidFill>
              <a:srgbClr val="FFFFFF"/>
            </a:solidFill>
            <a:ln w="9525">
              <a:noFill/>
              <a:miter lim="800000"/>
              <a:headEnd/>
              <a:tailEnd/>
            </a:ln>
          </p:spPr>
          <p:txBody>
            <a:bodyPr/>
            <a:lstStyle/>
            <a:p>
              <a:r>
                <a:rPr lang="en-US" sz="1800" b="1"/>
                <a:t>A</a:t>
              </a:r>
              <a:endParaRPr lang="en-US" sz="1600" b="1"/>
            </a:p>
          </p:txBody>
        </p:sp>
        <p:sp>
          <p:nvSpPr>
            <p:cNvPr id="1050" name="Text Box 25"/>
            <p:cNvSpPr txBox="1">
              <a:spLocks noChangeArrowheads="1"/>
            </p:cNvSpPr>
            <p:nvPr/>
          </p:nvSpPr>
          <p:spPr bwMode="auto">
            <a:xfrm>
              <a:off x="3162" y="5502"/>
              <a:ext cx="456" cy="399"/>
            </a:xfrm>
            <a:prstGeom prst="rect">
              <a:avLst/>
            </a:prstGeom>
            <a:solidFill>
              <a:srgbClr val="FFFFFF"/>
            </a:solidFill>
            <a:ln w="9525">
              <a:noFill/>
              <a:miter lim="800000"/>
              <a:headEnd/>
              <a:tailEnd/>
            </a:ln>
          </p:spPr>
          <p:txBody>
            <a:bodyPr/>
            <a:lstStyle/>
            <a:p>
              <a:r>
                <a:rPr lang="en-US" sz="1800" b="1"/>
                <a:t>B</a:t>
              </a:r>
              <a:endParaRPr lang="en-US" sz="1000"/>
            </a:p>
          </p:txBody>
        </p:sp>
        <p:sp>
          <p:nvSpPr>
            <p:cNvPr id="1051" name="Text Box 26"/>
            <p:cNvSpPr txBox="1">
              <a:spLocks noChangeArrowheads="1"/>
            </p:cNvSpPr>
            <p:nvPr/>
          </p:nvSpPr>
          <p:spPr bwMode="auto">
            <a:xfrm>
              <a:off x="6025" y="5482"/>
              <a:ext cx="456" cy="399"/>
            </a:xfrm>
            <a:prstGeom prst="rect">
              <a:avLst/>
            </a:prstGeom>
            <a:solidFill>
              <a:srgbClr val="FFFFFF"/>
            </a:solidFill>
            <a:ln w="9525">
              <a:noFill/>
              <a:miter lim="800000"/>
              <a:headEnd/>
              <a:tailEnd/>
            </a:ln>
          </p:spPr>
          <p:txBody>
            <a:bodyPr/>
            <a:lstStyle/>
            <a:p>
              <a:r>
                <a:rPr lang="en-US" sz="1600" b="1"/>
                <a:t>C</a:t>
              </a:r>
            </a:p>
          </p:txBody>
        </p:sp>
        <p:sp>
          <p:nvSpPr>
            <p:cNvPr id="1052" name="Text Box 27"/>
            <p:cNvSpPr txBox="1">
              <a:spLocks noChangeArrowheads="1"/>
            </p:cNvSpPr>
            <p:nvPr/>
          </p:nvSpPr>
          <p:spPr bwMode="auto">
            <a:xfrm>
              <a:off x="2498" y="6260"/>
              <a:ext cx="456" cy="399"/>
            </a:xfrm>
            <a:prstGeom prst="rect">
              <a:avLst/>
            </a:prstGeom>
            <a:solidFill>
              <a:srgbClr val="FFFFFF"/>
            </a:solidFill>
            <a:ln w="9525">
              <a:noFill/>
              <a:miter lim="800000"/>
              <a:headEnd/>
              <a:tailEnd/>
            </a:ln>
          </p:spPr>
          <p:txBody>
            <a:bodyPr/>
            <a:lstStyle/>
            <a:p>
              <a:r>
                <a:rPr lang="en-US" sz="1800" b="1"/>
                <a:t>D</a:t>
              </a:r>
              <a:endParaRPr lang="en-US" sz="1000"/>
            </a:p>
          </p:txBody>
        </p:sp>
        <p:sp>
          <p:nvSpPr>
            <p:cNvPr id="1053" name="Text Box 28"/>
            <p:cNvSpPr txBox="1">
              <a:spLocks noChangeArrowheads="1"/>
            </p:cNvSpPr>
            <p:nvPr/>
          </p:nvSpPr>
          <p:spPr bwMode="auto">
            <a:xfrm>
              <a:off x="5395" y="6213"/>
              <a:ext cx="419" cy="399"/>
            </a:xfrm>
            <a:prstGeom prst="rect">
              <a:avLst/>
            </a:prstGeom>
            <a:solidFill>
              <a:srgbClr val="FFFFFF"/>
            </a:solidFill>
            <a:ln w="9525">
              <a:noFill/>
              <a:miter lim="800000"/>
              <a:headEnd/>
              <a:tailEnd/>
            </a:ln>
          </p:spPr>
          <p:txBody>
            <a:bodyPr/>
            <a:lstStyle/>
            <a:p>
              <a:r>
                <a:rPr lang="en-US" sz="1800" b="1"/>
                <a:t>К</a:t>
              </a:r>
              <a:endParaRPr lang="bg-BG" sz="1800" b="1"/>
            </a:p>
          </p:txBody>
        </p:sp>
        <p:sp>
          <p:nvSpPr>
            <p:cNvPr id="1054" name="Text Box 29"/>
            <p:cNvSpPr txBox="1">
              <a:spLocks noChangeArrowheads="1"/>
            </p:cNvSpPr>
            <p:nvPr/>
          </p:nvSpPr>
          <p:spPr bwMode="auto">
            <a:xfrm>
              <a:off x="6689" y="6223"/>
              <a:ext cx="419" cy="399"/>
            </a:xfrm>
            <a:prstGeom prst="rect">
              <a:avLst/>
            </a:prstGeom>
            <a:solidFill>
              <a:srgbClr val="FFFFFF"/>
            </a:solidFill>
            <a:ln w="9525">
              <a:noFill/>
              <a:miter lim="800000"/>
              <a:headEnd/>
              <a:tailEnd/>
            </a:ln>
          </p:spPr>
          <p:txBody>
            <a:bodyPr/>
            <a:lstStyle/>
            <a:p>
              <a:r>
                <a:rPr lang="en-US" sz="1800" b="1"/>
                <a:t>L</a:t>
              </a:r>
              <a:endParaRPr lang="en-US" sz="1000"/>
            </a:p>
          </p:txBody>
        </p:sp>
        <p:sp>
          <p:nvSpPr>
            <p:cNvPr id="1055" name="Text Box 30"/>
            <p:cNvSpPr txBox="1">
              <a:spLocks noChangeArrowheads="1"/>
            </p:cNvSpPr>
            <p:nvPr/>
          </p:nvSpPr>
          <p:spPr bwMode="auto">
            <a:xfrm>
              <a:off x="6401" y="6974"/>
              <a:ext cx="476" cy="399"/>
            </a:xfrm>
            <a:prstGeom prst="rect">
              <a:avLst/>
            </a:prstGeom>
            <a:solidFill>
              <a:srgbClr val="FFFFFF"/>
            </a:solidFill>
            <a:ln w="9525">
              <a:noFill/>
              <a:miter lim="800000"/>
              <a:headEnd/>
              <a:tailEnd/>
            </a:ln>
          </p:spPr>
          <p:txBody>
            <a:bodyPr/>
            <a:lstStyle/>
            <a:p>
              <a:r>
                <a:rPr lang="en-US" sz="1800" b="1"/>
                <a:t>M</a:t>
              </a:r>
              <a:endParaRPr lang="bg-BG" sz="1800" b="1"/>
            </a:p>
          </p:txBody>
        </p:sp>
        <p:sp>
          <p:nvSpPr>
            <p:cNvPr id="1056" name="Text Box 31"/>
            <p:cNvSpPr txBox="1">
              <a:spLocks noChangeArrowheads="1"/>
            </p:cNvSpPr>
            <p:nvPr/>
          </p:nvSpPr>
          <p:spPr bwMode="auto">
            <a:xfrm>
              <a:off x="2937" y="6964"/>
              <a:ext cx="419" cy="399"/>
            </a:xfrm>
            <a:prstGeom prst="rect">
              <a:avLst/>
            </a:prstGeom>
            <a:solidFill>
              <a:srgbClr val="FFFFFF"/>
            </a:solidFill>
            <a:ln w="9525">
              <a:noFill/>
              <a:miter lim="800000"/>
              <a:headEnd/>
              <a:tailEnd/>
            </a:ln>
          </p:spPr>
          <p:txBody>
            <a:bodyPr/>
            <a:lstStyle/>
            <a:p>
              <a:r>
                <a:rPr lang="en-US" sz="1800" b="1"/>
                <a:t>E</a:t>
              </a:r>
              <a:endParaRPr lang="bg-BG" sz="1000"/>
            </a:p>
          </p:txBody>
        </p:sp>
        <p:sp>
          <p:nvSpPr>
            <p:cNvPr id="1057" name="Text Box 32"/>
            <p:cNvSpPr txBox="1">
              <a:spLocks noChangeArrowheads="1"/>
            </p:cNvSpPr>
            <p:nvPr/>
          </p:nvSpPr>
          <p:spPr bwMode="auto">
            <a:xfrm>
              <a:off x="3336" y="7705"/>
              <a:ext cx="419" cy="399"/>
            </a:xfrm>
            <a:prstGeom prst="rect">
              <a:avLst/>
            </a:prstGeom>
            <a:solidFill>
              <a:srgbClr val="FFFFFF"/>
            </a:solidFill>
            <a:ln w="9525">
              <a:noFill/>
              <a:miter lim="800000"/>
              <a:headEnd/>
              <a:tailEnd/>
            </a:ln>
          </p:spPr>
          <p:txBody>
            <a:bodyPr/>
            <a:lstStyle/>
            <a:p>
              <a:r>
                <a:rPr lang="en-US" sz="1800" b="1"/>
                <a:t>G</a:t>
              </a:r>
              <a:endParaRPr lang="bg-BG" sz="1000"/>
            </a:p>
          </p:txBody>
        </p:sp>
        <p:sp>
          <p:nvSpPr>
            <p:cNvPr id="1058" name="Text Box 33"/>
            <p:cNvSpPr txBox="1">
              <a:spLocks noChangeArrowheads="1"/>
            </p:cNvSpPr>
            <p:nvPr/>
          </p:nvSpPr>
          <p:spPr bwMode="auto">
            <a:xfrm>
              <a:off x="2538" y="7675"/>
              <a:ext cx="419" cy="399"/>
            </a:xfrm>
            <a:prstGeom prst="rect">
              <a:avLst/>
            </a:prstGeom>
            <a:solidFill>
              <a:srgbClr val="FFFFFF"/>
            </a:solidFill>
            <a:ln w="9525">
              <a:noFill/>
              <a:miter lim="800000"/>
              <a:headEnd/>
              <a:tailEnd/>
            </a:ln>
          </p:spPr>
          <p:txBody>
            <a:bodyPr/>
            <a:lstStyle/>
            <a:p>
              <a:r>
                <a:rPr lang="en-US" sz="1800" b="1"/>
                <a:t>F</a:t>
              </a:r>
              <a:endParaRPr lang="bg-BG" sz="1800" b="1"/>
            </a:p>
          </p:txBody>
        </p:sp>
      </p:grpSp>
      <p:graphicFrame>
        <p:nvGraphicFramePr>
          <p:cNvPr id="1026" name="Object 34"/>
          <p:cNvGraphicFramePr>
            <a:graphicFrameLocks noChangeAspect="1"/>
          </p:cNvGraphicFramePr>
          <p:nvPr/>
        </p:nvGraphicFramePr>
        <p:xfrm>
          <a:off x="1331640" y="2420888"/>
          <a:ext cx="2652713" cy="3962400"/>
        </p:xfrm>
        <a:graphic>
          <a:graphicData uri="http://schemas.openxmlformats.org/presentationml/2006/ole">
            <mc:AlternateContent xmlns:mc="http://schemas.openxmlformats.org/markup-compatibility/2006">
              <mc:Choice xmlns:v="urn:schemas-microsoft-com:vml" Requires="v">
                <p:oleObj spid="_x0000_s1027" name="Worksheet" r:id="rId4" imgW="2771640" imgH="4196520" progId="Excel.Sheet.8">
                  <p:embed/>
                </p:oleObj>
              </mc:Choice>
              <mc:Fallback>
                <p:oleObj name="Worksheet" r:id="rId4" imgW="2771640" imgH="4196520" progId="Excel.Sheet.8">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2420888"/>
                        <a:ext cx="2652713"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1060376" y="332656"/>
            <a:ext cx="8083624" cy="6172200"/>
          </a:xfrm>
        </p:spPr>
        <p:txBody>
          <a:bodyPr>
            <a:normAutofit fontScale="90000"/>
          </a:bodyPr>
          <a:lstStyle/>
          <a:p>
            <a:pPr eaLnBrk="1" fontAlgn="auto" hangingPunct="1">
              <a:spcAft>
                <a:spcPts val="0"/>
              </a:spcAft>
              <a:defRPr/>
            </a:pPr>
            <a:r>
              <a:rPr lang="bg-BG" sz="2800" u="sng">
                <a:solidFill>
                  <a:schemeClr val="tx1"/>
                </a:solidFill>
              </a:rPr>
              <a:t>2-3 - дърво</a:t>
            </a:r>
            <a:br>
              <a:rPr lang="bg-BG" sz="2800" u="sng">
                <a:solidFill>
                  <a:schemeClr val="tx1"/>
                </a:solidFill>
              </a:rPr>
            </a:br>
            <a:r>
              <a:rPr lang="bg-BG" sz="2400">
                <a:solidFill>
                  <a:schemeClr val="tx1"/>
                </a:solidFill>
              </a:rPr>
              <a:t>Това са идеално балансирано дърво за претърсване, в което:</a:t>
            </a:r>
            <a:br>
              <a:rPr lang="bg-BG" sz="2400">
                <a:solidFill>
                  <a:schemeClr val="tx1"/>
                </a:solidFill>
              </a:rPr>
            </a:br>
            <a:r>
              <a:rPr lang="bg-BG" sz="2400">
                <a:solidFill>
                  <a:schemeClr val="tx1"/>
                </a:solidFill>
              </a:rPr>
              <a:t>- всеки вътрешен възел съдържа една ключова стойност и два </a:t>
            </a:r>
            <a:br>
              <a:rPr lang="bg-BG" sz="2400">
                <a:solidFill>
                  <a:schemeClr val="tx1"/>
                </a:solidFill>
              </a:rPr>
            </a:br>
            <a:r>
              <a:rPr lang="bg-BG" sz="2400">
                <a:solidFill>
                  <a:schemeClr val="tx1"/>
                </a:solidFill>
              </a:rPr>
              <a:t>  указателя или две ключови стойности и три указателя</a:t>
            </a:r>
            <a:br>
              <a:rPr lang="bg-BG" sz="2400">
                <a:solidFill>
                  <a:schemeClr val="tx1"/>
                </a:solidFill>
              </a:rPr>
            </a:br>
            <a:r>
              <a:rPr lang="bg-BG" sz="2400">
                <a:solidFill>
                  <a:schemeClr val="tx1"/>
                </a:solidFill>
              </a:rPr>
              <a:t>  (наследника);</a:t>
            </a:r>
            <a:br>
              <a:rPr lang="bg-BG" sz="2400">
                <a:solidFill>
                  <a:schemeClr val="tx1"/>
                </a:solidFill>
              </a:rPr>
            </a:br>
            <a:r>
              <a:rPr lang="bg-BG" sz="2400">
                <a:solidFill>
                  <a:schemeClr val="tx1"/>
                </a:solidFill>
              </a:rPr>
              <a:t>- всяко листо съдържа една или две ключови стойности;</a:t>
            </a:r>
            <a:br>
              <a:rPr lang="bg-BG" sz="2400">
                <a:solidFill>
                  <a:schemeClr val="tx1"/>
                </a:solidFill>
              </a:rPr>
            </a:br>
            <a:r>
              <a:rPr lang="bg-BG" sz="2400">
                <a:solidFill>
                  <a:schemeClr val="tx1"/>
                </a:solidFill>
              </a:rPr>
              <a:t>- всички пътища от корена до листата имат еднакви дължини.</a:t>
            </a:r>
            <a:br>
              <a:rPr lang="bg-BG" sz="2400">
                <a:solidFill>
                  <a:schemeClr val="tx1"/>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endParaRPr lang="en-US" sz="2800">
              <a:solidFill>
                <a:schemeClr val="tx2">
                  <a:satMod val="130000"/>
                </a:schemeClr>
              </a:solidFill>
            </a:endParaRPr>
          </a:p>
        </p:txBody>
      </p:sp>
      <p:grpSp>
        <p:nvGrpSpPr>
          <p:cNvPr id="71" name="Group 70"/>
          <p:cNvGrpSpPr/>
          <p:nvPr/>
        </p:nvGrpSpPr>
        <p:grpSpPr>
          <a:xfrm>
            <a:off x="430064" y="3479680"/>
            <a:ext cx="8568952" cy="2159000"/>
            <a:chOff x="152400" y="3390900"/>
            <a:chExt cx="8839200" cy="2159000"/>
          </a:xfrm>
        </p:grpSpPr>
        <p:sp>
          <p:nvSpPr>
            <p:cNvPr id="53251" name="Rectangle 3"/>
            <p:cNvSpPr>
              <a:spLocks noChangeArrowheads="1"/>
            </p:cNvSpPr>
            <p:nvPr/>
          </p:nvSpPr>
          <p:spPr bwMode="auto">
            <a:xfrm>
              <a:off x="3352800" y="34290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52" name="Line 4"/>
            <p:cNvSpPr>
              <a:spLocks noChangeShapeType="1"/>
            </p:cNvSpPr>
            <p:nvPr/>
          </p:nvSpPr>
          <p:spPr bwMode="auto">
            <a:xfrm>
              <a:off x="3810000" y="3429000"/>
              <a:ext cx="0" cy="381000"/>
            </a:xfrm>
            <a:prstGeom prst="line">
              <a:avLst/>
            </a:prstGeom>
            <a:noFill/>
            <a:ln w="9525">
              <a:solidFill>
                <a:schemeClr val="tx1"/>
              </a:solidFill>
              <a:round/>
              <a:headEnd/>
              <a:tailEnd/>
            </a:ln>
          </p:spPr>
          <p:txBody>
            <a:bodyPr wrap="none" anchor="ctr"/>
            <a:lstStyle/>
            <a:p>
              <a:endParaRPr lang="bg-BG"/>
            </a:p>
          </p:txBody>
        </p:sp>
        <p:sp>
          <p:nvSpPr>
            <p:cNvPr id="53253" name="Line 5"/>
            <p:cNvSpPr>
              <a:spLocks noChangeShapeType="1"/>
            </p:cNvSpPr>
            <p:nvPr/>
          </p:nvSpPr>
          <p:spPr bwMode="auto">
            <a:xfrm>
              <a:off x="4495800" y="3429000"/>
              <a:ext cx="0" cy="381000"/>
            </a:xfrm>
            <a:prstGeom prst="line">
              <a:avLst/>
            </a:prstGeom>
            <a:noFill/>
            <a:ln w="9525">
              <a:solidFill>
                <a:schemeClr val="tx1"/>
              </a:solidFill>
              <a:round/>
              <a:headEnd/>
              <a:tailEnd/>
            </a:ln>
          </p:spPr>
          <p:txBody>
            <a:bodyPr wrap="none" anchor="ctr"/>
            <a:lstStyle/>
            <a:p>
              <a:endParaRPr lang="bg-BG"/>
            </a:p>
          </p:txBody>
        </p:sp>
        <p:sp>
          <p:nvSpPr>
            <p:cNvPr id="53254" name="Rectangle 6"/>
            <p:cNvSpPr>
              <a:spLocks noChangeArrowheads="1"/>
            </p:cNvSpPr>
            <p:nvPr/>
          </p:nvSpPr>
          <p:spPr bwMode="auto">
            <a:xfrm>
              <a:off x="5219700" y="4038600"/>
              <a:ext cx="2209800" cy="381000"/>
            </a:xfrm>
            <a:prstGeom prst="rect">
              <a:avLst/>
            </a:prstGeom>
            <a:noFill/>
            <a:ln w="9525">
              <a:solidFill>
                <a:schemeClr val="tx1"/>
              </a:solidFill>
              <a:miter lim="800000"/>
              <a:headEnd/>
              <a:tailEnd/>
            </a:ln>
          </p:spPr>
          <p:txBody>
            <a:bodyPr wrap="none" anchor="ctr"/>
            <a:lstStyle/>
            <a:p>
              <a:endParaRPr lang="bg-BG"/>
            </a:p>
          </p:txBody>
        </p:sp>
        <p:sp>
          <p:nvSpPr>
            <p:cNvPr id="53255" name="Line 7"/>
            <p:cNvSpPr>
              <a:spLocks noChangeShapeType="1"/>
            </p:cNvSpPr>
            <p:nvPr/>
          </p:nvSpPr>
          <p:spPr bwMode="auto">
            <a:xfrm>
              <a:off x="5626100" y="4038600"/>
              <a:ext cx="0" cy="381000"/>
            </a:xfrm>
            <a:prstGeom prst="line">
              <a:avLst/>
            </a:prstGeom>
            <a:noFill/>
            <a:ln w="9525">
              <a:solidFill>
                <a:schemeClr val="tx1"/>
              </a:solidFill>
              <a:round/>
              <a:headEnd/>
              <a:tailEnd/>
            </a:ln>
          </p:spPr>
          <p:txBody>
            <a:bodyPr wrap="none" anchor="ctr"/>
            <a:lstStyle/>
            <a:p>
              <a:endParaRPr lang="bg-BG"/>
            </a:p>
          </p:txBody>
        </p:sp>
        <p:sp>
          <p:nvSpPr>
            <p:cNvPr id="53256" name="Line 8"/>
            <p:cNvSpPr>
              <a:spLocks noChangeShapeType="1"/>
            </p:cNvSpPr>
            <p:nvPr/>
          </p:nvSpPr>
          <p:spPr bwMode="auto">
            <a:xfrm>
              <a:off x="6159500" y="4038600"/>
              <a:ext cx="0" cy="381000"/>
            </a:xfrm>
            <a:prstGeom prst="line">
              <a:avLst/>
            </a:prstGeom>
            <a:noFill/>
            <a:ln w="9525">
              <a:solidFill>
                <a:schemeClr val="tx1"/>
              </a:solidFill>
              <a:round/>
              <a:headEnd/>
              <a:tailEnd/>
            </a:ln>
          </p:spPr>
          <p:txBody>
            <a:bodyPr wrap="none" anchor="ctr"/>
            <a:lstStyle/>
            <a:p>
              <a:endParaRPr lang="bg-BG"/>
            </a:p>
          </p:txBody>
        </p:sp>
        <p:sp>
          <p:nvSpPr>
            <p:cNvPr id="53257" name="Line 9"/>
            <p:cNvSpPr>
              <a:spLocks noChangeShapeType="1"/>
            </p:cNvSpPr>
            <p:nvPr/>
          </p:nvSpPr>
          <p:spPr bwMode="auto">
            <a:xfrm>
              <a:off x="7061200" y="4038600"/>
              <a:ext cx="0" cy="381000"/>
            </a:xfrm>
            <a:prstGeom prst="line">
              <a:avLst/>
            </a:prstGeom>
            <a:noFill/>
            <a:ln w="9525">
              <a:solidFill>
                <a:schemeClr val="tx1"/>
              </a:solidFill>
              <a:round/>
              <a:headEnd/>
              <a:tailEnd/>
            </a:ln>
          </p:spPr>
          <p:txBody>
            <a:bodyPr wrap="none" anchor="ctr"/>
            <a:lstStyle/>
            <a:p>
              <a:endParaRPr lang="bg-BG"/>
            </a:p>
          </p:txBody>
        </p:sp>
        <p:sp>
          <p:nvSpPr>
            <p:cNvPr id="53258" name="Line 10"/>
            <p:cNvSpPr>
              <a:spLocks noChangeShapeType="1"/>
            </p:cNvSpPr>
            <p:nvPr/>
          </p:nvSpPr>
          <p:spPr bwMode="auto">
            <a:xfrm>
              <a:off x="6540500" y="4038600"/>
              <a:ext cx="0" cy="381000"/>
            </a:xfrm>
            <a:prstGeom prst="line">
              <a:avLst/>
            </a:prstGeom>
            <a:noFill/>
            <a:ln w="9525">
              <a:solidFill>
                <a:schemeClr val="tx1"/>
              </a:solidFill>
              <a:round/>
              <a:headEnd/>
              <a:tailEnd/>
            </a:ln>
          </p:spPr>
          <p:txBody>
            <a:bodyPr wrap="none" anchor="ctr"/>
            <a:lstStyle/>
            <a:p>
              <a:endParaRPr lang="bg-BG"/>
            </a:p>
          </p:txBody>
        </p:sp>
        <p:sp>
          <p:nvSpPr>
            <p:cNvPr id="53259" name="Rectangle 11"/>
            <p:cNvSpPr>
              <a:spLocks noChangeArrowheads="1"/>
            </p:cNvSpPr>
            <p:nvPr/>
          </p:nvSpPr>
          <p:spPr bwMode="auto">
            <a:xfrm>
              <a:off x="990600" y="40386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60" name="Rectangle 12"/>
            <p:cNvSpPr>
              <a:spLocks noChangeArrowheads="1"/>
            </p:cNvSpPr>
            <p:nvPr/>
          </p:nvSpPr>
          <p:spPr bwMode="auto">
            <a:xfrm>
              <a:off x="5689600" y="48006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61" name="Rectangle 13"/>
            <p:cNvSpPr>
              <a:spLocks noChangeArrowheads="1"/>
            </p:cNvSpPr>
            <p:nvPr/>
          </p:nvSpPr>
          <p:spPr bwMode="auto">
            <a:xfrm>
              <a:off x="3962400" y="48006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62" name="Rectangle 14"/>
            <p:cNvSpPr>
              <a:spLocks noChangeArrowheads="1"/>
            </p:cNvSpPr>
            <p:nvPr/>
          </p:nvSpPr>
          <p:spPr bwMode="auto">
            <a:xfrm>
              <a:off x="2057400" y="48006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63" name="Rectangle 15"/>
            <p:cNvSpPr>
              <a:spLocks noChangeArrowheads="1"/>
            </p:cNvSpPr>
            <p:nvPr/>
          </p:nvSpPr>
          <p:spPr bwMode="auto">
            <a:xfrm>
              <a:off x="152400" y="4800600"/>
              <a:ext cx="1600200" cy="381000"/>
            </a:xfrm>
            <a:prstGeom prst="rect">
              <a:avLst/>
            </a:prstGeom>
            <a:noFill/>
            <a:ln w="9525">
              <a:solidFill>
                <a:schemeClr val="tx1"/>
              </a:solidFill>
              <a:miter lim="800000"/>
              <a:headEnd/>
              <a:tailEnd/>
            </a:ln>
          </p:spPr>
          <p:txBody>
            <a:bodyPr wrap="none" anchor="ctr"/>
            <a:lstStyle/>
            <a:p>
              <a:pPr algn="ctr"/>
              <a:endParaRPr lang="bg-BG">
                <a:solidFill>
                  <a:schemeClr val="bg1"/>
                </a:solidFill>
              </a:endParaRPr>
            </a:p>
          </p:txBody>
        </p:sp>
        <p:sp>
          <p:nvSpPr>
            <p:cNvPr id="53264" name="Rectangle 16"/>
            <p:cNvSpPr>
              <a:spLocks noChangeArrowheads="1"/>
            </p:cNvSpPr>
            <p:nvPr/>
          </p:nvSpPr>
          <p:spPr bwMode="auto">
            <a:xfrm>
              <a:off x="7391400" y="4800600"/>
              <a:ext cx="1600200" cy="381000"/>
            </a:xfrm>
            <a:prstGeom prst="rect">
              <a:avLst/>
            </a:prstGeom>
            <a:noFill/>
            <a:ln w="9525">
              <a:solidFill>
                <a:schemeClr val="tx1"/>
              </a:solidFill>
              <a:miter lim="800000"/>
              <a:headEnd/>
              <a:tailEnd/>
            </a:ln>
          </p:spPr>
          <p:txBody>
            <a:bodyPr wrap="none" anchor="ctr"/>
            <a:lstStyle/>
            <a:p>
              <a:endParaRPr lang="bg-BG"/>
            </a:p>
          </p:txBody>
        </p:sp>
        <p:sp>
          <p:nvSpPr>
            <p:cNvPr id="53265" name="Line 18"/>
            <p:cNvSpPr>
              <a:spLocks noChangeShapeType="1"/>
            </p:cNvSpPr>
            <p:nvPr/>
          </p:nvSpPr>
          <p:spPr bwMode="auto">
            <a:xfrm>
              <a:off x="5181600" y="4800600"/>
              <a:ext cx="0" cy="381000"/>
            </a:xfrm>
            <a:prstGeom prst="line">
              <a:avLst/>
            </a:prstGeom>
            <a:noFill/>
            <a:ln w="9525">
              <a:solidFill>
                <a:schemeClr val="tx1"/>
              </a:solidFill>
              <a:round/>
              <a:headEnd/>
              <a:tailEnd/>
            </a:ln>
          </p:spPr>
          <p:txBody>
            <a:bodyPr wrap="none" anchor="ctr"/>
            <a:lstStyle/>
            <a:p>
              <a:endParaRPr lang="bg-BG"/>
            </a:p>
          </p:txBody>
        </p:sp>
        <p:sp>
          <p:nvSpPr>
            <p:cNvPr id="53266" name="Line 19"/>
            <p:cNvSpPr>
              <a:spLocks noChangeShapeType="1"/>
            </p:cNvSpPr>
            <p:nvPr/>
          </p:nvSpPr>
          <p:spPr bwMode="auto">
            <a:xfrm>
              <a:off x="6934200" y="4800600"/>
              <a:ext cx="0" cy="381000"/>
            </a:xfrm>
            <a:prstGeom prst="line">
              <a:avLst/>
            </a:prstGeom>
            <a:noFill/>
            <a:ln w="9525">
              <a:solidFill>
                <a:schemeClr val="tx1"/>
              </a:solidFill>
              <a:round/>
              <a:headEnd/>
              <a:tailEnd/>
            </a:ln>
          </p:spPr>
          <p:txBody>
            <a:bodyPr wrap="none" anchor="ctr"/>
            <a:lstStyle/>
            <a:p>
              <a:endParaRPr lang="bg-BG"/>
            </a:p>
          </p:txBody>
        </p:sp>
        <p:sp>
          <p:nvSpPr>
            <p:cNvPr id="53267" name="Line 20"/>
            <p:cNvSpPr>
              <a:spLocks noChangeShapeType="1"/>
            </p:cNvSpPr>
            <p:nvPr/>
          </p:nvSpPr>
          <p:spPr bwMode="auto">
            <a:xfrm>
              <a:off x="6096000" y="4800600"/>
              <a:ext cx="0" cy="381000"/>
            </a:xfrm>
            <a:prstGeom prst="line">
              <a:avLst/>
            </a:prstGeom>
            <a:noFill/>
            <a:ln w="9525">
              <a:solidFill>
                <a:schemeClr val="tx1"/>
              </a:solidFill>
              <a:round/>
              <a:headEnd/>
              <a:tailEnd/>
            </a:ln>
          </p:spPr>
          <p:txBody>
            <a:bodyPr wrap="none" anchor="ctr"/>
            <a:lstStyle/>
            <a:p>
              <a:endParaRPr lang="bg-BG"/>
            </a:p>
          </p:txBody>
        </p:sp>
        <p:sp>
          <p:nvSpPr>
            <p:cNvPr id="53268" name="Line 21"/>
            <p:cNvSpPr>
              <a:spLocks noChangeShapeType="1"/>
            </p:cNvSpPr>
            <p:nvPr/>
          </p:nvSpPr>
          <p:spPr bwMode="auto">
            <a:xfrm>
              <a:off x="8534400" y="4800600"/>
              <a:ext cx="0" cy="381000"/>
            </a:xfrm>
            <a:prstGeom prst="line">
              <a:avLst/>
            </a:prstGeom>
            <a:noFill/>
            <a:ln w="9525">
              <a:solidFill>
                <a:schemeClr val="tx1"/>
              </a:solidFill>
              <a:round/>
              <a:headEnd/>
              <a:tailEnd/>
            </a:ln>
          </p:spPr>
          <p:txBody>
            <a:bodyPr wrap="none" anchor="ctr"/>
            <a:lstStyle/>
            <a:p>
              <a:endParaRPr lang="bg-BG"/>
            </a:p>
          </p:txBody>
        </p:sp>
        <p:sp>
          <p:nvSpPr>
            <p:cNvPr id="53269" name="Line 22"/>
            <p:cNvSpPr>
              <a:spLocks noChangeShapeType="1"/>
            </p:cNvSpPr>
            <p:nvPr/>
          </p:nvSpPr>
          <p:spPr bwMode="auto">
            <a:xfrm>
              <a:off x="7772400" y="4800600"/>
              <a:ext cx="0" cy="381000"/>
            </a:xfrm>
            <a:prstGeom prst="line">
              <a:avLst/>
            </a:prstGeom>
            <a:noFill/>
            <a:ln w="9525">
              <a:solidFill>
                <a:schemeClr val="tx1"/>
              </a:solidFill>
              <a:round/>
              <a:headEnd/>
              <a:tailEnd/>
            </a:ln>
          </p:spPr>
          <p:txBody>
            <a:bodyPr wrap="none" anchor="ctr"/>
            <a:lstStyle/>
            <a:p>
              <a:endParaRPr lang="bg-BG"/>
            </a:p>
          </p:txBody>
        </p:sp>
        <p:sp>
          <p:nvSpPr>
            <p:cNvPr id="53270" name="Line 23"/>
            <p:cNvSpPr>
              <a:spLocks noChangeShapeType="1"/>
            </p:cNvSpPr>
            <p:nvPr/>
          </p:nvSpPr>
          <p:spPr bwMode="auto">
            <a:xfrm>
              <a:off x="2438400" y="4800600"/>
              <a:ext cx="0" cy="381000"/>
            </a:xfrm>
            <a:prstGeom prst="line">
              <a:avLst/>
            </a:prstGeom>
            <a:noFill/>
            <a:ln w="9525">
              <a:solidFill>
                <a:schemeClr val="tx1"/>
              </a:solidFill>
              <a:round/>
              <a:headEnd/>
              <a:tailEnd/>
            </a:ln>
          </p:spPr>
          <p:txBody>
            <a:bodyPr wrap="none" anchor="ctr"/>
            <a:lstStyle/>
            <a:p>
              <a:endParaRPr lang="bg-BG"/>
            </a:p>
          </p:txBody>
        </p:sp>
        <p:sp>
          <p:nvSpPr>
            <p:cNvPr id="53271" name="Line 24"/>
            <p:cNvSpPr>
              <a:spLocks noChangeShapeType="1"/>
            </p:cNvSpPr>
            <p:nvPr/>
          </p:nvSpPr>
          <p:spPr bwMode="auto">
            <a:xfrm>
              <a:off x="3276600" y="4800600"/>
              <a:ext cx="0" cy="381000"/>
            </a:xfrm>
            <a:prstGeom prst="line">
              <a:avLst/>
            </a:prstGeom>
            <a:noFill/>
            <a:ln w="9525">
              <a:solidFill>
                <a:schemeClr val="tx1"/>
              </a:solidFill>
              <a:round/>
              <a:headEnd/>
              <a:tailEnd/>
            </a:ln>
          </p:spPr>
          <p:txBody>
            <a:bodyPr wrap="none" anchor="ctr"/>
            <a:lstStyle/>
            <a:p>
              <a:endParaRPr lang="bg-BG"/>
            </a:p>
          </p:txBody>
        </p:sp>
        <p:sp>
          <p:nvSpPr>
            <p:cNvPr id="53272" name="Line 25"/>
            <p:cNvSpPr>
              <a:spLocks noChangeShapeType="1"/>
            </p:cNvSpPr>
            <p:nvPr/>
          </p:nvSpPr>
          <p:spPr bwMode="auto">
            <a:xfrm>
              <a:off x="4368800" y="4813300"/>
              <a:ext cx="0" cy="381000"/>
            </a:xfrm>
            <a:prstGeom prst="line">
              <a:avLst/>
            </a:prstGeom>
            <a:noFill/>
            <a:ln w="9525">
              <a:solidFill>
                <a:schemeClr val="tx1"/>
              </a:solidFill>
              <a:round/>
              <a:headEnd/>
              <a:tailEnd/>
            </a:ln>
          </p:spPr>
          <p:txBody>
            <a:bodyPr wrap="none" anchor="ctr"/>
            <a:lstStyle/>
            <a:p>
              <a:endParaRPr lang="bg-BG"/>
            </a:p>
          </p:txBody>
        </p:sp>
        <p:sp>
          <p:nvSpPr>
            <p:cNvPr id="53273" name="Line 26"/>
            <p:cNvSpPr>
              <a:spLocks noChangeShapeType="1"/>
            </p:cNvSpPr>
            <p:nvPr/>
          </p:nvSpPr>
          <p:spPr bwMode="auto">
            <a:xfrm>
              <a:off x="1397000" y="4038600"/>
              <a:ext cx="0" cy="381000"/>
            </a:xfrm>
            <a:prstGeom prst="line">
              <a:avLst/>
            </a:prstGeom>
            <a:noFill/>
            <a:ln w="9525">
              <a:solidFill>
                <a:schemeClr val="tx1"/>
              </a:solidFill>
              <a:round/>
              <a:headEnd/>
              <a:tailEnd/>
            </a:ln>
          </p:spPr>
          <p:txBody>
            <a:bodyPr wrap="none" anchor="ctr"/>
            <a:lstStyle/>
            <a:p>
              <a:endParaRPr lang="bg-BG"/>
            </a:p>
          </p:txBody>
        </p:sp>
        <p:sp>
          <p:nvSpPr>
            <p:cNvPr id="53274" name="Line 27"/>
            <p:cNvSpPr>
              <a:spLocks noChangeShapeType="1"/>
            </p:cNvSpPr>
            <p:nvPr/>
          </p:nvSpPr>
          <p:spPr bwMode="auto">
            <a:xfrm>
              <a:off x="2209800" y="4038600"/>
              <a:ext cx="0" cy="381000"/>
            </a:xfrm>
            <a:prstGeom prst="line">
              <a:avLst/>
            </a:prstGeom>
            <a:noFill/>
            <a:ln w="9525">
              <a:solidFill>
                <a:schemeClr val="tx1"/>
              </a:solidFill>
              <a:round/>
              <a:headEnd/>
              <a:tailEnd/>
            </a:ln>
          </p:spPr>
          <p:txBody>
            <a:bodyPr wrap="none" anchor="ctr"/>
            <a:lstStyle/>
            <a:p>
              <a:endParaRPr lang="bg-BG"/>
            </a:p>
          </p:txBody>
        </p:sp>
        <p:sp>
          <p:nvSpPr>
            <p:cNvPr id="53275" name="Line 28"/>
            <p:cNvSpPr>
              <a:spLocks noChangeShapeType="1"/>
            </p:cNvSpPr>
            <p:nvPr/>
          </p:nvSpPr>
          <p:spPr bwMode="auto">
            <a:xfrm>
              <a:off x="609600" y="4800600"/>
              <a:ext cx="0" cy="381000"/>
            </a:xfrm>
            <a:prstGeom prst="line">
              <a:avLst/>
            </a:prstGeom>
            <a:noFill/>
            <a:ln w="9525">
              <a:solidFill>
                <a:schemeClr val="tx1"/>
              </a:solidFill>
              <a:round/>
              <a:headEnd/>
              <a:tailEnd/>
            </a:ln>
          </p:spPr>
          <p:txBody>
            <a:bodyPr wrap="none" anchor="ctr"/>
            <a:lstStyle/>
            <a:p>
              <a:endParaRPr lang="bg-BG"/>
            </a:p>
          </p:txBody>
        </p:sp>
        <p:sp>
          <p:nvSpPr>
            <p:cNvPr id="53276" name="Line 29"/>
            <p:cNvSpPr>
              <a:spLocks noChangeShapeType="1"/>
            </p:cNvSpPr>
            <p:nvPr/>
          </p:nvSpPr>
          <p:spPr bwMode="auto">
            <a:xfrm>
              <a:off x="1371600" y="4800600"/>
              <a:ext cx="0" cy="381000"/>
            </a:xfrm>
            <a:prstGeom prst="line">
              <a:avLst/>
            </a:prstGeom>
            <a:noFill/>
            <a:ln w="9525">
              <a:solidFill>
                <a:schemeClr val="tx1"/>
              </a:solidFill>
              <a:round/>
              <a:headEnd/>
              <a:tailEnd/>
            </a:ln>
          </p:spPr>
          <p:txBody>
            <a:bodyPr wrap="none" anchor="ctr"/>
            <a:lstStyle/>
            <a:p>
              <a:endParaRPr lang="bg-BG"/>
            </a:p>
          </p:txBody>
        </p:sp>
        <p:sp>
          <p:nvSpPr>
            <p:cNvPr id="53277" name="Line 30"/>
            <p:cNvSpPr>
              <a:spLocks noChangeShapeType="1"/>
            </p:cNvSpPr>
            <p:nvPr/>
          </p:nvSpPr>
          <p:spPr bwMode="auto">
            <a:xfrm>
              <a:off x="381000" y="50165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78" name="Line 31"/>
            <p:cNvSpPr>
              <a:spLocks noChangeShapeType="1"/>
            </p:cNvSpPr>
            <p:nvPr/>
          </p:nvSpPr>
          <p:spPr bwMode="auto">
            <a:xfrm>
              <a:off x="304800" y="5549900"/>
              <a:ext cx="152400" cy="0"/>
            </a:xfrm>
            <a:prstGeom prst="line">
              <a:avLst/>
            </a:prstGeom>
            <a:noFill/>
            <a:ln w="9525">
              <a:solidFill>
                <a:schemeClr val="tx1"/>
              </a:solidFill>
              <a:round/>
              <a:headEnd/>
              <a:tailEnd/>
            </a:ln>
          </p:spPr>
          <p:txBody>
            <a:bodyPr wrap="none" anchor="ctr"/>
            <a:lstStyle/>
            <a:p>
              <a:endParaRPr lang="bg-BG"/>
            </a:p>
          </p:txBody>
        </p:sp>
        <p:sp>
          <p:nvSpPr>
            <p:cNvPr id="53279" name="Line 34"/>
            <p:cNvSpPr>
              <a:spLocks noChangeShapeType="1"/>
            </p:cNvSpPr>
            <p:nvPr/>
          </p:nvSpPr>
          <p:spPr bwMode="auto">
            <a:xfrm>
              <a:off x="5892800" y="50038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0" name="Line 35"/>
            <p:cNvSpPr>
              <a:spLocks noChangeShapeType="1"/>
            </p:cNvSpPr>
            <p:nvPr/>
          </p:nvSpPr>
          <p:spPr bwMode="auto">
            <a:xfrm>
              <a:off x="5372100" y="49911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1" name="Line 36"/>
            <p:cNvSpPr>
              <a:spLocks noChangeShapeType="1"/>
            </p:cNvSpPr>
            <p:nvPr/>
          </p:nvSpPr>
          <p:spPr bwMode="auto">
            <a:xfrm>
              <a:off x="4152900" y="50038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2" name="Line 37"/>
            <p:cNvSpPr>
              <a:spLocks noChangeShapeType="1"/>
            </p:cNvSpPr>
            <p:nvPr/>
          </p:nvSpPr>
          <p:spPr bwMode="auto">
            <a:xfrm>
              <a:off x="3467100" y="50038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3" name="Line 38"/>
            <p:cNvSpPr>
              <a:spLocks noChangeShapeType="1"/>
            </p:cNvSpPr>
            <p:nvPr/>
          </p:nvSpPr>
          <p:spPr bwMode="auto">
            <a:xfrm>
              <a:off x="1562100" y="50038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4" name="Line 39"/>
            <p:cNvSpPr>
              <a:spLocks noChangeShapeType="1"/>
            </p:cNvSpPr>
            <p:nvPr/>
          </p:nvSpPr>
          <p:spPr bwMode="auto">
            <a:xfrm>
              <a:off x="2247900" y="49911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5" name="Line 40"/>
            <p:cNvSpPr>
              <a:spLocks noChangeShapeType="1"/>
            </p:cNvSpPr>
            <p:nvPr/>
          </p:nvSpPr>
          <p:spPr bwMode="auto">
            <a:xfrm>
              <a:off x="8763000" y="49911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6" name="Line 41"/>
            <p:cNvSpPr>
              <a:spLocks noChangeShapeType="1"/>
            </p:cNvSpPr>
            <p:nvPr/>
          </p:nvSpPr>
          <p:spPr bwMode="auto">
            <a:xfrm>
              <a:off x="7581900" y="49784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287" name="Line 42"/>
            <p:cNvSpPr>
              <a:spLocks noChangeShapeType="1"/>
            </p:cNvSpPr>
            <p:nvPr/>
          </p:nvSpPr>
          <p:spPr bwMode="auto">
            <a:xfrm>
              <a:off x="4076700" y="5549900"/>
              <a:ext cx="152400" cy="0"/>
            </a:xfrm>
            <a:prstGeom prst="line">
              <a:avLst/>
            </a:prstGeom>
            <a:noFill/>
            <a:ln w="9525">
              <a:solidFill>
                <a:schemeClr val="tx1"/>
              </a:solidFill>
              <a:round/>
              <a:headEnd/>
              <a:tailEnd/>
            </a:ln>
          </p:spPr>
          <p:txBody>
            <a:bodyPr wrap="none" anchor="ctr"/>
            <a:lstStyle/>
            <a:p>
              <a:endParaRPr lang="bg-BG"/>
            </a:p>
          </p:txBody>
        </p:sp>
        <p:sp>
          <p:nvSpPr>
            <p:cNvPr id="53288" name="Line 43"/>
            <p:cNvSpPr>
              <a:spLocks noChangeShapeType="1"/>
            </p:cNvSpPr>
            <p:nvPr/>
          </p:nvSpPr>
          <p:spPr bwMode="auto">
            <a:xfrm>
              <a:off x="5295900" y="5524500"/>
              <a:ext cx="152400" cy="0"/>
            </a:xfrm>
            <a:prstGeom prst="line">
              <a:avLst/>
            </a:prstGeom>
            <a:noFill/>
            <a:ln w="9525">
              <a:solidFill>
                <a:schemeClr val="tx1"/>
              </a:solidFill>
              <a:round/>
              <a:headEnd/>
              <a:tailEnd/>
            </a:ln>
          </p:spPr>
          <p:txBody>
            <a:bodyPr wrap="none" anchor="ctr"/>
            <a:lstStyle/>
            <a:p>
              <a:endParaRPr lang="bg-BG"/>
            </a:p>
          </p:txBody>
        </p:sp>
        <p:sp>
          <p:nvSpPr>
            <p:cNvPr id="53289" name="Line 44"/>
            <p:cNvSpPr>
              <a:spLocks noChangeShapeType="1"/>
            </p:cNvSpPr>
            <p:nvPr/>
          </p:nvSpPr>
          <p:spPr bwMode="auto">
            <a:xfrm>
              <a:off x="5816600" y="5537200"/>
              <a:ext cx="152400" cy="0"/>
            </a:xfrm>
            <a:prstGeom prst="line">
              <a:avLst/>
            </a:prstGeom>
            <a:noFill/>
            <a:ln w="9525">
              <a:solidFill>
                <a:schemeClr val="tx1"/>
              </a:solidFill>
              <a:round/>
              <a:headEnd/>
              <a:tailEnd/>
            </a:ln>
          </p:spPr>
          <p:txBody>
            <a:bodyPr wrap="none" anchor="ctr"/>
            <a:lstStyle/>
            <a:p>
              <a:endParaRPr lang="bg-BG"/>
            </a:p>
          </p:txBody>
        </p:sp>
        <p:sp>
          <p:nvSpPr>
            <p:cNvPr id="53290" name="Line 45"/>
            <p:cNvSpPr>
              <a:spLocks noChangeShapeType="1"/>
            </p:cNvSpPr>
            <p:nvPr/>
          </p:nvSpPr>
          <p:spPr bwMode="auto">
            <a:xfrm>
              <a:off x="3390900" y="5537200"/>
              <a:ext cx="152400" cy="0"/>
            </a:xfrm>
            <a:prstGeom prst="line">
              <a:avLst/>
            </a:prstGeom>
            <a:noFill/>
            <a:ln w="9525">
              <a:solidFill>
                <a:schemeClr val="tx1"/>
              </a:solidFill>
              <a:round/>
              <a:headEnd/>
              <a:tailEnd/>
            </a:ln>
          </p:spPr>
          <p:txBody>
            <a:bodyPr wrap="none" anchor="ctr"/>
            <a:lstStyle/>
            <a:p>
              <a:endParaRPr lang="bg-BG"/>
            </a:p>
          </p:txBody>
        </p:sp>
        <p:sp>
          <p:nvSpPr>
            <p:cNvPr id="53291" name="Line 46"/>
            <p:cNvSpPr>
              <a:spLocks noChangeShapeType="1"/>
            </p:cNvSpPr>
            <p:nvPr/>
          </p:nvSpPr>
          <p:spPr bwMode="auto">
            <a:xfrm>
              <a:off x="2171700" y="5511800"/>
              <a:ext cx="152400" cy="0"/>
            </a:xfrm>
            <a:prstGeom prst="line">
              <a:avLst/>
            </a:prstGeom>
            <a:noFill/>
            <a:ln w="9525">
              <a:solidFill>
                <a:schemeClr val="tx1"/>
              </a:solidFill>
              <a:round/>
              <a:headEnd/>
              <a:tailEnd/>
            </a:ln>
          </p:spPr>
          <p:txBody>
            <a:bodyPr wrap="none" anchor="ctr"/>
            <a:lstStyle/>
            <a:p>
              <a:endParaRPr lang="bg-BG"/>
            </a:p>
          </p:txBody>
        </p:sp>
        <p:sp>
          <p:nvSpPr>
            <p:cNvPr id="53292" name="Line 47"/>
            <p:cNvSpPr>
              <a:spLocks noChangeShapeType="1"/>
            </p:cNvSpPr>
            <p:nvPr/>
          </p:nvSpPr>
          <p:spPr bwMode="auto">
            <a:xfrm>
              <a:off x="1485900" y="5537200"/>
              <a:ext cx="152400" cy="0"/>
            </a:xfrm>
            <a:prstGeom prst="line">
              <a:avLst/>
            </a:prstGeom>
            <a:noFill/>
            <a:ln w="9525">
              <a:solidFill>
                <a:schemeClr val="tx1"/>
              </a:solidFill>
              <a:round/>
              <a:headEnd/>
              <a:tailEnd/>
            </a:ln>
          </p:spPr>
          <p:txBody>
            <a:bodyPr wrap="none" anchor="ctr"/>
            <a:lstStyle/>
            <a:p>
              <a:endParaRPr lang="bg-BG"/>
            </a:p>
          </p:txBody>
        </p:sp>
        <p:sp>
          <p:nvSpPr>
            <p:cNvPr id="53293" name="Line 48"/>
            <p:cNvSpPr>
              <a:spLocks noChangeShapeType="1"/>
            </p:cNvSpPr>
            <p:nvPr/>
          </p:nvSpPr>
          <p:spPr bwMode="auto">
            <a:xfrm>
              <a:off x="8686800" y="5524500"/>
              <a:ext cx="152400" cy="0"/>
            </a:xfrm>
            <a:prstGeom prst="line">
              <a:avLst/>
            </a:prstGeom>
            <a:noFill/>
            <a:ln w="9525">
              <a:solidFill>
                <a:schemeClr val="tx1"/>
              </a:solidFill>
              <a:round/>
              <a:headEnd/>
              <a:tailEnd/>
            </a:ln>
          </p:spPr>
          <p:txBody>
            <a:bodyPr wrap="none" anchor="ctr"/>
            <a:lstStyle/>
            <a:p>
              <a:endParaRPr lang="bg-BG"/>
            </a:p>
          </p:txBody>
        </p:sp>
        <p:sp>
          <p:nvSpPr>
            <p:cNvPr id="53294" name="Line 49"/>
            <p:cNvSpPr>
              <a:spLocks noChangeShapeType="1"/>
            </p:cNvSpPr>
            <p:nvPr/>
          </p:nvSpPr>
          <p:spPr bwMode="auto">
            <a:xfrm>
              <a:off x="7505700" y="5511800"/>
              <a:ext cx="152400" cy="0"/>
            </a:xfrm>
            <a:prstGeom prst="line">
              <a:avLst/>
            </a:prstGeom>
            <a:noFill/>
            <a:ln w="9525">
              <a:solidFill>
                <a:schemeClr val="tx1"/>
              </a:solidFill>
              <a:round/>
              <a:headEnd/>
              <a:tailEnd/>
            </a:ln>
          </p:spPr>
          <p:txBody>
            <a:bodyPr wrap="none" anchor="ctr"/>
            <a:lstStyle/>
            <a:p>
              <a:endParaRPr lang="bg-BG"/>
            </a:p>
          </p:txBody>
        </p:sp>
        <p:sp>
          <p:nvSpPr>
            <p:cNvPr id="53295" name="Line 51"/>
            <p:cNvSpPr>
              <a:spLocks noChangeShapeType="1"/>
            </p:cNvSpPr>
            <p:nvPr/>
          </p:nvSpPr>
          <p:spPr bwMode="auto">
            <a:xfrm>
              <a:off x="2362200" y="4191000"/>
              <a:ext cx="457200" cy="0"/>
            </a:xfrm>
            <a:prstGeom prst="line">
              <a:avLst/>
            </a:prstGeom>
            <a:noFill/>
            <a:ln w="9525">
              <a:solidFill>
                <a:schemeClr val="tx1"/>
              </a:solidFill>
              <a:round/>
              <a:headEnd/>
              <a:tailEnd/>
            </a:ln>
          </p:spPr>
          <p:txBody>
            <a:bodyPr wrap="none" anchor="ctr"/>
            <a:lstStyle/>
            <a:p>
              <a:endParaRPr lang="bg-BG"/>
            </a:p>
          </p:txBody>
        </p:sp>
        <p:sp>
          <p:nvSpPr>
            <p:cNvPr id="53296" name="Line 52"/>
            <p:cNvSpPr>
              <a:spLocks noChangeShapeType="1"/>
            </p:cNvSpPr>
            <p:nvPr/>
          </p:nvSpPr>
          <p:spPr bwMode="auto">
            <a:xfrm>
              <a:off x="2819400" y="41910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3297" name="Line 54"/>
            <p:cNvSpPr>
              <a:spLocks noChangeShapeType="1"/>
            </p:cNvSpPr>
            <p:nvPr/>
          </p:nvSpPr>
          <p:spPr bwMode="auto">
            <a:xfrm flipH="1">
              <a:off x="4724400" y="4191000"/>
              <a:ext cx="685800" cy="0"/>
            </a:xfrm>
            <a:prstGeom prst="line">
              <a:avLst/>
            </a:prstGeom>
            <a:noFill/>
            <a:ln w="9525">
              <a:solidFill>
                <a:schemeClr val="tx1"/>
              </a:solidFill>
              <a:round/>
              <a:headEnd/>
              <a:tailEnd/>
            </a:ln>
          </p:spPr>
          <p:txBody>
            <a:bodyPr wrap="none" anchor="ctr"/>
            <a:lstStyle/>
            <a:p>
              <a:endParaRPr lang="bg-BG"/>
            </a:p>
          </p:txBody>
        </p:sp>
        <p:sp>
          <p:nvSpPr>
            <p:cNvPr id="53298" name="Line 55"/>
            <p:cNvSpPr>
              <a:spLocks noChangeShapeType="1"/>
            </p:cNvSpPr>
            <p:nvPr/>
          </p:nvSpPr>
          <p:spPr bwMode="auto">
            <a:xfrm>
              <a:off x="4724400" y="41910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3299" name="Line 56"/>
            <p:cNvSpPr>
              <a:spLocks noChangeShapeType="1"/>
            </p:cNvSpPr>
            <p:nvPr/>
          </p:nvSpPr>
          <p:spPr bwMode="auto">
            <a:xfrm flipH="1">
              <a:off x="1828800" y="3581400"/>
              <a:ext cx="1752600" cy="0"/>
            </a:xfrm>
            <a:prstGeom prst="line">
              <a:avLst/>
            </a:prstGeom>
            <a:noFill/>
            <a:ln w="9525">
              <a:solidFill>
                <a:schemeClr val="tx1"/>
              </a:solidFill>
              <a:round/>
              <a:headEnd/>
              <a:tailEnd/>
            </a:ln>
          </p:spPr>
          <p:txBody>
            <a:bodyPr wrap="none" anchor="ctr"/>
            <a:lstStyle/>
            <a:p>
              <a:endParaRPr lang="bg-BG"/>
            </a:p>
          </p:txBody>
        </p:sp>
        <p:sp>
          <p:nvSpPr>
            <p:cNvPr id="53300" name="Line 57"/>
            <p:cNvSpPr>
              <a:spLocks noChangeShapeType="1"/>
            </p:cNvSpPr>
            <p:nvPr/>
          </p:nvSpPr>
          <p:spPr bwMode="auto">
            <a:xfrm>
              <a:off x="1828800" y="35814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53301" name="Line 58"/>
            <p:cNvSpPr>
              <a:spLocks noChangeShapeType="1"/>
            </p:cNvSpPr>
            <p:nvPr/>
          </p:nvSpPr>
          <p:spPr bwMode="auto">
            <a:xfrm flipH="1">
              <a:off x="914400" y="4267200"/>
              <a:ext cx="304800" cy="0"/>
            </a:xfrm>
            <a:prstGeom prst="line">
              <a:avLst/>
            </a:prstGeom>
            <a:noFill/>
            <a:ln w="9525">
              <a:solidFill>
                <a:schemeClr val="tx1"/>
              </a:solidFill>
              <a:round/>
              <a:headEnd/>
              <a:tailEnd/>
            </a:ln>
          </p:spPr>
          <p:txBody>
            <a:bodyPr wrap="none" anchor="ctr"/>
            <a:lstStyle/>
            <a:p>
              <a:endParaRPr lang="bg-BG"/>
            </a:p>
          </p:txBody>
        </p:sp>
        <p:sp>
          <p:nvSpPr>
            <p:cNvPr id="53302" name="Line 59"/>
            <p:cNvSpPr>
              <a:spLocks noChangeShapeType="1"/>
            </p:cNvSpPr>
            <p:nvPr/>
          </p:nvSpPr>
          <p:spPr bwMode="auto">
            <a:xfrm>
              <a:off x="914400" y="42672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303" name="Line 60"/>
            <p:cNvSpPr>
              <a:spLocks noChangeShapeType="1"/>
            </p:cNvSpPr>
            <p:nvPr/>
          </p:nvSpPr>
          <p:spPr bwMode="auto">
            <a:xfrm>
              <a:off x="4724400" y="3581400"/>
              <a:ext cx="1600200" cy="0"/>
            </a:xfrm>
            <a:prstGeom prst="line">
              <a:avLst/>
            </a:prstGeom>
            <a:noFill/>
            <a:ln w="9525">
              <a:solidFill>
                <a:schemeClr val="tx1"/>
              </a:solidFill>
              <a:round/>
              <a:headEnd/>
              <a:tailEnd/>
            </a:ln>
          </p:spPr>
          <p:txBody>
            <a:bodyPr wrap="none" anchor="ctr"/>
            <a:lstStyle/>
            <a:p>
              <a:endParaRPr lang="bg-BG"/>
            </a:p>
          </p:txBody>
        </p:sp>
        <p:sp>
          <p:nvSpPr>
            <p:cNvPr id="53304" name="Line 61"/>
            <p:cNvSpPr>
              <a:spLocks noChangeShapeType="1"/>
            </p:cNvSpPr>
            <p:nvPr/>
          </p:nvSpPr>
          <p:spPr bwMode="auto">
            <a:xfrm>
              <a:off x="6324600" y="35814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53305" name="Line 63"/>
            <p:cNvSpPr>
              <a:spLocks noChangeShapeType="1"/>
            </p:cNvSpPr>
            <p:nvPr/>
          </p:nvSpPr>
          <p:spPr bwMode="auto">
            <a:xfrm>
              <a:off x="6324600" y="41910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3306" name="Line 64"/>
            <p:cNvSpPr>
              <a:spLocks noChangeShapeType="1"/>
            </p:cNvSpPr>
            <p:nvPr/>
          </p:nvSpPr>
          <p:spPr bwMode="auto">
            <a:xfrm>
              <a:off x="7086600" y="49911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3307" name="Line 65"/>
            <p:cNvSpPr>
              <a:spLocks noChangeShapeType="1"/>
            </p:cNvSpPr>
            <p:nvPr/>
          </p:nvSpPr>
          <p:spPr bwMode="auto">
            <a:xfrm>
              <a:off x="7010400" y="5524500"/>
              <a:ext cx="152400" cy="0"/>
            </a:xfrm>
            <a:prstGeom prst="line">
              <a:avLst/>
            </a:prstGeom>
            <a:noFill/>
            <a:ln w="9525">
              <a:solidFill>
                <a:schemeClr val="tx1"/>
              </a:solidFill>
              <a:round/>
              <a:headEnd/>
              <a:tailEnd/>
            </a:ln>
          </p:spPr>
          <p:txBody>
            <a:bodyPr wrap="none" anchor="ctr"/>
            <a:lstStyle/>
            <a:p>
              <a:endParaRPr lang="bg-BG"/>
            </a:p>
          </p:txBody>
        </p:sp>
        <p:sp>
          <p:nvSpPr>
            <p:cNvPr id="53308" name="Line 66"/>
            <p:cNvSpPr>
              <a:spLocks noChangeShapeType="1"/>
            </p:cNvSpPr>
            <p:nvPr/>
          </p:nvSpPr>
          <p:spPr bwMode="auto">
            <a:xfrm>
              <a:off x="7239000" y="4191000"/>
              <a:ext cx="914400" cy="0"/>
            </a:xfrm>
            <a:prstGeom prst="line">
              <a:avLst/>
            </a:prstGeom>
            <a:noFill/>
            <a:ln w="9525">
              <a:solidFill>
                <a:schemeClr val="tx1"/>
              </a:solidFill>
              <a:round/>
              <a:headEnd/>
              <a:tailEnd/>
            </a:ln>
          </p:spPr>
          <p:txBody>
            <a:bodyPr wrap="none" anchor="ctr"/>
            <a:lstStyle/>
            <a:p>
              <a:endParaRPr lang="bg-BG"/>
            </a:p>
          </p:txBody>
        </p:sp>
        <p:sp>
          <p:nvSpPr>
            <p:cNvPr id="53309" name="Line 67"/>
            <p:cNvSpPr>
              <a:spLocks noChangeShapeType="1"/>
            </p:cNvSpPr>
            <p:nvPr/>
          </p:nvSpPr>
          <p:spPr bwMode="auto">
            <a:xfrm>
              <a:off x="8153400" y="41910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3310" name="Text Box 68"/>
            <p:cNvSpPr txBox="1">
              <a:spLocks noChangeArrowheads="1"/>
            </p:cNvSpPr>
            <p:nvPr/>
          </p:nvSpPr>
          <p:spPr bwMode="auto">
            <a:xfrm>
              <a:off x="3886200" y="3390900"/>
              <a:ext cx="5334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3311" name="Text Box 69"/>
            <p:cNvSpPr txBox="1">
              <a:spLocks noChangeArrowheads="1"/>
            </p:cNvSpPr>
            <p:nvPr/>
          </p:nvSpPr>
          <p:spPr bwMode="auto">
            <a:xfrm>
              <a:off x="1549400" y="39878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3312" name="Text Box 70"/>
            <p:cNvSpPr txBox="1">
              <a:spLocks noChangeArrowheads="1"/>
            </p:cNvSpPr>
            <p:nvPr/>
          </p:nvSpPr>
          <p:spPr bwMode="auto">
            <a:xfrm>
              <a:off x="723900" y="47625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3313" name="Text Box 71"/>
            <p:cNvSpPr txBox="1">
              <a:spLocks noChangeArrowheads="1"/>
            </p:cNvSpPr>
            <p:nvPr/>
          </p:nvSpPr>
          <p:spPr bwMode="auto">
            <a:xfrm>
              <a:off x="5651500" y="39878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3314" name="Text Box 72"/>
            <p:cNvSpPr txBox="1">
              <a:spLocks noChangeArrowheads="1"/>
            </p:cNvSpPr>
            <p:nvPr/>
          </p:nvSpPr>
          <p:spPr bwMode="auto">
            <a:xfrm>
              <a:off x="6553200" y="39878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3315" name="Text Box 73"/>
            <p:cNvSpPr txBox="1">
              <a:spLocks noChangeArrowheads="1"/>
            </p:cNvSpPr>
            <p:nvPr/>
          </p:nvSpPr>
          <p:spPr bwMode="auto">
            <a:xfrm>
              <a:off x="2590800" y="4762500"/>
              <a:ext cx="5334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3316" name="Text Box 74"/>
            <p:cNvSpPr txBox="1">
              <a:spLocks noChangeArrowheads="1"/>
            </p:cNvSpPr>
            <p:nvPr/>
          </p:nvSpPr>
          <p:spPr bwMode="auto">
            <a:xfrm>
              <a:off x="6235700" y="4762500"/>
              <a:ext cx="533400" cy="457200"/>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3317" name="Text Box 75"/>
            <p:cNvSpPr txBox="1">
              <a:spLocks noChangeArrowheads="1"/>
            </p:cNvSpPr>
            <p:nvPr/>
          </p:nvSpPr>
          <p:spPr bwMode="auto">
            <a:xfrm>
              <a:off x="4521200" y="4762500"/>
              <a:ext cx="5334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3318" name="Text Box 76"/>
            <p:cNvSpPr txBox="1">
              <a:spLocks noChangeArrowheads="1"/>
            </p:cNvSpPr>
            <p:nvPr/>
          </p:nvSpPr>
          <p:spPr bwMode="auto">
            <a:xfrm>
              <a:off x="7835900" y="4775200"/>
              <a:ext cx="660400" cy="457200"/>
            </a:xfrm>
            <a:prstGeom prst="rect">
              <a:avLst/>
            </a:prstGeom>
            <a:noFill/>
            <a:ln w="9525">
              <a:noFill/>
              <a:miter lim="800000"/>
              <a:headEnd/>
              <a:tailEnd/>
            </a:ln>
          </p:spPr>
          <p:txBody>
            <a:bodyPr>
              <a:spAutoFit/>
            </a:bodyPr>
            <a:lstStyle/>
            <a:p>
              <a:pPr>
                <a:spcBef>
                  <a:spcPct val="50000"/>
                </a:spcBef>
              </a:pPr>
              <a:r>
                <a:rPr lang="bg-BG"/>
                <a:t>100</a:t>
              </a:r>
              <a:endParaRPr lang="en-US"/>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304800" y="609600"/>
            <a:ext cx="8610600" cy="5867400"/>
          </a:xfrm>
        </p:spPr>
        <p:txBody>
          <a:bodyPr/>
          <a:lstStyle/>
          <a:p>
            <a:pPr eaLnBrk="1" fontAlgn="auto" hangingPunct="1">
              <a:spcAft>
                <a:spcPts val="0"/>
              </a:spcAft>
              <a:defRPr/>
            </a:pPr>
            <a:r>
              <a:rPr lang="en-US" sz="2400" smtClean="0">
                <a:solidFill>
                  <a:schemeClr val="tx2">
                    <a:satMod val="130000"/>
                  </a:schemeClr>
                </a:solidFill>
              </a:rPr>
              <a:t>	</a:t>
            </a:r>
            <a:r>
              <a:rPr lang="bg-BG" sz="2400" smtClean="0">
                <a:solidFill>
                  <a:schemeClr val="tx1"/>
                </a:solidFill>
              </a:rPr>
              <a:t>Примерно</a:t>
            </a:r>
            <a:r>
              <a:rPr lang="bg-BG" sz="2400">
                <a:solidFill>
                  <a:schemeClr val="tx1"/>
                </a:solidFill>
              </a:rPr>
              <a:t>, добавяме елемент със стойност 1:</a:t>
            </a:r>
            <a:br>
              <a:rPr lang="bg-BG" sz="2400">
                <a:solidFill>
                  <a:schemeClr val="tx1"/>
                </a:solidFill>
              </a:rPr>
            </a:br>
            <a:r>
              <a:rPr lang="bg-BG" sz="2400">
                <a:solidFill>
                  <a:schemeClr val="tx1"/>
                </a:solidFill>
              </a:rPr>
              <a:t/>
            </a:r>
            <a:br>
              <a:rPr lang="bg-BG" sz="2400">
                <a:solidFill>
                  <a:schemeClr val="tx1"/>
                </a:solidFill>
              </a:rPr>
            </a:br>
            <a:endParaRPr lang="en-US">
              <a:solidFill>
                <a:schemeClr val="tx1"/>
              </a:solidFill>
            </a:endParaRPr>
          </a:p>
        </p:txBody>
      </p:sp>
      <p:sp>
        <p:nvSpPr>
          <p:cNvPr id="54275" name="Rectangle 3"/>
          <p:cNvSpPr>
            <a:spLocks noChangeArrowheads="1"/>
          </p:cNvSpPr>
          <p:nvPr/>
        </p:nvSpPr>
        <p:spPr bwMode="auto">
          <a:xfrm>
            <a:off x="304800" y="381000"/>
            <a:ext cx="8458200" cy="6172200"/>
          </a:xfrm>
          <a:prstGeom prst="rect">
            <a:avLst/>
          </a:prstGeom>
          <a:noFill/>
          <a:ln w="9525">
            <a:noFill/>
            <a:miter lim="800000"/>
            <a:headEnd/>
            <a:tailEnd/>
          </a:ln>
        </p:spPr>
        <p:txBody>
          <a:bodyPr anchor="ctr"/>
          <a:lstStyle/>
          <a:p>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t>
            </a:r>
            <a:endParaRPr lang="en-US" sz="2800">
              <a:solidFill>
                <a:schemeClr val="tx2"/>
              </a:solidFill>
            </a:endParaRPr>
          </a:p>
        </p:txBody>
      </p:sp>
      <p:grpSp>
        <p:nvGrpSpPr>
          <p:cNvPr id="54276" name="Group 72"/>
          <p:cNvGrpSpPr>
            <a:grpSpLocks/>
          </p:cNvGrpSpPr>
          <p:nvPr/>
        </p:nvGrpSpPr>
        <p:grpSpPr bwMode="auto">
          <a:xfrm>
            <a:off x="101600" y="457200"/>
            <a:ext cx="8839200" cy="2159000"/>
            <a:chOff x="96" y="2136"/>
            <a:chExt cx="5568" cy="1360"/>
          </a:xfrm>
        </p:grpSpPr>
        <p:sp>
          <p:nvSpPr>
            <p:cNvPr id="54351" name="Rectangle 4"/>
            <p:cNvSpPr>
              <a:spLocks noChangeArrowheads="1"/>
            </p:cNvSpPr>
            <p:nvPr/>
          </p:nvSpPr>
          <p:spPr bwMode="auto">
            <a:xfrm>
              <a:off x="2112" y="2160"/>
              <a:ext cx="1008" cy="240"/>
            </a:xfrm>
            <a:prstGeom prst="rect">
              <a:avLst/>
            </a:prstGeom>
            <a:noFill/>
            <a:ln w="9525">
              <a:solidFill>
                <a:schemeClr val="tx1"/>
              </a:solidFill>
              <a:miter lim="800000"/>
              <a:headEnd/>
              <a:tailEnd/>
            </a:ln>
          </p:spPr>
          <p:txBody>
            <a:bodyPr wrap="none" anchor="ctr"/>
            <a:lstStyle/>
            <a:p>
              <a:endParaRPr lang="bg-BG"/>
            </a:p>
          </p:txBody>
        </p:sp>
        <p:sp>
          <p:nvSpPr>
            <p:cNvPr id="54352" name="Line 5"/>
            <p:cNvSpPr>
              <a:spLocks noChangeShapeType="1"/>
            </p:cNvSpPr>
            <p:nvPr/>
          </p:nvSpPr>
          <p:spPr bwMode="auto">
            <a:xfrm>
              <a:off x="2400" y="2160"/>
              <a:ext cx="0" cy="240"/>
            </a:xfrm>
            <a:prstGeom prst="line">
              <a:avLst/>
            </a:prstGeom>
            <a:noFill/>
            <a:ln w="9525">
              <a:solidFill>
                <a:schemeClr val="tx1"/>
              </a:solidFill>
              <a:round/>
              <a:headEnd/>
              <a:tailEnd/>
            </a:ln>
          </p:spPr>
          <p:txBody>
            <a:bodyPr wrap="none" anchor="ctr"/>
            <a:lstStyle/>
            <a:p>
              <a:endParaRPr lang="bg-BG"/>
            </a:p>
          </p:txBody>
        </p:sp>
        <p:sp>
          <p:nvSpPr>
            <p:cNvPr id="54353" name="Line 6"/>
            <p:cNvSpPr>
              <a:spLocks noChangeShapeType="1"/>
            </p:cNvSpPr>
            <p:nvPr/>
          </p:nvSpPr>
          <p:spPr bwMode="auto">
            <a:xfrm>
              <a:off x="2832" y="2160"/>
              <a:ext cx="0" cy="240"/>
            </a:xfrm>
            <a:prstGeom prst="line">
              <a:avLst/>
            </a:prstGeom>
            <a:noFill/>
            <a:ln w="9525">
              <a:solidFill>
                <a:schemeClr val="tx1"/>
              </a:solidFill>
              <a:round/>
              <a:headEnd/>
              <a:tailEnd/>
            </a:ln>
          </p:spPr>
          <p:txBody>
            <a:bodyPr wrap="none" anchor="ctr"/>
            <a:lstStyle/>
            <a:p>
              <a:endParaRPr lang="bg-BG"/>
            </a:p>
          </p:txBody>
        </p:sp>
        <p:sp>
          <p:nvSpPr>
            <p:cNvPr id="54354" name="Rectangle 7"/>
            <p:cNvSpPr>
              <a:spLocks noChangeArrowheads="1"/>
            </p:cNvSpPr>
            <p:nvPr/>
          </p:nvSpPr>
          <p:spPr bwMode="auto">
            <a:xfrm>
              <a:off x="3288" y="2544"/>
              <a:ext cx="1392" cy="240"/>
            </a:xfrm>
            <a:prstGeom prst="rect">
              <a:avLst/>
            </a:prstGeom>
            <a:noFill/>
            <a:ln w="9525">
              <a:solidFill>
                <a:schemeClr val="tx1"/>
              </a:solidFill>
              <a:miter lim="800000"/>
              <a:headEnd/>
              <a:tailEnd/>
            </a:ln>
          </p:spPr>
          <p:txBody>
            <a:bodyPr wrap="none" anchor="ctr"/>
            <a:lstStyle/>
            <a:p>
              <a:endParaRPr lang="bg-BG"/>
            </a:p>
          </p:txBody>
        </p:sp>
        <p:sp>
          <p:nvSpPr>
            <p:cNvPr id="54355" name="Line 8"/>
            <p:cNvSpPr>
              <a:spLocks noChangeShapeType="1"/>
            </p:cNvSpPr>
            <p:nvPr/>
          </p:nvSpPr>
          <p:spPr bwMode="auto">
            <a:xfrm>
              <a:off x="3544" y="2544"/>
              <a:ext cx="0" cy="240"/>
            </a:xfrm>
            <a:prstGeom prst="line">
              <a:avLst/>
            </a:prstGeom>
            <a:noFill/>
            <a:ln w="9525">
              <a:solidFill>
                <a:schemeClr val="tx1"/>
              </a:solidFill>
              <a:round/>
              <a:headEnd/>
              <a:tailEnd/>
            </a:ln>
          </p:spPr>
          <p:txBody>
            <a:bodyPr wrap="none" anchor="ctr"/>
            <a:lstStyle/>
            <a:p>
              <a:endParaRPr lang="bg-BG"/>
            </a:p>
          </p:txBody>
        </p:sp>
        <p:sp>
          <p:nvSpPr>
            <p:cNvPr id="54356" name="Line 9"/>
            <p:cNvSpPr>
              <a:spLocks noChangeShapeType="1"/>
            </p:cNvSpPr>
            <p:nvPr/>
          </p:nvSpPr>
          <p:spPr bwMode="auto">
            <a:xfrm>
              <a:off x="3880" y="2544"/>
              <a:ext cx="0" cy="240"/>
            </a:xfrm>
            <a:prstGeom prst="line">
              <a:avLst/>
            </a:prstGeom>
            <a:noFill/>
            <a:ln w="9525">
              <a:solidFill>
                <a:schemeClr val="tx1"/>
              </a:solidFill>
              <a:round/>
              <a:headEnd/>
              <a:tailEnd/>
            </a:ln>
          </p:spPr>
          <p:txBody>
            <a:bodyPr wrap="none" anchor="ctr"/>
            <a:lstStyle/>
            <a:p>
              <a:endParaRPr lang="bg-BG"/>
            </a:p>
          </p:txBody>
        </p:sp>
        <p:sp>
          <p:nvSpPr>
            <p:cNvPr id="54357" name="Line 10"/>
            <p:cNvSpPr>
              <a:spLocks noChangeShapeType="1"/>
            </p:cNvSpPr>
            <p:nvPr/>
          </p:nvSpPr>
          <p:spPr bwMode="auto">
            <a:xfrm>
              <a:off x="4448" y="2544"/>
              <a:ext cx="0" cy="240"/>
            </a:xfrm>
            <a:prstGeom prst="line">
              <a:avLst/>
            </a:prstGeom>
            <a:noFill/>
            <a:ln w="9525">
              <a:solidFill>
                <a:schemeClr val="tx1"/>
              </a:solidFill>
              <a:round/>
              <a:headEnd/>
              <a:tailEnd/>
            </a:ln>
          </p:spPr>
          <p:txBody>
            <a:bodyPr wrap="none" anchor="ctr"/>
            <a:lstStyle/>
            <a:p>
              <a:endParaRPr lang="bg-BG"/>
            </a:p>
          </p:txBody>
        </p:sp>
        <p:sp>
          <p:nvSpPr>
            <p:cNvPr id="54358" name="Line 11"/>
            <p:cNvSpPr>
              <a:spLocks noChangeShapeType="1"/>
            </p:cNvSpPr>
            <p:nvPr/>
          </p:nvSpPr>
          <p:spPr bwMode="auto">
            <a:xfrm>
              <a:off x="4120" y="2544"/>
              <a:ext cx="0" cy="240"/>
            </a:xfrm>
            <a:prstGeom prst="line">
              <a:avLst/>
            </a:prstGeom>
            <a:noFill/>
            <a:ln w="9525">
              <a:solidFill>
                <a:schemeClr val="tx1"/>
              </a:solidFill>
              <a:round/>
              <a:headEnd/>
              <a:tailEnd/>
            </a:ln>
          </p:spPr>
          <p:txBody>
            <a:bodyPr wrap="none" anchor="ctr"/>
            <a:lstStyle/>
            <a:p>
              <a:endParaRPr lang="bg-BG"/>
            </a:p>
          </p:txBody>
        </p:sp>
        <p:sp>
          <p:nvSpPr>
            <p:cNvPr id="54359" name="Rectangle 12"/>
            <p:cNvSpPr>
              <a:spLocks noChangeArrowheads="1"/>
            </p:cNvSpPr>
            <p:nvPr/>
          </p:nvSpPr>
          <p:spPr bwMode="auto">
            <a:xfrm>
              <a:off x="624" y="2544"/>
              <a:ext cx="1008" cy="240"/>
            </a:xfrm>
            <a:prstGeom prst="rect">
              <a:avLst/>
            </a:prstGeom>
            <a:noFill/>
            <a:ln w="9525">
              <a:solidFill>
                <a:schemeClr val="tx1"/>
              </a:solidFill>
              <a:miter lim="800000"/>
              <a:headEnd/>
              <a:tailEnd/>
            </a:ln>
          </p:spPr>
          <p:txBody>
            <a:bodyPr wrap="none" anchor="ctr"/>
            <a:lstStyle/>
            <a:p>
              <a:endParaRPr lang="bg-BG"/>
            </a:p>
          </p:txBody>
        </p:sp>
        <p:sp>
          <p:nvSpPr>
            <p:cNvPr id="54360" name="Rectangle 13"/>
            <p:cNvSpPr>
              <a:spLocks noChangeArrowheads="1"/>
            </p:cNvSpPr>
            <p:nvPr/>
          </p:nvSpPr>
          <p:spPr bwMode="auto">
            <a:xfrm>
              <a:off x="3584" y="3024"/>
              <a:ext cx="1008" cy="240"/>
            </a:xfrm>
            <a:prstGeom prst="rect">
              <a:avLst/>
            </a:prstGeom>
            <a:noFill/>
            <a:ln w="9525">
              <a:solidFill>
                <a:schemeClr val="tx1"/>
              </a:solidFill>
              <a:miter lim="800000"/>
              <a:headEnd/>
              <a:tailEnd/>
            </a:ln>
          </p:spPr>
          <p:txBody>
            <a:bodyPr wrap="none" anchor="ctr"/>
            <a:lstStyle/>
            <a:p>
              <a:endParaRPr lang="bg-BG"/>
            </a:p>
          </p:txBody>
        </p:sp>
        <p:sp>
          <p:nvSpPr>
            <p:cNvPr id="54361" name="Rectangle 14"/>
            <p:cNvSpPr>
              <a:spLocks noChangeArrowheads="1"/>
            </p:cNvSpPr>
            <p:nvPr/>
          </p:nvSpPr>
          <p:spPr bwMode="auto">
            <a:xfrm>
              <a:off x="2496" y="3024"/>
              <a:ext cx="1008" cy="240"/>
            </a:xfrm>
            <a:prstGeom prst="rect">
              <a:avLst/>
            </a:prstGeom>
            <a:noFill/>
            <a:ln w="9525">
              <a:solidFill>
                <a:schemeClr val="tx1"/>
              </a:solidFill>
              <a:miter lim="800000"/>
              <a:headEnd/>
              <a:tailEnd/>
            </a:ln>
          </p:spPr>
          <p:txBody>
            <a:bodyPr wrap="none" anchor="ctr"/>
            <a:lstStyle/>
            <a:p>
              <a:endParaRPr lang="bg-BG"/>
            </a:p>
          </p:txBody>
        </p:sp>
        <p:sp>
          <p:nvSpPr>
            <p:cNvPr id="54362" name="Rectangle 15"/>
            <p:cNvSpPr>
              <a:spLocks noChangeArrowheads="1"/>
            </p:cNvSpPr>
            <p:nvPr/>
          </p:nvSpPr>
          <p:spPr bwMode="auto">
            <a:xfrm>
              <a:off x="1296" y="3024"/>
              <a:ext cx="1008" cy="240"/>
            </a:xfrm>
            <a:prstGeom prst="rect">
              <a:avLst/>
            </a:prstGeom>
            <a:noFill/>
            <a:ln w="9525">
              <a:solidFill>
                <a:schemeClr val="tx1"/>
              </a:solidFill>
              <a:miter lim="800000"/>
              <a:headEnd/>
              <a:tailEnd/>
            </a:ln>
          </p:spPr>
          <p:txBody>
            <a:bodyPr wrap="none" anchor="ctr"/>
            <a:lstStyle/>
            <a:p>
              <a:endParaRPr lang="bg-BG"/>
            </a:p>
          </p:txBody>
        </p:sp>
        <p:sp>
          <p:nvSpPr>
            <p:cNvPr id="54363" name="Rectangle 16"/>
            <p:cNvSpPr>
              <a:spLocks noChangeArrowheads="1"/>
            </p:cNvSpPr>
            <p:nvPr/>
          </p:nvSpPr>
          <p:spPr bwMode="auto">
            <a:xfrm>
              <a:off x="96" y="3024"/>
              <a:ext cx="1008" cy="240"/>
            </a:xfrm>
            <a:prstGeom prst="rect">
              <a:avLst/>
            </a:prstGeom>
            <a:noFill/>
            <a:ln w="9525">
              <a:solidFill>
                <a:schemeClr val="tx1"/>
              </a:solidFill>
              <a:miter lim="800000"/>
              <a:headEnd/>
              <a:tailEnd/>
            </a:ln>
          </p:spPr>
          <p:txBody>
            <a:bodyPr wrap="none" anchor="ctr"/>
            <a:lstStyle/>
            <a:p>
              <a:pPr algn="ctr"/>
              <a:endParaRPr lang="bg-BG">
                <a:solidFill>
                  <a:schemeClr val="bg1"/>
                </a:solidFill>
              </a:endParaRPr>
            </a:p>
          </p:txBody>
        </p:sp>
        <p:sp>
          <p:nvSpPr>
            <p:cNvPr id="54364" name="Rectangle 17"/>
            <p:cNvSpPr>
              <a:spLocks noChangeArrowheads="1"/>
            </p:cNvSpPr>
            <p:nvPr/>
          </p:nvSpPr>
          <p:spPr bwMode="auto">
            <a:xfrm>
              <a:off x="4656" y="3024"/>
              <a:ext cx="1008" cy="240"/>
            </a:xfrm>
            <a:prstGeom prst="rect">
              <a:avLst/>
            </a:prstGeom>
            <a:noFill/>
            <a:ln w="9525">
              <a:solidFill>
                <a:schemeClr val="tx1"/>
              </a:solidFill>
              <a:miter lim="800000"/>
              <a:headEnd/>
              <a:tailEnd/>
            </a:ln>
          </p:spPr>
          <p:txBody>
            <a:bodyPr wrap="none" anchor="ctr"/>
            <a:lstStyle/>
            <a:p>
              <a:endParaRPr lang="bg-BG"/>
            </a:p>
          </p:txBody>
        </p:sp>
        <p:sp>
          <p:nvSpPr>
            <p:cNvPr id="54365" name="Line 18"/>
            <p:cNvSpPr>
              <a:spLocks noChangeShapeType="1"/>
            </p:cNvSpPr>
            <p:nvPr/>
          </p:nvSpPr>
          <p:spPr bwMode="auto">
            <a:xfrm>
              <a:off x="3264" y="3024"/>
              <a:ext cx="0" cy="240"/>
            </a:xfrm>
            <a:prstGeom prst="line">
              <a:avLst/>
            </a:prstGeom>
            <a:noFill/>
            <a:ln w="9525">
              <a:solidFill>
                <a:schemeClr val="tx1"/>
              </a:solidFill>
              <a:round/>
              <a:headEnd/>
              <a:tailEnd/>
            </a:ln>
          </p:spPr>
          <p:txBody>
            <a:bodyPr wrap="none" anchor="ctr"/>
            <a:lstStyle/>
            <a:p>
              <a:endParaRPr lang="bg-BG"/>
            </a:p>
          </p:txBody>
        </p:sp>
        <p:sp>
          <p:nvSpPr>
            <p:cNvPr id="54366" name="Line 19"/>
            <p:cNvSpPr>
              <a:spLocks noChangeShapeType="1"/>
            </p:cNvSpPr>
            <p:nvPr/>
          </p:nvSpPr>
          <p:spPr bwMode="auto">
            <a:xfrm>
              <a:off x="4368" y="3024"/>
              <a:ext cx="0" cy="240"/>
            </a:xfrm>
            <a:prstGeom prst="line">
              <a:avLst/>
            </a:prstGeom>
            <a:noFill/>
            <a:ln w="9525">
              <a:solidFill>
                <a:schemeClr val="tx1"/>
              </a:solidFill>
              <a:round/>
              <a:headEnd/>
              <a:tailEnd/>
            </a:ln>
          </p:spPr>
          <p:txBody>
            <a:bodyPr wrap="none" anchor="ctr"/>
            <a:lstStyle/>
            <a:p>
              <a:endParaRPr lang="bg-BG"/>
            </a:p>
          </p:txBody>
        </p:sp>
        <p:sp>
          <p:nvSpPr>
            <p:cNvPr id="54367" name="Line 20"/>
            <p:cNvSpPr>
              <a:spLocks noChangeShapeType="1"/>
            </p:cNvSpPr>
            <p:nvPr/>
          </p:nvSpPr>
          <p:spPr bwMode="auto">
            <a:xfrm>
              <a:off x="3840" y="3024"/>
              <a:ext cx="0" cy="240"/>
            </a:xfrm>
            <a:prstGeom prst="line">
              <a:avLst/>
            </a:prstGeom>
            <a:noFill/>
            <a:ln w="9525">
              <a:solidFill>
                <a:schemeClr val="tx1"/>
              </a:solidFill>
              <a:round/>
              <a:headEnd/>
              <a:tailEnd/>
            </a:ln>
          </p:spPr>
          <p:txBody>
            <a:bodyPr wrap="none" anchor="ctr"/>
            <a:lstStyle/>
            <a:p>
              <a:endParaRPr lang="bg-BG"/>
            </a:p>
          </p:txBody>
        </p:sp>
        <p:sp>
          <p:nvSpPr>
            <p:cNvPr id="54368" name="Line 21"/>
            <p:cNvSpPr>
              <a:spLocks noChangeShapeType="1"/>
            </p:cNvSpPr>
            <p:nvPr/>
          </p:nvSpPr>
          <p:spPr bwMode="auto">
            <a:xfrm>
              <a:off x="5376" y="3024"/>
              <a:ext cx="0" cy="240"/>
            </a:xfrm>
            <a:prstGeom prst="line">
              <a:avLst/>
            </a:prstGeom>
            <a:noFill/>
            <a:ln w="9525">
              <a:solidFill>
                <a:schemeClr val="tx1"/>
              </a:solidFill>
              <a:round/>
              <a:headEnd/>
              <a:tailEnd/>
            </a:ln>
          </p:spPr>
          <p:txBody>
            <a:bodyPr wrap="none" anchor="ctr"/>
            <a:lstStyle/>
            <a:p>
              <a:endParaRPr lang="bg-BG"/>
            </a:p>
          </p:txBody>
        </p:sp>
        <p:sp>
          <p:nvSpPr>
            <p:cNvPr id="54369" name="Line 22"/>
            <p:cNvSpPr>
              <a:spLocks noChangeShapeType="1"/>
            </p:cNvSpPr>
            <p:nvPr/>
          </p:nvSpPr>
          <p:spPr bwMode="auto">
            <a:xfrm>
              <a:off x="4896" y="3024"/>
              <a:ext cx="0" cy="240"/>
            </a:xfrm>
            <a:prstGeom prst="line">
              <a:avLst/>
            </a:prstGeom>
            <a:noFill/>
            <a:ln w="9525">
              <a:solidFill>
                <a:schemeClr val="tx1"/>
              </a:solidFill>
              <a:round/>
              <a:headEnd/>
              <a:tailEnd/>
            </a:ln>
          </p:spPr>
          <p:txBody>
            <a:bodyPr wrap="none" anchor="ctr"/>
            <a:lstStyle/>
            <a:p>
              <a:endParaRPr lang="bg-BG"/>
            </a:p>
          </p:txBody>
        </p:sp>
        <p:sp>
          <p:nvSpPr>
            <p:cNvPr id="54370" name="Line 23"/>
            <p:cNvSpPr>
              <a:spLocks noChangeShapeType="1"/>
            </p:cNvSpPr>
            <p:nvPr/>
          </p:nvSpPr>
          <p:spPr bwMode="auto">
            <a:xfrm>
              <a:off x="1536" y="3024"/>
              <a:ext cx="0" cy="240"/>
            </a:xfrm>
            <a:prstGeom prst="line">
              <a:avLst/>
            </a:prstGeom>
            <a:noFill/>
            <a:ln w="9525">
              <a:solidFill>
                <a:schemeClr val="tx1"/>
              </a:solidFill>
              <a:round/>
              <a:headEnd/>
              <a:tailEnd/>
            </a:ln>
          </p:spPr>
          <p:txBody>
            <a:bodyPr wrap="none" anchor="ctr"/>
            <a:lstStyle/>
            <a:p>
              <a:endParaRPr lang="bg-BG"/>
            </a:p>
          </p:txBody>
        </p:sp>
        <p:sp>
          <p:nvSpPr>
            <p:cNvPr id="54371" name="Line 24"/>
            <p:cNvSpPr>
              <a:spLocks noChangeShapeType="1"/>
            </p:cNvSpPr>
            <p:nvPr/>
          </p:nvSpPr>
          <p:spPr bwMode="auto">
            <a:xfrm>
              <a:off x="2064" y="3024"/>
              <a:ext cx="0" cy="240"/>
            </a:xfrm>
            <a:prstGeom prst="line">
              <a:avLst/>
            </a:prstGeom>
            <a:noFill/>
            <a:ln w="9525">
              <a:solidFill>
                <a:schemeClr val="tx1"/>
              </a:solidFill>
              <a:round/>
              <a:headEnd/>
              <a:tailEnd/>
            </a:ln>
          </p:spPr>
          <p:txBody>
            <a:bodyPr wrap="none" anchor="ctr"/>
            <a:lstStyle/>
            <a:p>
              <a:endParaRPr lang="bg-BG"/>
            </a:p>
          </p:txBody>
        </p:sp>
        <p:sp>
          <p:nvSpPr>
            <p:cNvPr id="54372" name="Line 25"/>
            <p:cNvSpPr>
              <a:spLocks noChangeShapeType="1"/>
            </p:cNvSpPr>
            <p:nvPr/>
          </p:nvSpPr>
          <p:spPr bwMode="auto">
            <a:xfrm>
              <a:off x="2752" y="3032"/>
              <a:ext cx="0" cy="240"/>
            </a:xfrm>
            <a:prstGeom prst="line">
              <a:avLst/>
            </a:prstGeom>
            <a:noFill/>
            <a:ln w="9525">
              <a:solidFill>
                <a:schemeClr val="tx1"/>
              </a:solidFill>
              <a:round/>
              <a:headEnd/>
              <a:tailEnd/>
            </a:ln>
          </p:spPr>
          <p:txBody>
            <a:bodyPr wrap="none" anchor="ctr"/>
            <a:lstStyle/>
            <a:p>
              <a:endParaRPr lang="bg-BG"/>
            </a:p>
          </p:txBody>
        </p:sp>
        <p:sp>
          <p:nvSpPr>
            <p:cNvPr id="54373" name="Line 26"/>
            <p:cNvSpPr>
              <a:spLocks noChangeShapeType="1"/>
            </p:cNvSpPr>
            <p:nvPr/>
          </p:nvSpPr>
          <p:spPr bwMode="auto">
            <a:xfrm>
              <a:off x="880" y="2544"/>
              <a:ext cx="0" cy="240"/>
            </a:xfrm>
            <a:prstGeom prst="line">
              <a:avLst/>
            </a:prstGeom>
            <a:noFill/>
            <a:ln w="9525">
              <a:solidFill>
                <a:schemeClr val="tx1"/>
              </a:solidFill>
              <a:round/>
              <a:headEnd/>
              <a:tailEnd/>
            </a:ln>
          </p:spPr>
          <p:txBody>
            <a:bodyPr wrap="none" anchor="ctr"/>
            <a:lstStyle/>
            <a:p>
              <a:endParaRPr lang="bg-BG"/>
            </a:p>
          </p:txBody>
        </p:sp>
        <p:sp>
          <p:nvSpPr>
            <p:cNvPr id="54374" name="Line 27"/>
            <p:cNvSpPr>
              <a:spLocks noChangeShapeType="1"/>
            </p:cNvSpPr>
            <p:nvPr/>
          </p:nvSpPr>
          <p:spPr bwMode="auto">
            <a:xfrm>
              <a:off x="1392" y="2544"/>
              <a:ext cx="0" cy="240"/>
            </a:xfrm>
            <a:prstGeom prst="line">
              <a:avLst/>
            </a:prstGeom>
            <a:noFill/>
            <a:ln w="9525">
              <a:solidFill>
                <a:schemeClr val="tx1"/>
              </a:solidFill>
              <a:round/>
              <a:headEnd/>
              <a:tailEnd/>
            </a:ln>
          </p:spPr>
          <p:txBody>
            <a:bodyPr wrap="none" anchor="ctr"/>
            <a:lstStyle/>
            <a:p>
              <a:endParaRPr lang="bg-BG"/>
            </a:p>
          </p:txBody>
        </p:sp>
        <p:sp>
          <p:nvSpPr>
            <p:cNvPr id="54375" name="Line 28"/>
            <p:cNvSpPr>
              <a:spLocks noChangeShapeType="1"/>
            </p:cNvSpPr>
            <p:nvPr/>
          </p:nvSpPr>
          <p:spPr bwMode="auto">
            <a:xfrm>
              <a:off x="384" y="3024"/>
              <a:ext cx="0" cy="240"/>
            </a:xfrm>
            <a:prstGeom prst="line">
              <a:avLst/>
            </a:prstGeom>
            <a:noFill/>
            <a:ln w="9525">
              <a:solidFill>
                <a:schemeClr val="tx1"/>
              </a:solidFill>
              <a:round/>
              <a:headEnd/>
              <a:tailEnd/>
            </a:ln>
          </p:spPr>
          <p:txBody>
            <a:bodyPr wrap="none" anchor="ctr"/>
            <a:lstStyle/>
            <a:p>
              <a:endParaRPr lang="bg-BG"/>
            </a:p>
          </p:txBody>
        </p:sp>
        <p:sp>
          <p:nvSpPr>
            <p:cNvPr id="54376" name="Line 29"/>
            <p:cNvSpPr>
              <a:spLocks noChangeShapeType="1"/>
            </p:cNvSpPr>
            <p:nvPr/>
          </p:nvSpPr>
          <p:spPr bwMode="auto">
            <a:xfrm>
              <a:off x="864" y="3024"/>
              <a:ext cx="0" cy="240"/>
            </a:xfrm>
            <a:prstGeom prst="line">
              <a:avLst/>
            </a:prstGeom>
            <a:noFill/>
            <a:ln w="9525">
              <a:solidFill>
                <a:schemeClr val="tx1"/>
              </a:solidFill>
              <a:round/>
              <a:headEnd/>
              <a:tailEnd/>
            </a:ln>
          </p:spPr>
          <p:txBody>
            <a:bodyPr wrap="none" anchor="ctr"/>
            <a:lstStyle/>
            <a:p>
              <a:endParaRPr lang="bg-BG"/>
            </a:p>
          </p:txBody>
        </p:sp>
        <p:sp>
          <p:nvSpPr>
            <p:cNvPr id="54377" name="Line 30"/>
            <p:cNvSpPr>
              <a:spLocks noChangeShapeType="1"/>
            </p:cNvSpPr>
            <p:nvPr/>
          </p:nvSpPr>
          <p:spPr bwMode="auto">
            <a:xfrm>
              <a:off x="240" y="3160"/>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78" name="Line 31"/>
            <p:cNvSpPr>
              <a:spLocks noChangeShapeType="1"/>
            </p:cNvSpPr>
            <p:nvPr/>
          </p:nvSpPr>
          <p:spPr bwMode="auto">
            <a:xfrm>
              <a:off x="192" y="3496"/>
              <a:ext cx="96" cy="0"/>
            </a:xfrm>
            <a:prstGeom prst="line">
              <a:avLst/>
            </a:prstGeom>
            <a:noFill/>
            <a:ln w="9525">
              <a:solidFill>
                <a:schemeClr val="tx1"/>
              </a:solidFill>
              <a:round/>
              <a:headEnd/>
              <a:tailEnd/>
            </a:ln>
          </p:spPr>
          <p:txBody>
            <a:bodyPr wrap="none" anchor="ctr"/>
            <a:lstStyle/>
            <a:p>
              <a:endParaRPr lang="bg-BG"/>
            </a:p>
          </p:txBody>
        </p:sp>
        <p:sp>
          <p:nvSpPr>
            <p:cNvPr id="54379" name="Line 32"/>
            <p:cNvSpPr>
              <a:spLocks noChangeShapeType="1"/>
            </p:cNvSpPr>
            <p:nvPr/>
          </p:nvSpPr>
          <p:spPr bwMode="auto">
            <a:xfrm>
              <a:off x="3712" y="31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0" name="Line 33"/>
            <p:cNvSpPr>
              <a:spLocks noChangeShapeType="1"/>
            </p:cNvSpPr>
            <p:nvPr/>
          </p:nvSpPr>
          <p:spPr bwMode="auto">
            <a:xfrm>
              <a:off x="3384" y="314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1" name="Line 34"/>
            <p:cNvSpPr>
              <a:spLocks noChangeShapeType="1"/>
            </p:cNvSpPr>
            <p:nvPr/>
          </p:nvSpPr>
          <p:spPr bwMode="auto">
            <a:xfrm>
              <a:off x="2616" y="31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2" name="Line 35"/>
            <p:cNvSpPr>
              <a:spLocks noChangeShapeType="1"/>
            </p:cNvSpPr>
            <p:nvPr/>
          </p:nvSpPr>
          <p:spPr bwMode="auto">
            <a:xfrm>
              <a:off x="2184" y="31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3" name="Line 36"/>
            <p:cNvSpPr>
              <a:spLocks noChangeShapeType="1"/>
            </p:cNvSpPr>
            <p:nvPr/>
          </p:nvSpPr>
          <p:spPr bwMode="auto">
            <a:xfrm>
              <a:off x="984" y="31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4" name="Line 37"/>
            <p:cNvSpPr>
              <a:spLocks noChangeShapeType="1"/>
            </p:cNvSpPr>
            <p:nvPr/>
          </p:nvSpPr>
          <p:spPr bwMode="auto">
            <a:xfrm>
              <a:off x="1416" y="314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5" name="Line 38"/>
            <p:cNvSpPr>
              <a:spLocks noChangeShapeType="1"/>
            </p:cNvSpPr>
            <p:nvPr/>
          </p:nvSpPr>
          <p:spPr bwMode="auto">
            <a:xfrm>
              <a:off x="5520" y="314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6" name="Line 39"/>
            <p:cNvSpPr>
              <a:spLocks noChangeShapeType="1"/>
            </p:cNvSpPr>
            <p:nvPr/>
          </p:nvSpPr>
          <p:spPr bwMode="auto">
            <a:xfrm>
              <a:off x="4776" y="313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87" name="Line 40"/>
            <p:cNvSpPr>
              <a:spLocks noChangeShapeType="1"/>
            </p:cNvSpPr>
            <p:nvPr/>
          </p:nvSpPr>
          <p:spPr bwMode="auto">
            <a:xfrm>
              <a:off x="2568" y="3496"/>
              <a:ext cx="96" cy="0"/>
            </a:xfrm>
            <a:prstGeom prst="line">
              <a:avLst/>
            </a:prstGeom>
            <a:noFill/>
            <a:ln w="9525">
              <a:solidFill>
                <a:schemeClr val="tx1"/>
              </a:solidFill>
              <a:round/>
              <a:headEnd/>
              <a:tailEnd/>
            </a:ln>
          </p:spPr>
          <p:txBody>
            <a:bodyPr wrap="none" anchor="ctr"/>
            <a:lstStyle/>
            <a:p>
              <a:endParaRPr lang="bg-BG"/>
            </a:p>
          </p:txBody>
        </p:sp>
        <p:sp>
          <p:nvSpPr>
            <p:cNvPr id="54388" name="Line 41"/>
            <p:cNvSpPr>
              <a:spLocks noChangeShapeType="1"/>
            </p:cNvSpPr>
            <p:nvPr/>
          </p:nvSpPr>
          <p:spPr bwMode="auto">
            <a:xfrm>
              <a:off x="3336" y="3480"/>
              <a:ext cx="96" cy="0"/>
            </a:xfrm>
            <a:prstGeom prst="line">
              <a:avLst/>
            </a:prstGeom>
            <a:noFill/>
            <a:ln w="9525">
              <a:solidFill>
                <a:schemeClr val="tx1"/>
              </a:solidFill>
              <a:round/>
              <a:headEnd/>
              <a:tailEnd/>
            </a:ln>
          </p:spPr>
          <p:txBody>
            <a:bodyPr wrap="none" anchor="ctr"/>
            <a:lstStyle/>
            <a:p>
              <a:endParaRPr lang="bg-BG"/>
            </a:p>
          </p:txBody>
        </p:sp>
        <p:sp>
          <p:nvSpPr>
            <p:cNvPr id="54389" name="Line 42"/>
            <p:cNvSpPr>
              <a:spLocks noChangeShapeType="1"/>
            </p:cNvSpPr>
            <p:nvPr/>
          </p:nvSpPr>
          <p:spPr bwMode="auto">
            <a:xfrm>
              <a:off x="3664" y="3488"/>
              <a:ext cx="96" cy="0"/>
            </a:xfrm>
            <a:prstGeom prst="line">
              <a:avLst/>
            </a:prstGeom>
            <a:noFill/>
            <a:ln w="9525">
              <a:solidFill>
                <a:schemeClr val="tx1"/>
              </a:solidFill>
              <a:round/>
              <a:headEnd/>
              <a:tailEnd/>
            </a:ln>
          </p:spPr>
          <p:txBody>
            <a:bodyPr wrap="none" anchor="ctr"/>
            <a:lstStyle/>
            <a:p>
              <a:endParaRPr lang="bg-BG"/>
            </a:p>
          </p:txBody>
        </p:sp>
        <p:sp>
          <p:nvSpPr>
            <p:cNvPr id="54390" name="Line 43"/>
            <p:cNvSpPr>
              <a:spLocks noChangeShapeType="1"/>
            </p:cNvSpPr>
            <p:nvPr/>
          </p:nvSpPr>
          <p:spPr bwMode="auto">
            <a:xfrm>
              <a:off x="2136" y="3488"/>
              <a:ext cx="96" cy="0"/>
            </a:xfrm>
            <a:prstGeom prst="line">
              <a:avLst/>
            </a:prstGeom>
            <a:noFill/>
            <a:ln w="9525">
              <a:solidFill>
                <a:schemeClr val="tx1"/>
              </a:solidFill>
              <a:round/>
              <a:headEnd/>
              <a:tailEnd/>
            </a:ln>
          </p:spPr>
          <p:txBody>
            <a:bodyPr wrap="none" anchor="ctr"/>
            <a:lstStyle/>
            <a:p>
              <a:endParaRPr lang="bg-BG"/>
            </a:p>
          </p:txBody>
        </p:sp>
        <p:sp>
          <p:nvSpPr>
            <p:cNvPr id="54391" name="Line 44"/>
            <p:cNvSpPr>
              <a:spLocks noChangeShapeType="1"/>
            </p:cNvSpPr>
            <p:nvPr/>
          </p:nvSpPr>
          <p:spPr bwMode="auto">
            <a:xfrm>
              <a:off x="1368" y="3472"/>
              <a:ext cx="96" cy="0"/>
            </a:xfrm>
            <a:prstGeom prst="line">
              <a:avLst/>
            </a:prstGeom>
            <a:noFill/>
            <a:ln w="9525">
              <a:solidFill>
                <a:schemeClr val="tx1"/>
              </a:solidFill>
              <a:round/>
              <a:headEnd/>
              <a:tailEnd/>
            </a:ln>
          </p:spPr>
          <p:txBody>
            <a:bodyPr wrap="none" anchor="ctr"/>
            <a:lstStyle/>
            <a:p>
              <a:endParaRPr lang="bg-BG"/>
            </a:p>
          </p:txBody>
        </p:sp>
        <p:sp>
          <p:nvSpPr>
            <p:cNvPr id="54392" name="Line 45"/>
            <p:cNvSpPr>
              <a:spLocks noChangeShapeType="1"/>
            </p:cNvSpPr>
            <p:nvPr/>
          </p:nvSpPr>
          <p:spPr bwMode="auto">
            <a:xfrm>
              <a:off x="936" y="3488"/>
              <a:ext cx="96" cy="0"/>
            </a:xfrm>
            <a:prstGeom prst="line">
              <a:avLst/>
            </a:prstGeom>
            <a:noFill/>
            <a:ln w="9525">
              <a:solidFill>
                <a:schemeClr val="tx1"/>
              </a:solidFill>
              <a:round/>
              <a:headEnd/>
              <a:tailEnd/>
            </a:ln>
          </p:spPr>
          <p:txBody>
            <a:bodyPr wrap="none" anchor="ctr"/>
            <a:lstStyle/>
            <a:p>
              <a:endParaRPr lang="bg-BG"/>
            </a:p>
          </p:txBody>
        </p:sp>
        <p:sp>
          <p:nvSpPr>
            <p:cNvPr id="54393" name="Line 46"/>
            <p:cNvSpPr>
              <a:spLocks noChangeShapeType="1"/>
            </p:cNvSpPr>
            <p:nvPr/>
          </p:nvSpPr>
          <p:spPr bwMode="auto">
            <a:xfrm>
              <a:off x="5472" y="3480"/>
              <a:ext cx="96" cy="0"/>
            </a:xfrm>
            <a:prstGeom prst="line">
              <a:avLst/>
            </a:prstGeom>
            <a:noFill/>
            <a:ln w="9525">
              <a:solidFill>
                <a:schemeClr val="tx1"/>
              </a:solidFill>
              <a:round/>
              <a:headEnd/>
              <a:tailEnd/>
            </a:ln>
          </p:spPr>
          <p:txBody>
            <a:bodyPr wrap="none" anchor="ctr"/>
            <a:lstStyle/>
            <a:p>
              <a:endParaRPr lang="bg-BG"/>
            </a:p>
          </p:txBody>
        </p:sp>
        <p:sp>
          <p:nvSpPr>
            <p:cNvPr id="54394" name="Line 47"/>
            <p:cNvSpPr>
              <a:spLocks noChangeShapeType="1"/>
            </p:cNvSpPr>
            <p:nvPr/>
          </p:nvSpPr>
          <p:spPr bwMode="auto">
            <a:xfrm>
              <a:off x="4728" y="3472"/>
              <a:ext cx="96" cy="0"/>
            </a:xfrm>
            <a:prstGeom prst="line">
              <a:avLst/>
            </a:prstGeom>
            <a:noFill/>
            <a:ln w="9525">
              <a:solidFill>
                <a:schemeClr val="tx1"/>
              </a:solidFill>
              <a:round/>
              <a:headEnd/>
              <a:tailEnd/>
            </a:ln>
          </p:spPr>
          <p:txBody>
            <a:bodyPr wrap="none" anchor="ctr"/>
            <a:lstStyle/>
            <a:p>
              <a:endParaRPr lang="bg-BG"/>
            </a:p>
          </p:txBody>
        </p:sp>
        <p:sp>
          <p:nvSpPr>
            <p:cNvPr id="54395" name="Line 48"/>
            <p:cNvSpPr>
              <a:spLocks noChangeShapeType="1"/>
            </p:cNvSpPr>
            <p:nvPr/>
          </p:nvSpPr>
          <p:spPr bwMode="auto">
            <a:xfrm>
              <a:off x="1488" y="2640"/>
              <a:ext cx="288" cy="0"/>
            </a:xfrm>
            <a:prstGeom prst="line">
              <a:avLst/>
            </a:prstGeom>
            <a:noFill/>
            <a:ln w="9525">
              <a:solidFill>
                <a:schemeClr val="tx1"/>
              </a:solidFill>
              <a:round/>
              <a:headEnd/>
              <a:tailEnd/>
            </a:ln>
          </p:spPr>
          <p:txBody>
            <a:bodyPr wrap="none" anchor="ctr"/>
            <a:lstStyle/>
            <a:p>
              <a:endParaRPr lang="bg-BG"/>
            </a:p>
          </p:txBody>
        </p:sp>
        <p:sp>
          <p:nvSpPr>
            <p:cNvPr id="54396" name="Line 49"/>
            <p:cNvSpPr>
              <a:spLocks noChangeShapeType="1"/>
            </p:cNvSpPr>
            <p:nvPr/>
          </p:nvSpPr>
          <p:spPr bwMode="auto">
            <a:xfrm>
              <a:off x="1776" y="2640"/>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97" name="Line 50"/>
            <p:cNvSpPr>
              <a:spLocks noChangeShapeType="1"/>
            </p:cNvSpPr>
            <p:nvPr/>
          </p:nvSpPr>
          <p:spPr bwMode="auto">
            <a:xfrm flipH="1">
              <a:off x="2976" y="2640"/>
              <a:ext cx="432" cy="0"/>
            </a:xfrm>
            <a:prstGeom prst="line">
              <a:avLst/>
            </a:prstGeom>
            <a:noFill/>
            <a:ln w="9525">
              <a:solidFill>
                <a:schemeClr val="tx1"/>
              </a:solidFill>
              <a:round/>
              <a:headEnd/>
              <a:tailEnd/>
            </a:ln>
          </p:spPr>
          <p:txBody>
            <a:bodyPr wrap="none" anchor="ctr"/>
            <a:lstStyle/>
            <a:p>
              <a:endParaRPr lang="bg-BG"/>
            </a:p>
          </p:txBody>
        </p:sp>
        <p:sp>
          <p:nvSpPr>
            <p:cNvPr id="54398" name="Line 51"/>
            <p:cNvSpPr>
              <a:spLocks noChangeShapeType="1"/>
            </p:cNvSpPr>
            <p:nvPr/>
          </p:nvSpPr>
          <p:spPr bwMode="auto">
            <a:xfrm>
              <a:off x="2976" y="2640"/>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99" name="Line 52"/>
            <p:cNvSpPr>
              <a:spLocks noChangeShapeType="1"/>
            </p:cNvSpPr>
            <p:nvPr/>
          </p:nvSpPr>
          <p:spPr bwMode="auto">
            <a:xfrm flipH="1">
              <a:off x="1152" y="2256"/>
              <a:ext cx="1104" cy="0"/>
            </a:xfrm>
            <a:prstGeom prst="line">
              <a:avLst/>
            </a:prstGeom>
            <a:noFill/>
            <a:ln w="9525">
              <a:solidFill>
                <a:schemeClr val="tx1"/>
              </a:solidFill>
              <a:round/>
              <a:headEnd/>
              <a:tailEnd/>
            </a:ln>
          </p:spPr>
          <p:txBody>
            <a:bodyPr wrap="none" anchor="ctr"/>
            <a:lstStyle/>
            <a:p>
              <a:endParaRPr lang="bg-BG"/>
            </a:p>
          </p:txBody>
        </p:sp>
        <p:sp>
          <p:nvSpPr>
            <p:cNvPr id="54400" name="Line 53"/>
            <p:cNvSpPr>
              <a:spLocks noChangeShapeType="1"/>
            </p:cNvSpPr>
            <p:nvPr/>
          </p:nvSpPr>
          <p:spPr bwMode="auto">
            <a:xfrm>
              <a:off x="1152" y="2256"/>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4401" name="Line 54"/>
            <p:cNvSpPr>
              <a:spLocks noChangeShapeType="1"/>
            </p:cNvSpPr>
            <p:nvPr/>
          </p:nvSpPr>
          <p:spPr bwMode="auto">
            <a:xfrm flipH="1">
              <a:off x="576" y="2688"/>
              <a:ext cx="192" cy="0"/>
            </a:xfrm>
            <a:prstGeom prst="line">
              <a:avLst/>
            </a:prstGeom>
            <a:noFill/>
            <a:ln w="9525">
              <a:solidFill>
                <a:schemeClr val="tx1"/>
              </a:solidFill>
              <a:round/>
              <a:headEnd/>
              <a:tailEnd/>
            </a:ln>
          </p:spPr>
          <p:txBody>
            <a:bodyPr wrap="none" anchor="ctr"/>
            <a:lstStyle/>
            <a:p>
              <a:endParaRPr lang="bg-BG"/>
            </a:p>
          </p:txBody>
        </p:sp>
        <p:sp>
          <p:nvSpPr>
            <p:cNvPr id="54402" name="Line 55"/>
            <p:cNvSpPr>
              <a:spLocks noChangeShapeType="1"/>
            </p:cNvSpPr>
            <p:nvPr/>
          </p:nvSpPr>
          <p:spPr bwMode="auto">
            <a:xfrm>
              <a:off x="576" y="268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403" name="Line 56"/>
            <p:cNvSpPr>
              <a:spLocks noChangeShapeType="1"/>
            </p:cNvSpPr>
            <p:nvPr/>
          </p:nvSpPr>
          <p:spPr bwMode="auto">
            <a:xfrm>
              <a:off x="2976" y="2256"/>
              <a:ext cx="1008" cy="0"/>
            </a:xfrm>
            <a:prstGeom prst="line">
              <a:avLst/>
            </a:prstGeom>
            <a:noFill/>
            <a:ln w="9525">
              <a:solidFill>
                <a:schemeClr val="tx1"/>
              </a:solidFill>
              <a:round/>
              <a:headEnd/>
              <a:tailEnd/>
            </a:ln>
          </p:spPr>
          <p:txBody>
            <a:bodyPr wrap="none" anchor="ctr"/>
            <a:lstStyle/>
            <a:p>
              <a:endParaRPr lang="bg-BG"/>
            </a:p>
          </p:txBody>
        </p:sp>
        <p:sp>
          <p:nvSpPr>
            <p:cNvPr id="54404" name="Line 57"/>
            <p:cNvSpPr>
              <a:spLocks noChangeShapeType="1"/>
            </p:cNvSpPr>
            <p:nvPr/>
          </p:nvSpPr>
          <p:spPr bwMode="auto">
            <a:xfrm>
              <a:off x="3984" y="2256"/>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4405" name="Line 58"/>
            <p:cNvSpPr>
              <a:spLocks noChangeShapeType="1"/>
            </p:cNvSpPr>
            <p:nvPr/>
          </p:nvSpPr>
          <p:spPr bwMode="auto">
            <a:xfrm>
              <a:off x="3984" y="2640"/>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406" name="Line 59"/>
            <p:cNvSpPr>
              <a:spLocks noChangeShapeType="1"/>
            </p:cNvSpPr>
            <p:nvPr/>
          </p:nvSpPr>
          <p:spPr bwMode="auto">
            <a:xfrm>
              <a:off x="4464" y="314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407" name="Line 60"/>
            <p:cNvSpPr>
              <a:spLocks noChangeShapeType="1"/>
            </p:cNvSpPr>
            <p:nvPr/>
          </p:nvSpPr>
          <p:spPr bwMode="auto">
            <a:xfrm>
              <a:off x="4416" y="3480"/>
              <a:ext cx="96" cy="0"/>
            </a:xfrm>
            <a:prstGeom prst="line">
              <a:avLst/>
            </a:prstGeom>
            <a:noFill/>
            <a:ln w="9525">
              <a:solidFill>
                <a:schemeClr val="tx1"/>
              </a:solidFill>
              <a:round/>
              <a:headEnd/>
              <a:tailEnd/>
            </a:ln>
          </p:spPr>
          <p:txBody>
            <a:bodyPr wrap="none" anchor="ctr"/>
            <a:lstStyle/>
            <a:p>
              <a:endParaRPr lang="bg-BG"/>
            </a:p>
          </p:txBody>
        </p:sp>
        <p:sp>
          <p:nvSpPr>
            <p:cNvPr id="54408" name="Line 61"/>
            <p:cNvSpPr>
              <a:spLocks noChangeShapeType="1"/>
            </p:cNvSpPr>
            <p:nvPr/>
          </p:nvSpPr>
          <p:spPr bwMode="auto">
            <a:xfrm>
              <a:off x="4560" y="2640"/>
              <a:ext cx="576" cy="0"/>
            </a:xfrm>
            <a:prstGeom prst="line">
              <a:avLst/>
            </a:prstGeom>
            <a:noFill/>
            <a:ln w="9525">
              <a:solidFill>
                <a:schemeClr val="tx1"/>
              </a:solidFill>
              <a:round/>
              <a:headEnd/>
              <a:tailEnd/>
            </a:ln>
          </p:spPr>
          <p:txBody>
            <a:bodyPr wrap="none" anchor="ctr"/>
            <a:lstStyle/>
            <a:p>
              <a:endParaRPr lang="bg-BG"/>
            </a:p>
          </p:txBody>
        </p:sp>
        <p:sp>
          <p:nvSpPr>
            <p:cNvPr id="54409" name="Line 62"/>
            <p:cNvSpPr>
              <a:spLocks noChangeShapeType="1"/>
            </p:cNvSpPr>
            <p:nvPr/>
          </p:nvSpPr>
          <p:spPr bwMode="auto">
            <a:xfrm>
              <a:off x="5136" y="2640"/>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410" name="Text Box 63"/>
            <p:cNvSpPr txBox="1">
              <a:spLocks noChangeArrowheads="1"/>
            </p:cNvSpPr>
            <p:nvPr/>
          </p:nvSpPr>
          <p:spPr bwMode="auto">
            <a:xfrm>
              <a:off x="2448" y="2136"/>
              <a:ext cx="336" cy="288"/>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4411" name="Text Box 64"/>
            <p:cNvSpPr txBox="1">
              <a:spLocks noChangeArrowheads="1"/>
            </p:cNvSpPr>
            <p:nvPr/>
          </p:nvSpPr>
          <p:spPr bwMode="auto">
            <a:xfrm>
              <a:off x="976" y="2512"/>
              <a:ext cx="336" cy="288"/>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4412" name="Text Box 65"/>
            <p:cNvSpPr txBox="1">
              <a:spLocks noChangeArrowheads="1"/>
            </p:cNvSpPr>
            <p:nvPr/>
          </p:nvSpPr>
          <p:spPr bwMode="auto">
            <a:xfrm>
              <a:off x="456" y="3000"/>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4413" name="Text Box 66"/>
            <p:cNvSpPr txBox="1">
              <a:spLocks noChangeArrowheads="1"/>
            </p:cNvSpPr>
            <p:nvPr/>
          </p:nvSpPr>
          <p:spPr bwMode="auto">
            <a:xfrm>
              <a:off x="3560" y="2512"/>
              <a:ext cx="336" cy="288"/>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4414" name="Text Box 67"/>
            <p:cNvSpPr txBox="1">
              <a:spLocks noChangeArrowheads="1"/>
            </p:cNvSpPr>
            <p:nvPr/>
          </p:nvSpPr>
          <p:spPr bwMode="auto">
            <a:xfrm>
              <a:off x="4128" y="2512"/>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4415" name="Text Box 68"/>
            <p:cNvSpPr txBox="1">
              <a:spLocks noChangeArrowheads="1"/>
            </p:cNvSpPr>
            <p:nvPr/>
          </p:nvSpPr>
          <p:spPr bwMode="auto">
            <a:xfrm>
              <a:off x="1632" y="2976"/>
              <a:ext cx="336" cy="288"/>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4416" name="Text Box 69"/>
            <p:cNvSpPr txBox="1">
              <a:spLocks noChangeArrowheads="1"/>
            </p:cNvSpPr>
            <p:nvPr/>
          </p:nvSpPr>
          <p:spPr bwMode="auto">
            <a:xfrm>
              <a:off x="3928" y="3000"/>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4417" name="Text Box 70"/>
            <p:cNvSpPr txBox="1">
              <a:spLocks noChangeArrowheads="1"/>
            </p:cNvSpPr>
            <p:nvPr/>
          </p:nvSpPr>
          <p:spPr bwMode="auto">
            <a:xfrm>
              <a:off x="2848" y="3000"/>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4418" name="Text Box 71"/>
            <p:cNvSpPr txBox="1">
              <a:spLocks noChangeArrowheads="1"/>
            </p:cNvSpPr>
            <p:nvPr/>
          </p:nvSpPr>
          <p:spPr bwMode="auto">
            <a:xfrm>
              <a:off x="4936" y="3008"/>
              <a:ext cx="416" cy="288"/>
            </a:xfrm>
            <a:prstGeom prst="rect">
              <a:avLst/>
            </a:prstGeom>
            <a:noFill/>
            <a:ln w="9525">
              <a:noFill/>
              <a:miter lim="800000"/>
              <a:headEnd/>
              <a:tailEnd/>
            </a:ln>
          </p:spPr>
          <p:txBody>
            <a:bodyPr>
              <a:spAutoFit/>
            </a:bodyPr>
            <a:lstStyle/>
            <a:p>
              <a:pPr>
                <a:spcBef>
                  <a:spcPct val="50000"/>
                </a:spcBef>
              </a:pPr>
              <a:r>
                <a:rPr lang="bg-BG"/>
                <a:t>100</a:t>
              </a:r>
              <a:endParaRPr lang="en-US"/>
            </a:p>
          </p:txBody>
        </p:sp>
      </p:grpSp>
      <p:grpSp>
        <p:nvGrpSpPr>
          <p:cNvPr id="54277" name="Group 216"/>
          <p:cNvGrpSpPr>
            <a:grpSpLocks/>
          </p:cNvGrpSpPr>
          <p:nvPr/>
        </p:nvGrpSpPr>
        <p:grpSpPr bwMode="auto">
          <a:xfrm>
            <a:off x="190500" y="3822700"/>
            <a:ext cx="8839200" cy="2159000"/>
            <a:chOff x="120" y="2408"/>
            <a:chExt cx="5568" cy="1360"/>
          </a:xfrm>
        </p:grpSpPr>
        <p:sp>
          <p:nvSpPr>
            <p:cNvPr id="54278" name="Rectangle 143"/>
            <p:cNvSpPr>
              <a:spLocks noChangeArrowheads="1"/>
            </p:cNvSpPr>
            <p:nvPr/>
          </p:nvSpPr>
          <p:spPr bwMode="auto">
            <a:xfrm>
              <a:off x="2136" y="2432"/>
              <a:ext cx="1008" cy="240"/>
            </a:xfrm>
            <a:prstGeom prst="rect">
              <a:avLst/>
            </a:prstGeom>
            <a:noFill/>
            <a:ln w="9525">
              <a:solidFill>
                <a:schemeClr val="tx1"/>
              </a:solidFill>
              <a:miter lim="800000"/>
              <a:headEnd/>
              <a:tailEnd/>
            </a:ln>
          </p:spPr>
          <p:txBody>
            <a:bodyPr wrap="none" anchor="ctr"/>
            <a:lstStyle/>
            <a:p>
              <a:endParaRPr lang="bg-BG"/>
            </a:p>
          </p:txBody>
        </p:sp>
        <p:sp>
          <p:nvSpPr>
            <p:cNvPr id="54279" name="Line 144"/>
            <p:cNvSpPr>
              <a:spLocks noChangeShapeType="1"/>
            </p:cNvSpPr>
            <p:nvPr/>
          </p:nvSpPr>
          <p:spPr bwMode="auto">
            <a:xfrm>
              <a:off x="2424" y="2432"/>
              <a:ext cx="0" cy="240"/>
            </a:xfrm>
            <a:prstGeom prst="line">
              <a:avLst/>
            </a:prstGeom>
            <a:noFill/>
            <a:ln w="9525">
              <a:solidFill>
                <a:schemeClr val="tx1"/>
              </a:solidFill>
              <a:round/>
              <a:headEnd/>
              <a:tailEnd/>
            </a:ln>
          </p:spPr>
          <p:txBody>
            <a:bodyPr wrap="none" anchor="ctr"/>
            <a:lstStyle/>
            <a:p>
              <a:endParaRPr lang="bg-BG"/>
            </a:p>
          </p:txBody>
        </p:sp>
        <p:sp>
          <p:nvSpPr>
            <p:cNvPr id="54280" name="Line 145"/>
            <p:cNvSpPr>
              <a:spLocks noChangeShapeType="1"/>
            </p:cNvSpPr>
            <p:nvPr/>
          </p:nvSpPr>
          <p:spPr bwMode="auto">
            <a:xfrm>
              <a:off x="2856" y="2432"/>
              <a:ext cx="0" cy="240"/>
            </a:xfrm>
            <a:prstGeom prst="line">
              <a:avLst/>
            </a:prstGeom>
            <a:noFill/>
            <a:ln w="9525">
              <a:solidFill>
                <a:schemeClr val="tx1"/>
              </a:solidFill>
              <a:round/>
              <a:headEnd/>
              <a:tailEnd/>
            </a:ln>
          </p:spPr>
          <p:txBody>
            <a:bodyPr wrap="none" anchor="ctr"/>
            <a:lstStyle/>
            <a:p>
              <a:endParaRPr lang="bg-BG"/>
            </a:p>
          </p:txBody>
        </p:sp>
        <p:sp>
          <p:nvSpPr>
            <p:cNvPr id="54281" name="Rectangle 146"/>
            <p:cNvSpPr>
              <a:spLocks noChangeArrowheads="1"/>
            </p:cNvSpPr>
            <p:nvPr/>
          </p:nvSpPr>
          <p:spPr bwMode="auto">
            <a:xfrm>
              <a:off x="3312" y="2816"/>
              <a:ext cx="1392" cy="240"/>
            </a:xfrm>
            <a:prstGeom prst="rect">
              <a:avLst/>
            </a:prstGeom>
            <a:noFill/>
            <a:ln w="9525">
              <a:solidFill>
                <a:schemeClr val="tx1"/>
              </a:solidFill>
              <a:miter lim="800000"/>
              <a:headEnd/>
              <a:tailEnd/>
            </a:ln>
          </p:spPr>
          <p:txBody>
            <a:bodyPr wrap="none" anchor="ctr"/>
            <a:lstStyle/>
            <a:p>
              <a:endParaRPr lang="bg-BG"/>
            </a:p>
          </p:txBody>
        </p:sp>
        <p:sp>
          <p:nvSpPr>
            <p:cNvPr id="54282" name="Line 147"/>
            <p:cNvSpPr>
              <a:spLocks noChangeShapeType="1"/>
            </p:cNvSpPr>
            <p:nvPr/>
          </p:nvSpPr>
          <p:spPr bwMode="auto">
            <a:xfrm>
              <a:off x="3568" y="2816"/>
              <a:ext cx="0" cy="240"/>
            </a:xfrm>
            <a:prstGeom prst="line">
              <a:avLst/>
            </a:prstGeom>
            <a:noFill/>
            <a:ln w="9525">
              <a:solidFill>
                <a:schemeClr val="tx1"/>
              </a:solidFill>
              <a:round/>
              <a:headEnd/>
              <a:tailEnd/>
            </a:ln>
          </p:spPr>
          <p:txBody>
            <a:bodyPr wrap="none" anchor="ctr"/>
            <a:lstStyle/>
            <a:p>
              <a:endParaRPr lang="bg-BG"/>
            </a:p>
          </p:txBody>
        </p:sp>
        <p:sp>
          <p:nvSpPr>
            <p:cNvPr id="54283" name="Line 148"/>
            <p:cNvSpPr>
              <a:spLocks noChangeShapeType="1"/>
            </p:cNvSpPr>
            <p:nvPr/>
          </p:nvSpPr>
          <p:spPr bwMode="auto">
            <a:xfrm>
              <a:off x="3904" y="2816"/>
              <a:ext cx="0" cy="240"/>
            </a:xfrm>
            <a:prstGeom prst="line">
              <a:avLst/>
            </a:prstGeom>
            <a:noFill/>
            <a:ln w="9525">
              <a:solidFill>
                <a:schemeClr val="tx1"/>
              </a:solidFill>
              <a:round/>
              <a:headEnd/>
              <a:tailEnd/>
            </a:ln>
          </p:spPr>
          <p:txBody>
            <a:bodyPr wrap="none" anchor="ctr"/>
            <a:lstStyle/>
            <a:p>
              <a:endParaRPr lang="bg-BG"/>
            </a:p>
          </p:txBody>
        </p:sp>
        <p:sp>
          <p:nvSpPr>
            <p:cNvPr id="54284" name="Line 149"/>
            <p:cNvSpPr>
              <a:spLocks noChangeShapeType="1"/>
            </p:cNvSpPr>
            <p:nvPr/>
          </p:nvSpPr>
          <p:spPr bwMode="auto">
            <a:xfrm>
              <a:off x="4472" y="2816"/>
              <a:ext cx="0" cy="240"/>
            </a:xfrm>
            <a:prstGeom prst="line">
              <a:avLst/>
            </a:prstGeom>
            <a:noFill/>
            <a:ln w="9525">
              <a:solidFill>
                <a:schemeClr val="tx1"/>
              </a:solidFill>
              <a:round/>
              <a:headEnd/>
              <a:tailEnd/>
            </a:ln>
          </p:spPr>
          <p:txBody>
            <a:bodyPr wrap="none" anchor="ctr"/>
            <a:lstStyle/>
            <a:p>
              <a:endParaRPr lang="bg-BG"/>
            </a:p>
          </p:txBody>
        </p:sp>
        <p:sp>
          <p:nvSpPr>
            <p:cNvPr id="54285" name="Line 150"/>
            <p:cNvSpPr>
              <a:spLocks noChangeShapeType="1"/>
            </p:cNvSpPr>
            <p:nvPr/>
          </p:nvSpPr>
          <p:spPr bwMode="auto">
            <a:xfrm>
              <a:off x="4144" y="2816"/>
              <a:ext cx="0" cy="240"/>
            </a:xfrm>
            <a:prstGeom prst="line">
              <a:avLst/>
            </a:prstGeom>
            <a:noFill/>
            <a:ln w="9525">
              <a:solidFill>
                <a:schemeClr val="tx1"/>
              </a:solidFill>
              <a:round/>
              <a:headEnd/>
              <a:tailEnd/>
            </a:ln>
          </p:spPr>
          <p:txBody>
            <a:bodyPr wrap="none" anchor="ctr"/>
            <a:lstStyle/>
            <a:p>
              <a:endParaRPr lang="bg-BG"/>
            </a:p>
          </p:txBody>
        </p:sp>
        <p:sp>
          <p:nvSpPr>
            <p:cNvPr id="54286" name="Rectangle 151"/>
            <p:cNvSpPr>
              <a:spLocks noChangeArrowheads="1"/>
            </p:cNvSpPr>
            <p:nvPr/>
          </p:nvSpPr>
          <p:spPr bwMode="auto">
            <a:xfrm>
              <a:off x="648" y="2816"/>
              <a:ext cx="1008" cy="240"/>
            </a:xfrm>
            <a:prstGeom prst="rect">
              <a:avLst/>
            </a:prstGeom>
            <a:noFill/>
            <a:ln w="9525">
              <a:solidFill>
                <a:schemeClr val="tx1"/>
              </a:solidFill>
              <a:miter lim="800000"/>
              <a:headEnd/>
              <a:tailEnd/>
            </a:ln>
          </p:spPr>
          <p:txBody>
            <a:bodyPr wrap="none" anchor="ctr"/>
            <a:lstStyle/>
            <a:p>
              <a:endParaRPr lang="bg-BG"/>
            </a:p>
          </p:txBody>
        </p:sp>
        <p:sp>
          <p:nvSpPr>
            <p:cNvPr id="54287" name="Rectangle 152"/>
            <p:cNvSpPr>
              <a:spLocks noChangeArrowheads="1"/>
            </p:cNvSpPr>
            <p:nvPr/>
          </p:nvSpPr>
          <p:spPr bwMode="auto">
            <a:xfrm>
              <a:off x="3608" y="3296"/>
              <a:ext cx="1008" cy="240"/>
            </a:xfrm>
            <a:prstGeom prst="rect">
              <a:avLst/>
            </a:prstGeom>
            <a:noFill/>
            <a:ln w="9525">
              <a:solidFill>
                <a:schemeClr val="tx1"/>
              </a:solidFill>
              <a:miter lim="800000"/>
              <a:headEnd/>
              <a:tailEnd/>
            </a:ln>
          </p:spPr>
          <p:txBody>
            <a:bodyPr wrap="none" anchor="ctr"/>
            <a:lstStyle/>
            <a:p>
              <a:endParaRPr lang="bg-BG"/>
            </a:p>
          </p:txBody>
        </p:sp>
        <p:sp>
          <p:nvSpPr>
            <p:cNvPr id="54288" name="Rectangle 153"/>
            <p:cNvSpPr>
              <a:spLocks noChangeArrowheads="1"/>
            </p:cNvSpPr>
            <p:nvPr/>
          </p:nvSpPr>
          <p:spPr bwMode="auto">
            <a:xfrm>
              <a:off x="2520" y="3296"/>
              <a:ext cx="1008" cy="240"/>
            </a:xfrm>
            <a:prstGeom prst="rect">
              <a:avLst/>
            </a:prstGeom>
            <a:noFill/>
            <a:ln w="9525">
              <a:solidFill>
                <a:schemeClr val="tx1"/>
              </a:solidFill>
              <a:miter lim="800000"/>
              <a:headEnd/>
              <a:tailEnd/>
            </a:ln>
          </p:spPr>
          <p:txBody>
            <a:bodyPr wrap="none" anchor="ctr"/>
            <a:lstStyle/>
            <a:p>
              <a:endParaRPr lang="bg-BG"/>
            </a:p>
          </p:txBody>
        </p:sp>
        <p:sp>
          <p:nvSpPr>
            <p:cNvPr id="54289" name="Rectangle 154"/>
            <p:cNvSpPr>
              <a:spLocks noChangeArrowheads="1"/>
            </p:cNvSpPr>
            <p:nvPr/>
          </p:nvSpPr>
          <p:spPr bwMode="auto">
            <a:xfrm>
              <a:off x="1320" y="3296"/>
              <a:ext cx="1008" cy="240"/>
            </a:xfrm>
            <a:prstGeom prst="rect">
              <a:avLst/>
            </a:prstGeom>
            <a:noFill/>
            <a:ln w="9525">
              <a:solidFill>
                <a:schemeClr val="tx1"/>
              </a:solidFill>
              <a:miter lim="800000"/>
              <a:headEnd/>
              <a:tailEnd/>
            </a:ln>
          </p:spPr>
          <p:txBody>
            <a:bodyPr wrap="none" anchor="ctr"/>
            <a:lstStyle/>
            <a:p>
              <a:endParaRPr lang="bg-BG"/>
            </a:p>
          </p:txBody>
        </p:sp>
        <p:sp>
          <p:nvSpPr>
            <p:cNvPr id="54290" name="Rectangle 155"/>
            <p:cNvSpPr>
              <a:spLocks noChangeArrowheads="1"/>
            </p:cNvSpPr>
            <p:nvPr/>
          </p:nvSpPr>
          <p:spPr bwMode="auto">
            <a:xfrm>
              <a:off x="120" y="3296"/>
              <a:ext cx="1008" cy="240"/>
            </a:xfrm>
            <a:prstGeom prst="rect">
              <a:avLst/>
            </a:prstGeom>
            <a:noFill/>
            <a:ln w="9525">
              <a:solidFill>
                <a:schemeClr val="tx1"/>
              </a:solidFill>
              <a:miter lim="800000"/>
              <a:headEnd/>
              <a:tailEnd/>
            </a:ln>
          </p:spPr>
          <p:txBody>
            <a:bodyPr wrap="none" anchor="ctr"/>
            <a:lstStyle/>
            <a:p>
              <a:pPr algn="ctr"/>
              <a:endParaRPr lang="bg-BG">
                <a:solidFill>
                  <a:schemeClr val="bg1"/>
                </a:solidFill>
              </a:endParaRPr>
            </a:p>
          </p:txBody>
        </p:sp>
        <p:sp>
          <p:nvSpPr>
            <p:cNvPr id="54291" name="Rectangle 156"/>
            <p:cNvSpPr>
              <a:spLocks noChangeArrowheads="1"/>
            </p:cNvSpPr>
            <p:nvPr/>
          </p:nvSpPr>
          <p:spPr bwMode="auto">
            <a:xfrm>
              <a:off x="4680" y="3296"/>
              <a:ext cx="1008" cy="240"/>
            </a:xfrm>
            <a:prstGeom prst="rect">
              <a:avLst/>
            </a:prstGeom>
            <a:noFill/>
            <a:ln w="9525">
              <a:solidFill>
                <a:schemeClr val="tx1"/>
              </a:solidFill>
              <a:miter lim="800000"/>
              <a:headEnd/>
              <a:tailEnd/>
            </a:ln>
          </p:spPr>
          <p:txBody>
            <a:bodyPr wrap="none" anchor="ctr"/>
            <a:lstStyle/>
            <a:p>
              <a:endParaRPr lang="bg-BG"/>
            </a:p>
          </p:txBody>
        </p:sp>
        <p:sp>
          <p:nvSpPr>
            <p:cNvPr id="54292" name="Line 157"/>
            <p:cNvSpPr>
              <a:spLocks noChangeShapeType="1"/>
            </p:cNvSpPr>
            <p:nvPr/>
          </p:nvSpPr>
          <p:spPr bwMode="auto">
            <a:xfrm>
              <a:off x="3288" y="3296"/>
              <a:ext cx="0" cy="240"/>
            </a:xfrm>
            <a:prstGeom prst="line">
              <a:avLst/>
            </a:prstGeom>
            <a:noFill/>
            <a:ln w="9525">
              <a:solidFill>
                <a:schemeClr val="tx1"/>
              </a:solidFill>
              <a:round/>
              <a:headEnd/>
              <a:tailEnd/>
            </a:ln>
          </p:spPr>
          <p:txBody>
            <a:bodyPr wrap="none" anchor="ctr"/>
            <a:lstStyle/>
            <a:p>
              <a:endParaRPr lang="bg-BG"/>
            </a:p>
          </p:txBody>
        </p:sp>
        <p:sp>
          <p:nvSpPr>
            <p:cNvPr id="54293" name="Line 158"/>
            <p:cNvSpPr>
              <a:spLocks noChangeShapeType="1"/>
            </p:cNvSpPr>
            <p:nvPr/>
          </p:nvSpPr>
          <p:spPr bwMode="auto">
            <a:xfrm>
              <a:off x="4392" y="3296"/>
              <a:ext cx="0" cy="240"/>
            </a:xfrm>
            <a:prstGeom prst="line">
              <a:avLst/>
            </a:prstGeom>
            <a:noFill/>
            <a:ln w="9525">
              <a:solidFill>
                <a:schemeClr val="tx1"/>
              </a:solidFill>
              <a:round/>
              <a:headEnd/>
              <a:tailEnd/>
            </a:ln>
          </p:spPr>
          <p:txBody>
            <a:bodyPr wrap="none" anchor="ctr"/>
            <a:lstStyle/>
            <a:p>
              <a:endParaRPr lang="bg-BG"/>
            </a:p>
          </p:txBody>
        </p:sp>
        <p:sp>
          <p:nvSpPr>
            <p:cNvPr id="54294" name="Line 159"/>
            <p:cNvSpPr>
              <a:spLocks noChangeShapeType="1"/>
            </p:cNvSpPr>
            <p:nvPr/>
          </p:nvSpPr>
          <p:spPr bwMode="auto">
            <a:xfrm>
              <a:off x="3864" y="3296"/>
              <a:ext cx="0" cy="240"/>
            </a:xfrm>
            <a:prstGeom prst="line">
              <a:avLst/>
            </a:prstGeom>
            <a:noFill/>
            <a:ln w="9525">
              <a:solidFill>
                <a:schemeClr val="tx1"/>
              </a:solidFill>
              <a:round/>
              <a:headEnd/>
              <a:tailEnd/>
            </a:ln>
          </p:spPr>
          <p:txBody>
            <a:bodyPr wrap="none" anchor="ctr"/>
            <a:lstStyle/>
            <a:p>
              <a:endParaRPr lang="bg-BG"/>
            </a:p>
          </p:txBody>
        </p:sp>
        <p:sp>
          <p:nvSpPr>
            <p:cNvPr id="54295" name="Line 160"/>
            <p:cNvSpPr>
              <a:spLocks noChangeShapeType="1"/>
            </p:cNvSpPr>
            <p:nvPr/>
          </p:nvSpPr>
          <p:spPr bwMode="auto">
            <a:xfrm>
              <a:off x="5400" y="3296"/>
              <a:ext cx="0" cy="240"/>
            </a:xfrm>
            <a:prstGeom prst="line">
              <a:avLst/>
            </a:prstGeom>
            <a:noFill/>
            <a:ln w="9525">
              <a:solidFill>
                <a:schemeClr val="tx1"/>
              </a:solidFill>
              <a:round/>
              <a:headEnd/>
              <a:tailEnd/>
            </a:ln>
          </p:spPr>
          <p:txBody>
            <a:bodyPr wrap="none" anchor="ctr"/>
            <a:lstStyle/>
            <a:p>
              <a:endParaRPr lang="bg-BG"/>
            </a:p>
          </p:txBody>
        </p:sp>
        <p:sp>
          <p:nvSpPr>
            <p:cNvPr id="54296" name="Line 161"/>
            <p:cNvSpPr>
              <a:spLocks noChangeShapeType="1"/>
            </p:cNvSpPr>
            <p:nvPr/>
          </p:nvSpPr>
          <p:spPr bwMode="auto">
            <a:xfrm>
              <a:off x="4920" y="3296"/>
              <a:ext cx="0" cy="240"/>
            </a:xfrm>
            <a:prstGeom prst="line">
              <a:avLst/>
            </a:prstGeom>
            <a:noFill/>
            <a:ln w="9525">
              <a:solidFill>
                <a:schemeClr val="tx1"/>
              </a:solidFill>
              <a:round/>
              <a:headEnd/>
              <a:tailEnd/>
            </a:ln>
          </p:spPr>
          <p:txBody>
            <a:bodyPr wrap="none" anchor="ctr"/>
            <a:lstStyle/>
            <a:p>
              <a:endParaRPr lang="bg-BG"/>
            </a:p>
          </p:txBody>
        </p:sp>
        <p:sp>
          <p:nvSpPr>
            <p:cNvPr id="54297" name="Line 162"/>
            <p:cNvSpPr>
              <a:spLocks noChangeShapeType="1"/>
            </p:cNvSpPr>
            <p:nvPr/>
          </p:nvSpPr>
          <p:spPr bwMode="auto">
            <a:xfrm>
              <a:off x="1560" y="3296"/>
              <a:ext cx="0" cy="240"/>
            </a:xfrm>
            <a:prstGeom prst="line">
              <a:avLst/>
            </a:prstGeom>
            <a:noFill/>
            <a:ln w="9525">
              <a:solidFill>
                <a:schemeClr val="tx1"/>
              </a:solidFill>
              <a:round/>
              <a:headEnd/>
              <a:tailEnd/>
            </a:ln>
          </p:spPr>
          <p:txBody>
            <a:bodyPr wrap="none" anchor="ctr"/>
            <a:lstStyle/>
            <a:p>
              <a:endParaRPr lang="bg-BG"/>
            </a:p>
          </p:txBody>
        </p:sp>
        <p:sp>
          <p:nvSpPr>
            <p:cNvPr id="54298" name="Line 163"/>
            <p:cNvSpPr>
              <a:spLocks noChangeShapeType="1"/>
            </p:cNvSpPr>
            <p:nvPr/>
          </p:nvSpPr>
          <p:spPr bwMode="auto">
            <a:xfrm>
              <a:off x="2088" y="3296"/>
              <a:ext cx="0" cy="240"/>
            </a:xfrm>
            <a:prstGeom prst="line">
              <a:avLst/>
            </a:prstGeom>
            <a:noFill/>
            <a:ln w="9525">
              <a:solidFill>
                <a:schemeClr val="tx1"/>
              </a:solidFill>
              <a:round/>
              <a:headEnd/>
              <a:tailEnd/>
            </a:ln>
          </p:spPr>
          <p:txBody>
            <a:bodyPr wrap="none" anchor="ctr"/>
            <a:lstStyle/>
            <a:p>
              <a:endParaRPr lang="bg-BG"/>
            </a:p>
          </p:txBody>
        </p:sp>
        <p:sp>
          <p:nvSpPr>
            <p:cNvPr id="54299" name="Line 164"/>
            <p:cNvSpPr>
              <a:spLocks noChangeShapeType="1"/>
            </p:cNvSpPr>
            <p:nvPr/>
          </p:nvSpPr>
          <p:spPr bwMode="auto">
            <a:xfrm>
              <a:off x="2776" y="3304"/>
              <a:ext cx="0" cy="240"/>
            </a:xfrm>
            <a:prstGeom prst="line">
              <a:avLst/>
            </a:prstGeom>
            <a:noFill/>
            <a:ln w="9525">
              <a:solidFill>
                <a:schemeClr val="tx1"/>
              </a:solidFill>
              <a:round/>
              <a:headEnd/>
              <a:tailEnd/>
            </a:ln>
          </p:spPr>
          <p:txBody>
            <a:bodyPr wrap="none" anchor="ctr"/>
            <a:lstStyle/>
            <a:p>
              <a:endParaRPr lang="bg-BG"/>
            </a:p>
          </p:txBody>
        </p:sp>
        <p:sp>
          <p:nvSpPr>
            <p:cNvPr id="54300" name="Line 165"/>
            <p:cNvSpPr>
              <a:spLocks noChangeShapeType="1"/>
            </p:cNvSpPr>
            <p:nvPr/>
          </p:nvSpPr>
          <p:spPr bwMode="auto">
            <a:xfrm>
              <a:off x="904" y="2816"/>
              <a:ext cx="0" cy="240"/>
            </a:xfrm>
            <a:prstGeom prst="line">
              <a:avLst/>
            </a:prstGeom>
            <a:noFill/>
            <a:ln w="9525">
              <a:solidFill>
                <a:schemeClr val="tx1"/>
              </a:solidFill>
              <a:round/>
              <a:headEnd/>
              <a:tailEnd/>
            </a:ln>
          </p:spPr>
          <p:txBody>
            <a:bodyPr wrap="none" anchor="ctr"/>
            <a:lstStyle/>
            <a:p>
              <a:endParaRPr lang="bg-BG"/>
            </a:p>
          </p:txBody>
        </p:sp>
        <p:sp>
          <p:nvSpPr>
            <p:cNvPr id="54301" name="Line 166"/>
            <p:cNvSpPr>
              <a:spLocks noChangeShapeType="1"/>
            </p:cNvSpPr>
            <p:nvPr/>
          </p:nvSpPr>
          <p:spPr bwMode="auto">
            <a:xfrm>
              <a:off x="1416" y="2816"/>
              <a:ext cx="0" cy="240"/>
            </a:xfrm>
            <a:prstGeom prst="line">
              <a:avLst/>
            </a:prstGeom>
            <a:noFill/>
            <a:ln w="9525">
              <a:solidFill>
                <a:schemeClr val="tx1"/>
              </a:solidFill>
              <a:round/>
              <a:headEnd/>
              <a:tailEnd/>
            </a:ln>
          </p:spPr>
          <p:txBody>
            <a:bodyPr wrap="none" anchor="ctr"/>
            <a:lstStyle/>
            <a:p>
              <a:endParaRPr lang="bg-BG"/>
            </a:p>
          </p:txBody>
        </p:sp>
        <p:sp>
          <p:nvSpPr>
            <p:cNvPr id="54302" name="Line 167"/>
            <p:cNvSpPr>
              <a:spLocks noChangeShapeType="1"/>
            </p:cNvSpPr>
            <p:nvPr/>
          </p:nvSpPr>
          <p:spPr bwMode="auto">
            <a:xfrm>
              <a:off x="320" y="3304"/>
              <a:ext cx="0" cy="240"/>
            </a:xfrm>
            <a:prstGeom prst="line">
              <a:avLst/>
            </a:prstGeom>
            <a:noFill/>
            <a:ln w="9525">
              <a:solidFill>
                <a:schemeClr val="tx1"/>
              </a:solidFill>
              <a:round/>
              <a:headEnd/>
              <a:tailEnd/>
            </a:ln>
          </p:spPr>
          <p:txBody>
            <a:bodyPr wrap="none" anchor="ctr"/>
            <a:lstStyle/>
            <a:p>
              <a:endParaRPr lang="bg-BG"/>
            </a:p>
          </p:txBody>
        </p:sp>
        <p:sp>
          <p:nvSpPr>
            <p:cNvPr id="54303" name="Line 168"/>
            <p:cNvSpPr>
              <a:spLocks noChangeShapeType="1"/>
            </p:cNvSpPr>
            <p:nvPr/>
          </p:nvSpPr>
          <p:spPr bwMode="auto">
            <a:xfrm>
              <a:off x="920" y="3296"/>
              <a:ext cx="0" cy="240"/>
            </a:xfrm>
            <a:prstGeom prst="line">
              <a:avLst/>
            </a:prstGeom>
            <a:noFill/>
            <a:ln w="9525">
              <a:solidFill>
                <a:schemeClr val="tx1"/>
              </a:solidFill>
              <a:round/>
              <a:headEnd/>
              <a:tailEnd/>
            </a:ln>
          </p:spPr>
          <p:txBody>
            <a:bodyPr wrap="none" anchor="ctr"/>
            <a:lstStyle/>
            <a:p>
              <a:endParaRPr lang="bg-BG"/>
            </a:p>
          </p:txBody>
        </p:sp>
        <p:sp>
          <p:nvSpPr>
            <p:cNvPr id="54304" name="Line 169"/>
            <p:cNvSpPr>
              <a:spLocks noChangeShapeType="1"/>
            </p:cNvSpPr>
            <p:nvPr/>
          </p:nvSpPr>
          <p:spPr bwMode="auto">
            <a:xfrm>
              <a:off x="192"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05" name="Line 170"/>
            <p:cNvSpPr>
              <a:spLocks noChangeShapeType="1"/>
            </p:cNvSpPr>
            <p:nvPr/>
          </p:nvSpPr>
          <p:spPr bwMode="auto">
            <a:xfrm>
              <a:off x="144" y="3760"/>
              <a:ext cx="96" cy="0"/>
            </a:xfrm>
            <a:prstGeom prst="line">
              <a:avLst/>
            </a:prstGeom>
            <a:noFill/>
            <a:ln w="9525">
              <a:solidFill>
                <a:schemeClr val="tx1"/>
              </a:solidFill>
              <a:round/>
              <a:headEnd/>
              <a:tailEnd/>
            </a:ln>
          </p:spPr>
          <p:txBody>
            <a:bodyPr wrap="none" anchor="ctr"/>
            <a:lstStyle/>
            <a:p>
              <a:endParaRPr lang="bg-BG"/>
            </a:p>
          </p:txBody>
        </p:sp>
        <p:sp>
          <p:nvSpPr>
            <p:cNvPr id="54306" name="Line 171"/>
            <p:cNvSpPr>
              <a:spLocks noChangeShapeType="1"/>
            </p:cNvSpPr>
            <p:nvPr/>
          </p:nvSpPr>
          <p:spPr bwMode="auto">
            <a:xfrm>
              <a:off x="3736"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07" name="Line 172"/>
            <p:cNvSpPr>
              <a:spLocks noChangeShapeType="1"/>
            </p:cNvSpPr>
            <p:nvPr/>
          </p:nvSpPr>
          <p:spPr bwMode="auto">
            <a:xfrm>
              <a:off x="340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08" name="Line 173"/>
            <p:cNvSpPr>
              <a:spLocks noChangeShapeType="1"/>
            </p:cNvSpPr>
            <p:nvPr/>
          </p:nvSpPr>
          <p:spPr bwMode="auto">
            <a:xfrm>
              <a:off x="2640"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09" name="Line 174"/>
            <p:cNvSpPr>
              <a:spLocks noChangeShapeType="1"/>
            </p:cNvSpPr>
            <p:nvPr/>
          </p:nvSpPr>
          <p:spPr bwMode="auto">
            <a:xfrm>
              <a:off x="2208"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10" name="Line 175"/>
            <p:cNvSpPr>
              <a:spLocks noChangeShapeType="1"/>
            </p:cNvSpPr>
            <p:nvPr/>
          </p:nvSpPr>
          <p:spPr bwMode="auto">
            <a:xfrm>
              <a:off x="1008"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11" name="Line 176"/>
            <p:cNvSpPr>
              <a:spLocks noChangeShapeType="1"/>
            </p:cNvSpPr>
            <p:nvPr/>
          </p:nvSpPr>
          <p:spPr bwMode="auto">
            <a:xfrm>
              <a:off x="1440"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12" name="Line 177"/>
            <p:cNvSpPr>
              <a:spLocks noChangeShapeType="1"/>
            </p:cNvSpPr>
            <p:nvPr/>
          </p:nvSpPr>
          <p:spPr bwMode="auto">
            <a:xfrm>
              <a:off x="5544"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13" name="Line 178"/>
            <p:cNvSpPr>
              <a:spLocks noChangeShapeType="1"/>
            </p:cNvSpPr>
            <p:nvPr/>
          </p:nvSpPr>
          <p:spPr bwMode="auto">
            <a:xfrm>
              <a:off x="480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14" name="Line 179"/>
            <p:cNvSpPr>
              <a:spLocks noChangeShapeType="1"/>
            </p:cNvSpPr>
            <p:nvPr/>
          </p:nvSpPr>
          <p:spPr bwMode="auto">
            <a:xfrm>
              <a:off x="2592" y="3768"/>
              <a:ext cx="96" cy="0"/>
            </a:xfrm>
            <a:prstGeom prst="line">
              <a:avLst/>
            </a:prstGeom>
            <a:noFill/>
            <a:ln w="9525">
              <a:solidFill>
                <a:schemeClr val="tx1"/>
              </a:solidFill>
              <a:round/>
              <a:headEnd/>
              <a:tailEnd/>
            </a:ln>
          </p:spPr>
          <p:txBody>
            <a:bodyPr wrap="none" anchor="ctr"/>
            <a:lstStyle/>
            <a:p>
              <a:endParaRPr lang="bg-BG"/>
            </a:p>
          </p:txBody>
        </p:sp>
        <p:sp>
          <p:nvSpPr>
            <p:cNvPr id="54315" name="Line 180"/>
            <p:cNvSpPr>
              <a:spLocks noChangeShapeType="1"/>
            </p:cNvSpPr>
            <p:nvPr/>
          </p:nvSpPr>
          <p:spPr bwMode="auto">
            <a:xfrm>
              <a:off x="3360" y="3752"/>
              <a:ext cx="96" cy="0"/>
            </a:xfrm>
            <a:prstGeom prst="line">
              <a:avLst/>
            </a:prstGeom>
            <a:noFill/>
            <a:ln w="9525">
              <a:solidFill>
                <a:schemeClr val="tx1"/>
              </a:solidFill>
              <a:round/>
              <a:headEnd/>
              <a:tailEnd/>
            </a:ln>
          </p:spPr>
          <p:txBody>
            <a:bodyPr wrap="none" anchor="ctr"/>
            <a:lstStyle/>
            <a:p>
              <a:endParaRPr lang="bg-BG"/>
            </a:p>
          </p:txBody>
        </p:sp>
        <p:sp>
          <p:nvSpPr>
            <p:cNvPr id="54316" name="Line 181"/>
            <p:cNvSpPr>
              <a:spLocks noChangeShapeType="1"/>
            </p:cNvSpPr>
            <p:nvPr/>
          </p:nvSpPr>
          <p:spPr bwMode="auto">
            <a:xfrm>
              <a:off x="3688" y="3760"/>
              <a:ext cx="96" cy="0"/>
            </a:xfrm>
            <a:prstGeom prst="line">
              <a:avLst/>
            </a:prstGeom>
            <a:noFill/>
            <a:ln w="9525">
              <a:solidFill>
                <a:schemeClr val="tx1"/>
              </a:solidFill>
              <a:round/>
              <a:headEnd/>
              <a:tailEnd/>
            </a:ln>
          </p:spPr>
          <p:txBody>
            <a:bodyPr wrap="none" anchor="ctr"/>
            <a:lstStyle/>
            <a:p>
              <a:endParaRPr lang="bg-BG"/>
            </a:p>
          </p:txBody>
        </p:sp>
        <p:sp>
          <p:nvSpPr>
            <p:cNvPr id="54317" name="Line 182"/>
            <p:cNvSpPr>
              <a:spLocks noChangeShapeType="1"/>
            </p:cNvSpPr>
            <p:nvPr/>
          </p:nvSpPr>
          <p:spPr bwMode="auto">
            <a:xfrm>
              <a:off x="2160" y="3760"/>
              <a:ext cx="96" cy="0"/>
            </a:xfrm>
            <a:prstGeom prst="line">
              <a:avLst/>
            </a:prstGeom>
            <a:noFill/>
            <a:ln w="9525">
              <a:solidFill>
                <a:schemeClr val="tx1"/>
              </a:solidFill>
              <a:round/>
              <a:headEnd/>
              <a:tailEnd/>
            </a:ln>
          </p:spPr>
          <p:txBody>
            <a:bodyPr wrap="none" anchor="ctr"/>
            <a:lstStyle/>
            <a:p>
              <a:endParaRPr lang="bg-BG"/>
            </a:p>
          </p:txBody>
        </p:sp>
        <p:sp>
          <p:nvSpPr>
            <p:cNvPr id="54318" name="Line 183"/>
            <p:cNvSpPr>
              <a:spLocks noChangeShapeType="1"/>
            </p:cNvSpPr>
            <p:nvPr/>
          </p:nvSpPr>
          <p:spPr bwMode="auto">
            <a:xfrm>
              <a:off x="1392" y="3744"/>
              <a:ext cx="96" cy="0"/>
            </a:xfrm>
            <a:prstGeom prst="line">
              <a:avLst/>
            </a:prstGeom>
            <a:noFill/>
            <a:ln w="9525">
              <a:solidFill>
                <a:schemeClr val="tx1"/>
              </a:solidFill>
              <a:round/>
              <a:headEnd/>
              <a:tailEnd/>
            </a:ln>
          </p:spPr>
          <p:txBody>
            <a:bodyPr wrap="none" anchor="ctr"/>
            <a:lstStyle/>
            <a:p>
              <a:endParaRPr lang="bg-BG"/>
            </a:p>
          </p:txBody>
        </p:sp>
        <p:sp>
          <p:nvSpPr>
            <p:cNvPr id="54319" name="Line 184"/>
            <p:cNvSpPr>
              <a:spLocks noChangeShapeType="1"/>
            </p:cNvSpPr>
            <p:nvPr/>
          </p:nvSpPr>
          <p:spPr bwMode="auto">
            <a:xfrm>
              <a:off x="960" y="3760"/>
              <a:ext cx="96" cy="0"/>
            </a:xfrm>
            <a:prstGeom prst="line">
              <a:avLst/>
            </a:prstGeom>
            <a:noFill/>
            <a:ln w="9525">
              <a:solidFill>
                <a:schemeClr val="tx1"/>
              </a:solidFill>
              <a:round/>
              <a:headEnd/>
              <a:tailEnd/>
            </a:ln>
          </p:spPr>
          <p:txBody>
            <a:bodyPr wrap="none" anchor="ctr"/>
            <a:lstStyle/>
            <a:p>
              <a:endParaRPr lang="bg-BG"/>
            </a:p>
          </p:txBody>
        </p:sp>
        <p:sp>
          <p:nvSpPr>
            <p:cNvPr id="54320" name="Line 185"/>
            <p:cNvSpPr>
              <a:spLocks noChangeShapeType="1"/>
            </p:cNvSpPr>
            <p:nvPr/>
          </p:nvSpPr>
          <p:spPr bwMode="auto">
            <a:xfrm>
              <a:off x="5496" y="3752"/>
              <a:ext cx="96" cy="0"/>
            </a:xfrm>
            <a:prstGeom prst="line">
              <a:avLst/>
            </a:prstGeom>
            <a:noFill/>
            <a:ln w="9525">
              <a:solidFill>
                <a:schemeClr val="tx1"/>
              </a:solidFill>
              <a:round/>
              <a:headEnd/>
              <a:tailEnd/>
            </a:ln>
          </p:spPr>
          <p:txBody>
            <a:bodyPr wrap="none" anchor="ctr"/>
            <a:lstStyle/>
            <a:p>
              <a:endParaRPr lang="bg-BG"/>
            </a:p>
          </p:txBody>
        </p:sp>
        <p:sp>
          <p:nvSpPr>
            <p:cNvPr id="54321" name="Line 186"/>
            <p:cNvSpPr>
              <a:spLocks noChangeShapeType="1"/>
            </p:cNvSpPr>
            <p:nvPr/>
          </p:nvSpPr>
          <p:spPr bwMode="auto">
            <a:xfrm>
              <a:off x="4752" y="3744"/>
              <a:ext cx="96" cy="0"/>
            </a:xfrm>
            <a:prstGeom prst="line">
              <a:avLst/>
            </a:prstGeom>
            <a:noFill/>
            <a:ln w="9525">
              <a:solidFill>
                <a:schemeClr val="tx1"/>
              </a:solidFill>
              <a:round/>
              <a:headEnd/>
              <a:tailEnd/>
            </a:ln>
          </p:spPr>
          <p:txBody>
            <a:bodyPr wrap="none" anchor="ctr"/>
            <a:lstStyle/>
            <a:p>
              <a:endParaRPr lang="bg-BG"/>
            </a:p>
          </p:txBody>
        </p:sp>
        <p:sp>
          <p:nvSpPr>
            <p:cNvPr id="54322" name="Line 187"/>
            <p:cNvSpPr>
              <a:spLocks noChangeShapeType="1"/>
            </p:cNvSpPr>
            <p:nvPr/>
          </p:nvSpPr>
          <p:spPr bwMode="auto">
            <a:xfrm>
              <a:off x="1512" y="2912"/>
              <a:ext cx="288" cy="0"/>
            </a:xfrm>
            <a:prstGeom prst="line">
              <a:avLst/>
            </a:prstGeom>
            <a:noFill/>
            <a:ln w="9525">
              <a:solidFill>
                <a:schemeClr val="tx1"/>
              </a:solidFill>
              <a:round/>
              <a:headEnd/>
              <a:tailEnd/>
            </a:ln>
          </p:spPr>
          <p:txBody>
            <a:bodyPr wrap="none" anchor="ctr"/>
            <a:lstStyle/>
            <a:p>
              <a:endParaRPr lang="bg-BG"/>
            </a:p>
          </p:txBody>
        </p:sp>
        <p:sp>
          <p:nvSpPr>
            <p:cNvPr id="54323" name="Line 188"/>
            <p:cNvSpPr>
              <a:spLocks noChangeShapeType="1"/>
            </p:cNvSpPr>
            <p:nvPr/>
          </p:nvSpPr>
          <p:spPr bwMode="auto">
            <a:xfrm>
              <a:off x="18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24" name="Line 189"/>
            <p:cNvSpPr>
              <a:spLocks noChangeShapeType="1"/>
            </p:cNvSpPr>
            <p:nvPr/>
          </p:nvSpPr>
          <p:spPr bwMode="auto">
            <a:xfrm flipH="1">
              <a:off x="3000" y="2912"/>
              <a:ext cx="432" cy="0"/>
            </a:xfrm>
            <a:prstGeom prst="line">
              <a:avLst/>
            </a:prstGeom>
            <a:noFill/>
            <a:ln w="9525">
              <a:solidFill>
                <a:schemeClr val="tx1"/>
              </a:solidFill>
              <a:round/>
              <a:headEnd/>
              <a:tailEnd/>
            </a:ln>
          </p:spPr>
          <p:txBody>
            <a:bodyPr wrap="none" anchor="ctr"/>
            <a:lstStyle/>
            <a:p>
              <a:endParaRPr lang="bg-BG"/>
            </a:p>
          </p:txBody>
        </p:sp>
        <p:sp>
          <p:nvSpPr>
            <p:cNvPr id="54325" name="Line 190"/>
            <p:cNvSpPr>
              <a:spLocks noChangeShapeType="1"/>
            </p:cNvSpPr>
            <p:nvPr/>
          </p:nvSpPr>
          <p:spPr bwMode="auto">
            <a:xfrm>
              <a:off x="30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26" name="Line 191"/>
            <p:cNvSpPr>
              <a:spLocks noChangeShapeType="1"/>
            </p:cNvSpPr>
            <p:nvPr/>
          </p:nvSpPr>
          <p:spPr bwMode="auto">
            <a:xfrm flipH="1">
              <a:off x="1176" y="2528"/>
              <a:ext cx="1104" cy="0"/>
            </a:xfrm>
            <a:prstGeom prst="line">
              <a:avLst/>
            </a:prstGeom>
            <a:noFill/>
            <a:ln w="9525">
              <a:solidFill>
                <a:schemeClr val="tx1"/>
              </a:solidFill>
              <a:round/>
              <a:headEnd/>
              <a:tailEnd/>
            </a:ln>
          </p:spPr>
          <p:txBody>
            <a:bodyPr wrap="none" anchor="ctr"/>
            <a:lstStyle/>
            <a:p>
              <a:endParaRPr lang="bg-BG"/>
            </a:p>
          </p:txBody>
        </p:sp>
        <p:sp>
          <p:nvSpPr>
            <p:cNvPr id="54327" name="Line 192"/>
            <p:cNvSpPr>
              <a:spLocks noChangeShapeType="1"/>
            </p:cNvSpPr>
            <p:nvPr/>
          </p:nvSpPr>
          <p:spPr bwMode="auto">
            <a:xfrm>
              <a:off x="1176"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4328" name="Line 193"/>
            <p:cNvSpPr>
              <a:spLocks noChangeShapeType="1"/>
            </p:cNvSpPr>
            <p:nvPr/>
          </p:nvSpPr>
          <p:spPr bwMode="auto">
            <a:xfrm flipH="1">
              <a:off x="600" y="2960"/>
              <a:ext cx="192" cy="0"/>
            </a:xfrm>
            <a:prstGeom prst="line">
              <a:avLst/>
            </a:prstGeom>
            <a:noFill/>
            <a:ln w="9525">
              <a:solidFill>
                <a:schemeClr val="tx1"/>
              </a:solidFill>
              <a:round/>
              <a:headEnd/>
              <a:tailEnd/>
            </a:ln>
          </p:spPr>
          <p:txBody>
            <a:bodyPr wrap="none" anchor="ctr"/>
            <a:lstStyle/>
            <a:p>
              <a:endParaRPr lang="bg-BG"/>
            </a:p>
          </p:txBody>
        </p:sp>
        <p:sp>
          <p:nvSpPr>
            <p:cNvPr id="54329" name="Line 194"/>
            <p:cNvSpPr>
              <a:spLocks noChangeShapeType="1"/>
            </p:cNvSpPr>
            <p:nvPr/>
          </p:nvSpPr>
          <p:spPr bwMode="auto">
            <a:xfrm>
              <a:off x="600" y="2960"/>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30" name="Line 195"/>
            <p:cNvSpPr>
              <a:spLocks noChangeShapeType="1"/>
            </p:cNvSpPr>
            <p:nvPr/>
          </p:nvSpPr>
          <p:spPr bwMode="auto">
            <a:xfrm>
              <a:off x="3000" y="2528"/>
              <a:ext cx="1008" cy="0"/>
            </a:xfrm>
            <a:prstGeom prst="line">
              <a:avLst/>
            </a:prstGeom>
            <a:noFill/>
            <a:ln w="9525">
              <a:solidFill>
                <a:schemeClr val="tx1"/>
              </a:solidFill>
              <a:round/>
              <a:headEnd/>
              <a:tailEnd/>
            </a:ln>
          </p:spPr>
          <p:txBody>
            <a:bodyPr wrap="none" anchor="ctr"/>
            <a:lstStyle/>
            <a:p>
              <a:endParaRPr lang="bg-BG"/>
            </a:p>
          </p:txBody>
        </p:sp>
        <p:sp>
          <p:nvSpPr>
            <p:cNvPr id="54331" name="Line 196"/>
            <p:cNvSpPr>
              <a:spLocks noChangeShapeType="1"/>
            </p:cNvSpPr>
            <p:nvPr/>
          </p:nvSpPr>
          <p:spPr bwMode="auto">
            <a:xfrm>
              <a:off x="4008"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4332" name="Line 197"/>
            <p:cNvSpPr>
              <a:spLocks noChangeShapeType="1"/>
            </p:cNvSpPr>
            <p:nvPr/>
          </p:nvSpPr>
          <p:spPr bwMode="auto">
            <a:xfrm>
              <a:off x="4008"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33" name="Line 198"/>
            <p:cNvSpPr>
              <a:spLocks noChangeShapeType="1"/>
            </p:cNvSpPr>
            <p:nvPr/>
          </p:nvSpPr>
          <p:spPr bwMode="auto">
            <a:xfrm>
              <a:off x="448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34" name="Line 199"/>
            <p:cNvSpPr>
              <a:spLocks noChangeShapeType="1"/>
            </p:cNvSpPr>
            <p:nvPr/>
          </p:nvSpPr>
          <p:spPr bwMode="auto">
            <a:xfrm>
              <a:off x="4440" y="3752"/>
              <a:ext cx="96" cy="0"/>
            </a:xfrm>
            <a:prstGeom prst="line">
              <a:avLst/>
            </a:prstGeom>
            <a:noFill/>
            <a:ln w="9525">
              <a:solidFill>
                <a:schemeClr val="tx1"/>
              </a:solidFill>
              <a:round/>
              <a:headEnd/>
              <a:tailEnd/>
            </a:ln>
          </p:spPr>
          <p:txBody>
            <a:bodyPr wrap="none" anchor="ctr"/>
            <a:lstStyle/>
            <a:p>
              <a:endParaRPr lang="bg-BG"/>
            </a:p>
          </p:txBody>
        </p:sp>
        <p:sp>
          <p:nvSpPr>
            <p:cNvPr id="54335" name="Line 200"/>
            <p:cNvSpPr>
              <a:spLocks noChangeShapeType="1"/>
            </p:cNvSpPr>
            <p:nvPr/>
          </p:nvSpPr>
          <p:spPr bwMode="auto">
            <a:xfrm>
              <a:off x="4584" y="2912"/>
              <a:ext cx="576" cy="0"/>
            </a:xfrm>
            <a:prstGeom prst="line">
              <a:avLst/>
            </a:prstGeom>
            <a:noFill/>
            <a:ln w="9525">
              <a:solidFill>
                <a:schemeClr val="tx1"/>
              </a:solidFill>
              <a:round/>
              <a:headEnd/>
              <a:tailEnd/>
            </a:ln>
          </p:spPr>
          <p:txBody>
            <a:bodyPr wrap="none" anchor="ctr"/>
            <a:lstStyle/>
            <a:p>
              <a:endParaRPr lang="bg-BG"/>
            </a:p>
          </p:txBody>
        </p:sp>
        <p:sp>
          <p:nvSpPr>
            <p:cNvPr id="54336" name="Line 201"/>
            <p:cNvSpPr>
              <a:spLocks noChangeShapeType="1"/>
            </p:cNvSpPr>
            <p:nvPr/>
          </p:nvSpPr>
          <p:spPr bwMode="auto">
            <a:xfrm>
              <a:off x="516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4337" name="Text Box 202"/>
            <p:cNvSpPr txBox="1">
              <a:spLocks noChangeArrowheads="1"/>
            </p:cNvSpPr>
            <p:nvPr/>
          </p:nvSpPr>
          <p:spPr bwMode="auto">
            <a:xfrm>
              <a:off x="2472" y="2408"/>
              <a:ext cx="336" cy="288"/>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4338" name="Text Box 203"/>
            <p:cNvSpPr txBox="1">
              <a:spLocks noChangeArrowheads="1"/>
            </p:cNvSpPr>
            <p:nvPr/>
          </p:nvSpPr>
          <p:spPr bwMode="auto">
            <a:xfrm>
              <a:off x="1000" y="2784"/>
              <a:ext cx="336" cy="288"/>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4339" name="Text Box 204"/>
            <p:cNvSpPr txBox="1">
              <a:spLocks noChangeArrowheads="1"/>
            </p:cNvSpPr>
            <p:nvPr/>
          </p:nvSpPr>
          <p:spPr bwMode="auto">
            <a:xfrm>
              <a:off x="648" y="3264"/>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4340" name="Text Box 205"/>
            <p:cNvSpPr txBox="1">
              <a:spLocks noChangeArrowheads="1"/>
            </p:cNvSpPr>
            <p:nvPr/>
          </p:nvSpPr>
          <p:spPr bwMode="auto">
            <a:xfrm>
              <a:off x="3584" y="2784"/>
              <a:ext cx="336" cy="288"/>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4341" name="Text Box 206"/>
            <p:cNvSpPr txBox="1">
              <a:spLocks noChangeArrowheads="1"/>
            </p:cNvSpPr>
            <p:nvPr/>
          </p:nvSpPr>
          <p:spPr bwMode="auto">
            <a:xfrm>
              <a:off x="4152" y="2784"/>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4342" name="Text Box 207"/>
            <p:cNvSpPr txBox="1">
              <a:spLocks noChangeArrowheads="1"/>
            </p:cNvSpPr>
            <p:nvPr/>
          </p:nvSpPr>
          <p:spPr bwMode="auto">
            <a:xfrm>
              <a:off x="1656" y="3272"/>
              <a:ext cx="336" cy="288"/>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4343" name="Text Box 208"/>
            <p:cNvSpPr txBox="1">
              <a:spLocks noChangeArrowheads="1"/>
            </p:cNvSpPr>
            <p:nvPr/>
          </p:nvSpPr>
          <p:spPr bwMode="auto">
            <a:xfrm>
              <a:off x="3952" y="3272"/>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4344" name="Text Box 209"/>
            <p:cNvSpPr txBox="1">
              <a:spLocks noChangeArrowheads="1"/>
            </p:cNvSpPr>
            <p:nvPr/>
          </p:nvSpPr>
          <p:spPr bwMode="auto">
            <a:xfrm>
              <a:off x="2872" y="3272"/>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4345" name="Text Box 210"/>
            <p:cNvSpPr txBox="1">
              <a:spLocks noChangeArrowheads="1"/>
            </p:cNvSpPr>
            <p:nvPr/>
          </p:nvSpPr>
          <p:spPr bwMode="auto">
            <a:xfrm>
              <a:off x="4960" y="3280"/>
              <a:ext cx="416" cy="288"/>
            </a:xfrm>
            <a:prstGeom prst="rect">
              <a:avLst/>
            </a:prstGeom>
            <a:noFill/>
            <a:ln w="9525">
              <a:noFill/>
              <a:miter lim="800000"/>
              <a:headEnd/>
              <a:tailEnd/>
            </a:ln>
          </p:spPr>
          <p:txBody>
            <a:bodyPr>
              <a:spAutoFit/>
            </a:bodyPr>
            <a:lstStyle/>
            <a:p>
              <a:pPr>
                <a:spcBef>
                  <a:spcPct val="50000"/>
                </a:spcBef>
              </a:pPr>
              <a:r>
                <a:rPr lang="bg-BG"/>
                <a:t>100</a:t>
              </a:r>
              <a:endParaRPr lang="en-US"/>
            </a:p>
          </p:txBody>
        </p:sp>
        <p:sp>
          <p:nvSpPr>
            <p:cNvPr id="54346" name="Line 211"/>
            <p:cNvSpPr>
              <a:spLocks noChangeShapeType="1"/>
            </p:cNvSpPr>
            <p:nvPr/>
          </p:nvSpPr>
          <p:spPr bwMode="auto">
            <a:xfrm>
              <a:off x="528" y="3296"/>
              <a:ext cx="0" cy="240"/>
            </a:xfrm>
            <a:prstGeom prst="line">
              <a:avLst/>
            </a:prstGeom>
            <a:noFill/>
            <a:ln w="9525">
              <a:solidFill>
                <a:schemeClr val="tx1"/>
              </a:solidFill>
              <a:round/>
              <a:headEnd/>
              <a:tailEnd/>
            </a:ln>
          </p:spPr>
          <p:txBody>
            <a:bodyPr wrap="none" anchor="ctr"/>
            <a:lstStyle/>
            <a:p>
              <a:endParaRPr lang="bg-BG"/>
            </a:p>
          </p:txBody>
        </p:sp>
        <p:sp>
          <p:nvSpPr>
            <p:cNvPr id="54347" name="Line 212"/>
            <p:cNvSpPr>
              <a:spLocks noChangeShapeType="1"/>
            </p:cNvSpPr>
            <p:nvPr/>
          </p:nvSpPr>
          <p:spPr bwMode="auto">
            <a:xfrm>
              <a:off x="688" y="3296"/>
              <a:ext cx="0" cy="240"/>
            </a:xfrm>
            <a:prstGeom prst="line">
              <a:avLst/>
            </a:prstGeom>
            <a:noFill/>
            <a:ln w="9525">
              <a:solidFill>
                <a:schemeClr val="tx1"/>
              </a:solidFill>
              <a:round/>
              <a:headEnd/>
              <a:tailEnd/>
            </a:ln>
          </p:spPr>
          <p:txBody>
            <a:bodyPr wrap="none" anchor="ctr"/>
            <a:lstStyle/>
            <a:p>
              <a:endParaRPr lang="bg-BG"/>
            </a:p>
          </p:txBody>
        </p:sp>
        <p:sp>
          <p:nvSpPr>
            <p:cNvPr id="54348" name="Line 213"/>
            <p:cNvSpPr>
              <a:spLocks noChangeShapeType="1"/>
            </p:cNvSpPr>
            <p:nvPr/>
          </p:nvSpPr>
          <p:spPr bwMode="auto">
            <a:xfrm>
              <a:off x="608"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4349" name="Line 214"/>
            <p:cNvSpPr>
              <a:spLocks noChangeShapeType="1"/>
            </p:cNvSpPr>
            <p:nvPr/>
          </p:nvSpPr>
          <p:spPr bwMode="auto">
            <a:xfrm>
              <a:off x="560" y="3752"/>
              <a:ext cx="96" cy="0"/>
            </a:xfrm>
            <a:prstGeom prst="line">
              <a:avLst/>
            </a:prstGeom>
            <a:noFill/>
            <a:ln w="9525">
              <a:solidFill>
                <a:schemeClr val="tx1"/>
              </a:solidFill>
              <a:round/>
              <a:headEnd/>
              <a:tailEnd/>
            </a:ln>
          </p:spPr>
          <p:txBody>
            <a:bodyPr wrap="none" anchor="ctr"/>
            <a:lstStyle/>
            <a:p>
              <a:endParaRPr lang="bg-BG"/>
            </a:p>
          </p:txBody>
        </p:sp>
        <p:sp>
          <p:nvSpPr>
            <p:cNvPr id="54350" name="Text Box 215"/>
            <p:cNvSpPr txBox="1">
              <a:spLocks noChangeArrowheads="1"/>
            </p:cNvSpPr>
            <p:nvPr/>
          </p:nvSpPr>
          <p:spPr bwMode="auto">
            <a:xfrm>
              <a:off x="320" y="3272"/>
              <a:ext cx="192" cy="288"/>
            </a:xfrm>
            <a:prstGeom prst="rect">
              <a:avLst/>
            </a:prstGeom>
            <a:noFill/>
            <a:ln w="9525">
              <a:noFill/>
              <a:miter lim="800000"/>
              <a:headEnd/>
              <a:tailEnd/>
            </a:ln>
          </p:spPr>
          <p:txBody>
            <a:bodyPr>
              <a:spAutoFit/>
            </a:bodyPr>
            <a:lstStyle/>
            <a:p>
              <a:pPr>
                <a:spcBef>
                  <a:spcPct val="50000"/>
                </a:spcBef>
              </a:pPr>
              <a:r>
                <a:rPr lang="bg-BG"/>
                <a:t>1</a:t>
              </a:r>
              <a:endParaRPr 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04800" y="609600"/>
            <a:ext cx="8153400" cy="59436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1"/>
                </a:solidFill>
              </a:rPr>
              <a:t>Примерно</a:t>
            </a:r>
            <a:r>
              <a:rPr lang="bg-BG" sz="2800">
                <a:solidFill>
                  <a:schemeClr val="tx1"/>
                </a:solidFill>
              </a:rPr>
              <a:t>, добавяме </a:t>
            </a:r>
            <a:r>
              <a:rPr lang="en-US" sz="2800" smtClean="0">
                <a:solidFill>
                  <a:schemeClr val="tx1"/>
                </a:solidFill>
              </a:rPr>
              <a:t>0</a:t>
            </a:r>
            <a:r>
              <a:rPr lang="bg-BG" sz="2800" smtClean="0">
                <a:solidFill>
                  <a:schemeClr val="tx1"/>
                </a:solidFill>
              </a:rPr>
              <a:t>:</a:t>
            </a:r>
            <a:r>
              <a:rPr lang="bg-BG" sz="2800">
                <a:solidFill>
                  <a:schemeClr val="tx2">
                    <a:satMod val="130000"/>
                  </a:schemeClr>
                </a:solidFill>
              </a:rPr>
              <a:t/>
            </a:r>
            <a:br>
              <a:rPr lang="bg-BG" sz="2800">
                <a:solidFill>
                  <a:schemeClr val="tx2">
                    <a:satMod val="130000"/>
                  </a:schemeClr>
                </a:solidFill>
              </a:rPr>
            </a:br>
            <a:endParaRPr lang="en-US">
              <a:solidFill>
                <a:schemeClr val="tx2">
                  <a:satMod val="130000"/>
                </a:schemeClr>
              </a:solidFill>
            </a:endParaRPr>
          </a:p>
        </p:txBody>
      </p:sp>
      <p:grpSp>
        <p:nvGrpSpPr>
          <p:cNvPr id="55299" name="Group 3"/>
          <p:cNvGrpSpPr>
            <a:grpSpLocks/>
          </p:cNvGrpSpPr>
          <p:nvPr/>
        </p:nvGrpSpPr>
        <p:grpSpPr bwMode="auto">
          <a:xfrm>
            <a:off x="228600" y="457200"/>
            <a:ext cx="8839200" cy="2159000"/>
            <a:chOff x="120" y="2408"/>
            <a:chExt cx="5568" cy="1360"/>
          </a:xfrm>
        </p:grpSpPr>
        <p:sp>
          <p:nvSpPr>
            <p:cNvPr id="55381" name="Rectangle 4"/>
            <p:cNvSpPr>
              <a:spLocks noChangeArrowheads="1"/>
            </p:cNvSpPr>
            <p:nvPr/>
          </p:nvSpPr>
          <p:spPr bwMode="auto">
            <a:xfrm>
              <a:off x="2136" y="2432"/>
              <a:ext cx="1008" cy="240"/>
            </a:xfrm>
            <a:prstGeom prst="rect">
              <a:avLst/>
            </a:prstGeom>
            <a:noFill/>
            <a:ln w="9525">
              <a:solidFill>
                <a:schemeClr val="tx1"/>
              </a:solidFill>
              <a:miter lim="800000"/>
              <a:headEnd/>
              <a:tailEnd/>
            </a:ln>
          </p:spPr>
          <p:txBody>
            <a:bodyPr wrap="none" anchor="ctr"/>
            <a:lstStyle/>
            <a:p>
              <a:endParaRPr lang="bg-BG"/>
            </a:p>
          </p:txBody>
        </p:sp>
        <p:sp>
          <p:nvSpPr>
            <p:cNvPr id="55382" name="Line 5"/>
            <p:cNvSpPr>
              <a:spLocks noChangeShapeType="1"/>
            </p:cNvSpPr>
            <p:nvPr/>
          </p:nvSpPr>
          <p:spPr bwMode="auto">
            <a:xfrm>
              <a:off x="2424" y="2432"/>
              <a:ext cx="0" cy="240"/>
            </a:xfrm>
            <a:prstGeom prst="line">
              <a:avLst/>
            </a:prstGeom>
            <a:noFill/>
            <a:ln w="9525">
              <a:solidFill>
                <a:schemeClr val="tx1"/>
              </a:solidFill>
              <a:round/>
              <a:headEnd/>
              <a:tailEnd/>
            </a:ln>
          </p:spPr>
          <p:txBody>
            <a:bodyPr wrap="none" anchor="ctr"/>
            <a:lstStyle/>
            <a:p>
              <a:endParaRPr lang="bg-BG"/>
            </a:p>
          </p:txBody>
        </p:sp>
        <p:sp>
          <p:nvSpPr>
            <p:cNvPr id="55383" name="Line 6"/>
            <p:cNvSpPr>
              <a:spLocks noChangeShapeType="1"/>
            </p:cNvSpPr>
            <p:nvPr/>
          </p:nvSpPr>
          <p:spPr bwMode="auto">
            <a:xfrm>
              <a:off x="2856" y="2432"/>
              <a:ext cx="0" cy="240"/>
            </a:xfrm>
            <a:prstGeom prst="line">
              <a:avLst/>
            </a:prstGeom>
            <a:noFill/>
            <a:ln w="9525">
              <a:solidFill>
                <a:schemeClr val="tx1"/>
              </a:solidFill>
              <a:round/>
              <a:headEnd/>
              <a:tailEnd/>
            </a:ln>
          </p:spPr>
          <p:txBody>
            <a:bodyPr wrap="none" anchor="ctr"/>
            <a:lstStyle/>
            <a:p>
              <a:endParaRPr lang="bg-BG"/>
            </a:p>
          </p:txBody>
        </p:sp>
        <p:sp>
          <p:nvSpPr>
            <p:cNvPr id="55384" name="Rectangle 7"/>
            <p:cNvSpPr>
              <a:spLocks noChangeArrowheads="1"/>
            </p:cNvSpPr>
            <p:nvPr/>
          </p:nvSpPr>
          <p:spPr bwMode="auto">
            <a:xfrm>
              <a:off x="3312" y="2816"/>
              <a:ext cx="1392" cy="240"/>
            </a:xfrm>
            <a:prstGeom prst="rect">
              <a:avLst/>
            </a:prstGeom>
            <a:noFill/>
            <a:ln w="9525">
              <a:solidFill>
                <a:schemeClr val="tx1"/>
              </a:solidFill>
              <a:miter lim="800000"/>
              <a:headEnd/>
              <a:tailEnd/>
            </a:ln>
          </p:spPr>
          <p:txBody>
            <a:bodyPr wrap="none" anchor="ctr"/>
            <a:lstStyle/>
            <a:p>
              <a:endParaRPr lang="bg-BG"/>
            </a:p>
          </p:txBody>
        </p:sp>
        <p:sp>
          <p:nvSpPr>
            <p:cNvPr id="55385" name="Line 8"/>
            <p:cNvSpPr>
              <a:spLocks noChangeShapeType="1"/>
            </p:cNvSpPr>
            <p:nvPr/>
          </p:nvSpPr>
          <p:spPr bwMode="auto">
            <a:xfrm>
              <a:off x="3568" y="2816"/>
              <a:ext cx="0" cy="240"/>
            </a:xfrm>
            <a:prstGeom prst="line">
              <a:avLst/>
            </a:prstGeom>
            <a:noFill/>
            <a:ln w="9525">
              <a:solidFill>
                <a:schemeClr val="tx1"/>
              </a:solidFill>
              <a:round/>
              <a:headEnd/>
              <a:tailEnd/>
            </a:ln>
          </p:spPr>
          <p:txBody>
            <a:bodyPr wrap="none" anchor="ctr"/>
            <a:lstStyle/>
            <a:p>
              <a:endParaRPr lang="bg-BG"/>
            </a:p>
          </p:txBody>
        </p:sp>
        <p:sp>
          <p:nvSpPr>
            <p:cNvPr id="55386" name="Line 9"/>
            <p:cNvSpPr>
              <a:spLocks noChangeShapeType="1"/>
            </p:cNvSpPr>
            <p:nvPr/>
          </p:nvSpPr>
          <p:spPr bwMode="auto">
            <a:xfrm>
              <a:off x="3904" y="2816"/>
              <a:ext cx="0" cy="240"/>
            </a:xfrm>
            <a:prstGeom prst="line">
              <a:avLst/>
            </a:prstGeom>
            <a:noFill/>
            <a:ln w="9525">
              <a:solidFill>
                <a:schemeClr val="tx1"/>
              </a:solidFill>
              <a:round/>
              <a:headEnd/>
              <a:tailEnd/>
            </a:ln>
          </p:spPr>
          <p:txBody>
            <a:bodyPr wrap="none" anchor="ctr"/>
            <a:lstStyle/>
            <a:p>
              <a:endParaRPr lang="bg-BG"/>
            </a:p>
          </p:txBody>
        </p:sp>
        <p:sp>
          <p:nvSpPr>
            <p:cNvPr id="55387" name="Line 10"/>
            <p:cNvSpPr>
              <a:spLocks noChangeShapeType="1"/>
            </p:cNvSpPr>
            <p:nvPr/>
          </p:nvSpPr>
          <p:spPr bwMode="auto">
            <a:xfrm>
              <a:off x="4472" y="2816"/>
              <a:ext cx="0" cy="240"/>
            </a:xfrm>
            <a:prstGeom prst="line">
              <a:avLst/>
            </a:prstGeom>
            <a:noFill/>
            <a:ln w="9525">
              <a:solidFill>
                <a:schemeClr val="tx1"/>
              </a:solidFill>
              <a:round/>
              <a:headEnd/>
              <a:tailEnd/>
            </a:ln>
          </p:spPr>
          <p:txBody>
            <a:bodyPr wrap="none" anchor="ctr"/>
            <a:lstStyle/>
            <a:p>
              <a:endParaRPr lang="bg-BG"/>
            </a:p>
          </p:txBody>
        </p:sp>
        <p:sp>
          <p:nvSpPr>
            <p:cNvPr id="55388" name="Line 11"/>
            <p:cNvSpPr>
              <a:spLocks noChangeShapeType="1"/>
            </p:cNvSpPr>
            <p:nvPr/>
          </p:nvSpPr>
          <p:spPr bwMode="auto">
            <a:xfrm>
              <a:off x="4144" y="2816"/>
              <a:ext cx="0" cy="240"/>
            </a:xfrm>
            <a:prstGeom prst="line">
              <a:avLst/>
            </a:prstGeom>
            <a:noFill/>
            <a:ln w="9525">
              <a:solidFill>
                <a:schemeClr val="tx1"/>
              </a:solidFill>
              <a:round/>
              <a:headEnd/>
              <a:tailEnd/>
            </a:ln>
          </p:spPr>
          <p:txBody>
            <a:bodyPr wrap="none" anchor="ctr"/>
            <a:lstStyle/>
            <a:p>
              <a:endParaRPr lang="bg-BG"/>
            </a:p>
          </p:txBody>
        </p:sp>
        <p:sp>
          <p:nvSpPr>
            <p:cNvPr id="55389" name="Rectangle 12"/>
            <p:cNvSpPr>
              <a:spLocks noChangeArrowheads="1"/>
            </p:cNvSpPr>
            <p:nvPr/>
          </p:nvSpPr>
          <p:spPr bwMode="auto">
            <a:xfrm>
              <a:off x="648" y="2816"/>
              <a:ext cx="1008" cy="240"/>
            </a:xfrm>
            <a:prstGeom prst="rect">
              <a:avLst/>
            </a:prstGeom>
            <a:noFill/>
            <a:ln w="9525">
              <a:solidFill>
                <a:schemeClr val="tx1"/>
              </a:solidFill>
              <a:miter lim="800000"/>
              <a:headEnd/>
              <a:tailEnd/>
            </a:ln>
          </p:spPr>
          <p:txBody>
            <a:bodyPr wrap="none" anchor="ctr"/>
            <a:lstStyle/>
            <a:p>
              <a:endParaRPr lang="bg-BG"/>
            </a:p>
          </p:txBody>
        </p:sp>
        <p:sp>
          <p:nvSpPr>
            <p:cNvPr id="55390" name="Rectangle 13"/>
            <p:cNvSpPr>
              <a:spLocks noChangeArrowheads="1"/>
            </p:cNvSpPr>
            <p:nvPr/>
          </p:nvSpPr>
          <p:spPr bwMode="auto">
            <a:xfrm>
              <a:off x="3608" y="3296"/>
              <a:ext cx="1008" cy="240"/>
            </a:xfrm>
            <a:prstGeom prst="rect">
              <a:avLst/>
            </a:prstGeom>
            <a:noFill/>
            <a:ln w="9525">
              <a:solidFill>
                <a:schemeClr val="tx1"/>
              </a:solidFill>
              <a:miter lim="800000"/>
              <a:headEnd/>
              <a:tailEnd/>
            </a:ln>
          </p:spPr>
          <p:txBody>
            <a:bodyPr wrap="none" anchor="ctr"/>
            <a:lstStyle/>
            <a:p>
              <a:endParaRPr lang="bg-BG"/>
            </a:p>
          </p:txBody>
        </p:sp>
        <p:sp>
          <p:nvSpPr>
            <p:cNvPr id="55391" name="Rectangle 14"/>
            <p:cNvSpPr>
              <a:spLocks noChangeArrowheads="1"/>
            </p:cNvSpPr>
            <p:nvPr/>
          </p:nvSpPr>
          <p:spPr bwMode="auto">
            <a:xfrm>
              <a:off x="2520" y="3296"/>
              <a:ext cx="1008" cy="240"/>
            </a:xfrm>
            <a:prstGeom prst="rect">
              <a:avLst/>
            </a:prstGeom>
            <a:noFill/>
            <a:ln w="9525">
              <a:solidFill>
                <a:schemeClr val="tx1"/>
              </a:solidFill>
              <a:miter lim="800000"/>
              <a:headEnd/>
              <a:tailEnd/>
            </a:ln>
          </p:spPr>
          <p:txBody>
            <a:bodyPr wrap="none" anchor="ctr"/>
            <a:lstStyle/>
            <a:p>
              <a:endParaRPr lang="bg-BG"/>
            </a:p>
          </p:txBody>
        </p:sp>
        <p:sp>
          <p:nvSpPr>
            <p:cNvPr id="55392" name="Rectangle 15"/>
            <p:cNvSpPr>
              <a:spLocks noChangeArrowheads="1"/>
            </p:cNvSpPr>
            <p:nvPr/>
          </p:nvSpPr>
          <p:spPr bwMode="auto">
            <a:xfrm>
              <a:off x="1320" y="3296"/>
              <a:ext cx="1008" cy="240"/>
            </a:xfrm>
            <a:prstGeom prst="rect">
              <a:avLst/>
            </a:prstGeom>
            <a:noFill/>
            <a:ln w="9525">
              <a:solidFill>
                <a:schemeClr val="tx1"/>
              </a:solidFill>
              <a:miter lim="800000"/>
              <a:headEnd/>
              <a:tailEnd/>
            </a:ln>
          </p:spPr>
          <p:txBody>
            <a:bodyPr wrap="none" anchor="ctr"/>
            <a:lstStyle/>
            <a:p>
              <a:endParaRPr lang="bg-BG"/>
            </a:p>
          </p:txBody>
        </p:sp>
        <p:sp>
          <p:nvSpPr>
            <p:cNvPr id="55393" name="Rectangle 16"/>
            <p:cNvSpPr>
              <a:spLocks noChangeArrowheads="1"/>
            </p:cNvSpPr>
            <p:nvPr/>
          </p:nvSpPr>
          <p:spPr bwMode="auto">
            <a:xfrm>
              <a:off x="120" y="3296"/>
              <a:ext cx="1008" cy="240"/>
            </a:xfrm>
            <a:prstGeom prst="rect">
              <a:avLst/>
            </a:prstGeom>
            <a:noFill/>
            <a:ln w="9525">
              <a:solidFill>
                <a:schemeClr val="tx1"/>
              </a:solidFill>
              <a:miter lim="800000"/>
              <a:headEnd/>
              <a:tailEnd/>
            </a:ln>
          </p:spPr>
          <p:txBody>
            <a:bodyPr wrap="none" anchor="ctr"/>
            <a:lstStyle/>
            <a:p>
              <a:pPr algn="ctr"/>
              <a:endParaRPr lang="bg-BG">
                <a:solidFill>
                  <a:schemeClr val="bg1"/>
                </a:solidFill>
              </a:endParaRPr>
            </a:p>
          </p:txBody>
        </p:sp>
        <p:sp>
          <p:nvSpPr>
            <p:cNvPr id="55394" name="Rectangle 17"/>
            <p:cNvSpPr>
              <a:spLocks noChangeArrowheads="1"/>
            </p:cNvSpPr>
            <p:nvPr/>
          </p:nvSpPr>
          <p:spPr bwMode="auto">
            <a:xfrm>
              <a:off x="4680" y="3296"/>
              <a:ext cx="1008" cy="240"/>
            </a:xfrm>
            <a:prstGeom prst="rect">
              <a:avLst/>
            </a:prstGeom>
            <a:noFill/>
            <a:ln w="9525">
              <a:solidFill>
                <a:schemeClr val="tx1"/>
              </a:solidFill>
              <a:miter lim="800000"/>
              <a:headEnd/>
              <a:tailEnd/>
            </a:ln>
          </p:spPr>
          <p:txBody>
            <a:bodyPr wrap="none" anchor="ctr"/>
            <a:lstStyle/>
            <a:p>
              <a:endParaRPr lang="bg-BG"/>
            </a:p>
          </p:txBody>
        </p:sp>
        <p:sp>
          <p:nvSpPr>
            <p:cNvPr id="55395" name="Line 18"/>
            <p:cNvSpPr>
              <a:spLocks noChangeShapeType="1"/>
            </p:cNvSpPr>
            <p:nvPr/>
          </p:nvSpPr>
          <p:spPr bwMode="auto">
            <a:xfrm>
              <a:off x="3288" y="3296"/>
              <a:ext cx="0" cy="240"/>
            </a:xfrm>
            <a:prstGeom prst="line">
              <a:avLst/>
            </a:prstGeom>
            <a:noFill/>
            <a:ln w="9525">
              <a:solidFill>
                <a:schemeClr val="tx1"/>
              </a:solidFill>
              <a:round/>
              <a:headEnd/>
              <a:tailEnd/>
            </a:ln>
          </p:spPr>
          <p:txBody>
            <a:bodyPr wrap="none" anchor="ctr"/>
            <a:lstStyle/>
            <a:p>
              <a:endParaRPr lang="bg-BG"/>
            </a:p>
          </p:txBody>
        </p:sp>
        <p:sp>
          <p:nvSpPr>
            <p:cNvPr id="55396" name="Line 19"/>
            <p:cNvSpPr>
              <a:spLocks noChangeShapeType="1"/>
            </p:cNvSpPr>
            <p:nvPr/>
          </p:nvSpPr>
          <p:spPr bwMode="auto">
            <a:xfrm>
              <a:off x="4392" y="3296"/>
              <a:ext cx="0" cy="240"/>
            </a:xfrm>
            <a:prstGeom prst="line">
              <a:avLst/>
            </a:prstGeom>
            <a:noFill/>
            <a:ln w="9525">
              <a:solidFill>
                <a:schemeClr val="tx1"/>
              </a:solidFill>
              <a:round/>
              <a:headEnd/>
              <a:tailEnd/>
            </a:ln>
          </p:spPr>
          <p:txBody>
            <a:bodyPr wrap="none" anchor="ctr"/>
            <a:lstStyle/>
            <a:p>
              <a:endParaRPr lang="bg-BG"/>
            </a:p>
          </p:txBody>
        </p:sp>
        <p:sp>
          <p:nvSpPr>
            <p:cNvPr id="55397" name="Line 20"/>
            <p:cNvSpPr>
              <a:spLocks noChangeShapeType="1"/>
            </p:cNvSpPr>
            <p:nvPr/>
          </p:nvSpPr>
          <p:spPr bwMode="auto">
            <a:xfrm>
              <a:off x="3864" y="3296"/>
              <a:ext cx="0" cy="240"/>
            </a:xfrm>
            <a:prstGeom prst="line">
              <a:avLst/>
            </a:prstGeom>
            <a:noFill/>
            <a:ln w="9525">
              <a:solidFill>
                <a:schemeClr val="tx1"/>
              </a:solidFill>
              <a:round/>
              <a:headEnd/>
              <a:tailEnd/>
            </a:ln>
          </p:spPr>
          <p:txBody>
            <a:bodyPr wrap="none" anchor="ctr"/>
            <a:lstStyle/>
            <a:p>
              <a:endParaRPr lang="bg-BG"/>
            </a:p>
          </p:txBody>
        </p:sp>
        <p:sp>
          <p:nvSpPr>
            <p:cNvPr id="55398" name="Line 21"/>
            <p:cNvSpPr>
              <a:spLocks noChangeShapeType="1"/>
            </p:cNvSpPr>
            <p:nvPr/>
          </p:nvSpPr>
          <p:spPr bwMode="auto">
            <a:xfrm>
              <a:off x="5400" y="3296"/>
              <a:ext cx="0" cy="240"/>
            </a:xfrm>
            <a:prstGeom prst="line">
              <a:avLst/>
            </a:prstGeom>
            <a:noFill/>
            <a:ln w="9525">
              <a:solidFill>
                <a:schemeClr val="tx1"/>
              </a:solidFill>
              <a:round/>
              <a:headEnd/>
              <a:tailEnd/>
            </a:ln>
          </p:spPr>
          <p:txBody>
            <a:bodyPr wrap="none" anchor="ctr"/>
            <a:lstStyle/>
            <a:p>
              <a:endParaRPr lang="bg-BG"/>
            </a:p>
          </p:txBody>
        </p:sp>
        <p:sp>
          <p:nvSpPr>
            <p:cNvPr id="55399" name="Line 22"/>
            <p:cNvSpPr>
              <a:spLocks noChangeShapeType="1"/>
            </p:cNvSpPr>
            <p:nvPr/>
          </p:nvSpPr>
          <p:spPr bwMode="auto">
            <a:xfrm>
              <a:off x="4920" y="3296"/>
              <a:ext cx="0" cy="240"/>
            </a:xfrm>
            <a:prstGeom prst="line">
              <a:avLst/>
            </a:prstGeom>
            <a:noFill/>
            <a:ln w="9525">
              <a:solidFill>
                <a:schemeClr val="tx1"/>
              </a:solidFill>
              <a:round/>
              <a:headEnd/>
              <a:tailEnd/>
            </a:ln>
          </p:spPr>
          <p:txBody>
            <a:bodyPr wrap="none" anchor="ctr"/>
            <a:lstStyle/>
            <a:p>
              <a:endParaRPr lang="bg-BG"/>
            </a:p>
          </p:txBody>
        </p:sp>
        <p:sp>
          <p:nvSpPr>
            <p:cNvPr id="55400" name="Line 23"/>
            <p:cNvSpPr>
              <a:spLocks noChangeShapeType="1"/>
            </p:cNvSpPr>
            <p:nvPr/>
          </p:nvSpPr>
          <p:spPr bwMode="auto">
            <a:xfrm>
              <a:off x="1560" y="3296"/>
              <a:ext cx="0" cy="240"/>
            </a:xfrm>
            <a:prstGeom prst="line">
              <a:avLst/>
            </a:prstGeom>
            <a:noFill/>
            <a:ln w="9525">
              <a:solidFill>
                <a:schemeClr val="tx1"/>
              </a:solidFill>
              <a:round/>
              <a:headEnd/>
              <a:tailEnd/>
            </a:ln>
          </p:spPr>
          <p:txBody>
            <a:bodyPr wrap="none" anchor="ctr"/>
            <a:lstStyle/>
            <a:p>
              <a:endParaRPr lang="bg-BG"/>
            </a:p>
          </p:txBody>
        </p:sp>
        <p:sp>
          <p:nvSpPr>
            <p:cNvPr id="55401" name="Line 24"/>
            <p:cNvSpPr>
              <a:spLocks noChangeShapeType="1"/>
            </p:cNvSpPr>
            <p:nvPr/>
          </p:nvSpPr>
          <p:spPr bwMode="auto">
            <a:xfrm>
              <a:off x="2088" y="3296"/>
              <a:ext cx="0" cy="240"/>
            </a:xfrm>
            <a:prstGeom prst="line">
              <a:avLst/>
            </a:prstGeom>
            <a:noFill/>
            <a:ln w="9525">
              <a:solidFill>
                <a:schemeClr val="tx1"/>
              </a:solidFill>
              <a:round/>
              <a:headEnd/>
              <a:tailEnd/>
            </a:ln>
          </p:spPr>
          <p:txBody>
            <a:bodyPr wrap="none" anchor="ctr"/>
            <a:lstStyle/>
            <a:p>
              <a:endParaRPr lang="bg-BG"/>
            </a:p>
          </p:txBody>
        </p:sp>
        <p:sp>
          <p:nvSpPr>
            <p:cNvPr id="55402" name="Line 25"/>
            <p:cNvSpPr>
              <a:spLocks noChangeShapeType="1"/>
            </p:cNvSpPr>
            <p:nvPr/>
          </p:nvSpPr>
          <p:spPr bwMode="auto">
            <a:xfrm>
              <a:off x="2776" y="3304"/>
              <a:ext cx="0" cy="240"/>
            </a:xfrm>
            <a:prstGeom prst="line">
              <a:avLst/>
            </a:prstGeom>
            <a:noFill/>
            <a:ln w="9525">
              <a:solidFill>
                <a:schemeClr val="tx1"/>
              </a:solidFill>
              <a:round/>
              <a:headEnd/>
              <a:tailEnd/>
            </a:ln>
          </p:spPr>
          <p:txBody>
            <a:bodyPr wrap="none" anchor="ctr"/>
            <a:lstStyle/>
            <a:p>
              <a:endParaRPr lang="bg-BG"/>
            </a:p>
          </p:txBody>
        </p:sp>
        <p:sp>
          <p:nvSpPr>
            <p:cNvPr id="55403" name="Line 26"/>
            <p:cNvSpPr>
              <a:spLocks noChangeShapeType="1"/>
            </p:cNvSpPr>
            <p:nvPr/>
          </p:nvSpPr>
          <p:spPr bwMode="auto">
            <a:xfrm>
              <a:off x="904" y="2816"/>
              <a:ext cx="0" cy="240"/>
            </a:xfrm>
            <a:prstGeom prst="line">
              <a:avLst/>
            </a:prstGeom>
            <a:noFill/>
            <a:ln w="9525">
              <a:solidFill>
                <a:schemeClr val="tx1"/>
              </a:solidFill>
              <a:round/>
              <a:headEnd/>
              <a:tailEnd/>
            </a:ln>
          </p:spPr>
          <p:txBody>
            <a:bodyPr wrap="none" anchor="ctr"/>
            <a:lstStyle/>
            <a:p>
              <a:endParaRPr lang="bg-BG"/>
            </a:p>
          </p:txBody>
        </p:sp>
        <p:sp>
          <p:nvSpPr>
            <p:cNvPr id="55404" name="Line 27"/>
            <p:cNvSpPr>
              <a:spLocks noChangeShapeType="1"/>
            </p:cNvSpPr>
            <p:nvPr/>
          </p:nvSpPr>
          <p:spPr bwMode="auto">
            <a:xfrm>
              <a:off x="1416" y="2816"/>
              <a:ext cx="0" cy="240"/>
            </a:xfrm>
            <a:prstGeom prst="line">
              <a:avLst/>
            </a:prstGeom>
            <a:noFill/>
            <a:ln w="9525">
              <a:solidFill>
                <a:schemeClr val="tx1"/>
              </a:solidFill>
              <a:round/>
              <a:headEnd/>
              <a:tailEnd/>
            </a:ln>
          </p:spPr>
          <p:txBody>
            <a:bodyPr wrap="none" anchor="ctr"/>
            <a:lstStyle/>
            <a:p>
              <a:endParaRPr lang="bg-BG"/>
            </a:p>
          </p:txBody>
        </p:sp>
        <p:sp>
          <p:nvSpPr>
            <p:cNvPr id="55405" name="Line 28"/>
            <p:cNvSpPr>
              <a:spLocks noChangeShapeType="1"/>
            </p:cNvSpPr>
            <p:nvPr/>
          </p:nvSpPr>
          <p:spPr bwMode="auto">
            <a:xfrm>
              <a:off x="320" y="3304"/>
              <a:ext cx="0" cy="240"/>
            </a:xfrm>
            <a:prstGeom prst="line">
              <a:avLst/>
            </a:prstGeom>
            <a:noFill/>
            <a:ln w="9525">
              <a:solidFill>
                <a:schemeClr val="tx1"/>
              </a:solidFill>
              <a:round/>
              <a:headEnd/>
              <a:tailEnd/>
            </a:ln>
          </p:spPr>
          <p:txBody>
            <a:bodyPr wrap="none" anchor="ctr"/>
            <a:lstStyle/>
            <a:p>
              <a:endParaRPr lang="bg-BG"/>
            </a:p>
          </p:txBody>
        </p:sp>
        <p:sp>
          <p:nvSpPr>
            <p:cNvPr id="55406" name="Line 29"/>
            <p:cNvSpPr>
              <a:spLocks noChangeShapeType="1"/>
            </p:cNvSpPr>
            <p:nvPr/>
          </p:nvSpPr>
          <p:spPr bwMode="auto">
            <a:xfrm>
              <a:off x="920" y="3296"/>
              <a:ext cx="0" cy="240"/>
            </a:xfrm>
            <a:prstGeom prst="line">
              <a:avLst/>
            </a:prstGeom>
            <a:noFill/>
            <a:ln w="9525">
              <a:solidFill>
                <a:schemeClr val="tx1"/>
              </a:solidFill>
              <a:round/>
              <a:headEnd/>
              <a:tailEnd/>
            </a:ln>
          </p:spPr>
          <p:txBody>
            <a:bodyPr wrap="none" anchor="ctr"/>
            <a:lstStyle/>
            <a:p>
              <a:endParaRPr lang="bg-BG"/>
            </a:p>
          </p:txBody>
        </p:sp>
        <p:sp>
          <p:nvSpPr>
            <p:cNvPr id="55407" name="Line 30"/>
            <p:cNvSpPr>
              <a:spLocks noChangeShapeType="1"/>
            </p:cNvSpPr>
            <p:nvPr/>
          </p:nvSpPr>
          <p:spPr bwMode="auto">
            <a:xfrm>
              <a:off x="192"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08" name="Line 31"/>
            <p:cNvSpPr>
              <a:spLocks noChangeShapeType="1"/>
            </p:cNvSpPr>
            <p:nvPr/>
          </p:nvSpPr>
          <p:spPr bwMode="auto">
            <a:xfrm>
              <a:off x="144" y="3760"/>
              <a:ext cx="96" cy="0"/>
            </a:xfrm>
            <a:prstGeom prst="line">
              <a:avLst/>
            </a:prstGeom>
            <a:noFill/>
            <a:ln w="9525">
              <a:solidFill>
                <a:schemeClr val="tx1"/>
              </a:solidFill>
              <a:round/>
              <a:headEnd/>
              <a:tailEnd/>
            </a:ln>
          </p:spPr>
          <p:txBody>
            <a:bodyPr wrap="none" anchor="ctr"/>
            <a:lstStyle/>
            <a:p>
              <a:endParaRPr lang="bg-BG"/>
            </a:p>
          </p:txBody>
        </p:sp>
        <p:sp>
          <p:nvSpPr>
            <p:cNvPr id="55409" name="Line 32"/>
            <p:cNvSpPr>
              <a:spLocks noChangeShapeType="1"/>
            </p:cNvSpPr>
            <p:nvPr/>
          </p:nvSpPr>
          <p:spPr bwMode="auto">
            <a:xfrm>
              <a:off x="3736"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0" name="Line 33"/>
            <p:cNvSpPr>
              <a:spLocks noChangeShapeType="1"/>
            </p:cNvSpPr>
            <p:nvPr/>
          </p:nvSpPr>
          <p:spPr bwMode="auto">
            <a:xfrm>
              <a:off x="340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1" name="Line 34"/>
            <p:cNvSpPr>
              <a:spLocks noChangeShapeType="1"/>
            </p:cNvSpPr>
            <p:nvPr/>
          </p:nvSpPr>
          <p:spPr bwMode="auto">
            <a:xfrm>
              <a:off x="2640"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2" name="Line 35"/>
            <p:cNvSpPr>
              <a:spLocks noChangeShapeType="1"/>
            </p:cNvSpPr>
            <p:nvPr/>
          </p:nvSpPr>
          <p:spPr bwMode="auto">
            <a:xfrm>
              <a:off x="2208"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3" name="Line 36"/>
            <p:cNvSpPr>
              <a:spLocks noChangeShapeType="1"/>
            </p:cNvSpPr>
            <p:nvPr/>
          </p:nvSpPr>
          <p:spPr bwMode="auto">
            <a:xfrm>
              <a:off x="1008"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4" name="Line 37"/>
            <p:cNvSpPr>
              <a:spLocks noChangeShapeType="1"/>
            </p:cNvSpPr>
            <p:nvPr/>
          </p:nvSpPr>
          <p:spPr bwMode="auto">
            <a:xfrm>
              <a:off x="1440"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5" name="Line 38"/>
            <p:cNvSpPr>
              <a:spLocks noChangeShapeType="1"/>
            </p:cNvSpPr>
            <p:nvPr/>
          </p:nvSpPr>
          <p:spPr bwMode="auto">
            <a:xfrm>
              <a:off x="5544"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6" name="Line 39"/>
            <p:cNvSpPr>
              <a:spLocks noChangeShapeType="1"/>
            </p:cNvSpPr>
            <p:nvPr/>
          </p:nvSpPr>
          <p:spPr bwMode="auto">
            <a:xfrm>
              <a:off x="480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17" name="Line 40"/>
            <p:cNvSpPr>
              <a:spLocks noChangeShapeType="1"/>
            </p:cNvSpPr>
            <p:nvPr/>
          </p:nvSpPr>
          <p:spPr bwMode="auto">
            <a:xfrm>
              <a:off x="2592" y="3768"/>
              <a:ext cx="96" cy="0"/>
            </a:xfrm>
            <a:prstGeom prst="line">
              <a:avLst/>
            </a:prstGeom>
            <a:noFill/>
            <a:ln w="9525">
              <a:solidFill>
                <a:schemeClr val="tx1"/>
              </a:solidFill>
              <a:round/>
              <a:headEnd/>
              <a:tailEnd/>
            </a:ln>
          </p:spPr>
          <p:txBody>
            <a:bodyPr wrap="none" anchor="ctr"/>
            <a:lstStyle/>
            <a:p>
              <a:endParaRPr lang="bg-BG"/>
            </a:p>
          </p:txBody>
        </p:sp>
        <p:sp>
          <p:nvSpPr>
            <p:cNvPr id="55418" name="Line 41"/>
            <p:cNvSpPr>
              <a:spLocks noChangeShapeType="1"/>
            </p:cNvSpPr>
            <p:nvPr/>
          </p:nvSpPr>
          <p:spPr bwMode="auto">
            <a:xfrm>
              <a:off x="3360" y="3752"/>
              <a:ext cx="96" cy="0"/>
            </a:xfrm>
            <a:prstGeom prst="line">
              <a:avLst/>
            </a:prstGeom>
            <a:noFill/>
            <a:ln w="9525">
              <a:solidFill>
                <a:schemeClr val="tx1"/>
              </a:solidFill>
              <a:round/>
              <a:headEnd/>
              <a:tailEnd/>
            </a:ln>
          </p:spPr>
          <p:txBody>
            <a:bodyPr wrap="none" anchor="ctr"/>
            <a:lstStyle/>
            <a:p>
              <a:endParaRPr lang="bg-BG"/>
            </a:p>
          </p:txBody>
        </p:sp>
        <p:sp>
          <p:nvSpPr>
            <p:cNvPr id="55419" name="Line 42"/>
            <p:cNvSpPr>
              <a:spLocks noChangeShapeType="1"/>
            </p:cNvSpPr>
            <p:nvPr/>
          </p:nvSpPr>
          <p:spPr bwMode="auto">
            <a:xfrm>
              <a:off x="3688" y="3760"/>
              <a:ext cx="96" cy="0"/>
            </a:xfrm>
            <a:prstGeom prst="line">
              <a:avLst/>
            </a:prstGeom>
            <a:noFill/>
            <a:ln w="9525">
              <a:solidFill>
                <a:schemeClr val="tx1"/>
              </a:solidFill>
              <a:round/>
              <a:headEnd/>
              <a:tailEnd/>
            </a:ln>
          </p:spPr>
          <p:txBody>
            <a:bodyPr wrap="none" anchor="ctr"/>
            <a:lstStyle/>
            <a:p>
              <a:endParaRPr lang="bg-BG"/>
            </a:p>
          </p:txBody>
        </p:sp>
        <p:sp>
          <p:nvSpPr>
            <p:cNvPr id="55420" name="Line 43"/>
            <p:cNvSpPr>
              <a:spLocks noChangeShapeType="1"/>
            </p:cNvSpPr>
            <p:nvPr/>
          </p:nvSpPr>
          <p:spPr bwMode="auto">
            <a:xfrm>
              <a:off x="2160" y="3760"/>
              <a:ext cx="96" cy="0"/>
            </a:xfrm>
            <a:prstGeom prst="line">
              <a:avLst/>
            </a:prstGeom>
            <a:noFill/>
            <a:ln w="9525">
              <a:solidFill>
                <a:schemeClr val="tx1"/>
              </a:solidFill>
              <a:round/>
              <a:headEnd/>
              <a:tailEnd/>
            </a:ln>
          </p:spPr>
          <p:txBody>
            <a:bodyPr wrap="none" anchor="ctr"/>
            <a:lstStyle/>
            <a:p>
              <a:endParaRPr lang="bg-BG"/>
            </a:p>
          </p:txBody>
        </p:sp>
        <p:sp>
          <p:nvSpPr>
            <p:cNvPr id="55421" name="Line 44"/>
            <p:cNvSpPr>
              <a:spLocks noChangeShapeType="1"/>
            </p:cNvSpPr>
            <p:nvPr/>
          </p:nvSpPr>
          <p:spPr bwMode="auto">
            <a:xfrm>
              <a:off x="1392" y="3744"/>
              <a:ext cx="96" cy="0"/>
            </a:xfrm>
            <a:prstGeom prst="line">
              <a:avLst/>
            </a:prstGeom>
            <a:noFill/>
            <a:ln w="9525">
              <a:solidFill>
                <a:schemeClr val="tx1"/>
              </a:solidFill>
              <a:round/>
              <a:headEnd/>
              <a:tailEnd/>
            </a:ln>
          </p:spPr>
          <p:txBody>
            <a:bodyPr wrap="none" anchor="ctr"/>
            <a:lstStyle/>
            <a:p>
              <a:endParaRPr lang="bg-BG"/>
            </a:p>
          </p:txBody>
        </p:sp>
        <p:sp>
          <p:nvSpPr>
            <p:cNvPr id="55422" name="Line 45"/>
            <p:cNvSpPr>
              <a:spLocks noChangeShapeType="1"/>
            </p:cNvSpPr>
            <p:nvPr/>
          </p:nvSpPr>
          <p:spPr bwMode="auto">
            <a:xfrm>
              <a:off x="960" y="3760"/>
              <a:ext cx="96" cy="0"/>
            </a:xfrm>
            <a:prstGeom prst="line">
              <a:avLst/>
            </a:prstGeom>
            <a:noFill/>
            <a:ln w="9525">
              <a:solidFill>
                <a:schemeClr val="tx1"/>
              </a:solidFill>
              <a:round/>
              <a:headEnd/>
              <a:tailEnd/>
            </a:ln>
          </p:spPr>
          <p:txBody>
            <a:bodyPr wrap="none" anchor="ctr"/>
            <a:lstStyle/>
            <a:p>
              <a:endParaRPr lang="bg-BG"/>
            </a:p>
          </p:txBody>
        </p:sp>
        <p:sp>
          <p:nvSpPr>
            <p:cNvPr id="55423" name="Line 46"/>
            <p:cNvSpPr>
              <a:spLocks noChangeShapeType="1"/>
            </p:cNvSpPr>
            <p:nvPr/>
          </p:nvSpPr>
          <p:spPr bwMode="auto">
            <a:xfrm>
              <a:off x="5496" y="3752"/>
              <a:ext cx="96" cy="0"/>
            </a:xfrm>
            <a:prstGeom prst="line">
              <a:avLst/>
            </a:prstGeom>
            <a:noFill/>
            <a:ln w="9525">
              <a:solidFill>
                <a:schemeClr val="tx1"/>
              </a:solidFill>
              <a:round/>
              <a:headEnd/>
              <a:tailEnd/>
            </a:ln>
          </p:spPr>
          <p:txBody>
            <a:bodyPr wrap="none" anchor="ctr"/>
            <a:lstStyle/>
            <a:p>
              <a:endParaRPr lang="bg-BG"/>
            </a:p>
          </p:txBody>
        </p:sp>
        <p:sp>
          <p:nvSpPr>
            <p:cNvPr id="55424" name="Line 47"/>
            <p:cNvSpPr>
              <a:spLocks noChangeShapeType="1"/>
            </p:cNvSpPr>
            <p:nvPr/>
          </p:nvSpPr>
          <p:spPr bwMode="auto">
            <a:xfrm>
              <a:off x="4752" y="3744"/>
              <a:ext cx="96" cy="0"/>
            </a:xfrm>
            <a:prstGeom prst="line">
              <a:avLst/>
            </a:prstGeom>
            <a:noFill/>
            <a:ln w="9525">
              <a:solidFill>
                <a:schemeClr val="tx1"/>
              </a:solidFill>
              <a:round/>
              <a:headEnd/>
              <a:tailEnd/>
            </a:ln>
          </p:spPr>
          <p:txBody>
            <a:bodyPr wrap="none" anchor="ctr"/>
            <a:lstStyle/>
            <a:p>
              <a:endParaRPr lang="bg-BG"/>
            </a:p>
          </p:txBody>
        </p:sp>
        <p:sp>
          <p:nvSpPr>
            <p:cNvPr id="55425" name="Line 48"/>
            <p:cNvSpPr>
              <a:spLocks noChangeShapeType="1"/>
            </p:cNvSpPr>
            <p:nvPr/>
          </p:nvSpPr>
          <p:spPr bwMode="auto">
            <a:xfrm>
              <a:off x="1512" y="2912"/>
              <a:ext cx="288" cy="0"/>
            </a:xfrm>
            <a:prstGeom prst="line">
              <a:avLst/>
            </a:prstGeom>
            <a:noFill/>
            <a:ln w="9525">
              <a:solidFill>
                <a:schemeClr val="tx1"/>
              </a:solidFill>
              <a:round/>
              <a:headEnd/>
              <a:tailEnd/>
            </a:ln>
          </p:spPr>
          <p:txBody>
            <a:bodyPr wrap="none" anchor="ctr"/>
            <a:lstStyle/>
            <a:p>
              <a:endParaRPr lang="bg-BG"/>
            </a:p>
          </p:txBody>
        </p:sp>
        <p:sp>
          <p:nvSpPr>
            <p:cNvPr id="55426" name="Line 49"/>
            <p:cNvSpPr>
              <a:spLocks noChangeShapeType="1"/>
            </p:cNvSpPr>
            <p:nvPr/>
          </p:nvSpPr>
          <p:spPr bwMode="auto">
            <a:xfrm>
              <a:off x="18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427" name="Line 50"/>
            <p:cNvSpPr>
              <a:spLocks noChangeShapeType="1"/>
            </p:cNvSpPr>
            <p:nvPr/>
          </p:nvSpPr>
          <p:spPr bwMode="auto">
            <a:xfrm flipH="1">
              <a:off x="3000" y="2912"/>
              <a:ext cx="432" cy="0"/>
            </a:xfrm>
            <a:prstGeom prst="line">
              <a:avLst/>
            </a:prstGeom>
            <a:noFill/>
            <a:ln w="9525">
              <a:solidFill>
                <a:schemeClr val="tx1"/>
              </a:solidFill>
              <a:round/>
              <a:headEnd/>
              <a:tailEnd/>
            </a:ln>
          </p:spPr>
          <p:txBody>
            <a:bodyPr wrap="none" anchor="ctr"/>
            <a:lstStyle/>
            <a:p>
              <a:endParaRPr lang="bg-BG"/>
            </a:p>
          </p:txBody>
        </p:sp>
        <p:sp>
          <p:nvSpPr>
            <p:cNvPr id="55428" name="Line 51"/>
            <p:cNvSpPr>
              <a:spLocks noChangeShapeType="1"/>
            </p:cNvSpPr>
            <p:nvPr/>
          </p:nvSpPr>
          <p:spPr bwMode="auto">
            <a:xfrm>
              <a:off x="30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429" name="Line 52"/>
            <p:cNvSpPr>
              <a:spLocks noChangeShapeType="1"/>
            </p:cNvSpPr>
            <p:nvPr/>
          </p:nvSpPr>
          <p:spPr bwMode="auto">
            <a:xfrm flipH="1">
              <a:off x="1176" y="2528"/>
              <a:ext cx="1104" cy="0"/>
            </a:xfrm>
            <a:prstGeom prst="line">
              <a:avLst/>
            </a:prstGeom>
            <a:noFill/>
            <a:ln w="9525">
              <a:solidFill>
                <a:schemeClr val="tx1"/>
              </a:solidFill>
              <a:round/>
              <a:headEnd/>
              <a:tailEnd/>
            </a:ln>
          </p:spPr>
          <p:txBody>
            <a:bodyPr wrap="none" anchor="ctr"/>
            <a:lstStyle/>
            <a:p>
              <a:endParaRPr lang="bg-BG"/>
            </a:p>
          </p:txBody>
        </p:sp>
        <p:sp>
          <p:nvSpPr>
            <p:cNvPr id="55430" name="Line 53"/>
            <p:cNvSpPr>
              <a:spLocks noChangeShapeType="1"/>
            </p:cNvSpPr>
            <p:nvPr/>
          </p:nvSpPr>
          <p:spPr bwMode="auto">
            <a:xfrm>
              <a:off x="1176"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5431" name="Line 54"/>
            <p:cNvSpPr>
              <a:spLocks noChangeShapeType="1"/>
            </p:cNvSpPr>
            <p:nvPr/>
          </p:nvSpPr>
          <p:spPr bwMode="auto">
            <a:xfrm flipH="1">
              <a:off x="600" y="2960"/>
              <a:ext cx="192" cy="0"/>
            </a:xfrm>
            <a:prstGeom prst="line">
              <a:avLst/>
            </a:prstGeom>
            <a:noFill/>
            <a:ln w="9525">
              <a:solidFill>
                <a:schemeClr val="tx1"/>
              </a:solidFill>
              <a:round/>
              <a:headEnd/>
              <a:tailEnd/>
            </a:ln>
          </p:spPr>
          <p:txBody>
            <a:bodyPr wrap="none" anchor="ctr"/>
            <a:lstStyle/>
            <a:p>
              <a:endParaRPr lang="bg-BG"/>
            </a:p>
          </p:txBody>
        </p:sp>
        <p:sp>
          <p:nvSpPr>
            <p:cNvPr id="55432" name="Line 55"/>
            <p:cNvSpPr>
              <a:spLocks noChangeShapeType="1"/>
            </p:cNvSpPr>
            <p:nvPr/>
          </p:nvSpPr>
          <p:spPr bwMode="auto">
            <a:xfrm>
              <a:off x="600" y="2960"/>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33" name="Line 56"/>
            <p:cNvSpPr>
              <a:spLocks noChangeShapeType="1"/>
            </p:cNvSpPr>
            <p:nvPr/>
          </p:nvSpPr>
          <p:spPr bwMode="auto">
            <a:xfrm>
              <a:off x="3000" y="2528"/>
              <a:ext cx="1008" cy="0"/>
            </a:xfrm>
            <a:prstGeom prst="line">
              <a:avLst/>
            </a:prstGeom>
            <a:noFill/>
            <a:ln w="9525">
              <a:solidFill>
                <a:schemeClr val="tx1"/>
              </a:solidFill>
              <a:round/>
              <a:headEnd/>
              <a:tailEnd/>
            </a:ln>
          </p:spPr>
          <p:txBody>
            <a:bodyPr wrap="none" anchor="ctr"/>
            <a:lstStyle/>
            <a:p>
              <a:endParaRPr lang="bg-BG"/>
            </a:p>
          </p:txBody>
        </p:sp>
        <p:sp>
          <p:nvSpPr>
            <p:cNvPr id="55434" name="Line 57"/>
            <p:cNvSpPr>
              <a:spLocks noChangeShapeType="1"/>
            </p:cNvSpPr>
            <p:nvPr/>
          </p:nvSpPr>
          <p:spPr bwMode="auto">
            <a:xfrm>
              <a:off x="4008"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5435" name="Line 58"/>
            <p:cNvSpPr>
              <a:spLocks noChangeShapeType="1"/>
            </p:cNvSpPr>
            <p:nvPr/>
          </p:nvSpPr>
          <p:spPr bwMode="auto">
            <a:xfrm>
              <a:off x="4008"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436" name="Line 59"/>
            <p:cNvSpPr>
              <a:spLocks noChangeShapeType="1"/>
            </p:cNvSpPr>
            <p:nvPr/>
          </p:nvSpPr>
          <p:spPr bwMode="auto">
            <a:xfrm>
              <a:off x="448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37" name="Line 60"/>
            <p:cNvSpPr>
              <a:spLocks noChangeShapeType="1"/>
            </p:cNvSpPr>
            <p:nvPr/>
          </p:nvSpPr>
          <p:spPr bwMode="auto">
            <a:xfrm>
              <a:off x="4440" y="3752"/>
              <a:ext cx="96" cy="0"/>
            </a:xfrm>
            <a:prstGeom prst="line">
              <a:avLst/>
            </a:prstGeom>
            <a:noFill/>
            <a:ln w="9525">
              <a:solidFill>
                <a:schemeClr val="tx1"/>
              </a:solidFill>
              <a:round/>
              <a:headEnd/>
              <a:tailEnd/>
            </a:ln>
          </p:spPr>
          <p:txBody>
            <a:bodyPr wrap="none" anchor="ctr"/>
            <a:lstStyle/>
            <a:p>
              <a:endParaRPr lang="bg-BG"/>
            </a:p>
          </p:txBody>
        </p:sp>
        <p:sp>
          <p:nvSpPr>
            <p:cNvPr id="55438" name="Line 61"/>
            <p:cNvSpPr>
              <a:spLocks noChangeShapeType="1"/>
            </p:cNvSpPr>
            <p:nvPr/>
          </p:nvSpPr>
          <p:spPr bwMode="auto">
            <a:xfrm>
              <a:off x="4584" y="2912"/>
              <a:ext cx="576" cy="0"/>
            </a:xfrm>
            <a:prstGeom prst="line">
              <a:avLst/>
            </a:prstGeom>
            <a:noFill/>
            <a:ln w="9525">
              <a:solidFill>
                <a:schemeClr val="tx1"/>
              </a:solidFill>
              <a:round/>
              <a:headEnd/>
              <a:tailEnd/>
            </a:ln>
          </p:spPr>
          <p:txBody>
            <a:bodyPr wrap="none" anchor="ctr"/>
            <a:lstStyle/>
            <a:p>
              <a:endParaRPr lang="bg-BG"/>
            </a:p>
          </p:txBody>
        </p:sp>
        <p:sp>
          <p:nvSpPr>
            <p:cNvPr id="55439" name="Line 62"/>
            <p:cNvSpPr>
              <a:spLocks noChangeShapeType="1"/>
            </p:cNvSpPr>
            <p:nvPr/>
          </p:nvSpPr>
          <p:spPr bwMode="auto">
            <a:xfrm>
              <a:off x="516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440" name="Text Box 63"/>
            <p:cNvSpPr txBox="1">
              <a:spLocks noChangeArrowheads="1"/>
            </p:cNvSpPr>
            <p:nvPr/>
          </p:nvSpPr>
          <p:spPr bwMode="auto">
            <a:xfrm>
              <a:off x="2472" y="2408"/>
              <a:ext cx="336" cy="288"/>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5441" name="Text Box 64"/>
            <p:cNvSpPr txBox="1">
              <a:spLocks noChangeArrowheads="1"/>
            </p:cNvSpPr>
            <p:nvPr/>
          </p:nvSpPr>
          <p:spPr bwMode="auto">
            <a:xfrm>
              <a:off x="1000" y="2784"/>
              <a:ext cx="336" cy="288"/>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5442" name="Text Box 65"/>
            <p:cNvSpPr txBox="1">
              <a:spLocks noChangeArrowheads="1"/>
            </p:cNvSpPr>
            <p:nvPr/>
          </p:nvSpPr>
          <p:spPr bwMode="auto">
            <a:xfrm>
              <a:off x="648" y="3264"/>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5443" name="Text Box 66"/>
            <p:cNvSpPr txBox="1">
              <a:spLocks noChangeArrowheads="1"/>
            </p:cNvSpPr>
            <p:nvPr/>
          </p:nvSpPr>
          <p:spPr bwMode="auto">
            <a:xfrm>
              <a:off x="3584" y="2784"/>
              <a:ext cx="336" cy="288"/>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5444" name="Text Box 67"/>
            <p:cNvSpPr txBox="1">
              <a:spLocks noChangeArrowheads="1"/>
            </p:cNvSpPr>
            <p:nvPr/>
          </p:nvSpPr>
          <p:spPr bwMode="auto">
            <a:xfrm>
              <a:off x="4152" y="2784"/>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5445" name="Text Box 68"/>
            <p:cNvSpPr txBox="1">
              <a:spLocks noChangeArrowheads="1"/>
            </p:cNvSpPr>
            <p:nvPr/>
          </p:nvSpPr>
          <p:spPr bwMode="auto">
            <a:xfrm>
              <a:off x="1656" y="3272"/>
              <a:ext cx="336" cy="288"/>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5446" name="Text Box 69"/>
            <p:cNvSpPr txBox="1">
              <a:spLocks noChangeArrowheads="1"/>
            </p:cNvSpPr>
            <p:nvPr/>
          </p:nvSpPr>
          <p:spPr bwMode="auto">
            <a:xfrm>
              <a:off x="3952" y="3272"/>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5447" name="Text Box 70"/>
            <p:cNvSpPr txBox="1">
              <a:spLocks noChangeArrowheads="1"/>
            </p:cNvSpPr>
            <p:nvPr/>
          </p:nvSpPr>
          <p:spPr bwMode="auto">
            <a:xfrm>
              <a:off x="2872" y="3272"/>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5448" name="Text Box 71"/>
            <p:cNvSpPr txBox="1">
              <a:spLocks noChangeArrowheads="1"/>
            </p:cNvSpPr>
            <p:nvPr/>
          </p:nvSpPr>
          <p:spPr bwMode="auto">
            <a:xfrm>
              <a:off x="4960" y="3280"/>
              <a:ext cx="416" cy="288"/>
            </a:xfrm>
            <a:prstGeom prst="rect">
              <a:avLst/>
            </a:prstGeom>
            <a:noFill/>
            <a:ln w="9525">
              <a:noFill/>
              <a:miter lim="800000"/>
              <a:headEnd/>
              <a:tailEnd/>
            </a:ln>
          </p:spPr>
          <p:txBody>
            <a:bodyPr>
              <a:spAutoFit/>
            </a:bodyPr>
            <a:lstStyle/>
            <a:p>
              <a:pPr>
                <a:spcBef>
                  <a:spcPct val="50000"/>
                </a:spcBef>
              </a:pPr>
              <a:r>
                <a:rPr lang="bg-BG"/>
                <a:t>100</a:t>
              </a:r>
              <a:endParaRPr lang="en-US"/>
            </a:p>
          </p:txBody>
        </p:sp>
        <p:sp>
          <p:nvSpPr>
            <p:cNvPr id="55449" name="Line 72"/>
            <p:cNvSpPr>
              <a:spLocks noChangeShapeType="1"/>
            </p:cNvSpPr>
            <p:nvPr/>
          </p:nvSpPr>
          <p:spPr bwMode="auto">
            <a:xfrm>
              <a:off x="528" y="3296"/>
              <a:ext cx="0" cy="240"/>
            </a:xfrm>
            <a:prstGeom prst="line">
              <a:avLst/>
            </a:prstGeom>
            <a:noFill/>
            <a:ln w="9525">
              <a:solidFill>
                <a:schemeClr val="tx1"/>
              </a:solidFill>
              <a:round/>
              <a:headEnd/>
              <a:tailEnd/>
            </a:ln>
          </p:spPr>
          <p:txBody>
            <a:bodyPr wrap="none" anchor="ctr"/>
            <a:lstStyle/>
            <a:p>
              <a:endParaRPr lang="bg-BG"/>
            </a:p>
          </p:txBody>
        </p:sp>
        <p:sp>
          <p:nvSpPr>
            <p:cNvPr id="55450" name="Line 73"/>
            <p:cNvSpPr>
              <a:spLocks noChangeShapeType="1"/>
            </p:cNvSpPr>
            <p:nvPr/>
          </p:nvSpPr>
          <p:spPr bwMode="auto">
            <a:xfrm>
              <a:off x="688" y="3296"/>
              <a:ext cx="0" cy="240"/>
            </a:xfrm>
            <a:prstGeom prst="line">
              <a:avLst/>
            </a:prstGeom>
            <a:noFill/>
            <a:ln w="9525">
              <a:solidFill>
                <a:schemeClr val="tx1"/>
              </a:solidFill>
              <a:round/>
              <a:headEnd/>
              <a:tailEnd/>
            </a:ln>
          </p:spPr>
          <p:txBody>
            <a:bodyPr wrap="none" anchor="ctr"/>
            <a:lstStyle/>
            <a:p>
              <a:endParaRPr lang="bg-BG"/>
            </a:p>
          </p:txBody>
        </p:sp>
        <p:sp>
          <p:nvSpPr>
            <p:cNvPr id="55451" name="Line 74"/>
            <p:cNvSpPr>
              <a:spLocks noChangeShapeType="1"/>
            </p:cNvSpPr>
            <p:nvPr/>
          </p:nvSpPr>
          <p:spPr bwMode="auto">
            <a:xfrm>
              <a:off x="608"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452" name="Line 75"/>
            <p:cNvSpPr>
              <a:spLocks noChangeShapeType="1"/>
            </p:cNvSpPr>
            <p:nvPr/>
          </p:nvSpPr>
          <p:spPr bwMode="auto">
            <a:xfrm>
              <a:off x="560" y="3752"/>
              <a:ext cx="96" cy="0"/>
            </a:xfrm>
            <a:prstGeom prst="line">
              <a:avLst/>
            </a:prstGeom>
            <a:noFill/>
            <a:ln w="9525">
              <a:solidFill>
                <a:schemeClr val="tx1"/>
              </a:solidFill>
              <a:round/>
              <a:headEnd/>
              <a:tailEnd/>
            </a:ln>
          </p:spPr>
          <p:txBody>
            <a:bodyPr wrap="none" anchor="ctr"/>
            <a:lstStyle/>
            <a:p>
              <a:endParaRPr lang="bg-BG"/>
            </a:p>
          </p:txBody>
        </p:sp>
        <p:sp>
          <p:nvSpPr>
            <p:cNvPr id="55453" name="Text Box 76"/>
            <p:cNvSpPr txBox="1">
              <a:spLocks noChangeArrowheads="1"/>
            </p:cNvSpPr>
            <p:nvPr/>
          </p:nvSpPr>
          <p:spPr bwMode="auto">
            <a:xfrm>
              <a:off x="320" y="3272"/>
              <a:ext cx="192" cy="288"/>
            </a:xfrm>
            <a:prstGeom prst="rect">
              <a:avLst/>
            </a:prstGeom>
            <a:noFill/>
            <a:ln w="9525">
              <a:noFill/>
              <a:miter lim="800000"/>
              <a:headEnd/>
              <a:tailEnd/>
            </a:ln>
          </p:spPr>
          <p:txBody>
            <a:bodyPr>
              <a:spAutoFit/>
            </a:bodyPr>
            <a:lstStyle/>
            <a:p>
              <a:pPr>
                <a:spcBef>
                  <a:spcPct val="50000"/>
                </a:spcBef>
              </a:pPr>
              <a:r>
                <a:rPr lang="bg-BG"/>
                <a:t>1</a:t>
              </a:r>
              <a:endParaRPr lang="en-US"/>
            </a:p>
          </p:txBody>
        </p:sp>
      </p:grpSp>
      <p:grpSp>
        <p:nvGrpSpPr>
          <p:cNvPr id="55300" name="Group 173"/>
          <p:cNvGrpSpPr>
            <a:grpSpLocks/>
          </p:cNvGrpSpPr>
          <p:nvPr/>
        </p:nvGrpSpPr>
        <p:grpSpPr bwMode="auto">
          <a:xfrm>
            <a:off x="152400" y="3822700"/>
            <a:ext cx="8877300" cy="2159000"/>
            <a:chOff x="96" y="2408"/>
            <a:chExt cx="5592" cy="1360"/>
          </a:xfrm>
        </p:grpSpPr>
        <p:sp>
          <p:nvSpPr>
            <p:cNvPr id="55301" name="Rectangle 78"/>
            <p:cNvSpPr>
              <a:spLocks noChangeArrowheads="1"/>
            </p:cNvSpPr>
            <p:nvPr/>
          </p:nvSpPr>
          <p:spPr bwMode="auto">
            <a:xfrm>
              <a:off x="2136" y="2432"/>
              <a:ext cx="1008" cy="240"/>
            </a:xfrm>
            <a:prstGeom prst="rect">
              <a:avLst/>
            </a:prstGeom>
            <a:noFill/>
            <a:ln w="9525">
              <a:solidFill>
                <a:schemeClr val="tx1"/>
              </a:solidFill>
              <a:miter lim="800000"/>
              <a:headEnd/>
              <a:tailEnd/>
            </a:ln>
          </p:spPr>
          <p:txBody>
            <a:bodyPr wrap="none" anchor="ctr"/>
            <a:lstStyle/>
            <a:p>
              <a:endParaRPr lang="bg-BG"/>
            </a:p>
          </p:txBody>
        </p:sp>
        <p:sp>
          <p:nvSpPr>
            <p:cNvPr id="55302" name="Line 79"/>
            <p:cNvSpPr>
              <a:spLocks noChangeShapeType="1"/>
            </p:cNvSpPr>
            <p:nvPr/>
          </p:nvSpPr>
          <p:spPr bwMode="auto">
            <a:xfrm>
              <a:off x="2424" y="2432"/>
              <a:ext cx="0" cy="240"/>
            </a:xfrm>
            <a:prstGeom prst="line">
              <a:avLst/>
            </a:prstGeom>
            <a:noFill/>
            <a:ln w="9525">
              <a:solidFill>
                <a:schemeClr val="tx1"/>
              </a:solidFill>
              <a:round/>
              <a:headEnd/>
              <a:tailEnd/>
            </a:ln>
          </p:spPr>
          <p:txBody>
            <a:bodyPr wrap="none" anchor="ctr"/>
            <a:lstStyle/>
            <a:p>
              <a:endParaRPr lang="bg-BG"/>
            </a:p>
          </p:txBody>
        </p:sp>
        <p:sp>
          <p:nvSpPr>
            <p:cNvPr id="55303" name="Line 80"/>
            <p:cNvSpPr>
              <a:spLocks noChangeShapeType="1"/>
            </p:cNvSpPr>
            <p:nvPr/>
          </p:nvSpPr>
          <p:spPr bwMode="auto">
            <a:xfrm>
              <a:off x="2856" y="2432"/>
              <a:ext cx="0" cy="240"/>
            </a:xfrm>
            <a:prstGeom prst="line">
              <a:avLst/>
            </a:prstGeom>
            <a:noFill/>
            <a:ln w="9525">
              <a:solidFill>
                <a:schemeClr val="tx1"/>
              </a:solidFill>
              <a:round/>
              <a:headEnd/>
              <a:tailEnd/>
            </a:ln>
          </p:spPr>
          <p:txBody>
            <a:bodyPr wrap="none" anchor="ctr"/>
            <a:lstStyle/>
            <a:p>
              <a:endParaRPr lang="bg-BG"/>
            </a:p>
          </p:txBody>
        </p:sp>
        <p:sp>
          <p:nvSpPr>
            <p:cNvPr id="55304" name="Rectangle 81"/>
            <p:cNvSpPr>
              <a:spLocks noChangeArrowheads="1"/>
            </p:cNvSpPr>
            <p:nvPr/>
          </p:nvSpPr>
          <p:spPr bwMode="auto">
            <a:xfrm>
              <a:off x="3312" y="2816"/>
              <a:ext cx="1392" cy="240"/>
            </a:xfrm>
            <a:prstGeom prst="rect">
              <a:avLst/>
            </a:prstGeom>
            <a:noFill/>
            <a:ln w="9525">
              <a:solidFill>
                <a:schemeClr val="tx1"/>
              </a:solidFill>
              <a:miter lim="800000"/>
              <a:headEnd/>
              <a:tailEnd/>
            </a:ln>
          </p:spPr>
          <p:txBody>
            <a:bodyPr wrap="none" anchor="ctr"/>
            <a:lstStyle/>
            <a:p>
              <a:endParaRPr lang="bg-BG"/>
            </a:p>
          </p:txBody>
        </p:sp>
        <p:sp>
          <p:nvSpPr>
            <p:cNvPr id="55305" name="Line 82"/>
            <p:cNvSpPr>
              <a:spLocks noChangeShapeType="1"/>
            </p:cNvSpPr>
            <p:nvPr/>
          </p:nvSpPr>
          <p:spPr bwMode="auto">
            <a:xfrm>
              <a:off x="3568" y="2816"/>
              <a:ext cx="0" cy="240"/>
            </a:xfrm>
            <a:prstGeom prst="line">
              <a:avLst/>
            </a:prstGeom>
            <a:noFill/>
            <a:ln w="9525">
              <a:solidFill>
                <a:schemeClr val="tx1"/>
              </a:solidFill>
              <a:round/>
              <a:headEnd/>
              <a:tailEnd/>
            </a:ln>
          </p:spPr>
          <p:txBody>
            <a:bodyPr wrap="none" anchor="ctr"/>
            <a:lstStyle/>
            <a:p>
              <a:endParaRPr lang="bg-BG"/>
            </a:p>
          </p:txBody>
        </p:sp>
        <p:sp>
          <p:nvSpPr>
            <p:cNvPr id="55306" name="Line 83"/>
            <p:cNvSpPr>
              <a:spLocks noChangeShapeType="1"/>
            </p:cNvSpPr>
            <p:nvPr/>
          </p:nvSpPr>
          <p:spPr bwMode="auto">
            <a:xfrm>
              <a:off x="3904" y="2816"/>
              <a:ext cx="0" cy="240"/>
            </a:xfrm>
            <a:prstGeom prst="line">
              <a:avLst/>
            </a:prstGeom>
            <a:noFill/>
            <a:ln w="9525">
              <a:solidFill>
                <a:schemeClr val="tx1"/>
              </a:solidFill>
              <a:round/>
              <a:headEnd/>
              <a:tailEnd/>
            </a:ln>
          </p:spPr>
          <p:txBody>
            <a:bodyPr wrap="none" anchor="ctr"/>
            <a:lstStyle/>
            <a:p>
              <a:endParaRPr lang="bg-BG"/>
            </a:p>
          </p:txBody>
        </p:sp>
        <p:sp>
          <p:nvSpPr>
            <p:cNvPr id="55307" name="Line 84"/>
            <p:cNvSpPr>
              <a:spLocks noChangeShapeType="1"/>
            </p:cNvSpPr>
            <p:nvPr/>
          </p:nvSpPr>
          <p:spPr bwMode="auto">
            <a:xfrm>
              <a:off x="4472" y="2816"/>
              <a:ext cx="0" cy="240"/>
            </a:xfrm>
            <a:prstGeom prst="line">
              <a:avLst/>
            </a:prstGeom>
            <a:noFill/>
            <a:ln w="9525">
              <a:solidFill>
                <a:schemeClr val="tx1"/>
              </a:solidFill>
              <a:round/>
              <a:headEnd/>
              <a:tailEnd/>
            </a:ln>
          </p:spPr>
          <p:txBody>
            <a:bodyPr wrap="none" anchor="ctr"/>
            <a:lstStyle/>
            <a:p>
              <a:endParaRPr lang="bg-BG"/>
            </a:p>
          </p:txBody>
        </p:sp>
        <p:sp>
          <p:nvSpPr>
            <p:cNvPr id="55308" name="Line 85"/>
            <p:cNvSpPr>
              <a:spLocks noChangeShapeType="1"/>
            </p:cNvSpPr>
            <p:nvPr/>
          </p:nvSpPr>
          <p:spPr bwMode="auto">
            <a:xfrm>
              <a:off x="4144" y="2816"/>
              <a:ext cx="0" cy="240"/>
            </a:xfrm>
            <a:prstGeom prst="line">
              <a:avLst/>
            </a:prstGeom>
            <a:noFill/>
            <a:ln w="9525">
              <a:solidFill>
                <a:schemeClr val="tx1"/>
              </a:solidFill>
              <a:round/>
              <a:headEnd/>
              <a:tailEnd/>
            </a:ln>
          </p:spPr>
          <p:txBody>
            <a:bodyPr wrap="none" anchor="ctr"/>
            <a:lstStyle/>
            <a:p>
              <a:endParaRPr lang="bg-BG"/>
            </a:p>
          </p:txBody>
        </p:sp>
        <p:sp>
          <p:nvSpPr>
            <p:cNvPr id="55309" name="Rectangle 86"/>
            <p:cNvSpPr>
              <a:spLocks noChangeArrowheads="1"/>
            </p:cNvSpPr>
            <p:nvPr/>
          </p:nvSpPr>
          <p:spPr bwMode="auto">
            <a:xfrm>
              <a:off x="648" y="2816"/>
              <a:ext cx="1008" cy="240"/>
            </a:xfrm>
            <a:prstGeom prst="rect">
              <a:avLst/>
            </a:prstGeom>
            <a:noFill/>
            <a:ln w="9525">
              <a:solidFill>
                <a:schemeClr val="tx1"/>
              </a:solidFill>
              <a:miter lim="800000"/>
              <a:headEnd/>
              <a:tailEnd/>
            </a:ln>
          </p:spPr>
          <p:txBody>
            <a:bodyPr wrap="none" anchor="ctr"/>
            <a:lstStyle/>
            <a:p>
              <a:endParaRPr lang="bg-BG"/>
            </a:p>
          </p:txBody>
        </p:sp>
        <p:sp>
          <p:nvSpPr>
            <p:cNvPr id="55310" name="Rectangle 87"/>
            <p:cNvSpPr>
              <a:spLocks noChangeArrowheads="1"/>
            </p:cNvSpPr>
            <p:nvPr/>
          </p:nvSpPr>
          <p:spPr bwMode="auto">
            <a:xfrm>
              <a:off x="3608" y="3296"/>
              <a:ext cx="1008" cy="240"/>
            </a:xfrm>
            <a:prstGeom prst="rect">
              <a:avLst/>
            </a:prstGeom>
            <a:noFill/>
            <a:ln w="9525">
              <a:solidFill>
                <a:schemeClr val="tx1"/>
              </a:solidFill>
              <a:miter lim="800000"/>
              <a:headEnd/>
              <a:tailEnd/>
            </a:ln>
          </p:spPr>
          <p:txBody>
            <a:bodyPr wrap="none" anchor="ctr"/>
            <a:lstStyle/>
            <a:p>
              <a:endParaRPr lang="bg-BG"/>
            </a:p>
          </p:txBody>
        </p:sp>
        <p:sp>
          <p:nvSpPr>
            <p:cNvPr id="55311" name="Rectangle 88"/>
            <p:cNvSpPr>
              <a:spLocks noChangeArrowheads="1"/>
            </p:cNvSpPr>
            <p:nvPr/>
          </p:nvSpPr>
          <p:spPr bwMode="auto">
            <a:xfrm>
              <a:off x="2520" y="3296"/>
              <a:ext cx="1008" cy="240"/>
            </a:xfrm>
            <a:prstGeom prst="rect">
              <a:avLst/>
            </a:prstGeom>
            <a:noFill/>
            <a:ln w="9525">
              <a:solidFill>
                <a:schemeClr val="tx1"/>
              </a:solidFill>
              <a:miter lim="800000"/>
              <a:headEnd/>
              <a:tailEnd/>
            </a:ln>
          </p:spPr>
          <p:txBody>
            <a:bodyPr wrap="none" anchor="ctr"/>
            <a:lstStyle/>
            <a:p>
              <a:endParaRPr lang="bg-BG"/>
            </a:p>
          </p:txBody>
        </p:sp>
        <p:sp>
          <p:nvSpPr>
            <p:cNvPr id="55312" name="Rectangle 91"/>
            <p:cNvSpPr>
              <a:spLocks noChangeArrowheads="1"/>
            </p:cNvSpPr>
            <p:nvPr/>
          </p:nvSpPr>
          <p:spPr bwMode="auto">
            <a:xfrm>
              <a:off x="4680" y="3296"/>
              <a:ext cx="1008" cy="240"/>
            </a:xfrm>
            <a:prstGeom prst="rect">
              <a:avLst/>
            </a:prstGeom>
            <a:noFill/>
            <a:ln w="9525">
              <a:solidFill>
                <a:schemeClr val="tx1"/>
              </a:solidFill>
              <a:miter lim="800000"/>
              <a:headEnd/>
              <a:tailEnd/>
            </a:ln>
          </p:spPr>
          <p:txBody>
            <a:bodyPr wrap="none" anchor="ctr"/>
            <a:lstStyle/>
            <a:p>
              <a:endParaRPr lang="bg-BG"/>
            </a:p>
          </p:txBody>
        </p:sp>
        <p:sp>
          <p:nvSpPr>
            <p:cNvPr id="55313" name="Line 92"/>
            <p:cNvSpPr>
              <a:spLocks noChangeShapeType="1"/>
            </p:cNvSpPr>
            <p:nvPr/>
          </p:nvSpPr>
          <p:spPr bwMode="auto">
            <a:xfrm>
              <a:off x="3288" y="3296"/>
              <a:ext cx="0" cy="240"/>
            </a:xfrm>
            <a:prstGeom prst="line">
              <a:avLst/>
            </a:prstGeom>
            <a:noFill/>
            <a:ln w="9525">
              <a:solidFill>
                <a:schemeClr val="tx1"/>
              </a:solidFill>
              <a:round/>
              <a:headEnd/>
              <a:tailEnd/>
            </a:ln>
          </p:spPr>
          <p:txBody>
            <a:bodyPr wrap="none" anchor="ctr"/>
            <a:lstStyle/>
            <a:p>
              <a:endParaRPr lang="bg-BG"/>
            </a:p>
          </p:txBody>
        </p:sp>
        <p:sp>
          <p:nvSpPr>
            <p:cNvPr id="55314" name="Line 93"/>
            <p:cNvSpPr>
              <a:spLocks noChangeShapeType="1"/>
            </p:cNvSpPr>
            <p:nvPr/>
          </p:nvSpPr>
          <p:spPr bwMode="auto">
            <a:xfrm>
              <a:off x="4392" y="3296"/>
              <a:ext cx="0" cy="240"/>
            </a:xfrm>
            <a:prstGeom prst="line">
              <a:avLst/>
            </a:prstGeom>
            <a:noFill/>
            <a:ln w="9525">
              <a:solidFill>
                <a:schemeClr val="tx1"/>
              </a:solidFill>
              <a:round/>
              <a:headEnd/>
              <a:tailEnd/>
            </a:ln>
          </p:spPr>
          <p:txBody>
            <a:bodyPr wrap="none" anchor="ctr"/>
            <a:lstStyle/>
            <a:p>
              <a:endParaRPr lang="bg-BG"/>
            </a:p>
          </p:txBody>
        </p:sp>
        <p:sp>
          <p:nvSpPr>
            <p:cNvPr id="55315" name="Line 94"/>
            <p:cNvSpPr>
              <a:spLocks noChangeShapeType="1"/>
            </p:cNvSpPr>
            <p:nvPr/>
          </p:nvSpPr>
          <p:spPr bwMode="auto">
            <a:xfrm>
              <a:off x="3864" y="3296"/>
              <a:ext cx="0" cy="240"/>
            </a:xfrm>
            <a:prstGeom prst="line">
              <a:avLst/>
            </a:prstGeom>
            <a:noFill/>
            <a:ln w="9525">
              <a:solidFill>
                <a:schemeClr val="tx1"/>
              </a:solidFill>
              <a:round/>
              <a:headEnd/>
              <a:tailEnd/>
            </a:ln>
          </p:spPr>
          <p:txBody>
            <a:bodyPr wrap="none" anchor="ctr"/>
            <a:lstStyle/>
            <a:p>
              <a:endParaRPr lang="bg-BG"/>
            </a:p>
          </p:txBody>
        </p:sp>
        <p:sp>
          <p:nvSpPr>
            <p:cNvPr id="55316" name="Line 95"/>
            <p:cNvSpPr>
              <a:spLocks noChangeShapeType="1"/>
            </p:cNvSpPr>
            <p:nvPr/>
          </p:nvSpPr>
          <p:spPr bwMode="auto">
            <a:xfrm>
              <a:off x="5400" y="3296"/>
              <a:ext cx="0" cy="240"/>
            </a:xfrm>
            <a:prstGeom prst="line">
              <a:avLst/>
            </a:prstGeom>
            <a:noFill/>
            <a:ln w="9525">
              <a:solidFill>
                <a:schemeClr val="tx1"/>
              </a:solidFill>
              <a:round/>
              <a:headEnd/>
              <a:tailEnd/>
            </a:ln>
          </p:spPr>
          <p:txBody>
            <a:bodyPr wrap="none" anchor="ctr"/>
            <a:lstStyle/>
            <a:p>
              <a:endParaRPr lang="bg-BG"/>
            </a:p>
          </p:txBody>
        </p:sp>
        <p:sp>
          <p:nvSpPr>
            <p:cNvPr id="55317" name="Line 96"/>
            <p:cNvSpPr>
              <a:spLocks noChangeShapeType="1"/>
            </p:cNvSpPr>
            <p:nvPr/>
          </p:nvSpPr>
          <p:spPr bwMode="auto">
            <a:xfrm>
              <a:off x="4920" y="3296"/>
              <a:ext cx="0" cy="240"/>
            </a:xfrm>
            <a:prstGeom prst="line">
              <a:avLst/>
            </a:prstGeom>
            <a:noFill/>
            <a:ln w="9525">
              <a:solidFill>
                <a:schemeClr val="tx1"/>
              </a:solidFill>
              <a:round/>
              <a:headEnd/>
              <a:tailEnd/>
            </a:ln>
          </p:spPr>
          <p:txBody>
            <a:bodyPr wrap="none" anchor="ctr"/>
            <a:lstStyle/>
            <a:p>
              <a:endParaRPr lang="bg-BG"/>
            </a:p>
          </p:txBody>
        </p:sp>
        <p:sp>
          <p:nvSpPr>
            <p:cNvPr id="55318" name="Line 99"/>
            <p:cNvSpPr>
              <a:spLocks noChangeShapeType="1"/>
            </p:cNvSpPr>
            <p:nvPr/>
          </p:nvSpPr>
          <p:spPr bwMode="auto">
            <a:xfrm>
              <a:off x="2776" y="3304"/>
              <a:ext cx="0" cy="240"/>
            </a:xfrm>
            <a:prstGeom prst="line">
              <a:avLst/>
            </a:prstGeom>
            <a:noFill/>
            <a:ln w="9525">
              <a:solidFill>
                <a:schemeClr val="tx1"/>
              </a:solidFill>
              <a:round/>
              <a:headEnd/>
              <a:tailEnd/>
            </a:ln>
          </p:spPr>
          <p:txBody>
            <a:bodyPr wrap="none" anchor="ctr"/>
            <a:lstStyle/>
            <a:p>
              <a:endParaRPr lang="bg-BG"/>
            </a:p>
          </p:txBody>
        </p:sp>
        <p:sp>
          <p:nvSpPr>
            <p:cNvPr id="55319" name="Line 100"/>
            <p:cNvSpPr>
              <a:spLocks noChangeShapeType="1"/>
            </p:cNvSpPr>
            <p:nvPr/>
          </p:nvSpPr>
          <p:spPr bwMode="auto">
            <a:xfrm>
              <a:off x="856" y="2816"/>
              <a:ext cx="0" cy="240"/>
            </a:xfrm>
            <a:prstGeom prst="line">
              <a:avLst/>
            </a:prstGeom>
            <a:noFill/>
            <a:ln w="9525">
              <a:solidFill>
                <a:schemeClr val="tx1"/>
              </a:solidFill>
              <a:round/>
              <a:headEnd/>
              <a:tailEnd/>
            </a:ln>
          </p:spPr>
          <p:txBody>
            <a:bodyPr wrap="none" anchor="ctr"/>
            <a:lstStyle/>
            <a:p>
              <a:endParaRPr lang="bg-BG"/>
            </a:p>
          </p:txBody>
        </p:sp>
        <p:sp>
          <p:nvSpPr>
            <p:cNvPr id="55320" name="Line 101"/>
            <p:cNvSpPr>
              <a:spLocks noChangeShapeType="1"/>
            </p:cNvSpPr>
            <p:nvPr/>
          </p:nvSpPr>
          <p:spPr bwMode="auto">
            <a:xfrm>
              <a:off x="1488" y="2816"/>
              <a:ext cx="0" cy="240"/>
            </a:xfrm>
            <a:prstGeom prst="line">
              <a:avLst/>
            </a:prstGeom>
            <a:noFill/>
            <a:ln w="9525">
              <a:solidFill>
                <a:schemeClr val="tx1"/>
              </a:solidFill>
              <a:round/>
              <a:headEnd/>
              <a:tailEnd/>
            </a:ln>
          </p:spPr>
          <p:txBody>
            <a:bodyPr wrap="none" anchor="ctr"/>
            <a:lstStyle/>
            <a:p>
              <a:endParaRPr lang="bg-BG"/>
            </a:p>
          </p:txBody>
        </p:sp>
        <p:sp>
          <p:nvSpPr>
            <p:cNvPr id="55321" name="Line 106"/>
            <p:cNvSpPr>
              <a:spLocks noChangeShapeType="1"/>
            </p:cNvSpPr>
            <p:nvPr/>
          </p:nvSpPr>
          <p:spPr bwMode="auto">
            <a:xfrm>
              <a:off x="3736"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22" name="Line 107"/>
            <p:cNvSpPr>
              <a:spLocks noChangeShapeType="1"/>
            </p:cNvSpPr>
            <p:nvPr/>
          </p:nvSpPr>
          <p:spPr bwMode="auto">
            <a:xfrm>
              <a:off x="340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23" name="Line 108"/>
            <p:cNvSpPr>
              <a:spLocks noChangeShapeType="1"/>
            </p:cNvSpPr>
            <p:nvPr/>
          </p:nvSpPr>
          <p:spPr bwMode="auto">
            <a:xfrm>
              <a:off x="2640"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24" name="Line 112"/>
            <p:cNvSpPr>
              <a:spLocks noChangeShapeType="1"/>
            </p:cNvSpPr>
            <p:nvPr/>
          </p:nvSpPr>
          <p:spPr bwMode="auto">
            <a:xfrm>
              <a:off x="5544"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25" name="Line 113"/>
            <p:cNvSpPr>
              <a:spLocks noChangeShapeType="1"/>
            </p:cNvSpPr>
            <p:nvPr/>
          </p:nvSpPr>
          <p:spPr bwMode="auto">
            <a:xfrm>
              <a:off x="480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26" name="Line 114"/>
            <p:cNvSpPr>
              <a:spLocks noChangeShapeType="1"/>
            </p:cNvSpPr>
            <p:nvPr/>
          </p:nvSpPr>
          <p:spPr bwMode="auto">
            <a:xfrm>
              <a:off x="2592" y="3768"/>
              <a:ext cx="96" cy="0"/>
            </a:xfrm>
            <a:prstGeom prst="line">
              <a:avLst/>
            </a:prstGeom>
            <a:noFill/>
            <a:ln w="9525">
              <a:solidFill>
                <a:schemeClr val="tx1"/>
              </a:solidFill>
              <a:round/>
              <a:headEnd/>
              <a:tailEnd/>
            </a:ln>
          </p:spPr>
          <p:txBody>
            <a:bodyPr wrap="none" anchor="ctr"/>
            <a:lstStyle/>
            <a:p>
              <a:endParaRPr lang="bg-BG"/>
            </a:p>
          </p:txBody>
        </p:sp>
        <p:sp>
          <p:nvSpPr>
            <p:cNvPr id="55327" name="Line 115"/>
            <p:cNvSpPr>
              <a:spLocks noChangeShapeType="1"/>
            </p:cNvSpPr>
            <p:nvPr/>
          </p:nvSpPr>
          <p:spPr bwMode="auto">
            <a:xfrm>
              <a:off x="3360" y="3752"/>
              <a:ext cx="96" cy="0"/>
            </a:xfrm>
            <a:prstGeom prst="line">
              <a:avLst/>
            </a:prstGeom>
            <a:noFill/>
            <a:ln w="9525">
              <a:solidFill>
                <a:schemeClr val="tx1"/>
              </a:solidFill>
              <a:round/>
              <a:headEnd/>
              <a:tailEnd/>
            </a:ln>
          </p:spPr>
          <p:txBody>
            <a:bodyPr wrap="none" anchor="ctr"/>
            <a:lstStyle/>
            <a:p>
              <a:endParaRPr lang="bg-BG"/>
            </a:p>
          </p:txBody>
        </p:sp>
        <p:sp>
          <p:nvSpPr>
            <p:cNvPr id="55328" name="Line 116"/>
            <p:cNvSpPr>
              <a:spLocks noChangeShapeType="1"/>
            </p:cNvSpPr>
            <p:nvPr/>
          </p:nvSpPr>
          <p:spPr bwMode="auto">
            <a:xfrm>
              <a:off x="3688" y="3760"/>
              <a:ext cx="96" cy="0"/>
            </a:xfrm>
            <a:prstGeom prst="line">
              <a:avLst/>
            </a:prstGeom>
            <a:noFill/>
            <a:ln w="9525">
              <a:solidFill>
                <a:schemeClr val="tx1"/>
              </a:solidFill>
              <a:round/>
              <a:headEnd/>
              <a:tailEnd/>
            </a:ln>
          </p:spPr>
          <p:txBody>
            <a:bodyPr wrap="none" anchor="ctr"/>
            <a:lstStyle/>
            <a:p>
              <a:endParaRPr lang="bg-BG"/>
            </a:p>
          </p:txBody>
        </p:sp>
        <p:sp>
          <p:nvSpPr>
            <p:cNvPr id="55329" name="Line 120"/>
            <p:cNvSpPr>
              <a:spLocks noChangeShapeType="1"/>
            </p:cNvSpPr>
            <p:nvPr/>
          </p:nvSpPr>
          <p:spPr bwMode="auto">
            <a:xfrm>
              <a:off x="5496" y="3752"/>
              <a:ext cx="96" cy="0"/>
            </a:xfrm>
            <a:prstGeom prst="line">
              <a:avLst/>
            </a:prstGeom>
            <a:noFill/>
            <a:ln w="9525">
              <a:solidFill>
                <a:schemeClr val="tx1"/>
              </a:solidFill>
              <a:round/>
              <a:headEnd/>
              <a:tailEnd/>
            </a:ln>
          </p:spPr>
          <p:txBody>
            <a:bodyPr wrap="none" anchor="ctr"/>
            <a:lstStyle/>
            <a:p>
              <a:endParaRPr lang="bg-BG"/>
            </a:p>
          </p:txBody>
        </p:sp>
        <p:sp>
          <p:nvSpPr>
            <p:cNvPr id="55330" name="Line 121"/>
            <p:cNvSpPr>
              <a:spLocks noChangeShapeType="1"/>
            </p:cNvSpPr>
            <p:nvPr/>
          </p:nvSpPr>
          <p:spPr bwMode="auto">
            <a:xfrm>
              <a:off x="4752" y="3744"/>
              <a:ext cx="96" cy="0"/>
            </a:xfrm>
            <a:prstGeom prst="line">
              <a:avLst/>
            </a:prstGeom>
            <a:noFill/>
            <a:ln w="9525">
              <a:solidFill>
                <a:schemeClr val="tx1"/>
              </a:solidFill>
              <a:round/>
              <a:headEnd/>
              <a:tailEnd/>
            </a:ln>
          </p:spPr>
          <p:txBody>
            <a:bodyPr wrap="none" anchor="ctr"/>
            <a:lstStyle/>
            <a:p>
              <a:endParaRPr lang="bg-BG"/>
            </a:p>
          </p:txBody>
        </p:sp>
        <p:sp>
          <p:nvSpPr>
            <p:cNvPr id="55331" name="Line 122"/>
            <p:cNvSpPr>
              <a:spLocks noChangeShapeType="1"/>
            </p:cNvSpPr>
            <p:nvPr/>
          </p:nvSpPr>
          <p:spPr bwMode="auto">
            <a:xfrm>
              <a:off x="1608" y="2920"/>
              <a:ext cx="432" cy="0"/>
            </a:xfrm>
            <a:prstGeom prst="line">
              <a:avLst/>
            </a:prstGeom>
            <a:noFill/>
            <a:ln w="9525">
              <a:solidFill>
                <a:schemeClr val="tx1"/>
              </a:solidFill>
              <a:round/>
              <a:headEnd/>
              <a:tailEnd/>
            </a:ln>
          </p:spPr>
          <p:txBody>
            <a:bodyPr wrap="none" anchor="ctr"/>
            <a:lstStyle/>
            <a:p>
              <a:endParaRPr lang="bg-BG"/>
            </a:p>
          </p:txBody>
        </p:sp>
        <p:sp>
          <p:nvSpPr>
            <p:cNvPr id="55332" name="Line 123"/>
            <p:cNvSpPr>
              <a:spLocks noChangeShapeType="1"/>
            </p:cNvSpPr>
            <p:nvPr/>
          </p:nvSpPr>
          <p:spPr bwMode="auto">
            <a:xfrm>
              <a:off x="204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333" name="Line 124"/>
            <p:cNvSpPr>
              <a:spLocks noChangeShapeType="1"/>
            </p:cNvSpPr>
            <p:nvPr/>
          </p:nvSpPr>
          <p:spPr bwMode="auto">
            <a:xfrm flipH="1">
              <a:off x="3000" y="2912"/>
              <a:ext cx="432" cy="0"/>
            </a:xfrm>
            <a:prstGeom prst="line">
              <a:avLst/>
            </a:prstGeom>
            <a:noFill/>
            <a:ln w="9525">
              <a:solidFill>
                <a:schemeClr val="tx1"/>
              </a:solidFill>
              <a:round/>
              <a:headEnd/>
              <a:tailEnd/>
            </a:ln>
          </p:spPr>
          <p:txBody>
            <a:bodyPr wrap="none" anchor="ctr"/>
            <a:lstStyle/>
            <a:p>
              <a:endParaRPr lang="bg-BG"/>
            </a:p>
          </p:txBody>
        </p:sp>
        <p:sp>
          <p:nvSpPr>
            <p:cNvPr id="55334" name="Line 125"/>
            <p:cNvSpPr>
              <a:spLocks noChangeShapeType="1"/>
            </p:cNvSpPr>
            <p:nvPr/>
          </p:nvSpPr>
          <p:spPr bwMode="auto">
            <a:xfrm>
              <a:off x="30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335" name="Line 126"/>
            <p:cNvSpPr>
              <a:spLocks noChangeShapeType="1"/>
            </p:cNvSpPr>
            <p:nvPr/>
          </p:nvSpPr>
          <p:spPr bwMode="auto">
            <a:xfrm flipH="1">
              <a:off x="1176" y="2528"/>
              <a:ext cx="1104" cy="0"/>
            </a:xfrm>
            <a:prstGeom prst="line">
              <a:avLst/>
            </a:prstGeom>
            <a:noFill/>
            <a:ln w="9525">
              <a:solidFill>
                <a:schemeClr val="tx1"/>
              </a:solidFill>
              <a:round/>
              <a:headEnd/>
              <a:tailEnd/>
            </a:ln>
          </p:spPr>
          <p:txBody>
            <a:bodyPr wrap="none" anchor="ctr"/>
            <a:lstStyle/>
            <a:p>
              <a:endParaRPr lang="bg-BG"/>
            </a:p>
          </p:txBody>
        </p:sp>
        <p:sp>
          <p:nvSpPr>
            <p:cNvPr id="55336" name="Line 127"/>
            <p:cNvSpPr>
              <a:spLocks noChangeShapeType="1"/>
            </p:cNvSpPr>
            <p:nvPr/>
          </p:nvSpPr>
          <p:spPr bwMode="auto">
            <a:xfrm>
              <a:off x="1176"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5337" name="Line 128"/>
            <p:cNvSpPr>
              <a:spLocks noChangeShapeType="1"/>
            </p:cNvSpPr>
            <p:nvPr/>
          </p:nvSpPr>
          <p:spPr bwMode="auto">
            <a:xfrm flipH="1">
              <a:off x="600" y="2960"/>
              <a:ext cx="192" cy="0"/>
            </a:xfrm>
            <a:prstGeom prst="line">
              <a:avLst/>
            </a:prstGeom>
            <a:noFill/>
            <a:ln w="9525">
              <a:solidFill>
                <a:schemeClr val="tx1"/>
              </a:solidFill>
              <a:round/>
              <a:headEnd/>
              <a:tailEnd/>
            </a:ln>
          </p:spPr>
          <p:txBody>
            <a:bodyPr wrap="none" anchor="ctr"/>
            <a:lstStyle/>
            <a:p>
              <a:endParaRPr lang="bg-BG"/>
            </a:p>
          </p:txBody>
        </p:sp>
        <p:sp>
          <p:nvSpPr>
            <p:cNvPr id="55338" name="Line 129"/>
            <p:cNvSpPr>
              <a:spLocks noChangeShapeType="1"/>
            </p:cNvSpPr>
            <p:nvPr/>
          </p:nvSpPr>
          <p:spPr bwMode="auto">
            <a:xfrm>
              <a:off x="600" y="2960"/>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39" name="Line 130"/>
            <p:cNvSpPr>
              <a:spLocks noChangeShapeType="1"/>
            </p:cNvSpPr>
            <p:nvPr/>
          </p:nvSpPr>
          <p:spPr bwMode="auto">
            <a:xfrm>
              <a:off x="3000" y="2528"/>
              <a:ext cx="1008" cy="0"/>
            </a:xfrm>
            <a:prstGeom prst="line">
              <a:avLst/>
            </a:prstGeom>
            <a:noFill/>
            <a:ln w="9525">
              <a:solidFill>
                <a:schemeClr val="tx1"/>
              </a:solidFill>
              <a:round/>
              <a:headEnd/>
              <a:tailEnd/>
            </a:ln>
          </p:spPr>
          <p:txBody>
            <a:bodyPr wrap="none" anchor="ctr"/>
            <a:lstStyle/>
            <a:p>
              <a:endParaRPr lang="bg-BG"/>
            </a:p>
          </p:txBody>
        </p:sp>
        <p:sp>
          <p:nvSpPr>
            <p:cNvPr id="55340" name="Line 131"/>
            <p:cNvSpPr>
              <a:spLocks noChangeShapeType="1"/>
            </p:cNvSpPr>
            <p:nvPr/>
          </p:nvSpPr>
          <p:spPr bwMode="auto">
            <a:xfrm>
              <a:off x="4008"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5341" name="Line 132"/>
            <p:cNvSpPr>
              <a:spLocks noChangeShapeType="1"/>
            </p:cNvSpPr>
            <p:nvPr/>
          </p:nvSpPr>
          <p:spPr bwMode="auto">
            <a:xfrm>
              <a:off x="4008"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342" name="Line 133"/>
            <p:cNvSpPr>
              <a:spLocks noChangeShapeType="1"/>
            </p:cNvSpPr>
            <p:nvPr/>
          </p:nvSpPr>
          <p:spPr bwMode="auto">
            <a:xfrm>
              <a:off x="448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43" name="Line 134"/>
            <p:cNvSpPr>
              <a:spLocks noChangeShapeType="1"/>
            </p:cNvSpPr>
            <p:nvPr/>
          </p:nvSpPr>
          <p:spPr bwMode="auto">
            <a:xfrm>
              <a:off x="4440" y="3752"/>
              <a:ext cx="96" cy="0"/>
            </a:xfrm>
            <a:prstGeom prst="line">
              <a:avLst/>
            </a:prstGeom>
            <a:noFill/>
            <a:ln w="9525">
              <a:solidFill>
                <a:schemeClr val="tx1"/>
              </a:solidFill>
              <a:round/>
              <a:headEnd/>
              <a:tailEnd/>
            </a:ln>
          </p:spPr>
          <p:txBody>
            <a:bodyPr wrap="none" anchor="ctr"/>
            <a:lstStyle/>
            <a:p>
              <a:endParaRPr lang="bg-BG"/>
            </a:p>
          </p:txBody>
        </p:sp>
        <p:sp>
          <p:nvSpPr>
            <p:cNvPr id="55344" name="Line 135"/>
            <p:cNvSpPr>
              <a:spLocks noChangeShapeType="1"/>
            </p:cNvSpPr>
            <p:nvPr/>
          </p:nvSpPr>
          <p:spPr bwMode="auto">
            <a:xfrm>
              <a:off x="4584" y="2912"/>
              <a:ext cx="576" cy="0"/>
            </a:xfrm>
            <a:prstGeom prst="line">
              <a:avLst/>
            </a:prstGeom>
            <a:noFill/>
            <a:ln w="9525">
              <a:solidFill>
                <a:schemeClr val="tx1"/>
              </a:solidFill>
              <a:round/>
              <a:headEnd/>
              <a:tailEnd/>
            </a:ln>
          </p:spPr>
          <p:txBody>
            <a:bodyPr wrap="none" anchor="ctr"/>
            <a:lstStyle/>
            <a:p>
              <a:endParaRPr lang="bg-BG"/>
            </a:p>
          </p:txBody>
        </p:sp>
        <p:sp>
          <p:nvSpPr>
            <p:cNvPr id="55345" name="Line 136"/>
            <p:cNvSpPr>
              <a:spLocks noChangeShapeType="1"/>
            </p:cNvSpPr>
            <p:nvPr/>
          </p:nvSpPr>
          <p:spPr bwMode="auto">
            <a:xfrm>
              <a:off x="516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5346" name="Text Box 137"/>
            <p:cNvSpPr txBox="1">
              <a:spLocks noChangeArrowheads="1"/>
            </p:cNvSpPr>
            <p:nvPr/>
          </p:nvSpPr>
          <p:spPr bwMode="auto">
            <a:xfrm>
              <a:off x="2472" y="2408"/>
              <a:ext cx="336" cy="288"/>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5347" name="Text Box 138"/>
            <p:cNvSpPr txBox="1">
              <a:spLocks noChangeArrowheads="1"/>
            </p:cNvSpPr>
            <p:nvPr/>
          </p:nvSpPr>
          <p:spPr bwMode="auto">
            <a:xfrm>
              <a:off x="1216" y="2784"/>
              <a:ext cx="336" cy="288"/>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5348" name="Text Box 140"/>
            <p:cNvSpPr txBox="1">
              <a:spLocks noChangeArrowheads="1"/>
            </p:cNvSpPr>
            <p:nvPr/>
          </p:nvSpPr>
          <p:spPr bwMode="auto">
            <a:xfrm>
              <a:off x="3584" y="2784"/>
              <a:ext cx="336" cy="288"/>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5349" name="Text Box 141"/>
            <p:cNvSpPr txBox="1">
              <a:spLocks noChangeArrowheads="1"/>
            </p:cNvSpPr>
            <p:nvPr/>
          </p:nvSpPr>
          <p:spPr bwMode="auto">
            <a:xfrm>
              <a:off x="4152" y="2784"/>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5350" name="Rectangle 89"/>
            <p:cNvSpPr>
              <a:spLocks noChangeArrowheads="1"/>
            </p:cNvSpPr>
            <p:nvPr/>
          </p:nvSpPr>
          <p:spPr bwMode="auto">
            <a:xfrm>
              <a:off x="1680" y="3296"/>
              <a:ext cx="720" cy="256"/>
            </a:xfrm>
            <a:prstGeom prst="rect">
              <a:avLst/>
            </a:prstGeom>
            <a:noFill/>
            <a:ln w="9525">
              <a:solidFill>
                <a:schemeClr val="tx1"/>
              </a:solidFill>
              <a:miter lim="800000"/>
              <a:headEnd/>
              <a:tailEnd/>
            </a:ln>
          </p:spPr>
          <p:txBody>
            <a:bodyPr wrap="none" anchor="ctr"/>
            <a:lstStyle/>
            <a:p>
              <a:endParaRPr lang="bg-BG"/>
            </a:p>
          </p:txBody>
        </p:sp>
        <p:sp>
          <p:nvSpPr>
            <p:cNvPr id="55351" name="Line 97"/>
            <p:cNvSpPr>
              <a:spLocks noChangeShapeType="1"/>
            </p:cNvSpPr>
            <p:nvPr/>
          </p:nvSpPr>
          <p:spPr bwMode="auto">
            <a:xfrm>
              <a:off x="1848" y="3296"/>
              <a:ext cx="0" cy="240"/>
            </a:xfrm>
            <a:prstGeom prst="line">
              <a:avLst/>
            </a:prstGeom>
            <a:noFill/>
            <a:ln w="9525">
              <a:solidFill>
                <a:schemeClr val="tx1"/>
              </a:solidFill>
              <a:round/>
              <a:headEnd/>
              <a:tailEnd/>
            </a:ln>
          </p:spPr>
          <p:txBody>
            <a:bodyPr wrap="none" anchor="ctr"/>
            <a:lstStyle/>
            <a:p>
              <a:endParaRPr lang="bg-BG"/>
            </a:p>
          </p:txBody>
        </p:sp>
        <p:sp>
          <p:nvSpPr>
            <p:cNvPr id="55352" name="Line 98"/>
            <p:cNvSpPr>
              <a:spLocks noChangeShapeType="1"/>
            </p:cNvSpPr>
            <p:nvPr/>
          </p:nvSpPr>
          <p:spPr bwMode="auto">
            <a:xfrm>
              <a:off x="2240" y="3296"/>
              <a:ext cx="0" cy="240"/>
            </a:xfrm>
            <a:prstGeom prst="line">
              <a:avLst/>
            </a:prstGeom>
            <a:noFill/>
            <a:ln w="9525">
              <a:solidFill>
                <a:schemeClr val="tx1"/>
              </a:solidFill>
              <a:round/>
              <a:headEnd/>
              <a:tailEnd/>
            </a:ln>
          </p:spPr>
          <p:txBody>
            <a:bodyPr wrap="none" anchor="ctr"/>
            <a:lstStyle/>
            <a:p>
              <a:endParaRPr lang="bg-BG"/>
            </a:p>
          </p:txBody>
        </p:sp>
        <p:sp>
          <p:nvSpPr>
            <p:cNvPr id="55353" name="Line 109"/>
            <p:cNvSpPr>
              <a:spLocks noChangeShapeType="1"/>
            </p:cNvSpPr>
            <p:nvPr/>
          </p:nvSpPr>
          <p:spPr bwMode="auto">
            <a:xfrm>
              <a:off x="232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54" name="Line 111"/>
            <p:cNvSpPr>
              <a:spLocks noChangeShapeType="1"/>
            </p:cNvSpPr>
            <p:nvPr/>
          </p:nvSpPr>
          <p:spPr bwMode="auto">
            <a:xfrm>
              <a:off x="1776"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55" name="Line 117"/>
            <p:cNvSpPr>
              <a:spLocks noChangeShapeType="1"/>
            </p:cNvSpPr>
            <p:nvPr/>
          </p:nvSpPr>
          <p:spPr bwMode="auto">
            <a:xfrm>
              <a:off x="2272" y="3760"/>
              <a:ext cx="96" cy="0"/>
            </a:xfrm>
            <a:prstGeom prst="line">
              <a:avLst/>
            </a:prstGeom>
            <a:noFill/>
            <a:ln w="9525">
              <a:solidFill>
                <a:schemeClr val="tx1"/>
              </a:solidFill>
              <a:round/>
              <a:headEnd/>
              <a:tailEnd/>
            </a:ln>
          </p:spPr>
          <p:txBody>
            <a:bodyPr wrap="none" anchor="ctr"/>
            <a:lstStyle/>
            <a:p>
              <a:endParaRPr lang="bg-BG"/>
            </a:p>
          </p:txBody>
        </p:sp>
        <p:sp>
          <p:nvSpPr>
            <p:cNvPr id="55356" name="Line 118"/>
            <p:cNvSpPr>
              <a:spLocks noChangeShapeType="1"/>
            </p:cNvSpPr>
            <p:nvPr/>
          </p:nvSpPr>
          <p:spPr bwMode="auto">
            <a:xfrm>
              <a:off x="1736" y="3744"/>
              <a:ext cx="96" cy="0"/>
            </a:xfrm>
            <a:prstGeom prst="line">
              <a:avLst/>
            </a:prstGeom>
            <a:noFill/>
            <a:ln w="9525">
              <a:solidFill>
                <a:schemeClr val="tx1"/>
              </a:solidFill>
              <a:round/>
              <a:headEnd/>
              <a:tailEnd/>
            </a:ln>
          </p:spPr>
          <p:txBody>
            <a:bodyPr wrap="none" anchor="ctr"/>
            <a:lstStyle/>
            <a:p>
              <a:endParaRPr lang="bg-BG"/>
            </a:p>
          </p:txBody>
        </p:sp>
        <p:sp>
          <p:nvSpPr>
            <p:cNvPr id="55357" name="Text Box 142"/>
            <p:cNvSpPr txBox="1">
              <a:spLocks noChangeArrowheads="1"/>
            </p:cNvSpPr>
            <p:nvPr/>
          </p:nvSpPr>
          <p:spPr bwMode="auto">
            <a:xfrm>
              <a:off x="1880" y="3288"/>
              <a:ext cx="360" cy="288"/>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5358" name="Text Box 143"/>
            <p:cNvSpPr txBox="1">
              <a:spLocks noChangeArrowheads="1"/>
            </p:cNvSpPr>
            <p:nvPr/>
          </p:nvSpPr>
          <p:spPr bwMode="auto">
            <a:xfrm>
              <a:off x="3952" y="3272"/>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5359" name="Text Box 144"/>
            <p:cNvSpPr txBox="1">
              <a:spLocks noChangeArrowheads="1"/>
            </p:cNvSpPr>
            <p:nvPr/>
          </p:nvSpPr>
          <p:spPr bwMode="auto">
            <a:xfrm>
              <a:off x="2872" y="3272"/>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5360" name="Text Box 145"/>
            <p:cNvSpPr txBox="1">
              <a:spLocks noChangeArrowheads="1"/>
            </p:cNvSpPr>
            <p:nvPr/>
          </p:nvSpPr>
          <p:spPr bwMode="auto">
            <a:xfrm>
              <a:off x="4960" y="3280"/>
              <a:ext cx="416" cy="288"/>
            </a:xfrm>
            <a:prstGeom prst="rect">
              <a:avLst/>
            </a:prstGeom>
            <a:noFill/>
            <a:ln w="9525">
              <a:noFill/>
              <a:miter lim="800000"/>
              <a:headEnd/>
              <a:tailEnd/>
            </a:ln>
          </p:spPr>
          <p:txBody>
            <a:bodyPr>
              <a:spAutoFit/>
            </a:bodyPr>
            <a:lstStyle/>
            <a:p>
              <a:pPr>
                <a:spcBef>
                  <a:spcPct val="50000"/>
                </a:spcBef>
              </a:pPr>
              <a:r>
                <a:rPr lang="bg-BG"/>
                <a:t>100</a:t>
              </a:r>
              <a:endParaRPr lang="en-US"/>
            </a:p>
          </p:txBody>
        </p:sp>
        <p:sp>
          <p:nvSpPr>
            <p:cNvPr id="55361" name="Line 148"/>
            <p:cNvSpPr>
              <a:spLocks noChangeShapeType="1"/>
            </p:cNvSpPr>
            <p:nvPr/>
          </p:nvSpPr>
          <p:spPr bwMode="auto">
            <a:xfrm>
              <a:off x="1184" y="29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62" name="Text Box 150"/>
            <p:cNvSpPr txBox="1">
              <a:spLocks noChangeArrowheads="1"/>
            </p:cNvSpPr>
            <p:nvPr/>
          </p:nvSpPr>
          <p:spPr bwMode="auto">
            <a:xfrm>
              <a:off x="888" y="2784"/>
              <a:ext cx="192"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55363" name="Line 151"/>
            <p:cNvSpPr>
              <a:spLocks noChangeShapeType="1"/>
            </p:cNvSpPr>
            <p:nvPr/>
          </p:nvSpPr>
          <p:spPr bwMode="auto">
            <a:xfrm>
              <a:off x="1248" y="2832"/>
              <a:ext cx="0" cy="240"/>
            </a:xfrm>
            <a:prstGeom prst="line">
              <a:avLst/>
            </a:prstGeom>
            <a:noFill/>
            <a:ln w="9525">
              <a:solidFill>
                <a:schemeClr val="tx1"/>
              </a:solidFill>
              <a:round/>
              <a:headEnd/>
              <a:tailEnd/>
            </a:ln>
          </p:spPr>
          <p:txBody>
            <a:bodyPr wrap="none" anchor="ctr"/>
            <a:lstStyle/>
            <a:p>
              <a:endParaRPr lang="bg-BG"/>
            </a:p>
          </p:txBody>
        </p:sp>
        <p:sp>
          <p:nvSpPr>
            <p:cNvPr id="55364" name="Line 152"/>
            <p:cNvSpPr>
              <a:spLocks noChangeShapeType="1"/>
            </p:cNvSpPr>
            <p:nvPr/>
          </p:nvSpPr>
          <p:spPr bwMode="auto">
            <a:xfrm>
              <a:off x="1096" y="2824"/>
              <a:ext cx="0" cy="240"/>
            </a:xfrm>
            <a:prstGeom prst="line">
              <a:avLst/>
            </a:prstGeom>
            <a:noFill/>
            <a:ln w="9525">
              <a:solidFill>
                <a:schemeClr val="tx1"/>
              </a:solidFill>
              <a:round/>
              <a:headEnd/>
              <a:tailEnd/>
            </a:ln>
          </p:spPr>
          <p:txBody>
            <a:bodyPr wrap="none" anchor="ctr"/>
            <a:lstStyle/>
            <a:p>
              <a:endParaRPr lang="bg-BG"/>
            </a:p>
          </p:txBody>
        </p:sp>
        <p:sp>
          <p:nvSpPr>
            <p:cNvPr id="55365" name="Rectangle 156"/>
            <p:cNvSpPr>
              <a:spLocks noChangeArrowheads="1"/>
            </p:cNvSpPr>
            <p:nvPr/>
          </p:nvSpPr>
          <p:spPr bwMode="auto">
            <a:xfrm>
              <a:off x="864" y="3296"/>
              <a:ext cx="720" cy="256"/>
            </a:xfrm>
            <a:prstGeom prst="rect">
              <a:avLst/>
            </a:prstGeom>
            <a:noFill/>
            <a:ln w="9525">
              <a:solidFill>
                <a:schemeClr val="tx1"/>
              </a:solidFill>
              <a:miter lim="800000"/>
              <a:headEnd/>
              <a:tailEnd/>
            </a:ln>
          </p:spPr>
          <p:txBody>
            <a:bodyPr wrap="none" anchor="ctr"/>
            <a:lstStyle/>
            <a:p>
              <a:endParaRPr lang="bg-BG"/>
            </a:p>
          </p:txBody>
        </p:sp>
        <p:sp>
          <p:nvSpPr>
            <p:cNvPr id="55366" name="Line 157"/>
            <p:cNvSpPr>
              <a:spLocks noChangeShapeType="1"/>
            </p:cNvSpPr>
            <p:nvPr/>
          </p:nvSpPr>
          <p:spPr bwMode="auto">
            <a:xfrm>
              <a:off x="1032" y="3296"/>
              <a:ext cx="0" cy="240"/>
            </a:xfrm>
            <a:prstGeom prst="line">
              <a:avLst/>
            </a:prstGeom>
            <a:noFill/>
            <a:ln w="9525">
              <a:solidFill>
                <a:schemeClr val="tx1"/>
              </a:solidFill>
              <a:round/>
              <a:headEnd/>
              <a:tailEnd/>
            </a:ln>
          </p:spPr>
          <p:txBody>
            <a:bodyPr wrap="none" anchor="ctr"/>
            <a:lstStyle/>
            <a:p>
              <a:endParaRPr lang="bg-BG"/>
            </a:p>
          </p:txBody>
        </p:sp>
        <p:sp>
          <p:nvSpPr>
            <p:cNvPr id="55367" name="Line 158"/>
            <p:cNvSpPr>
              <a:spLocks noChangeShapeType="1"/>
            </p:cNvSpPr>
            <p:nvPr/>
          </p:nvSpPr>
          <p:spPr bwMode="auto">
            <a:xfrm>
              <a:off x="1424" y="3296"/>
              <a:ext cx="0" cy="240"/>
            </a:xfrm>
            <a:prstGeom prst="line">
              <a:avLst/>
            </a:prstGeom>
            <a:noFill/>
            <a:ln w="9525">
              <a:solidFill>
                <a:schemeClr val="tx1"/>
              </a:solidFill>
              <a:round/>
              <a:headEnd/>
              <a:tailEnd/>
            </a:ln>
          </p:spPr>
          <p:txBody>
            <a:bodyPr wrap="none" anchor="ctr"/>
            <a:lstStyle/>
            <a:p>
              <a:endParaRPr lang="bg-BG"/>
            </a:p>
          </p:txBody>
        </p:sp>
        <p:sp>
          <p:nvSpPr>
            <p:cNvPr id="55368" name="Line 159"/>
            <p:cNvSpPr>
              <a:spLocks noChangeShapeType="1"/>
            </p:cNvSpPr>
            <p:nvPr/>
          </p:nvSpPr>
          <p:spPr bwMode="auto">
            <a:xfrm>
              <a:off x="1504"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69" name="Line 160"/>
            <p:cNvSpPr>
              <a:spLocks noChangeShapeType="1"/>
            </p:cNvSpPr>
            <p:nvPr/>
          </p:nvSpPr>
          <p:spPr bwMode="auto">
            <a:xfrm>
              <a:off x="960"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70" name="Line 161"/>
            <p:cNvSpPr>
              <a:spLocks noChangeShapeType="1"/>
            </p:cNvSpPr>
            <p:nvPr/>
          </p:nvSpPr>
          <p:spPr bwMode="auto">
            <a:xfrm>
              <a:off x="1456" y="3760"/>
              <a:ext cx="96" cy="0"/>
            </a:xfrm>
            <a:prstGeom prst="line">
              <a:avLst/>
            </a:prstGeom>
            <a:noFill/>
            <a:ln w="9525">
              <a:solidFill>
                <a:schemeClr val="tx1"/>
              </a:solidFill>
              <a:round/>
              <a:headEnd/>
              <a:tailEnd/>
            </a:ln>
          </p:spPr>
          <p:txBody>
            <a:bodyPr wrap="none" anchor="ctr"/>
            <a:lstStyle/>
            <a:p>
              <a:endParaRPr lang="bg-BG"/>
            </a:p>
          </p:txBody>
        </p:sp>
        <p:sp>
          <p:nvSpPr>
            <p:cNvPr id="55371" name="Line 162"/>
            <p:cNvSpPr>
              <a:spLocks noChangeShapeType="1"/>
            </p:cNvSpPr>
            <p:nvPr/>
          </p:nvSpPr>
          <p:spPr bwMode="auto">
            <a:xfrm>
              <a:off x="920" y="3744"/>
              <a:ext cx="96" cy="0"/>
            </a:xfrm>
            <a:prstGeom prst="line">
              <a:avLst/>
            </a:prstGeom>
            <a:noFill/>
            <a:ln w="9525">
              <a:solidFill>
                <a:schemeClr val="tx1"/>
              </a:solidFill>
              <a:round/>
              <a:headEnd/>
              <a:tailEnd/>
            </a:ln>
          </p:spPr>
          <p:txBody>
            <a:bodyPr wrap="none" anchor="ctr"/>
            <a:lstStyle/>
            <a:p>
              <a:endParaRPr lang="bg-BG"/>
            </a:p>
          </p:txBody>
        </p:sp>
        <p:sp>
          <p:nvSpPr>
            <p:cNvPr id="55372" name="Text Box 163"/>
            <p:cNvSpPr txBox="1">
              <a:spLocks noChangeArrowheads="1"/>
            </p:cNvSpPr>
            <p:nvPr/>
          </p:nvSpPr>
          <p:spPr bwMode="auto">
            <a:xfrm>
              <a:off x="1064" y="328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5373" name="Rectangle 165"/>
            <p:cNvSpPr>
              <a:spLocks noChangeArrowheads="1"/>
            </p:cNvSpPr>
            <p:nvPr/>
          </p:nvSpPr>
          <p:spPr bwMode="auto">
            <a:xfrm>
              <a:off x="96" y="3304"/>
              <a:ext cx="720" cy="256"/>
            </a:xfrm>
            <a:prstGeom prst="rect">
              <a:avLst/>
            </a:prstGeom>
            <a:noFill/>
            <a:ln w="9525">
              <a:solidFill>
                <a:schemeClr val="tx1"/>
              </a:solidFill>
              <a:miter lim="800000"/>
              <a:headEnd/>
              <a:tailEnd/>
            </a:ln>
          </p:spPr>
          <p:txBody>
            <a:bodyPr wrap="none" anchor="ctr"/>
            <a:lstStyle/>
            <a:p>
              <a:endParaRPr lang="bg-BG"/>
            </a:p>
          </p:txBody>
        </p:sp>
        <p:sp>
          <p:nvSpPr>
            <p:cNvPr id="55374" name="Line 166"/>
            <p:cNvSpPr>
              <a:spLocks noChangeShapeType="1"/>
            </p:cNvSpPr>
            <p:nvPr/>
          </p:nvSpPr>
          <p:spPr bwMode="auto">
            <a:xfrm>
              <a:off x="264" y="3304"/>
              <a:ext cx="0" cy="240"/>
            </a:xfrm>
            <a:prstGeom prst="line">
              <a:avLst/>
            </a:prstGeom>
            <a:noFill/>
            <a:ln w="9525">
              <a:solidFill>
                <a:schemeClr val="tx1"/>
              </a:solidFill>
              <a:round/>
              <a:headEnd/>
              <a:tailEnd/>
            </a:ln>
          </p:spPr>
          <p:txBody>
            <a:bodyPr wrap="none" anchor="ctr"/>
            <a:lstStyle/>
            <a:p>
              <a:endParaRPr lang="bg-BG"/>
            </a:p>
          </p:txBody>
        </p:sp>
        <p:sp>
          <p:nvSpPr>
            <p:cNvPr id="55375" name="Line 167"/>
            <p:cNvSpPr>
              <a:spLocks noChangeShapeType="1"/>
            </p:cNvSpPr>
            <p:nvPr/>
          </p:nvSpPr>
          <p:spPr bwMode="auto">
            <a:xfrm>
              <a:off x="656" y="3304"/>
              <a:ext cx="0" cy="240"/>
            </a:xfrm>
            <a:prstGeom prst="line">
              <a:avLst/>
            </a:prstGeom>
            <a:noFill/>
            <a:ln w="9525">
              <a:solidFill>
                <a:schemeClr val="tx1"/>
              </a:solidFill>
              <a:round/>
              <a:headEnd/>
              <a:tailEnd/>
            </a:ln>
          </p:spPr>
          <p:txBody>
            <a:bodyPr wrap="none" anchor="ctr"/>
            <a:lstStyle/>
            <a:p>
              <a:endParaRPr lang="bg-BG"/>
            </a:p>
          </p:txBody>
        </p:sp>
        <p:sp>
          <p:nvSpPr>
            <p:cNvPr id="55376" name="Line 168"/>
            <p:cNvSpPr>
              <a:spLocks noChangeShapeType="1"/>
            </p:cNvSpPr>
            <p:nvPr/>
          </p:nvSpPr>
          <p:spPr bwMode="auto">
            <a:xfrm>
              <a:off x="736"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77" name="Line 169"/>
            <p:cNvSpPr>
              <a:spLocks noChangeShapeType="1"/>
            </p:cNvSpPr>
            <p:nvPr/>
          </p:nvSpPr>
          <p:spPr bwMode="auto">
            <a:xfrm>
              <a:off x="192"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5378" name="Line 170"/>
            <p:cNvSpPr>
              <a:spLocks noChangeShapeType="1"/>
            </p:cNvSpPr>
            <p:nvPr/>
          </p:nvSpPr>
          <p:spPr bwMode="auto">
            <a:xfrm>
              <a:off x="688" y="3768"/>
              <a:ext cx="96" cy="0"/>
            </a:xfrm>
            <a:prstGeom prst="line">
              <a:avLst/>
            </a:prstGeom>
            <a:noFill/>
            <a:ln w="9525">
              <a:solidFill>
                <a:schemeClr val="tx1"/>
              </a:solidFill>
              <a:round/>
              <a:headEnd/>
              <a:tailEnd/>
            </a:ln>
          </p:spPr>
          <p:txBody>
            <a:bodyPr wrap="none" anchor="ctr"/>
            <a:lstStyle/>
            <a:p>
              <a:endParaRPr lang="bg-BG"/>
            </a:p>
          </p:txBody>
        </p:sp>
        <p:sp>
          <p:nvSpPr>
            <p:cNvPr id="55379" name="Line 171"/>
            <p:cNvSpPr>
              <a:spLocks noChangeShapeType="1"/>
            </p:cNvSpPr>
            <p:nvPr/>
          </p:nvSpPr>
          <p:spPr bwMode="auto">
            <a:xfrm>
              <a:off x="152" y="3752"/>
              <a:ext cx="96" cy="0"/>
            </a:xfrm>
            <a:prstGeom prst="line">
              <a:avLst/>
            </a:prstGeom>
            <a:noFill/>
            <a:ln w="9525">
              <a:solidFill>
                <a:schemeClr val="tx1"/>
              </a:solidFill>
              <a:round/>
              <a:headEnd/>
              <a:tailEnd/>
            </a:ln>
          </p:spPr>
          <p:txBody>
            <a:bodyPr wrap="none" anchor="ctr"/>
            <a:lstStyle/>
            <a:p>
              <a:endParaRPr lang="bg-BG"/>
            </a:p>
          </p:txBody>
        </p:sp>
        <p:sp>
          <p:nvSpPr>
            <p:cNvPr id="55380" name="Text Box 172"/>
            <p:cNvSpPr txBox="1">
              <a:spLocks noChangeArrowheads="1"/>
            </p:cNvSpPr>
            <p:nvPr/>
          </p:nvSpPr>
          <p:spPr bwMode="auto">
            <a:xfrm>
              <a:off x="296" y="3296"/>
              <a:ext cx="360" cy="288"/>
            </a:xfrm>
            <a:prstGeom prst="rect">
              <a:avLst/>
            </a:prstGeom>
            <a:noFill/>
            <a:ln w="9525">
              <a:noFill/>
              <a:miter lim="800000"/>
              <a:headEnd/>
              <a:tailEnd/>
            </a:ln>
          </p:spPr>
          <p:txBody>
            <a:bodyPr>
              <a:spAutoFit/>
            </a:bodyPr>
            <a:lstStyle/>
            <a:p>
              <a:pPr>
                <a:spcBef>
                  <a:spcPct val="50000"/>
                </a:spcBef>
              </a:pPr>
              <a:r>
                <a:rPr lang="bg-BG"/>
                <a:t> 0</a:t>
              </a:r>
              <a:endParaRPr 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04800" y="609600"/>
            <a:ext cx="8610600" cy="5791200"/>
          </a:xfrm>
        </p:spPr>
        <p:txBody>
          <a:bodyPr/>
          <a:lstStyle/>
          <a:p>
            <a:pPr eaLnBrk="1" fontAlgn="auto" hangingPunct="1">
              <a:spcAft>
                <a:spcPts val="0"/>
              </a:spcAft>
              <a:defRPr/>
            </a:pPr>
            <a:r>
              <a:rPr lang="en-US" sz="2800" smtClean="0">
                <a:solidFill>
                  <a:schemeClr val="tx2">
                    <a:satMod val="130000"/>
                  </a:schemeClr>
                </a:solidFill>
              </a:rPr>
              <a:t>	</a:t>
            </a:r>
            <a:r>
              <a:rPr lang="bg-BG" sz="2800" smtClean="0">
                <a:solidFill>
                  <a:schemeClr val="tx1"/>
                </a:solidFill>
              </a:rPr>
              <a:t>Изтриваме </a:t>
            </a:r>
            <a:r>
              <a:rPr lang="en-US" sz="2800" smtClean="0">
                <a:solidFill>
                  <a:schemeClr val="tx1"/>
                </a:solidFill>
              </a:rPr>
              <a:t>40</a:t>
            </a:r>
            <a:r>
              <a:rPr lang="bg-BG" sz="2800" smtClean="0">
                <a:solidFill>
                  <a:schemeClr val="tx1"/>
                </a:solidFill>
              </a:rPr>
              <a:t>:     </a:t>
            </a:r>
            <a:r>
              <a:rPr lang="bg-BG" sz="2800">
                <a:solidFill>
                  <a:schemeClr val="tx1"/>
                </a:solidFill>
              </a:rPr>
              <a:t>(замества се или с </a:t>
            </a:r>
            <a:r>
              <a:rPr lang="en-US" sz="2800" smtClean="0">
                <a:solidFill>
                  <a:schemeClr val="tx1"/>
                </a:solidFill>
              </a:rPr>
              <a:t>30</a:t>
            </a:r>
            <a:r>
              <a:rPr lang="bg-BG" sz="2800" smtClean="0">
                <a:solidFill>
                  <a:schemeClr val="tx1"/>
                </a:solidFill>
              </a:rPr>
              <a:t>, </a:t>
            </a:r>
            <a:r>
              <a:rPr lang="bg-BG" sz="2800">
                <a:solidFill>
                  <a:schemeClr val="tx1"/>
                </a:solidFill>
              </a:rPr>
              <a:t>или с </a:t>
            </a:r>
            <a:r>
              <a:rPr lang="en-US" sz="2800" smtClean="0">
                <a:solidFill>
                  <a:schemeClr val="tx1"/>
                </a:solidFill>
              </a:rPr>
              <a:t>50</a:t>
            </a:r>
            <a:r>
              <a:rPr lang="bg-BG" sz="2800" smtClean="0">
                <a:solidFill>
                  <a:schemeClr val="tx1"/>
                </a:solidFill>
              </a:rPr>
              <a:t>)</a:t>
            </a:r>
            <a:r>
              <a:rPr lang="bg-BG" sz="2800">
                <a:solidFill>
                  <a:schemeClr val="tx1"/>
                </a:solidFill>
              </a:rPr>
              <a:t/>
            </a:r>
            <a:br>
              <a:rPr lang="bg-BG" sz="2800">
                <a:solidFill>
                  <a:schemeClr val="tx1"/>
                </a:solidFill>
              </a:rPr>
            </a:br>
            <a:endParaRPr lang="en-US" sz="2800">
              <a:solidFill>
                <a:schemeClr val="tx1"/>
              </a:solidFill>
            </a:endParaRPr>
          </a:p>
        </p:txBody>
      </p:sp>
      <p:grpSp>
        <p:nvGrpSpPr>
          <p:cNvPr id="56323" name="Group 3"/>
          <p:cNvGrpSpPr>
            <a:grpSpLocks/>
          </p:cNvGrpSpPr>
          <p:nvPr/>
        </p:nvGrpSpPr>
        <p:grpSpPr bwMode="auto">
          <a:xfrm>
            <a:off x="190500" y="533400"/>
            <a:ext cx="8877300" cy="2159000"/>
            <a:chOff x="96" y="2408"/>
            <a:chExt cx="5592" cy="1360"/>
          </a:xfrm>
        </p:grpSpPr>
        <p:sp>
          <p:nvSpPr>
            <p:cNvPr id="56399" name="Rectangle 4"/>
            <p:cNvSpPr>
              <a:spLocks noChangeArrowheads="1"/>
            </p:cNvSpPr>
            <p:nvPr/>
          </p:nvSpPr>
          <p:spPr bwMode="auto">
            <a:xfrm>
              <a:off x="2136" y="2432"/>
              <a:ext cx="1008" cy="240"/>
            </a:xfrm>
            <a:prstGeom prst="rect">
              <a:avLst/>
            </a:prstGeom>
            <a:noFill/>
            <a:ln w="9525">
              <a:solidFill>
                <a:schemeClr val="tx1"/>
              </a:solidFill>
              <a:miter lim="800000"/>
              <a:headEnd/>
              <a:tailEnd/>
            </a:ln>
          </p:spPr>
          <p:txBody>
            <a:bodyPr wrap="none" anchor="ctr"/>
            <a:lstStyle/>
            <a:p>
              <a:endParaRPr lang="bg-BG"/>
            </a:p>
          </p:txBody>
        </p:sp>
        <p:sp>
          <p:nvSpPr>
            <p:cNvPr id="56400" name="Line 5"/>
            <p:cNvSpPr>
              <a:spLocks noChangeShapeType="1"/>
            </p:cNvSpPr>
            <p:nvPr/>
          </p:nvSpPr>
          <p:spPr bwMode="auto">
            <a:xfrm>
              <a:off x="2424" y="2432"/>
              <a:ext cx="0" cy="240"/>
            </a:xfrm>
            <a:prstGeom prst="line">
              <a:avLst/>
            </a:prstGeom>
            <a:noFill/>
            <a:ln w="9525">
              <a:solidFill>
                <a:schemeClr val="tx1"/>
              </a:solidFill>
              <a:round/>
              <a:headEnd/>
              <a:tailEnd/>
            </a:ln>
          </p:spPr>
          <p:txBody>
            <a:bodyPr wrap="none" anchor="ctr"/>
            <a:lstStyle/>
            <a:p>
              <a:endParaRPr lang="bg-BG"/>
            </a:p>
          </p:txBody>
        </p:sp>
        <p:sp>
          <p:nvSpPr>
            <p:cNvPr id="56401" name="Line 6"/>
            <p:cNvSpPr>
              <a:spLocks noChangeShapeType="1"/>
            </p:cNvSpPr>
            <p:nvPr/>
          </p:nvSpPr>
          <p:spPr bwMode="auto">
            <a:xfrm>
              <a:off x="2856" y="2432"/>
              <a:ext cx="0" cy="240"/>
            </a:xfrm>
            <a:prstGeom prst="line">
              <a:avLst/>
            </a:prstGeom>
            <a:noFill/>
            <a:ln w="9525">
              <a:solidFill>
                <a:schemeClr val="tx1"/>
              </a:solidFill>
              <a:round/>
              <a:headEnd/>
              <a:tailEnd/>
            </a:ln>
          </p:spPr>
          <p:txBody>
            <a:bodyPr wrap="none" anchor="ctr"/>
            <a:lstStyle/>
            <a:p>
              <a:endParaRPr lang="bg-BG"/>
            </a:p>
          </p:txBody>
        </p:sp>
        <p:sp>
          <p:nvSpPr>
            <p:cNvPr id="56402" name="Rectangle 7"/>
            <p:cNvSpPr>
              <a:spLocks noChangeArrowheads="1"/>
            </p:cNvSpPr>
            <p:nvPr/>
          </p:nvSpPr>
          <p:spPr bwMode="auto">
            <a:xfrm>
              <a:off x="3312" y="2816"/>
              <a:ext cx="1392" cy="240"/>
            </a:xfrm>
            <a:prstGeom prst="rect">
              <a:avLst/>
            </a:prstGeom>
            <a:noFill/>
            <a:ln w="9525">
              <a:solidFill>
                <a:schemeClr val="tx1"/>
              </a:solidFill>
              <a:miter lim="800000"/>
              <a:headEnd/>
              <a:tailEnd/>
            </a:ln>
          </p:spPr>
          <p:txBody>
            <a:bodyPr wrap="none" anchor="ctr"/>
            <a:lstStyle/>
            <a:p>
              <a:endParaRPr lang="bg-BG"/>
            </a:p>
          </p:txBody>
        </p:sp>
        <p:sp>
          <p:nvSpPr>
            <p:cNvPr id="56403" name="Line 8"/>
            <p:cNvSpPr>
              <a:spLocks noChangeShapeType="1"/>
            </p:cNvSpPr>
            <p:nvPr/>
          </p:nvSpPr>
          <p:spPr bwMode="auto">
            <a:xfrm>
              <a:off x="3568" y="2816"/>
              <a:ext cx="0" cy="240"/>
            </a:xfrm>
            <a:prstGeom prst="line">
              <a:avLst/>
            </a:prstGeom>
            <a:noFill/>
            <a:ln w="9525">
              <a:solidFill>
                <a:schemeClr val="tx1"/>
              </a:solidFill>
              <a:round/>
              <a:headEnd/>
              <a:tailEnd/>
            </a:ln>
          </p:spPr>
          <p:txBody>
            <a:bodyPr wrap="none" anchor="ctr"/>
            <a:lstStyle/>
            <a:p>
              <a:endParaRPr lang="bg-BG"/>
            </a:p>
          </p:txBody>
        </p:sp>
        <p:sp>
          <p:nvSpPr>
            <p:cNvPr id="56404" name="Line 9"/>
            <p:cNvSpPr>
              <a:spLocks noChangeShapeType="1"/>
            </p:cNvSpPr>
            <p:nvPr/>
          </p:nvSpPr>
          <p:spPr bwMode="auto">
            <a:xfrm>
              <a:off x="3904" y="2816"/>
              <a:ext cx="0" cy="240"/>
            </a:xfrm>
            <a:prstGeom prst="line">
              <a:avLst/>
            </a:prstGeom>
            <a:noFill/>
            <a:ln w="9525">
              <a:solidFill>
                <a:schemeClr val="tx1"/>
              </a:solidFill>
              <a:round/>
              <a:headEnd/>
              <a:tailEnd/>
            </a:ln>
          </p:spPr>
          <p:txBody>
            <a:bodyPr wrap="none" anchor="ctr"/>
            <a:lstStyle/>
            <a:p>
              <a:endParaRPr lang="bg-BG"/>
            </a:p>
          </p:txBody>
        </p:sp>
        <p:sp>
          <p:nvSpPr>
            <p:cNvPr id="56405" name="Line 10"/>
            <p:cNvSpPr>
              <a:spLocks noChangeShapeType="1"/>
            </p:cNvSpPr>
            <p:nvPr/>
          </p:nvSpPr>
          <p:spPr bwMode="auto">
            <a:xfrm>
              <a:off x="4472" y="2816"/>
              <a:ext cx="0" cy="240"/>
            </a:xfrm>
            <a:prstGeom prst="line">
              <a:avLst/>
            </a:prstGeom>
            <a:noFill/>
            <a:ln w="9525">
              <a:solidFill>
                <a:schemeClr val="tx1"/>
              </a:solidFill>
              <a:round/>
              <a:headEnd/>
              <a:tailEnd/>
            </a:ln>
          </p:spPr>
          <p:txBody>
            <a:bodyPr wrap="none" anchor="ctr"/>
            <a:lstStyle/>
            <a:p>
              <a:endParaRPr lang="bg-BG"/>
            </a:p>
          </p:txBody>
        </p:sp>
        <p:sp>
          <p:nvSpPr>
            <p:cNvPr id="56406" name="Line 11"/>
            <p:cNvSpPr>
              <a:spLocks noChangeShapeType="1"/>
            </p:cNvSpPr>
            <p:nvPr/>
          </p:nvSpPr>
          <p:spPr bwMode="auto">
            <a:xfrm>
              <a:off x="4144" y="2816"/>
              <a:ext cx="0" cy="240"/>
            </a:xfrm>
            <a:prstGeom prst="line">
              <a:avLst/>
            </a:prstGeom>
            <a:noFill/>
            <a:ln w="9525">
              <a:solidFill>
                <a:schemeClr val="tx1"/>
              </a:solidFill>
              <a:round/>
              <a:headEnd/>
              <a:tailEnd/>
            </a:ln>
          </p:spPr>
          <p:txBody>
            <a:bodyPr wrap="none" anchor="ctr"/>
            <a:lstStyle/>
            <a:p>
              <a:endParaRPr lang="bg-BG"/>
            </a:p>
          </p:txBody>
        </p:sp>
        <p:sp>
          <p:nvSpPr>
            <p:cNvPr id="56407" name="Rectangle 12"/>
            <p:cNvSpPr>
              <a:spLocks noChangeArrowheads="1"/>
            </p:cNvSpPr>
            <p:nvPr/>
          </p:nvSpPr>
          <p:spPr bwMode="auto">
            <a:xfrm>
              <a:off x="648" y="2816"/>
              <a:ext cx="1008" cy="240"/>
            </a:xfrm>
            <a:prstGeom prst="rect">
              <a:avLst/>
            </a:prstGeom>
            <a:noFill/>
            <a:ln w="9525">
              <a:solidFill>
                <a:schemeClr val="tx1"/>
              </a:solidFill>
              <a:miter lim="800000"/>
              <a:headEnd/>
              <a:tailEnd/>
            </a:ln>
          </p:spPr>
          <p:txBody>
            <a:bodyPr wrap="none" anchor="ctr"/>
            <a:lstStyle/>
            <a:p>
              <a:endParaRPr lang="bg-BG"/>
            </a:p>
          </p:txBody>
        </p:sp>
        <p:sp>
          <p:nvSpPr>
            <p:cNvPr id="56408" name="Rectangle 13"/>
            <p:cNvSpPr>
              <a:spLocks noChangeArrowheads="1"/>
            </p:cNvSpPr>
            <p:nvPr/>
          </p:nvSpPr>
          <p:spPr bwMode="auto">
            <a:xfrm>
              <a:off x="3608" y="3296"/>
              <a:ext cx="1008" cy="240"/>
            </a:xfrm>
            <a:prstGeom prst="rect">
              <a:avLst/>
            </a:prstGeom>
            <a:noFill/>
            <a:ln w="9525">
              <a:solidFill>
                <a:schemeClr val="tx1"/>
              </a:solidFill>
              <a:miter lim="800000"/>
              <a:headEnd/>
              <a:tailEnd/>
            </a:ln>
          </p:spPr>
          <p:txBody>
            <a:bodyPr wrap="none" anchor="ctr"/>
            <a:lstStyle/>
            <a:p>
              <a:endParaRPr lang="bg-BG"/>
            </a:p>
          </p:txBody>
        </p:sp>
        <p:sp>
          <p:nvSpPr>
            <p:cNvPr id="56409" name="Rectangle 14"/>
            <p:cNvSpPr>
              <a:spLocks noChangeArrowheads="1"/>
            </p:cNvSpPr>
            <p:nvPr/>
          </p:nvSpPr>
          <p:spPr bwMode="auto">
            <a:xfrm>
              <a:off x="2520" y="3296"/>
              <a:ext cx="1008" cy="240"/>
            </a:xfrm>
            <a:prstGeom prst="rect">
              <a:avLst/>
            </a:prstGeom>
            <a:noFill/>
            <a:ln w="9525">
              <a:solidFill>
                <a:schemeClr val="tx1"/>
              </a:solidFill>
              <a:miter lim="800000"/>
              <a:headEnd/>
              <a:tailEnd/>
            </a:ln>
          </p:spPr>
          <p:txBody>
            <a:bodyPr wrap="none" anchor="ctr"/>
            <a:lstStyle/>
            <a:p>
              <a:endParaRPr lang="bg-BG"/>
            </a:p>
          </p:txBody>
        </p:sp>
        <p:sp>
          <p:nvSpPr>
            <p:cNvPr id="56410" name="Rectangle 15"/>
            <p:cNvSpPr>
              <a:spLocks noChangeArrowheads="1"/>
            </p:cNvSpPr>
            <p:nvPr/>
          </p:nvSpPr>
          <p:spPr bwMode="auto">
            <a:xfrm>
              <a:off x="4680" y="3296"/>
              <a:ext cx="1008" cy="240"/>
            </a:xfrm>
            <a:prstGeom prst="rect">
              <a:avLst/>
            </a:prstGeom>
            <a:noFill/>
            <a:ln w="9525">
              <a:solidFill>
                <a:schemeClr val="tx1"/>
              </a:solidFill>
              <a:miter lim="800000"/>
              <a:headEnd/>
              <a:tailEnd/>
            </a:ln>
          </p:spPr>
          <p:txBody>
            <a:bodyPr wrap="none" anchor="ctr"/>
            <a:lstStyle/>
            <a:p>
              <a:endParaRPr lang="bg-BG"/>
            </a:p>
          </p:txBody>
        </p:sp>
        <p:sp>
          <p:nvSpPr>
            <p:cNvPr id="56411" name="Line 16"/>
            <p:cNvSpPr>
              <a:spLocks noChangeShapeType="1"/>
            </p:cNvSpPr>
            <p:nvPr/>
          </p:nvSpPr>
          <p:spPr bwMode="auto">
            <a:xfrm>
              <a:off x="3288" y="3296"/>
              <a:ext cx="0" cy="240"/>
            </a:xfrm>
            <a:prstGeom prst="line">
              <a:avLst/>
            </a:prstGeom>
            <a:noFill/>
            <a:ln w="9525">
              <a:solidFill>
                <a:schemeClr val="tx1"/>
              </a:solidFill>
              <a:round/>
              <a:headEnd/>
              <a:tailEnd/>
            </a:ln>
          </p:spPr>
          <p:txBody>
            <a:bodyPr wrap="none" anchor="ctr"/>
            <a:lstStyle/>
            <a:p>
              <a:endParaRPr lang="bg-BG"/>
            </a:p>
          </p:txBody>
        </p:sp>
        <p:sp>
          <p:nvSpPr>
            <p:cNvPr id="56412" name="Line 17"/>
            <p:cNvSpPr>
              <a:spLocks noChangeShapeType="1"/>
            </p:cNvSpPr>
            <p:nvPr/>
          </p:nvSpPr>
          <p:spPr bwMode="auto">
            <a:xfrm>
              <a:off x="4392" y="3296"/>
              <a:ext cx="0" cy="240"/>
            </a:xfrm>
            <a:prstGeom prst="line">
              <a:avLst/>
            </a:prstGeom>
            <a:noFill/>
            <a:ln w="9525">
              <a:solidFill>
                <a:schemeClr val="tx1"/>
              </a:solidFill>
              <a:round/>
              <a:headEnd/>
              <a:tailEnd/>
            </a:ln>
          </p:spPr>
          <p:txBody>
            <a:bodyPr wrap="none" anchor="ctr"/>
            <a:lstStyle/>
            <a:p>
              <a:endParaRPr lang="bg-BG"/>
            </a:p>
          </p:txBody>
        </p:sp>
        <p:sp>
          <p:nvSpPr>
            <p:cNvPr id="56413" name="Line 18"/>
            <p:cNvSpPr>
              <a:spLocks noChangeShapeType="1"/>
            </p:cNvSpPr>
            <p:nvPr/>
          </p:nvSpPr>
          <p:spPr bwMode="auto">
            <a:xfrm>
              <a:off x="3864" y="3296"/>
              <a:ext cx="0" cy="240"/>
            </a:xfrm>
            <a:prstGeom prst="line">
              <a:avLst/>
            </a:prstGeom>
            <a:noFill/>
            <a:ln w="9525">
              <a:solidFill>
                <a:schemeClr val="tx1"/>
              </a:solidFill>
              <a:round/>
              <a:headEnd/>
              <a:tailEnd/>
            </a:ln>
          </p:spPr>
          <p:txBody>
            <a:bodyPr wrap="none" anchor="ctr"/>
            <a:lstStyle/>
            <a:p>
              <a:endParaRPr lang="bg-BG"/>
            </a:p>
          </p:txBody>
        </p:sp>
        <p:sp>
          <p:nvSpPr>
            <p:cNvPr id="56414" name="Line 19"/>
            <p:cNvSpPr>
              <a:spLocks noChangeShapeType="1"/>
            </p:cNvSpPr>
            <p:nvPr/>
          </p:nvSpPr>
          <p:spPr bwMode="auto">
            <a:xfrm>
              <a:off x="5400" y="3296"/>
              <a:ext cx="0" cy="240"/>
            </a:xfrm>
            <a:prstGeom prst="line">
              <a:avLst/>
            </a:prstGeom>
            <a:noFill/>
            <a:ln w="9525">
              <a:solidFill>
                <a:schemeClr val="tx1"/>
              </a:solidFill>
              <a:round/>
              <a:headEnd/>
              <a:tailEnd/>
            </a:ln>
          </p:spPr>
          <p:txBody>
            <a:bodyPr wrap="none" anchor="ctr"/>
            <a:lstStyle/>
            <a:p>
              <a:endParaRPr lang="bg-BG"/>
            </a:p>
          </p:txBody>
        </p:sp>
        <p:sp>
          <p:nvSpPr>
            <p:cNvPr id="56415" name="Line 20"/>
            <p:cNvSpPr>
              <a:spLocks noChangeShapeType="1"/>
            </p:cNvSpPr>
            <p:nvPr/>
          </p:nvSpPr>
          <p:spPr bwMode="auto">
            <a:xfrm>
              <a:off x="4920" y="3296"/>
              <a:ext cx="0" cy="240"/>
            </a:xfrm>
            <a:prstGeom prst="line">
              <a:avLst/>
            </a:prstGeom>
            <a:noFill/>
            <a:ln w="9525">
              <a:solidFill>
                <a:schemeClr val="tx1"/>
              </a:solidFill>
              <a:round/>
              <a:headEnd/>
              <a:tailEnd/>
            </a:ln>
          </p:spPr>
          <p:txBody>
            <a:bodyPr wrap="none" anchor="ctr"/>
            <a:lstStyle/>
            <a:p>
              <a:endParaRPr lang="bg-BG"/>
            </a:p>
          </p:txBody>
        </p:sp>
        <p:sp>
          <p:nvSpPr>
            <p:cNvPr id="56416" name="Line 21"/>
            <p:cNvSpPr>
              <a:spLocks noChangeShapeType="1"/>
            </p:cNvSpPr>
            <p:nvPr/>
          </p:nvSpPr>
          <p:spPr bwMode="auto">
            <a:xfrm>
              <a:off x="2776" y="3304"/>
              <a:ext cx="0" cy="240"/>
            </a:xfrm>
            <a:prstGeom prst="line">
              <a:avLst/>
            </a:prstGeom>
            <a:noFill/>
            <a:ln w="9525">
              <a:solidFill>
                <a:schemeClr val="tx1"/>
              </a:solidFill>
              <a:round/>
              <a:headEnd/>
              <a:tailEnd/>
            </a:ln>
          </p:spPr>
          <p:txBody>
            <a:bodyPr wrap="none" anchor="ctr"/>
            <a:lstStyle/>
            <a:p>
              <a:endParaRPr lang="bg-BG"/>
            </a:p>
          </p:txBody>
        </p:sp>
        <p:sp>
          <p:nvSpPr>
            <p:cNvPr id="56417" name="Line 22"/>
            <p:cNvSpPr>
              <a:spLocks noChangeShapeType="1"/>
            </p:cNvSpPr>
            <p:nvPr/>
          </p:nvSpPr>
          <p:spPr bwMode="auto">
            <a:xfrm>
              <a:off x="856" y="2816"/>
              <a:ext cx="0" cy="240"/>
            </a:xfrm>
            <a:prstGeom prst="line">
              <a:avLst/>
            </a:prstGeom>
            <a:noFill/>
            <a:ln w="9525">
              <a:solidFill>
                <a:schemeClr val="tx1"/>
              </a:solidFill>
              <a:round/>
              <a:headEnd/>
              <a:tailEnd/>
            </a:ln>
          </p:spPr>
          <p:txBody>
            <a:bodyPr wrap="none" anchor="ctr"/>
            <a:lstStyle/>
            <a:p>
              <a:endParaRPr lang="bg-BG"/>
            </a:p>
          </p:txBody>
        </p:sp>
        <p:sp>
          <p:nvSpPr>
            <p:cNvPr id="56418" name="Line 23"/>
            <p:cNvSpPr>
              <a:spLocks noChangeShapeType="1"/>
            </p:cNvSpPr>
            <p:nvPr/>
          </p:nvSpPr>
          <p:spPr bwMode="auto">
            <a:xfrm>
              <a:off x="1488" y="2816"/>
              <a:ext cx="0" cy="240"/>
            </a:xfrm>
            <a:prstGeom prst="line">
              <a:avLst/>
            </a:prstGeom>
            <a:noFill/>
            <a:ln w="9525">
              <a:solidFill>
                <a:schemeClr val="tx1"/>
              </a:solidFill>
              <a:round/>
              <a:headEnd/>
              <a:tailEnd/>
            </a:ln>
          </p:spPr>
          <p:txBody>
            <a:bodyPr wrap="none" anchor="ctr"/>
            <a:lstStyle/>
            <a:p>
              <a:endParaRPr lang="bg-BG"/>
            </a:p>
          </p:txBody>
        </p:sp>
        <p:sp>
          <p:nvSpPr>
            <p:cNvPr id="56419" name="Line 24"/>
            <p:cNvSpPr>
              <a:spLocks noChangeShapeType="1"/>
            </p:cNvSpPr>
            <p:nvPr/>
          </p:nvSpPr>
          <p:spPr bwMode="auto">
            <a:xfrm>
              <a:off x="3736"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20" name="Line 25"/>
            <p:cNvSpPr>
              <a:spLocks noChangeShapeType="1"/>
            </p:cNvSpPr>
            <p:nvPr/>
          </p:nvSpPr>
          <p:spPr bwMode="auto">
            <a:xfrm>
              <a:off x="340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21" name="Line 26"/>
            <p:cNvSpPr>
              <a:spLocks noChangeShapeType="1"/>
            </p:cNvSpPr>
            <p:nvPr/>
          </p:nvSpPr>
          <p:spPr bwMode="auto">
            <a:xfrm>
              <a:off x="2640"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22" name="Line 27"/>
            <p:cNvSpPr>
              <a:spLocks noChangeShapeType="1"/>
            </p:cNvSpPr>
            <p:nvPr/>
          </p:nvSpPr>
          <p:spPr bwMode="auto">
            <a:xfrm>
              <a:off x="5544"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23" name="Line 28"/>
            <p:cNvSpPr>
              <a:spLocks noChangeShapeType="1"/>
            </p:cNvSpPr>
            <p:nvPr/>
          </p:nvSpPr>
          <p:spPr bwMode="auto">
            <a:xfrm>
              <a:off x="480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24" name="Line 29"/>
            <p:cNvSpPr>
              <a:spLocks noChangeShapeType="1"/>
            </p:cNvSpPr>
            <p:nvPr/>
          </p:nvSpPr>
          <p:spPr bwMode="auto">
            <a:xfrm>
              <a:off x="2592" y="3768"/>
              <a:ext cx="96" cy="0"/>
            </a:xfrm>
            <a:prstGeom prst="line">
              <a:avLst/>
            </a:prstGeom>
            <a:noFill/>
            <a:ln w="9525">
              <a:solidFill>
                <a:schemeClr val="tx1"/>
              </a:solidFill>
              <a:round/>
              <a:headEnd/>
              <a:tailEnd/>
            </a:ln>
          </p:spPr>
          <p:txBody>
            <a:bodyPr wrap="none" anchor="ctr"/>
            <a:lstStyle/>
            <a:p>
              <a:endParaRPr lang="bg-BG"/>
            </a:p>
          </p:txBody>
        </p:sp>
        <p:sp>
          <p:nvSpPr>
            <p:cNvPr id="56425" name="Line 30"/>
            <p:cNvSpPr>
              <a:spLocks noChangeShapeType="1"/>
            </p:cNvSpPr>
            <p:nvPr/>
          </p:nvSpPr>
          <p:spPr bwMode="auto">
            <a:xfrm>
              <a:off x="3360" y="3752"/>
              <a:ext cx="96" cy="0"/>
            </a:xfrm>
            <a:prstGeom prst="line">
              <a:avLst/>
            </a:prstGeom>
            <a:noFill/>
            <a:ln w="9525">
              <a:solidFill>
                <a:schemeClr val="tx1"/>
              </a:solidFill>
              <a:round/>
              <a:headEnd/>
              <a:tailEnd/>
            </a:ln>
          </p:spPr>
          <p:txBody>
            <a:bodyPr wrap="none" anchor="ctr"/>
            <a:lstStyle/>
            <a:p>
              <a:endParaRPr lang="bg-BG"/>
            </a:p>
          </p:txBody>
        </p:sp>
        <p:sp>
          <p:nvSpPr>
            <p:cNvPr id="56426" name="Line 31"/>
            <p:cNvSpPr>
              <a:spLocks noChangeShapeType="1"/>
            </p:cNvSpPr>
            <p:nvPr/>
          </p:nvSpPr>
          <p:spPr bwMode="auto">
            <a:xfrm>
              <a:off x="3688" y="3760"/>
              <a:ext cx="96" cy="0"/>
            </a:xfrm>
            <a:prstGeom prst="line">
              <a:avLst/>
            </a:prstGeom>
            <a:noFill/>
            <a:ln w="9525">
              <a:solidFill>
                <a:schemeClr val="tx1"/>
              </a:solidFill>
              <a:round/>
              <a:headEnd/>
              <a:tailEnd/>
            </a:ln>
          </p:spPr>
          <p:txBody>
            <a:bodyPr wrap="none" anchor="ctr"/>
            <a:lstStyle/>
            <a:p>
              <a:endParaRPr lang="bg-BG"/>
            </a:p>
          </p:txBody>
        </p:sp>
        <p:sp>
          <p:nvSpPr>
            <p:cNvPr id="56427" name="Line 32"/>
            <p:cNvSpPr>
              <a:spLocks noChangeShapeType="1"/>
            </p:cNvSpPr>
            <p:nvPr/>
          </p:nvSpPr>
          <p:spPr bwMode="auto">
            <a:xfrm>
              <a:off x="5496" y="3752"/>
              <a:ext cx="96" cy="0"/>
            </a:xfrm>
            <a:prstGeom prst="line">
              <a:avLst/>
            </a:prstGeom>
            <a:noFill/>
            <a:ln w="9525">
              <a:solidFill>
                <a:schemeClr val="tx1"/>
              </a:solidFill>
              <a:round/>
              <a:headEnd/>
              <a:tailEnd/>
            </a:ln>
          </p:spPr>
          <p:txBody>
            <a:bodyPr wrap="none" anchor="ctr"/>
            <a:lstStyle/>
            <a:p>
              <a:endParaRPr lang="bg-BG"/>
            </a:p>
          </p:txBody>
        </p:sp>
        <p:sp>
          <p:nvSpPr>
            <p:cNvPr id="56428" name="Line 33"/>
            <p:cNvSpPr>
              <a:spLocks noChangeShapeType="1"/>
            </p:cNvSpPr>
            <p:nvPr/>
          </p:nvSpPr>
          <p:spPr bwMode="auto">
            <a:xfrm>
              <a:off x="4752" y="3744"/>
              <a:ext cx="96" cy="0"/>
            </a:xfrm>
            <a:prstGeom prst="line">
              <a:avLst/>
            </a:prstGeom>
            <a:noFill/>
            <a:ln w="9525">
              <a:solidFill>
                <a:schemeClr val="tx1"/>
              </a:solidFill>
              <a:round/>
              <a:headEnd/>
              <a:tailEnd/>
            </a:ln>
          </p:spPr>
          <p:txBody>
            <a:bodyPr wrap="none" anchor="ctr"/>
            <a:lstStyle/>
            <a:p>
              <a:endParaRPr lang="bg-BG"/>
            </a:p>
          </p:txBody>
        </p:sp>
        <p:sp>
          <p:nvSpPr>
            <p:cNvPr id="56429" name="Line 34"/>
            <p:cNvSpPr>
              <a:spLocks noChangeShapeType="1"/>
            </p:cNvSpPr>
            <p:nvPr/>
          </p:nvSpPr>
          <p:spPr bwMode="auto">
            <a:xfrm>
              <a:off x="1608" y="2920"/>
              <a:ext cx="432" cy="0"/>
            </a:xfrm>
            <a:prstGeom prst="line">
              <a:avLst/>
            </a:prstGeom>
            <a:noFill/>
            <a:ln w="9525">
              <a:solidFill>
                <a:schemeClr val="tx1"/>
              </a:solidFill>
              <a:round/>
              <a:headEnd/>
              <a:tailEnd/>
            </a:ln>
          </p:spPr>
          <p:txBody>
            <a:bodyPr wrap="none" anchor="ctr"/>
            <a:lstStyle/>
            <a:p>
              <a:endParaRPr lang="bg-BG"/>
            </a:p>
          </p:txBody>
        </p:sp>
        <p:sp>
          <p:nvSpPr>
            <p:cNvPr id="56430" name="Line 35"/>
            <p:cNvSpPr>
              <a:spLocks noChangeShapeType="1"/>
            </p:cNvSpPr>
            <p:nvPr/>
          </p:nvSpPr>
          <p:spPr bwMode="auto">
            <a:xfrm>
              <a:off x="204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6431" name="Line 36"/>
            <p:cNvSpPr>
              <a:spLocks noChangeShapeType="1"/>
            </p:cNvSpPr>
            <p:nvPr/>
          </p:nvSpPr>
          <p:spPr bwMode="auto">
            <a:xfrm flipH="1">
              <a:off x="3000" y="2912"/>
              <a:ext cx="432" cy="0"/>
            </a:xfrm>
            <a:prstGeom prst="line">
              <a:avLst/>
            </a:prstGeom>
            <a:noFill/>
            <a:ln w="9525">
              <a:solidFill>
                <a:schemeClr val="tx1"/>
              </a:solidFill>
              <a:round/>
              <a:headEnd/>
              <a:tailEnd/>
            </a:ln>
          </p:spPr>
          <p:txBody>
            <a:bodyPr wrap="none" anchor="ctr"/>
            <a:lstStyle/>
            <a:p>
              <a:endParaRPr lang="bg-BG"/>
            </a:p>
          </p:txBody>
        </p:sp>
        <p:sp>
          <p:nvSpPr>
            <p:cNvPr id="56432" name="Line 37"/>
            <p:cNvSpPr>
              <a:spLocks noChangeShapeType="1"/>
            </p:cNvSpPr>
            <p:nvPr/>
          </p:nvSpPr>
          <p:spPr bwMode="auto">
            <a:xfrm>
              <a:off x="300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6433" name="Line 38"/>
            <p:cNvSpPr>
              <a:spLocks noChangeShapeType="1"/>
            </p:cNvSpPr>
            <p:nvPr/>
          </p:nvSpPr>
          <p:spPr bwMode="auto">
            <a:xfrm flipH="1">
              <a:off x="1176" y="2528"/>
              <a:ext cx="1104" cy="0"/>
            </a:xfrm>
            <a:prstGeom prst="line">
              <a:avLst/>
            </a:prstGeom>
            <a:noFill/>
            <a:ln w="9525">
              <a:solidFill>
                <a:schemeClr val="tx1"/>
              </a:solidFill>
              <a:round/>
              <a:headEnd/>
              <a:tailEnd/>
            </a:ln>
          </p:spPr>
          <p:txBody>
            <a:bodyPr wrap="none" anchor="ctr"/>
            <a:lstStyle/>
            <a:p>
              <a:endParaRPr lang="bg-BG"/>
            </a:p>
          </p:txBody>
        </p:sp>
        <p:sp>
          <p:nvSpPr>
            <p:cNvPr id="56434" name="Line 39"/>
            <p:cNvSpPr>
              <a:spLocks noChangeShapeType="1"/>
            </p:cNvSpPr>
            <p:nvPr/>
          </p:nvSpPr>
          <p:spPr bwMode="auto">
            <a:xfrm>
              <a:off x="1176"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6435" name="Line 40"/>
            <p:cNvSpPr>
              <a:spLocks noChangeShapeType="1"/>
            </p:cNvSpPr>
            <p:nvPr/>
          </p:nvSpPr>
          <p:spPr bwMode="auto">
            <a:xfrm flipH="1">
              <a:off x="600" y="2960"/>
              <a:ext cx="192" cy="0"/>
            </a:xfrm>
            <a:prstGeom prst="line">
              <a:avLst/>
            </a:prstGeom>
            <a:noFill/>
            <a:ln w="9525">
              <a:solidFill>
                <a:schemeClr val="tx1"/>
              </a:solidFill>
              <a:round/>
              <a:headEnd/>
              <a:tailEnd/>
            </a:ln>
          </p:spPr>
          <p:txBody>
            <a:bodyPr wrap="none" anchor="ctr"/>
            <a:lstStyle/>
            <a:p>
              <a:endParaRPr lang="bg-BG"/>
            </a:p>
          </p:txBody>
        </p:sp>
        <p:sp>
          <p:nvSpPr>
            <p:cNvPr id="56436" name="Line 41"/>
            <p:cNvSpPr>
              <a:spLocks noChangeShapeType="1"/>
            </p:cNvSpPr>
            <p:nvPr/>
          </p:nvSpPr>
          <p:spPr bwMode="auto">
            <a:xfrm>
              <a:off x="600" y="2960"/>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37" name="Line 42"/>
            <p:cNvSpPr>
              <a:spLocks noChangeShapeType="1"/>
            </p:cNvSpPr>
            <p:nvPr/>
          </p:nvSpPr>
          <p:spPr bwMode="auto">
            <a:xfrm>
              <a:off x="3000" y="2528"/>
              <a:ext cx="1008" cy="0"/>
            </a:xfrm>
            <a:prstGeom prst="line">
              <a:avLst/>
            </a:prstGeom>
            <a:noFill/>
            <a:ln w="9525">
              <a:solidFill>
                <a:schemeClr val="tx1"/>
              </a:solidFill>
              <a:round/>
              <a:headEnd/>
              <a:tailEnd/>
            </a:ln>
          </p:spPr>
          <p:txBody>
            <a:bodyPr wrap="none" anchor="ctr"/>
            <a:lstStyle/>
            <a:p>
              <a:endParaRPr lang="bg-BG"/>
            </a:p>
          </p:txBody>
        </p:sp>
        <p:sp>
          <p:nvSpPr>
            <p:cNvPr id="56438" name="Line 43"/>
            <p:cNvSpPr>
              <a:spLocks noChangeShapeType="1"/>
            </p:cNvSpPr>
            <p:nvPr/>
          </p:nvSpPr>
          <p:spPr bwMode="auto">
            <a:xfrm>
              <a:off x="4008" y="2528"/>
              <a:ext cx="0" cy="288"/>
            </a:xfrm>
            <a:prstGeom prst="line">
              <a:avLst/>
            </a:prstGeom>
            <a:noFill/>
            <a:ln w="9525">
              <a:solidFill>
                <a:schemeClr val="tx1"/>
              </a:solidFill>
              <a:round/>
              <a:headEnd/>
              <a:tailEnd type="triangle" w="med" len="med"/>
            </a:ln>
          </p:spPr>
          <p:txBody>
            <a:bodyPr wrap="none" anchor="ctr"/>
            <a:lstStyle/>
            <a:p>
              <a:endParaRPr lang="bg-BG"/>
            </a:p>
          </p:txBody>
        </p:sp>
        <p:sp>
          <p:nvSpPr>
            <p:cNvPr id="56439" name="Line 44"/>
            <p:cNvSpPr>
              <a:spLocks noChangeShapeType="1"/>
            </p:cNvSpPr>
            <p:nvPr/>
          </p:nvSpPr>
          <p:spPr bwMode="auto">
            <a:xfrm>
              <a:off x="4008"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6440" name="Line 45"/>
            <p:cNvSpPr>
              <a:spLocks noChangeShapeType="1"/>
            </p:cNvSpPr>
            <p:nvPr/>
          </p:nvSpPr>
          <p:spPr bwMode="auto">
            <a:xfrm>
              <a:off x="4488"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41" name="Line 46"/>
            <p:cNvSpPr>
              <a:spLocks noChangeShapeType="1"/>
            </p:cNvSpPr>
            <p:nvPr/>
          </p:nvSpPr>
          <p:spPr bwMode="auto">
            <a:xfrm>
              <a:off x="4440" y="3752"/>
              <a:ext cx="96" cy="0"/>
            </a:xfrm>
            <a:prstGeom prst="line">
              <a:avLst/>
            </a:prstGeom>
            <a:noFill/>
            <a:ln w="9525">
              <a:solidFill>
                <a:schemeClr val="tx1"/>
              </a:solidFill>
              <a:round/>
              <a:headEnd/>
              <a:tailEnd/>
            </a:ln>
          </p:spPr>
          <p:txBody>
            <a:bodyPr wrap="none" anchor="ctr"/>
            <a:lstStyle/>
            <a:p>
              <a:endParaRPr lang="bg-BG"/>
            </a:p>
          </p:txBody>
        </p:sp>
        <p:sp>
          <p:nvSpPr>
            <p:cNvPr id="56442" name="Line 47"/>
            <p:cNvSpPr>
              <a:spLocks noChangeShapeType="1"/>
            </p:cNvSpPr>
            <p:nvPr/>
          </p:nvSpPr>
          <p:spPr bwMode="auto">
            <a:xfrm>
              <a:off x="4584" y="2912"/>
              <a:ext cx="576" cy="0"/>
            </a:xfrm>
            <a:prstGeom prst="line">
              <a:avLst/>
            </a:prstGeom>
            <a:noFill/>
            <a:ln w="9525">
              <a:solidFill>
                <a:schemeClr val="tx1"/>
              </a:solidFill>
              <a:round/>
              <a:headEnd/>
              <a:tailEnd/>
            </a:ln>
          </p:spPr>
          <p:txBody>
            <a:bodyPr wrap="none" anchor="ctr"/>
            <a:lstStyle/>
            <a:p>
              <a:endParaRPr lang="bg-BG"/>
            </a:p>
          </p:txBody>
        </p:sp>
        <p:sp>
          <p:nvSpPr>
            <p:cNvPr id="56443" name="Line 48"/>
            <p:cNvSpPr>
              <a:spLocks noChangeShapeType="1"/>
            </p:cNvSpPr>
            <p:nvPr/>
          </p:nvSpPr>
          <p:spPr bwMode="auto">
            <a:xfrm>
              <a:off x="5160" y="2912"/>
              <a:ext cx="0" cy="384"/>
            </a:xfrm>
            <a:prstGeom prst="line">
              <a:avLst/>
            </a:prstGeom>
            <a:noFill/>
            <a:ln w="9525">
              <a:solidFill>
                <a:schemeClr val="tx1"/>
              </a:solidFill>
              <a:round/>
              <a:headEnd/>
              <a:tailEnd type="triangle" w="med" len="med"/>
            </a:ln>
          </p:spPr>
          <p:txBody>
            <a:bodyPr wrap="none" anchor="ctr"/>
            <a:lstStyle/>
            <a:p>
              <a:endParaRPr lang="bg-BG"/>
            </a:p>
          </p:txBody>
        </p:sp>
        <p:sp>
          <p:nvSpPr>
            <p:cNvPr id="56444" name="Text Box 49"/>
            <p:cNvSpPr txBox="1">
              <a:spLocks noChangeArrowheads="1"/>
            </p:cNvSpPr>
            <p:nvPr/>
          </p:nvSpPr>
          <p:spPr bwMode="auto">
            <a:xfrm>
              <a:off x="2472" y="2408"/>
              <a:ext cx="336" cy="288"/>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56445" name="Text Box 50"/>
            <p:cNvSpPr txBox="1">
              <a:spLocks noChangeArrowheads="1"/>
            </p:cNvSpPr>
            <p:nvPr/>
          </p:nvSpPr>
          <p:spPr bwMode="auto">
            <a:xfrm>
              <a:off x="1216" y="2784"/>
              <a:ext cx="336" cy="288"/>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6446" name="Text Box 51"/>
            <p:cNvSpPr txBox="1">
              <a:spLocks noChangeArrowheads="1"/>
            </p:cNvSpPr>
            <p:nvPr/>
          </p:nvSpPr>
          <p:spPr bwMode="auto">
            <a:xfrm>
              <a:off x="3584" y="2784"/>
              <a:ext cx="336" cy="288"/>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6447" name="Text Box 52"/>
            <p:cNvSpPr txBox="1">
              <a:spLocks noChangeArrowheads="1"/>
            </p:cNvSpPr>
            <p:nvPr/>
          </p:nvSpPr>
          <p:spPr bwMode="auto">
            <a:xfrm>
              <a:off x="4152" y="2784"/>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6448" name="Rectangle 53"/>
            <p:cNvSpPr>
              <a:spLocks noChangeArrowheads="1"/>
            </p:cNvSpPr>
            <p:nvPr/>
          </p:nvSpPr>
          <p:spPr bwMode="auto">
            <a:xfrm>
              <a:off x="1680" y="3296"/>
              <a:ext cx="720" cy="256"/>
            </a:xfrm>
            <a:prstGeom prst="rect">
              <a:avLst/>
            </a:prstGeom>
            <a:noFill/>
            <a:ln w="9525">
              <a:solidFill>
                <a:schemeClr val="tx1"/>
              </a:solidFill>
              <a:miter lim="800000"/>
              <a:headEnd/>
              <a:tailEnd/>
            </a:ln>
          </p:spPr>
          <p:txBody>
            <a:bodyPr wrap="none" anchor="ctr"/>
            <a:lstStyle/>
            <a:p>
              <a:endParaRPr lang="bg-BG"/>
            </a:p>
          </p:txBody>
        </p:sp>
        <p:sp>
          <p:nvSpPr>
            <p:cNvPr id="56449" name="Line 54"/>
            <p:cNvSpPr>
              <a:spLocks noChangeShapeType="1"/>
            </p:cNvSpPr>
            <p:nvPr/>
          </p:nvSpPr>
          <p:spPr bwMode="auto">
            <a:xfrm>
              <a:off x="1848" y="3296"/>
              <a:ext cx="0" cy="240"/>
            </a:xfrm>
            <a:prstGeom prst="line">
              <a:avLst/>
            </a:prstGeom>
            <a:noFill/>
            <a:ln w="9525">
              <a:solidFill>
                <a:schemeClr val="tx1"/>
              </a:solidFill>
              <a:round/>
              <a:headEnd/>
              <a:tailEnd/>
            </a:ln>
          </p:spPr>
          <p:txBody>
            <a:bodyPr wrap="none" anchor="ctr"/>
            <a:lstStyle/>
            <a:p>
              <a:endParaRPr lang="bg-BG"/>
            </a:p>
          </p:txBody>
        </p:sp>
        <p:sp>
          <p:nvSpPr>
            <p:cNvPr id="56450" name="Line 55"/>
            <p:cNvSpPr>
              <a:spLocks noChangeShapeType="1"/>
            </p:cNvSpPr>
            <p:nvPr/>
          </p:nvSpPr>
          <p:spPr bwMode="auto">
            <a:xfrm>
              <a:off x="2240" y="3296"/>
              <a:ext cx="0" cy="240"/>
            </a:xfrm>
            <a:prstGeom prst="line">
              <a:avLst/>
            </a:prstGeom>
            <a:noFill/>
            <a:ln w="9525">
              <a:solidFill>
                <a:schemeClr val="tx1"/>
              </a:solidFill>
              <a:round/>
              <a:headEnd/>
              <a:tailEnd/>
            </a:ln>
          </p:spPr>
          <p:txBody>
            <a:bodyPr wrap="none" anchor="ctr"/>
            <a:lstStyle/>
            <a:p>
              <a:endParaRPr lang="bg-BG"/>
            </a:p>
          </p:txBody>
        </p:sp>
        <p:sp>
          <p:nvSpPr>
            <p:cNvPr id="56451" name="Line 56"/>
            <p:cNvSpPr>
              <a:spLocks noChangeShapeType="1"/>
            </p:cNvSpPr>
            <p:nvPr/>
          </p:nvSpPr>
          <p:spPr bwMode="auto">
            <a:xfrm>
              <a:off x="2320"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52" name="Line 57"/>
            <p:cNvSpPr>
              <a:spLocks noChangeShapeType="1"/>
            </p:cNvSpPr>
            <p:nvPr/>
          </p:nvSpPr>
          <p:spPr bwMode="auto">
            <a:xfrm>
              <a:off x="1776"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53" name="Line 58"/>
            <p:cNvSpPr>
              <a:spLocks noChangeShapeType="1"/>
            </p:cNvSpPr>
            <p:nvPr/>
          </p:nvSpPr>
          <p:spPr bwMode="auto">
            <a:xfrm>
              <a:off x="2272" y="3760"/>
              <a:ext cx="96" cy="0"/>
            </a:xfrm>
            <a:prstGeom prst="line">
              <a:avLst/>
            </a:prstGeom>
            <a:noFill/>
            <a:ln w="9525">
              <a:solidFill>
                <a:schemeClr val="tx1"/>
              </a:solidFill>
              <a:round/>
              <a:headEnd/>
              <a:tailEnd/>
            </a:ln>
          </p:spPr>
          <p:txBody>
            <a:bodyPr wrap="none" anchor="ctr"/>
            <a:lstStyle/>
            <a:p>
              <a:endParaRPr lang="bg-BG"/>
            </a:p>
          </p:txBody>
        </p:sp>
        <p:sp>
          <p:nvSpPr>
            <p:cNvPr id="56454" name="Line 59"/>
            <p:cNvSpPr>
              <a:spLocks noChangeShapeType="1"/>
            </p:cNvSpPr>
            <p:nvPr/>
          </p:nvSpPr>
          <p:spPr bwMode="auto">
            <a:xfrm>
              <a:off x="1736" y="3744"/>
              <a:ext cx="96" cy="0"/>
            </a:xfrm>
            <a:prstGeom prst="line">
              <a:avLst/>
            </a:prstGeom>
            <a:noFill/>
            <a:ln w="9525">
              <a:solidFill>
                <a:schemeClr val="tx1"/>
              </a:solidFill>
              <a:round/>
              <a:headEnd/>
              <a:tailEnd/>
            </a:ln>
          </p:spPr>
          <p:txBody>
            <a:bodyPr wrap="none" anchor="ctr"/>
            <a:lstStyle/>
            <a:p>
              <a:endParaRPr lang="bg-BG"/>
            </a:p>
          </p:txBody>
        </p:sp>
        <p:sp>
          <p:nvSpPr>
            <p:cNvPr id="56455" name="Text Box 60"/>
            <p:cNvSpPr txBox="1">
              <a:spLocks noChangeArrowheads="1"/>
            </p:cNvSpPr>
            <p:nvPr/>
          </p:nvSpPr>
          <p:spPr bwMode="auto">
            <a:xfrm>
              <a:off x="1880" y="3288"/>
              <a:ext cx="360" cy="288"/>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6456" name="Text Box 61"/>
            <p:cNvSpPr txBox="1">
              <a:spLocks noChangeArrowheads="1"/>
            </p:cNvSpPr>
            <p:nvPr/>
          </p:nvSpPr>
          <p:spPr bwMode="auto">
            <a:xfrm>
              <a:off x="3952" y="3272"/>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6457" name="Text Box 62"/>
            <p:cNvSpPr txBox="1">
              <a:spLocks noChangeArrowheads="1"/>
            </p:cNvSpPr>
            <p:nvPr/>
          </p:nvSpPr>
          <p:spPr bwMode="auto">
            <a:xfrm>
              <a:off x="2872" y="3272"/>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6458" name="Text Box 63"/>
            <p:cNvSpPr txBox="1">
              <a:spLocks noChangeArrowheads="1"/>
            </p:cNvSpPr>
            <p:nvPr/>
          </p:nvSpPr>
          <p:spPr bwMode="auto">
            <a:xfrm>
              <a:off x="4960" y="3280"/>
              <a:ext cx="416" cy="288"/>
            </a:xfrm>
            <a:prstGeom prst="rect">
              <a:avLst/>
            </a:prstGeom>
            <a:noFill/>
            <a:ln w="9525">
              <a:noFill/>
              <a:miter lim="800000"/>
              <a:headEnd/>
              <a:tailEnd/>
            </a:ln>
          </p:spPr>
          <p:txBody>
            <a:bodyPr>
              <a:spAutoFit/>
            </a:bodyPr>
            <a:lstStyle/>
            <a:p>
              <a:pPr>
                <a:spcBef>
                  <a:spcPct val="50000"/>
                </a:spcBef>
              </a:pPr>
              <a:r>
                <a:rPr lang="bg-BG"/>
                <a:t>100</a:t>
              </a:r>
              <a:endParaRPr lang="en-US"/>
            </a:p>
          </p:txBody>
        </p:sp>
        <p:sp>
          <p:nvSpPr>
            <p:cNvPr id="56459" name="Line 64"/>
            <p:cNvSpPr>
              <a:spLocks noChangeShapeType="1"/>
            </p:cNvSpPr>
            <p:nvPr/>
          </p:nvSpPr>
          <p:spPr bwMode="auto">
            <a:xfrm>
              <a:off x="1184" y="2952"/>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60" name="Text Box 65"/>
            <p:cNvSpPr txBox="1">
              <a:spLocks noChangeArrowheads="1"/>
            </p:cNvSpPr>
            <p:nvPr/>
          </p:nvSpPr>
          <p:spPr bwMode="auto">
            <a:xfrm>
              <a:off x="888" y="2784"/>
              <a:ext cx="192" cy="288"/>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56461" name="Line 66"/>
            <p:cNvSpPr>
              <a:spLocks noChangeShapeType="1"/>
            </p:cNvSpPr>
            <p:nvPr/>
          </p:nvSpPr>
          <p:spPr bwMode="auto">
            <a:xfrm>
              <a:off x="1248" y="2832"/>
              <a:ext cx="0" cy="240"/>
            </a:xfrm>
            <a:prstGeom prst="line">
              <a:avLst/>
            </a:prstGeom>
            <a:noFill/>
            <a:ln w="9525">
              <a:solidFill>
                <a:schemeClr val="tx1"/>
              </a:solidFill>
              <a:round/>
              <a:headEnd/>
              <a:tailEnd/>
            </a:ln>
          </p:spPr>
          <p:txBody>
            <a:bodyPr wrap="none" anchor="ctr"/>
            <a:lstStyle/>
            <a:p>
              <a:endParaRPr lang="bg-BG"/>
            </a:p>
          </p:txBody>
        </p:sp>
        <p:sp>
          <p:nvSpPr>
            <p:cNvPr id="56462" name="Line 67"/>
            <p:cNvSpPr>
              <a:spLocks noChangeShapeType="1"/>
            </p:cNvSpPr>
            <p:nvPr/>
          </p:nvSpPr>
          <p:spPr bwMode="auto">
            <a:xfrm>
              <a:off x="1096" y="2824"/>
              <a:ext cx="0" cy="240"/>
            </a:xfrm>
            <a:prstGeom prst="line">
              <a:avLst/>
            </a:prstGeom>
            <a:noFill/>
            <a:ln w="9525">
              <a:solidFill>
                <a:schemeClr val="tx1"/>
              </a:solidFill>
              <a:round/>
              <a:headEnd/>
              <a:tailEnd/>
            </a:ln>
          </p:spPr>
          <p:txBody>
            <a:bodyPr wrap="none" anchor="ctr"/>
            <a:lstStyle/>
            <a:p>
              <a:endParaRPr lang="bg-BG"/>
            </a:p>
          </p:txBody>
        </p:sp>
        <p:sp>
          <p:nvSpPr>
            <p:cNvPr id="56463" name="Rectangle 68"/>
            <p:cNvSpPr>
              <a:spLocks noChangeArrowheads="1"/>
            </p:cNvSpPr>
            <p:nvPr/>
          </p:nvSpPr>
          <p:spPr bwMode="auto">
            <a:xfrm>
              <a:off x="864" y="3296"/>
              <a:ext cx="720" cy="256"/>
            </a:xfrm>
            <a:prstGeom prst="rect">
              <a:avLst/>
            </a:prstGeom>
            <a:noFill/>
            <a:ln w="9525">
              <a:solidFill>
                <a:schemeClr val="tx1"/>
              </a:solidFill>
              <a:miter lim="800000"/>
              <a:headEnd/>
              <a:tailEnd/>
            </a:ln>
          </p:spPr>
          <p:txBody>
            <a:bodyPr wrap="none" anchor="ctr"/>
            <a:lstStyle/>
            <a:p>
              <a:endParaRPr lang="bg-BG"/>
            </a:p>
          </p:txBody>
        </p:sp>
        <p:sp>
          <p:nvSpPr>
            <p:cNvPr id="56464" name="Line 69"/>
            <p:cNvSpPr>
              <a:spLocks noChangeShapeType="1"/>
            </p:cNvSpPr>
            <p:nvPr/>
          </p:nvSpPr>
          <p:spPr bwMode="auto">
            <a:xfrm>
              <a:off x="1032" y="3296"/>
              <a:ext cx="0" cy="240"/>
            </a:xfrm>
            <a:prstGeom prst="line">
              <a:avLst/>
            </a:prstGeom>
            <a:noFill/>
            <a:ln w="9525">
              <a:solidFill>
                <a:schemeClr val="tx1"/>
              </a:solidFill>
              <a:round/>
              <a:headEnd/>
              <a:tailEnd/>
            </a:ln>
          </p:spPr>
          <p:txBody>
            <a:bodyPr wrap="none" anchor="ctr"/>
            <a:lstStyle/>
            <a:p>
              <a:endParaRPr lang="bg-BG"/>
            </a:p>
          </p:txBody>
        </p:sp>
        <p:sp>
          <p:nvSpPr>
            <p:cNvPr id="56465" name="Line 70"/>
            <p:cNvSpPr>
              <a:spLocks noChangeShapeType="1"/>
            </p:cNvSpPr>
            <p:nvPr/>
          </p:nvSpPr>
          <p:spPr bwMode="auto">
            <a:xfrm>
              <a:off x="1424" y="3296"/>
              <a:ext cx="0" cy="240"/>
            </a:xfrm>
            <a:prstGeom prst="line">
              <a:avLst/>
            </a:prstGeom>
            <a:noFill/>
            <a:ln w="9525">
              <a:solidFill>
                <a:schemeClr val="tx1"/>
              </a:solidFill>
              <a:round/>
              <a:headEnd/>
              <a:tailEnd/>
            </a:ln>
          </p:spPr>
          <p:txBody>
            <a:bodyPr wrap="none" anchor="ctr"/>
            <a:lstStyle/>
            <a:p>
              <a:endParaRPr lang="bg-BG"/>
            </a:p>
          </p:txBody>
        </p:sp>
        <p:sp>
          <p:nvSpPr>
            <p:cNvPr id="56466" name="Line 71"/>
            <p:cNvSpPr>
              <a:spLocks noChangeShapeType="1"/>
            </p:cNvSpPr>
            <p:nvPr/>
          </p:nvSpPr>
          <p:spPr bwMode="auto">
            <a:xfrm>
              <a:off x="1504" y="3408"/>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67" name="Line 72"/>
            <p:cNvSpPr>
              <a:spLocks noChangeShapeType="1"/>
            </p:cNvSpPr>
            <p:nvPr/>
          </p:nvSpPr>
          <p:spPr bwMode="auto">
            <a:xfrm>
              <a:off x="960"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68" name="Line 73"/>
            <p:cNvSpPr>
              <a:spLocks noChangeShapeType="1"/>
            </p:cNvSpPr>
            <p:nvPr/>
          </p:nvSpPr>
          <p:spPr bwMode="auto">
            <a:xfrm>
              <a:off x="1456" y="3760"/>
              <a:ext cx="96" cy="0"/>
            </a:xfrm>
            <a:prstGeom prst="line">
              <a:avLst/>
            </a:prstGeom>
            <a:noFill/>
            <a:ln w="9525">
              <a:solidFill>
                <a:schemeClr val="tx1"/>
              </a:solidFill>
              <a:round/>
              <a:headEnd/>
              <a:tailEnd/>
            </a:ln>
          </p:spPr>
          <p:txBody>
            <a:bodyPr wrap="none" anchor="ctr"/>
            <a:lstStyle/>
            <a:p>
              <a:endParaRPr lang="bg-BG"/>
            </a:p>
          </p:txBody>
        </p:sp>
        <p:sp>
          <p:nvSpPr>
            <p:cNvPr id="56469" name="Line 74"/>
            <p:cNvSpPr>
              <a:spLocks noChangeShapeType="1"/>
            </p:cNvSpPr>
            <p:nvPr/>
          </p:nvSpPr>
          <p:spPr bwMode="auto">
            <a:xfrm>
              <a:off x="920" y="3744"/>
              <a:ext cx="96" cy="0"/>
            </a:xfrm>
            <a:prstGeom prst="line">
              <a:avLst/>
            </a:prstGeom>
            <a:noFill/>
            <a:ln w="9525">
              <a:solidFill>
                <a:schemeClr val="tx1"/>
              </a:solidFill>
              <a:round/>
              <a:headEnd/>
              <a:tailEnd/>
            </a:ln>
          </p:spPr>
          <p:txBody>
            <a:bodyPr wrap="none" anchor="ctr"/>
            <a:lstStyle/>
            <a:p>
              <a:endParaRPr lang="bg-BG"/>
            </a:p>
          </p:txBody>
        </p:sp>
        <p:sp>
          <p:nvSpPr>
            <p:cNvPr id="56470" name="Text Box 75"/>
            <p:cNvSpPr txBox="1">
              <a:spLocks noChangeArrowheads="1"/>
            </p:cNvSpPr>
            <p:nvPr/>
          </p:nvSpPr>
          <p:spPr bwMode="auto">
            <a:xfrm>
              <a:off x="1064" y="3288"/>
              <a:ext cx="360"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6471" name="Rectangle 76"/>
            <p:cNvSpPr>
              <a:spLocks noChangeArrowheads="1"/>
            </p:cNvSpPr>
            <p:nvPr/>
          </p:nvSpPr>
          <p:spPr bwMode="auto">
            <a:xfrm>
              <a:off x="96" y="3304"/>
              <a:ext cx="720" cy="256"/>
            </a:xfrm>
            <a:prstGeom prst="rect">
              <a:avLst/>
            </a:prstGeom>
            <a:noFill/>
            <a:ln w="9525">
              <a:solidFill>
                <a:schemeClr val="tx1"/>
              </a:solidFill>
              <a:miter lim="800000"/>
              <a:headEnd/>
              <a:tailEnd/>
            </a:ln>
          </p:spPr>
          <p:txBody>
            <a:bodyPr wrap="none" anchor="ctr"/>
            <a:lstStyle/>
            <a:p>
              <a:endParaRPr lang="bg-BG"/>
            </a:p>
          </p:txBody>
        </p:sp>
        <p:sp>
          <p:nvSpPr>
            <p:cNvPr id="56472" name="Line 77"/>
            <p:cNvSpPr>
              <a:spLocks noChangeShapeType="1"/>
            </p:cNvSpPr>
            <p:nvPr/>
          </p:nvSpPr>
          <p:spPr bwMode="auto">
            <a:xfrm>
              <a:off x="264" y="3304"/>
              <a:ext cx="0" cy="240"/>
            </a:xfrm>
            <a:prstGeom prst="line">
              <a:avLst/>
            </a:prstGeom>
            <a:noFill/>
            <a:ln w="9525">
              <a:solidFill>
                <a:schemeClr val="tx1"/>
              </a:solidFill>
              <a:round/>
              <a:headEnd/>
              <a:tailEnd/>
            </a:ln>
          </p:spPr>
          <p:txBody>
            <a:bodyPr wrap="none" anchor="ctr"/>
            <a:lstStyle/>
            <a:p>
              <a:endParaRPr lang="bg-BG"/>
            </a:p>
          </p:txBody>
        </p:sp>
        <p:sp>
          <p:nvSpPr>
            <p:cNvPr id="56473" name="Line 78"/>
            <p:cNvSpPr>
              <a:spLocks noChangeShapeType="1"/>
            </p:cNvSpPr>
            <p:nvPr/>
          </p:nvSpPr>
          <p:spPr bwMode="auto">
            <a:xfrm>
              <a:off x="656" y="3304"/>
              <a:ext cx="0" cy="240"/>
            </a:xfrm>
            <a:prstGeom prst="line">
              <a:avLst/>
            </a:prstGeom>
            <a:noFill/>
            <a:ln w="9525">
              <a:solidFill>
                <a:schemeClr val="tx1"/>
              </a:solidFill>
              <a:round/>
              <a:headEnd/>
              <a:tailEnd/>
            </a:ln>
          </p:spPr>
          <p:txBody>
            <a:bodyPr wrap="none" anchor="ctr"/>
            <a:lstStyle/>
            <a:p>
              <a:endParaRPr lang="bg-BG"/>
            </a:p>
          </p:txBody>
        </p:sp>
        <p:sp>
          <p:nvSpPr>
            <p:cNvPr id="56474" name="Line 79"/>
            <p:cNvSpPr>
              <a:spLocks noChangeShapeType="1"/>
            </p:cNvSpPr>
            <p:nvPr/>
          </p:nvSpPr>
          <p:spPr bwMode="auto">
            <a:xfrm>
              <a:off x="736" y="3416"/>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75" name="Line 80"/>
            <p:cNvSpPr>
              <a:spLocks noChangeShapeType="1"/>
            </p:cNvSpPr>
            <p:nvPr/>
          </p:nvSpPr>
          <p:spPr bwMode="auto">
            <a:xfrm>
              <a:off x="192" y="3424"/>
              <a:ext cx="0" cy="336"/>
            </a:xfrm>
            <a:prstGeom prst="line">
              <a:avLst/>
            </a:prstGeom>
            <a:noFill/>
            <a:ln w="9525">
              <a:solidFill>
                <a:schemeClr val="tx1"/>
              </a:solidFill>
              <a:round/>
              <a:headEnd/>
              <a:tailEnd type="triangle" w="med" len="med"/>
            </a:ln>
          </p:spPr>
          <p:txBody>
            <a:bodyPr wrap="none" anchor="ctr"/>
            <a:lstStyle/>
            <a:p>
              <a:endParaRPr lang="bg-BG"/>
            </a:p>
          </p:txBody>
        </p:sp>
        <p:sp>
          <p:nvSpPr>
            <p:cNvPr id="56476" name="Line 81"/>
            <p:cNvSpPr>
              <a:spLocks noChangeShapeType="1"/>
            </p:cNvSpPr>
            <p:nvPr/>
          </p:nvSpPr>
          <p:spPr bwMode="auto">
            <a:xfrm>
              <a:off x="688" y="3768"/>
              <a:ext cx="96" cy="0"/>
            </a:xfrm>
            <a:prstGeom prst="line">
              <a:avLst/>
            </a:prstGeom>
            <a:noFill/>
            <a:ln w="9525">
              <a:solidFill>
                <a:schemeClr val="tx1"/>
              </a:solidFill>
              <a:round/>
              <a:headEnd/>
              <a:tailEnd/>
            </a:ln>
          </p:spPr>
          <p:txBody>
            <a:bodyPr wrap="none" anchor="ctr"/>
            <a:lstStyle/>
            <a:p>
              <a:endParaRPr lang="bg-BG"/>
            </a:p>
          </p:txBody>
        </p:sp>
        <p:sp>
          <p:nvSpPr>
            <p:cNvPr id="56477" name="Line 82"/>
            <p:cNvSpPr>
              <a:spLocks noChangeShapeType="1"/>
            </p:cNvSpPr>
            <p:nvPr/>
          </p:nvSpPr>
          <p:spPr bwMode="auto">
            <a:xfrm>
              <a:off x="152" y="3752"/>
              <a:ext cx="96" cy="0"/>
            </a:xfrm>
            <a:prstGeom prst="line">
              <a:avLst/>
            </a:prstGeom>
            <a:noFill/>
            <a:ln w="9525">
              <a:solidFill>
                <a:schemeClr val="tx1"/>
              </a:solidFill>
              <a:round/>
              <a:headEnd/>
              <a:tailEnd/>
            </a:ln>
          </p:spPr>
          <p:txBody>
            <a:bodyPr wrap="none" anchor="ctr"/>
            <a:lstStyle/>
            <a:p>
              <a:endParaRPr lang="bg-BG"/>
            </a:p>
          </p:txBody>
        </p:sp>
        <p:sp>
          <p:nvSpPr>
            <p:cNvPr id="56478" name="Text Box 83"/>
            <p:cNvSpPr txBox="1">
              <a:spLocks noChangeArrowheads="1"/>
            </p:cNvSpPr>
            <p:nvPr/>
          </p:nvSpPr>
          <p:spPr bwMode="auto">
            <a:xfrm>
              <a:off x="296" y="3296"/>
              <a:ext cx="360" cy="288"/>
            </a:xfrm>
            <a:prstGeom prst="rect">
              <a:avLst/>
            </a:prstGeom>
            <a:noFill/>
            <a:ln w="9525">
              <a:noFill/>
              <a:miter lim="800000"/>
              <a:headEnd/>
              <a:tailEnd/>
            </a:ln>
          </p:spPr>
          <p:txBody>
            <a:bodyPr>
              <a:spAutoFit/>
            </a:bodyPr>
            <a:lstStyle/>
            <a:p>
              <a:pPr>
                <a:spcBef>
                  <a:spcPct val="50000"/>
                </a:spcBef>
              </a:pPr>
              <a:r>
                <a:rPr lang="bg-BG"/>
                <a:t> 0</a:t>
              </a:r>
              <a:endParaRPr lang="en-US"/>
            </a:p>
          </p:txBody>
        </p:sp>
      </p:grpSp>
      <p:sp>
        <p:nvSpPr>
          <p:cNvPr id="56324" name="Line 84"/>
          <p:cNvSpPr>
            <a:spLocks noChangeShapeType="1"/>
          </p:cNvSpPr>
          <p:nvPr/>
        </p:nvSpPr>
        <p:spPr bwMode="auto">
          <a:xfrm flipH="1">
            <a:off x="3657600" y="381000"/>
            <a:ext cx="1066800" cy="762000"/>
          </a:xfrm>
          <a:prstGeom prst="line">
            <a:avLst/>
          </a:prstGeom>
          <a:noFill/>
          <a:ln w="9525">
            <a:solidFill>
              <a:srgbClr val="CC0066"/>
            </a:solidFill>
            <a:round/>
            <a:headEnd/>
            <a:tailEnd/>
          </a:ln>
        </p:spPr>
        <p:txBody>
          <a:bodyPr wrap="none" anchor="ctr"/>
          <a:lstStyle/>
          <a:p>
            <a:endParaRPr lang="bg-BG"/>
          </a:p>
        </p:txBody>
      </p:sp>
      <p:sp>
        <p:nvSpPr>
          <p:cNvPr id="56325" name="Line 85"/>
          <p:cNvSpPr>
            <a:spLocks noChangeShapeType="1"/>
          </p:cNvSpPr>
          <p:nvPr/>
        </p:nvSpPr>
        <p:spPr bwMode="auto">
          <a:xfrm>
            <a:off x="3810000" y="304800"/>
            <a:ext cx="914400" cy="914400"/>
          </a:xfrm>
          <a:prstGeom prst="line">
            <a:avLst/>
          </a:prstGeom>
          <a:noFill/>
          <a:ln w="9525">
            <a:solidFill>
              <a:srgbClr val="CC0066"/>
            </a:solidFill>
            <a:round/>
            <a:headEnd/>
            <a:tailEnd/>
          </a:ln>
        </p:spPr>
        <p:txBody>
          <a:bodyPr wrap="none" anchor="ctr"/>
          <a:lstStyle/>
          <a:p>
            <a:endParaRPr lang="bg-BG"/>
          </a:p>
        </p:txBody>
      </p:sp>
      <p:sp>
        <p:nvSpPr>
          <p:cNvPr id="56326" name="Rectangle 87"/>
          <p:cNvSpPr>
            <a:spLocks noChangeArrowheads="1"/>
          </p:cNvSpPr>
          <p:nvPr/>
        </p:nvSpPr>
        <p:spPr bwMode="auto">
          <a:xfrm>
            <a:off x="3403600" y="3873500"/>
            <a:ext cx="1600200" cy="381000"/>
          </a:xfrm>
          <a:prstGeom prst="rect">
            <a:avLst/>
          </a:prstGeom>
          <a:noFill/>
          <a:ln w="9525">
            <a:solidFill>
              <a:schemeClr val="tx1"/>
            </a:solidFill>
            <a:miter lim="800000"/>
            <a:headEnd/>
            <a:tailEnd/>
          </a:ln>
        </p:spPr>
        <p:txBody>
          <a:bodyPr wrap="none" anchor="ctr"/>
          <a:lstStyle/>
          <a:p>
            <a:endParaRPr lang="bg-BG"/>
          </a:p>
        </p:txBody>
      </p:sp>
      <p:sp>
        <p:nvSpPr>
          <p:cNvPr id="56327" name="Line 88"/>
          <p:cNvSpPr>
            <a:spLocks noChangeShapeType="1"/>
          </p:cNvSpPr>
          <p:nvPr/>
        </p:nvSpPr>
        <p:spPr bwMode="auto">
          <a:xfrm>
            <a:off x="3860800" y="3873500"/>
            <a:ext cx="0" cy="381000"/>
          </a:xfrm>
          <a:prstGeom prst="line">
            <a:avLst/>
          </a:prstGeom>
          <a:noFill/>
          <a:ln w="9525">
            <a:solidFill>
              <a:schemeClr val="tx1"/>
            </a:solidFill>
            <a:round/>
            <a:headEnd/>
            <a:tailEnd/>
          </a:ln>
        </p:spPr>
        <p:txBody>
          <a:bodyPr wrap="none" anchor="ctr"/>
          <a:lstStyle/>
          <a:p>
            <a:endParaRPr lang="bg-BG"/>
          </a:p>
        </p:txBody>
      </p:sp>
      <p:sp>
        <p:nvSpPr>
          <p:cNvPr id="56328" name="Line 89"/>
          <p:cNvSpPr>
            <a:spLocks noChangeShapeType="1"/>
          </p:cNvSpPr>
          <p:nvPr/>
        </p:nvSpPr>
        <p:spPr bwMode="auto">
          <a:xfrm>
            <a:off x="4546600" y="3873500"/>
            <a:ext cx="0" cy="381000"/>
          </a:xfrm>
          <a:prstGeom prst="line">
            <a:avLst/>
          </a:prstGeom>
          <a:noFill/>
          <a:ln w="9525">
            <a:solidFill>
              <a:schemeClr val="tx1"/>
            </a:solidFill>
            <a:round/>
            <a:headEnd/>
            <a:tailEnd/>
          </a:ln>
        </p:spPr>
        <p:txBody>
          <a:bodyPr wrap="none" anchor="ctr"/>
          <a:lstStyle/>
          <a:p>
            <a:endParaRPr lang="bg-BG"/>
          </a:p>
        </p:txBody>
      </p:sp>
      <p:sp>
        <p:nvSpPr>
          <p:cNvPr id="56329" name="Rectangle 90"/>
          <p:cNvSpPr>
            <a:spLocks noChangeArrowheads="1"/>
          </p:cNvSpPr>
          <p:nvPr/>
        </p:nvSpPr>
        <p:spPr bwMode="auto">
          <a:xfrm>
            <a:off x="5270500" y="4483100"/>
            <a:ext cx="2209800" cy="381000"/>
          </a:xfrm>
          <a:prstGeom prst="rect">
            <a:avLst/>
          </a:prstGeom>
          <a:noFill/>
          <a:ln w="9525">
            <a:solidFill>
              <a:schemeClr val="tx1"/>
            </a:solidFill>
            <a:miter lim="800000"/>
            <a:headEnd/>
            <a:tailEnd/>
          </a:ln>
        </p:spPr>
        <p:txBody>
          <a:bodyPr wrap="none" anchor="ctr"/>
          <a:lstStyle/>
          <a:p>
            <a:endParaRPr lang="bg-BG"/>
          </a:p>
        </p:txBody>
      </p:sp>
      <p:sp>
        <p:nvSpPr>
          <p:cNvPr id="56330" name="Line 91"/>
          <p:cNvSpPr>
            <a:spLocks noChangeShapeType="1"/>
          </p:cNvSpPr>
          <p:nvPr/>
        </p:nvSpPr>
        <p:spPr bwMode="auto">
          <a:xfrm>
            <a:off x="5676900" y="4483100"/>
            <a:ext cx="0" cy="381000"/>
          </a:xfrm>
          <a:prstGeom prst="line">
            <a:avLst/>
          </a:prstGeom>
          <a:noFill/>
          <a:ln w="9525">
            <a:solidFill>
              <a:schemeClr val="tx1"/>
            </a:solidFill>
            <a:round/>
            <a:headEnd/>
            <a:tailEnd/>
          </a:ln>
        </p:spPr>
        <p:txBody>
          <a:bodyPr wrap="none" anchor="ctr"/>
          <a:lstStyle/>
          <a:p>
            <a:endParaRPr lang="bg-BG"/>
          </a:p>
        </p:txBody>
      </p:sp>
      <p:sp>
        <p:nvSpPr>
          <p:cNvPr id="56331" name="Line 92"/>
          <p:cNvSpPr>
            <a:spLocks noChangeShapeType="1"/>
          </p:cNvSpPr>
          <p:nvPr/>
        </p:nvSpPr>
        <p:spPr bwMode="auto">
          <a:xfrm>
            <a:off x="6210300" y="4483100"/>
            <a:ext cx="0" cy="381000"/>
          </a:xfrm>
          <a:prstGeom prst="line">
            <a:avLst/>
          </a:prstGeom>
          <a:noFill/>
          <a:ln w="9525">
            <a:solidFill>
              <a:schemeClr val="tx1"/>
            </a:solidFill>
            <a:round/>
            <a:headEnd/>
            <a:tailEnd/>
          </a:ln>
        </p:spPr>
        <p:txBody>
          <a:bodyPr wrap="none" anchor="ctr"/>
          <a:lstStyle/>
          <a:p>
            <a:endParaRPr lang="bg-BG"/>
          </a:p>
        </p:txBody>
      </p:sp>
      <p:sp>
        <p:nvSpPr>
          <p:cNvPr id="56332" name="Line 93"/>
          <p:cNvSpPr>
            <a:spLocks noChangeShapeType="1"/>
          </p:cNvSpPr>
          <p:nvPr/>
        </p:nvSpPr>
        <p:spPr bwMode="auto">
          <a:xfrm>
            <a:off x="7112000" y="4483100"/>
            <a:ext cx="0" cy="381000"/>
          </a:xfrm>
          <a:prstGeom prst="line">
            <a:avLst/>
          </a:prstGeom>
          <a:noFill/>
          <a:ln w="9525">
            <a:solidFill>
              <a:schemeClr val="tx1"/>
            </a:solidFill>
            <a:round/>
            <a:headEnd/>
            <a:tailEnd/>
          </a:ln>
        </p:spPr>
        <p:txBody>
          <a:bodyPr wrap="none" anchor="ctr"/>
          <a:lstStyle/>
          <a:p>
            <a:endParaRPr lang="bg-BG"/>
          </a:p>
        </p:txBody>
      </p:sp>
      <p:sp>
        <p:nvSpPr>
          <p:cNvPr id="56333" name="Line 94"/>
          <p:cNvSpPr>
            <a:spLocks noChangeShapeType="1"/>
          </p:cNvSpPr>
          <p:nvPr/>
        </p:nvSpPr>
        <p:spPr bwMode="auto">
          <a:xfrm>
            <a:off x="6591300" y="4483100"/>
            <a:ext cx="0" cy="381000"/>
          </a:xfrm>
          <a:prstGeom prst="line">
            <a:avLst/>
          </a:prstGeom>
          <a:noFill/>
          <a:ln w="9525">
            <a:solidFill>
              <a:schemeClr val="tx1"/>
            </a:solidFill>
            <a:round/>
            <a:headEnd/>
            <a:tailEnd/>
          </a:ln>
        </p:spPr>
        <p:txBody>
          <a:bodyPr wrap="none" anchor="ctr"/>
          <a:lstStyle/>
          <a:p>
            <a:endParaRPr lang="bg-BG"/>
          </a:p>
        </p:txBody>
      </p:sp>
      <p:sp>
        <p:nvSpPr>
          <p:cNvPr id="56334" name="Rectangle 95"/>
          <p:cNvSpPr>
            <a:spLocks noChangeArrowheads="1"/>
          </p:cNvSpPr>
          <p:nvPr/>
        </p:nvSpPr>
        <p:spPr bwMode="auto">
          <a:xfrm>
            <a:off x="1041400" y="4483100"/>
            <a:ext cx="1600200" cy="381000"/>
          </a:xfrm>
          <a:prstGeom prst="rect">
            <a:avLst/>
          </a:prstGeom>
          <a:noFill/>
          <a:ln w="9525">
            <a:solidFill>
              <a:schemeClr val="tx1"/>
            </a:solidFill>
            <a:miter lim="800000"/>
            <a:headEnd/>
            <a:tailEnd/>
          </a:ln>
        </p:spPr>
        <p:txBody>
          <a:bodyPr wrap="none" anchor="ctr"/>
          <a:lstStyle/>
          <a:p>
            <a:endParaRPr lang="bg-BG"/>
          </a:p>
        </p:txBody>
      </p:sp>
      <p:sp>
        <p:nvSpPr>
          <p:cNvPr id="56335" name="Rectangle 96"/>
          <p:cNvSpPr>
            <a:spLocks noChangeArrowheads="1"/>
          </p:cNvSpPr>
          <p:nvPr/>
        </p:nvSpPr>
        <p:spPr bwMode="auto">
          <a:xfrm>
            <a:off x="5740400" y="5245100"/>
            <a:ext cx="1600200" cy="381000"/>
          </a:xfrm>
          <a:prstGeom prst="rect">
            <a:avLst/>
          </a:prstGeom>
          <a:noFill/>
          <a:ln w="9525">
            <a:solidFill>
              <a:schemeClr val="tx1"/>
            </a:solidFill>
            <a:miter lim="800000"/>
            <a:headEnd/>
            <a:tailEnd/>
          </a:ln>
        </p:spPr>
        <p:txBody>
          <a:bodyPr wrap="none" anchor="ctr"/>
          <a:lstStyle/>
          <a:p>
            <a:endParaRPr lang="bg-BG"/>
          </a:p>
        </p:txBody>
      </p:sp>
      <p:sp>
        <p:nvSpPr>
          <p:cNvPr id="56336" name="Rectangle 97"/>
          <p:cNvSpPr>
            <a:spLocks noChangeArrowheads="1"/>
          </p:cNvSpPr>
          <p:nvPr/>
        </p:nvSpPr>
        <p:spPr bwMode="auto">
          <a:xfrm>
            <a:off x="4013200" y="5245100"/>
            <a:ext cx="1600200" cy="381000"/>
          </a:xfrm>
          <a:prstGeom prst="rect">
            <a:avLst/>
          </a:prstGeom>
          <a:noFill/>
          <a:ln w="9525">
            <a:solidFill>
              <a:schemeClr val="tx1"/>
            </a:solidFill>
            <a:miter lim="800000"/>
            <a:headEnd/>
            <a:tailEnd/>
          </a:ln>
        </p:spPr>
        <p:txBody>
          <a:bodyPr wrap="none" anchor="ctr"/>
          <a:lstStyle/>
          <a:p>
            <a:endParaRPr lang="bg-BG"/>
          </a:p>
        </p:txBody>
      </p:sp>
      <p:sp>
        <p:nvSpPr>
          <p:cNvPr id="56337" name="Rectangle 98"/>
          <p:cNvSpPr>
            <a:spLocks noChangeArrowheads="1"/>
          </p:cNvSpPr>
          <p:nvPr/>
        </p:nvSpPr>
        <p:spPr bwMode="auto">
          <a:xfrm>
            <a:off x="7442200" y="5245100"/>
            <a:ext cx="1600200" cy="381000"/>
          </a:xfrm>
          <a:prstGeom prst="rect">
            <a:avLst/>
          </a:prstGeom>
          <a:noFill/>
          <a:ln w="9525">
            <a:solidFill>
              <a:schemeClr val="tx1"/>
            </a:solidFill>
            <a:miter lim="800000"/>
            <a:headEnd/>
            <a:tailEnd/>
          </a:ln>
        </p:spPr>
        <p:txBody>
          <a:bodyPr wrap="none" anchor="ctr"/>
          <a:lstStyle/>
          <a:p>
            <a:endParaRPr lang="bg-BG"/>
          </a:p>
        </p:txBody>
      </p:sp>
      <p:sp>
        <p:nvSpPr>
          <p:cNvPr id="56338" name="Line 99"/>
          <p:cNvSpPr>
            <a:spLocks noChangeShapeType="1"/>
          </p:cNvSpPr>
          <p:nvPr/>
        </p:nvSpPr>
        <p:spPr bwMode="auto">
          <a:xfrm>
            <a:off x="5232400" y="5245100"/>
            <a:ext cx="0" cy="381000"/>
          </a:xfrm>
          <a:prstGeom prst="line">
            <a:avLst/>
          </a:prstGeom>
          <a:noFill/>
          <a:ln w="9525">
            <a:solidFill>
              <a:schemeClr val="tx1"/>
            </a:solidFill>
            <a:round/>
            <a:headEnd/>
            <a:tailEnd/>
          </a:ln>
        </p:spPr>
        <p:txBody>
          <a:bodyPr wrap="none" anchor="ctr"/>
          <a:lstStyle/>
          <a:p>
            <a:endParaRPr lang="bg-BG"/>
          </a:p>
        </p:txBody>
      </p:sp>
      <p:sp>
        <p:nvSpPr>
          <p:cNvPr id="56339" name="Line 100"/>
          <p:cNvSpPr>
            <a:spLocks noChangeShapeType="1"/>
          </p:cNvSpPr>
          <p:nvPr/>
        </p:nvSpPr>
        <p:spPr bwMode="auto">
          <a:xfrm>
            <a:off x="6985000" y="5245100"/>
            <a:ext cx="0" cy="381000"/>
          </a:xfrm>
          <a:prstGeom prst="line">
            <a:avLst/>
          </a:prstGeom>
          <a:noFill/>
          <a:ln w="9525">
            <a:solidFill>
              <a:schemeClr val="tx1"/>
            </a:solidFill>
            <a:round/>
            <a:headEnd/>
            <a:tailEnd/>
          </a:ln>
        </p:spPr>
        <p:txBody>
          <a:bodyPr wrap="none" anchor="ctr"/>
          <a:lstStyle/>
          <a:p>
            <a:endParaRPr lang="bg-BG"/>
          </a:p>
        </p:txBody>
      </p:sp>
      <p:sp>
        <p:nvSpPr>
          <p:cNvPr id="56340" name="Line 101"/>
          <p:cNvSpPr>
            <a:spLocks noChangeShapeType="1"/>
          </p:cNvSpPr>
          <p:nvPr/>
        </p:nvSpPr>
        <p:spPr bwMode="auto">
          <a:xfrm>
            <a:off x="6146800" y="5245100"/>
            <a:ext cx="0" cy="381000"/>
          </a:xfrm>
          <a:prstGeom prst="line">
            <a:avLst/>
          </a:prstGeom>
          <a:noFill/>
          <a:ln w="9525">
            <a:solidFill>
              <a:schemeClr val="tx1"/>
            </a:solidFill>
            <a:round/>
            <a:headEnd/>
            <a:tailEnd/>
          </a:ln>
        </p:spPr>
        <p:txBody>
          <a:bodyPr wrap="none" anchor="ctr"/>
          <a:lstStyle/>
          <a:p>
            <a:endParaRPr lang="bg-BG"/>
          </a:p>
        </p:txBody>
      </p:sp>
      <p:sp>
        <p:nvSpPr>
          <p:cNvPr id="56341" name="Line 102"/>
          <p:cNvSpPr>
            <a:spLocks noChangeShapeType="1"/>
          </p:cNvSpPr>
          <p:nvPr/>
        </p:nvSpPr>
        <p:spPr bwMode="auto">
          <a:xfrm>
            <a:off x="8585200" y="5245100"/>
            <a:ext cx="0" cy="381000"/>
          </a:xfrm>
          <a:prstGeom prst="line">
            <a:avLst/>
          </a:prstGeom>
          <a:noFill/>
          <a:ln w="9525">
            <a:solidFill>
              <a:schemeClr val="tx1"/>
            </a:solidFill>
            <a:round/>
            <a:headEnd/>
            <a:tailEnd/>
          </a:ln>
        </p:spPr>
        <p:txBody>
          <a:bodyPr wrap="none" anchor="ctr"/>
          <a:lstStyle/>
          <a:p>
            <a:endParaRPr lang="bg-BG"/>
          </a:p>
        </p:txBody>
      </p:sp>
      <p:sp>
        <p:nvSpPr>
          <p:cNvPr id="56342" name="Line 103"/>
          <p:cNvSpPr>
            <a:spLocks noChangeShapeType="1"/>
          </p:cNvSpPr>
          <p:nvPr/>
        </p:nvSpPr>
        <p:spPr bwMode="auto">
          <a:xfrm>
            <a:off x="7823200" y="5245100"/>
            <a:ext cx="0" cy="381000"/>
          </a:xfrm>
          <a:prstGeom prst="line">
            <a:avLst/>
          </a:prstGeom>
          <a:noFill/>
          <a:ln w="9525">
            <a:solidFill>
              <a:schemeClr val="tx1"/>
            </a:solidFill>
            <a:round/>
            <a:headEnd/>
            <a:tailEnd/>
          </a:ln>
        </p:spPr>
        <p:txBody>
          <a:bodyPr wrap="none" anchor="ctr"/>
          <a:lstStyle/>
          <a:p>
            <a:endParaRPr lang="bg-BG"/>
          </a:p>
        </p:txBody>
      </p:sp>
      <p:sp>
        <p:nvSpPr>
          <p:cNvPr id="56343" name="Line 104"/>
          <p:cNvSpPr>
            <a:spLocks noChangeShapeType="1"/>
          </p:cNvSpPr>
          <p:nvPr/>
        </p:nvSpPr>
        <p:spPr bwMode="auto">
          <a:xfrm>
            <a:off x="4419600" y="5257800"/>
            <a:ext cx="0" cy="381000"/>
          </a:xfrm>
          <a:prstGeom prst="line">
            <a:avLst/>
          </a:prstGeom>
          <a:noFill/>
          <a:ln w="9525">
            <a:solidFill>
              <a:schemeClr val="tx1"/>
            </a:solidFill>
            <a:round/>
            <a:headEnd/>
            <a:tailEnd/>
          </a:ln>
        </p:spPr>
        <p:txBody>
          <a:bodyPr wrap="none" anchor="ctr"/>
          <a:lstStyle/>
          <a:p>
            <a:endParaRPr lang="bg-BG"/>
          </a:p>
        </p:txBody>
      </p:sp>
      <p:sp>
        <p:nvSpPr>
          <p:cNvPr id="56344" name="Line 105"/>
          <p:cNvSpPr>
            <a:spLocks noChangeShapeType="1"/>
          </p:cNvSpPr>
          <p:nvPr/>
        </p:nvSpPr>
        <p:spPr bwMode="auto">
          <a:xfrm>
            <a:off x="1498600" y="4483100"/>
            <a:ext cx="0" cy="381000"/>
          </a:xfrm>
          <a:prstGeom prst="line">
            <a:avLst/>
          </a:prstGeom>
          <a:noFill/>
          <a:ln w="9525">
            <a:solidFill>
              <a:schemeClr val="tx1"/>
            </a:solidFill>
            <a:round/>
            <a:headEnd/>
            <a:tailEnd/>
          </a:ln>
        </p:spPr>
        <p:txBody>
          <a:bodyPr wrap="none" anchor="ctr"/>
          <a:lstStyle/>
          <a:p>
            <a:endParaRPr lang="bg-BG"/>
          </a:p>
        </p:txBody>
      </p:sp>
      <p:sp>
        <p:nvSpPr>
          <p:cNvPr id="56345" name="Line 106"/>
          <p:cNvSpPr>
            <a:spLocks noChangeShapeType="1"/>
          </p:cNvSpPr>
          <p:nvPr/>
        </p:nvSpPr>
        <p:spPr bwMode="auto">
          <a:xfrm>
            <a:off x="2222500" y="4483100"/>
            <a:ext cx="0" cy="381000"/>
          </a:xfrm>
          <a:prstGeom prst="line">
            <a:avLst/>
          </a:prstGeom>
          <a:noFill/>
          <a:ln w="9525">
            <a:solidFill>
              <a:schemeClr val="tx1"/>
            </a:solidFill>
            <a:round/>
            <a:headEnd/>
            <a:tailEnd/>
          </a:ln>
        </p:spPr>
        <p:txBody>
          <a:bodyPr wrap="none" anchor="ctr"/>
          <a:lstStyle/>
          <a:p>
            <a:endParaRPr lang="bg-BG"/>
          </a:p>
        </p:txBody>
      </p:sp>
      <p:sp>
        <p:nvSpPr>
          <p:cNvPr id="56346" name="Line 107"/>
          <p:cNvSpPr>
            <a:spLocks noChangeShapeType="1"/>
          </p:cNvSpPr>
          <p:nvPr/>
        </p:nvSpPr>
        <p:spPr bwMode="auto">
          <a:xfrm>
            <a:off x="5943600" y="54483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47" name="Line 108"/>
          <p:cNvSpPr>
            <a:spLocks noChangeShapeType="1"/>
          </p:cNvSpPr>
          <p:nvPr/>
        </p:nvSpPr>
        <p:spPr bwMode="auto">
          <a:xfrm>
            <a:off x="5422900" y="54356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48" name="Line 109"/>
          <p:cNvSpPr>
            <a:spLocks noChangeShapeType="1"/>
          </p:cNvSpPr>
          <p:nvPr/>
        </p:nvSpPr>
        <p:spPr bwMode="auto">
          <a:xfrm>
            <a:off x="4203700" y="54483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49" name="Line 110"/>
          <p:cNvSpPr>
            <a:spLocks noChangeShapeType="1"/>
          </p:cNvSpPr>
          <p:nvPr/>
        </p:nvSpPr>
        <p:spPr bwMode="auto">
          <a:xfrm>
            <a:off x="8813800" y="54356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50" name="Line 111"/>
          <p:cNvSpPr>
            <a:spLocks noChangeShapeType="1"/>
          </p:cNvSpPr>
          <p:nvPr/>
        </p:nvSpPr>
        <p:spPr bwMode="auto">
          <a:xfrm>
            <a:off x="7632700" y="54229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51" name="Line 112"/>
          <p:cNvSpPr>
            <a:spLocks noChangeShapeType="1"/>
          </p:cNvSpPr>
          <p:nvPr/>
        </p:nvSpPr>
        <p:spPr bwMode="auto">
          <a:xfrm>
            <a:off x="4127500" y="5994400"/>
            <a:ext cx="152400" cy="0"/>
          </a:xfrm>
          <a:prstGeom prst="line">
            <a:avLst/>
          </a:prstGeom>
          <a:noFill/>
          <a:ln w="9525">
            <a:solidFill>
              <a:schemeClr val="tx1"/>
            </a:solidFill>
            <a:round/>
            <a:headEnd/>
            <a:tailEnd/>
          </a:ln>
        </p:spPr>
        <p:txBody>
          <a:bodyPr wrap="none" anchor="ctr"/>
          <a:lstStyle/>
          <a:p>
            <a:endParaRPr lang="bg-BG"/>
          </a:p>
        </p:txBody>
      </p:sp>
      <p:sp>
        <p:nvSpPr>
          <p:cNvPr id="56352" name="Line 113"/>
          <p:cNvSpPr>
            <a:spLocks noChangeShapeType="1"/>
          </p:cNvSpPr>
          <p:nvPr/>
        </p:nvSpPr>
        <p:spPr bwMode="auto">
          <a:xfrm>
            <a:off x="5346700" y="5969000"/>
            <a:ext cx="152400" cy="0"/>
          </a:xfrm>
          <a:prstGeom prst="line">
            <a:avLst/>
          </a:prstGeom>
          <a:noFill/>
          <a:ln w="9525">
            <a:solidFill>
              <a:schemeClr val="tx1"/>
            </a:solidFill>
            <a:round/>
            <a:headEnd/>
            <a:tailEnd/>
          </a:ln>
        </p:spPr>
        <p:txBody>
          <a:bodyPr wrap="none" anchor="ctr"/>
          <a:lstStyle/>
          <a:p>
            <a:endParaRPr lang="bg-BG"/>
          </a:p>
        </p:txBody>
      </p:sp>
      <p:sp>
        <p:nvSpPr>
          <p:cNvPr id="56353" name="Line 114"/>
          <p:cNvSpPr>
            <a:spLocks noChangeShapeType="1"/>
          </p:cNvSpPr>
          <p:nvPr/>
        </p:nvSpPr>
        <p:spPr bwMode="auto">
          <a:xfrm>
            <a:off x="5867400" y="5981700"/>
            <a:ext cx="152400" cy="0"/>
          </a:xfrm>
          <a:prstGeom prst="line">
            <a:avLst/>
          </a:prstGeom>
          <a:noFill/>
          <a:ln w="9525">
            <a:solidFill>
              <a:schemeClr val="tx1"/>
            </a:solidFill>
            <a:round/>
            <a:headEnd/>
            <a:tailEnd/>
          </a:ln>
        </p:spPr>
        <p:txBody>
          <a:bodyPr wrap="none" anchor="ctr"/>
          <a:lstStyle/>
          <a:p>
            <a:endParaRPr lang="bg-BG"/>
          </a:p>
        </p:txBody>
      </p:sp>
      <p:sp>
        <p:nvSpPr>
          <p:cNvPr id="56354" name="Line 115"/>
          <p:cNvSpPr>
            <a:spLocks noChangeShapeType="1"/>
          </p:cNvSpPr>
          <p:nvPr/>
        </p:nvSpPr>
        <p:spPr bwMode="auto">
          <a:xfrm>
            <a:off x="8737600" y="5969000"/>
            <a:ext cx="152400" cy="0"/>
          </a:xfrm>
          <a:prstGeom prst="line">
            <a:avLst/>
          </a:prstGeom>
          <a:noFill/>
          <a:ln w="9525">
            <a:solidFill>
              <a:schemeClr val="tx1"/>
            </a:solidFill>
            <a:round/>
            <a:headEnd/>
            <a:tailEnd/>
          </a:ln>
        </p:spPr>
        <p:txBody>
          <a:bodyPr wrap="none" anchor="ctr"/>
          <a:lstStyle/>
          <a:p>
            <a:endParaRPr lang="bg-BG"/>
          </a:p>
        </p:txBody>
      </p:sp>
      <p:sp>
        <p:nvSpPr>
          <p:cNvPr id="56355" name="Line 116"/>
          <p:cNvSpPr>
            <a:spLocks noChangeShapeType="1"/>
          </p:cNvSpPr>
          <p:nvPr/>
        </p:nvSpPr>
        <p:spPr bwMode="auto">
          <a:xfrm>
            <a:off x="7556500" y="5956300"/>
            <a:ext cx="152400" cy="0"/>
          </a:xfrm>
          <a:prstGeom prst="line">
            <a:avLst/>
          </a:prstGeom>
          <a:noFill/>
          <a:ln w="9525">
            <a:solidFill>
              <a:schemeClr val="tx1"/>
            </a:solidFill>
            <a:round/>
            <a:headEnd/>
            <a:tailEnd/>
          </a:ln>
        </p:spPr>
        <p:txBody>
          <a:bodyPr wrap="none" anchor="ctr"/>
          <a:lstStyle/>
          <a:p>
            <a:endParaRPr lang="bg-BG"/>
          </a:p>
        </p:txBody>
      </p:sp>
      <p:sp>
        <p:nvSpPr>
          <p:cNvPr id="56356" name="Line 117"/>
          <p:cNvSpPr>
            <a:spLocks noChangeShapeType="1"/>
          </p:cNvSpPr>
          <p:nvPr/>
        </p:nvSpPr>
        <p:spPr bwMode="auto">
          <a:xfrm>
            <a:off x="2565400" y="4648200"/>
            <a:ext cx="685800" cy="0"/>
          </a:xfrm>
          <a:prstGeom prst="line">
            <a:avLst/>
          </a:prstGeom>
          <a:noFill/>
          <a:ln w="9525">
            <a:solidFill>
              <a:schemeClr val="tx1"/>
            </a:solidFill>
            <a:round/>
            <a:headEnd/>
            <a:tailEnd/>
          </a:ln>
        </p:spPr>
        <p:txBody>
          <a:bodyPr wrap="none" anchor="ctr"/>
          <a:lstStyle/>
          <a:p>
            <a:endParaRPr lang="bg-BG"/>
          </a:p>
        </p:txBody>
      </p:sp>
      <p:sp>
        <p:nvSpPr>
          <p:cNvPr id="56357" name="Line 118"/>
          <p:cNvSpPr>
            <a:spLocks noChangeShapeType="1"/>
          </p:cNvSpPr>
          <p:nvPr/>
        </p:nvSpPr>
        <p:spPr bwMode="auto">
          <a:xfrm>
            <a:off x="3251200" y="46355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6358" name="Line 119"/>
          <p:cNvSpPr>
            <a:spLocks noChangeShapeType="1"/>
          </p:cNvSpPr>
          <p:nvPr/>
        </p:nvSpPr>
        <p:spPr bwMode="auto">
          <a:xfrm flipH="1">
            <a:off x="4775200" y="4635500"/>
            <a:ext cx="685800" cy="0"/>
          </a:xfrm>
          <a:prstGeom prst="line">
            <a:avLst/>
          </a:prstGeom>
          <a:noFill/>
          <a:ln w="9525">
            <a:solidFill>
              <a:schemeClr val="tx1"/>
            </a:solidFill>
            <a:round/>
            <a:headEnd/>
            <a:tailEnd/>
          </a:ln>
        </p:spPr>
        <p:txBody>
          <a:bodyPr wrap="none" anchor="ctr"/>
          <a:lstStyle/>
          <a:p>
            <a:endParaRPr lang="bg-BG"/>
          </a:p>
        </p:txBody>
      </p:sp>
      <p:sp>
        <p:nvSpPr>
          <p:cNvPr id="56359" name="Line 120"/>
          <p:cNvSpPr>
            <a:spLocks noChangeShapeType="1"/>
          </p:cNvSpPr>
          <p:nvPr/>
        </p:nvSpPr>
        <p:spPr bwMode="auto">
          <a:xfrm>
            <a:off x="4775200" y="46355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6360" name="Line 121"/>
          <p:cNvSpPr>
            <a:spLocks noChangeShapeType="1"/>
          </p:cNvSpPr>
          <p:nvPr/>
        </p:nvSpPr>
        <p:spPr bwMode="auto">
          <a:xfrm flipH="1">
            <a:off x="1879600" y="4025900"/>
            <a:ext cx="1752600" cy="0"/>
          </a:xfrm>
          <a:prstGeom prst="line">
            <a:avLst/>
          </a:prstGeom>
          <a:noFill/>
          <a:ln w="9525">
            <a:solidFill>
              <a:schemeClr val="tx1"/>
            </a:solidFill>
            <a:round/>
            <a:headEnd/>
            <a:tailEnd/>
          </a:ln>
        </p:spPr>
        <p:txBody>
          <a:bodyPr wrap="none" anchor="ctr"/>
          <a:lstStyle/>
          <a:p>
            <a:endParaRPr lang="bg-BG"/>
          </a:p>
        </p:txBody>
      </p:sp>
      <p:sp>
        <p:nvSpPr>
          <p:cNvPr id="56361" name="Line 122"/>
          <p:cNvSpPr>
            <a:spLocks noChangeShapeType="1"/>
          </p:cNvSpPr>
          <p:nvPr/>
        </p:nvSpPr>
        <p:spPr bwMode="auto">
          <a:xfrm>
            <a:off x="1879600" y="40259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56362" name="Line 123"/>
          <p:cNvSpPr>
            <a:spLocks noChangeShapeType="1"/>
          </p:cNvSpPr>
          <p:nvPr/>
        </p:nvSpPr>
        <p:spPr bwMode="auto">
          <a:xfrm flipH="1">
            <a:off x="965200" y="4711700"/>
            <a:ext cx="304800" cy="0"/>
          </a:xfrm>
          <a:prstGeom prst="line">
            <a:avLst/>
          </a:prstGeom>
          <a:noFill/>
          <a:ln w="9525">
            <a:solidFill>
              <a:schemeClr val="tx1"/>
            </a:solidFill>
            <a:round/>
            <a:headEnd/>
            <a:tailEnd/>
          </a:ln>
        </p:spPr>
        <p:txBody>
          <a:bodyPr wrap="none" anchor="ctr"/>
          <a:lstStyle/>
          <a:p>
            <a:endParaRPr lang="bg-BG"/>
          </a:p>
        </p:txBody>
      </p:sp>
      <p:sp>
        <p:nvSpPr>
          <p:cNvPr id="56363" name="Line 124"/>
          <p:cNvSpPr>
            <a:spLocks noChangeShapeType="1"/>
          </p:cNvSpPr>
          <p:nvPr/>
        </p:nvSpPr>
        <p:spPr bwMode="auto">
          <a:xfrm>
            <a:off x="965200" y="47117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64" name="Line 125"/>
          <p:cNvSpPr>
            <a:spLocks noChangeShapeType="1"/>
          </p:cNvSpPr>
          <p:nvPr/>
        </p:nvSpPr>
        <p:spPr bwMode="auto">
          <a:xfrm>
            <a:off x="4775200" y="4025900"/>
            <a:ext cx="1600200" cy="0"/>
          </a:xfrm>
          <a:prstGeom prst="line">
            <a:avLst/>
          </a:prstGeom>
          <a:noFill/>
          <a:ln w="9525">
            <a:solidFill>
              <a:schemeClr val="tx1"/>
            </a:solidFill>
            <a:round/>
            <a:headEnd/>
            <a:tailEnd/>
          </a:ln>
        </p:spPr>
        <p:txBody>
          <a:bodyPr wrap="none" anchor="ctr"/>
          <a:lstStyle/>
          <a:p>
            <a:endParaRPr lang="bg-BG"/>
          </a:p>
        </p:txBody>
      </p:sp>
      <p:sp>
        <p:nvSpPr>
          <p:cNvPr id="56365" name="Line 126"/>
          <p:cNvSpPr>
            <a:spLocks noChangeShapeType="1"/>
          </p:cNvSpPr>
          <p:nvPr/>
        </p:nvSpPr>
        <p:spPr bwMode="auto">
          <a:xfrm>
            <a:off x="6375400" y="40259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56366" name="Line 127"/>
          <p:cNvSpPr>
            <a:spLocks noChangeShapeType="1"/>
          </p:cNvSpPr>
          <p:nvPr/>
        </p:nvSpPr>
        <p:spPr bwMode="auto">
          <a:xfrm>
            <a:off x="6375400" y="46355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6367" name="Line 128"/>
          <p:cNvSpPr>
            <a:spLocks noChangeShapeType="1"/>
          </p:cNvSpPr>
          <p:nvPr/>
        </p:nvSpPr>
        <p:spPr bwMode="auto">
          <a:xfrm>
            <a:off x="7137400" y="54356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68" name="Line 129"/>
          <p:cNvSpPr>
            <a:spLocks noChangeShapeType="1"/>
          </p:cNvSpPr>
          <p:nvPr/>
        </p:nvSpPr>
        <p:spPr bwMode="auto">
          <a:xfrm>
            <a:off x="7061200" y="5969000"/>
            <a:ext cx="152400" cy="0"/>
          </a:xfrm>
          <a:prstGeom prst="line">
            <a:avLst/>
          </a:prstGeom>
          <a:noFill/>
          <a:ln w="9525">
            <a:solidFill>
              <a:schemeClr val="tx1"/>
            </a:solidFill>
            <a:round/>
            <a:headEnd/>
            <a:tailEnd/>
          </a:ln>
        </p:spPr>
        <p:txBody>
          <a:bodyPr wrap="none" anchor="ctr"/>
          <a:lstStyle/>
          <a:p>
            <a:endParaRPr lang="bg-BG"/>
          </a:p>
        </p:txBody>
      </p:sp>
      <p:sp>
        <p:nvSpPr>
          <p:cNvPr id="56369" name="Line 130"/>
          <p:cNvSpPr>
            <a:spLocks noChangeShapeType="1"/>
          </p:cNvSpPr>
          <p:nvPr/>
        </p:nvSpPr>
        <p:spPr bwMode="auto">
          <a:xfrm>
            <a:off x="7289800" y="4635500"/>
            <a:ext cx="914400" cy="0"/>
          </a:xfrm>
          <a:prstGeom prst="line">
            <a:avLst/>
          </a:prstGeom>
          <a:noFill/>
          <a:ln w="9525">
            <a:solidFill>
              <a:schemeClr val="tx1"/>
            </a:solidFill>
            <a:round/>
            <a:headEnd/>
            <a:tailEnd/>
          </a:ln>
        </p:spPr>
        <p:txBody>
          <a:bodyPr wrap="none" anchor="ctr"/>
          <a:lstStyle/>
          <a:p>
            <a:endParaRPr lang="bg-BG"/>
          </a:p>
        </p:txBody>
      </p:sp>
      <p:sp>
        <p:nvSpPr>
          <p:cNvPr id="56370" name="Line 131"/>
          <p:cNvSpPr>
            <a:spLocks noChangeShapeType="1"/>
          </p:cNvSpPr>
          <p:nvPr/>
        </p:nvSpPr>
        <p:spPr bwMode="auto">
          <a:xfrm>
            <a:off x="8204200" y="4635500"/>
            <a:ext cx="0" cy="609600"/>
          </a:xfrm>
          <a:prstGeom prst="line">
            <a:avLst/>
          </a:prstGeom>
          <a:noFill/>
          <a:ln w="9525">
            <a:solidFill>
              <a:schemeClr val="tx1"/>
            </a:solidFill>
            <a:round/>
            <a:headEnd/>
            <a:tailEnd type="triangle" w="med" len="med"/>
          </a:ln>
        </p:spPr>
        <p:txBody>
          <a:bodyPr wrap="none" anchor="ctr"/>
          <a:lstStyle/>
          <a:p>
            <a:endParaRPr lang="bg-BG"/>
          </a:p>
        </p:txBody>
      </p:sp>
      <p:sp>
        <p:nvSpPr>
          <p:cNvPr id="56371" name="Text Box 132"/>
          <p:cNvSpPr txBox="1">
            <a:spLocks noChangeArrowheads="1"/>
          </p:cNvSpPr>
          <p:nvPr/>
        </p:nvSpPr>
        <p:spPr bwMode="auto">
          <a:xfrm>
            <a:off x="3937000" y="3835400"/>
            <a:ext cx="5334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56372" name="Text Box 133"/>
          <p:cNvSpPr txBox="1">
            <a:spLocks noChangeArrowheads="1"/>
          </p:cNvSpPr>
          <p:nvPr/>
        </p:nvSpPr>
        <p:spPr bwMode="auto">
          <a:xfrm>
            <a:off x="2603500" y="52197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56373" name="Text Box 134"/>
          <p:cNvSpPr txBox="1">
            <a:spLocks noChangeArrowheads="1"/>
          </p:cNvSpPr>
          <p:nvPr/>
        </p:nvSpPr>
        <p:spPr bwMode="auto">
          <a:xfrm>
            <a:off x="5702300" y="44323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56374" name="Text Box 135"/>
          <p:cNvSpPr txBox="1">
            <a:spLocks noChangeArrowheads="1"/>
          </p:cNvSpPr>
          <p:nvPr/>
        </p:nvSpPr>
        <p:spPr bwMode="auto">
          <a:xfrm>
            <a:off x="6604000" y="44323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56375" name="Line 137"/>
          <p:cNvSpPr>
            <a:spLocks noChangeShapeType="1"/>
          </p:cNvSpPr>
          <p:nvPr/>
        </p:nvSpPr>
        <p:spPr bwMode="auto">
          <a:xfrm>
            <a:off x="2514600" y="5270500"/>
            <a:ext cx="0" cy="381000"/>
          </a:xfrm>
          <a:prstGeom prst="line">
            <a:avLst/>
          </a:prstGeom>
          <a:noFill/>
          <a:ln w="9525">
            <a:solidFill>
              <a:schemeClr val="tx1"/>
            </a:solidFill>
            <a:round/>
            <a:headEnd/>
            <a:tailEnd/>
          </a:ln>
        </p:spPr>
        <p:txBody>
          <a:bodyPr wrap="none" anchor="ctr"/>
          <a:lstStyle/>
          <a:p>
            <a:endParaRPr lang="bg-BG"/>
          </a:p>
        </p:txBody>
      </p:sp>
      <p:sp>
        <p:nvSpPr>
          <p:cNvPr id="56376" name="Line 138"/>
          <p:cNvSpPr>
            <a:spLocks noChangeShapeType="1"/>
          </p:cNvSpPr>
          <p:nvPr/>
        </p:nvSpPr>
        <p:spPr bwMode="auto">
          <a:xfrm>
            <a:off x="3200400" y="5257800"/>
            <a:ext cx="0" cy="381000"/>
          </a:xfrm>
          <a:prstGeom prst="line">
            <a:avLst/>
          </a:prstGeom>
          <a:noFill/>
          <a:ln w="9525">
            <a:solidFill>
              <a:schemeClr val="tx1"/>
            </a:solidFill>
            <a:round/>
            <a:headEnd/>
            <a:tailEnd/>
          </a:ln>
        </p:spPr>
        <p:txBody>
          <a:bodyPr wrap="none" anchor="ctr"/>
          <a:lstStyle/>
          <a:p>
            <a:endParaRPr lang="bg-BG"/>
          </a:p>
        </p:txBody>
      </p:sp>
      <p:sp>
        <p:nvSpPr>
          <p:cNvPr id="56377" name="Line 140"/>
          <p:cNvSpPr>
            <a:spLocks noChangeShapeType="1"/>
          </p:cNvSpPr>
          <p:nvPr/>
        </p:nvSpPr>
        <p:spPr bwMode="auto">
          <a:xfrm>
            <a:off x="3352800" y="54102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78" name="Line 142"/>
          <p:cNvSpPr>
            <a:spLocks noChangeShapeType="1"/>
          </p:cNvSpPr>
          <p:nvPr/>
        </p:nvSpPr>
        <p:spPr bwMode="auto">
          <a:xfrm>
            <a:off x="3276600" y="5943600"/>
            <a:ext cx="152400" cy="0"/>
          </a:xfrm>
          <a:prstGeom prst="line">
            <a:avLst/>
          </a:prstGeom>
          <a:noFill/>
          <a:ln w="9525">
            <a:solidFill>
              <a:schemeClr val="tx1"/>
            </a:solidFill>
            <a:round/>
            <a:headEnd/>
            <a:tailEnd/>
          </a:ln>
        </p:spPr>
        <p:txBody>
          <a:bodyPr wrap="none" anchor="ctr"/>
          <a:lstStyle/>
          <a:p>
            <a:endParaRPr lang="bg-BG"/>
          </a:p>
        </p:txBody>
      </p:sp>
      <p:sp>
        <p:nvSpPr>
          <p:cNvPr id="56379" name="Text Box 144"/>
          <p:cNvSpPr txBox="1">
            <a:spLocks noChangeArrowheads="1"/>
          </p:cNvSpPr>
          <p:nvPr/>
        </p:nvSpPr>
        <p:spPr bwMode="auto">
          <a:xfrm>
            <a:off x="6286500" y="5207000"/>
            <a:ext cx="533400" cy="457200"/>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56380" name="Text Box 145"/>
          <p:cNvSpPr txBox="1">
            <a:spLocks noChangeArrowheads="1"/>
          </p:cNvSpPr>
          <p:nvPr/>
        </p:nvSpPr>
        <p:spPr bwMode="auto">
          <a:xfrm>
            <a:off x="4572000" y="5207000"/>
            <a:ext cx="533400" cy="457200"/>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56381" name="Text Box 146"/>
          <p:cNvSpPr txBox="1">
            <a:spLocks noChangeArrowheads="1"/>
          </p:cNvSpPr>
          <p:nvPr/>
        </p:nvSpPr>
        <p:spPr bwMode="auto">
          <a:xfrm>
            <a:off x="7886700" y="5219700"/>
            <a:ext cx="660400" cy="457200"/>
          </a:xfrm>
          <a:prstGeom prst="rect">
            <a:avLst/>
          </a:prstGeom>
          <a:noFill/>
          <a:ln w="9525">
            <a:noFill/>
            <a:miter lim="800000"/>
            <a:headEnd/>
            <a:tailEnd/>
          </a:ln>
        </p:spPr>
        <p:txBody>
          <a:bodyPr>
            <a:spAutoFit/>
          </a:bodyPr>
          <a:lstStyle/>
          <a:p>
            <a:pPr>
              <a:spcBef>
                <a:spcPct val="50000"/>
              </a:spcBef>
            </a:pPr>
            <a:r>
              <a:rPr lang="bg-BG"/>
              <a:t>100</a:t>
            </a:r>
            <a:endParaRPr lang="en-US"/>
          </a:p>
        </p:txBody>
      </p:sp>
      <p:sp>
        <p:nvSpPr>
          <p:cNvPr id="56382" name="Text Box 148"/>
          <p:cNvSpPr txBox="1">
            <a:spLocks noChangeArrowheads="1"/>
          </p:cNvSpPr>
          <p:nvPr/>
        </p:nvSpPr>
        <p:spPr bwMode="auto">
          <a:xfrm>
            <a:off x="1714500" y="4432300"/>
            <a:ext cx="304800" cy="457200"/>
          </a:xfrm>
          <a:prstGeom prst="rect">
            <a:avLst/>
          </a:prstGeom>
          <a:noFill/>
          <a:ln w="9525">
            <a:noFill/>
            <a:miter lim="800000"/>
            <a:headEnd/>
            <a:tailEnd/>
          </a:ln>
        </p:spPr>
        <p:txBody>
          <a:bodyPr>
            <a:spAutoFit/>
          </a:bodyPr>
          <a:lstStyle/>
          <a:p>
            <a:pPr>
              <a:spcBef>
                <a:spcPct val="50000"/>
              </a:spcBef>
            </a:pPr>
            <a:r>
              <a:rPr lang="bg-BG"/>
              <a:t>1</a:t>
            </a:r>
            <a:endParaRPr lang="en-US"/>
          </a:p>
        </p:txBody>
      </p:sp>
      <p:sp>
        <p:nvSpPr>
          <p:cNvPr id="56383" name="Rectangle 151"/>
          <p:cNvSpPr>
            <a:spLocks noChangeArrowheads="1"/>
          </p:cNvSpPr>
          <p:nvPr/>
        </p:nvSpPr>
        <p:spPr bwMode="auto">
          <a:xfrm>
            <a:off x="1600200" y="5257800"/>
            <a:ext cx="1917700" cy="406400"/>
          </a:xfrm>
          <a:prstGeom prst="rect">
            <a:avLst/>
          </a:prstGeom>
          <a:noFill/>
          <a:ln w="9525">
            <a:solidFill>
              <a:schemeClr val="tx1"/>
            </a:solidFill>
            <a:miter lim="800000"/>
            <a:headEnd/>
            <a:tailEnd/>
          </a:ln>
        </p:spPr>
        <p:txBody>
          <a:bodyPr wrap="none" anchor="ctr"/>
          <a:lstStyle/>
          <a:p>
            <a:endParaRPr lang="bg-BG"/>
          </a:p>
        </p:txBody>
      </p:sp>
      <p:sp>
        <p:nvSpPr>
          <p:cNvPr id="56384" name="Line 152"/>
          <p:cNvSpPr>
            <a:spLocks noChangeShapeType="1"/>
          </p:cNvSpPr>
          <p:nvPr/>
        </p:nvSpPr>
        <p:spPr bwMode="auto">
          <a:xfrm>
            <a:off x="1790700" y="5270500"/>
            <a:ext cx="0" cy="381000"/>
          </a:xfrm>
          <a:prstGeom prst="line">
            <a:avLst/>
          </a:prstGeom>
          <a:noFill/>
          <a:ln w="9525">
            <a:solidFill>
              <a:schemeClr val="tx1"/>
            </a:solidFill>
            <a:round/>
            <a:headEnd/>
            <a:tailEnd/>
          </a:ln>
        </p:spPr>
        <p:txBody>
          <a:bodyPr wrap="none" anchor="ctr"/>
          <a:lstStyle/>
          <a:p>
            <a:endParaRPr lang="bg-BG"/>
          </a:p>
        </p:txBody>
      </p:sp>
      <p:sp>
        <p:nvSpPr>
          <p:cNvPr id="56385" name="Line 153"/>
          <p:cNvSpPr>
            <a:spLocks noChangeShapeType="1"/>
          </p:cNvSpPr>
          <p:nvPr/>
        </p:nvSpPr>
        <p:spPr bwMode="auto">
          <a:xfrm>
            <a:off x="2273300" y="5270500"/>
            <a:ext cx="0" cy="381000"/>
          </a:xfrm>
          <a:prstGeom prst="line">
            <a:avLst/>
          </a:prstGeom>
          <a:noFill/>
          <a:ln w="9525">
            <a:solidFill>
              <a:schemeClr val="tx1"/>
            </a:solidFill>
            <a:round/>
            <a:headEnd/>
            <a:tailEnd/>
          </a:ln>
        </p:spPr>
        <p:txBody>
          <a:bodyPr wrap="none" anchor="ctr"/>
          <a:lstStyle/>
          <a:p>
            <a:endParaRPr lang="bg-BG"/>
          </a:p>
        </p:txBody>
      </p:sp>
      <p:sp>
        <p:nvSpPr>
          <p:cNvPr id="56386" name="Line 154"/>
          <p:cNvSpPr>
            <a:spLocks noChangeShapeType="1"/>
          </p:cNvSpPr>
          <p:nvPr/>
        </p:nvSpPr>
        <p:spPr bwMode="auto">
          <a:xfrm>
            <a:off x="2400300" y="54229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87" name="Line 155"/>
          <p:cNvSpPr>
            <a:spLocks noChangeShapeType="1"/>
          </p:cNvSpPr>
          <p:nvPr/>
        </p:nvSpPr>
        <p:spPr bwMode="auto">
          <a:xfrm>
            <a:off x="1536700" y="54356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88" name="Line 156"/>
          <p:cNvSpPr>
            <a:spLocks noChangeShapeType="1"/>
          </p:cNvSpPr>
          <p:nvPr/>
        </p:nvSpPr>
        <p:spPr bwMode="auto">
          <a:xfrm>
            <a:off x="2324100" y="5981700"/>
            <a:ext cx="152400" cy="0"/>
          </a:xfrm>
          <a:prstGeom prst="line">
            <a:avLst/>
          </a:prstGeom>
          <a:noFill/>
          <a:ln w="9525">
            <a:solidFill>
              <a:schemeClr val="tx1"/>
            </a:solidFill>
            <a:round/>
            <a:headEnd/>
            <a:tailEnd/>
          </a:ln>
        </p:spPr>
        <p:txBody>
          <a:bodyPr wrap="none" anchor="ctr"/>
          <a:lstStyle/>
          <a:p>
            <a:endParaRPr lang="bg-BG"/>
          </a:p>
        </p:txBody>
      </p:sp>
      <p:sp>
        <p:nvSpPr>
          <p:cNvPr id="56389" name="Line 157"/>
          <p:cNvSpPr>
            <a:spLocks noChangeShapeType="1"/>
          </p:cNvSpPr>
          <p:nvPr/>
        </p:nvSpPr>
        <p:spPr bwMode="auto">
          <a:xfrm>
            <a:off x="1473200" y="5956300"/>
            <a:ext cx="152400" cy="0"/>
          </a:xfrm>
          <a:prstGeom prst="line">
            <a:avLst/>
          </a:prstGeom>
          <a:noFill/>
          <a:ln w="9525">
            <a:solidFill>
              <a:schemeClr val="tx1"/>
            </a:solidFill>
            <a:round/>
            <a:headEnd/>
            <a:tailEnd/>
          </a:ln>
        </p:spPr>
        <p:txBody>
          <a:bodyPr wrap="none" anchor="ctr"/>
          <a:lstStyle/>
          <a:p>
            <a:endParaRPr lang="bg-BG"/>
          </a:p>
        </p:txBody>
      </p:sp>
      <p:sp>
        <p:nvSpPr>
          <p:cNvPr id="56390" name="Text Box 158"/>
          <p:cNvSpPr txBox="1">
            <a:spLocks noChangeArrowheads="1"/>
          </p:cNvSpPr>
          <p:nvPr/>
        </p:nvSpPr>
        <p:spPr bwMode="auto">
          <a:xfrm>
            <a:off x="1765300" y="5232400"/>
            <a:ext cx="5715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56391" name="Rectangle 159"/>
          <p:cNvSpPr>
            <a:spLocks noChangeArrowheads="1"/>
          </p:cNvSpPr>
          <p:nvPr/>
        </p:nvSpPr>
        <p:spPr bwMode="auto">
          <a:xfrm>
            <a:off x="165100" y="5257800"/>
            <a:ext cx="1143000" cy="406400"/>
          </a:xfrm>
          <a:prstGeom prst="rect">
            <a:avLst/>
          </a:prstGeom>
          <a:noFill/>
          <a:ln w="9525">
            <a:solidFill>
              <a:schemeClr val="tx1"/>
            </a:solidFill>
            <a:miter lim="800000"/>
            <a:headEnd/>
            <a:tailEnd/>
          </a:ln>
        </p:spPr>
        <p:txBody>
          <a:bodyPr wrap="none" anchor="ctr"/>
          <a:lstStyle/>
          <a:p>
            <a:endParaRPr lang="bg-BG"/>
          </a:p>
        </p:txBody>
      </p:sp>
      <p:sp>
        <p:nvSpPr>
          <p:cNvPr id="56392" name="Line 160"/>
          <p:cNvSpPr>
            <a:spLocks noChangeShapeType="1"/>
          </p:cNvSpPr>
          <p:nvPr/>
        </p:nvSpPr>
        <p:spPr bwMode="auto">
          <a:xfrm>
            <a:off x="431800" y="5257800"/>
            <a:ext cx="0" cy="381000"/>
          </a:xfrm>
          <a:prstGeom prst="line">
            <a:avLst/>
          </a:prstGeom>
          <a:noFill/>
          <a:ln w="9525">
            <a:solidFill>
              <a:schemeClr val="tx1"/>
            </a:solidFill>
            <a:round/>
            <a:headEnd/>
            <a:tailEnd/>
          </a:ln>
        </p:spPr>
        <p:txBody>
          <a:bodyPr wrap="none" anchor="ctr"/>
          <a:lstStyle/>
          <a:p>
            <a:endParaRPr lang="bg-BG"/>
          </a:p>
        </p:txBody>
      </p:sp>
      <p:sp>
        <p:nvSpPr>
          <p:cNvPr id="56393" name="Line 161"/>
          <p:cNvSpPr>
            <a:spLocks noChangeShapeType="1"/>
          </p:cNvSpPr>
          <p:nvPr/>
        </p:nvSpPr>
        <p:spPr bwMode="auto">
          <a:xfrm>
            <a:off x="1054100" y="5257800"/>
            <a:ext cx="0" cy="381000"/>
          </a:xfrm>
          <a:prstGeom prst="line">
            <a:avLst/>
          </a:prstGeom>
          <a:noFill/>
          <a:ln w="9525">
            <a:solidFill>
              <a:schemeClr val="tx1"/>
            </a:solidFill>
            <a:round/>
            <a:headEnd/>
            <a:tailEnd/>
          </a:ln>
        </p:spPr>
        <p:txBody>
          <a:bodyPr wrap="none" anchor="ctr"/>
          <a:lstStyle/>
          <a:p>
            <a:endParaRPr lang="bg-BG"/>
          </a:p>
        </p:txBody>
      </p:sp>
      <p:sp>
        <p:nvSpPr>
          <p:cNvPr id="56394" name="Line 162"/>
          <p:cNvSpPr>
            <a:spLocks noChangeShapeType="1"/>
          </p:cNvSpPr>
          <p:nvPr/>
        </p:nvSpPr>
        <p:spPr bwMode="auto">
          <a:xfrm>
            <a:off x="1181100" y="54356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95" name="Line 163"/>
          <p:cNvSpPr>
            <a:spLocks noChangeShapeType="1"/>
          </p:cNvSpPr>
          <p:nvPr/>
        </p:nvSpPr>
        <p:spPr bwMode="auto">
          <a:xfrm>
            <a:off x="317500" y="5448300"/>
            <a:ext cx="0" cy="533400"/>
          </a:xfrm>
          <a:prstGeom prst="line">
            <a:avLst/>
          </a:prstGeom>
          <a:noFill/>
          <a:ln w="9525">
            <a:solidFill>
              <a:schemeClr val="tx1"/>
            </a:solidFill>
            <a:round/>
            <a:headEnd/>
            <a:tailEnd type="triangle" w="med" len="med"/>
          </a:ln>
        </p:spPr>
        <p:txBody>
          <a:bodyPr wrap="none" anchor="ctr"/>
          <a:lstStyle/>
          <a:p>
            <a:endParaRPr lang="bg-BG"/>
          </a:p>
        </p:txBody>
      </p:sp>
      <p:sp>
        <p:nvSpPr>
          <p:cNvPr id="56396" name="Line 164"/>
          <p:cNvSpPr>
            <a:spLocks noChangeShapeType="1"/>
          </p:cNvSpPr>
          <p:nvPr/>
        </p:nvSpPr>
        <p:spPr bwMode="auto">
          <a:xfrm>
            <a:off x="1104900" y="5994400"/>
            <a:ext cx="152400" cy="0"/>
          </a:xfrm>
          <a:prstGeom prst="line">
            <a:avLst/>
          </a:prstGeom>
          <a:noFill/>
          <a:ln w="9525">
            <a:solidFill>
              <a:schemeClr val="tx1"/>
            </a:solidFill>
            <a:round/>
            <a:headEnd/>
            <a:tailEnd/>
          </a:ln>
        </p:spPr>
        <p:txBody>
          <a:bodyPr wrap="none" anchor="ctr"/>
          <a:lstStyle/>
          <a:p>
            <a:endParaRPr lang="bg-BG"/>
          </a:p>
        </p:txBody>
      </p:sp>
      <p:sp>
        <p:nvSpPr>
          <p:cNvPr id="56397" name="Line 165"/>
          <p:cNvSpPr>
            <a:spLocks noChangeShapeType="1"/>
          </p:cNvSpPr>
          <p:nvPr/>
        </p:nvSpPr>
        <p:spPr bwMode="auto">
          <a:xfrm>
            <a:off x="254000" y="5969000"/>
            <a:ext cx="152400" cy="0"/>
          </a:xfrm>
          <a:prstGeom prst="line">
            <a:avLst/>
          </a:prstGeom>
          <a:noFill/>
          <a:ln w="9525">
            <a:solidFill>
              <a:schemeClr val="tx1"/>
            </a:solidFill>
            <a:round/>
            <a:headEnd/>
            <a:tailEnd/>
          </a:ln>
        </p:spPr>
        <p:txBody>
          <a:bodyPr wrap="none" anchor="ctr"/>
          <a:lstStyle/>
          <a:p>
            <a:endParaRPr lang="bg-BG"/>
          </a:p>
        </p:txBody>
      </p:sp>
      <p:sp>
        <p:nvSpPr>
          <p:cNvPr id="56398" name="Text Box 166"/>
          <p:cNvSpPr txBox="1">
            <a:spLocks noChangeArrowheads="1"/>
          </p:cNvSpPr>
          <p:nvPr/>
        </p:nvSpPr>
        <p:spPr bwMode="auto">
          <a:xfrm>
            <a:off x="482600" y="5245100"/>
            <a:ext cx="571500" cy="457200"/>
          </a:xfrm>
          <a:prstGeom prst="rect">
            <a:avLst/>
          </a:prstGeom>
          <a:noFill/>
          <a:ln w="9525">
            <a:noFill/>
            <a:miter lim="800000"/>
            <a:headEnd/>
            <a:tailEnd/>
          </a:ln>
        </p:spPr>
        <p:txBody>
          <a:bodyPr>
            <a:spAutoFit/>
          </a:bodyPr>
          <a:lstStyle/>
          <a:p>
            <a:pPr>
              <a:spcBef>
                <a:spcPct val="50000"/>
              </a:spcBef>
            </a:pPr>
            <a:r>
              <a:rPr lang="bg-BG"/>
              <a:t> 0</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1043608" y="548680"/>
            <a:ext cx="8269931" cy="5867400"/>
          </a:xfrm>
          <a:prstGeom prst="rect">
            <a:avLst/>
          </a:prstGeom>
          <a:noFill/>
          <a:ln w="9525">
            <a:noFill/>
            <a:miter lim="800000"/>
            <a:headEnd/>
            <a:tailEnd/>
          </a:ln>
        </p:spPr>
        <p:txBody>
          <a:bodyPr anchor="ctr"/>
          <a:lstStyle/>
          <a:p>
            <a:r>
              <a:rPr lang="en-US" sz="2800" u="sng">
                <a:solidFill>
                  <a:schemeClr val="tx2"/>
                </a:solidFill>
              </a:rPr>
              <a:t/>
            </a:r>
            <a:br>
              <a:rPr lang="en-US" sz="2800" u="sng">
                <a:solidFill>
                  <a:schemeClr val="tx2"/>
                </a:solidFill>
              </a:rPr>
            </a:br>
            <a:r>
              <a:rPr lang="bg-BG" sz="2800" u="sng">
                <a:solidFill>
                  <a:schemeClr val="tx2"/>
                </a:solidFill>
              </a:rPr>
              <a:t/>
            </a:r>
            <a:br>
              <a:rPr lang="bg-BG" sz="2800" u="sng">
                <a:solidFill>
                  <a:schemeClr val="tx2"/>
                </a:solidFill>
              </a:rPr>
            </a:br>
            <a:r>
              <a:rPr lang="en-US" sz="2800" u="sng"/>
              <a:t>2-3-4</a:t>
            </a:r>
            <a:r>
              <a:rPr lang="bg-BG" sz="2800" u="sng"/>
              <a:t> - дървета</a:t>
            </a:r>
            <a:r>
              <a:rPr lang="en-US" sz="2800"/>
              <a:t/>
            </a:r>
            <a:br>
              <a:rPr lang="en-US" sz="2800"/>
            </a:br>
            <a:r>
              <a:rPr lang="en-US" sz="2800"/>
              <a:t> 	</a:t>
            </a:r>
            <a:r>
              <a:rPr lang="en-US"/>
              <a:t>2-3-4</a:t>
            </a:r>
            <a:r>
              <a:rPr lang="bg-BG"/>
              <a:t> - дърво</a:t>
            </a:r>
            <a:r>
              <a:rPr lang="en-US"/>
              <a:t> </a:t>
            </a:r>
            <a:r>
              <a:rPr lang="bg-BG"/>
              <a:t>е дърво Т със следните свойства:</a:t>
            </a:r>
            <a:br>
              <a:rPr lang="bg-BG"/>
            </a:br>
            <a:r>
              <a:rPr lang="bg-BG"/>
              <a:t>	- Т е идеално балансирано дърво;</a:t>
            </a:r>
            <a:br>
              <a:rPr lang="bg-BG"/>
            </a:br>
            <a:r>
              <a:rPr lang="bg-BG"/>
              <a:t>	- всеки вътрешен връх има 2, 3 или 4 наследника;</a:t>
            </a:r>
            <a:br>
              <a:rPr lang="bg-BG"/>
            </a:br>
            <a:r>
              <a:rPr lang="bg-BG"/>
              <a:t>	- всички пътища от корена до произволно листо имат </a:t>
            </a:r>
            <a:br>
              <a:rPr lang="bg-BG"/>
            </a:br>
            <a:r>
              <a:rPr lang="bg-BG"/>
              <a:t>	  еднаква дължина:</a:t>
            </a:r>
            <a:r>
              <a:rPr lang="en-US"/>
              <a:t/>
            </a:r>
            <a:br>
              <a:rPr lang="en-US"/>
            </a:br>
            <a:r>
              <a:rPr lang="bg-BG"/>
              <a:t/>
            </a:r>
            <a:br>
              <a:rPr lang="bg-BG"/>
            </a:br>
            <a:r>
              <a:rPr lang="bg-BG"/>
              <a:t>Например:</a:t>
            </a:r>
            <a:r>
              <a:rPr lang="bg-BG">
                <a:solidFill>
                  <a:schemeClr val="tx2"/>
                </a:solidFill>
              </a:rPr>
              <a:t/>
            </a:r>
            <a:br>
              <a:rPr lang="bg-BG">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r>
              <a:rPr lang="bg-BG" sz="2800">
                <a:solidFill>
                  <a:schemeClr val="tx2"/>
                </a:solidFill>
              </a:rPr>
              <a:t/>
            </a:r>
            <a:br>
              <a:rPr lang="bg-BG" sz="2800">
                <a:solidFill>
                  <a:schemeClr val="tx2"/>
                </a:solidFill>
              </a:rPr>
            </a:br>
            <a:endParaRPr lang="en-US" sz="2800">
              <a:solidFill>
                <a:schemeClr val="tx2"/>
              </a:solidFill>
            </a:endParaRPr>
          </a:p>
        </p:txBody>
      </p:sp>
      <p:grpSp>
        <p:nvGrpSpPr>
          <p:cNvPr id="99" name="Group 98"/>
          <p:cNvGrpSpPr/>
          <p:nvPr/>
        </p:nvGrpSpPr>
        <p:grpSpPr>
          <a:xfrm>
            <a:off x="179512" y="3523684"/>
            <a:ext cx="8839200" cy="2743200"/>
            <a:chOff x="277813" y="3352800"/>
            <a:chExt cx="8839200" cy="2743200"/>
          </a:xfrm>
        </p:grpSpPr>
        <p:grpSp>
          <p:nvGrpSpPr>
            <p:cNvPr id="57347" name="Group 3"/>
            <p:cNvGrpSpPr>
              <a:grpSpLocks/>
            </p:cNvGrpSpPr>
            <p:nvPr/>
          </p:nvGrpSpPr>
          <p:grpSpPr bwMode="auto">
            <a:xfrm>
              <a:off x="277813" y="3352800"/>
              <a:ext cx="8839200" cy="2743200"/>
              <a:chOff x="1796" y="2658"/>
              <a:chExt cx="9413" cy="2113"/>
            </a:xfrm>
          </p:grpSpPr>
          <p:grpSp>
            <p:nvGrpSpPr>
              <p:cNvPr id="57366" name="Group 4"/>
              <p:cNvGrpSpPr>
                <a:grpSpLocks/>
              </p:cNvGrpSpPr>
              <p:nvPr/>
            </p:nvGrpSpPr>
            <p:grpSpPr bwMode="auto">
              <a:xfrm>
                <a:off x="1796" y="3008"/>
                <a:ext cx="9413" cy="1763"/>
                <a:chOff x="1796" y="3008"/>
                <a:chExt cx="9413" cy="1763"/>
              </a:xfrm>
            </p:grpSpPr>
            <p:grpSp>
              <p:nvGrpSpPr>
                <p:cNvPr id="57381" name="Group 5"/>
                <p:cNvGrpSpPr>
                  <a:grpSpLocks/>
                </p:cNvGrpSpPr>
                <p:nvPr/>
              </p:nvGrpSpPr>
              <p:grpSpPr bwMode="auto">
                <a:xfrm>
                  <a:off x="5240" y="3008"/>
                  <a:ext cx="1820" cy="352"/>
                  <a:chOff x="3465" y="1977"/>
                  <a:chExt cx="1820" cy="352"/>
                </a:xfrm>
              </p:grpSpPr>
              <p:sp>
                <p:nvSpPr>
                  <p:cNvPr id="57436" name="Rectangle 6"/>
                  <p:cNvSpPr>
                    <a:spLocks noChangeArrowheads="1"/>
                  </p:cNvSpPr>
                  <p:nvPr/>
                </p:nvSpPr>
                <p:spPr bwMode="auto">
                  <a:xfrm>
                    <a:off x="3465" y="1983"/>
                    <a:ext cx="1820" cy="330"/>
                  </a:xfrm>
                  <a:prstGeom prst="rect">
                    <a:avLst/>
                  </a:prstGeom>
                  <a:noFill/>
                  <a:ln w="9525">
                    <a:solidFill>
                      <a:srgbClr val="000000"/>
                    </a:solidFill>
                    <a:miter lim="800000"/>
                    <a:headEnd/>
                    <a:tailEnd/>
                  </a:ln>
                </p:spPr>
                <p:txBody>
                  <a:bodyPr/>
                  <a:lstStyle/>
                  <a:p>
                    <a:endParaRPr lang="bg-BG"/>
                  </a:p>
                </p:txBody>
              </p:sp>
              <p:sp>
                <p:nvSpPr>
                  <p:cNvPr id="57437" name="Line 7"/>
                  <p:cNvSpPr>
                    <a:spLocks noChangeShapeType="1"/>
                  </p:cNvSpPr>
                  <p:nvPr/>
                </p:nvSpPr>
                <p:spPr bwMode="auto">
                  <a:xfrm>
                    <a:off x="3650" y="1979"/>
                    <a:ext cx="0" cy="330"/>
                  </a:xfrm>
                  <a:prstGeom prst="line">
                    <a:avLst/>
                  </a:prstGeom>
                  <a:noFill/>
                  <a:ln w="9525">
                    <a:solidFill>
                      <a:srgbClr val="000000"/>
                    </a:solidFill>
                    <a:round/>
                    <a:headEnd/>
                    <a:tailEnd/>
                  </a:ln>
                </p:spPr>
                <p:txBody>
                  <a:bodyPr/>
                  <a:lstStyle/>
                  <a:p>
                    <a:endParaRPr lang="bg-BG"/>
                  </a:p>
                </p:txBody>
              </p:sp>
              <p:sp>
                <p:nvSpPr>
                  <p:cNvPr id="57438" name="Line 8"/>
                  <p:cNvSpPr>
                    <a:spLocks noChangeShapeType="1"/>
                  </p:cNvSpPr>
                  <p:nvPr/>
                </p:nvSpPr>
                <p:spPr bwMode="auto">
                  <a:xfrm>
                    <a:off x="3969" y="1978"/>
                    <a:ext cx="0" cy="330"/>
                  </a:xfrm>
                  <a:prstGeom prst="line">
                    <a:avLst/>
                  </a:prstGeom>
                  <a:noFill/>
                  <a:ln w="9525">
                    <a:solidFill>
                      <a:srgbClr val="000000"/>
                    </a:solidFill>
                    <a:round/>
                    <a:headEnd/>
                    <a:tailEnd/>
                  </a:ln>
                </p:spPr>
                <p:txBody>
                  <a:bodyPr/>
                  <a:lstStyle/>
                  <a:p>
                    <a:endParaRPr lang="bg-BG"/>
                  </a:p>
                </p:txBody>
              </p:sp>
              <p:sp>
                <p:nvSpPr>
                  <p:cNvPr id="57439" name="Line 9"/>
                  <p:cNvSpPr>
                    <a:spLocks noChangeShapeType="1"/>
                  </p:cNvSpPr>
                  <p:nvPr/>
                </p:nvSpPr>
                <p:spPr bwMode="auto">
                  <a:xfrm>
                    <a:off x="4157" y="1999"/>
                    <a:ext cx="0" cy="330"/>
                  </a:xfrm>
                  <a:prstGeom prst="line">
                    <a:avLst/>
                  </a:prstGeom>
                  <a:noFill/>
                  <a:ln w="9525">
                    <a:solidFill>
                      <a:srgbClr val="000000"/>
                    </a:solidFill>
                    <a:round/>
                    <a:headEnd/>
                    <a:tailEnd/>
                  </a:ln>
                </p:spPr>
                <p:txBody>
                  <a:bodyPr/>
                  <a:lstStyle/>
                  <a:p>
                    <a:endParaRPr lang="bg-BG"/>
                  </a:p>
                </p:txBody>
              </p:sp>
              <p:sp>
                <p:nvSpPr>
                  <p:cNvPr id="57440" name="Line 10"/>
                  <p:cNvSpPr>
                    <a:spLocks noChangeShapeType="1"/>
                  </p:cNvSpPr>
                  <p:nvPr/>
                </p:nvSpPr>
                <p:spPr bwMode="auto">
                  <a:xfrm>
                    <a:off x="5081" y="1996"/>
                    <a:ext cx="0" cy="330"/>
                  </a:xfrm>
                  <a:prstGeom prst="line">
                    <a:avLst/>
                  </a:prstGeom>
                  <a:noFill/>
                  <a:ln w="9525">
                    <a:solidFill>
                      <a:srgbClr val="000000"/>
                    </a:solidFill>
                    <a:round/>
                    <a:headEnd/>
                    <a:tailEnd/>
                  </a:ln>
                </p:spPr>
                <p:txBody>
                  <a:bodyPr/>
                  <a:lstStyle/>
                  <a:p>
                    <a:endParaRPr lang="bg-BG"/>
                  </a:p>
                </p:txBody>
              </p:sp>
              <p:sp>
                <p:nvSpPr>
                  <p:cNvPr id="57441" name="Line 11"/>
                  <p:cNvSpPr>
                    <a:spLocks noChangeShapeType="1"/>
                  </p:cNvSpPr>
                  <p:nvPr/>
                </p:nvSpPr>
                <p:spPr bwMode="auto">
                  <a:xfrm>
                    <a:off x="4704" y="1977"/>
                    <a:ext cx="0" cy="330"/>
                  </a:xfrm>
                  <a:prstGeom prst="line">
                    <a:avLst/>
                  </a:prstGeom>
                  <a:noFill/>
                  <a:ln w="9525">
                    <a:solidFill>
                      <a:srgbClr val="000000"/>
                    </a:solidFill>
                    <a:round/>
                    <a:headEnd/>
                    <a:tailEnd/>
                  </a:ln>
                </p:spPr>
                <p:txBody>
                  <a:bodyPr/>
                  <a:lstStyle/>
                  <a:p>
                    <a:endParaRPr lang="bg-BG"/>
                  </a:p>
                </p:txBody>
              </p:sp>
              <p:sp>
                <p:nvSpPr>
                  <p:cNvPr id="57442" name="Line 12"/>
                  <p:cNvSpPr>
                    <a:spLocks noChangeShapeType="1"/>
                  </p:cNvSpPr>
                  <p:nvPr/>
                </p:nvSpPr>
                <p:spPr bwMode="auto">
                  <a:xfrm>
                    <a:off x="4512" y="1977"/>
                    <a:ext cx="0" cy="330"/>
                  </a:xfrm>
                  <a:prstGeom prst="line">
                    <a:avLst/>
                  </a:prstGeom>
                  <a:noFill/>
                  <a:ln w="9525">
                    <a:solidFill>
                      <a:srgbClr val="000000"/>
                    </a:solidFill>
                    <a:round/>
                    <a:headEnd/>
                    <a:tailEnd/>
                  </a:ln>
                </p:spPr>
                <p:txBody>
                  <a:bodyPr/>
                  <a:lstStyle/>
                  <a:p>
                    <a:endParaRPr lang="bg-BG"/>
                  </a:p>
                </p:txBody>
              </p:sp>
            </p:grpSp>
            <p:grpSp>
              <p:nvGrpSpPr>
                <p:cNvPr id="57382" name="Group 13"/>
                <p:cNvGrpSpPr>
                  <a:grpSpLocks/>
                </p:cNvGrpSpPr>
                <p:nvPr/>
              </p:nvGrpSpPr>
              <p:grpSpPr bwMode="auto">
                <a:xfrm>
                  <a:off x="9389" y="4416"/>
                  <a:ext cx="1820" cy="352"/>
                  <a:chOff x="3465" y="1977"/>
                  <a:chExt cx="1820" cy="352"/>
                </a:xfrm>
              </p:grpSpPr>
              <p:sp>
                <p:nvSpPr>
                  <p:cNvPr id="57429" name="Rectangle 14"/>
                  <p:cNvSpPr>
                    <a:spLocks noChangeArrowheads="1"/>
                  </p:cNvSpPr>
                  <p:nvPr/>
                </p:nvSpPr>
                <p:spPr bwMode="auto">
                  <a:xfrm>
                    <a:off x="3465" y="1983"/>
                    <a:ext cx="1820" cy="330"/>
                  </a:xfrm>
                  <a:prstGeom prst="rect">
                    <a:avLst/>
                  </a:prstGeom>
                  <a:noFill/>
                  <a:ln w="9525">
                    <a:solidFill>
                      <a:srgbClr val="000000"/>
                    </a:solidFill>
                    <a:miter lim="800000"/>
                    <a:headEnd/>
                    <a:tailEnd/>
                  </a:ln>
                </p:spPr>
                <p:txBody>
                  <a:bodyPr/>
                  <a:lstStyle/>
                  <a:p>
                    <a:endParaRPr lang="bg-BG"/>
                  </a:p>
                </p:txBody>
              </p:sp>
              <p:sp>
                <p:nvSpPr>
                  <p:cNvPr id="57430" name="Line 15"/>
                  <p:cNvSpPr>
                    <a:spLocks noChangeShapeType="1"/>
                  </p:cNvSpPr>
                  <p:nvPr/>
                </p:nvSpPr>
                <p:spPr bwMode="auto">
                  <a:xfrm>
                    <a:off x="3650" y="1979"/>
                    <a:ext cx="0" cy="330"/>
                  </a:xfrm>
                  <a:prstGeom prst="line">
                    <a:avLst/>
                  </a:prstGeom>
                  <a:noFill/>
                  <a:ln w="9525">
                    <a:solidFill>
                      <a:srgbClr val="000000"/>
                    </a:solidFill>
                    <a:round/>
                    <a:headEnd/>
                    <a:tailEnd/>
                  </a:ln>
                </p:spPr>
                <p:txBody>
                  <a:bodyPr/>
                  <a:lstStyle/>
                  <a:p>
                    <a:endParaRPr lang="bg-BG"/>
                  </a:p>
                </p:txBody>
              </p:sp>
              <p:sp>
                <p:nvSpPr>
                  <p:cNvPr id="57431" name="Line 16"/>
                  <p:cNvSpPr>
                    <a:spLocks noChangeShapeType="1"/>
                  </p:cNvSpPr>
                  <p:nvPr/>
                </p:nvSpPr>
                <p:spPr bwMode="auto">
                  <a:xfrm>
                    <a:off x="3969" y="1978"/>
                    <a:ext cx="0" cy="330"/>
                  </a:xfrm>
                  <a:prstGeom prst="line">
                    <a:avLst/>
                  </a:prstGeom>
                  <a:noFill/>
                  <a:ln w="9525">
                    <a:solidFill>
                      <a:srgbClr val="000000"/>
                    </a:solidFill>
                    <a:round/>
                    <a:headEnd/>
                    <a:tailEnd/>
                  </a:ln>
                </p:spPr>
                <p:txBody>
                  <a:bodyPr/>
                  <a:lstStyle/>
                  <a:p>
                    <a:endParaRPr lang="bg-BG"/>
                  </a:p>
                </p:txBody>
              </p:sp>
              <p:sp>
                <p:nvSpPr>
                  <p:cNvPr id="57432" name="Line 17"/>
                  <p:cNvSpPr>
                    <a:spLocks noChangeShapeType="1"/>
                  </p:cNvSpPr>
                  <p:nvPr/>
                </p:nvSpPr>
                <p:spPr bwMode="auto">
                  <a:xfrm>
                    <a:off x="4157" y="1999"/>
                    <a:ext cx="0" cy="330"/>
                  </a:xfrm>
                  <a:prstGeom prst="line">
                    <a:avLst/>
                  </a:prstGeom>
                  <a:noFill/>
                  <a:ln w="9525">
                    <a:solidFill>
                      <a:srgbClr val="000000"/>
                    </a:solidFill>
                    <a:round/>
                    <a:headEnd/>
                    <a:tailEnd/>
                  </a:ln>
                </p:spPr>
                <p:txBody>
                  <a:bodyPr/>
                  <a:lstStyle/>
                  <a:p>
                    <a:endParaRPr lang="bg-BG"/>
                  </a:p>
                </p:txBody>
              </p:sp>
              <p:sp>
                <p:nvSpPr>
                  <p:cNvPr id="57433" name="Line 18"/>
                  <p:cNvSpPr>
                    <a:spLocks noChangeShapeType="1"/>
                  </p:cNvSpPr>
                  <p:nvPr/>
                </p:nvSpPr>
                <p:spPr bwMode="auto">
                  <a:xfrm>
                    <a:off x="5081" y="1996"/>
                    <a:ext cx="0" cy="330"/>
                  </a:xfrm>
                  <a:prstGeom prst="line">
                    <a:avLst/>
                  </a:prstGeom>
                  <a:noFill/>
                  <a:ln w="9525">
                    <a:solidFill>
                      <a:srgbClr val="000000"/>
                    </a:solidFill>
                    <a:round/>
                    <a:headEnd/>
                    <a:tailEnd/>
                  </a:ln>
                </p:spPr>
                <p:txBody>
                  <a:bodyPr/>
                  <a:lstStyle/>
                  <a:p>
                    <a:endParaRPr lang="bg-BG"/>
                  </a:p>
                </p:txBody>
              </p:sp>
              <p:sp>
                <p:nvSpPr>
                  <p:cNvPr id="57434" name="Line 19"/>
                  <p:cNvSpPr>
                    <a:spLocks noChangeShapeType="1"/>
                  </p:cNvSpPr>
                  <p:nvPr/>
                </p:nvSpPr>
                <p:spPr bwMode="auto">
                  <a:xfrm>
                    <a:off x="4704" y="1977"/>
                    <a:ext cx="0" cy="330"/>
                  </a:xfrm>
                  <a:prstGeom prst="line">
                    <a:avLst/>
                  </a:prstGeom>
                  <a:noFill/>
                  <a:ln w="9525">
                    <a:solidFill>
                      <a:srgbClr val="000000"/>
                    </a:solidFill>
                    <a:round/>
                    <a:headEnd/>
                    <a:tailEnd/>
                  </a:ln>
                </p:spPr>
                <p:txBody>
                  <a:bodyPr/>
                  <a:lstStyle/>
                  <a:p>
                    <a:endParaRPr lang="bg-BG"/>
                  </a:p>
                </p:txBody>
              </p:sp>
              <p:sp>
                <p:nvSpPr>
                  <p:cNvPr id="57435" name="Line 20"/>
                  <p:cNvSpPr>
                    <a:spLocks noChangeShapeType="1"/>
                  </p:cNvSpPr>
                  <p:nvPr/>
                </p:nvSpPr>
                <p:spPr bwMode="auto">
                  <a:xfrm>
                    <a:off x="4512" y="1977"/>
                    <a:ext cx="0" cy="330"/>
                  </a:xfrm>
                  <a:prstGeom prst="line">
                    <a:avLst/>
                  </a:prstGeom>
                  <a:noFill/>
                  <a:ln w="9525">
                    <a:solidFill>
                      <a:srgbClr val="000000"/>
                    </a:solidFill>
                    <a:round/>
                    <a:headEnd/>
                    <a:tailEnd/>
                  </a:ln>
                </p:spPr>
                <p:txBody>
                  <a:bodyPr/>
                  <a:lstStyle/>
                  <a:p>
                    <a:endParaRPr lang="bg-BG"/>
                  </a:p>
                </p:txBody>
              </p:sp>
            </p:grpSp>
            <p:grpSp>
              <p:nvGrpSpPr>
                <p:cNvPr id="57383" name="Group 21"/>
                <p:cNvGrpSpPr>
                  <a:grpSpLocks/>
                </p:cNvGrpSpPr>
                <p:nvPr/>
              </p:nvGrpSpPr>
              <p:grpSpPr bwMode="auto">
                <a:xfrm>
                  <a:off x="6718" y="3640"/>
                  <a:ext cx="902" cy="350"/>
                  <a:chOff x="6788" y="774"/>
                  <a:chExt cx="902" cy="350"/>
                </a:xfrm>
              </p:grpSpPr>
              <p:sp>
                <p:nvSpPr>
                  <p:cNvPr id="57426" name="Rectangle 22"/>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27" name="Line 23"/>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28" name="Line 24"/>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84" name="Group 25"/>
                <p:cNvGrpSpPr>
                  <a:grpSpLocks/>
                </p:cNvGrpSpPr>
                <p:nvPr/>
              </p:nvGrpSpPr>
              <p:grpSpPr bwMode="auto">
                <a:xfrm>
                  <a:off x="4892" y="3635"/>
                  <a:ext cx="902" cy="350"/>
                  <a:chOff x="6788" y="774"/>
                  <a:chExt cx="902" cy="350"/>
                </a:xfrm>
              </p:grpSpPr>
              <p:sp>
                <p:nvSpPr>
                  <p:cNvPr id="57423" name="Rectangle 26"/>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24" name="Line 27"/>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25" name="Line 28"/>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85" name="Group 29"/>
                <p:cNvGrpSpPr>
                  <a:grpSpLocks/>
                </p:cNvGrpSpPr>
                <p:nvPr/>
              </p:nvGrpSpPr>
              <p:grpSpPr bwMode="auto">
                <a:xfrm>
                  <a:off x="3050" y="3650"/>
                  <a:ext cx="902" cy="350"/>
                  <a:chOff x="6788" y="774"/>
                  <a:chExt cx="902" cy="350"/>
                </a:xfrm>
              </p:grpSpPr>
              <p:sp>
                <p:nvSpPr>
                  <p:cNvPr id="57420" name="Rectangle 30"/>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21" name="Line 31"/>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22" name="Line 32"/>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86" name="Group 33"/>
                <p:cNvGrpSpPr>
                  <a:grpSpLocks/>
                </p:cNvGrpSpPr>
                <p:nvPr/>
              </p:nvGrpSpPr>
              <p:grpSpPr bwMode="auto">
                <a:xfrm>
                  <a:off x="8833" y="3639"/>
                  <a:ext cx="902" cy="350"/>
                  <a:chOff x="6788" y="774"/>
                  <a:chExt cx="902" cy="350"/>
                </a:xfrm>
              </p:grpSpPr>
              <p:sp>
                <p:nvSpPr>
                  <p:cNvPr id="57417" name="Rectangle 3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18" name="Line 3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19" name="Line 3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87" name="Group 37"/>
                <p:cNvGrpSpPr>
                  <a:grpSpLocks/>
                </p:cNvGrpSpPr>
                <p:nvPr/>
              </p:nvGrpSpPr>
              <p:grpSpPr bwMode="auto">
                <a:xfrm>
                  <a:off x="1796" y="4396"/>
                  <a:ext cx="1535" cy="370"/>
                  <a:chOff x="5284" y="1407"/>
                  <a:chExt cx="1535" cy="370"/>
                </a:xfrm>
              </p:grpSpPr>
              <p:sp>
                <p:nvSpPr>
                  <p:cNvPr id="57412" name="Rectangle 38"/>
                  <p:cNvSpPr>
                    <a:spLocks noChangeArrowheads="1"/>
                  </p:cNvSpPr>
                  <p:nvPr/>
                </p:nvSpPr>
                <p:spPr bwMode="auto">
                  <a:xfrm>
                    <a:off x="5284" y="1407"/>
                    <a:ext cx="1535" cy="348"/>
                  </a:xfrm>
                  <a:prstGeom prst="rect">
                    <a:avLst/>
                  </a:prstGeom>
                  <a:noFill/>
                  <a:ln w="9525">
                    <a:solidFill>
                      <a:srgbClr val="000000"/>
                    </a:solidFill>
                    <a:miter lim="800000"/>
                    <a:headEnd/>
                    <a:tailEnd/>
                  </a:ln>
                </p:spPr>
                <p:txBody>
                  <a:bodyPr/>
                  <a:lstStyle/>
                  <a:p>
                    <a:endParaRPr lang="bg-BG"/>
                  </a:p>
                </p:txBody>
              </p:sp>
              <p:sp>
                <p:nvSpPr>
                  <p:cNvPr id="57413" name="Line 39"/>
                  <p:cNvSpPr>
                    <a:spLocks noChangeShapeType="1"/>
                  </p:cNvSpPr>
                  <p:nvPr/>
                </p:nvSpPr>
                <p:spPr bwMode="auto">
                  <a:xfrm>
                    <a:off x="5523" y="1408"/>
                    <a:ext cx="0" cy="348"/>
                  </a:xfrm>
                  <a:prstGeom prst="line">
                    <a:avLst/>
                  </a:prstGeom>
                  <a:noFill/>
                  <a:ln w="9525">
                    <a:solidFill>
                      <a:srgbClr val="000000"/>
                    </a:solidFill>
                    <a:round/>
                    <a:headEnd/>
                    <a:tailEnd/>
                  </a:ln>
                </p:spPr>
                <p:txBody>
                  <a:bodyPr/>
                  <a:lstStyle/>
                  <a:p>
                    <a:endParaRPr lang="bg-BG"/>
                  </a:p>
                </p:txBody>
              </p:sp>
              <p:sp>
                <p:nvSpPr>
                  <p:cNvPr id="57414" name="Line 40"/>
                  <p:cNvSpPr>
                    <a:spLocks noChangeShapeType="1"/>
                  </p:cNvSpPr>
                  <p:nvPr/>
                </p:nvSpPr>
                <p:spPr bwMode="auto">
                  <a:xfrm>
                    <a:off x="5922" y="1426"/>
                    <a:ext cx="0" cy="348"/>
                  </a:xfrm>
                  <a:prstGeom prst="line">
                    <a:avLst/>
                  </a:prstGeom>
                  <a:noFill/>
                  <a:ln w="9525">
                    <a:solidFill>
                      <a:srgbClr val="000000"/>
                    </a:solidFill>
                    <a:round/>
                    <a:headEnd/>
                    <a:tailEnd/>
                  </a:ln>
                </p:spPr>
                <p:txBody>
                  <a:bodyPr/>
                  <a:lstStyle/>
                  <a:p>
                    <a:endParaRPr lang="bg-BG"/>
                  </a:p>
                </p:txBody>
              </p:sp>
              <p:sp>
                <p:nvSpPr>
                  <p:cNvPr id="57415" name="Line 41"/>
                  <p:cNvSpPr>
                    <a:spLocks noChangeShapeType="1"/>
                  </p:cNvSpPr>
                  <p:nvPr/>
                </p:nvSpPr>
                <p:spPr bwMode="auto">
                  <a:xfrm>
                    <a:off x="6559" y="1429"/>
                    <a:ext cx="0" cy="348"/>
                  </a:xfrm>
                  <a:prstGeom prst="line">
                    <a:avLst/>
                  </a:prstGeom>
                  <a:noFill/>
                  <a:ln w="9525">
                    <a:solidFill>
                      <a:srgbClr val="000000"/>
                    </a:solidFill>
                    <a:round/>
                    <a:headEnd/>
                    <a:tailEnd/>
                  </a:ln>
                </p:spPr>
                <p:txBody>
                  <a:bodyPr/>
                  <a:lstStyle/>
                  <a:p>
                    <a:endParaRPr lang="bg-BG"/>
                  </a:p>
                </p:txBody>
              </p:sp>
              <p:sp>
                <p:nvSpPr>
                  <p:cNvPr id="57416" name="Line 42"/>
                  <p:cNvSpPr>
                    <a:spLocks noChangeShapeType="1"/>
                  </p:cNvSpPr>
                  <p:nvPr/>
                </p:nvSpPr>
                <p:spPr bwMode="auto">
                  <a:xfrm>
                    <a:off x="6160" y="1411"/>
                    <a:ext cx="0" cy="348"/>
                  </a:xfrm>
                  <a:prstGeom prst="line">
                    <a:avLst/>
                  </a:prstGeom>
                  <a:noFill/>
                  <a:ln w="9525">
                    <a:solidFill>
                      <a:srgbClr val="000000"/>
                    </a:solidFill>
                    <a:round/>
                    <a:headEnd/>
                    <a:tailEnd/>
                  </a:ln>
                </p:spPr>
                <p:txBody>
                  <a:bodyPr/>
                  <a:lstStyle/>
                  <a:p>
                    <a:endParaRPr lang="bg-BG"/>
                  </a:p>
                </p:txBody>
              </p:sp>
            </p:grpSp>
            <p:grpSp>
              <p:nvGrpSpPr>
                <p:cNvPr id="57388" name="Group 43"/>
                <p:cNvGrpSpPr>
                  <a:grpSpLocks/>
                </p:cNvGrpSpPr>
                <p:nvPr/>
              </p:nvGrpSpPr>
              <p:grpSpPr bwMode="auto">
                <a:xfrm>
                  <a:off x="8395" y="4418"/>
                  <a:ext cx="902" cy="350"/>
                  <a:chOff x="6788" y="774"/>
                  <a:chExt cx="902" cy="350"/>
                </a:xfrm>
              </p:grpSpPr>
              <p:sp>
                <p:nvSpPr>
                  <p:cNvPr id="57409" name="Rectangle 4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10" name="Line 4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11" name="Line 4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89" name="Group 47"/>
                <p:cNvGrpSpPr>
                  <a:grpSpLocks/>
                </p:cNvGrpSpPr>
                <p:nvPr/>
              </p:nvGrpSpPr>
              <p:grpSpPr bwMode="auto">
                <a:xfrm>
                  <a:off x="4442" y="4421"/>
                  <a:ext cx="902" cy="350"/>
                  <a:chOff x="6788" y="774"/>
                  <a:chExt cx="902" cy="350"/>
                </a:xfrm>
              </p:grpSpPr>
              <p:sp>
                <p:nvSpPr>
                  <p:cNvPr id="57406" name="Rectangle 48"/>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07" name="Line 49"/>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08" name="Line 50"/>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90" name="Group 51"/>
                <p:cNvGrpSpPr>
                  <a:grpSpLocks/>
                </p:cNvGrpSpPr>
                <p:nvPr/>
              </p:nvGrpSpPr>
              <p:grpSpPr bwMode="auto">
                <a:xfrm>
                  <a:off x="3432" y="4408"/>
                  <a:ext cx="902" cy="350"/>
                  <a:chOff x="6788" y="774"/>
                  <a:chExt cx="902" cy="350"/>
                </a:xfrm>
              </p:grpSpPr>
              <p:sp>
                <p:nvSpPr>
                  <p:cNvPr id="57403" name="Rectangle 52"/>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04" name="Line 53"/>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05" name="Line 54"/>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91" name="Group 55"/>
                <p:cNvGrpSpPr>
                  <a:grpSpLocks/>
                </p:cNvGrpSpPr>
                <p:nvPr/>
              </p:nvGrpSpPr>
              <p:grpSpPr bwMode="auto">
                <a:xfrm>
                  <a:off x="6371" y="4408"/>
                  <a:ext cx="902" cy="350"/>
                  <a:chOff x="6788" y="774"/>
                  <a:chExt cx="902" cy="350"/>
                </a:xfrm>
              </p:grpSpPr>
              <p:sp>
                <p:nvSpPr>
                  <p:cNvPr id="57400" name="Rectangle 56"/>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401" name="Line 57"/>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402" name="Line 58"/>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92" name="Group 59"/>
                <p:cNvGrpSpPr>
                  <a:grpSpLocks/>
                </p:cNvGrpSpPr>
                <p:nvPr/>
              </p:nvGrpSpPr>
              <p:grpSpPr bwMode="auto">
                <a:xfrm>
                  <a:off x="7355" y="4410"/>
                  <a:ext cx="902" cy="350"/>
                  <a:chOff x="6788" y="774"/>
                  <a:chExt cx="902" cy="350"/>
                </a:xfrm>
              </p:grpSpPr>
              <p:sp>
                <p:nvSpPr>
                  <p:cNvPr id="57397" name="Rectangle 60"/>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398" name="Line 61"/>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399" name="Line 62"/>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57393" name="Group 63"/>
                <p:cNvGrpSpPr>
                  <a:grpSpLocks/>
                </p:cNvGrpSpPr>
                <p:nvPr/>
              </p:nvGrpSpPr>
              <p:grpSpPr bwMode="auto">
                <a:xfrm>
                  <a:off x="5407" y="4411"/>
                  <a:ext cx="902" cy="350"/>
                  <a:chOff x="6788" y="774"/>
                  <a:chExt cx="902" cy="350"/>
                </a:xfrm>
              </p:grpSpPr>
              <p:sp>
                <p:nvSpPr>
                  <p:cNvPr id="57394" name="Rectangle 6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57395" name="Line 6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57396" name="Line 6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sp>
            <p:nvSpPr>
              <p:cNvPr id="57367" name="Line 67"/>
              <p:cNvSpPr>
                <a:spLocks noChangeShapeType="1"/>
              </p:cNvSpPr>
              <p:nvPr/>
            </p:nvSpPr>
            <p:spPr bwMode="auto">
              <a:xfrm flipH="1">
                <a:off x="3497" y="3133"/>
                <a:ext cx="1852" cy="507"/>
              </a:xfrm>
              <a:prstGeom prst="line">
                <a:avLst/>
              </a:prstGeom>
              <a:noFill/>
              <a:ln w="9525">
                <a:solidFill>
                  <a:srgbClr val="000000"/>
                </a:solidFill>
                <a:round/>
                <a:headEnd/>
                <a:tailEnd type="triangle" w="med" len="med"/>
              </a:ln>
            </p:spPr>
            <p:txBody>
              <a:bodyPr/>
              <a:lstStyle/>
              <a:p>
                <a:endParaRPr lang="bg-BG"/>
              </a:p>
            </p:txBody>
          </p:sp>
          <p:sp>
            <p:nvSpPr>
              <p:cNvPr id="57368" name="Line 68"/>
              <p:cNvSpPr>
                <a:spLocks noChangeShapeType="1"/>
              </p:cNvSpPr>
              <p:nvPr/>
            </p:nvSpPr>
            <p:spPr bwMode="auto">
              <a:xfrm flipH="1">
                <a:off x="5317" y="3117"/>
                <a:ext cx="522" cy="523"/>
              </a:xfrm>
              <a:prstGeom prst="line">
                <a:avLst/>
              </a:prstGeom>
              <a:noFill/>
              <a:ln w="9525">
                <a:solidFill>
                  <a:srgbClr val="000000"/>
                </a:solidFill>
                <a:round/>
                <a:headEnd/>
                <a:tailEnd type="triangle" w="med" len="med"/>
              </a:ln>
            </p:spPr>
            <p:txBody>
              <a:bodyPr/>
              <a:lstStyle/>
              <a:p>
                <a:endParaRPr lang="bg-BG"/>
              </a:p>
            </p:txBody>
          </p:sp>
          <p:sp>
            <p:nvSpPr>
              <p:cNvPr id="57369" name="Line 69"/>
              <p:cNvSpPr>
                <a:spLocks noChangeShapeType="1"/>
              </p:cNvSpPr>
              <p:nvPr/>
            </p:nvSpPr>
            <p:spPr bwMode="auto">
              <a:xfrm>
                <a:off x="6947" y="3149"/>
                <a:ext cx="2310" cy="475"/>
              </a:xfrm>
              <a:prstGeom prst="line">
                <a:avLst/>
              </a:prstGeom>
              <a:noFill/>
              <a:ln w="9525">
                <a:solidFill>
                  <a:srgbClr val="000000"/>
                </a:solidFill>
                <a:round/>
                <a:headEnd/>
                <a:tailEnd type="triangle" w="med" len="med"/>
              </a:ln>
            </p:spPr>
            <p:txBody>
              <a:bodyPr/>
              <a:lstStyle/>
              <a:p>
                <a:endParaRPr lang="bg-BG"/>
              </a:p>
            </p:txBody>
          </p:sp>
          <p:sp>
            <p:nvSpPr>
              <p:cNvPr id="57370" name="Line 70"/>
              <p:cNvSpPr>
                <a:spLocks noChangeShapeType="1"/>
              </p:cNvSpPr>
              <p:nvPr/>
            </p:nvSpPr>
            <p:spPr bwMode="auto">
              <a:xfrm>
                <a:off x="6361" y="3149"/>
                <a:ext cx="823" cy="491"/>
              </a:xfrm>
              <a:prstGeom prst="line">
                <a:avLst/>
              </a:prstGeom>
              <a:noFill/>
              <a:ln w="9525">
                <a:solidFill>
                  <a:srgbClr val="000000"/>
                </a:solidFill>
                <a:round/>
                <a:headEnd/>
                <a:tailEnd type="triangle" w="med" len="med"/>
              </a:ln>
            </p:spPr>
            <p:txBody>
              <a:bodyPr/>
              <a:lstStyle/>
              <a:p>
                <a:endParaRPr lang="bg-BG"/>
              </a:p>
            </p:txBody>
          </p:sp>
          <p:sp>
            <p:nvSpPr>
              <p:cNvPr id="57371" name="Line 71"/>
              <p:cNvSpPr>
                <a:spLocks noChangeShapeType="1"/>
              </p:cNvSpPr>
              <p:nvPr/>
            </p:nvSpPr>
            <p:spPr bwMode="auto">
              <a:xfrm flipH="1">
                <a:off x="2595" y="3814"/>
                <a:ext cx="586" cy="585"/>
              </a:xfrm>
              <a:prstGeom prst="line">
                <a:avLst/>
              </a:prstGeom>
              <a:noFill/>
              <a:ln w="9525">
                <a:solidFill>
                  <a:srgbClr val="000000"/>
                </a:solidFill>
                <a:round/>
                <a:headEnd/>
                <a:tailEnd type="triangle" w="med" len="med"/>
              </a:ln>
            </p:spPr>
            <p:txBody>
              <a:bodyPr/>
              <a:lstStyle/>
              <a:p>
                <a:endParaRPr lang="bg-BG"/>
              </a:p>
            </p:txBody>
          </p:sp>
          <p:sp>
            <p:nvSpPr>
              <p:cNvPr id="57372" name="Line 72"/>
              <p:cNvSpPr>
                <a:spLocks noChangeShapeType="1"/>
              </p:cNvSpPr>
              <p:nvPr/>
            </p:nvSpPr>
            <p:spPr bwMode="auto">
              <a:xfrm>
                <a:off x="3829" y="3798"/>
                <a:ext cx="159" cy="617"/>
              </a:xfrm>
              <a:prstGeom prst="line">
                <a:avLst/>
              </a:prstGeom>
              <a:noFill/>
              <a:ln w="9525">
                <a:solidFill>
                  <a:srgbClr val="000000"/>
                </a:solidFill>
                <a:round/>
                <a:headEnd/>
                <a:tailEnd type="triangle" w="med" len="med"/>
              </a:ln>
            </p:spPr>
            <p:txBody>
              <a:bodyPr/>
              <a:lstStyle/>
              <a:p>
                <a:endParaRPr lang="bg-BG"/>
              </a:p>
            </p:txBody>
          </p:sp>
          <p:sp>
            <p:nvSpPr>
              <p:cNvPr id="57373" name="Line 73"/>
              <p:cNvSpPr>
                <a:spLocks noChangeShapeType="1"/>
              </p:cNvSpPr>
              <p:nvPr/>
            </p:nvSpPr>
            <p:spPr bwMode="auto">
              <a:xfrm flipH="1">
                <a:off x="4858" y="3782"/>
                <a:ext cx="174" cy="633"/>
              </a:xfrm>
              <a:prstGeom prst="line">
                <a:avLst/>
              </a:prstGeom>
              <a:noFill/>
              <a:ln w="9525">
                <a:solidFill>
                  <a:srgbClr val="000000"/>
                </a:solidFill>
                <a:round/>
                <a:headEnd/>
                <a:tailEnd type="triangle" w="med" len="med"/>
              </a:ln>
            </p:spPr>
            <p:txBody>
              <a:bodyPr/>
              <a:lstStyle/>
              <a:p>
                <a:endParaRPr lang="bg-BG"/>
              </a:p>
            </p:txBody>
          </p:sp>
          <p:sp>
            <p:nvSpPr>
              <p:cNvPr id="57374" name="Line 74"/>
              <p:cNvSpPr>
                <a:spLocks noChangeShapeType="1"/>
              </p:cNvSpPr>
              <p:nvPr/>
            </p:nvSpPr>
            <p:spPr bwMode="auto">
              <a:xfrm>
                <a:off x="5633" y="3766"/>
                <a:ext cx="222" cy="649"/>
              </a:xfrm>
              <a:prstGeom prst="line">
                <a:avLst/>
              </a:prstGeom>
              <a:noFill/>
              <a:ln w="9525">
                <a:solidFill>
                  <a:srgbClr val="000000"/>
                </a:solidFill>
                <a:round/>
                <a:headEnd/>
                <a:tailEnd type="triangle" w="med" len="med"/>
              </a:ln>
            </p:spPr>
            <p:txBody>
              <a:bodyPr/>
              <a:lstStyle/>
              <a:p>
                <a:endParaRPr lang="bg-BG"/>
              </a:p>
            </p:txBody>
          </p:sp>
          <p:sp>
            <p:nvSpPr>
              <p:cNvPr id="57375" name="Line 75"/>
              <p:cNvSpPr>
                <a:spLocks noChangeShapeType="1"/>
              </p:cNvSpPr>
              <p:nvPr/>
            </p:nvSpPr>
            <p:spPr bwMode="auto">
              <a:xfrm flipH="1">
                <a:off x="8782" y="3798"/>
                <a:ext cx="174" cy="649"/>
              </a:xfrm>
              <a:prstGeom prst="line">
                <a:avLst/>
              </a:prstGeom>
              <a:noFill/>
              <a:ln w="9525">
                <a:solidFill>
                  <a:srgbClr val="000000"/>
                </a:solidFill>
                <a:round/>
                <a:headEnd/>
                <a:tailEnd type="triangle" w="med" len="med"/>
              </a:ln>
            </p:spPr>
            <p:txBody>
              <a:bodyPr/>
              <a:lstStyle/>
              <a:p>
                <a:endParaRPr lang="bg-BG"/>
              </a:p>
            </p:txBody>
          </p:sp>
          <p:sp>
            <p:nvSpPr>
              <p:cNvPr id="57376" name="Line 76"/>
              <p:cNvSpPr>
                <a:spLocks noChangeShapeType="1"/>
              </p:cNvSpPr>
              <p:nvPr/>
            </p:nvSpPr>
            <p:spPr bwMode="auto">
              <a:xfrm>
                <a:off x="9574" y="3798"/>
                <a:ext cx="775" cy="633"/>
              </a:xfrm>
              <a:prstGeom prst="line">
                <a:avLst/>
              </a:prstGeom>
              <a:noFill/>
              <a:ln w="9525">
                <a:solidFill>
                  <a:srgbClr val="000000"/>
                </a:solidFill>
                <a:round/>
                <a:headEnd/>
                <a:tailEnd type="triangle" w="med" len="med"/>
              </a:ln>
            </p:spPr>
            <p:txBody>
              <a:bodyPr/>
              <a:lstStyle/>
              <a:p>
                <a:endParaRPr lang="bg-BG"/>
              </a:p>
            </p:txBody>
          </p:sp>
          <p:sp>
            <p:nvSpPr>
              <p:cNvPr id="57377" name="Line 77"/>
              <p:cNvSpPr>
                <a:spLocks noChangeShapeType="1"/>
              </p:cNvSpPr>
              <p:nvPr/>
            </p:nvSpPr>
            <p:spPr bwMode="auto">
              <a:xfrm>
                <a:off x="6852" y="3766"/>
                <a:ext cx="0" cy="649"/>
              </a:xfrm>
              <a:prstGeom prst="line">
                <a:avLst/>
              </a:prstGeom>
              <a:noFill/>
              <a:ln w="9525">
                <a:solidFill>
                  <a:srgbClr val="000000"/>
                </a:solidFill>
                <a:round/>
                <a:headEnd/>
                <a:tailEnd type="triangle" w="med" len="med"/>
              </a:ln>
            </p:spPr>
            <p:txBody>
              <a:bodyPr/>
              <a:lstStyle/>
              <a:p>
                <a:endParaRPr lang="bg-BG"/>
              </a:p>
            </p:txBody>
          </p:sp>
          <p:sp>
            <p:nvSpPr>
              <p:cNvPr id="57378" name="Line 78"/>
              <p:cNvSpPr>
                <a:spLocks noChangeShapeType="1"/>
              </p:cNvSpPr>
              <p:nvPr/>
            </p:nvSpPr>
            <p:spPr bwMode="auto">
              <a:xfrm>
                <a:off x="7469" y="3766"/>
                <a:ext cx="364" cy="649"/>
              </a:xfrm>
              <a:prstGeom prst="line">
                <a:avLst/>
              </a:prstGeom>
              <a:noFill/>
              <a:ln w="9525">
                <a:solidFill>
                  <a:srgbClr val="000000"/>
                </a:solidFill>
                <a:round/>
                <a:headEnd/>
                <a:tailEnd type="triangle" w="med" len="med"/>
              </a:ln>
            </p:spPr>
            <p:txBody>
              <a:bodyPr/>
              <a:lstStyle/>
              <a:p>
                <a:endParaRPr lang="bg-BG"/>
              </a:p>
            </p:txBody>
          </p:sp>
          <p:sp>
            <p:nvSpPr>
              <p:cNvPr id="57379" name="Line 79"/>
              <p:cNvSpPr>
                <a:spLocks noChangeShapeType="1"/>
              </p:cNvSpPr>
              <p:nvPr/>
            </p:nvSpPr>
            <p:spPr bwMode="auto">
              <a:xfrm>
                <a:off x="5762" y="2661"/>
                <a:ext cx="332" cy="0"/>
              </a:xfrm>
              <a:prstGeom prst="line">
                <a:avLst/>
              </a:prstGeom>
              <a:noFill/>
              <a:ln w="9525">
                <a:solidFill>
                  <a:srgbClr val="000000"/>
                </a:solidFill>
                <a:round/>
                <a:headEnd/>
                <a:tailEnd/>
              </a:ln>
            </p:spPr>
            <p:txBody>
              <a:bodyPr/>
              <a:lstStyle/>
              <a:p>
                <a:endParaRPr lang="bg-BG"/>
              </a:p>
            </p:txBody>
          </p:sp>
          <p:sp>
            <p:nvSpPr>
              <p:cNvPr id="57380" name="Line 80"/>
              <p:cNvSpPr>
                <a:spLocks noChangeShapeType="1"/>
              </p:cNvSpPr>
              <p:nvPr/>
            </p:nvSpPr>
            <p:spPr bwMode="auto">
              <a:xfrm>
                <a:off x="6092" y="2658"/>
                <a:ext cx="0" cy="380"/>
              </a:xfrm>
              <a:prstGeom prst="line">
                <a:avLst/>
              </a:prstGeom>
              <a:noFill/>
              <a:ln w="9525">
                <a:solidFill>
                  <a:srgbClr val="000000"/>
                </a:solidFill>
                <a:round/>
                <a:headEnd/>
                <a:tailEnd type="triangle" w="med" len="med"/>
              </a:ln>
            </p:spPr>
            <p:txBody>
              <a:bodyPr/>
              <a:lstStyle/>
              <a:p>
                <a:endParaRPr lang="bg-BG"/>
              </a:p>
            </p:txBody>
          </p:sp>
        </p:grpSp>
        <p:sp>
          <p:nvSpPr>
            <p:cNvPr id="57348" name="Text Box 81"/>
            <p:cNvSpPr txBox="1">
              <a:spLocks noChangeArrowheads="1"/>
            </p:cNvSpPr>
            <p:nvPr/>
          </p:nvSpPr>
          <p:spPr bwMode="auto">
            <a:xfrm>
              <a:off x="4646613" y="3810000"/>
              <a:ext cx="412750" cy="366713"/>
            </a:xfrm>
            <a:prstGeom prst="rect">
              <a:avLst/>
            </a:prstGeom>
            <a:noFill/>
            <a:ln w="9525">
              <a:noFill/>
              <a:miter lim="800000"/>
              <a:headEnd/>
              <a:tailEnd/>
            </a:ln>
          </p:spPr>
          <p:txBody>
            <a:bodyPr wrap="none">
              <a:spAutoFit/>
            </a:bodyPr>
            <a:lstStyle/>
            <a:p>
              <a:r>
                <a:rPr lang="bg-BG" sz="1800"/>
                <a:t>70</a:t>
              </a:r>
              <a:endParaRPr lang="en-US" sz="1800"/>
            </a:p>
          </p:txBody>
        </p:sp>
        <p:sp>
          <p:nvSpPr>
            <p:cNvPr id="57349" name="Text Box 82"/>
            <p:cNvSpPr txBox="1">
              <a:spLocks noChangeArrowheads="1"/>
            </p:cNvSpPr>
            <p:nvPr/>
          </p:nvSpPr>
          <p:spPr bwMode="auto">
            <a:xfrm>
              <a:off x="4189413" y="3810000"/>
              <a:ext cx="412750" cy="366713"/>
            </a:xfrm>
            <a:prstGeom prst="rect">
              <a:avLst/>
            </a:prstGeom>
            <a:noFill/>
            <a:ln w="9525">
              <a:noFill/>
              <a:miter lim="800000"/>
              <a:headEnd/>
              <a:tailEnd/>
            </a:ln>
          </p:spPr>
          <p:txBody>
            <a:bodyPr wrap="none">
              <a:spAutoFit/>
            </a:bodyPr>
            <a:lstStyle/>
            <a:p>
              <a:r>
                <a:rPr lang="bg-BG" sz="1800"/>
                <a:t>50</a:t>
              </a:r>
              <a:endParaRPr lang="en-US" sz="1800"/>
            </a:p>
          </p:txBody>
        </p:sp>
        <p:sp>
          <p:nvSpPr>
            <p:cNvPr id="57350" name="Text Box 83"/>
            <p:cNvSpPr txBox="1">
              <a:spLocks noChangeArrowheads="1"/>
            </p:cNvSpPr>
            <p:nvPr/>
          </p:nvSpPr>
          <p:spPr bwMode="auto">
            <a:xfrm>
              <a:off x="3656013" y="3810000"/>
              <a:ext cx="412750" cy="366713"/>
            </a:xfrm>
            <a:prstGeom prst="rect">
              <a:avLst/>
            </a:prstGeom>
            <a:noFill/>
            <a:ln w="9525">
              <a:noFill/>
              <a:miter lim="800000"/>
              <a:headEnd/>
              <a:tailEnd/>
            </a:ln>
          </p:spPr>
          <p:txBody>
            <a:bodyPr wrap="none">
              <a:spAutoFit/>
            </a:bodyPr>
            <a:lstStyle/>
            <a:p>
              <a:r>
                <a:rPr lang="en-US" sz="1800"/>
                <a:t>3</a:t>
              </a:r>
              <a:r>
                <a:rPr lang="bg-BG" sz="1800"/>
                <a:t>0</a:t>
              </a:r>
              <a:endParaRPr lang="en-US" sz="1800"/>
            </a:p>
          </p:txBody>
        </p:sp>
        <p:sp>
          <p:nvSpPr>
            <p:cNvPr id="57351" name="Text Box 84"/>
            <p:cNvSpPr txBox="1">
              <a:spLocks noChangeArrowheads="1"/>
            </p:cNvSpPr>
            <p:nvPr/>
          </p:nvSpPr>
          <p:spPr bwMode="auto">
            <a:xfrm>
              <a:off x="7583488" y="5715000"/>
              <a:ext cx="412750" cy="366713"/>
            </a:xfrm>
            <a:prstGeom prst="rect">
              <a:avLst/>
            </a:prstGeom>
            <a:noFill/>
            <a:ln w="9525">
              <a:noFill/>
              <a:miter lim="800000"/>
              <a:headEnd/>
              <a:tailEnd/>
            </a:ln>
          </p:spPr>
          <p:txBody>
            <a:bodyPr wrap="none">
              <a:spAutoFit/>
            </a:bodyPr>
            <a:lstStyle/>
            <a:p>
              <a:r>
                <a:rPr lang="bg-BG" sz="1800"/>
                <a:t>81</a:t>
              </a:r>
              <a:endParaRPr lang="en-US" sz="1800"/>
            </a:p>
          </p:txBody>
        </p:sp>
        <p:sp>
          <p:nvSpPr>
            <p:cNvPr id="57352" name="Text Box 85"/>
            <p:cNvSpPr txBox="1">
              <a:spLocks noChangeArrowheads="1"/>
            </p:cNvSpPr>
            <p:nvPr/>
          </p:nvSpPr>
          <p:spPr bwMode="auto">
            <a:xfrm>
              <a:off x="8043863" y="5715000"/>
              <a:ext cx="412750" cy="366713"/>
            </a:xfrm>
            <a:prstGeom prst="rect">
              <a:avLst/>
            </a:prstGeom>
            <a:noFill/>
            <a:ln w="9525">
              <a:noFill/>
              <a:miter lim="800000"/>
              <a:headEnd/>
              <a:tailEnd/>
            </a:ln>
          </p:spPr>
          <p:txBody>
            <a:bodyPr wrap="none">
              <a:spAutoFit/>
            </a:bodyPr>
            <a:lstStyle/>
            <a:p>
              <a:r>
                <a:rPr lang="bg-BG" sz="1800"/>
                <a:t>85</a:t>
              </a:r>
              <a:endParaRPr lang="en-US" sz="1800"/>
            </a:p>
          </p:txBody>
        </p:sp>
        <p:sp>
          <p:nvSpPr>
            <p:cNvPr id="57353" name="Text Box 86"/>
            <p:cNvSpPr txBox="1">
              <a:spLocks noChangeArrowheads="1"/>
            </p:cNvSpPr>
            <p:nvPr/>
          </p:nvSpPr>
          <p:spPr bwMode="auto">
            <a:xfrm>
              <a:off x="8577263" y="5715000"/>
              <a:ext cx="412750" cy="366713"/>
            </a:xfrm>
            <a:prstGeom prst="rect">
              <a:avLst/>
            </a:prstGeom>
            <a:noFill/>
            <a:ln w="9525">
              <a:noFill/>
              <a:miter lim="800000"/>
              <a:headEnd/>
              <a:tailEnd/>
            </a:ln>
          </p:spPr>
          <p:txBody>
            <a:bodyPr wrap="none">
              <a:spAutoFit/>
            </a:bodyPr>
            <a:lstStyle/>
            <a:p>
              <a:r>
                <a:rPr lang="bg-BG" sz="1800"/>
                <a:t>90</a:t>
              </a:r>
              <a:endParaRPr lang="en-US" sz="1800"/>
            </a:p>
          </p:txBody>
        </p:sp>
        <p:sp>
          <p:nvSpPr>
            <p:cNvPr id="57354" name="Text Box 87"/>
            <p:cNvSpPr txBox="1">
              <a:spLocks noChangeArrowheads="1"/>
            </p:cNvSpPr>
            <p:nvPr/>
          </p:nvSpPr>
          <p:spPr bwMode="auto">
            <a:xfrm>
              <a:off x="7126288" y="4668838"/>
              <a:ext cx="412750" cy="366712"/>
            </a:xfrm>
            <a:prstGeom prst="rect">
              <a:avLst/>
            </a:prstGeom>
            <a:noFill/>
            <a:ln w="9525">
              <a:noFill/>
              <a:miter lim="800000"/>
              <a:headEnd/>
              <a:tailEnd/>
            </a:ln>
          </p:spPr>
          <p:txBody>
            <a:bodyPr wrap="none">
              <a:spAutoFit/>
            </a:bodyPr>
            <a:lstStyle/>
            <a:p>
              <a:r>
                <a:rPr lang="bg-BG" sz="1800"/>
                <a:t>80</a:t>
              </a:r>
              <a:endParaRPr lang="en-US" sz="1800"/>
            </a:p>
          </p:txBody>
        </p:sp>
        <p:sp>
          <p:nvSpPr>
            <p:cNvPr id="57355" name="Text Box 88"/>
            <p:cNvSpPr txBox="1">
              <a:spLocks noChangeArrowheads="1"/>
            </p:cNvSpPr>
            <p:nvPr/>
          </p:nvSpPr>
          <p:spPr bwMode="auto">
            <a:xfrm>
              <a:off x="3427413" y="4668838"/>
              <a:ext cx="412750" cy="366712"/>
            </a:xfrm>
            <a:prstGeom prst="rect">
              <a:avLst/>
            </a:prstGeom>
            <a:noFill/>
            <a:ln w="9525">
              <a:noFill/>
              <a:miter lim="800000"/>
              <a:headEnd/>
              <a:tailEnd/>
            </a:ln>
          </p:spPr>
          <p:txBody>
            <a:bodyPr wrap="none">
              <a:spAutoFit/>
            </a:bodyPr>
            <a:lstStyle/>
            <a:p>
              <a:r>
                <a:rPr lang="bg-BG" sz="1800"/>
                <a:t>40</a:t>
              </a:r>
              <a:endParaRPr lang="en-US" sz="1800"/>
            </a:p>
          </p:txBody>
        </p:sp>
        <p:sp>
          <p:nvSpPr>
            <p:cNvPr id="57356" name="Text Box 89"/>
            <p:cNvSpPr txBox="1">
              <a:spLocks noChangeArrowheads="1"/>
            </p:cNvSpPr>
            <p:nvPr/>
          </p:nvSpPr>
          <p:spPr bwMode="auto">
            <a:xfrm>
              <a:off x="5145088" y="4668838"/>
              <a:ext cx="412750" cy="366712"/>
            </a:xfrm>
            <a:prstGeom prst="rect">
              <a:avLst/>
            </a:prstGeom>
            <a:noFill/>
            <a:ln w="9525">
              <a:noFill/>
              <a:miter lim="800000"/>
              <a:headEnd/>
              <a:tailEnd/>
            </a:ln>
          </p:spPr>
          <p:txBody>
            <a:bodyPr wrap="none">
              <a:spAutoFit/>
            </a:bodyPr>
            <a:lstStyle/>
            <a:p>
              <a:r>
                <a:rPr lang="bg-BG" sz="1800"/>
                <a:t>60</a:t>
              </a:r>
              <a:endParaRPr lang="en-US" sz="1800"/>
            </a:p>
          </p:txBody>
        </p:sp>
        <p:sp>
          <p:nvSpPr>
            <p:cNvPr id="57357" name="Text Box 90"/>
            <p:cNvSpPr txBox="1">
              <a:spLocks noChangeArrowheads="1"/>
            </p:cNvSpPr>
            <p:nvPr/>
          </p:nvSpPr>
          <p:spPr bwMode="auto">
            <a:xfrm>
              <a:off x="6704013" y="5680075"/>
              <a:ext cx="412750" cy="366713"/>
            </a:xfrm>
            <a:prstGeom prst="rect">
              <a:avLst/>
            </a:prstGeom>
            <a:noFill/>
            <a:ln w="9525">
              <a:noFill/>
              <a:miter lim="800000"/>
              <a:headEnd/>
              <a:tailEnd/>
            </a:ln>
          </p:spPr>
          <p:txBody>
            <a:bodyPr wrap="none">
              <a:spAutoFit/>
            </a:bodyPr>
            <a:lstStyle/>
            <a:p>
              <a:r>
                <a:rPr lang="bg-BG" sz="1800"/>
                <a:t>76</a:t>
              </a:r>
              <a:endParaRPr lang="en-US" sz="1800"/>
            </a:p>
          </p:txBody>
        </p:sp>
        <p:sp>
          <p:nvSpPr>
            <p:cNvPr id="57358" name="Text Box 91"/>
            <p:cNvSpPr txBox="1">
              <a:spLocks noChangeArrowheads="1"/>
            </p:cNvSpPr>
            <p:nvPr/>
          </p:nvSpPr>
          <p:spPr bwMode="auto">
            <a:xfrm>
              <a:off x="3898900" y="5680075"/>
              <a:ext cx="412750" cy="366713"/>
            </a:xfrm>
            <a:prstGeom prst="rect">
              <a:avLst/>
            </a:prstGeom>
            <a:noFill/>
            <a:ln w="9525">
              <a:noFill/>
              <a:miter lim="800000"/>
              <a:headEnd/>
              <a:tailEnd/>
            </a:ln>
          </p:spPr>
          <p:txBody>
            <a:bodyPr wrap="none">
              <a:spAutoFit/>
            </a:bodyPr>
            <a:lstStyle/>
            <a:p>
              <a:r>
                <a:rPr lang="bg-BG" sz="1800"/>
                <a:t>43</a:t>
              </a:r>
              <a:endParaRPr lang="en-US" sz="1800"/>
            </a:p>
          </p:txBody>
        </p:sp>
        <p:sp>
          <p:nvSpPr>
            <p:cNvPr id="57359" name="Text Box 92"/>
            <p:cNvSpPr txBox="1">
              <a:spLocks noChangeArrowheads="1"/>
            </p:cNvSpPr>
            <p:nvPr/>
          </p:nvSpPr>
          <p:spPr bwMode="auto">
            <a:xfrm>
              <a:off x="5732463" y="5653088"/>
              <a:ext cx="412750" cy="366712"/>
            </a:xfrm>
            <a:prstGeom prst="rect">
              <a:avLst/>
            </a:prstGeom>
            <a:noFill/>
            <a:ln w="9525">
              <a:noFill/>
              <a:miter lim="800000"/>
              <a:headEnd/>
              <a:tailEnd/>
            </a:ln>
          </p:spPr>
          <p:txBody>
            <a:bodyPr wrap="none">
              <a:spAutoFit/>
            </a:bodyPr>
            <a:lstStyle/>
            <a:p>
              <a:r>
                <a:rPr lang="bg-BG" sz="1800"/>
                <a:t>67</a:t>
              </a:r>
              <a:endParaRPr lang="en-US" sz="1800"/>
            </a:p>
          </p:txBody>
        </p:sp>
        <p:sp>
          <p:nvSpPr>
            <p:cNvPr id="57360" name="Text Box 93"/>
            <p:cNvSpPr txBox="1">
              <a:spLocks noChangeArrowheads="1"/>
            </p:cNvSpPr>
            <p:nvPr/>
          </p:nvSpPr>
          <p:spPr bwMode="auto">
            <a:xfrm>
              <a:off x="4819650" y="5680075"/>
              <a:ext cx="412750" cy="366713"/>
            </a:xfrm>
            <a:prstGeom prst="rect">
              <a:avLst/>
            </a:prstGeom>
            <a:noFill/>
            <a:ln w="9525">
              <a:noFill/>
              <a:miter lim="800000"/>
              <a:headEnd/>
              <a:tailEnd/>
            </a:ln>
          </p:spPr>
          <p:txBody>
            <a:bodyPr wrap="none">
              <a:spAutoFit/>
            </a:bodyPr>
            <a:lstStyle/>
            <a:p>
              <a:r>
                <a:rPr lang="bg-BG" sz="1800"/>
                <a:t>57</a:t>
              </a:r>
              <a:endParaRPr lang="en-US" sz="1800"/>
            </a:p>
          </p:txBody>
        </p:sp>
        <p:sp>
          <p:nvSpPr>
            <p:cNvPr id="57361" name="Text Box 94"/>
            <p:cNvSpPr txBox="1">
              <a:spLocks noChangeArrowheads="1"/>
            </p:cNvSpPr>
            <p:nvPr/>
          </p:nvSpPr>
          <p:spPr bwMode="auto">
            <a:xfrm>
              <a:off x="1689100" y="4703763"/>
              <a:ext cx="412750" cy="366712"/>
            </a:xfrm>
            <a:prstGeom prst="rect">
              <a:avLst/>
            </a:prstGeom>
            <a:noFill/>
            <a:ln w="9525">
              <a:noFill/>
              <a:miter lim="800000"/>
              <a:headEnd/>
              <a:tailEnd/>
            </a:ln>
          </p:spPr>
          <p:txBody>
            <a:bodyPr wrap="none">
              <a:spAutoFit/>
            </a:bodyPr>
            <a:lstStyle/>
            <a:p>
              <a:r>
                <a:rPr lang="bg-BG" sz="1800"/>
                <a:t>23</a:t>
              </a:r>
              <a:endParaRPr lang="en-US" sz="1800"/>
            </a:p>
          </p:txBody>
        </p:sp>
        <p:sp>
          <p:nvSpPr>
            <p:cNvPr id="57362" name="Text Box 95"/>
            <p:cNvSpPr txBox="1">
              <a:spLocks noChangeArrowheads="1"/>
            </p:cNvSpPr>
            <p:nvPr/>
          </p:nvSpPr>
          <p:spPr bwMode="auto">
            <a:xfrm>
              <a:off x="3025775" y="5700713"/>
              <a:ext cx="412750" cy="366712"/>
            </a:xfrm>
            <a:prstGeom prst="rect">
              <a:avLst/>
            </a:prstGeom>
            <a:noFill/>
            <a:ln w="9525">
              <a:noFill/>
              <a:miter lim="800000"/>
              <a:headEnd/>
              <a:tailEnd/>
            </a:ln>
          </p:spPr>
          <p:txBody>
            <a:bodyPr wrap="none">
              <a:spAutoFit/>
            </a:bodyPr>
            <a:lstStyle/>
            <a:p>
              <a:r>
                <a:rPr lang="bg-BG" sz="1800"/>
                <a:t>31</a:t>
              </a:r>
              <a:endParaRPr lang="en-US" sz="1800"/>
            </a:p>
          </p:txBody>
        </p:sp>
        <p:sp>
          <p:nvSpPr>
            <p:cNvPr id="57363" name="Text Box 96"/>
            <p:cNvSpPr txBox="1">
              <a:spLocks noChangeArrowheads="1"/>
            </p:cNvSpPr>
            <p:nvPr/>
          </p:nvSpPr>
          <p:spPr bwMode="auto">
            <a:xfrm>
              <a:off x="2035175" y="5659438"/>
              <a:ext cx="412750" cy="366712"/>
            </a:xfrm>
            <a:prstGeom prst="rect">
              <a:avLst/>
            </a:prstGeom>
            <a:noFill/>
            <a:ln w="9525">
              <a:noFill/>
              <a:miter lim="800000"/>
              <a:headEnd/>
              <a:tailEnd/>
            </a:ln>
          </p:spPr>
          <p:txBody>
            <a:bodyPr wrap="none">
              <a:spAutoFit/>
            </a:bodyPr>
            <a:lstStyle/>
            <a:p>
              <a:r>
                <a:rPr lang="bg-BG" sz="1800"/>
                <a:t>27</a:t>
              </a:r>
              <a:endParaRPr lang="en-US" sz="1800"/>
            </a:p>
          </p:txBody>
        </p:sp>
        <p:sp>
          <p:nvSpPr>
            <p:cNvPr id="57364" name="Text Box 97"/>
            <p:cNvSpPr txBox="1">
              <a:spLocks noChangeArrowheads="1"/>
            </p:cNvSpPr>
            <p:nvPr/>
          </p:nvSpPr>
          <p:spPr bwMode="auto">
            <a:xfrm>
              <a:off x="1100138" y="5659438"/>
              <a:ext cx="412750" cy="366712"/>
            </a:xfrm>
            <a:prstGeom prst="rect">
              <a:avLst/>
            </a:prstGeom>
            <a:noFill/>
            <a:ln w="9525">
              <a:noFill/>
              <a:miter lim="800000"/>
              <a:headEnd/>
              <a:tailEnd/>
            </a:ln>
          </p:spPr>
          <p:txBody>
            <a:bodyPr wrap="none">
              <a:spAutoFit/>
            </a:bodyPr>
            <a:lstStyle/>
            <a:p>
              <a:r>
                <a:rPr lang="bg-BG" sz="1800"/>
                <a:t>13</a:t>
              </a:r>
              <a:endParaRPr lang="en-US" sz="1800"/>
            </a:p>
          </p:txBody>
        </p:sp>
        <p:sp>
          <p:nvSpPr>
            <p:cNvPr id="57365" name="Text Box 98"/>
            <p:cNvSpPr txBox="1">
              <a:spLocks noChangeArrowheads="1"/>
            </p:cNvSpPr>
            <p:nvPr/>
          </p:nvSpPr>
          <p:spPr bwMode="auto">
            <a:xfrm>
              <a:off x="573088" y="5659438"/>
              <a:ext cx="298450" cy="366712"/>
            </a:xfrm>
            <a:prstGeom prst="rect">
              <a:avLst/>
            </a:prstGeom>
            <a:noFill/>
            <a:ln w="9525">
              <a:noFill/>
              <a:miter lim="800000"/>
              <a:headEnd/>
              <a:tailEnd/>
            </a:ln>
          </p:spPr>
          <p:txBody>
            <a:bodyPr wrap="none">
              <a:spAutoFit/>
            </a:bodyPr>
            <a:lstStyle/>
            <a:p>
              <a:r>
                <a:rPr lang="bg-BG" sz="1800"/>
                <a:t>7</a:t>
              </a:r>
              <a:endParaRPr lang="en-US" sz="180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nvSpPr>
        <p:spPr bwMode="auto">
          <a:xfrm>
            <a:off x="1115616" y="836712"/>
            <a:ext cx="8028384" cy="5638800"/>
          </a:xfrm>
          <a:prstGeom prst="rect">
            <a:avLst/>
          </a:prstGeom>
          <a:noFill/>
          <a:ln w="9525">
            <a:noFill/>
            <a:miter lim="800000"/>
            <a:headEnd/>
            <a:tailEnd/>
          </a:ln>
        </p:spPr>
        <p:txBody>
          <a:bodyPr anchor="ctr"/>
          <a:lstStyle/>
          <a:p>
            <a:pPr>
              <a:lnSpc>
                <a:spcPct val="110000"/>
              </a:lnSpc>
            </a:pPr>
            <a:r>
              <a:rPr lang="en-US"/>
              <a:t>	</a:t>
            </a:r>
            <a:r>
              <a:rPr lang="bg-BG" sz="2800"/>
              <a:t>Съществуват ефективни алгоритми за работа с 2-3-4 -дървета, които гарантират сложност на основните операции (добавяне, търсене, изтриване) от порядъка на О(</a:t>
            </a:r>
            <a:r>
              <a:rPr lang="en-US" sz="2800"/>
              <a:t>log</a:t>
            </a:r>
            <a:r>
              <a:rPr lang="en-US" sz="2800" baseline="-25000"/>
              <a:t>2</a:t>
            </a:r>
            <a:r>
              <a:rPr lang="en-US" sz="2800"/>
              <a:t> n). </a:t>
            </a:r>
            <a:r>
              <a:rPr lang="bg-BG" sz="2800"/>
              <a:t>Съществуват начини за преобразуване на 2-3-4 -дървета в еквивалентни на тях двоични дървета или </a:t>
            </a:r>
            <a:r>
              <a:rPr lang="en-US" sz="2800"/>
              <a:t>R-B</a:t>
            </a:r>
            <a:r>
              <a:rPr lang="bg-BG" sz="2800"/>
              <a:t> - дървета, алгоритмите за които са по-прости.</a:t>
            </a:r>
            <a:r>
              <a:rPr lang="en-US" sz="2800"/>
              <a:t/>
            </a:r>
            <a:br>
              <a:rPr lang="en-US" sz="2800"/>
            </a:br>
            <a:r>
              <a:rPr lang="en-US" sz="2800"/>
              <a:t/>
            </a:r>
            <a:br>
              <a:rPr lang="en-US" sz="2800"/>
            </a:br>
            <a:r>
              <a:rPr lang="bg-BG" sz="2800"/>
              <a:t> (Преслав Наков, Панайот Добриков. </a:t>
            </a:r>
            <a:r>
              <a:rPr lang="bg-BG" sz="2800" i="1"/>
              <a:t>Програмираме = ++Алгоритми.</a:t>
            </a:r>
            <a:r>
              <a:rPr lang="bg-BG" sz="2800"/>
              <a:t> </a:t>
            </a:r>
            <a:r>
              <a:rPr lang="en-US" sz="2800"/>
              <a:t>Top Team Co, </a:t>
            </a:r>
            <a:r>
              <a:rPr lang="bg-BG" sz="2800"/>
              <a:t>София, 2002, </a:t>
            </a:r>
            <a:endParaRPr lang="en-US" sz="2800" smtClean="0"/>
          </a:p>
          <a:p>
            <a:pPr>
              <a:lnSpc>
                <a:spcPct val="110000"/>
              </a:lnSpc>
            </a:pPr>
            <a:r>
              <a:rPr lang="en-US" sz="2800" smtClean="0"/>
              <a:t>Flaming </a:t>
            </a:r>
            <a:r>
              <a:rPr lang="en-US" sz="2800"/>
              <a:t>B., </a:t>
            </a:r>
            <a:r>
              <a:rPr lang="en-US" sz="2800" i="1"/>
              <a:t>Practical Data Structures in C++.</a:t>
            </a:r>
            <a:r>
              <a:rPr lang="en-US" sz="2800"/>
              <a:t> Azarona Software</a:t>
            </a:r>
            <a:r>
              <a:rPr lang="en-US" sz="2800" smtClean="0"/>
              <a:t>, </a:t>
            </a:r>
            <a:r>
              <a:rPr lang="en-US" sz="2800"/>
              <a:t>1993)</a:t>
            </a:r>
            <a:r>
              <a:rPr lang="en-US" sz="2800">
                <a:solidFill>
                  <a:schemeClr val="tx2"/>
                </a:solidFill>
              </a:rPr>
              <a:t/>
            </a:r>
            <a:br>
              <a:rPr lang="en-US" sz="2800">
                <a:solidFill>
                  <a:schemeClr val="tx2"/>
                </a:solidFill>
              </a:rPr>
            </a:br>
            <a:r>
              <a:rPr lang="bg-BG">
                <a:solidFill>
                  <a:schemeClr val="tx2"/>
                </a:solidFill>
              </a:rPr>
              <a:t> </a:t>
            </a:r>
            <a:endParaRPr lang="en-US">
              <a:solidFill>
                <a:schemeClr val="tx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971600" y="620688"/>
            <a:ext cx="8001000" cy="5943600"/>
          </a:xfrm>
          <a:prstGeom prst="rect">
            <a:avLst/>
          </a:prstGeom>
          <a:noFill/>
          <a:ln w="9525">
            <a:noFill/>
            <a:miter lim="800000"/>
            <a:headEnd/>
            <a:tailEnd/>
          </a:ln>
        </p:spPr>
        <p:txBody>
          <a:bodyPr anchor="ctr"/>
          <a:lstStyle/>
          <a:p>
            <a:r>
              <a:rPr lang="bg-BG" sz="2800">
                <a:solidFill>
                  <a:schemeClr val="tx2"/>
                </a:solidFill>
              </a:rPr>
              <a:t>     </a:t>
            </a:r>
            <a:r>
              <a:rPr lang="bg-BG" sz="2800" u="sng"/>
              <a:t>В-дървета или дървета на Байер и МакКрейт </a:t>
            </a:r>
            <a:r>
              <a:rPr lang="bg-BG" sz="2800"/>
              <a:t>			 (</a:t>
            </a:r>
            <a:r>
              <a:rPr lang="en-US" sz="2800" u="sng"/>
              <a:t>Bayer&amp;McCreight)</a:t>
            </a:r>
            <a:br>
              <a:rPr lang="en-US" sz="2800" u="sng"/>
            </a:br>
            <a:r>
              <a:rPr lang="en-US" sz="2800" u="sng"/>
              <a:t/>
            </a:r>
            <a:br>
              <a:rPr lang="en-US" sz="2800" u="sng"/>
            </a:br>
            <a:r>
              <a:rPr lang="bg-BG"/>
              <a:t>Това са дървета с много разклонения. В-дърво може да се разглежда като обобщение на 2-3 и 2-3-4-дървета.</a:t>
            </a:r>
            <a:br>
              <a:rPr lang="bg-BG"/>
            </a:br>
            <a:r>
              <a:rPr lang="bg-BG"/>
              <a:t/>
            </a:r>
            <a:br>
              <a:rPr lang="bg-BG"/>
            </a:br>
            <a:r>
              <a:rPr lang="bg-BG"/>
              <a:t>В-дърво от ред </a:t>
            </a:r>
            <a:r>
              <a:rPr lang="en-US" b="1" i="1"/>
              <a:t>m</a:t>
            </a:r>
            <a:r>
              <a:rPr lang="bg-BG"/>
              <a:t> се нарича дърво за претърсване със следните свойства:</a:t>
            </a:r>
            <a:br>
              <a:rPr lang="bg-BG"/>
            </a:br>
            <a:r>
              <a:rPr lang="bg-BG"/>
              <a:t/>
            </a:r>
            <a:br>
              <a:rPr lang="bg-BG"/>
            </a:br>
            <a:r>
              <a:rPr lang="bg-BG"/>
              <a:t>- За всички възли, освен корена, брой наследници </a:t>
            </a:r>
            <a:r>
              <a:rPr lang="en-US" b="1" i="1"/>
              <a:t>i</a:t>
            </a:r>
            <a:r>
              <a:rPr lang="en-US"/>
              <a:t> </a:t>
            </a:r>
            <a:r>
              <a:rPr lang="bg-BG"/>
              <a:t>е </a:t>
            </a:r>
            <a:br>
              <a:rPr lang="bg-BG"/>
            </a:br>
            <a:r>
              <a:rPr lang="bg-BG"/>
              <a:t>	</a:t>
            </a:r>
            <a:r>
              <a:rPr lang="en-US" b="1" i="1"/>
              <a:t>m</a:t>
            </a:r>
            <a:r>
              <a:rPr lang="en-US"/>
              <a:t>/2&lt;=  </a:t>
            </a:r>
            <a:r>
              <a:rPr lang="en-US" b="1" i="1"/>
              <a:t>i</a:t>
            </a:r>
            <a:r>
              <a:rPr lang="en-US"/>
              <a:t> &lt;= </a:t>
            </a:r>
            <a:r>
              <a:rPr lang="en-US" b="1" i="1"/>
              <a:t>m</a:t>
            </a:r>
            <a:r>
              <a:rPr lang="en-US"/>
              <a:t/>
            </a:r>
            <a:br>
              <a:rPr lang="en-US"/>
            </a:br>
            <a:r>
              <a:rPr lang="en-US"/>
              <a:t>- З</a:t>
            </a:r>
            <a:r>
              <a:rPr lang="bg-BG"/>
              <a:t>а корена брой наследници </a:t>
            </a:r>
            <a:r>
              <a:rPr lang="en-US" b="1" i="1"/>
              <a:t>i</a:t>
            </a:r>
            <a:r>
              <a:rPr lang="en-US"/>
              <a:t> e</a:t>
            </a:r>
            <a:br>
              <a:rPr lang="en-US"/>
            </a:br>
            <a:r>
              <a:rPr lang="en-US"/>
              <a:t>            2 &lt;= </a:t>
            </a:r>
            <a:r>
              <a:rPr lang="en-US" b="1" i="1"/>
              <a:t>i</a:t>
            </a:r>
            <a:r>
              <a:rPr lang="en-US"/>
              <a:t> &lt;= </a:t>
            </a:r>
            <a:r>
              <a:rPr lang="en-US" b="1" i="1"/>
              <a:t>m</a:t>
            </a:r>
            <a:r>
              <a:rPr lang="en-US"/>
              <a:t>;</a:t>
            </a:r>
            <a:br>
              <a:rPr lang="en-US"/>
            </a:br>
            <a:r>
              <a:rPr lang="en-US"/>
              <a:t>- </a:t>
            </a:r>
            <a:r>
              <a:rPr lang="bg-BG"/>
              <a:t>Всички пътища от корена до произволно листо имат </a:t>
            </a:r>
            <a:br>
              <a:rPr lang="bg-BG"/>
            </a:br>
            <a:r>
              <a:rPr lang="bg-BG"/>
              <a:t>  еднаква дължина.</a:t>
            </a:r>
            <a:endParaRPr lang="en-US" sz="28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187624" y="548680"/>
            <a:ext cx="7848872" cy="5791200"/>
          </a:xfrm>
          <a:prstGeom prst="rect">
            <a:avLst/>
          </a:prstGeom>
          <a:noFill/>
          <a:ln w="9525">
            <a:noFill/>
            <a:miter lim="800000"/>
            <a:headEnd/>
            <a:tailEnd/>
          </a:ln>
        </p:spPr>
        <p:txBody>
          <a:bodyPr anchor="ctr"/>
          <a:lstStyle/>
          <a:p>
            <a:r>
              <a:rPr lang="en-US"/>
              <a:t>	</a:t>
            </a:r>
            <a:r>
              <a:rPr lang="bg-BG"/>
              <a:t>Ако възел съдържа </a:t>
            </a:r>
            <a:r>
              <a:rPr lang="en-US" b="1" i="1"/>
              <a:t>n</a:t>
            </a:r>
            <a:r>
              <a:rPr lang="en-US"/>
              <a:t> </a:t>
            </a:r>
            <a:r>
              <a:rPr lang="bg-BG"/>
              <a:t>полета с данни, той има </a:t>
            </a:r>
            <a:r>
              <a:rPr lang="en-US" b="1" i="1"/>
              <a:t>i</a:t>
            </a:r>
            <a:r>
              <a:rPr lang="en-US"/>
              <a:t>=</a:t>
            </a:r>
            <a:r>
              <a:rPr lang="en-US" b="1" i="1"/>
              <a:t>n</a:t>
            </a:r>
            <a:r>
              <a:rPr lang="en-US"/>
              <a:t>+1</a:t>
            </a:r>
            <a:r>
              <a:rPr lang="bg-BG"/>
              <a:t> наследника. Максималния брой наследници е </a:t>
            </a:r>
            <a:r>
              <a:rPr lang="en-US" b="1" i="1"/>
              <a:t>m</a:t>
            </a:r>
            <a:r>
              <a:rPr lang="en-US"/>
              <a:t>. </a:t>
            </a:r>
            <a:r>
              <a:rPr lang="bg-BG"/>
              <a:t>Всеки вътрешен възел, който не е корен, има поне </a:t>
            </a:r>
            <a:r>
              <a:rPr lang="en-US" b="1" i="1"/>
              <a:t>m</a:t>
            </a:r>
            <a:r>
              <a:rPr lang="en-US"/>
              <a:t>/2 </a:t>
            </a:r>
            <a:r>
              <a:rPr lang="bg-BG"/>
              <a:t>връзки (наследника), ако </a:t>
            </a:r>
            <a:r>
              <a:rPr lang="en-US" b="1" i="1"/>
              <a:t>m</a:t>
            </a:r>
            <a:r>
              <a:rPr lang="en-US"/>
              <a:t> </a:t>
            </a:r>
            <a:r>
              <a:rPr lang="bg-BG"/>
              <a:t>е четно, и </a:t>
            </a:r>
            <a:r>
              <a:rPr lang="en-US"/>
              <a:t> </a:t>
            </a:r>
            <a:r>
              <a:rPr lang="bg-BG"/>
              <a:t>поне (</a:t>
            </a:r>
            <a:r>
              <a:rPr lang="bg-BG" b="1" i="1"/>
              <a:t>m</a:t>
            </a:r>
            <a:r>
              <a:rPr lang="bg-BG"/>
              <a:t>+1)/2 връзки (наследника, ако </a:t>
            </a:r>
            <a:r>
              <a:rPr lang="en-US" b="1" i="1"/>
              <a:t>m</a:t>
            </a:r>
            <a:r>
              <a:rPr lang="bg-BG"/>
              <a:t> е нечетно, където </a:t>
            </a:r>
            <a:r>
              <a:rPr lang="en-US" b="1" i="1"/>
              <a:t>m</a:t>
            </a:r>
            <a:r>
              <a:rPr lang="en-US"/>
              <a:t> - </a:t>
            </a:r>
            <a:r>
              <a:rPr lang="bg-BG"/>
              <a:t>е порядъка на дървото (или максималният брой връзки за всеки възел). </a:t>
            </a:r>
            <a:br>
              <a:rPr lang="bg-BG"/>
            </a:br>
            <a:r>
              <a:rPr lang="bg-BG"/>
              <a:t>	Разгледаното 2-3-4-дърво е В-дърво от 4 ред:</a:t>
            </a: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endParaRPr lang="en-US">
              <a:solidFill>
                <a:schemeClr val="tx2"/>
              </a:solidFill>
            </a:endParaRPr>
          </a:p>
        </p:txBody>
      </p:sp>
      <p:grpSp>
        <p:nvGrpSpPr>
          <p:cNvPr id="60419" name="Group 99"/>
          <p:cNvGrpSpPr>
            <a:grpSpLocks/>
          </p:cNvGrpSpPr>
          <p:nvPr/>
        </p:nvGrpSpPr>
        <p:grpSpPr bwMode="auto">
          <a:xfrm>
            <a:off x="277813" y="3432702"/>
            <a:ext cx="8839200" cy="2743200"/>
            <a:chOff x="175" y="2112"/>
            <a:chExt cx="5568" cy="1728"/>
          </a:xfrm>
        </p:grpSpPr>
        <p:grpSp>
          <p:nvGrpSpPr>
            <p:cNvPr id="60420" name="Group 3"/>
            <p:cNvGrpSpPr>
              <a:grpSpLocks/>
            </p:cNvGrpSpPr>
            <p:nvPr/>
          </p:nvGrpSpPr>
          <p:grpSpPr bwMode="auto">
            <a:xfrm>
              <a:off x="175" y="2112"/>
              <a:ext cx="5568" cy="1728"/>
              <a:chOff x="1796" y="2658"/>
              <a:chExt cx="9413" cy="2113"/>
            </a:xfrm>
          </p:grpSpPr>
          <p:grpSp>
            <p:nvGrpSpPr>
              <p:cNvPr id="60439" name="Group 4"/>
              <p:cNvGrpSpPr>
                <a:grpSpLocks/>
              </p:cNvGrpSpPr>
              <p:nvPr/>
            </p:nvGrpSpPr>
            <p:grpSpPr bwMode="auto">
              <a:xfrm>
                <a:off x="1796" y="3008"/>
                <a:ext cx="9413" cy="1763"/>
                <a:chOff x="1796" y="3008"/>
                <a:chExt cx="9413" cy="1763"/>
              </a:xfrm>
            </p:grpSpPr>
            <p:grpSp>
              <p:nvGrpSpPr>
                <p:cNvPr id="60454" name="Group 5"/>
                <p:cNvGrpSpPr>
                  <a:grpSpLocks/>
                </p:cNvGrpSpPr>
                <p:nvPr/>
              </p:nvGrpSpPr>
              <p:grpSpPr bwMode="auto">
                <a:xfrm>
                  <a:off x="5240" y="3008"/>
                  <a:ext cx="1820" cy="352"/>
                  <a:chOff x="3465" y="1977"/>
                  <a:chExt cx="1820" cy="352"/>
                </a:xfrm>
              </p:grpSpPr>
              <p:sp>
                <p:nvSpPr>
                  <p:cNvPr id="60509" name="Rectangle 6"/>
                  <p:cNvSpPr>
                    <a:spLocks noChangeArrowheads="1"/>
                  </p:cNvSpPr>
                  <p:nvPr/>
                </p:nvSpPr>
                <p:spPr bwMode="auto">
                  <a:xfrm>
                    <a:off x="3465" y="1983"/>
                    <a:ext cx="1820" cy="330"/>
                  </a:xfrm>
                  <a:prstGeom prst="rect">
                    <a:avLst/>
                  </a:prstGeom>
                  <a:noFill/>
                  <a:ln w="9525">
                    <a:solidFill>
                      <a:srgbClr val="000000"/>
                    </a:solidFill>
                    <a:miter lim="800000"/>
                    <a:headEnd/>
                    <a:tailEnd/>
                  </a:ln>
                </p:spPr>
                <p:txBody>
                  <a:bodyPr/>
                  <a:lstStyle/>
                  <a:p>
                    <a:endParaRPr lang="bg-BG"/>
                  </a:p>
                </p:txBody>
              </p:sp>
              <p:sp>
                <p:nvSpPr>
                  <p:cNvPr id="60510" name="Line 7"/>
                  <p:cNvSpPr>
                    <a:spLocks noChangeShapeType="1"/>
                  </p:cNvSpPr>
                  <p:nvPr/>
                </p:nvSpPr>
                <p:spPr bwMode="auto">
                  <a:xfrm>
                    <a:off x="3650" y="1979"/>
                    <a:ext cx="0" cy="330"/>
                  </a:xfrm>
                  <a:prstGeom prst="line">
                    <a:avLst/>
                  </a:prstGeom>
                  <a:noFill/>
                  <a:ln w="9525">
                    <a:solidFill>
                      <a:srgbClr val="000000"/>
                    </a:solidFill>
                    <a:round/>
                    <a:headEnd/>
                    <a:tailEnd/>
                  </a:ln>
                </p:spPr>
                <p:txBody>
                  <a:bodyPr/>
                  <a:lstStyle/>
                  <a:p>
                    <a:endParaRPr lang="bg-BG"/>
                  </a:p>
                </p:txBody>
              </p:sp>
              <p:sp>
                <p:nvSpPr>
                  <p:cNvPr id="60511" name="Line 8"/>
                  <p:cNvSpPr>
                    <a:spLocks noChangeShapeType="1"/>
                  </p:cNvSpPr>
                  <p:nvPr/>
                </p:nvSpPr>
                <p:spPr bwMode="auto">
                  <a:xfrm>
                    <a:off x="3969" y="1978"/>
                    <a:ext cx="0" cy="330"/>
                  </a:xfrm>
                  <a:prstGeom prst="line">
                    <a:avLst/>
                  </a:prstGeom>
                  <a:noFill/>
                  <a:ln w="9525">
                    <a:solidFill>
                      <a:srgbClr val="000000"/>
                    </a:solidFill>
                    <a:round/>
                    <a:headEnd/>
                    <a:tailEnd/>
                  </a:ln>
                </p:spPr>
                <p:txBody>
                  <a:bodyPr/>
                  <a:lstStyle/>
                  <a:p>
                    <a:endParaRPr lang="bg-BG"/>
                  </a:p>
                </p:txBody>
              </p:sp>
              <p:sp>
                <p:nvSpPr>
                  <p:cNvPr id="60512" name="Line 9"/>
                  <p:cNvSpPr>
                    <a:spLocks noChangeShapeType="1"/>
                  </p:cNvSpPr>
                  <p:nvPr/>
                </p:nvSpPr>
                <p:spPr bwMode="auto">
                  <a:xfrm>
                    <a:off x="4157" y="1999"/>
                    <a:ext cx="0" cy="330"/>
                  </a:xfrm>
                  <a:prstGeom prst="line">
                    <a:avLst/>
                  </a:prstGeom>
                  <a:noFill/>
                  <a:ln w="9525">
                    <a:solidFill>
                      <a:srgbClr val="000000"/>
                    </a:solidFill>
                    <a:round/>
                    <a:headEnd/>
                    <a:tailEnd/>
                  </a:ln>
                </p:spPr>
                <p:txBody>
                  <a:bodyPr/>
                  <a:lstStyle/>
                  <a:p>
                    <a:endParaRPr lang="bg-BG"/>
                  </a:p>
                </p:txBody>
              </p:sp>
              <p:sp>
                <p:nvSpPr>
                  <p:cNvPr id="60513" name="Line 10"/>
                  <p:cNvSpPr>
                    <a:spLocks noChangeShapeType="1"/>
                  </p:cNvSpPr>
                  <p:nvPr/>
                </p:nvSpPr>
                <p:spPr bwMode="auto">
                  <a:xfrm>
                    <a:off x="5081" y="1996"/>
                    <a:ext cx="0" cy="330"/>
                  </a:xfrm>
                  <a:prstGeom prst="line">
                    <a:avLst/>
                  </a:prstGeom>
                  <a:noFill/>
                  <a:ln w="9525">
                    <a:solidFill>
                      <a:srgbClr val="000000"/>
                    </a:solidFill>
                    <a:round/>
                    <a:headEnd/>
                    <a:tailEnd/>
                  </a:ln>
                </p:spPr>
                <p:txBody>
                  <a:bodyPr/>
                  <a:lstStyle/>
                  <a:p>
                    <a:endParaRPr lang="bg-BG"/>
                  </a:p>
                </p:txBody>
              </p:sp>
              <p:sp>
                <p:nvSpPr>
                  <p:cNvPr id="60514" name="Line 11"/>
                  <p:cNvSpPr>
                    <a:spLocks noChangeShapeType="1"/>
                  </p:cNvSpPr>
                  <p:nvPr/>
                </p:nvSpPr>
                <p:spPr bwMode="auto">
                  <a:xfrm>
                    <a:off x="4704" y="1977"/>
                    <a:ext cx="0" cy="330"/>
                  </a:xfrm>
                  <a:prstGeom prst="line">
                    <a:avLst/>
                  </a:prstGeom>
                  <a:noFill/>
                  <a:ln w="9525">
                    <a:solidFill>
                      <a:srgbClr val="000000"/>
                    </a:solidFill>
                    <a:round/>
                    <a:headEnd/>
                    <a:tailEnd/>
                  </a:ln>
                </p:spPr>
                <p:txBody>
                  <a:bodyPr/>
                  <a:lstStyle/>
                  <a:p>
                    <a:endParaRPr lang="bg-BG"/>
                  </a:p>
                </p:txBody>
              </p:sp>
              <p:sp>
                <p:nvSpPr>
                  <p:cNvPr id="60515" name="Line 12"/>
                  <p:cNvSpPr>
                    <a:spLocks noChangeShapeType="1"/>
                  </p:cNvSpPr>
                  <p:nvPr/>
                </p:nvSpPr>
                <p:spPr bwMode="auto">
                  <a:xfrm>
                    <a:off x="4512" y="1977"/>
                    <a:ext cx="0" cy="330"/>
                  </a:xfrm>
                  <a:prstGeom prst="line">
                    <a:avLst/>
                  </a:prstGeom>
                  <a:noFill/>
                  <a:ln w="9525">
                    <a:solidFill>
                      <a:srgbClr val="000000"/>
                    </a:solidFill>
                    <a:round/>
                    <a:headEnd/>
                    <a:tailEnd/>
                  </a:ln>
                </p:spPr>
                <p:txBody>
                  <a:bodyPr/>
                  <a:lstStyle/>
                  <a:p>
                    <a:endParaRPr lang="bg-BG"/>
                  </a:p>
                </p:txBody>
              </p:sp>
            </p:grpSp>
            <p:grpSp>
              <p:nvGrpSpPr>
                <p:cNvPr id="60455" name="Group 13"/>
                <p:cNvGrpSpPr>
                  <a:grpSpLocks/>
                </p:cNvGrpSpPr>
                <p:nvPr/>
              </p:nvGrpSpPr>
              <p:grpSpPr bwMode="auto">
                <a:xfrm>
                  <a:off x="9389" y="4416"/>
                  <a:ext cx="1820" cy="352"/>
                  <a:chOff x="3465" y="1977"/>
                  <a:chExt cx="1820" cy="352"/>
                </a:xfrm>
              </p:grpSpPr>
              <p:sp>
                <p:nvSpPr>
                  <p:cNvPr id="60502" name="Rectangle 14"/>
                  <p:cNvSpPr>
                    <a:spLocks noChangeArrowheads="1"/>
                  </p:cNvSpPr>
                  <p:nvPr/>
                </p:nvSpPr>
                <p:spPr bwMode="auto">
                  <a:xfrm>
                    <a:off x="3465" y="1983"/>
                    <a:ext cx="1820" cy="330"/>
                  </a:xfrm>
                  <a:prstGeom prst="rect">
                    <a:avLst/>
                  </a:prstGeom>
                  <a:noFill/>
                  <a:ln w="9525">
                    <a:solidFill>
                      <a:srgbClr val="000000"/>
                    </a:solidFill>
                    <a:miter lim="800000"/>
                    <a:headEnd/>
                    <a:tailEnd/>
                  </a:ln>
                </p:spPr>
                <p:txBody>
                  <a:bodyPr/>
                  <a:lstStyle/>
                  <a:p>
                    <a:endParaRPr lang="bg-BG"/>
                  </a:p>
                </p:txBody>
              </p:sp>
              <p:sp>
                <p:nvSpPr>
                  <p:cNvPr id="60503" name="Line 15"/>
                  <p:cNvSpPr>
                    <a:spLocks noChangeShapeType="1"/>
                  </p:cNvSpPr>
                  <p:nvPr/>
                </p:nvSpPr>
                <p:spPr bwMode="auto">
                  <a:xfrm>
                    <a:off x="3650" y="1979"/>
                    <a:ext cx="0" cy="330"/>
                  </a:xfrm>
                  <a:prstGeom prst="line">
                    <a:avLst/>
                  </a:prstGeom>
                  <a:noFill/>
                  <a:ln w="9525">
                    <a:solidFill>
                      <a:srgbClr val="000000"/>
                    </a:solidFill>
                    <a:round/>
                    <a:headEnd/>
                    <a:tailEnd/>
                  </a:ln>
                </p:spPr>
                <p:txBody>
                  <a:bodyPr/>
                  <a:lstStyle/>
                  <a:p>
                    <a:endParaRPr lang="bg-BG"/>
                  </a:p>
                </p:txBody>
              </p:sp>
              <p:sp>
                <p:nvSpPr>
                  <p:cNvPr id="60504" name="Line 16"/>
                  <p:cNvSpPr>
                    <a:spLocks noChangeShapeType="1"/>
                  </p:cNvSpPr>
                  <p:nvPr/>
                </p:nvSpPr>
                <p:spPr bwMode="auto">
                  <a:xfrm>
                    <a:off x="3969" y="1978"/>
                    <a:ext cx="0" cy="330"/>
                  </a:xfrm>
                  <a:prstGeom prst="line">
                    <a:avLst/>
                  </a:prstGeom>
                  <a:noFill/>
                  <a:ln w="9525">
                    <a:solidFill>
                      <a:srgbClr val="000000"/>
                    </a:solidFill>
                    <a:round/>
                    <a:headEnd/>
                    <a:tailEnd/>
                  </a:ln>
                </p:spPr>
                <p:txBody>
                  <a:bodyPr/>
                  <a:lstStyle/>
                  <a:p>
                    <a:endParaRPr lang="bg-BG"/>
                  </a:p>
                </p:txBody>
              </p:sp>
              <p:sp>
                <p:nvSpPr>
                  <p:cNvPr id="60505" name="Line 17"/>
                  <p:cNvSpPr>
                    <a:spLocks noChangeShapeType="1"/>
                  </p:cNvSpPr>
                  <p:nvPr/>
                </p:nvSpPr>
                <p:spPr bwMode="auto">
                  <a:xfrm>
                    <a:off x="4157" y="1999"/>
                    <a:ext cx="0" cy="330"/>
                  </a:xfrm>
                  <a:prstGeom prst="line">
                    <a:avLst/>
                  </a:prstGeom>
                  <a:noFill/>
                  <a:ln w="9525">
                    <a:solidFill>
                      <a:srgbClr val="000000"/>
                    </a:solidFill>
                    <a:round/>
                    <a:headEnd/>
                    <a:tailEnd/>
                  </a:ln>
                </p:spPr>
                <p:txBody>
                  <a:bodyPr/>
                  <a:lstStyle/>
                  <a:p>
                    <a:endParaRPr lang="bg-BG"/>
                  </a:p>
                </p:txBody>
              </p:sp>
              <p:sp>
                <p:nvSpPr>
                  <p:cNvPr id="60506" name="Line 18"/>
                  <p:cNvSpPr>
                    <a:spLocks noChangeShapeType="1"/>
                  </p:cNvSpPr>
                  <p:nvPr/>
                </p:nvSpPr>
                <p:spPr bwMode="auto">
                  <a:xfrm>
                    <a:off x="5081" y="1996"/>
                    <a:ext cx="0" cy="330"/>
                  </a:xfrm>
                  <a:prstGeom prst="line">
                    <a:avLst/>
                  </a:prstGeom>
                  <a:noFill/>
                  <a:ln w="9525">
                    <a:solidFill>
                      <a:srgbClr val="000000"/>
                    </a:solidFill>
                    <a:round/>
                    <a:headEnd/>
                    <a:tailEnd/>
                  </a:ln>
                </p:spPr>
                <p:txBody>
                  <a:bodyPr/>
                  <a:lstStyle/>
                  <a:p>
                    <a:endParaRPr lang="bg-BG"/>
                  </a:p>
                </p:txBody>
              </p:sp>
              <p:sp>
                <p:nvSpPr>
                  <p:cNvPr id="60507" name="Line 19"/>
                  <p:cNvSpPr>
                    <a:spLocks noChangeShapeType="1"/>
                  </p:cNvSpPr>
                  <p:nvPr/>
                </p:nvSpPr>
                <p:spPr bwMode="auto">
                  <a:xfrm>
                    <a:off x="4704" y="1977"/>
                    <a:ext cx="0" cy="330"/>
                  </a:xfrm>
                  <a:prstGeom prst="line">
                    <a:avLst/>
                  </a:prstGeom>
                  <a:noFill/>
                  <a:ln w="9525">
                    <a:solidFill>
                      <a:srgbClr val="000000"/>
                    </a:solidFill>
                    <a:round/>
                    <a:headEnd/>
                    <a:tailEnd/>
                  </a:ln>
                </p:spPr>
                <p:txBody>
                  <a:bodyPr/>
                  <a:lstStyle/>
                  <a:p>
                    <a:endParaRPr lang="bg-BG"/>
                  </a:p>
                </p:txBody>
              </p:sp>
              <p:sp>
                <p:nvSpPr>
                  <p:cNvPr id="60508" name="Line 20"/>
                  <p:cNvSpPr>
                    <a:spLocks noChangeShapeType="1"/>
                  </p:cNvSpPr>
                  <p:nvPr/>
                </p:nvSpPr>
                <p:spPr bwMode="auto">
                  <a:xfrm>
                    <a:off x="4512" y="1977"/>
                    <a:ext cx="0" cy="330"/>
                  </a:xfrm>
                  <a:prstGeom prst="line">
                    <a:avLst/>
                  </a:prstGeom>
                  <a:noFill/>
                  <a:ln w="9525">
                    <a:solidFill>
                      <a:srgbClr val="000000"/>
                    </a:solidFill>
                    <a:round/>
                    <a:headEnd/>
                    <a:tailEnd/>
                  </a:ln>
                </p:spPr>
                <p:txBody>
                  <a:bodyPr/>
                  <a:lstStyle/>
                  <a:p>
                    <a:endParaRPr lang="bg-BG"/>
                  </a:p>
                </p:txBody>
              </p:sp>
            </p:grpSp>
            <p:grpSp>
              <p:nvGrpSpPr>
                <p:cNvPr id="60456" name="Group 21"/>
                <p:cNvGrpSpPr>
                  <a:grpSpLocks/>
                </p:cNvGrpSpPr>
                <p:nvPr/>
              </p:nvGrpSpPr>
              <p:grpSpPr bwMode="auto">
                <a:xfrm>
                  <a:off x="6718" y="3640"/>
                  <a:ext cx="902" cy="350"/>
                  <a:chOff x="6788" y="774"/>
                  <a:chExt cx="902" cy="350"/>
                </a:xfrm>
              </p:grpSpPr>
              <p:sp>
                <p:nvSpPr>
                  <p:cNvPr id="60499" name="Rectangle 22"/>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500" name="Line 23"/>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501" name="Line 24"/>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57" name="Group 25"/>
                <p:cNvGrpSpPr>
                  <a:grpSpLocks/>
                </p:cNvGrpSpPr>
                <p:nvPr/>
              </p:nvGrpSpPr>
              <p:grpSpPr bwMode="auto">
                <a:xfrm>
                  <a:off x="4892" y="3635"/>
                  <a:ext cx="902" cy="350"/>
                  <a:chOff x="6788" y="774"/>
                  <a:chExt cx="902" cy="350"/>
                </a:xfrm>
              </p:grpSpPr>
              <p:sp>
                <p:nvSpPr>
                  <p:cNvPr id="60496" name="Rectangle 26"/>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97" name="Line 27"/>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98" name="Line 28"/>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58" name="Group 29"/>
                <p:cNvGrpSpPr>
                  <a:grpSpLocks/>
                </p:cNvGrpSpPr>
                <p:nvPr/>
              </p:nvGrpSpPr>
              <p:grpSpPr bwMode="auto">
                <a:xfrm>
                  <a:off x="3050" y="3650"/>
                  <a:ext cx="902" cy="350"/>
                  <a:chOff x="6788" y="774"/>
                  <a:chExt cx="902" cy="350"/>
                </a:xfrm>
              </p:grpSpPr>
              <p:sp>
                <p:nvSpPr>
                  <p:cNvPr id="60493" name="Rectangle 30"/>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94" name="Line 31"/>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95" name="Line 32"/>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59" name="Group 33"/>
                <p:cNvGrpSpPr>
                  <a:grpSpLocks/>
                </p:cNvGrpSpPr>
                <p:nvPr/>
              </p:nvGrpSpPr>
              <p:grpSpPr bwMode="auto">
                <a:xfrm>
                  <a:off x="8833" y="3639"/>
                  <a:ext cx="902" cy="350"/>
                  <a:chOff x="6788" y="774"/>
                  <a:chExt cx="902" cy="350"/>
                </a:xfrm>
              </p:grpSpPr>
              <p:sp>
                <p:nvSpPr>
                  <p:cNvPr id="60490" name="Rectangle 3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91" name="Line 3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92" name="Line 3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0" name="Group 37"/>
                <p:cNvGrpSpPr>
                  <a:grpSpLocks/>
                </p:cNvGrpSpPr>
                <p:nvPr/>
              </p:nvGrpSpPr>
              <p:grpSpPr bwMode="auto">
                <a:xfrm>
                  <a:off x="1796" y="4396"/>
                  <a:ext cx="1535" cy="370"/>
                  <a:chOff x="5284" y="1407"/>
                  <a:chExt cx="1535" cy="370"/>
                </a:xfrm>
              </p:grpSpPr>
              <p:sp>
                <p:nvSpPr>
                  <p:cNvPr id="60485" name="Rectangle 38"/>
                  <p:cNvSpPr>
                    <a:spLocks noChangeArrowheads="1"/>
                  </p:cNvSpPr>
                  <p:nvPr/>
                </p:nvSpPr>
                <p:spPr bwMode="auto">
                  <a:xfrm>
                    <a:off x="5284" y="1407"/>
                    <a:ext cx="1535" cy="348"/>
                  </a:xfrm>
                  <a:prstGeom prst="rect">
                    <a:avLst/>
                  </a:prstGeom>
                  <a:noFill/>
                  <a:ln w="9525">
                    <a:solidFill>
                      <a:srgbClr val="000000"/>
                    </a:solidFill>
                    <a:miter lim="800000"/>
                    <a:headEnd/>
                    <a:tailEnd/>
                  </a:ln>
                </p:spPr>
                <p:txBody>
                  <a:bodyPr/>
                  <a:lstStyle/>
                  <a:p>
                    <a:endParaRPr lang="bg-BG"/>
                  </a:p>
                </p:txBody>
              </p:sp>
              <p:sp>
                <p:nvSpPr>
                  <p:cNvPr id="60486" name="Line 39"/>
                  <p:cNvSpPr>
                    <a:spLocks noChangeShapeType="1"/>
                  </p:cNvSpPr>
                  <p:nvPr/>
                </p:nvSpPr>
                <p:spPr bwMode="auto">
                  <a:xfrm>
                    <a:off x="5523" y="1408"/>
                    <a:ext cx="0" cy="348"/>
                  </a:xfrm>
                  <a:prstGeom prst="line">
                    <a:avLst/>
                  </a:prstGeom>
                  <a:noFill/>
                  <a:ln w="9525">
                    <a:solidFill>
                      <a:srgbClr val="000000"/>
                    </a:solidFill>
                    <a:round/>
                    <a:headEnd/>
                    <a:tailEnd/>
                  </a:ln>
                </p:spPr>
                <p:txBody>
                  <a:bodyPr/>
                  <a:lstStyle/>
                  <a:p>
                    <a:endParaRPr lang="bg-BG"/>
                  </a:p>
                </p:txBody>
              </p:sp>
              <p:sp>
                <p:nvSpPr>
                  <p:cNvPr id="60487" name="Line 40"/>
                  <p:cNvSpPr>
                    <a:spLocks noChangeShapeType="1"/>
                  </p:cNvSpPr>
                  <p:nvPr/>
                </p:nvSpPr>
                <p:spPr bwMode="auto">
                  <a:xfrm>
                    <a:off x="5922" y="1426"/>
                    <a:ext cx="0" cy="348"/>
                  </a:xfrm>
                  <a:prstGeom prst="line">
                    <a:avLst/>
                  </a:prstGeom>
                  <a:noFill/>
                  <a:ln w="9525">
                    <a:solidFill>
                      <a:srgbClr val="000000"/>
                    </a:solidFill>
                    <a:round/>
                    <a:headEnd/>
                    <a:tailEnd/>
                  </a:ln>
                </p:spPr>
                <p:txBody>
                  <a:bodyPr/>
                  <a:lstStyle/>
                  <a:p>
                    <a:endParaRPr lang="bg-BG"/>
                  </a:p>
                </p:txBody>
              </p:sp>
              <p:sp>
                <p:nvSpPr>
                  <p:cNvPr id="60488" name="Line 41"/>
                  <p:cNvSpPr>
                    <a:spLocks noChangeShapeType="1"/>
                  </p:cNvSpPr>
                  <p:nvPr/>
                </p:nvSpPr>
                <p:spPr bwMode="auto">
                  <a:xfrm>
                    <a:off x="6559" y="1429"/>
                    <a:ext cx="0" cy="348"/>
                  </a:xfrm>
                  <a:prstGeom prst="line">
                    <a:avLst/>
                  </a:prstGeom>
                  <a:noFill/>
                  <a:ln w="9525">
                    <a:solidFill>
                      <a:srgbClr val="000000"/>
                    </a:solidFill>
                    <a:round/>
                    <a:headEnd/>
                    <a:tailEnd/>
                  </a:ln>
                </p:spPr>
                <p:txBody>
                  <a:bodyPr/>
                  <a:lstStyle/>
                  <a:p>
                    <a:endParaRPr lang="bg-BG"/>
                  </a:p>
                </p:txBody>
              </p:sp>
              <p:sp>
                <p:nvSpPr>
                  <p:cNvPr id="60489" name="Line 42"/>
                  <p:cNvSpPr>
                    <a:spLocks noChangeShapeType="1"/>
                  </p:cNvSpPr>
                  <p:nvPr/>
                </p:nvSpPr>
                <p:spPr bwMode="auto">
                  <a:xfrm>
                    <a:off x="6160" y="1411"/>
                    <a:ext cx="0" cy="348"/>
                  </a:xfrm>
                  <a:prstGeom prst="line">
                    <a:avLst/>
                  </a:prstGeom>
                  <a:noFill/>
                  <a:ln w="9525">
                    <a:solidFill>
                      <a:srgbClr val="000000"/>
                    </a:solidFill>
                    <a:round/>
                    <a:headEnd/>
                    <a:tailEnd/>
                  </a:ln>
                </p:spPr>
                <p:txBody>
                  <a:bodyPr/>
                  <a:lstStyle/>
                  <a:p>
                    <a:endParaRPr lang="bg-BG"/>
                  </a:p>
                </p:txBody>
              </p:sp>
            </p:grpSp>
            <p:grpSp>
              <p:nvGrpSpPr>
                <p:cNvPr id="60461" name="Group 43"/>
                <p:cNvGrpSpPr>
                  <a:grpSpLocks/>
                </p:cNvGrpSpPr>
                <p:nvPr/>
              </p:nvGrpSpPr>
              <p:grpSpPr bwMode="auto">
                <a:xfrm>
                  <a:off x="8395" y="4418"/>
                  <a:ext cx="902" cy="350"/>
                  <a:chOff x="6788" y="774"/>
                  <a:chExt cx="902" cy="350"/>
                </a:xfrm>
              </p:grpSpPr>
              <p:sp>
                <p:nvSpPr>
                  <p:cNvPr id="60482" name="Rectangle 4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83" name="Line 4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84" name="Line 4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2" name="Group 47"/>
                <p:cNvGrpSpPr>
                  <a:grpSpLocks/>
                </p:cNvGrpSpPr>
                <p:nvPr/>
              </p:nvGrpSpPr>
              <p:grpSpPr bwMode="auto">
                <a:xfrm>
                  <a:off x="4442" y="4421"/>
                  <a:ext cx="902" cy="350"/>
                  <a:chOff x="6788" y="774"/>
                  <a:chExt cx="902" cy="350"/>
                </a:xfrm>
              </p:grpSpPr>
              <p:sp>
                <p:nvSpPr>
                  <p:cNvPr id="60479" name="Rectangle 48"/>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80" name="Line 49"/>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81" name="Line 50"/>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3" name="Group 51"/>
                <p:cNvGrpSpPr>
                  <a:grpSpLocks/>
                </p:cNvGrpSpPr>
                <p:nvPr/>
              </p:nvGrpSpPr>
              <p:grpSpPr bwMode="auto">
                <a:xfrm>
                  <a:off x="3432" y="4408"/>
                  <a:ext cx="902" cy="350"/>
                  <a:chOff x="6788" y="774"/>
                  <a:chExt cx="902" cy="350"/>
                </a:xfrm>
              </p:grpSpPr>
              <p:sp>
                <p:nvSpPr>
                  <p:cNvPr id="60476" name="Rectangle 52"/>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77" name="Line 53"/>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78" name="Line 54"/>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4" name="Group 55"/>
                <p:cNvGrpSpPr>
                  <a:grpSpLocks/>
                </p:cNvGrpSpPr>
                <p:nvPr/>
              </p:nvGrpSpPr>
              <p:grpSpPr bwMode="auto">
                <a:xfrm>
                  <a:off x="6371" y="4408"/>
                  <a:ext cx="902" cy="350"/>
                  <a:chOff x="6788" y="774"/>
                  <a:chExt cx="902" cy="350"/>
                </a:xfrm>
              </p:grpSpPr>
              <p:sp>
                <p:nvSpPr>
                  <p:cNvPr id="60473" name="Rectangle 56"/>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74" name="Line 57"/>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75" name="Line 58"/>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5" name="Group 59"/>
                <p:cNvGrpSpPr>
                  <a:grpSpLocks/>
                </p:cNvGrpSpPr>
                <p:nvPr/>
              </p:nvGrpSpPr>
              <p:grpSpPr bwMode="auto">
                <a:xfrm>
                  <a:off x="7355" y="4410"/>
                  <a:ext cx="902" cy="350"/>
                  <a:chOff x="6788" y="774"/>
                  <a:chExt cx="902" cy="350"/>
                </a:xfrm>
              </p:grpSpPr>
              <p:sp>
                <p:nvSpPr>
                  <p:cNvPr id="60470" name="Rectangle 60"/>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71" name="Line 61"/>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72" name="Line 62"/>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nvGrpSpPr>
                <p:cNvPr id="60466" name="Group 63"/>
                <p:cNvGrpSpPr>
                  <a:grpSpLocks/>
                </p:cNvGrpSpPr>
                <p:nvPr/>
              </p:nvGrpSpPr>
              <p:grpSpPr bwMode="auto">
                <a:xfrm>
                  <a:off x="5407" y="4411"/>
                  <a:ext cx="902" cy="350"/>
                  <a:chOff x="6788" y="774"/>
                  <a:chExt cx="902" cy="350"/>
                </a:xfrm>
              </p:grpSpPr>
              <p:sp>
                <p:nvSpPr>
                  <p:cNvPr id="60467" name="Rectangle 64"/>
                  <p:cNvSpPr>
                    <a:spLocks noChangeArrowheads="1"/>
                  </p:cNvSpPr>
                  <p:nvPr/>
                </p:nvSpPr>
                <p:spPr bwMode="auto">
                  <a:xfrm>
                    <a:off x="6788" y="774"/>
                    <a:ext cx="902" cy="334"/>
                  </a:xfrm>
                  <a:prstGeom prst="rect">
                    <a:avLst/>
                  </a:prstGeom>
                  <a:noFill/>
                  <a:ln w="9525">
                    <a:solidFill>
                      <a:srgbClr val="000000"/>
                    </a:solidFill>
                    <a:miter lim="800000"/>
                    <a:headEnd/>
                    <a:tailEnd/>
                  </a:ln>
                </p:spPr>
                <p:txBody>
                  <a:bodyPr/>
                  <a:lstStyle/>
                  <a:p>
                    <a:endParaRPr lang="bg-BG"/>
                  </a:p>
                </p:txBody>
              </p:sp>
              <p:sp>
                <p:nvSpPr>
                  <p:cNvPr id="60468" name="Line 65"/>
                  <p:cNvSpPr>
                    <a:spLocks noChangeShapeType="1"/>
                  </p:cNvSpPr>
                  <p:nvPr/>
                </p:nvSpPr>
                <p:spPr bwMode="auto">
                  <a:xfrm>
                    <a:off x="7042" y="776"/>
                    <a:ext cx="0" cy="348"/>
                  </a:xfrm>
                  <a:prstGeom prst="line">
                    <a:avLst/>
                  </a:prstGeom>
                  <a:noFill/>
                  <a:ln w="9525">
                    <a:solidFill>
                      <a:srgbClr val="000000"/>
                    </a:solidFill>
                    <a:round/>
                    <a:headEnd/>
                    <a:tailEnd/>
                  </a:ln>
                </p:spPr>
                <p:txBody>
                  <a:bodyPr/>
                  <a:lstStyle/>
                  <a:p>
                    <a:endParaRPr lang="bg-BG"/>
                  </a:p>
                </p:txBody>
              </p:sp>
              <p:sp>
                <p:nvSpPr>
                  <p:cNvPr id="60469" name="Line 66"/>
                  <p:cNvSpPr>
                    <a:spLocks noChangeShapeType="1"/>
                  </p:cNvSpPr>
                  <p:nvPr/>
                </p:nvSpPr>
                <p:spPr bwMode="auto">
                  <a:xfrm>
                    <a:off x="7426" y="776"/>
                    <a:ext cx="0" cy="348"/>
                  </a:xfrm>
                  <a:prstGeom prst="line">
                    <a:avLst/>
                  </a:prstGeom>
                  <a:noFill/>
                  <a:ln w="9525">
                    <a:solidFill>
                      <a:srgbClr val="000000"/>
                    </a:solidFill>
                    <a:round/>
                    <a:headEnd/>
                    <a:tailEnd/>
                  </a:ln>
                </p:spPr>
                <p:txBody>
                  <a:bodyPr/>
                  <a:lstStyle/>
                  <a:p>
                    <a:endParaRPr lang="bg-BG"/>
                  </a:p>
                </p:txBody>
              </p:sp>
            </p:grpSp>
          </p:grpSp>
          <p:sp>
            <p:nvSpPr>
              <p:cNvPr id="60440" name="Line 67"/>
              <p:cNvSpPr>
                <a:spLocks noChangeShapeType="1"/>
              </p:cNvSpPr>
              <p:nvPr/>
            </p:nvSpPr>
            <p:spPr bwMode="auto">
              <a:xfrm flipH="1">
                <a:off x="3497" y="3133"/>
                <a:ext cx="1852" cy="507"/>
              </a:xfrm>
              <a:prstGeom prst="line">
                <a:avLst/>
              </a:prstGeom>
              <a:noFill/>
              <a:ln w="9525">
                <a:solidFill>
                  <a:srgbClr val="000000"/>
                </a:solidFill>
                <a:round/>
                <a:headEnd/>
                <a:tailEnd type="triangle" w="med" len="med"/>
              </a:ln>
            </p:spPr>
            <p:txBody>
              <a:bodyPr/>
              <a:lstStyle/>
              <a:p>
                <a:endParaRPr lang="bg-BG"/>
              </a:p>
            </p:txBody>
          </p:sp>
          <p:sp>
            <p:nvSpPr>
              <p:cNvPr id="60441" name="Line 68"/>
              <p:cNvSpPr>
                <a:spLocks noChangeShapeType="1"/>
              </p:cNvSpPr>
              <p:nvPr/>
            </p:nvSpPr>
            <p:spPr bwMode="auto">
              <a:xfrm flipH="1">
                <a:off x="5317" y="3117"/>
                <a:ext cx="522" cy="523"/>
              </a:xfrm>
              <a:prstGeom prst="line">
                <a:avLst/>
              </a:prstGeom>
              <a:noFill/>
              <a:ln w="9525">
                <a:solidFill>
                  <a:srgbClr val="000000"/>
                </a:solidFill>
                <a:round/>
                <a:headEnd/>
                <a:tailEnd type="triangle" w="med" len="med"/>
              </a:ln>
            </p:spPr>
            <p:txBody>
              <a:bodyPr/>
              <a:lstStyle/>
              <a:p>
                <a:endParaRPr lang="bg-BG"/>
              </a:p>
            </p:txBody>
          </p:sp>
          <p:sp>
            <p:nvSpPr>
              <p:cNvPr id="60442" name="Line 69"/>
              <p:cNvSpPr>
                <a:spLocks noChangeShapeType="1"/>
              </p:cNvSpPr>
              <p:nvPr/>
            </p:nvSpPr>
            <p:spPr bwMode="auto">
              <a:xfrm>
                <a:off x="6947" y="3149"/>
                <a:ext cx="2310" cy="475"/>
              </a:xfrm>
              <a:prstGeom prst="line">
                <a:avLst/>
              </a:prstGeom>
              <a:noFill/>
              <a:ln w="9525">
                <a:solidFill>
                  <a:srgbClr val="000000"/>
                </a:solidFill>
                <a:round/>
                <a:headEnd/>
                <a:tailEnd type="triangle" w="med" len="med"/>
              </a:ln>
            </p:spPr>
            <p:txBody>
              <a:bodyPr/>
              <a:lstStyle/>
              <a:p>
                <a:endParaRPr lang="bg-BG"/>
              </a:p>
            </p:txBody>
          </p:sp>
          <p:sp>
            <p:nvSpPr>
              <p:cNvPr id="60443" name="Line 70"/>
              <p:cNvSpPr>
                <a:spLocks noChangeShapeType="1"/>
              </p:cNvSpPr>
              <p:nvPr/>
            </p:nvSpPr>
            <p:spPr bwMode="auto">
              <a:xfrm>
                <a:off x="6361" y="3149"/>
                <a:ext cx="823" cy="491"/>
              </a:xfrm>
              <a:prstGeom prst="line">
                <a:avLst/>
              </a:prstGeom>
              <a:noFill/>
              <a:ln w="9525">
                <a:solidFill>
                  <a:srgbClr val="000000"/>
                </a:solidFill>
                <a:round/>
                <a:headEnd/>
                <a:tailEnd type="triangle" w="med" len="med"/>
              </a:ln>
            </p:spPr>
            <p:txBody>
              <a:bodyPr/>
              <a:lstStyle/>
              <a:p>
                <a:endParaRPr lang="bg-BG"/>
              </a:p>
            </p:txBody>
          </p:sp>
          <p:sp>
            <p:nvSpPr>
              <p:cNvPr id="60444" name="Line 71"/>
              <p:cNvSpPr>
                <a:spLocks noChangeShapeType="1"/>
              </p:cNvSpPr>
              <p:nvPr/>
            </p:nvSpPr>
            <p:spPr bwMode="auto">
              <a:xfrm flipH="1">
                <a:off x="2595" y="3814"/>
                <a:ext cx="586" cy="585"/>
              </a:xfrm>
              <a:prstGeom prst="line">
                <a:avLst/>
              </a:prstGeom>
              <a:noFill/>
              <a:ln w="9525">
                <a:solidFill>
                  <a:srgbClr val="000000"/>
                </a:solidFill>
                <a:round/>
                <a:headEnd/>
                <a:tailEnd type="triangle" w="med" len="med"/>
              </a:ln>
            </p:spPr>
            <p:txBody>
              <a:bodyPr/>
              <a:lstStyle/>
              <a:p>
                <a:endParaRPr lang="bg-BG"/>
              </a:p>
            </p:txBody>
          </p:sp>
          <p:sp>
            <p:nvSpPr>
              <p:cNvPr id="60445" name="Line 72"/>
              <p:cNvSpPr>
                <a:spLocks noChangeShapeType="1"/>
              </p:cNvSpPr>
              <p:nvPr/>
            </p:nvSpPr>
            <p:spPr bwMode="auto">
              <a:xfrm>
                <a:off x="3829" y="3798"/>
                <a:ext cx="159" cy="617"/>
              </a:xfrm>
              <a:prstGeom prst="line">
                <a:avLst/>
              </a:prstGeom>
              <a:noFill/>
              <a:ln w="9525">
                <a:solidFill>
                  <a:srgbClr val="000000"/>
                </a:solidFill>
                <a:round/>
                <a:headEnd/>
                <a:tailEnd type="triangle" w="med" len="med"/>
              </a:ln>
            </p:spPr>
            <p:txBody>
              <a:bodyPr/>
              <a:lstStyle/>
              <a:p>
                <a:endParaRPr lang="bg-BG"/>
              </a:p>
            </p:txBody>
          </p:sp>
          <p:sp>
            <p:nvSpPr>
              <p:cNvPr id="60446" name="Line 73"/>
              <p:cNvSpPr>
                <a:spLocks noChangeShapeType="1"/>
              </p:cNvSpPr>
              <p:nvPr/>
            </p:nvSpPr>
            <p:spPr bwMode="auto">
              <a:xfrm flipH="1">
                <a:off x="4858" y="3782"/>
                <a:ext cx="174" cy="633"/>
              </a:xfrm>
              <a:prstGeom prst="line">
                <a:avLst/>
              </a:prstGeom>
              <a:noFill/>
              <a:ln w="9525">
                <a:solidFill>
                  <a:srgbClr val="000000"/>
                </a:solidFill>
                <a:round/>
                <a:headEnd/>
                <a:tailEnd type="triangle" w="med" len="med"/>
              </a:ln>
            </p:spPr>
            <p:txBody>
              <a:bodyPr/>
              <a:lstStyle/>
              <a:p>
                <a:endParaRPr lang="bg-BG"/>
              </a:p>
            </p:txBody>
          </p:sp>
          <p:sp>
            <p:nvSpPr>
              <p:cNvPr id="60447" name="Line 74"/>
              <p:cNvSpPr>
                <a:spLocks noChangeShapeType="1"/>
              </p:cNvSpPr>
              <p:nvPr/>
            </p:nvSpPr>
            <p:spPr bwMode="auto">
              <a:xfrm>
                <a:off x="5633" y="3766"/>
                <a:ext cx="222" cy="649"/>
              </a:xfrm>
              <a:prstGeom prst="line">
                <a:avLst/>
              </a:prstGeom>
              <a:noFill/>
              <a:ln w="9525">
                <a:solidFill>
                  <a:srgbClr val="000000"/>
                </a:solidFill>
                <a:round/>
                <a:headEnd/>
                <a:tailEnd type="triangle" w="med" len="med"/>
              </a:ln>
            </p:spPr>
            <p:txBody>
              <a:bodyPr/>
              <a:lstStyle/>
              <a:p>
                <a:endParaRPr lang="bg-BG"/>
              </a:p>
            </p:txBody>
          </p:sp>
          <p:sp>
            <p:nvSpPr>
              <p:cNvPr id="60448" name="Line 75"/>
              <p:cNvSpPr>
                <a:spLocks noChangeShapeType="1"/>
              </p:cNvSpPr>
              <p:nvPr/>
            </p:nvSpPr>
            <p:spPr bwMode="auto">
              <a:xfrm flipH="1">
                <a:off x="8782" y="3798"/>
                <a:ext cx="174" cy="649"/>
              </a:xfrm>
              <a:prstGeom prst="line">
                <a:avLst/>
              </a:prstGeom>
              <a:noFill/>
              <a:ln w="9525">
                <a:solidFill>
                  <a:srgbClr val="000000"/>
                </a:solidFill>
                <a:round/>
                <a:headEnd/>
                <a:tailEnd type="triangle" w="med" len="med"/>
              </a:ln>
            </p:spPr>
            <p:txBody>
              <a:bodyPr/>
              <a:lstStyle/>
              <a:p>
                <a:endParaRPr lang="bg-BG"/>
              </a:p>
            </p:txBody>
          </p:sp>
          <p:sp>
            <p:nvSpPr>
              <p:cNvPr id="60449" name="Line 76"/>
              <p:cNvSpPr>
                <a:spLocks noChangeShapeType="1"/>
              </p:cNvSpPr>
              <p:nvPr/>
            </p:nvSpPr>
            <p:spPr bwMode="auto">
              <a:xfrm>
                <a:off x="9574" y="3798"/>
                <a:ext cx="775" cy="633"/>
              </a:xfrm>
              <a:prstGeom prst="line">
                <a:avLst/>
              </a:prstGeom>
              <a:noFill/>
              <a:ln w="9525">
                <a:solidFill>
                  <a:srgbClr val="000000"/>
                </a:solidFill>
                <a:round/>
                <a:headEnd/>
                <a:tailEnd type="triangle" w="med" len="med"/>
              </a:ln>
            </p:spPr>
            <p:txBody>
              <a:bodyPr/>
              <a:lstStyle/>
              <a:p>
                <a:endParaRPr lang="bg-BG"/>
              </a:p>
            </p:txBody>
          </p:sp>
          <p:sp>
            <p:nvSpPr>
              <p:cNvPr id="60450" name="Line 77"/>
              <p:cNvSpPr>
                <a:spLocks noChangeShapeType="1"/>
              </p:cNvSpPr>
              <p:nvPr/>
            </p:nvSpPr>
            <p:spPr bwMode="auto">
              <a:xfrm>
                <a:off x="6852" y="3766"/>
                <a:ext cx="0" cy="649"/>
              </a:xfrm>
              <a:prstGeom prst="line">
                <a:avLst/>
              </a:prstGeom>
              <a:noFill/>
              <a:ln w="9525">
                <a:solidFill>
                  <a:srgbClr val="000000"/>
                </a:solidFill>
                <a:round/>
                <a:headEnd/>
                <a:tailEnd type="triangle" w="med" len="med"/>
              </a:ln>
            </p:spPr>
            <p:txBody>
              <a:bodyPr/>
              <a:lstStyle/>
              <a:p>
                <a:endParaRPr lang="bg-BG"/>
              </a:p>
            </p:txBody>
          </p:sp>
          <p:sp>
            <p:nvSpPr>
              <p:cNvPr id="60451" name="Line 78"/>
              <p:cNvSpPr>
                <a:spLocks noChangeShapeType="1"/>
              </p:cNvSpPr>
              <p:nvPr/>
            </p:nvSpPr>
            <p:spPr bwMode="auto">
              <a:xfrm>
                <a:off x="7469" y="3766"/>
                <a:ext cx="364" cy="649"/>
              </a:xfrm>
              <a:prstGeom prst="line">
                <a:avLst/>
              </a:prstGeom>
              <a:noFill/>
              <a:ln w="9525">
                <a:solidFill>
                  <a:srgbClr val="000000"/>
                </a:solidFill>
                <a:round/>
                <a:headEnd/>
                <a:tailEnd type="triangle" w="med" len="med"/>
              </a:ln>
            </p:spPr>
            <p:txBody>
              <a:bodyPr/>
              <a:lstStyle/>
              <a:p>
                <a:endParaRPr lang="bg-BG"/>
              </a:p>
            </p:txBody>
          </p:sp>
          <p:sp>
            <p:nvSpPr>
              <p:cNvPr id="60452" name="Line 79"/>
              <p:cNvSpPr>
                <a:spLocks noChangeShapeType="1"/>
              </p:cNvSpPr>
              <p:nvPr/>
            </p:nvSpPr>
            <p:spPr bwMode="auto">
              <a:xfrm>
                <a:off x="5762" y="2661"/>
                <a:ext cx="332" cy="0"/>
              </a:xfrm>
              <a:prstGeom prst="line">
                <a:avLst/>
              </a:prstGeom>
              <a:noFill/>
              <a:ln w="9525">
                <a:solidFill>
                  <a:srgbClr val="000000"/>
                </a:solidFill>
                <a:round/>
                <a:headEnd/>
                <a:tailEnd/>
              </a:ln>
            </p:spPr>
            <p:txBody>
              <a:bodyPr/>
              <a:lstStyle/>
              <a:p>
                <a:endParaRPr lang="bg-BG"/>
              </a:p>
            </p:txBody>
          </p:sp>
          <p:sp>
            <p:nvSpPr>
              <p:cNvPr id="60453" name="Line 80"/>
              <p:cNvSpPr>
                <a:spLocks noChangeShapeType="1"/>
              </p:cNvSpPr>
              <p:nvPr/>
            </p:nvSpPr>
            <p:spPr bwMode="auto">
              <a:xfrm>
                <a:off x="6092" y="2658"/>
                <a:ext cx="0" cy="380"/>
              </a:xfrm>
              <a:prstGeom prst="line">
                <a:avLst/>
              </a:prstGeom>
              <a:noFill/>
              <a:ln w="9525">
                <a:solidFill>
                  <a:srgbClr val="000000"/>
                </a:solidFill>
                <a:round/>
                <a:headEnd/>
                <a:tailEnd type="triangle" w="med" len="med"/>
              </a:ln>
            </p:spPr>
            <p:txBody>
              <a:bodyPr/>
              <a:lstStyle/>
              <a:p>
                <a:endParaRPr lang="bg-BG"/>
              </a:p>
            </p:txBody>
          </p:sp>
        </p:grpSp>
        <p:sp>
          <p:nvSpPr>
            <p:cNvPr id="60421" name="Text Box 81"/>
            <p:cNvSpPr txBox="1">
              <a:spLocks noChangeArrowheads="1"/>
            </p:cNvSpPr>
            <p:nvPr/>
          </p:nvSpPr>
          <p:spPr bwMode="auto">
            <a:xfrm>
              <a:off x="3241" y="2941"/>
              <a:ext cx="260" cy="231"/>
            </a:xfrm>
            <a:prstGeom prst="rect">
              <a:avLst/>
            </a:prstGeom>
            <a:noFill/>
            <a:ln w="9525">
              <a:noFill/>
              <a:miter lim="800000"/>
              <a:headEnd/>
              <a:tailEnd/>
            </a:ln>
          </p:spPr>
          <p:txBody>
            <a:bodyPr wrap="none">
              <a:spAutoFit/>
            </a:bodyPr>
            <a:lstStyle/>
            <a:p>
              <a:r>
                <a:rPr lang="bg-BG" sz="1800"/>
                <a:t>60</a:t>
              </a:r>
              <a:endParaRPr lang="en-US" sz="1800"/>
            </a:p>
          </p:txBody>
        </p:sp>
        <p:sp>
          <p:nvSpPr>
            <p:cNvPr id="60422" name="Text Box 82"/>
            <p:cNvSpPr txBox="1">
              <a:spLocks noChangeArrowheads="1"/>
            </p:cNvSpPr>
            <p:nvPr/>
          </p:nvSpPr>
          <p:spPr bwMode="auto">
            <a:xfrm>
              <a:off x="2927" y="2400"/>
              <a:ext cx="260" cy="231"/>
            </a:xfrm>
            <a:prstGeom prst="rect">
              <a:avLst/>
            </a:prstGeom>
            <a:noFill/>
            <a:ln w="9525">
              <a:noFill/>
              <a:miter lim="800000"/>
              <a:headEnd/>
              <a:tailEnd/>
            </a:ln>
          </p:spPr>
          <p:txBody>
            <a:bodyPr wrap="none">
              <a:spAutoFit/>
            </a:bodyPr>
            <a:lstStyle/>
            <a:p>
              <a:r>
                <a:rPr lang="bg-BG" sz="1800"/>
                <a:t>70</a:t>
              </a:r>
              <a:endParaRPr lang="en-US" sz="1800"/>
            </a:p>
          </p:txBody>
        </p:sp>
        <p:sp>
          <p:nvSpPr>
            <p:cNvPr id="60423" name="Text Box 83"/>
            <p:cNvSpPr txBox="1">
              <a:spLocks noChangeArrowheads="1"/>
            </p:cNvSpPr>
            <p:nvPr/>
          </p:nvSpPr>
          <p:spPr bwMode="auto">
            <a:xfrm>
              <a:off x="2303" y="2400"/>
              <a:ext cx="260" cy="231"/>
            </a:xfrm>
            <a:prstGeom prst="rect">
              <a:avLst/>
            </a:prstGeom>
            <a:noFill/>
            <a:ln w="9525">
              <a:noFill/>
              <a:miter lim="800000"/>
              <a:headEnd/>
              <a:tailEnd/>
            </a:ln>
          </p:spPr>
          <p:txBody>
            <a:bodyPr wrap="none">
              <a:spAutoFit/>
            </a:bodyPr>
            <a:lstStyle/>
            <a:p>
              <a:r>
                <a:rPr lang="en-US" sz="1800"/>
                <a:t>3</a:t>
              </a:r>
              <a:r>
                <a:rPr lang="bg-BG" sz="1800"/>
                <a:t>0</a:t>
              </a:r>
              <a:endParaRPr lang="en-US" sz="1800"/>
            </a:p>
          </p:txBody>
        </p:sp>
        <p:sp>
          <p:nvSpPr>
            <p:cNvPr id="60424" name="Text Box 84"/>
            <p:cNvSpPr txBox="1">
              <a:spLocks noChangeArrowheads="1"/>
            </p:cNvSpPr>
            <p:nvPr/>
          </p:nvSpPr>
          <p:spPr bwMode="auto">
            <a:xfrm>
              <a:off x="2639" y="2400"/>
              <a:ext cx="260" cy="231"/>
            </a:xfrm>
            <a:prstGeom prst="rect">
              <a:avLst/>
            </a:prstGeom>
            <a:noFill/>
            <a:ln w="9525">
              <a:noFill/>
              <a:miter lim="800000"/>
              <a:headEnd/>
              <a:tailEnd/>
            </a:ln>
          </p:spPr>
          <p:txBody>
            <a:bodyPr wrap="none">
              <a:spAutoFit/>
            </a:bodyPr>
            <a:lstStyle/>
            <a:p>
              <a:r>
                <a:rPr lang="bg-BG" sz="1800"/>
                <a:t>50</a:t>
              </a:r>
              <a:endParaRPr lang="en-US" sz="1800"/>
            </a:p>
          </p:txBody>
        </p:sp>
        <p:sp>
          <p:nvSpPr>
            <p:cNvPr id="60425" name="Text Box 85"/>
            <p:cNvSpPr txBox="1">
              <a:spLocks noChangeArrowheads="1"/>
            </p:cNvSpPr>
            <p:nvPr/>
          </p:nvSpPr>
          <p:spPr bwMode="auto">
            <a:xfrm>
              <a:off x="2159" y="2941"/>
              <a:ext cx="260" cy="231"/>
            </a:xfrm>
            <a:prstGeom prst="rect">
              <a:avLst/>
            </a:prstGeom>
            <a:noFill/>
            <a:ln w="9525">
              <a:noFill/>
              <a:miter lim="800000"/>
              <a:headEnd/>
              <a:tailEnd/>
            </a:ln>
          </p:spPr>
          <p:txBody>
            <a:bodyPr wrap="none">
              <a:spAutoFit/>
            </a:bodyPr>
            <a:lstStyle/>
            <a:p>
              <a:r>
                <a:rPr lang="bg-BG" sz="1800"/>
                <a:t>40</a:t>
              </a:r>
              <a:endParaRPr lang="en-US" sz="1800"/>
            </a:p>
          </p:txBody>
        </p:sp>
        <p:sp>
          <p:nvSpPr>
            <p:cNvPr id="60426" name="Text Box 86"/>
            <p:cNvSpPr txBox="1">
              <a:spLocks noChangeArrowheads="1"/>
            </p:cNvSpPr>
            <p:nvPr/>
          </p:nvSpPr>
          <p:spPr bwMode="auto">
            <a:xfrm>
              <a:off x="1064" y="2963"/>
              <a:ext cx="260" cy="231"/>
            </a:xfrm>
            <a:prstGeom prst="rect">
              <a:avLst/>
            </a:prstGeom>
            <a:noFill/>
            <a:ln w="9525">
              <a:noFill/>
              <a:miter lim="800000"/>
              <a:headEnd/>
              <a:tailEnd/>
            </a:ln>
          </p:spPr>
          <p:txBody>
            <a:bodyPr wrap="none">
              <a:spAutoFit/>
            </a:bodyPr>
            <a:lstStyle/>
            <a:p>
              <a:r>
                <a:rPr lang="bg-BG" sz="1800"/>
                <a:t>23</a:t>
              </a:r>
              <a:endParaRPr lang="en-US" sz="1800"/>
            </a:p>
          </p:txBody>
        </p:sp>
        <p:sp>
          <p:nvSpPr>
            <p:cNvPr id="60427" name="Text Box 87"/>
            <p:cNvSpPr txBox="1">
              <a:spLocks noChangeArrowheads="1"/>
            </p:cNvSpPr>
            <p:nvPr/>
          </p:nvSpPr>
          <p:spPr bwMode="auto">
            <a:xfrm>
              <a:off x="361" y="3565"/>
              <a:ext cx="188" cy="231"/>
            </a:xfrm>
            <a:prstGeom prst="rect">
              <a:avLst/>
            </a:prstGeom>
            <a:noFill/>
            <a:ln w="9525">
              <a:noFill/>
              <a:miter lim="800000"/>
              <a:headEnd/>
              <a:tailEnd/>
            </a:ln>
          </p:spPr>
          <p:txBody>
            <a:bodyPr wrap="none">
              <a:spAutoFit/>
            </a:bodyPr>
            <a:lstStyle/>
            <a:p>
              <a:r>
                <a:rPr lang="bg-BG" sz="1800"/>
                <a:t>7</a:t>
              </a:r>
              <a:endParaRPr lang="en-US" sz="1800"/>
            </a:p>
          </p:txBody>
        </p:sp>
        <p:sp>
          <p:nvSpPr>
            <p:cNvPr id="60428" name="Text Box 88"/>
            <p:cNvSpPr txBox="1">
              <a:spLocks noChangeArrowheads="1"/>
            </p:cNvSpPr>
            <p:nvPr/>
          </p:nvSpPr>
          <p:spPr bwMode="auto">
            <a:xfrm>
              <a:off x="693" y="3565"/>
              <a:ext cx="260" cy="231"/>
            </a:xfrm>
            <a:prstGeom prst="rect">
              <a:avLst/>
            </a:prstGeom>
            <a:noFill/>
            <a:ln w="9525">
              <a:noFill/>
              <a:miter lim="800000"/>
              <a:headEnd/>
              <a:tailEnd/>
            </a:ln>
          </p:spPr>
          <p:txBody>
            <a:bodyPr wrap="none">
              <a:spAutoFit/>
            </a:bodyPr>
            <a:lstStyle/>
            <a:p>
              <a:r>
                <a:rPr lang="bg-BG" sz="1800"/>
                <a:t>13</a:t>
              </a:r>
              <a:endParaRPr lang="en-US" sz="1800"/>
            </a:p>
          </p:txBody>
        </p:sp>
        <p:sp>
          <p:nvSpPr>
            <p:cNvPr id="60429" name="Text Box 89"/>
            <p:cNvSpPr txBox="1">
              <a:spLocks noChangeArrowheads="1"/>
            </p:cNvSpPr>
            <p:nvPr/>
          </p:nvSpPr>
          <p:spPr bwMode="auto">
            <a:xfrm>
              <a:off x="4489" y="2941"/>
              <a:ext cx="260" cy="231"/>
            </a:xfrm>
            <a:prstGeom prst="rect">
              <a:avLst/>
            </a:prstGeom>
            <a:noFill/>
            <a:ln w="9525">
              <a:noFill/>
              <a:miter lim="800000"/>
              <a:headEnd/>
              <a:tailEnd/>
            </a:ln>
          </p:spPr>
          <p:txBody>
            <a:bodyPr wrap="none">
              <a:spAutoFit/>
            </a:bodyPr>
            <a:lstStyle/>
            <a:p>
              <a:r>
                <a:rPr lang="bg-BG" sz="1800"/>
                <a:t>80</a:t>
              </a:r>
              <a:endParaRPr lang="en-US" sz="1800"/>
            </a:p>
          </p:txBody>
        </p:sp>
        <p:sp>
          <p:nvSpPr>
            <p:cNvPr id="60430" name="Text Box 90"/>
            <p:cNvSpPr txBox="1">
              <a:spLocks noChangeArrowheads="1"/>
            </p:cNvSpPr>
            <p:nvPr/>
          </p:nvSpPr>
          <p:spPr bwMode="auto">
            <a:xfrm>
              <a:off x="1282" y="3565"/>
              <a:ext cx="260" cy="231"/>
            </a:xfrm>
            <a:prstGeom prst="rect">
              <a:avLst/>
            </a:prstGeom>
            <a:noFill/>
            <a:ln w="9525">
              <a:noFill/>
              <a:miter lim="800000"/>
              <a:headEnd/>
              <a:tailEnd/>
            </a:ln>
          </p:spPr>
          <p:txBody>
            <a:bodyPr wrap="none">
              <a:spAutoFit/>
            </a:bodyPr>
            <a:lstStyle/>
            <a:p>
              <a:r>
                <a:rPr lang="bg-BG" sz="1800"/>
                <a:t>27</a:t>
              </a:r>
              <a:endParaRPr lang="en-US" sz="1800"/>
            </a:p>
          </p:txBody>
        </p:sp>
        <p:sp>
          <p:nvSpPr>
            <p:cNvPr id="60431" name="Text Box 91"/>
            <p:cNvSpPr txBox="1">
              <a:spLocks noChangeArrowheads="1"/>
            </p:cNvSpPr>
            <p:nvPr/>
          </p:nvSpPr>
          <p:spPr bwMode="auto">
            <a:xfrm>
              <a:off x="1906" y="3591"/>
              <a:ext cx="260" cy="231"/>
            </a:xfrm>
            <a:prstGeom prst="rect">
              <a:avLst/>
            </a:prstGeom>
            <a:noFill/>
            <a:ln w="9525">
              <a:noFill/>
              <a:miter lim="800000"/>
              <a:headEnd/>
              <a:tailEnd/>
            </a:ln>
          </p:spPr>
          <p:txBody>
            <a:bodyPr wrap="none">
              <a:spAutoFit/>
            </a:bodyPr>
            <a:lstStyle/>
            <a:p>
              <a:r>
                <a:rPr lang="bg-BG" sz="1800"/>
                <a:t>31</a:t>
              </a:r>
              <a:endParaRPr lang="en-US" sz="1800"/>
            </a:p>
          </p:txBody>
        </p:sp>
        <p:sp>
          <p:nvSpPr>
            <p:cNvPr id="60432" name="Text Box 92"/>
            <p:cNvSpPr txBox="1">
              <a:spLocks noChangeArrowheads="1"/>
            </p:cNvSpPr>
            <p:nvPr/>
          </p:nvSpPr>
          <p:spPr bwMode="auto">
            <a:xfrm>
              <a:off x="2456" y="3578"/>
              <a:ext cx="260" cy="231"/>
            </a:xfrm>
            <a:prstGeom prst="rect">
              <a:avLst/>
            </a:prstGeom>
            <a:noFill/>
            <a:ln w="9525">
              <a:noFill/>
              <a:miter lim="800000"/>
              <a:headEnd/>
              <a:tailEnd/>
            </a:ln>
          </p:spPr>
          <p:txBody>
            <a:bodyPr wrap="none">
              <a:spAutoFit/>
            </a:bodyPr>
            <a:lstStyle/>
            <a:p>
              <a:r>
                <a:rPr lang="bg-BG" sz="1800"/>
                <a:t>43</a:t>
              </a:r>
              <a:endParaRPr lang="en-US" sz="1800"/>
            </a:p>
          </p:txBody>
        </p:sp>
        <p:sp>
          <p:nvSpPr>
            <p:cNvPr id="60433" name="Text Box 93"/>
            <p:cNvSpPr txBox="1">
              <a:spLocks noChangeArrowheads="1"/>
            </p:cNvSpPr>
            <p:nvPr/>
          </p:nvSpPr>
          <p:spPr bwMode="auto">
            <a:xfrm>
              <a:off x="3036" y="3578"/>
              <a:ext cx="260" cy="231"/>
            </a:xfrm>
            <a:prstGeom prst="rect">
              <a:avLst/>
            </a:prstGeom>
            <a:noFill/>
            <a:ln w="9525">
              <a:noFill/>
              <a:miter lim="800000"/>
              <a:headEnd/>
              <a:tailEnd/>
            </a:ln>
          </p:spPr>
          <p:txBody>
            <a:bodyPr wrap="none">
              <a:spAutoFit/>
            </a:bodyPr>
            <a:lstStyle/>
            <a:p>
              <a:r>
                <a:rPr lang="bg-BG" sz="1800"/>
                <a:t>57</a:t>
              </a:r>
              <a:endParaRPr lang="en-US" sz="1800"/>
            </a:p>
          </p:txBody>
        </p:sp>
        <p:sp>
          <p:nvSpPr>
            <p:cNvPr id="60434" name="Text Box 94"/>
            <p:cNvSpPr txBox="1">
              <a:spLocks noChangeArrowheads="1"/>
            </p:cNvSpPr>
            <p:nvPr/>
          </p:nvSpPr>
          <p:spPr bwMode="auto">
            <a:xfrm>
              <a:off x="3611" y="3561"/>
              <a:ext cx="260" cy="231"/>
            </a:xfrm>
            <a:prstGeom prst="rect">
              <a:avLst/>
            </a:prstGeom>
            <a:noFill/>
            <a:ln w="9525">
              <a:noFill/>
              <a:miter lim="800000"/>
              <a:headEnd/>
              <a:tailEnd/>
            </a:ln>
          </p:spPr>
          <p:txBody>
            <a:bodyPr wrap="none">
              <a:spAutoFit/>
            </a:bodyPr>
            <a:lstStyle/>
            <a:p>
              <a:r>
                <a:rPr lang="bg-BG" sz="1800"/>
                <a:t>67</a:t>
              </a:r>
              <a:endParaRPr lang="en-US" sz="1800"/>
            </a:p>
          </p:txBody>
        </p:sp>
        <p:sp>
          <p:nvSpPr>
            <p:cNvPr id="60435" name="Text Box 95"/>
            <p:cNvSpPr txBox="1">
              <a:spLocks noChangeArrowheads="1"/>
            </p:cNvSpPr>
            <p:nvPr/>
          </p:nvSpPr>
          <p:spPr bwMode="auto">
            <a:xfrm>
              <a:off x="4223" y="3578"/>
              <a:ext cx="260" cy="231"/>
            </a:xfrm>
            <a:prstGeom prst="rect">
              <a:avLst/>
            </a:prstGeom>
            <a:noFill/>
            <a:ln w="9525">
              <a:noFill/>
              <a:miter lim="800000"/>
              <a:headEnd/>
              <a:tailEnd/>
            </a:ln>
          </p:spPr>
          <p:txBody>
            <a:bodyPr wrap="none">
              <a:spAutoFit/>
            </a:bodyPr>
            <a:lstStyle/>
            <a:p>
              <a:r>
                <a:rPr lang="bg-BG" sz="1800"/>
                <a:t>76</a:t>
              </a:r>
              <a:endParaRPr lang="en-US" sz="1800"/>
            </a:p>
          </p:txBody>
        </p:sp>
        <p:sp>
          <p:nvSpPr>
            <p:cNvPr id="60436" name="Text Box 96"/>
            <p:cNvSpPr txBox="1">
              <a:spLocks noChangeArrowheads="1"/>
            </p:cNvSpPr>
            <p:nvPr/>
          </p:nvSpPr>
          <p:spPr bwMode="auto">
            <a:xfrm>
              <a:off x="4777" y="3600"/>
              <a:ext cx="260" cy="231"/>
            </a:xfrm>
            <a:prstGeom prst="rect">
              <a:avLst/>
            </a:prstGeom>
            <a:noFill/>
            <a:ln w="9525">
              <a:noFill/>
              <a:miter lim="800000"/>
              <a:headEnd/>
              <a:tailEnd/>
            </a:ln>
          </p:spPr>
          <p:txBody>
            <a:bodyPr wrap="none">
              <a:spAutoFit/>
            </a:bodyPr>
            <a:lstStyle/>
            <a:p>
              <a:r>
                <a:rPr lang="bg-BG" sz="1800"/>
                <a:t>81</a:t>
              </a:r>
              <a:endParaRPr lang="en-US" sz="1800"/>
            </a:p>
          </p:txBody>
        </p:sp>
        <p:sp>
          <p:nvSpPr>
            <p:cNvPr id="60437" name="Text Box 97"/>
            <p:cNvSpPr txBox="1">
              <a:spLocks noChangeArrowheads="1"/>
            </p:cNvSpPr>
            <p:nvPr/>
          </p:nvSpPr>
          <p:spPr bwMode="auto">
            <a:xfrm>
              <a:off x="5403" y="3600"/>
              <a:ext cx="260" cy="231"/>
            </a:xfrm>
            <a:prstGeom prst="rect">
              <a:avLst/>
            </a:prstGeom>
            <a:noFill/>
            <a:ln w="9525">
              <a:noFill/>
              <a:miter lim="800000"/>
              <a:headEnd/>
              <a:tailEnd/>
            </a:ln>
          </p:spPr>
          <p:txBody>
            <a:bodyPr wrap="none">
              <a:spAutoFit/>
            </a:bodyPr>
            <a:lstStyle/>
            <a:p>
              <a:r>
                <a:rPr lang="bg-BG" sz="1800"/>
                <a:t>90</a:t>
              </a:r>
              <a:endParaRPr lang="en-US" sz="1800"/>
            </a:p>
          </p:txBody>
        </p:sp>
        <p:sp>
          <p:nvSpPr>
            <p:cNvPr id="60438" name="Text Box 98"/>
            <p:cNvSpPr txBox="1">
              <a:spLocks noChangeArrowheads="1"/>
            </p:cNvSpPr>
            <p:nvPr/>
          </p:nvSpPr>
          <p:spPr bwMode="auto">
            <a:xfrm>
              <a:off x="5067" y="3600"/>
              <a:ext cx="260" cy="231"/>
            </a:xfrm>
            <a:prstGeom prst="rect">
              <a:avLst/>
            </a:prstGeom>
            <a:noFill/>
            <a:ln w="9525">
              <a:noFill/>
              <a:miter lim="800000"/>
              <a:headEnd/>
              <a:tailEnd/>
            </a:ln>
          </p:spPr>
          <p:txBody>
            <a:bodyPr wrap="none">
              <a:spAutoFit/>
            </a:bodyPr>
            <a:lstStyle/>
            <a:p>
              <a:r>
                <a:rPr lang="bg-BG" sz="1800"/>
                <a:t>85</a:t>
              </a:r>
              <a:endParaRPr lang="en-US" sz="1800"/>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971600" y="990600"/>
            <a:ext cx="8011616" cy="5867400"/>
          </a:xfrm>
          <a:prstGeom prst="rect">
            <a:avLst/>
          </a:prstGeom>
          <a:noFill/>
          <a:ln w="9525">
            <a:noFill/>
            <a:miter lim="800000"/>
            <a:headEnd/>
            <a:tailEnd/>
          </a:ln>
        </p:spPr>
        <p:txBody>
          <a:bodyPr anchor="ctr"/>
          <a:lstStyle/>
          <a:p>
            <a:r>
              <a:rPr lang="en-US" smtClean="0">
                <a:solidFill>
                  <a:schemeClr val="tx2"/>
                </a:solidFill>
              </a:rPr>
              <a:t>	</a:t>
            </a:r>
            <a:r>
              <a:rPr lang="bg-BG" smtClean="0"/>
              <a:t>Примерно </a:t>
            </a:r>
            <a:r>
              <a:rPr lang="bg-BG"/>
              <a:t>В-дърво от 5 ред:</a:t>
            </a:r>
            <a:br>
              <a:rPr lang="bg-BG"/>
            </a:br>
            <a:r>
              <a:rPr lang="bg-BG"/>
              <a:t/>
            </a:r>
            <a:br>
              <a:rPr lang="bg-BG"/>
            </a:br>
            <a:r>
              <a:rPr lang="bg-BG"/>
              <a:t/>
            </a:r>
            <a:br>
              <a:rPr lang="bg-BG"/>
            </a:br>
            <a:r>
              <a:rPr lang="bg-BG"/>
              <a:t/>
            </a:r>
            <a:br>
              <a:rPr lang="bg-BG"/>
            </a:br>
            <a:r>
              <a:rPr lang="bg-BG"/>
              <a:t/>
            </a:r>
            <a:br>
              <a:rPr lang="bg-BG"/>
            </a:br>
            <a:r>
              <a:rPr lang="bg-BG"/>
              <a:t/>
            </a:r>
            <a:br>
              <a:rPr lang="bg-BG"/>
            </a:br>
            <a:r>
              <a:rPr lang="bg-BG"/>
              <a:t/>
            </a:r>
            <a:br>
              <a:rPr lang="bg-BG"/>
            </a:br>
            <a:r>
              <a:rPr lang="bg-BG"/>
              <a:t/>
            </a:r>
            <a:br>
              <a:rPr lang="bg-BG"/>
            </a:br>
            <a:r>
              <a:rPr lang="bg-BG"/>
              <a:t/>
            </a:r>
            <a:br>
              <a:rPr lang="bg-BG"/>
            </a:br>
            <a:r>
              <a:rPr lang="bg-BG"/>
              <a:t>Освен полета с данни, всеки елемент от тази структура пази същи така и </a:t>
            </a:r>
            <a:r>
              <a:rPr lang="en-US" b="1" i="1"/>
              <a:t>n</a:t>
            </a:r>
            <a:r>
              <a:rPr lang="en-US"/>
              <a:t> - б</a:t>
            </a:r>
            <a:r>
              <a:rPr lang="bg-BG"/>
              <a:t>роя на полетата с данни в него. Например, за корена на дървото </a:t>
            </a:r>
            <a:r>
              <a:rPr lang="en-US" b="1" i="1"/>
              <a:t>n</a:t>
            </a:r>
            <a:r>
              <a:rPr lang="en-US"/>
              <a:t>=</a:t>
            </a:r>
            <a:r>
              <a:rPr lang="bg-BG"/>
              <a:t>1, за най-лявото листо</a:t>
            </a:r>
            <a:r>
              <a:rPr lang="en-US"/>
              <a:t>  </a:t>
            </a:r>
            <a:r>
              <a:rPr lang="en-US" b="1" i="1"/>
              <a:t>n</a:t>
            </a:r>
            <a:r>
              <a:rPr lang="en-US"/>
              <a:t>=4.</a:t>
            </a:r>
            <a:r>
              <a:rPr lang="bg-BG"/>
              <a:t/>
            </a:r>
            <a:br>
              <a:rPr lang="bg-BG"/>
            </a:br>
            <a:r>
              <a:rPr lang="bg-BG"/>
              <a:t>Основните правила са:</a:t>
            </a:r>
            <a:br>
              <a:rPr lang="bg-BG"/>
            </a:br>
            <a:r>
              <a:rPr lang="bg-BG"/>
              <a:t>- ключовете </a:t>
            </a:r>
            <a:r>
              <a:rPr lang="en-US" b="1" i="1"/>
              <a:t>k</a:t>
            </a:r>
            <a:r>
              <a:rPr lang="en-US" b="1" i="1" baseline="-25000"/>
              <a:t>0</a:t>
            </a:r>
            <a:r>
              <a:rPr lang="en-US"/>
              <a:t>, </a:t>
            </a:r>
            <a:r>
              <a:rPr lang="en-US" b="1" i="1"/>
              <a:t>k</a:t>
            </a:r>
            <a:r>
              <a:rPr lang="en-US" b="1" i="1" baseline="-25000"/>
              <a:t>1</a:t>
            </a:r>
            <a:r>
              <a:rPr lang="en-US"/>
              <a:t>,…</a:t>
            </a:r>
            <a:r>
              <a:rPr lang="en-US" b="1" i="1"/>
              <a:t>k</a:t>
            </a:r>
            <a:r>
              <a:rPr lang="en-US" b="1" i="1" baseline="-25000"/>
              <a:t>n-1</a:t>
            </a:r>
            <a:r>
              <a:rPr lang="bg-BG"/>
              <a:t>, съхранявани във възела са в</a:t>
            </a:r>
            <a:br>
              <a:rPr lang="bg-BG"/>
            </a:br>
            <a:r>
              <a:rPr lang="bg-BG"/>
              <a:t>  нарастващ ред:</a:t>
            </a:r>
            <a:br>
              <a:rPr lang="bg-BG"/>
            </a:br>
            <a:r>
              <a:rPr lang="bg-BG" sz="800"/>
              <a:t/>
            </a:r>
            <a:br>
              <a:rPr lang="bg-BG" sz="800"/>
            </a:br>
            <a:r>
              <a:rPr lang="bg-BG"/>
              <a:t>			 </a:t>
            </a:r>
            <a:r>
              <a:rPr lang="en-US" b="1" i="1"/>
              <a:t>k</a:t>
            </a:r>
            <a:r>
              <a:rPr lang="en-US" b="1" i="1" baseline="-25000"/>
              <a:t>0</a:t>
            </a:r>
            <a:r>
              <a:rPr lang="bg-BG" b="1" i="1"/>
              <a:t>&lt;</a:t>
            </a:r>
            <a:r>
              <a:rPr lang="en-US" b="1" i="1"/>
              <a:t> k</a:t>
            </a:r>
            <a:r>
              <a:rPr lang="en-US" b="1" i="1" baseline="-25000"/>
              <a:t>1</a:t>
            </a:r>
            <a:r>
              <a:rPr lang="en-US" b="1" i="1"/>
              <a:t>,&lt;…&lt;k</a:t>
            </a:r>
            <a:r>
              <a:rPr lang="en-US" b="1" i="1" baseline="-25000"/>
              <a:t>n-1</a:t>
            </a:r>
            <a:r>
              <a:rPr lang="bg-BG"/>
              <a:t> </a:t>
            </a:r>
            <a:r>
              <a:rPr lang="bg-BG">
                <a:solidFill>
                  <a:schemeClr val="tx2"/>
                </a:solidFill>
              </a:rPr>
              <a:t/>
            </a:r>
            <a:br>
              <a:rPr lang="bg-BG">
                <a:solidFill>
                  <a:schemeClr val="tx2"/>
                </a:solidFill>
              </a:rPr>
            </a:br>
            <a:r>
              <a:rPr lang="bg-BG">
                <a:solidFill>
                  <a:schemeClr val="tx2"/>
                </a:solidFill>
              </a:rPr>
              <a:t/>
            </a:r>
            <a:br>
              <a:rPr lang="bg-BG">
                <a:solidFill>
                  <a:schemeClr val="tx2"/>
                </a:solidFill>
              </a:rPr>
            </a:br>
            <a:endParaRPr lang="en-US">
              <a:solidFill>
                <a:schemeClr val="tx2"/>
              </a:solidFill>
            </a:endParaRPr>
          </a:p>
        </p:txBody>
      </p:sp>
      <p:grpSp>
        <p:nvGrpSpPr>
          <p:cNvPr id="61443" name="Group 67"/>
          <p:cNvGrpSpPr>
            <a:grpSpLocks/>
          </p:cNvGrpSpPr>
          <p:nvPr/>
        </p:nvGrpSpPr>
        <p:grpSpPr bwMode="auto">
          <a:xfrm>
            <a:off x="61913" y="1214438"/>
            <a:ext cx="8915400" cy="2209800"/>
            <a:chOff x="39" y="765"/>
            <a:chExt cx="5616" cy="1392"/>
          </a:xfrm>
        </p:grpSpPr>
        <p:grpSp>
          <p:nvGrpSpPr>
            <p:cNvPr id="61444" name="Group 4"/>
            <p:cNvGrpSpPr>
              <a:grpSpLocks/>
            </p:cNvGrpSpPr>
            <p:nvPr/>
          </p:nvGrpSpPr>
          <p:grpSpPr bwMode="auto">
            <a:xfrm>
              <a:off x="39" y="765"/>
              <a:ext cx="5616" cy="1392"/>
              <a:chOff x="1331" y="5190"/>
              <a:chExt cx="10238" cy="1796"/>
            </a:xfrm>
          </p:grpSpPr>
          <p:grpSp>
            <p:nvGrpSpPr>
              <p:cNvPr id="61467" name="Group 5"/>
              <p:cNvGrpSpPr>
                <a:grpSpLocks/>
              </p:cNvGrpSpPr>
              <p:nvPr/>
            </p:nvGrpSpPr>
            <p:grpSpPr bwMode="auto">
              <a:xfrm>
                <a:off x="5507" y="5190"/>
                <a:ext cx="2009" cy="448"/>
                <a:chOff x="5507" y="5190"/>
                <a:chExt cx="2009" cy="448"/>
              </a:xfrm>
            </p:grpSpPr>
            <p:sp>
              <p:nvSpPr>
                <p:cNvPr id="61503" name="Rectangle 6"/>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504" name="Line 7"/>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505" name="Line 8"/>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506" name="Line 9"/>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68" name="Group 10"/>
              <p:cNvGrpSpPr>
                <a:grpSpLocks/>
              </p:cNvGrpSpPr>
              <p:nvPr/>
            </p:nvGrpSpPr>
            <p:grpSpPr bwMode="auto">
              <a:xfrm>
                <a:off x="9560" y="6538"/>
                <a:ext cx="2009" cy="448"/>
                <a:chOff x="5507" y="5190"/>
                <a:chExt cx="2009" cy="448"/>
              </a:xfrm>
            </p:grpSpPr>
            <p:sp>
              <p:nvSpPr>
                <p:cNvPr id="61499" name="Rectangle 11"/>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500" name="Line 12"/>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501" name="Line 13"/>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502" name="Line 14"/>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69" name="Group 15"/>
              <p:cNvGrpSpPr>
                <a:grpSpLocks/>
              </p:cNvGrpSpPr>
              <p:nvPr/>
            </p:nvGrpSpPr>
            <p:grpSpPr bwMode="auto">
              <a:xfrm>
                <a:off x="1331" y="6532"/>
                <a:ext cx="2009" cy="448"/>
                <a:chOff x="5507" y="5190"/>
                <a:chExt cx="2009" cy="448"/>
              </a:xfrm>
            </p:grpSpPr>
            <p:sp>
              <p:nvSpPr>
                <p:cNvPr id="61495" name="Rectangle 16"/>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96" name="Line 17"/>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97" name="Line 18"/>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98" name="Line 19"/>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70" name="Group 20"/>
              <p:cNvGrpSpPr>
                <a:grpSpLocks/>
              </p:cNvGrpSpPr>
              <p:nvPr/>
            </p:nvGrpSpPr>
            <p:grpSpPr bwMode="auto">
              <a:xfrm>
                <a:off x="3388" y="6529"/>
                <a:ext cx="2009" cy="448"/>
                <a:chOff x="5507" y="5190"/>
                <a:chExt cx="2009" cy="448"/>
              </a:xfrm>
            </p:grpSpPr>
            <p:sp>
              <p:nvSpPr>
                <p:cNvPr id="61491" name="Rectangle 21"/>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92" name="Line 22"/>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93" name="Line 23"/>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94" name="Line 24"/>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71" name="Group 25"/>
              <p:cNvGrpSpPr>
                <a:grpSpLocks/>
              </p:cNvGrpSpPr>
              <p:nvPr/>
            </p:nvGrpSpPr>
            <p:grpSpPr bwMode="auto">
              <a:xfrm>
                <a:off x="4219" y="5872"/>
                <a:ext cx="2009" cy="448"/>
                <a:chOff x="5507" y="5190"/>
                <a:chExt cx="2009" cy="448"/>
              </a:xfrm>
            </p:grpSpPr>
            <p:sp>
              <p:nvSpPr>
                <p:cNvPr id="61487" name="Rectangle 26"/>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88" name="Line 27"/>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89" name="Line 28"/>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90" name="Line 29"/>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72" name="Group 30"/>
              <p:cNvGrpSpPr>
                <a:grpSpLocks/>
              </p:cNvGrpSpPr>
              <p:nvPr/>
            </p:nvGrpSpPr>
            <p:grpSpPr bwMode="auto">
              <a:xfrm>
                <a:off x="5447" y="6538"/>
                <a:ext cx="2009" cy="448"/>
                <a:chOff x="5507" y="5190"/>
                <a:chExt cx="2009" cy="448"/>
              </a:xfrm>
            </p:grpSpPr>
            <p:sp>
              <p:nvSpPr>
                <p:cNvPr id="61483" name="Rectangle 31"/>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84" name="Line 32"/>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85" name="Line 33"/>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86" name="Line 34"/>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73" name="Group 35"/>
              <p:cNvGrpSpPr>
                <a:grpSpLocks/>
              </p:cNvGrpSpPr>
              <p:nvPr/>
            </p:nvGrpSpPr>
            <p:grpSpPr bwMode="auto">
              <a:xfrm>
                <a:off x="6873" y="5882"/>
                <a:ext cx="2009" cy="448"/>
                <a:chOff x="5507" y="5190"/>
                <a:chExt cx="2009" cy="448"/>
              </a:xfrm>
            </p:grpSpPr>
            <p:sp>
              <p:nvSpPr>
                <p:cNvPr id="61479" name="Rectangle 36"/>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80" name="Line 37"/>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81" name="Line 38"/>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82" name="Line 39"/>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nvGrpSpPr>
              <p:cNvPr id="61474" name="Group 40"/>
              <p:cNvGrpSpPr>
                <a:grpSpLocks/>
              </p:cNvGrpSpPr>
              <p:nvPr/>
            </p:nvGrpSpPr>
            <p:grpSpPr bwMode="auto">
              <a:xfrm>
                <a:off x="7493" y="6527"/>
                <a:ext cx="2009" cy="448"/>
                <a:chOff x="5507" y="5190"/>
                <a:chExt cx="2009" cy="448"/>
              </a:xfrm>
            </p:grpSpPr>
            <p:sp>
              <p:nvSpPr>
                <p:cNvPr id="61475" name="Rectangle 41"/>
                <p:cNvSpPr>
                  <a:spLocks noChangeArrowheads="1"/>
                </p:cNvSpPr>
                <p:nvPr/>
              </p:nvSpPr>
              <p:spPr bwMode="auto">
                <a:xfrm>
                  <a:off x="5507" y="5190"/>
                  <a:ext cx="2009" cy="428"/>
                </a:xfrm>
                <a:prstGeom prst="rect">
                  <a:avLst/>
                </a:prstGeom>
                <a:noFill/>
                <a:ln w="9525">
                  <a:solidFill>
                    <a:srgbClr val="000000"/>
                  </a:solidFill>
                  <a:miter lim="800000"/>
                  <a:headEnd/>
                  <a:tailEnd/>
                </a:ln>
              </p:spPr>
              <p:txBody>
                <a:bodyPr/>
                <a:lstStyle/>
                <a:p>
                  <a:endParaRPr lang="bg-BG"/>
                </a:p>
              </p:txBody>
            </p:sp>
            <p:sp>
              <p:nvSpPr>
                <p:cNvPr id="61476" name="Line 42"/>
                <p:cNvSpPr>
                  <a:spLocks noChangeShapeType="1"/>
                </p:cNvSpPr>
                <p:nvPr/>
              </p:nvSpPr>
              <p:spPr bwMode="auto">
                <a:xfrm>
                  <a:off x="6535" y="5190"/>
                  <a:ext cx="0" cy="443"/>
                </a:xfrm>
                <a:prstGeom prst="line">
                  <a:avLst/>
                </a:prstGeom>
                <a:noFill/>
                <a:ln w="9525">
                  <a:solidFill>
                    <a:srgbClr val="000000"/>
                  </a:solidFill>
                  <a:round/>
                  <a:headEnd/>
                  <a:tailEnd/>
                </a:ln>
              </p:spPr>
              <p:txBody>
                <a:bodyPr/>
                <a:lstStyle/>
                <a:p>
                  <a:endParaRPr lang="bg-BG"/>
                </a:p>
              </p:txBody>
            </p:sp>
            <p:sp>
              <p:nvSpPr>
                <p:cNvPr id="61477" name="Line 43"/>
                <p:cNvSpPr>
                  <a:spLocks noChangeShapeType="1"/>
                </p:cNvSpPr>
                <p:nvPr/>
              </p:nvSpPr>
              <p:spPr bwMode="auto">
                <a:xfrm>
                  <a:off x="7028" y="5193"/>
                  <a:ext cx="0" cy="443"/>
                </a:xfrm>
                <a:prstGeom prst="line">
                  <a:avLst/>
                </a:prstGeom>
                <a:noFill/>
                <a:ln w="9525">
                  <a:solidFill>
                    <a:srgbClr val="000000"/>
                  </a:solidFill>
                  <a:round/>
                  <a:headEnd/>
                  <a:tailEnd/>
                </a:ln>
              </p:spPr>
              <p:txBody>
                <a:bodyPr/>
                <a:lstStyle/>
                <a:p>
                  <a:endParaRPr lang="bg-BG"/>
                </a:p>
              </p:txBody>
            </p:sp>
            <p:sp>
              <p:nvSpPr>
                <p:cNvPr id="61478" name="Line 44"/>
                <p:cNvSpPr>
                  <a:spLocks noChangeShapeType="1"/>
                </p:cNvSpPr>
                <p:nvPr/>
              </p:nvSpPr>
              <p:spPr bwMode="auto">
                <a:xfrm>
                  <a:off x="6018" y="5195"/>
                  <a:ext cx="0" cy="443"/>
                </a:xfrm>
                <a:prstGeom prst="line">
                  <a:avLst/>
                </a:prstGeom>
                <a:noFill/>
                <a:ln w="9525">
                  <a:solidFill>
                    <a:srgbClr val="000000"/>
                  </a:solidFill>
                  <a:round/>
                  <a:headEnd/>
                  <a:tailEnd/>
                </a:ln>
              </p:spPr>
              <p:txBody>
                <a:bodyPr/>
                <a:lstStyle/>
                <a:p>
                  <a:endParaRPr lang="bg-BG"/>
                </a:p>
              </p:txBody>
            </p:sp>
          </p:grpSp>
        </p:grpSp>
        <p:sp>
          <p:nvSpPr>
            <p:cNvPr id="61445" name="Line 45"/>
            <p:cNvSpPr>
              <a:spLocks noChangeShapeType="1"/>
            </p:cNvSpPr>
            <p:nvPr/>
          </p:nvSpPr>
          <p:spPr bwMode="auto">
            <a:xfrm flipH="1">
              <a:off x="1882" y="1080"/>
              <a:ext cx="454" cy="227"/>
            </a:xfrm>
            <a:prstGeom prst="line">
              <a:avLst/>
            </a:prstGeom>
            <a:noFill/>
            <a:ln w="9525">
              <a:solidFill>
                <a:srgbClr val="000000"/>
              </a:solidFill>
              <a:round/>
              <a:headEnd/>
              <a:tailEnd type="triangle" w="med" len="med"/>
            </a:ln>
          </p:spPr>
          <p:txBody>
            <a:bodyPr/>
            <a:lstStyle/>
            <a:p>
              <a:endParaRPr lang="bg-BG"/>
            </a:p>
          </p:txBody>
        </p:sp>
        <p:sp>
          <p:nvSpPr>
            <p:cNvPr id="61446" name="Line 46"/>
            <p:cNvSpPr>
              <a:spLocks noChangeShapeType="1"/>
            </p:cNvSpPr>
            <p:nvPr/>
          </p:nvSpPr>
          <p:spPr bwMode="auto">
            <a:xfrm>
              <a:off x="2608" y="1080"/>
              <a:ext cx="544" cy="227"/>
            </a:xfrm>
            <a:prstGeom prst="line">
              <a:avLst/>
            </a:prstGeom>
            <a:noFill/>
            <a:ln w="9525">
              <a:solidFill>
                <a:srgbClr val="000000"/>
              </a:solidFill>
              <a:round/>
              <a:headEnd/>
              <a:tailEnd type="triangle" w="med" len="med"/>
            </a:ln>
          </p:spPr>
          <p:txBody>
            <a:bodyPr/>
            <a:lstStyle/>
            <a:p>
              <a:endParaRPr lang="bg-BG"/>
            </a:p>
          </p:txBody>
        </p:sp>
        <p:sp>
          <p:nvSpPr>
            <p:cNvPr id="61447" name="Line 47"/>
            <p:cNvSpPr>
              <a:spLocks noChangeShapeType="1"/>
            </p:cNvSpPr>
            <p:nvPr/>
          </p:nvSpPr>
          <p:spPr bwMode="auto">
            <a:xfrm flipH="1">
              <a:off x="759" y="1616"/>
              <a:ext cx="851" cy="191"/>
            </a:xfrm>
            <a:prstGeom prst="line">
              <a:avLst/>
            </a:prstGeom>
            <a:noFill/>
            <a:ln w="9525">
              <a:solidFill>
                <a:srgbClr val="000000"/>
              </a:solidFill>
              <a:round/>
              <a:headEnd/>
              <a:tailEnd type="triangle" w="med" len="med"/>
            </a:ln>
          </p:spPr>
          <p:txBody>
            <a:bodyPr/>
            <a:lstStyle/>
            <a:p>
              <a:endParaRPr lang="bg-BG"/>
            </a:p>
          </p:txBody>
        </p:sp>
        <p:sp>
          <p:nvSpPr>
            <p:cNvPr id="61448" name="Line 48"/>
            <p:cNvSpPr>
              <a:spLocks noChangeShapeType="1"/>
            </p:cNvSpPr>
            <p:nvPr/>
          </p:nvSpPr>
          <p:spPr bwMode="auto">
            <a:xfrm flipH="1">
              <a:off x="1722" y="1616"/>
              <a:ext cx="160" cy="204"/>
            </a:xfrm>
            <a:prstGeom prst="line">
              <a:avLst/>
            </a:prstGeom>
            <a:noFill/>
            <a:ln w="9525">
              <a:solidFill>
                <a:srgbClr val="000000"/>
              </a:solidFill>
              <a:round/>
              <a:headEnd/>
              <a:tailEnd type="triangle" w="med" len="med"/>
            </a:ln>
          </p:spPr>
          <p:txBody>
            <a:bodyPr/>
            <a:lstStyle/>
            <a:p>
              <a:endParaRPr lang="bg-BG"/>
            </a:p>
          </p:txBody>
        </p:sp>
        <p:sp>
          <p:nvSpPr>
            <p:cNvPr id="61449" name="Line 49"/>
            <p:cNvSpPr>
              <a:spLocks noChangeShapeType="1"/>
            </p:cNvSpPr>
            <p:nvPr/>
          </p:nvSpPr>
          <p:spPr bwMode="auto">
            <a:xfrm flipH="1">
              <a:off x="2738" y="1616"/>
              <a:ext cx="369" cy="180"/>
            </a:xfrm>
            <a:prstGeom prst="line">
              <a:avLst/>
            </a:prstGeom>
            <a:noFill/>
            <a:ln w="9525">
              <a:solidFill>
                <a:srgbClr val="000000"/>
              </a:solidFill>
              <a:round/>
              <a:headEnd/>
              <a:tailEnd type="triangle" w="med" len="med"/>
            </a:ln>
          </p:spPr>
          <p:txBody>
            <a:bodyPr/>
            <a:lstStyle/>
            <a:p>
              <a:endParaRPr lang="bg-BG"/>
            </a:p>
          </p:txBody>
        </p:sp>
        <p:sp>
          <p:nvSpPr>
            <p:cNvPr id="61450" name="Line 50"/>
            <p:cNvSpPr>
              <a:spLocks noChangeShapeType="1"/>
            </p:cNvSpPr>
            <p:nvPr/>
          </p:nvSpPr>
          <p:spPr bwMode="auto">
            <a:xfrm>
              <a:off x="3361" y="1625"/>
              <a:ext cx="278" cy="171"/>
            </a:xfrm>
            <a:prstGeom prst="line">
              <a:avLst/>
            </a:prstGeom>
            <a:noFill/>
            <a:ln w="9525">
              <a:solidFill>
                <a:srgbClr val="000000"/>
              </a:solidFill>
              <a:round/>
              <a:headEnd/>
              <a:tailEnd type="triangle" w="med" len="med"/>
            </a:ln>
          </p:spPr>
          <p:txBody>
            <a:bodyPr/>
            <a:lstStyle/>
            <a:p>
              <a:endParaRPr lang="bg-BG"/>
            </a:p>
          </p:txBody>
        </p:sp>
        <p:sp>
          <p:nvSpPr>
            <p:cNvPr id="61451" name="Line 51"/>
            <p:cNvSpPr>
              <a:spLocks noChangeShapeType="1"/>
            </p:cNvSpPr>
            <p:nvPr/>
          </p:nvSpPr>
          <p:spPr bwMode="auto">
            <a:xfrm>
              <a:off x="3651" y="1625"/>
              <a:ext cx="953" cy="181"/>
            </a:xfrm>
            <a:prstGeom prst="line">
              <a:avLst/>
            </a:prstGeom>
            <a:noFill/>
            <a:ln w="9525">
              <a:solidFill>
                <a:srgbClr val="000000"/>
              </a:solidFill>
              <a:round/>
              <a:headEnd/>
              <a:tailEnd type="triangle" w="med" len="med"/>
            </a:ln>
          </p:spPr>
          <p:txBody>
            <a:bodyPr/>
            <a:lstStyle/>
            <a:p>
              <a:endParaRPr lang="bg-BG"/>
            </a:p>
          </p:txBody>
        </p:sp>
        <p:sp>
          <p:nvSpPr>
            <p:cNvPr id="61452" name="Text Box 52"/>
            <p:cNvSpPr txBox="1">
              <a:spLocks noChangeArrowheads="1"/>
            </p:cNvSpPr>
            <p:nvPr/>
          </p:nvSpPr>
          <p:spPr bwMode="auto">
            <a:xfrm>
              <a:off x="2304" y="778"/>
              <a:ext cx="336" cy="288"/>
            </a:xfrm>
            <a:prstGeom prst="rect">
              <a:avLst/>
            </a:prstGeom>
            <a:noFill/>
            <a:ln w="9525">
              <a:noFill/>
              <a:miter lim="800000"/>
              <a:headEnd/>
              <a:tailEnd/>
            </a:ln>
          </p:spPr>
          <p:txBody>
            <a:bodyPr>
              <a:spAutoFit/>
            </a:bodyPr>
            <a:lstStyle/>
            <a:p>
              <a:pPr>
                <a:spcBef>
                  <a:spcPct val="50000"/>
                </a:spcBef>
              </a:pPr>
              <a:r>
                <a:rPr lang="en-US"/>
                <a:t>1</a:t>
              </a:r>
              <a:r>
                <a:rPr lang="bg-BG"/>
                <a:t>8</a:t>
              </a:r>
              <a:endParaRPr lang="en-US"/>
            </a:p>
          </p:txBody>
        </p:sp>
        <p:sp>
          <p:nvSpPr>
            <p:cNvPr id="61453" name="Text Box 53"/>
            <p:cNvSpPr txBox="1">
              <a:spLocks noChangeArrowheads="1"/>
            </p:cNvSpPr>
            <p:nvPr/>
          </p:nvSpPr>
          <p:spPr bwMode="auto">
            <a:xfrm>
              <a:off x="1619" y="1315"/>
              <a:ext cx="336" cy="288"/>
            </a:xfrm>
            <a:prstGeom prst="rect">
              <a:avLst/>
            </a:prstGeom>
            <a:noFill/>
            <a:ln w="9525">
              <a:noFill/>
              <a:miter lim="800000"/>
              <a:headEnd/>
              <a:tailEnd/>
            </a:ln>
          </p:spPr>
          <p:txBody>
            <a:bodyPr>
              <a:spAutoFit/>
            </a:bodyPr>
            <a:lstStyle/>
            <a:p>
              <a:pPr>
                <a:spcBef>
                  <a:spcPct val="50000"/>
                </a:spcBef>
              </a:pPr>
              <a:r>
                <a:rPr lang="bg-BG"/>
                <a:t>7</a:t>
              </a:r>
              <a:endParaRPr lang="en-US"/>
            </a:p>
          </p:txBody>
        </p:sp>
        <p:sp>
          <p:nvSpPr>
            <p:cNvPr id="61454" name="Text Box 54"/>
            <p:cNvSpPr txBox="1">
              <a:spLocks noChangeArrowheads="1"/>
            </p:cNvSpPr>
            <p:nvPr/>
          </p:nvSpPr>
          <p:spPr bwMode="auto">
            <a:xfrm>
              <a:off x="3063" y="1306"/>
              <a:ext cx="336" cy="288"/>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61455" name="Text Box 55"/>
            <p:cNvSpPr txBox="1">
              <a:spLocks noChangeArrowheads="1"/>
            </p:cNvSpPr>
            <p:nvPr/>
          </p:nvSpPr>
          <p:spPr bwMode="auto">
            <a:xfrm>
              <a:off x="3334" y="1298"/>
              <a:ext cx="336" cy="288"/>
            </a:xfrm>
            <a:prstGeom prst="rect">
              <a:avLst/>
            </a:prstGeom>
            <a:noFill/>
            <a:ln w="9525">
              <a:noFill/>
              <a:miter lim="800000"/>
              <a:headEnd/>
              <a:tailEnd/>
            </a:ln>
          </p:spPr>
          <p:txBody>
            <a:bodyPr>
              <a:spAutoFit/>
            </a:bodyPr>
            <a:lstStyle/>
            <a:p>
              <a:pPr>
                <a:spcBef>
                  <a:spcPct val="50000"/>
                </a:spcBef>
              </a:pPr>
              <a:r>
                <a:rPr lang="bg-BG"/>
                <a:t>90</a:t>
              </a:r>
              <a:endParaRPr lang="en-US"/>
            </a:p>
          </p:txBody>
        </p:sp>
        <p:sp>
          <p:nvSpPr>
            <p:cNvPr id="61456" name="Text Box 56"/>
            <p:cNvSpPr txBox="1">
              <a:spLocks noChangeArrowheads="1"/>
            </p:cNvSpPr>
            <p:nvPr/>
          </p:nvSpPr>
          <p:spPr bwMode="auto">
            <a:xfrm>
              <a:off x="91" y="1821"/>
              <a:ext cx="336" cy="288"/>
            </a:xfrm>
            <a:prstGeom prst="rect">
              <a:avLst/>
            </a:prstGeom>
            <a:noFill/>
            <a:ln w="9525">
              <a:noFill/>
              <a:miter lim="800000"/>
              <a:headEnd/>
              <a:tailEnd/>
            </a:ln>
          </p:spPr>
          <p:txBody>
            <a:bodyPr>
              <a:spAutoFit/>
            </a:bodyPr>
            <a:lstStyle/>
            <a:p>
              <a:pPr>
                <a:spcBef>
                  <a:spcPct val="50000"/>
                </a:spcBef>
              </a:pPr>
              <a:r>
                <a:rPr lang="bg-BG"/>
                <a:t>0</a:t>
              </a:r>
              <a:endParaRPr lang="en-US"/>
            </a:p>
          </p:txBody>
        </p:sp>
        <p:sp>
          <p:nvSpPr>
            <p:cNvPr id="61457" name="Text Box 57"/>
            <p:cNvSpPr txBox="1">
              <a:spLocks noChangeArrowheads="1"/>
            </p:cNvSpPr>
            <p:nvPr/>
          </p:nvSpPr>
          <p:spPr bwMode="auto">
            <a:xfrm>
              <a:off x="353" y="1830"/>
              <a:ext cx="336" cy="288"/>
            </a:xfrm>
            <a:prstGeom prst="rect">
              <a:avLst/>
            </a:prstGeom>
            <a:noFill/>
            <a:ln w="9525">
              <a:noFill/>
              <a:miter lim="800000"/>
              <a:headEnd/>
              <a:tailEnd/>
            </a:ln>
          </p:spPr>
          <p:txBody>
            <a:bodyPr>
              <a:spAutoFit/>
            </a:bodyPr>
            <a:lstStyle/>
            <a:p>
              <a:pPr>
                <a:spcBef>
                  <a:spcPct val="50000"/>
                </a:spcBef>
              </a:pPr>
              <a:r>
                <a:rPr lang="bg-BG"/>
                <a:t>3</a:t>
              </a:r>
              <a:endParaRPr lang="en-US"/>
            </a:p>
          </p:txBody>
        </p:sp>
        <p:sp>
          <p:nvSpPr>
            <p:cNvPr id="61458" name="Text Box 58"/>
            <p:cNvSpPr txBox="1">
              <a:spLocks noChangeArrowheads="1"/>
            </p:cNvSpPr>
            <p:nvPr/>
          </p:nvSpPr>
          <p:spPr bwMode="auto">
            <a:xfrm>
              <a:off x="641" y="1821"/>
              <a:ext cx="336" cy="288"/>
            </a:xfrm>
            <a:prstGeom prst="rect">
              <a:avLst/>
            </a:prstGeom>
            <a:noFill/>
            <a:ln w="9525">
              <a:noFill/>
              <a:miter lim="800000"/>
              <a:headEnd/>
              <a:tailEnd/>
            </a:ln>
          </p:spPr>
          <p:txBody>
            <a:bodyPr>
              <a:spAutoFit/>
            </a:bodyPr>
            <a:lstStyle/>
            <a:p>
              <a:pPr>
                <a:spcBef>
                  <a:spcPct val="50000"/>
                </a:spcBef>
              </a:pPr>
              <a:r>
                <a:rPr lang="bg-BG"/>
                <a:t>5</a:t>
              </a:r>
              <a:endParaRPr lang="en-US"/>
            </a:p>
          </p:txBody>
        </p:sp>
        <p:sp>
          <p:nvSpPr>
            <p:cNvPr id="61459" name="Text Box 59"/>
            <p:cNvSpPr txBox="1">
              <a:spLocks noChangeArrowheads="1"/>
            </p:cNvSpPr>
            <p:nvPr/>
          </p:nvSpPr>
          <p:spPr bwMode="auto">
            <a:xfrm>
              <a:off x="907" y="1821"/>
              <a:ext cx="336" cy="288"/>
            </a:xfrm>
            <a:prstGeom prst="rect">
              <a:avLst/>
            </a:prstGeom>
            <a:noFill/>
            <a:ln w="9525">
              <a:noFill/>
              <a:miter lim="800000"/>
              <a:headEnd/>
              <a:tailEnd/>
            </a:ln>
          </p:spPr>
          <p:txBody>
            <a:bodyPr>
              <a:spAutoFit/>
            </a:bodyPr>
            <a:lstStyle/>
            <a:p>
              <a:pPr>
                <a:spcBef>
                  <a:spcPct val="50000"/>
                </a:spcBef>
              </a:pPr>
              <a:r>
                <a:rPr lang="bg-BG"/>
                <a:t>6</a:t>
              </a:r>
              <a:endParaRPr lang="en-US"/>
            </a:p>
          </p:txBody>
        </p:sp>
        <p:sp>
          <p:nvSpPr>
            <p:cNvPr id="61460" name="Text Box 60"/>
            <p:cNvSpPr txBox="1">
              <a:spLocks noChangeArrowheads="1"/>
            </p:cNvSpPr>
            <p:nvPr/>
          </p:nvSpPr>
          <p:spPr bwMode="auto">
            <a:xfrm>
              <a:off x="1440" y="1821"/>
              <a:ext cx="336" cy="288"/>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1461" name="Text Box 61"/>
            <p:cNvSpPr txBox="1">
              <a:spLocks noChangeArrowheads="1"/>
            </p:cNvSpPr>
            <p:nvPr/>
          </p:nvSpPr>
          <p:spPr bwMode="auto">
            <a:xfrm>
              <a:off x="2282" y="1821"/>
              <a:ext cx="336" cy="288"/>
            </a:xfrm>
            <a:prstGeom prst="rect">
              <a:avLst/>
            </a:prstGeom>
            <a:noFill/>
            <a:ln w="9525">
              <a:noFill/>
              <a:miter lim="800000"/>
              <a:headEnd/>
              <a:tailEnd/>
            </a:ln>
          </p:spPr>
          <p:txBody>
            <a:bodyPr>
              <a:spAutoFit/>
            </a:bodyPr>
            <a:lstStyle/>
            <a:p>
              <a:pPr>
                <a:spcBef>
                  <a:spcPct val="50000"/>
                </a:spcBef>
              </a:pPr>
              <a:r>
                <a:rPr lang="bg-BG"/>
                <a:t>50</a:t>
              </a:r>
              <a:endParaRPr lang="en-US"/>
            </a:p>
          </p:txBody>
        </p:sp>
        <p:sp>
          <p:nvSpPr>
            <p:cNvPr id="61462" name="Text Box 62"/>
            <p:cNvSpPr txBox="1">
              <a:spLocks noChangeArrowheads="1"/>
            </p:cNvSpPr>
            <p:nvPr/>
          </p:nvSpPr>
          <p:spPr bwMode="auto">
            <a:xfrm>
              <a:off x="2566" y="1821"/>
              <a:ext cx="336" cy="288"/>
            </a:xfrm>
            <a:prstGeom prst="rect">
              <a:avLst/>
            </a:prstGeom>
            <a:noFill/>
            <a:ln w="9525">
              <a:noFill/>
              <a:miter lim="800000"/>
              <a:headEnd/>
              <a:tailEnd/>
            </a:ln>
          </p:spPr>
          <p:txBody>
            <a:bodyPr>
              <a:spAutoFit/>
            </a:bodyPr>
            <a:lstStyle/>
            <a:p>
              <a:pPr>
                <a:spcBef>
                  <a:spcPct val="50000"/>
                </a:spcBef>
              </a:pPr>
              <a:r>
                <a:rPr lang="bg-BG"/>
                <a:t>55</a:t>
              </a:r>
              <a:endParaRPr lang="en-US"/>
            </a:p>
          </p:txBody>
        </p:sp>
        <p:sp>
          <p:nvSpPr>
            <p:cNvPr id="61463" name="Text Box 63"/>
            <p:cNvSpPr txBox="1">
              <a:spLocks noChangeArrowheads="1"/>
            </p:cNvSpPr>
            <p:nvPr/>
          </p:nvSpPr>
          <p:spPr bwMode="auto">
            <a:xfrm>
              <a:off x="2845" y="1821"/>
              <a:ext cx="336" cy="288"/>
            </a:xfrm>
            <a:prstGeom prst="rect">
              <a:avLst/>
            </a:prstGeom>
            <a:noFill/>
            <a:ln w="9525">
              <a:noFill/>
              <a:miter lim="800000"/>
              <a:headEnd/>
              <a:tailEnd/>
            </a:ln>
          </p:spPr>
          <p:txBody>
            <a:bodyPr>
              <a:spAutoFit/>
            </a:bodyPr>
            <a:lstStyle/>
            <a:p>
              <a:pPr algn="ctr">
                <a:spcBef>
                  <a:spcPct val="50000"/>
                </a:spcBef>
              </a:pPr>
              <a:r>
                <a:rPr lang="bg-BG"/>
                <a:t>60</a:t>
              </a:r>
              <a:endParaRPr lang="en-US"/>
            </a:p>
          </p:txBody>
        </p:sp>
        <p:sp>
          <p:nvSpPr>
            <p:cNvPr id="61464" name="Text Box 64"/>
            <p:cNvSpPr txBox="1">
              <a:spLocks noChangeArrowheads="1"/>
            </p:cNvSpPr>
            <p:nvPr/>
          </p:nvSpPr>
          <p:spPr bwMode="auto">
            <a:xfrm>
              <a:off x="3410" y="1821"/>
              <a:ext cx="336" cy="288"/>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1465" name="Text Box 65"/>
            <p:cNvSpPr txBox="1">
              <a:spLocks noChangeArrowheads="1"/>
            </p:cNvSpPr>
            <p:nvPr/>
          </p:nvSpPr>
          <p:spPr bwMode="auto">
            <a:xfrm>
              <a:off x="3692" y="1821"/>
              <a:ext cx="336" cy="288"/>
            </a:xfrm>
            <a:prstGeom prst="rect">
              <a:avLst/>
            </a:prstGeom>
            <a:noFill/>
            <a:ln w="9525">
              <a:noFill/>
              <a:miter lim="800000"/>
              <a:headEnd/>
              <a:tailEnd/>
            </a:ln>
          </p:spPr>
          <p:txBody>
            <a:bodyPr>
              <a:spAutoFit/>
            </a:bodyPr>
            <a:lstStyle/>
            <a:p>
              <a:pPr>
                <a:spcBef>
                  <a:spcPct val="50000"/>
                </a:spcBef>
              </a:pPr>
              <a:r>
                <a:rPr lang="bg-BG"/>
                <a:t>85</a:t>
              </a:r>
              <a:endParaRPr lang="en-US"/>
            </a:p>
          </p:txBody>
        </p:sp>
        <p:sp>
          <p:nvSpPr>
            <p:cNvPr id="61466" name="Text Box 66"/>
            <p:cNvSpPr txBox="1">
              <a:spLocks noChangeArrowheads="1"/>
            </p:cNvSpPr>
            <p:nvPr/>
          </p:nvSpPr>
          <p:spPr bwMode="auto">
            <a:xfrm>
              <a:off x="4534" y="1821"/>
              <a:ext cx="336" cy="288"/>
            </a:xfrm>
            <a:prstGeom prst="rect">
              <a:avLst/>
            </a:prstGeom>
            <a:noFill/>
            <a:ln w="9525">
              <a:noFill/>
              <a:miter lim="800000"/>
              <a:headEnd/>
              <a:tailEnd/>
            </a:ln>
          </p:spPr>
          <p:txBody>
            <a:bodyPr>
              <a:spAutoFit/>
            </a:bodyPr>
            <a:lstStyle/>
            <a:p>
              <a:pPr>
                <a:spcBef>
                  <a:spcPct val="50000"/>
                </a:spcBef>
              </a:pPr>
              <a:r>
                <a:rPr lang="bg-BG"/>
                <a:t>99</a:t>
              </a:r>
              <a:endParaRPr 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1259632" y="685800"/>
            <a:ext cx="7731968" cy="5715000"/>
          </a:xfrm>
          <a:prstGeom prst="rect">
            <a:avLst/>
          </a:prstGeom>
          <a:noFill/>
          <a:ln w="9525">
            <a:noFill/>
            <a:miter lim="800000"/>
            <a:headEnd/>
            <a:tailEnd/>
          </a:ln>
        </p:spPr>
        <p:txBody>
          <a:bodyPr anchor="ctr"/>
          <a:lstStyle/>
          <a:p>
            <a:r>
              <a:rPr lang="en-US">
                <a:solidFill>
                  <a:schemeClr val="tx2"/>
                </a:solidFill>
              </a:rPr>
              <a:t>-</a:t>
            </a:r>
            <a:r>
              <a:rPr lang="bg-BG">
                <a:solidFill>
                  <a:schemeClr val="tx2"/>
                </a:solidFill>
              </a:rPr>
              <a:t> </a:t>
            </a:r>
            <a:r>
              <a:rPr lang="bg-BG"/>
              <a:t>съдържанието на всеки възел може да се представи като:</a:t>
            </a:r>
            <a:br>
              <a:rPr lang="bg-BG"/>
            </a:br>
            <a:r>
              <a:rPr lang="bg-BG"/>
              <a:t> 		 </a:t>
            </a:r>
            <a:r>
              <a:rPr lang="en-US" b="1" i="1"/>
              <a:t>р</a:t>
            </a:r>
            <a:r>
              <a:rPr lang="en-US" b="1" i="1" baseline="-25000"/>
              <a:t>0</a:t>
            </a:r>
            <a:r>
              <a:rPr lang="bg-BG" b="1" i="1" baseline="-25000"/>
              <a:t> </a:t>
            </a:r>
            <a:r>
              <a:rPr lang="en-US" b="1" i="1"/>
              <a:t>, k</a:t>
            </a:r>
            <a:r>
              <a:rPr lang="en-US" b="1" i="1" baseline="-25000"/>
              <a:t>0</a:t>
            </a:r>
            <a:r>
              <a:rPr lang="en-US" b="1" i="1"/>
              <a:t>, р</a:t>
            </a:r>
            <a:r>
              <a:rPr lang="en-US" b="1" i="1" baseline="-25000"/>
              <a:t>1</a:t>
            </a:r>
            <a:r>
              <a:rPr lang="bg-BG" b="1" i="1" baseline="-25000"/>
              <a:t>  </a:t>
            </a:r>
            <a:r>
              <a:rPr lang="en-US" b="1" i="1"/>
              <a:t>k</a:t>
            </a:r>
            <a:r>
              <a:rPr lang="en-US" b="1" i="1" baseline="-25000"/>
              <a:t>1</a:t>
            </a:r>
            <a:r>
              <a:rPr lang="en-US" b="1" i="1"/>
              <a:t>,… р</a:t>
            </a:r>
            <a:r>
              <a:rPr lang="en-US" b="1" i="1" baseline="-25000"/>
              <a:t>n-1</a:t>
            </a:r>
            <a:r>
              <a:rPr lang="bg-BG" b="1" i="1"/>
              <a:t>, </a:t>
            </a:r>
            <a:r>
              <a:rPr lang="en-US" b="1" i="1"/>
              <a:t>k</a:t>
            </a:r>
            <a:r>
              <a:rPr lang="en-US" b="1" i="1" baseline="-25000"/>
              <a:t>n-1</a:t>
            </a:r>
            <a:r>
              <a:rPr lang="en-US" b="1" i="1"/>
              <a:t>, р</a:t>
            </a:r>
            <a:r>
              <a:rPr lang="en-US" b="1" i="1" baseline="-25000"/>
              <a:t>n</a:t>
            </a:r>
            <a:r>
              <a:rPr lang="en-US" baseline="-25000"/>
              <a:t> </a:t>
            </a:r>
            <a:r>
              <a:rPr lang="bg-BG" baseline="-25000"/>
              <a:t/>
            </a:r>
            <a:br>
              <a:rPr lang="bg-BG" baseline="-25000"/>
            </a:br>
            <a:r>
              <a:rPr lang="bg-BG" baseline="-25000"/>
              <a:t/>
            </a:r>
            <a:br>
              <a:rPr lang="bg-BG" baseline="-25000"/>
            </a:br>
            <a:r>
              <a:rPr lang="bg-BG"/>
              <a:t>- ако възелът е листо, всички негови указатели </a:t>
            </a:r>
            <a:r>
              <a:rPr lang="bg-BG" baseline="-25000"/>
              <a:t> </a:t>
            </a:r>
            <a:r>
              <a:rPr lang="en-US" b="1" i="1"/>
              <a:t>р</a:t>
            </a:r>
            <a:r>
              <a:rPr lang="en-US" b="1" i="1" baseline="-25000"/>
              <a:t>0</a:t>
            </a:r>
            <a:r>
              <a:rPr lang="en-US" baseline="-25000"/>
              <a:t>,</a:t>
            </a:r>
            <a:r>
              <a:rPr lang="en-US"/>
              <a:t>, </a:t>
            </a:r>
            <a:r>
              <a:rPr lang="en-US" b="1" i="1"/>
              <a:t>р</a:t>
            </a:r>
            <a:r>
              <a:rPr lang="en-US" b="1" i="1" baseline="-25000"/>
              <a:t>1</a:t>
            </a:r>
            <a:r>
              <a:rPr lang="en-US" baseline="-25000"/>
              <a:t> ,</a:t>
            </a:r>
            <a:r>
              <a:rPr lang="en-US"/>
              <a:t>,… </a:t>
            </a:r>
            <a:r>
              <a:rPr lang="en-US" b="1" i="1"/>
              <a:t>р</a:t>
            </a:r>
            <a:r>
              <a:rPr lang="en-US" b="1" i="1" baseline="-25000"/>
              <a:t>n-1</a:t>
            </a:r>
            <a:r>
              <a:rPr lang="bg-BG"/>
              <a:t>, </a:t>
            </a:r>
            <a:r>
              <a:rPr lang="en-US" b="1" i="1" smtClean="0"/>
              <a:t>р</a:t>
            </a:r>
            <a:r>
              <a:rPr lang="en-US" b="1" i="1" baseline="-25000" smtClean="0"/>
              <a:t>n</a:t>
            </a:r>
            <a:r>
              <a:rPr lang="bg-BG" baseline="-25000" smtClean="0"/>
              <a:t>   </a:t>
            </a:r>
            <a:r>
              <a:rPr lang="bg-BG"/>
              <a:t>са </a:t>
            </a:r>
            <a:r>
              <a:rPr lang="en-US"/>
              <a:t>NULL.</a:t>
            </a:r>
            <a:r>
              <a:rPr lang="en-US" baseline="-25000"/>
              <a:t> </a:t>
            </a:r>
            <a:r>
              <a:rPr lang="bg-BG" baseline="-25000"/>
              <a:t/>
            </a:r>
            <a:br>
              <a:rPr lang="bg-BG" baseline="-25000"/>
            </a:br>
            <a:r>
              <a:rPr lang="en-US"/>
              <a:t>- </a:t>
            </a:r>
            <a:r>
              <a:rPr lang="bg-BG"/>
              <a:t>ако възелът не е листо, всеки от неговите </a:t>
            </a:r>
            <a:r>
              <a:rPr lang="en-US" b="1" i="1"/>
              <a:t>n</a:t>
            </a:r>
            <a:r>
              <a:rPr lang="en-US"/>
              <a:t>+1 </a:t>
            </a:r>
            <a:r>
              <a:rPr lang="bg-BG"/>
              <a:t>указатели </a:t>
            </a:r>
            <a:r>
              <a:rPr lang="en-US" b="1" i="1"/>
              <a:t>р</a:t>
            </a:r>
            <a:r>
              <a:rPr lang="en-US" b="1" i="1" baseline="-25000"/>
              <a:t>i</a:t>
            </a:r>
            <a:r>
              <a:rPr lang="bg-BG"/>
              <a:t> </a:t>
            </a:r>
            <a:r>
              <a:rPr lang="bg-BG" smtClean="0"/>
              <a:t>сочи  </a:t>
            </a:r>
            <a:r>
              <a:rPr lang="bg-BG"/>
              <a:t>към наследник. За</a:t>
            </a:r>
            <a:r>
              <a:rPr lang="en-US"/>
              <a:t> </a:t>
            </a:r>
            <a:r>
              <a:rPr lang="en-US" b="1" i="1"/>
              <a:t>i</a:t>
            </a:r>
            <a:r>
              <a:rPr lang="bg-BG" b="1" i="1"/>
              <a:t> </a:t>
            </a:r>
            <a:r>
              <a:rPr lang="en-US"/>
              <a:t>= 0, 1, 2, …, </a:t>
            </a:r>
            <a:r>
              <a:rPr lang="en-US" b="1" i="1"/>
              <a:t>n</a:t>
            </a:r>
            <a:r>
              <a:rPr lang="bg-BG"/>
              <a:t> всички ключове в наследника</a:t>
            </a:r>
            <a:r>
              <a:rPr lang="bg-BG" smtClean="0"/>
              <a:t>,  </a:t>
            </a:r>
            <a:r>
              <a:rPr lang="bg-BG"/>
              <a:t>сочени от </a:t>
            </a:r>
            <a:r>
              <a:rPr lang="en-US" b="1" i="1"/>
              <a:t>р</a:t>
            </a:r>
            <a:r>
              <a:rPr lang="en-US" b="1" i="1" baseline="-25000"/>
              <a:t>i</a:t>
            </a:r>
            <a:r>
              <a:rPr lang="bg-BG"/>
              <a:t> , са по-големи от </a:t>
            </a:r>
            <a:r>
              <a:rPr lang="en-US" b="1" i="1"/>
              <a:t>k</a:t>
            </a:r>
            <a:r>
              <a:rPr lang="en-US" b="1" i="1" baseline="-25000"/>
              <a:t>i-1</a:t>
            </a:r>
            <a:r>
              <a:rPr lang="en-US"/>
              <a:t>. </a:t>
            </a:r>
            <a:r>
              <a:rPr lang="bg-BG"/>
              <a:t>Също така, за </a:t>
            </a:r>
            <a:r>
              <a:rPr lang="en-US" b="1" i="1"/>
              <a:t>i</a:t>
            </a:r>
            <a:r>
              <a:rPr lang="bg-BG" b="1" i="1"/>
              <a:t> </a:t>
            </a:r>
            <a:r>
              <a:rPr lang="en-US"/>
              <a:t>= 0, 1, 2, …, </a:t>
            </a:r>
            <a:r>
              <a:rPr lang="bg-BG" smtClean="0"/>
              <a:t>  </a:t>
            </a:r>
            <a:r>
              <a:rPr lang="en-US" b="1" i="1"/>
              <a:t>n</a:t>
            </a:r>
            <a:r>
              <a:rPr lang="en-US"/>
              <a:t>-</a:t>
            </a:r>
            <a:r>
              <a:rPr lang="bg-BG"/>
              <a:t>1, всички ключове в наследника, сочен от </a:t>
            </a:r>
            <a:r>
              <a:rPr lang="en-US" b="1" i="1"/>
              <a:t>р</a:t>
            </a:r>
            <a:r>
              <a:rPr lang="en-US" b="1" i="1" baseline="-25000"/>
              <a:t>i</a:t>
            </a:r>
            <a:r>
              <a:rPr lang="bg-BG"/>
              <a:t> , са по-малки </a:t>
            </a:r>
            <a:r>
              <a:rPr lang="bg-BG" smtClean="0"/>
              <a:t>от  </a:t>
            </a:r>
            <a:r>
              <a:rPr lang="en-US" b="1" i="1"/>
              <a:t>k</a:t>
            </a:r>
            <a:r>
              <a:rPr lang="en-US" b="1" i="1" baseline="-25000"/>
              <a:t>i</a:t>
            </a:r>
            <a:r>
              <a:rPr lang="en-US"/>
              <a:t>. </a:t>
            </a:r>
            <a:r>
              <a:rPr lang="bg-BG"/>
              <a:t/>
            </a:r>
            <a:br>
              <a:rPr lang="bg-BG"/>
            </a:br>
            <a:r>
              <a:rPr lang="bg-BG"/>
              <a:t>- ако вътрешен възел съдържа </a:t>
            </a:r>
            <a:r>
              <a:rPr lang="en-US" b="1" i="1"/>
              <a:t>n</a:t>
            </a:r>
            <a:r>
              <a:rPr lang="bg-BG"/>
              <a:t> ключа (стойности), той </a:t>
            </a:r>
            <a:r>
              <a:rPr lang="bg-BG" smtClean="0"/>
              <a:t>съдържа  </a:t>
            </a:r>
            <a:r>
              <a:rPr lang="bg-BG"/>
              <a:t>точни </a:t>
            </a:r>
            <a:r>
              <a:rPr lang="en-US" b="1" i="1"/>
              <a:t>n</a:t>
            </a:r>
            <a:r>
              <a:rPr lang="en-US"/>
              <a:t>+1 </a:t>
            </a:r>
            <a:r>
              <a:rPr lang="bg-BG"/>
              <a:t>връзки (указатели), което означава, че  </a:t>
            </a:r>
            <a:r>
              <a:rPr lang="en-US" b="1" i="1" smtClean="0"/>
              <a:t>m</a:t>
            </a:r>
            <a:r>
              <a:rPr lang="en-US" smtClean="0"/>
              <a:t>-</a:t>
            </a:r>
            <a:r>
              <a:rPr lang="en-US" b="1" i="1" smtClean="0"/>
              <a:t>n</a:t>
            </a:r>
            <a:r>
              <a:rPr lang="en-US" smtClean="0"/>
              <a:t>-1</a:t>
            </a:r>
            <a:r>
              <a:rPr lang="bg-BG" smtClean="0"/>
              <a:t> </a:t>
            </a:r>
            <a:r>
              <a:rPr lang="en-US" smtClean="0"/>
              <a:t> </a:t>
            </a:r>
            <a:r>
              <a:rPr lang="bg-BG"/>
              <a:t>указатели в този възел не се използват.</a:t>
            </a:r>
            <a:br>
              <a:rPr lang="bg-BG"/>
            </a:br>
            <a:r>
              <a:rPr lang="bg-BG"/>
              <a:t/>
            </a:r>
            <a:br>
              <a:rPr lang="bg-BG"/>
            </a:br>
            <a:r>
              <a:rPr lang="bg-BG"/>
              <a:t>	В-дървета са удобни и ефективни в много приложения. За тях са разработени голямо количество алгоритми.</a:t>
            </a:r>
            <a:br>
              <a:rPr lang="bg-BG"/>
            </a:b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115616" y="476672"/>
            <a:ext cx="8028384" cy="6381328"/>
          </a:xfrm>
        </p:spPr>
        <p:txBody>
          <a:bodyPr>
            <a:normAutofit fontScale="90000"/>
          </a:bodyPr>
          <a:lstStyle/>
          <a:p>
            <a:pPr eaLnBrk="1" fontAlgn="auto" hangingPunct="1">
              <a:spcAft>
                <a:spcPts val="0"/>
              </a:spcAft>
              <a:defRPr/>
            </a:pPr>
            <a:r>
              <a:rPr lang="en-US" sz="2000">
                <a:solidFill>
                  <a:schemeClr val="tx2">
                    <a:satMod val="130000"/>
                  </a:schemeClr>
                </a:solidFill>
              </a:rPr>
              <a:t>	</a:t>
            </a:r>
            <a:r>
              <a:rPr lang="bg-BG" sz="2000">
                <a:solidFill>
                  <a:schemeClr val="tx1"/>
                </a:solidFill>
              </a:rPr>
              <a:t>При тях, за разлика от идеално-балансирани дървета, всички листа се намират на едно и също ниво.</a:t>
            </a:r>
            <a:br>
              <a:rPr lang="bg-BG" sz="2000">
                <a:solidFill>
                  <a:schemeClr val="tx1"/>
                </a:solidFill>
              </a:rPr>
            </a:br>
            <a:r>
              <a:rPr lang="en-US" sz="2000">
                <a:solidFill>
                  <a:schemeClr val="tx1"/>
                </a:solidFill>
              </a:rPr>
              <a:t>	</a:t>
            </a:r>
            <a:r>
              <a:rPr lang="bg-BG" sz="2000">
                <a:solidFill>
                  <a:schemeClr val="tx1"/>
                </a:solidFill>
              </a:rPr>
              <a:t>Нека разгледаме добавянето на нови елементи в В-дърво с порядък </a:t>
            </a:r>
            <a:r>
              <a:rPr lang="en-US" sz="2000" smtClean="0">
                <a:solidFill>
                  <a:schemeClr val="tx1"/>
                </a:solidFill>
              </a:rPr>
              <a:t>5</a:t>
            </a:r>
            <a:r>
              <a:rPr lang="bg-BG" sz="2000" smtClean="0">
                <a:solidFill>
                  <a:schemeClr val="tx1"/>
                </a:solidFill>
              </a:rPr>
              <a:t> </a:t>
            </a:r>
            <a:r>
              <a:rPr lang="bg-BG" sz="2000">
                <a:solidFill>
                  <a:schemeClr val="tx1"/>
                </a:solidFill>
              </a:rPr>
              <a:t>(</a:t>
            </a:r>
            <a:r>
              <a:rPr lang="en-US" sz="2000" b="1" i="1">
                <a:solidFill>
                  <a:schemeClr val="tx1"/>
                </a:solidFill>
              </a:rPr>
              <a:t>m</a:t>
            </a:r>
            <a:r>
              <a:rPr lang="en-US" sz="2000">
                <a:solidFill>
                  <a:schemeClr val="tx1"/>
                </a:solidFill>
              </a:rPr>
              <a:t>=5):</a:t>
            </a:r>
            <a:br>
              <a:rPr lang="en-US" sz="2000">
                <a:solidFill>
                  <a:schemeClr val="tx1"/>
                </a:solidFill>
              </a:rPr>
            </a:br>
            <a:r>
              <a:rPr lang="en-US" sz="2000">
                <a:solidFill>
                  <a:schemeClr val="tx1"/>
                </a:solidFill>
              </a:rPr>
              <a:t>	</a:t>
            </a:r>
            <a:r>
              <a:rPr lang="bg-BG" sz="2000">
                <a:solidFill>
                  <a:schemeClr val="tx1"/>
                </a:solidFill>
              </a:rPr>
              <a:t>Да започнем с празно В-дърво, в което ще вмъкваме четири цели числа - например </a:t>
            </a:r>
            <a:r>
              <a:rPr lang="en-US" sz="2000" smtClean="0">
                <a:solidFill>
                  <a:schemeClr val="tx1"/>
                </a:solidFill>
              </a:rPr>
              <a:t>60</a:t>
            </a:r>
            <a:r>
              <a:rPr lang="bg-BG" sz="2000" smtClean="0">
                <a:solidFill>
                  <a:schemeClr val="tx1"/>
                </a:solidFill>
              </a:rPr>
              <a:t>, </a:t>
            </a:r>
            <a:r>
              <a:rPr lang="en-US" sz="2000" smtClean="0">
                <a:solidFill>
                  <a:schemeClr val="tx1"/>
                </a:solidFill>
              </a:rPr>
              <a:t>20</a:t>
            </a:r>
            <a:r>
              <a:rPr lang="bg-BG" sz="2000" smtClean="0">
                <a:solidFill>
                  <a:schemeClr val="tx1"/>
                </a:solidFill>
              </a:rPr>
              <a:t>, </a:t>
            </a:r>
            <a:r>
              <a:rPr lang="en-US" sz="2000" smtClean="0">
                <a:solidFill>
                  <a:schemeClr val="tx1"/>
                </a:solidFill>
              </a:rPr>
              <a:t>80</a:t>
            </a:r>
            <a:r>
              <a:rPr lang="bg-BG" sz="2000" smtClean="0">
                <a:solidFill>
                  <a:schemeClr val="tx1"/>
                </a:solidFill>
              </a:rPr>
              <a:t> </a:t>
            </a:r>
            <a:r>
              <a:rPr lang="bg-BG" sz="2000">
                <a:solidFill>
                  <a:schemeClr val="tx1"/>
                </a:solidFill>
              </a:rPr>
              <a:t>и </a:t>
            </a:r>
            <a:r>
              <a:rPr lang="en-US" sz="2000" smtClean="0">
                <a:solidFill>
                  <a:schemeClr val="tx1"/>
                </a:solidFill>
              </a:rPr>
              <a:t>10</a:t>
            </a:r>
            <a:r>
              <a:rPr lang="bg-BG" sz="2000" smtClean="0">
                <a:solidFill>
                  <a:schemeClr val="tx1"/>
                </a:solidFill>
              </a:rPr>
              <a:t>: </a:t>
            </a:r>
            <a:r>
              <a:rPr lang="en-US" sz="2000">
                <a:solidFill>
                  <a:schemeClr val="tx1"/>
                </a:solidFill>
              </a:rPr>
              <a:t/>
            </a:r>
            <a:br>
              <a:rPr lang="en-US" sz="2000">
                <a:solidFill>
                  <a:schemeClr val="tx1"/>
                </a:solidFill>
              </a:rPr>
            </a:br>
            <a:r>
              <a:rPr lang="en-US" sz="2000">
                <a:solidFill>
                  <a:schemeClr val="tx1"/>
                </a:solidFill>
              </a:rPr>
              <a:t/>
            </a:r>
            <a:br>
              <a:rPr lang="en-US" sz="2000">
                <a:solidFill>
                  <a:schemeClr val="tx1"/>
                </a:solidFill>
              </a:rPr>
            </a:br>
            <a:r>
              <a:rPr lang="bg-BG" sz="2000">
                <a:solidFill>
                  <a:schemeClr val="tx1"/>
                </a:solidFill>
              </a:rPr>
              <a:t>					</a:t>
            </a:r>
            <a:r>
              <a:rPr lang="en-US" sz="2000">
                <a:solidFill>
                  <a:schemeClr val="tx1"/>
                </a:solidFill>
              </a:rPr>
              <a:t>          </a:t>
            </a:r>
            <a:r>
              <a:rPr lang="en-US" sz="2000" smtClean="0">
                <a:solidFill>
                  <a:schemeClr val="tx1"/>
                </a:solidFill>
              </a:rPr>
              <a:t>n=4</a:t>
            </a:r>
            <a:r>
              <a:rPr lang="en-US" sz="2000">
                <a:solidFill>
                  <a:schemeClr val="tx1"/>
                </a:solidFill>
              </a:rPr>
              <a:t/>
            </a:r>
            <a:br>
              <a:rPr lang="en-US" sz="2000">
                <a:solidFill>
                  <a:schemeClr val="tx1"/>
                </a:solidFill>
              </a:rPr>
            </a:br>
            <a:r>
              <a:rPr lang="en-US" sz="2000">
                <a:solidFill>
                  <a:schemeClr val="tx1"/>
                </a:solidFill>
              </a:rPr>
              <a:t>					          </a:t>
            </a:r>
            <a:r>
              <a:rPr lang="en-US" sz="2000" smtClean="0">
                <a:solidFill>
                  <a:schemeClr val="tx1"/>
                </a:solidFill>
              </a:rPr>
              <a:t>p</a:t>
            </a:r>
            <a:r>
              <a:rPr lang="en-US" sz="2000" baseline="-25000" smtClean="0">
                <a:solidFill>
                  <a:schemeClr val="tx1"/>
                </a:solidFill>
              </a:rPr>
              <a:t>0</a:t>
            </a:r>
            <a:r>
              <a:rPr lang="en-US" sz="2000">
                <a:solidFill>
                  <a:schemeClr val="tx1"/>
                </a:solidFill>
              </a:rPr>
              <a:t>= p</a:t>
            </a:r>
            <a:r>
              <a:rPr lang="en-US" sz="2000" baseline="-25000">
                <a:solidFill>
                  <a:schemeClr val="tx1"/>
                </a:solidFill>
              </a:rPr>
              <a:t>1</a:t>
            </a:r>
            <a:r>
              <a:rPr lang="en-US" sz="2000">
                <a:solidFill>
                  <a:schemeClr val="tx1"/>
                </a:solidFill>
              </a:rPr>
              <a:t>= p</a:t>
            </a:r>
            <a:r>
              <a:rPr lang="en-US" sz="2000" baseline="-25000">
                <a:solidFill>
                  <a:schemeClr val="tx1"/>
                </a:solidFill>
              </a:rPr>
              <a:t>2</a:t>
            </a:r>
            <a:r>
              <a:rPr lang="en-US" sz="2000">
                <a:solidFill>
                  <a:schemeClr val="tx1"/>
                </a:solidFill>
              </a:rPr>
              <a:t>= p</a:t>
            </a:r>
            <a:r>
              <a:rPr lang="en-US" sz="2000" baseline="-25000">
                <a:solidFill>
                  <a:schemeClr val="tx1"/>
                </a:solidFill>
              </a:rPr>
              <a:t>3</a:t>
            </a:r>
            <a:r>
              <a:rPr lang="en-US" sz="2000">
                <a:solidFill>
                  <a:schemeClr val="tx1"/>
                </a:solidFill>
              </a:rPr>
              <a:t>= p</a:t>
            </a:r>
            <a:r>
              <a:rPr lang="en-US" sz="2000" baseline="-25000">
                <a:solidFill>
                  <a:schemeClr val="tx1"/>
                </a:solidFill>
              </a:rPr>
              <a:t>4</a:t>
            </a:r>
            <a:r>
              <a:rPr lang="en-US" sz="2000">
                <a:solidFill>
                  <a:schemeClr val="tx1"/>
                </a:solidFill>
              </a:rPr>
              <a:t>= NULL</a:t>
            </a:r>
            <a:r>
              <a:rPr lang="bg-BG" sz="2000">
                <a:solidFill>
                  <a:schemeClr val="tx1"/>
                </a:solidFill>
              </a:rPr>
              <a:t>		</a:t>
            </a:r>
            <a:r>
              <a:rPr lang="en-US" sz="2000">
                <a:solidFill>
                  <a:schemeClr val="tx1"/>
                </a:solidFill>
              </a:rPr>
              <a:t>			</a:t>
            </a:r>
            <a:r>
              <a:rPr lang="en-US" sz="2000" smtClean="0">
                <a:solidFill>
                  <a:schemeClr val="tx1"/>
                </a:solidFill>
              </a:rPr>
              <a:t>          k</a:t>
            </a:r>
            <a:r>
              <a:rPr lang="en-US" sz="2000" baseline="-25000" smtClean="0">
                <a:solidFill>
                  <a:schemeClr val="tx1"/>
                </a:solidFill>
              </a:rPr>
              <a:t>0</a:t>
            </a:r>
            <a:r>
              <a:rPr lang="en-US" sz="2000" smtClean="0">
                <a:solidFill>
                  <a:schemeClr val="tx1"/>
                </a:solidFill>
              </a:rPr>
              <a:t>=10</a:t>
            </a:r>
            <a:r>
              <a:rPr lang="en-US" sz="2000">
                <a:solidFill>
                  <a:schemeClr val="tx1"/>
                </a:solidFill>
              </a:rPr>
              <a:t>, k</a:t>
            </a:r>
            <a:r>
              <a:rPr lang="en-US" sz="2000" baseline="-25000">
                <a:solidFill>
                  <a:schemeClr val="tx1"/>
                </a:solidFill>
              </a:rPr>
              <a:t>1</a:t>
            </a:r>
            <a:r>
              <a:rPr lang="en-US" sz="2000">
                <a:solidFill>
                  <a:schemeClr val="tx1"/>
                </a:solidFill>
              </a:rPr>
              <a:t>=20, k</a:t>
            </a:r>
            <a:r>
              <a:rPr lang="en-US" sz="2000" baseline="-25000">
                <a:solidFill>
                  <a:schemeClr val="tx1"/>
                </a:solidFill>
              </a:rPr>
              <a:t>2</a:t>
            </a:r>
            <a:r>
              <a:rPr lang="en-US" sz="2000">
                <a:solidFill>
                  <a:schemeClr val="tx1"/>
                </a:solidFill>
              </a:rPr>
              <a:t>=60, k</a:t>
            </a:r>
            <a:r>
              <a:rPr lang="en-US" sz="2000" baseline="-25000">
                <a:solidFill>
                  <a:schemeClr val="tx1"/>
                </a:solidFill>
              </a:rPr>
              <a:t>3</a:t>
            </a:r>
            <a:r>
              <a:rPr lang="en-US" sz="2000">
                <a:solidFill>
                  <a:schemeClr val="tx1"/>
                </a:solidFill>
              </a:rPr>
              <a:t>=80</a:t>
            </a:r>
            <a:r>
              <a:rPr lang="bg-BG" sz="2000">
                <a:solidFill>
                  <a:schemeClr val="tx1"/>
                </a:solidFill>
              </a:rPr>
              <a:t>		</a:t>
            </a:r>
            <a:r>
              <a:rPr lang="en-US" sz="2000">
                <a:solidFill>
                  <a:schemeClr val="tx1"/>
                </a:solidFill>
              </a:rPr>
              <a:t/>
            </a:r>
            <a:br>
              <a:rPr lang="en-US" sz="2000">
                <a:solidFill>
                  <a:schemeClr val="tx1"/>
                </a:solidFill>
              </a:rPr>
            </a:br>
            <a:r>
              <a:rPr lang="bg-BG" sz="2000">
                <a:solidFill>
                  <a:schemeClr val="tx1"/>
                </a:solidFill>
              </a:rPr>
              <a:t>Добавяме стойност </a:t>
            </a:r>
            <a:r>
              <a:rPr lang="en-US" sz="2000" smtClean="0">
                <a:solidFill>
                  <a:schemeClr val="tx1"/>
                </a:solidFill>
              </a:rPr>
              <a:t>15</a:t>
            </a:r>
            <a:r>
              <a:rPr lang="bg-BG" sz="2000" smtClean="0">
                <a:solidFill>
                  <a:schemeClr val="tx1"/>
                </a:solidFill>
              </a:rPr>
              <a:t>:</a:t>
            </a: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en-US" sz="2000">
                <a:solidFill>
                  <a:schemeClr val="tx2">
                    <a:satMod val="130000"/>
                  </a:schemeClr>
                </a:solidFill>
              </a:rPr>
              <a:t/>
            </a:r>
            <a:br>
              <a:rPr lang="en-US" sz="2000">
                <a:solidFill>
                  <a:schemeClr val="tx2">
                    <a:satMod val="130000"/>
                  </a:schemeClr>
                </a:solidFill>
              </a:rPr>
            </a:br>
            <a:r>
              <a:rPr lang="bg-BG" sz="2800">
                <a:solidFill>
                  <a:schemeClr val="tx2">
                    <a:satMod val="130000"/>
                  </a:schemeClr>
                </a:solidFill>
              </a:rPr>
              <a:t> </a:t>
            </a:r>
            <a:endParaRPr lang="en-US" sz="2800">
              <a:solidFill>
                <a:schemeClr val="tx2">
                  <a:satMod val="130000"/>
                </a:schemeClr>
              </a:solidFill>
            </a:endParaRPr>
          </a:p>
        </p:txBody>
      </p:sp>
      <p:grpSp>
        <p:nvGrpSpPr>
          <p:cNvPr id="63491" name="Group 4"/>
          <p:cNvGrpSpPr>
            <a:grpSpLocks/>
          </p:cNvGrpSpPr>
          <p:nvPr/>
        </p:nvGrpSpPr>
        <p:grpSpPr bwMode="auto">
          <a:xfrm>
            <a:off x="2882900" y="2781300"/>
            <a:ext cx="2438400" cy="457200"/>
            <a:chOff x="3591" y="1482"/>
            <a:chExt cx="2109" cy="456"/>
          </a:xfrm>
        </p:grpSpPr>
        <p:sp>
          <p:nvSpPr>
            <p:cNvPr id="63520" name="Rectangle 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3521" name="Line 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3522" name="Line 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3523" name="Line 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3492" name="Group 43"/>
          <p:cNvGrpSpPr>
            <a:grpSpLocks/>
          </p:cNvGrpSpPr>
          <p:nvPr/>
        </p:nvGrpSpPr>
        <p:grpSpPr bwMode="auto">
          <a:xfrm>
            <a:off x="2882900" y="4572000"/>
            <a:ext cx="2438400" cy="457200"/>
            <a:chOff x="1816" y="2880"/>
            <a:chExt cx="1536" cy="288"/>
          </a:xfrm>
        </p:grpSpPr>
        <p:sp>
          <p:nvSpPr>
            <p:cNvPr id="63516" name="Rectangle 10"/>
            <p:cNvSpPr>
              <a:spLocks noChangeArrowheads="1"/>
            </p:cNvSpPr>
            <p:nvPr/>
          </p:nvSpPr>
          <p:spPr bwMode="auto">
            <a:xfrm>
              <a:off x="1816" y="2880"/>
              <a:ext cx="1536" cy="288"/>
            </a:xfrm>
            <a:prstGeom prst="rect">
              <a:avLst/>
            </a:prstGeom>
            <a:solidFill>
              <a:srgbClr val="FFFFFF"/>
            </a:solidFill>
            <a:ln w="9525">
              <a:solidFill>
                <a:srgbClr val="000000"/>
              </a:solidFill>
              <a:miter lim="800000"/>
              <a:headEnd/>
              <a:tailEnd/>
            </a:ln>
          </p:spPr>
          <p:txBody>
            <a:bodyPr/>
            <a:lstStyle/>
            <a:p>
              <a:endParaRPr lang="bg-BG"/>
            </a:p>
          </p:txBody>
        </p:sp>
        <p:sp>
          <p:nvSpPr>
            <p:cNvPr id="63517" name="Line 11"/>
            <p:cNvSpPr>
              <a:spLocks noChangeShapeType="1"/>
            </p:cNvSpPr>
            <p:nvPr/>
          </p:nvSpPr>
          <p:spPr bwMode="auto">
            <a:xfrm>
              <a:off x="2574" y="2880"/>
              <a:ext cx="0" cy="288"/>
            </a:xfrm>
            <a:prstGeom prst="line">
              <a:avLst/>
            </a:prstGeom>
            <a:noFill/>
            <a:ln w="9525">
              <a:solidFill>
                <a:srgbClr val="000000"/>
              </a:solidFill>
              <a:round/>
              <a:headEnd/>
              <a:tailEnd/>
            </a:ln>
          </p:spPr>
          <p:txBody>
            <a:bodyPr/>
            <a:lstStyle/>
            <a:p>
              <a:endParaRPr lang="bg-BG"/>
            </a:p>
          </p:txBody>
        </p:sp>
        <p:sp>
          <p:nvSpPr>
            <p:cNvPr id="63518" name="Line 12"/>
            <p:cNvSpPr>
              <a:spLocks noChangeShapeType="1"/>
            </p:cNvSpPr>
            <p:nvPr/>
          </p:nvSpPr>
          <p:spPr bwMode="auto">
            <a:xfrm>
              <a:off x="2970" y="2880"/>
              <a:ext cx="0" cy="288"/>
            </a:xfrm>
            <a:prstGeom prst="line">
              <a:avLst/>
            </a:prstGeom>
            <a:noFill/>
            <a:ln w="9525">
              <a:solidFill>
                <a:srgbClr val="000000"/>
              </a:solidFill>
              <a:round/>
              <a:headEnd/>
              <a:tailEnd/>
            </a:ln>
          </p:spPr>
          <p:txBody>
            <a:bodyPr/>
            <a:lstStyle/>
            <a:p>
              <a:endParaRPr lang="bg-BG"/>
            </a:p>
          </p:txBody>
        </p:sp>
        <p:sp>
          <p:nvSpPr>
            <p:cNvPr id="63519" name="Line 13"/>
            <p:cNvSpPr>
              <a:spLocks noChangeShapeType="1"/>
            </p:cNvSpPr>
            <p:nvPr/>
          </p:nvSpPr>
          <p:spPr bwMode="auto">
            <a:xfrm>
              <a:off x="2190" y="2880"/>
              <a:ext cx="0" cy="288"/>
            </a:xfrm>
            <a:prstGeom prst="line">
              <a:avLst/>
            </a:prstGeom>
            <a:noFill/>
            <a:ln w="9525">
              <a:solidFill>
                <a:srgbClr val="000000"/>
              </a:solidFill>
              <a:round/>
              <a:headEnd/>
              <a:tailEnd/>
            </a:ln>
          </p:spPr>
          <p:txBody>
            <a:bodyPr/>
            <a:lstStyle/>
            <a:p>
              <a:endParaRPr lang="bg-BG"/>
            </a:p>
          </p:txBody>
        </p:sp>
      </p:grpSp>
      <p:grpSp>
        <p:nvGrpSpPr>
          <p:cNvPr id="63493" name="Group 19"/>
          <p:cNvGrpSpPr>
            <a:grpSpLocks/>
          </p:cNvGrpSpPr>
          <p:nvPr/>
        </p:nvGrpSpPr>
        <p:grpSpPr bwMode="auto">
          <a:xfrm>
            <a:off x="1143000" y="5486400"/>
            <a:ext cx="2438400" cy="457200"/>
            <a:chOff x="3591" y="1482"/>
            <a:chExt cx="2109" cy="456"/>
          </a:xfrm>
        </p:grpSpPr>
        <p:sp>
          <p:nvSpPr>
            <p:cNvPr id="63512" name="Rectangle 2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3513" name="Line 2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3514" name="Line 2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3515" name="Line 2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3494" name="Group 24"/>
          <p:cNvGrpSpPr>
            <a:grpSpLocks/>
          </p:cNvGrpSpPr>
          <p:nvPr/>
        </p:nvGrpSpPr>
        <p:grpSpPr bwMode="auto">
          <a:xfrm>
            <a:off x="4572000" y="5486400"/>
            <a:ext cx="2438400" cy="457200"/>
            <a:chOff x="3591" y="1482"/>
            <a:chExt cx="2109" cy="456"/>
          </a:xfrm>
        </p:grpSpPr>
        <p:sp>
          <p:nvSpPr>
            <p:cNvPr id="63508" name="Rectangle 2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3509" name="Line 2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3510" name="Line 2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3511" name="Line 2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3495" name="Text Box 29"/>
          <p:cNvSpPr txBox="1">
            <a:spLocks noChangeArrowheads="1"/>
          </p:cNvSpPr>
          <p:nvPr/>
        </p:nvSpPr>
        <p:spPr bwMode="auto">
          <a:xfrm>
            <a:off x="4152900" y="27940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63496" name="Text Box 30"/>
          <p:cNvSpPr txBox="1">
            <a:spLocks noChangeArrowheads="1"/>
          </p:cNvSpPr>
          <p:nvPr/>
        </p:nvSpPr>
        <p:spPr bwMode="auto">
          <a:xfrm>
            <a:off x="3568700" y="27940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63497" name="Text Box 31"/>
          <p:cNvSpPr txBox="1">
            <a:spLocks noChangeArrowheads="1"/>
          </p:cNvSpPr>
          <p:nvPr/>
        </p:nvSpPr>
        <p:spPr bwMode="auto">
          <a:xfrm>
            <a:off x="2921000" y="27940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3498" name="Text Box 32"/>
          <p:cNvSpPr txBox="1">
            <a:spLocks noChangeArrowheads="1"/>
          </p:cNvSpPr>
          <p:nvPr/>
        </p:nvSpPr>
        <p:spPr bwMode="auto">
          <a:xfrm>
            <a:off x="4762500" y="27940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3499" name="Line 34"/>
          <p:cNvSpPr>
            <a:spLocks noChangeShapeType="1"/>
          </p:cNvSpPr>
          <p:nvPr/>
        </p:nvSpPr>
        <p:spPr bwMode="auto">
          <a:xfrm>
            <a:off x="4089400" y="23241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63500" name="Line 35"/>
          <p:cNvSpPr>
            <a:spLocks noChangeShapeType="1"/>
          </p:cNvSpPr>
          <p:nvPr/>
        </p:nvSpPr>
        <p:spPr bwMode="auto">
          <a:xfrm>
            <a:off x="4076700" y="4102100"/>
            <a:ext cx="0" cy="457200"/>
          </a:xfrm>
          <a:prstGeom prst="line">
            <a:avLst/>
          </a:prstGeom>
          <a:noFill/>
          <a:ln w="9525">
            <a:solidFill>
              <a:schemeClr val="tx1"/>
            </a:solidFill>
            <a:round/>
            <a:headEnd/>
            <a:tailEnd type="triangle" w="med" len="med"/>
          </a:ln>
        </p:spPr>
        <p:txBody>
          <a:bodyPr wrap="none" anchor="ctr"/>
          <a:lstStyle/>
          <a:p>
            <a:endParaRPr lang="bg-BG"/>
          </a:p>
        </p:txBody>
      </p:sp>
      <p:sp>
        <p:nvSpPr>
          <p:cNvPr id="63501" name="Text Box 36"/>
          <p:cNvSpPr txBox="1">
            <a:spLocks noChangeArrowheads="1"/>
          </p:cNvSpPr>
          <p:nvPr/>
        </p:nvSpPr>
        <p:spPr bwMode="auto">
          <a:xfrm>
            <a:off x="2933700" y="45847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63502" name="Text Box 37"/>
          <p:cNvSpPr txBox="1">
            <a:spLocks noChangeArrowheads="1"/>
          </p:cNvSpPr>
          <p:nvPr/>
        </p:nvSpPr>
        <p:spPr bwMode="auto">
          <a:xfrm>
            <a:off x="1206500" y="54864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3503" name="Text Box 38"/>
          <p:cNvSpPr txBox="1">
            <a:spLocks noChangeArrowheads="1"/>
          </p:cNvSpPr>
          <p:nvPr/>
        </p:nvSpPr>
        <p:spPr bwMode="auto">
          <a:xfrm>
            <a:off x="4648200" y="54864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63504" name="Text Box 39"/>
          <p:cNvSpPr txBox="1">
            <a:spLocks noChangeArrowheads="1"/>
          </p:cNvSpPr>
          <p:nvPr/>
        </p:nvSpPr>
        <p:spPr bwMode="auto">
          <a:xfrm>
            <a:off x="5257800" y="54864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3505" name="Text Box 40"/>
          <p:cNvSpPr txBox="1">
            <a:spLocks noChangeArrowheads="1"/>
          </p:cNvSpPr>
          <p:nvPr/>
        </p:nvSpPr>
        <p:spPr bwMode="auto">
          <a:xfrm>
            <a:off x="1828800" y="5486400"/>
            <a:ext cx="5334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63506" name="Line 41"/>
          <p:cNvSpPr>
            <a:spLocks noChangeShapeType="1"/>
          </p:cNvSpPr>
          <p:nvPr/>
        </p:nvSpPr>
        <p:spPr bwMode="auto">
          <a:xfrm flipH="1">
            <a:off x="2362200" y="5029200"/>
            <a:ext cx="609600" cy="457200"/>
          </a:xfrm>
          <a:prstGeom prst="line">
            <a:avLst/>
          </a:prstGeom>
          <a:noFill/>
          <a:ln w="9525">
            <a:solidFill>
              <a:schemeClr val="tx1"/>
            </a:solidFill>
            <a:round/>
            <a:headEnd/>
            <a:tailEnd type="triangle" w="med" len="med"/>
          </a:ln>
        </p:spPr>
        <p:txBody>
          <a:bodyPr wrap="none" anchor="ctr"/>
          <a:lstStyle/>
          <a:p>
            <a:endParaRPr lang="bg-BG"/>
          </a:p>
        </p:txBody>
      </p:sp>
      <p:sp>
        <p:nvSpPr>
          <p:cNvPr id="63507" name="Line 42"/>
          <p:cNvSpPr>
            <a:spLocks noChangeShapeType="1"/>
          </p:cNvSpPr>
          <p:nvPr/>
        </p:nvSpPr>
        <p:spPr bwMode="auto">
          <a:xfrm>
            <a:off x="3352800" y="5029200"/>
            <a:ext cx="1290638" cy="487363"/>
          </a:xfrm>
          <a:prstGeom prst="line">
            <a:avLst/>
          </a:prstGeom>
          <a:noFill/>
          <a:ln w="9525">
            <a:solidFill>
              <a:schemeClr val="tx1"/>
            </a:solidFill>
            <a:round/>
            <a:headEnd/>
            <a:tailEnd type="triangle" w="med" len="med"/>
          </a:ln>
        </p:spPr>
        <p:txBody>
          <a:bodyPr wrap="none" anchor="ctr"/>
          <a:lstStyle/>
          <a:p>
            <a:endParaRPr lang="bg-BG"/>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1115616" y="404664"/>
            <a:ext cx="7848872" cy="5867400"/>
          </a:xfrm>
        </p:spPr>
        <p:txBody>
          <a:bodyPr>
            <a:normAutofit fontScale="90000"/>
          </a:bodyPr>
          <a:lstStyle/>
          <a:p>
            <a:pPr eaLnBrk="1" fontAlgn="auto" hangingPunct="1">
              <a:spcAft>
                <a:spcPts val="0"/>
              </a:spcAft>
              <a:defRPr/>
            </a:pPr>
            <a:r>
              <a:rPr lang="bg-BG" sz="2400">
                <a:solidFill>
                  <a:schemeClr val="tx1"/>
                </a:solidFill>
              </a:rPr>
              <a:t>Добавяме </a:t>
            </a:r>
            <a:r>
              <a:rPr lang="en-US" sz="2400" smtClean="0">
                <a:solidFill>
                  <a:schemeClr val="tx1"/>
                </a:solidFill>
              </a:rPr>
              <a:t>30</a:t>
            </a:r>
            <a:r>
              <a:rPr lang="bg-BG" sz="2400" smtClean="0">
                <a:solidFill>
                  <a:schemeClr val="tx1"/>
                </a:solidFill>
              </a:rPr>
              <a:t>:</a:t>
            </a: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en-US" sz="2400" smtClean="0">
                <a:solidFill>
                  <a:schemeClr val="tx1"/>
                </a:solidFill>
              </a:rPr>
              <a:t/>
            </a:r>
            <a:br>
              <a:rPr lang="en-US" sz="2400" smtClean="0">
                <a:solidFill>
                  <a:schemeClr val="tx1"/>
                </a:solidFill>
              </a:rPr>
            </a:br>
            <a:r>
              <a:rPr lang="bg-BG" sz="2400" smtClean="0">
                <a:solidFill>
                  <a:schemeClr val="tx1"/>
                </a:solidFill>
              </a:rPr>
              <a:t>Добавяме </a:t>
            </a:r>
            <a:r>
              <a:rPr lang="en-US" sz="2400" smtClean="0">
                <a:solidFill>
                  <a:schemeClr val="tx1"/>
                </a:solidFill>
              </a:rPr>
              <a:t>70</a:t>
            </a:r>
            <a:r>
              <a:rPr lang="bg-BG" sz="2400" smtClean="0">
                <a:solidFill>
                  <a:schemeClr val="tx1"/>
                </a:solidFill>
              </a:rPr>
              <a:t>:</a:t>
            </a: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en-US" sz="2400" smtClean="0">
                <a:solidFill>
                  <a:schemeClr val="tx1"/>
                </a:solidFill>
              </a:rPr>
              <a:t/>
            </a:r>
            <a:br>
              <a:rPr lang="en-US" sz="2400" smtClean="0">
                <a:solidFill>
                  <a:schemeClr val="tx1"/>
                </a:solidFill>
              </a:rPr>
            </a:br>
            <a:r>
              <a:rPr lang="bg-BG" sz="2400" smtClean="0">
                <a:solidFill>
                  <a:schemeClr val="tx1"/>
                </a:solidFill>
              </a:rPr>
              <a:t>Добавяме </a:t>
            </a:r>
            <a:r>
              <a:rPr lang="en-US" sz="2400" smtClean="0">
                <a:solidFill>
                  <a:schemeClr val="tx1"/>
                </a:solidFill>
              </a:rPr>
              <a:t>22</a:t>
            </a:r>
            <a:r>
              <a:rPr lang="bg-BG" sz="2400" smtClean="0">
                <a:solidFill>
                  <a:schemeClr val="tx1"/>
                </a:solidFill>
              </a:rPr>
              <a:t>:</a:t>
            </a:r>
            <a:r>
              <a:rPr lang="bg-BG" sz="2400">
                <a:solidFill>
                  <a:schemeClr val="tx1"/>
                </a:solidFill>
              </a:rPr>
              <a:t/>
            </a:r>
            <a:br>
              <a:rPr lang="bg-BG" sz="2400">
                <a:solidFill>
                  <a:schemeClr val="tx1"/>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sz="2400">
              <a:solidFill>
                <a:schemeClr val="tx2">
                  <a:satMod val="130000"/>
                </a:schemeClr>
              </a:solidFill>
            </a:endParaRPr>
          </a:p>
        </p:txBody>
      </p:sp>
      <p:grpSp>
        <p:nvGrpSpPr>
          <p:cNvPr id="84" name="Group 83"/>
          <p:cNvGrpSpPr/>
          <p:nvPr/>
        </p:nvGrpSpPr>
        <p:grpSpPr>
          <a:xfrm>
            <a:off x="2195736" y="338560"/>
            <a:ext cx="5791200" cy="1600200"/>
            <a:chOff x="2209800" y="152400"/>
            <a:chExt cx="5791200" cy="1600200"/>
          </a:xfrm>
        </p:grpSpPr>
        <p:grpSp>
          <p:nvGrpSpPr>
            <p:cNvPr id="64515" name="Group 4"/>
            <p:cNvGrpSpPr>
              <a:grpSpLocks/>
            </p:cNvGrpSpPr>
            <p:nvPr/>
          </p:nvGrpSpPr>
          <p:grpSpPr bwMode="auto">
            <a:xfrm>
              <a:off x="3886200" y="457200"/>
              <a:ext cx="2438400" cy="457200"/>
              <a:chOff x="3591" y="1482"/>
              <a:chExt cx="2109" cy="456"/>
            </a:xfrm>
          </p:grpSpPr>
          <p:sp>
            <p:nvSpPr>
              <p:cNvPr id="64592" name="Rectangle 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93" name="Line 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94" name="Line 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95" name="Line 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16" name="Group 9"/>
            <p:cNvGrpSpPr>
              <a:grpSpLocks/>
            </p:cNvGrpSpPr>
            <p:nvPr/>
          </p:nvGrpSpPr>
          <p:grpSpPr bwMode="auto">
            <a:xfrm>
              <a:off x="2209800" y="1295400"/>
              <a:ext cx="2438400" cy="457200"/>
              <a:chOff x="3591" y="1482"/>
              <a:chExt cx="2109" cy="456"/>
            </a:xfrm>
          </p:grpSpPr>
          <p:sp>
            <p:nvSpPr>
              <p:cNvPr id="64588" name="Rectangle 1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89" name="Line 1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90" name="Line 1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91" name="Line 1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17" name="Group 14"/>
            <p:cNvGrpSpPr>
              <a:grpSpLocks/>
            </p:cNvGrpSpPr>
            <p:nvPr/>
          </p:nvGrpSpPr>
          <p:grpSpPr bwMode="auto">
            <a:xfrm>
              <a:off x="5562600" y="1295400"/>
              <a:ext cx="2438400" cy="457200"/>
              <a:chOff x="3591" y="1482"/>
              <a:chExt cx="2109" cy="456"/>
            </a:xfrm>
          </p:grpSpPr>
          <p:sp>
            <p:nvSpPr>
              <p:cNvPr id="64584" name="Rectangle 1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85" name="Line 1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86" name="Line 1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87" name="Line 1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4524" name="Line 49"/>
            <p:cNvSpPr>
              <a:spLocks noChangeShapeType="1"/>
            </p:cNvSpPr>
            <p:nvPr/>
          </p:nvSpPr>
          <p:spPr bwMode="auto">
            <a:xfrm>
              <a:off x="5080000" y="152400"/>
              <a:ext cx="0" cy="304800"/>
            </a:xfrm>
            <a:prstGeom prst="line">
              <a:avLst/>
            </a:prstGeom>
            <a:noFill/>
            <a:ln w="9525">
              <a:solidFill>
                <a:schemeClr val="tx1"/>
              </a:solidFill>
              <a:round/>
              <a:headEnd/>
              <a:tailEnd type="triangle" w="med" len="med"/>
            </a:ln>
          </p:spPr>
          <p:txBody>
            <a:bodyPr wrap="none" anchor="ctr"/>
            <a:lstStyle/>
            <a:p>
              <a:endParaRPr lang="bg-BG"/>
            </a:p>
          </p:txBody>
        </p:sp>
        <p:sp>
          <p:nvSpPr>
            <p:cNvPr id="64527" name="Line 52"/>
            <p:cNvSpPr>
              <a:spLocks noChangeShapeType="1"/>
            </p:cNvSpPr>
            <p:nvPr/>
          </p:nvSpPr>
          <p:spPr bwMode="auto">
            <a:xfrm flipH="1">
              <a:off x="3419475" y="914400"/>
              <a:ext cx="695325" cy="354013"/>
            </a:xfrm>
            <a:prstGeom prst="line">
              <a:avLst/>
            </a:prstGeom>
            <a:noFill/>
            <a:ln w="9525">
              <a:solidFill>
                <a:schemeClr val="tx1"/>
              </a:solidFill>
              <a:round/>
              <a:headEnd/>
              <a:tailEnd type="triangle" w="med" len="med"/>
            </a:ln>
          </p:spPr>
          <p:txBody>
            <a:bodyPr wrap="none" anchor="ctr"/>
            <a:lstStyle/>
            <a:p>
              <a:endParaRPr lang="bg-BG"/>
            </a:p>
          </p:txBody>
        </p:sp>
        <p:sp>
          <p:nvSpPr>
            <p:cNvPr id="64528" name="Text Box 53"/>
            <p:cNvSpPr txBox="1">
              <a:spLocks noChangeArrowheads="1"/>
            </p:cNvSpPr>
            <p:nvPr/>
          </p:nvSpPr>
          <p:spPr bwMode="auto">
            <a:xfrm>
              <a:off x="3949700" y="4699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64531" name="Text Box 56"/>
            <p:cNvSpPr txBox="1">
              <a:spLocks noChangeArrowheads="1"/>
            </p:cNvSpPr>
            <p:nvPr/>
          </p:nvSpPr>
          <p:spPr bwMode="auto">
            <a:xfrm>
              <a:off x="2247900" y="12954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4535" name="Text Box 60"/>
            <p:cNvSpPr txBox="1">
              <a:spLocks noChangeArrowheads="1"/>
            </p:cNvSpPr>
            <p:nvPr/>
          </p:nvSpPr>
          <p:spPr bwMode="auto">
            <a:xfrm>
              <a:off x="2806700" y="1295400"/>
              <a:ext cx="5334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64539" name="Text Box 65"/>
            <p:cNvSpPr txBox="1">
              <a:spLocks noChangeArrowheads="1"/>
            </p:cNvSpPr>
            <p:nvPr/>
          </p:nvSpPr>
          <p:spPr bwMode="auto">
            <a:xfrm>
              <a:off x="6248400" y="12954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64540" name="Text Box 66"/>
            <p:cNvSpPr txBox="1">
              <a:spLocks noChangeArrowheads="1"/>
            </p:cNvSpPr>
            <p:nvPr/>
          </p:nvSpPr>
          <p:spPr bwMode="auto">
            <a:xfrm>
              <a:off x="5638800" y="1295400"/>
              <a:ext cx="5334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64542" name="Text Box 68"/>
            <p:cNvSpPr txBox="1">
              <a:spLocks noChangeArrowheads="1"/>
            </p:cNvSpPr>
            <p:nvPr/>
          </p:nvSpPr>
          <p:spPr bwMode="auto">
            <a:xfrm>
              <a:off x="6845300" y="12954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4543" name="Line 69"/>
            <p:cNvSpPr>
              <a:spLocks noChangeShapeType="1"/>
            </p:cNvSpPr>
            <p:nvPr/>
          </p:nvSpPr>
          <p:spPr bwMode="auto">
            <a:xfrm>
              <a:off x="4267200" y="914400"/>
              <a:ext cx="1384300" cy="427038"/>
            </a:xfrm>
            <a:prstGeom prst="line">
              <a:avLst/>
            </a:prstGeom>
            <a:noFill/>
            <a:ln w="9525">
              <a:solidFill>
                <a:schemeClr val="tx1"/>
              </a:solidFill>
              <a:round/>
              <a:headEnd/>
              <a:tailEnd type="triangle" w="med" len="med"/>
            </a:ln>
          </p:spPr>
          <p:txBody>
            <a:bodyPr wrap="none" anchor="ctr"/>
            <a:lstStyle/>
            <a:p>
              <a:endParaRPr lang="bg-BG"/>
            </a:p>
          </p:txBody>
        </p:sp>
      </p:grpSp>
      <p:grpSp>
        <p:nvGrpSpPr>
          <p:cNvPr id="85" name="Group 84"/>
          <p:cNvGrpSpPr/>
          <p:nvPr/>
        </p:nvGrpSpPr>
        <p:grpSpPr>
          <a:xfrm>
            <a:off x="2267744" y="2204864"/>
            <a:ext cx="5562600" cy="1676400"/>
            <a:chOff x="2286000" y="2362200"/>
            <a:chExt cx="5562600" cy="1676400"/>
          </a:xfrm>
        </p:grpSpPr>
        <p:grpSp>
          <p:nvGrpSpPr>
            <p:cNvPr id="64518" name="Group 19"/>
            <p:cNvGrpSpPr>
              <a:grpSpLocks/>
            </p:cNvGrpSpPr>
            <p:nvPr/>
          </p:nvGrpSpPr>
          <p:grpSpPr bwMode="auto">
            <a:xfrm>
              <a:off x="3886200" y="2667000"/>
              <a:ext cx="2438400" cy="457200"/>
              <a:chOff x="3591" y="1482"/>
              <a:chExt cx="2109" cy="456"/>
            </a:xfrm>
          </p:grpSpPr>
          <p:sp>
            <p:nvSpPr>
              <p:cNvPr id="64580" name="Rectangle 2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81" name="Line 2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82" name="Line 2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83" name="Line 2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19" name="Group 24"/>
            <p:cNvGrpSpPr>
              <a:grpSpLocks/>
            </p:cNvGrpSpPr>
            <p:nvPr/>
          </p:nvGrpSpPr>
          <p:grpSpPr bwMode="auto">
            <a:xfrm>
              <a:off x="2286000" y="3581400"/>
              <a:ext cx="2438400" cy="457200"/>
              <a:chOff x="3591" y="1482"/>
              <a:chExt cx="2109" cy="456"/>
            </a:xfrm>
          </p:grpSpPr>
          <p:sp>
            <p:nvSpPr>
              <p:cNvPr id="64576" name="Rectangle 2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77" name="Line 2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78" name="Line 2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79" name="Line 2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20" name="Group 29"/>
            <p:cNvGrpSpPr>
              <a:grpSpLocks/>
            </p:cNvGrpSpPr>
            <p:nvPr/>
          </p:nvGrpSpPr>
          <p:grpSpPr bwMode="auto">
            <a:xfrm>
              <a:off x="5410200" y="3581400"/>
              <a:ext cx="2438400" cy="457200"/>
              <a:chOff x="3591" y="1482"/>
              <a:chExt cx="2109" cy="456"/>
            </a:xfrm>
          </p:grpSpPr>
          <p:sp>
            <p:nvSpPr>
              <p:cNvPr id="64572" name="Rectangle 3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73" name="Line 3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74" name="Line 3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75" name="Line 3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4526" name="Line 51"/>
            <p:cNvSpPr>
              <a:spLocks noChangeShapeType="1"/>
            </p:cNvSpPr>
            <p:nvPr/>
          </p:nvSpPr>
          <p:spPr bwMode="auto">
            <a:xfrm>
              <a:off x="5080000" y="2362200"/>
              <a:ext cx="0" cy="304800"/>
            </a:xfrm>
            <a:prstGeom prst="line">
              <a:avLst/>
            </a:prstGeom>
            <a:noFill/>
            <a:ln w="9525">
              <a:solidFill>
                <a:schemeClr val="tx1"/>
              </a:solidFill>
              <a:round/>
              <a:headEnd/>
              <a:tailEnd type="triangle" w="med" len="med"/>
            </a:ln>
          </p:spPr>
          <p:txBody>
            <a:bodyPr wrap="none" anchor="ctr"/>
            <a:lstStyle/>
            <a:p>
              <a:endParaRPr lang="bg-BG"/>
            </a:p>
          </p:txBody>
        </p:sp>
        <p:sp>
          <p:nvSpPr>
            <p:cNvPr id="64529" name="Text Box 54"/>
            <p:cNvSpPr txBox="1">
              <a:spLocks noChangeArrowheads="1"/>
            </p:cNvSpPr>
            <p:nvPr/>
          </p:nvSpPr>
          <p:spPr bwMode="auto">
            <a:xfrm>
              <a:off x="3911600" y="26670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64532" name="Text Box 57"/>
            <p:cNvSpPr txBox="1">
              <a:spLocks noChangeArrowheads="1"/>
            </p:cNvSpPr>
            <p:nvPr/>
          </p:nvSpPr>
          <p:spPr bwMode="auto">
            <a:xfrm>
              <a:off x="2362200" y="35814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4534" name="Text Box 59"/>
            <p:cNvSpPr txBox="1">
              <a:spLocks noChangeArrowheads="1"/>
            </p:cNvSpPr>
            <p:nvPr/>
          </p:nvSpPr>
          <p:spPr bwMode="auto">
            <a:xfrm>
              <a:off x="2895600" y="3568700"/>
              <a:ext cx="5334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64537" name="Text Box 63"/>
            <p:cNvSpPr txBox="1">
              <a:spLocks noChangeArrowheads="1"/>
            </p:cNvSpPr>
            <p:nvPr/>
          </p:nvSpPr>
          <p:spPr bwMode="auto">
            <a:xfrm>
              <a:off x="6045200" y="35814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sp>
          <p:nvSpPr>
            <p:cNvPr id="64541" name="Text Box 67"/>
            <p:cNvSpPr txBox="1">
              <a:spLocks noChangeArrowheads="1"/>
            </p:cNvSpPr>
            <p:nvPr/>
          </p:nvSpPr>
          <p:spPr bwMode="auto">
            <a:xfrm>
              <a:off x="5410200" y="3581400"/>
              <a:ext cx="5334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64544" name="Text Box 70"/>
            <p:cNvSpPr txBox="1">
              <a:spLocks noChangeArrowheads="1"/>
            </p:cNvSpPr>
            <p:nvPr/>
          </p:nvSpPr>
          <p:spPr bwMode="auto">
            <a:xfrm>
              <a:off x="6705600" y="3581400"/>
              <a:ext cx="533400" cy="457200"/>
            </a:xfrm>
            <a:prstGeom prst="rect">
              <a:avLst/>
            </a:prstGeom>
            <a:noFill/>
            <a:ln w="9525">
              <a:noFill/>
              <a:miter lim="800000"/>
              <a:headEnd/>
              <a:tailEnd/>
            </a:ln>
          </p:spPr>
          <p:txBody>
            <a:bodyPr>
              <a:spAutoFit/>
            </a:bodyPr>
            <a:lstStyle/>
            <a:p>
              <a:pPr>
                <a:spcBef>
                  <a:spcPct val="50000"/>
                </a:spcBef>
              </a:pPr>
              <a:r>
                <a:rPr lang="bg-BG"/>
                <a:t>70</a:t>
              </a:r>
              <a:endParaRPr lang="en-US"/>
            </a:p>
          </p:txBody>
        </p:sp>
        <p:sp>
          <p:nvSpPr>
            <p:cNvPr id="64545" name="Text Box 71"/>
            <p:cNvSpPr txBox="1">
              <a:spLocks noChangeArrowheads="1"/>
            </p:cNvSpPr>
            <p:nvPr/>
          </p:nvSpPr>
          <p:spPr bwMode="auto">
            <a:xfrm>
              <a:off x="7302500" y="3581400"/>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4546" name="Line 72"/>
            <p:cNvSpPr>
              <a:spLocks noChangeShapeType="1"/>
            </p:cNvSpPr>
            <p:nvPr/>
          </p:nvSpPr>
          <p:spPr bwMode="auto">
            <a:xfrm flipH="1">
              <a:off x="3492500" y="3124200"/>
              <a:ext cx="622300" cy="449263"/>
            </a:xfrm>
            <a:prstGeom prst="line">
              <a:avLst/>
            </a:prstGeom>
            <a:noFill/>
            <a:ln w="9525">
              <a:solidFill>
                <a:schemeClr val="tx1"/>
              </a:solidFill>
              <a:round/>
              <a:headEnd/>
              <a:tailEnd type="triangle" w="med" len="med"/>
            </a:ln>
          </p:spPr>
          <p:txBody>
            <a:bodyPr wrap="none" anchor="ctr"/>
            <a:lstStyle/>
            <a:p>
              <a:endParaRPr lang="bg-BG"/>
            </a:p>
          </p:txBody>
        </p:sp>
        <p:sp>
          <p:nvSpPr>
            <p:cNvPr id="64547" name="Line 73"/>
            <p:cNvSpPr>
              <a:spLocks noChangeShapeType="1"/>
            </p:cNvSpPr>
            <p:nvPr/>
          </p:nvSpPr>
          <p:spPr bwMode="auto">
            <a:xfrm>
              <a:off x="4267200" y="3124200"/>
              <a:ext cx="1168400" cy="449263"/>
            </a:xfrm>
            <a:prstGeom prst="line">
              <a:avLst/>
            </a:prstGeom>
            <a:noFill/>
            <a:ln w="9525">
              <a:solidFill>
                <a:schemeClr val="tx1"/>
              </a:solidFill>
              <a:round/>
              <a:headEnd/>
              <a:tailEnd type="triangle" w="med" len="med"/>
            </a:ln>
          </p:spPr>
          <p:txBody>
            <a:bodyPr wrap="none" anchor="ctr"/>
            <a:lstStyle/>
            <a:p>
              <a:endParaRPr lang="bg-BG"/>
            </a:p>
          </p:txBody>
        </p:sp>
      </p:grpSp>
      <p:grpSp>
        <p:nvGrpSpPr>
          <p:cNvPr id="86" name="Group 85"/>
          <p:cNvGrpSpPr/>
          <p:nvPr/>
        </p:nvGrpSpPr>
        <p:grpSpPr>
          <a:xfrm>
            <a:off x="1259632" y="4428358"/>
            <a:ext cx="7731968" cy="1716088"/>
            <a:chOff x="914400" y="4330700"/>
            <a:chExt cx="8077200" cy="1716088"/>
          </a:xfrm>
        </p:grpSpPr>
        <p:grpSp>
          <p:nvGrpSpPr>
            <p:cNvPr id="64521" name="Group 34"/>
            <p:cNvGrpSpPr>
              <a:grpSpLocks/>
            </p:cNvGrpSpPr>
            <p:nvPr/>
          </p:nvGrpSpPr>
          <p:grpSpPr bwMode="auto">
            <a:xfrm>
              <a:off x="3860800" y="4648200"/>
              <a:ext cx="2438400" cy="457200"/>
              <a:chOff x="3591" y="1482"/>
              <a:chExt cx="2109" cy="456"/>
            </a:xfrm>
          </p:grpSpPr>
          <p:sp>
            <p:nvSpPr>
              <p:cNvPr id="64568" name="Rectangle 3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69" name="Line 3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70" name="Line 3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71" name="Line 3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22" name="Group 39"/>
            <p:cNvGrpSpPr>
              <a:grpSpLocks/>
            </p:cNvGrpSpPr>
            <p:nvPr/>
          </p:nvGrpSpPr>
          <p:grpSpPr bwMode="auto">
            <a:xfrm>
              <a:off x="914400" y="5562600"/>
              <a:ext cx="2438400" cy="457200"/>
              <a:chOff x="3591" y="1482"/>
              <a:chExt cx="2109" cy="456"/>
            </a:xfrm>
          </p:grpSpPr>
          <p:sp>
            <p:nvSpPr>
              <p:cNvPr id="64564" name="Rectangle 4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65" name="Line 4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66" name="Line 4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67" name="Line 4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4523" name="Group 44"/>
            <p:cNvGrpSpPr>
              <a:grpSpLocks/>
            </p:cNvGrpSpPr>
            <p:nvPr/>
          </p:nvGrpSpPr>
          <p:grpSpPr bwMode="auto">
            <a:xfrm>
              <a:off x="6553200" y="5562600"/>
              <a:ext cx="2438400" cy="457200"/>
              <a:chOff x="3591" y="1482"/>
              <a:chExt cx="2109" cy="456"/>
            </a:xfrm>
          </p:grpSpPr>
          <p:sp>
            <p:nvSpPr>
              <p:cNvPr id="64560" name="Rectangle 4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61" name="Line 4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62" name="Line 4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63" name="Line 4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4525" name="Line 50"/>
            <p:cNvSpPr>
              <a:spLocks noChangeShapeType="1"/>
            </p:cNvSpPr>
            <p:nvPr/>
          </p:nvSpPr>
          <p:spPr bwMode="auto">
            <a:xfrm>
              <a:off x="5067300" y="4330700"/>
              <a:ext cx="0" cy="304800"/>
            </a:xfrm>
            <a:prstGeom prst="line">
              <a:avLst/>
            </a:prstGeom>
            <a:noFill/>
            <a:ln w="9525">
              <a:solidFill>
                <a:schemeClr val="tx1"/>
              </a:solidFill>
              <a:round/>
              <a:headEnd/>
              <a:tailEnd type="triangle" w="med" len="med"/>
            </a:ln>
          </p:spPr>
          <p:txBody>
            <a:bodyPr wrap="none" anchor="ctr"/>
            <a:lstStyle/>
            <a:p>
              <a:endParaRPr lang="bg-BG"/>
            </a:p>
          </p:txBody>
        </p:sp>
        <p:sp>
          <p:nvSpPr>
            <p:cNvPr id="64530" name="Text Box 55"/>
            <p:cNvSpPr txBox="1">
              <a:spLocks noChangeArrowheads="1"/>
            </p:cNvSpPr>
            <p:nvPr/>
          </p:nvSpPr>
          <p:spPr bwMode="auto">
            <a:xfrm>
              <a:off x="3886200" y="4648200"/>
              <a:ext cx="533400" cy="457200"/>
            </a:xfrm>
            <a:prstGeom prst="rect">
              <a:avLst/>
            </a:prstGeom>
            <a:noFill/>
            <a:ln w="9525">
              <a:noFill/>
              <a:miter lim="800000"/>
              <a:headEnd/>
              <a:tailEnd/>
            </a:ln>
          </p:spPr>
          <p:txBody>
            <a:bodyPr>
              <a:spAutoFit/>
            </a:bodyPr>
            <a:lstStyle/>
            <a:p>
              <a:pPr>
                <a:spcBef>
                  <a:spcPct val="50000"/>
                </a:spcBef>
              </a:pPr>
              <a:r>
                <a:rPr lang="bg-BG"/>
                <a:t>20</a:t>
              </a:r>
              <a:endParaRPr lang="en-US"/>
            </a:p>
          </p:txBody>
        </p:sp>
        <p:sp>
          <p:nvSpPr>
            <p:cNvPr id="64533" name="Text Box 58"/>
            <p:cNvSpPr txBox="1">
              <a:spLocks noChangeArrowheads="1"/>
            </p:cNvSpPr>
            <p:nvPr/>
          </p:nvSpPr>
          <p:spPr bwMode="auto">
            <a:xfrm>
              <a:off x="965200" y="5562600"/>
              <a:ext cx="533400" cy="457200"/>
            </a:xfrm>
            <a:prstGeom prst="rect">
              <a:avLst/>
            </a:prstGeom>
            <a:noFill/>
            <a:ln w="9525">
              <a:noFill/>
              <a:miter lim="800000"/>
              <a:headEnd/>
              <a:tailEnd/>
            </a:ln>
          </p:spPr>
          <p:txBody>
            <a:bodyPr>
              <a:spAutoFit/>
            </a:bodyPr>
            <a:lstStyle/>
            <a:p>
              <a:pPr>
                <a:spcBef>
                  <a:spcPct val="50000"/>
                </a:spcBef>
              </a:pPr>
              <a:r>
                <a:rPr lang="bg-BG"/>
                <a:t>10</a:t>
              </a:r>
              <a:endParaRPr lang="en-US"/>
            </a:p>
          </p:txBody>
        </p:sp>
        <p:sp>
          <p:nvSpPr>
            <p:cNvPr id="64536" name="Text Box 61"/>
            <p:cNvSpPr txBox="1">
              <a:spLocks noChangeArrowheads="1"/>
            </p:cNvSpPr>
            <p:nvPr/>
          </p:nvSpPr>
          <p:spPr bwMode="auto">
            <a:xfrm>
              <a:off x="1549400" y="5562600"/>
              <a:ext cx="533400" cy="457200"/>
            </a:xfrm>
            <a:prstGeom prst="rect">
              <a:avLst/>
            </a:prstGeom>
            <a:noFill/>
            <a:ln w="9525">
              <a:noFill/>
              <a:miter lim="800000"/>
              <a:headEnd/>
              <a:tailEnd/>
            </a:ln>
          </p:spPr>
          <p:txBody>
            <a:bodyPr>
              <a:spAutoFit/>
            </a:bodyPr>
            <a:lstStyle/>
            <a:p>
              <a:pPr>
                <a:spcBef>
                  <a:spcPct val="50000"/>
                </a:spcBef>
              </a:pPr>
              <a:r>
                <a:rPr lang="bg-BG"/>
                <a:t>15</a:t>
              </a:r>
              <a:endParaRPr lang="en-US"/>
            </a:p>
          </p:txBody>
        </p:sp>
        <p:sp>
          <p:nvSpPr>
            <p:cNvPr id="64538" name="Text Box 64"/>
            <p:cNvSpPr txBox="1">
              <a:spLocks noChangeArrowheads="1"/>
            </p:cNvSpPr>
            <p:nvPr/>
          </p:nvSpPr>
          <p:spPr bwMode="auto">
            <a:xfrm>
              <a:off x="4495800" y="4648200"/>
              <a:ext cx="533400" cy="457200"/>
            </a:xfrm>
            <a:prstGeom prst="rect">
              <a:avLst/>
            </a:prstGeom>
            <a:noFill/>
            <a:ln w="9525">
              <a:noFill/>
              <a:miter lim="800000"/>
              <a:headEnd/>
              <a:tailEnd/>
            </a:ln>
          </p:spPr>
          <p:txBody>
            <a:bodyPr>
              <a:spAutoFit/>
            </a:bodyPr>
            <a:lstStyle/>
            <a:p>
              <a:pPr>
                <a:spcBef>
                  <a:spcPct val="50000"/>
                </a:spcBef>
              </a:pPr>
              <a:r>
                <a:rPr lang="bg-BG"/>
                <a:t>60</a:t>
              </a:r>
              <a:endParaRPr lang="en-US"/>
            </a:p>
          </p:txBody>
        </p:sp>
        <p:grpSp>
          <p:nvGrpSpPr>
            <p:cNvPr id="64548" name="Group 74"/>
            <p:cNvGrpSpPr>
              <a:grpSpLocks/>
            </p:cNvGrpSpPr>
            <p:nvPr/>
          </p:nvGrpSpPr>
          <p:grpSpPr bwMode="auto">
            <a:xfrm>
              <a:off x="3810000" y="5575300"/>
              <a:ext cx="2438400" cy="457200"/>
              <a:chOff x="3591" y="1482"/>
              <a:chExt cx="2109" cy="456"/>
            </a:xfrm>
          </p:grpSpPr>
          <p:sp>
            <p:nvSpPr>
              <p:cNvPr id="64556" name="Rectangle 7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4557" name="Line 7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4558" name="Line 7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4559" name="Line 7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4549" name="Line 79"/>
            <p:cNvSpPr>
              <a:spLocks noChangeShapeType="1"/>
            </p:cNvSpPr>
            <p:nvPr/>
          </p:nvSpPr>
          <p:spPr bwMode="auto">
            <a:xfrm flipH="1">
              <a:off x="2051050" y="5084763"/>
              <a:ext cx="1800225" cy="457200"/>
            </a:xfrm>
            <a:prstGeom prst="line">
              <a:avLst/>
            </a:prstGeom>
            <a:noFill/>
            <a:ln w="9525">
              <a:solidFill>
                <a:schemeClr val="tx1"/>
              </a:solidFill>
              <a:round/>
              <a:headEnd/>
              <a:tailEnd type="triangle" w="med" len="med"/>
            </a:ln>
          </p:spPr>
          <p:txBody>
            <a:bodyPr wrap="none" anchor="ctr"/>
            <a:lstStyle/>
            <a:p>
              <a:endParaRPr lang="bg-BG"/>
            </a:p>
          </p:txBody>
        </p:sp>
        <p:sp>
          <p:nvSpPr>
            <p:cNvPr id="64550" name="Line 81"/>
            <p:cNvSpPr>
              <a:spLocks noChangeShapeType="1"/>
            </p:cNvSpPr>
            <p:nvPr/>
          </p:nvSpPr>
          <p:spPr bwMode="auto">
            <a:xfrm flipH="1">
              <a:off x="3851275" y="5084763"/>
              <a:ext cx="576263" cy="484187"/>
            </a:xfrm>
            <a:prstGeom prst="line">
              <a:avLst/>
            </a:prstGeom>
            <a:noFill/>
            <a:ln w="9525">
              <a:solidFill>
                <a:schemeClr val="tx1"/>
              </a:solidFill>
              <a:round/>
              <a:headEnd/>
              <a:tailEnd type="triangle" w="med" len="med"/>
            </a:ln>
          </p:spPr>
          <p:txBody>
            <a:bodyPr wrap="none" anchor="ctr"/>
            <a:lstStyle/>
            <a:p>
              <a:endParaRPr lang="bg-BG"/>
            </a:p>
          </p:txBody>
        </p:sp>
        <p:sp>
          <p:nvSpPr>
            <p:cNvPr id="64551" name="Line 83"/>
            <p:cNvSpPr>
              <a:spLocks noChangeShapeType="1"/>
            </p:cNvSpPr>
            <p:nvPr/>
          </p:nvSpPr>
          <p:spPr bwMode="auto">
            <a:xfrm>
              <a:off x="5029200" y="5105400"/>
              <a:ext cx="1558925" cy="484188"/>
            </a:xfrm>
            <a:prstGeom prst="line">
              <a:avLst/>
            </a:prstGeom>
            <a:noFill/>
            <a:ln w="9525">
              <a:solidFill>
                <a:schemeClr val="tx1"/>
              </a:solidFill>
              <a:round/>
              <a:headEnd/>
              <a:tailEnd type="triangle" w="med" len="med"/>
            </a:ln>
          </p:spPr>
          <p:txBody>
            <a:bodyPr wrap="none" anchor="ctr"/>
            <a:lstStyle/>
            <a:p>
              <a:endParaRPr lang="bg-BG"/>
            </a:p>
          </p:txBody>
        </p:sp>
        <p:sp>
          <p:nvSpPr>
            <p:cNvPr id="64552" name="Text Box 84"/>
            <p:cNvSpPr txBox="1">
              <a:spLocks noChangeArrowheads="1"/>
            </p:cNvSpPr>
            <p:nvPr/>
          </p:nvSpPr>
          <p:spPr bwMode="auto">
            <a:xfrm>
              <a:off x="4457700" y="5588000"/>
              <a:ext cx="533400" cy="457200"/>
            </a:xfrm>
            <a:prstGeom prst="rect">
              <a:avLst/>
            </a:prstGeom>
            <a:noFill/>
            <a:ln w="9525">
              <a:noFill/>
              <a:miter lim="800000"/>
              <a:headEnd/>
              <a:tailEnd/>
            </a:ln>
          </p:spPr>
          <p:txBody>
            <a:bodyPr>
              <a:spAutoFit/>
            </a:bodyPr>
            <a:lstStyle/>
            <a:p>
              <a:pPr>
                <a:spcBef>
                  <a:spcPct val="50000"/>
                </a:spcBef>
              </a:pPr>
              <a:r>
                <a:rPr lang="bg-BG"/>
                <a:t>30</a:t>
              </a:r>
              <a:endParaRPr lang="en-US"/>
            </a:p>
          </p:txBody>
        </p:sp>
        <p:sp>
          <p:nvSpPr>
            <p:cNvPr id="64553" name="Text Box 85"/>
            <p:cNvSpPr txBox="1">
              <a:spLocks noChangeArrowheads="1"/>
            </p:cNvSpPr>
            <p:nvPr/>
          </p:nvSpPr>
          <p:spPr bwMode="auto">
            <a:xfrm>
              <a:off x="3860800" y="5575300"/>
              <a:ext cx="533400" cy="457200"/>
            </a:xfrm>
            <a:prstGeom prst="rect">
              <a:avLst/>
            </a:prstGeom>
            <a:noFill/>
            <a:ln w="9525">
              <a:noFill/>
              <a:miter lim="800000"/>
              <a:headEnd/>
              <a:tailEnd/>
            </a:ln>
          </p:spPr>
          <p:txBody>
            <a:bodyPr>
              <a:spAutoFit/>
            </a:bodyPr>
            <a:lstStyle/>
            <a:p>
              <a:pPr>
                <a:spcBef>
                  <a:spcPct val="50000"/>
                </a:spcBef>
              </a:pPr>
              <a:r>
                <a:rPr lang="bg-BG"/>
                <a:t>22</a:t>
              </a:r>
              <a:endParaRPr lang="en-US"/>
            </a:p>
          </p:txBody>
        </p:sp>
        <p:sp>
          <p:nvSpPr>
            <p:cNvPr id="64554" name="Text Box 86"/>
            <p:cNvSpPr txBox="1">
              <a:spLocks noChangeArrowheads="1"/>
            </p:cNvSpPr>
            <p:nvPr/>
          </p:nvSpPr>
          <p:spPr bwMode="auto">
            <a:xfrm>
              <a:off x="7235825" y="5589588"/>
              <a:ext cx="533400" cy="457200"/>
            </a:xfrm>
            <a:prstGeom prst="rect">
              <a:avLst/>
            </a:prstGeom>
            <a:noFill/>
            <a:ln w="9525">
              <a:noFill/>
              <a:miter lim="800000"/>
              <a:headEnd/>
              <a:tailEnd/>
            </a:ln>
          </p:spPr>
          <p:txBody>
            <a:bodyPr>
              <a:spAutoFit/>
            </a:bodyPr>
            <a:lstStyle/>
            <a:p>
              <a:pPr>
                <a:spcBef>
                  <a:spcPct val="50000"/>
                </a:spcBef>
              </a:pPr>
              <a:r>
                <a:rPr lang="bg-BG"/>
                <a:t>80</a:t>
              </a:r>
              <a:endParaRPr lang="en-US"/>
            </a:p>
          </p:txBody>
        </p:sp>
        <p:sp>
          <p:nvSpPr>
            <p:cNvPr id="64555" name="Text Box 87"/>
            <p:cNvSpPr txBox="1">
              <a:spLocks noChangeArrowheads="1"/>
            </p:cNvSpPr>
            <p:nvPr/>
          </p:nvSpPr>
          <p:spPr bwMode="auto">
            <a:xfrm>
              <a:off x="6616700" y="5562600"/>
              <a:ext cx="533400" cy="457200"/>
            </a:xfrm>
            <a:prstGeom prst="rect">
              <a:avLst/>
            </a:prstGeom>
            <a:noFill/>
            <a:ln w="9525">
              <a:noFill/>
              <a:miter lim="800000"/>
              <a:headEnd/>
              <a:tailEnd/>
            </a:ln>
          </p:spPr>
          <p:txBody>
            <a:bodyPr>
              <a:spAutoFit/>
            </a:bodyPr>
            <a:lstStyle/>
            <a:p>
              <a:pPr>
                <a:spcBef>
                  <a:spcPct val="50000"/>
                </a:spcBef>
              </a:pPr>
              <a:r>
                <a:rPr lang="bg-BG"/>
                <a:t>70</a:t>
              </a:r>
              <a:endParaRPr lang="en-US"/>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1115616" y="260648"/>
            <a:ext cx="7727776" cy="5388496"/>
          </a:xfrm>
        </p:spPr>
        <p:txBody>
          <a:bodyPr/>
          <a:lstStyle/>
          <a:p>
            <a:pPr eaLnBrk="1" fontAlgn="auto" hangingPunct="1">
              <a:spcAft>
                <a:spcPts val="0"/>
              </a:spcAft>
              <a:defRPr/>
            </a:pPr>
            <a:r>
              <a:rPr lang="bg-BG" sz="2200">
                <a:solidFill>
                  <a:schemeClr val="tx1"/>
                </a:solidFill>
              </a:rPr>
              <a:t>Последователно</a:t>
            </a:r>
            <a:br>
              <a:rPr lang="bg-BG" sz="2200">
                <a:solidFill>
                  <a:schemeClr val="tx1"/>
                </a:solidFill>
              </a:rPr>
            </a:br>
            <a:r>
              <a:rPr lang="bg-BG" sz="2200">
                <a:solidFill>
                  <a:schemeClr val="tx1"/>
                </a:solidFill>
              </a:rPr>
              <a:t>добавяме </a:t>
            </a:r>
            <a:r>
              <a:rPr lang="en-US" sz="2200" smtClean="0">
                <a:solidFill>
                  <a:schemeClr val="tx1"/>
                </a:solidFill>
              </a:rPr>
              <a:t>12</a:t>
            </a:r>
            <a:r>
              <a:rPr lang="bg-BG" sz="2200" smtClean="0">
                <a:solidFill>
                  <a:schemeClr val="tx1"/>
                </a:solidFill>
              </a:rPr>
              <a:t> </a:t>
            </a:r>
            <a:r>
              <a:rPr lang="bg-BG" sz="2200">
                <a:solidFill>
                  <a:schemeClr val="tx1"/>
                </a:solidFill>
              </a:rPr>
              <a:t>и </a:t>
            </a:r>
            <a:r>
              <a:rPr lang="en-US" sz="2200" smtClean="0">
                <a:solidFill>
                  <a:schemeClr val="tx1"/>
                </a:solidFill>
              </a:rPr>
              <a:t>18</a:t>
            </a:r>
            <a:r>
              <a:rPr lang="bg-BG" sz="2200" smtClean="0">
                <a:solidFill>
                  <a:schemeClr val="tx1"/>
                </a:solidFill>
              </a:rPr>
              <a:t>:</a:t>
            </a:r>
            <a:r>
              <a:rPr lang="bg-BG" sz="2400">
                <a:solidFill>
                  <a:schemeClr val="tx1"/>
                </a:solidFill>
              </a:rPr>
              <a:t/>
            </a:r>
            <a:br>
              <a:rPr lang="bg-BG" sz="24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en-US" sz="2200" smtClean="0">
                <a:solidFill>
                  <a:schemeClr val="tx1"/>
                </a:solidFill>
              </a:rPr>
              <a:t/>
            </a:r>
            <a:br>
              <a:rPr lang="en-US" sz="2200" smtClean="0">
                <a:solidFill>
                  <a:schemeClr val="tx1"/>
                </a:solidFill>
              </a:rPr>
            </a:br>
            <a:r>
              <a:rPr lang="bg-BG" sz="2200" smtClean="0">
                <a:solidFill>
                  <a:schemeClr val="tx1"/>
                </a:solidFill>
              </a:rPr>
              <a:t>Добавяме </a:t>
            </a:r>
            <a:r>
              <a:rPr lang="en-US" sz="2200" smtClean="0">
                <a:solidFill>
                  <a:schemeClr val="tx1"/>
                </a:solidFill>
              </a:rPr>
              <a:t>19</a:t>
            </a:r>
            <a:r>
              <a:rPr lang="bg-BG" sz="2200" smtClean="0">
                <a:solidFill>
                  <a:schemeClr val="tx1"/>
                </a:solidFill>
              </a:rPr>
              <a:t>:</a:t>
            </a:r>
            <a:r>
              <a:rPr lang="bg-BG" sz="2200">
                <a:solidFill>
                  <a:schemeClr val="tx1"/>
                </a:solidFill>
              </a:rPr>
              <a:t/>
            </a:r>
            <a:br>
              <a:rPr lang="bg-BG" sz="2200">
                <a:solidFill>
                  <a:schemeClr val="tx1"/>
                </a:solidFill>
              </a:rPr>
            </a:br>
            <a:r>
              <a:rPr lang="bg-BG" sz="2200" smtClean="0">
                <a:solidFill>
                  <a:schemeClr val="tx1"/>
                </a:solidFill>
              </a:rPr>
              <a:t>(</a:t>
            </a:r>
            <a:r>
              <a:rPr lang="en-US" sz="2200" smtClean="0">
                <a:solidFill>
                  <a:schemeClr val="tx1"/>
                </a:solidFill>
              </a:rPr>
              <a:t>10</a:t>
            </a:r>
            <a:r>
              <a:rPr lang="bg-BG" sz="2200" smtClean="0">
                <a:solidFill>
                  <a:schemeClr val="tx1"/>
                </a:solidFill>
              </a:rPr>
              <a:t> </a:t>
            </a:r>
            <a:r>
              <a:rPr lang="en-US" sz="2200" smtClean="0">
                <a:solidFill>
                  <a:schemeClr val="tx1"/>
                </a:solidFill>
              </a:rPr>
              <a:t>12</a:t>
            </a:r>
            <a:r>
              <a:rPr lang="bg-BG" sz="2200" smtClean="0">
                <a:solidFill>
                  <a:schemeClr val="tx1"/>
                </a:solidFill>
              </a:rPr>
              <a:t> </a:t>
            </a:r>
            <a:r>
              <a:rPr lang="en-US" sz="2200" u="sng" smtClean="0">
                <a:solidFill>
                  <a:srgbClr val="FF0000"/>
                </a:solidFill>
              </a:rPr>
              <a:t>15</a:t>
            </a:r>
            <a:r>
              <a:rPr lang="bg-BG" sz="2200" smtClean="0">
                <a:solidFill>
                  <a:srgbClr val="FF0000"/>
                </a:solidFill>
              </a:rPr>
              <a:t> </a:t>
            </a:r>
            <a:r>
              <a:rPr lang="en-US" sz="2200" smtClean="0">
                <a:solidFill>
                  <a:schemeClr val="tx1"/>
                </a:solidFill>
              </a:rPr>
              <a:t>18</a:t>
            </a:r>
            <a:r>
              <a:rPr lang="bg-BG" sz="2200" smtClean="0">
                <a:solidFill>
                  <a:schemeClr val="tx1"/>
                </a:solidFill>
              </a:rPr>
              <a:t> </a:t>
            </a:r>
            <a:r>
              <a:rPr lang="en-US" sz="2200" smtClean="0">
                <a:solidFill>
                  <a:schemeClr val="tx1"/>
                </a:solidFill>
              </a:rPr>
              <a:t>19</a:t>
            </a:r>
            <a:r>
              <a:rPr lang="bg-BG" sz="2200" smtClean="0">
                <a:solidFill>
                  <a:schemeClr val="tx1"/>
                </a:solidFill>
              </a:rPr>
              <a:t>)</a:t>
            </a: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Добавяме </a:t>
            </a:r>
            <a:r>
              <a:rPr lang="en-US" sz="2200" smtClean="0">
                <a:solidFill>
                  <a:schemeClr val="tx1"/>
                </a:solidFill>
              </a:rPr>
              <a:t>4</a:t>
            </a:r>
            <a:r>
              <a:rPr lang="bg-BG" sz="2200" smtClean="0">
                <a:solidFill>
                  <a:schemeClr val="tx1"/>
                </a:solidFill>
              </a:rPr>
              <a:t> </a:t>
            </a:r>
            <a:r>
              <a:rPr lang="bg-BG" sz="2200">
                <a:solidFill>
                  <a:schemeClr val="tx1"/>
                </a:solidFill>
              </a:rPr>
              <a:t>и </a:t>
            </a:r>
            <a:r>
              <a:rPr lang="en-US" sz="2200" smtClean="0">
                <a:solidFill>
                  <a:schemeClr val="tx1"/>
                </a:solidFill>
              </a:rPr>
              <a:t>5</a:t>
            </a:r>
            <a:r>
              <a:rPr lang="bg-BG" sz="2200" smtClean="0">
                <a:solidFill>
                  <a:schemeClr val="tx1"/>
                </a:solidFill>
              </a:rPr>
              <a:t>: </a:t>
            </a:r>
            <a:r>
              <a:rPr lang="bg-BG" sz="2200">
                <a:solidFill>
                  <a:schemeClr val="tx1"/>
                </a:solidFill>
              </a:rPr>
              <a:t/>
            </a:r>
            <a:br>
              <a:rPr lang="bg-BG" sz="2200">
                <a:solidFill>
                  <a:schemeClr val="tx1"/>
                </a:solidFill>
              </a:rPr>
            </a:br>
            <a:endParaRPr lang="en-US" sz="2200">
              <a:solidFill>
                <a:schemeClr val="tx1"/>
              </a:solidFill>
            </a:endParaRPr>
          </a:p>
        </p:txBody>
      </p:sp>
      <p:grpSp>
        <p:nvGrpSpPr>
          <p:cNvPr id="125" name="Group 124"/>
          <p:cNvGrpSpPr/>
          <p:nvPr/>
        </p:nvGrpSpPr>
        <p:grpSpPr>
          <a:xfrm>
            <a:off x="2771800" y="692696"/>
            <a:ext cx="5308600" cy="1336675"/>
            <a:chOff x="2184400" y="152400"/>
            <a:chExt cx="5308600" cy="1336675"/>
          </a:xfrm>
        </p:grpSpPr>
        <p:grpSp>
          <p:nvGrpSpPr>
            <p:cNvPr id="65538" name="Group 130"/>
            <p:cNvGrpSpPr>
              <a:grpSpLocks/>
            </p:cNvGrpSpPr>
            <p:nvPr/>
          </p:nvGrpSpPr>
          <p:grpSpPr bwMode="auto">
            <a:xfrm>
              <a:off x="4038600" y="1143000"/>
              <a:ext cx="1524000" cy="304800"/>
              <a:chOff x="3591" y="1482"/>
              <a:chExt cx="2109" cy="456"/>
            </a:xfrm>
          </p:grpSpPr>
          <p:sp>
            <p:nvSpPr>
              <p:cNvPr id="65657" name="Rectangle 131"/>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58" name="Line 132"/>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59" name="Line 133"/>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60" name="Line 134"/>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40" name="Group 3"/>
            <p:cNvGrpSpPr>
              <a:grpSpLocks/>
            </p:cNvGrpSpPr>
            <p:nvPr/>
          </p:nvGrpSpPr>
          <p:grpSpPr bwMode="auto">
            <a:xfrm>
              <a:off x="4038600" y="457200"/>
              <a:ext cx="1524000" cy="304800"/>
              <a:chOff x="3591" y="1482"/>
              <a:chExt cx="2109" cy="456"/>
            </a:xfrm>
          </p:grpSpPr>
          <p:sp>
            <p:nvSpPr>
              <p:cNvPr id="65653" name="Rectangle 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54" name="Line 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55" name="Line 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56" name="Line 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41" name="Group 8"/>
            <p:cNvGrpSpPr>
              <a:grpSpLocks/>
            </p:cNvGrpSpPr>
            <p:nvPr/>
          </p:nvGrpSpPr>
          <p:grpSpPr bwMode="auto">
            <a:xfrm>
              <a:off x="4038600" y="457200"/>
              <a:ext cx="1524000" cy="304800"/>
              <a:chOff x="3591" y="1482"/>
              <a:chExt cx="2109" cy="456"/>
            </a:xfrm>
          </p:grpSpPr>
          <p:sp>
            <p:nvSpPr>
              <p:cNvPr id="65649" name="Rectangle 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50" name="Line 1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51" name="Line 1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52" name="Line 1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42" name="Group 13"/>
            <p:cNvGrpSpPr>
              <a:grpSpLocks/>
            </p:cNvGrpSpPr>
            <p:nvPr/>
          </p:nvGrpSpPr>
          <p:grpSpPr bwMode="auto">
            <a:xfrm>
              <a:off x="2222500" y="1143000"/>
              <a:ext cx="1447800" cy="304800"/>
              <a:chOff x="3591" y="1482"/>
              <a:chExt cx="2109" cy="456"/>
            </a:xfrm>
          </p:grpSpPr>
          <p:sp>
            <p:nvSpPr>
              <p:cNvPr id="65645" name="Rectangle 1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46" name="Line 1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47" name="Line 1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48" name="Line 1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44" name="Group 28"/>
            <p:cNvGrpSpPr>
              <a:grpSpLocks/>
            </p:cNvGrpSpPr>
            <p:nvPr/>
          </p:nvGrpSpPr>
          <p:grpSpPr bwMode="auto">
            <a:xfrm>
              <a:off x="6045200" y="1130300"/>
              <a:ext cx="1447800" cy="317500"/>
              <a:chOff x="3591" y="1482"/>
              <a:chExt cx="2109" cy="456"/>
            </a:xfrm>
          </p:grpSpPr>
          <p:sp>
            <p:nvSpPr>
              <p:cNvPr id="65637" name="Rectangle 2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38" name="Line 3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39" name="Line 3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40" name="Line 3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5545" name="Line 79"/>
            <p:cNvSpPr>
              <a:spLocks noChangeShapeType="1"/>
            </p:cNvSpPr>
            <p:nvPr/>
          </p:nvSpPr>
          <p:spPr bwMode="auto">
            <a:xfrm>
              <a:off x="4800600" y="152400"/>
              <a:ext cx="0" cy="304800"/>
            </a:xfrm>
            <a:prstGeom prst="line">
              <a:avLst/>
            </a:prstGeom>
            <a:noFill/>
            <a:ln w="9525">
              <a:solidFill>
                <a:schemeClr val="tx1"/>
              </a:solidFill>
              <a:round/>
              <a:headEnd/>
              <a:tailEnd type="triangle" w="med" len="med"/>
            </a:ln>
          </p:spPr>
          <p:txBody>
            <a:bodyPr wrap="none" anchor="ctr"/>
            <a:lstStyle/>
            <a:p>
              <a:endParaRPr lang="bg-BG"/>
            </a:p>
          </p:txBody>
        </p:sp>
        <p:sp>
          <p:nvSpPr>
            <p:cNvPr id="65546" name="Line 80"/>
            <p:cNvSpPr>
              <a:spLocks noChangeShapeType="1"/>
            </p:cNvSpPr>
            <p:nvPr/>
          </p:nvSpPr>
          <p:spPr bwMode="auto">
            <a:xfrm flipH="1">
              <a:off x="3635375" y="762000"/>
              <a:ext cx="479425" cy="363538"/>
            </a:xfrm>
            <a:prstGeom prst="line">
              <a:avLst/>
            </a:prstGeom>
            <a:noFill/>
            <a:ln w="9525">
              <a:solidFill>
                <a:schemeClr val="tx1"/>
              </a:solidFill>
              <a:round/>
              <a:headEnd/>
              <a:tailEnd type="triangle" w="med" len="med"/>
            </a:ln>
          </p:spPr>
          <p:txBody>
            <a:bodyPr wrap="none" anchor="ctr"/>
            <a:lstStyle/>
            <a:p>
              <a:endParaRPr lang="bg-BG"/>
            </a:p>
          </p:txBody>
        </p:sp>
        <p:sp>
          <p:nvSpPr>
            <p:cNvPr id="65547" name="Text Box 82"/>
            <p:cNvSpPr txBox="1">
              <a:spLocks noChangeArrowheads="1"/>
            </p:cNvSpPr>
            <p:nvPr/>
          </p:nvSpPr>
          <p:spPr bwMode="auto">
            <a:xfrm>
              <a:off x="4013200" y="431800"/>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5548" name="Text Box 83"/>
            <p:cNvSpPr txBox="1">
              <a:spLocks noChangeArrowheads="1"/>
            </p:cNvSpPr>
            <p:nvPr/>
          </p:nvSpPr>
          <p:spPr bwMode="auto">
            <a:xfrm>
              <a:off x="3276600" y="1079500"/>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5549" name="Text Box 84"/>
            <p:cNvSpPr txBox="1">
              <a:spLocks noChangeArrowheads="1"/>
            </p:cNvSpPr>
            <p:nvPr/>
          </p:nvSpPr>
          <p:spPr bwMode="auto">
            <a:xfrm>
              <a:off x="2895600" y="1079500"/>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5550" name="Text Box 85"/>
            <p:cNvSpPr txBox="1">
              <a:spLocks noChangeArrowheads="1"/>
            </p:cNvSpPr>
            <p:nvPr/>
          </p:nvSpPr>
          <p:spPr bwMode="auto">
            <a:xfrm>
              <a:off x="4013200" y="1079500"/>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5551" name="Text Box 86"/>
            <p:cNvSpPr txBox="1">
              <a:spLocks noChangeArrowheads="1"/>
            </p:cNvSpPr>
            <p:nvPr/>
          </p:nvSpPr>
          <p:spPr bwMode="auto">
            <a:xfrm>
              <a:off x="2527300" y="1092200"/>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5552" name="Text Box 87"/>
            <p:cNvSpPr txBox="1">
              <a:spLocks noChangeArrowheads="1"/>
            </p:cNvSpPr>
            <p:nvPr/>
          </p:nvSpPr>
          <p:spPr bwMode="auto">
            <a:xfrm>
              <a:off x="2184400" y="1092200"/>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5553" name="Text Box 88"/>
            <p:cNvSpPr txBox="1">
              <a:spLocks noChangeArrowheads="1"/>
            </p:cNvSpPr>
            <p:nvPr/>
          </p:nvSpPr>
          <p:spPr bwMode="auto">
            <a:xfrm>
              <a:off x="4381500" y="1092200"/>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5554" name="Text Box 89"/>
            <p:cNvSpPr txBox="1">
              <a:spLocks noChangeArrowheads="1"/>
            </p:cNvSpPr>
            <p:nvPr/>
          </p:nvSpPr>
          <p:spPr bwMode="auto">
            <a:xfrm>
              <a:off x="6350000" y="1079500"/>
              <a:ext cx="4572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5555" name="Text Box 90"/>
            <p:cNvSpPr txBox="1">
              <a:spLocks noChangeArrowheads="1"/>
            </p:cNvSpPr>
            <p:nvPr/>
          </p:nvSpPr>
          <p:spPr bwMode="auto">
            <a:xfrm>
              <a:off x="6019800" y="1066800"/>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5556" name="Text Box 91"/>
            <p:cNvSpPr txBox="1">
              <a:spLocks noChangeArrowheads="1"/>
            </p:cNvSpPr>
            <p:nvPr/>
          </p:nvSpPr>
          <p:spPr bwMode="auto">
            <a:xfrm>
              <a:off x="4368800" y="419100"/>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5557" name="Line 92"/>
            <p:cNvSpPr>
              <a:spLocks noChangeShapeType="1"/>
            </p:cNvSpPr>
            <p:nvPr/>
          </p:nvSpPr>
          <p:spPr bwMode="auto">
            <a:xfrm flipH="1">
              <a:off x="4067175" y="762000"/>
              <a:ext cx="352425" cy="363538"/>
            </a:xfrm>
            <a:prstGeom prst="line">
              <a:avLst/>
            </a:prstGeom>
            <a:noFill/>
            <a:ln w="9525">
              <a:solidFill>
                <a:schemeClr val="tx1"/>
              </a:solidFill>
              <a:round/>
              <a:headEnd/>
              <a:tailEnd type="triangle" w="med" len="med"/>
            </a:ln>
          </p:spPr>
          <p:txBody>
            <a:bodyPr wrap="none" anchor="ctr"/>
            <a:lstStyle/>
            <a:p>
              <a:endParaRPr lang="bg-BG"/>
            </a:p>
          </p:txBody>
        </p:sp>
        <p:sp>
          <p:nvSpPr>
            <p:cNvPr id="65558" name="Line 93"/>
            <p:cNvSpPr>
              <a:spLocks noChangeShapeType="1"/>
            </p:cNvSpPr>
            <p:nvPr/>
          </p:nvSpPr>
          <p:spPr bwMode="auto">
            <a:xfrm>
              <a:off x="4787900" y="765175"/>
              <a:ext cx="1296988" cy="360363"/>
            </a:xfrm>
            <a:prstGeom prst="line">
              <a:avLst/>
            </a:prstGeom>
            <a:noFill/>
            <a:ln w="9525">
              <a:solidFill>
                <a:schemeClr val="tx1"/>
              </a:solidFill>
              <a:round/>
              <a:headEnd/>
              <a:tailEnd type="triangle" w="med" len="med"/>
            </a:ln>
          </p:spPr>
          <p:txBody>
            <a:bodyPr wrap="none" anchor="ctr"/>
            <a:lstStyle/>
            <a:p>
              <a:endParaRPr lang="bg-BG"/>
            </a:p>
          </p:txBody>
        </p:sp>
      </p:grpSp>
      <p:grpSp>
        <p:nvGrpSpPr>
          <p:cNvPr id="126" name="Group 125"/>
          <p:cNvGrpSpPr/>
          <p:nvPr/>
        </p:nvGrpSpPr>
        <p:grpSpPr>
          <a:xfrm>
            <a:off x="1805126" y="2723724"/>
            <a:ext cx="6705600" cy="1217613"/>
            <a:chOff x="1473200" y="1816100"/>
            <a:chExt cx="6705600" cy="1217613"/>
          </a:xfrm>
        </p:grpSpPr>
        <p:grpSp>
          <p:nvGrpSpPr>
            <p:cNvPr id="65543" name="Group 23"/>
            <p:cNvGrpSpPr>
              <a:grpSpLocks/>
            </p:cNvGrpSpPr>
            <p:nvPr/>
          </p:nvGrpSpPr>
          <p:grpSpPr bwMode="auto">
            <a:xfrm>
              <a:off x="4038600" y="2133600"/>
              <a:ext cx="1524000" cy="304800"/>
              <a:chOff x="3591" y="1482"/>
              <a:chExt cx="2109" cy="456"/>
            </a:xfrm>
          </p:grpSpPr>
          <p:sp>
            <p:nvSpPr>
              <p:cNvPr id="65641" name="Rectangle 2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42" name="Line 2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43" name="Line 2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44" name="Line 2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59" name="Group 94"/>
            <p:cNvGrpSpPr>
              <a:grpSpLocks/>
            </p:cNvGrpSpPr>
            <p:nvPr/>
          </p:nvGrpSpPr>
          <p:grpSpPr bwMode="auto">
            <a:xfrm>
              <a:off x="1524000" y="2667000"/>
              <a:ext cx="1524000" cy="304800"/>
              <a:chOff x="3591" y="1482"/>
              <a:chExt cx="2109" cy="456"/>
            </a:xfrm>
          </p:grpSpPr>
          <p:sp>
            <p:nvSpPr>
              <p:cNvPr id="65633" name="Rectangle 9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34" name="Line 9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35" name="Line 9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36" name="Line 9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60" name="Group 99"/>
            <p:cNvGrpSpPr>
              <a:grpSpLocks/>
            </p:cNvGrpSpPr>
            <p:nvPr/>
          </p:nvGrpSpPr>
          <p:grpSpPr bwMode="auto">
            <a:xfrm>
              <a:off x="6654800" y="2667000"/>
              <a:ext cx="1524000" cy="304800"/>
              <a:chOff x="3591" y="1482"/>
              <a:chExt cx="2109" cy="456"/>
            </a:xfrm>
          </p:grpSpPr>
          <p:sp>
            <p:nvSpPr>
              <p:cNvPr id="65629" name="Rectangle 10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30" name="Line 10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31" name="Line 10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32" name="Line 10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61" name="Group 104"/>
            <p:cNvGrpSpPr>
              <a:grpSpLocks/>
            </p:cNvGrpSpPr>
            <p:nvPr/>
          </p:nvGrpSpPr>
          <p:grpSpPr bwMode="auto">
            <a:xfrm>
              <a:off x="4914900" y="2667000"/>
              <a:ext cx="1524000" cy="304800"/>
              <a:chOff x="3591" y="1482"/>
              <a:chExt cx="2109" cy="456"/>
            </a:xfrm>
          </p:grpSpPr>
          <p:sp>
            <p:nvSpPr>
              <p:cNvPr id="65625" name="Rectangle 105"/>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26" name="Line 106"/>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27" name="Line 107"/>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28" name="Line 108"/>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62" name="Group 109"/>
            <p:cNvGrpSpPr>
              <a:grpSpLocks/>
            </p:cNvGrpSpPr>
            <p:nvPr/>
          </p:nvGrpSpPr>
          <p:grpSpPr bwMode="auto">
            <a:xfrm>
              <a:off x="3200400" y="2667000"/>
              <a:ext cx="1524000" cy="304800"/>
              <a:chOff x="3591" y="1482"/>
              <a:chExt cx="2109" cy="456"/>
            </a:xfrm>
          </p:grpSpPr>
          <p:sp>
            <p:nvSpPr>
              <p:cNvPr id="65621" name="Rectangle 110"/>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22" name="Line 111"/>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23" name="Line 112"/>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24" name="Line 113"/>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5563" name="Text Box 114"/>
            <p:cNvSpPr txBox="1">
              <a:spLocks noChangeArrowheads="1"/>
            </p:cNvSpPr>
            <p:nvPr/>
          </p:nvSpPr>
          <p:spPr bwMode="auto">
            <a:xfrm>
              <a:off x="1879600" y="2616200"/>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5564" name="Text Box 115"/>
            <p:cNvSpPr txBox="1">
              <a:spLocks noChangeArrowheads="1"/>
            </p:cNvSpPr>
            <p:nvPr/>
          </p:nvSpPr>
          <p:spPr bwMode="auto">
            <a:xfrm>
              <a:off x="1473200" y="2616200"/>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5565" name="Text Box 116"/>
            <p:cNvSpPr txBox="1">
              <a:spLocks noChangeArrowheads="1"/>
            </p:cNvSpPr>
            <p:nvPr/>
          </p:nvSpPr>
          <p:spPr bwMode="auto">
            <a:xfrm>
              <a:off x="4762500" y="2070100"/>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5566" name="Text Box 117"/>
            <p:cNvSpPr txBox="1">
              <a:spLocks noChangeArrowheads="1"/>
            </p:cNvSpPr>
            <p:nvPr/>
          </p:nvSpPr>
          <p:spPr bwMode="auto">
            <a:xfrm>
              <a:off x="4381500" y="2082800"/>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5567" name="Text Box 118"/>
            <p:cNvSpPr txBox="1">
              <a:spLocks noChangeArrowheads="1"/>
            </p:cNvSpPr>
            <p:nvPr/>
          </p:nvSpPr>
          <p:spPr bwMode="auto">
            <a:xfrm>
              <a:off x="4000500" y="2082800"/>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5568" name="Line 119"/>
            <p:cNvSpPr>
              <a:spLocks noChangeShapeType="1"/>
            </p:cNvSpPr>
            <p:nvPr/>
          </p:nvSpPr>
          <p:spPr bwMode="auto">
            <a:xfrm flipH="1">
              <a:off x="2362200" y="2438400"/>
              <a:ext cx="1752600" cy="228600"/>
            </a:xfrm>
            <a:prstGeom prst="line">
              <a:avLst/>
            </a:prstGeom>
            <a:noFill/>
            <a:ln w="9525">
              <a:solidFill>
                <a:schemeClr val="tx1"/>
              </a:solidFill>
              <a:round/>
              <a:headEnd/>
              <a:tailEnd type="triangle" w="med" len="med"/>
            </a:ln>
          </p:spPr>
          <p:txBody>
            <a:bodyPr wrap="none" anchor="ctr"/>
            <a:lstStyle/>
            <a:p>
              <a:endParaRPr lang="bg-BG"/>
            </a:p>
          </p:txBody>
        </p:sp>
        <p:sp>
          <p:nvSpPr>
            <p:cNvPr id="65569" name="Line 120"/>
            <p:cNvSpPr>
              <a:spLocks noChangeShapeType="1"/>
            </p:cNvSpPr>
            <p:nvPr/>
          </p:nvSpPr>
          <p:spPr bwMode="auto">
            <a:xfrm flipH="1">
              <a:off x="3995738" y="2438400"/>
              <a:ext cx="423862" cy="198438"/>
            </a:xfrm>
            <a:prstGeom prst="line">
              <a:avLst/>
            </a:prstGeom>
            <a:noFill/>
            <a:ln w="9525">
              <a:solidFill>
                <a:schemeClr val="tx1"/>
              </a:solidFill>
              <a:round/>
              <a:headEnd/>
              <a:tailEnd type="triangle" w="med" len="med"/>
            </a:ln>
          </p:spPr>
          <p:txBody>
            <a:bodyPr wrap="none" anchor="ctr"/>
            <a:lstStyle/>
            <a:p>
              <a:endParaRPr lang="bg-BG"/>
            </a:p>
          </p:txBody>
        </p:sp>
        <p:sp>
          <p:nvSpPr>
            <p:cNvPr id="65570" name="Line 121"/>
            <p:cNvSpPr>
              <a:spLocks noChangeShapeType="1"/>
            </p:cNvSpPr>
            <p:nvPr/>
          </p:nvSpPr>
          <p:spPr bwMode="auto">
            <a:xfrm>
              <a:off x="4800600" y="2438400"/>
              <a:ext cx="131763" cy="269875"/>
            </a:xfrm>
            <a:prstGeom prst="line">
              <a:avLst/>
            </a:prstGeom>
            <a:noFill/>
            <a:ln w="9525">
              <a:solidFill>
                <a:schemeClr val="tx1"/>
              </a:solidFill>
              <a:round/>
              <a:headEnd/>
              <a:tailEnd type="triangle" w="med" len="med"/>
            </a:ln>
          </p:spPr>
          <p:txBody>
            <a:bodyPr wrap="none" anchor="ctr"/>
            <a:lstStyle/>
            <a:p>
              <a:endParaRPr lang="bg-BG"/>
            </a:p>
          </p:txBody>
        </p:sp>
        <p:sp>
          <p:nvSpPr>
            <p:cNvPr id="65571" name="Line 122"/>
            <p:cNvSpPr>
              <a:spLocks noChangeShapeType="1"/>
            </p:cNvSpPr>
            <p:nvPr/>
          </p:nvSpPr>
          <p:spPr bwMode="auto">
            <a:xfrm>
              <a:off x="5181600" y="2438400"/>
              <a:ext cx="1477963" cy="269875"/>
            </a:xfrm>
            <a:prstGeom prst="line">
              <a:avLst/>
            </a:prstGeom>
            <a:noFill/>
            <a:ln w="9525">
              <a:solidFill>
                <a:schemeClr val="tx1"/>
              </a:solidFill>
              <a:round/>
              <a:headEnd/>
              <a:tailEnd type="triangle" w="med" len="med"/>
            </a:ln>
          </p:spPr>
          <p:txBody>
            <a:bodyPr wrap="none" anchor="ctr"/>
            <a:lstStyle/>
            <a:p>
              <a:endParaRPr lang="bg-BG"/>
            </a:p>
          </p:txBody>
        </p:sp>
        <p:sp>
          <p:nvSpPr>
            <p:cNvPr id="65572" name="Text Box 123"/>
            <p:cNvSpPr txBox="1">
              <a:spLocks noChangeArrowheads="1"/>
            </p:cNvSpPr>
            <p:nvPr/>
          </p:nvSpPr>
          <p:spPr bwMode="auto">
            <a:xfrm>
              <a:off x="3563938" y="2636838"/>
              <a:ext cx="457200" cy="396875"/>
            </a:xfrm>
            <a:prstGeom prst="rect">
              <a:avLst/>
            </a:prstGeom>
            <a:noFill/>
            <a:ln w="9525">
              <a:noFill/>
              <a:miter lim="800000"/>
              <a:headEnd/>
              <a:tailEnd/>
            </a:ln>
          </p:spPr>
          <p:txBody>
            <a:bodyPr>
              <a:spAutoFit/>
            </a:bodyPr>
            <a:lstStyle/>
            <a:p>
              <a:pPr>
                <a:spcBef>
                  <a:spcPct val="50000"/>
                </a:spcBef>
              </a:pPr>
              <a:r>
                <a:rPr lang="bg-BG" sz="2000"/>
                <a:t>19</a:t>
              </a:r>
              <a:endParaRPr lang="en-US"/>
            </a:p>
          </p:txBody>
        </p:sp>
        <p:sp>
          <p:nvSpPr>
            <p:cNvPr id="65573" name="Text Box 124"/>
            <p:cNvSpPr txBox="1">
              <a:spLocks noChangeArrowheads="1"/>
            </p:cNvSpPr>
            <p:nvPr/>
          </p:nvSpPr>
          <p:spPr bwMode="auto">
            <a:xfrm>
              <a:off x="3175000" y="2613025"/>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5574" name="Text Box 126"/>
            <p:cNvSpPr txBox="1">
              <a:spLocks noChangeArrowheads="1"/>
            </p:cNvSpPr>
            <p:nvPr/>
          </p:nvSpPr>
          <p:spPr bwMode="auto">
            <a:xfrm>
              <a:off x="6629400" y="2616200"/>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5575" name="Text Box 127"/>
            <p:cNvSpPr txBox="1">
              <a:spLocks noChangeArrowheads="1"/>
            </p:cNvSpPr>
            <p:nvPr/>
          </p:nvSpPr>
          <p:spPr bwMode="auto">
            <a:xfrm>
              <a:off x="5257800" y="2590800"/>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5576" name="Text Box 128"/>
            <p:cNvSpPr txBox="1">
              <a:spLocks noChangeArrowheads="1"/>
            </p:cNvSpPr>
            <p:nvPr/>
          </p:nvSpPr>
          <p:spPr bwMode="auto">
            <a:xfrm>
              <a:off x="4876800" y="2603500"/>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5577" name="Text Box 129"/>
            <p:cNvSpPr txBox="1">
              <a:spLocks noChangeArrowheads="1"/>
            </p:cNvSpPr>
            <p:nvPr/>
          </p:nvSpPr>
          <p:spPr bwMode="auto">
            <a:xfrm>
              <a:off x="6997700" y="2616200"/>
              <a:ext cx="4572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5578" name="Line 135"/>
            <p:cNvSpPr>
              <a:spLocks noChangeShapeType="1"/>
            </p:cNvSpPr>
            <p:nvPr/>
          </p:nvSpPr>
          <p:spPr bwMode="auto">
            <a:xfrm>
              <a:off x="4800600" y="1816100"/>
              <a:ext cx="0" cy="304800"/>
            </a:xfrm>
            <a:prstGeom prst="line">
              <a:avLst/>
            </a:prstGeom>
            <a:noFill/>
            <a:ln w="9525">
              <a:solidFill>
                <a:schemeClr val="tx1"/>
              </a:solidFill>
              <a:round/>
              <a:headEnd/>
              <a:tailEnd type="triangle" w="med" len="med"/>
            </a:ln>
          </p:spPr>
          <p:txBody>
            <a:bodyPr wrap="none" anchor="ctr"/>
            <a:lstStyle/>
            <a:p>
              <a:endParaRPr lang="bg-BG"/>
            </a:p>
          </p:txBody>
        </p:sp>
      </p:grpSp>
      <p:grpSp>
        <p:nvGrpSpPr>
          <p:cNvPr id="127" name="Group 126"/>
          <p:cNvGrpSpPr/>
          <p:nvPr/>
        </p:nvGrpSpPr>
        <p:grpSpPr>
          <a:xfrm>
            <a:off x="1447800" y="4902200"/>
            <a:ext cx="6781800" cy="1311275"/>
            <a:chOff x="1447800" y="4902200"/>
            <a:chExt cx="6781800" cy="1311275"/>
          </a:xfrm>
        </p:grpSpPr>
        <p:grpSp>
          <p:nvGrpSpPr>
            <p:cNvPr id="65579" name="Group 136"/>
            <p:cNvGrpSpPr>
              <a:grpSpLocks/>
            </p:cNvGrpSpPr>
            <p:nvPr/>
          </p:nvGrpSpPr>
          <p:grpSpPr bwMode="auto">
            <a:xfrm>
              <a:off x="6705600" y="5867400"/>
              <a:ext cx="1524000" cy="304800"/>
              <a:chOff x="3591" y="1482"/>
              <a:chExt cx="2109" cy="456"/>
            </a:xfrm>
          </p:grpSpPr>
          <p:sp>
            <p:nvSpPr>
              <p:cNvPr id="65617" name="Rectangle 137"/>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18" name="Line 138"/>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19" name="Line 139"/>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20" name="Line 140"/>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80" name="Group 141"/>
            <p:cNvGrpSpPr>
              <a:grpSpLocks/>
            </p:cNvGrpSpPr>
            <p:nvPr/>
          </p:nvGrpSpPr>
          <p:grpSpPr bwMode="auto">
            <a:xfrm>
              <a:off x="4953000" y="5867400"/>
              <a:ext cx="1524000" cy="304800"/>
              <a:chOff x="3591" y="1482"/>
              <a:chExt cx="2109" cy="456"/>
            </a:xfrm>
          </p:grpSpPr>
          <p:sp>
            <p:nvSpPr>
              <p:cNvPr id="65613" name="Rectangle 142"/>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14" name="Line 143"/>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15" name="Line 144"/>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16" name="Line 145"/>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81" name="Group 146"/>
            <p:cNvGrpSpPr>
              <a:grpSpLocks/>
            </p:cNvGrpSpPr>
            <p:nvPr/>
          </p:nvGrpSpPr>
          <p:grpSpPr bwMode="auto">
            <a:xfrm>
              <a:off x="3200400" y="5867400"/>
              <a:ext cx="1524000" cy="304800"/>
              <a:chOff x="3591" y="1482"/>
              <a:chExt cx="2109" cy="456"/>
            </a:xfrm>
          </p:grpSpPr>
          <p:sp>
            <p:nvSpPr>
              <p:cNvPr id="65609" name="Rectangle 147"/>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10" name="Line 148"/>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11" name="Line 149"/>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12" name="Line 150"/>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82" name="Group 151"/>
            <p:cNvGrpSpPr>
              <a:grpSpLocks/>
            </p:cNvGrpSpPr>
            <p:nvPr/>
          </p:nvGrpSpPr>
          <p:grpSpPr bwMode="auto">
            <a:xfrm>
              <a:off x="1447800" y="5867400"/>
              <a:ext cx="1524000" cy="304800"/>
              <a:chOff x="3591" y="1482"/>
              <a:chExt cx="2109" cy="456"/>
            </a:xfrm>
          </p:grpSpPr>
          <p:sp>
            <p:nvSpPr>
              <p:cNvPr id="65605" name="Rectangle 152"/>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06" name="Line 153"/>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07" name="Line 154"/>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08" name="Line 155"/>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5583" name="Group 156"/>
            <p:cNvGrpSpPr>
              <a:grpSpLocks/>
            </p:cNvGrpSpPr>
            <p:nvPr/>
          </p:nvGrpSpPr>
          <p:grpSpPr bwMode="auto">
            <a:xfrm>
              <a:off x="4114800" y="4953000"/>
              <a:ext cx="1524000" cy="304800"/>
              <a:chOff x="3591" y="1482"/>
              <a:chExt cx="2109" cy="456"/>
            </a:xfrm>
          </p:grpSpPr>
          <p:sp>
            <p:nvSpPr>
              <p:cNvPr id="65601" name="Rectangle 157"/>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5602" name="Line 158"/>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5603" name="Line 159"/>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5604" name="Line 160"/>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5584" name="Text Box 161"/>
            <p:cNvSpPr txBox="1">
              <a:spLocks noChangeArrowheads="1"/>
            </p:cNvSpPr>
            <p:nvPr/>
          </p:nvSpPr>
          <p:spPr bwMode="auto">
            <a:xfrm>
              <a:off x="4089400" y="4902200"/>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5585" name="Text Box 162"/>
            <p:cNvSpPr txBox="1">
              <a:spLocks noChangeArrowheads="1"/>
            </p:cNvSpPr>
            <p:nvPr/>
          </p:nvSpPr>
          <p:spPr bwMode="auto">
            <a:xfrm>
              <a:off x="4838700" y="4902200"/>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5586" name="Text Box 163"/>
            <p:cNvSpPr txBox="1">
              <a:spLocks noChangeArrowheads="1"/>
            </p:cNvSpPr>
            <p:nvPr/>
          </p:nvSpPr>
          <p:spPr bwMode="auto">
            <a:xfrm>
              <a:off x="4457700" y="4902200"/>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5587" name="Text Box 164"/>
            <p:cNvSpPr txBox="1">
              <a:spLocks noChangeArrowheads="1"/>
            </p:cNvSpPr>
            <p:nvPr/>
          </p:nvSpPr>
          <p:spPr bwMode="auto">
            <a:xfrm>
              <a:off x="3149600" y="5816600"/>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5588" name="Text Box 165"/>
            <p:cNvSpPr txBox="1">
              <a:spLocks noChangeArrowheads="1"/>
            </p:cNvSpPr>
            <p:nvPr/>
          </p:nvSpPr>
          <p:spPr bwMode="auto">
            <a:xfrm>
              <a:off x="1841500" y="5816600"/>
              <a:ext cx="457200" cy="396875"/>
            </a:xfrm>
            <a:prstGeom prst="rect">
              <a:avLst/>
            </a:prstGeom>
            <a:noFill/>
            <a:ln w="9525">
              <a:noFill/>
              <a:miter lim="800000"/>
              <a:headEnd/>
              <a:tailEnd/>
            </a:ln>
          </p:spPr>
          <p:txBody>
            <a:bodyPr>
              <a:spAutoFit/>
            </a:bodyPr>
            <a:lstStyle/>
            <a:p>
              <a:pPr>
                <a:spcBef>
                  <a:spcPct val="50000"/>
                </a:spcBef>
              </a:pPr>
              <a:r>
                <a:rPr lang="bg-BG" sz="2000"/>
                <a:t>5</a:t>
              </a:r>
              <a:endParaRPr lang="en-US"/>
            </a:p>
          </p:txBody>
        </p:sp>
        <p:sp>
          <p:nvSpPr>
            <p:cNvPr id="65589" name="Text Box 166"/>
            <p:cNvSpPr txBox="1">
              <a:spLocks noChangeArrowheads="1"/>
            </p:cNvSpPr>
            <p:nvPr/>
          </p:nvSpPr>
          <p:spPr bwMode="auto">
            <a:xfrm>
              <a:off x="2159000" y="5816600"/>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5590" name="Text Box 167"/>
            <p:cNvSpPr txBox="1">
              <a:spLocks noChangeArrowheads="1"/>
            </p:cNvSpPr>
            <p:nvPr/>
          </p:nvSpPr>
          <p:spPr bwMode="auto">
            <a:xfrm>
              <a:off x="2552700" y="5816600"/>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5591" name="Text Box 168"/>
            <p:cNvSpPr txBox="1">
              <a:spLocks noChangeArrowheads="1"/>
            </p:cNvSpPr>
            <p:nvPr/>
          </p:nvSpPr>
          <p:spPr bwMode="auto">
            <a:xfrm>
              <a:off x="6667500" y="5816600"/>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5592" name="Text Box 169"/>
            <p:cNvSpPr txBox="1">
              <a:spLocks noChangeArrowheads="1"/>
            </p:cNvSpPr>
            <p:nvPr/>
          </p:nvSpPr>
          <p:spPr bwMode="auto">
            <a:xfrm>
              <a:off x="3530600" y="5816600"/>
              <a:ext cx="457200" cy="396875"/>
            </a:xfrm>
            <a:prstGeom prst="rect">
              <a:avLst/>
            </a:prstGeom>
            <a:noFill/>
            <a:ln w="9525">
              <a:noFill/>
              <a:miter lim="800000"/>
              <a:headEnd/>
              <a:tailEnd/>
            </a:ln>
          </p:spPr>
          <p:txBody>
            <a:bodyPr>
              <a:spAutoFit/>
            </a:bodyPr>
            <a:lstStyle/>
            <a:p>
              <a:pPr>
                <a:spcBef>
                  <a:spcPct val="50000"/>
                </a:spcBef>
              </a:pPr>
              <a:r>
                <a:rPr lang="bg-BG" sz="2000"/>
                <a:t>19</a:t>
              </a:r>
              <a:endParaRPr lang="en-US"/>
            </a:p>
          </p:txBody>
        </p:sp>
        <p:sp>
          <p:nvSpPr>
            <p:cNvPr id="65593" name="Text Box 170"/>
            <p:cNvSpPr txBox="1">
              <a:spLocks noChangeArrowheads="1"/>
            </p:cNvSpPr>
            <p:nvPr/>
          </p:nvSpPr>
          <p:spPr bwMode="auto">
            <a:xfrm>
              <a:off x="5295900" y="5816600"/>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5594" name="Text Box 171"/>
            <p:cNvSpPr txBox="1">
              <a:spLocks noChangeArrowheads="1"/>
            </p:cNvSpPr>
            <p:nvPr/>
          </p:nvSpPr>
          <p:spPr bwMode="auto">
            <a:xfrm>
              <a:off x="4914900" y="5816600"/>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5595" name="Text Box 172"/>
            <p:cNvSpPr txBox="1">
              <a:spLocks noChangeArrowheads="1"/>
            </p:cNvSpPr>
            <p:nvPr/>
          </p:nvSpPr>
          <p:spPr bwMode="auto">
            <a:xfrm>
              <a:off x="7061200" y="5816600"/>
              <a:ext cx="4572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5596" name="Text Box 173"/>
            <p:cNvSpPr txBox="1">
              <a:spLocks noChangeArrowheads="1"/>
            </p:cNvSpPr>
            <p:nvPr/>
          </p:nvSpPr>
          <p:spPr bwMode="auto">
            <a:xfrm>
              <a:off x="1473200" y="5816600"/>
              <a:ext cx="482600" cy="396875"/>
            </a:xfrm>
            <a:prstGeom prst="rect">
              <a:avLst/>
            </a:prstGeom>
            <a:noFill/>
            <a:ln w="9525">
              <a:noFill/>
              <a:miter lim="800000"/>
              <a:headEnd/>
              <a:tailEnd/>
            </a:ln>
          </p:spPr>
          <p:txBody>
            <a:bodyPr>
              <a:spAutoFit/>
            </a:bodyPr>
            <a:lstStyle/>
            <a:p>
              <a:pPr>
                <a:spcBef>
                  <a:spcPct val="50000"/>
                </a:spcBef>
              </a:pPr>
              <a:r>
                <a:rPr lang="bg-BG" sz="2000"/>
                <a:t>4</a:t>
              </a:r>
              <a:endParaRPr lang="en-US"/>
            </a:p>
          </p:txBody>
        </p:sp>
        <p:sp>
          <p:nvSpPr>
            <p:cNvPr id="65597" name="Line 174"/>
            <p:cNvSpPr>
              <a:spLocks noChangeShapeType="1"/>
            </p:cNvSpPr>
            <p:nvPr/>
          </p:nvSpPr>
          <p:spPr bwMode="auto">
            <a:xfrm flipH="1">
              <a:off x="2916238" y="5257800"/>
              <a:ext cx="1274762" cy="619125"/>
            </a:xfrm>
            <a:prstGeom prst="line">
              <a:avLst/>
            </a:prstGeom>
            <a:noFill/>
            <a:ln w="9525">
              <a:solidFill>
                <a:schemeClr val="tx1"/>
              </a:solidFill>
              <a:round/>
              <a:headEnd/>
              <a:tailEnd type="triangle" w="med" len="med"/>
            </a:ln>
          </p:spPr>
          <p:txBody>
            <a:bodyPr wrap="none" anchor="ctr"/>
            <a:lstStyle/>
            <a:p>
              <a:endParaRPr lang="bg-BG"/>
            </a:p>
          </p:txBody>
        </p:sp>
        <p:sp>
          <p:nvSpPr>
            <p:cNvPr id="65598" name="Line 176"/>
            <p:cNvSpPr>
              <a:spLocks noChangeShapeType="1"/>
            </p:cNvSpPr>
            <p:nvPr/>
          </p:nvSpPr>
          <p:spPr bwMode="auto">
            <a:xfrm>
              <a:off x="4876800" y="5257800"/>
              <a:ext cx="55563" cy="692150"/>
            </a:xfrm>
            <a:prstGeom prst="line">
              <a:avLst/>
            </a:prstGeom>
            <a:noFill/>
            <a:ln w="9525">
              <a:solidFill>
                <a:schemeClr val="tx1"/>
              </a:solidFill>
              <a:round/>
              <a:headEnd/>
              <a:tailEnd type="triangle" w="med" len="med"/>
            </a:ln>
          </p:spPr>
          <p:txBody>
            <a:bodyPr wrap="none" anchor="ctr"/>
            <a:lstStyle/>
            <a:p>
              <a:endParaRPr lang="bg-BG"/>
            </a:p>
          </p:txBody>
        </p:sp>
        <p:sp>
          <p:nvSpPr>
            <p:cNvPr id="65599" name="Line 177"/>
            <p:cNvSpPr>
              <a:spLocks noChangeShapeType="1"/>
            </p:cNvSpPr>
            <p:nvPr/>
          </p:nvSpPr>
          <p:spPr bwMode="auto">
            <a:xfrm>
              <a:off x="5334000" y="5257800"/>
              <a:ext cx="1398588" cy="619125"/>
            </a:xfrm>
            <a:prstGeom prst="line">
              <a:avLst/>
            </a:prstGeom>
            <a:noFill/>
            <a:ln w="9525">
              <a:solidFill>
                <a:schemeClr val="tx1"/>
              </a:solidFill>
              <a:round/>
              <a:headEnd/>
              <a:tailEnd type="triangle" w="med" len="med"/>
            </a:ln>
          </p:spPr>
          <p:txBody>
            <a:bodyPr wrap="none" anchor="ctr"/>
            <a:lstStyle/>
            <a:p>
              <a:endParaRPr lang="bg-BG"/>
            </a:p>
          </p:txBody>
        </p:sp>
        <p:sp>
          <p:nvSpPr>
            <p:cNvPr id="65600" name="Line 178"/>
            <p:cNvSpPr>
              <a:spLocks noChangeShapeType="1"/>
            </p:cNvSpPr>
            <p:nvPr/>
          </p:nvSpPr>
          <p:spPr bwMode="auto">
            <a:xfrm flipH="1">
              <a:off x="3886200" y="5257800"/>
              <a:ext cx="609600" cy="609600"/>
            </a:xfrm>
            <a:prstGeom prst="line">
              <a:avLst/>
            </a:prstGeom>
            <a:noFill/>
            <a:ln w="9525">
              <a:solidFill>
                <a:schemeClr val="tx1"/>
              </a:solidFill>
              <a:round/>
              <a:headEnd/>
              <a:tailEnd type="triangle" w="med" len="med"/>
            </a:ln>
          </p:spPr>
          <p:txBody>
            <a:bodyPr wrap="none" anchor="ctr"/>
            <a:lstStyle/>
            <a:p>
              <a:endParaRPr lang="bg-BG"/>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1259632" y="620688"/>
            <a:ext cx="7219528" cy="5791200"/>
          </a:xfrm>
        </p:spPr>
        <p:txBody>
          <a:bodyPr>
            <a:normAutofit fontScale="90000"/>
          </a:bodyPr>
          <a:lstStyle/>
          <a:p>
            <a:pPr eaLnBrk="1" fontAlgn="auto" hangingPunct="1">
              <a:spcAft>
                <a:spcPts val="0"/>
              </a:spcAft>
              <a:defRPr/>
            </a:pPr>
            <a:r>
              <a:rPr lang="bg-BG" sz="2200">
                <a:solidFill>
                  <a:schemeClr val="tx1"/>
                </a:solidFill>
              </a:rPr>
              <a:t>Продължаваме да добавяме стойности в най-левия клон.</a:t>
            </a:r>
            <a:br>
              <a:rPr lang="bg-BG" sz="2200">
                <a:solidFill>
                  <a:schemeClr val="tx1"/>
                </a:solidFill>
              </a:rPr>
            </a:br>
            <a:r>
              <a:rPr lang="bg-BG" sz="2200">
                <a:solidFill>
                  <a:schemeClr val="tx1"/>
                </a:solidFill>
              </a:rPr>
              <a:t>Например, 6:</a:t>
            </a:r>
            <a:br>
              <a:rPr lang="bg-BG" sz="2200">
                <a:solidFill>
                  <a:schemeClr val="tx1"/>
                </a:solidFill>
              </a:rPr>
            </a:br>
            <a:r>
              <a:rPr lang="bg-BG" sz="2200">
                <a:solidFill>
                  <a:schemeClr val="tx1"/>
                </a:solidFill>
              </a:rPr>
              <a:t>(4 5 </a:t>
            </a:r>
            <a:r>
              <a:rPr lang="bg-BG" sz="2200" u="sng">
                <a:solidFill>
                  <a:srgbClr val="FF0000"/>
                </a:solidFill>
              </a:rPr>
              <a:t>6</a:t>
            </a:r>
            <a:r>
              <a:rPr lang="bg-BG" sz="2200">
                <a:solidFill>
                  <a:schemeClr val="tx1"/>
                </a:solidFill>
              </a:rPr>
              <a:t> 10 12)</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Добавяме последователно 2 и 3:</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
            </a:r>
            <a:br>
              <a:rPr lang="bg-BG" sz="2200">
                <a:solidFill>
                  <a:schemeClr val="tx1"/>
                </a:solidFill>
              </a:rPr>
            </a:br>
            <a:r>
              <a:rPr lang="bg-BG" sz="2200">
                <a:solidFill>
                  <a:schemeClr val="tx1"/>
                </a:solidFill>
              </a:rPr>
              <a:t>Добавяме 1:</a:t>
            </a:r>
            <a:br>
              <a:rPr lang="bg-BG" sz="2200">
                <a:solidFill>
                  <a:schemeClr val="tx1"/>
                </a:solidFill>
              </a:rPr>
            </a:br>
            <a:r>
              <a:rPr lang="bg-BG" sz="2200">
                <a:solidFill>
                  <a:schemeClr val="tx1"/>
                </a:solidFill>
              </a:rPr>
              <a:t>  (1 2</a:t>
            </a:r>
            <a:r>
              <a:rPr lang="bg-BG" sz="2200">
                <a:solidFill>
                  <a:srgbClr val="FF0000"/>
                </a:solidFill>
              </a:rPr>
              <a:t> </a:t>
            </a:r>
            <a:r>
              <a:rPr lang="bg-BG" sz="2200" u="sng">
                <a:solidFill>
                  <a:srgbClr val="FF0000"/>
                </a:solidFill>
              </a:rPr>
              <a:t>3</a:t>
            </a:r>
            <a:r>
              <a:rPr lang="bg-BG" sz="2200">
                <a:solidFill>
                  <a:srgbClr val="FF0000"/>
                </a:solidFill>
              </a:rPr>
              <a:t> </a:t>
            </a:r>
            <a:r>
              <a:rPr lang="bg-BG" sz="2200">
                <a:solidFill>
                  <a:schemeClr val="tx1"/>
                </a:solidFill>
              </a:rPr>
              <a:t>4 5)</a:t>
            </a:r>
            <a:br>
              <a:rPr lang="bg-BG" sz="2200">
                <a:solidFill>
                  <a:schemeClr val="tx1"/>
                </a:solidFill>
              </a:rPr>
            </a:br>
            <a:r>
              <a:rPr lang="bg-BG" sz="2200">
                <a:solidFill>
                  <a:schemeClr val="tx1"/>
                </a:solidFill>
              </a:rPr>
              <a:t>(3 6 </a:t>
            </a:r>
            <a:r>
              <a:rPr lang="bg-BG" sz="2200" u="sng">
                <a:solidFill>
                  <a:srgbClr val="FF0000"/>
                </a:solidFill>
              </a:rPr>
              <a:t>15</a:t>
            </a:r>
            <a:r>
              <a:rPr lang="bg-BG" sz="2200">
                <a:solidFill>
                  <a:schemeClr val="tx1"/>
                </a:solidFill>
              </a:rPr>
              <a:t> 20 60)</a:t>
            </a:r>
            <a:r>
              <a:rPr lang="bg-BG" sz="2200">
                <a:solidFill>
                  <a:schemeClr val="tx2">
                    <a:satMod val="130000"/>
                  </a:schemeClr>
                </a:solidFill>
              </a:rPr>
              <a:t/>
            </a:r>
            <a:br>
              <a:rPr lang="bg-BG" sz="2200">
                <a:solidFill>
                  <a:schemeClr val="tx2">
                    <a:satMod val="130000"/>
                  </a:schemeClr>
                </a:solidFill>
              </a:rPr>
            </a:br>
            <a:r>
              <a:rPr lang="bg-BG" sz="2200">
                <a:solidFill>
                  <a:schemeClr val="tx2">
                    <a:satMod val="130000"/>
                  </a:schemeClr>
                </a:solidFill>
              </a:rPr>
              <a:t/>
            </a:r>
            <a:br>
              <a:rPr lang="bg-BG" sz="2200">
                <a:solidFill>
                  <a:schemeClr val="tx2">
                    <a:satMod val="130000"/>
                  </a:schemeClr>
                </a:solidFill>
              </a:rPr>
            </a:br>
            <a:r>
              <a:rPr lang="bg-BG" sz="2200">
                <a:solidFill>
                  <a:schemeClr val="tx2">
                    <a:satMod val="130000"/>
                  </a:schemeClr>
                </a:solidFill>
              </a:rPr>
              <a:t/>
            </a:r>
            <a:br>
              <a:rPr lang="bg-BG" sz="2200">
                <a:solidFill>
                  <a:schemeClr val="tx2">
                    <a:satMod val="130000"/>
                  </a:schemeClr>
                </a:solidFill>
              </a:rPr>
            </a:br>
            <a:r>
              <a:rPr lang="bg-BG" sz="2200">
                <a:solidFill>
                  <a:schemeClr val="tx2">
                    <a:satMod val="130000"/>
                  </a:schemeClr>
                </a:solidFill>
              </a:rPr>
              <a:t>							и т. н.</a:t>
            </a:r>
            <a:endParaRPr lang="en-US" sz="2200">
              <a:solidFill>
                <a:schemeClr val="tx2">
                  <a:satMod val="130000"/>
                </a:schemeClr>
              </a:solidFill>
            </a:endParaRPr>
          </a:p>
        </p:txBody>
      </p:sp>
      <p:grpSp>
        <p:nvGrpSpPr>
          <p:cNvPr id="174" name="Group 173"/>
          <p:cNvGrpSpPr/>
          <p:nvPr/>
        </p:nvGrpSpPr>
        <p:grpSpPr>
          <a:xfrm>
            <a:off x="693204" y="1390350"/>
            <a:ext cx="8305800" cy="1006475"/>
            <a:chOff x="604424" y="1248302"/>
            <a:chExt cx="8305800" cy="1006475"/>
          </a:xfrm>
        </p:grpSpPr>
        <p:grpSp>
          <p:nvGrpSpPr>
            <p:cNvPr id="66563" name="Group 3"/>
            <p:cNvGrpSpPr>
              <a:grpSpLocks/>
            </p:cNvGrpSpPr>
            <p:nvPr/>
          </p:nvGrpSpPr>
          <p:grpSpPr bwMode="auto">
            <a:xfrm>
              <a:off x="3957224" y="1299102"/>
              <a:ext cx="1524000" cy="304800"/>
              <a:chOff x="3591" y="1482"/>
              <a:chExt cx="2109" cy="456"/>
            </a:xfrm>
          </p:grpSpPr>
          <p:sp>
            <p:nvSpPr>
              <p:cNvPr id="66729" name="Rectangle 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30" name="Line 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31" name="Line 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32" name="Line 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64" name="Group 8"/>
            <p:cNvGrpSpPr>
              <a:grpSpLocks/>
            </p:cNvGrpSpPr>
            <p:nvPr/>
          </p:nvGrpSpPr>
          <p:grpSpPr bwMode="auto">
            <a:xfrm>
              <a:off x="604424" y="1908702"/>
              <a:ext cx="1524000" cy="304800"/>
              <a:chOff x="3591" y="1482"/>
              <a:chExt cx="2109" cy="456"/>
            </a:xfrm>
          </p:grpSpPr>
          <p:sp>
            <p:nvSpPr>
              <p:cNvPr id="66725" name="Rectangle 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26" name="Line 1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27" name="Line 1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28" name="Line 1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65" name="Group 13"/>
            <p:cNvGrpSpPr>
              <a:grpSpLocks/>
            </p:cNvGrpSpPr>
            <p:nvPr/>
          </p:nvGrpSpPr>
          <p:grpSpPr bwMode="auto">
            <a:xfrm>
              <a:off x="2280824" y="1908702"/>
              <a:ext cx="1524000" cy="304800"/>
              <a:chOff x="3591" y="1482"/>
              <a:chExt cx="2109" cy="456"/>
            </a:xfrm>
          </p:grpSpPr>
          <p:sp>
            <p:nvSpPr>
              <p:cNvPr id="66721" name="Rectangle 1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22" name="Line 1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23" name="Line 1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24" name="Line 1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66" name="Group 18"/>
            <p:cNvGrpSpPr>
              <a:grpSpLocks/>
            </p:cNvGrpSpPr>
            <p:nvPr/>
          </p:nvGrpSpPr>
          <p:grpSpPr bwMode="auto">
            <a:xfrm>
              <a:off x="3957224" y="1908702"/>
              <a:ext cx="1524000" cy="304800"/>
              <a:chOff x="3591" y="1482"/>
              <a:chExt cx="2109" cy="456"/>
            </a:xfrm>
          </p:grpSpPr>
          <p:sp>
            <p:nvSpPr>
              <p:cNvPr id="66717" name="Rectangle 1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18" name="Line 2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19" name="Line 2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20" name="Line 2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67" name="Group 23"/>
            <p:cNvGrpSpPr>
              <a:grpSpLocks/>
            </p:cNvGrpSpPr>
            <p:nvPr/>
          </p:nvGrpSpPr>
          <p:grpSpPr bwMode="auto">
            <a:xfrm>
              <a:off x="5709824" y="1908702"/>
              <a:ext cx="1524000" cy="304800"/>
              <a:chOff x="3591" y="1482"/>
              <a:chExt cx="2109" cy="456"/>
            </a:xfrm>
          </p:grpSpPr>
          <p:sp>
            <p:nvSpPr>
              <p:cNvPr id="66713" name="Rectangle 2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14" name="Line 2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15" name="Line 2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16" name="Line 2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68" name="Group 28"/>
            <p:cNvGrpSpPr>
              <a:grpSpLocks/>
            </p:cNvGrpSpPr>
            <p:nvPr/>
          </p:nvGrpSpPr>
          <p:grpSpPr bwMode="auto">
            <a:xfrm>
              <a:off x="7386224" y="1908702"/>
              <a:ext cx="1524000" cy="304800"/>
              <a:chOff x="3591" y="1482"/>
              <a:chExt cx="2109" cy="456"/>
            </a:xfrm>
          </p:grpSpPr>
          <p:sp>
            <p:nvSpPr>
              <p:cNvPr id="66709" name="Rectangle 2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10" name="Line 3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11" name="Line 3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12" name="Line 3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6584" name="Text Box 108"/>
            <p:cNvSpPr txBox="1">
              <a:spLocks noChangeArrowheads="1"/>
            </p:cNvSpPr>
            <p:nvPr/>
          </p:nvSpPr>
          <p:spPr bwMode="auto">
            <a:xfrm>
              <a:off x="5074824" y="1248302"/>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6585" name="Text Box 109"/>
            <p:cNvSpPr txBox="1">
              <a:spLocks noChangeArrowheads="1"/>
            </p:cNvSpPr>
            <p:nvPr/>
          </p:nvSpPr>
          <p:spPr bwMode="auto">
            <a:xfrm>
              <a:off x="6052724" y="1857902"/>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6586" name="Text Box 110"/>
            <p:cNvSpPr txBox="1">
              <a:spLocks noChangeArrowheads="1"/>
            </p:cNvSpPr>
            <p:nvPr/>
          </p:nvSpPr>
          <p:spPr bwMode="auto">
            <a:xfrm>
              <a:off x="7348124" y="1857902"/>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6587" name="Text Box 111"/>
            <p:cNvSpPr txBox="1">
              <a:spLocks noChangeArrowheads="1"/>
            </p:cNvSpPr>
            <p:nvPr/>
          </p:nvSpPr>
          <p:spPr bwMode="auto">
            <a:xfrm>
              <a:off x="7703724" y="1857902"/>
              <a:ext cx="4445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6588" name="Text Box 112"/>
            <p:cNvSpPr txBox="1">
              <a:spLocks noChangeArrowheads="1"/>
            </p:cNvSpPr>
            <p:nvPr/>
          </p:nvSpPr>
          <p:spPr bwMode="auto">
            <a:xfrm>
              <a:off x="4681124" y="1248302"/>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6589" name="Text Box 113"/>
            <p:cNvSpPr txBox="1">
              <a:spLocks noChangeArrowheads="1"/>
            </p:cNvSpPr>
            <p:nvPr/>
          </p:nvSpPr>
          <p:spPr bwMode="auto">
            <a:xfrm>
              <a:off x="5684424" y="1857902"/>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6590" name="Text Box 114"/>
            <p:cNvSpPr txBox="1">
              <a:spLocks noChangeArrowheads="1"/>
            </p:cNvSpPr>
            <p:nvPr/>
          </p:nvSpPr>
          <p:spPr bwMode="auto">
            <a:xfrm>
              <a:off x="3969924" y="1248302"/>
              <a:ext cx="457200" cy="396875"/>
            </a:xfrm>
            <a:prstGeom prst="rect">
              <a:avLst/>
            </a:prstGeom>
            <a:noFill/>
            <a:ln w="9525">
              <a:noFill/>
              <a:miter lim="800000"/>
              <a:headEnd/>
              <a:tailEnd/>
            </a:ln>
          </p:spPr>
          <p:txBody>
            <a:bodyPr>
              <a:spAutoFit/>
            </a:bodyPr>
            <a:lstStyle/>
            <a:p>
              <a:pPr>
                <a:spcBef>
                  <a:spcPct val="50000"/>
                </a:spcBef>
              </a:pPr>
              <a:r>
                <a:rPr lang="bg-BG" sz="2000"/>
                <a:t>6</a:t>
              </a:r>
              <a:endParaRPr lang="en-US"/>
            </a:p>
          </p:txBody>
        </p:sp>
        <p:sp>
          <p:nvSpPr>
            <p:cNvPr id="66591" name="Text Box 115"/>
            <p:cNvSpPr txBox="1">
              <a:spLocks noChangeArrowheads="1"/>
            </p:cNvSpPr>
            <p:nvPr/>
          </p:nvSpPr>
          <p:spPr bwMode="auto">
            <a:xfrm>
              <a:off x="4300124" y="1248302"/>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6592" name="Text Box 116"/>
            <p:cNvSpPr txBox="1">
              <a:spLocks noChangeArrowheads="1"/>
            </p:cNvSpPr>
            <p:nvPr/>
          </p:nvSpPr>
          <p:spPr bwMode="auto">
            <a:xfrm>
              <a:off x="4300124" y="1857902"/>
              <a:ext cx="457200" cy="396875"/>
            </a:xfrm>
            <a:prstGeom prst="rect">
              <a:avLst/>
            </a:prstGeom>
            <a:noFill/>
            <a:ln w="9525">
              <a:noFill/>
              <a:miter lim="800000"/>
              <a:headEnd/>
              <a:tailEnd/>
            </a:ln>
          </p:spPr>
          <p:txBody>
            <a:bodyPr>
              <a:spAutoFit/>
            </a:bodyPr>
            <a:lstStyle/>
            <a:p>
              <a:pPr>
                <a:spcBef>
                  <a:spcPct val="50000"/>
                </a:spcBef>
              </a:pPr>
              <a:r>
                <a:rPr lang="bg-BG" sz="2000"/>
                <a:t>19</a:t>
              </a:r>
              <a:endParaRPr lang="en-US"/>
            </a:p>
          </p:txBody>
        </p:sp>
        <p:sp>
          <p:nvSpPr>
            <p:cNvPr id="66593" name="Text Box 117"/>
            <p:cNvSpPr txBox="1">
              <a:spLocks noChangeArrowheads="1"/>
            </p:cNvSpPr>
            <p:nvPr/>
          </p:nvSpPr>
          <p:spPr bwMode="auto">
            <a:xfrm>
              <a:off x="3919124" y="1857902"/>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6594" name="Text Box 118"/>
            <p:cNvSpPr txBox="1">
              <a:spLocks noChangeArrowheads="1"/>
            </p:cNvSpPr>
            <p:nvPr/>
          </p:nvSpPr>
          <p:spPr bwMode="auto">
            <a:xfrm>
              <a:off x="2242724" y="1857902"/>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6595" name="Text Box 119"/>
            <p:cNvSpPr txBox="1">
              <a:spLocks noChangeArrowheads="1"/>
            </p:cNvSpPr>
            <p:nvPr/>
          </p:nvSpPr>
          <p:spPr bwMode="auto">
            <a:xfrm>
              <a:off x="2623724" y="1857902"/>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6596" name="Text Box 120"/>
            <p:cNvSpPr txBox="1">
              <a:spLocks noChangeArrowheads="1"/>
            </p:cNvSpPr>
            <p:nvPr/>
          </p:nvSpPr>
          <p:spPr bwMode="auto">
            <a:xfrm>
              <a:off x="1010824" y="1857902"/>
              <a:ext cx="457200" cy="396875"/>
            </a:xfrm>
            <a:prstGeom prst="rect">
              <a:avLst/>
            </a:prstGeom>
            <a:noFill/>
            <a:ln w="9525">
              <a:noFill/>
              <a:miter lim="800000"/>
              <a:headEnd/>
              <a:tailEnd/>
            </a:ln>
          </p:spPr>
          <p:txBody>
            <a:bodyPr>
              <a:spAutoFit/>
            </a:bodyPr>
            <a:lstStyle/>
            <a:p>
              <a:pPr>
                <a:spcBef>
                  <a:spcPct val="50000"/>
                </a:spcBef>
              </a:pPr>
              <a:r>
                <a:rPr lang="bg-BG" sz="2000"/>
                <a:t>5</a:t>
              </a:r>
              <a:endParaRPr lang="en-US"/>
            </a:p>
          </p:txBody>
        </p:sp>
        <p:sp>
          <p:nvSpPr>
            <p:cNvPr id="66597" name="Text Box 121"/>
            <p:cNvSpPr txBox="1">
              <a:spLocks noChangeArrowheads="1"/>
            </p:cNvSpPr>
            <p:nvPr/>
          </p:nvSpPr>
          <p:spPr bwMode="auto">
            <a:xfrm>
              <a:off x="629824" y="1857902"/>
              <a:ext cx="457200" cy="396875"/>
            </a:xfrm>
            <a:prstGeom prst="rect">
              <a:avLst/>
            </a:prstGeom>
            <a:noFill/>
            <a:ln w="9525">
              <a:noFill/>
              <a:miter lim="800000"/>
              <a:headEnd/>
              <a:tailEnd/>
            </a:ln>
          </p:spPr>
          <p:txBody>
            <a:bodyPr>
              <a:spAutoFit/>
            </a:bodyPr>
            <a:lstStyle/>
            <a:p>
              <a:pPr>
                <a:spcBef>
                  <a:spcPct val="50000"/>
                </a:spcBef>
              </a:pPr>
              <a:r>
                <a:rPr lang="bg-BG" sz="2000"/>
                <a:t>4</a:t>
              </a:r>
              <a:endParaRPr lang="en-US"/>
            </a:p>
          </p:txBody>
        </p:sp>
        <p:sp>
          <p:nvSpPr>
            <p:cNvPr id="66598" name="Line 123"/>
            <p:cNvSpPr>
              <a:spLocks noChangeShapeType="1"/>
            </p:cNvSpPr>
            <p:nvPr/>
          </p:nvSpPr>
          <p:spPr bwMode="auto">
            <a:xfrm flipH="1">
              <a:off x="1518824" y="1603902"/>
              <a:ext cx="2438400" cy="304800"/>
            </a:xfrm>
            <a:prstGeom prst="line">
              <a:avLst/>
            </a:prstGeom>
            <a:noFill/>
            <a:ln w="9525">
              <a:solidFill>
                <a:schemeClr val="tx1"/>
              </a:solidFill>
              <a:round/>
              <a:headEnd/>
              <a:tailEnd type="triangle" w="med" len="med"/>
            </a:ln>
          </p:spPr>
          <p:txBody>
            <a:bodyPr wrap="none" anchor="ctr"/>
            <a:lstStyle/>
            <a:p>
              <a:endParaRPr lang="bg-BG"/>
            </a:p>
          </p:txBody>
        </p:sp>
        <p:sp>
          <p:nvSpPr>
            <p:cNvPr id="66599" name="Line 124"/>
            <p:cNvSpPr>
              <a:spLocks noChangeShapeType="1"/>
            </p:cNvSpPr>
            <p:nvPr/>
          </p:nvSpPr>
          <p:spPr bwMode="auto">
            <a:xfrm flipH="1">
              <a:off x="2890424" y="1603902"/>
              <a:ext cx="1447800" cy="304800"/>
            </a:xfrm>
            <a:prstGeom prst="line">
              <a:avLst/>
            </a:prstGeom>
            <a:noFill/>
            <a:ln w="9525">
              <a:solidFill>
                <a:schemeClr val="tx1"/>
              </a:solidFill>
              <a:round/>
              <a:headEnd/>
              <a:tailEnd type="triangle" w="med" len="med"/>
            </a:ln>
          </p:spPr>
          <p:txBody>
            <a:bodyPr wrap="none" anchor="ctr"/>
            <a:lstStyle/>
            <a:p>
              <a:endParaRPr lang="bg-BG"/>
            </a:p>
          </p:txBody>
        </p:sp>
        <p:sp>
          <p:nvSpPr>
            <p:cNvPr id="66600" name="Line 125"/>
            <p:cNvSpPr>
              <a:spLocks noChangeShapeType="1"/>
            </p:cNvSpPr>
            <p:nvPr/>
          </p:nvSpPr>
          <p:spPr bwMode="auto">
            <a:xfrm flipH="1">
              <a:off x="4643024" y="1603902"/>
              <a:ext cx="76200" cy="304800"/>
            </a:xfrm>
            <a:prstGeom prst="line">
              <a:avLst/>
            </a:prstGeom>
            <a:noFill/>
            <a:ln w="9525">
              <a:solidFill>
                <a:schemeClr val="tx1"/>
              </a:solidFill>
              <a:round/>
              <a:headEnd/>
              <a:tailEnd type="triangle" w="med" len="med"/>
            </a:ln>
          </p:spPr>
          <p:txBody>
            <a:bodyPr wrap="none" anchor="ctr"/>
            <a:lstStyle/>
            <a:p>
              <a:endParaRPr lang="bg-BG"/>
            </a:p>
          </p:txBody>
        </p:sp>
        <p:sp>
          <p:nvSpPr>
            <p:cNvPr id="66601" name="Line 126"/>
            <p:cNvSpPr>
              <a:spLocks noChangeShapeType="1"/>
            </p:cNvSpPr>
            <p:nvPr/>
          </p:nvSpPr>
          <p:spPr bwMode="auto">
            <a:xfrm>
              <a:off x="5100224" y="1603902"/>
              <a:ext cx="695325" cy="320675"/>
            </a:xfrm>
            <a:prstGeom prst="line">
              <a:avLst/>
            </a:prstGeom>
            <a:noFill/>
            <a:ln w="9525">
              <a:solidFill>
                <a:schemeClr val="tx1"/>
              </a:solidFill>
              <a:round/>
              <a:headEnd/>
              <a:tailEnd type="triangle" w="med" len="med"/>
            </a:ln>
          </p:spPr>
          <p:txBody>
            <a:bodyPr wrap="none" anchor="ctr"/>
            <a:lstStyle/>
            <a:p>
              <a:endParaRPr lang="bg-BG"/>
            </a:p>
          </p:txBody>
        </p:sp>
        <p:sp>
          <p:nvSpPr>
            <p:cNvPr id="66602" name="Line 127"/>
            <p:cNvSpPr>
              <a:spLocks noChangeShapeType="1"/>
            </p:cNvSpPr>
            <p:nvPr/>
          </p:nvSpPr>
          <p:spPr bwMode="auto">
            <a:xfrm>
              <a:off x="5481224" y="1603902"/>
              <a:ext cx="1898650" cy="320675"/>
            </a:xfrm>
            <a:prstGeom prst="line">
              <a:avLst/>
            </a:prstGeom>
            <a:noFill/>
            <a:ln w="9525">
              <a:solidFill>
                <a:schemeClr val="tx1"/>
              </a:solidFill>
              <a:round/>
              <a:headEnd/>
              <a:tailEnd type="triangle" w="med" len="med"/>
            </a:ln>
          </p:spPr>
          <p:txBody>
            <a:bodyPr wrap="none" anchor="ctr"/>
            <a:lstStyle/>
            <a:p>
              <a:endParaRPr lang="bg-BG"/>
            </a:p>
          </p:txBody>
        </p:sp>
      </p:grpSp>
      <p:grpSp>
        <p:nvGrpSpPr>
          <p:cNvPr id="175" name="Group 174"/>
          <p:cNvGrpSpPr/>
          <p:nvPr/>
        </p:nvGrpSpPr>
        <p:grpSpPr>
          <a:xfrm>
            <a:off x="457200" y="3149600"/>
            <a:ext cx="8382000" cy="1019175"/>
            <a:chOff x="457200" y="3149600"/>
            <a:chExt cx="8382000" cy="1019175"/>
          </a:xfrm>
        </p:grpSpPr>
        <p:grpSp>
          <p:nvGrpSpPr>
            <p:cNvPr id="66569" name="Group 33"/>
            <p:cNvGrpSpPr>
              <a:grpSpLocks/>
            </p:cNvGrpSpPr>
            <p:nvPr/>
          </p:nvGrpSpPr>
          <p:grpSpPr bwMode="auto">
            <a:xfrm>
              <a:off x="3835400" y="3200400"/>
              <a:ext cx="1524000" cy="304800"/>
              <a:chOff x="3591" y="1482"/>
              <a:chExt cx="2109" cy="456"/>
            </a:xfrm>
          </p:grpSpPr>
          <p:sp>
            <p:nvSpPr>
              <p:cNvPr id="66705" name="Rectangle 3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06" name="Line 3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07" name="Line 3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08" name="Line 3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0" name="Group 38"/>
            <p:cNvGrpSpPr>
              <a:grpSpLocks/>
            </p:cNvGrpSpPr>
            <p:nvPr/>
          </p:nvGrpSpPr>
          <p:grpSpPr bwMode="auto">
            <a:xfrm>
              <a:off x="457200" y="3810000"/>
              <a:ext cx="1524000" cy="304800"/>
              <a:chOff x="3591" y="1482"/>
              <a:chExt cx="2109" cy="456"/>
            </a:xfrm>
          </p:grpSpPr>
          <p:sp>
            <p:nvSpPr>
              <p:cNvPr id="66701" name="Rectangle 3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702" name="Line 4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703" name="Line 4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04" name="Line 4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1" name="Group 43"/>
            <p:cNvGrpSpPr>
              <a:grpSpLocks/>
            </p:cNvGrpSpPr>
            <p:nvPr/>
          </p:nvGrpSpPr>
          <p:grpSpPr bwMode="auto">
            <a:xfrm>
              <a:off x="2209800" y="3810000"/>
              <a:ext cx="1524000" cy="304800"/>
              <a:chOff x="3591" y="1482"/>
              <a:chExt cx="2109" cy="456"/>
            </a:xfrm>
          </p:grpSpPr>
          <p:sp>
            <p:nvSpPr>
              <p:cNvPr id="66697" name="Rectangle 4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98" name="Line 4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99" name="Line 4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700" name="Line 4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2" name="Group 48"/>
            <p:cNvGrpSpPr>
              <a:grpSpLocks/>
            </p:cNvGrpSpPr>
            <p:nvPr/>
          </p:nvGrpSpPr>
          <p:grpSpPr bwMode="auto">
            <a:xfrm>
              <a:off x="3886200" y="3797300"/>
              <a:ext cx="1524000" cy="304800"/>
              <a:chOff x="3591" y="1482"/>
              <a:chExt cx="2109" cy="456"/>
            </a:xfrm>
          </p:grpSpPr>
          <p:sp>
            <p:nvSpPr>
              <p:cNvPr id="66693" name="Rectangle 4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94" name="Line 5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95" name="Line 5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96" name="Line 5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3" name="Group 53"/>
            <p:cNvGrpSpPr>
              <a:grpSpLocks/>
            </p:cNvGrpSpPr>
            <p:nvPr/>
          </p:nvGrpSpPr>
          <p:grpSpPr bwMode="auto">
            <a:xfrm>
              <a:off x="5638800" y="3784600"/>
              <a:ext cx="1524000" cy="304800"/>
              <a:chOff x="3591" y="1482"/>
              <a:chExt cx="2109" cy="456"/>
            </a:xfrm>
          </p:grpSpPr>
          <p:sp>
            <p:nvSpPr>
              <p:cNvPr id="66689" name="Rectangle 5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90" name="Line 5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91" name="Line 5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92" name="Line 5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4" name="Group 58"/>
            <p:cNvGrpSpPr>
              <a:grpSpLocks/>
            </p:cNvGrpSpPr>
            <p:nvPr/>
          </p:nvGrpSpPr>
          <p:grpSpPr bwMode="auto">
            <a:xfrm>
              <a:off x="7315200" y="3771900"/>
              <a:ext cx="1524000" cy="304800"/>
              <a:chOff x="3591" y="1482"/>
              <a:chExt cx="2109" cy="456"/>
            </a:xfrm>
          </p:grpSpPr>
          <p:sp>
            <p:nvSpPr>
              <p:cNvPr id="66685" name="Rectangle 5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86" name="Line 6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87" name="Line 6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88" name="Line 6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6604" name="Text Box 129"/>
            <p:cNvSpPr txBox="1">
              <a:spLocks noChangeArrowheads="1"/>
            </p:cNvSpPr>
            <p:nvPr/>
          </p:nvSpPr>
          <p:spPr bwMode="auto">
            <a:xfrm>
              <a:off x="3835400" y="3149600"/>
              <a:ext cx="457200" cy="396875"/>
            </a:xfrm>
            <a:prstGeom prst="rect">
              <a:avLst/>
            </a:prstGeom>
            <a:noFill/>
            <a:ln w="9525">
              <a:noFill/>
              <a:miter lim="800000"/>
              <a:headEnd/>
              <a:tailEnd/>
            </a:ln>
          </p:spPr>
          <p:txBody>
            <a:bodyPr>
              <a:spAutoFit/>
            </a:bodyPr>
            <a:lstStyle/>
            <a:p>
              <a:pPr>
                <a:spcBef>
                  <a:spcPct val="50000"/>
                </a:spcBef>
              </a:pPr>
              <a:r>
                <a:rPr lang="bg-BG" sz="2000"/>
                <a:t>6</a:t>
              </a:r>
              <a:endParaRPr lang="en-US"/>
            </a:p>
          </p:txBody>
        </p:sp>
        <p:sp>
          <p:nvSpPr>
            <p:cNvPr id="66606" name="Text Box 131"/>
            <p:cNvSpPr txBox="1">
              <a:spLocks noChangeArrowheads="1"/>
            </p:cNvSpPr>
            <p:nvPr/>
          </p:nvSpPr>
          <p:spPr bwMode="auto">
            <a:xfrm>
              <a:off x="4203700" y="3149600"/>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6608" name="Text Box 135"/>
            <p:cNvSpPr txBox="1">
              <a:spLocks noChangeArrowheads="1"/>
            </p:cNvSpPr>
            <p:nvPr/>
          </p:nvSpPr>
          <p:spPr bwMode="auto">
            <a:xfrm>
              <a:off x="4584700" y="3149600"/>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6610" name="Text Box 137"/>
            <p:cNvSpPr txBox="1">
              <a:spLocks noChangeArrowheads="1"/>
            </p:cNvSpPr>
            <p:nvPr/>
          </p:nvSpPr>
          <p:spPr bwMode="auto">
            <a:xfrm>
              <a:off x="4953000" y="3149600"/>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6612" name="Text Box 139"/>
            <p:cNvSpPr txBox="1">
              <a:spLocks noChangeArrowheads="1"/>
            </p:cNvSpPr>
            <p:nvPr/>
          </p:nvSpPr>
          <p:spPr bwMode="auto">
            <a:xfrm>
              <a:off x="1219200" y="3771900"/>
              <a:ext cx="457200" cy="396875"/>
            </a:xfrm>
            <a:prstGeom prst="rect">
              <a:avLst/>
            </a:prstGeom>
            <a:noFill/>
            <a:ln w="9525">
              <a:noFill/>
              <a:miter lim="800000"/>
              <a:headEnd/>
              <a:tailEnd/>
            </a:ln>
          </p:spPr>
          <p:txBody>
            <a:bodyPr>
              <a:spAutoFit/>
            </a:bodyPr>
            <a:lstStyle/>
            <a:p>
              <a:pPr>
                <a:spcBef>
                  <a:spcPct val="50000"/>
                </a:spcBef>
              </a:pPr>
              <a:r>
                <a:rPr lang="bg-BG" sz="2000"/>
                <a:t>4</a:t>
              </a:r>
              <a:endParaRPr lang="en-US"/>
            </a:p>
          </p:txBody>
        </p:sp>
        <p:sp>
          <p:nvSpPr>
            <p:cNvPr id="66614" name="Text Box 141"/>
            <p:cNvSpPr txBox="1">
              <a:spLocks noChangeArrowheads="1"/>
            </p:cNvSpPr>
            <p:nvPr/>
          </p:nvSpPr>
          <p:spPr bwMode="auto">
            <a:xfrm>
              <a:off x="1625600" y="3759200"/>
              <a:ext cx="457200" cy="396875"/>
            </a:xfrm>
            <a:prstGeom prst="rect">
              <a:avLst/>
            </a:prstGeom>
            <a:noFill/>
            <a:ln w="9525">
              <a:noFill/>
              <a:miter lim="800000"/>
              <a:headEnd/>
              <a:tailEnd/>
            </a:ln>
          </p:spPr>
          <p:txBody>
            <a:bodyPr>
              <a:spAutoFit/>
            </a:bodyPr>
            <a:lstStyle/>
            <a:p>
              <a:pPr>
                <a:spcBef>
                  <a:spcPct val="50000"/>
                </a:spcBef>
              </a:pPr>
              <a:r>
                <a:rPr lang="bg-BG" sz="2000"/>
                <a:t>5</a:t>
              </a:r>
              <a:endParaRPr lang="en-US"/>
            </a:p>
          </p:txBody>
        </p:sp>
        <p:sp>
          <p:nvSpPr>
            <p:cNvPr id="66615" name="Text Box 142"/>
            <p:cNvSpPr txBox="1">
              <a:spLocks noChangeArrowheads="1"/>
            </p:cNvSpPr>
            <p:nvPr/>
          </p:nvSpPr>
          <p:spPr bwMode="auto">
            <a:xfrm>
              <a:off x="863600" y="3771900"/>
              <a:ext cx="457200" cy="396875"/>
            </a:xfrm>
            <a:prstGeom prst="rect">
              <a:avLst/>
            </a:prstGeom>
            <a:noFill/>
            <a:ln w="9525">
              <a:noFill/>
              <a:miter lim="800000"/>
              <a:headEnd/>
              <a:tailEnd/>
            </a:ln>
          </p:spPr>
          <p:txBody>
            <a:bodyPr>
              <a:spAutoFit/>
            </a:bodyPr>
            <a:lstStyle/>
            <a:p>
              <a:pPr>
                <a:spcBef>
                  <a:spcPct val="50000"/>
                </a:spcBef>
              </a:pPr>
              <a:r>
                <a:rPr lang="bg-BG" sz="2000"/>
                <a:t>3</a:t>
              </a:r>
              <a:endParaRPr lang="en-US"/>
            </a:p>
          </p:txBody>
        </p:sp>
        <p:sp>
          <p:nvSpPr>
            <p:cNvPr id="66616" name="Text Box 143"/>
            <p:cNvSpPr txBox="1">
              <a:spLocks noChangeArrowheads="1"/>
            </p:cNvSpPr>
            <p:nvPr/>
          </p:nvSpPr>
          <p:spPr bwMode="auto">
            <a:xfrm>
              <a:off x="495300" y="3771900"/>
              <a:ext cx="457200" cy="396875"/>
            </a:xfrm>
            <a:prstGeom prst="rect">
              <a:avLst/>
            </a:prstGeom>
            <a:noFill/>
            <a:ln w="9525">
              <a:noFill/>
              <a:miter lim="800000"/>
              <a:headEnd/>
              <a:tailEnd/>
            </a:ln>
          </p:spPr>
          <p:txBody>
            <a:bodyPr>
              <a:spAutoFit/>
            </a:bodyPr>
            <a:lstStyle/>
            <a:p>
              <a:pPr>
                <a:spcBef>
                  <a:spcPct val="50000"/>
                </a:spcBef>
              </a:pPr>
              <a:r>
                <a:rPr lang="bg-BG" sz="2000"/>
                <a:t>2</a:t>
              </a:r>
              <a:endParaRPr lang="en-US"/>
            </a:p>
          </p:txBody>
        </p:sp>
        <p:sp>
          <p:nvSpPr>
            <p:cNvPr id="66618" name="Text Box 145"/>
            <p:cNvSpPr txBox="1">
              <a:spLocks noChangeArrowheads="1"/>
            </p:cNvSpPr>
            <p:nvPr/>
          </p:nvSpPr>
          <p:spPr bwMode="auto">
            <a:xfrm>
              <a:off x="2184400" y="3771900"/>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6620" name="Text Box 147"/>
            <p:cNvSpPr txBox="1">
              <a:spLocks noChangeArrowheads="1"/>
            </p:cNvSpPr>
            <p:nvPr/>
          </p:nvSpPr>
          <p:spPr bwMode="auto">
            <a:xfrm>
              <a:off x="2552700" y="3771900"/>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6625" name="Text Box 152"/>
            <p:cNvSpPr txBox="1">
              <a:spLocks noChangeArrowheads="1"/>
            </p:cNvSpPr>
            <p:nvPr/>
          </p:nvSpPr>
          <p:spPr bwMode="auto">
            <a:xfrm>
              <a:off x="3848100" y="3759200"/>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6627" name="Text Box 154"/>
            <p:cNvSpPr txBox="1">
              <a:spLocks noChangeArrowheads="1"/>
            </p:cNvSpPr>
            <p:nvPr/>
          </p:nvSpPr>
          <p:spPr bwMode="auto">
            <a:xfrm>
              <a:off x="4229100" y="3759200"/>
              <a:ext cx="457200" cy="396875"/>
            </a:xfrm>
            <a:prstGeom prst="rect">
              <a:avLst/>
            </a:prstGeom>
            <a:noFill/>
            <a:ln w="9525">
              <a:noFill/>
              <a:miter lim="800000"/>
              <a:headEnd/>
              <a:tailEnd/>
            </a:ln>
          </p:spPr>
          <p:txBody>
            <a:bodyPr>
              <a:spAutoFit/>
            </a:bodyPr>
            <a:lstStyle/>
            <a:p>
              <a:pPr>
                <a:spcBef>
                  <a:spcPct val="50000"/>
                </a:spcBef>
              </a:pPr>
              <a:r>
                <a:rPr lang="bg-BG" sz="2000"/>
                <a:t>19</a:t>
              </a:r>
              <a:endParaRPr lang="en-US"/>
            </a:p>
          </p:txBody>
        </p:sp>
        <p:sp>
          <p:nvSpPr>
            <p:cNvPr id="66629" name="Text Box 158"/>
            <p:cNvSpPr txBox="1">
              <a:spLocks noChangeArrowheads="1"/>
            </p:cNvSpPr>
            <p:nvPr/>
          </p:nvSpPr>
          <p:spPr bwMode="auto">
            <a:xfrm>
              <a:off x="5600700" y="3746500"/>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6631" name="Text Box 160"/>
            <p:cNvSpPr txBox="1">
              <a:spLocks noChangeArrowheads="1"/>
            </p:cNvSpPr>
            <p:nvPr/>
          </p:nvSpPr>
          <p:spPr bwMode="auto">
            <a:xfrm>
              <a:off x="5981700" y="3746500"/>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6633" name="Text Box 162"/>
            <p:cNvSpPr txBox="1">
              <a:spLocks noChangeArrowheads="1"/>
            </p:cNvSpPr>
            <p:nvPr/>
          </p:nvSpPr>
          <p:spPr bwMode="auto">
            <a:xfrm>
              <a:off x="7264400" y="3733800"/>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6635" name="Text Box 164"/>
            <p:cNvSpPr txBox="1">
              <a:spLocks noChangeArrowheads="1"/>
            </p:cNvSpPr>
            <p:nvPr/>
          </p:nvSpPr>
          <p:spPr bwMode="auto">
            <a:xfrm>
              <a:off x="7670800" y="3721100"/>
              <a:ext cx="4445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6636" name="Line 165"/>
            <p:cNvSpPr>
              <a:spLocks noChangeShapeType="1"/>
            </p:cNvSpPr>
            <p:nvPr/>
          </p:nvSpPr>
          <p:spPr bwMode="auto">
            <a:xfrm flipH="1">
              <a:off x="1908175" y="3505200"/>
              <a:ext cx="1901825" cy="284163"/>
            </a:xfrm>
            <a:prstGeom prst="line">
              <a:avLst/>
            </a:prstGeom>
            <a:noFill/>
            <a:ln w="9525">
              <a:solidFill>
                <a:schemeClr val="tx1"/>
              </a:solidFill>
              <a:round/>
              <a:headEnd/>
              <a:tailEnd type="triangle" w="med" len="med"/>
            </a:ln>
          </p:spPr>
          <p:txBody>
            <a:bodyPr wrap="none" anchor="ctr"/>
            <a:lstStyle/>
            <a:p>
              <a:endParaRPr lang="bg-BG"/>
            </a:p>
          </p:txBody>
        </p:sp>
        <p:sp>
          <p:nvSpPr>
            <p:cNvPr id="66637" name="Line 166"/>
            <p:cNvSpPr>
              <a:spLocks noChangeShapeType="1"/>
            </p:cNvSpPr>
            <p:nvPr/>
          </p:nvSpPr>
          <p:spPr bwMode="auto">
            <a:xfrm flipH="1">
              <a:off x="2916238" y="3505200"/>
              <a:ext cx="1274762" cy="284163"/>
            </a:xfrm>
            <a:prstGeom prst="line">
              <a:avLst/>
            </a:prstGeom>
            <a:noFill/>
            <a:ln w="9525">
              <a:solidFill>
                <a:schemeClr val="tx1"/>
              </a:solidFill>
              <a:round/>
              <a:headEnd/>
              <a:tailEnd type="triangle" w="med" len="med"/>
            </a:ln>
          </p:spPr>
          <p:txBody>
            <a:bodyPr wrap="none" anchor="ctr"/>
            <a:lstStyle/>
            <a:p>
              <a:endParaRPr lang="bg-BG"/>
            </a:p>
          </p:txBody>
        </p:sp>
        <p:sp>
          <p:nvSpPr>
            <p:cNvPr id="66638" name="Line 167"/>
            <p:cNvSpPr>
              <a:spLocks noChangeShapeType="1"/>
            </p:cNvSpPr>
            <p:nvPr/>
          </p:nvSpPr>
          <p:spPr bwMode="auto">
            <a:xfrm>
              <a:off x="4572000" y="3505200"/>
              <a:ext cx="71438" cy="355600"/>
            </a:xfrm>
            <a:prstGeom prst="line">
              <a:avLst/>
            </a:prstGeom>
            <a:noFill/>
            <a:ln w="9525">
              <a:solidFill>
                <a:schemeClr val="tx1"/>
              </a:solidFill>
              <a:round/>
              <a:headEnd/>
              <a:tailEnd type="triangle" w="med" len="med"/>
            </a:ln>
          </p:spPr>
          <p:txBody>
            <a:bodyPr wrap="none" anchor="ctr"/>
            <a:lstStyle/>
            <a:p>
              <a:endParaRPr lang="bg-BG"/>
            </a:p>
          </p:txBody>
        </p:sp>
        <p:sp>
          <p:nvSpPr>
            <p:cNvPr id="66639" name="Line 168"/>
            <p:cNvSpPr>
              <a:spLocks noChangeShapeType="1"/>
            </p:cNvSpPr>
            <p:nvPr/>
          </p:nvSpPr>
          <p:spPr bwMode="auto">
            <a:xfrm>
              <a:off x="5029200" y="3505200"/>
              <a:ext cx="622300" cy="284163"/>
            </a:xfrm>
            <a:prstGeom prst="line">
              <a:avLst/>
            </a:prstGeom>
            <a:noFill/>
            <a:ln w="9525">
              <a:solidFill>
                <a:schemeClr val="tx1"/>
              </a:solidFill>
              <a:round/>
              <a:headEnd/>
              <a:tailEnd type="triangle" w="med" len="med"/>
            </a:ln>
          </p:spPr>
          <p:txBody>
            <a:bodyPr wrap="none" anchor="ctr"/>
            <a:lstStyle/>
            <a:p>
              <a:endParaRPr lang="bg-BG"/>
            </a:p>
          </p:txBody>
        </p:sp>
        <p:sp>
          <p:nvSpPr>
            <p:cNvPr id="66640" name="Line 169"/>
            <p:cNvSpPr>
              <a:spLocks noChangeShapeType="1"/>
            </p:cNvSpPr>
            <p:nvPr/>
          </p:nvSpPr>
          <p:spPr bwMode="auto">
            <a:xfrm>
              <a:off x="5334000" y="3505200"/>
              <a:ext cx="2046288" cy="284163"/>
            </a:xfrm>
            <a:prstGeom prst="line">
              <a:avLst/>
            </a:prstGeom>
            <a:noFill/>
            <a:ln w="9525">
              <a:solidFill>
                <a:schemeClr val="tx1"/>
              </a:solidFill>
              <a:round/>
              <a:headEnd/>
              <a:tailEnd type="triangle" w="med" len="med"/>
            </a:ln>
          </p:spPr>
          <p:txBody>
            <a:bodyPr wrap="none" anchor="ctr"/>
            <a:lstStyle/>
            <a:p>
              <a:endParaRPr lang="bg-BG"/>
            </a:p>
          </p:txBody>
        </p:sp>
      </p:grpSp>
      <p:grpSp>
        <p:nvGrpSpPr>
          <p:cNvPr id="176" name="Group 175"/>
          <p:cNvGrpSpPr/>
          <p:nvPr/>
        </p:nvGrpSpPr>
        <p:grpSpPr>
          <a:xfrm>
            <a:off x="187912" y="4845984"/>
            <a:ext cx="8839200" cy="1628775"/>
            <a:chOff x="152400" y="4597400"/>
            <a:chExt cx="8839200" cy="1628775"/>
          </a:xfrm>
        </p:grpSpPr>
        <p:grpSp>
          <p:nvGrpSpPr>
            <p:cNvPr id="66575" name="Group 63"/>
            <p:cNvGrpSpPr>
              <a:grpSpLocks/>
            </p:cNvGrpSpPr>
            <p:nvPr/>
          </p:nvGrpSpPr>
          <p:grpSpPr bwMode="auto">
            <a:xfrm>
              <a:off x="3886200" y="4648200"/>
              <a:ext cx="1524000" cy="304800"/>
              <a:chOff x="3591" y="1482"/>
              <a:chExt cx="2109" cy="456"/>
            </a:xfrm>
          </p:grpSpPr>
          <p:sp>
            <p:nvSpPr>
              <p:cNvPr id="66681" name="Rectangle 6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82" name="Line 6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83" name="Line 6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84" name="Line 6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6" name="Group 68"/>
            <p:cNvGrpSpPr>
              <a:grpSpLocks/>
            </p:cNvGrpSpPr>
            <p:nvPr/>
          </p:nvGrpSpPr>
          <p:grpSpPr bwMode="auto">
            <a:xfrm>
              <a:off x="2362200" y="5219700"/>
              <a:ext cx="1524000" cy="304800"/>
              <a:chOff x="3591" y="1482"/>
              <a:chExt cx="2109" cy="456"/>
            </a:xfrm>
          </p:grpSpPr>
          <p:sp>
            <p:nvSpPr>
              <p:cNvPr id="66677" name="Rectangle 6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78" name="Line 7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79" name="Line 7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80" name="Line 7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7" name="Group 73"/>
            <p:cNvGrpSpPr>
              <a:grpSpLocks/>
            </p:cNvGrpSpPr>
            <p:nvPr/>
          </p:nvGrpSpPr>
          <p:grpSpPr bwMode="auto">
            <a:xfrm>
              <a:off x="5410200" y="5219700"/>
              <a:ext cx="1524000" cy="304800"/>
              <a:chOff x="3591" y="1482"/>
              <a:chExt cx="2109" cy="456"/>
            </a:xfrm>
          </p:grpSpPr>
          <p:sp>
            <p:nvSpPr>
              <p:cNvPr id="66673" name="Rectangle 7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74" name="Line 7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75" name="Line 7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76" name="Line 7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8" name="Group 78"/>
            <p:cNvGrpSpPr>
              <a:grpSpLocks/>
            </p:cNvGrpSpPr>
            <p:nvPr/>
          </p:nvGrpSpPr>
          <p:grpSpPr bwMode="auto">
            <a:xfrm>
              <a:off x="152400" y="5867400"/>
              <a:ext cx="1447800" cy="304800"/>
              <a:chOff x="3591" y="1482"/>
              <a:chExt cx="2109" cy="456"/>
            </a:xfrm>
          </p:grpSpPr>
          <p:sp>
            <p:nvSpPr>
              <p:cNvPr id="66669" name="Rectangle 7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70" name="Line 8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71" name="Line 8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72" name="Line 8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79" name="Group 83"/>
            <p:cNvGrpSpPr>
              <a:grpSpLocks/>
            </p:cNvGrpSpPr>
            <p:nvPr/>
          </p:nvGrpSpPr>
          <p:grpSpPr bwMode="auto">
            <a:xfrm>
              <a:off x="7696200" y="5880100"/>
              <a:ext cx="1295400" cy="304800"/>
              <a:chOff x="3591" y="1482"/>
              <a:chExt cx="2109" cy="456"/>
            </a:xfrm>
          </p:grpSpPr>
          <p:sp>
            <p:nvSpPr>
              <p:cNvPr id="66665" name="Rectangle 8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66" name="Line 8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67" name="Line 8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68" name="Line 8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80" name="Group 88"/>
            <p:cNvGrpSpPr>
              <a:grpSpLocks/>
            </p:cNvGrpSpPr>
            <p:nvPr/>
          </p:nvGrpSpPr>
          <p:grpSpPr bwMode="auto">
            <a:xfrm>
              <a:off x="3200400" y="5880100"/>
              <a:ext cx="1447800" cy="304800"/>
              <a:chOff x="3591" y="1482"/>
              <a:chExt cx="2109" cy="456"/>
            </a:xfrm>
          </p:grpSpPr>
          <p:sp>
            <p:nvSpPr>
              <p:cNvPr id="66661" name="Rectangle 8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62" name="Line 9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63" name="Line 9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64" name="Line 9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81" name="Group 93"/>
            <p:cNvGrpSpPr>
              <a:grpSpLocks/>
            </p:cNvGrpSpPr>
            <p:nvPr/>
          </p:nvGrpSpPr>
          <p:grpSpPr bwMode="auto">
            <a:xfrm>
              <a:off x="1663700" y="5880100"/>
              <a:ext cx="1447800" cy="304800"/>
              <a:chOff x="3591" y="1482"/>
              <a:chExt cx="2109" cy="456"/>
            </a:xfrm>
          </p:grpSpPr>
          <p:sp>
            <p:nvSpPr>
              <p:cNvPr id="66657" name="Rectangle 9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58" name="Line 9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59" name="Line 9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60" name="Line 9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82" name="Group 98"/>
            <p:cNvGrpSpPr>
              <a:grpSpLocks/>
            </p:cNvGrpSpPr>
            <p:nvPr/>
          </p:nvGrpSpPr>
          <p:grpSpPr bwMode="auto">
            <a:xfrm>
              <a:off x="6248400" y="5880100"/>
              <a:ext cx="1371600" cy="304800"/>
              <a:chOff x="3591" y="1482"/>
              <a:chExt cx="2109" cy="456"/>
            </a:xfrm>
          </p:grpSpPr>
          <p:sp>
            <p:nvSpPr>
              <p:cNvPr id="66653" name="Rectangle 99"/>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54" name="Line 100"/>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55" name="Line 101"/>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56" name="Line 102"/>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grpSp>
          <p:nvGrpSpPr>
            <p:cNvPr id="66583" name="Group 103"/>
            <p:cNvGrpSpPr>
              <a:grpSpLocks/>
            </p:cNvGrpSpPr>
            <p:nvPr/>
          </p:nvGrpSpPr>
          <p:grpSpPr bwMode="auto">
            <a:xfrm>
              <a:off x="4737100" y="5880100"/>
              <a:ext cx="1447800" cy="304800"/>
              <a:chOff x="3591" y="1482"/>
              <a:chExt cx="2109" cy="456"/>
            </a:xfrm>
          </p:grpSpPr>
          <p:sp>
            <p:nvSpPr>
              <p:cNvPr id="66649" name="Rectangle 104"/>
              <p:cNvSpPr>
                <a:spLocks noChangeArrowheads="1"/>
              </p:cNvSpPr>
              <p:nvPr/>
            </p:nvSpPr>
            <p:spPr bwMode="auto">
              <a:xfrm>
                <a:off x="3591" y="1482"/>
                <a:ext cx="2109" cy="456"/>
              </a:xfrm>
              <a:prstGeom prst="rect">
                <a:avLst/>
              </a:prstGeom>
              <a:solidFill>
                <a:srgbClr val="FFFFFF"/>
              </a:solidFill>
              <a:ln w="9525">
                <a:solidFill>
                  <a:srgbClr val="000000"/>
                </a:solidFill>
                <a:miter lim="800000"/>
                <a:headEnd/>
                <a:tailEnd/>
              </a:ln>
            </p:spPr>
            <p:txBody>
              <a:bodyPr/>
              <a:lstStyle/>
              <a:p>
                <a:endParaRPr lang="bg-BG"/>
              </a:p>
            </p:txBody>
          </p:sp>
          <p:sp>
            <p:nvSpPr>
              <p:cNvPr id="66650" name="Line 105"/>
              <p:cNvSpPr>
                <a:spLocks noChangeShapeType="1"/>
              </p:cNvSpPr>
              <p:nvPr/>
            </p:nvSpPr>
            <p:spPr bwMode="auto">
              <a:xfrm>
                <a:off x="4632" y="1482"/>
                <a:ext cx="0" cy="456"/>
              </a:xfrm>
              <a:prstGeom prst="line">
                <a:avLst/>
              </a:prstGeom>
              <a:noFill/>
              <a:ln w="9525">
                <a:solidFill>
                  <a:srgbClr val="000000"/>
                </a:solidFill>
                <a:round/>
                <a:headEnd/>
                <a:tailEnd/>
              </a:ln>
            </p:spPr>
            <p:txBody>
              <a:bodyPr/>
              <a:lstStyle/>
              <a:p>
                <a:endParaRPr lang="bg-BG"/>
              </a:p>
            </p:txBody>
          </p:sp>
          <p:sp>
            <p:nvSpPr>
              <p:cNvPr id="66651" name="Line 106"/>
              <p:cNvSpPr>
                <a:spLocks noChangeShapeType="1"/>
              </p:cNvSpPr>
              <p:nvPr/>
            </p:nvSpPr>
            <p:spPr bwMode="auto">
              <a:xfrm>
                <a:off x="5175" y="1482"/>
                <a:ext cx="0" cy="456"/>
              </a:xfrm>
              <a:prstGeom prst="line">
                <a:avLst/>
              </a:prstGeom>
              <a:noFill/>
              <a:ln w="9525">
                <a:solidFill>
                  <a:srgbClr val="000000"/>
                </a:solidFill>
                <a:round/>
                <a:headEnd/>
                <a:tailEnd/>
              </a:ln>
            </p:spPr>
            <p:txBody>
              <a:bodyPr/>
              <a:lstStyle/>
              <a:p>
                <a:endParaRPr lang="bg-BG"/>
              </a:p>
            </p:txBody>
          </p:sp>
          <p:sp>
            <p:nvSpPr>
              <p:cNvPr id="66652" name="Line 107"/>
              <p:cNvSpPr>
                <a:spLocks noChangeShapeType="1"/>
              </p:cNvSpPr>
              <p:nvPr/>
            </p:nvSpPr>
            <p:spPr bwMode="auto">
              <a:xfrm>
                <a:off x="4104" y="1482"/>
                <a:ext cx="0" cy="456"/>
              </a:xfrm>
              <a:prstGeom prst="line">
                <a:avLst/>
              </a:prstGeom>
              <a:noFill/>
              <a:ln w="9525">
                <a:solidFill>
                  <a:srgbClr val="000000"/>
                </a:solidFill>
                <a:round/>
                <a:headEnd/>
                <a:tailEnd/>
              </a:ln>
            </p:spPr>
            <p:txBody>
              <a:bodyPr/>
              <a:lstStyle/>
              <a:p>
                <a:endParaRPr lang="bg-BG"/>
              </a:p>
            </p:txBody>
          </p:sp>
        </p:grpSp>
        <p:sp>
          <p:nvSpPr>
            <p:cNvPr id="66603" name="Text Box 128"/>
            <p:cNvSpPr txBox="1">
              <a:spLocks noChangeArrowheads="1"/>
            </p:cNvSpPr>
            <p:nvPr/>
          </p:nvSpPr>
          <p:spPr bwMode="auto">
            <a:xfrm>
              <a:off x="2768600" y="5181600"/>
              <a:ext cx="457200" cy="396875"/>
            </a:xfrm>
            <a:prstGeom prst="rect">
              <a:avLst/>
            </a:prstGeom>
            <a:noFill/>
            <a:ln w="9525">
              <a:noFill/>
              <a:miter lim="800000"/>
              <a:headEnd/>
              <a:tailEnd/>
            </a:ln>
          </p:spPr>
          <p:txBody>
            <a:bodyPr>
              <a:spAutoFit/>
            </a:bodyPr>
            <a:lstStyle/>
            <a:p>
              <a:pPr>
                <a:spcBef>
                  <a:spcPct val="50000"/>
                </a:spcBef>
              </a:pPr>
              <a:r>
                <a:rPr lang="bg-BG" sz="2000"/>
                <a:t>6</a:t>
              </a:r>
              <a:endParaRPr lang="en-US"/>
            </a:p>
          </p:txBody>
        </p:sp>
        <p:sp>
          <p:nvSpPr>
            <p:cNvPr id="66605" name="Text Box 130"/>
            <p:cNvSpPr txBox="1">
              <a:spLocks noChangeArrowheads="1"/>
            </p:cNvSpPr>
            <p:nvPr/>
          </p:nvSpPr>
          <p:spPr bwMode="auto">
            <a:xfrm>
              <a:off x="3848100" y="4597400"/>
              <a:ext cx="457200" cy="396875"/>
            </a:xfrm>
            <a:prstGeom prst="rect">
              <a:avLst/>
            </a:prstGeom>
            <a:noFill/>
            <a:ln w="9525">
              <a:noFill/>
              <a:miter lim="800000"/>
              <a:headEnd/>
              <a:tailEnd/>
            </a:ln>
          </p:spPr>
          <p:txBody>
            <a:bodyPr>
              <a:spAutoFit/>
            </a:bodyPr>
            <a:lstStyle/>
            <a:p>
              <a:pPr>
                <a:spcBef>
                  <a:spcPct val="50000"/>
                </a:spcBef>
              </a:pPr>
              <a:r>
                <a:rPr lang="bg-BG" sz="2000"/>
                <a:t>15</a:t>
              </a:r>
              <a:endParaRPr lang="en-US"/>
            </a:p>
          </p:txBody>
        </p:sp>
        <p:sp>
          <p:nvSpPr>
            <p:cNvPr id="66607" name="Text Box 134"/>
            <p:cNvSpPr txBox="1">
              <a:spLocks noChangeArrowheads="1"/>
            </p:cNvSpPr>
            <p:nvPr/>
          </p:nvSpPr>
          <p:spPr bwMode="auto">
            <a:xfrm>
              <a:off x="5359400" y="5181600"/>
              <a:ext cx="457200" cy="396875"/>
            </a:xfrm>
            <a:prstGeom prst="rect">
              <a:avLst/>
            </a:prstGeom>
            <a:noFill/>
            <a:ln w="9525">
              <a:noFill/>
              <a:miter lim="800000"/>
              <a:headEnd/>
              <a:tailEnd/>
            </a:ln>
          </p:spPr>
          <p:txBody>
            <a:bodyPr>
              <a:spAutoFit/>
            </a:bodyPr>
            <a:lstStyle/>
            <a:p>
              <a:pPr>
                <a:spcBef>
                  <a:spcPct val="50000"/>
                </a:spcBef>
              </a:pPr>
              <a:r>
                <a:rPr lang="bg-BG" sz="2000"/>
                <a:t>20</a:t>
              </a:r>
              <a:endParaRPr lang="en-US"/>
            </a:p>
          </p:txBody>
        </p:sp>
        <p:sp>
          <p:nvSpPr>
            <p:cNvPr id="66609" name="Text Box 136"/>
            <p:cNvSpPr txBox="1">
              <a:spLocks noChangeArrowheads="1"/>
            </p:cNvSpPr>
            <p:nvPr/>
          </p:nvSpPr>
          <p:spPr bwMode="auto">
            <a:xfrm>
              <a:off x="5740400" y="5178425"/>
              <a:ext cx="457200" cy="396875"/>
            </a:xfrm>
            <a:prstGeom prst="rect">
              <a:avLst/>
            </a:prstGeom>
            <a:noFill/>
            <a:ln w="9525">
              <a:noFill/>
              <a:miter lim="800000"/>
              <a:headEnd/>
              <a:tailEnd/>
            </a:ln>
          </p:spPr>
          <p:txBody>
            <a:bodyPr>
              <a:spAutoFit/>
            </a:bodyPr>
            <a:lstStyle/>
            <a:p>
              <a:pPr>
                <a:spcBef>
                  <a:spcPct val="50000"/>
                </a:spcBef>
              </a:pPr>
              <a:r>
                <a:rPr lang="bg-BG" sz="2000"/>
                <a:t>60</a:t>
              </a:r>
              <a:endParaRPr lang="en-US"/>
            </a:p>
          </p:txBody>
        </p:sp>
        <p:sp>
          <p:nvSpPr>
            <p:cNvPr id="66611" name="Text Box 138"/>
            <p:cNvSpPr txBox="1">
              <a:spLocks noChangeArrowheads="1"/>
            </p:cNvSpPr>
            <p:nvPr/>
          </p:nvSpPr>
          <p:spPr bwMode="auto">
            <a:xfrm>
              <a:off x="1663700" y="5829300"/>
              <a:ext cx="431800" cy="396875"/>
            </a:xfrm>
            <a:prstGeom prst="rect">
              <a:avLst/>
            </a:prstGeom>
            <a:noFill/>
            <a:ln w="9525">
              <a:noFill/>
              <a:miter lim="800000"/>
              <a:headEnd/>
              <a:tailEnd/>
            </a:ln>
          </p:spPr>
          <p:txBody>
            <a:bodyPr>
              <a:spAutoFit/>
            </a:bodyPr>
            <a:lstStyle/>
            <a:p>
              <a:pPr>
                <a:spcBef>
                  <a:spcPct val="50000"/>
                </a:spcBef>
              </a:pPr>
              <a:r>
                <a:rPr lang="bg-BG" sz="2000"/>
                <a:t>4</a:t>
              </a:r>
              <a:endParaRPr lang="en-US"/>
            </a:p>
          </p:txBody>
        </p:sp>
        <p:sp>
          <p:nvSpPr>
            <p:cNvPr id="66613" name="Text Box 140"/>
            <p:cNvSpPr txBox="1">
              <a:spLocks noChangeArrowheads="1"/>
            </p:cNvSpPr>
            <p:nvPr/>
          </p:nvSpPr>
          <p:spPr bwMode="auto">
            <a:xfrm>
              <a:off x="2032000" y="5829300"/>
              <a:ext cx="457200" cy="396875"/>
            </a:xfrm>
            <a:prstGeom prst="rect">
              <a:avLst/>
            </a:prstGeom>
            <a:noFill/>
            <a:ln w="9525">
              <a:noFill/>
              <a:miter lim="800000"/>
              <a:headEnd/>
              <a:tailEnd/>
            </a:ln>
          </p:spPr>
          <p:txBody>
            <a:bodyPr>
              <a:spAutoFit/>
            </a:bodyPr>
            <a:lstStyle/>
            <a:p>
              <a:pPr>
                <a:spcBef>
                  <a:spcPct val="50000"/>
                </a:spcBef>
              </a:pPr>
              <a:r>
                <a:rPr lang="bg-BG" sz="2000"/>
                <a:t>5</a:t>
              </a:r>
              <a:endParaRPr lang="en-US"/>
            </a:p>
          </p:txBody>
        </p:sp>
        <p:sp>
          <p:nvSpPr>
            <p:cNvPr id="66617" name="Text Box 144"/>
            <p:cNvSpPr txBox="1">
              <a:spLocks noChangeArrowheads="1"/>
            </p:cNvSpPr>
            <p:nvPr/>
          </p:nvSpPr>
          <p:spPr bwMode="auto">
            <a:xfrm>
              <a:off x="3149600" y="5829300"/>
              <a:ext cx="457200" cy="396875"/>
            </a:xfrm>
            <a:prstGeom prst="rect">
              <a:avLst/>
            </a:prstGeom>
            <a:noFill/>
            <a:ln w="9525">
              <a:noFill/>
              <a:miter lim="800000"/>
              <a:headEnd/>
              <a:tailEnd/>
            </a:ln>
          </p:spPr>
          <p:txBody>
            <a:bodyPr>
              <a:spAutoFit/>
            </a:bodyPr>
            <a:lstStyle/>
            <a:p>
              <a:pPr>
                <a:spcBef>
                  <a:spcPct val="50000"/>
                </a:spcBef>
              </a:pPr>
              <a:r>
                <a:rPr lang="bg-BG" sz="2000"/>
                <a:t>10</a:t>
              </a:r>
              <a:endParaRPr lang="en-US"/>
            </a:p>
          </p:txBody>
        </p:sp>
        <p:sp>
          <p:nvSpPr>
            <p:cNvPr id="66619" name="Text Box 146"/>
            <p:cNvSpPr txBox="1">
              <a:spLocks noChangeArrowheads="1"/>
            </p:cNvSpPr>
            <p:nvPr/>
          </p:nvSpPr>
          <p:spPr bwMode="auto">
            <a:xfrm>
              <a:off x="3505200" y="5816600"/>
              <a:ext cx="457200" cy="396875"/>
            </a:xfrm>
            <a:prstGeom prst="rect">
              <a:avLst/>
            </a:prstGeom>
            <a:noFill/>
            <a:ln w="9525">
              <a:noFill/>
              <a:miter lim="800000"/>
              <a:headEnd/>
              <a:tailEnd/>
            </a:ln>
          </p:spPr>
          <p:txBody>
            <a:bodyPr>
              <a:spAutoFit/>
            </a:bodyPr>
            <a:lstStyle/>
            <a:p>
              <a:pPr>
                <a:spcBef>
                  <a:spcPct val="50000"/>
                </a:spcBef>
              </a:pPr>
              <a:r>
                <a:rPr lang="bg-BG" sz="2000"/>
                <a:t>12</a:t>
              </a:r>
              <a:endParaRPr lang="en-US"/>
            </a:p>
          </p:txBody>
        </p:sp>
        <p:sp>
          <p:nvSpPr>
            <p:cNvPr id="66621" name="Text Box 148"/>
            <p:cNvSpPr txBox="1">
              <a:spLocks noChangeArrowheads="1"/>
            </p:cNvSpPr>
            <p:nvPr/>
          </p:nvSpPr>
          <p:spPr bwMode="auto">
            <a:xfrm>
              <a:off x="177800" y="5816600"/>
              <a:ext cx="457200" cy="396875"/>
            </a:xfrm>
            <a:prstGeom prst="rect">
              <a:avLst/>
            </a:prstGeom>
            <a:noFill/>
            <a:ln w="9525">
              <a:noFill/>
              <a:miter lim="800000"/>
              <a:headEnd/>
              <a:tailEnd/>
            </a:ln>
          </p:spPr>
          <p:txBody>
            <a:bodyPr>
              <a:spAutoFit/>
            </a:bodyPr>
            <a:lstStyle/>
            <a:p>
              <a:pPr>
                <a:spcBef>
                  <a:spcPct val="50000"/>
                </a:spcBef>
              </a:pPr>
              <a:r>
                <a:rPr lang="bg-BG" sz="2000"/>
                <a:t>1</a:t>
              </a:r>
              <a:endParaRPr lang="en-US"/>
            </a:p>
          </p:txBody>
        </p:sp>
        <p:sp>
          <p:nvSpPr>
            <p:cNvPr id="66622" name="Text Box 149"/>
            <p:cNvSpPr txBox="1">
              <a:spLocks noChangeArrowheads="1"/>
            </p:cNvSpPr>
            <p:nvPr/>
          </p:nvSpPr>
          <p:spPr bwMode="auto">
            <a:xfrm>
              <a:off x="520700" y="5816600"/>
              <a:ext cx="457200" cy="396875"/>
            </a:xfrm>
            <a:prstGeom prst="rect">
              <a:avLst/>
            </a:prstGeom>
            <a:noFill/>
            <a:ln w="9525">
              <a:noFill/>
              <a:miter lim="800000"/>
              <a:headEnd/>
              <a:tailEnd/>
            </a:ln>
          </p:spPr>
          <p:txBody>
            <a:bodyPr>
              <a:spAutoFit/>
            </a:bodyPr>
            <a:lstStyle/>
            <a:p>
              <a:pPr>
                <a:spcBef>
                  <a:spcPct val="50000"/>
                </a:spcBef>
              </a:pPr>
              <a:r>
                <a:rPr lang="bg-BG" sz="2000"/>
                <a:t>2</a:t>
              </a:r>
              <a:endParaRPr lang="en-US"/>
            </a:p>
          </p:txBody>
        </p:sp>
        <p:sp>
          <p:nvSpPr>
            <p:cNvPr id="66623" name="Text Box 150"/>
            <p:cNvSpPr txBox="1">
              <a:spLocks noChangeArrowheads="1"/>
            </p:cNvSpPr>
            <p:nvPr/>
          </p:nvSpPr>
          <p:spPr bwMode="auto">
            <a:xfrm>
              <a:off x="2387600" y="5181600"/>
              <a:ext cx="457200" cy="396875"/>
            </a:xfrm>
            <a:prstGeom prst="rect">
              <a:avLst/>
            </a:prstGeom>
            <a:noFill/>
            <a:ln w="9525">
              <a:noFill/>
              <a:miter lim="800000"/>
              <a:headEnd/>
              <a:tailEnd/>
            </a:ln>
          </p:spPr>
          <p:txBody>
            <a:bodyPr>
              <a:spAutoFit/>
            </a:bodyPr>
            <a:lstStyle/>
            <a:p>
              <a:pPr>
                <a:spcBef>
                  <a:spcPct val="50000"/>
                </a:spcBef>
              </a:pPr>
              <a:r>
                <a:rPr lang="bg-BG" sz="2000"/>
                <a:t>3</a:t>
              </a:r>
              <a:endParaRPr lang="en-US"/>
            </a:p>
          </p:txBody>
        </p:sp>
        <p:sp>
          <p:nvSpPr>
            <p:cNvPr id="66624" name="Text Box 151"/>
            <p:cNvSpPr txBox="1">
              <a:spLocks noChangeArrowheads="1"/>
            </p:cNvSpPr>
            <p:nvPr/>
          </p:nvSpPr>
          <p:spPr bwMode="auto">
            <a:xfrm>
              <a:off x="4699000" y="5829300"/>
              <a:ext cx="457200" cy="396875"/>
            </a:xfrm>
            <a:prstGeom prst="rect">
              <a:avLst/>
            </a:prstGeom>
            <a:noFill/>
            <a:ln w="9525">
              <a:noFill/>
              <a:miter lim="800000"/>
              <a:headEnd/>
              <a:tailEnd/>
            </a:ln>
          </p:spPr>
          <p:txBody>
            <a:bodyPr>
              <a:spAutoFit/>
            </a:bodyPr>
            <a:lstStyle/>
            <a:p>
              <a:pPr>
                <a:spcBef>
                  <a:spcPct val="50000"/>
                </a:spcBef>
              </a:pPr>
              <a:r>
                <a:rPr lang="bg-BG" sz="2000"/>
                <a:t>18</a:t>
              </a:r>
              <a:endParaRPr lang="en-US"/>
            </a:p>
          </p:txBody>
        </p:sp>
        <p:sp>
          <p:nvSpPr>
            <p:cNvPr id="66626" name="Text Box 153"/>
            <p:cNvSpPr txBox="1">
              <a:spLocks noChangeArrowheads="1"/>
            </p:cNvSpPr>
            <p:nvPr/>
          </p:nvSpPr>
          <p:spPr bwMode="auto">
            <a:xfrm>
              <a:off x="5041900" y="5829300"/>
              <a:ext cx="457200" cy="396875"/>
            </a:xfrm>
            <a:prstGeom prst="rect">
              <a:avLst/>
            </a:prstGeom>
            <a:noFill/>
            <a:ln w="9525">
              <a:noFill/>
              <a:miter lim="800000"/>
              <a:headEnd/>
              <a:tailEnd/>
            </a:ln>
          </p:spPr>
          <p:txBody>
            <a:bodyPr>
              <a:spAutoFit/>
            </a:bodyPr>
            <a:lstStyle/>
            <a:p>
              <a:pPr>
                <a:spcBef>
                  <a:spcPct val="50000"/>
                </a:spcBef>
              </a:pPr>
              <a:r>
                <a:rPr lang="bg-BG" sz="2000"/>
                <a:t>19</a:t>
              </a:r>
              <a:endParaRPr lang="en-US"/>
            </a:p>
          </p:txBody>
        </p:sp>
        <p:sp>
          <p:nvSpPr>
            <p:cNvPr id="66628" name="Text Box 157"/>
            <p:cNvSpPr txBox="1">
              <a:spLocks noChangeArrowheads="1"/>
            </p:cNvSpPr>
            <p:nvPr/>
          </p:nvSpPr>
          <p:spPr bwMode="auto">
            <a:xfrm>
              <a:off x="6197600" y="5816600"/>
              <a:ext cx="457200" cy="396875"/>
            </a:xfrm>
            <a:prstGeom prst="rect">
              <a:avLst/>
            </a:prstGeom>
            <a:noFill/>
            <a:ln w="9525">
              <a:noFill/>
              <a:miter lim="800000"/>
              <a:headEnd/>
              <a:tailEnd/>
            </a:ln>
          </p:spPr>
          <p:txBody>
            <a:bodyPr>
              <a:spAutoFit/>
            </a:bodyPr>
            <a:lstStyle/>
            <a:p>
              <a:pPr>
                <a:spcBef>
                  <a:spcPct val="50000"/>
                </a:spcBef>
              </a:pPr>
              <a:r>
                <a:rPr lang="bg-BG" sz="2000"/>
                <a:t>22</a:t>
              </a:r>
              <a:endParaRPr lang="en-US"/>
            </a:p>
          </p:txBody>
        </p:sp>
        <p:sp>
          <p:nvSpPr>
            <p:cNvPr id="66630" name="Text Box 159"/>
            <p:cNvSpPr txBox="1">
              <a:spLocks noChangeArrowheads="1"/>
            </p:cNvSpPr>
            <p:nvPr/>
          </p:nvSpPr>
          <p:spPr bwMode="auto">
            <a:xfrm>
              <a:off x="6540500" y="5816600"/>
              <a:ext cx="457200" cy="396875"/>
            </a:xfrm>
            <a:prstGeom prst="rect">
              <a:avLst/>
            </a:prstGeom>
            <a:noFill/>
            <a:ln w="9525">
              <a:noFill/>
              <a:miter lim="800000"/>
              <a:headEnd/>
              <a:tailEnd/>
            </a:ln>
          </p:spPr>
          <p:txBody>
            <a:bodyPr>
              <a:spAutoFit/>
            </a:bodyPr>
            <a:lstStyle/>
            <a:p>
              <a:pPr>
                <a:spcBef>
                  <a:spcPct val="50000"/>
                </a:spcBef>
              </a:pPr>
              <a:r>
                <a:rPr lang="bg-BG" sz="2000"/>
                <a:t>30</a:t>
              </a:r>
              <a:endParaRPr lang="en-US"/>
            </a:p>
          </p:txBody>
        </p:sp>
        <p:sp>
          <p:nvSpPr>
            <p:cNvPr id="66632" name="Text Box 161"/>
            <p:cNvSpPr txBox="1">
              <a:spLocks noChangeArrowheads="1"/>
            </p:cNvSpPr>
            <p:nvPr/>
          </p:nvSpPr>
          <p:spPr bwMode="auto">
            <a:xfrm>
              <a:off x="7620000" y="5829300"/>
              <a:ext cx="457200" cy="396875"/>
            </a:xfrm>
            <a:prstGeom prst="rect">
              <a:avLst/>
            </a:prstGeom>
            <a:noFill/>
            <a:ln w="9525">
              <a:noFill/>
              <a:miter lim="800000"/>
              <a:headEnd/>
              <a:tailEnd/>
            </a:ln>
          </p:spPr>
          <p:txBody>
            <a:bodyPr>
              <a:spAutoFit/>
            </a:bodyPr>
            <a:lstStyle/>
            <a:p>
              <a:pPr>
                <a:spcBef>
                  <a:spcPct val="50000"/>
                </a:spcBef>
              </a:pPr>
              <a:r>
                <a:rPr lang="bg-BG" sz="2000"/>
                <a:t>70</a:t>
              </a:r>
              <a:endParaRPr lang="en-US"/>
            </a:p>
          </p:txBody>
        </p:sp>
        <p:sp>
          <p:nvSpPr>
            <p:cNvPr id="66634" name="Text Box 163"/>
            <p:cNvSpPr txBox="1">
              <a:spLocks noChangeArrowheads="1"/>
            </p:cNvSpPr>
            <p:nvPr/>
          </p:nvSpPr>
          <p:spPr bwMode="auto">
            <a:xfrm>
              <a:off x="7962900" y="5816600"/>
              <a:ext cx="444500" cy="396875"/>
            </a:xfrm>
            <a:prstGeom prst="rect">
              <a:avLst/>
            </a:prstGeom>
            <a:noFill/>
            <a:ln w="9525">
              <a:noFill/>
              <a:miter lim="800000"/>
              <a:headEnd/>
              <a:tailEnd/>
            </a:ln>
          </p:spPr>
          <p:txBody>
            <a:bodyPr>
              <a:spAutoFit/>
            </a:bodyPr>
            <a:lstStyle/>
            <a:p>
              <a:pPr>
                <a:spcBef>
                  <a:spcPct val="50000"/>
                </a:spcBef>
              </a:pPr>
              <a:r>
                <a:rPr lang="bg-BG" sz="2000"/>
                <a:t>80</a:t>
              </a:r>
              <a:endParaRPr lang="en-US"/>
            </a:p>
          </p:txBody>
        </p:sp>
        <p:sp>
          <p:nvSpPr>
            <p:cNvPr id="66641" name="Line 170"/>
            <p:cNvSpPr>
              <a:spLocks noChangeShapeType="1"/>
            </p:cNvSpPr>
            <p:nvPr/>
          </p:nvSpPr>
          <p:spPr bwMode="auto">
            <a:xfrm flipH="1">
              <a:off x="3048000" y="4953000"/>
              <a:ext cx="838200" cy="228600"/>
            </a:xfrm>
            <a:prstGeom prst="line">
              <a:avLst/>
            </a:prstGeom>
            <a:noFill/>
            <a:ln w="9525">
              <a:solidFill>
                <a:schemeClr val="tx1"/>
              </a:solidFill>
              <a:round/>
              <a:headEnd/>
              <a:tailEnd type="triangle" w="med" len="med"/>
            </a:ln>
          </p:spPr>
          <p:txBody>
            <a:bodyPr wrap="none" anchor="ctr"/>
            <a:lstStyle/>
            <a:p>
              <a:endParaRPr lang="bg-BG"/>
            </a:p>
          </p:txBody>
        </p:sp>
        <p:sp>
          <p:nvSpPr>
            <p:cNvPr id="66642" name="Line 171"/>
            <p:cNvSpPr>
              <a:spLocks noChangeShapeType="1"/>
            </p:cNvSpPr>
            <p:nvPr/>
          </p:nvSpPr>
          <p:spPr bwMode="auto">
            <a:xfrm>
              <a:off x="4267200" y="4953000"/>
              <a:ext cx="1752600" cy="228600"/>
            </a:xfrm>
            <a:prstGeom prst="line">
              <a:avLst/>
            </a:prstGeom>
            <a:noFill/>
            <a:ln w="9525">
              <a:solidFill>
                <a:schemeClr val="tx1"/>
              </a:solidFill>
              <a:round/>
              <a:headEnd/>
              <a:tailEnd type="triangle" w="med" len="med"/>
            </a:ln>
          </p:spPr>
          <p:txBody>
            <a:bodyPr wrap="none" anchor="ctr"/>
            <a:lstStyle/>
            <a:p>
              <a:endParaRPr lang="bg-BG"/>
            </a:p>
          </p:txBody>
        </p:sp>
        <p:sp>
          <p:nvSpPr>
            <p:cNvPr id="66643" name="Line 172"/>
            <p:cNvSpPr>
              <a:spLocks noChangeShapeType="1"/>
            </p:cNvSpPr>
            <p:nvPr/>
          </p:nvSpPr>
          <p:spPr bwMode="auto">
            <a:xfrm flipH="1">
              <a:off x="685800" y="5562600"/>
              <a:ext cx="1676400" cy="304800"/>
            </a:xfrm>
            <a:prstGeom prst="line">
              <a:avLst/>
            </a:prstGeom>
            <a:noFill/>
            <a:ln w="9525">
              <a:solidFill>
                <a:schemeClr val="tx1"/>
              </a:solidFill>
              <a:round/>
              <a:headEnd/>
              <a:tailEnd type="triangle" w="med" len="med"/>
            </a:ln>
          </p:spPr>
          <p:txBody>
            <a:bodyPr wrap="none" anchor="ctr"/>
            <a:lstStyle/>
            <a:p>
              <a:endParaRPr lang="bg-BG"/>
            </a:p>
          </p:txBody>
        </p:sp>
        <p:sp>
          <p:nvSpPr>
            <p:cNvPr id="66644" name="Line 173"/>
            <p:cNvSpPr>
              <a:spLocks noChangeShapeType="1"/>
            </p:cNvSpPr>
            <p:nvPr/>
          </p:nvSpPr>
          <p:spPr bwMode="auto">
            <a:xfrm flipH="1">
              <a:off x="2133600" y="5562600"/>
              <a:ext cx="609600" cy="304800"/>
            </a:xfrm>
            <a:prstGeom prst="line">
              <a:avLst/>
            </a:prstGeom>
            <a:noFill/>
            <a:ln w="9525">
              <a:solidFill>
                <a:schemeClr val="tx1"/>
              </a:solidFill>
              <a:round/>
              <a:headEnd/>
              <a:tailEnd type="triangle" w="med" len="med"/>
            </a:ln>
          </p:spPr>
          <p:txBody>
            <a:bodyPr wrap="none" anchor="ctr"/>
            <a:lstStyle/>
            <a:p>
              <a:endParaRPr lang="bg-BG"/>
            </a:p>
          </p:txBody>
        </p:sp>
        <p:sp>
          <p:nvSpPr>
            <p:cNvPr id="66645" name="Line 175"/>
            <p:cNvSpPr>
              <a:spLocks noChangeShapeType="1"/>
            </p:cNvSpPr>
            <p:nvPr/>
          </p:nvSpPr>
          <p:spPr bwMode="auto">
            <a:xfrm>
              <a:off x="3132138" y="5516563"/>
              <a:ext cx="71437" cy="360362"/>
            </a:xfrm>
            <a:prstGeom prst="line">
              <a:avLst/>
            </a:prstGeom>
            <a:noFill/>
            <a:ln w="9525">
              <a:solidFill>
                <a:schemeClr val="tx1"/>
              </a:solidFill>
              <a:round/>
              <a:headEnd/>
              <a:tailEnd type="triangle" w="med" len="med"/>
            </a:ln>
          </p:spPr>
          <p:txBody>
            <a:bodyPr wrap="none" anchor="ctr"/>
            <a:lstStyle/>
            <a:p>
              <a:endParaRPr lang="bg-BG"/>
            </a:p>
          </p:txBody>
        </p:sp>
        <p:sp>
          <p:nvSpPr>
            <p:cNvPr id="66646" name="Line 176"/>
            <p:cNvSpPr>
              <a:spLocks noChangeShapeType="1"/>
            </p:cNvSpPr>
            <p:nvPr/>
          </p:nvSpPr>
          <p:spPr bwMode="auto">
            <a:xfrm>
              <a:off x="5410200" y="5562600"/>
              <a:ext cx="25400" cy="314325"/>
            </a:xfrm>
            <a:prstGeom prst="line">
              <a:avLst/>
            </a:prstGeom>
            <a:noFill/>
            <a:ln w="9525">
              <a:solidFill>
                <a:schemeClr val="tx1"/>
              </a:solidFill>
              <a:round/>
              <a:headEnd/>
              <a:tailEnd type="triangle" w="med" len="med"/>
            </a:ln>
          </p:spPr>
          <p:txBody>
            <a:bodyPr wrap="none" anchor="ctr"/>
            <a:lstStyle/>
            <a:p>
              <a:endParaRPr lang="bg-BG"/>
            </a:p>
          </p:txBody>
        </p:sp>
        <p:sp>
          <p:nvSpPr>
            <p:cNvPr id="66647" name="Line 178"/>
            <p:cNvSpPr>
              <a:spLocks noChangeShapeType="1"/>
            </p:cNvSpPr>
            <p:nvPr/>
          </p:nvSpPr>
          <p:spPr bwMode="auto">
            <a:xfrm>
              <a:off x="5795963" y="5516563"/>
              <a:ext cx="504825" cy="360362"/>
            </a:xfrm>
            <a:prstGeom prst="line">
              <a:avLst/>
            </a:prstGeom>
            <a:noFill/>
            <a:ln w="9525">
              <a:solidFill>
                <a:schemeClr val="tx1"/>
              </a:solidFill>
              <a:round/>
              <a:headEnd/>
              <a:tailEnd type="triangle" w="med" len="med"/>
            </a:ln>
          </p:spPr>
          <p:txBody>
            <a:bodyPr wrap="none" anchor="ctr"/>
            <a:lstStyle/>
            <a:p>
              <a:endParaRPr lang="bg-BG"/>
            </a:p>
          </p:txBody>
        </p:sp>
        <p:sp>
          <p:nvSpPr>
            <p:cNvPr id="66648" name="Line 179"/>
            <p:cNvSpPr>
              <a:spLocks noChangeShapeType="1"/>
            </p:cNvSpPr>
            <p:nvPr/>
          </p:nvSpPr>
          <p:spPr bwMode="auto">
            <a:xfrm>
              <a:off x="6084888" y="5516563"/>
              <a:ext cx="1655762" cy="360362"/>
            </a:xfrm>
            <a:prstGeom prst="line">
              <a:avLst/>
            </a:prstGeom>
            <a:noFill/>
            <a:ln w="9525">
              <a:solidFill>
                <a:schemeClr val="tx1"/>
              </a:solidFill>
              <a:round/>
              <a:headEnd/>
              <a:tailEnd type="triangle" w="med" len="med"/>
            </a:ln>
          </p:spPr>
          <p:txBody>
            <a:bodyPr wrap="none" anchor="ctr"/>
            <a:lstStyle/>
            <a:p>
              <a:endParaRPr lang="bg-BG"/>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457200" y="0"/>
            <a:ext cx="8077200" cy="6400800"/>
          </a:xfrm>
          <a:prstGeom prst="rect">
            <a:avLst/>
          </a:prstGeom>
          <a:noFill/>
          <a:ln w="9525">
            <a:noFill/>
            <a:miter lim="800000"/>
            <a:headEnd/>
            <a:tailEnd/>
          </a:ln>
        </p:spPr>
        <p:txBody>
          <a:bodyPr anchor="ctr"/>
          <a:lstStyle/>
          <a:p>
            <a:r>
              <a:rPr lang="bg-BG" sz="2800"/>
              <a:t>Изтриване на възли в В-дърво</a:t>
            </a:r>
            <a:r>
              <a:rPr lang="bg-BG" sz="2200"/>
              <a:t/>
            </a:r>
            <a:br>
              <a:rPr lang="bg-BG" sz="2200"/>
            </a:br>
            <a:r>
              <a:rPr lang="bg-BG" sz="2200"/>
              <a:t>Пак се разглежда В-дърво от 5 ред, така че всеки възел съдържа най-много 4 полета с данни и 5 указателя:</a:t>
            </a: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7608" name="Rectangle 24"/>
          <p:cNvSpPr>
            <a:spLocks noChangeArrowheads="1"/>
          </p:cNvSpPr>
          <p:nvPr/>
        </p:nvSpPr>
        <p:spPr bwMode="auto">
          <a:xfrm>
            <a:off x="508000" y="264160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7614" name="Rectangle 30"/>
          <p:cNvSpPr>
            <a:spLocks noChangeArrowheads="1"/>
          </p:cNvSpPr>
          <p:nvPr/>
        </p:nvSpPr>
        <p:spPr bwMode="auto">
          <a:xfrm>
            <a:off x="6883400" y="5130800"/>
            <a:ext cx="2209800" cy="457200"/>
          </a:xfrm>
          <a:prstGeom prst="rect">
            <a:avLst/>
          </a:prstGeom>
          <a:noFill/>
          <a:ln w="9525">
            <a:solidFill>
              <a:schemeClr val="tx1"/>
            </a:solidFill>
            <a:miter lim="800000"/>
            <a:headEnd/>
            <a:tailEnd/>
          </a:ln>
        </p:spPr>
        <p:txBody>
          <a:bodyPr wrap="none" anchor="ctr"/>
          <a:lstStyle/>
          <a:p>
            <a:endParaRPr lang="bg-BG"/>
          </a:p>
        </p:txBody>
      </p:sp>
      <p:grpSp>
        <p:nvGrpSpPr>
          <p:cNvPr id="84" name="Group 83"/>
          <p:cNvGrpSpPr/>
          <p:nvPr/>
        </p:nvGrpSpPr>
        <p:grpSpPr>
          <a:xfrm>
            <a:off x="25400" y="3759200"/>
            <a:ext cx="8534400" cy="2438400"/>
            <a:chOff x="25400" y="3759200"/>
            <a:chExt cx="8534400" cy="2438400"/>
          </a:xfrm>
        </p:grpSpPr>
        <p:sp>
          <p:nvSpPr>
            <p:cNvPr id="67609" name="Rectangle 25"/>
            <p:cNvSpPr>
              <a:spLocks noChangeArrowheads="1"/>
            </p:cNvSpPr>
            <p:nvPr/>
          </p:nvSpPr>
          <p:spPr bwMode="auto">
            <a:xfrm>
              <a:off x="3276600" y="4343400"/>
              <a:ext cx="2209800" cy="457200"/>
            </a:xfrm>
            <a:prstGeom prst="rect">
              <a:avLst/>
            </a:prstGeom>
            <a:noFill/>
            <a:ln w="9525">
              <a:solidFill>
                <a:schemeClr val="tx1"/>
              </a:solidFill>
              <a:miter lim="800000"/>
              <a:headEnd/>
              <a:tailEnd/>
            </a:ln>
          </p:spPr>
          <p:txBody>
            <a:bodyPr wrap="none" anchor="ctr"/>
            <a:lstStyle/>
            <a:p>
              <a:endParaRPr lang="bg-BG"/>
            </a:p>
          </p:txBody>
        </p:sp>
        <p:sp>
          <p:nvSpPr>
            <p:cNvPr id="67610" name="Line 26"/>
            <p:cNvSpPr>
              <a:spLocks noChangeShapeType="1"/>
            </p:cNvSpPr>
            <p:nvPr/>
          </p:nvSpPr>
          <p:spPr bwMode="auto">
            <a:xfrm>
              <a:off x="4368800" y="4343400"/>
              <a:ext cx="0" cy="457200"/>
            </a:xfrm>
            <a:prstGeom prst="line">
              <a:avLst/>
            </a:prstGeom>
            <a:noFill/>
            <a:ln w="9525">
              <a:solidFill>
                <a:schemeClr val="tx1"/>
              </a:solidFill>
              <a:round/>
              <a:headEnd/>
              <a:tailEnd/>
            </a:ln>
          </p:spPr>
          <p:txBody>
            <a:bodyPr wrap="none" anchor="ctr"/>
            <a:lstStyle/>
            <a:p>
              <a:endParaRPr lang="bg-BG"/>
            </a:p>
          </p:txBody>
        </p:sp>
        <p:sp>
          <p:nvSpPr>
            <p:cNvPr id="67611" name="Line 27"/>
            <p:cNvSpPr>
              <a:spLocks noChangeShapeType="1"/>
            </p:cNvSpPr>
            <p:nvPr/>
          </p:nvSpPr>
          <p:spPr bwMode="auto">
            <a:xfrm>
              <a:off x="3810000" y="4343400"/>
              <a:ext cx="0" cy="457200"/>
            </a:xfrm>
            <a:prstGeom prst="line">
              <a:avLst/>
            </a:prstGeom>
            <a:noFill/>
            <a:ln w="9525">
              <a:solidFill>
                <a:schemeClr val="tx1"/>
              </a:solidFill>
              <a:round/>
              <a:headEnd/>
              <a:tailEnd/>
            </a:ln>
          </p:spPr>
          <p:txBody>
            <a:bodyPr wrap="none" anchor="ctr"/>
            <a:lstStyle/>
            <a:p>
              <a:endParaRPr lang="bg-BG"/>
            </a:p>
          </p:txBody>
        </p:sp>
        <p:sp>
          <p:nvSpPr>
            <p:cNvPr id="67612" name="Line 28"/>
            <p:cNvSpPr>
              <a:spLocks noChangeShapeType="1"/>
            </p:cNvSpPr>
            <p:nvPr/>
          </p:nvSpPr>
          <p:spPr bwMode="auto">
            <a:xfrm>
              <a:off x="4927600" y="4343400"/>
              <a:ext cx="0" cy="457200"/>
            </a:xfrm>
            <a:prstGeom prst="line">
              <a:avLst/>
            </a:prstGeom>
            <a:noFill/>
            <a:ln w="9525">
              <a:solidFill>
                <a:schemeClr val="tx1"/>
              </a:solidFill>
              <a:round/>
              <a:headEnd/>
              <a:tailEnd/>
            </a:ln>
          </p:spPr>
          <p:txBody>
            <a:bodyPr wrap="none" anchor="ctr"/>
            <a:lstStyle/>
            <a:p>
              <a:endParaRPr lang="bg-BG"/>
            </a:p>
          </p:txBody>
        </p:sp>
        <p:sp>
          <p:nvSpPr>
            <p:cNvPr id="67613" name="Rectangle 29"/>
            <p:cNvSpPr>
              <a:spLocks noChangeArrowheads="1"/>
            </p:cNvSpPr>
            <p:nvPr/>
          </p:nvSpPr>
          <p:spPr bwMode="auto">
            <a:xfrm>
              <a:off x="4597400" y="5130800"/>
              <a:ext cx="2209800" cy="457200"/>
            </a:xfrm>
            <a:prstGeom prst="rect">
              <a:avLst/>
            </a:prstGeom>
            <a:noFill/>
            <a:ln w="9525">
              <a:solidFill>
                <a:schemeClr val="tx1"/>
              </a:solidFill>
              <a:miter lim="800000"/>
              <a:headEnd/>
              <a:tailEnd/>
            </a:ln>
          </p:spPr>
          <p:txBody>
            <a:bodyPr wrap="none" anchor="ctr"/>
            <a:lstStyle/>
            <a:p>
              <a:endParaRPr lang="bg-BG"/>
            </a:p>
          </p:txBody>
        </p:sp>
        <p:sp>
          <p:nvSpPr>
            <p:cNvPr id="67615" name="Rectangle 31"/>
            <p:cNvSpPr>
              <a:spLocks noChangeArrowheads="1"/>
            </p:cNvSpPr>
            <p:nvPr/>
          </p:nvSpPr>
          <p:spPr bwMode="auto">
            <a:xfrm>
              <a:off x="2311400" y="5130800"/>
              <a:ext cx="2209800" cy="457200"/>
            </a:xfrm>
            <a:prstGeom prst="rect">
              <a:avLst/>
            </a:prstGeom>
            <a:noFill/>
            <a:ln w="9525">
              <a:solidFill>
                <a:schemeClr val="tx1"/>
              </a:solidFill>
              <a:miter lim="800000"/>
              <a:headEnd/>
              <a:tailEnd/>
            </a:ln>
          </p:spPr>
          <p:txBody>
            <a:bodyPr wrap="none" anchor="ctr"/>
            <a:lstStyle/>
            <a:p>
              <a:endParaRPr lang="bg-BG"/>
            </a:p>
          </p:txBody>
        </p:sp>
        <p:sp>
          <p:nvSpPr>
            <p:cNvPr id="67616" name="Rectangle 32"/>
            <p:cNvSpPr>
              <a:spLocks noChangeArrowheads="1"/>
            </p:cNvSpPr>
            <p:nvPr/>
          </p:nvSpPr>
          <p:spPr bwMode="auto">
            <a:xfrm>
              <a:off x="25400" y="5130800"/>
              <a:ext cx="2209800" cy="457200"/>
            </a:xfrm>
            <a:prstGeom prst="rect">
              <a:avLst/>
            </a:prstGeom>
            <a:noFill/>
            <a:ln w="9525">
              <a:solidFill>
                <a:schemeClr val="tx1"/>
              </a:solidFill>
              <a:miter lim="800000"/>
              <a:headEnd/>
              <a:tailEnd/>
            </a:ln>
          </p:spPr>
          <p:txBody>
            <a:bodyPr wrap="none" anchor="ctr"/>
            <a:lstStyle/>
            <a:p>
              <a:endParaRPr lang="bg-BG"/>
            </a:p>
          </p:txBody>
        </p:sp>
        <p:sp>
          <p:nvSpPr>
            <p:cNvPr id="67617" name="Line 33"/>
            <p:cNvSpPr>
              <a:spLocks noChangeShapeType="1"/>
            </p:cNvSpPr>
            <p:nvPr/>
          </p:nvSpPr>
          <p:spPr bwMode="auto">
            <a:xfrm>
              <a:off x="6299200" y="5130800"/>
              <a:ext cx="0" cy="457200"/>
            </a:xfrm>
            <a:prstGeom prst="line">
              <a:avLst/>
            </a:prstGeom>
            <a:noFill/>
            <a:ln w="9525">
              <a:solidFill>
                <a:schemeClr val="tx1"/>
              </a:solidFill>
              <a:round/>
              <a:headEnd/>
              <a:tailEnd/>
            </a:ln>
          </p:spPr>
          <p:txBody>
            <a:bodyPr wrap="none" anchor="ctr"/>
            <a:lstStyle/>
            <a:p>
              <a:endParaRPr lang="bg-BG"/>
            </a:p>
          </p:txBody>
        </p:sp>
        <p:sp>
          <p:nvSpPr>
            <p:cNvPr id="67618" name="Line 34"/>
            <p:cNvSpPr>
              <a:spLocks noChangeShapeType="1"/>
            </p:cNvSpPr>
            <p:nvPr/>
          </p:nvSpPr>
          <p:spPr bwMode="auto">
            <a:xfrm>
              <a:off x="5207000" y="5130800"/>
              <a:ext cx="0" cy="457200"/>
            </a:xfrm>
            <a:prstGeom prst="line">
              <a:avLst/>
            </a:prstGeom>
            <a:noFill/>
            <a:ln w="9525">
              <a:solidFill>
                <a:schemeClr val="tx1"/>
              </a:solidFill>
              <a:round/>
              <a:headEnd/>
              <a:tailEnd/>
            </a:ln>
          </p:spPr>
          <p:txBody>
            <a:bodyPr wrap="none" anchor="ctr"/>
            <a:lstStyle/>
            <a:p>
              <a:endParaRPr lang="bg-BG"/>
            </a:p>
          </p:txBody>
        </p:sp>
        <p:sp>
          <p:nvSpPr>
            <p:cNvPr id="67619" name="Line 35"/>
            <p:cNvSpPr>
              <a:spLocks noChangeShapeType="1"/>
            </p:cNvSpPr>
            <p:nvPr/>
          </p:nvSpPr>
          <p:spPr bwMode="auto">
            <a:xfrm>
              <a:off x="5740400" y="5130800"/>
              <a:ext cx="0" cy="457200"/>
            </a:xfrm>
            <a:prstGeom prst="line">
              <a:avLst/>
            </a:prstGeom>
            <a:noFill/>
            <a:ln w="9525">
              <a:solidFill>
                <a:schemeClr val="tx1"/>
              </a:solidFill>
              <a:round/>
              <a:headEnd/>
              <a:tailEnd/>
            </a:ln>
          </p:spPr>
          <p:txBody>
            <a:bodyPr wrap="none" anchor="ctr"/>
            <a:lstStyle/>
            <a:p>
              <a:endParaRPr lang="bg-BG"/>
            </a:p>
          </p:txBody>
        </p:sp>
        <p:sp>
          <p:nvSpPr>
            <p:cNvPr id="67620" name="Line 36"/>
            <p:cNvSpPr>
              <a:spLocks noChangeShapeType="1"/>
            </p:cNvSpPr>
            <p:nvPr/>
          </p:nvSpPr>
          <p:spPr bwMode="auto">
            <a:xfrm>
              <a:off x="4013200" y="5130800"/>
              <a:ext cx="0" cy="457200"/>
            </a:xfrm>
            <a:prstGeom prst="line">
              <a:avLst/>
            </a:prstGeom>
            <a:noFill/>
            <a:ln w="9525">
              <a:solidFill>
                <a:schemeClr val="tx1"/>
              </a:solidFill>
              <a:round/>
              <a:headEnd/>
              <a:tailEnd/>
            </a:ln>
          </p:spPr>
          <p:txBody>
            <a:bodyPr wrap="none" anchor="ctr"/>
            <a:lstStyle/>
            <a:p>
              <a:endParaRPr lang="bg-BG"/>
            </a:p>
          </p:txBody>
        </p:sp>
        <p:sp>
          <p:nvSpPr>
            <p:cNvPr id="67621" name="Line 37"/>
            <p:cNvSpPr>
              <a:spLocks noChangeShapeType="1"/>
            </p:cNvSpPr>
            <p:nvPr/>
          </p:nvSpPr>
          <p:spPr bwMode="auto">
            <a:xfrm>
              <a:off x="8001000" y="5130800"/>
              <a:ext cx="0" cy="457200"/>
            </a:xfrm>
            <a:prstGeom prst="line">
              <a:avLst/>
            </a:prstGeom>
            <a:noFill/>
            <a:ln w="9525">
              <a:solidFill>
                <a:schemeClr val="tx1"/>
              </a:solidFill>
              <a:round/>
              <a:headEnd/>
              <a:tailEnd/>
            </a:ln>
          </p:spPr>
          <p:txBody>
            <a:bodyPr wrap="none" anchor="ctr"/>
            <a:lstStyle/>
            <a:p>
              <a:endParaRPr lang="bg-BG"/>
            </a:p>
          </p:txBody>
        </p:sp>
        <p:sp>
          <p:nvSpPr>
            <p:cNvPr id="67622" name="Line 38"/>
            <p:cNvSpPr>
              <a:spLocks noChangeShapeType="1"/>
            </p:cNvSpPr>
            <p:nvPr/>
          </p:nvSpPr>
          <p:spPr bwMode="auto">
            <a:xfrm>
              <a:off x="2921000" y="5130800"/>
              <a:ext cx="0" cy="457200"/>
            </a:xfrm>
            <a:prstGeom prst="line">
              <a:avLst/>
            </a:prstGeom>
            <a:noFill/>
            <a:ln w="9525">
              <a:solidFill>
                <a:schemeClr val="tx1"/>
              </a:solidFill>
              <a:round/>
              <a:headEnd/>
              <a:tailEnd/>
            </a:ln>
          </p:spPr>
          <p:txBody>
            <a:bodyPr wrap="none" anchor="ctr"/>
            <a:lstStyle/>
            <a:p>
              <a:endParaRPr lang="bg-BG"/>
            </a:p>
          </p:txBody>
        </p:sp>
        <p:sp>
          <p:nvSpPr>
            <p:cNvPr id="67623" name="Line 39"/>
            <p:cNvSpPr>
              <a:spLocks noChangeShapeType="1"/>
            </p:cNvSpPr>
            <p:nvPr/>
          </p:nvSpPr>
          <p:spPr bwMode="auto">
            <a:xfrm>
              <a:off x="3479800" y="5130800"/>
              <a:ext cx="0" cy="457200"/>
            </a:xfrm>
            <a:prstGeom prst="line">
              <a:avLst/>
            </a:prstGeom>
            <a:noFill/>
            <a:ln w="9525">
              <a:solidFill>
                <a:schemeClr val="tx1"/>
              </a:solidFill>
              <a:round/>
              <a:headEnd/>
              <a:tailEnd/>
            </a:ln>
          </p:spPr>
          <p:txBody>
            <a:bodyPr wrap="none" anchor="ctr"/>
            <a:lstStyle/>
            <a:p>
              <a:endParaRPr lang="bg-BG"/>
            </a:p>
          </p:txBody>
        </p:sp>
        <p:sp>
          <p:nvSpPr>
            <p:cNvPr id="67624" name="Line 40"/>
            <p:cNvSpPr>
              <a:spLocks noChangeShapeType="1"/>
            </p:cNvSpPr>
            <p:nvPr/>
          </p:nvSpPr>
          <p:spPr bwMode="auto">
            <a:xfrm>
              <a:off x="635000" y="5130800"/>
              <a:ext cx="0" cy="457200"/>
            </a:xfrm>
            <a:prstGeom prst="line">
              <a:avLst/>
            </a:prstGeom>
            <a:noFill/>
            <a:ln w="9525">
              <a:solidFill>
                <a:schemeClr val="tx1"/>
              </a:solidFill>
              <a:round/>
              <a:headEnd/>
              <a:tailEnd/>
            </a:ln>
          </p:spPr>
          <p:txBody>
            <a:bodyPr wrap="none" anchor="ctr"/>
            <a:lstStyle/>
            <a:p>
              <a:endParaRPr lang="bg-BG"/>
            </a:p>
          </p:txBody>
        </p:sp>
        <p:sp>
          <p:nvSpPr>
            <p:cNvPr id="67625" name="Line 41"/>
            <p:cNvSpPr>
              <a:spLocks noChangeShapeType="1"/>
            </p:cNvSpPr>
            <p:nvPr/>
          </p:nvSpPr>
          <p:spPr bwMode="auto">
            <a:xfrm>
              <a:off x="1727200" y="5130800"/>
              <a:ext cx="0" cy="457200"/>
            </a:xfrm>
            <a:prstGeom prst="line">
              <a:avLst/>
            </a:prstGeom>
            <a:noFill/>
            <a:ln w="9525">
              <a:solidFill>
                <a:schemeClr val="tx1"/>
              </a:solidFill>
              <a:round/>
              <a:headEnd/>
              <a:tailEnd/>
            </a:ln>
          </p:spPr>
          <p:txBody>
            <a:bodyPr wrap="none" anchor="ctr"/>
            <a:lstStyle/>
            <a:p>
              <a:endParaRPr lang="bg-BG"/>
            </a:p>
          </p:txBody>
        </p:sp>
        <p:sp>
          <p:nvSpPr>
            <p:cNvPr id="67626" name="Line 42"/>
            <p:cNvSpPr>
              <a:spLocks noChangeShapeType="1"/>
            </p:cNvSpPr>
            <p:nvPr/>
          </p:nvSpPr>
          <p:spPr bwMode="auto">
            <a:xfrm>
              <a:off x="1193800" y="5156200"/>
              <a:ext cx="0" cy="457200"/>
            </a:xfrm>
            <a:prstGeom prst="line">
              <a:avLst/>
            </a:prstGeom>
            <a:noFill/>
            <a:ln w="9525">
              <a:solidFill>
                <a:schemeClr val="tx1"/>
              </a:solidFill>
              <a:round/>
              <a:headEnd/>
              <a:tailEnd/>
            </a:ln>
          </p:spPr>
          <p:txBody>
            <a:bodyPr wrap="none" anchor="ctr"/>
            <a:lstStyle/>
            <a:p>
              <a:endParaRPr lang="bg-BG"/>
            </a:p>
          </p:txBody>
        </p:sp>
        <p:sp>
          <p:nvSpPr>
            <p:cNvPr id="67627" name="Line 43"/>
            <p:cNvSpPr>
              <a:spLocks noChangeShapeType="1"/>
            </p:cNvSpPr>
            <p:nvPr/>
          </p:nvSpPr>
          <p:spPr bwMode="auto">
            <a:xfrm>
              <a:off x="8559800" y="5130800"/>
              <a:ext cx="0" cy="457200"/>
            </a:xfrm>
            <a:prstGeom prst="line">
              <a:avLst/>
            </a:prstGeom>
            <a:noFill/>
            <a:ln w="9525">
              <a:solidFill>
                <a:schemeClr val="tx1"/>
              </a:solidFill>
              <a:round/>
              <a:headEnd/>
              <a:tailEnd/>
            </a:ln>
          </p:spPr>
          <p:txBody>
            <a:bodyPr wrap="none" anchor="ctr"/>
            <a:lstStyle/>
            <a:p>
              <a:endParaRPr lang="bg-BG"/>
            </a:p>
          </p:txBody>
        </p:sp>
        <p:sp>
          <p:nvSpPr>
            <p:cNvPr id="67628" name="Line 44"/>
            <p:cNvSpPr>
              <a:spLocks noChangeShapeType="1"/>
            </p:cNvSpPr>
            <p:nvPr/>
          </p:nvSpPr>
          <p:spPr bwMode="auto">
            <a:xfrm>
              <a:off x="7442200" y="5130800"/>
              <a:ext cx="0" cy="457200"/>
            </a:xfrm>
            <a:prstGeom prst="line">
              <a:avLst/>
            </a:prstGeom>
            <a:noFill/>
            <a:ln w="9525">
              <a:solidFill>
                <a:schemeClr val="tx1"/>
              </a:solidFill>
              <a:round/>
              <a:headEnd/>
              <a:tailEnd/>
            </a:ln>
          </p:spPr>
          <p:txBody>
            <a:bodyPr wrap="none" anchor="ctr"/>
            <a:lstStyle/>
            <a:p>
              <a:endParaRPr lang="bg-BG"/>
            </a:p>
          </p:txBody>
        </p:sp>
        <p:sp>
          <p:nvSpPr>
            <p:cNvPr id="67629" name="Line 45"/>
            <p:cNvSpPr>
              <a:spLocks noChangeShapeType="1"/>
            </p:cNvSpPr>
            <p:nvPr/>
          </p:nvSpPr>
          <p:spPr bwMode="auto">
            <a:xfrm>
              <a:off x="4368800" y="3962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7637" name="Text Box 53"/>
            <p:cNvSpPr txBox="1">
              <a:spLocks noChangeArrowheads="1"/>
            </p:cNvSpPr>
            <p:nvPr/>
          </p:nvSpPr>
          <p:spPr bwMode="auto">
            <a:xfrm>
              <a:off x="3302000" y="43434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67648" name="Text Box 64"/>
            <p:cNvSpPr txBox="1">
              <a:spLocks noChangeArrowheads="1"/>
            </p:cNvSpPr>
            <p:nvPr/>
          </p:nvSpPr>
          <p:spPr bwMode="auto">
            <a:xfrm>
              <a:off x="76200" y="5156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sp>
          <p:nvSpPr>
            <p:cNvPr id="67649" name="Text Box 65"/>
            <p:cNvSpPr txBox="1">
              <a:spLocks noChangeArrowheads="1"/>
            </p:cNvSpPr>
            <p:nvPr/>
          </p:nvSpPr>
          <p:spPr bwMode="auto">
            <a:xfrm>
              <a:off x="660400" y="5156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67650" name="Text Box 66"/>
            <p:cNvSpPr txBox="1">
              <a:spLocks noChangeArrowheads="1"/>
            </p:cNvSpPr>
            <p:nvPr/>
          </p:nvSpPr>
          <p:spPr bwMode="auto">
            <a:xfrm>
              <a:off x="2387600" y="5156200"/>
              <a:ext cx="762000" cy="457200"/>
            </a:xfrm>
            <a:prstGeom prst="rect">
              <a:avLst/>
            </a:prstGeom>
            <a:noFill/>
            <a:ln w="9525">
              <a:noFill/>
              <a:miter lim="800000"/>
              <a:headEnd/>
              <a:tailEnd/>
            </a:ln>
          </p:spPr>
          <p:txBody>
            <a:bodyPr>
              <a:spAutoFit/>
            </a:bodyPr>
            <a:lstStyle/>
            <a:p>
              <a:pPr>
                <a:spcBef>
                  <a:spcPct val="50000"/>
                </a:spcBef>
              </a:pPr>
              <a:r>
                <a:rPr lang="en-US"/>
                <a:t>2</a:t>
              </a:r>
              <a:r>
                <a:rPr lang="bg-BG"/>
                <a:t>5</a:t>
              </a:r>
              <a:endParaRPr lang="en-US"/>
            </a:p>
          </p:txBody>
        </p:sp>
        <p:sp>
          <p:nvSpPr>
            <p:cNvPr id="67651" name="Text Box 67"/>
            <p:cNvSpPr txBox="1">
              <a:spLocks noChangeArrowheads="1"/>
            </p:cNvSpPr>
            <p:nvPr/>
          </p:nvSpPr>
          <p:spPr bwMode="auto">
            <a:xfrm>
              <a:off x="3835400" y="4343400"/>
              <a:ext cx="762000" cy="457200"/>
            </a:xfrm>
            <a:prstGeom prst="rect">
              <a:avLst/>
            </a:prstGeom>
            <a:noFill/>
            <a:ln w="9525">
              <a:noFill/>
              <a:miter lim="800000"/>
              <a:headEnd/>
              <a:tailEnd/>
            </a:ln>
          </p:spPr>
          <p:txBody>
            <a:bodyPr>
              <a:spAutoFit/>
            </a:bodyPr>
            <a:lstStyle/>
            <a:p>
              <a:pPr>
                <a:spcBef>
                  <a:spcPct val="50000"/>
                </a:spcBef>
              </a:pPr>
              <a:r>
                <a:rPr lang="en-US"/>
                <a:t>3</a:t>
              </a:r>
              <a:r>
                <a:rPr lang="bg-BG"/>
                <a:t>0</a:t>
              </a:r>
              <a:endParaRPr lang="en-US"/>
            </a:p>
          </p:txBody>
        </p:sp>
        <p:sp>
          <p:nvSpPr>
            <p:cNvPr id="67652" name="Text Box 68"/>
            <p:cNvSpPr txBox="1">
              <a:spLocks noChangeArrowheads="1"/>
            </p:cNvSpPr>
            <p:nvPr/>
          </p:nvSpPr>
          <p:spPr bwMode="auto">
            <a:xfrm>
              <a:off x="4394200" y="43434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67653" name="Text Box 69"/>
            <p:cNvSpPr txBox="1">
              <a:spLocks noChangeArrowheads="1"/>
            </p:cNvSpPr>
            <p:nvPr/>
          </p:nvSpPr>
          <p:spPr bwMode="auto">
            <a:xfrm>
              <a:off x="4495800" y="3759200"/>
              <a:ext cx="685800" cy="457200"/>
            </a:xfrm>
            <a:prstGeom prst="rect">
              <a:avLst/>
            </a:prstGeom>
            <a:noFill/>
            <a:ln w="9525">
              <a:noFill/>
              <a:miter lim="800000"/>
              <a:headEnd/>
              <a:tailEnd/>
            </a:ln>
          </p:spPr>
          <p:txBody>
            <a:bodyPr>
              <a:spAutoFit/>
            </a:bodyPr>
            <a:lstStyle/>
            <a:p>
              <a:pPr>
                <a:spcBef>
                  <a:spcPct val="50000"/>
                </a:spcBef>
              </a:pPr>
              <a:r>
                <a:rPr lang="en-US"/>
                <a:t>Р</a:t>
              </a:r>
            </a:p>
          </p:txBody>
        </p:sp>
        <p:sp>
          <p:nvSpPr>
            <p:cNvPr id="67654" name="Text Box 70"/>
            <p:cNvSpPr txBox="1">
              <a:spLocks noChangeArrowheads="1"/>
            </p:cNvSpPr>
            <p:nvPr/>
          </p:nvSpPr>
          <p:spPr bwMode="auto">
            <a:xfrm>
              <a:off x="4699000" y="51562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67655" name="Text Box 71"/>
            <p:cNvSpPr txBox="1">
              <a:spLocks noChangeArrowheads="1"/>
            </p:cNvSpPr>
            <p:nvPr/>
          </p:nvSpPr>
          <p:spPr bwMode="auto">
            <a:xfrm>
              <a:off x="5232400" y="51562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67656" name="Text Box 72"/>
            <p:cNvSpPr txBox="1">
              <a:spLocks noChangeArrowheads="1"/>
            </p:cNvSpPr>
            <p:nvPr/>
          </p:nvSpPr>
          <p:spPr bwMode="auto">
            <a:xfrm>
              <a:off x="5765800" y="5156200"/>
              <a:ext cx="762000" cy="457200"/>
            </a:xfrm>
            <a:prstGeom prst="rect">
              <a:avLst/>
            </a:prstGeom>
            <a:noFill/>
            <a:ln w="9525">
              <a:noFill/>
              <a:miter lim="800000"/>
              <a:headEnd/>
              <a:tailEnd/>
            </a:ln>
          </p:spPr>
          <p:txBody>
            <a:bodyPr>
              <a:spAutoFit/>
            </a:bodyPr>
            <a:lstStyle/>
            <a:p>
              <a:pPr>
                <a:spcBef>
                  <a:spcPct val="50000"/>
                </a:spcBef>
              </a:pPr>
              <a:r>
                <a:rPr lang="bg-BG"/>
                <a:t>38</a:t>
              </a:r>
              <a:endParaRPr lang="en-US"/>
            </a:p>
          </p:txBody>
        </p:sp>
        <p:sp>
          <p:nvSpPr>
            <p:cNvPr id="67657" name="Text Box 73"/>
            <p:cNvSpPr txBox="1">
              <a:spLocks noChangeArrowheads="1"/>
            </p:cNvSpPr>
            <p:nvPr/>
          </p:nvSpPr>
          <p:spPr bwMode="auto">
            <a:xfrm>
              <a:off x="6908800" y="5156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67658" name="Text Box 74"/>
            <p:cNvSpPr txBox="1">
              <a:spLocks noChangeArrowheads="1"/>
            </p:cNvSpPr>
            <p:nvPr/>
          </p:nvSpPr>
          <p:spPr bwMode="auto">
            <a:xfrm>
              <a:off x="7467600" y="51308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67659" name="Line 75"/>
            <p:cNvSpPr>
              <a:spLocks noChangeShapeType="1"/>
            </p:cNvSpPr>
            <p:nvPr/>
          </p:nvSpPr>
          <p:spPr bwMode="auto">
            <a:xfrm flipH="1">
              <a:off x="1066800" y="48006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60" name="Line 76"/>
            <p:cNvSpPr>
              <a:spLocks noChangeShapeType="1"/>
            </p:cNvSpPr>
            <p:nvPr/>
          </p:nvSpPr>
          <p:spPr bwMode="auto">
            <a:xfrm flipH="1">
              <a:off x="3429000" y="4826000"/>
              <a:ext cx="381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61" name="Line 77"/>
            <p:cNvSpPr>
              <a:spLocks noChangeShapeType="1"/>
            </p:cNvSpPr>
            <p:nvPr/>
          </p:nvSpPr>
          <p:spPr bwMode="auto">
            <a:xfrm>
              <a:off x="4419600" y="4826000"/>
              <a:ext cx="12954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62" name="Line 78"/>
            <p:cNvSpPr>
              <a:spLocks noChangeShapeType="1"/>
            </p:cNvSpPr>
            <p:nvPr/>
          </p:nvSpPr>
          <p:spPr bwMode="auto">
            <a:xfrm>
              <a:off x="4953000" y="4800600"/>
              <a:ext cx="3048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63" name="Text Box 79"/>
            <p:cNvSpPr txBox="1">
              <a:spLocks noChangeArrowheads="1"/>
            </p:cNvSpPr>
            <p:nvPr/>
          </p:nvSpPr>
          <p:spPr bwMode="auto">
            <a:xfrm>
              <a:off x="5486400" y="5740400"/>
              <a:ext cx="685800" cy="457200"/>
            </a:xfrm>
            <a:prstGeom prst="rect">
              <a:avLst/>
            </a:prstGeom>
            <a:noFill/>
            <a:ln w="9525">
              <a:noFill/>
              <a:miter lim="800000"/>
              <a:headEnd/>
              <a:tailEnd/>
            </a:ln>
          </p:spPr>
          <p:txBody>
            <a:bodyPr>
              <a:spAutoFit/>
            </a:bodyPr>
            <a:lstStyle/>
            <a:p>
              <a:pPr>
                <a:spcBef>
                  <a:spcPct val="50000"/>
                </a:spcBef>
              </a:pPr>
              <a:r>
                <a:rPr lang="en-US"/>
                <a:t>R</a:t>
              </a:r>
            </a:p>
          </p:txBody>
        </p:sp>
        <p:sp>
          <p:nvSpPr>
            <p:cNvPr id="67664" name="Text Box 80"/>
            <p:cNvSpPr txBox="1">
              <a:spLocks noChangeArrowheads="1"/>
            </p:cNvSpPr>
            <p:nvPr/>
          </p:nvSpPr>
          <p:spPr bwMode="auto">
            <a:xfrm>
              <a:off x="3200400" y="5740400"/>
              <a:ext cx="685800" cy="457200"/>
            </a:xfrm>
            <a:prstGeom prst="rect">
              <a:avLst/>
            </a:prstGeom>
            <a:noFill/>
            <a:ln w="9525">
              <a:noFill/>
              <a:miter lim="800000"/>
              <a:headEnd/>
              <a:tailEnd/>
            </a:ln>
          </p:spPr>
          <p:txBody>
            <a:bodyPr>
              <a:spAutoFit/>
            </a:bodyPr>
            <a:lstStyle/>
            <a:p>
              <a:pPr>
                <a:spcBef>
                  <a:spcPct val="50000"/>
                </a:spcBef>
              </a:pPr>
              <a:r>
                <a:rPr lang="en-US"/>
                <a:t>L</a:t>
              </a:r>
            </a:p>
          </p:txBody>
        </p:sp>
      </p:grpSp>
      <p:grpSp>
        <p:nvGrpSpPr>
          <p:cNvPr id="83" name="Group 82"/>
          <p:cNvGrpSpPr/>
          <p:nvPr/>
        </p:nvGrpSpPr>
        <p:grpSpPr>
          <a:xfrm>
            <a:off x="25400" y="1391824"/>
            <a:ext cx="9067800" cy="2209800"/>
            <a:chOff x="25400" y="1320800"/>
            <a:chExt cx="9067800" cy="2209800"/>
          </a:xfrm>
        </p:grpSpPr>
        <p:sp>
          <p:nvSpPr>
            <p:cNvPr id="67587" name="Rectangle 3"/>
            <p:cNvSpPr>
              <a:spLocks noChangeArrowheads="1"/>
            </p:cNvSpPr>
            <p:nvPr/>
          </p:nvSpPr>
          <p:spPr bwMode="auto">
            <a:xfrm>
              <a:off x="3225800" y="1701800"/>
              <a:ext cx="2209800" cy="457200"/>
            </a:xfrm>
            <a:prstGeom prst="rect">
              <a:avLst/>
            </a:prstGeom>
            <a:noFill/>
            <a:ln w="9525">
              <a:solidFill>
                <a:schemeClr val="tx1"/>
              </a:solidFill>
              <a:miter lim="800000"/>
              <a:headEnd/>
              <a:tailEnd/>
            </a:ln>
          </p:spPr>
          <p:txBody>
            <a:bodyPr wrap="none" anchor="ctr"/>
            <a:lstStyle/>
            <a:p>
              <a:endParaRPr lang="bg-BG"/>
            </a:p>
          </p:txBody>
        </p:sp>
        <p:sp>
          <p:nvSpPr>
            <p:cNvPr id="67588" name="Line 4"/>
            <p:cNvSpPr>
              <a:spLocks noChangeShapeType="1"/>
            </p:cNvSpPr>
            <p:nvPr/>
          </p:nvSpPr>
          <p:spPr bwMode="auto">
            <a:xfrm>
              <a:off x="4318000" y="1701800"/>
              <a:ext cx="0" cy="457200"/>
            </a:xfrm>
            <a:prstGeom prst="line">
              <a:avLst/>
            </a:prstGeom>
            <a:noFill/>
            <a:ln w="9525">
              <a:solidFill>
                <a:schemeClr val="tx1"/>
              </a:solidFill>
              <a:round/>
              <a:headEnd/>
              <a:tailEnd/>
            </a:ln>
          </p:spPr>
          <p:txBody>
            <a:bodyPr wrap="none" anchor="ctr"/>
            <a:lstStyle/>
            <a:p>
              <a:endParaRPr lang="bg-BG"/>
            </a:p>
          </p:txBody>
        </p:sp>
        <p:sp>
          <p:nvSpPr>
            <p:cNvPr id="67589" name="Line 5"/>
            <p:cNvSpPr>
              <a:spLocks noChangeShapeType="1"/>
            </p:cNvSpPr>
            <p:nvPr/>
          </p:nvSpPr>
          <p:spPr bwMode="auto">
            <a:xfrm>
              <a:off x="3759200" y="1701800"/>
              <a:ext cx="0" cy="457200"/>
            </a:xfrm>
            <a:prstGeom prst="line">
              <a:avLst/>
            </a:prstGeom>
            <a:noFill/>
            <a:ln w="9525">
              <a:solidFill>
                <a:schemeClr val="tx1"/>
              </a:solidFill>
              <a:round/>
              <a:headEnd/>
              <a:tailEnd/>
            </a:ln>
          </p:spPr>
          <p:txBody>
            <a:bodyPr wrap="none" anchor="ctr"/>
            <a:lstStyle/>
            <a:p>
              <a:endParaRPr lang="bg-BG"/>
            </a:p>
          </p:txBody>
        </p:sp>
        <p:sp>
          <p:nvSpPr>
            <p:cNvPr id="67590" name="Line 6"/>
            <p:cNvSpPr>
              <a:spLocks noChangeShapeType="1"/>
            </p:cNvSpPr>
            <p:nvPr/>
          </p:nvSpPr>
          <p:spPr bwMode="auto">
            <a:xfrm>
              <a:off x="4876800" y="1701800"/>
              <a:ext cx="0" cy="457200"/>
            </a:xfrm>
            <a:prstGeom prst="line">
              <a:avLst/>
            </a:prstGeom>
            <a:noFill/>
            <a:ln w="9525">
              <a:solidFill>
                <a:schemeClr val="tx1"/>
              </a:solidFill>
              <a:round/>
              <a:headEnd/>
              <a:tailEnd/>
            </a:ln>
          </p:spPr>
          <p:txBody>
            <a:bodyPr wrap="none" anchor="ctr"/>
            <a:lstStyle/>
            <a:p>
              <a:endParaRPr lang="bg-BG"/>
            </a:p>
          </p:txBody>
        </p:sp>
        <p:sp>
          <p:nvSpPr>
            <p:cNvPr id="67591" name="Rectangle 7"/>
            <p:cNvSpPr>
              <a:spLocks noChangeArrowheads="1"/>
            </p:cNvSpPr>
            <p:nvPr/>
          </p:nvSpPr>
          <p:spPr bwMode="auto">
            <a:xfrm>
              <a:off x="4597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7592" name="Rectangle 8"/>
            <p:cNvSpPr>
              <a:spLocks noChangeArrowheads="1"/>
            </p:cNvSpPr>
            <p:nvPr/>
          </p:nvSpPr>
          <p:spPr bwMode="auto">
            <a:xfrm>
              <a:off x="6883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7593" name="Rectangle 9"/>
            <p:cNvSpPr>
              <a:spLocks noChangeArrowheads="1"/>
            </p:cNvSpPr>
            <p:nvPr/>
          </p:nvSpPr>
          <p:spPr bwMode="auto">
            <a:xfrm>
              <a:off x="2311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7594" name="Rectangle 10"/>
            <p:cNvSpPr>
              <a:spLocks noChangeArrowheads="1"/>
            </p:cNvSpPr>
            <p:nvPr/>
          </p:nvSpPr>
          <p:spPr bwMode="auto">
            <a:xfrm>
              <a:off x="25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7595" name="Line 11"/>
            <p:cNvSpPr>
              <a:spLocks noChangeShapeType="1"/>
            </p:cNvSpPr>
            <p:nvPr/>
          </p:nvSpPr>
          <p:spPr bwMode="auto">
            <a:xfrm>
              <a:off x="6248400" y="2489200"/>
              <a:ext cx="0" cy="457200"/>
            </a:xfrm>
            <a:prstGeom prst="line">
              <a:avLst/>
            </a:prstGeom>
            <a:noFill/>
            <a:ln w="9525">
              <a:solidFill>
                <a:schemeClr val="tx1"/>
              </a:solidFill>
              <a:round/>
              <a:headEnd/>
              <a:tailEnd/>
            </a:ln>
          </p:spPr>
          <p:txBody>
            <a:bodyPr wrap="none" anchor="ctr"/>
            <a:lstStyle/>
            <a:p>
              <a:endParaRPr lang="bg-BG"/>
            </a:p>
          </p:txBody>
        </p:sp>
        <p:sp>
          <p:nvSpPr>
            <p:cNvPr id="67596" name="Line 12"/>
            <p:cNvSpPr>
              <a:spLocks noChangeShapeType="1"/>
            </p:cNvSpPr>
            <p:nvPr/>
          </p:nvSpPr>
          <p:spPr bwMode="auto">
            <a:xfrm>
              <a:off x="5156200" y="2489200"/>
              <a:ext cx="0" cy="457200"/>
            </a:xfrm>
            <a:prstGeom prst="line">
              <a:avLst/>
            </a:prstGeom>
            <a:noFill/>
            <a:ln w="9525">
              <a:solidFill>
                <a:schemeClr val="tx1"/>
              </a:solidFill>
              <a:round/>
              <a:headEnd/>
              <a:tailEnd/>
            </a:ln>
          </p:spPr>
          <p:txBody>
            <a:bodyPr wrap="none" anchor="ctr"/>
            <a:lstStyle/>
            <a:p>
              <a:endParaRPr lang="bg-BG"/>
            </a:p>
          </p:txBody>
        </p:sp>
        <p:sp>
          <p:nvSpPr>
            <p:cNvPr id="67597" name="Line 13"/>
            <p:cNvSpPr>
              <a:spLocks noChangeShapeType="1"/>
            </p:cNvSpPr>
            <p:nvPr/>
          </p:nvSpPr>
          <p:spPr bwMode="auto">
            <a:xfrm>
              <a:off x="5689600" y="2489200"/>
              <a:ext cx="0" cy="457200"/>
            </a:xfrm>
            <a:prstGeom prst="line">
              <a:avLst/>
            </a:prstGeom>
            <a:noFill/>
            <a:ln w="9525">
              <a:solidFill>
                <a:schemeClr val="tx1"/>
              </a:solidFill>
              <a:round/>
              <a:headEnd/>
              <a:tailEnd/>
            </a:ln>
          </p:spPr>
          <p:txBody>
            <a:bodyPr wrap="none" anchor="ctr"/>
            <a:lstStyle/>
            <a:p>
              <a:endParaRPr lang="bg-BG"/>
            </a:p>
          </p:txBody>
        </p:sp>
        <p:sp>
          <p:nvSpPr>
            <p:cNvPr id="67598" name="Line 14"/>
            <p:cNvSpPr>
              <a:spLocks noChangeShapeType="1"/>
            </p:cNvSpPr>
            <p:nvPr/>
          </p:nvSpPr>
          <p:spPr bwMode="auto">
            <a:xfrm>
              <a:off x="3962400" y="2489200"/>
              <a:ext cx="0" cy="457200"/>
            </a:xfrm>
            <a:prstGeom prst="line">
              <a:avLst/>
            </a:prstGeom>
            <a:noFill/>
            <a:ln w="9525">
              <a:solidFill>
                <a:schemeClr val="tx1"/>
              </a:solidFill>
              <a:round/>
              <a:headEnd/>
              <a:tailEnd/>
            </a:ln>
          </p:spPr>
          <p:txBody>
            <a:bodyPr wrap="none" anchor="ctr"/>
            <a:lstStyle/>
            <a:p>
              <a:endParaRPr lang="bg-BG"/>
            </a:p>
          </p:txBody>
        </p:sp>
        <p:sp>
          <p:nvSpPr>
            <p:cNvPr id="67599" name="Line 15"/>
            <p:cNvSpPr>
              <a:spLocks noChangeShapeType="1"/>
            </p:cNvSpPr>
            <p:nvPr/>
          </p:nvSpPr>
          <p:spPr bwMode="auto">
            <a:xfrm>
              <a:off x="7950200" y="2489200"/>
              <a:ext cx="0" cy="457200"/>
            </a:xfrm>
            <a:prstGeom prst="line">
              <a:avLst/>
            </a:prstGeom>
            <a:noFill/>
            <a:ln w="9525">
              <a:solidFill>
                <a:schemeClr val="tx1"/>
              </a:solidFill>
              <a:round/>
              <a:headEnd/>
              <a:tailEnd/>
            </a:ln>
          </p:spPr>
          <p:txBody>
            <a:bodyPr wrap="none" anchor="ctr"/>
            <a:lstStyle/>
            <a:p>
              <a:endParaRPr lang="bg-BG"/>
            </a:p>
          </p:txBody>
        </p:sp>
        <p:sp>
          <p:nvSpPr>
            <p:cNvPr id="67600" name="Line 16"/>
            <p:cNvSpPr>
              <a:spLocks noChangeShapeType="1"/>
            </p:cNvSpPr>
            <p:nvPr/>
          </p:nvSpPr>
          <p:spPr bwMode="auto">
            <a:xfrm>
              <a:off x="2870200" y="2489200"/>
              <a:ext cx="0" cy="457200"/>
            </a:xfrm>
            <a:prstGeom prst="line">
              <a:avLst/>
            </a:prstGeom>
            <a:noFill/>
            <a:ln w="9525">
              <a:solidFill>
                <a:schemeClr val="tx1"/>
              </a:solidFill>
              <a:round/>
              <a:headEnd/>
              <a:tailEnd/>
            </a:ln>
          </p:spPr>
          <p:txBody>
            <a:bodyPr wrap="none" anchor="ctr"/>
            <a:lstStyle/>
            <a:p>
              <a:endParaRPr lang="bg-BG"/>
            </a:p>
          </p:txBody>
        </p:sp>
        <p:sp>
          <p:nvSpPr>
            <p:cNvPr id="67601" name="Line 17"/>
            <p:cNvSpPr>
              <a:spLocks noChangeShapeType="1"/>
            </p:cNvSpPr>
            <p:nvPr/>
          </p:nvSpPr>
          <p:spPr bwMode="auto">
            <a:xfrm>
              <a:off x="3429000" y="2489200"/>
              <a:ext cx="0" cy="457200"/>
            </a:xfrm>
            <a:prstGeom prst="line">
              <a:avLst/>
            </a:prstGeom>
            <a:noFill/>
            <a:ln w="9525">
              <a:solidFill>
                <a:schemeClr val="tx1"/>
              </a:solidFill>
              <a:round/>
              <a:headEnd/>
              <a:tailEnd/>
            </a:ln>
          </p:spPr>
          <p:txBody>
            <a:bodyPr wrap="none" anchor="ctr"/>
            <a:lstStyle/>
            <a:p>
              <a:endParaRPr lang="bg-BG"/>
            </a:p>
          </p:txBody>
        </p:sp>
        <p:sp>
          <p:nvSpPr>
            <p:cNvPr id="67602" name="Line 18"/>
            <p:cNvSpPr>
              <a:spLocks noChangeShapeType="1"/>
            </p:cNvSpPr>
            <p:nvPr/>
          </p:nvSpPr>
          <p:spPr bwMode="auto">
            <a:xfrm>
              <a:off x="584200" y="2489200"/>
              <a:ext cx="0" cy="457200"/>
            </a:xfrm>
            <a:prstGeom prst="line">
              <a:avLst/>
            </a:prstGeom>
            <a:noFill/>
            <a:ln w="9525">
              <a:solidFill>
                <a:schemeClr val="tx1"/>
              </a:solidFill>
              <a:round/>
              <a:headEnd/>
              <a:tailEnd/>
            </a:ln>
          </p:spPr>
          <p:txBody>
            <a:bodyPr wrap="none" anchor="ctr"/>
            <a:lstStyle/>
            <a:p>
              <a:endParaRPr lang="bg-BG"/>
            </a:p>
          </p:txBody>
        </p:sp>
        <p:sp>
          <p:nvSpPr>
            <p:cNvPr id="67603" name="Line 19"/>
            <p:cNvSpPr>
              <a:spLocks noChangeShapeType="1"/>
            </p:cNvSpPr>
            <p:nvPr/>
          </p:nvSpPr>
          <p:spPr bwMode="auto">
            <a:xfrm>
              <a:off x="1676400" y="2489200"/>
              <a:ext cx="0" cy="457200"/>
            </a:xfrm>
            <a:prstGeom prst="line">
              <a:avLst/>
            </a:prstGeom>
            <a:noFill/>
            <a:ln w="9525">
              <a:solidFill>
                <a:schemeClr val="tx1"/>
              </a:solidFill>
              <a:round/>
              <a:headEnd/>
              <a:tailEnd/>
            </a:ln>
          </p:spPr>
          <p:txBody>
            <a:bodyPr wrap="none" anchor="ctr"/>
            <a:lstStyle/>
            <a:p>
              <a:endParaRPr lang="bg-BG"/>
            </a:p>
          </p:txBody>
        </p:sp>
        <p:sp>
          <p:nvSpPr>
            <p:cNvPr id="67604" name="Line 20"/>
            <p:cNvSpPr>
              <a:spLocks noChangeShapeType="1"/>
            </p:cNvSpPr>
            <p:nvPr/>
          </p:nvSpPr>
          <p:spPr bwMode="auto">
            <a:xfrm>
              <a:off x="1143000" y="2514600"/>
              <a:ext cx="0" cy="457200"/>
            </a:xfrm>
            <a:prstGeom prst="line">
              <a:avLst/>
            </a:prstGeom>
            <a:noFill/>
            <a:ln w="9525">
              <a:solidFill>
                <a:schemeClr val="tx1"/>
              </a:solidFill>
              <a:round/>
              <a:headEnd/>
              <a:tailEnd/>
            </a:ln>
          </p:spPr>
          <p:txBody>
            <a:bodyPr wrap="none" anchor="ctr"/>
            <a:lstStyle/>
            <a:p>
              <a:endParaRPr lang="bg-BG"/>
            </a:p>
          </p:txBody>
        </p:sp>
        <p:sp>
          <p:nvSpPr>
            <p:cNvPr id="67605" name="Line 21"/>
            <p:cNvSpPr>
              <a:spLocks noChangeShapeType="1"/>
            </p:cNvSpPr>
            <p:nvPr/>
          </p:nvSpPr>
          <p:spPr bwMode="auto">
            <a:xfrm>
              <a:off x="8509000" y="2489200"/>
              <a:ext cx="0" cy="457200"/>
            </a:xfrm>
            <a:prstGeom prst="line">
              <a:avLst/>
            </a:prstGeom>
            <a:noFill/>
            <a:ln w="9525">
              <a:solidFill>
                <a:schemeClr val="tx1"/>
              </a:solidFill>
              <a:round/>
              <a:headEnd/>
              <a:tailEnd/>
            </a:ln>
          </p:spPr>
          <p:txBody>
            <a:bodyPr wrap="none" anchor="ctr"/>
            <a:lstStyle/>
            <a:p>
              <a:endParaRPr lang="bg-BG"/>
            </a:p>
          </p:txBody>
        </p:sp>
        <p:sp>
          <p:nvSpPr>
            <p:cNvPr id="67606" name="Line 22"/>
            <p:cNvSpPr>
              <a:spLocks noChangeShapeType="1"/>
            </p:cNvSpPr>
            <p:nvPr/>
          </p:nvSpPr>
          <p:spPr bwMode="auto">
            <a:xfrm>
              <a:off x="7391400" y="2489200"/>
              <a:ext cx="0" cy="457200"/>
            </a:xfrm>
            <a:prstGeom prst="line">
              <a:avLst/>
            </a:prstGeom>
            <a:noFill/>
            <a:ln w="9525">
              <a:solidFill>
                <a:schemeClr val="tx1"/>
              </a:solidFill>
              <a:round/>
              <a:headEnd/>
              <a:tailEnd/>
            </a:ln>
          </p:spPr>
          <p:txBody>
            <a:bodyPr wrap="none" anchor="ctr"/>
            <a:lstStyle/>
            <a:p>
              <a:endParaRPr lang="bg-BG"/>
            </a:p>
          </p:txBody>
        </p:sp>
        <p:sp>
          <p:nvSpPr>
            <p:cNvPr id="67607" name="Line 23"/>
            <p:cNvSpPr>
              <a:spLocks noChangeShapeType="1"/>
            </p:cNvSpPr>
            <p:nvPr/>
          </p:nvSpPr>
          <p:spPr bwMode="auto">
            <a:xfrm>
              <a:off x="4318000" y="13208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7630" name="Line 46"/>
            <p:cNvSpPr>
              <a:spLocks noChangeShapeType="1"/>
            </p:cNvSpPr>
            <p:nvPr/>
          </p:nvSpPr>
          <p:spPr bwMode="auto">
            <a:xfrm flipH="1">
              <a:off x="914400" y="21590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31" name="Line 47"/>
            <p:cNvSpPr>
              <a:spLocks noChangeShapeType="1"/>
            </p:cNvSpPr>
            <p:nvPr/>
          </p:nvSpPr>
          <p:spPr bwMode="auto">
            <a:xfrm flipH="1">
              <a:off x="3352800" y="2159000"/>
              <a:ext cx="381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32" name="Line 48"/>
            <p:cNvSpPr>
              <a:spLocks noChangeShapeType="1"/>
            </p:cNvSpPr>
            <p:nvPr/>
          </p:nvSpPr>
          <p:spPr bwMode="auto">
            <a:xfrm>
              <a:off x="4343400" y="2159000"/>
              <a:ext cx="12954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33" name="Line 49"/>
            <p:cNvSpPr>
              <a:spLocks noChangeShapeType="1"/>
            </p:cNvSpPr>
            <p:nvPr/>
          </p:nvSpPr>
          <p:spPr bwMode="auto">
            <a:xfrm>
              <a:off x="4876800" y="2159000"/>
              <a:ext cx="3048000" cy="304800"/>
            </a:xfrm>
            <a:prstGeom prst="line">
              <a:avLst/>
            </a:prstGeom>
            <a:noFill/>
            <a:ln w="9525">
              <a:solidFill>
                <a:schemeClr val="tx1"/>
              </a:solidFill>
              <a:round/>
              <a:headEnd/>
              <a:tailEnd type="triangle" w="med" len="med"/>
            </a:ln>
          </p:spPr>
          <p:txBody>
            <a:bodyPr wrap="none" anchor="ctr"/>
            <a:lstStyle/>
            <a:p>
              <a:endParaRPr lang="bg-BG"/>
            </a:p>
          </p:txBody>
        </p:sp>
        <p:sp>
          <p:nvSpPr>
            <p:cNvPr id="67634" name="Text Box 50"/>
            <p:cNvSpPr txBox="1">
              <a:spLocks noChangeArrowheads="1"/>
            </p:cNvSpPr>
            <p:nvPr/>
          </p:nvSpPr>
          <p:spPr bwMode="auto">
            <a:xfrm>
              <a:off x="4394200" y="1320800"/>
              <a:ext cx="685800" cy="457200"/>
            </a:xfrm>
            <a:prstGeom prst="rect">
              <a:avLst/>
            </a:prstGeom>
            <a:noFill/>
            <a:ln w="9525">
              <a:noFill/>
              <a:miter lim="800000"/>
              <a:headEnd/>
              <a:tailEnd/>
            </a:ln>
          </p:spPr>
          <p:txBody>
            <a:bodyPr>
              <a:spAutoFit/>
            </a:bodyPr>
            <a:lstStyle/>
            <a:p>
              <a:pPr>
                <a:spcBef>
                  <a:spcPct val="50000"/>
                </a:spcBef>
              </a:pPr>
              <a:r>
                <a:rPr lang="en-US"/>
                <a:t>Р</a:t>
              </a:r>
            </a:p>
          </p:txBody>
        </p:sp>
        <p:sp>
          <p:nvSpPr>
            <p:cNvPr id="67635" name="Text Box 51"/>
            <p:cNvSpPr txBox="1">
              <a:spLocks noChangeArrowheads="1"/>
            </p:cNvSpPr>
            <p:nvPr/>
          </p:nvSpPr>
          <p:spPr bwMode="auto">
            <a:xfrm>
              <a:off x="3251200" y="17272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67636" name="Text Box 52"/>
            <p:cNvSpPr txBox="1">
              <a:spLocks noChangeArrowheads="1"/>
            </p:cNvSpPr>
            <p:nvPr/>
          </p:nvSpPr>
          <p:spPr bwMode="auto">
            <a:xfrm>
              <a:off x="2362200" y="2489200"/>
              <a:ext cx="762000" cy="457200"/>
            </a:xfrm>
            <a:prstGeom prst="rect">
              <a:avLst/>
            </a:prstGeom>
            <a:noFill/>
            <a:ln w="9525">
              <a:noFill/>
              <a:miter lim="800000"/>
              <a:headEnd/>
              <a:tailEnd/>
            </a:ln>
          </p:spPr>
          <p:txBody>
            <a:bodyPr>
              <a:spAutoFit/>
            </a:bodyPr>
            <a:lstStyle/>
            <a:p>
              <a:pPr>
                <a:spcBef>
                  <a:spcPct val="50000"/>
                </a:spcBef>
              </a:pPr>
              <a:r>
                <a:rPr lang="en-US"/>
                <a:t>2</a:t>
              </a:r>
              <a:r>
                <a:rPr lang="bg-BG"/>
                <a:t>5</a:t>
              </a:r>
              <a:endParaRPr lang="en-US"/>
            </a:p>
          </p:txBody>
        </p:sp>
        <p:sp>
          <p:nvSpPr>
            <p:cNvPr id="67638" name="Text Box 54"/>
            <p:cNvSpPr txBox="1">
              <a:spLocks noChangeArrowheads="1"/>
            </p:cNvSpPr>
            <p:nvPr/>
          </p:nvSpPr>
          <p:spPr bwMode="auto">
            <a:xfrm>
              <a:off x="6350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67639" name="Text Box 55"/>
            <p:cNvSpPr txBox="1">
              <a:spLocks noChangeArrowheads="1"/>
            </p:cNvSpPr>
            <p:nvPr/>
          </p:nvSpPr>
          <p:spPr bwMode="auto">
            <a:xfrm>
              <a:off x="508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sp>
          <p:nvSpPr>
            <p:cNvPr id="67640" name="Text Box 56"/>
            <p:cNvSpPr txBox="1">
              <a:spLocks noChangeArrowheads="1"/>
            </p:cNvSpPr>
            <p:nvPr/>
          </p:nvSpPr>
          <p:spPr bwMode="auto">
            <a:xfrm>
              <a:off x="5715000" y="2489200"/>
              <a:ext cx="762000" cy="457200"/>
            </a:xfrm>
            <a:prstGeom prst="rect">
              <a:avLst/>
            </a:prstGeom>
            <a:noFill/>
            <a:ln w="9525">
              <a:noFill/>
              <a:miter lim="800000"/>
              <a:headEnd/>
              <a:tailEnd/>
            </a:ln>
          </p:spPr>
          <p:txBody>
            <a:bodyPr>
              <a:spAutoFit/>
            </a:bodyPr>
            <a:lstStyle/>
            <a:p>
              <a:pPr>
                <a:spcBef>
                  <a:spcPct val="50000"/>
                </a:spcBef>
              </a:pPr>
              <a:r>
                <a:rPr lang="bg-BG"/>
                <a:t>38</a:t>
              </a:r>
              <a:endParaRPr lang="en-US"/>
            </a:p>
          </p:txBody>
        </p:sp>
        <p:sp>
          <p:nvSpPr>
            <p:cNvPr id="67641" name="Text Box 57"/>
            <p:cNvSpPr txBox="1">
              <a:spLocks noChangeArrowheads="1"/>
            </p:cNvSpPr>
            <p:nvPr/>
          </p:nvSpPr>
          <p:spPr bwMode="auto">
            <a:xfrm>
              <a:off x="51816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67642" name="Text Box 58"/>
            <p:cNvSpPr txBox="1">
              <a:spLocks noChangeArrowheads="1"/>
            </p:cNvSpPr>
            <p:nvPr/>
          </p:nvSpPr>
          <p:spPr bwMode="auto">
            <a:xfrm>
              <a:off x="46482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67643" name="Text Box 59"/>
            <p:cNvSpPr txBox="1">
              <a:spLocks noChangeArrowheads="1"/>
            </p:cNvSpPr>
            <p:nvPr/>
          </p:nvSpPr>
          <p:spPr bwMode="auto">
            <a:xfrm>
              <a:off x="2921000" y="2489200"/>
              <a:ext cx="762000" cy="457200"/>
            </a:xfrm>
            <a:prstGeom prst="rect">
              <a:avLst/>
            </a:prstGeom>
            <a:noFill/>
            <a:ln w="9525">
              <a:noFill/>
              <a:miter lim="800000"/>
              <a:headEnd/>
              <a:tailEnd/>
            </a:ln>
          </p:spPr>
          <p:txBody>
            <a:bodyPr>
              <a:spAutoFit/>
            </a:bodyPr>
            <a:lstStyle/>
            <a:p>
              <a:pPr>
                <a:spcBef>
                  <a:spcPct val="50000"/>
                </a:spcBef>
              </a:pPr>
              <a:r>
                <a:rPr lang="en-US">
                  <a:solidFill>
                    <a:srgbClr val="FF0000"/>
                  </a:solidFill>
                </a:rPr>
                <a:t>2</a:t>
              </a:r>
              <a:r>
                <a:rPr lang="bg-BG">
                  <a:solidFill>
                    <a:srgbClr val="FF0000"/>
                  </a:solidFill>
                </a:rPr>
                <a:t>7</a:t>
              </a:r>
              <a:endParaRPr lang="en-US">
                <a:solidFill>
                  <a:srgbClr val="FF0000"/>
                </a:solidFill>
              </a:endParaRPr>
            </a:p>
          </p:txBody>
        </p:sp>
        <p:sp>
          <p:nvSpPr>
            <p:cNvPr id="67644" name="Text Box 60"/>
            <p:cNvSpPr txBox="1">
              <a:spLocks noChangeArrowheads="1"/>
            </p:cNvSpPr>
            <p:nvPr/>
          </p:nvSpPr>
          <p:spPr bwMode="auto">
            <a:xfrm>
              <a:off x="3810000" y="1727200"/>
              <a:ext cx="762000" cy="457200"/>
            </a:xfrm>
            <a:prstGeom prst="rect">
              <a:avLst/>
            </a:prstGeom>
            <a:noFill/>
            <a:ln w="9525">
              <a:noFill/>
              <a:miter lim="800000"/>
              <a:headEnd/>
              <a:tailEnd/>
            </a:ln>
          </p:spPr>
          <p:txBody>
            <a:bodyPr>
              <a:spAutoFit/>
            </a:bodyPr>
            <a:lstStyle/>
            <a:p>
              <a:pPr>
                <a:spcBef>
                  <a:spcPct val="50000"/>
                </a:spcBef>
              </a:pPr>
              <a:r>
                <a:rPr lang="en-US"/>
                <a:t>3</a:t>
              </a:r>
              <a:r>
                <a:rPr lang="bg-BG"/>
                <a:t>0</a:t>
              </a:r>
              <a:endParaRPr lang="en-US"/>
            </a:p>
          </p:txBody>
        </p:sp>
        <p:sp>
          <p:nvSpPr>
            <p:cNvPr id="67645" name="Text Box 61"/>
            <p:cNvSpPr txBox="1">
              <a:spLocks noChangeArrowheads="1"/>
            </p:cNvSpPr>
            <p:nvPr/>
          </p:nvSpPr>
          <p:spPr bwMode="auto">
            <a:xfrm>
              <a:off x="6908800" y="2489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67646" name="Text Box 62"/>
            <p:cNvSpPr txBox="1">
              <a:spLocks noChangeArrowheads="1"/>
            </p:cNvSpPr>
            <p:nvPr/>
          </p:nvSpPr>
          <p:spPr bwMode="auto">
            <a:xfrm>
              <a:off x="4343400" y="17272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67647" name="Text Box 63"/>
            <p:cNvSpPr txBox="1">
              <a:spLocks noChangeArrowheads="1"/>
            </p:cNvSpPr>
            <p:nvPr/>
          </p:nvSpPr>
          <p:spPr bwMode="auto">
            <a:xfrm>
              <a:off x="7442200" y="24892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67665" name="Text Box 81"/>
            <p:cNvSpPr txBox="1">
              <a:spLocks noChangeArrowheads="1"/>
            </p:cNvSpPr>
            <p:nvPr/>
          </p:nvSpPr>
          <p:spPr bwMode="auto">
            <a:xfrm>
              <a:off x="5486400" y="3073400"/>
              <a:ext cx="685800" cy="457200"/>
            </a:xfrm>
            <a:prstGeom prst="rect">
              <a:avLst/>
            </a:prstGeom>
            <a:noFill/>
            <a:ln w="9525">
              <a:noFill/>
              <a:miter lim="800000"/>
              <a:headEnd/>
              <a:tailEnd/>
            </a:ln>
          </p:spPr>
          <p:txBody>
            <a:bodyPr>
              <a:spAutoFit/>
            </a:bodyPr>
            <a:lstStyle/>
            <a:p>
              <a:pPr>
                <a:spcBef>
                  <a:spcPct val="50000"/>
                </a:spcBef>
              </a:pPr>
              <a:r>
                <a:rPr lang="en-US"/>
                <a:t>R</a:t>
              </a:r>
            </a:p>
          </p:txBody>
        </p:sp>
        <p:sp>
          <p:nvSpPr>
            <p:cNvPr id="67666" name="Text Box 82"/>
            <p:cNvSpPr txBox="1">
              <a:spLocks noChangeArrowheads="1"/>
            </p:cNvSpPr>
            <p:nvPr/>
          </p:nvSpPr>
          <p:spPr bwMode="auto">
            <a:xfrm>
              <a:off x="2971800" y="3073400"/>
              <a:ext cx="685800" cy="457200"/>
            </a:xfrm>
            <a:prstGeom prst="rect">
              <a:avLst/>
            </a:prstGeom>
            <a:noFill/>
            <a:ln w="9525">
              <a:noFill/>
              <a:miter lim="800000"/>
              <a:headEnd/>
              <a:tailEnd/>
            </a:ln>
          </p:spPr>
          <p:txBody>
            <a:bodyPr>
              <a:spAutoFit/>
            </a:bodyPr>
            <a:lstStyle/>
            <a:p>
              <a:pPr>
                <a:spcBef>
                  <a:spcPct val="50000"/>
                </a:spcBef>
              </a:pPr>
              <a:r>
                <a:rPr lang="en-US"/>
                <a:t>L</a:t>
              </a:r>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1547664" y="548680"/>
            <a:ext cx="6711280" cy="5638800"/>
          </a:xfrm>
          <a:prstGeom prst="rect">
            <a:avLst/>
          </a:prstGeom>
          <a:noFill/>
          <a:ln w="9525">
            <a:noFill/>
            <a:miter lim="800000"/>
            <a:headEnd/>
            <a:tailEnd/>
          </a:ln>
        </p:spPr>
        <p:txBody>
          <a:bodyPr anchor="ctr"/>
          <a:lstStyle/>
          <a:p>
            <a:r>
              <a:rPr lang="bg-BG" sz="2200"/>
              <a:t>Т. е. от дървото</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получаваме </a:t>
            </a: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8611" name="Rectangle 3"/>
          <p:cNvSpPr>
            <a:spLocks noChangeArrowheads="1"/>
          </p:cNvSpPr>
          <p:nvPr/>
        </p:nvSpPr>
        <p:spPr bwMode="auto">
          <a:xfrm>
            <a:off x="457200" y="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8633" name="Rectangle 25"/>
          <p:cNvSpPr>
            <a:spLocks noChangeArrowheads="1"/>
          </p:cNvSpPr>
          <p:nvPr/>
        </p:nvSpPr>
        <p:spPr bwMode="auto">
          <a:xfrm>
            <a:off x="508000" y="264160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grpSp>
        <p:nvGrpSpPr>
          <p:cNvPr id="83" name="Group 82"/>
          <p:cNvGrpSpPr/>
          <p:nvPr/>
        </p:nvGrpSpPr>
        <p:grpSpPr>
          <a:xfrm>
            <a:off x="25400" y="1320800"/>
            <a:ext cx="9067800" cy="2209800"/>
            <a:chOff x="25400" y="1320800"/>
            <a:chExt cx="9067800" cy="2209800"/>
          </a:xfrm>
        </p:grpSpPr>
        <p:sp>
          <p:nvSpPr>
            <p:cNvPr id="68612" name="Rectangle 4"/>
            <p:cNvSpPr>
              <a:spLocks noChangeArrowheads="1"/>
            </p:cNvSpPr>
            <p:nvPr/>
          </p:nvSpPr>
          <p:spPr bwMode="auto">
            <a:xfrm>
              <a:off x="3225800" y="1701800"/>
              <a:ext cx="2209800" cy="457200"/>
            </a:xfrm>
            <a:prstGeom prst="rect">
              <a:avLst/>
            </a:prstGeom>
            <a:noFill/>
            <a:ln w="9525">
              <a:solidFill>
                <a:schemeClr val="tx1"/>
              </a:solidFill>
              <a:miter lim="800000"/>
              <a:headEnd/>
              <a:tailEnd/>
            </a:ln>
          </p:spPr>
          <p:txBody>
            <a:bodyPr wrap="none" anchor="ctr"/>
            <a:lstStyle/>
            <a:p>
              <a:endParaRPr lang="bg-BG"/>
            </a:p>
          </p:txBody>
        </p:sp>
        <p:sp>
          <p:nvSpPr>
            <p:cNvPr id="68613" name="Line 5"/>
            <p:cNvSpPr>
              <a:spLocks noChangeShapeType="1"/>
            </p:cNvSpPr>
            <p:nvPr/>
          </p:nvSpPr>
          <p:spPr bwMode="auto">
            <a:xfrm>
              <a:off x="4318000" y="1701800"/>
              <a:ext cx="0" cy="457200"/>
            </a:xfrm>
            <a:prstGeom prst="line">
              <a:avLst/>
            </a:prstGeom>
            <a:noFill/>
            <a:ln w="9525">
              <a:solidFill>
                <a:schemeClr val="tx1"/>
              </a:solidFill>
              <a:round/>
              <a:headEnd/>
              <a:tailEnd/>
            </a:ln>
          </p:spPr>
          <p:txBody>
            <a:bodyPr wrap="none" anchor="ctr"/>
            <a:lstStyle/>
            <a:p>
              <a:endParaRPr lang="bg-BG"/>
            </a:p>
          </p:txBody>
        </p:sp>
        <p:sp>
          <p:nvSpPr>
            <p:cNvPr id="68614" name="Line 6"/>
            <p:cNvSpPr>
              <a:spLocks noChangeShapeType="1"/>
            </p:cNvSpPr>
            <p:nvPr/>
          </p:nvSpPr>
          <p:spPr bwMode="auto">
            <a:xfrm>
              <a:off x="3759200" y="1701800"/>
              <a:ext cx="0" cy="457200"/>
            </a:xfrm>
            <a:prstGeom prst="line">
              <a:avLst/>
            </a:prstGeom>
            <a:noFill/>
            <a:ln w="9525">
              <a:solidFill>
                <a:schemeClr val="tx1"/>
              </a:solidFill>
              <a:round/>
              <a:headEnd/>
              <a:tailEnd/>
            </a:ln>
          </p:spPr>
          <p:txBody>
            <a:bodyPr wrap="none" anchor="ctr"/>
            <a:lstStyle/>
            <a:p>
              <a:endParaRPr lang="bg-BG"/>
            </a:p>
          </p:txBody>
        </p:sp>
        <p:sp>
          <p:nvSpPr>
            <p:cNvPr id="68615" name="Line 7"/>
            <p:cNvSpPr>
              <a:spLocks noChangeShapeType="1"/>
            </p:cNvSpPr>
            <p:nvPr/>
          </p:nvSpPr>
          <p:spPr bwMode="auto">
            <a:xfrm>
              <a:off x="4876800" y="1701800"/>
              <a:ext cx="0" cy="457200"/>
            </a:xfrm>
            <a:prstGeom prst="line">
              <a:avLst/>
            </a:prstGeom>
            <a:noFill/>
            <a:ln w="9525">
              <a:solidFill>
                <a:schemeClr val="tx1"/>
              </a:solidFill>
              <a:round/>
              <a:headEnd/>
              <a:tailEnd/>
            </a:ln>
          </p:spPr>
          <p:txBody>
            <a:bodyPr wrap="none" anchor="ctr"/>
            <a:lstStyle/>
            <a:p>
              <a:endParaRPr lang="bg-BG"/>
            </a:p>
          </p:txBody>
        </p:sp>
        <p:sp>
          <p:nvSpPr>
            <p:cNvPr id="68616" name="Rectangle 8"/>
            <p:cNvSpPr>
              <a:spLocks noChangeArrowheads="1"/>
            </p:cNvSpPr>
            <p:nvPr/>
          </p:nvSpPr>
          <p:spPr bwMode="auto">
            <a:xfrm>
              <a:off x="4597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8617" name="Rectangle 9"/>
            <p:cNvSpPr>
              <a:spLocks noChangeArrowheads="1"/>
            </p:cNvSpPr>
            <p:nvPr/>
          </p:nvSpPr>
          <p:spPr bwMode="auto">
            <a:xfrm>
              <a:off x="6883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8618" name="Rectangle 10"/>
            <p:cNvSpPr>
              <a:spLocks noChangeArrowheads="1"/>
            </p:cNvSpPr>
            <p:nvPr/>
          </p:nvSpPr>
          <p:spPr bwMode="auto">
            <a:xfrm>
              <a:off x="2311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8619" name="Rectangle 11"/>
            <p:cNvSpPr>
              <a:spLocks noChangeArrowheads="1"/>
            </p:cNvSpPr>
            <p:nvPr/>
          </p:nvSpPr>
          <p:spPr bwMode="auto">
            <a:xfrm>
              <a:off x="25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8620" name="Line 12"/>
            <p:cNvSpPr>
              <a:spLocks noChangeShapeType="1"/>
            </p:cNvSpPr>
            <p:nvPr/>
          </p:nvSpPr>
          <p:spPr bwMode="auto">
            <a:xfrm>
              <a:off x="6248400" y="2489200"/>
              <a:ext cx="0" cy="457200"/>
            </a:xfrm>
            <a:prstGeom prst="line">
              <a:avLst/>
            </a:prstGeom>
            <a:noFill/>
            <a:ln w="9525">
              <a:solidFill>
                <a:schemeClr val="tx1"/>
              </a:solidFill>
              <a:round/>
              <a:headEnd/>
              <a:tailEnd/>
            </a:ln>
          </p:spPr>
          <p:txBody>
            <a:bodyPr wrap="none" anchor="ctr"/>
            <a:lstStyle/>
            <a:p>
              <a:endParaRPr lang="bg-BG"/>
            </a:p>
          </p:txBody>
        </p:sp>
        <p:sp>
          <p:nvSpPr>
            <p:cNvPr id="68621" name="Line 13"/>
            <p:cNvSpPr>
              <a:spLocks noChangeShapeType="1"/>
            </p:cNvSpPr>
            <p:nvPr/>
          </p:nvSpPr>
          <p:spPr bwMode="auto">
            <a:xfrm>
              <a:off x="5156200" y="2489200"/>
              <a:ext cx="0" cy="457200"/>
            </a:xfrm>
            <a:prstGeom prst="line">
              <a:avLst/>
            </a:prstGeom>
            <a:noFill/>
            <a:ln w="9525">
              <a:solidFill>
                <a:schemeClr val="tx1"/>
              </a:solidFill>
              <a:round/>
              <a:headEnd/>
              <a:tailEnd/>
            </a:ln>
          </p:spPr>
          <p:txBody>
            <a:bodyPr wrap="none" anchor="ctr"/>
            <a:lstStyle/>
            <a:p>
              <a:endParaRPr lang="bg-BG"/>
            </a:p>
          </p:txBody>
        </p:sp>
        <p:sp>
          <p:nvSpPr>
            <p:cNvPr id="68622" name="Line 14"/>
            <p:cNvSpPr>
              <a:spLocks noChangeShapeType="1"/>
            </p:cNvSpPr>
            <p:nvPr/>
          </p:nvSpPr>
          <p:spPr bwMode="auto">
            <a:xfrm>
              <a:off x="5689600" y="2489200"/>
              <a:ext cx="0" cy="457200"/>
            </a:xfrm>
            <a:prstGeom prst="line">
              <a:avLst/>
            </a:prstGeom>
            <a:noFill/>
            <a:ln w="9525">
              <a:solidFill>
                <a:schemeClr val="tx1"/>
              </a:solidFill>
              <a:round/>
              <a:headEnd/>
              <a:tailEnd/>
            </a:ln>
          </p:spPr>
          <p:txBody>
            <a:bodyPr wrap="none" anchor="ctr"/>
            <a:lstStyle/>
            <a:p>
              <a:endParaRPr lang="bg-BG"/>
            </a:p>
          </p:txBody>
        </p:sp>
        <p:sp>
          <p:nvSpPr>
            <p:cNvPr id="68623" name="Line 15"/>
            <p:cNvSpPr>
              <a:spLocks noChangeShapeType="1"/>
            </p:cNvSpPr>
            <p:nvPr/>
          </p:nvSpPr>
          <p:spPr bwMode="auto">
            <a:xfrm>
              <a:off x="3962400" y="2489200"/>
              <a:ext cx="0" cy="457200"/>
            </a:xfrm>
            <a:prstGeom prst="line">
              <a:avLst/>
            </a:prstGeom>
            <a:noFill/>
            <a:ln w="9525">
              <a:solidFill>
                <a:schemeClr val="tx1"/>
              </a:solidFill>
              <a:round/>
              <a:headEnd/>
              <a:tailEnd/>
            </a:ln>
          </p:spPr>
          <p:txBody>
            <a:bodyPr wrap="none" anchor="ctr"/>
            <a:lstStyle/>
            <a:p>
              <a:endParaRPr lang="bg-BG"/>
            </a:p>
          </p:txBody>
        </p:sp>
        <p:sp>
          <p:nvSpPr>
            <p:cNvPr id="68624" name="Line 16"/>
            <p:cNvSpPr>
              <a:spLocks noChangeShapeType="1"/>
            </p:cNvSpPr>
            <p:nvPr/>
          </p:nvSpPr>
          <p:spPr bwMode="auto">
            <a:xfrm>
              <a:off x="7950200" y="2489200"/>
              <a:ext cx="0" cy="457200"/>
            </a:xfrm>
            <a:prstGeom prst="line">
              <a:avLst/>
            </a:prstGeom>
            <a:noFill/>
            <a:ln w="9525">
              <a:solidFill>
                <a:schemeClr val="tx1"/>
              </a:solidFill>
              <a:round/>
              <a:headEnd/>
              <a:tailEnd/>
            </a:ln>
          </p:spPr>
          <p:txBody>
            <a:bodyPr wrap="none" anchor="ctr"/>
            <a:lstStyle/>
            <a:p>
              <a:endParaRPr lang="bg-BG"/>
            </a:p>
          </p:txBody>
        </p:sp>
        <p:sp>
          <p:nvSpPr>
            <p:cNvPr id="68625" name="Line 17"/>
            <p:cNvSpPr>
              <a:spLocks noChangeShapeType="1"/>
            </p:cNvSpPr>
            <p:nvPr/>
          </p:nvSpPr>
          <p:spPr bwMode="auto">
            <a:xfrm>
              <a:off x="2870200" y="2489200"/>
              <a:ext cx="0" cy="457200"/>
            </a:xfrm>
            <a:prstGeom prst="line">
              <a:avLst/>
            </a:prstGeom>
            <a:noFill/>
            <a:ln w="9525">
              <a:solidFill>
                <a:schemeClr val="tx1"/>
              </a:solidFill>
              <a:round/>
              <a:headEnd/>
              <a:tailEnd/>
            </a:ln>
          </p:spPr>
          <p:txBody>
            <a:bodyPr wrap="none" anchor="ctr"/>
            <a:lstStyle/>
            <a:p>
              <a:endParaRPr lang="bg-BG"/>
            </a:p>
          </p:txBody>
        </p:sp>
        <p:sp>
          <p:nvSpPr>
            <p:cNvPr id="68626" name="Line 18"/>
            <p:cNvSpPr>
              <a:spLocks noChangeShapeType="1"/>
            </p:cNvSpPr>
            <p:nvPr/>
          </p:nvSpPr>
          <p:spPr bwMode="auto">
            <a:xfrm>
              <a:off x="3429000" y="2489200"/>
              <a:ext cx="0" cy="457200"/>
            </a:xfrm>
            <a:prstGeom prst="line">
              <a:avLst/>
            </a:prstGeom>
            <a:noFill/>
            <a:ln w="9525">
              <a:solidFill>
                <a:schemeClr val="tx1"/>
              </a:solidFill>
              <a:round/>
              <a:headEnd/>
              <a:tailEnd/>
            </a:ln>
          </p:spPr>
          <p:txBody>
            <a:bodyPr wrap="none" anchor="ctr"/>
            <a:lstStyle/>
            <a:p>
              <a:endParaRPr lang="bg-BG"/>
            </a:p>
          </p:txBody>
        </p:sp>
        <p:sp>
          <p:nvSpPr>
            <p:cNvPr id="68627" name="Line 19"/>
            <p:cNvSpPr>
              <a:spLocks noChangeShapeType="1"/>
            </p:cNvSpPr>
            <p:nvPr/>
          </p:nvSpPr>
          <p:spPr bwMode="auto">
            <a:xfrm>
              <a:off x="584200" y="2489200"/>
              <a:ext cx="0" cy="457200"/>
            </a:xfrm>
            <a:prstGeom prst="line">
              <a:avLst/>
            </a:prstGeom>
            <a:noFill/>
            <a:ln w="9525">
              <a:solidFill>
                <a:schemeClr val="tx1"/>
              </a:solidFill>
              <a:round/>
              <a:headEnd/>
              <a:tailEnd/>
            </a:ln>
          </p:spPr>
          <p:txBody>
            <a:bodyPr wrap="none" anchor="ctr"/>
            <a:lstStyle/>
            <a:p>
              <a:endParaRPr lang="bg-BG"/>
            </a:p>
          </p:txBody>
        </p:sp>
        <p:sp>
          <p:nvSpPr>
            <p:cNvPr id="68628" name="Line 20"/>
            <p:cNvSpPr>
              <a:spLocks noChangeShapeType="1"/>
            </p:cNvSpPr>
            <p:nvPr/>
          </p:nvSpPr>
          <p:spPr bwMode="auto">
            <a:xfrm>
              <a:off x="1676400" y="2489200"/>
              <a:ext cx="0" cy="457200"/>
            </a:xfrm>
            <a:prstGeom prst="line">
              <a:avLst/>
            </a:prstGeom>
            <a:noFill/>
            <a:ln w="9525">
              <a:solidFill>
                <a:schemeClr val="tx1"/>
              </a:solidFill>
              <a:round/>
              <a:headEnd/>
              <a:tailEnd/>
            </a:ln>
          </p:spPr>
          <p:txBody>
            <a:bodyPr wrap="none" anchor="ctr"/>
            <a:lstStyle/>
            <a:p>
              <a:endParaRPr lang="bg-BG"/>
            </a:p>
          </p:txBody>
        </p:sp>
        <p:sp>
          <p:nvSpPr>
            <p:cNvPr id="68629" name="Line 21"/>
            <p:cNvSpPr>
              <a:spLocks noChangeShapeType="1"/>
            </p:cNvSpPr>
            <p:nvPr/>
          </p:nvSpPr>
          <p:spPr bwMode="auto">
            <a:xfrm>
              <a:off x="1143000" y="2514600"/>
              <a:ext cx="0" cy="457200"/>
            </a:xfrm>
            <a:prstGeom prst="line">
              <a:avLst/>
            </a:prstGeom>
            <a:noFill/>
            <a:ln w="9525">
              <a:solidFill>
                <a:schemeClr val="tx1"/>
              </a:solidFill>
              <a:round/>
              <a:headEnd/>
              <a:tailEnd/>
            </a:ln>
          </p:spPr>
          <p:txBody>
            <a:bodyPr wrap="none" anchor="ctr"/>
            <a:lstStyle/>
            <a:p>
              <a:endParaRPr lang="bg-BG"/>
            </a:p>
          </p:txBody>
        </p:sp>
        <p:sp>
          <p:nvSpPr>
            <p:cNvPr id="68630" name="Line 22"/>
            <p:cNvSpPr>
              <a:spLocks noChangeShapeType="1"/>
            </p:cNvSpPr>
            <p:nvPr/>
          </p:nvSpPr>
          <p:spPr bwMode="auto">
            <a:xfrm>
              <a:off x="8509000" y="2489200"/>
              <a:ext cx="0" cy="457200"/>
            </a:xfrm>
            <a:prstGeom prst="line">
              <a:avLst/>
            </a:prstGeom>
            <a:noFill/>
            <a:ln w="9525">
              <a:solidFill>
                <a:schemeClr val="tx1"/>
              </a:solidFill>
              <a:round/>
              <a:headEnd/>
              <a:tailEnd/>
            </a:ln>
          </p:spPr>
          <p:txBody>
            <a:bodyPr wrap="none" anchor="ctr"/>
            <a:lstStyle/>
            <a:p>
              <a:endParaRPr lang="bg-BG"/>
            </a:p>
          </p:txBody>
        </p:sp>
        <p:sp>
          <p:nvSpPr>
            <p:cNvPr id="68631" name="Line 23"/>
            <p:cNvSpPr>
              <a:spLocks noChangeShapeType="1"/>
            </p:cNvSpPr>
            <p:nvPr/>
          </p:nvSpPr>
          <p:spPr bwMode="auto">
            <a:xfrm>
              <a:off x="7391400" y="2489200"/>
              <a:ext cx="0" cy="457200"/>
            </a:xfrm>
            <a:prstGeom prst="line">
              <a:avLst/>
            </a:prstGeom>
            <a:noFill/>
            <a:ln w="9525">
              <a:solidFill>
                <a:schemeClr val="tx1"/>
              </a:solidFill>
              <a:round/>
              <a:headEnd/>
              <a:tailEnd/>
            </a:ln>
          </p:spPr>
          <p:txBody>
            <a:bodyPr wrap="none" anchor="ctr"/>
            <a:lstStyle/>
            <a:p>
              <a:endParaRPr lang="bg-BG"/>
            </a:p>
          </p:txBody>
        </p:sp>
        <p:sp>
          <p:nvSpPr>
            <p:cNvPr id="68632" name="Line 24"/>
            <p:cNvSpPr>
              <a:spLocks noChangeShapeType="1"/>
            </p:cNvSpPr>
            <p:nvPr/>
          </p:nvSpPr>
          <p:spPr bwMode="auto">
            <a:xfrm>
              <a:off x="4318000" y="13208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8655" name="Line 47"/>
            <p:cNvSpPr>
              <a:spLocks noChangeShapeType="1"/>
            </p:cNvSpPr>
            <p:nvPr/>
          </p:nvSpPr>
          <p:spPr bwMode="auto">
            <a:xfrm flipH="1">
              <a:off x="914400" y="21590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68656" name="Line 48"/>
            <p:cNvSpPr>
              <a:spLocks noChangeShapeType="1"/>
            </p:cNvSpPr>
            <p:nvPr/>
          </p:nvSpPr>
          <p:spPr bwMode="auto">
            <a:xfrm flipH="1">
              <a:off x="2916238" y="2159000"/>
              <a:ext cx="817562" cy="333375"/>
            </a:xfrm>
            <a:prstGeom prst="line">
              <a:avLst/>
            </a:prstGeom>
            <a:noFill/>
            <a:ln w="9525">
              <a:solidFill>
                <a:schemeClr val="tx1"/>
              </a:solidFill>
              <a:round/>
              <a:headEnd/>
              <a:tailEnd type="triangle" w="med" len="med"/>
            </a:ln>
          </p:spPr>
          <p:txBody>
            <a:bodyPr wrap="none" anchor="ctr"/>
            <a:lstStyle/>
            <a:p>
              <a:endParaRPr lang="bg-BG"/>
            </a:p>
          </p:txBody>
        </p:sp>
        <p:sp>
          <p:nvSpPr>
            <p:cNvPr id="68657" name="Line 49"/>
            <p:cNvSpPr>
              <a:spLocks noChangeShapeType="1"/>
            </p:cNvSpPr>
            <p:nvPr/>
          </p:nvSpPr>
          <p:spPr bwMode="auto">
            <a:xfrm>
              <a:off x="4343400" y="2159000"/>
              <a:ext cx="300038" cy="333375"/>
            </a:xfrm>
            <a:prstGeom prst="line">
              <a:avLst/>
            </a:prstGeom>
            <a:noFill/>
            <a:ln w="9525">
              <a:solidFill>
                <a:schemeClr val="tx1"/>
              </a:solidFill>
              <a:round/>
              <a:headEnd/>
              <a:tailEnd type="triangle" w="med" len="med"/>
            </a:ln>
          </p:spPr>
          <p:txBody>
            <a:bodyPr wrap="none" anchor="ctr"/>
            <a:lstStyle/>
            <a:p>
              <a:endParaRPr lang="bg-BG"/>
            </a:p>
          </p:txBody>
        </p:sp>
        <p:sp>
          <p:nvSpPr>
            <p:cNvPr id="68658" name="Line 50"/>
            <p:cNvSpPr>
              <a:spLocks noChangeShapeType="1"/>
            </p:cNvSpPr>
            <p:nvPr/>
          </p:nvSpPr>
          <p:spPr bwMode="auto">
            <a:xfrm>
              <a:off x="4859338" y="2133600"/>
              <a:ext cx="2017712" cy="358775"/>
            </a:xfrm>
            <a:prstGeom prst="line">
              <a:avLst/>
            </a:prstGeom>
            <a:noFill/>
            <a:ln w="9525">
              <a:solidFill>
                <a:schemeClr val="tx1"/>
              </a:solidFill>
              <a:round/>
              <a:headEnd/>
              <a:tailEnd type="triangle" w="med" len="med"/>
            </a:ln>
          </p:spPr>
          <p:txBody>
            <a:bodyPr wrap="none" anchor="ctr"/>
            <a:lstStyle/>
            <a:p>
              <a:endParaRPr lang="bg-BG"/>
            </a:p>
          </p:txBody>
        </p:sp>
        <p:sp>
          <p:nvSpPr>
            <p:cNvPr id="68659" name="Text Box 51"/>
            <p:cNvSpPr txBox="1">
              <a:spLocks noChangeArrowheads="1"/>
            </p:cNvSpPr>
            <p:nvPr/>
          </p:nvSpPr>
          <p:spPr bwMode="auto">
            <a:xfrm>
              <a:off x="4394200" y="1320800"/>
              <a:ext cx="685800" cy="457200"/>
            </a:xfrm>
            <a:prstGeom prst="rect">
              <a:avLst/>
            </a:prstGeom>
            <a:noFill/>
            <a:ln w="9525">
              <a:noFill/>
              <a:miter lim="800000"/>
              <a:headEnd/>
              <a:tailEnd/>
            </a:ln>
          </p:spPr>
          <p:txBody>
            <a:bodyPr>
              <a:spAutoFit/>
            </a:bodyPr>
            <a:lstStyle/>
            <a:p>
              <a:pPr>
                <a:spcBef>
                  <a:spcPct val="50000"/>
                </a:spcBef>
              </a:pPr>
              <a:r>
                <a:rPr lang="en-US"/>
                <a:t>Р</a:t>
              </a:r>
            </a:p>
          </p:txBody>
        </p:sp>
        <p:sp>
          <p:nvSpPr>
            <p:cNvPr id="68660" name="Text Box 52"/>
            <p:cNvSpPr txBox="1">
              <a:spLocks noChangeArrowheads="1"/>
            </p:cNvSpPr>
            <p:nvPr/>
          </p:nvSpPr>
          <p:spPr bwMode="auto">
            <a:xfrm>
              <a:off x="3251200" y="17272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68661" name="Text Box 53"/>
            <p:cNvSpPr txBox="1">
              <a:spLocks noChangeArrowheads="1"/>
            </p:cNvSpPr>
            <p:nvPr/>
          </p:nvSpPr>
          <p:spPr bwMode="auto">
            <a:xfrm>
              <a:off x="2362200" y="2489200"/>
              <a:ext cx="762000" cy="457200"/>
            </a:xfrm>
            <a:prstGeom prst="rect">
              <a:avLst/>
            </a:prstGeom>
            <a:noFill/>
            <a:ln w="9525">
              <a:noFill/>
              <a:miter lim="800000"/>
              <a:headEnd/>
              <a:tailEnd/>
            </a:ln>
          </p:spPr>
          <p:txBody>
            <a:bodyPr>
              <a:spAutoFit/>
            </a:bodyPr>
            <a:lstStyle/>
            <a:p>
              <a:pPr>
                <a:spcBef>
                  <a:spcPct val="50000"/>
                </a:spcBef>
              </a:pPr>
              <a:r>
                <a:rPr lang="en-US"/>
                <a:t>2</a:t>
              </a:r>
              <a:r>
                <a:rPr lang="bg-BG"/>
                <a:t>5</a:t>
              </a:r>
              <a:endParaRPr lang="en-US"/>
            </a:p>
          </p:txBody>
        </p:sp>
        <p:sp>
          <p:nvSpPr>
            <p:cNvPr id="68663" name="Text Box 55"/>
            <p:cNvSpPr txBox="1">
              <a:spLocks noChangeArrowheads="1"/>
            </p:cNvSpPr>
            <p:nvPr/>
          </p:nvSpPr>
          <p:spPr bwMode="auto">
            <a:xfrm>
              <a:off x="6350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68664" name="Text Box 56"/>
            <p:cNvSpPr txBox="1">
              <a:spLocks noChangeArrowheads="1"/>
            </p:cNvSpPr>
            <p:nvPr/>
          </p:nvSpPr>
          <p:spPr bwMode="auto">
            <a:xfrm>
              <a:off x="508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sp>
          <p:nvSpPr>
            <p:cNvPr id="68665" name="Text Box 57"/>
            <p:cNvSpPr txBox="1">
              <a:spLocks noChangeArrowheads="1"/>
            </p:cNvSpPr>
            <p:nvPr/>
          </p:nvSpPr>
          <p:spPr bwMode="auto">
            <a:xfrm>
              <a:off x="5715000" y="2489200"/>
              <a:ext cx="762000" cy="457200"/>
            </a:xfrm>
            <a:prstGeom prst="rect">
              <a:avLst/>
            </a:prstGeom>
            <a:noFill/>
            <a:ln w="9525">
              <a:noFill/>
              <a:miter lim="800000"/>
              <a:headEnd/>
              <a:tailEnd/>
            </a:ln>
          </p:spPr>
          <p:txBody>
            <a:bodyPr>
              <a:spAutoFit/>
            </a:bodyPr>
            <a:lstStyle/>
            <a:p>
              <a:pPr>
                <a:spcBef>
                  <a:spcPct val="50000"/>
                </a:spcBef>
              </a:pPr>
              <a:r>
                <a:rPr lang="bg-BG"/>
                <a:t>38</a:t>
              </a:r>
              <a:endParaRPr lang="en-US"/>
            </a:p>
          </p:txBody>
        </p:sp>
        <p:sp>
          <p:nvSpPr>
            <p:cNvPr id="68666" name="Text Box 58"/>
            <p:cNvSpPr txBox="1">
              <a:spLocks noChangeArrowheads="1"/>
            </p:cNvSpPr>
            <p:nvPr/>
          </p:nvSpPr>
          <p:spPr bwMode="auto">
            <a:xfrm>
              <a:off x="51816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68667" name="Text Box 59"/>
            <p:cNvSpPr txBox="1">
              <a:spLocks noChangeArrowheads="1"/>
            </p:cNvSpPr>
            <p:nvPr/>
          </p:nvSpPr>
          <p:spPr bwMode="auto">
            <a:xfrm>
              <a:off x="46482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68668" name="Text Box 60"/>
            <p:cNvSpPr txBox="1">
              <a:spLocks noChangeArrowheads="1"/>
            </p:cNvSpPr>
            <p:nvPr/>
          </p:nvSpPr>
          <p:spPr bwMode="auto">
            <a:xfrm>
              <a:off x="3810000" y="1727200"/>
              <a:ext cx="762000" cy="457200"/>
            </a:xfrm>
            <a:prstGeom prst="rect">
              <a:avLst/>
            </a:prstGeom>
            <a:noFill/>
            <a:ln w="9525">
              <a:noFill/>
              <a:miter lim="800000"/>
              <a:headEnd/>
              <a:tailEnd/>
            </a:ln>
          </p:spPr>
          <p:txBody>
            <a:bodyPr>
              <a:spAutoFit/>
            </a:bodyPr>
            <a:lstStyle/>
            <a:p>
              <a:pPr>
                <a:spcBef>
                  <a:spcPct val="50000"/>
                </a:spcBef>
              </a:pPr>
              <a:r>
                <a:rPr lang="en-US"/>
                <a:t>3</a:t>
              </a:r>
              <a:r>
                <a:rPr lang="bg-BG"/>
                <a:t>0</a:t>
              </a:r>
              <a:endParaRPr lang="en-US"/>
            </a:p>
          </p:txBody>
        </p:sp>
        <p:sp>
          <p:nvSpPr>
            <p:cNvPr id="68669" name="Text Box 61"/>
            <p:cNvSpPr txBox="1">
              <a:spLocks noChangeArrowheads="1"/>
            </p:cNvSpPr>
            <p:nvPr/>
          </p:nvSpPr>
          <p:spPr bwMode="auto">
            <a:xfrm>
              <a:off x="6908800" y="2489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68670" name="Text Box 62"/>
            <p:cNvSpPr txBox="1">
              <a:spLocks noChangeArrowheads="1"/>
            </p:cNvSpPr>
            <p:nvPr/>
          </p:nvSpPr>
          <p:spPr bwMode="auto">
            <a:xfrm>
              <a:off x="4343400" y="17272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68671" name="Text Box 63"/>
            <p:cNvSpPr txBox="1">
              <a:spLocks noChangeArrowheads="1"/>
            </p:cNvSpPr>
            <p:nvPr/>
          </p:nvSpPr>
          <p:spPr bwMode="auto">
            <a:xfrm>
              <a:off x="7442200" y="24892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68688" name="Text Box 80"/>
            <p:cNvSpPr txBox="1">
              <a:spLocks noChangeArrowheads="1"/>
            </p:cNvSpPr>
            <p:nvPr/>
          </p:nvSpPr>
          <p:spPr bwMode="auto">
            <a:xfrm>
              <a:off x="5486400" y="3073400"/>
              <a:ext cx="685800" cy="457200"/>
            </a:xfrm>
            <a:prstGeom prst="rect">
              <a:avLst/>
            </a:prstGeom>
            <a:noFill/>
            <a:ln w="9525">
              <a:noFill/>
              <a:miter lim="800000"/>
              <a:headEnd/>
              <a:tailEnd/>
            </a:ln>
          </p:spPr>
          <p:txBody>
            <a:bodyPr>
              <a:spAutoFit/>
            </a:bodyPr>
            <a:lstStyle/>
            <a:p>
              <a:pPr>
                <a:spcBef>
                  <a:spcPct val="50000"/>
                </a:spcBef>
              </a:pPr>
              <a:r>
                <a:rPr lang="en-US"/>
                <a:t>R</a:t>
              </a:r>
            </a:p>
          </p:txBody>
        </p:sp>
        <p:sp>
          <p:nvSpPr>
            <p:cNvPr id="68689" name="Text Box 81"/>
            <p:cNvSpPr txBox="1">
              <a:spLocks noChangeArrowheads="1"/>
            </p:cNvSpPr>
            <p:nvPr/>
          </p:nvSpPr>
          <p:spPr bwMode="auto">
            <a:xfrm>
              <a:off x="2971800" y="3073400"/>
              <a:ext cx="685800" cy="457200"/>
            </a:xfrm>
            <a:prstGeom prst="rect">
              <a:avLst/>
            </a:prstGeom>
            <a:noFill/>
            <a:ln w="9525">
              <a:noFill/>
              <a:miter lim="800000"/>
              <a:headEnd/>
              <a:tailEnd/>
            </a:ln>
          </p:spPr>
          <p:txBody>
            <a:bodyPr>
              <a:spAutoFit/>
            </a:bodyPr>
            <a:lstStyle/>
            <a:p>
              <a:pPr>
                <a:spcBef>
                  <a:spcPct val="50000"/>
                </a:spcBef>
              </a:pPr>
              <a:r>
                <a:rPr lang="en-US"/>
                <a:t>L</a:t>
              </a:r>
            </a:p>
          </p:txBody>
        </p:sp>
      </p:grpSp>
      <p:grpSp>
        <p:nvGrpSpPr>
          <p:cNvPr id="84" name="Group 83"/>
          <p:cNvGrpSpPr/>
          <p:nvPr/>
        </p:nvGrpSpPr>
        <p:grpSpPr>
          <a:xfrm>
            <a:off x="-85450" y="3759200"/>
            <a:ext cx="9178650" cy="2438400"/>
            <a:chOff x="-85450" y="3759200"/>
            <a:chExt cx="9178650" cy="2438400"/>
          </a:xfrm>
        </p:grpSpPr>
        <p:sp>
          <p:nvSpPr>
            <p:cNvPr id="68634" name="Rectangle 26"/>
            <p:cNvSpPr>
              <a:spLocks noChangeArrowheads="1"/>
            </p:cNvSpPr>
            <p:nvPr/>
          </p:nvSpPr>
          <p:spPr bwMode="auto">
            <a:xfrm>
              <a:off x="3165750" y="4343400"/>
              <a:ext cx="2320650" cy="457200"/>
            </a:xfrm>
            <a:prstGeom prst="rect">
              <a:avLst/>
            </a:prstGeom>
            <a:noFill/>
            <a:ln w="9525">
              <a:solidFill>
                <a:schemeClr val="tx1"/>
              </a:solidFill>
              <a:miter lim="800000"/>
              <a:headEnd/>
              <a:tailEnd/>
            </a:ln>
          </p:spPr>
          <p:txBody>
            <a:bodyPr wrap="none" anchor="ctr"/>
            <a:lstStyle/>
            <a:p>
              <a:endParaRPr lang="bg-BG"/>
            </a:p>
          </p:txBody>
        </p:sp>
        <p:sp>
          <p:nvSpPr>
            <p:cNvPr id="68635" name="Line 27"/>
            <p:cNvSpPr>
              <a:spLocks noChangeShapeType="1"/>
            </p:cNvSpPr>
            <p:nvPr/>
          </p:nvSpPr>
          <p:spPr bwMode="auto">
            <a:xfrm>
              <a:off x="4368800" y="4343400"/>
              <a:ext cx="0" cy="457200"/>
            </a:xfrm>
            <a:prstGeom prst="line">
              <a:avLst/>
            </a:prstGeom>
            <a:noFill/>
            <a:ln w="9525">
              <a:solidFill>
                <a:schemeClr val="tx1"/>
              </a:solidFill>
              <a:round/>
              <a:headEnd/>
              <a:tailEnd/>
            </a:ln>
          </p:spPr>
          <p:txBody>
            <a:bodyPr wrap="none" anchor="ctr"/>
            <a:lstStyle/>
            <a:p>
              <a:endParaRPr lang="bg-BG"/>
            </a:p>
          </p:txBody>
        </p:sp>
        <p:sp>
          <p:nvSpPr>
            <p:cNvPr id="68636" name="Line 28"/>
            <p:cNvSpPr>
              <a:spLocks noChangeShapeType="1"/>
            </p:cNvSpPr>
            <p:nvPr/>
          </p:nvSpPr>
          <p:spPr bwMode="auto">
            <a:xfrm>
              <a:off x="3810000" y="4343400"/>
              <a:ext cx="0" cy="457200"/>
            </a:xfrm>
            <a:prstGeom prst="line">
              <a:avLst/>
            </a:prstGeom>
            <a:noFill/>
            <a:ln w="9525">
              <a:solidFill>
                <a:schemeClr val="tx1"/>
              </a:solidFill>
              <a:round/>
              <a:headEnd/>
              <a:tailEnd/>
            </a:ln>
          </p:spPr>
          <p:txBody>
            <a:bodyPr wrap="none" anchor="ctr"/>
            <a:lstStyle/>
            <a:p>
              <a:endParaRPr lang="bg-BG"/>
            </a:p>
          </p:txBody>
        </p:sp>
        <p:sp>
          <p:nvSpPr>
            <p:cNvPr id="68637" name="Line 29"/>
            <p:cNvSpPr>
              <a:spLocks noChangeShapeType="1"/>
            </p:cNvSpPr>
            <p:nvPr/>
          </p:nvSpPr>
          <p:spPr bwMode="auto">
            <a:xfrm>
              <a:off x="4927600" y="4343400"/>
              <a:ext cx="0" cy="457200"/>
            </a:xfrm>
            <a:prstGeom prst="line">
              <a:avLst/>
            </a:prstGeom>
            <a:noFill/>
            <a:ln w="9525">
              <a:solidFill>
                <a:schemeClr val="tx1"/>
              </a:solidFill>
              <a:round/>
              <a:headEnd/>
              <a:tailEnd/>
            </a:ln>
          </p:spPr>
          <p:txBody>
            <a:bodyPr wrap="none" anchor="ctr"/>
            <a:lstStyle/>
            <a:p>
              <a:endParaRPr lang="bg-BG"/>
            </a:p>
          </p:txBody>
        </p:sp>
        <p:sp>
          <p:nvSpPr>
            <p:cNvPr id="68638" name="Rectangle 30"/>
            <p:cNvSpPr>
              <a:spLocks noChangeArrowheads="1"/>
            </p:cNvSpPr>
            <p:nvPr/>
          </p:nvSpPr>
          <p:spPr bwMode="auto">
            <a:xfrm>
              <a:off x="4486550" y="5130800"/>
              <a:ext cx="2320650" cy="457200"/>
            </a:xfrm>
            <a:prstGeom prst="rect">
              <a:avLst/>
            </a:prstGeom>
            <a:noFill/>
            <a:ln w="9525">
              <a:solidFill>
                <a:schemeClr val="tx1"/>
              </a:solidFill>
              <a:miter lim="800000"/>
              <a:headEnd/>
              <a:tailEnd/>
            </a:ln>
          </p:spPr>
          <p:txBody>
            <a:bodyPr wrap="none" anchor="ctr"/>
            <a:lstStyle/>
            <a:p>
              <a:endParaRPr lang="bg-BG"/>
            </a:p>
          </p:txBody>
        </p:sp>
        <p:sp>
          <p:nvSpPr>
            <p:cNvPr id="68639" name="Rectangle 31"/>
            <p:cNvSpPr>
              <a:spLocks noChangeArrowheads="1"/>
            </p:cNvSpPr>
            <p:nvPr/>
          </p:nvSpPr>
          <p:spPr bwMode="auto">
            <a:xfrm>
              <a:off x="6772550" y="5130800"/>
              <a:ext cx="2320650" cy="457200"/>
            </a:xfrm>
            <a:prstGeom prst="rect">
              <a:avLst/>
            </a:prstGeom>
            <a:noFill/>
            <a:ln w="9525">
              <a:solidFill>
                <a:schemeClr val="tx1"/>
              </a:solidFill>
              <a:miter lim="800000"/>
              <a:headEnd/>
              <a:tailEnd/>
            </a:ln>
          </p:spPr>
          <p:txBody>
            <a:bodyPr wrap="none" anchor="ctr"/>
            <a:lstStyle/>
            <a:p>
              <a:endParaRPr lang="bg-BG"/>
            </a:p>
          </p:txBody>
        </p:sp>
        <p:sp>
          <p:nvSpPr>
            <p:cNvPr id="68640" name="Rectangle 32"/>
            <p:cNvSpPr>
              <a:spLocks noChangeArrowheads="1"/>
            </p:cNvSpPr>
            <p:nvPr/>
          </p:nvSpPr>
          <p:spPr bwMode="auto">
            <a:xfrm>
              <a:off x="2200550" y="5130800"/>
              <a:ext cx="2320650" cy="457200"/>
            </a:xfrm>
            <a:prstGeom prst="rect">
              <a:avLst/>
            </a:prstGeom>
            <a:noFill/>
            <a:ln w="9525">
              <a:solidFill>
                <a:schemeClr val="tx1"/>
              </a:solidFill>
              <a:miter lim="800000"/>
              <a:headEnd/>
              <a:tailEnd/>
            </a:ln>
          </p:spPr>
          <p:txBody>
            <a:bodyPr wrap="none" anchor="ctr"/>
            <a:lstStyle/>
            <a:p>
              <a:endParaRPr lang="bg-BG"/>
            </a:p>
          </p:txBody>
        </p:sp>
        <p:sp>
          <p:nvSpPr>
            <p:cNvPr id="68641" name="Rectangle 33"/>
            <p:cNvSpPr>
              <a:spLocks noChangeArrowheads="1"/>
            </p:cNvSpPr>
            <p:nvPr/>
          </p:nvSpPr>
          <p:spPr bwMode="auto">
            <a:xfrm>
              <a:off x="-85450" y="5130800"/>
              <a:ext cx="2320650" cy="457200"/>
            </a:xfrm>
            <a:prstGeom prst="rect">
              <a:avLst/>
            </a:prstGeom>
            <a:noFill/>
            <a:ln w="9525">
              <a:solidFill>
                <a:schemeClr val="tx1"/>
              </a:solidFill>
              <a:miter lim="800000"/>
              <a:headEnd/>
              <a:tailEnd/>
            </a:ln>
          </p:spPr>
          <p:txBody>
            <a:bodyPr wrap="none" anchor="ctr"/>
            <a:lstStyle/>
            <a:p>
              <a:endParaRPr lang="bg-BG"/>
            </a:p>
          </p:txBody>
        </p:sp>
        <p:sp>
          <p:nvSpPr>
            <p:cNvPr id="68642" name="Line 34"/>
            <p:cNvSpPr>
              <a:spLocks noChangeShapeType="1"/>
            </p:cNvSpPr>
            <p:nvPr/>
          </p:nvSpPr>
          <p:spPr bwMode="auto">
            <a:xfrm>
              <a:off x="6299200" y="5130800"/>
              <a:ext cx="0" cy="457200"/>
            </a:xfrm>
            <a:prstGeom prst="line">
              <a:avLst/>
            </a:prstGeom>
            <a:noFill/>
            <a:ln w="9525">
              <a:solidFill>
                <a:schemeClr val="tx1"/>
              </a:solidFill>
              <a:round/>
              <a:headEnd/>
              <a:tailEnd/>
            </a:ln>
          </p:spPr>
          <p:txBody>
            <a:bodyPr wrap="none" anchor="ctr"/>
            <a:lstStyle/>
            <a:p>
              <a:endParaRPr lang="bg-BG"/>
            </a:p>
          </p:txBody>
        </p:sp>
        <p:sp>
          <p:nvSpPr>
            <p:cNvPr id="68643" name="Line 35"/>
            <p:cNvSpPr>
              <a:spLocks noChangeShapeType="1"/>
            </p:cNvSpPr>
            <p:nvPr/>
          </p:nvSpPr>
          <p:spPr bwMode="auto">
            <a:xfrm>
              <a:off x="5207000" y="5130800"/>
              <a:ext cx="0" cy="457200"/>
            </a:xfrm>
            <a:prstGeom prst="line">
              <a:avLst/>
            </a:prstGeom>
            <a:noFill/>
            <a:ln w="9525">
              <a:solidFill>
                <a:schemeClr val="tx1"/>
              </a:solidFill>
              <a:round/>
              <a:headEnd/>
              <a:tailEnd/>
            </a:ln>
          </p:spPr>
          <p:txBody>
            <a:bodyPr wrap="none" anchor="ctr"/>
            <a:lstStyle/>
            <a:p>
              <a:endParaRPr lang="bg-BG"/>
            </a:p>
          </p:txBody>
        </p:sp>
        <p:sp>
          <p:nvSpPr>
            <p:cNvPr id="68644" name="Line 36"/>
            <p:cNvSpPr>
              <a:spLocks noChangeShapeType="1"/>
            </p:cNvSpPr>
            <p:nvPr/>
          </p:nvSpPr>
          <p:spPr bwMode="auto">
            <a:xfrm>
              <a:off x="5740400" y="5130800"/>
              <a:ext cx="0" cy="457200"/>
            </a:xfrm>
            <a:prstGeom prst="line">
              <a:avLst/>
            </a:prstGeom>
            <a:noFill/>
            <a:ln w="9525">
              <a:solidFill>
                <a:schemeClr val="tx1"/>
              </a:solidFill>
              <a:round/>
              <a:headEnd/>
              <a:tailEnd/>
            </a:ln>
          </p:spPr>
          <p:txBody>
            <a:bodyPr wrap="none" anchor="ctr"/>
            <a:lstStyle/>
            <a:p>
              <a:endParaRPr lang="bg-BG"/>
            </a:p>
          </p:txBody>
        </p:sp>
        <p:sp>
          <p:nvSpPr>
            <p:cNvPr id="68645" name="Line 37"/>
            <p:cNvSpPr>
              <a:spLocks noChangeShapeType="1"/>
            </p:cNvSpPr>
            <p:nvPr/>
          </p:nvSpPr>
          <p:spPr bwMode="auto">
            <a:xfrm>
              <a:off x="4013200" y="5130800"/>
              <a:ext cx="0" cy="457200"/>
            </a:xfrm>
            <a:prstGeom prst="line">
              <a:avLst/>
            </a:prstGeom>
            <a:noFill/>
            <a:ln w="9525">
              <a:solidFill>
                <a:schemeClr val="tx1"/>
              </a:solidFill>
              <a:round/>
              <a:headEnd/>
              <a:tailEnd/>
            </a:ln>
          </p:spPr>
          <p:txBody>
            <a:bodyPr wrap="none" anchor="ctr"/>
            <a:lstStyle/>
            <a:p>
              <a:endParaRPr lang="bg-BG"/>
            </a:p>
          </p:txBody>
        </p:sp>
        <p:sp>
          <p:nvSpPr>
            <p:cNvPr id="68646" name="Line 38"/>
            <p:cNvSpPr>
              <a:spLocks noChangeShapeType="1"/>
            </p:cNvSpPr>
            <p:nvPr/>
          </p:nvSpPr>
          <p:spPr bwMode="auto">
            <a:xfrm>
              <a:off x="8001000" y="5130800"/>
              <a:ext cx="0" cy="457200"/>
            </a:xfrm>
            <a:prstGeom prst="line">
              <a:avLst/>
            </a:prstGeom>
            <a:noFill/>
            <a:ln w="9525">
              <a:solidFill>
                <a:schemeClr val="tx1"/>
              </a:solidFill>
              <a:round/>
              <a:headEnd/>
              <a:tailEnd/>
            </a:ln>
          </p:spPr>
          <p:txBody>
            <a:bodyPr wrap="none" anchor="ctr"/>
            <a:lstStyle/>
            <a:p>
              <a:endParaRPr lang="bg-BG"/>
            </a:p>
          </p:txBody>
        </p:sp>
        <p:sp>
          <p:nvSpPr>
            <p:cNvPr id="68647" name="Line 39"/>
            <p:cNvSpPr>
              <a:spLocks noChangeShapeType="1"/>
            </p:cNvSpPr>
            <p:nvPr/>
          </p:nvSpPr>
          <p:spPr bwMode="auto">
            <a:xfrm>
              <a:off x="2921000" y="5130800"/>
              <a:ext cx="0" cy="457200"/>
            </a:xfrm>
            <a:prstGeom prst="line">
              <a:avLst/>
            </a:prstGeom>
            <a:noFill/>
            <a:ln w="9525">
              <a:solidFill>
                <a:schemeClr val="tx1"/>
              </a:solidFill>
              <a:round/>
              <a:headEnd/>
              <a:tailEnd/>
            </a:ln>
          </p:spPr>
          <p:txBody>
            <a:bodyPr wrap="none" anchor="ctr"/>
            <a:lstStyle/>
            <a:p>
              <a:endParaRPr lang="bg-BG"/>
            </a:p>
          </p:txBody>
        </p:sp>
        <p:sp>
          <p:nvSpPr>
            <p:cNvPr id="68648" name="Line 40"/>
            <p:cNvSpPr>
              <a:spLocks noChangeShapeType="1"/>
            </p:cNvSpPr>
            <p:nvPr/>
          </p:nvSpPr>
          <p:spPr bwMode="auto">
            <a:xfrm>
              <a:off x="3479800" y="5130800"/>
              <a:ext cx="0" cy="457200"/>
            </a:xfrm>
            <a:prstGeom prst="line">
              <a:avLst/>
            </a:prstGeom>
            <a:noFill/>
            <a:ln w="9525">
              <a:solidFill>
                <a:schemeClr val="tx1"/>
              </a:solidFill>
              <a:round/>
              <a:headEnd/>
              <a:tailEnd/>
            </a:ln>
          </p:spPr>
          <p:txBody>
            <a:bodyPr wrap="none" anchor="ctr"/>
            <a:lstStyle/>
            <a:p>
              <a:endParaRPr lang="bg-BG"/>
            </a:p>
          </p:txBody>
        </p:sp>
        <p:sp>
          <p:nvSpPr>
            <p:cNvPr id="68649" name="Line 41"/>
            <p:cNvSpPr>
              <a:spLocks noChangeShapeType="1"/>
            </p:cNvSpPr>
            <p:nvPr/>
          </p:nvSpPr>
          <p:spPr bwMode="auto">
            <a:xfrm>
              <a:off x="635000" y="5130800"/>
              <a:ext cx="0" cy="457200"/>
            </a:xfrm>
            <a:prstGeom prst="line">
              <a:avLst/>
            </a:prstGeom>
            <a:noFill/>
            <a:ln w="9525">
              <a:solidFill>
                <a:schemeClr val="tx1"/>
              </a:solidFill>
              <a:round/>
              <a:headEnd/>
              <a:tailEnd/>
            </a:ln>
          </p:spPr>
          <p:txBody>
            <a:bodyPr wrap="none" anchor="ctr"/>
            <a:lstStyle/>
            <a:p>
              <a:endParaRPr lang="bg-BG"/>
            </a:p>
          </p:txBody>
        </p:sp>
        <p:sp>
          <p:nvSpPr>
            <p:cNvPr id="68650" name="Line 42"/>
            <p:cNvSpPr>
              <a:spLocks noChangeShapeType="1"/>
            </p:cNvSpPr>
            <p:nvPr/>
          </p:nvSpPr>
          <p:spPr bwMode="auto">
            <a:xfrm>
              <a:off x="1727200" y="5130800"/>
              <a:ext cx="0" cy="457200"/>
            </a:xfrm>
            <a:prstGeom prst="line">
              <a:avLst/>
            </a:prstGeom>
            <a:noFill/>
            <a:ln w="9525">
              <a:solidFill>
                <a:schemeClr val="tx1"/>
              </a:solidFill>
              <a:round/>
              <a:headEnd/>
              <a:tailEnd/>
            </a:ln>
          </p:spPr>
          <p:txBody>
            <a:bodyPr wrap="none" anchor="ctr"/>
            <a:lstStyle/>
            <a:p>
              <a:endParaRPr lang="bg-BG"/>
            </a:p>
          </p:txBody>
        </p:sp>
        <p:sp>
          <p:nvSpPr>
            <p:cNvPr id="68651" name="Line 43"/>
            <p:cNvSpPr>
              <a:spLocks noChangeShapeType="1"/>
            </p:cNvSpPr>
            <p:nvPr/>
          </p:nvSpPr>
          <p:spPr bwMode="auto">
            <a:xfrm>
              <a:off x="1193800" y="5156200"/>
              <a:ext cx="0" cy="457200"/>
            </a:xfrm>
            <a:prstGeom prst="line">
              <a:avLst/>
            </a:prstGeom>
            <a:noFill/>
            <a:ln w="9525">
              <a:solidFill>
                <a:schemeClr val="tx1"/>
              </a:solidFill>
              <a:round/>
              <a:headEnd/>
              <a:tailEnd/>
            </a:ln>
          </p:spPr>
          <p:txBody>
            <a:bodyPr wrap="none" anchor="ctr"/>
            <a:lstStyle/>
            <a:p>
              <a:endParaRPr lang="bg-BG"/>
            </a:p>
          </p:txBody>
        </p:sp>
        <p:sp>
          <p:nvSpPr>
            <p:cNvPr id="68652" name="Line 44"/>
            <p:cNvSpPr>
              <a:spLocks noChangeShapeType="1"/>
            </p:cNvSpPr>
            <p:nvPr/>
          </p:nvSpPr>
          <p:spPr bwMode="auto">
            <a:xfrm>
              <a:off x="8559800" y="5130800"/>
              <a:ext cx="0" cy="457200"/>
            </a:xfrm>
            <a:prstGeom prst="line">
              <a:avLst/>
            </a:prstGeom>
            <a:noFill/>
            <a:ln w="9525">
              <a:solidFill>
                <a:schemeClr val="tx1"/>
              </a:solidFill>
              <a:round/>
              <a:headEnd/>
              <a:tailEnd/>
            </a:ln>
          </p:spPr>
          <p:txBody>
            <a:bodyPr wrap="none" anchor="ctr"/>
            <a:lstStyle/>
            <a:p>
              <a:endParaRPr lang="bg-BG"/>
            </a:p>
          </p:txBody>
        </p:sp>
        <p:sp>
          <p:nvSpPr>
            <p:cNvPr id="68653" name="Line 45"/>
            <p:cNvSpPr>
              <a:spLocks noChangeShapeType="1"/>
            </p:cNvSpPr>
            <p:nvPr/>
          </p:nvSpPr>
          <p:spPr bwMode="auto">
            <a:xfrm>
              <a:off x="7442200" y="5130800"/>
              <a:ext cx="0" cy="457200"/>
            </a:xfrm>
            <a:prstGeom prst="line">
              <a:avLst/>
            </a:prstGeom>
            <a:noFill/>
            <a:ln w="9525">
              <a:solidFill>
                <a:schemeClr val="tx1"/>
              </a:solidFill>
              <a:round/>
              <a:headEnd/>
              <a:tailEnd/>
            </a:ln>
          </p:spPr>
          <p:txBody>
            <a:bodyPr wrap="none" anchor="ctr"/>
            <a:lstStyle/>
            <a:p>
              <a:endParaRPr lang="bg-BG"/>
            </a:p>
          </p:txBody>
        </p:sp>
        <p:sp>
          <p:nvSpPr>
            <p:cNvPr id="68654" name="Line 46"/>
            <p:cNvSpPr>
              <a:spLocks noChangeShapeType="1"/>
            </p:cNvSpPr>
            <p:nvPr/>
          </p:nvSpPr>
          <p:spPr bwMode="auto">
            <a:xfrm>
              <a:off x="4368800" y="3962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8662" name="Text Box 54"/>
            <p:cNvSpPr txBox="1">
              <a:spLocks noChangeArrowheads="1"/>
            </p:cNvSpPr>
            <p:nvPr/>
          </p:nvSpPr>
          <p:spPr bwMode="auto">
            <a:xfrm>
              <a:off x="3263776" y="4343400"/>
              <a:ext cx="800224" cy="457200"/>
            </a:xfrm>
            <a:prstGeom prst="rect">
              <a:avLst/>
            </a:prstGeom>
            <a:noFill/>
            <a:ln w="9525">
              <a:noFill/>
              <a:miter lim="800000"/>
              <a:headEnd/>
              <a:tailEnd/>
            </a:ln>
          </p:spPr>
          <p:txBody>
            <a:bodyPr wrap="square">
              <a:spAutoFit/>
            </a:bodyPr>
            <a:lstStyle/>
            <a:p>
              <a:pPr>
                <a:spcBef>
                  <a:spcPct val="50000"/>
                </a:spcBef>
              </a:pPr>
              <a:r>
                <a:rPr lang="en-US"/>
                <a:t>2</a:t>
              </a:r>
              <a:r>
                <a:rPr lang="bg-BG"/>
                <a:t>0</a:t>
              </a:r>
              <a:endParaRPr lang="en-US"/>
            </a:p>
          </p:txBody>
        </p:sp>
        <p:sp>
          <p:nvSpPr>
            <p:cNvPr id="68672" name="Text Box 64"/>
            <p:cNvSpPr txBox="1">
              <a:spLocks noChangeArrowheads="1"/>
            </p:cNvSpPr>
            <p:nvPr/>
          </p:nvSpPr>
          <p:spPr bwMode="auto">
            <a:xfrm>
              <a:off x="37976" y="5156200"/>
              <a:ext cx="800224" cy="457200"/>
            </a:xfrm>
            <a:prstGeom prst="rect">
              <a:avLst/>
            </a:prstGeom>
            <a:noFill/>
            <a:ln w="9525">
              <a:noFill/>
              <a:miter lim="800000"/>
              <a:headEnd/>
              <a:tailEnd/>
            </a:ln>
          </p:spPr>
          <p:txBody>
            <a:bodyPr wrap="square">
              <a:spAutoFit/>
            </a:bodyPr>
            <a:lstStyle/>
            <a:p>
              <a:pPr>
                <a:spcBef>
                  <a:spcPct val="50000"/>
                </a:spcBef>
              </a:pPr>
              <a:r>
                <a:rPr lang="en-US"/>
                <a:t>1</a:t>
              </a:r>
              <a:r>
                <a:rPr lang="bg-BG"/>
                <a:t>0</a:t>
              </a:r>
              <a:endParaRPr lang="en-US"/>
            </a:p>
          </p:txBody>
        </p:sp>
        <p:sp>
          <p:nvSpPr>
            <p:cNvPr id="68673" name="Text Box 65"/>
            <p:cNvSpPr txBox="1">
              <a:spLocks noChangeArrowheads="1"/>
            </p:cNvSpPr>
            <p:nvPr/>
          </p:nvSpPr>
          <p:spPr bwMode="auto">
            <a:xfrm>
              <a:off x="622176" y="5156200"/>
              <a:ext cx="800224" cy="457200"/>
            </a:xfrm>
            <a:prstGeom prst="rect">
              <a:avLst/>
            </a:prstGeom>
            <a:noFill/>
            <a:ln w="9525">
              <a:noFill/>
              <a:miter lim="800000"/>
              <a:headEnd/>
              <a:tailEnd/>
            </a:ln>
          </p:spPr>
          <p:txBody>
            <a:bodyPr wrap="square">
              <a:spAutoFit/>
            </a:bodyPr>
            <a:lstStyle/>
            <a:p>
              <a:pPr>
                <a:spcBef>
                  <a:spcPct val="50000"/>
                </a:spcBef>
              </a:pPr>
              <a:r>
                <a:rPr lang="en-US"/>
                <a:t>1</a:t>
              </a:r>
              <a:r>
                <a:rPr lang="bg-BG"/>
                <a:t>2</a:t>
              </a:r>
              <a:endParaRPr lang="en-US"/>
            </a:p>
          </p:txBody>
        </p:sp>
        <p:sp>
          <p:nvSpPr>
            <p:cNvPr id="68674" name="Text Box 66"/>
            <p:cNvSpPr txBox="1">
              <a:spLocks noChangeArrowheads="1"/>
            </p:cNvSpPr>
            <p:nvPr/>
          </p:nvSpPr>
          <p:spPr bwMode="auto">
            <a:xfrm>
              <a:off x="2349376" y="5156200"/>
              <a:ext cx="800224" cy="457200"/>
            </a:xfrm>
            <a:prstGeom prst="rect">
              <a:avLst/>
            </a:prstGeom>
            <a:noFill/>
            <a:ln w="9525">
              <a:noFill/>
              <a:miter lim="800000"/>
              <a:headEnd/>
              <a:tailEnd/>
            </a:ln>
          </p:spPr>
          <p:txBody>
            <a:bodyPr wrap="square">
              <a:spAutoFit/>
            </a:bodyPr>
            <a:lstStyle/>
            <a:p>
              <a:pPr>
                <a:spcBef>
                  <a:spcPct val="50000"/>
                </a:spcBef>
              </a:pPr>
              <a:r>
                <a:rPr lang="en-US"/>
                <a:t>2</a:t>
              </a:r>
              <a:r>
                <a:rPr lang="bg-BG"/>
                <a:t>5</a:t>
              </a:r>
              <a:endParaRPr lang="en-US"/>
            </a:p>
          </p:txBody>
        </p:sp>
        <p:sp>
          <p:nvSpPr>
            <p:cNvPr id="68675" name="Text Box 67"/>
            <p:cNvSpPr txBox="1">
              <a:spLocks noChangeArrowheads="1"/>
            </p:cNvSpPr>
            <p:nvPr/>
          </p:nvSpPr>
          <p:spPr bwMode="auto">
            <a:xfrm>
              <a:off x="3797176" y="4343400"/>
              <a:ext cx="800224" cy="457200"/>
            </a:xfrm>
            <a:prstGeom prst="rect">
              <a:avLst/>
            </a:prstGeom>
            <a:noFill/>
            <a:ln w="9525">
              <a:noFill/>
              <a:miter lim="800000"/>
              <a:headEnd/>
              <a:tailEnd/>
            </a:ln>
          </p:spPr>
          <p:txBody>
            <a:bodyPr wrap="square">
              <a:spAutoFit/>
            </a:bodyPr>
            <a:lstStyle/>
            <a:p>
              <a:pPr>
                <a:spcBef>
                  <a:spcPct val="50000"/>
                </a:spcBef>
              </a:pPr>
              <a:r>
                <a:rPr lang="en-US"/>
                <a:t>3</a:t>
              </a:r>
              <a:r>
                <a:rPr lang="bg-BG"/>
                <a:t>3</a:t>
              </a:r>
              <a:endParaRPr lang="en-US"/>
            </a:p>
          </p:txBody>
        </p:sp>
        <p:sp>
          <p:nvSpPr>
            <p:cNvPr id="68676" name="Text Box 68"/>
            <p:cNvSpPr txBox="1">
              <a:spLocks noChangeArrowheads="1"/>
            </p:cNvSpPr>
            <p:nvPr/>
          </p:nvSpPr>
          <p:spPr bwMode="auto">
            <a:xfrm>
              <a:off x="4355976" y="4343400"/>
              <a:ext cx="800224" cy="457200"/>
            </a:xfrm>
            <a:prstGeom prst="rect">
              <a:avLst/>
            </a:prstGeom>
            <a:noFill/>
            <a:ln w="9525">
              <a:noFill/>
              <a:miter lim="800000"/>
              <a:headEnd/>
              <a:tailEnd/>
            </a:ln>
          </p:spPr>
          <p:txBody>
            <a:bodyPr wrap="square">
              <a:spAutoFit/>
            </a:bodyPr>
            <a:lstStyle/>
            <a:p>
              <a:pPr>
                <a:spcBef>
                  <a:spcPct val="50000"/>
                </a:spcBef>
              </a:pPr>
              <a:r>
                <a:rPr lang="bg-BG"/>
                <a:t>40</a:t>
              </a:r>
              <a:endParaRPr lang="en-US"/>
            </a:p>
          </p:txBody>
        </p:sp>
        <p:sp>
          <p:nvSpPr>
            <p:cNvPr id="68677" name="Text Box 69"/>
            <p:cNvSpPr txBox="1">
              <a:spLocks noChangeArrowheads="1"/>
            </p:cNvSpPr>
            <p:nvPr/>
          </p:nvSpPr>
          <p:spPr bwMode="auto">
            <a:xfrm>
              <a:off x="4461398" y="3759200"/>
              <a:ext cx="720202" cy="457200"/>
            </a:xfrm>
            <a:prstGeom prst="rect">
              <a:avLst/>
            </a:prstGeom>
            <a:noFill/>
            <a:ln w="9525">
              <a:noFill/>
              <a:miter lim="800000"/>
              <a:headEnd/>
              <a:tailEnd/>
            </a:ln>
          </p:spPr>
          <p:txBody>
            <a:bodyPr wrap="square">
              <a:spAutoFit/>
            </a:bodyPr>
            <a:lstStyle/>
            <a:p>
              <a:pPr>
                <a:spcBef>
                  <a:spcPct val="50000"/>
                </a:spcBef>
              </a:pPr>
              <a:r>
                <a:rPr lang="en-US"/>
                <a:t>Р</a:t>
              </a:r>
            </a:p>
          </p:txBody>
        </p:sp>
        <p:sp>
          <p:nvSpPr>
            <p:cNvPr id="68678" name="Text Box 70"/>
            <p:cNvSpPr txBox="1">
              <a:spLocks noChangeArrowheads="1"/>
            </p:cNvSpPr>
            <p:nvPr/>
          </p:nvSpPr>
          <p:spPr bwMode="auto">
            <a:xfrm>
              <a:off x="4660776" y="5156200"/>
              <a:ext cx="800224" cy="457200"/>
            </a:xfrm>
            <a:prstGeom prst="rect">
              <a:avLst/>
            </a:prstGeom>
            <a:noFill/>
            <a:ln w="9525">
              <a:noFill/>
              <a:miter lim="800000"/>
              <a:headEnd/>
              <a:tailEnd/>
            </a:ln>
          </p:spPr>
          <p:txBody>
            <a:bodyPr wrap="square">
              <a:spAutoFit/>
            </a:bodyPr>
            <a:lstStyle/>
            <a:p>
              <a:pPr>
                <a:spcBef>
                  <a:spcPct val="50000"/>
                </a:spcBef>
              </a:pPr>
              <a:r>
                <a:rPr lang="en-US"/>
                <a:t>3</a:t>
              </a:r>
              <a:r>
                <a:rPr lang="bg-BG"/>
                <a:t>6</a:t>
              </a:r>
              <a:endParaRPr lang="en-US"/>
            </a:p>
          </p:txBody>
        </p:sp>
        <p:sp>
          <p:nvSpPr>
            <p:cNvPr id="68679" name="Text Box 71"/>
            <p:cNvSpPr txBox="1">
              <a:spLocks noChangeArrowheads="1"/>
            </p:cNvSpPr>
            <p:nvPr/>
          </p:nvSpPr>
          <p:spPr bwMode="auto">
            <a:xfrm>
              <a:off x="5194176" y="5156200"/>
              <a:ext cx="800224" cy="457200"/>
            </a:xfrm>
            <a:prstGeom prst="rect">
              <a:avLst/>
            </a:prstGeom>
            <a:noFill/>
            <a:ln w="9525">
              <a:noFill/>
              <a:miter lim="800000"/>
              <a:headEnd/>
              <a:tailEnd/>
            </a:ln>
          </p:spPr>
          <p:txBody>
            <a:bodyPr wrap="square">
              <a:spAutoFit/>
            </a:bodyPr>
            <a:lstStyle/>
            <a:p>
              <a:pPr>
                <a:spcBef>
                  <a:spcPct val="50000"/>
                </a:spcBef>
              </a:pPr>
              <a:r>
                <a:rPr lang="en-US"/>
                <a:t>3</a:t>
              </a:r>
              <a:r>
                <a:rPr lang="bg-BG"/>
                <a:t>8</a:t>
              </a:r>
              <a:endParaRPr lang="en-US"/>
            </a:p>
          </p:txBody>
        </p:sp>
        <p:sp>
          <p:nvSpPr>
            <p:cNvPr id="68680" name="Text Box 72"/>
            <p:cNvSpPr txBox="1">
              <a:spLocks noChangeArrowheads="1"/>
            </p:cNvSpPr>
            <p:nvPr/>
          </p:nvSpPr>
          <p:spPr bwMode="auto">
            <a:xfrm>
              <a:off x="6870576" y="5156200"/>
              <a:ext cx="800224" cy="457200"/>
            </a:xfrm>
            <a:prstGeom prst="rect">
              <a:avLst/>
            </a:prstGeom>
            <a:noFill/>
            <a:ln w="9525">
              <a:noFill/>
              <a:miter lim="800000"/>
              <a:headEnd/>
              <a:tailEnd/>
            </a:ln>
          </p:spPr>
          <p:txBody>
            <a:bodyPr wrap="square">
              <a:spAutoFit/>
            </a:bodyPr>
            <a:lstStyle/>
            <a:p>
              <a:pPr>
                <a:spcBef>
                  <a:spcPct val="50000"/>
                </a:spcBef>
              </a:pPr>
              <a:r>
                <a:rPr lang="en-US"/>
                <a:t>4</a:t>
              </a:r>
              <a:r>
                <a:rPr lang="bg-BG"/>
                <a:t>6</a:t>
              </a:r>
              <a:endParaRPr lang="en-US"/>
            </a:p>
          </p:txBody>
        </p:sp>
        <p:sp>
          <p:nvSpPr>
            <p:cNvPr id="68681" name="Text Box 73"/>
            <p:cNvSpPr txBox="1">
              <a:spLocks noChangeArrowheads="1"/>
            </p:cNvSpPr>
            <p:nvPr/>
          </p:nvSpPr>
          <p:spPr bwMode="auto">
            <a:xfrm>
              <a:off x="7429376" y="5130800"/>
              <a:ext cx="800224" cy="457200"/>
            </a:xfrm>
            <a:prstGeom prst="rect">
              <a:avLst/>
            </a:prstGeom>
            <a:noFill/>
            <a:ln w="9525">
              <a:noFill/>
              <a:miter lim="800000"/>
              <a:headEnd/>
              <a:tailEnd/>
            </a:ln>
          </p:spPr>
          <p:txBody>
            <a:bodyPr wrap="square">
              <a:spAutoFit/>
            </a:bodyPr>
            <a:lstStyle/>
            <a:p>
              <a:pPr>
                <a:spcBef>
                  <a:spcPct val="50000"/>
                </a:spcBef>
              </a:pPr>
              <a:r>
                <a:rPr lang="bg-BG"/>
                <a:t>48</a:t>
              </a:r>
              <a:endParaRPr lang="en-US"/>
            </a:p>
          </p:txBody>
        </p:sp>
        <p:sp>
          <p:nvSpPr>
            <p:cNvPr id="68682" name="Line 74"/>
            <p:cNvSpPr>
              <a:spLocks noChangeShapeType="1"/>
            </p:cNvSpPr>
            <p:nvPr/>
          </p:nvSpPr>
          <p:spPr bwMode="auto">
            <a:xfrm flipH="1">
              <a:off x="952128" y="4800600"/>
              <a:ext cx="2400672" cy="304800"/>
            </a:xfrm>
            <a:prstGeom prst="line">
              <a:avLst/>
            </a:prstGeom>
            <a:noFill/>
            <a:ln w="9525">
              <a:solidFill>
                <a:schemeClr val="tx1"/>
              </a:solidFill>
              <a:round/>
              <a:headEnd/>
              <a:tailEnd type="triangle" w="med" len="med"/>
            </a:ln>
          </p:spPr>
          <p:txBody>
            <a:bodyPr wrap="none" anchor="ctr"/>
            <a:lstStyle/>
            <a:p>
              <a:endParaRPr lang="bg-BG"/>
            </a:p>
          </p:txBody>
        </p:sp>
        <p:sp>
          <p:nvSpPr>
            <p:cNvPr id="68683" name="Line 75"/>
            <p:cNvSpPr>
              <a:spLocks noChangeShapeType="1"/>
            </p:cNvSpPr>
            <p:nvPr/>
          </p:nvSpPr>
          <p:spPr bwMode="auto">
            <a:xfrm flipH="1">
              <a:off x="3409888" y="4826000"/>
              <a:ext cx="400112" cy="304800"/>
            </a:xfrm>
            <a:prstGeom prst="line">
              <a:avLst/>
            </a:prstGeom>
            <a:noFill/>
            <a:ln w="9525">
              <a:solidFill>
                <a:schemeClr val="tx1"/>
              </a:solidFill>
              <a:round/>
              <a:headEnd/>
              <a:tailEnd type="triangle" w="med" len="med"/>
            </a:ln>
          </p:spPr>
          <p:txBody>
            <a:bodyPr wrap="none" anchor="ctr"/>
            <a:lstStyle/>
            <a:p>
              <a:endParaRPr lang="bg-BG"/>
            </a:p>
          </p:txBody>
        </p:sp>
        <p:sp>
          <p:nvSpPr>
            <p:cNvPr id="68684" name="Line 76"/>
            <p:cNvSpPr>
              <a:spLocks noChangeShapeType="1"/>
            </p:cNvSpPr>
            <p:nvPr/>
          </p:nvSpPr>
          <p:spPr bwMode="auto">
            <a:xfrm>
              <a:off x="4408372" y="4826000"/>
              <a:ext cx="235066" cy="331788"/>
            </a:xfrm>
            <a:prstGeom prst="line">
              <a:avLst/>
            </a:prstGeom>
            <a:noFill/>
            <a:ln w="9525">
              <a:solidFill>
                <a:schemeClr val="tx1"/>
              </a:solidFill>
              <a:round/>
              <a:headEnd/>
              <a:tailEnd type="triangle" w="med" len="med"/>
            </a:ln>
          </p:spPr>
          <p:txBody>
            <a:bodyPr wrap="none" anchor="ctr"/>
            <a:lstStyle/>
            <a:p>
              <a:endParaRPr lang="bg-BG"/>
            </a:p>
          </p:txBody>
        </p:sp>
        <p:sp>
          <p:nvSpPr>
            <p:cNvPr id="68685" name="Line 77"/>
            <p:cNvSpPr>
              <a:spLocks noChangeShapeType="1"/>
            </p:cNvSpPr>
            <p:nvPr/>
          </p:nvSpPr>
          <p:spPr bwMode="auto">
            <a:xfrm>
              <a:off x="4856484" y="4800600"/>
              <a:ext cx="2020566" cy="284163"/>
            </a:xfrm>
            <a:prstGeom prst="line">
              <a:avLst/>
            </a:prstGeom>
            <a:noFill/>
            <a:ln w="9525">
              <a:solidFill>
                <a:schemeClr val="tx1"/>
              </a:solidFill>
              <a:round/>
              <a:headEnd/>
              <a:tailEnd type="triangle" w="med" len="med"/>
            </a:ln>
          </p:spPr>
          <p:txBody>
            <a:bodyPr wrap="none" anchor="ctr"/>
            <a:lstStyle/>
            <a:p>
              <a:endParaRPr lang="bg-BG"/>
            </a:p>
          </p:txBody>
        </p:sp>
        <p:sp>
          <p:nvSpPr>
            <p:cNvPr id="68686" name="Text Box 78"/>
            <p:cNvSpPr txBox="1">
              <a:spLocks noChangeArrowheads="1"/>
            </p:cNvSpPr>
            <p:nvPr/>
          </p:nvSpPr>
          <p:spPr bwMode="auto">
            <a:xfrm>
              <a:off x="5451998" y="5740400"/>
              <a:ext cx="720202" cy="457200"/>
            </a:xfrm>
            <a:prstGeom prst="rect">
              <a:avLst/>
            </a:prstGeom>
            <a:noFill/>
            <a:ln w="9525">
              <a:noFill/>
              <a:miter lim="800000"/>
              <a:headEnd/>
              <a:tailEnd/>
            </a:ln>
          </p:spPr>
          <p:txBody>
            <a:bodyPr wrap="square">
              <a:spAutoFit/>
            </a:bodyPr>
            <a:lstStyle/>
            <a:p>
              <a:pPr>
                <a:spcBef>
                  <a:spcPct val="50000"/>
                </a:spcBef>
              </a:pPr>
              <a:r>
                <a:rPr lang="en-US"/>
                <a:t>R</a:t>
              </a:r>
            </a:p>
          </p:txBody>
        </p:sp>
        <p:sp>
          <p:nvSpPr>
            <p:cNvPr id="68687" name="Text Box 79"/>
            <p:cNvSpPr txBox="1">
              <a:spLocks noChangeArrowheads="1"/>
            </p:cNvSpPr>
            <p:nvPr/>
          </p:nvSpPr>
          <p:spPr bwMode="auto">
            <a:xfrm>
              <a:off x="3165998" y="5740400"/>
              <a:ext cx="720202" cy="457200"/>
            </a:xfrm>
            <a:prstGeom prst="rect">
              <a:avLst/>
            </a:prstGeom>
            <a:noFill/>
            <a:ln w="9525">
              <a:noFill/>
              <a:miter lim="800000"/>
              <a:headEnd/>
              <a:tailEnd/>
            </a:ln>
          </p:spPr>
          <p:txBody>
            <a:bodyPr wrap="square">
              <a:spAutoFit/>
            </a:bodyPr>
            <a:lstStyle/>
            <a:p>
              <a:pPr>
                <a:spcBef>
                  <a:spcPct val="50000"/>
                </a:spcBef>
              </a:pPr>
              <a:r>
                <a:rPr lang="en-US"/>
                <a:t>L</a:t>
              </a:r>
            </a:p>
          </p:txBody>
        </p:sp>
        <p:sp>
          <p:nvSpPr>
            <p:cNvPr id="68690" name="Text Box 82"/>
            <p:cNvSpPr txBox="1">
              <a:spLocks noChangeArrowheads="1"/>
            </p:cNvSpPr>
            <p:nvPr/>
          </p:nvSpPr>
          <p:spPr bwMode="auto">
            <a:xfrm>
              <a:off x="2908176" y="5156200"/>
              <a:ext cx="800224" cy="457200"/>
            </a:xfrm>
            <a:prstGeom prst="rect">
              <a:avLst/>
            </a:prstGeom>
            <a:noFill/>
            <a:ln w="9525">
              <a:noFill/>
              <a:miter lim="800000"/>
              <a:headEnd/>
              <a:tailEnd/>
            </a:ln>
          </p:spPr>
          <p:txBody>
            <a:bodyPr wrap="square">
              <a:spAutoFit/>
            </a:bodyPr>
            <a:lstStyle/>
            <a:p>
              <a:pPr>
                <a:spcBef>
                  <a:spcPct val="50000"/>
                </a:spcBef>
              </a:pPr>
              <a:r>
                <a:rPr lang="en-US"/>
                <a:t>3</a:t>
              </a:r>
              <a:r>
                <a:rPr lang="bg-BG"/>
                <a:t>0</a:t>
              </a:r>
              <a:endParaRPr 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auto">
          <a:xfrm>
            <a:off x="1259632" y="620688"/>
            <a:ext cx="7575376" cy="5638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t>Например</a:t>
            </a:r>
            <a:r>
              <a:rPr lang="en-US" sz="2200"/>
              <a:t/>
            </a:r>
            <a:br>
              <a:rPr lang="en-US"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получаваме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
            </a:r>
            <a:br>
              <a:rPr lang="bg-BG" sz="2200"/>
            </a:br>
            <a:r>
              <a:rPr lang="bg-BG" sz="2200"/>
              <a:t>Подробно - Лендерт Амерал, </a:t>
            </a:r>
            <a:r>
              <a:rPr lang="bg-BG" sz="2200" i="1"/>
              <a:t>Алгоритми и структури от данни в С++,</a:t>
            </a:r>
            <a:r>
              <a:rPr lang="bg-BG" sz="2200"/>
              <a:t> ИК СОФТЕХ, София, 2001</a:t>
            </a:r>
            <a:endParaRPr lang="en-US" sz="2200"/>
          </a:p>
        </p:txBody>
      </p:sp>
      <p:sp>
        <p:nvSpPr>
          <p:cNvPr id="69635" name="Rectangle 3"/>
          <p:cNvSpPr>
            <a:spLocks noChangeArrowheads="1"/>
          </p:cNvSpPr>
          <p:nvPr/>
        </p:nvSpPr>
        <p:spPr bwMode="auto">
          <a:xfrm>
            <a:off x="457200" y="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9643" name="Rectangle 11"/>
          <p:cNvSpPr>
            <a:spLocks noChangeArrowheads="1"/>
          </p:cNvSpPr>
          <p:nvPr/>
        </p:nvSpPr>
        <p:spPr bwMode="auto">
          <a:xfrm>
            <a:off x="25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57" name="Rectangle 25"/>
          <p:cNvSpPr>
            <a:spLocks noChangeArrowheads="1"/>
          </p:cNvSpPr>
          <p:nvPr/>
        </p:nvSpPr>
        <p:spPr bwMode="auto">
          <a:xfrm>
            <a:off x="508000" y="264160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69684" name="Text Box 52"/>
          <p:cNvSpPr txBox="1">
            <a:spLocks noChangeArrowheads="1"/>
          </p:cNvSpPr>
          <p:nvPr/>
        </p:nvSpPr>
        <p:spPr bwMode="auto">
          <a:xfrm>
            <a:off x="508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sp>
        <p:nvSpPr>
          <p:cNvPr id="69704" name="Text Box 72"/>
          <p:cNvSpPr txBox="1">
            <a:spLocks noChangeArrowheads="1"/>
          </p:cNvSpPr>
          <p:nvPr/>
        </p:nvSpPr>
        <p:spPr bwMode="auto">
          <a:xfrm>
            <a:off x="381000" y="381000"/>
            <a:ext cx="8382000" cy="6019800"/>
          </a:xfrm>
          <a:prstGeom prst="rect">
            <a:avLst/>
          </a:prstGeom>
          <a:noFill/>
          <a:ln w="9525">
            <a:noFill/>
            <a:miter lim="800000"/>
            <a:headEnd/>
            <a:tailEnd/>
          </a:ln>
        </p:spPr>
        <p:txBody>
          <a:bodyPr anchor="ctr"/>
          <a:lstStyle/>
          <a:p>
            <a:pPr>
              <a:spcBef>
                <a:spcPct val="50000"/>
              </a:spcBef>
            </a:pP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grpSp>
        <p:nvGrpSpPr>
          <p:cNvPr id="77" name="Group 76"/>
          <p:cNvGrpSpPr/>
          <p:nvPr/>
        </p:nvGrpSpPr>
        <p:grpSpPr>
          <a:xfrm>
            <a:off x="584200" y="1320800"/>
            <a:ext cx="8509000" cy="2209800"/>
            <a:chOff x="584200" y="1320800"/>
            <a:chExt cx="8509000" cy="2209800"/>
          </a:xfrm>
        </p:grpSpPr>
        <p:sp>
          <p:nvSpPr>
            <p:cNvPr id="69636" name="Rectangle 4"/>
            <p:cNvSpPr>
              <a:spLocks noChangeArrowheads="1"/>
            </p:cNvSpPr>
            <p:nvPr/>
          </p:nvSpPr>
          <p:spPr bwMode="auto">
            <a:xfrm>
              <a:off x="3225800" y="17018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37" name="Line 5"/>
            <p:cNvSpPr>
              <a:spLocks noChangeShapeType="1"/>
            </p:cNvSpPr>
            <p:nvPr/>
          </p:nvSpPr>
          <p:spPr bwMode="auto">
            <a:xfrm>
              <a:off x="4318000" y="1701800"/>
              <a:ext cx="0" cy="457200"/>
            </a:xfrm>
            <a:prstGeom prst="line">
              <a:avLst/>
            </a:prstGeom>
            <a:noFill/>
            <a:ln w="9525">
              <a:solidFill>
                <a:schemeClr val="tx1"/>
              </a:solidFill>
              <a:round/>
              <a:headEnd/>
              <a:tailEnd/>
            </a:ln>
          </p:spPr>
          <p:txBody>
            <a:bodyPr wrap="none" anchor="ctr"/>
            <a:lstStyle/>
            <a:p>
              <a:endParaRPr lang="bg-BG"/>
            </a:p>
          </p:txBody>
        </p:sp>
        <p:sp>
          <p:nvSpPr>
            <p:cNvPr id="69638" name="Line 6"/>
            <p:cNvSpPr>
              <a:spLocks noChangeShapeType="1"/>
            </p:cNvSpPr>
            <p:nvPr/>
          </p:nvSpPr>
          <p:spPr bwMode="auto">
            <a:xfrm>
              <a:off x="3759200" y="1701800"/>
              <a:ext cx="0" cy="457200"/>
            </a:xfrm>
            <a:prstGeom prst="line">
              <a:avLst/>
            </a:prstGeom>
            <a:noFill/>
            <a:ln w="9525">
              <a:solidFill>
                <a:schemeClr val="tx1"/>
              </a:solidFill>
              <a:round/>
              <a:headEnd/>
              <a:tailEnd/>
            </a:ln>
          </p:spPr>
          <p:txBody>
            <a:bodyPr wrap="none" anchor="ctr"/>
            <a:lstStyle/>
            <a:p>
              <a:endParaRPr lang="bg-BG"/>
            </a:p>
          </p:txBody>
        </p:sp>
        <p:sp>
          <p:nvSpPr>
            <p:cNvPr id="69639" name="Line 7"/>
            <p:cNvSpPr>
              <a:spLocks noChangeShapeType="1"/>
            </p:cNvSpPr>
            <p:nvPr/>
          </p:nvSpPr>
          <p:spPr bwMode="auto">
            <a:xfrm>
              <a:off x="4876800" y="1701800"/>
              <a:ext cx="0" cy="457200"/>
            </a:xfrm>
            <a:prstGeom prst="line">
              <a:avLst/>
            </a:prstGeom>
            <a:noFill/>
            <a:ln w="9525">
              <a:solidFill>
                <a:schemeClr val="tx1"/>
              </a:solidFill>
              <a:round/>
              <a:headEnd/>
              <a:tailEnd/>
            </a:ln>
          </p:spPr>
          <p:txBody>
            <a:bodyPr wrap="none" anchor="ctr"/>
            <a:lstStyle/>
            <a:p>
              <a:endParaRPr lang="bg-BG"/>
            </a:p>
          </p:txBody>
        </p:sp>
        <p:sp>
          <p:nvSpPr>
            <p:cNvPr id="69640" name="Rectangle 8"/>
            <p:cNvSpPr>
              <a:spLocks noChangeArrowheads="1"/>
            </p:cNvSpPr>
            <p:nvPr/>
          </p:nvSpPr>
          <p:spPr bwMode="auto">
            <a:xfrm>
              <a:off x="4597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41" name="Rectangle 9"/>
            <p:cNvSpPr>
              <a:spLocks noChangeArrowheads="1"/>
            </p:cNvSpPr>
            <p:nvPr/>
          </p:nvSpPr>
          <p:spPr bwMode="auto">
            <a:xfrm>
              <a:off x="6883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42" name="Rectangle 10"/>
            <p:cNvSpPr>
              <a:spLocks noChangeArrowheads="1"/>
            </p:cNvSpPr>
            <p:nvPr/>
          </p:nvSpPr>
          <p:spPr bwMode="auto">
            <a:xfrm>
              <a:off x="2311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44" name="Line 12"/>
            <p:cNvSpPr>
              <a:spLocks noChangeShapeType="1"/>
            </p:cNvSpPr>
            <p:nvPr/>
          </p:nvSpPr>
          <p:spPr bwMode="auto">
            <a:xfrm>
              <a:off x="6248400" y="2489200"/>
              <a:ext cx="0" cy="457200"/>
            </a:xfrm>
            <a:prstGeom prst="line">
              <a:avLst/>
            </a:prstGeom>
            <a:noFill/>
            <a:ln w="9525">
              <a:solidFill>
                <a:schemeClr val="tx1"/>
              </a:solidFill>
              <a:round/>
              <a:headEnd/>
              <a:tailEnd/>
            </a:ln>
          </p:spPr>
          <p:txBody>
            <a:bodyPr wrap="none" anchor="ctr"/>
            <a:lstStyle/>
            <a:p>
              <a:endParaRPr lang="bg-BG"/>
            </a:p>
          </p:txBody>
        </p:sp>
        <p:sp>
          <p:nvSpPr>
            <p:cNvPr id="69645" name="Line 13"/>
            <p:cNvSpPr>
              <a:spLocks noChangeShapeType="1"/>
            </p:cNvSpPr>
            <p:nvPr/>
          </p:nvSpPr>
          <p:spPr bwMode="auto">
            <a:xfrm>
              <a:off x="5156200" y="2489200"/>
              <a:ext cx="0" cy="457200"/>
            </a:xfrm>
            <a:prstGeom prst="line">
              <a:avLst/>
            </a:prstGeom>
            <a:noFill/>
            <a:ln w="9525">
              <a:solidFill>
                <a:schemeClr val="tx1"/>
              </a:solidFill>
              <a:round/>
              <a:headEnd/>
              <a:tailEnd/>
            </a:ln>
          </p:spPr>
          <p:txBody>
            <a:bodyPr wrap="none" anchor="ctr"/>
            <a:lstStyle/>
            <a:p>
              <a:endParaRPr lang="bg-BG"/>
            </a:p>
          </p:txBody>
        </p:sp>
        <p:sp>
          <p:nvSpPr>
            <p:cNvPr id="69646" name="Line 14"/>
            <p:cNvSpPr>
              <a:spLocks noChangeShapeType="1"/>
            </p:cNvSpPr>
            <p:nvPr/>
          </p:nvSpPr>
          <p:spPr bwMode="auto">
            <a:xfrm>
              <a:off x="5689600" y="2489200"/>
              <a:ext cx="0" cy="457200"/>
            </a:xfrm>
            <a:prstGeom prst="line">
              <a:avLst/>
            </a:prstGeom>
            <a:noFill/>
            <a:ln w="9525">
              <a:solidFill>
                <a:schemeClr val="tx1"/>
              </a:solidFill>
              <a:round/>
              <a:headEnd/>
              <a:tailEnd/>
            </a:ln>
          </p:spPr>
          <p:txBody>
            <a:bodyPr wrap="none" anchor="ctr"/>
            <a:lstStyle/>
            <a:p>
              <a:endParaRPr lang="bg-BG"/>
            </a:p>
          </p:txBody>
        </p:sp>
        <p:sp>
          <p:nvSpPr>
            <p:cNvPr id="69647" name="Line 15"/>
            <p:cNvSpPr>
              <a:spLocks noChangeShapeType="1"/>
            </p:cNvSpPr>
            <p:nvPr/>
          </p:nvSpPr>
          <p:spPr bwMode="auto">
            <a:xfrm>
              <a:off x="3962400" y="2489200"/>
              <a:ext cx="0" cy="457200"/>
            </a:xfrm>
            <a:prstGeom prst="line">
              <a:avLst/>
            </a:prstGeom>
            <a:noFill/>
            <a:ln w="9525">
              <a:solidFill>
                <a:schemeClr val="tx1"/>
              </a:solidFill>
              <a:round/>
              <a:headEnd/>
              <a:tailEnd/>
            </a:ln>
          </p:spPr>
          <p:txBody>
            <a:bodyPr wrap="none" anchor="ctr"/>
            <a:lstStyle/>
            <a:p>
              <a:endParaRPr lang="bg-BG"/>
            </a:p>
          </p:txBody>
        </p:sp>
        <p:sp>
          <p:nvSpPr>
            <p:cNvPr id="69648" name="Line 16"/>
            <p:cNvSpPr>
              <a:spLocks noChangeShapeType="1"/>
            </p:cNvSpPr>
            <p:nvPr/>
          </p:nvSpPr>
          <p:spPr bwMode="auto">
            <a:xfrm>
              <a:off x="7950200" y="2489200"/>
              <a:ext cx="0" cy="457200"/>
            </a:xfrm>
            <a:prstGeom prst="line">
              <a:avLst/>
            </a:prstGeom>
            <a:noFill/>
            <a:ln w="9525">
              <a:solidFill>
                <a:schemeClr val="tx1"/>
              </a:solidFill>
              <a:round/>
              <a:headEnd/>
              <a:tailEnd/>
            </a:ln>
          </p:spPr>
          <p:txBody>
            <a:bodyPr wrap="none" anchor="ctr"/>
            <a:lstStyle/>
            <a:p>
              <a:endParaRPr lang="bg-BG"/>
            </a:p>
          </p:txBody>
        </p:sp>
        <p:sp>
          <p:nvSpPr>
            <p:cNvPr id="69649" name="Line 17"/>
            <p:cNvSpPr>
              <a:spLocks noChangeShapeType="1"/>
            </p:cNvSpPr>
            <p:nvPr/>
          </p:nvSpPr>
          <p:spPr bwMode="auto">
            <a:xfrm>
              <a:off x="2870200" y="2489200"/>
              <a:ext cx="0" cy="457200"/>
            </a:xfrm>
            <a:prstGeom prst="line">
              <a:avLst/>
            </a:prstGeom>
            <a:noFill/>
            <a:ln w="9525">
              <a:solidFill>
                <a:schemeClr val="tx1"/>
              </a:solidFill>
              <a:round/>
              <a:headEnd/>
              <a:tailEnd/>
            </a:ln>
          </p:spPr>
          <p:txBody>
            <a:bodyPr wrap="none" anchor="ctr"/>
            <a:lstStyle/>
            <a:p>
              <a:endParaRPr lang="bg-BG"/>
            </a:p>
          </p:txBody>
        </p:sp>
        <p:sp>
          <p:nvSpPr>
            <p:cNvPr id="69650" name="Line 18"/>
            <p:cNvSpPr>
              <a:spLocks noChangeShapeType="1"/>
            </p:cNvSpPr>
            <p:nvPr/>
          </p:nvSpPr>
          <p:spPr bwMode="auto">
            <a:xfrm>
              <a:off x="3429000" y="2489200"/>
              <a:ext cx="0" cy="457200"/>
            </a:xfrm>
            <a:prstGeom prst="line">
              <a:avLst/>
            </a:prstGeom>
            <a:noFill/>
            <a:ln w="9525">
              <a:solidFill>
                <a:schemeClr val="tx1"/>
              </a:solidFill>
              <a:round/>
              <a:headEnd/>
              <a:tailEnd/>
            </a:ln>
          </p:spPr>
          <p:txBody>
            <a:bodyPr wrap="none" anchor="ctr"/>
            <a:lstStyle/>
            <a:p>
              <a:endParaRPr lang="bg-BG"/>
            </a:p>
          </p:txBody>
        </p:sp>
        <p:sp>
          <p:nvSpPr>
            <p:cNvPr id="69651" name="Line 19"/>
            <p:cNvSpPr>
              <a:spLocks noChangeShapeType="1"/>
            </p:cNvSpPr>
            <p:nvPr/>
          </p:nvSpPr>
          <p:spPr bwMode="auto">
            <a:xfrm>
              <a:off x="584200" y="2489200"/>
              <a:ext cx="0" cy="457200"/>
            </a:xfrm>
            <a:prstGeom prst="line">
              <a:avLst/>
            </a:prstGeom>
            <a:noFill/>
            <a:ln w="9525">
              <a:solidFill>
                <a:schemeClr val="tx1"/>
              </a:solidFill>
              <a:round/>
              <a:headEnd/>
              <a:tailEnd/>
            </a:ln>
          </p:spPr>
          <p:txBody>
            <a:bodyPr wrap="none" anchor="ctr"/>
            <a:lstStyle/>
            <a:p>
              <a:endParaRPr lang="bg-BG"/>
            </a:p>
          </p:txBody>
        </p:sp>
        <p:sp>
          <p:nvSpPr>
            <p:cNvPr id="69652" name="Line 20"/>
            <p:cNvSpPr>
              <a:spLocks noChangeShapeType="1"/>
            </p:cNvSpPr>
            <p:nvPr/>
          </p:nvSpPr>
          <p:spPr bwMode="auto">
            <a:xfrm>
              <a:off x="1676400" y="2489200"/>
              <a:ext cx="0" cy="457200"/>
            </a:xfrm>
            <a:prstGeom prst="line">
              <a:avLst/>
            </a:prstGeom>
            <a:noFill/>
            <a:ln w="9525">
              <a:solidFill>
                <a:schemeClr val="tx1"/>
              </a:solidFill>
              <a:round/>
              <a:headEnd/>
              <a:tailEnd/>
            </a:ln>
          </p:spPr>
          <p:txBody>
            <a:bodyPr wrap="none" anchor="ctr"/>
            <a:lstStyle/>
            <a:p>
              <a:endParaRPr lang="bg-BG"/>
            </a:p>
          </p:txBody>
        </p:sp>
        <p:sp>
          <p:nvSpPr>
            <p:cNvPr id="69653" name="Line 21"/>
            <p:cNvSpPr>
              <a:spLocks noChangeShapeType="1"/>
            </p:cNvSpPr>
            <p:nvPr/>
          </p:nvSpPr>
          <p:spPr bwMode="auto">
            <a:xfrm>
              <a:off x="1143000" y="2514600"/>
              <a:ext cx="0" cy="457200"/>
            </a:xfrm>
            <a:prstGeom prst="line">
              <a:avLst/>
            </a:prstGeom>
            <a:noFill/>
            <a:ln w="9525">
              <a:solidFill>
                <a:schemeClr val="tx1"/>
              </a:solidFill>
              <a:round/>
              <a:headEnd/>
              <a:tailEnd/>
            </a:ln>
          </p:spPr>
          <p:txBody>
            <a:bodyPr wrap="none" anchor="ctr"/>
            <a:lstStyle/>
            <a:p>
              <a:endParaRPr lang="bg-BG"/>
            </a:p>
          </p:txBody>
        </p:sp>
        <p:sp>
          <p:nvSpPr>
            <p:cNvPr id="69654" name="Line 22"/>
            <p:cNvSpPr>
              <a:spLocks noChangeShapeType="1"/>
            </p:cNvSpPr>
            <p:nvPr/>
          </p:nvSpPr>
          <p:spPr bwMode="auto">
            <a:xfrm>
              <a:off x="8509000" y="2489200"/>
              <a:ext cx="0" cy="457200"/>
            </a:xfrm>
            <a:prstGeom prst="line">
              <a:avLst/>
            </a:prstGeom>
            <a:noFill/>
            <a:ln w="9525">
              <a:solidFill>
                <a:schemeClr val="tx1"/>
              </a:solidFill>
              <a:round/>
              <a:headEnd/>
              <a:tailEnd/>
            </a:ln>
          </p:spPr>
          <p:txBody>
            <a:bodyPr wrap="none" anchor="ctr"/>
            <a:lstStyle/>
            <a:p>
              <a:endParaRPr lang="bg-BG"/>
            </a:p>
          </p:txBody>
        </p:sp>
        <p:sp>
          <p:nvSpPr>
            <p:cNvPr id="69655" name="Line 23"/>
            <p:cNvSpPr>
              <a:spLocks noChangeShapeType="1"/>
            </p:cNvSpPr>
            <p:nvPr/>
          </p:nvSpPr>
          <p:spPr bwMode="auto">
            <a:xfrm>
              <a:off x="7391400" y="2489200"/>
              <a:ext cx="0" cy="457200"/>
            </a:xfrm>
            <a:prstGeom prst="line">
              <a:avLst/>
            </a:prstGeom>
            <a:noFill/>
            <a:ln w="9525">
              <a:solidFill>
                <a:schemeClr val="tx1"/>
              </a:solidFill>
              <a:round/>
              <a:headEnd/>
              <a:tailEnd/>
            </a:ln>
          </p:spPr>
          <p:txBody>
            <a:bodyPr wrap="none" anchor="ctr"/>
            <a:lstStyle/>
            <a:p>
              <a:endParaRPr lang="bg-BG"/>
            </a:p>
          </p:txBody>
        </p:sp>
        <p:sp>
          <p:nvSpPr>
            <p:cNvPr id="69656" name="Line 24"/>
            <p:cNvSpPr>
              <a:spLocks noChangeShapeType="1"/>
            </p:cNvSpPr>
            <p:nvPr/>
          </p:nvSpPr>
          <p:spPr bwMode="auto">
            <a:xfrm>
              <a:off x="4318000" y="13208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9675" name="Line 43"/>
            <p:cNvSpPr>
              <a:spLocks noChangeShapeType="1"/>
            </p:cNvSpPr>
            <p:nvPr/>
          </p:nvSpPr>
          <p:spPr bwMode="auto">
            <a:xfrm flipH="1">
              <a:off x="914400" y="21590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69676" name="Line 44"/>
            <p:cNvSpPr>
              <a:spLocks noChangeShapeType="1"/>
            </p:cNvSpPr>
            <p:nvPr/>
          </p:nvSpPr>
          <p:spPr bwMode="auto">
            <a:xfrm flipH="1">
              <a:off x="2339975" y="2159000"/>
              <a:ext cx="1393825" cy="333375"/>
            </a:xfrm>
            <a:prstGeom prst="line">
              <a:avLst/>
            </a:prstGeom>
            <a:noFill/>
            <a:ln w="9525">
              <a:solidFill>
                <a:schemeClr val="tx1"/>
              </a:solidFill>
              <a:round/>
              <a:headEnd/>
              <a:tailEnd type="triangle" w="med" len="med"/>
            </a:ln>
          </p:spPr>
          <p:txBody>
            <a:bodyPr wrap="none" anchor="ctr"/>
            <a:lstStyle/>
            <a:p>
              <a:endParaRPr lang="bg-BG"/>
            </a:p>
          </p:txBody>
        </p:sp>
        <p:sp>
          <p:nvSpPr>
            <p:cNvPr id="69677" name="Line 45"/>
            <p:cNvSpPr>
              <a:spLocks noChangeShapeType="1"/>
            </p:cNvSpPr>
            <p:nvPr/>
          </p:nvSpPr>
          <p:spPr bwMode="auto">
            <a:xfrm>
              <a:off x="4343400" y="2159000"/>
              <a:ext cx="300038" cy="333375"/>
            </a:xfrm>
            <a:prstGeom prst="line">
              <a:avLst/>
            </a:prstGeom>
            <a:noFill/>
            <a:ln w="9525">
              <a:solidFill>
                <a:schemeClr val="tx1"/>
              </a:solidFill>
              <a:round/>
              <a:headEnd/>
              <a:tailEnd type="triangle" w="med" len="med"/>
            </a:ln>
          </p:spPr>
          <p:txBody>
            <a:bodyPr wrap="none" anchor="ctr"/>
            <a:lstStyle/>
            <a:p>
              <a:endParaRPr lang="bg-BG"/>
            </a:p>
          </p:txBody>
        </p:sp>
        <p:sp>
          <p:nvSpPr>
            <p:cNvPr id="69678" name="Line 46"/>
            <p:cNvSpPr>
              <a:spLocks noChangeShapeType="1"/>
            </p:cNvSpPr>
            <p:nvPr/>
          </p:nvSpPr>
          <p:spPr bwMode="auto">
            <a:xfrm>
              <a:off x="4876800" y="2159000"/>
              <a:ext cx="2000250" cy="333375"/>
            </a:xfrm>
            <a:prstGeom prst="line">
              <a:avLst/>
            </a:prstGeom>
            <a:noFill/>
            <a:ln w="9525">
              <a:solidFill>
                <a:schemeClr val="tx1"/>
              </a:solidFill>
              <a:round/>
              <a:headEnd/>
              <a:tailEnd type="triangle" w="med" len="med"/>
            </a:ln>
          </p:spPr>
          <p:txBody>
            <a:bodyPr wrap="none" anchor="ctr"/>
            <a:lstStyle/>
            <a:p>
              <a:endParaRPr lang="bg-BG"/>
            </a:p>
          </p:txBody>
        </p:sp>
        <p:sp>
          <p:nvSpPr>
            <p:cNvPr id="69679" name="Text Box 47"/>
            <p:cNvSpPr txBox="1">
              <a:spLocks noChangeArrowheads="1"/>
            </p:cNvSpPr>
            <p:nvPr/>
          </p:nvSpPr>
          <p:spPr bwMode="auto">
            <a:xfrm>
              <a:off x="4394200" y="1320800"/>
              <a:ext cx="685800" cy="457200"/>
            </a:xfrm>
            <a:prstGeom prst="rect">
              <a:avLst/>
            </a:prstGeom>
            <a:noFill/>
            <a:ln w="9525">
              <a:noFill/>
              <a:miter lim="800000"/>
              <a:headEnd/>
              <a:tailEnd/>
            </a:ln>
          </p:spPr>
          <p:txBody>
            <a:bodyPr>
              <a:spAutoFit/>
            </a:bodyPr>
            <a:lstStyle/>
            <a:p>
              <a:pPr>
                <a:spcBef>
                  <a:spcPct val="50000"/>
                </a:spcBef>
              </a:pPr>
              <a:r>
                <a:rPr lang="en-US"/>
                <a:t>Р</a:t>
              </a:r>
            </a:p>
          </p:txBody>
        </p:sp>
        <p:sp>
          <p:nvSpPr>
            <p:cNvPr id="69680" name="Text Box 48"/>
            <p:cNvSpPr txBox="1">
              <a:spLocks noChangeArrowheads="1"/>
            </p:cNvSpPr>
            <p:nvPr/>
          </p:nvSpPr>
          <p:spPr bwMode="auto">
            <a:xfrm>
              <a:off x="3251200" y="17272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69681" name="Text Box 49"/>
            <p:cNvSpPr txBox="1">
              <a:spLocks noChangeArrowheads="1"/>
            </p:cNvSpPr>
            <p:nvPr/>
          </p:nvSpPr>
          <p:spPr bwMode="auto">
            <a:xfrm>
              <a:off x="2362200" y="2514600"/>
              <a:ext cx="762000" cy="457200"/>
            </a:xfrm>
            <a:prstGeom prst="rect">
              <a:avLst/>
            </a:prstGeom>
            <a:noFill/>
            <a:ln w="9525">
              <a:noFill/>
              <a:miter lim="800000"/>
              <a:headEnd/>
              <a:tailEnd/>
            </a:ln>
          </p:spPr>
          <p:txBody>
            <a:bodyPr>
              <a:spAutoFit/>
            </a:bodyPr>
            <a:lstStyle/>
            <a:p>
              <a:pPr>
                <a:spcBef>
                  <a:spcPct val="50000"/>
                </a:spcBef>
              </a:pPr>
              <a:r>
                <a:rPr lang="en-US"/>
                <a:t>2</a:t>
              </a:r>
              <a:r>
                <a:rPr lang="bg-BG"/>
                <a:t>5</a:t>
              </a:r>
              <a:endParaRPr lang="en-US"/>
            </a:p>
          </p:txBody>
        </p:sp>
        <p:sp>
          <p:nvSpPr>
            <p:cNvPr id="69683" name="Text Box 51"/>
            <p:cNvSpPr txBox="1">
              <a:spLocks noChangeArrowheads="1"/>
            </p:cNvSpPr>
            <p:nvPr/>
          </p:nvSpPr>
          <p:spPr bwMode="auto">
            <a:xfrm>
              <a:off x="6350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69685" name="Text Box 53"/>
            <p:cNvSpPr txBox="1">
              <a:spLocks noChangeArrowheads="1"/>
            </p:cNvSpPr>
            <p:nvPr/>
          </p:nvSpPr>
          <p:spPr bwMode="auto">
            <a:xfrm>
              <a:off x="51816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8</a:t>
              </a:r>
              <a:endParaRPr lang="en-US"/>
            </a:p>
          </p:txBody>
        </p:sp>
        <p:sp>
          <p:nvSpPr>
            <p:cNvPr id="69686" name="Text Box 54"/>
            <p:cNvSpPr txBox="1">
              <a:spLocks noChangeArrowheads="1"/>
            </p:cNvSpPr>
            <p:nvPr/>
          </p:nvSpPr>
          <p:spPr bwMode="auto">
            <a:xfrm>
              <a:off x="46482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69687" name="Text Box 55"/>
            <p:cNvSpPr txBox="1">
              <a:spLocks noChangeArrowheads="1"/>
            </p:cNvSpPr>
            <p:nvPr/>
          </p:nvSpPr>
          <p:spPr bwMode="auto">
            <a:xfrm>
              <a:off x="3810000" y="17272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69688" name="Text Box 56"/>
            <p:cNvSpPr txBox="1">
              <a:spLocks noChangeArrowheads="1"/>
            </p:cNvSpPr>
            <p:nvPr/>
          </p:nvSpPr>
          <p:spPr bwMode="auto">
            <a:xfrm>
              <a:off x="6908800" y="2489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69689" name="Text Box 57"/>
            <p:cNvSpPr txBox="1">
              <a:spLocks noChangeArrowheads="1"/>
            </p:cNvSpPr>
            <p:nvPr/>
          </p:nvSpPr>
          <p:spPr bwMode="auto">
            <a:xfrm>
              <a:off x="4343400" y="17272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69690" name="Text Box 58"/>
            <p:cNvSpPr txBox="1">
              <a:spLocks noChangeArrowheads="1"/>
            </p:cNvSpPr>
            <p:nvPr/>
          </p:nvSpPr>
          <p:spPr bwMode="auto">
            <a:xfrm>
              <a:off x="7442200" y="24892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69702" name="Text Box 70"/>
            <p:cNvSpPr txBox="1">
              <a:spLocks noChangeArrowheads="1"/>
            </p:cNvSpPr>
            <p:nvPr/>
          </p:nvSpPr>
          <p:spPr bwMode="auto">
            <a:xfrm>
              <a:off x="5486400" y="3073400"/>
              <a:ext cx="685800" cy="457200"/>
            </a:xfrm>
            <a:prstGeom prst="rect">
              <a:avLst/>
            </a:prstGeom>
            <a:noFill/>
            <a:ln w="9525">
              <a:noFill/>
              <a:miter lim="800000"/>
              <a:headEnd/>
              <a:tailEnd/>
            </a:ln>
          </p:spPr>
          <p:txBody>
            <a:bodyPr>
              <a:spAutoFit/>
            </a:bodyPr>
            <a:lstStyle/>
            <a:p>
              <a:pPr>
                <a:spcBef>
                  <a:spcPct val="50000"/>
                </a:spcBef>
              </a:pPr>
              <a:r>
                <a:rPr lang="en-US"/>
                <a:t>R</a:t>
              </a:r>
            </a:p>
          </p:txBody>
        </p:sp>
        <p:sp>
          <p:nvSpPr>
            <p:cNvPr id="69703" name="Text Box 71"/>
            <p:cNvSpPr txBox="1">
              <a:spLocks noChangeArrowheads="1"/>
            </p:cNvSpPr>
            <p:nvPr/>
          </p:nvSpPr>
          <p:spPr bwMode="auto">
            <a:xfrm>
              <a:off x="2971800" y="3073400"/>
              <a:ext cx="685800" cy="457200"/>
            </a:xfrm>
            <a:prstGeom prst="rect">
              <a:avLst/>
            </a:prstGeom>
            <a:noFill/>
            <a:ln w="9525">
              <a:noFill/>
              <a:miter lim="800000"/>
              <a:headEnd/>
              <a:tailEnd/>
            </a:ln>
          </p:spPr>
          <p:txBody>
            <a:bodyPr>
              <a:spAutoFit/>
            </a:bodyPr>
            <a:lstStyle/>
            <a:p>
              <a:pPr>
                <a:spcBef>
                  <a:spcPct val="50000"/>
                </a:spcBef>
              </a:pPr>
              <a:r>
                <a:rPr lang="en-US"/>
                <a:t>L</a:t>
              </a:r>
            </a:p>
          </p:txBody>
        </p:sp>
        <p:sp>
          <p:nvSpPr>
            <p:cNvPr id="69705" name="Text Box 73"/>
            <p:cNvSpPr txBox="1">
              <a:spLocks noChangeArrowheads="1"/>
            </p:cNvSpPr>
            <p:nvPr/>
          </p:nvSpPr>
          <p:spPr bwMode="auto">
            <a:xfrm>
              <a:off x="2921000" y="2514600"/>
              <a:ext cx="685800" cy="457200"/>
            </a:xfrm>
            <a:prstGeom prst="rect">
              <a:avLst/>
            </a:prstGeom>
            <a:noFill/>
            <a:ln w="9525">
              <a:noFill/>
              <a:miter lim="800000"/>
              <a:headEnd/>
              <a:tailEnd/>
            </a:ln>
          </p:spPr>
          <p:txBody>
            <a:bodyPr>
              <a:spAutoFit/>
            </a:bodyPr>
            <a:lstStyle/>
            <a:p>
              <a:pPr>
                <a:spcBef>
                  <a:spcPct val="50000"/>
                </a:spcBef>
              </a:pPr>
              <a:r>
                <a:rPr lang="en-US">
                  <a:solidFill>
                    <a:srgbClr val="FF0000"/>
                  </a:solidFill>
                </a:rPr>
                <a:t>3</a:t>
              </a:r>
              <a:r>
                <a:rPr lang="bg-BG">
                  <a:solidFill>
                    <a:srgbClr val="FF0000"/>
                  </a:solidFill>
                </a:rPr>
                <a:t>0</a:t>
              </a:r>
              <a:endParaRPr lang="en-US">
                <a:solidFill>
                  <a:srgbClr val="FF0000"/>
                </a:solidFill>
              </a:endParaRPr>
            </a:p>
          </p:txBody>
        </p:sp>
      </p:grpSp>
      <p:grpSp>
        <p:nvGrpSpPr>
          <p:cNvPr id="79" name="Group 78"/>
          <p:cNvGrpSpPr/>
          <p:nvPr/>
        </p:nvGrpSpPr>
        <p:grpSpPr>
          <a:xfrm>
            <a:off x="25400" y="3617152"/>
            <a:ext cx="9067800" cy="2413000"/>
            <a:chOff x="25400" y="3759200"/>
            <a:chExt cx="9067800" cy="2413000"/>
          </a:xfrm>
        </p:grpSpPr>
        <p:sp>
          <p:nvSpPr>
            <p:cNvPr id="69658" name="Rectangle 26"/>
            <p:cNvSpPr>
              <a:spLocks noChangeArrowheads="1"/>
            </p:cNvSpPr>
            <p:nvPr/>
          </p:nvSpPr>
          <p:spPr bwMode="auto">
            <a:xfrm>
              <a:off x="3276600" y="43434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59" name="Line 27"/>
            <p:cNvSpPr>
              <a:spLocks noChangeShapeType="1"/>
            </p:cNvSpPr>
            <p:nvPr/>
          </p:nvSpPr>
          <p:spPr bwMode="auto">
            <a:xfrm>
              <a:off x="4368800" y="4343400"/>
              <a:ext cx="0" cy="457200"/>
            </a:xfrm>
            <a:prstGeom prst="line">
              <a:avLst/>
            </a:prstGeom>
            <a:noFill/>
            <a:ln w="9525">
              <a:solidFill>
                <a:schemeClr val="tx1"/>
              </a:solidFill>
              <a:round/>
              <a:headEnd/>
              <a:tailEnd/>
            </a:ln>
          </p:spPr>
          <p:txBody>
            <a:bodyPr wrap="none" anchor="ctr"/>
            <a:lstStyle/>
            <a:p>
              <a:endParaRPr lang="bg-BG"/>
            </a:p>
          </p:txBody>
        </p:sp>
        <p:sp>
          <p:nvSpPr>
            <p:cNvPr id="69660" name="Line 28"/>
            <p:cNvSpPr>
              <a:spLocks noChangeShapeType="1"/>
            </p:cNvSpPr>
            <p:nvPr/>
          </p:nvSpPr>
          <p:spPr bwMode="auto">
            <a:xfrm>
              <a:off x="3810000" y="4343400"/>
              <a:ext cx="0" cy="457200"/>
            </a:xfrm>
            <a:prstGeom prst="line">
              <a:avLst/>
            </a:prstGeom>
            <a:noFill/>
            <a:ln w="9525">
              <a:solidFill>
                <a:schemeClr val="tx1"/>
              </a:solidFill>
              <a:round/>
              <a:headEnd/>
              <a:tailEnd/>
            </a:ln>
          </p:spPr>
          <p:txBody>
            <a:bodyPr wrap="none" anchor="ctr"/>
            <a:lstStyle/>
            <a:p>
              <a:endParaRPr lang="bg-BG"/>
            </a:p>
          </p:txBody>
        </p:sp>
        <p:sp>
          <p:nvSpPr>
            <p:cNvPr id="69661" name="Line 29"/>
            <p:cNvSpPr>
              <a:spLocks noChangeShapeType="1"/>
            </p:cNvSpPr>
            <p:nvPr/>
          </p:nvSpPr>
          <p:spPr bwMode="auto">
            <a:xfrm>
              <a:off x="4927600" y="4343400"/>
              <a:ext cx="0" cy="457200"/>
            </a:xfrm>
            <a:prstGeom prst="line">
              <a:avLst/>
            </a:prstGeom>
            <a:noFill/>
            <a:ln w="9525">
              <a:solidFill>
                <a:schemeClr val="tx1"/>
              </a:solidFill>
              <a:round/>
              <a:headEnd/>
              <a:tailEnd/>
            </a:ln>
          </p:spPr>
          <p:txBody>
            <a:bodyPr wrap="none" anchor="ctr"/>
            <a:lstStyle/>
            <a:p>
              <a:endParaRPr lang="bg-BG"/>
            </a:p>
          </p:txBody>
        </p:sp>
        <p:sp>
          <p:nvSpPr>
            <p:cNvPr id="69662" name="Rectangle 30"/>
            <p:cNvSpPr>
              <a:spLocks noChangeArrowheads="1"/>
            </p:cNvSpPr>
            <p:nvPr/>
          </p:nvSpPr>
          <p:spPr bwMode="auto">
            <a:xfrm>
              <a:off x="3276600" y="51054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63" name="Rectangle 31"/>
            <p:cNvSpPr>
              <a:spLocks noChangeArrowheads="1"/>
            </p:cNvSpPr>
            <p:nvPr/>
          </p:nvSpPr>
          <p:spPr bwMode="auto">
            <a:xfrm>
              <a:off x="6883400" y="51308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64" name="Rectangle 32"/>
            <p:cNvSpPr>
              <a:spLocks noChangeArrowheads="1"/>
            </p:cNvSpPr>
            <p:nvPr/>
          </p:nvSpPr>
          <p:spPr bwMode="auto">
            <a:xfrm>
              <a:off x="25400" y="5130800"/>
              <a:ext cx="2209800" cy="457200"/>
            </a:xfrm>
            <a:prstGeom prst="rect">
              <a:avLst/>
            </a:prstGeom>
            <a:noFill/>
            <a:ln w="9525">
              <a:solidFill>
                <a:schemeClr val="tx1"/>
              </a:solidFill>
              <a:miter lim="800000"/>
              <a:headEnd/>
              <a:tailEnd/>
            </a:ln>
          </p:spPr>
          <p:txBody>
            <a:bodyPr wrap="none" anchor="ctr"/>
            <a:lstStyle/>
            <a:p>
              <a:endParaRPr lang="bg-BG"/>
            </a:p>
          </p:txBody>
        </p:sp>
        <p:sp>
          <p:nvSpPr>
            <p:cNvPr id="69665" name="Line 33"/>
            <p:cNvSpPr>
              <a:spLocks noChangeShapeType="1"/>
            </p:cNvSpPr>
            <p:nvPr/>
          </p:nvSpPr>
          <p:spPr bwMode="auto">
            <a:xfrm>
              <a:off x="4368800" y="5105400"/>
              <a:ext cx="0" cy="457200"/>
            </a:xfrm>
            <a:prstGeom prst="line">
              <a:avLst/>
            </a:prstGeom>
            <a:noFill/>
            <a:ln w="9525">
              <a:solidFill>
                <a:schemeClr val="tx1"/>
              </a:solidFill>
              <a:round/>
              <a:headEnd/>
              <a:tailEnd/>
            </a:ln>
          </p:spPr>
          <p:txBody>
            <a:bodyPr wrap="none" anchor="ctr"/>
            <a:lstStyle/>
            <a:p>
              <a:endParaRPr lang="bg-BG"/>
            </a:p>
          </p:txBody>
        </p:sp>
        <p:sp>
          <p:nvSpPr>
            <p:cNvPr id="69666" name="Line 34"/>
            <p:cNvSpPr>
              <a:spLocks noChangeShapeType="1"/>
            </p:cNvSpPr>
            <p:nvPr/>
          </p:nvSpPr>
          <p:spPr bwMode="auto">
            <a:xfrm>
              <a:off x="4953000" y="5105400"/>
              <a:ext cx="0" cy="457200"/>
            </a:xfrm>
            <a:prstGeom prst="line">
              <a:avLst/>
            </a:prstGeom>
            <a:noFill/>
            <a:ln w="9525">
              <a:solidFill>
                <a:schemeClr val="tx1"/>
              </a:solidFill>
              <a:round/>
              <a:headEnd/>
              <a:tailEnd/>
            </a:ln>
          </p:spPr>
          <p:txBody>
            <a:bodyPr wrap="none" anchor="ctr"/>
            <a:lstStyle/>
            <a:p>
              <a:endParaRPr lang="bg-BG"/>
            </a:p>
          </p:txBody>
        </p:sp>
        <p:sp>
          <p:nvSpPr>
            <p:cNvPr id="69667" name="Line 35"/>
            <p:cNvSpPr>
              <a:spLocks noChangeShapeType="1"/>
            </p:cNvSpPr>
            <p:nvPr/>
          </p:nvSpPr>
          <p:spPr bwMode="auto">
            <a:xfrm>
              <a:off x="8001000" y="5130800"/>
              <a:ext cx="0" cy="457200"/>
            </a:xfrm>
            <a:prstGeom prst="line">
              <a:avLst/>
            </a:prstGeom>
            <a:noFill/>
            <a:ln w="9525">
              <a:solidFill>
                <a:schemeClr val="tx1"/>
              </a:solidFill>
              <a:round/>
              <a:headEnd/>
              <a:tailEnd/>
            </a:ln>
          </p:spPr>
          <p:txBody>
            <a:bodyPr wrap="none" anchor="ctr"/>
            <a:lstStyle/>
            <a:p>
              <a:endParaRPr lang="bg-BG"/>
            </a:p>
          </p:txBody>
        </p:sp>
        <p:sp>
          <p:nvSpPr>
            <p:cNvPr id="69668" name="Line 36"/>
            <p:cNvSpPr>
              <a:spLocks noChangeShapeType="1"/>
            </p:cNvSpPr>
            <p:nvPr/>
          </p:nvSpPr>
          <p:spPr bwMode="auto">
            <a:xfrm>
              <a:off x="3810000" y="5105400"/>
              <a:ext cx="0" cy="457200"/>
            </a:xfrm>
            <a:prstGeom prst="line">
              <a:avLst/>
            </a:prstGeom>
            <a:noFill/>
            <a:ln w="9525">
              <a:solidFill>
                <a:schemeClr val="tx1"/>
              </a:solidFill>
              <a:round/>
              <a:headEnd/>
              <a:tailEnd/>
            </a:ln>
          </p:spPr>
          <p:txBody>
            <a:bodyPr wrap="none" anchor="ctr"/>
            <a:lstStyle/>
            <a:p>
              <a:endParaRPr lang="bg-BG"/>
            </a:p>
          </p:txBody>
        </p:sp>
        <p:sp>
          <p:nvSpPr>
            <p:cNvPr id="69669" name="Line 37"/>
            <p:cNvSpPr>
              <a:spLocks noChangeShapeType="1"/>
            </p:cNvSpPr>
            <p:nvPr/>
          </p:nvSpPr>
          <p:spPr bwMode="auto">
            <a:xfrm>
              <a:off x="635000" y="5130800"/>
              <a:ext cx="0" cy="457200"/>
            </a:xfrm>
            <a:prstGeom prst="line">
              <a:avLst/>
            </a:prstGeom>
            <a:noFill/>
            <a:ln w="9525">
              <a:solidFill>
                <a:schemeClr val="tx1"/>
              </a:solidFill>
              <a:round/>
              <a:headEnd/>
              <a:tailEnd/>
            </a:ln>
          </p:spPr>
          <p:txBody>
            <a:bodyPr wrap="none" anchor="ctr"/>
            <a:lstStyle/>
            <a:p>
              <a:endParaRPr lang="bg-BG"/>
            </a:p>
          </p:txBody>
        </p:sp>
        <p:sp>
          <p:nvSpPr>
            <p:cNvPr id="69670" name="Line 38"/>
            <p:cNvSpPr>
              <a:spLocks noChangeShapeType="1"/>
            </p:cNvSpPr>
            <p:nvPr/>
          </p:nvSpPr>
          <p:spPr bwMode="auto">
            <a:xfrm>
              <a:off x="1727200" y="5130800"/>
              <a:ext cx="0" cy="457200"/>
            </a:xfrm>
            <a:prstGeom prst="line">
              <a:avLst/>
            </a:prstGeom>
            <a:noFill/>
            <a:ln w="9525">
              <a:solidFill>
                <a:schemeClr val="tx1"/>
              </a:solidFill>
              <a:round/>
              <a:headEnd/>
              <a:tailEnd/>
            </a:ln>
          </p:spPr>
          <p:txBody>
            <a:bodyPr wrap="none" anchor="ctr"/>
            <a:lstStyle/>
            <a:p>
              <a:endParaRPr lang="bg-BG"/>
            </a:p>
          </p:txBody>
        </p:sp>
        <p:sp>
          <p:nvSpPr>
            <p:cNvPr id="69671" name="Line 39"/>
            <p:cNvSpPr>
              <a:spLocks noChangeShapeType="1"/>
            </p:cNvSpPr>
            <p:nvPr/>
          </p:nvSpPr>
          <p:spPr bwMode="auto">
            <a:xfrm>
              <a:off x="1193800" y="5156200"/>
              <a:ext cx="0" cy="457200"/>
            </a:xfrm>
            <a:prstGeom prst="line">
              <a:avLst/>
            </a:prstGeom>
            <a:noFill/>
            <a:ln w="9525">
              <a:solidFill>
                <a:schemeClr val="tx1"/>
              </a:solidFill>
              <a:round/>
              <a:headEnd/>
              <a:tailEnd/>
            </a:ln>
          </p:spPr>
          <p:txBody>
            <a:bodyPr wrap="none" anchor="ctr"/>
            <a:lstStyle/>
            <a:p>
              <a:endParaRPr lang="bg-BG"/>
            </a:p>
          </p:txBody>
        </p:sp>
        <p:sp>
          <p:nvSpPr>
            <p:cNvPr id="69672" name="Line 40"/>
            <p:cNvSpPr>
              <a:spLocks noChangeShapeType="1"/>
            </p:cNvSpPr>
            <p:nvPr/>
          </p:nvSpPr>
          <p:spPr bwMode="auto">
            <a:xfrm>
              <a:off x="8559800" y="5130800"/>
              <a:ext cx="0" cy="457200"/>
            </a:xfrm>
            <a:prstGeom prst="line">
              <a:avLst/>
            </a:prstGeom>
            <a:noFill/>
            <a:ln w="9525">
              <a:solidFill>
                <a:schemeClr val="tx1"/>
              </a:solidFill>
              <a:round/>
              <a:headEnd/>
              <a:tailEnd/>
            </a:ln>
          </p:spPr>
          <p:txBody>
            <a:bodyPr wrap="none" anchor="ctr"/>
            <a:lstStyle/>
            <a:p>
              <a:endParaRPr lang="bg-BG"/>
            </a:p>
          </p:txBody>
        </p:sp>
        <p:sp>
          <p:nvSpPr>
            <p:cNvPr id="69673" name="Line 41"/>
            <p:cNvSpPr>
              <a:spLocks noChangeShapeType="1"/>
            </p:cNvSpPr>
            <p:nvPr/>
          </p:nvSpPr>
          <p:spPr bwMode="auto">
            <a:xfrm>
              <a:off x="7442200" y="5130800"/>
              <a:ext cx="0" cy="457200"/>
            </a:xfrm>
            <a:prstGeom prst="line">
              <a:avLst/>
            </a:prstGeom>
            <a:noFill/>
            <a:ln w="9525">
              <a:solidFill>
                <a:schemeClr val="tx1"/>
              </a:solidFill>
              <a:round/>
              <a:headEnd/>
              <a:tailEnd/>
            </a:ln>
          </p:spPr>
          <p:txBody>
            <a:bodyPr wrap="none" anchor="ctr"/>
            <a:lstStyle/>
            <a:p>
              <a:endParaRPr lang="bg-BG"/>
            </a:p>
          </p:txBody>
        </p:sp>
        <p:sp>
          <p:nvSpPr>
            <p:cNvPr id="69674" name="Line 42"/>
            <p:cNvSpPr>
              <a:spLocks noChangeShapeType="1"/>
            </p:cNvSpPr>
            <p:nvPr/>
          </p:nvSpPr>
          <p:spPr bwMode="auto">
            <a:xfrm>
              <a:off x="4368800" y="39624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69682" name="Text Box 50"/>
            <p:cNvSpPr txBox="1">
              <a:spLocks noChangeArrowheads="1"/>
            </p:cNvSpPr>
            <p:nvPr/>
          </p:nvSpPr>
          <p:spPr bwMode="auto">
            <a:xfrm>
              <a:off x="3302000" y="43434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69691" name="Text Box 59"/>
            <p:cNvSpPr txBox="1">
              <a:spLocks noChangeArrowheads="1"/>
            </p:cNvSpPr>
            <p:nvPr/>
          </p:nvSpPr>
          <p:spPr bwMode="auto">
            <a:xfrm>
              <a:off x="76200" y="5156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sp>
          <p:nvSpPr>
            <p:cNvPr id="69692" name="Text Box 60"/>
            <p:cNvSpPr txBox="1">
              <a:spLocks noChangeArrowheads="1"/>
            </p:cNvSpPr>
            <p:nvPr/>
          </p:nvSpPr>
          <p:spPr bwMode="auto">
            <a:xfrm>
              <a:off x="660400" y="5156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69693" name="Text Box 61"/>
            <p:cNvSpPr txBox="1">
              <a:spLocks noChangeArrowheads="1"/>
            </p:cNvSpPr>
            <p:nvPr/>
          </p:nvSpPr>
          <p:spPr bwMode="auto">
            <a:xfrm>
              <a:off x="3810000" y="51308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69694" name="Text Box 62"/>
            <p:cNvSpPr txBox="1">
              <a:spLocks noChangeArrowheads="1"/>
            </p:cNvSpPr>
            <p:nvPr/>
          </p:nvSpPr>
          <p:spPr bwMode="auto">
            <a:xfrm>
              <a:off x="3810000" y="43434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69695" name="Text Box 63"/>
            <p:cNvSpPr txBox="1">
              <a:spLocks noChangeArrowheads="1"/>
            </p:cNvSpPr>
            <p:nvPr/>
          </p:nvSpPr>
          <p:spPr bwMode="auto">
            <a:xfrm>
              <a:off x="4495800" y="3759200"/>
              <a:ext cx="685800" cy="457200"/>
            </a:xfrm>
            <a:prstGeom prst="rect">
              <a:avLst/>
            </a:prstGeom>
            <a:noFill/>
            <a:ln w="9525">
              <a:noFill/>
              <a:miter lim="800000"/>
              <a:headEnd/>
              <a:tailEnd/>
            </a:ln>
          </p:spPr>
          <p:txBody>
            <a:bodyPr>
              <a:spAutoFit/>
            </a:bodyPr>
            <a:lstStyle/>
            <a:p>
              <a:pPr>
                <a:spcBef>
                  <a:spcPct val="50000"/>
                </a:spcBef>
              </a:pPr>
              <a:r>
                <a:rPr lang="en-US"/>
                <a:t>Р</a:t>
              </a:r>
            </a:p>
          </p:txBody>
        </p:sp>
        <p:sp>
          <p:nvSpPr>
            <p:cNvPr id="69696" name="Text Box 64"/>
            <p:cNvSpPr txBox="1">
              <a:spLocks noChangeArrowheads="1"/>
            </p:cNvSpPr>
            <p:nvPr/>
          </p:nvSpPr>
          <p:spPr bwMode="auto">
            <a:xfrm>
              <a:off x="4419600" y="51308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69697" name="Text Box 65"/>
            <p:cNvSpPr txBox="1">
              <a:spLocks noChangeArrowheads="1"/>
            </p:cNvSpPr>
            <p:nvPr/>
          </p:nvSpPr>
          <p:spPr bwMode="auto">
            <a:xfrm>
              <a:off x="6908800" y="5156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69698" name="Text Box 66"/>
            <p:cNvSpPr txBox="1">
              <a:spLocks noChangeArrowheads="1"/>
            </p:cNvSpPr>
            <p:nvPr/>
          </p:nvSpPr>
          <p:spPr bwMode="auto">
            <a:xfrm>
              <a:off x="7467600" y="51308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69699" name="Line 67"/>
            <p:cNvSpPr>
              <a:spLocks noChangeShapeType="1"/>
            </p:cNvSpPr>
            <p:nvPr/>
          </p:nvSpPr>
          <p:spPr bwMode="auto">
            <a:xfrm flipH="1">
              <a:off x="1066800" y="48006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69700" name="Line 68"/>
            <p:cNvSpPr>
              <a:spLocks noChangeShapeType="1"/>
            </p:cNvSpPr>
            <p:nvPr/>
          </p:nvSpPr>
          <p:spPr bwMode="auto">
            <a:xfrm>
              <a:off x="4284663" y="4797425"/>
              <a:ext cx="2592387" cy="360363"/>
            </a:xfrm>
            <a:prstGeom prst="line">
              <a:avLst/>
            </a:prstGeom>
            <a:noFill/>
            <a:ln w="9525">
              <a:solidFill>
                <a:schemeClr val="tx1"/>
              </a:solidFill>
              <a:round/>
              <a:headEnd/>
              <a:tailEnd type="triangle" w="med" len="med"/>
            </a:ln>
          </p:spPr>
          <p:txBody>
            <a:bodyPr wrap="none" anchor="ctr"/>
            <a:lstStyle/>
            <a:p>
              <a:endParaRPr lang="bg-BG"/>
            </a:p>
          </p:txBody>
        </p:sp>
        <p:sp>
          <p:nvSpPr>
            <p:cNvPr id="69701" name="Text Box 69"/>
            <p:cNvSpPr txBox="1">
              <a:spLocks noChangeArrowheads="1"/>
            </p:cNvSpPr>
            <p:nvPr/>
          </p:nvSpPr>
          <p:spPr bwMode="auto">
            <a:xfrm>
              <a:off x="4267200" y="5715000"/>
              <a:ext cx="685800" cy="457200"/>
            </a:xfrm>
            <a:prstGeom prst="rect">
              <a:avLst/>
            </a:prstGeom>
            <a:noFill/>
            <a:ln w="9525">
              <a:noFill/>
              <a:miter lim="800000"/>
              <a:headEnd/>
              <a:tailEnd/>
            </a:ln>
          </p:spPr>
          <p:txBody>
            <a:bodyPr>
              <a:spAutoFit/>
            </a:bodyPr>
            <a:lstStyle/>
            <a:p>
              <a:pPr>
                <a:spcBef>
                  <a:spcPct val="50000"/>
                </a:spcBef>
              </a:pPr>
              <a:r>
                <a:rPr lang="en-US"/>
                <a:t>L</a:t>
              </a:r>
            </a:p>
          </p:txBody>
        </p:sp>
        <p:sp>
          <p:nvSpPr>
            <p:cNvPr id="69706" name="Text Box 74"/>
            <p:cNvSpPr txBox="1">
              <a:spLocks noChangeArrowheads="1"/>
            </p:cNvSpPr>
            <p:nvPr/>
          </p:nvSpPr>
          <p:spPr bwMode="auto">
            <a:xfrm>
              <a:off x="4978400" y="5130800"/>
              <a:ext cx="762000" cy="457200"/>
            </a:xfrm>
            <a:prstGeom prst="rect">
              <a:avLst/>
            </a:prstGeom>
            <a:noFill/>
            <a:ln w="9525">
              <a:noFill/>
              <a:miter lim="800000"/>
              <a:headEnd/>
              <a:tailEnd/>
            </a:ln>
          </p:spPr>
          <p:txBody>
            <a:bodyPr>
              <a:spAutoFit/>
            </a:bodyPr>
            <a:lstStyle/>
            <a:p>
              <a:pPr>
                <a:spcBef>
                  <a:spcPct val="50000"/>
                </a:spcBef>
              </a:pPr>
              <a:r>
                <a:rPr lang="en-US"/>
                <a:t>3</a:t>
              </a:r>
              <a:r>
                <a:rPr lang="bg-BG"/>
                <a:t>8</a:t>
              </a:r>
              <a:endParaRPr lang="en-US"/>
            </a:p>
          </p:txBody>
        </p:sp>
        <p:sp>
          <p:nvSpPr>
            <p:cNvPr id="69707" name="Text Box 75"/>
            <p:cNvSpPr txBox="1">
              <a:spLocks noChangeArrowheads="1"/>
            </p:cNvSpPr>
            <p:nvPr/>
          </p:nvSpPr>
          <p:spPr bwMode="auto">
            <a:xfrm>
              <a:off x="3302000" y="5130800"/>
              <a:ext cx="762000" cy="457200"/>
            </a:xfrm>
            <a:prstGeom prst="rect">
              <a:avLst/>
            </a:prstGeom>
            <a:noFill/>
            <a:ln w="9525">
              <a:noFill/>
              <a:miter lim="800000"/>
              <a:headEnd/>
              <a:tailEnd/>
            </a:ln>
          </p:spPr>
          <p:txBody>
            <a:bodyPr>
              <a:spAutoFit/>
            </a:bodyPr>
            <a:lstStyle/>
            <a:p>
              <a:pPr>
                <a:spcBef>
                  <a:spcPct val="50000"/>
                </a:spcBef>
              </a:pPr>
              <a:r>
                <a:rPr lang="bg-BG"/>
                <a:t>25</a:t>
              </a:r>
              <a:endParaRPr lang="en-US"/>
            </a:p>
          </p:txBody>
        </p:sp>
        <p:sp>
          <p:nvSpPr>
            <p:cNvPr id="69708" name="Line 76"/>
            <p:cNvSpPr>
              <a:spLocks noChangeShapeType="1"/>
            </p:cNvSpPr>
            <p:nvPr/>
          </p:nvSpPr>
          <p:spPr bwMode="auto">
            <a:xfrm flipH="1">
              <a:off x="3276600" y="4797425"/>
              <a:ext cx="574675" cy="287338"/>
            </a:xfrm>
            <a:prstGeom prst="line">
              <a:avLst/>
            </a:prstGeom>
            <a:noFill/>
            <a:ln w="9525">
              <a:solidFill>
                <a:schemeClr val="tx1"/>
              </a:solidFill>
              <a:round/>
              <a:headEnd/>
              <a:tailEnd type="triangle" w="med" len="med"/>
            </a:ln>
          </p:spPr>
          <p:txBody>
            <a:bodyPr wrap="none" anchor="ctr"/>
            <a:lstStyle/>
            <a:p>
              <a:endParaRPr lang="bg-BG"/>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1043608" y="548680"/>
            <a:ext cx="7772400" cy="5638800"/>
          </a:xfrm>
        </p:spPr>
        <p:txBody>
          <a:bodyPr/>
          <a:lstStyle/>
          <a:p>
            <a:pPr eaLnBrk="1" fontAlgn="auto" hangingPunct="1">
              <a:spcAft>
                <a:spcPts val="0"/>
              </a:spcAft>
              <a:defRPr/>
            </a:pPr>
            <a:r>
              <a:rPr lang="en-US" sz="2400">
                <a:solidFill>
                  <a:schemeClr val="tx1"/>
                </a:solidFill>
              </a:rPr>
              <a:t>	В</a:t>
            </a:r>
            <a:r>
              <a:rPr lang="bg-BG" sz="2400">
                <a:solidFill>
                  <a:schemeClr val="tx1"/>
                </a:solidFill>
              </a:rPr>
              <a:t>-дървета са идеално балансирани, височината им </a:t>
            </a:r>
            <a:r>
              <a:rPr lang="en-US" sz="2400">
                <a:solidFill>
                  <a:schemeClr val="tx1"/>
                </a:solidFill>
              </a:rPr>
              <a:t>h </a:t>
            </a:r>
            <a:r>
              <a:rPr lang="bg-BG" sz="2400">
                <a:solidFill>
                  <a:schemeClr val="tx1"/>
                </a:solidFill>
              </a:rPr>
              <a:t>е най-много:</a:t>
            </a:r>
            <a:br>
              <a:rPr lang="bg-BG" sz="2400">
                <a:solidFill>
                  <a:schemeClr val="tx1"/>
                </a:solidFill>
              </a:rPr>
            </a:br>
            <a:r>
              <a:rPr lang="en-US" sz="2400">
                <a:solidFill>
                  <a:schemeClr val="tx1"/>
                </a:solidFill>
              </a:rPr>
              <a:t>		</a:t>
            </a:r>
            <a:r>
              <a:rPr lang="bg-BG" sz="2400">
                <a:solidFill>
                  <a:schemeClr val="tx1"/>
                </a:solidFill>
              </a:rPr>
              <a:t>      </a:t>
            </a:r>
            <a:r>
              <a:rPr lang="en-US" sz="2800">
                <a:solidFill>
                  <a:schemeClr val="tx1"/>
                </a:solidFill>
              </a:rPr>
              <a:t>h=log</a:t>
            </a:r>
            <a:r>
              <a:rPr lang="en-US" sz="2800" baseline="-25000">
                <a:solidFill>
                  <a:schemeClr val="tx1"/>
                </a:solidFill>
              </a:rPr>
              <a:t>[m/2]</a:t>
            </a:r>
            <a:r>
              <a:rPr lang="en-US" sz="2800">
                <a:solidFill>
                  <a:schemeClr val="tx1"/>
                </a:solidFill>
              </a:rPr>
              <a:t> ((V+1)/2)</a:t>
            </a:r>
            <a:br>
              <a:rPr lang="en-US" sz="2800">
                <a:solidFill>
                  <a:schemeClr val="tx1"/>
                </a:solidFill>
              </a:rPr>
            </a:br>
            <a:r>
              <a:rPr lang="bg-BG" sz="2800">
                <a:solidFill>
                  <a:schemeClr val="tx1"/>
                </a:solidFill>
              </a:rPr>
              <a:t/>
            </a:r>
            <a:br>
              <a:rPr lang="bg-BG" sz="2800">
                <a:solidFill>
                  <a:schemeClr val="tx1"/>
                </a:solidFill>
              </a:rPr>
            </a:br>
            <a:r>
              <a:rPr lang="bg-BG" sz="2400">
                <a:solidFill>
                  <a:schemeClr val="tx1"/>
                </a:solidFill>
              </a:rPr>
              <a:t>което при голямо </a:t>
            </a:r>
            <a:r>
              <a:rPr lang="en-US" sz="2400">
                <a:solidFill>
                  <a:schemeClr val="tx1"/>
                </a:solidFill>
              </a:rPr>
              <a:t>m </a:t>
            </a:r>
            <a:r>
              <a:rPr lang="bg-BG" sz="2400">
                <a:solidFill>
                  <a:schemeClr val="tx1"/>
                </a:solidFill>
              </a:rPr>
              <a:t>гарантира добра височина даже при огромно</a:t>
            </a:r>
            <a:r>
              <a:rPr lang="en-US" sz="2400">
                <a:solidFill>
                  <a:schemeClr val="tx1"/>
                </a:solidFill>
              </a:rPr>
              <a:t>  V</a:t>
            </a:r>
            <a:r>
              <a:rPr lang="bg-BG" sz="2400">
                <a:solidFill>
                  <a:schemeClr val="tx1"/>
                </a:solidFill>
              </a:rPr>
              <a:t>.</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t>
            </a:r>
            <a:r>
              <a:rPr lang="en-US" sz="2400">
                <a:solidFill>
                  <a:schemeClr val="tx1"/>
                </a:solidFill>
              </a:rPr>
              <a:t>m</a:t>
            </a:r>
            <a:r>
              <a:rPr lang="bg-BG" sz="2400">
                <a:solidFill>
                  <a:schemeClr val="tx1"/>
                </a:solidFill>
              </a:rPr>
              <a:t> - порядъка на В-дървото</a:t>
            </a:r>
            <a:br>
              <a:rPr lang="bg-BG" sz="2400">
                <a:solidFill>
                  <a:schemeClr val="tx1"/>
                </a:solidFill>
              </a:rPr>
            </a:br>
            <a:r>
              <a:rPr lang="en-US" sz="2400">
                <a:solidFill>
                  <a:schemeClr val="tx1"/>
                </a:solidFill>
              </a:rPr>
              <a:t>   </a:t>
            </a:r>
            <a:r>
              <a:rPr lang="bg-BG" sz="2400">
                <a:solidFill>
                  <a:schemeClr val="tx1"/>
                </a:solidFill>
              </a:rPr>
              <a:t> </a:t>
            </a:r>
            <a:r>
              <a:rPr lang="en-US" sz="2400">
                <a:solidFill>
                  <a:schemeClr val="tx1"/>
                </a:solidFill>
              </a:rPr>
              <a:t>V -</a:t>
            </a:r>
            <a:r>
              <a:rPr lang="bg-BG" sz="2400">
                <a:solidFill>
                  <a:schemeClr val="tx1"/>
                </a:solidFill>
              </a:rPr>
              <a:t> брой възли в него)</a:t>
            </a:r>
            <a:endParaRPr lang="en-US" sz="2400">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ChangeArrowheads="1"/>
          </p:cNvSpPr>
          <p:nvPr/>
        </p:nvSpPr>
        <p:spPr bwMode="auto">
          <a:xfrm>
            <a:off x="381000" y="457200"/>
            <a:ext cx="8458200" cy="6019800"/>
          </a:xfrm>
          <a:prstGeom prst="rect">
            <a:avLst/>
          </a:prstGeom>
          <a:noFill/>
          <a:ln w="9525">
            <a:noFill/>
            <a:miter lim="800000"/>
            <a:headEnd/>
            <a:tailEnd/>
          </a:ln>
        </p:spPr>
        <p:txBody>
          <a:bodyPr anchor="ctr"/>
          <a:lstStyle/>
          <a:p>
            <a:r>
              <a:rPr lang="bg-BG" sz="2800" smtClean="0"/>
              <a:t>Статично </a:t>
            </a:r>
            <a:r>
              <a:rPr lang="bg-BG" sz="2800"/>
              <a:t>представяне на В-дърво</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r>
              <a:rPr lang="bg-BG" sz="2800"/>
              <a:t/>
            </a:r>
            <a:br>
              <a:rPr lang="bg-BG" sz="2800"/>
            </a:br>
            <a:endParaRPr lang="en-US" sz="2800"/>
          </a:p>
        </p:txBody>
      </p:sp>
      <p:sp>
        <p:nvSpPr>
          <p:cNvPr id="2052" name="Rectangle 3"/>
          <p:cNvSpPr>
            <a:spLocks noChangeArrowheads="1"/>
          </p:cNvSpPr>
          <p:nvPr/>
        </p:nvSpPr>
        <p:spPr bwMode="auto">
          <a:xfrm>
            <a:off x="0" y="548680"/>
            <a:ext cx="8892480" cy="5638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en-US" sz="2200" smtClean="0">
                <a:solidFill>
                  <a:schemeClr val="tx2"/>
                </a:solidFill>
              </a:rPr>
              <a:t>		</a:t>
            </a:r>
            <a:r>
              <a:rPr lang="bg-BG" sz="2200" smtClean="0"/>
              <a:t>получаваме</a:t>
            </a:r>
            <a:r>
              <a:rPr lang="bg-BG" sz="2200" smtClean="0">
                <a:solidFill>
                  <a:schemeClr val="tx2"/>
                </a:solidFill>
              </a:rPr>
              <a:t> </a:t>
            </a: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en-US" sz="2200" smtClean="0">
                <a:solidFill>
                  <a:schemeClr val="tx2"/>
                </a:solidFill>
              </a:rPr>
              <a:t>    </a:t>
            </a:r>
            <a:r>
              <a:rPr lang="bg-BG" sz="2200" smtClean="0"/>
              <a:t>индекс </a:t>
            </a:r>
            <a:r>
              <a:rPr lang="bg-BG" sz="2200"/>
              <a:t/>
            </a:r>
            <a:br>
              <a:rPr lang="bg-BG" sz="2200"/>
            </a:br>
            <a:r>
              <a:rPr lang="en-US" sz="2200" smtClean="0"/>
              <a:t>  </a:t>
            </a:r>
            <a:r>
              <a:rPr lang="bg-BG" sz="2200" smtClean="0"/>
              <a:t>стойност</a:t>
            </a: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t>
            </a:r>
            <a:r>
              <a:rPr lang="en-US" sz="2200" smtClean="0"/>
              <a:t>	</a:t>
            </a:r>
            <a:r>
              <a:rPr lang="bg-BG" sz="2200" smtClean="0"/>
              <a:t>брой </a:t>
            </a:r>
            <a:r>
              <a:rPr lang="bg-BG" sz="2200"/>
              <a:t>ключови полета във възела</a:t>
            </a:r>
            <a:br>
              <a:rPr lang="bg-BG" sz="2200"/>
            </a:br>
            <a:r>
              <a:rPr lang="bg-BG" sz="2200"/>
              <a:t> </a:t>
            </a:r>
            <a:br>
              <a:rPr lang="bg-BG" sz="2200"/>
            </a:br>
            <a:r>
              <a:rPr lang="en-US" sz="2200" smtClean="0"/>
              <a:t>	</a:t>
            </a:r>
            <a:r>
              <a:rPr lang="bg-BG" sz="2200" smtClean="0"/>
              <a:t>За </a:t>
            </a:r>
            <a:r>
              <a:rPr lang="bg-BG" sz="2200"/>
              <a:t>В-дърво от </a:t>
            </a:r>
            <a:r>
              <a:rPr lang="en-US" sz="2200" b="1" i="1"/>
              <a:t>m</a:t>
            </a:r>
            <a:r>
              <a:rPr lang="en-US" sz="2200"/>
              <a:t>-</a:t>
            </a:r>
            <a:r>
              <a:rPr lang="bg-BG" sz="2200"/>
              <a:t>ти ред е необходима памет за </a:t>
            </a:r>
            <a:r>
              <a:rPr lang="en-US" sz="2200" b="1" i="1"/>
              <a:t>V*m</a:t>
            </a:r>
            <a:r>
              <a:rPr lang="en-US" sz="2200"/>
              <a:t>  </a:t>
            </a:r>
            <a:r>
              <a:rPr lang="bg-BG" sz="2200"/>
              <a:t>елемента</a:t>
            </a:r>
            <a:r>
              <a:rPr lang="bg-BG" sz="2200" smtClean="0"/>
              <a:t>.</a:t>
            </a:r>
            <a:r>
              <a:rPr lang="bg-BG" sz="2200"/>
              <a:t/>
            </a:r>
            <a:br>
              <a:rPr lang="bg-BG" sz="2200"/>
            </a:br>
            <a:r>
              <a:rPr lang="bg-BG" sz="2200"/>
              <a:t> </a:t>
            </a:r>
            <a:r>
              <a:rPr lang="en-US" sz="2200" smtClean="0"/>
              <a:t>	</a:t>
            </a:r>
            <a:r>
              <a:rPr lang="en-US" sz="2200" b="1" i="1" smtClean="0"/>
              <a:t>V</a:t>
            </a:r>
            <a:r>
              <a:rPr lang="en-US" sz="2200" smtClean="0"/>
              <a:t>- </a:t>
            </a:r>
            <a:r>
              <a:rPr lang="bg-BG" sz="2200"/>
              <a:t>брой възли в дървото. </a:t>
            </a:r>
            <a:endParaRPr lang="en-US" sz="2200"/>
          </a:p>
        </p:txBody>
      </p:sp>
      <p:sp>
        <p:nvSpPr>
          <p:cNvPr id="2053" name="Rectangle 4"/>
          <p:cNvSpPr>
            <a:spLocks noChangeArrowheads="1"/>
          </p:cNvSpPr>
          <p:nvPr/>
        </p:nvSpPr>
        <p:spPr bwMode="auto">
          <a:xfrm>
            <a:off x="457200" y="1905000"/>
            <a:ext cx="8077200" cy="6400800"/>
          </a:xfrm>
          <a:prstGeom prst="rect">
            <a:avLst/>
          </a:prstGeom>
          <a:noFill/>
          <a:ln w="9525">
            <a:noFill/>
            <a:miter lim="800000"/>
            <a:headEnd/>
            <a:tailEnd/>
          </a:ln>
        </p:spPr>
        <p:txBody>
          <a:bodyPr anchor="ctr"/>
          <a:lstStyle/>
          <a:p>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r>
              <a:rPr lang="bg-BG" sz="2200">
                <a:solidFill>
                  <a:schemeClr val="tx2"/>
                </a:solidFill>
              </a:rPr>
              <a:t/>
            </a:r>
            <a:br>
              <a:rPr lang="bg-BG" sz="2200">
                <a:solidFill>
                  <a:schemeClr val="tx2"/>
                </a:solidFill>
              </a:rPr>
            </a:br>
            <a:endParaRPr lang="en-US" sz="2200">
              <a:solidFill>
                <a:schemeClr val="tx2"/>
              </a:solidFill>
            </a:endParaRPr>
          </a:p>
        </p:txBody>
      </p:sp>
      <p:sp>
        <p:nvSpPr>
          <p:cNvPr id="2061" name="Rectangle 12"/>
          <p:cNvSpPr>
            <a:spLocks noChangeArrowheads="1"/>
          </p:cNvSpPr>
          <p:nvPr/>
        </p:nvSpPr>
        <p:spPr bwMode="auto">
          <a:xfrm>
            <a:off x="25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2082" name="Text Box 33"/>
          <p:cNvSpPr txBox="1">
            <a:spLocks noChangeArrowheads="1"/>
          </p:cNvSpPr>
          <p:nvPr/>
        </p:nvSpPr>
        <p:spPr bwMode="auto">
          <a:xfrm>
            <a:off x="508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0</a:t>
            </a:r>
            <a:endParaRPr lang="en-US"/>
          </a:p>
        </p:txBody>
      </p:sp>
      <p:grpSp>
        <p:nvGrpSpPr>
          <p:cNvPr id="44" name="Group 43"/>
          <p:cNvGrpSpPr/>
          <p:nvPr/>
        </p:nvGrpSpPr>
        <p:grpSpPr>
          <a:xfrm>
            <a:off x="584200" y="1320800"/>
            <a:ext cx="8509000" cy="1651000"/>
            <a:chOff x="584200" y="1320800"/>
            <a:chExt cx="8509000" cy="1651000"/>
          </a:xfrm>
        </p:grpSpPr>
        <p:sp>
          <p:nvSpPr>
            <p:cNvPr id="2054" name="Rectangle 5"/>
            <p:cNvSpPr>
              <a:spLocks noChangeArrowheads="1"/>
            </p:cNvSpPr>
            <p:nvPr/>
          </p:nvSpPr>
          <p:spPr bwMode="auto">
            <a:xfrm>
              <a:off x="3225800" y="1701800"/>
              <a:ext cx="2209800" cy="457200"/>
            </a:xfrm>
            <a:prstGeom prst="rect">
              <a:avLst/>
            </a:prstGeom>
            <a:noFill/>
            <a:ln w="9525">
              <a:solidFill>
                <a:schemeClr val="tx1"/>
              </a:solidFill>
              <a:miter lim="800000"/>
              <a:headEnd/>
              <a:tailEnd/>
            </a:ln>
          </p:spPr>
          <p:txBody>
            <a:bodyPr wrap="none" anchor="ctr"/>
            <a:lstStyle/>
            <a:p>
              <a:endParaRPr lang="bg-BG"/>
            </a:p>
          </p:txBody>
        </p:sp>
        <p:sp>
          <p:nvSpPr>
            <p:cNvPr id="2055" name="Line 6"/>
            <p:cNvSpPr>
              <a:spLocks noChangeShapeType="1"/>
            </p:cNvSpPr>
            <p:nvPr/>
          </p:nvSpPr>
          <p:spPr bwMode="auto">
            <a:xfrm>
              <a:off x="4318000" y="1701800"/>
              <a:ext cx="0" cy="457200"/>
            </a:xfrm>
            <a:prstGeom prst="line">
              <a:avLst/>
            </a:prstGeom>
            <a:noFill/>
            <a:ln w="9525">
              <a:solidFill>
                <a:schemeClr val="tx1"/>
              </a:solidFill>
              <a:round/>
              <a:headEnd/>
              <a:tailEnd/>
            </a:ln>
          </p:spPr>
          <p:txBody>
            <a:bodyPr wrap="none" anchor="ctr"/>
            <a:lstStyle/>
            <a:p>
              <a:endParaRPr lang="bg-BG"/>
            </a:p>
          </p:txBody>
        </p:sp>
        <p:sp>
          <p:nvSpPr>
            <p:cNvPr id="2056" name="Line 7"/>
            <p:cNvSpPr>
              <a:spLocks noChangeShapeType="1"/>
            </p:cNvSpPr>
            <p:nvPr/>
          </p:nvSpPr>
          <p:spPr bwMode="auto">
            <a:xfrm>
              <a:off x="3759200" y="1701800"/>
              <a:ext cx="0" cy="457200"/>
            </a:xfrm>
            <a:prstGeom prst="line">
              <a:avLst/>
            </a:prstGeom>
            <a:noFill/>
            <a:ln w="9525">
              <a:solidFill>
                <a:schemeClr val="tx1"/>
              </a:solidFill>
              <a:round/>
              <a:headEnd/>
              <a:tailEnd/>
            </a:ln>
          </p:spPr>
          <p:txBody>
            <a:bodyPr wrap="none" anchor="ctr"/>
            <a:lstStyle/>
            <a:p>
              <a:endParaRPr lang="bg-BG"/>
            </a:p>
          </p:txBody>
        </p:sp>
        <p:sp>
          <p:nvSpPr>
            <p:cNvPr id="2057" name="Line 8"/>
            <p:cNvSpPr>
              <a:spLocks noChangeShapeType="1"/>
            </p:cNvSpPr>
            <p:nvPr/>
          </p:nvSpPr>
          <p:spPr bwMode="auto">
            <a:xfrm>
              <a:off x="4876800" y="1701800"/>
              <a:ext cx="0" cy="457200"/>
            </a:xfrm>
            <a:prstGeom prst="line">
              <a:avLst/>
            </a:prstGeom>
            <a:noFill/>
            <a:ln w="9525">
              <a:solidFill>
                <a:schemeClr val="tx1"/>
              </a:solidFill>
              <a:round/>
              <a:headEnd/>
              <a:tailEnd/>
            </a:ln>
          </p:spPr>
          <p:txBody>
            <a:bodyPr wrap="none" anchor="ctr"/>
            <a:lstStyle/>
            <a:p>
              <a:endParaRPr lang="bg-BG"/>
            </a:p>
          </p:txBody>
        </p:sp>
        <p:sp>
          <p:nvSpPr>
            <p:cNvPr id="2058" name="Rectangle 9"/>
            <p:cNvSpPr>
              <a:spLocks noChangeArrowheads="1"/>
            </p:cNvSpPr>
            <p:nvPr/>
          </p:nvSpPr>
          <p:spPr bwMode="auto">
            <a:xfrm>
              <a:off x="4597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2059" name="Rectangle 10"/>
            <p:cNvSpPr>
              <a:spLocks noChangeArrowheads="1"/>
            </p:cNvSpPr>
            <p:nvPr/>
          </p:nvSpPr>
          <p:spPr bwMode="auto">
            <a:xfrm>
              <a:off x="6883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2060" name="Rectangle 11"/>
            <p:cNvSpPr>
              <a:spLocks noChangeArrowheads="1"/>
            </p:cNvSpPr>
            <p:nvPr/>
          </p:nvSpPr>
          <p:spPr bwMode="auto">
            <a:xfrm>
              <a:off x="2311400" y="2489200"/>
              <a:ext cx="2209800" cy="457200"/>
            </a:xfrm>
            <a:prstGeom prst="rect">
              <a:avLst/>
            </a:prstGeom>
            <a:noFill/>
            <a:ln w="9525">
              <a:solidFill>
                <a:schemeClr val="tx1"/>
              </a:solidFill>
              <a:miter lim="800000"/>
              <a:headEnd/>
              <a:tailEnd/>
            </a:ln>
          </p:spPr>
          <p:txBody>
            <a:bodyPr wrap="none" anchor="ctr"/>
            <a:lstStyle/>
            <a:p>
              <a:endParaRPr lang="bg-BG"/>
            </a:p>
          </p:txBody>
        </p:sp>
        <p:sp>
          <p:nvSpPr>
            <p:cNvPr id="2062" name="Line 13"/>
            <p:cNvSpPr>
              <a:spLocks noChangeShapeType="1"/>
            </p:cNvSpPr>
            <p:nvPr/>
          </p:nvSpPr>
          <p:spPr bwMode="auto">
            <a:xfrm>
              <a:off x="6248400" y="2489200"/>
              <a:ext cx="0" cy="457200"/>
            </a:xfrm>
            <a:prstGeom prst="line">
              <a:avLst/>
            </a:prstGeom>
            <a:noFill/>
            <a:ln w="9525">
              <a:solidFill>
                <a:schemeClr val="tx1"/>
              </a:solidFill>
              <a:round/>
              <a:headEnd/>
              <a:tailEnd/>
            </a:ln>
          </p:spPr>
          <p:txBody>
            <a:bodyPr wrap="none" anchor="ctr"/>
            <a:lstStyle/>
            <a:p>
              <a:endParaRPr lang="bg-BG"/>
            </a:p>
          </p:txBody>
        </p:sp>
        <p:sp>
          <p:nvSpPr>
            <p:cNvPr id="2063" name="Line 14"/>
            <p:cNvSpPr>
              <a:spLocks noChangeShapeType="1"/>
            </p:cNvSpPr>
            <p:nvPr/>
          </p:nvSpPr>
          <p:spPr bwMode="auto">
            <a:xfrm>
              <a:off x="5156200" y="2489200"/>
              <a:ext cx="0" cy="457200"/>
            </a:xfrm>
            <a:prstGeom prst="line">
              <a:avLst/>
            </a:prstGeom>
            <a:noFill/>
            <a:ln w="9525">
              <a:solidFill>
                <a:schemeClr val="tx1"/>
              </a:solidFill>
              <a:round/>
              <a:headEnd/>
              <a:tailEnd/>
            </a:ln>
          </p:spPr>
          <p:txBody>
            <a:bodyPr wrap="none" anchor="ctr"/>
            <a:lstStyle/>
            <a:p>
              <a:endParaRPr lang="bg-BG"/>
            </a:p>
          </p:txBody>
        </p:sp>
        <p:sp>
          <p:nvSpPr>
            <p:cNvPr id="2064" name="Line 15"/>
            <p:cNvSpPr>
              <a:spLocks noChangeShapeType="1"/>
            </p:cNvSpPr>
            <p:nvPr/>
          </p:nvSpPr>
          <p:spPr bwMode="auto">
            <a:xfrm>
              <a:off x="5689600" y="2489200"/>
              <a:ext cx="0" cy="457200"/>
            </a:xfrm>
            <a:prstGeom prst="line">
              <a:avLst/>
            </a:prstGeom>
            <a:noFill/>
            <a:ln w="9525">
              <a:solidFill>
                <a:schemeClr val="tx1"/>
              </a:solidFill>
              <a:round/>
              <a:headEnd/>
              <a:tailEnd/>
            </a:ln>
          </p:spPr>
          <p:txBody>
            <a:bodyPr wrap="none" anchor="ctr"/>
            <a:lstStyle/>
            <a:p>
              <a:endParaRPr lang="bg-BG"/>
            </a:p>
          </p:txBody>
        </p:sp>
        <p:sp>
          <p:nvSpPr>
            <p:cNvPr id="2065" name="Line 16"/>
            <p:cNvSpPr>
              <a:spLocks noChangeShapeType="1"/>
            </p:cNvSpPr>
            <p:nvPr/>
          </p:nvSpPr>
          <p:spPr bwMode="auto">
            <a:xfrm>
              <a:off x="3962400" y="2489200"/>
              <a:ext cx="0" cy="457200"/>
            </a:xfrm>
            <a:prstGeom prst="line">
              <a:avLst/>
            </a:prstGeom>
            <a:noFill/>
            <a:ln w="9525">
              <a:solidFill>
                <a:schemeClr val="tx1"/>
              </a:solidFill>
              <a:round/>
              <a:headEnd/>
              <a:tailEnd/>
            </a:ln>
          </p:spPr>
          <p:txBody>
            <a:bodyPr wrap="none" anchor="ctr"/>
            <a:lstStyle/>
            <a:p>
              <a:endParaRPr lang="bg-BG"/>
            </a:p>
          </p:txBody>
        </p:sp>
        <p:sp>
          <p:nvSpPr>
            <p:cNvPr id="2066" name="Line 17"/>
            <p:cNvSpPr>
              <a:spLocks noChangeShapeType="1"/>
            </p:cNvSpPr>
            <p:nvPr/>
          </p:nvSpPr>
          <p:spPr bwMode="auto">
            <a:xfrm>
              <a:off x="7950200" y="2489200"/>
              <a:ext cx="0" cy="457200"/>
            </a:xfrm>
            <a:prstGeom prst="line">
              <a:avLst/>
            </a:prstGeom>
            <a:noFill/>
            <a:ln w="9525">
              <a:solidFill>
                <a:schemeClr val="tx1"/>
              </a:solidFill>
              <a:round/>
              <a:headEnd/>
              <a:tailEnd/>
            </a:ln>
          </p:spPr>
          <p:txBody>
            <a:bodyPr wrap="none" anchor="ctr"/>
            <a:lstStyle/>
            <a:p>
              <a:endParaRPr lang="bg-BG"/>
            </a:p>
          </p:txBody>
        </p:sp>
        <p:sp>
          <p:nvSpPr>
            <p:cNvPr id="2067" name="Line 18"/>
            <p:cNvSpPr>
              <a:spLocks noChangeShapeType="1"/>
            </p:cNvSpPr>
            <p:nvPr/>
          </p:nvSpPr>
          <p:spPr bwMode="auto">
            <a:xfrm>
              <a:off x="2870200" y="2489200"/>
              <a:ext cx="0" cy="457200"/>
            </a:xfrm>
            <a:prstGeom prst="line">
              <a:avLst/>
            </a:prstGeom>
            <a:noFill/>
            <a:ln w="9525">
              <a:solidFill>
                <a:schemeClr val="tx1"/>
              </a:solidFill>
              <a:round/>
              <a:headEnd/>
              <a:tailEnd/>
            </a:ln>
          </p:spPr>
          <p:txBody>
            <a:bodyPr wrap="none" anchor="ctr"/>
            <a:lstStyle/>
            <a:p>
              <a:endParaRPr lang="bg-BG"/>
            </a:p>
          </p:txBody>
        </p:sp>
        <p:sp>
          <p:nvSpPr>
            <p:cNvPr id="2068" name="Line 19"/>
            <p:cNvSpPr>
              <a:spLocks noChangeShapeType="1"/>
            </p:cNvSpPr>
            <p:nvPr/>
          </p:nvSpPr>
          <p:spPr bwMode="auto">
            <a:xfrm>
              <a:off x="3429000" y="2489200"/>
              <a:ext cx="0" cy="457200"/>
            </a:xfrm>
            <a:prstGeom prst="line">
              <a:avLst/>
            </a:prstGeom>
            <a:noFill/>
            <a:ln w="9525">
              <a:solidFill>
                <a:schemeClr val="tx1"/>
              </a:solidFill>
              <a:round/>
              <a:headEnd/>
              <a:tailEnd/>
            </a:ln>
          </p:spPr>
          <p:txBody>
            <a:bodyPr wrap="none" anchor="ctr"/>
            <a:lstStyle/>
            <a:p>
              <a:endParaRPr lang="bg-BG"/>
            </a:p>
          </p:txBody>
        </p:sp>
        <p:sp>
          <p:nvSpPr>
            <p:cNvPr id="2069" name="Line 20"/>
            <p:cNvSpPr>
              <a:spLocks noChangeShapeType="1"/>
            </p:cNvSpPr>
            <p:nvPr/>
          </p:nvSpPr>
          <p:spPr bwMode="auto">
            <a:xfrm>
              <a:off x="584200" y="2489200"/>
              <a:ext cx="0" cy="457200"/>
            </a:xfrm>
            <a:prstGeom prst="line">
              <a:avLst/>
            </a:prstGeom>
            <a:noFill/>
            <a:ln w="9525">
              <a:solidFill>
                <a:schemeClr val="tx1"/>
              </a:solidFill>
              <a:round/>
              <a:headEnd/>
              <a:tailEnd/>
            </a:ln>
          </p:spPr>
          <p:txBody>
            <a:bodyPr wrap="none" anchor="ctr"/>
            <a:lstStyle/>
            <a:p>
              <a:endParaRPr lang="bg-BG"/>
            </a:p>
          </p:txBody>
        </p:sp>
        <p:sp>
          <p:nvSpPr>
            <p:cNvPr id="2070" name="Line 21"/>
            <p:cNvSpPr>
              <a:spLocks noChangeShapeType="1"/>
            </p:cNvSpPr>
            <p:nvPr/>
          </p:nvSpPr>
          <p:spPr bwMode="auto">
            <a:xfrm>
              <a:off x="1676400" y="2489200"/>
              <a:ext cx="0" cy="457200"/>
            </a:xfrm>
            <a:prstGeom prst="line">
              <a:avLst/>
            </a:prstGeom>
            <a:noFill/>
            <a:ln w="9525">
              <a:solidFill>
                <a:schemeClr val="tx1"/>
              </a:solidFill>
              <a:round/>
              <a:headEnd/>
              <a:tailEnd/>
            </a:ln>
          </p:spPr>
          <p:txBody>
            <a:bodyPr wrap="none" anchor="ctr"/>
            <a:lstStyle/>
            <a:p>
              <a:endParaRPr lang="bg-BG"/>
            </a:p>
          </p:txBody>
        </p:sp>
        <p:sp>
          <p:nvSpPr>
            <p:cNvPr id="2071" name="Line 22"/>
            <p:cNvSpPr>
              <a:spLocks noChangeShapeType="1"/>
            </p:cNvSpPr>
            <p:nvPr/>
          </p:nvSpPr>
          <p:spPr bwMode="auto">
            <a:xfrm>
              <a:off x="1143000" y="2514600"/>
              <a:ext cx="0" cy="457200"/>
            </a:xfrm>
            <a:prstGeom prst="line">
              <a:avLst/>
            </a:prstGeom>
            <a:noFill/>
            <a:ln w="9525">
              <a:solidFill>
                <a:schemeClr val="tx1"/>
              </a:solidFill>
              <a:round/>
              <a:headEnd/>
              <a:tailEnd/>
            </a:ln>
          </p:spPr>
          <p:txBody>
            <a:bodyPr wrap="none" anchor="ctr"/>
            <a:lstStyle/>
            <a:p>
              <a:endParaRPr lang="bg-BG"/>
            </a:p>
          </p:txBody>
        </p:sp>
        <p:sp>
          <p:nvSpPr>
            <p:cNvPr id="2072" name="Line 23"/>
            <p:cNvSpPr>
              <a:spLocks noChangeShapeType="1"/>
            </p:cNvSpPr>
            <p:nvPr/>
          </p:nvSpPr>
          <p:spPr bwMode="auto">
            <a:xfrm>
              <a:off x="8509000" y="2489200"/>
              <a:ext cx="0" cy="457200"/>
            </a:xfrm>
            <a:prstGeom prst="line">
              <a:avLst/>
            </a:prstGeom>
            <a:noFill/>
            <a:ln w="9525">
              <a:solidFill>
                <a:schemeClr val="tx1"/>
              </a:solidFill>
              <a:round/>
              <a:headEnd/>
              <a:tailEnd/>
            </a:ln>
          </p:spPr>
          <p:txBody>
            <a:bodyPr wrap="none" anchor="ctr"/>
            <a:lstStyle/>
            <a:p>
              <a:endParaRPr lang="bg-BG"/>
            </a:p>
          </p:txBody>
        </p:sp>
        <p:sp>
          <p:nvSpPr>
            <p:cNvPr id="2073" name="Line 24"/>
            <p:cNvSpPr>
              <a:spLocks noChangeShapeType="1"/>
            </p:cNvSpPr>
            <p:nvPr/>
          </p:nvSpPr>
          <p:spPr bwMode="auto">
            <a:xfrm>
              <a:off x="7391400" y="2489200"/>
              <a:ext cx="0" cy="457200"/>
            </a:xfrm>
            <a:prstGeom prst="line">
              <a:avLst/>
            </a:prstGeom>
            <a:noFill/>
            <a:ln w="9525">
              <a:solidFill>
                <a:schemeClr val="tx1"/>
              </a:solidFill>
              <a:round/>
              <a:headEnd/>
              <a:tailEnd/>
            </a:ln>
          </p:spPr>
          <p:txBody>
            <a:bodyPr wrap="none" anchor="ctr"/>
            <a:lstStyle/>
            <a:p>
              <a:endParaRPr lang="bg-BG"/>
            </a:p>
          </p:txBody>
        </p:sp>
        <p:sp>
          <p:nvSpPr>
            <p:cNvPr id="2074" name="Line 25"/>
            <p:cNvSpPr>
              <a:spLocks noChangeShapeType="1"/>
            </p:cNvSpPr>
            <p:nvPr/>
          </p:nvSpPr>
          <p:spPr bwMode="auto">
            <a:xfrm>
              <a:off x="4318000" y="1320800"/>
              <a:ext cx="0" cy="381000"/>
            </a:xfrm>
            <a:prstGeom prst="line">
              <a:avLst/>
            </a:prstGeom>
            <a:noFill/>
            <a:ln w="9525">
              <a:solidFill>
                <a:schemeClr val="tx1"/>
              </a:solidFill>
              <a:round/>
              <a:headEnd/>
              <a:tailEnd type="triangle" w="med" len="med"/>
            </a:ln>
          </p:spPr>
          <p:txBody>
            <a:bodyPr wrap="none" anchor="ctr"/>
            <a:lstStyle/>
            <a:p>
              <a:endParaRPr lang="bg-BG"/>
            </a:p>
          </p:txBody>
        </p:sp>
        <p:sp>
          <p:nvSpPr>
            <p:cNvPr id="2075" name="Line 26"/>
            <p:cNvSpPr>
              <a:spLocks noChangeShapeType="1"/>
            </p:cNvSpPr>
            <p:nvPr/>
          </p:nvSpPr>
          <p:spPr bwMode="auto">
            <a:xfrm flipH="1">
              <a:off x="914400" y="2159000"/>
              <a:ext cx="2286000" cy="304800"/>
            </a:xfrm>
            <a:prstGeom prst="line">
              <a:avLst/>
            </a:prstGeom>
            <a:noFill/>
            <a:ln w="9525">
              <a:solidFill>
                <a:schemeClr val="tx1"/>
              </a:solidFill>
              <a:round/>
              <a:headEnd/>
              <a:tailEnd type="triangle" w="med" len="med"/>
            </a:ln>
          </p:spPr>
          <p:txBody>
            <a:bodyPr wrap="none" anchor="ctr"/>
            <a:lstStyle/>
            <a:p>
              <a:endParaRPr lang="bg-BG"/>
            </a:p>
          </p:txBody>
        </p:sp>
        <p:sp>
          <p:nvSpPr>
            <p:cNvPr id="2076" name="Line 27"/>
            <p:cNvSpPr>
              <a:spLocks noChangeShapeType="1"/>
            </p:cNvSpPr>
            <p:nvPr/>
          </p:nvSpPr>
          <p:spPr bwMode="auto">
            <a:xfrm flipH="1">
              <a:off x="3352800" y="2159000"/>
              <a:ext cx="381000" cy="304800"/>
            </a:xfrm>
            <a:prstGeom prst="line">
              <a:avLst/>
            </a:prstGeom>
            <a:noFill/>
            <a:ln w="9525">
              <a:solidFill>
                <a:schemeClr val="tx1"/>
              </a:solidFill>
              <a:round/>
              <a:headEnd/>
              <a:tailEnd type="triangle" w="med" len="med"/>
            </a:ln>
          </p:spPr>
          <p:txBody>
            <a:bodyPr wrap="none" anchor="ctr"/>
            <a:lstStyle/>
            <a:p>
              <a:endParaRPr lang="bg-BG"/>
            </a:p>
          </p:txBody>
        </p:sp>
        <p:sp>
          <p:nvSpPr>
            <p:cNvPr id="2077" name="Line 28"/>
            <p:cNvSpPr>
              <a:spLocks noChangeShapeType="1"/>
            </p:cNvSpPr>
            <p:nvPr/>
          </p:nvSpPr>
          <p:spPr bwMode="auto">
            <a:xfrm>
              <a:off x="4343400" y="2159000"/>
              <a:ext cx="1295400" cy="304800"/>
            </a:xfrm>
            <a:prstGeom prst="line">
              <a:avLst/>
            </a:prstGeom>
            <a:noFill/>
            <a:ln w="9525">
              <a:solidFill>
                <a:schemeClr val="tx1"/>
              </a:solidFill>
              <a:round/>
              <a:headEnd/>
              <a:tailEnd type="triangle" w="med" len="med"/>
            </a:ln>
          </p:spPr>
          <p:txBody>
            <a:bodyPr wrap="none" anchor="ctr"/>
            <a:lstStyle/>
            <a:p>
              <a:endParaRPr lang="bg-BG"/>
            </a:p>
          </p:txBody>
        </p:sp>
        <p:sp>
          <p:nvSpPr>
            <p:cNvPr id="2078" name="Line 29"/>
            <p:cNvSpPr>
              <a:spLocks noChangeShapeType="1"/>
            </p:cNvSpPr>
            <p:nvPr/>
          </p:nvSpPr>
          <p:spPr bwMode="auto">
            <a:xfrm>
              <a:off x="4876800" y="2159000"/>
              <a:ext cx="3048000" cy="304800"/>
            </a:xfrm>
            <a:prstGeom prst="line">
              <a:avLst/>
            </a:prstGeom>
            <a:noFill/>
            <a:ln w="9525">
              <a:solidFill>
                <a:schemeClr val="tx1"/>
              </a:solidFill>
              <a:round/>
              <a:headEnd/>
              <a:tailEnd type="triangle" w="med" len="med"/>
            </a:ln>
          </p:spPr>
          <p:txBody>
            <a:bodyPr wrap="none" anchor="ctr"/>
            <a:lstStyle/>
            <a:p>
              <a:endParaRPr lang="bg-BG"/>
            </a:p>
          </p:txBody>
        </p:sp>
        <p:sp>
          <p:nvSpPr>
            <p:cNvPr id="2079" name="Text Box 30"/>
            <p:cNvSpPr txBox="1">
              <a:spLocks noChangeArrowheads="1"/>
            </p:cNvSpPr>
            <p:nvPr/>
          </p:nvSpPr>
          <p:spPr bwMode="auto">
            <a:xfrm>
              <a:off x="3251200" y="1727200"/>
              <a:ext cx="762000" cy="457200"/>
            </a:xfrm>
            <a:prstGeom prst="rect">
              <a:avLst/>
            </a:prstGeom>
            <a:noFill/>
            <a:ln w="9525">
              <a:noFill/>
              <a:miter lim="800000"/>
              <a:headEnd/>
              <a:tailEnd/>
            </a:ln>
          </p:spPr>
          <p:txBody>
            <a:bodyPr>
              <a:spAutoFit/>
            </a:bodyPr>
            <a:lstStyle/>
            <a:p>
              <a:pPr>
                <a:spcBef>
                  <a:spcPct val="50000"/>
                </a:spcBef>
              </a:pPr>
              <a:r>
                <a:rPr lang="en-US"/>
                <a:t>2</a:t>
              </a:r>
              <a:r>
                <a:rPr lang="bg-BG"/>
                <a:t>0</a:t>
              </a:r>
              <a:endParaRPr lang="en-US"/>
            </a:p>
          </p:txBody>
        </p:sp>
        <p:sp>
          <p:nvSpPr>
            <p:cNvPr id="2080" name="Text Box 31"/>
            <p:cNvSpPr txBox="1">
              <a:spLocks noChangeArrowheads="1"/>
            </p:cNvSpPr>
            <p:nvPr/>
          </p:nvSpPr>
          <p:spPr bwMode="auto">
            <a:xfrm>
              <a:off x="2362200" y="2489200"/>
              <a:ext cx="762000" cy="457200"/>
            </a:xfrm>
            <a:prstGeom prst="rect">
              <a:avLst/>
            </a:prstGeom>
            <a:noFill/>
            <a:ln w="9525">
              <a:noFill/>
              <a:miter lim="800000"/>
              <a:headEnd/>
              <a:tailEnd/>
            </a:ln>
          </p:spPr>
          <p:txBody>
            <a:bodyPr>
              <a:spAutoFit/>
            </a:bodyPr>
            <a:lstStyle/>
            <a:p>
              <a:pPr>
                <a:spcBef>
                  <a:spcPct val="50000"/>
                </a:spcBef>
              </a:pPr>
              <a:r>
                <a:rPr lang="en-US"/>
                <a:t>2</a:t>
              </a:r>
              <a:r>
                <a:rPr lang="bg-BG"/>
                <a:t>5</a:t>
              </a:r>
              <a:endParaRPr lang="en-US"/>
            </a:p>
          </p:txBody>
        </p:sp>
        <p:sp>
          <p:nvSpPr>
            <p:cNvPr id="2081" name="Text Box 32"/>
            <p:cNvSpPr txBox="1">
              <a:spLocks noChangeArrowheads="1"/>
            </p:cNvSpPr>
            <p:nvPr/>
          </p:nvSpPr>
          <p:spPr bwMode="auto">
            <a:xfrm>
              <a:off x="635000" y="2489200"/>
              <a:ext cx="762000" cy="457200"/>
            </a:xfrm>
            <a:prstGeom prst="rect">
              <a:avLst/>
            </a:prstGeom>
            <a:noFill/>
            <a:ln w="9525">
              <a:noFill/>
              <a:miter lim="800000"/>
              <a:headEnd/>
              <a:tailEnd/>
            </a:ln>
          </p:spPr>
          <p:txBody>
            <a:bodyPr>
              <a:spAutoFit/>
            </a:bodyPr>
            <a:lstStyle/>
            <a:p>
              <a:pPr>
                <a:spcBef>
                  <a:spcPct val="50000"/>
                </a:spcBef>
              </a:pPr>
              <a:r>
                <a:rPr lang="en-US"/>
                <a:t>1</a:t>
              </a:r>
              <a:r>
                <a:rPr lang="bg-BG"/>
                <a:t>2</a:t>
              </a:r>
              <a:endParaRPr lang="en-US"/>
            </a:p>
          </p:txBody>
        </p:sp>
        <p:sp>
          <p:nvSpPr>
            <p:cNvPr id="2083" name="Text Box 34"/>
            <p:cNvSpPr txBox="1">
              <a:spLocks noChangeArrowheads="1"/>
            </p:cNvSpPr>
            <p:nvPr/>
          </p:nvSpPr>
          <p:spPr bwMode="auto">
            <a:xfrm>
              <a:off x="5715000" y="2489200"/>
              <a:ext cx="762000" cy="457200"/>
            </a:xfrm>
            <a:prstGeom prst="rect">
              <a:avLst/>
            </a:prstGeom>
            <a:noFill/>
            <a:ln w="9525">
              <a:noFill/>
              <a:miter lim="800000"/>
              <a:headEnd/>
              <a:tailEnd/>
            </a:ln>
          </p:spPr>
          <p:txBody>
            <a:bodyPr>
              <a:spAutoFit/>
            </a:bodyPr>
            <a:lstStyle/>
            <a:p>
              <a:pPr>
                <a:spcBef>
                  <a:spcPct val="50000"/>
                </a:spcBef>
              </a:pPr>
              <a:r>
                <a:rPr lang="bg-BG"/>
                <a:t>38</a:t>
              </a:r>
              <a:endParaRPr lang="en-US"/>
            </a:p>
          </p:txBody>
        </p:sp>
        <p:sp>
          <p:nvSpPr>
            <p:cNvPr id="2084" name="Text Box 35"/>
            <p:cNvSpPr txBox="1">
              <a:spLocks noChangeArrowheads="1"/>
            </p:cNvSpPr>
            <p:nvPr/>
          </p:nvSpPr>
          <p:spPr bwMode="auto">
            <a:xfrm>
              <a:off x="51816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6</a:t>
              </a:r>
              <a:endParaRPr lang="en-US"/>
            </a:p>
          </p:txBody>
        </p:sp>
        <p:sp>
          <p:nvSpPr>
            <p:cNvPr id="2085" name="Text Box 36"/>
            <p:cNvSpPr txBox="1">
              <a:spLocks noChangeArrowheads="1"/>
            </p:cNvSpPr>
            <p:nvPr/>
          </p:nvSpPr>
          <p:spPr bwMode="auto">
            <a:xfrm>
              <a:off x="4648200" y="2489200"/>
              <a:ext cx="762000" cy="457200"/>
            </a:xfrm>
            <a:prstGeom prst="rect">
              <a:avLst/>
            </a:prstGeom>
            <a:noFill/>
            <a:ln w="9525">
              <a:noFill/>
              <a:miter lim="800000"/>
              <a:headEnd/>
              <a:tailEnd/>
            </a:ln>
          </p:spPr>
          <p:txBody>
            <a:bodyPr>
              <a:spAutoFit/>
            </a:bodyPr>
            <a:lstStyle/>
            <a:p>
              <a:pPr>
                <a:spcBef>
                  <a:spcPct val="50000"/>
                </a:spcBef>
              </a:pPr>
              <a:r>
                <a:rPr lang="en-US"/>
                <a:t>3</a:t>
              </a:r>
              <a:r>
                <a:rPr lang="bg-BG"/>
                <a:t>3</a:t>
              </a:r>
              <a:endParaRPr lang="en-US"/>
            </a:p>
          </p:txBody>
        </p:sp>
        <p:sp>
          <p:nvSpPr>
            <p:cNvPr id="2086" name="Text Box 37"/>
            <p:cNvSpPr txBox="1">
              <a:spLocks noChangeArrowheads="1"/>
            </p:cNvSpPr>
            <p:nvPr/>
          </p:nvSpPr>
          <p:spPr bwMode="auto">
            <a:xfrm>
              <a:off x="3810000" y="1727200"/>
              <a:ext cx="762000" cy="457200"/>
            </a:xfrm>
            <a:prstGeom prst="rect">
              <a:avLst/>
            </a:prstGeom>
            <a:noFill/>
            <a:ln w="9525">
              <a:noFill/>
              <a:miter lim="800000"/>
              <a:headEnd/>
              <a:tailEnd/>
            </a:ln>
          </p:spPr>
          <p:txBody>
            <a:bodyPr>
              <a:spAutoFit/>
            </a:bodyPr>
            <a:lstStyle/>
            <a:p>
              <a:pPr>
                <a:spcBef>
                  <a:spcPct val="50000"/>
                </a:spcBef>
              </a:pPr>
              <a:r>
                <a:rPr lang="en-US"/>
                <a:t>3</a:t>
              </a:r>
              <a:r>
                <a:rPr lang="bg-BG"/>
                <a:t>0</a:t>
              </a:r>
              <a:endParaRPr lang="en-US"/>
            </a:p>
          </p:txBody>
        </p:sp>
        <p:sp>
          <p:nvSpPr>
            <p:cNvPr id="2087" name="Text Box 38"/>
            <p:cNvSpPr txBox="1">
              <a:spLocks noChangeArrowheads="1"/>
            </p:cNvSpPr>
            <p:nvPr/>
          </p:nvSpPr>
          <p:spPr bwMode="auto">
            <a:xfrm>
              <a:off x="6908800" y="2489200"/>
              <a:ext cx="762000" cy="457200"/>
            </a:xfrm>
            <a:prstGeom prst="rect">
              <a:avLst/>
            </a:prstGeom>
            <a:noFill/>
            <a:ln w="9525">
              <a:noFill/>
              <a:miter lim="800000"/>
              <a:headEnd/>
              <a:tailEnd/>
            </a:ln>
          </p:spPr>
          <p:txBody>
            <a:bodyPr>
              <a:spAutoFit/>
            </a:bodyPr>
            <a:lstStyle/>
            <a:p>
              <a:pPr>
                <a:spcBef>
                  <a:spcPct val="50000"/>
                </a:spcBef>
              </a:pPr>
              <a:r>
                <a:rPr lang="en-US"/>
                <a:t>4</a:t>
              </a:r>
              <a:r>
                <a:rPr lang="bg-BG"/>
                <a:t>6</a:t>
              </a:r>
              <a:endParaRPr lang="en-US"/>
            </a:p>
          </p:txBody>
        </p:sp>
        <p:sp>
          <p:nvSpPr>
            <p:cNvPr id="2088" name="Text Box 39"/>
            <p:cNvSpPr txBox="1">
              <a:spLocks noChangeArrowheads="1"/>
            </p:cNvSpPr>
            <p:nvPr/>
          </p:nvSpPr>
          <p:spPr bwMode="auto">
            <a:xfrm>
              <a:off x="4343400" y="1727200"/>
              <a:ext cx="762000" cy="457200"/>
            </a:xfrm>
            <a:prstGeom prst="rect">
              <a:avLst/>
            </a:prstGeom>
            <a:noFill/>
            <a:ln w="9525">
              <a:noFill/>
              <a:miter lim="800000"/>
              <a:headEnd/>
              <a:tailEnd/>
            </a:ln>
          </p:spPr>
          <p:txBody>
            <a:bodyPr>
              <a:spAutoFit/>
            </a:bodyPr>
            <a:lstStyle/>
            <a:p>
              <a:pPr>
                <a:spcBef>
                  <a:spcPct val="50000"/>
                </a:spcBef>
              </a:pPr>
              <a:r>
                <a:rPr lang="bg-BG"/>
                <a:t>40</a:t>
              </a:r>
              <a:endParaRPr lang="en-US"/>
            </a:p>
          </p:txBody>
        </p:sp>
        <p:sp>
          <p:nvSpPr>
            <p:cNvPr id="2089" name="Text Box 40"/>
            <p:cNvSpPr txBox="1">
              <a:spLocks noChangeArrowheads="1"/>
            </p:cNvSpPr>
            <p:nvPr/>
          </p:nvSpPr>
          <p:spPr bwMode="auto">
            <a:xfrm>
              <a:off x="7442200" y="2489200"/>
              <a:ext cx="762000" cy="457200"/>
            </a:xfrm>
            <a:prstGeom prst="rect">
              <a:avLst/>
            </a:prstGeom>
            <a:noFill/>
            <a:ln w="9525">
              <a:noFill/>
              <a:miter lim="800000"/>
              <a:headEnd/>
              <a:tailEnd/>
            </a:ln>
          </p:spPr>
          <p:txBody>
            <a:bodyPr>
              <a:spAutoFit/>
            </a:bodyPr>
            <a:lstStyle/>
            <a:p>
              <a:pPr>
                <a:spcBef>
                  <a:spcPct val="50000"/>
                </a:spcBef>
              </a:pPr>
              <a:r>
                <a:rPr lang="bg-BG"/>
                <a:t>48</a:t>
              </a:r>
              <a:endParaRPr lang="en-US"/>
            </a:p>
          </p:txBody>
        </p:sp>
        <p:sp>
          <p:nvSpPr>
            <p:cNvPr id="2090" name="Text Box 41"/>
            <p:cNvSpPr txBox="1">
              <a:spLocks noChangeArrowheads="1"/>
            </p:cNvSpPr>
            <p:nvPr/>
          </p:nvSpPr>
          <p:spPr bwMode="auto">
            <a:xfrm>
              <a:off x="2895600" y="2489200"/>
              <a:ext cx="762000" cy="457200"/>
            </a:xfrm>
            <a:prstGeom prst="rect">
              <a:avLst/>
            </a:prstGeom>
            <a:noFill/>
            <a:ln w="9525">
              <a:noFill/>
              <a:miter lim="800000"/>
              <a:headEnd/>
              <a:tailEnd/>
            </a:ln>
          </p:spPr>
          <p:txBody>
            <a:bodyPr>
              <a:spAutoFit/>
            </a:bodyPr>
            <a:lstStyle/>
            <a:p>
              <a:pPr>
                <a:spcBef>
                  <a:spcPct val="50000"/>
                </a:spcBef>
              </a:pPr>
              <a:r>
                <a:rPr lang="bg-BG"/>
                <a:t>27</a:t>
              </a:r>
              <a:endParaRPr lang="en-US"/>
            </a:p>
          </p:txBody>
        </p:sp>
      </p:grpSp>
      <p:graphicFrame>
        <p:nvGraphicFramePr>
          <p:cNvPr id="2050" name="Object 42"/>
          <p:cNvGraphicFramePr>
            <a:graphicFrameLocks noChangeAspect="1"/>
          </p:cNvGraphicFramePr>
          <p:nvPr/>
        </p:nvGraphicFramePr>
        <p:xfrm>
          <a:off x="1346200" y="3921712"/>
          <a:ext cx="7543800" cy="679450"/>
        </p:xfrm>
        <a:graphic>
          <a:graphicData uri="http://schemas.openxmlformats.org/presentationml/2006/ole">
            <mc:AlternateContent xmlns:mc="http://schemas.openxmlformats.org/markup-compatibility/2006">
              <mc:Choice xmlns:v="urn:schemas-microsoft-com:vml" Requires="v">
                <p:oleObj spid="_x0000_s2051" name="Worksheet" r:id="rId4" imgW="5028840" imgH="333360" progId="Excel.Sheet.8">
                  <p:embed/>
                </p:oleObj>
              </mc:Choice>
              <mc:Fallback>
                <p:oleObj name="Worksheet" r:id="rId4" imgW="5028840" imgH="333360" progId="Excel.Sheet.8">
                  <p:embed/>
                  <p:pic>
                    <p:nvPicPr>
                      <p:cNvPr id="0" name="Object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6200" y="3921712"/>
                        <a:ext cx="75438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91" name="Line 43"/>
          <p:cNvSpPr>
            <a:spLocks noChangeShapeType="1"/>
          </p:cNvSpPr>
          <p:nvPr/>
        </p:nvSpPr>
        <p:spPr bwMode="auto">
          <a:xfrm flipV="1">
            <a:off x="1143000" y="4512322"/>
            <a:ext cx="304800" cy="457200"/>
          </a:xfrm>
          <a:prstGeom prst="line">
            <a:avLst/>
          </a:prstGeom>
          <a:noFill/>
          <a:ln w="9525">
            <a:solidFill>
              <a:schemeClr val="tx1"/>
            </a:solidFill>
            <a:round/>
            <a:headEnd/>
            <a:tailEnd type="triangle" w="med" len="med"/>
          </a:ln>
        </p:spPr>
        <p:txBody>
          <a:bodyPr wrap="none" anchor="ctr"/>
          <a:lstStyle/>
          <a:p>
            <a:endParaRPr lang="bg-BG"/>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nvSpPr>
        <p:spPr bwMode="auto">
          <a:xfrm>
            <a:off x="1064568" y="457200"/>
            <a:ext cx="8079432" cy="6400800"/>
          </a:xfrm>
          <a:prstGeom prst="rect">
            <a:avLst/>
          </a:prstGeom>
          <a:noFill/>
          <a:ln w="9525">
            <a:noFill/>
            <a:miter lim="800000"/>
            <a:headEnd/>
            <a:tailEnd/>
          </a:ln>
        </p:spPr>
        <p:txBody>
          <a:bodyPr anchor="ctr"/>
          <a:lstStyle/>
          <a:p>
            <a:pPr>
              <a:lnSpc>
                <a:spcPct val="90000"/>
              </a:lnSpc>
            </a:pPr>
            <a:r>
              <a:rPr lang="bg-BG"/>
              <a:t>Представяне на В-дървета върху диск  </a:t>
            </a:r>
            <a:r>
              <a:rPr lang="bg-BG" sz="2200"/>
              <a:t>- </a:t>
            </a:r>
            <a:r>
              <a:rPr lang="bg-BG"/>
              <a:t>Лендерт Амерал, </a:t>
            </a:r>
            <a:r>
              <a:rPr lang="bg-BG" i="1"/>
              <a:t>Алгоритми и структури от данни в С++,</a:t>
            </a:r>
            <a:r>
              <a:rPr lang="bg-BG"/>
              <a:t> ИК   СОФТЕХ, София, 2001</a:t>
            </a:r>
            <a:r>
              <a:rPr lang="bg-BG" sz="1200"/>
              <a:t/>
            </a:r>
            <a:br>
              <a:rPr lang="bg-BG" sz="1200"/>
            </a:br>
            <a:r>
              <a:rPr lang="bg-BG" sz="1200"/>
              <a:t/>
            </a:r>
            <a:br>
              <a:rPr lang="bg-BG" sz="1200"/>
            </a:br>
            <a:r>
              <a:rPr lang="bg-BG"/>
              <a:t>Приложение на В-дървета:</a:t>
            </a:r>
            <a:br>
              <a:rPr lang="bg-BG"/>
            </a:br>
            <a:r>
              <a:rPr lang="bg-BG" sz="800"/>
              <a:t/>
            </a:r>
            <a:br>
              <a:rPr lang="bg-BG" sz="800"/>
            </a:br>
            <a:r>
              <a:rPr lang="bg-BG"/>
              <a:t>	- в системи за управление на голям обем информация</a:t>
            </a:r>
            <a:br>
              <a:rPr lang="bg-BG"/>
            </a:br>
            <a:r>
              <a:rPr lang="bg-BG"/>
              <a:t>	 	- релационни БД</a:t>
            </a:r>
            <a:br>
              <a:rPr lang="bg-BG"/>
            </a:br>
            <a:r>
              <a:rPr lang="bg-BG"/>
              <a:t>		- обектно-релационни БД (</a:t>
            </a:r>
            <a:r>
              <a:rPr lang="en-US"/>
              <a:t>Oracle)</a:t>
            </a:r>
            <a:r>
              <a:rPr lang="bg-BG"/>
              <a:t/>
            </a:r>
            <a:br>
              <a:rPr lang="bg-BG"/>
            </a:br>
            <a:r>
              <a:rPr lang="bg-BG"/>
              <a:t>	- в операционни системи (например, </a:t>
            </a:r>
            <a:r>
              <a:rPr lang="en-US"/>
              <a:t>Windows)</a:t>
            </a:r>
            <a:br>
              <a:rPr lang="en-US"/>
            </a:br>
            <a:r>
              <a:rPr lang="en-US"/>
              <a:t>		- </a:t>
            </a:r>
            <a:r>
              <a:rPr lang="bg-BG"/>
              <a:t>странична организация на паметта</a:t>
            </a:r>
            <a:br>
              <a:rPr lang="bg-BG"/>
            </a:br>
            <a:r>
              <a:rPr lang="bg-BG"/>
              <a:t>		- организация на файловата система</a:t>
            </a:r>
            <a:br>
              <a:rPr lang="bg-BG"/>
            </a:br>
            <a:r>
              <a:rPr lang="bg-BG" sz="1200"/>
              <a:t/>
            </a:r>
            <a:br>
              <a:rPr lang="bg-BG" sz="1200"/>
            </a:br>
            <a:r>
              <a:rPr lang="bg-BG"/>
              <a:t>Допълнителна литература:</a:t>
            </a:r>
            <a:br>
              <a:rPr lang="bg-BG"/>
            </a:br>
            <a:r>
              <a:rPr lang="bg-BG"/>
              <a:t>1. Н.Уирт, </a:t>
            </a:r>
            <a:r>
              <a:rPr lang="bg-BG" i="1"/>
              <a:t>Алгоритми + структури от данни = програми</a:t>
            </a:r>
            <a:r>
              <a:rPr lang="bg-BG"/>
              <a:t>, “Техника, София, 1980</a:t>
            </a:r>
            <a:br>
              <a:rPr lang="bg-BG"/>
            </a:br>
            <a:r>
              <a:rPr lang="bg-BG"/>
              <a:t>2. Д.Шишков и др., </a:t>
            </a:r>
            <a:r>
              <a:rPr lang="bg-BG" i="1"/>
              <a:t>Структури от  данни и алгоритми</a:t>
            </a:r>
            <a:r>
              <a:rPr lang="bg-BG"/>
              <a:t>, “Интеграл”, Добрич, 1995</a:t>
            </a:r>
            <a:br>
              <a:rPr lang="bg-BG"/>
            </a:br>
            <a:r>
              <a:rPr lang="bg-BG"/>
              <a:t>3.</a:t>
            </a:r>
            <a:r>
              <a:rPr lang="en-US" sz="2200"/>
              <a:t> </a:t>
            </a:r>
            <a:r>
              <a:rPr lang="en-US"/>
              <a:t>D. Knuth. </a:t>
            </a:r>
            <a:r>
              <a:rPr lang="en-US" i="1"/>
              <a:t>The Art of Computer Programming. Volume 3: Sorting and Searching</a:t>
            </a:r>
            <a:r>
              <a:rPr lang="en-US"/>
              <a:t>, second edition, Addison-Wesley, Reading, MA, 1998.</a:t>
            </a:r>
            <a:r>
              <a:rPr lang="bg-BG"/>
              <a:t/>
            </a:r>
            <a:br>
              <a:rPr lang="bg-BG"/>
            </a:br>
            <a:r>
              <a:rPr lang="bg-BG">
                <a:solidFill>
                  <a:schemeClr val="tx2"/>
                </a:solidFill>
              </a:rPr>
              <a:t/>
            </a:r>
            <a:br>
              <a:rPr lang="bg-BG">
                <a:solidFill>
                  <a:schemeClr val="tx2"/>
                </a:solidFill>
              </a:rPr>
            </a:br>
            <a:endParaRPr lang="en-US">
              <a:solidFill>
                <a:schemeClr val="tx2"/>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1060376" y="404664"/>
            <a:ext cx="8083624" cy="6019800"/>
          </a:xfrm>
          <a:prstGeom prst="rect">
            <a:avLst/>
          </a:prstGeom>
          <a:noFill/>
          <a:ln w="9525">
            <a:noFill/>
            <a:miter lim="800000"/>
            <a:headEnd/>
            <a:tailEnd/>
          </a:ln>
        </p:spPr>
        <p:txBody>
          <a:bodyPr anchor="ctr"/>
          <a:lstStyle/>
          <a:p>
            <a:r>
              <a:rPr lang="bg-BG" sz="1000">
                <a:solidFill>
                  <a:schemeClr val="tx2"/>
                </a:solidFill>
              </a:rPr>
              <a:t/>
            </a:r>
            <a:br>
              <a:rPr lang="bg-BG" sz="1000">
                <a:solidFill>
                  <a:schemeClr val="tx2"/>
                </a:solidFill>
              </a:rPr>
            </a:br>
            <a:r>
              <a:rPr lang="en-US" sz="1000">
                <a:solidFill>
                  <a:schemeClr val="tx2"/>
                </a:solidFill>
              </a:rPr>
              <a:t/>
            </a:r>
            <a:br>
              <a:rPr lang="en-US" sz="1000">
                <a:solidFill>
                  <a:schemeClr val="tx2"/>
                </a:solidFill>
              </a:rPr>
            </a:br>
            <a:r>
              <a:rPr lang="bg-BG" sz="2000" u="sng"/>
              <a:t>Червено-черни дървета </a:t>
            </a:r>
            <a:r>
              <a:rPr lang="en-US" sz="2000" u="sng"/>
              <a:t>(Red-Black Trees)</a:t>
            </a:r>
            <a:r>
              <a:rPr lang="bg-BG" sz="2000"/>
              <a:t/>
            </a:r>
            <a:br>
              <a:rPr lang="bg-BG" sz="2000"/>
            </a:br>
            <a:r>
              <a:rPr lang="bg-BG" sz="900"/>
              <a:t/>
            </a:r>
            <a:br>
              <a:rPr lang="bg-BG" sz="900"/>
            </a:br>
            <a:r>
              <a:rPr lang="bg-BG" sz="2000"/>
              <a:t>	Червено-черно дърво се нарича балансирано (но не идеално балансирано!) двоично дърво за претърсване (В</a:t>
            </a:r>
            <a:r>
              <a:rPr lang="en-US" sz="2000"/>
              <a:t>ST)</a:t>
            </a:r>
            <a:r>
              <a:rPr lang="bg-BG" sz="2000"/>
              <a:t>, в което всеки връх е означен или като червен, или като черен и допълнително са изпълнени следните свойства:</a:t>
            </a:r>
            <a:br>
              <a:rPr lang="bg-BG" sz="2000"/>
            </a:br>
            <a:r>
              <a:rPr lang="bg-BG" sz="2000"/>
              <a:t>1. Всеки връх или е червен, или е черен;</a:t>
            </a:r>
            <a:br>
              <a:rPr lang="bg-BG" sz="2000"/>
            </a:br>
            <a:r>
              <a:rPr lang="bg-BG" sz="2000"/>
              <a:t>2. Коренът е черен;</a:t>
            </a:r>
            <a:br>
              <a:rPr lang="bg-BG" sz="2000"/>
            </a:br>
            <a:r>
              <a:rPr lang="bg-BG" sz="2000"/>
              <a:t>3. Всички външни възли (върхове със стойност </a:t>
            </a:r>
            <a:r>
              <a:rPr lang="en-US" sz="2000"/>
              <a:t>NULL)</a:t>
            </a:r>
            <a:r>
              <a:rPr lang="bg-BG" sz="2000"/>
              <a:t> са черни;</a:t>
            </a:r>
            <a:br>
              <a:rPr lang="bg-BG" sz="2000"/>
            </a:br>
            <a:r>
              <a:rPr lang="bg-BG" sz="2000"/>
              <a:t>4. Ако даден връх е червен, то двата му наследника са черни, освен това </a:t>
            </a:r>
            <a:br>
              <a:rPr lang="bg-BG" sz="2000"/>
            </a:br>
            <a:r>
              <a:rPr lang="bg-BG" sz="2000"/>
              <a:t>    всеки  червен възел има черен родител; </a:t>
            </a:r>
            <a:br>
              <a:rPr lang="bg-BG" sz="2000"/>
            </a:br>
            <a:r>
              <a:rPr lang="bg-BG" sz="2000"/>
              <a:t>5. Всички пътища от произволен връх Т до произволно листо от</a:t>
            </a:r>
            <a:br>
              <a:rPr lang="bg-BG" sz="2000"/>
            </a:br>
            <a:r>
              <a:rPr lang="bg-BG" sz="2000"/>
              <a:t>  поддървото с корен Т съдържат еднакъв брой черни върхове.</a:t>
            </a:r>
            <a:r>
              <a:rPr lang="bg-BG" sz="2000">
                <a:solidFill>
                  <a:schemeClr val="tx2"/>
                </a:solidFill>
              </a:rPr>
              <a:t/>
            </a:r>
            <a:br>
              <a:rPr lang="bg-BG" sz="2000">
                <a:solidFill>
                  <a:schemeClr val="tx2"/>
                </a:solidFill>
              </a:rPr>
            </a:br>
            <a:r>
              <a:rPr lang="bg-BG" sz="2000">
                <a:solidFill>
                  <a:schemeClr val="tx2"/>
                </a:solidFill>
              </a:rPr>
              <a:t/>
            </a:r>
            <a:br>
              <a:rPr lang="bg-BG" sz="2000">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sz="3200">
                <a:solidFill>
                  <a:schemeClr val="tx2"/>
                </a:solidFill>
              </a:rPr>
              <a:t/>
            </a:r>
            <a:br>
              <a:rPr lang="bg-BG" sz="3200">
                <a:solidFill>
                  <a:schemeClr val="tx2"/>
                </a:solidFill>
              </a:rPr>
            </a:br>
            <a:endParaRPr lang="en-US" sz="3200">
              <a:solidFill>
                <a:schemeClr val="tx2"/>
              </a:solidFill>
            </a:endParaRPr>
          </a:p>
        </p:txBody>
      </p:sp>
      <p:grpSp>
        <p:nvGrpSpPr>
          <p:cNvPr id="72707" name="Group 44"/>
          <p:cNvGrpSpPr>
            <a:grpSpLocks/>
          </p:cNvGrpSpPr>
          <p:nvPr/>
        </p:nvGrpSpPr>
        <p:grpSpPr bwMode="auto">
          <a:xfrm>
            <a:off x="2339752" y="4437112"/>
            <a:ext cx="4406900" cy="2209800"/>
            <a:chOff x="920" y="2784"/>
            <a:chExt cx="2776" cy="1392"/>
          </a:xfrm>
        </p:grpSpPr>
        <p:sp>
          <p:nvSpPr>
            <p:cNvPr id="72708" name="Oval 3"/>
            <p:cNvSpPr>
              <a:spLocks noChangeArrowheads="1"/>
            </p:cNvSpPr>
            <p:nvPr/>
          </p:nvSpPr>
          <p:spPr bwMode="auto">
            <a:xfrm>
              <a:off x="2496" y="2784"/>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2709" name="Oval 4"/>
            <p:cNvSpPr>
              <a:spLocks noChangeArrowheads="1"/>
            </p:cNvSpPr>
            <p:nvPr/>
          </p:nvSpPr>
          <p:spPr bwMode="auto">
            <a:xfrm>
              <a:off x="3120" y="3024"/>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2710" name="Oval 5"/>
            <p:cNvSpPr>
              <a:spLocks noChangeArrowheads="1"/>
            </p:cNvSpPr>
            <p:nvPr/>
          </p:nvSpPr>
          <p:spPr bwMode="auto">
            <a:xfrm>
              <a:off x="2256" y="3360"/>
              <a:ext cx="288" cy="288"/>
            </a:xfrm>
            <a:prstGeom prst="ellipse">
              <a:avLst/>
            </a:prstGeom>
            <a:solidFill>
              <a:schemeClr val="tx1"/>
            </a:solidFill>
            <a:ln w="9525">
              <a:solidFill>
                <a:schemeClr val="tx1"/>
              </a:solidFill>
              <a:round/>
              <a:headEnd/>
              <a:tailEnd/>
            </a:ln>
          </p:spPr>
          <p:txBody>
            <a:bodyPr wrap="none" anchor="ctr"/>
            <a:lstStyle/>
            <a:p>
              <a:pPr algn="ctr"/>
              <a:endParaRPr lang="bg-BG"/>
            </a:p>
          </p:txBody>
        </p:sp>
        <p:sp>
          <p:nvSpPr>
            <p:cNvPr id="72711" name="Oval 6"/>
            <p:cNvSpPr>
              <a:spLocks noChangeArrowheads="1"/>
            </p:cNvSpPr>
            <p:nvPr/>
          </p:nvSpPr>
          <p:spPr bwMode="auto">
            <a:xfrm>
              <a:off x="1536" y="3360"/>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2712" name="Oval 7"/>
            <p:cNvSpPr>
              <a:spLocks noChangeArrowheads="1"/>
            </p:cNvSpPr>
            <p:nvPr/>
          </p:nvSpPr>
          <p:spPr bwMode="auto">
            <a:xfrm>
              <a:off x="1920" y="3024"/>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2713" name="Oval 8"/>
            <p:cNvSpPr>
              <a:spLocks noChangeArrowheads="1"/>
            </p:cNvSpPr>
            <p:nvPr/>
          </p:nvSpPr>
          <p:spPr bwMode="auto">
            <a:xfrm>
              <a:off x="1792" y="3728"/>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2714" name="Oval 9"/>
            <p:cNvSpPr>
              <a:spLocks noChangeArrowheads="1"/>
            </p:cNvSpPr>
            <p:nvPr/>
          </p:nvSpPr>
          <p:spPr bwMode="auto">
            <a:xfrm>
              <a:off x="1200" y="3696"/>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2715" name="Oval 10"/>
            <p:cNvSpPr>
              <a:spLocks noChangeArrowheads="1"/>
            </p:cNvSpPr>
            <p:nvPr/>
          </p:nvSpPr>
          <p:spPr bwMode="auto">
            <a:xfrm>
              <a:off x="2832" y="3360"/>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2716" name="Line 11"/>
            <p:cNvSpPr>
              <a:spLocks noChangeShapeType="1"/>
            </p:cNvSpPr>
            <p:nvPr/>
          </p:nvSpPr>
          <p:spPr bwMode="auto">
            <a:xfrm flipH="1">
              <a:off x="2208" y="2976"/>
              <a:ext cx="288" cy="144"/>
            </a:xfrm>
            <a:prstGeom prst="line">
              <a:avLst/>
            </a:prstGeom>
            <a:noFill/>
            <a:ln w="9525">
              <a:solidFill>
                <a:schemeClr val="tx1"/>
              </a:solidFill>
              <a:round/>
              <a:headEnd/>
              <a:tailEnd type="triangle" w="med" len="med"/>
            </a:ln>
          </p:spPr>
          <p:txBody>
            <a:bodyPr wrap="none" anchor="ctr"/>
            <a:lstStyle/>
            <a:p>
              <a:endParaRPr lang="bg-BG"/>
            </a:p>
          </p:txBody>
        </p:sp>
        <p:sp>
          <p:nvSpPr>
            <p:cNvPr id="72717" name="Line 12"/>
            <p:cNvSpPr>
              <a:spLocks noChangeShapeType="1"/>
            </p:cNvSpPr>
            <p:nvPr/>
          </p:nvSpPr>
          <p:spPr bwMode="auto">
            <a:xfrm flipH="1">
              <a:off x="1776" y="3264"/>
              <a:ext cx="192" cy="144"/>
            </a:xfrm>
            <a:prstGeom prst="line">
              <a:avLst/>
            </a:prstGeom>
            <a:noFill/>
            <a:ln w="9525">
              <a:solidFill>
                <a:schemeClr val="tx1"/>
              </a:solidFill>
              <a:round/>
              <a:headEnd/>
              <a:tailEnd type="triangle" w="med" len="med"/>
            </a:ln>
          </p:spPr>
          <p:txBody>
            <a:bodyPr wrap="none" anchor="ctr"/>
            <a:lstStyle/>
            <a:p>
              <a:endParaRPr lang="bg-BG"/>
            </a:p>
          </p:txBody>
        </p:sp>
        <p:sp>
          <p:nvSpPr>
            <p:cNvPr id="72718" name="Line 13"/>
            <p:cNvSpPr>
              <a:spLocks noChangeShapeType="1"/>
            </p:cNvSpPr>
            <p:nvPr/>
          </p:nvSpPr>
          <p:spPr bwMode="auto">
            <a:xfrm flipH="1">
              <a:off x="1440" y="3600"/>
              <a:ext cx="144" cy="144"/>
            </a:xfrm>
            <a:prstGeom prst="line">
              <a:avLst/>
            </a:prstGeom>
            <a:noFill/>
            <a:ln w="9525">
              <a:solidFill>
                <a:schemeClr val="tx1"/>
              </a:solidFill>
              <a:round/>
              <a:headEnd/>
              <a:tailEnd type="triangle" w="med" len="med"/>
            </a:ln>
          </p:spPr>
          <p:txBody>
            <a:bodyPr wrap="none" anchor="ctr"/>
            <a:lstStyle/>
            <a:p>
              <a:endParaRPr lang="bg-BG"/>
            </a:p>
          </p:txBody>
        </p:sp>
        <p:sp>
          <p:nvSpPr>
            <p:cNvPr id="72719" name="Line 14"/>
            <p:cNvSpPr>
              <a:spLocks noChangeShapeType="1"/>
            </p:cNvSpPr>
            <p:nvPr/>
          </p:nvSpPr>
          <p:spPr bwMode="auto">
            <a:xfrm>
              <a:off x="1776" y="3600"/>
              <a:ext cx="144" cy="144"/>
            </a:xfrm>
            <a:prstGeom prst="line">
              <a:avLst/>
            </a:prstGeom>
            <a:noFill/>
            <a:ln w="9525">
              <a:solidFill>
                <a:schemeClr val="tx1"/>
              </a:solidFill>
              <a:round/>
              <a:headEnd/>
              <a:tailEnd type="triangle" w="med" len="med"/>
            </a:ln>
          </p:spPr>
          <p:txBody>
            <a:bodyPr wrap="none" anchor="ctr"/>
            <a:lstStyle/>
            <a:p>
              <a:endParaRPr lang="bg-BG"/>
            </a:p>
          </p:txBody>
        </p:sp>
        <p:sp>
          <p:nvSpPr>
            <p:cNvPr id="72720" name="Line 15"/>
            <p:cNvSpPr>
              <a:spLocks noChangeShapeType="1"/>
            </p:cNvSpPr>
            <p:nvPr/>
          </p:nvSpPr>
          <p:spPr bwMode="auto">
            <a:xfrm>
              <a:off x="2784" y="2976"/>
              <a:ext cx="336" cy="144"/>
            </a:xfrm>
            <a:prstGeom prst="line">
              <a:avLst/>
            </a:prstGeom>
            <a:noFill/>
            <a:ln w="9525">
              <a:solidFill>
                <a:schemeClr val="tx1"/>
              </a:solidFill>
              <a:round/>
              <a:headEnd/>
              <a:tailEnd type="triangle" w="med" len="med"/>
            </a:ln>
          </p:spPr>
          <p:txBody>
            <a:bodyPr wrap="none" anchor="ctr"/>
            <a:lstStyle/>
            <a:p>
              <a:endParaRPr lang="bg-BG"/>
            </a:p>
          </p:txBody>
        </p:sp>
        <p:sp>
          <p:nvSpPr>
            <p:cNvPr id="72721" name="Line 16"/>
            <p:cNvSpPr>
              <a:spLocks noChangeShapeType="1"/>
            </p:cNvSpPr>
            <p:nvPr/>
          </p:nvSpPr>
          <p:spPr bwMode="auto">
            <a:xfrm>
              <a:off x="2160" y="3264"/>
              <a:ext cx="144" cy="144"/>
            </a:xfrm>
            <a:prstGeom prst="line">
              <a:avLst/>
            </a:prstGeom>
            <a:noFill/>
            <a:ln w="9525">
              <a:solidFill>
                <a:schemeClr val="tx1"/>
              </a:solidFill>
              <a:round/>
              <a:headEnd/>
              <a:tailEnd type="triangle" w="med" len="med"/>
            </a:ln>
          </p:spPr>
          <p:txBody>
            <a:bodyPr wrap="none" anchor="ctr"/>
            <a:lstStyle/>
            <a:p>
              <a:endParaRPr lang="bg-BG"/>
            </a:p>
          </p:txBody>
        </p:sp>
        <p:sp>
          <p:nvSpPr>
            <p:cNvPr id="72722" name="Line 17"/>
            <p:cNvSpPr>
              <a:spLocks noChangeShapeType="1"/>
            </p:cNvSpPr>
            <p:nvPr/>
          </p:nvSpPr>
          <p:spPr bwMode="auto">
            <a:xfrm flipH="1">
              <a:off x="3072" y="3264"/>
              <a:ext cx="96" cy="144"/>
            </a:xfrm>
            <a:prstGeom prst="line">
              <a:avLst/>
            </a:prstGeom>
            <a:noFill/>
            <a:ln w="9525">
              <a:solidFill>
                <a:schemeClr val="tx1"/>
              </a:solidFill>
              <a:round/>
              <a:headEnd/>
              <a:tailEnd type="triangle" w="med" len="med"/>
            </a:ln>
          </p:spPr>
          <p:txBody>
            <a:bodyPr wrap="none" anchor="ctr"/>
            <a:lstStyle/>
            <a:p>
              <a:endParaRPr lang="bg-BG"/>
            </a:p>
          </p:txBody>
        </p:sp>
        <p:sp>
          <p:nvSpPr>
            <p:cNvPr id="72723" name="Rectangle 18"/>
            <p:cNvSpPr>
              <a:spLocks noChangeArrowheads="1"/>
            </p:cNvSpPr>
            <p:nvPr/>
          </p:nvSpPr>
          <p:spPr bwMode="auto">
            <a:xfrm>
              <a:off x="920" y="4080"/>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4" name="Rectangle 19"/>
            <p:cNvSpPr>
              <a:spLocks noChangeArrowheads="1"/>
            </p:cNvSpPr>
            <p:nvPr/>
          </p:nvSpPr>
          <p:spPr bwMode="auto">
            <a:xfrm>
              <a:off x="1736" y="4080"/>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5" name="Rectangle 20"/>
            <p:cNvSpPr>
              <a:spLocks noChangeArrowheads="1"/>
            </p:cNvSpPr>
            <p:nvPr/>
          </p:nvSpPr>
          <p:spPr bwMode="auto">
            <a:xfrm>
              <a:off x="1360" y="4080"/>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6" name="Rectangle 21"/>
            <p:cNvSpPr>
              <a:spLocks noChangeArrowheads="1"/>
            </p:cNvSpPr>
            <p:nvPr/>
          </p:nvSpPr>
          <p:spPr bwMode="auto">
            <a:xfrm>
              <a:off x="2160" y="3744"/>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7" name="Rectangle 22"/>
            <p:cNvSpPr>
              <a:spLocks noChangeArrowheads="1"/>
            </p:cNvSpPr>
            <p:nvPr/>
          </p:nvSpPr>
          <p:spPr bwMode="auto">
            <a:xfrm>
              <a:off x="2112" y="4080"/>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8" name="Rectangle 23"/>
            <p:cNvSpPr>
              <a:spLocks noChangeArrowheads="1"/>
            </p:cNvSpPr>
            <p:nvPr/>
          </p:nvSpPr>
          <p:spPr bwMode="auto">
            <a:xfrm>
              <a:off x="2544" y="3744"/>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29" name="Rectangle 24"/>
            <p:cNvSpPr>
              <a:spLocks noChangeArrowheads="1"/>
            </p:cNvSpPr>
            <p:nvPr/>
          </p:nvSpPr>
          <p:spPr bwMode="auto">
            <a:xfrm>
              <a:off x="2928" y="3744"/>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30" name="Rectangle 25"/>
            <p:cNvSpPr>
              <a:spLocks noChangeArrowheads="1"/>
            </p:cNvSpPr>
            <p:nvPr/>
          </p:nvSpPr>
          <p:spPr bwMode="auto">
            <a:xfrm>
              <a:off x="3312" y="3744"/>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31" name="Rectangle 26"/>
            <p:cNvSpPr>
              <a:spLocks noChangeArrowheads="1"/>
            </p:cNvSpPr>
            <p:nvPr/>
          </p:nvSpPr>
          <p:spPr bwMode="auto">
            <a:xfrm>
              <a:off x="3408" y="3456"/>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2732" name="Line 27"/>
            <p:cNvSpPr>
              <a:spLocks noChangeShapeType="1"/>
            </p:cNvSpPr>
            <p:nvPr/>
          </p:nvSpPr>
          <p:spPr bwMode="auto">
            <a:xfrm flipH="1">
              <a:off x="1056" y="3936"/>
              <a:ext cx="192" cy="144"/>
            </a:xfrm>
            <a:prstGeom prst="line">
              <a:avLst/>
            </a:prstGeom>
            <a:noFill/>
            <a:ln w="9525">
              <a:solidFill>
                <a:schemeClr val="tx1"/>
              </a:solidFill>
              <a:round/>
              <a:headEnd/>
              <a:tailEnd type="triangle" w="med" len="med"/>
            </a:ln>
          </p:spPr>
          <p:txBody>
            <a:bodyPr wrap="none" anchor="ctr"/>
            <a:lstStyle/>
            <a:p>
              <a:endParaRPr lang="bg-BG"/>
            </a:p>
          </p:txBody>
        </p:sp>
        <p:sp>
          <p:nvSpPr>
            <p:cNvPr id="72733" name="Line 28"/>
            <p:cNvSpPr>
              <a:spLocks noChangeShapeType="1"/>
            </p:cNvSpPr>
            <p:nvPr/>
          </p:nvSpPr>
          <p:spPr bwMode="auto">
            <a:xfrm>
              <a:off x="1440" y="3936"/>
              <a:ext cx="96" cy="144"/>
            </a:xfrm>
            <a:prstGeom prst="line">
              <a:avLst/>
            </a:prstGeom>
            <a:noFill/>
            <a:ln w="9525">
              <a:solidFill>
                <a:schemeClr val="tx1"/>
              </a:solidFill>
              <a:round/>
              <a:headEnd/>
              <a:tailEnd type="triangle" w="med" len="med"/>
            </a:ln>
          </p:spPr>
          <p:txBody>
            <a:bodyPr wrap="none" anchor="ctr"/>
            <a:lstStyle/>
            <a:p>
              <a:endParaRPr lang="bg-BG"/>
            </a:p>
          </p:txBody>
        </p:sp>
        <p:sp>
          <p:nvSpPr>
            <p:cNvPr id="72734" name="Line 29"/>
            <p:cNvSpPr>
              <a:spLocks noChangeShapeType="1"/>
            </p:cNvSpPr>
            <p:nvPr/>
          </p:nvSpPr>
          <p:spPr bwMode="auto">
            <a:xfrm flipH="1">
              <a:off x="2208" y="3600"/>
              <a:ext cx="96" cy="144"/>
            </a:xfrm>
            <a:prstGeom prst="line">
              <a:avLst/>
            </a:prstGeom>
            <a:noFill/>
            <a:ln w="9525">
              <a:solidFill>
                <a:schemeClr val="tx1"/>
              </a:solidFill>
              <a:round/>
              <a:headEnd/>
              <a:tailEnd type="triangle" w="med" len="med"/>
            </a:ln>
          </p:spPr>
          <p:txBody>
            <a:bodyPr wrap="none" anchor="ctr"/>
            <a:lstStyle/>
            <a:p>
              <a:endParaRPr lang="bg-BG"/>
            </a:p>
          </p:txBody>
        </p:sp>
        <p:sp>
          <p:nvSpPr>
            <p:cNvPr id="72735" name="Line 30"/>
            <p:cNvSpPr>
              <a:spLocks noChangeShapeType="1"/>
            </p:cNvSpPr>
            <p:nvPr/>
          </p:nvSpPr>
          <p:spPr bwMode="auto">
            <a:xfrm flipH="1">
              <a:off x="1824" y="3984"/>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2736" name="Line 31"/>
            <p:cNvSpPr>
              <a:spLocks noChangeShapeType="1"/>
            </p:cNvSpPr>
            <p:nvPr/>
          </p:nvSpPr>
          <p:spPr bwMode="auto">
            <a:xfrm>
              <a:off x="2016" y="3984"/>
              <a:ext cx="192" cy="96"/>
            </a:xfrm>
            <a:prstGeom prst="line">
              <a:avLst/>
            </a:prstGeom>
            <a:noFill/>
            <a:ln w="9525">
              <a:solidFill>
                <a:schemeClr val="tx1"/>
              </a:solidFill>
              <a:round/>
              <a:headEnd/>
              <a:tailEnd type="triangle" w="med" len="med"/>
            </a:ln>
          </p:spPr>
          <p:txBody>
            <a:bodyPr wrap="none" anchor="ctr"/>
            <a:lstStyle/>
            <a:p>
              <a:endParaRPr lang="bg-BG"/>
            </a:p>
          </p:txBody>
        </p:sp>
        <p:sp>
          <p:nvSpPr>
            <p:cNvPr id="72737" name="Line 32"/>
            <p:cNvSpPr>
              <a:spLocks noChangeShapeType="1"/>
            </p:cNvSpPr>
            <p:nvPr/>
          </p:nvSpPr>
          <p:spPr bwMode="auto">
            <a:xfrm>
              <a:off x="2496" y="3600"/>
              <a:ext cx="144" cy="144"/>
            </a:xfrm>
            <a:prstGeom prst="line">
              <a:avLst/>
            </a:prstGeom>
            <a:noFill/>
            <a:ln w="9525">
              <a:solidFill>
                <a:schemeClr val="tx1"/>
              </a:solidFill>
              <a:round/>
              <a:headEnd/>
              <a:tailEnd type="triangle" w="med" len="med"/>
            </a:ln>
          </p:spPr>
          <p:txBody>
            <a:bodyPr wrap="none" anchor="ctr"/>
            <a:lstStyle/>
            <a:p>
              <a:endParaRPr lang="bg-BG"/>
            </a:p>
          </p:txBody>
        </p:sp>
        <p:sp>
          <p:nvSpPr>
            <p:cNvPr id="72738" name="Line 33"/>
            <p:cNvSpPr>
              <a:spLocks noChangeShapeType="1"/>
            </p:cNvSpPr>
            <p:nvPr/>
          </p:nvSpPr>
          <p:spPr bwMode="auto">
            <a:xfrm>
              <a:off x="3072" y="3600"/>
              <a:ext cx="384" cy="144"/>
            </a:xfrm>
            <a:prstGeom prst="line">
              <a:avLst/>
            </a:prstGeom>
            <a:noFill/>
            <a:ln w="9525">
              <a:solidFill>
                <a:schemeClr val="tx1"/>
              </a:solidFill>
              <a:round/>
              <a:headEnd/>
              <a:tailEnd type="triangle" w="med" len="med"/>
            </a:ln>
          </p:spPr>
          <p:txBody>
            <a:bodyPr wrap="none" anchor="ctr"/>
            <a:lstStyle/>
            <a:p>
              <a:endParaRPr lang="bg-BG"/>
            </a:p>
          </p:txBody>
        </p:sp>
        <p:sp>
          <p:nvSpPr>
            <p:cNvPr id="72739" name="Line 34"/>
            <p:cNvSpPr>
              <a:spLocks noChangeShapeType="1"/>
            </p:cNvSpPr>
            <p:nvPr/>
          </p:nvSpPr>
          <p:spPr bwMode="auto">
            <a:xfrm>
              <a:off x="2976" y="3648"/>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2740" name="Line 35"/>
            <p:cNvSpPr>
              <a:spLocks noChangeShapeType="1"/>
            </p:cNvSpPr>
            <p:nvPr/>
          </p:nvSpPr>
          <p:spPr bwMode="auto">
            <a:xfrm>
              <a:off x="3360" y="3264"/>
              <a:ext cx="144" cy="192"/>
            </a:xfrm>
            <a:prstGeom prst="line">
              <a:avLst/>
            </a:prstGeom>
            <a:noFill/>
            <a:ln w="9525">
              <a:solidFill>
                <a:schemeClr val="tx1"/>
              </a:solidFill>
              <a:round/>
              <a:headEnd/>
              <a:tailEnd type="triangle" w="med" len="med"/>
            </a:ln>
          </p:spPr>
          <p:txBody>
            <a:bodyPr wrap="none" anchor="ctr"/>
            <a:lstStyle/>
            <a:p>
              <a:endParaRPr lang="bg-BG"/>
            </a:p>
          </p:txBody>
        </p:sp>
        <p:sp>
          <p:nvSpPr>
            <p:cNvPr id="72741" name="Text Box 36"/>
            <p:cNvSpPr txBox="1">
              <a:spLocks noChangeArrowheads="1"/>
            </p:cNvSpPr>
            <p:nvPr/>
          </p:nvSpPr>
          <p:spPr bwMode="auto">
            <a:xfrm>
              <a:off x="2448" y="2784"/>
              <a:ext cx="480" cy="288"/>
            </a:xfrm>
            <a:prstGeom prst="rect">
              <a:avLst/>
            </a:prstGeom>
            <a:noFill/>
            <a:ln w="9525">
              <a:noFill/>
              <a:miter lim="800000"/>
              <a:headEnd/>
              <a:tailEnd/>
            </a:ln>
          </p:spPr>
          <p:txBody>
            <a:bodyPr>
              <a:spAutoFit/>
            </a:bodyPr>
            <a:lstStyle/>
            <a:p>
              <a:pPr>
                <a:spcBef>
                  <a:spcPct val="50000"/>
                </a:spcBef>
              </a:pPr>
              <a:r>
                <a:rPr lang="bg-BG"/>
                <a:t> </a:t>
              </a:r>
              <a:r>
                <a:rPr lang="bg-BG">
                  <a:solidFill>
                    <a:schemeClr val="bg1"/>
                  </a:solidFill>
                </a:rPr>
                <a:t>34</a:t>
              </a:r>
              <a:endParaRPr lang="en-US"/>
            </a:p>
          </p:txBody>
        </p:sp>
        <p:sp>
          <p:nvSpPr>
            <p:cNvPr id="72742" name="Text Box 37"/>
            <p:cNvSpPr txBox="1">
              <a:spLocks noChangeArrowheads="1"/>
            </p:cNvSpPr>
            <p:nvPr/>
          </p:nvSpPr>
          <p:spPr bwMode="auto">
            <a:xfrm>
              <a:off x="1920" y="3024"/>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22</a:t>
              </a:r>
              <a:endParaRPr lang="en-US">
                <a:solidFill>
                  <a:schemeClr val="bg1"/>
                </a:solidFill>
              </a:endParaRPr>
            </a:p>
          </p:txBody>
        </p:sp>
        <p:sp>
          <p:nvSpPr>
            <p:cNvPr id="72743" name="Text Box 38"/>
            <p:cNvSpPr txBox="1">
              <a:spLocks noChangeArrowheads="1"/>
            </p:cNvSpPr>
            <p:nvPr/>
          </p:nvSpPr>
          <p:spPr bwMode="auto">
            <a:xfrm>
              <a:off x="3112" y="3024"/>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45</a:t>
              </a:r>
              <a:endParaRPr lang="en-US">
                <a:solidFill>
                  <a:schemeClr val="bg1"/>
                </a:solidFill>
              </a:endParaRPr>
            </a:p>
          </p:txBody>
        </p:sp>
        <p:sp>
          <p:nvSpPr>
            <p:cNvPr id="72744" name="Text Box 39"/>
            <p:cNvSpPr txBox="1">
              <a:spLocks noChangeArrowheads="1"/>
            </p:cNvSpPr>
            <p:nvPr/>
          </p:nvSpPr>
          <p:spPr bwMode="auto">
            <a:xfrm>
              <a:off x="1536" y="3360"/>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12</a:t>
              </a:r>
              <a:endParaRPr lang="en-US">
                <a:solidFill>
                  <a:schemeClr val="bg1"/>
                </a:solidFill>
              </a:endParaRPr>
            </a:p>
          </p:txBody>
        </p:sp>
        <p:sp>
          <p:nvSpPr>
            <p:cNvPr id="72745" name="Text Box 40"/>
            <p:cNvSpPr txBox="1">
              <a:spLocks noChangeArrowheads="1"/>
            </p:cNvSpPr>
            <p:nvPr/>
          </p:nvSpPr>
          <p:spPr bwMode="auto">
            <a:xfrm>
              <a:off x="2256" y="3360"/>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27</a:t>
              </a:r>
              <a:endParaRPr lang="en-US">
                <a:solidFill>
                  <a:schemeClr val="bg1"/>
                </a:solidFill>
              </a:endParaRPr>
            </a:p>
          </p:txBody>
        </p:sp>
        <p:sp>
          <p:nvSpPr>
            <p:cNvPr id="72746" name="Text Box 41"/>
            <p:cNvSpPr txBox="1">
              <a:spLocks noChangeArrowheads="1"/>
            </p:cNvSpPr>
            <p:nvPr/>
          </p:nvSpPr>
          <p:spPr bwMode="auto">
            <a:xfrm>
              <a:off x="1240" y="3696"/>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9</a:t>
              </a:r>
              <a:endParaRPr lang="en-US">
                <a:solidFill>
                  <a:schemeClr val="bg1"/>
                </a:solidFill>
              </a:endParaRPr>
            </a:p>
          </p:txBody>
        </p:sp>
        <p:sp>
          <p:nvSpPr>
            <p:cNvPr id="72747" name="Text Box 42"/>
            <p:cNvSpPr txBox="1">
              <a:spLocks noChangeArrowheads="1"/>
            </p:cNvSpPr>
            <p:nvPr/>
          </p:nvSpPr>
          <p:spPr bwMode="auto">
            <a:xfrm>
              <a:off x="1792" y="3720"/>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15</a:t>
              </a:r>
              <a:endParaRPr lang="en-US">
                <a:solidFill>
                  <a:schemeClr val="bg1"/>
                </a:solidFill>
              </a:endParaRPr>
            </a:p>
          </p:txBody>
        </p:sp>
        <p:sp>
          <p:nvSpPr>
            <p:cNvPr id="72748" name="Text Box 43"/>
            <p:cNvSpPr txBox="1">
              <a:spLocks noChangeArrowheads="1"/>
            </p:cNvSpPr>
            <p:nvPr/>
          </p:nvSpPr>
          <p:spPr bwMode="auto">
            <a:xfrm>
              <a:off x="2824" y="3360"/>
              <a:ext cx="432" cy="288"/>
            </a:xfrm>
            <a:prstGeom prst="rect">
              <a:avLst/>
            </a:prstGeom>
            <a:noFill/>
            <a:ln w="9525">
              <a:noFill/>
              <a:miter lim="800000"/>
              <a:headEnd/>
              <a:tailEnd/>
            </a:ln>
          </p:spPr>
          <p:txBody>
            <a:bodyPr>
              <a:spAutoFit/>
            </a:bodyPr>
            <a:lstStyle/>
            <a:p>
              <a:pPr>
                <a:spcBef>
                  <a:spcPct val="50000"/>
                </a:spcBef>
              </a:pPr>
              <a:r>
                <a:rPr lang="bg-BG">
                  <a:solidFill>
                    <a:schemeClr val="bg1"/>
                  </a:solidFill>
                </a:rPr>
                <a:t>37</a:t>
              </a:r>
              <a:endParaRPr lang="en-US">
                <a:solidFill>
                  <a:schemeClr val="bg1"/>
                </a:solidFill>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871464" y="685800"/>
            <a:ext cx="8272536" cy="6172200"/>
          </a:xfrm>
          <a:prstGeom prst="rect">
            <a:avLst/>
          </a:prstGeom>
          <a:noFill/>
          <a:ln w="9525">
            <a:noFill/>
            <a:miter lim="800000"/>
            <a:headEnd/>
            <a:tailEnd/>
          </a:ln>
        </p:spPr>
        <p:txBody>
          <a:bodyPr anchor="ctr"/>
          <a:lstStyle/>
          <a:p>
            <a:r>
              <a:rPr lang="bg-BG" sz="2000" dirty="0"/>
              <a:t>	В нито един от пътищата на </a:t>
            </a:r>
            <a:r>
              <a:rPr lang="en-US" sz="2000" dirty="0"/>
              <a:t>R-B</a:t>
            </a:r>
            <a:r>
              <a:rPr lang="bg-BG" sz="2000" dirty="0"/>
              <a:t>-дърво няма два последователни червени възела!</a:t>
            </a:r>
            <a:br>
              <a:rPr lang="bg-BG" sz="2000" dirty="0"/>
            </a:br>
            <a:r>
              <a:rPr lang="bg-BG" sz="2000" dirty="0"/>
              <a:t>	Нека е даден път от възел Т до листо, който съдържа </a:t>
            </a:r>
            <a:r>
              <a:rPr lang="en-US" sz="2000" b="1" i="1" dirty="0"/>
              <a:t>n</a:t>
            </a:r>
            <a:r>
              <a:rPr lang="bg-BG" sz="2000" dirty="0"/>
              <a:t> черни възела. </a:t>
            </a:r>
            <a:br>
              <a:rPr lang="bg-BG" sz="2000" dirty="0"/>
            </a:br>
            <a:r>
              <a:rPr lang="bg-BG" sz="2000" dirty="0"/>
              <a:t>От правило 4 следва, че броят на червените възли в този път не може да превишава броя на черните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
            </a:r>
            <a:br>
              <a:rPr lang="bg-BG" sz="2000" dirty="0"/>
            </a:br>
            <a:r>
              <a:rPr lang="bg-BG" sz="2000" dirty="0"/>
              <a:t>(т. к. за всеки червен трябва да има по един черен родителски възел).  </a:t>
            </a:r>
            <a:r>
              <a:rPr lang="bg-BG" sz="2800" dirty="0"/>
              <a:t/>
            </a:r>
            <a:br>
              <a:rPr lang="bg-BG" sz="2800" dirty="0"/>
            </a:br>
            <a:r>
              <a:rPr lang="bg-BG" sz="2000" dirty="0"/>
              <a:t>Така дължината на пътя е между </a:t>
            </a:r>
            <a:r>
              <a:rPr lang="en-US" sz="2000" b="1" i="1" dirty="0"/>
              <a:t>n</a:t>
            </a:r>
            <a:r>
              <a:rPr lang="en-US" sz="2000" dirty="0"/>
              <a:t> </a:t>
            </a:r>
            <a:r>
              <a:rPr lang="bg-BG" sz="2000" dirty="0"/>
              <a:t>и </a:t>
            </a:r>
            <a:r>
              <a:rPr lang="en-US" sz="2000" b="1" i="1" dirty="0"/>
              <a:t>2n</a:t>
            </a:r>
            <a:r>
              <a:rPr lang="bg-BG" sz="2000" dirty="0"/>
              <a:t>. От правило 5 обаче следва, че всички останали пътища от този възел до листата (до които може да се стигне от него) съдържат също </a:t>
            </a:r>
            <a:r>
              <a:rPr lang="en-US" sz="2000" b="1" dirty="0"/>
              <a:t>n</a:t>
            </a:r>
            <a:r>
              <a:rPr lang="bg-BG" sz="2000" dirty="0"/>
              <a:t> черни възела, т.е. и тяхната дължината е между </a:t>
            </a:r>
            <a:r>
              <a:rPr lang="en-US" sz="2000" b="1" i="1" dirty="0"/>
              <a:t>n</a:t>
            </a:r>
            <a:r>
              <a:rPr lang="en-US" sz="2000" dirty="0"/>
              <a:t> </a:t>
            </a:r>
            <a:r>
              <a:rPr lang="bg-BG" sz="2000" dirty="0"/>
              <a:t>и </a:t>
            </a:r>
            <a:r>
              <a:rPr lang="en-US" sz="2000" b="1" i="1" dirty="0"/>
              <a:t>2n</a:t>
            </a:r>
            <a:r>
              <a:rPr lang="bg-BG" sz="2000" dirty="0"/>
              <a:t>. Поради това височината на цялото дърво (с корен Т) е най-много </a:t>
            </a:r>
            <a:r>
              <a:rPr lang="en-US" sz="2000" b="1" i="1" dirty="0"/>
              <a:t>2n</a:t>
            </a:r>
            <a:r>
              <a:rPr lang="bg-BG" sz="2000" dirty="0"/>
              <a:t>. Затова числото </a:t>
            </a:r>
            <a:r>
              <a:rPr lang="en-US" sz="2000" b="1" i="1" dirty="0"/>
              <a:t>n</a:t>
            </a:r>
            <a:r>
              <a:rPr lang="bg-BG" sz="2000" dirty="0"/>
              <a:t> се нарича </a:t>
            </a:r>
            <a:r>
              <a:rPr lang="bg-BG" sz="2000" dirty="0" err="1"/>
              <a:t>полувисочина</a:t>
            </a:r>
            <a:r>
              <a:rPr lang="bg-BG" sz="2000" dirty="0"/>
              <a:t>. </a:t>
            </a:r>
            <a:br>
              <a:rPr lang="bg-BG" sz="2000" dirty="0"/>
            </a:br>
            <a:r>
              <a:rPr lang="bg-BG" sz="2000" dirty="0"/>
              <a:t>От (5) също така следва, че </a:t>
            </a:r>
            <a:r>
              <a:rPr lang="bg-BG" sz="2000" dirty="0" err="1"/>
              <a:t>полувисочините</a:t>
            </a:r>
            <a:r>
              <a:rPr lang="bg-BG" sz="2000" dirty="0"/>
              <a:t> на лявото и дясното </a:t>
            </a:r>
            <a:r>
              <a:rPr lang="bg-BG" sz="2000" dirty="0" err="1"/>
              <a:t>поддърво</a:t>
            </a:r>
            <a:r>
              <a:rPr lang="bg-BG" sz="2000" dirty="0"/>
              <a:t> на дадено дърво са равни.</a:t>
            </a:r>
            <a:r>
              <a:rPr lang="bg-BG" sz="2800" dirty="0">
                <a:solidFill>
                  <a:schemeClr val="tx2"/>
                </a:solidFill>
              </a:rPr>
              <a:t/>
            </a:r>
            <a:br>
              <a:rPr lang="bg-BG" sz="2800" dirty="0">
                <a:solidFill>
                  <a:schemeClr val="tx2"/>
                </a:solidFill>
              </a:rPr>
            </a:br>
            <a:r>
              <a:rPr lang="bg-BG" sz="2800" dirty="0">
                <a:solidFill>
                  <a:schemeClr val="tx2"/>
                </a:solidFill>
              </a:rPr>
              <a:t/>
            </a:r>
            <a:br>
              <a:rPr lang="bg-BG" sz="2800" dirty="0">
                <a:solidFill>
                  <a:schemeClr val="tx2"/>
                </a:solidFill>
              </a:rPr>
            </a:br>
            <a:endParaRPr lang="en-US" sz="2800" dirty="0">
              <a:solidFill>
                <a:schemeClr val="tx2"/>
              </a:solidFill>
            </a:endParaRPr>
          </a:p>
        </p:txBody>
      </p:sp>
      <p:sp>
        <p:nvSpPr>
          <p:cNvPr id="73731" name="Rectangle 3"/>
          <p:cNvSpPr>
            <a:spLocks noChangeArrowheads="1"/>
          </p:cNvSpPr>
          <p:nvPr/>
        </p:nvSpPr>
        <p:spPr bwMode="auto">
          <a:xfrm>
            <a:off x="179512" y="0"/>
            <a:ext cx="8610600" cy="6019800"/>
          </a:xfrm>
          <a:prstGeom prst="rect">
            <a:avLst/>
          </a:prstGeom>
          <a:noFill/>
          <a:ln w="9525">
            <a:noFill/>
            <a:miter lim="800000"/>
            <a:headEnd/>
            <a:tailEnd/>
          </a:ln>
        </p:spPr>
        <p:txBody>
          <a:bodyPr anchor="ctr"/>
          <a:lstStyle/>
          <a:p>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a:solidFill>
                  <a:schemeClr val="tx2"/>
                </a:solidFill>
              </a:rPr>
              <a:t/>
            </a:r>
            <a:br>
              <a:rPr lang="bg-BG">
                <a:solidFill>
                  <a:schemeClr val="tx2"/>
                </a:solidFill>
              </a:rPr>
            </a:br>
            <a:r>
              <a:rPr lang="bg-BG" sz="3200">
                <a:solidFill>
                  <a:schemeClr val="tx2"/>
                </a:solidFill>
              </a:rPr>
              <a:t/>
            </a:r>
            <a:br>
              <a:rPr lang="bg-BG" sz="3200">
                <a:solidFill>
                  <a:schemeClr val="tx2"/>
                </a:solidFill>
              </a:rPr>
            </a:br>
            <a:endParaRPr lang="en-US" sz="3200">
              <a:solidFill>
                <a:schemeClr val="tx2"/>
              </a:solidFill>
            </a:endParaRPr>
          </a:p>
        </p:txBody>
      </p:sp>
      <p:grpSp>
        <p:nvGrpSpPr>
          <p:cNvPr id="48" name="Group 47"/>
          <p:cNvGrpSpPr/>
          <p:nvPr/>
        </p:nvGrpSpPr>
        <p:grpSpPr>
          <a:xfrm>
            <a:off x="2987824" y="1772816"/>
            <a:ext cx="4406900" cy="2209800"/>
            <a:chOff x="1828800" y="1752600"/>
            <a:chExt cx="4406900" cy="2209800"/>
          </a:xfrm>
        </p:grpSpPr>
        <p:sp>
          <p:nvSpPr>
            <p:cNvPr id="73732" name="Line 4"/>
            <p:cNvSpPr>
              <a:spLocks noChangeShapeType="1"/>
            </p:cNvSpPr>
            <p:nvPr/>
          </p:nvSpPr>
          <p:spPr bwMode="auto">
            <a:xfrm flipH="1">
              <a:off x="3886200" y="2057400"/>
              <a:ext cx="4572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3" name="Line 5"/>
            <p:cNvSpPr>
              <a:spLocks noChangeShapeType="1"/>
            </p:cNvSpPr>
            <p:nvPr/>
          </p:nvSpPr>
          <p:spPr bwMode="auto">
            <a:xfrm flipH="1">
              <a:off x="3124200" y="2514600"/>
              <a:ext cx="3048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4" name="Line 6"/>
            <p:cNvSpPr>
              <a:spLocks noChangeShapeType="1"/>
            </p:cNvSpPr>
            <p:nvPr/>
          </p:nvSpPr>
          <p:spPr bwMode="auto">
            <a:xfrm flipH="1">
              <a:off x="2667000" y="3048000"/>
              <a:ext cx="2286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5" name="Line 7"/>
            <p:cNvSpPr>
              <a:spLocks noChangeShapeType="1"/>
            </p:cNvSpPr>
            <p:nvPr/>
          </p:nvSpPr>
          <p:spPr bwMode="auto">
            <a:xfrm>
              <a:off x="3124200" y="3048000"/>
              <a:ext cx="2286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6" name="Line 8"/>
            <p:cNvSpPr>
              <a:spLocks noChangeShapeType="1"/>
            </p:cNvSpPr>
            <p:nvPr/>
          </p:nvSpPr>
          <p:spPr bwMode="auto">
            <a:xfrm>
              <a:off x="4800600" y="2057400"/>
              <a:ext cx="5334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7" name="Line 9"/>
            <p:cNvSpPr>
              <a:spLocks noChangeShapeType="1"/>
            </p:cNvSpPr>
            <p:nvPr/>
          </p:nvSpPr>
          <p:spPr bwMode="auto">
            <a:xfrm>
              <a:off x="3810000" y="2514600"/>
              <a:ext cx="2286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8" name="Line 10"/>
            <p:cNvSpPr>
              <a:spLocks noChangeShapeType="1"/>
            </p:cNvSpPr>
            <p:nvPr/>
          </p:nvSpPr>
          <p:spPr bwMode="auto">
            <a:xfrm flipH="1">
              <a:off x="5181600" y="2514600"/>
              <a:ext cx="1524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39" name="Line 11"/>
            <p:cNvSpPr>
              <a:spLocks noChangeShapeType="1"/>
            </p:cNvSpPr>
            <p:nvPr/>
          </p:nvSpPr>
          <p:spPr bwMode="auto">
            <a:xfrm flipH="1">
              <a:off x="3886200" y="3048000"/>
              <a:ext cx="1524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40" name="Line 12"/>
            <p:cNvSpPr>
              <a:spLocks noChangeShapeType="1"/>
            </p:cNvSpPr>
            <p:nvPr/>
          </p:nvSpPr>
          <p:spPr bwMode="auto">
            <a:xfrm flipH="1">
              <a:off x="1981200" y="3581400"/>
              <a:ext cx="3048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41" name="Line 13"/>
            <p:cNvSpPr>
              <a:spLocks noChangeShapeType="1"/>
            </p:cNvSpPr>
            <p:nvPr/>
          </p:nvSpPr>
          <p:spPr bwMode="auto">
            <a:xfrm>
              <a:off x="2667000" y="3581400"/>
              <a:ext cx="1524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42" name="Line 14"/>
            <p:cNvSpPr>
              <a:spLocks noChangeShapeType="1"/>
            </p:cNvSpPr>
            <p:nvPr/>
          </p:nvSpPr>
          <p:spPr bwMode="auto">
            <a:xfrm flipH="1">
              <a:off x="3200400" y="36576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3743" name="Line 15"/>
            <p:cNvSpPr>
              <a:spLocks noChangeShapeType="1"/>
            </p:cNvSpPr>
            <p:nvPr/>
          </p:nvSpPr>
          <p:spPr bwMode="auto">
            <a:xfrm>
              <a:off x="3581400" y="3657600"/>
              <a:ext cx="304800" cy="152400"/>
            </a:xfrm>
            <a:prstGeom prst="line">
              <a:avLst/>
            </a:prstGeom>
            <a:noFill/>
            <a:ln w="9525">
              <a:solidFill>
                <a:schemeClr val="tx1"/>
              </a:solidFill>
              <a:round/>
              <a:headEnd/>
              <a:tailEnd type="triangle" w="med" len="med"/>
            </a:ln>
          </p:spPr>
          <p:txBody>
            <a:bodyPr wrap="none" anchor="ctr"/>
            <a:lstStyle/>
            <a:p>
              <a:endParaRPr lang="bg-BG"/>
            </a:p>
          </p:txBody>
        </p:sp>
        <p:sp>
          <p:nvSpPr>
            <p:cNvPr id="73744" name="Line 16"/>
            <p:cNvSpPr>
              <a:spLocks noChangeShapeType="1"/>
            </p:cNvSpPr>
            <p:nvPr/>
          </p:nvSpPr>
          <p:spPr bwMode="auto">
            <a:xfrm>
              <a:off x="4343400" y="3048000"/>
              <a:ext cx="2286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45" name="Line 17"/>
            <p:cNvSpPr>
              <a:spLocks noChangeShapeType="1"/>
            </p:cNvSpPr>
            <p:nvPr/>
          </p:nvSpPr>
          <p:spPr bwMode="auto">
            <a:xfrm>
              <a:off x="5257800" y="3048000"/>
              <a:ext cx="609600" cy="228600"/>
            </a:xfrm>
            <a:prstGeom prst="line">
              <a:avLst/>
            </a:prstGeom>
            <a:noFill/>
            <a:ln w="9525">
              <a:solidFill>
                <a:schemeClr val="tx1"/>
              </a:solidFill>
              <a:round/>
              <a:headEnd/>
              <a:tailEnd type="triangle" w="med" len="med"/>
            </a:ln>
          </p:spPr>
          <p:txBody>
            <a:bodyPr wrap="none" anchor="ctr"/>
            <a:lstStyle/>
            <a:p>
              <a:endParaRPr lang="bg-BG"/>
            </a:p>
          </p:txBody>
        </p:sp>
        <p:sp>
          <p:nvSpPr>
            <p:cNvPr id="73746" name="Line 18"/>
            <p:cNvSpPr>
              <a:spLocks noChangeShapeType="1"/>
            </p:cNvSpPr>
            <p:nvPr/>
          </p:nvSpPr>
          <p:spPr bwMode="auto">
            <a:xfrm>
              <a:off x="5181600" y="31242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3747" name="Line 19"/>
            <p:cNvSpPr>
              <a:spLocks noChangeShapeType="1"/>
            </p:cNvSpPr>
            <p:nvPr/>
          </p:nvSpPr>
          <p:spPr bwMode="auto">
            <a:xfrm>
              <a:off x="5715000" y="2514600"/>
              <a:ext cx="228600" cy="304800"/>
            </a:xfrm>
            <a:prstGeom prst="line">
              <a:avLst/>
            </a:prstGeom>
            <a:noFill/>
            <a:ln w="9525">
              <a:solidFill>
                <a:schemeClr val="tx1"/>
              </a:solidFill>
              <a:round/>
              <a:headEnd/>
              <a:tailEnd type="triangle" w="med" len="med"/>
            </a:ln>
          </p:spPr>
          <p:txBody>
            <a:bodyPr wrap="none" anchor="ctr"/>
            <a:lstStyle/>
            <a:p>
              <a:endParaRPr lang="bg-BG"/>
            </a:p>
          </p:txBody>
        </p:sp>
        <p:grpSp>
          <p:nvGrpSpPr>
            <p:cNvPr id="73748" name="Group 20"/>
            <p:cNvGrpSpPr>
              <a:grpSpLocks/>
            </p:cNvGrpSpPr>
            <p:nvPr/>
          </p:nvGrpSpPr>
          <p:grpSpPr bwMode="auto">
            <a:xfrm>
              <a:off x="1828800" y="1752600"/>
              <a:ext cx="4406900" cy="2209800"/>
              <a:chOff x="1152" y="672"/>
              <a:chExt cx="2776" cy="1392"/>
            </a:xfrm>
          </p:grpSpPr>
          <p:sp>
            <p:nvSpPr>
              <p:cNvPr id="73752" name="Oval 21"/>
              <p:cNvSpPr>
                <a:spLocks noChangeArrowheads="1"/>
              </p:cNvSpPr>
              <p:nvPr/>
            </p:nvSpPr>
            <p:spPr bwMode="auto">
              <a:xfrm>
                <a:off x="2728" y="672"/>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3753" name="Oval 22"/>
              <p:cNvSpPr>
                <a:spLocks noChangeArrowheads="1"/>
              </p:cNvSpPr>
              <p:nvPr/>
            </p:nvSpPr>
            <p:spPr bwMode="auto">
              <a:xfrm>
                <a:off x="3352" y="912"/>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3754" name="Oval 23"/>
              <p:cNvSpPr>
                <a:spLocks noChangeArrowheads="1"/>
              </p:cNvSpPr>
              <p:nvPr/>
            </p:nvSpPr>
            <p:spPr bwMode="auto">
              <a:xfrm>
                <a:off x="2488" y="1248"/>
                <a:ext cx="288" cy="288"/>
              </a:xfrm>
              <a:prstGeom prst="ellipse">
                <a:avLst/>
              </a:prstGeom>
              <a:solidFill>
                <a:schemeClr val="tx1"/>
              </a:solidFill>
              <a:ln w="9525">
                <a:solidFill>
                  <a:schemeClr val="tx1"/>
                </a:solidFill>
                <a:round/>
                <a:headEnd/>
                <a:tailEnd/>
              </a:ln>
            </p:spPr>
            <p:txBody>
              <a:bodyPr wrap="none" anchor="ctr"/>
              <a:lstStyle/>
              <a:p>
                <a:pPr algn="ctr"/>
                <a:endParaRPr lang="bg-BG"/>
              </a:p>
            </p:txBody>
          </p:sp>
          <p:sp>
            <p:nvSpPr>
              <p:cNvPr id="73755" name="Oval 24"/>
              <p:cNvSpPr>
                <a:spLocks noChangeArrowheads="1"/>
              </p:cNvSpPr>
              <p:nvPr/>
            </p:nvSpPr>
            <p:spPr bwMode="auto">
              <a:xfrm>
                <a:off x="1768" y="1248"/>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3756" name="Oval 25"/>
              <p:cNvSpPr>
                <a:spLocks noChangeArrowheads="1"/>
              </p:cNvSpPr>
              <p:nvPr/>
            </p:nvSpPr>
            <p:spPr bwMode="auto">
              <a:xfrm>
                <a:off x="2152" y="912"/>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3757" name="Oval 26"/>
              <p:cNvSpPr>
                <a:spLocks noChangeArrowheads="1"/>
              </p:cNvSpPr>
              <p:nvPr/>
            </p:nvSpPr>
            <p:spPr bwMode="auto">
              <a:xfrm>
                <a:off x="2024" y="1616"/>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3758" name="Oval 27"/>
              <p:cNvSpPr>
                <a:spLocks noChangeArrowheads="1"/>
              </p:cNvSpPr>
              <p:nvPr/>
            </p:nvSpPr>
            <p:spPr bwMode="auto">
              <a:xfrm>
                <a:off x="1432" y="1584"/>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3759" name="Oval 28"/>
              <p:cNvSpPr>
                <a:spLocks noChangeArrowheads="1"/>
              </p:cNvSpPr>
              <p:nvPr/>
            </p:nvSpPr>
            <p:spPr bwMode="auto">
              <a:xfrm>
                <a:off x="3064" y="1248"/>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3760" name="Rectangle 29"/>
              <p:cNvSpPr>
                <a:spLocks noChangeArrowheads="1"/>
              </p:cNvSpPr>
              <p:nvPr/>
            </p:nvSpPr>
            <p:spPr bwMode="auto">
              <a:xfrm>
                <a:off x="1152" y="1968"/>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1" name="Rectangle 30"/>
              <p:cNvSpPr>
                <a:spLocks noChangeArrowheads="1"/>
              </p:cNvSpPr>
              <p:nvPr/>
            </p:nvSpPr>
            <p:spPr bwMode="auto">
              <a:xfrm>
                <a:off x="1968" y="1968"/>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2" name="Rectangle 31"/>
              <p:cNvSpPr>
                <a:spLocks noChangeArrowheads="1"/>
              </p:cNvSpPr>
              <p:nvPr/>
            </p:nvSpPr>
            <p:spPr bwMode="auto">
              <a:xfrm>
                <a:off x="1592" y="1968"/>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3" name="Rectangle 32"/>
              <p:cNvSpPr>
                <a:spLocks noChangeArrowheads="1"/>
              </p:cNvSpPr>
              <p:nvPr/>
            </p:nvSpPr>
            <p:spPr bwMode="auto">
              <a:xfrm>
                <a:off x="2392" y="1632"/>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4" name="Rectangle 33"/>
              <p:cNvSpPr>
                <a:spLocks noChangeArrowheads="1"/>
              </p:cNvSpPr>
              <p:nvPr/>
            </p:nvSpPr>
            <p:spPr bwMode="auto">
              <a:xfrm>
                <a:off x="2776" y="1632"/>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5" name="Rectangle 34"/>
              <p:cNvSpPr>
                <a:spLocks noChangeArrowheads="1"/>
              </p:cNvSpPr>
              <p:nvPr/>
            </p:nvSpPr>
            <p:spPr bwMode="auto">
              <a:xfrm>
                <a:off x="3160" y="1632"/>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6" name="Rectangle 35"/>
              <p:cNvSpPr>
                <a:spLocks noChangeArrowheads="1"/>
              </p:cNvSpPr>
              <p:nvPr/>
            </p:nvSpPr>
            <p:spPr bwMode="auto">
              <a:xfrm>
                <a:off x="3544" y="1632"/>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7" name="Rectangle 36"/>
              <p:cNvSpPr>
                <a:spLocks noChangeArrowheads="1"/>
              </p:cNvSpPr>
              <p:nvPr/>
            </p:nvSpPr>
            <p:spPr bwMode="auto">
              <a:xfrm>
                <a:off x="3640" y="1344"/>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8" name="Rectangle 37"/>
              <p:cNvSpPr>
                <a:spLocks noChangeArrowheads="1"/>
              </p:cNvSpPr>
              <p:nvPr/>
            </p:nvSpPr>
            <p:spPr bwMode="auto">
              <a:xfrm>
                <a:off x="2344" y="1968"/>
                <a:ext cx="288" cy="96"/>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3769" name="Text Box 38"/>
              <p:cNvSpPr txBox="1">
                <a:spLocks noChangeArrowheads="1"/>
              </p:cNvSpPr>
              <p:nvPr/>
            </p:nvSpPr>
            <p:spPr bwMode="auto">
              <a:xfrm>
                <a:off x="2680" y="672"/>
                <a:ext cx="480" cy="288"/>
              </a:xfrm>
              <a:prstGeom prst="rect">
                <a:avLst/>
              </a:prstGeom>
              <a:noFill/>
              <a:ln w="9525">
                <a:noFill/>
                <a:miter lim="800000"/>
                <a:headEnd/>
                <a:tailEnd/>
              </a:ln>
            </p:spPr>
            <p:txBody>
              <a:bodyPr>
                <a:spAutoFit/>
              </a:bodyPr>
              <a:lstStyle/>
              <a:p>
                <a:pPr>
                  <a:spcBef>
                    <a:spcPct val="50000"/>
                  </a:spcBef>
                </a:pPr>
                <a:r>
                  <a:rPr lang="bg-BG"/>
                  <a:t> </a:t>
                </a:r>
                <a:r>
                  <a:rPr lang="bg-BG">
                    <a:solidFill>
                      <a:schemeClr val="bg1"/>
                    </a:solidFill>
                  </a:rPr>
                  <a:t>34</a:t>
                </a:r>
                <a:endParaRPr lang="en-US"/>
              </a:p>
            </p:txBody>
          </p:sp>
          <p:sp>
            <p:nvSpPr>
              <p:cNvPr id="73770" name="Text Box 39"/>
              <p:cNvSpPr txBox="1">
                <a:spLocks noChangeArrowheads="1"/>
              </p:cNvSpPr>
              <p:nvPr/>
            </p:nvSpPr>
            <p:spPr bwMode="auto">
              <a:xfrm>
                <a:off x="2152" y="912"/>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22</a:t>
                </a:r>
                <a:endParaRPr lang="en-US">
                  <a:solidFill>
                    <a:schemeClr val="bg1"/>
                  </a:solidFill>
                </a:endParaRPr>
              </a:p>
            </p:txBody>
          </p:sp>
          <p:sp>
            <p:nvSpPr>
              <p:cNvPr id="73771" name="Text Box 40"/>
              <p:cNvSpPr txBox="1">
                <a:spLocks noChangeArrowheads="1"/>
              </p:cNvSpPr>
              <p:nvPr/>
            </p:nvSpPr>
            <p:spPr bwMode="auto">
              <a:xfrm>
                <a:off x="3344" y="912"/>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45</a:t>
                </a:r>
                <a:endParaRPr lang="en-US">
                  <a:solidFill>
                    <a:schemeClr val="bg1"/>
                  </a:solidFill>
                </a:endParaRPr>
              </a:p>
            </p:txBody>
          </p:sp>
          <p:sp>
            <p:nvSpPr>
              <p:cNvPr id="73772" name="Text Box 41"/>
              <p:cNvSpPr txBox="1">
                <a:spLocks noChangeArrowheads="1"/>
              </p:cNvSpPr>
              <p:nvPr/>
            </p:nvSpPr>
            <p:spPr bwMode="auto">
              <a:xfrm>
                <a:off x="1768" y="1248"/>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12</a:t>
                </a:r>
                <a:endParaRPr lang="en-US">
                  <a:solidFill>
                    <a:schemeClr val="bg1"/>
                  </a:solidFill>
                </a:endParaRPr>
              </a:p>
            </p:txBody>
          </p:sp>
          <p:sp>
            <p:nvSpPr>
              <p:cNvPr id="73773" name="Text Box 42"/>
              <p:cNvSpPr txBox="1">
                <a:spLocks noChangeArrowheads="1"/>
              </p:cNvSpPr>
              <p:nvPr/>
            </p:nvSpPr>
            <p:spPr bwMode="auto">
              <a:xfrm>
                <a:off x="2488" y="1248"/>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27</a:t>
                </a:r>
                <a:endParaRPr lang="en-US">
                  <a:solidFill>
                    <a:schemeClr val="bg1"/>
                  </a:solidFill>
                </a:endParaRPr>
              </a:p>
            </p:txBody>
          </p:sp>
          <p:sp>
            <p:nvSpPr>
              <p:cNvPr id="73774" name="Text Box 43"/>
              <p:cNvSpPr txBox="1">
                <a:spLocks noChangeArrowheads="1"/>
              </p:cNvSpPr>
              <p:nvPr/>
            </p:nvSpPr>
            <p:spPr bwMode="auto">
              <a:xfrm>
                <a:off x="1472" y="1584"/>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9</a:t>
                </a:r>
                <a:endParaRPr lang="en-US">
                  <a:solidFill>
                    <a:schemeClr val="bg1"/>
                  </a:solidFill>
                </a:endParaRPr>
              </a:p>
            </p:txBody>
          </p:sp>
          <p:sp>
            <p:nvSpPr>
              <p:cNvPr id="73775" name="Text Box 44"/>
              <p:cNvSpPr txBox="1">
                <a:spLocks noChangeArrowheads="1"/>
              </p:cNvSpPr>
              <p:nvPr/>
            </p:nvSpPr>
            <p:spPr bwMode="auto">
              <a:xfrm>
                <a:off x="2024" y="1608"/>
                <a:ext cx="384" cy="288"/>
              </a:xfrm>
              <a:prstGeom prst="rect">
                <a:avLst/>
              </a:prstGeom>
              <a:noFill/>
              <a:ln w="9525">
                <a:noFill/>
                <a:miter lim="800000"/>
                <a:headEnd/>
                <a:tailEnd/>
              </a:ln>
            </p:spPr>
            <p:txBody>
              <a:bodyPr>
                <a:spAutoFit/>
              </a:bodyPr>
              <a:lstStyle/>
              <a:p>
                <a:pPr>
                  <a:spcBef>
                    <a:spcPct val="50000"/>
                  </a:spcBef>
                </a:pPr>
                <a:r>
                  <a:rPr lang="bg-BG">
                    <a:solidFill>
                      <a:schemeClr val="bg1"/>
                    </a:solidFill>
                  </a:rPr>
                  <a:t>15</a:t>
                </a:r>
                <a:endParaRPr lang="en-US">
                  <a:solidFill>
                    <a:schemeClr val="bg1"/>
                  </a:solidFill>
                </a:endParaRPr>
              </a:p>
            </p:txBody>
          </p:sp>
        </p:grpSp>
        <p:sp>
          <p:nvSpPr>
            <p:cNvPr id="73749" name="Text Box 46"/>
            <p:cNvSpPr txBox="1">
              <a:spLocks noChangeArrowheads="1"/>
            </p:cNvSpPr>
            <p:nvPr/>
          </p:nvSpPr>
          <p:spPr bwMode="auto">
            <a:xfrm>
              <a:off x="4953000" y="2667000"/>
              <a:ext cx="381000" cy="457200"/>
            </a:xfrm>
            <a:prstGeom prst="rect">
              <a:avLst/>
            </a:prstGeom>
            <a:noFill/>
            <a:ln w="9525">
              <a:noFill/>
              <a:miter lim="800000"/>
              <a:headEnd/>
              <a:tailEnd/>
            </a:ln>
          </p:spPr>
          <p:txBody>
            <a:bodyPr>
              <a:spAutoFit/>
            </a:bodyPr>
            <a:lstStyle/>
            <a:p>
              <a:pPr>
                <a:spcBef>
                  <a:spcPct val="50000"/>
                </a:spcBef>
              </a:pPr>
              <a:endParaRPr lang="bg-BG"/>
            </a:p>
          </p:txBody>
        </p:sp>
        <p:sp>
          <p:nvSpPr>
            <p:cNvPr id="73750" name="Text Box 47"/>
            <p:cNvSpPr txBox="1">
              <a:spLocks noChangeArrowheads="1"/>
            </p:cNvSpPr>
            <p:nvPr/>
          </p:nvSpPr>
          <p:spPr bwMode="auto">
            <a:xfrm>
              <a:off x="4851400" y="2667000"/>
              <a:ext cx="609600" cy="457200"/>
            </a:xfrm>
            <a:prstGeom prst="rect">
              <a:avLst/>
            </a:prstGeom>
            <a:noFill/>
            <a:ln w="9525">
              <a:noFill/>
              <a:miter lim="800000"/>
              <a:headEnd/>
              <a:tailEnd/>
            </a:ln>
          </p:spPr>
          <p:txBody>
            <a:bodyPr>
              <a:spAutoFit/>
            </a:bodyPr>
            <a:lstStyle/>
            <a:p>
              <a:pPr>
                <a:spcBef>
                  <a:spcPct val="50000"/>
                </a:spcBef>
              </a:pPr>
              <a:r>
                <a:rPr lang="bg-BG">
                  <a:solidFill>
                    <a:schemeClr val="bg1"/>
                  </a:solidFill>
                </a:rPr>
                <a:t>37</a:t>
              </a:r>
              <a:endParaRPr lang="en-US"/>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1223120" y="332656"/>
            <a:ext cx="7920880" cy="6019800"/>
          </a:xfrm>
        </p:spPr>
        <p:txBody>
          <a:bodyPr>
            <a:normAutofit fontScale="90000"/>
          </a:bodyPr>
          <a:lstStyle/>
          <a:p>
            <a:pPr eaLnBrk="1" fontAlgn="auto" hangingPunct="1">
              <a:spcAft>
                <a:spcPts val="0"/>
              </a:spcAft>
              <a:defRPr/>
            </a:pPr>
            <a:r>
              <a:rPr lang="bg-BG" sz="2000">
                <a:solidFill>
                  <a:schemeClr val="tx1"/>
                </a:solidFill>
              </a:rPr>
              <a:t>	С елементарна индукция по </a:t>
            </a:r>
            <a:r>
              <a:rPr lang="en-US" sz="2000" b="1" i="1">
                <a:solidFill>
                  <a:schemeClr val="tx1"/>
                </a:solidFill>
              </a:rPr>
              <a:t>n</a:t>
            </a:r>
            <a:r>
              <a:rPr lang="bg-BG" sz="2000">
                <a:solidFill>
                  <a:schemeClr val="tx1"/>
                </a:solidFill>
              </a:rPr>
              <a:t> може да се докаже, че ако полувисочината на дадено дърво е </a:t>
            </a:r>
            <a:r>
              <a:rPr lang="en-US" sz="2000">
                <a:solidFill>
                  <a:schemeClr val="tx1"/>
                </a:solidFill>
              </a:rPr>
              <a:t>n</a:t>
            </a:r>
            <a:r>
              <a:rPr lang="bg-BG" sz="2000">
                <a:solidFill>
                  <a:schemeClr val="tx1"/>
                </a:solidFill>
              </a:rPr>
              <a:t>, то броят на елементите </a:t>
            </a:r>
            <a:r>
              <a:rPr lang="bg-BG" sz="2000" b="1" i="1">
                <a:solidFill>
                  <a:schemeClr val="tx1"/>
                </a:solidFill>
              </a:rPr>
              <a:t>N</a:t>
            </a:r>
            <a:r>
              <a:rPr lang="bg-BG" sz="2000">
                <a:solidFill>
                  <a:schemeClr val="tx1"/>
                </a:solidFill>
              </a:rPr>
              <a:t> в това дърво е поне  </a:t>
            </a:r>
            <a:r>
              <a:rPr lang="bg-BG" sz="2000" b="1" i="1">
                <a:solidFill>
                  <a:schemeClr val="tx1"/>
                </a:solidFill>
              </a:rPr>
              <a:t>2</a:t>
            </a:r>
            <a:r>
              <a:rPr lang="en-US" sz="2000" b="1" i="1" baseline="30000">
                <a:solidFill>
                  <a:schemeClr val="tx1"/>
                </a:solidFill>
              </a:rPr>
              <a:t>n</a:t>
            </a:r>
            <a:r>
              <a:rPr lang="en-US" sz="2000" b="1" i="1">
                <a:solidFill>
                  <a:schemeClr val="tx1"/>
                </a:solidFill>
              </a:rPr>
              <a:t>-1</a:t>
            </a:r>
            <a:r>
              <a:rPr lang="bg-BG" sz="2000">
                <a:solidFill>
                  <a:schemeClr val="tx1"/>
                </a:solidFill>
              </a:rPr>
              <a:t> . </a:t>
            </a:r>
            <a:r>
              <a:rPr lang="en-US" sz="2000">
                <a:solidFill>
                  <a:schemeClr val="tx1"/>
                </a:solidFill>
              </a:rPr>
              <a:t/>
            </a:r>
            <a:br>
              <a:rPr lang="en-US" sz="2000">
                <a:solidFill>
                  <a:schemeClr val="tx1"/>
                </a:solidFill>
              </a:rPr>
            </a:br>
            <a:r>
              <a:rPr lang="bg-BG" sz="800">
                <a:solidFill>
                  <a:schemeClr val="tx1"/>
                </a:solidFill>
              </a:rPr>
              <a:t/>
            </a:r>
            <a:br>
              <a:rPr lang="bg-BG" sz="800">
                <a:solidFill>
                  <a:schemeClr val="tx1"/>
                </a:solidFill>
              </a:rPr>
            </a:br>
            <a:r>
              <a:rPr lang="en-US" sz="2000">
                <a:solidFill>
                  <a:schemeClr val="tx1"/>
                </a:solidFill>
              </a:rPr>
              <a:t>	</a:t>
            </a:r>
            <a:r>
              <a:rPr lang="bg-BG" sz="2000">
                <a:solidFill>
                  <a:schemeClr val="tx1"/>
                </a:solidFill>
              </a:rPr>
              <a:t>Следователно</a:t>
            </a:r>
            <a:r>
              <a:rPr lang="en-US" sz="2000">
                <a:solidFill>
                  <a:schemeClr val="tx1"/>
                </a:solidFill>
              </a:rPr>
              <a:t/>
            </a:r>
            <a:br>
              <a:rPr lang="en-US" sz="2000">
                <a:solidFill>
                  <a:schemeClr val="tx1"/>
                </a:solidFill>
              </a:rPr>
            </a:br>
            <a:r>
              <a:rPr lang="en-US" sz="2000">
                <a:solidFill>
                  <a:schemeClr val="tx1"/>
                </a:solidFill>
              </a:rPr>
              <a:t>		</a:t>
            </a:r>
            <a:r>
              <a:rPr lang="en-US" sz="2000" b="1" i="1">
                <a:solidFill>
                  <a:schemeClr val="tx1"/>
                </a:solidFill>
              </a:rPr>
              <a:t>	</a:t>
            </a:r>
            <a:r>
              <a:rPr lang="bg-BG" sz="2000" b="1" i="1">
                <a:solidFill>
                  <a:schemeClr val="tx1"/>
                </a:solidFill>
              </a:rPr>
              <a:t>      </a:t>
            </a:r>
            <a:r>
              <a:rPr lang="en-US" sz="2000" b="1" i="1">
                <a:solidFill>
                  <a:schemeClr val="tx1"/>
                </a:solidFill>
              </a:rPr>
              <a:t>n &lt;= log</a:t>
            </a:r>
            <a:r>
              <a:rPr lang="en-US" sz="2000" b="1" i="1" baseline="-25000">
                <a:solidFill>
                  <a:schemeClr val="tx1"/>
                </a:solidFill>
              </a:rPr>
              <a:t>2</a:t>
            </a:r>
            <a:r>
              <a:rPr lang="en-US" sz="2000" b="1" i="1">
                <a:solidFill>
                  <a:schemeClr val="tx1"/>
                </a:solidFill>
              </a:rPr>
              <a:t>(N+1)</a:t>
            </a:r>
            <a:br>
              <a:rPr lang="en-US" sz="2000" b="1" i="1">
                <a:solidFill>
                  <a:schemeClr val="tx1"/>
                </a:solidFill>
              </a:rPr>
            </a:br>
            <a:r>
              <a:rPr lang="bg-BG" sz="2000">
                <a:solidFill>
                  <a:schemeClr val="tx1"/>
                </a:solidFill>
              </a:rPr>
              <a:t>или    </a:t>
            </a:r>
            <a:br>
              <a:rPr lang="bg-BG" sz="2000">
                <a:solidFill>
                  <a:schemeClr val="tx1"/>
                </a:solidFill>
              </a:rPr>
            </a:br>
            <a:r>
              <a:rPr lang="bg-BG" sz="2000">
                <a:solidFill>
                  <a:schemeClr val="tx1"/>
                </a:solidFill>
              </a:rPr>
              <a:t>          височината на дървото </a:t>
            </a:r>
            <a:r>
              <a:rPr lang="bg-BG" sz="2000" b="1" i="1">
                <a:solidFill>
                  <a:schemeClr val="tx1"/>
                </a:solidFill>
              </a:rPr>
              <a:t>&lt;=2 </a:t>
            </a:r>
            <a:r>
              <a:rPr lang="en-US" sz="2000" b="1" i="1">
                <a:solidFill>
                  <a:schemeClr val="tx1"/>
                </a:solidFill>
              </a:rPr>
              <a:t>log</a:t>
            </a:r>
            <a:r>
              <a:rPr lang="en-US" sz="2000" b="1" i="1" baseline="-25000">
                <a:solidFill>
                  <a:schemeClr val="tx1"/>
                </a:solidFill>
              </a:rPr>
              <a:t>2</a:t>
            </a:r>
            <a:r>
              <a:rPr lang="en-US" sz="2000" b="1" i="1">
                <a:solidFill>
                  <a:schemeClr val="tx1"/>
                </a:solidFill>
              </a:rPr>
              <a:t>(N+1)</a:t>
            </a:r>
            <a:r>
              <a:rPr lang="bg-BG" sz="2000">
                <a:solidFill>
                  <a:schemeClr val="tx1"/>
                </a:solidFill>
              </a:rPr>
              <a:t>,  т. е. правилното оцветяване гарантира балансираност на дървото.</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	Подробни описания на алгоритми за работа с </a:t>
            </a:r>
            <a:r>
              <a:rPr lang="en-US" sz="2000">
                <a:solidFill>
                  <a:schemeClr val="tx1"/>
                </a:solidFill>
              </a:rPr>
              <a:t>R-B-</a:t>
            </a:r>
            <a:r>
              <a:rPr lang="bg-BG" sz="2000">
                <a:solidFill>
                  <a:schemeClr val="tx1"/>
                </a:solidFill>
              </a:rPr>
              <a:t>дървета:</a:t>
            </a:r>
            <a:br>
              <a:rPr lang="bg-BG" sz="2000">
                <a:solidFill>
                  <a:schemeClr val="tx1"/>
                </a:solidFill>
              </a:rPr>
            </a:br>
            <a:r>
              <a:rPr lang="bg-BG" sz="2000">
                <a:solidFill>
                  <a:schemeClr val="tx1"/>
                </a:solidFill>
              </a:rPr>
              <a:t/>
            </a:r>
            <a:br>
              <a:rPr lang="bg-BG" sz="2000">
                <a:solidFill>
                  <a:schemeClr val="tx1"/>
                </a:solidFill>
              </a:rPr>
            </a:br>
            <a:r>
              <a:rPr lang="bg-BG" sz="2000">
                <a:solidFill>
                  <a:schemeClr val="tx1"/>
                </a:solidFill>
              </a:rPr>
              <a:t>1. Робърт Седжуик, </a:t>
            </a:r>
            <a:r>
              <a:rPr lang="bg-BG" sz="2000" i="1">
                <a:solidFill>
                  <a:schemeClr val="tx1"/>
                </a:solidFill>
              </a:rPr>
              <a:t>Алгоритми на С, том 2,</a:t>
            </a:r>
            <a:r>
              <a:rPr lang="bg-BG" sz="2000">
                <a:solidFill>
                  <a:schemeClr val="tx1"/>
                </a:solidFill>
              </a:rPr>
              <a:t> Софтпрес, С., 2002</a:t>
            </a:r>
            <a:br>
              <a:rPr lang="bg-BG" sz="2000">
                <a:solidFill>
                  <a:schemeClr val="tx1"/>
                </a:solidFill>
              </a:rPr>
            </a:br>
            <a:r>
              <a:rPr lang="bg-BG" sz="800">
                <a:solidFill>
                  <a:schemeClr val="tx1"/>
                </a:solidFill>
              </a:rPr>
              <a:t/>
            </a:r>
            <a:br>
              <a:rPr lang="bg-BG" sz="800">
                <a:solidFill>
                  <a:schemeClr val="tx1"/>
                </a:solidFill>
              </a:rPr>
            </a:br>
            <a:r>
              <a:rPr lang="bg-BG" sz="2000">
                <a:solidFill>
                  <a:schemeClr val="tx1"/>
                </a:solidFill>
              </a:rPr>
              <a:t>2. Д. Шишков и др., </a:t>
            </a:r>
            <a:r>
              <a:rPr lang="bg-BG" sz="2000" i="1">
                <a:solidFill>
                  <a:schemeClr val="tx1"/>
                </a:solidFill>
              </a:rPr>
              <a:t>Структури от  данни и алгоритми</a:t>
            </a:r>
            <a:r>
              <a:rPr lang="bg-BG" sz="2000">
                <a:solidFill>
                  <a:schemeClr val="tx1"/>
                </a:solidFill>
              </a:rPr>
              <a:t>, “Интеграл”, Добрич, 1995</a:t>
            </a:r>
            <a:r>
              <a:rPr lang="bg-BG" sz="800">
                <a:solidFill>
                  <a:schemeClr val="tx1"/>
                </a:solidFill>
              </a:rPr>
              <a:t/>
            </a:r>
            <a:br>
              <a:rPr lang="bg-BG" sz="800">
                <a:solidFill>
                  <a:schemeClr val="tx1"/>
                </a:solidFill>
              </a:rPr>
            </a:br>
            <a:r>
              <a:rPr lang="bg-BG" sz="1200">
                <a:solidFill>
                  <a:schemeClr val="tx1"/>
                </a:solidFill>
              </a:rPr>
              <a:t/>
            </a:r>
            <a:br>
              <a:rPr lang="bg-BG" sz="1200">
                <a:solidFill>
                  <a:schemeClr val="tx1"/>
                </a:solidFill>
              </a:rPr>
            </a:br>
            <a:r>
              <a:rPr lang="bg-BG" sz="2000">
                <a:solidFill>
                  <a:schemeClr val="tx1"/>
                </a:solidFill>
              </a:rPr>
              <a:t>	 </a:t>
            </a:r>
            <a:r>
              <a:rPr lang="en-US" sz="2000">
                <a:solidFill>
                  <a:schemeClr val="tx1"/>
                </a:solidFill>
              </a:rPr>
              <a:t>R-B-</a:t>
            </a:r>
            <a:r>
              <a:rPr lang="bg-BG" sz="2000">
                <a:solidFill>
                  <a:schemeClr val="tx1"/>
                </a:solidFill>
              </a:rPr>
              <a:t>дървета имат и още две основни свойства:</a:t>
            </a:r>
            <a:br>
              <a:rPr lang="bg-BG" sz="2000">
                <a:solidFill>
                  <a:schemeClr val="tx1"/>
                </a:solidFill>
              </a:rPr>
            </a:br>
            <a:r>
              <a:rPr lang="bg-BG" sz="2000">
                <a:solidFill>
                  <a:schemeClr val="tx1"/>
                </a:solidFill>
              </a:rPr>
              <a:t>1. Вече разгледаната функция за търсене в </a:t>
            </a:r>
            <a:r>
              <a:rPr lang="en-US" sz="2000">
                <a:solidFill>
                  <a:schemeClr val="tx1"/>
                </a:solidFill>
              </a:rPr>
              <a:t>BST</a:t>
            </a:r>
            <a:r>
              <a:rPr lang="bg-BG" sz="2000">
                <a:solidFill>
                  <a:schemeClr val="tx1"/>
                </a:solidFill>
              </a:rPr>
              <a:t> за тях работи без промени;</a:t>
            </a:r>
            <a:br>
              <a:rPr lang="bg-BG" sz="2000">
                <a:solidFill>
                  <a:schemeClr val="tx1"/>
                </a:solidFill>
              </a:rPr>
            </a:br>
            <a:r>
              <a:rPr lang="bg-BG" sz="2000">
                <a:solidFill>
                  <a:schemeClr val="tx1"/>
                </a:solidFill>
              </a:rPr>
              <a:t>2. Те съответстват директно на 2-3-4 дървета, така че  всички алгоритми за последните са приложими и за тях.	 </a:t>
            </a:r>
            <a:endParaRPr lang="en-US" sz="2000">
              <a:solidFill>
                <a:schemeClr val="tx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323528" y="404664"/>
            <a:ext cx="8077200" cy="6172200"/>
          </a:xfrm>
        </p:spPr>
        <p:txBody>
          <a:bodyPr/>
          <a:lstStyle/>
          <a:p>
            <a:pPr eaLnBrk="1" fontAlgn="auto" hangingPunct="1">
              <a:spcAft>
                <a:spcPts val="0"/>
              </a:spcAft>
              <a:defRPr/>
            </a:pPr>
            <a:r>
              <a:rPr lang="en-US" sz="2400" smtClean="0">
                <a:solidFill>
                  <a:schemeClr val="tx2">
                    <a:satMod val="130000"/>
                  </a:schemeClr>
                </a:solidFill>
              </a:rPr>
              <a:t>	</a:t>
            </a:r>
            <a:r>
              <a:rPr lang="bg-BG" sz="2400" smtClean="0">
                <a:solidFill>
                  <a:schemeClr val="tx1"/>
                </a:solidFill>
              </a:rPr>
              <a:t>Защо</a:t>
            </a:r>
            <a:r>
              <a:rPr lang="bg-BG" sz="2400">
                <a:solidFill>
                  <a:schemeClr val="tx1"/>
                </a:solidFill>
              </a:rPr>
              <a:t>?</a:t>
            </a:r>
            <a:br>
              <a:rPr lang="bg-BG" sz="2400">
                <a:solidFill>
                  <a:schemeClr val="tx1"/>
                </a:solidFill>
              </a:rPr>
            </a:br>
            <a:r>
              <a:rPr lang="en-US" sz="2400" smtClean="0">
                <a:solidFill>
                  <a:schemeClr val="tx1"/>
                </a:solidFill>
              </a:rPr>
              <a:t>	</a:t>
            </a:r>
            <a:r>
              <a:rPr lang="bg-BG" sz="2400" smtClean="0">
                <a:solidFill>
                  <a:schemeClr val="tx1"/>
                </a:solidFill>
              </a:rPr>
              <a:t>Например </a:t>
            </a:r>
            <a:r>
              <a:rPr lang="bg-BG" sz="2400">
                <a:solidFill>
                  <a:schemeClr val="tx1"/>
                </a:solidFill>
              </a:rPr>
              <a:t>имаме следното </a:t>
            </a:r>
            <a:r>
              <a:rPr lang="en-US" sz="2400">
                <a:solidFill>
                  <a:schemeClr val="tx1"/>
                </a:solidFill>
              </a:rPr>
              <a:t>2-3-4 - </a:t>
            </a:r>
            <a:r>
              <a:rPr lang="bg-BG" sz="2400">
                <a:solidFill>
                  <a:schemeClr val="tx1"/>
                </a:solidFill>
              </a:rPr>
              <a:t>дърво:</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bg-BG" sz="2400">
                <a:solidFill>
                  <a:schemeClr val="tx1"/>
                </a:solidFill>
              </a:rPr>
              <a:t/>
            </a:r>
            <a:br>
              <a:rPr lang="bg-BG" sz="2400">
                <a:solidFill>
                  <a:schemeClr val="tx1"/>
                </a:solidFill>
              </a:rPr>
            </a:br>
            <a:r>
              <a:rPr lang="en-US" sz="2400" smtClean="0">
                <a:solidFill>
                  <a:schemeClr val="tx1"/>
                </a:solidFill>
              </a:rPr>
              <a:t>	</a:t>
            </a:r>
            <a:r>
              <a:rPr lang="bg-BG" sz="2400" smtClean="0">
                <a:solidFill>
                  <a:schemeClr val="tx1"/>
                </a:solidFill>
              </a:rPr>
              <a:t>Дървото </a:t>
            </a:r>
            <a:r>
              <a:rPr lang="bg-BG" sz="2400">
                <a:solidFill>
                  <a:schemeClr val="tx1"/>
                </a:solidFill>
              </a:rPr>
              <a:t>може да бъде преобразувано така:</a:t>
            </a: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t>
            </a:r>
            <a:r>
              <a:rPr lang="bg-BG" sz="2400">
                <a:solidFill>
                  <a:schemeClr val="tx1"/>
                </a:solidFill>
              </a:rPr>
              <a:t>или</a:t>
            </a: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r>
              <a:rPr lang="bg-BG" sz="2400">
                <a:solidFill>
                  <a:schemeClr val="tx2">
                    <a:satMod val="130000"/>
                  </a:schemeClr>
                </a:solidFill>
              </a:rPr>
              <a:t/>
            </a:r>
            <a:br>
              <a:rPr lang="bg-BG" sz="2400">
                <a:solidFill>
                  <a:schemeClr val="tx2">
                    <a:satMod val="130000"/>
                  </a:schemeClr>
                </a:solidFill>
              </a:rPr>
            </a:br>
            <a:endParaRPr lang="en-US" sz="2800">
              <a:solidFill>
                <a:schemeClr val="tx2">
                  <a:satMod val="130000"/>
                </a:schemeClr>
              </a:solidFill>
            </a:endParaRPr>
          </a:p>
        </p:txBody>
      </p:sp>
      <p:grpSp>
        <p:nvGrpSpPr>
          <p:cNvPr id="75779" name="Group 248"/>
          <p:cNvGrpSpPr>
            <a:grpSpLocks/>
          </p:cNvGrpSpPr>
          <p:nvPr/>
        </p:nvGrpSpPr>
        <p:grpSpPr bwMode="auto">
          <a:xfrm>
            <a:off x="306274" y="1308100"/>
            <a:ext cx="8750300" cy="1600200"/>
            <a:chOff x="288" y="824"/>
            <a:chExt cx="5512" cy="1008"/>
          </a:xfrm>
        </p:grpSpPr>
        <p:grpSp>
          <p:nvGrpSpPr>
            <p:cNvPr id="75886" name="Group 6"/>
            <p:cNvGrpSpPr>
              <a:grpSpLocks/>
            </p:cNvGrpSpPr>
            <p:nvPr/>
          </p:nvGrpSpPr>
          <p:grpSpPr bwMode="auto">
            <a:xfrm>
              <a:off x="384" y="1536"/>
              <a:ext cx="821" cy="183"/>
              <a:chOff x="5472" y="1083"/>
              <a:chExt cx="2052" cy="456"/>
            </a:xfrm>
          </p:grpSpPr>
          <p:sp>
            <p:nvSpPr>
              <p:cNvPr id="75980" name="Rectangle 7"/>
              <p:cNvSpPr>
                <a:spLocks noChangeArrowheads="1"/>
              </p:cNvSpPr>
              <p:nvPr/>
            </p:nvSpPr>
            <p:spPr bwMode="auto">
              <a:xfrm>
                <a:off x="5472" y="1083"/>
                <a:ext cx="2052" cy="456"/>
              </a:xfrm>
              <a:prstGeom prst="rect">
                <a:avLst/>
              </a:prstGeom>
              <a:solidFill>
                <a:srgbClr val="FFFFFF"/>
              </a:solidFill>
              <a:ln w="9525">
                <a:solidFill>
                  <a:srgbClr val="000000"/>
                </a:solidFill>
                <a:miter lim="800000"/>
                <a:headEnd/>
                <a:tailEnd/>
              </a:ln>
            </p:spPr>
            <p:txBody>
              <a:bodyPr/>
              <a:lstStyle/>
              <a:p>
                <a:endParaRPr lang="bg-BG"/>
              </a:p>
            </p:txBody>
          </p:sp>
          <p:sp>
            <p:nvSpPr>
              <p:cNvPr id="75981" name="Line 8"/>
              <p:cNvSpPr>
                <a:spLocks noChangeShapeType="1"/>
              </p:cNvSpPr>
              <p:nvPr/>
            </p:nvSpPr>
            <p:spPr bwMode="auto">
              <a:xfrm>
                <a:off x="6159" y="1083"/>
                <a:ext cx="0" cy="456"/>
              </a:xfrm>
              <a:prstGeom prst="line">
                <a:avLst/>
              </a:prstGeom>
              <a:noFill/>
              <a:ln w="9525">
                <a:solidFill>
                  <a:srgbClr val="000000"/>
                </a:solidFill>
                <a:round/>
                <a:headEnd/>
                <a:tailEnd/>
              </a:ln>
            </p:spPr>
            <p:txBody>
              <a:bodyPr/>
              <a:lstStyle/>
              <a:p>
                <a:endParaRPr lang="bg-BG"/>
              </a:p>
            </p:txBody>
          </p:sp>
          <p:sp>
            <p:nvSpPr>
              <p:cNvPr id="75982" name="Line 9"/>
              <p:cNvSpPr>
                <a:spLocks noChangeShapeType="1"/>
              </p:cNvSpPr>
              <p:nvPr/>
            </p:nvSpPr>
            <p:spPr bwMode="auto">
              <a:xfrm>
                <a:off x="6843" y="1083"/>
                <a:ext cx="0" cy="456"/>
              </a:xfrm>
              <a:prstGeom prst="line">
                <a:avLst/>
              </a:prstGeom>
              <a:noFill/>
              <a:ln w="9525">
                <a:solidFill>
                  <a:srgbClr val="000000"/>
                </a:solidFill>
                <a:round/>
                <a:headEnd/>
                <a:tailEnd/>
              </a:ln>
            </p:spPr>
            <p:txBody>
              <a:bodyPr/>
              <a:lstStyle/>
              <a:p>
                <a:endParaRPr lang="bg-BG"/>
              </a:p>
            </p:txBody>
          </p:sp>
        </p:grpSp>
        <p:grpSp>
          <p:nvGrpSpPr>
            <p:cNvPr id="75887" name="Group 10"/>
            <p:cNvGrpSpPr>
              <a:grpSpLocks/>
            </p:cNvGrpSpPr>
            <p:nvPr/>
          </p:nvGrpSpPr>
          <p:grpSpPr bwMode="auto">
            <a:xfrm>
              <a:off x="1104" y="1152"/>
              <a:ext cx="821" cy="183"/>
              <a:chOff x="5472" y="1083"/>
              <a:chExt cx="2052" cy="456"/>
            </a:xfrm>
          </p:grpSpPr>
          <p:sp>
            <p:nvSpPr>
              <p:cNvPr id="75977" name="Rectangle 11"/>
              <p:cNvSpPr>
                <a:spLocks noChangeArrowheads="1"/>
              </p:cNvSpPr>
              <p:nvPr/>
            </p:nvSpPr>
            <p:spPr bwMode="auto">
              <a:xfrm>
                <a:off x="5472" y="1083"/>
                <a:ext cx="2052" cy="456"/>
              </a:xfrm>
              <a:prstGeom prst="rect">
                <a:avLst/>
              </a:prstGeom>
              <a:solidFill>
                <a:srgbClr val="FFFFFF"/>
              </a:solidFill>
              <a:ln w="9525">
                <a:solidFill>
                  <a:srgbClr val="000000"/>
                </a:solidFill>
                <a:miter lim="800000"/>
                <a:headEnd/>
                <a:tailEnd/>
              </a:ln>
            </p:spPr>
            <p:txBody>
              <a:bodyPr/>
              <a:lstStyle/>
              <a:p>
                <a:endParaRPr lang="bg-BG"/>
              </a:p>
            </p:txBody>
          </p:sp>
          <p:sp>
            <p:nvSpPr>
              <p:cNvPr id="75978" name="Line 12"/>
              <p:cNvSpPr>
                <a:spLocks noChangeShapeType="1"/>
              </p:cNvSpPr>
              <p:nvPr/>
            </p:nvSpPr>
            <p:spPr bwMode="auto">
              <a:xfrm>
                <a:off x="6159" y="1083"/>
                <a:ext cx="0" cy="456"/>
              </a:xfrm>
              <a:prstGeom prst="line">
                <a:avLst/>
              </a:prstGeom>
              <a:noFill/>
              <a:ln w="9525">
                <a:solidFill>
                  <a:srgbClr val="000000"/>
                </a:solidFill>
                <a:round/>
                <a:headEnd/>
                <a:tailEnd/>
              </a:ln>
            </p:spPr>
            <p:txBody>
              <a:bodyPr/>
              <a:lstStyle/>
              <a:p>
                <a:endParaRPr lang="bg-BG"/>
              </a:p>
            </p:txBody>
          </p:sp>
          <p:sp>
            <p:nvSpPr>
              <p:cNvPr id="75979" name="Line 13"/>
              <p:cNvSpPr>
                <a:spLocks noChangeShapeType="1"/>
              </p:cNvSpPr>
              <p:nvPr/>
            </p:nvSpPr>
            <p:spPr bwMode="auto">
              <a:xfrm>
                <a:off x="6843" y="1083"/>
                <a:ext cx="0" cy="456"/>
              </a:xfrm>
              <a:prstGeom prst="line">
                <a:avLst/>
              </a:prstGeom>
              <a:noFill/>
              <a:ln w="9525">
                <a:solidFill>
                  <a:srgbClr val="000000"/>
                </a:solidFill>
                <a:round/>
                <a:headEnd/>
                <a:tailEnd/>
              </a:ln>
            </p:spPr>
            <p:txBody>
              <a:bodyPr/>
              <a:lstStyle/>
              <a:p>
                <a:endParaRPr lang="bg-BG"/>
              </a:p>
            </p:txBody>
          </p:sp>
        </p:grpSp>
        <p:grpSp>
          <p:nvGrpSpPr>
            <p:cNvPr id="75888" name="Group 18"/>
            <p:cNvGrpSpPr>
              <a:grpSpLocks/>
            </p:cNvGrpSpPr>
            <p:nvPr/>
          </p:nvGrpSpPr>
          <p:grpSpPr bwMode="auto">
            <a:xfrm>
              <a:off x="2304" y="864"/>
              <a:ext cx="821" cy="192"/>
              <a:chOff x="5472" y="1083"/>
              <a:chExt cx="2052" cy="456"/>
            </a:xfrm>
          </p:grpSpPr>
          <p:sp>
            <p:nvSpPr>
              <p:cNvPr id="75974" name="Rectangle 19"/>
              <p:cNvSpPr>
                <a:spLocks noChangeArrowheads="1"/>
              </p:cNvSpPr>
              <p:nvPr/>
            </p:nvSpPr>
            <p:spPr bwMode="auto">
              <a:xfrm>
                <a:off x="5472" y="1083"/>
                <a:ext cx="2052" cy="456"/>
              </a:xfrm>
              <a:prstGeom prst="rect">
                <a:avLst/>
              </a:prstGeom>
              <a:solidFill>
                <a:srgbClr val="FFFFFF"/>
              </a:solidFill>
              <a:ln w="9525">
                <a:solidFill>
                  <a:srgbClr val="000000"/>
                </a:solidFill>
                <a:miter lim="800000"/>
                <a:headEnd/>
                <a:tailEnd/>
              </a:ln>
            </p:spPr>
            <p:txBody>
              <a:bodyPr/>
              <a:lstStyle/>
              <a:p>
                <a:endParaRPr lang="bg-BG"/>
              </a:p>
            </p:txBody>
          </p:sp>
          <p:sp>
            <p:nvSpPr>
              <p:cNvPr id="75975" name="Line 20"/>
              <p:cNvSpPr>
                <a:spLocks noChangeShapeType="1"/>
              </p:cNvSpPr>
              <p:nvPr/>
            </p:nvSpPr>
            <p:spPr bwMode="auto">
              <a:xfrm>
                <a:off x="6159" y="1083"/>
                <a:ext cx="0" cy="456"/>
              </a:xfrm>
              <a:prstGeom prst="line">
                <a:avLst/>
              </a:prstGeom>
              <a:noFill/>
              <a:ln w="9525">
                <a:solidFill>
                  <a:srgbClr val="000000"/>
                </a:solidFill>
                <a:round/>
                <a:headEnd/>
                <a:tailEnd/>
              </a:ln>
            </p:spPr>
            <p:txBody>
              <a:bodyPr/>
              <a:lstStyle/>
              <a:p>
                <a:endParaRPr lang="bg-BG"/>
              </a:p>
            </p:txBody>
          </p:sp>
          <p:sp>
            <p:nvSpPr>
              <p:cNvPr id="75976" name="Line 21"/>
              <p:cNvSpPr>
                <a:spLocks noChangeShapeType="1"/>
              </p:cNvSpPr>
              <p:nvPr/>
            </p:nvSpPr>
            <p:spPr bwMode="auto">
              <a:xfrm>
                <a:off x="6843" y="1083"/>
                <a:ext cx="0" cy="456"/>
              </a:xfrm>
              <a:prstGeom prst="line">
                <a:avLst/>
              </a:prstGeom>
              <a:noFill/>
              <a:ln w="9525">
                <a:solidFill>
                  <a:srgbClr val="000000"/>
                </a:solidFill>
                <a:round/>
                <a:headEnd/>
                <a:tailEnd/>
              </a:ln>
            </p:spPr>
            <p:txBody>
              <a:bodyPr/>
              <a:lstStyle/>
              <a:p>
                <a:endParaRPr lang="bg-BG"/>
              </a:p>
            </p:txBody>
          </p:sp>
        </p:grpSp>
        <p:sp>
          <p:nvSpPr>
            <p:cNvPr id="75889" name="Rectangle 23"/>
            <p:cNvSpPr>
              <a:spLocks noChangeArrowheads="1"/>
            </p:cNvSpPr>
            <p:nvPr/>
          </p:nvSpPr>
          <p:spPr bwMode="auto">
            <a:xfrm>
              <a:off x="3648" y="1168"/>
              <a:ext cx="821" cy="183"/>
            </a:xfrm>
            <a:prstGeom prst="rect">
              <a:avLst/>
            </a:prstGeom>
            <a:solidFill>
              <a:srgbClr val="FFFFFF"/>
            </a:solidFill>
            <a:ln w="9525">
              <a:solidFill>
                <a:srgbClr val="000000"/>
              </a:solidFill>
              <a:miter lim="800000"/>
              <a:headEnd/>
              <a:tailEnd/>
            </a:ln>
          </p:spPr>
          <p:txBody>
            <a:bodyPr/>
            <a:lstStyle/>
            <a:p>
              <a:endParaRPr lang="bg-BG"/>
            </a:p>
          </p:txBody>
        </p:sp>
        <p:sp>
          <p:nvSpPr>
            <p:cNvPr id="75890" name="Line 24"/>
            <p:cNvSpPr>
              <a:spLocks noChangeShapeType="1"/>
            </p:cNvSpPr>
            <p:nvPr/>
          </p:nvSpPr>
          <p:spPr bwMode="auto">
            <a:xfrm>
              <a:off x="3923" y="1168"/>
              <a:ext cx="0" cy="183"/>
            </a:xfrm>
            <a:prstGeom prst="line">
              <a:avLst/>
            </a:prstGeom>
            <a:noFill/>
            <a:ln w="9525">
              <a:solidFill>
                <a:srgbClr val="CC0066"/>
              </a:solidFill>
              <a:round/>
              <a:headEnd/>
              <a:tailEnd/>
            </a:ln>
          </p:spPr>
          <p:txBody>
            <a:bodyPr/>
            <a:lstStyle/>
            <a:p>
              <a:endParaRPr lang="bg-BG"/>
            </a:p>
          </p:txBody>
        </p:sp>
        <p:sp>
          <p:nvSpPr>
            <p:cNvPr id="75891" name="Line 25"/>
            <p:cNvSpPr>
              <a:spLocks noChangeShapeType="1"/>
            </p:cNvSpPr>
            <p:nvPr/>
          </p:nvSpPr>
          <p:spPr bwMode="auto">
            <a:xfrm>
              <a:off x="4197" y="1168"/>
              <a:ext cx="0" cy="183"/>
            </a:xfrm>
            <a:prstGeom prst="line">
              <a:avLst/>
            </a:prstGeom>
            <a:noFill/>
            <a:ln w="9525">
              <a:solidFill>
                <a:schemeClr val="tx1"/>
              </a:solidFill>
              <a:round/>
              <a:headEnd/>
              <a:tailEnd/>
            </a:ln>
          </p:spPr>
          <p:txBody>
            <a:bodyPr/>
            <a:lstStyle/>
            <a:p>
              <a:endParaRPr lang="bg-BG"/>
            </a:p>
          </p:txBody>
        </p:sp>
        <p:grpSp>
          <p:nvGrpSpPr>
            <p:cNvPr id="75892" name="Group 246"/>
            <p:cNvGrpSpPr>
              <a:grpSpLocks/>
            </p:cNvGrpSpPr>
            <p:nvPr/>
          </p:nvGrpSpPr>
          <p:grpSpPr bwMode="auto">
            <a:xfrm>
              <a:off x="3024" y="1536"/>
              <a:ext cx="821" cy="183"/>
              <a:chOff x="3024" y="1536"/>
              <a:chExt cx="821" cy="183"/>
            </a:xfrm>
          </p:grpSpPr>
          <p:sp>
            <p:nvSpPr>
              <p:cNvPr id="75971" name="Rectangle 27"/>
              <p:cNvSpPr>
                <a:spLocks noChangeArrowheads="1"/>
              </p:cNvSpPr>
              <p:nvPr/>
            </p:nvSpPr>
            <p:spPr bwMode="auto">
              <a:xfrm>
                <a:off x="3024" y="1536"/>
                <a:ext cx="821" cy="183"/>
              </a:xfrm>
              <a:prstGeom prst="rect">
                <a:avLst/>
              </a:prstGeom>
              <a:solidFill>
                <a:srgbClr val="FFFFFF"/>
              </a:solidFill>
              <a:ln w="9525">
                <a:solidFill>
                  <a:srgbClr val="000000"/>
                </a:solidFill>
                <a:miter lim="800000"/>
                <a:headEnd/>
                <a:tailEnd/>
              </a:ln>
            </p:spPr>
            <p:txBody>
              <a:bodyPr/>
              <a:lstStyle/>
              <a:p>
                <a:endParaRPr lang="bg-BG"/>
              </a:p>
            </p:txBody>
          </p:sp>
          <p:sp>
            <p:nvSpPr>
              <p:cNvPr id="75972" name="Line 28"/>
              <p:cNvSpPr>
                <a:spLocks noChangeShapeType="1"/>
              </p:cNvSpPr>
              <p:nvPr/>
            </p:nvSpPr>
            <p:spPr bwMode="auto">
              <a:xfrm>
                <a:off x="3299" y="1536"/>
                <a:ext cx="0" cy="183"/>
              </a:xfrm>
              <a:prstGeom prst="line">
                <a:avLst/>
              </a:prstGeom>
              <a:noFill/>
              <a:ln w="9525">
                <a:solidFill>
                  <a:srgbClr val="CC0066"/>
                </a:solidFill>
                <a:round/>
                <a:headEnd/>
                <a:tailEnd/>
              </a:ln>
            </p:spPr>
            <p:txBody>
              <a:bodyPr/>
              <a:lstStyle/>
              <a:p>
                <a:endParaRPr lang="bg-BG"/>
              </a:p>
            </p:txBody>
          </p:sp>
          <p:sp>
            <p:nvSpPr>
              <p:cNvPr id="75973" name="Line 29"/>
              <p:cNvSpPr>
                <a:spLocks noChangeShapeType="1"/>
              </p:cNvSpPr>
              <p:nvPr/>
            </p:nvSpPr>
            <p:spPr bwMode="auto">
              <a:xfrm>
                <a:off x="3573" y="1536"/>
                <a:ext cx="0" cy="183"/>
              </a:xfrm>
              <a:prstGeom prst="line">
                <a:avLst/>
              </a:prstGeom>
              <a:noFill/>
              <a:ln w="9525">
                <a:solidFill>
                  <a:srgbClr val="000000"/>
                </a:solidFill>
                <a:round/>
                <a:headEnd/>
                <a:tailEnd/>
              </a:ln>
            </p:spPr>
            <p:txBody>
              <a:bodyPr/>
              <a:lstStyle/>
              <a:p>
                <a:endParaRPr lang="bg-BG"/>
              </a:p>
            </p:txBody>
          </p:sp>
        </p:grpSp>
        <p:grpSp>
          <p:nvGrpSpPr>
            <p:cNvPr id="75893" name="Group 243"/>
            <p:cNvGrpSpPr>
              <a:grpSpLocks/>
            </p:cNvGrpSpPr>
            <p:nvPr/>
          </p:nvGrpSpPr>
          <p:grpSpPr bwMode="auto">
            <a:xfrm>
              <a:off x="1680" y="1536"/>
              <a:ext cx="821" cy="183"/>
              <a:chOff x="1680" y="1536"/>
              <a:chExt cx="821" cy="183"/>
            </a:xfrm>
          </p:grpSpPr>
          <p:sp>
            <p:nvSpPr>
              <p:cNvPr id="75968" name="Rectangle 31"/>
              <p:cNvSpPr>
                <a:spLocks noChangeArrowheads="1"/>
              </p:cNvSpPr>
              <p:nvPr/>
            </p:nvSpPr>
            <p:spPr bwMode="auto">
              <a:xfrm>
                <a:off x="1680" y="1536"/>
                <a:ext cx="821" cy="183"/>
              </a:xfrm>
              <a:prstGeom prst="rect">
                <a:avLst/>
              </a:prstGeom>
              <a:solidFill>
                <a:srgbClr val="FFFFFF"/>
              </a:solidFill>
              <a:ln w="9525">
                <a:solidFill>
                  <a:srgbClr val="000000"/>
                </a:solidFill>
                <a:miter lim="800000"/>
                <a:headEnd/>
                <a:tailEnd/>
              </a:ln>
            </p:spPr>
            <p:txBody>
              <a:bodyPr/>
              <a:lstStyle/>
              <a:p>
                <a:endParaRPr lang="bg-BG"/>
              </a:p>
            </p:txBody>
          </p:sp>
          <p:sp>
            <p:nvSpPr>
              <p:cNvPr id="75969" name="Line 32"/>
              <p:cNvSpPr>
                <a:spLocks noChangeShapeType="1"/>
              </p:cNvSpPr>
              <p:nvPr/>
            </p:nvSpPr>
            <p:spPr bwMode="auto">
              <a:xfrm>
                <a:off x="1955" y="1536"/>
                <a:ext cx="0" cy="183"/>
              </a:xfrm>
              <a:prstGeom prst="line">
                <a:avLst/>
              </a:prstGeom>
              <a:noFill/>
              <a:ln w="9525">
                <a:solidFill>
                  <a:srgbClr val="CC0066"/>
                </a:solidFill>
                <a:round/>
                <a:headEnd/>
                <a:tailEnd/>
              </a:ln>
            </p:spPr>
            <p:txBody>
              <a:bodyPr/>
              <a:lstStyle/>
              <a:p>
                <a:endParaRPr lang="bg-BG"/>
              </a:p>
            </p:txBody>
          </p:sp>
          <p:sp>
            <p:nvSpPr>
              <p:cNvPr id="75970" name="Line 33"/>
              <p:cNvSpPr>
                <a:spLocks noChangeShapeType="1"/>
              </p:cNvSpPr>
              <p:nvPr/>
            </p:nvSpPr>
            <p:spPr bwMode="auto">
              <a:xfrm>
                <a:off x="2229" y="1536"/>
                <a:ext cx="0" cy="183"/>
              </a:xfrm>
              <a:prstGeom prst="line">
                <a:avLst/>
              </a:prstGeom>
              <a:noFill/>
              <a:ln w="9525">
                <a:solidFill>
                  <a:srgbClr val="CC0066"/>
                </a:solidFill>
                <a:round/>
                <a:headEnd/>
                <a:tailEnd/>
              </a:ln>
            </p:spPr>
            <p:txBody>
              <a:bodyPr/>
              <a:lstStyle/>
              <a:p>
                <a:endParaRPr lang="bg-BG"/>
              </a:p>
            </p:txBody>
          </p:sp>
        </p:grpSp>
        <p:grpSp>
          <p:nvGrpSpPr>
            <p:cNvPr id="75894" name="Group 247"/>
            <p:cNvGrpSpPr>
              <a:grpSpLocks/>
            </p:cNvGrpSpPr>
            <p:nvPr/>
          </p:nvGrpSpPr>
          <p:grpSpPr bwMode="auto">
            <a:xfrm>
              <a:off x="4851" y="1536"/>
              <a:ext cx="821" cy="183"/>
              <a:chOff x="4851" y="1536"/>
              <a:chExt cx="821" cy="183"/>
            </a:xfrm>
          </p:grpSpPr>
          <p:sp>
            <p:nvSpPr>
              <p:cNvPr id="75965" name="Rectangle 39"/>
              <p:cNvSpPr>
                <a:spLocks noChangeArrowheads="1"/>
              </p:cNvSpPr>
              <p:nvPr/>
            </p:nvSpPr>
            <p:spPr bwMode="auto">
              <a:xfrm>
                <a:off x="4851" y="1536"/>
                <a:ext cx="821" cy="183"/>
              </a:xfrm>
              <a:prstGeom prst="rect">
                <a:avLst/>
              </a:prstGeom>
              <a:solidFill>
                <a:srgbClr val="FFFFFF"/>
              </a:solidFill>
              <a:ln w="9525">
                <a:solidFill>
                  <a:srgbClr val="000000"/>
                </a:solidFill>
                <a:miter lim="800000"/>
                <a:headEnd/>
                <a:tailEnd/>
              </a:ln>
            </p:spPr>
            <p:txBody>
              <a:bodyPr/>
              <a:lstStyle/>
              <a:p>
                <a:endParaRPr lang="bg-BG"/>
              </a:p>
            </p:txBody>
          </p:sp>
          <p:sp>
            <p:nvSpPr>
              <p:cNvPr id="75966" name="Line 40"/>
              <p:cNvSpPr>
                <a:spLocks noChangeShapeType="1"/>
              </p:cNvSpPr>
              <p:nvPr/>
            </p:nvSpPr>
            <p:spPr bwMode="auto">
              <a:xfrm>
                <a:off x="5126" y="1536"/>
                <a:ext cx="0" cy="183"/>
              </a:xfrm>
              <a:prstGeom prst="line">
                <a:avLst/>
              </a:prstGeom>
              <a:noFill/>
              <a:ln w="9525">
                <a:solidFill>
                  <a:srgbClr val="CC0066"/>
                </a:solidFill>
                <a:round/>
                <a:headEnd/>
                <a:tailEnd/>
              </a:ln>
            </p:spPr>
            <p:txBody>
              <a:bodyPr/>
              <a:lstStyle/>
              <a:p>
                <a:endParaRPr lang="bg-BG"/>
              </a:p>
            </p:txBody>
          </p:sp>
          <p:sp>
            <p:nvSpPr>
              <p:cNvPr id="75967" name="Line 41"/>
              <p:cNvSpPr>
                <a:spLocks noChangeShapeType="1"/>
              </p:cNvSpPr>
              <p:nvPr/>
            </p:nvSpPr>
            <p:spPr bwMode="auto">
              <a:xfrm>
                <a:off x="5400" y="1536"/>
                <a:ext cx="0" cy="183"/>
              </a:xfrm>
              <a:prstGeom prst="line">
                <a:avLst/>
              </a:prstGeom>
              <a:noFill/>
              <a:ln w="9525">
                <a:solidFill>
                  <a:srgbClr val="000000"/>
                </a:solidFill>
                <a:round/>
                <a:headEnd/>
                <a:tailEnd/>
              </a:ln>
            </p:spPr>
            <p:txBody>
              <a:bodyPr/>
              <a:lstStyle/>
              <a:p>
                <a:endParaRPr lang="bg-BG"/>
              </a:p>
            </p:txBody>
          </p:sp>
        </p:grpSp>
        <p:sp>
          <p:nvSpPr>
            <p:cNvPr id="75895" name="Text Box 47"/>
            <p:cNvSpPr txBox="1">
              <a:spLocks noChangeArrowheads="1"/>
            </p:cNvSpPr>
            <p:nvPr/>
          </p:nvSpPr>
          <p:spPr bwMode="auto">
            <a:xfrm>
              <a:off x="1928" y="1488"/>
              <a:ext cx="408" cy="288"/>
            </a:xfrm>
            <a:prstGeom prst="rect">
              <a:avLst/>
            </a:prstGeom>
            <a:noFill/>
            <a:ln w="9525">
              <a:noFill/>
              <a:miter lim="800000"/>
              <a:headEnd/>
              <a:tailEnd/>
            </a:ln>
          </p:spPr>
          <p:txBody>
            <a:bodyPr>
              <a:spAutoFit/>
            </a:bodyPr>
            <a:lstStyle/>
            <a:p>
              <a:pPr>
                <a:spcBef>
                  <a:spcPct val="50000"/>
                </a:spcBef>
              </a:pPr>
              <a:r>
                <a:rPr lang="bg-BG"/>
                <a:t>1</a:t>
              </a:r>
              <a:r>
                <a:rPr lang="en-US"/>
                <a:t>7</a:t>
              </a:r>
            </a:p>
          </p:txBody>
        </p:sp>
        <p:sp>
          <p:nvSpPr>
            <p:cNvPr id="75896" name="Text Box 48"/>
            <p:cNvSpPr txBox="1">
              <a:spLocks noChangeArrowheads="1"/>
            </p:cNvSpPr>
            <p:nvPr/>
          </p:nvSpPr>
          <p:spPr bwMode="auto">
            <a:xfrm>
              <a:off x="1664" y="1488"/>
              <a:ext cx="408" cy="288"/>
            </a:xfrm>
            <a:prstGeom prst="rect">
              <a:avLst/>
            </a:prstGeom>
            <a:noFill/>
            <a:ln w="9525">
              <a:noFill/>
              <a:miter lim="800000"/>
              <a:headEnd/>
              <a:tailEnd/>
            </a:ln>
          </p:spPr>
          <p:txBody>
            <a:bodyPr>
              <a:spAutoFit/>
            </a:bodyPr>
            <a:lstStyle/>
            <a:p>
              <a:pPr>
                <a:spcBef>
                  <a:spcPct val="50000"/>
                </a:spcBef>
              </a:pPr>
              <a:r>
                <a:rPr lang="bg-BG"/>
                <a:t>1</a:t>
              </a:r>
              <a:r>
                <a:rPr lang="en-US"/>
                <a:t>2</a:t>
              </a:r>
            </a:p>
          </p:txBody>
        </p:sp>
        <p:sp>
          <p:nvSpPr>
            <p:cNvPr id="75897" name="Text Box 49"/>
            <p:cNvSpPr txBox="1">
              <a:spLocks noChangeArrowheads="1"/>
            </p:cNvSpPr>
            <p:nvPr/>
          </p:nvSpPr>
          <p:spPr bwMode="auto">
            <a:xfrm>
              <a:off x="3888" y="1104"/>
              <a:ext cx="408" cy="288"/>
            </a:xfrm>
            <a:prstGeom prst="rect">
              <a:avLst/>
            </a:prstGeom>
            <a:noFill/>
            <a:ln w="9525">
              <a:noFill/>
              <a:miter lim="800000"/>
              <a:headEnd/>
              <a:tailEnd/>
            </a:ln>
          </p:spPr>
          <p:txBody>
            <a:bodyPr>
              <a:spAutoFit/>
            </a:bodyPr>
            <a:lstStyle/>
            <a:p>
              <a:pPr>
                <a:spcBef>
                  <a:spcPct val="50000"/>
                </a:spcBef>
              </a:pPr>
              <a:r>
                <a:rPr lang="bg-BG"/>
                <a:t>7</a:t>
              </a:r>
              <a:r>
                <a:rPr lang="en-US"/>
                <a:t>0</a:t>
              </a:r>
            </a:p>
          </p:txBody>
        </p:sp>
        <p:sp>
          <p:nvSpPr>
            <p:cNvPr id="75898" name="Text Box 50"/>
            <p:cNvSpPr txBox="1">
              <a:spLocks noChangeArrowheads="1"/>
            </p:cNvSpPr>
            <p:nvPr/>
          </p:nvSpPr>
          <p:spPr bwMode="auto">
            <a:xfrm>
              <a:off x="3632" y="1104"/>
              <a:ext cx="408" cy="288"/>
            </a:xfrm>
            <a:prstGeom prst="rect">
              <a:avLst/>
            </a:prstGeom>
            <a:noFill/>
            <a:ln w="9525">
              <a:noFill/>
              <a:miter lim="800000"/>
              <a:headEnd/>
              <a:tailEnd/>
            </a:ln>
          </p:spPr>
          <p:txBody>
            <a:bodyPr>
              <a:spAutoFit/>
            </a:bodyPr>
            <a:lstStyle/>
            <a:p>
              <a:pPr>
                <a:spcBef>
                  <a:spcPct val="50000"/>
                </a:spcBef>
              </a:pPr>
              <a:r>
                <a:rPr lang="bg-BG"/>
                <a:t>5</a:t>
              </a:r>
              <a:r>
                <a:rPr lang="en-US"/>
                <a:t>0</a:t>
              </a:r>
            </a:p>
          </p:txBody>
        </p:sp>
        <p:sp>
          <p:nvSpPr>
            <p:cNvPr id="75899" name="Text Box 51"/>
            <p:cNvSpPr txBox="1">
              <a:spLocks noChangeArrowheads="1"/>
            </p:cNvSpPr>
            <p:nvPr/>
          </p:nvSpPr>
          <p:spPr bwMode="auto">
            <a:xfrm>
              <a:off x="416" y="1488"/>
              <a:ext cx="408" cy="288"/>
            </a:xfrm>
            <a:prstGeom prst="rect">
              <a:avLst/>
            </a:prstGeom>
            <a:noFill/>
            <a:ln w="9525">
              <a:noFill/>
              <a:miter lim="800000"/>
              <a:headEnd/>
              <a:tailEnd/>
            </a:ln>
          </p:spPr>
          <p:txBody>
            <a:bodyPr>
              <a:spAutoFit/>
            </a:bodyPr>
            <a:lstStyle/>
            <a:p>
              <a:pPr>
                <a:spcBef>
                  <a:spcPct val="50000"/>
                </a:spcBef>
              </a:pPr>
              <a:r>
                <a:rPr lang="en-US"/>
                <a:t>8</a:t>
              </a:r>
            </a:p>
          </p:txBody>
        </p:sp>
        <p:sp>
          <p:nvSpPr>
            <p:cNvPr id="75900" name="Text Box 52"/>
            <p:cNvSpPr txBox="1">
              <a:spLocks noChangeArrowheads="1"/>
            </p:cNvSpPr>
            <p:nvPr/>
          </p:nvSpPr>
          <p:spPr bwMode="auto">
            <a:xfrm>
              <a:off x="1088" y="1096"/>
              <a:ext cx="408" cy="288"/>
            </a:xfrm>
            <a:prstGeom prst="rect">
              <a:avLst/>
            </a:prstGeom>
            <a:noFill/>
            <a:ln w="9525">
              <a:noFill/>
              <a:miter lim="800000"/>
              <a:headEnd/>
              <a:tailEnd/>
            </a:ln>
          </p:spPr>
          <p:txBody>
            <a:bodyPr>
              <a:spAutoFit/>
            </a:bodyPr>
            <a:lstStyle/>
            <a:p>
              <a:pPr>
                <a:spcBef>
                  <a:spcPct val="50000"/>
                </a:spcBef>
              </a:pPr>
              <a:r>
                <a:rPr lang="bg-BG"/>
                <a:t>1</a:t>
              </a:r>
              <a:r>
                <a:rPr lang="en-US"/>
                <a:t>0</a:t>
              </a:r>
            </a:p>
          </p:txBody>
        </p:sp>
        <p:sp>
          <p:nvSpPr>
            <p:cNvPr id="75901" name="Text Box 53"/>
            <p:cNvSpPr txBox="1">
              <a:spLocks noChangeArrowheads="1"/>
            </p:cNvSpPr>
            <p:nvPr/>
          </p:nvSpPr>
          <p:spPr bwMode="auto">
            <a:xfrm>
              <a:off x="2304" y="824"/>
              <a:ext cx="408" cy="288"/>
            </a:xfrm>
            <a:prstGeom prst="rect">
              <a:avLst/>
            </a:prstGeom>
            <a:noFill/>
            <a:ln w="9525">
              <a:noFill/>
              <a:miter lim="800000"/>
              <a:headEnd/>
              <a:tailEnd/>
            </a:ln>
          </p:spPr>
          <p:txBody>
            <a:bodyPr>
              <a:spAutoFit/>
            </a:bodyPr>
            <a:lstStyle/>
            <a:p>
              <a:pPr>
                <a:spcBef>
                  <a:spcPct val="50000"/>
                </a:spcBef>
              </a:pPr>
              <a:r>
                <a:rPr lang="bg-BG"/>
                <a:t>2</a:t>
              </a:r>
              <a:r>
                <a:rPr lang="en-US"/>
                <a:t>0</a:t>
              </a:r>
            </a:p>
          </p:txBody>
        </p:sp>
        <p:sp>
          <p:nvSpPr>
            <p:cNvPr id="75902" name="Text Box 54"/>
            <p:cNvSpPr txBox="1">
              <a:spLocks noChangeArrowheads="1"/>
            </p:cNvSpPr>
            <p:nvPr/>
          </p:nvSpPr>
          <p:spPr bwMode="auto">
            <a:xfrm>
              <a:off x="3280" y="1488"/>
              <a:ext cx="408" cy="288"/>
            </a:xfrm>
            <a:prstGeom prst="rect">
              <a:avLst/>
            </a:prstGeom>
            <a:noFill/>
            <a:ln w="9525">
              <a:noFill/>
              <a:miter lim="800000"/>
              <a:headEnd/>
              <a:tailEnd/>
            </a:ln>
          </p:spPr>
          <p:txBody>
            <a:bodyPr>
              <a:spAutoFit/>
            </a:bodyPr>
            <a:lstStyle/>
            <a:p>
              <a:pPr>
                <a:spcBef>
                  <a:spcPct val="50000"/>
                </a:spcBef>
              </a:pPr>
              <a:r>
                <a:rPr lang="en-US"/>
                <a:t>37</a:t>
              </a:r>
            </a:p>
          </p:txBody>
        </p:sp>
        <p:sp>
          <p:nvSpPr>
            <p:cNvPr id="75903" name="Text Box 55"/>
            <p:cNvSpPr txBox="1">
              <a:spLocks noChangeArrowheads="1"/>
            </p:cNvSpPr>
            <p:nvPr/>
          </p:nvSpPr>
          <p:spPr bwMode="auto">
            <a:xfrm>
              <a:off x="3000" y="1488"/>
              <a:ext cx="408" cy="288"/>
            </a:xfrm>
            <a:prstGeom prst="rect">
              <a:avLst/>
            </a:prstGeom>
            <a:noFill/>
            <a:ln w="9525">
              <a:noFill/>
              <a:miter lim="800000"/>
              <a:headEnd/>
              <a:tailEnd/>
            </a:ln>
          </p:spPr>
          <p:txBody>
            <a:bodyPr>
              <a:spAutoFit/>
            </a:bodyPr>
            <a:lstStyle/>
            <a:p>
              <a:pPr>
                <a:spcBef>
                  <a:spcPct val="50000"/>
                </a:spcBef>
              </a:pPr>
              <a:r>
                <a:rPr lang="bg-BG"/>
                <a:t>3</a:t>
              </a:r>
              <a:r>
                <a:rPr lang="en-US"/>
                <a:t>0</a:t>
              </a:r>
            </a:p>
          </p:txBody>
        </p:sp>
        <p:sp>
          <p:nvSpPr>
            <p:cNvPr id="75904" name="Text Box 56"/>
            <p:cNvSpPr txBox="1">
              <a:spLocks noChangeArrowheads="1"/>
            </p:cNvSpPr>
            <p:nvPr/>
          </p:nvSpPr>
          <p:spPr bwMode="auto">
            <a:xfrm>
              <a:off x="2200" y="1488"/>
              <a:ext cx="408" cy="288"/>
            </a:xfrm>
            <a:prstGeom prst="rect">
              <a:avLst/>
            </a:prstGeom>
            <a:noFill/>
            <a:ln w="9525">
              <a:noFill/>
              <a:miter lim="800000"/>
              <a:headEnd/>
              <a:tailEnd/>
            </a:ln>
          </p:spPr>
          <p:txBody>
            <a:bodyPr>
              <a:spAutoFit/>
            </a:bodyPr>
            <a:lstStyle/>
            <a:p>
              <a:pPr>
                <a:spcBef>
                  <a:spcPct val="50000"/>
                </a:spcBef>
              </a:pPr>
              <a:r>
                <a:rPr lang="en-US"/>
                <a:t>19</a:t>
              </a:r>
            </a:p>
          </p:txBody>
        </p:sp>
        <p:grpSp>
          <p:nvGrpSpPr>
            <p:cNvPr id="75905" name="Group 57"/>
            <p:cNvGrpSpPr>
              <a:grpSpLocks/>
            </p:cNvGrpSpPr>
            <p:nvPr/>
          </p:nvGrpSpPr>
          <p:grpSpPr bwMode="auto">
            <a:xfrm>
              <a:off x="3936" y="1536"/>
              <a:ext cx="821" cy="183"/>
              <a:chOff x="5472" y="1083"/>
              <a:chExt cx="2052" cy="456"/>
            </a:xfrm>
          </p:grpSpPr>
          <p:sp>
            <p:nvSpPr>
              <p:cNvPr id="75962" name="Rectangle 58"/>
              <p:cNvSpPr>
                <a:spLocks noChangeArrowheads="1"/>
              </p:cNvSpPr>
              <p:nvPr/>
            </p:nvSpPr>
            <p:spPr bwMode="auto">
              <a:xfrm>
                <a:off x="5472" y="1083"/>
                <a:ext cx="2052" cy="456"/>
              </a:xfrm>
              <a:prstGeom prst="rect">
                <a:avLst/>
              </a:prstGeom>
              <a:solidFill>
                <a:srgbClr val="FFFFFF"/>
              </a:solidFill>
              <a:ln w="9525">
                <a:solidFill>
                  <a:srgbClr val="000000"/>
                </a:solidFill>
                <a:miter lim="800000"/>
                <a:headEnd/>
                <a:tailEnd/>
              </a:ln>
            </p:spPr>
            <p:txBody>
              <a:bodyPr/>
              <a:lstStyle/>
              <a:p>
                <a:endParaRPr lang="bg-BG"/>
              </a:p>
            </p:txBody>
          </p:sp>
          <p:sp>
            <p:nvSpPr>
              <p:cNvPr id="75963" name="Line 59"/>
              <p:cNvSpPr>
                <a:spLocks noChangeShapeType="1"/>
              </p:cNvSpPr>
              <p:nvPr/>
            </p:nvSpPr>
            <p:spPr bwMode="auto">
              <a:xfrm>
                <a:off x="6159" y="1083"/>
                <a:ext cx="0" cy="456"/>
              </a:xfrm>
              <a:prstGeom prst="line">
                <a:avLst/>
              </a:prstGeom>
              <a:noFill/>
              <a:ln w="9525">
                <a:solidFill>
                  <a:srgbClr val="000000"/>
                </a:solidFill>
                <a:round/>
                <a:headEnd/>
                <a:tailEnd/>
              </a:ln>
            </p:spPr>
            <p:txBody>
              <a:bodyPr/>
              <a:lstStyle/>
              <a:p>
                <a:endParaRPr lang="bg-BG"/>
              </a:p>
            </p:txBody>
          </p:sp>
          <p:sp>
            <p:nvSpPr>
              <p:cNvPr id="75964" name="Line 60"/>
              <p:cNvSpPr>
                <a:spLocks noChangeShapeType="1"/>
              </p:cNvSpPr>
              <p:nvPr/>
            </p:nvSpPr>
            <p:spPr bwMode="auto">
              <a:xfrm>
                <a:off x="6843" y="1083"/>
                <a:ext cx="0" cy="456"/>
              </a:xfrm>
              <a:prstGeom prst="line">
                <a:avLst/>
              </a:prstGeom>
              <a:noFill/>
              <a:ln w="9525">
                <a:solidFill>
                  <a:srgbClr val="000000"/>
                </a:solidFill>
                <a:round/>
                <a:headEnd/>
                <a:tailEnd/>
              </a:ln>
            </p:spPr>
            <p:txBody>
              <a:bodyPr/>
              <a:lstStyle/>
              <a:p>
                <a:endParaRPr lang="bg-BG"/>
              </a:p>
            </p:txBody>
          </p:sp>
        </p:grpSp>
        <p:sp>
          <p:nvSpPr>
            <p:cNvPr id="75906" name="Line 61"/>
            <p:cNvSpPr>
              <a:spLocks noChangeShapeType="1"/>
            </p:cNvSpPr>
            <p:nvPr/>
          </p:nvSpPr>
          <p:spPr bwMode="auto">
            <a:xfrm flipH="1">
              <a:off x="528" y="1344"/>
              <a:ext cx="576" cy="192"/>
            </a:xfrm>
            <a:prstGeom prst="line">
              <a:avLst/>
            </a:prstGeom>
            <a:noFill/>
            <a:ln w="9525">
              <a:solidFill>
                <a:schemeClr val="tx1"/>
              </a:solidFill>
              <a:round/>
              <a:headEnd/>
              <a:tailEnd type="triangle" w="med" len="med"/>
            </a:ln>
          </p:spPr>
          <p:txBody>
            <a:bodyPr wrap="none" anchor="ctr"/>
            <a:lstStyle/>
            <a:p>
              <a:endParaRPr lang="bg-BG"/>
            </a:p>
          </p:txBody>
        </p:sp>
        <p:sp>
          <p:nvSpPr>
            <p:cNvPr id="75907" name="Line 62"/>
            <p:cNvSpPr>
              <a:spLocks noChangeShapeType="1"/>
            </p:cNvSpPr>
            <p:nvPr/>
          </p:nvSpPr>
          <p:spPr bwMode="auto">
            <a:xfrm flipH="1">
              <a:off x="1296" y="1056"/>
              <a:ext cx="1008" cy="96"/>
            </a:xfrm>
            <a:prstGeom prst="line">
              <a:avLst/>
            </a:prstGeom>
            <a:noFill/>
            <a:ln w="9525">
              <a:solidFill>
                <a:schemeClr val="tx1"/>
              </a:solidFill>
              <a:round/>
              <a:headEnd/>
              <a:tailEnd type="triangle" w="med" len="med"/>
            </a:ln>
          </p:spPr>
          <p:txBody>
            <a:bodyPr wrap="none" anchor="ctr"/>
            <a:lstStyle/>
            <a:p>
              <a:endParaRPr lang="bg-BG"/>
            </a:p>
          </p:txBody>
        </p:sp>
        <p:sp>
          <p:nvSpPr>
            <p:cNvPr id="75908" name="Line 63"/>
            <p:cNvSpPr>
              <a:spLocks noChangeShapeType="1"/>
            </p:cNvSpPr>
            <p:nvPr/>
          </p:nvSpPr>
          <p:spPr bwMode="auto">
            <a:xfrm>
              <a:off x="2592" y="1056"/>
              <a:ext cx="1344" cy="96"/>
            </a:xfrm>
            <a:prstGeom prst="line">
              <a:avLst/>
            </a:prstGeom>
            <a:noFill/>
            <a:ln w="9525">
              <a:solidFill>
                <a:schemeClr val="tx1"/>
              </a:solidFill>
              <a:round/>
              <a:headEnd/>
              <a:tailEnd type="triangle" w="med" len="med"/>
            </a:ln>
          </p:spPr>
          <p:txBody>
            <a:bodyPr wrap="none" anchor="ctr"/>
            <a:lstStyle/>
            <a:p>
              <a:endParaRPr lang="bg-BG"/>
            </a:p>
          </p:txBody>
        </p:sp>
        <p:sp>
          <p:nvSpPr>
            <p:cNvPr id="75909" name="Line 64"/>
            <p:cNvSpPr>
              <a:spLocks noChangeShapeType="1"/>
            </p:cNvSpPr>
            <p:nvPr/>
          </p:nvSpPr>
          <p:spPr bwMode="auto">
            <a:xfrm>
              <a:off x="1392" y="1344"/>
              <a:ext cx="672" cy="192"/>
            </a:xfrm>
            <a:prstGeom prst="line">
              <a:avLst/>
            </a:prstGeom>
            <a:noFill/>
            <a:ln w="9525">
              <a:solidFill>
                <a:schemeClr val="tx1"/>
              </a:solidFill>
              <a:round/>
              <a:headEnd/>
              <a:tailEnd type="triangle" w="med" len="med"/>
            </a:ln>
          </p:spPr>
          <p:txBody>
            <a:bodyPr wrap="none" anchor="ctr"/>
            <a:lstStyle/>
            <a:p>
              <a:endParaRPr lang="bg-BG"/>
            </a:p>
          </p:txBody>
        </p:sp>
        <p:sp>
          <p:nvSpPr>
            <p:cNvPr id="75910" name="Line 74"/>
            <p:cNvSpPr>
              <a:spLocks noChangeShapeType="1"/>
            </p:cNvSpPr>
            <p:nvPr/>
          </p:nvSpPr>
          <p:spPr bwMode="auto">
            <a:xfrm>
              <a:off x="4016" y="1824"/>
              <a:ext cx="96" cy="0"/>
            </a:xfrm>
            <a:prstGeom prst="line">
              <a:avLst/>
            </a:prstGeom>
            <a:noFill/>
            <a:ln w="38100">
              <a:solidFill>
                <a:schemeClr val="tx1"/>
              </a:solidFill>
              <a:round/>
              <a:headEnd/>
              <a:tailEnd/>
            </a:ln>
          </p:spPr>
          <p:txBody>
            <a:bodyPr wrap="none" anchor="ctr"/>
            <a:lstStyle/>
            <a:p>
              <a:endParaRPr lang="bg-BG"/>
            </a:p>
          </p:txBody>
        </p:sp>
        <p:sp>
          <p:nvSpPr>
            <p:cNvPr id="75911" name="Line 75"/>
            <p:cNvSpPr>
              <a:spLocks noChangeShapeType="1"/>
            </p:cNvSpPr>
            <p:nvPr/>
          </p:nvSpPr>
          <p:spPr bwMode="auto">
            <a:xfrm>
              <a:off x="4632" y="1824"/>
              <a:ext cx="96" cy="0"/>
            </a:xfrm>
            <a:prstGeom prst="line">
              <a:avLst/>
            </a:prstGeom>
            <a:noFill/>
            <a:ln w="38100">
              <a:solidFill>
                <a:schemeClr val="tx1"/>
              </a:solidFill>
              <a:round/>
              <a:headEnd/>
              <a:tailEnd/>
            </a:ln>
          </p:spPr>
          <p:txBody>
            <a:bodyPr wrap="none" anchor="ctr"/>
            <a:lstStyle/>
            <a:p>
              <a:endParaRPr lang="bg-BG"/>
            </a:p>
          </p:txBody>
        </p:sp>
        <p:grpSp>
          <p:nvGrpSpPr>
            <p:cNvPr id="75912" name="Group 81"/>
            <p:cNvGrpSpPr>
              <a:grpSpLocks/>
            </p:cNvGrpSpPr>
            <p:nvPr/>
          </p:nvGrpSpPr>
          <p:grpSpPr bwMode="auto">
            <a:xfrm>
              <a:off x="288" y="1728"/>
              <a:ext cx="1048" cy="104"/>
              <a:chOff x="288" y="1728"/>
              <a:chExt cx="1048" cy="104"/>
            </a:xfrm>
          </p:grpSpPr>
          <p:sp>
            <p:nvSpPr>
              <p:cNvPr id="75954" name="Line 66"/>
              <p:cNvSpPr>
                <a:spLocks noChangeShapeType="1"/>
              </p:cNvSpPr>
              <p:nvPr/>
            </p:nvSpPr>
            <p:spPr bwMode="auto">
              <a:xfrm>
                <a:off x="288" y="1832"/>
                <a:ext cx="96" cy="0"/>
              </a:xfrm>
              <a:prstGeom prst="line">
                <a:avLst/>
              </a:prstGeom>
              <a:noFill/>
              <a:ln w="38100">
                <a:solidFill>
                  <a:schemeClr val="tx1"/>
                </a:solidFill>
                <a:round/>
                <a:headEnd/>
                <a:tailEnd/>
              </a:ln>
            </p:spPr>
            <p:txBody>
              <a:bodyPr wrap="none" anchor="ctr"/>
              <a:lstStyle/>
              <a:p>
                <a:endParaRPr lang="bg-BG"/>
              </a:p>
            </p:txBody>
          </p:sp>
          <p:sp>
            <p:nvSpPr>
              <p:cNvPr id="75955" name="Line 67"/>
              <p:cNvSpPr>
                <a:spLocks noChangeShapeType="1"/>
              </p:cNvSpPr>
              <p:nvPr/>
            </p:nvSpPr>
            <p:spPr bwMode="auto">
              <a:xfrm>
                <a:off x="616" y="1832"/>
                <a:ext cx="96" cy="0"/>
              </a:xfrm>
              <a:prstGeom prst="line">
                <a:avLst/>
              </a:prstGeom>
              <a:noFill/>
              <a:ln w="38100">
                <a:solidFill>
                  <a:schemeClr val="tx1"/>
                </a:solidFill>
                <a:round/>
                <a:headEnd/>
                <a:tailEnd/>
              </a:ln>
            </p:spPr>
            <p:txBody>
              <a:bodyPr wrap="none" anchor="ctr"/>
              <a:lstStyle/>
              <a:p>
                <a:endParaRPr lang="bg-BG"/>
              </a:p>
            </p:txBody>
          </p:sp>
          <p:sp>
            <p:nvSpPr>
              <p:cNvPr id="75956" name="Line 68"/>
              <p:cNvSpPr>
                <a:spLocks noChangeShapeType="1"/>
              </p:cNvSpPr>
              <p:nvPr/>
            </p:nvSpPr>
            <p:spPr bwMode="auto">
              <a:xfrm>
                <a:off x="896" y="1824"/>
                <a:ext cx="96" cy="0"/>
              </a:xfrm>
              <a:prstGeom prst="line">
                <a:avLst/>
              </a:prstGeom>
              <a:noFill/>
              <a:ln w="38100">
                <a:solidFill>
                  <a:schemeClr val="tx1"/>
                </a:solidFill>
                <a:round/>
                <a:headEnd/>
                <a:tailEnd/>
              </a:ln>
            </p:spPr>
            <p:txBody>
              <a:bodyPr wrap="none" anchor="ctr"/>
              <a:lstStyle/>
              <a:p>
                <a:endParaRPr lang="bg-BG"/>
              </a:p>
            </p:txBody>
          </p:sp>
          <p:sp>
            <p:nvSpPr>
              <p:cNvPr id="75957" name="Line 76"/>
              <p:cNvSpPr>
                <a:spLocks noChangeShapeType="1"/>
              </p:cNvSpPr>
              <p:nvPr/>
            </p:nvSpPr>
            <p:spPr bwMode="auto">
              <a:xfrm>
                <a:off x="1240" y="1832"/>
                <a:ext cx="96" cy="0"/>
              </a:xfrm>
              <a:prstGeom prst="line">
                <a:avLst/>
              </a:prstGeom>
              <a:noFill/>
              <a:ln w="38100">
                <a:solidFill>
                  <a:schemeClr val="tx1"/>
                </a:solidFill>
                <a:round/>
                <a:headEnd/>
                <a:tailEnd/>
              </a:ln>
            </p:spPr>
            <p:txBody>
              <a:bodyPr wrap="none" anchor="ctr"/>
              <a:lstStyle/>
              <a:p>
                <a:endParaRPr lang="bg-BG"/>
              </a:p>
            </p:txBody>
          </p:sp>
          <p:sp>
            <p:nvSpPr>
              <p:cNvPr id="75958" name="Line 77"/>
              <p:cNvSpPr>
                <a:spLocks noChangeShapeType="1"/>
              </p:cNvSpPr>
              <p:nvPr/>
            </p:nvSpPr>
            <p:spPr bwMode="auto">
              <a:xfrm>
                <a:off x="664"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59" name="Line 78"/>
              <p:cNvSpPr>
                <a:spLocks noChangeShapeType="1"/>
              </p:cNvSpPr>
              <p:nvPr/>
            </p:nvSpPr>
            <p:spPr bwMode="auto">
              <a:xfrm>
                <a:off x="936"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60" name="Line 79"/>
              <p:cNvSpPr>
                <a:spLocks noChangeShapeType="1"/>
              </p:cNvSpPr>
              <p:nvPr/>
            </p:nvSpPr>
            <p:spPr bwMode="auto">
              <a:xfrm flipH="1">
                <a:off x="336" y="1728"/>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5961" name="Line 80"/>
              <p:cNvSpPr>
                <a:spLocks noChangeShapeType="1"/>
              </p:cNvSpPr>
              <p:nvPr/>
            </p:nvSpPr>
            <p:spPr bwMode="auto">
              <a:xfrm>
                <a:off x="1208" y="1728"/>
                <a:ext cx="96" cy="96"/>
              </a:xfrm>
              <a:prstGeom prst="line">
                <a:avLst/>
              </a:prstGeom>
              <a:noFill/>
              <a:ln w="9525">
                <a:solidFill>
                  <a:schemeClr val="tx1"/>
                </a:solidFill>
                <a:round/>
                <a:headEnd/>
                <a:tailEnd type="triangle" w="med" len="med"/>
              </a:ln>
            </p:spPr>
            <p:txBody>
              <a:bodyPr wrap="none" anchor="ctr"/>
              <a:lstStyle/>
              <a:p>
                <a:endParaRPr lang="bg-BG"/>
              </a:p>
            </p:txBody>
          </p:sp>
        </p:grpSp>
        <p:grpSp>
          <p:nvGrpSpPr>
            <p:cNvPr id="75913" name="Group 82"/>
            <p:cNvGrpSpPr>
              <a:grpSpLocks/>
            </p:cNvGrpSpPr>
            <p:nvPr/>
          </p:nvGrpSpPr>
          <p:grpSpPr bwMode="auto">
            <a:xfrm>
              <a:off x="4752" y="1728"/>
              <a:ext cx="1048" cy="104"/>
              <a:chOff x="288" y="1728"/>
              <a:chExt cx="1048" cy="104"/>
            </a:xfrm>
          </p:grpSpPr>
          <p:sp>
            <p:nvSpPr>
              <p:cNvPr id="75946" name="Line 83"/>
              <p:cNvSpPr>
                <a:spLocks noChangeShapeType="1"/>
              </p:cNvSpPr>
              <p:nvPr/>
            </p:nvSpPr>
            <p:spPr bwMode="auto">
              <a:xfrm>
                <a:off x="288" y="1832"/>
                <a:ext cx="96" cy="0"/>
              </a:xfrm>
              <a:prstGeom prst="line">
                <a:avLst/>
              </a:prstGeom>
              <a:noFill/>
              <a:ln w="38100">
                <a:solidFill>
                  <a:schemeClr val="tx1"/>
                </a:solidFill>
                <a:round/>
                <a:headEnd/>
                <a:tailEnd/>
              </a:ln>
            </p:spPr>
            <p:txBody>
              <a:bodyPr wrap="none" anchor="ctr"/>
              <a:lstStyle/>
              <a:p>
                <a:endParaRPr lang="bg-BG"/>
              </a:p>
            </p:txBody>
          </p:sp>
          <p:sp>
            <p:nvSpPr>
              <p:cNvPr id="75947" name="Line 84"/>
              <p:cNvSpPr>
                <a:spLocks noChangeShapeType="1"/>
              </p:cNvSpPr>
              <p:nvPr/>
            </p:nvSpPr>
            <p:spPr bwMode="auto">
              <a:xfrm>
                <a:off x="616" y="1832"/>
                <a:ext cx="96" cy="0"/>
              </a:xfrm>
              <a:prstGeom prst="line">
                <a:avLst/>
              </a:prstGeom>
              <a:noFill/>
              <a:ln w="38100">
                <a:solidFill>
                  <a:schemeClr val="tx1"/>
                </a:solidFill>
                <a:round/>
                <a:headEnd/>
                <a:tailEnd/>
              </a:ln>
            </p:spPr>
            <p:txBody>
              <a:bodyPr wrap="none" anchor="ctr"/>
              <a:lstStyle/>
              <a:p>
                <a:endParaRPr lang="bg-BG"/>
              </a:p>
            </p:txBody>
          </p:sp>
          <p:sp>
            <p:nvSpPr>
              <p:cNvPr id="75948" name="Line 85"/>
              <p:cNvSpPr>
                <a:spLocks noChangeShapeType="1"/>
              </p:cNvSpPr>
              <p:nvPr/>
            </p:nvSpPr>
            <p:spPr bwMode="auto">
              <a:xfrm>
                <a:off x="896" y="1824"/>
                <a:ext cx="96" cy="0"/>
              </a:xfrm>
              <a:prstGeom prst="line">
                <a:avLst/>
              </a:prstGeom>
              <a:noFill/>
              <a:ln w="38100">
                <a:solidFill>
                  <a:schemeClr val="tx1"/>
                </a:solidFill>
                <a:round/>
                <a:headEnd/>
                <a:tailEnd/>
              </a:ln>
            </p:spPr>
            <p:txBody>
              <a:bodyPr wrap="none" anchor="ctr"/>
              <a:lstStyle/>
              <a:p>
                <a:endParaRPr lang="bg-BG"/>
              </a:p>
            </p:txBody>
          </p:sp>
          <p:sp>
            <p:nvSpPr>
              <p:cNvPr id="75949" name="Line 86"/>
              <p:cNvSpPr>
                <a:spLocks noChangeShapeType="1"/>
              </p:cNvSpPr>
              <p:nvPr/>
            </p:nvSpPr>
            <p:spPr bwMode="auto">
              <a:xfrm>
                <a:off x="1240" y="1832"/>
                <a:ext cx="96" cy="0"/>
              </a:xfrm>
              <a:prstGeom prst="line">
                <a:avLst/>
              </a:prstGeom>
              <a:noFill/>
              <a:ln w="38100">
                <a:solidFill>
                  <a:schemeClr val="tx1"/>
                </a:solidFill>
                <a:round/>
                <a:headEnd/>
                <a:tailEnd/>
              </a:ln>
            </p:spPr>
            <p:txBody>
              <a:bodyPr wrap="none" anchor="ctr"/>
              <a:lstStyle/>
              <a:p>
                <a:endParaRPr lang="bg-BG"/>
              </a:p>
            </p:txBody>
          </p:sp>
          <p:sp>
            <p:nvSpPr>
              <p:cNvPr id="75950" name="Line 87"/>
              <p:cNvSpPr>
                <a:spLocks noChangeShapeType="1"/>
              </p:cNvSpPr>
              <p:nvPr/>
            </p:nvSpPr>
            <p:spPr bwMode="auto">
              <a:xfrm>
                <a:off x="664"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51" name="Line 88"/>
              <p:cNvSpPr>
                <a:spLocks noChangeShapeType="1"/>
              </p:cNvSpPr>
              <p:nvPr/>
            </p:nvSpPr>
            <p:spPr bwMode="auto">
              <a:xfrm>
                <a:off x="936"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52" name="Line 89"/>
              <p:cNvSpPr>
                <a:spLocks noChangeShapeType="1"/>
              </p:cNvSpPr>
              <p:nvPr/>
            </p:nvSpPr>
            <p:spPr bwMode="auto">
              <a:xfrm flipH="1">
                <a:off x="336" y="1728"/>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5953" name="Line 90"/>
              <p:cNvSpPr>
                <a:spLocks noChangeShapeType="1"/>
              </p:cNvSpPr>
              <p:nvPr/>
            </p:nvSpPr>
            <p:spPr bwMode="auto">
              <a:xfrm>
                <a:off x="1208" y="1728"/>
                <a:ext cx="96" cy="96"/>
              </a:xfrm>
              <a:prstGeom prst="line">
                <a:avLst/>
              </a:prstGeom>
              <a:noFill/>
              <a:ln w="9525">
                <a:solidFill>
                  <a:schemeClr val="tx1"/>
                </a:solidFill>
                <a:round/>
                <a:headEnd/>
                <a:tailEnd type="triangle" w="med" len="med"/>
              </a:ln>
            </p:spPr>
            <p:txBody>
              <a:bodyPr wrap="none" anchor="ctr"/>
              <a:lstStyle/>
              <a:p>
                <a:endParaRPr lang="bg-BG"/>
              </a:p>
            </p:txBody>
          </p:sp>
        </p:grpSp>
        <p:grpSp>
          <p:nvGrpSpPr>
            <p:cNvPr id="75914" name="Group 91"/>
            <p:cNvGrpSpPr>
              <a:grpSpLocks/>
            </p:cNvGrpSpPr>
            <p:nvPr/>
          </p:nvGrpSpPr>
          <p:grpSpPr bwMode="auto">
            <a:xfrm>
              <a:off x="2928" y="1728"/>
              <a:ext cx="1048" cy="104"/>
              <a:chOff x="288" y="1728"/>
              <a:chExt cx="1048" cy="104"/>
            </a:xfrm>
          </p:grpSpPr>
          <p:sp>
            <p:nvSpPr>
              <p:cNvPr id="75938" name="Line 92"/>
              <p:cNvSpPr>
                <a:spLocks noChangeShapeType="1"/>
              </p:cNvSpPr>
              <p:nvPr/>
            </p:nvSpPr>
            <p:spPr bwMode="auto">
              <a:xfrm>
                <a:off x="288" y="1832"/>
                <a:ext cx="96" cy="0"/>
              </a:xfrm>
              <a:prstGeom prst="line">
                <a:avLst/>
              </a:prstGeom>
              <a:noFill/>
              <a:ln w="38100">
                <a:solidFill>
                  <a:schemeClr val="tx1"/>
                </a:solidFill>
                <a:round/>
                <a:headEnd/>
                <a:tailEnd/>
              </a:ln>
            </p:spPr>
            <p:txBody>
              <a:bodyPr wrap="none" anchor="ctr"/>
              <a:lstStyle/>
              <a:p>
                <a:endParaRPr lang="bg-BG"/>
              </a:p>
            </p:txBody>
          </p:sp>
          <p:sp>
            <p:nvSpPr>
              <p:cNvPr id="75939" name="Line 93"/>
              <p:cNvSpPr>
                <a:spLocks noChangeShapeType="1"/>
              </p:cNvSpPr>
              <p:nvPr/>
            </p:nvSpPr>
            <p:spPr bwMode="auto">
              <a:xfrm>
                <a:off x="616" y="1832"/>
                <a:ext cx="96" cy="0"/>
              </a:xfrm>
              <a:prstGeom prst="line">
                <a:avLst/>
              </a:prstGeom>
              <a:noFill/>
              <a:ln w="38100">
                <a:solidFill>
                  <a:schemeClr val="tx1"/>
                </a:solidFill>
                <a:round/>
                <a:headEnd/>
                <a:tailEnd/>
              </a:ln>
            </p:spPr>
            <p:txBody>
              <a:bodyPr wrap="none" anchor="ctr"/>
              <a:lstStyle/>
              <a:p>
                <a:endParaRPr lang="bg-BG"/>
              </a:p>
            </p:txBody>
          </p:sp>
          <p:sp>
            <p:nvSpPr>
              <p:cNvPr id="75940" name="Line 94"/>
              <p:cNvSpPr>
                <a:spLocks noChangeShapeType="1"/>
              </p:cNvSpPr>
              <p:nvPr/>
            </p:nvSpPr>
            <p:spPr bwMode="auto">
              <a:xfrm>
                <a:off x="896" y="1824"/>
                <a:ext cx="96" cy="0"/>
              </a:xfrm>
              <a:prstGeom prst="line">
                <a:avLst/>
              </a:prstGeom>
              <a:noFill/>
              <a:ln w="38100">
                <a:solidFill>
                  <a:schemeClr val="tx1"/>
                </a:solidFill>
                <a:round/>
                <a:headEnd/>
                <a:tailEnd/>
              </a:ln>
            </p:spPr>
            <p:txBody>
              <a:bodyPr wrap="none" anchor="ctr"/>
              <a:lstStyle/>
              <a:p>
                <a:endParaRPr lang="bg-BG"/>
              </a:p>
            </p:txBody>
          </p:sp>
          <p:sp>
            <p:nvSpPr>
              <p:cNvPr id="75941" name="Line 95"/>
              <p:cNvSpPr>
                <a:spLocks noChangeShapeType="1"/>
              </p:cNvSpPr>
              <p:nvPr/>
            </p:nvSpPr>
            <p:spPr bwMode="auto">
              <a:xfrm>
                <a:off x="1240" y="1832"/>
                <a:ext cx="96" cy="0"/>
              </a:xfrm>
              <a:prstGeom prst="line">
                <a:avLst/>
              </a:prstGeom>
              <a:noFill/>
              <a:ln w="38100">
                <a:solidFill>
                  <a:schemeClr val="tx1"/>
                </a:solidFill>
                <a:round/>
                <a:headEnd/>
                <a:tailEnd/>
              </a:ln>
            </p:spPr>
            <p:txBody>
              <a:bodyPr wrap="none" anchor="ctr"/>
              <a:lstStyle/>
              <a:p>
                <a:endParaRPr lang="bg-BG"/>
              </a:p>
            </p:txBody>
          </p:sp>
          <p:sp>
            <p:nvSpPr>
              <p:cNvPr id="75942" name="Line 96"/>
              <p:cNvSpPr>
                <a:spLocks noChangeShapeType="1"/>
              </p:cNvSpPr>
              <p:nvPr/>
            </p:nvSpPr>
            <p:spPr bwMode="auto">
              <a:xfrm>
                <a:off x="664"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43" name="Line 97"/>
              <p:cNvSpPr>
                <a:spLocks noChangeShapeType="1"/>
              </p:cNvSpPr>
              <p:nvPr/>
            </p:nvSpPr>
            <p:spPr bwMode="auto">
              <a:xfrm>
                <a:off x="936"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44" name="Line 98"/>
              <p:cNvSpPr>
                <a:spLocks noChangeShapeType="1"/>
              </p:cNvSpPr>
              <p:nvPr/>
            </p:nvSpPr>
            <p:spPr bwMode="auto">
              <a:xfrm flipH="1">
                <a:off x="336" y="1728"/>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5945" name="Line 99"/>
              <p:cNvSpPr>
                <a:spLocks noChangeShapeType="1"/>
              </p:cNvSpPr>
              <p:nvPr/>
            </p:nvSpPr>
            <p:spPr bwMode="auto">
              <a:xfrm>
                <a:off x="1208" y="1728"/>
                <a:ext cx="96" cy="96"/>
              </a:xfrm>
              <a:prstGeom prst="line">
                <a:avLst/>
              </a:prstGeom>
              <a:noFill/>
              <a:ln w="9525">
                <a:solidFill>
                  <a:schemeClr val="tx1"/>
                </a:solidFill>
                <a:round/>
                <a:headEnd/>
                <a:tailEnd type="triangle" w="med" len="med"/>
              </a:ln>
            </p:spPr>
            <p:txBody>
              <a:bodyPr wrap="none" anchor="ctr"/>
              <a:lstStyle/>
              <a:p>
                <a:endParaRPr lang="bg-BG"/>
              </a:p>
            </p:txBody>
          </p:sp>
        </p:grpSp>
        <p:grpSp>
          <p:nvGrpSpPr>
            <p:cNvPr id="75915" name="Group 100"/>
            <p:cNvGrpSpPr>
              <a:grpSpLocks/>
            </p:cNvGrpSpPr>
            <p:nvPr/>
          </p:nvGrpSpPr>
          <p:grpSpPr bwMode="auto">
            <a:xfrm>
              <a:off x="1584" y="1728"/>
              <a:ext cx="1048" cy="104"/>
              <a:chOff x="288" y="1728"/>
              <a:chExt cx="1048" cy="104"/>
            </a:xfrm>
          </p:grpSpPr>
          <p:sp>
            <p:nvSpPr>
              <p:cNvPr id="75930" name="Line 101"/>
              <p:cNvSpPr>
                <a:spLocks noChangeShapeType="1"/>
              </p:cNvSpPr>
              <p:nvPr/>
            </p:nvSpPr>
            <p:spPr bwMode="auto">
              <a:xfrm>
                <a:off x="288" y="1832"/>
                <a:ext cx="96" cy="0"/>
              </a:xfrm>
              <a:prstGeom prst="line">
                <a:avLst/>
              </a:prstGeom>
              <a:noFill/>
              <a:ln w="38100">
                <a:solidFill>
                  <a:schemeClr val="tx1"/>
                </a:solidFill>
                <a:round/>
                <a:headEnd/>
                <a:tailEnd/>
              </a:ln>
            </p:spPr>
            <p:txBody>
              <a:bodyPr wrap="none" anchor="ctr"/>
              <a:lstStyle/>
              <a:p>
                <a:endParaRPr lang="bg-BG"/>
              </a:p>
            </p:txBody>
          </p:sp>
          <p:sp>
            <p:nvSpPr>
              <p:cNvPr id="75931" name="Line 102"/>
              <p:cNvSpPr>
                <a:spLocks noChangeShapeType="1"/>
              </p:cNvSpPr>
              <p:nvPr/>
            </p:nvSpPr>
            <p:spPr bwMode="auto">
              <a:xfrm>
                <a:off x="616" y="1832"/>
                <a:ext cx="96" cy="0"/>
              </a:xfrm>
              <a:prstGeom prst="line">
                <a:avLst/>
              </a:prstGeom>
              <a:noFill/>
              <a:ln w="38100">
                <a:solidFill>
                  <a:schemeClr val="tx1"/>
                </a:solidFill>
                <a:round/>
                <a:headEnd/>
                <a:tailEnd/>
              </a:ln>
            </p:spPr>
            <p:txBody>
              <a:bodyPr wrap="none" anchor="ctr"/>
              <a:lstStyle/>
              <a:p>
                <a:endParaRPr lang="bg-BG"/>
              </a:p>
            </p:txBody>
          </p:sp>
          <p:sp>
            <p:nvSpPr>
              <p:cNvPr id="75932" name="Line 103"/>
              <p:cNvSpPr>
                <a:spLocks noChangeShapeType="1"/>
              </p:cNvSpPr>
              <p:nvPr/>
            </p:nvSpPr>
            <p:spPr bwMode="auto">
              <a:xfrm>
                <a:off x="896" y="1824"/>
                <a:ext cx="96" cy="0"/>
              </a:xfrm>
              <a:prstGeom prst="line">
                <a:avLst/>
              </a:prstGeom>
              <a:noFill/>
              <a:ln w="38100">
                <a:solidFill>
                  <a:schemeClr val="tx1"/>
                </a:solidFill>
                <a:round/>
                <a:headEnd/>
                <a:tailEnd/>
              </a:ln>
            </p:spPr>
            <p:txBody>
              <a:bodyPr wrap="none" anchor="ctr"/>
              <a:lstStyle/>
              <a:p>
                <a:endParaRPr lang="bg-BG"/>
              </a:p>
            </p:txBody>
          </p:sp>
          <p:sp>
            <p:nvSpPr>
              <p:cNvPr id="75933" name="Line 104"/>
              <p:cNvSpPr>
                <a:spLocks noChangeShapeType="1"/>
              </p:cNvSpPr>
              <p:nvPr/>
            </p:nvSpPr>
            <p:spPr bwMode="auto">
              <a:xfrm>
                <a:off x="1240" y="1832"/>
                <a:ext cx="96" cy="0"/>
              </a:xfrm>
              <a:prstGeom prst="line">
                <a:avLst/>
              </a:prstGeom>
              <a:noFill/>
              <a:ln w="38100">
                <a:solidFill>
                  <a:schemeClr val="tx1"/>
                </a:solidFill>
                <a:round/>
                <a:headEnd/>
                <a:tailEnd/>
              </a:ln>
            </p:spPr>
            <p:txBody>
              <a:bodyPr wrap="none" anchor="ctr"/>
              <a:lstStyle/>
              <a:p>
                <a:endParaRPr lang="bg-BG"/>
              </a:p>
            </p:txBody>
          </p:sp>
          <p:sp>
            <p:nvSpPr>
              <p:cNvPr id="75934" name="Line 105"/>
              <p:cNvSpPr>
                <a:spLocks noChangeShapeType="1"/>
              </p:cNvSpPr>
              <p:nvPr/>
            </p:nvSpPr>
            <p:spPr bwMode="auto">
              <a:xfrm>
                <a:off x="664"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35" name="Line 106"/>
              <p:cNvSpPr>
                <a:spLocks noChangeShapeType="1"/>
              </p:cNvSpPr>
              <p:nvPr/>
            </p:nvSpPr>
            <p:spPr bwMode="auto">
              <a:xfrm>
                <a:off x="936"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36" name="Line 107"/>
              <p:cNvSpPr>
                <a:spLocks noChangeShapeType="1"/>
              </p:cNvSpPr>
              <p:nvPr/>
            </p:nvSpPr>
            <p:spPr bwMode="auto">
              <a:xfrm flipH="1">
                <a:off x="336" y="1728"/>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5937" name="Line 108"/>
              <p:cNvSpPr>
                <a:spLocks noChangeShapeType="1"/>
              </p:cNvSpPr>
              <p:nvPr/>
            </p:nvSpPr>
            <p:spPr bwMode="auto">
              <a:xfrm>
                <a:off x="1208" y="1728"/>
                <a:ext cx="96" cy="96"/>
              </a:xfrm>
              <a:prstGeom prst="line">
                <a:avLst/>
              </a:prstGeom>
              <a:noFill/>
              <a:ln w="9525">
                <a:solidFill>
                  <a:schemeClr val="tx1"/>
                </a:solidFill>
                <a:round/>
                <a:headEnd/>
                <a:tailEnd type="triangle" w="med" len="med"/>
              </a:ln>
            </p:spPr>
            <p:txBody>
              <a:bodyPr wrap="none" anchor="ctr"/>
              <a:lstStyle/>
              <a:p>
                <a:endParaRPr lang="bg-BG"/>
              </a:p>
            </p:txBody>
          </p:sp>
        </p:grpSp>
        <p:sp>
          <p:nvSpPr>
            <p:cNvPr id="75916" name="Line 110"/>
            <p:cNvSpPr>
              <a:spLocks noChangeShapeType="1"/>
            </p:cNvSpPr>
            <p:nvPr/>
          </p:nvSpPr>
          <p:spPr bwMode="auto">
            <a:xfrm>
              <a:off x="3840" y="1832"/>
              <a:ext cx="96" cy="0"/>
            </a:xfrm>
            <a:prstGeom prst="line">
              <a:avLst/>
            </a:prstGeom>
            <a:noFill/>
            <a:ln w="38100">
              <a:solidFill>
                <a:schemeClr val="tx1"/>
              </a:solidFill>
              <a:round/>
              <a:headEnd/>
              <a:tailEnd/>
            </a:ln>
          </p:spPr>
          <p:txBody>
            <a:bodyPr wrap="none" anchor="ctr"/>
            <a:lstStyle/>
            <a:p>
              <a:endParaRPr lang="bg-BG"/>
            </a:p>
          </p:txBody>
        </p:sp>
        <p:sp>
          <p:nvSpPr>
            <p:cNvPr id="75917" name="Line 111"/>
            <p:cNvSpPr>
              <a:spLocks noChangeShapeType="1"/>
            </p:cNvSpPr>
            <p:nvPr/>
          </p:nvSpPr>
          <p:spPr bwMode="auto">
            <a:xfrm>
              <a:off x="4168" y="1832"/>
              <a:ext cx="96" cy="0"/>
            </a:xfrm>
            <a:prstGeom prst="line">
              <a:avLst/>
            </a:prstGeom>
            <a:noFill/>
            <a:ln w="38100">
              <a:solidFill>
                <a:schemeClr val="tx1"/>
              </a:solidFill>
              <a:round/>
              <a:headEnd/>
              <a:tailEnd/>
            </a:ln>
          </p:spPr>
          <p:txBody>
            <a:bodyPr wrap="none" anchor="ctr"/>
            <a:lstStyle/>
            <a:p>
              <a:endParaRPr lang="bg-BG"/>
            </a:p>
          </p:txBody>
        </p:sp>
        <p:sp>
          <p:nvSpPr>
            <p:cNvPr id="75918" name="Line 112"/>
            <p:cNvSpPr>
              <a:spLocks noChangeShapeType="1"/>
            </p:cNvSpPr>
            <p:nvPr/>
          </p:nvSpPr>
          <p:spPr bwMode="auto">
            <a:xfrm>
              <a:off x="4448" y="1824"/>
              <a:ext cx="96" cy="0"/>
            </a:xfrm>
            <a:prstGeom prst="line">
              <a:avLst/>
            </a:prstGeom>
            <a:noFill/>
            <a:ln w="38100">
              <a:solidFill>
                <a:schemeClr val="tx1"/>
              </a:solidFill>
              <a:round/>
              <a:headEnd/>
              <a:tailEnd/>
            </a:ln>
          </p:spPr>
          <p:txBody>
            <a:bodyPr wrap="none" anchor="ctr"/>
            <a:lstStyle/>
            <a:p>
              <a:endParaRPr lang="bg-BG"/>
            </a:p>
          </p:txBody>
        </p:sp>
        <p:sp>
          <p:nvSpPr>
            <p:cNvPr id="75919" name="Line 113"/>
            <p:cNvSpPr>
              <a:spLocks noChangeShapeType="1"/>
            </p:cNvSpPr>
            <p:nvPr/>
          </p:nvSpPr>
          <p:spPr bwMode="auto">
            <a:xfrm>
              <a:off x="4792" y="1832"/>
              <a:ext cx="96" cy="0"/>
            </a:xfrm>
            <a:prstGeom prst="line">
              <a:avLst/>
            </a:prstGeom>
            <a:noFill/>
            <a:ln w="38100">
              <a:solidFill>
                <a:schemeClr val="tx1"/>
              </a:solidFill>
              <a:round/>
              <a:headEnd/>
              <a:tailEnd/>
            </a:ln>
          </p:spPr>
          <p:txBody>
            <a:bodyPr wrap="none" anchor="ctr"/>
            <a:lstStyle/>
            <a:p>
              <a:endParaRPr lang="bg-BG"/>
            </a:p>
          </p:txBody>
        </p:sp>
        <p:sp>
          <p:nvSpPr>
            <p:cNvPr id="75920" name="Line 114"/>
            <p:cNvSpPr>
              <a:spLocks noChangeShapeType="1"/>
            </p:cNvSpPr>
            <p:nvPr/>
          </p:nvSpPr>
          <p:spPr bwMode="auto">
            <a:xfrm>
              <a:off x="4216"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21" name="Line 115"/>
            <p:cNvSpPr>
              <a:spLocks noChangeShapeType="1"/>
            </p:cNvSpPr>
            <p:nvPr/>
          </p:nvSpPr>
          <p:spPr bwMode="auto">
            <a:xfrm>
              <a:off x="4488" y="1728"/>
              <a:ext cx="0" cy="96"/>
            </a:xfrm>
            <a:prstGeom prst="line">
              <a:avLst/>
            </a:prstGeom>
            <a:noFill/>
            <a:ln w="9525">
              <a:solidFill>
                <a:schemeClr val="tx1"/>
              </a:solidFill>
              <a:round/>
              <a:headEnd/>
              <a:tailEnd type="triangle" w="med" len="med"/>
            </a:ln>
          </p:spPr>
          <p:txBody>
            <a:bodyPr wrap="none" anchor="ctr"/>
            <a:lstStyle/>
            <a:p>
              <a:endParaRPr lang="bg-BG"/>
            </a:p>
          </p:txBody>
        </p:sp>
        <p:sp>
          <p:nvSpPr>
            <p:cNvPr id="75922" name="Line 118"/>
            <p:cNvSpPr>
              <a:spLocks noChangeShapeType="1"/>
            </p:cNvSpPr>
            <p:nvPr/>
          </p:nvSpPr>
          <p:spPr bwMode="auto">
            <a:xfrm flipH="1">
              <a:off x="4656" y="1728"/>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923" name="Line 119"/>
            <p:cNvSpPr>
              <a:spLocks noChangeShapeType="1"/>
            </p:cNvSpPr>
            <p:nvPr/>
          </p:nvSpPr>
          <p:spPr bwMode="auto">
            <a:xfrm>
              <a:off x="3936" y="1728"/>
              <a:ext cx="144" cy="96"/>
            </a:xfrm>
            <a:prstGeom prst="line">
              <a:avLst/>
            </a:prstGeom>
            <a:noFill/>
            <a:ln w="9525">
              <a:solidFill>
                <a:schemeClr val="tx1"/>
              </a:solidFill>
              <a:round/>
              <a:headEnd/>
              <a:tailEnd type="triangle" w="med" len="med"/>
            </a:ln>
          </p:spPr>
          <p:txBody>
            <a:bodyPr wrap="none" anchor="ctr"/>
            <a:lstStyle/>
            <a:p>
              <a:endParaRPr lang="bg-BG"/>
            </a:p>
          </p:txBody>
        </p:sp>
        <p:sp>
          <p:nvSpPr>
            <p:cNvPr id="75924" name="Line 120"/>
            <p:cNvSpPr>
              <a:spLocks noChangeShapeType="1"/>
            </p:cNvSpPr>
            <p:nvPr/>
          </p:nvSpPr>
          <p:spPr bwMode="auto">
            <a:xfrm flipH="1">
              <a:off x="3312" y="1344"/>
              <a:ext cx="336" cy="192"/>
            </a:xfrm>
            <a:prstGeom prst="line">
              <a:avLst/>
            </a:prstGeom>
            <a:noFill/>
            <a:ln w="9525">
              <a:solidFill>
                <a:schemeClr val="tx1"/>
              </a:solidFill>
              <a:round/>
              <a:headEnd/>
              <a:tailEnd type="triangle" w="med" len="med"/>
            </a:ln>
          </p:spPr>
          <p:txBody>
            <a:bodyPr wrap="none" anchor="ctr"/>
            <a:lstStyle/>
            <a:p>
              <a:endParaRPr lang="bg-BG"/>
            </a:p>
          </p:txBody>
        </p:sp>
        <p:sp>
          <p:nvSpPr>
            <p:cNvPr id="75925" name="Line 121"/>
            <p:cNvSpPr>
              <a:spLocks noChangeShapeType="1"/>
            </p:cNvSpPr>
            <p:nvPr/>
          </p:nvSpPr>
          <p:spPr bwMode="auto">
            <a:xfrm>
              <a:off x="3936" y="1344"/>
              <a:ext cx="192" cy="192"/>
            </a:xfrm>
            <a:prstGeom prst="line">
              <a:avLst/>
            </a:prstGeom>
            <a:noFill/>
            <a:ln w="9525">
              <a:solidFill>
                <a:schemeClr val="tx1"/>
              </a:solidFill>
              <a:round/>
              <a:headEnd/>
              <a:tailEnd type="triangle" w="med" len="med"/>
            </a:ln>
          </p:spPr>
          <p:txBody>
            <a:bodyPr wrap="none" anchor="ctr"/>
            <a:lstStyle/>
            <a:p>
              <a:endParaRPr lang="bg-BG"/>
            </a:p>
          </p:txBody>
        </p:sp>
        <p:sp>
          <p:nvSpPr>
            <p:cNvPr id="75926" name="Line 122"/>
            <p:cNvSpPr>
              <a:spLocks noChangeShapeType="1"/>
            </p:cNvSpPr>
            <p:nvPr/>
          </p:nvSpPr>
          <p:spPr bwMode="auto">
            <a:xfrm>
              <a:off x="4224" y="1344"/>
              <a:ext cx="912" cy="192"/>
            </a:xfrm>
            <a:prstGeom prst="line">
              <a:avLst/>
            </a:prstGeom>
            <a:noFill/>
            <a:ln w="9525">
              <a:solidFill>
                <a:schemeClr val="tx1"/>
              </a:solidFill>
              <a:round/>
              <a:headEnd/>
              <a:tailEnd type="triangle" w="med" len="med"/>
            </a:ln>
          </p:spPr>
          <p:txBody>
            <a:bodyPr wrap="none" anchor="ctr"/>
            <a:lstStyle/>
            <a:p>
              <a:endParaRPr lang="bg-BG"/>
            </a:p>
          </p:txBody>
        </p:sp>
        <p:sp>
          <p:nvSpPr>
            <p:cNvPr id="75927" name="Text Box 123"/>
            <p:cNvSpPr txBox="1">
              <a:spLocks noChangeArrowheads="1"/>
            </p:cNvSpPr>
            <p:nvPr/>
          </p:nvSpPr>
          <p:spPr bwMode="auto">
            <a:xfrm>
              <a:off x="4832" y="1488"/>
              <a:ext cx="408" cy="288"/>
            </a:xfrm>
            <a:prstGeom prst="rect">
              <a:avLst/>
            </a:prstGeom>
            <a:noFill/>
            <a:ln w="9525">
              <a:noFill/>
              <a:miter lim="800000"/>
              <a:headEnd/>
              <a:tailEnd/>
            </a:ln>
          </p:spPr>
          <p:txBody>
            <a:bodyPr>
              <a:spAutoFit/>
            </a:bodyPr>
            <a:lstStyle/>
            <a:p>
              <a:pPr>
                <a:spcBef>
                  <a:spcPct val="50000"/>
                </a:spcBef>
              </a:pPr>
              <a:r>
                <a:rPr lang="bg-BG"/>
                <a:t>8</a:t>
              </a:r>
              <a:r>
                <a:rPr lang="en-US"/>
                <a:t>0</a:t>
              </a:r>
            </a:p>
          </p:txBody>
        </p:sp>
        <p:sp>
          <p:nvSpPr>
            <p:cNvPr id="75928" name="Text Box 124"/>
            <p:cNvSpPr txBox="1">
              <a:spLocks noChangeArrowheads="1"/>
            </p:cNvSpPr>
            <p:nvPr/>
          </p:nvSpPr>
          <p:spPr bwMode="auto">
            <a:xfrm>
              <a:off x="3904" y="1488"/>
              <a:ext cx="408" cy="288"/>
            </a:xfrm>
            <a:prstGeom prst="rect">
              <a:avLst/>
            </a:prstGeom>
            <a:noFill/>
            <a:ln w="9525">
              <a:noFill/>
              <a:miter lim="800000"/>
              <a:headEnd/>
              <a:tailEnd/>
            </a:ln>
          </p:spPr>
          <p:txBody>
            <a:bodyPr>
              <a:spAutoFit/>
            </a:bodyPr>
            <a:lstStyle/>
            <a:p>
              <a:pPr>
                <a:spcBef>
                  <a:spcPct val="50000"/>
                </a:spcBef>
              </a:pPr>
              <a:r>
                <a:rPr lang="bg-BG"/>
                <a:t>6</a:t>
              </a:r>
              <a:r>
                <a:rPr lang="en-US"/>
                <a:t>0</a:t>
              </a:r>
            </a:p>
          </p:txBody>
        </p:sp>
        <p:sp>
          <p:nvSpPr>
            <p:cNvPr id="75929" name="Text Box 125"/>
            <p:cNvSpPr txBox="1">
              <a:spLocks noChangeArrowheads="1"/>
            </p:cNvSpPr>
            <p:nvPr/>
          </p:nvSpPr>
          <p:spPr bwMode="auto">
            <a:xfrm>
              <a:off x="5088" y="1488"/>
              <a:ext cx="408" cy="288"/>
            </a:xfrm>
            <a:prstGeom prst="rect">
              <a:avLst/>
            </a:prstGeom>
            <a:noFill/>
            <a:ln w="9525">
              <a:noFill/>
              <a:miter lim="800000"/>
              <a:headEnd/>
              <a:tailEnd/>
            </a:ln>
          </p:spPr>
          <p:txBody>
            <a:bodyPr>
              <a:spAutoFit/>
            </a:bodyPr>
            <a:lstStyle/>
            <a:p>
              <a:pPr>
                <a:spcBef>
                  <a:spcPct val="50000"/>
                </a:spcBef>
              </a:pPr>
              <a:r>
                <a:rPr lang="bg-BG"/>
                <a:t>9</a:t>
              </a:r>
              <a:r>
                <a:rPr lang="en-US"/>
                <a:t>0</a:t>
              </a:r>
            </a:p>
          </p:txBody>
        </p:sp>
      </p:grpSp>
      <p:sp>
        <p:nvSpPr>
          <p:cNvPr id="75780" name="Text Box 171"/>
          <p:cNvSpPr txBox="1">
            <a:spLocks noChangeArrowheads="1"/>
          </p:cNvSpPr>
          <p:nvPr/>
        </p:nvSpPr>
        <p:spPr bwMode="auto">
          <a:xfrm>
            <a:off x="3632200" y="5207000"/>
            <a:ext cx="647700" cy="457200"/>
          </a:xfrm>
          <a:prstGeom prst="rect">
            <a:avLst/>
          </a:prstGeom>
          <a:noFill/>
          <a:ln w="9525">
            <a:noFill/>
            <a:miter lim="800000"/>
            <a:headEnd/>
            <a:tailEnd/>
          </a:ln>
        </p:spPr>
        <p:txBody>
          <a:bodyPr>
            <a:spAutoFit/>
          </a:bodyPr>
          <a:lstStyle/>
          <a:p>
            <a:pPr>
              <a:spcBef>
                <a:spcPct val="50000"/>
              </a:spcBef>
            </a:pPr>
            <a:r>
              <a:rPr lang="bg-BG"/>
              <a:t>9</a:t>
            </a:r>
            <a:r>
              <a:rPr lang="en-US"/>
              <a:t>0</a:t>
            </a:r>
          </a:p>
        </p:txBody>
      </p:sp>
      <p:grpSp>
        <p:nvGrpSpPr>
          <p:cNvPr id="75781" name="Group 173"/>
          <p:cNvGrpSpPr>
            <a:grpSpLocks/>
          </p:cNvGrpSpPr>
          <p:nvPr/>
        </p:nvGrpSpPr>
        <p:grpSpPr bwMode="auto">
          <a:xfrm>
            <a:off x="228600" y="3556000"/>
            <a:ext cx="3860800" cy="2616200"/>
            <a:chOff x="144" y="2240"/>
            <a:chExt cx="2432" cy="1648"/>
          </a:xfrm>
        </p:grpSpPr>
        <p:sp>
          <p:nvSpPr>
            <p:cNvPr id="75849" name="Oval 126"/>
            <p:cNvSpPr>
              <a:spLocks noChangeArrowheads="1"/>
            </p:cNvSpPr>
            <p:nvPr/>
          </p:nvSpPr>
          <p:spPr bwMode="auto">
            <a:xfrm>
              <a:off x="1056" y="2256"/>
              <a:ext cx="288" cy="288"/>
            </a:xfrm>
            <a:prstGeom prst="ellipse">
              <a:avLst/>
            </a:prstGeom>
            <a:noFill/>
            <a:ln w="9525">
              <a:solidFill>
                <a:schemeClr val="tx1"/>
              </a:solidFill>
              <a:round/>
              <a:headEnd/>
              <a:tailEnd/>
            </a:ln>
          </p:spPr>
          <p:txBody>
            <a:bodyPr wrap="none" anchor="ctr"/>
            <a:lstStyle/>
            <a:p>
              <a:endParaRPr lang="bg-BG"/>
            </a:p>
          </p:txBody>
        </p:sp>
        <p:sp>
          <p:nvSpPr>
            <p:cNvPr id="75850" name="Oval 127"/>
            <p:cNvSpPr>
              <a:spLocks noChangeArrowheads="1"/>
            </p:cNvSpPr>
            <p:nvPr/>
          </p:nvSpPr>
          <p:spPr bwMode="auto">
            <a:xfrm>
              <a:off x="1776" y="2592"/>
              <a:ext cx="288" cy="288"/>
            </a:xfrm>
            <a:prstGeom prst="ellipse">
              <a:avLst/>
            </a:prstGeom>
            <a:noFill/>
            <a:ln w="9525">
              <a:solidFill>
                <a:schemeClr val="tx1"/>
              </a:solidFill>
              <a:round/>
              <a:headEnd/>
              <a:tailEnd/>
            </a:ln>
          </p:spPr>
          <p:txBody>
            <a:bodyPr wrap="none" anchor="ctr"/>
            <a:lstStyle/>
            <a:p>
              <a:endParaRPr lang="bg-BG"/>
            </a:p>
          </p:txBody>
        </p:sp>
        <p:sp>
          <p:nvSpPr>
            <p:cNvPr id="75851" name="Oval 128"/>
            <p:cNvSpPr>
              <a:spLocks noChangeArrowheads="1"/>
            </p:cNvSpPr>
            <p:nvPr/>
          </p:nvSpPr>
          <p:spPr bwMode="auto">
            <a:xfrm>
              <a:off x="384" y="2592"/>
              <a:ext cx="288" cy="288"/>
            </a:xfrm>
            <a:prstGeom prst="ellipse">
              <a:avLst/>
            </a:prstGeom>
            <a:noFill/>
            <a:ln w="9525">
              <a:solidFill>
                <a:schemeClr val="tx1"/>
              </a:solidFill>
              <a:round/>
              <a:headEnd/>
              <a:tailEnd/>
            </a:ln>
          </p:spPr>
          <p:txBody>
            <a:bodyPr wrap="none" anchor="ctr"/>
            <a:lstStyle/>
            <a:p>
              <a:endParaRPr lang="bg-BG"/>
            </a:p>
          </p:txBody>
        </p:sp>
        <p:sp>
          <p:nvSpPr>
            <p:cNvPr id="75852" name="Oval 129"/>
            <p:cNvSpPr>
              <a:spLocks noChangeArrowheads="1"/>
            </p:cNvSpPr>
            <p:nvPr/>
          </p:nvSpPr>
          <p:spPr bwMode="auto">
            <a:xfrm>
              <a:off x="144" y="2928"/>
              <a:ext cx="288" cy="288"/>
            </a:xfrm>
            <a:prstGeom prst="ellipse">
              <a:avLst/>
            </a:prstGeom>
            <a:noFill/>
            <a:ln w="9525">
              <a:solidFill>
                <a:schemeClr val="tx1"/>
              </a:solidFill>
              <a:round/>
              <a:headEnd/>
              <a:tailEnd/>
            </a:ln>
          </p:spPr>
          <p:txBody>
            <a:bodyPr wrap="none" anchor="ctr"/>
            <a:lstStyle/>
            <a:p>
              <a:endParaRPr lang="bg-BG"/>
            </a:p>
          </p:txBody>
        </p:sp>
        <p:sp>
          <p:nvSpPr>
            <p:cNvPr id="75853" name="Oval 130"/>
            <p:cNvSpPr>
              <a:spLocks noChangeArrowheads="1"/>
            </p:cNvSpPr>
            <p:nvPr/>
          </p:nvSpPr>
          <p:spPr bwMode="auto">
            <a:xfrm>
              <a:off x="2072" y="2912"/>
              <a:ext cx="288" cy="288"/>
            </a:xfrm>
            <a:prstGeom prst="ellipse">
              <a:avLst/>
            </a:prstGeom>
            <a:noFill/>
            <a:ln w="9525">
              <a:solidFill>
                <a:schemeClr val="tx1"/>
              </a:solidFill>
              <a:round/>
              <a:headEnd/>
              <a:tailEnd/>
            </a:ln>
          </p:spPr>
          <p:txBody>
            <a:bodyPr wrap="none" anchor="ctr"/>
            <a:lstStyle/>
            <a:p>
              <a:endParaRPr lang="bg-BG"/>
            </a:p>
          </p:txBody>
        </p:sp>
        <p:sp>
          <p:nvSpPr>
            <p:cNvPr id="75854" name="Oval 131"/>
            <p:cNvSpPr>
              <a:spLocks noChangeArrowheads="1"/>
            </p:cNvSpPr>
            <p:nvPr/>
          </p:nvSpPr>
          <p:spPr bwMode="auto">
            <a:xfrm>
              <a:off x="1568" y="2928"/>
              <a:ext cx="288" cy="288"/>
            </a:xfrm>
            <a:prstGeom prst="ellipse">
              <a:avLst/>
            </a:prstGeom>
            <a:noFill/>
            <a:ln w="9525">
              <a:solidFill>
                <a:schemeClr val="tx1"/>
              </a:solidFill>
              <a:round/>
              <a:headEnd/>
              <a:tailEnd/>
            </a:ln>
          </p:spPr>
          <p:txBody>
            <a:bodyPr wrap="none" anchor="ctr"/>
            <a:lstStyle/>
            <a:p>
              <a:endParaRPr lang="bg-BG"/>
            </a:p>
          </p:txBody>
        </p:sp>
        <p:sp>
          <p:nvSpPr>
            <p:cNvPr id="75855" name="Oval 132"/>
            <p:cNvSpPr>
              <a:spLocks noChangeArrowheads="1"/>
            </p:cNvSpPr>
            <p:nvPr/>
          </p:nvSpPr>
          <p:spPr bwMode="auto">
            <a:xfrm>
              <a:off x="624" y="2928"/>
              <a:ext cx="288" cy="288"/>
            </a:xfrm>
            <a:prstGeom prst="ellipse">
              <a:avLst/>
            </a:prstGeom>
            <a:noFill/>
            <a:ln w="9525">
              <a:solidFill>
                <a:schemeClr val="tx1"/>
              </a:solidFill>
              <a:round/>
              <a:headEnd/>
              <a:tailEnd/>
            </a:ln>
          </p:spPr>
          <p:txBody>
            <a:bodyPr wrap="none" anchor="ctr"/>
            <a:lstStyle/>
            <a:p>
              <a:endParaRPr lang="bg-BG"/>
            </a:p>
          </p:txBody>
        </p:sp>
        <p:sp>
          <p:nvSpPr>
            <p:cNvPr id="75856" name="Oval 133"/>
            <p:cNvSpPr>
              <a:spLocks noChangeArrowheads="1"/>
            </p:cNvSpPr>
            <p:nvPr/>
          </p:nvSpPr>
          <p:spPr bwMode="auto">
            <a:xfrm>
              <a:off x="1296" y="3256"/>
              <a:ext cx="288" cy="288"/>
            </a:xfrm>
            <a:prstGeom prst="ellipse">
              <a:avLst/>
            </a:prstGeom>
            <a:noFill/>
            <a:ln w="9525">
              <a:solidFill>
                <a:schemeClr val="tx1"/>
              </a:solidFill>
              <a:round/>
              <a:headEnd/>
              <a:tailEnd/>
            </a:ln>
          </p:spPr>
          <p:txBody>
            <a:bodyPr wrap="none" anchor="ctr"/>
            <a:lstStyle/>
            <a:p>
              <a:endParaRPr lang="bg-BG"/>
            </a:p>
          </p:txBody>
        </p:sp>
        <p:sp>
          <p:nvSpPr>
            <p:cNvPr id="75857" name="Oval 134"/>
            <p:cNvSpPr>
              <a:spLocks noChangeArrowheads="1"/>
            </p:cNvSpPr>
            <p:nvPr/>
          </p:nvSpPr>
          <p:spPr bwMode="auto">
            <a:xfrm>
              <a:off x="816" y="3264"/>
              <a:ext cx="288" cy="288"/>
            </a:xfrm>
            <a:prstGeom prst="ellipse">
              <a:avLst/>
            </a:prstGeom>
            <a:noFill/>
            <a:ln w="9525">
              <a:solidFill>
                <a:schemeClr val="tx1"/>
              </a:solidFill>
              <a:round/>
              <a:headEnd/>
              <a:tailEnd/>
            </a:ln>
          </p:spPr>
          <p:txBody>
            <a:bodyPr wrap="none" anchor="ctr"/>
            <a:lstStyle/>
            <a:p>
              <a:endParaRPr lang="bg-BG"/>
            </a:p>
          </p:txBody>
        </p:sp>
        <p:sp>
          <p:nvSpPr>
            <p:cNvPr id="75858" name="Oval 138"/>
            <p:cNvSpPr>
              <a:spLocks noChangeArrowheads="1"/>
            </p:cNvSpPr>
            <p:nvPr/>
          </p:nvSpPr>
          <p:spPr bwMode="auto">
            <a:xfrm>
              <a:off x="2288" y="3280"/>
              <a:ext cx="288" cy="288"/>
            </a:xfrm>
            <a:prstGeom prst="ellipse">
              <a:avLst/>
            </a:prstGeom>
            <a:noFill/>
            <a:ln w="9525">
              <a:solidFill>
                <a:schemeClr val="tx1"/>
              </a:solidFill>
              <a:round/>
              <a:headEnd/>
              <a:tailEnd/>
            </a:ln>
          </p:spPr>
          <p:txBody>
            <a:bodyPr wrap="none" anchor="ctr"/>
            <a:lstStyle/>
            <a:p>
              <a:endParaRPr lang="bg-BG"/>
            </a:p>
          </p:txBody>
        </p:sp>
        <p:sp>
          <p:nvSpPr>
            <p:cNvPr id="75859" name="Oval 139"/>
            <p:cNvSpPr>
              <a:spLocks noChangeArrowheads="1"/>
            </p:cNvSpPr>
            <p:nvPr/>
          </p:nvSpPr>
          <p:spPr bwMode="auto">
            <a:xfrm>
              <a:off x="432" y="3264"/>
              <a:ext cx="288" cy="288"/>
            </a:xfrm>
            <a:prstGeom prst="ellipse">
              <a:avLst/>
            </a:prstGeom>
            <a:noFill/>
            <a:ln w="9525">
              <a:solidFill>
                <a:schemeClr val="tx1"/>
              </a:solidFill>
              <a:round/>
              <a:headEnd/>
              <a:tailEnd/>
            </a:ln>
          </p:spPr>
          <p:txBody>
            <a:bodyPr wrap="none" anchor="ctr"/>
            <a:lstStyle/>
            <a:p>
              <a:endParaRPr lang="bg-BG"/>
            </a:p>
          </p:txBody>
        </p:sp>
        <p:sp>
          <p:nvSpPr>
            <p:cNvPr id="75860" name="Oval 140"/>
            <p:cNvSpPr>
              <a:spLocks noChangeArrowheads="1"/>
            </p:cNvSpPr>
            <p:nvPr/>
          </p:nvSpPr>
          <p:spPr bwMode="auto">
            <a:xfrm>
              <a:off x="1104" y="3600"/>
              <a:ext cx="288" cy="288"/>
            </a:xfrm>
            <a:prstGeom prst="ellipse">
              <a:avLst/>
            </a:prstGeom>
            <a:noFill/>
            <a:ln w="9525">
              <a:solidFill>
                <a:schemeClr val="tx1"/>
              </a:solidFill>
              <a:round/>
              <a:headEnd/>
              <a:tailEnd/>
            </a:ln>
          </p:spPr>
          <p:txBody>
            <a:bodyPr wrap="none" anchor="ctr"/>
            <a:lstStyle/>
            <a:p>
              <a:endParaRPr lang="bg-BG"/>
            </a:p>
          </p:txBody>
        </p:sp>
        <p:sp>
          <p:nvSpPr>
            <p:cNvPr id="75861" name="Line 141"/>
            <p:cNvSpPr>
              <a:spLocks noChangeShapeType="1"/>
            </p:cNvSpPr>
            <p:nvPr/>
          </p:nvSpPr>
          <p:spPr bwMode="auto">
            <a:xfrm flipH="1">
              <a:off x="672" y="2448"/>
              <a:ext cx="384" cy="240"/>
            </a:xfrm>
            <a:prstGeom prst="line">
              <a:avLst/>
            </a:prstGeom>
            <a:noFill/>
            <a:ln w="9525">
              <a:solidFill>
                <a:schemeClr val="tx1"/>
              </a:solidFill>
              <a:round/>
              <a:headEnd/>
              <a:tailEnd type="triangle" w="med" len="med"/>
            </a:ln>
          </p:spPr>
          <p:txBody>
            <a:bodyPr wrap="none" anchor="ctr"/>
            <a:lstStyle/>
            <a:p>
              <a:endParaRPr lang="bg-BG"/>
            </a:p>
          </p:txBody>
        </p:sp>
        <p:sp>
          <p:nvSpPr>
            <p:cNvPr id="75862" name="Line 142"/>
            <p:cNvSpPr>
              <a:spLocks noChangeShapeType="1"/>
            </p:cNvSpPr>
            <p:nvPr/>
          </p:nvSpPr>
          <p:spPr bwMode="auto">
            <a:xfrm flipH="1">
              <a:off x="328" y="2848"/>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63" name="Line 143"/>
            <p:cNvSpPr>
              <a:spLocks noChangeShapeType="1"/>
            </p:cNvSpPr>
            <p:nvPr/>
          </p:nvSpPr>
          <p:spPr bwMode="auto">
            <a:xfrm>
              <a:off x="632" y="2840"/>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64" name="Line 144"/>
            <p:cNvSpPr>
              <a:spLocks noChangeShapeType="1"/>
            </p:cNvSpPr>
            <p:nvPr/>
          </p:nvSpPr>
          <p:spPr bwMode="auto">
            <a:xfrm>
              <a:off x="1344" y="2448"/>
              <a:ext cx="480" cy="192"/>
            </a:xfrm>
            <a:prstGeom prst="line">
              <a:avLst/>
            </a:prstGeom>
            <a:noFill/>
            <a:ln w="9525">
              <a:solidFill>
                <a:schemeClr val="tx1"/>
              </a:solidFill>
              <a:round/>
              <a:headEnd/>
              <a:tailEnd type="triangle" w="med" len="med"/>
            </a:ln>
          </p:spPr>
          <p:txBody>
            <a:bodyPr wrap="none" anchor="ctr"/>
            <a:lstStyle/>
            <a:p>
              <a:endParaRPr lang="bg-BG"/>
            </a:p>
          </p:txBody>
        </p:sp>
        <p:sp>
          <p:nvSpPr>
            <p:cNvPr id="75865" name="Line 146"/>
            <p:cNvSpPr>
              <a:spLocks noChangeShapeType="1"/>
            </p:cNvSpPr>
            <p:nvPr/>
          </p:nvSpPr>
          <p:spPr bwMode="auto">
            <a:xfrm flipH="1">
              <a:off x="1720" y="2840"/>
              <a:ext cx="96" cy="96"/>
            </a:xfrm>
            <a:prstGeom prst="line">
              <a:avLst/>
            </a:prstGeom>
            <a:noFill/>
            <a:ln w="9525">
              <a:solidFill>
                <a:srgbClr val="CC0066"/>
              </a:solidFill>
              <a:round/>
              <a:headEnd/>
              <a:tailEnd type="triangle" w="med" len="med"/>
            </a:ln>
          </p:spPr>
          <p:txBody>
            <a:bodyPr wrap="none" anchor="ctr"/>
            <a:lstStyle/>
            <a:p>
              <a:endParaRPr lang="bg-BG"/>
            </a:p>
          </p:txBody>
        </p:sp>
        <p:sp>
          <p:nvSpPr>
            <p:cNvPr id="75866" name="Line 147"/>
            <p:cNvSpPr>
              <a:spLocks noChangeShapeType="1"/>
            </p:cNvSpPr>
            <p:nvPr/>
          </p:nvSpPr>
          <p:spPr bwMode="auto">
            <a:xfrm>
              <a:off x="2024" y="2848"/>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67" name="Line 149"/>
            <p:cNvSpPr>
              <a:spLocks noChangeShapeType="1"/>
            </p:cNvSpPr>
            <p:nvPr/>
          </p:nvSpPr>
          <p:spPr bwMode="auto">
            <a:xfrm flipH="1">
              <a:off x="552" y="3168"/>
              <a:ext cx="96" cy="96"/>
            </a:xfrm>
            <a:prstGeom prst="line">
              <a:avLst/>
            </a:prstGeom>
            <a:noFill/>
            <a:ln w="9525">
              <a:solidFill>
                <a:srgbClr val="CC0066"/>
              </a:solidFill>
              <a:round/>
              <a:headEnd/>
              <a:tailEnd type="triangle" w="med" len="med"/>
            </a:ln>
          </p:spPr>
          <p:txBody>
            <a:bodyPr wrap="none" anchor="ctr"/>
            <a:lstStyle/>
            <a:p>
              <a:endParaRPr lang="bg-BG"/>
            </a:p>
          </p:txBody>
        </p:sp>
        <p:sp>
          <p:nvSpPr>
            <p:cNvPr id="75868" name="Line 150"/>
            <p:cNvSpPr>
              <a:spLocks noChangeShapeType="1"/>
            </p:cNvSpPr>
            <p:nvPr/>
          </p:nvSpPr>
          <p:spPr bwMode="auto">
            <a:xfrm>
              <a:off x="864" y="3168"/>
              <a:ext cx="96" cy="96"/>
            </a:xfrm>
            <a:prstGeom prst="line">
              <a:avLst/>
            </a:prstGeom>
            <a:noFill/>
            <a:ln w="9525">
              <a:solidFill>
                <a:srgbClr val="CC0066"/>
              </a:solidFill>
              <a:round/>
              <a:headEnd/>
              <a:tailEnd type="triangle" w="med" len="med"/>
            </a:ln>
          </p:spPr>
          <p:txBody>
            <a:bodyPr wrap="none" anchor="ctr"/>
            <a:lstStyle/>
            <a:p>
              <a:endParaRPr lang="bg-BG"/>
            </a:p>
          </p:txBody>
        </p:sp>
        <p:sp>
          <p:nvSpPr>
            <p:cNvPr id="75869" name="Line 151"/>
            <p:cNvSpPr>
              <a:spLocks noChangeShapeType="1"/>
            </p:cNvSpPr>
            <p:nvPr/>
          </p:nvSpPr>
          <p:spPr bwMode="auto">
            <a:xfrm flipH="1">
              <a:off x="1488" y="3168"/>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70" name="Line 152"/>
            <p:cNvSpPr>
              <a:spLocks noChangeShapeType="1"/>
            </p:cNvSpPr>
            <p:nvPr/>
          </p:nvSpPr>
          <p:spPr bwMode="auto">
            <a:xfrm flipH="1">
              <a:off x="1312" y="3528"/>
              <a:ext cx="48" cy="96"/>
            </a:xfrm>
            <a:prstGeom prst="line">
              <a:avLst/>
            </a:prstGeom>
            <a:noFill/>
            <a:ln w="9525">
              <a:solidFill>
                <a:srgbClr val="CC0066"/>
              </a:solidFill>
              <a:round/>
              <a:headEnd/>
              <a:tailEnd type="triangle" w="med" len="med"/>
            </a:ln>
          </p:spPr>
          <p:txBody>
            <a:bodyPr wrap="none" anchor="ctr"/>
            <a:lstStyle/>
            <a:p>
              <a:endParaRPr lang="bg-BG"/>
            </a:p>
          </p:txBody>
        </p:sp>
        <p:sp>
          <p:nvSpPr>
            <p:cNvPr id="75871" name="Line 155"/>
            <p:cNvSpPr>
              <a:spLocks noChangeShapeType="1"/>
            </p:cNvSpPr>
            <p:nvPr/>
          </p:nvSpPr>
          <p:spPr bwMode="auto">
            <a:xfrm>
              <a:off x="2304" y="3168"/>
              <a:ext cx="112" cy="120"/>
            </a:xfrm>
            <a:prstGeom prst="line">
              <a:avLst/>
            </a:prstGeom>
            <a:noFill/>
            <a:ln w="9525">
              <a:solidFill>
                <a:srgbClr val="CC0066"/>
              </a:solidFill>
              <a:round/>
              <a:headEnd/>
              <a:tailEnd type="triangle" w="med" len="med"/>
            </a:ln>
          </p:spPr>
          <p:txBody>
            <a:bodyPr wrap="none" anchor="ctr"/>
            <a:lstStyle/>
            <a:p>
              <a:endParaRPr lang="bg-BG"/>
            </a:p>
          </p:txBody>
        </p:sp>
        <p:sp>
          <p:nvSpPr>
            <p:cNvPr id="75872" name="Text Box 157"/>
            <p:cNvSpPr txBox="1">
              <a:spLocks noChangeArrowheads="1"/>
            </p:cNvSpPr>
            <p:nvPr/>
          </p:nvSpPr>
          <p:spPr bwMode="auto">
            <a:xfrm>
              <a:off x="1048" y="2240"/>
              <a:ext cx="408" cy="288"/>
            </a:xfrm>
            <a:prstGeom prst="rect">
              <a:avLst/>
            </a:prstGeom>
            <a:noFill/>
            <a:ln w="9525">
              <a:noFill/>
              <a:miter lim="800000"/>
              <a:headEnd/>
              <a:tailEnd/>
            </a:ln>
          </p:spPr>
          <p:txBody>
            <a:bodyPr>
              <a:spAutoFit/>
            </a:bodyPr>
            <a:lstStyle/>
            <a:p>
              <a:pPr>
                <a:spcBef>
                  <a:spcPct val="50000"/>
                </a:spcBef>
              </a:pPr>
              <a:r>
                <a:rPr lang="bg-BG"/>
                <a:t>2</a:t>
              </a:r>
              <a:r>
                <a:rPr lang="en-US"/>
                <a:t>0</a:t>
              </a:r>
            </a:p>
          </p:txBody>
        </p:sp>
        <p:sp>
          <p:nvSpPr>
            <p:cNvPr id="75873" name="Text Box 158"/>
            <p:cNvSpPr txBox="1">
              <a:spLocks noChangeArrowheads="1"/>
            </p:cNvSpPr>
            <p:nvPr/>
          </p:nvSpPr>
          <p:spPr bwMode="auto">
            <a:xfrm>
              <a:off x="360" y="2592"/>
              <a:ext cx="408" cy="288"/>
            </a:xfrm>
            <a:prstGeom prst="rect">
              <a:avLst/>
            </a:prstGeom>
            <a:noFill/>
            <a:ln w="9525">
              <a:noFill/>
              <a:miter lim="800000"/>
              <a:headEnd/>
              <a:tailEnd/>
            </a:ln>
          </p:spPr>
          <p:txBody>
            <a:bodyPr>
              <a:spAutoFit/>
            </a:bodyPr>
            <a:lstStyle/>
            <a:p>
              <a:pPr>
                <a:spcBef>
                  <a:spcPct val="50000"/>
                </a:spcBef>
              </a:pPr>
              <a:r>
                <a:rPr lang="bg-BG"/>
                <a:t>1</a:t>
              </a:r>
              <a:r>
                <a:rPr lang="en-US"/>
                <a:t>0</a:t>
              </a:r>
            </a:p>
          </p:txBody>
        </p:sp>
        <p:sp>
          <p:nvSpPr>
            <p:cNvPr id="75874" name="Text Box 159"/>
            <p:cNvSpPr txBox="1">
              <a:spLocks noChangeArrowheads="1"/>
            </p:cNvSpPr>
            <p:nvPr/>
          </p:nvSpPr>
          <p:spPr bwMode="auto">
            <a:xfrm>
              <a:off x="184" y="2928"/>
              <a:ext cx="408" cy="288"/>
            </a:xfrm>
            <a:prstGeom prst="rect">
              <a:avLst/>
            </a:prstGeom>
            <a:noFill/>
            <a:ln w="9525">
              <a:noFill/>
              <a:miter lim="800000"/>
              <a:headEnd/>
              <a:tailEnd/>
            </a:ln>
          </p:spPr>
          <p:txBody>
            <a:bodyPr>
              <a:spAutoFit/>
            </a:bodyPr>
            <a:lstStyle/>
            <a:p>
              <a:pPr>
                <a:spcBef>
                  <a:spcPct val="50000"/>
                </a:spcBef>
              </a:pPr>
              <a:r>
                <a:rPr lang="en-US"/>
                <a:t>8</a:t>
              </a:r>
            </a:p>
          </p:txBody>
        </p:sp>
        <p:sp>
          <p:nvSpPr>
            <p:cNvPr id="75875" name="Text Box 160"/>
            <p:cNvSpPr txBox="1">
              <a:spLocks noChangeArrowheads="1"/>
            </p:cNvSpPr>
            <p:nvPr/>
          </p:nvSpPr>
          <p:spPr bwMode="auto">
            <a:xfrm>
              <a:off x="416" y="3264"/>
              <a:ext cx="408" cy="288"/>
            </a:xfrm>
            <a:prstGeom prst="rect">
              <a:avLst/>
            </a:prstGeom>
            <a:noFill/>
            <a:ln w="9525">
              <a:noFill/>
              <a:miter lim="800000"/>
              <a:headEnd/>
              <a:tailEnd/>
            </a:ln>
          </p:spPr>
          <p:txBody>
            <a:bodyPr>
              <a:spAutoFit/>
            </a:bodyPr>
            <a:lstStyle/>
            <a:p>
              <a:pPr>
                <a:spcBef>
                  <a:spcPct val="50000"/>
                </a:spcBef>
              </a:pPr>
              <a:r>
                <a:rPr lang="bg-BG"/>
                <a:t>1</a:t>
              </a:r>
              <a:r>
                <a:rPr lang="en-US"/>
                <a:t>2</a:t>
              </a:r>
            </a:p>
          </p:txBody>
        </p:sp>
        <p:sp>
          <p:nvSpPr>
            <p:cNvPr id="75876" name="Text Box 161"/>
            <p:cNvSpPr txBox="1">
              <a:spLocks noChangeArrowheads="1"/>
            </p:cNvSpPr>
            <p:nvPr/>
          </p:nvSpPr>
          <p:spPr bwMode="auto">
            <a:xfrm>
              <a:off x="816" y="3264"/>
              <a:ext cx="408" cy="288"/>
            </a:xfrm>
            <a:prstGeom prst="rect">
              <a:avLst/>
            </a:prstGeom>
            <a:noFill/>
            <a:ln w="9525">
              <a:noFill/>
              <a:miter lim="800000"/>
              <a:headEnd/>
              <a:tailEnd/>
            </a:ln>
          </p:spPr>
          <p:txBody>
            <a:bodyPr>
              <a:spAutoFit/>
            </a:bodyPr>
            <a:lstStyle/>
            <a:p>
              <a:pPr>
                <a:spcBef>
                  <a:spcPct val="50000"/>
                </a:spcBef>
              </a:pPr>
              <a:r>
                <a:rPr lang="en-US"/>
                <a:t>19</a:t>
              </a:r>
            </a:p>
          </p:txBody>
        </p:sp>
        <p:sp>
          <p:nvSpPr>
            <p:cNvPr id="75877" name="Text Box 162"/>
            <p:cNvSpPr txBox="1">
              <a:spLocks noChangeArrowheads="1"/>
            </p:cNvSpPr>
            <p:nvPr/>
          </p:nvSpPr>
          <p:spPr bwMode="auto">
            <a:xfrm>
              <a:off x="608" y="2928"/>
              <a:ext cx="408" cy="288"/>
            </a:xfrm>
            <a:prstGeom prst="rect">
              <a:avLst/>
            </a:prstGeom>
            <a:noFill/>
            <a:ln w="9525">
              <a:noFill/>
              <a:miter lim="800000"/>
              <a:headEnd/>
              <a:tailEnd/>
            </a:ln>
          </p:spPr>
          <p:txBody>
            <a:bodyPr>
              <a:spAutoFit/>
            </a:bodyPr>
            <a:lstStyle/>
            <a:p>
              <a:pPr>
                <a:spcBef>
                  <a:spcPct val="50000"/>
                </a:spcBef>
              </a:pPr>
              <a:r>
                <a:rPr lang="bg-BG"/>
                <a:t>1</a:t>
              </a:r>
              <a:r>
                <a:rPr lang="en-US"/>
                <a:t>7</a:t>
              </a:r>
            </a:p>
          </p:txBody>
        </p:sp>
        <p:sp>
          <p:nvSpPr>
            <p:cNvPr id="75878" name="Text Box 163"/>
            <p:cNvSpPr txBox="1">
              <a:spLocks noChangeArrowheads="1"/>
            </p:cNvSpPr>
            <p:nvPr/>
          </p:nvSpPr>
          <p:spPr bwMode="auto">
            <a:xfrm>
              <a:off x="1552" y="2928"/>
              <a:ext cx="408" cy="288"/>
            </a:xfrm>
            <a:prstGeom prst="rect">
              <a:avLst/>
            </a:prstGeom>
            <a:noFill/>
            <a:ln w="9525">
              <a:noFill/>
              <a:miter lim="800000"/>
              <a:headEnd/>
              <a:tailEnd/>
            </a:ln>
          </p:spPr>
          <p:txBody>
            <a:bodyPr>
              <a:spAutoFit/>
            </a:bodyPr>
            <a:lstStyle/>
            <a:p>
              <a:pPr>
                <a:spcBef>
                  <a:spcPct val="50000"/>
                </a:spcBef>
              </a:pPr>
              <a:r>
                <a:rPr lang="bg-BG"/>
                <a:t>5</a:t>
              </a:r>
              <a:r>
                <a:rPr lang="en-US"/>
                <a:t>0</a:t>
              </a:r>
            </a:p>
          </p:txBody>
        </p:sp>
        <p:sp>
          <p:nvSpPr>
            <p:cNvPr id="75879" name="Text Box 164"/>
            <p:cNvSpPr txBox="1">
              <a:spLocks noChangeArrowheads="1"/>
            </p:cNvSpPr>
            <p:nvPr/>
          </p:nvSpPr>
          <p:spPr bwMode="auto">
            <a:xfrm>
              <a:off x="1768" y="2592"/>
              <a:ext cx="408" cy="288"/>
            </a:xfrm>
            <a:prstGeom prst="rect">
              <a:avLst/>
            </a:prstGeom>
            <a:noFill/>
            <a:ln w="9525">
              <a:noFill/>
              <a:miter lim="800000"/>
              <a:headEnd/>
              <a:tailEnd/>
            </a:ln>
          </p:spPr>
          <p:txBody>
            <a:bodyPr>
              <a:spAutoFit/>
            </a:bodyPr>
            <a:lstStyle/>
            <a:p>
              <a:pPr>
                <a:spcBef>
                  <a:spcPct val="50000"/>
                </a:spcBef>
              </a:pPr>
              <a:r>
                <a:rPr lang="bg-BG"/>
                <a:t>7</a:t>
              </a:r>
              <a:r>
                <a:rPr lang="en-US"/>
                <a:t>0</a:t>
              </a:r>
            </a:p>
          </p:txBody>
        </p:sp>
        <p:sp>
          <p:nvSpPr>
            <p:cNvPr id="75880" name="Text Box 165"/>
            <p:cNvSpPr txBox="1">
              <a:spLocks noChangeArrowheads="1"/>
            </p:cNvSpPr>
            <p:nvPr/>
          </p:nvSpPr>
          <p:spPr bwMode="auto">
            <a:xfrm>
              <a:off x="1776" y="3264"/>
              <a:ext cx="408" cy="288"/>
            </a:xfrm>
            <a:prstGeom prst="rect">
              <a:avLst/>
            </a:prstGeom>
            <a:noFill/>
            <a:ln w="9525">
              <a:noFill/>
              <a:miter lim="800000"/>
              <a:headEnd/>
              <a:tailEnd/>
            </a:ln>
          </p:spPr>
          <p:txBody>
            <a:bodyPr>
              <a:spAutoFit/>
            </a:bodyPr>
            <a:lstStyle/>
            <a:p>
              <a:pPr>
                <a:spcBef>
                  <a:spcPct val="50000"/>
                </a:spcBef>
              </a:pPr>
              <a:r>
                <a:rPr lang="bg-BG"/>
                <a:t>6</a:t>
              </a:r>
              <a:r>
                <a:rPr lang="en-US"/>
                <a:t>0</a:t>
              </a:r>
            </a:p>
          </p:txBody>
        </p:sp>
        <p:sp>
          <p:nvSpPr>
            <p:cNvPr id="75881" name="Oval 166"/>
            <p:cNvSpPr>
              <a:spLocks noChangeArrowheads="1"/>
            </p:cNvSpPr>
            <p:nvPr/>
          </p:nvSpPr>
          <p:spPr bwMode="auto">
            <a:xfrm>
              <a:off x="1776" y="3264"/>
              <a:ext cx="288" cy="288"/>
            </a:xfrm>
            <a:prstGeom prst="ellipse">
              <a:avLst/>
            </a:prstGeom>
            <a:noFill/>
            <a:ln w="9525">
              <a:solidFill>
                <a:schemeClr val="tx1"/>
              </a:solidFill>
              <a:round/>
              <a:headEnd/>
              <a:tailEnd/>
            </a:ln>
          </p:spPr>
          <p:txBody>
            <a:bodyPr wrap="none" anchor="ctr"/>
            <a:lstStyle/>
            <a:p>
              <a:endParaRPr lang="bg-BG"/>
            </a:p>
          </p:txBody>
        </p:sp>
        <p:sp>
          <p:nvSpPr>
            <p:cNvPr id="75882" name="Text Box 168"/>
            <p:cNvSpPr txBox="1">
              <a:spLocks noChangeArrowheads="1"/>
            </p:cNvSpPr>
            <p:nvPr/>
          </p:nvSpPr>
          <p:spPr bwMode="auto">
            <a:xfrm>
              <a:off x="1280" y="3264"/>
              <a:ext cx="408" cy="288"/>
            </a:xfrm>
            <a:prstGeom prst="rect">
              <a:avLst/>
            </a:prstGeom>
            <a:noFill/>
            <a:ln w="9525">
              <a:noFill/>
              <a:miter lim="800000"/>
              <a:headEnd/>
              <a:tailEnd/>
            </a:ln>
          </p:spPr>
          <p:txBody>
            <a:bodyPr>
              <a:spAutoFit/>
            </a:bodyPr>
            <a:lstStyle/>
            <a:p>
              <a:pPr>
                <a:spcBef>
                  <a:spcPct val="50000"/>
                </a:spcBef>
              </a:pPr>
              <a:r>
                <a:rPr lang="en-US"/>
                <a:t>37</a:t>
              </a:r>
            </a:p>
          </p:txBody>
        </p:sp>
        <p:sp>
          <p:nvSpPr>
            <p:cNvPr id="75883" name="Text Box 169"/>
            <p:cNvSpPr txBox="1">
              <a:spLocks noChangeArrowheads="1"/>
            </p:cNvSpPr>
            <p:nvPr/>
          </p:nvSpPr>
          <p:spPr bwMode="auto">
            <a:xfrm>
              <a:off x="1104" y="3600"/>
              <a:ext cx="408" cy="288"/>
            </a:xfrm>
            <a:prstGeom prst="rect">
              <a:avLst/>
            </a:prstGeom>
            <a:noFill/>
            <a:ln w="9525">
              <a:noFill/>
              <a:miter lim="800000"/>
              <a:headEnd/>
              <a:tailEnd/>
            </a:ln>
          </p:spPr>
          <p:txBody>
            <a:bodyPr>
              <a:spAutoFit/>
            </a:bodyPr>
            <a:lstStyle/>
            <a:p>
              <a:pPr>
                <a:spcBef>
                  <a:spcPct val="50000"/>
                </a:spcBef>
              </a:pPr>
              <a:r>
                <a:rPr lang="bg-BG"/>
                <a:t>3</a:t>
              </a:r>
              <a:r>
                <a:rPr lang="en-US"/>
                <a:t>0</a:t>
              </a:r>
            </a:p>
          </p:txBody>
        </p:sp>
        <p:sp>
          <p:nvSpPr>
            <p:cNvPr id="75884" name="Line 170"/>
            <p:cNvSpPr>
              <a:spLocks noChangeShapeType="1"/>
            </p:cNvSpPr>
            <p:nvPr/>
          </p:nvSpPr>
          <p:spPr bwMode="auto">
            <a:xfrm>
              <a:off x="1824" y="3168"/>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85" name="Text Box 172"/>
            <p:cNvSpPr txBox="1">
              <a:spLocks noChangeArrowheads="1"/>
            </p:cNvSpPr>
            <p:nvPr/>
          </p:nvSpPr>
          <p:spPr bwMode="auto">
            <a:xfrm>
              <a:off x="2072" y="2912"/>
              <a:ext cx="408" cy="288"/>
            </a:xfrm>
            <a:prstGeom prst="rect">
              <a:avLst/>
            </a:prstGeom>
            <a:noFill/>
            <a:ln w="9525">
              <a:noFill/>
              <a:miter lim="800000"/>
              <a:headEnd/>
              <a:tailEnd/>
            </a:ln>
          </p:spPr>
          <p:txBody>
            <a:bodyPr>
              <a:spAutoFit/>
            </a:bodyPr>
            <a:lstStyle/>
            <a:p>
              <a:pPr>
                <a:spcBef>
                  <a:spcPct val="50000"/>
                </a:spcBef>
              </a:pPr>
              <a:r>
                <a:rPr lang="bg-BG"/>
                <a:t>8</a:t>
              </a:r>
              <a:r>
                <a:rPr lang="en-US"/>
                <a:t>0</a:t>
              </a:r>
            </a:p>
          </p:txBody>
        </p:sp>
      </p:grpSp>
      <p:grpSp>
        <p:nvGrpSpPr>
          <p:cNvPr id="207" name="Group 206"/>
          <p:cNvGrpSpPr/>
          <p:nvPr/>
        </p:nvGrpSpPr>
        <p:grpSpPr>
          <a:xfrm>
            <a:off x="4838700" y="3657600"/>
            <a:ext cx="4076700" cy="2819400"/>
            <a:chOff x="4838700" y="3657600"/>
            <a:chExt cx="4076700" cy="2819400"/>
          </a:xfrm>
        </p:grpSpPr>
        <p:grpSp>
          <p:nvGrpSpPr>
            <p:cNvPr id="75782" name="Group 244"/>
            <p:cNvGrpSpPr>
              <a:grpSpLocks/>
            </p:cNvGrpSpPr>
            <p:nvPr/>
          </p:nvGrpSpPr>
          <p:grpSpPr bwMode="auto">
            <a:xfrm>
              <a:off x="4876800" y="3657600"/>
              <a:ext cx="3860800" cy="2616200"/>
              <a:chOff x="3072" y="2304"/>
              <a:chExt cx="2432" cy="1648"/>
            </a:xfrm>
          </p:grpSpPr>
          <p:sp>
            <p:nvSpPr>
              <p:cNvPr id="75812" name="Oval 207"/>
              <p:cNvSpPr>
                <a:spLocks noChangeArrowheads="1"/>
              </p:cNvSpPr>
              <p:nvPr/>
            </p:nvSpPr>
            <p:spPr bwMode="auto">
              <a:xfrm>
                <a:off x="4704" y="3320"/>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3" name="Oval 184"/>
              <p:cNvSpPr>
                <a:spLocks noChangeArrowheads="1"/>
              </p:cNvSpPr>
              <p:nvPr/>
            </p:nvSpPr>
            <p:spPr bwMode="auto">
              <a:xfrm>
                <a:off x="5216" y="3344"/>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5814" name="Oval 175"/>
              <p:cNvSpPr>
                <a:spLocks noChangeArrowheads="1"/>
              </p:cNvSpPr>
              <p:nvPr/>
            </p:nvSpPr>
            <p:spPr bwMode="auto">
              <a:xfrm>
                <a:off x="3984" y="2320"/>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5" name="Oval 176"/>
              <p:cNvSpPr>
                <a:spLocks noChangeArrowheads="1"/>
              </p:cNvSpPr>
              <p:nvPr/>
            </p:nvSpPr>
            <p:spPr bwMode="auto">
              <a:xfrm>
                <a:off x="4704" y="2656"/>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6" name="Oval 177"/>
              <p:cNvSpPr>
                <a:spLocks noChangeArrowheads="1"/>
              </p:cNvSpPr>
              <p:nvPr/>
            </p:nvSpPr>
            <p:spPr bwMode="auto">
              <a:xfrm>
                <a:off x="3312" y="2656"/>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7" name="Oval 178"/>
              <p:cNvSpPr>
                <a:spLocks noChangeArrowheads="1"/>
              </p:cNvSpPr>
              <p:nvPr/>
            </p:nvSpPr>
            <p:spPr bwMode="auto">
              <a:xfrm>
                <a:off x="3072" y="2992"/>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8" name="Oval 179"/>
              <p:cNvSpPr>
                <a:spLocks noChangeArrowheads="1"/>
              </p:cNvSpPr>
              <p:nvPr/>
            </p:nvSpPr>
            <p:spPr bwMode="auto">
              <a:xfrm>
                <a:off x="5000" y="2976"/>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19" name="Oval 180"/>
              <p:cNvSpPr>
                <a:spLocks noChangeArrowheads="1"/>
              </p:cNvSpPr>
              <p:nvPr/>
            </p:nvSpPr>
            <p:spPr bwMode="auto">
              <a:xfrm>
                <a:off x="4496" y="2992"/>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5820" name="Oval 181"/>
              <p:cNvSpPr>
                <a:spLocks noChangeArrowheads="1"/>
              </p:cNvSpPr>
              <p:nvPr/>
            </p:nvSpPr>
            <p:spPr bwMode="auto">
              <a:xfrm>
                <a:off x="3552" y="2992"/>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21" name="Oval 182"/>
              <p:cNvSpPr>
                <a:spLocks noChangeArrowheads="1"/>
              </p:cNvSpPr>
              <p:nvPr/>
            </p:nvSpPr>
            <p:spPr bwMode="auto">
              <a:xfrm>
                <a:off x="4224" y="3320"/>
                <a:ext cx="288" cy="288"/>
              </a:xfrm>
              <a:prstGeom prst="ellipse">
                <a:avLst/>
              </a:prstGeom>
              <a:solidFill>
                <a:schemeClr val="tx1"/>
              </a:solidFill>
              <a:ln w="9525">
                <a:solidFill>
                  <a:schemeClr val="tx1"/>
                </a:solidFill>
                <a:round/>
                <a:headEnd/>
                <a:tailEnd/>
              </a:ln>
            </p:spPr>
            <p:txBody>
              <a:bodyPr wrap="none" anchor="ctr"/>
              <a:lstStyle/>
              <a:p>
                <a:endParaRPr lang="bg-BG"/>
              </a:p>
            </p:txBody>
          </p:sp>
          <p:sp>
            <p:nvSpPr>
              <p:cNvPr id="75822" name="Oval 183"/>
              <p:cNvSpPr>
                <a:spLocks noChangeArrowheads="1"/>
              </p:cNvSpPr>
              <p:nvPr/>
            </p:nvSpPr>
            <p:spPr bwMode="auto">
              <a:xfrm>
                <a:off x="3744" y="3328"/>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5823" name="Oval 185"/>
              <p:cNvSpPr>
                <a:spLocks noChangeArrowheads="1"/>
              </p:cNvSpPr>
              <p:nvPr/>
            </p:nvSpPr>
            <p:spPr bwMode="auto">
              <a:xfrm>
                <a:off x="3360" y="3328"/>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5824" name="Oval 186"/>
              <p:cNvSpPr>
                <a:spLocks noChangeArrowheads="1"/>
              </p:cNvSpPr>
              <p:nvPr/>
            </p:nvSpPr>
            <p:spPr bwMode="auto">
              <a:xfrm>
                <a:off x="4032" y="3664"/>
                <a:ext cx="288" cy="288"/>
              </a:xfrm>
              <a:prstGeom prst="ellipse">
                <a:avLst/>
              </a:prstGeom>
              <a:solidFill>
                <a:srgbClr val="CC0066"/>
              </a:solidFill>
              <a:ln w="9525">
                <a:solidFill>
                  <a:schemeClr val="tx1"/>
                </a:solidFill>
                <a:round/>
                <a:headEnd/>
                <a:tailEnd/>
              </a:ln>
            </p:spPr>
            <p:txBody>
              <a:bodyPr wrap="none" anchor="ctr"/>
              <a:lstStyle/>
              <a:p>
                <a:endParaRPr lang="bg-BG"/>
              </a:p>
            </p:txBody>
          </p:sp>
          <p:sp>
            <p:nvSpPr>
              <p:cNvPr id="75825" name="Line 187"/>
              <p:cNvSpPr>
                <a:spLocks noChangeShapeType="1"/>
              </p:cNvSpPr>
              <p:nvPr/>
            </p:nvSpPr>
            <p:spPr bwMode="auto">
              <a:xfrm flipH="1">
                <a:off x="3600" y="2512"/>
                <a:ext cx="384" cy="240"/>
              </a:xfrm>
              <a:prstGeom prst="line">
                <a:avLst/>
              </a:prstGeom>
              <a:noFill/>
              <a:ln w="9525">
                <a:solidFill>
                  <a:schemeClr val="tx1"/>
                </a:solidFill>
                <a:round/>
                <a:headEnd/>
                <a:tailEnd type="triangle" w="med" len="med"/>
              </a:ln>
            </p:spPr>
            <p:txBody>
              <a:bodyPr wrap="none" anchor="ctr"/>
              <a:lstStyle/>
              <a:p>
                <a:endParaRPr lang="bg-BG"/>
              </a:p>
            </p:txBody>
          </p:sp>
          <p:sp>
            <p:nvSpPr>
              <p:cNvPr id="75826" name="Line 188"/>
              <p:cNvSpPr>
                <a:spLocks noChangeShapeType="1"/>
              </p:cNvSpPr>
              <p:nvPr/>
            </p:nvSpPr>
            <p:spPr bwMode="auto">
              <a:xfrm flipH="1">
                <a:off x="3256" y="2912"/>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27" name="Line 189"/>
              <p:cNvSpPr>
                <a:spLocks noChangeShapeType="1"/>
              </p:cNvSpPr>
              <p:nvPr/>
            </p:nvSpPr>
            <p:spPr bwMode="auto">
              <a:xfrm>
                <a:off x="3560" y="2904"/>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28" name="Line 190"/>
              <p:cNvSpPr>
                <a:spLocks noChangeShapeType="1"/>
              </p:cNvSpPr>
              <p:nvPr/>
            </p:nvSpPr>
            <p:spPr bwMode="auto">
              <a:xfrm>
                <a:off x="4272" y="2512"/>
                <a:ext cx="480" cy="192"/>
              </a:xfrm>
              <a:prstGeom prst="line">
                <a:avLst/>
              </a:prstGeom>
              <a:noFill/>
              <a:ln w="9525">
                <a:solidFill>
                  <a:schemeClr val="tx1"/>
                </a:solidFill>
                <a:round/>
                <a:headEnd/>
                <a:tailEnd type="triangle" w="med" len="med"/>
              </a:ln>
            </p:spPr>
            <p:txBody>
              <a:bodyPr wrap="none" anchor="ctr"/>
              <a:lstStyle/>
              <a:p>
                <a:endParaRPr lang="bg-BG"/>
              </a:p>
            </p:txBody>
          </p:sp>
          <p:sp>
            <p:nvSpPr>
              <p:cNvPr id="75829" name="Line 191"/>
              <p:cNvSpPr>
                <a:spLocks noChangeShapeType="1"/>
              </p:cNvSpPr>
              <p:nvPr/>
            </p:nvSpPr>
            <p:spPr bwMode="auto">
              <a:xfrm flipH="1">
                <a:off x="4648" y="2904"/>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30" name="Line 192"/>
              <p:cNvSpPr>
                <a:spLocks noChangeShapeType="1"/>
              </p:cNvSpPr>
              <p:nvPr/>
            </p:nvSpPr>
            <p:spPr bwMode="auto">
              <a:xfrm>
                <a:off x="4952" y="2912"/>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31" name="Line 193"/>
              <p:cNvSpPr>
                <a:spLocks noChangeShapeType="1"/>
              </p:cNvSpPr>
              <p:nvPr/>
            </p:nvSpPr>
            <p:spPr bwMode="auto">
              <a:xfrm flipH="1">
                <a:off x="3480" y="3232"/>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32" name="Line 194"/>
              <p:cNvSpPr>
                <a:spLocks noChangeShapeType="1"/>
              </p:cNvSpPr>
              <p:nvPr/>
            </p:nvSpPr>
            <p:spPr bwMode="auto">
              <a:xfrm>
                <a:off x="3840" y="3216"/>
                <a:ext cx="48" cy="112"/>
              </a:xfrm>
              <a:prstGeom prst="line">
                <a:avLst/>
              </a:prstGeom>
              <a:noFill/>
              <a:ln w="9525">
                <a:solidFill>
                  <a:schemeClr val="tx1"/>
                </a:solidFill>
                <a:round/>
                <a:headEnd/>
                <a:tailEnd type="triangle" w="med" len="med"/>
              </a:ln>
            </p:spPr>
            <p:txBody>
              <a:bodyPr wrap="none" anchor="ctr"/>
              <a:lstStyle/>
              <a:p>
                <a:endParaRPr lang="bg-BG"/>
              </a:p>
            </p:txBody>
          </p:sp>
          <p:sp>
            <p:nvSpPr>
              <p:cNvPr id="75833" name="Line 195"/>
              <p:cNvSpPr>
                <a:spLocks noChangeShapeType="1"/>
              </p:cNvSpPr>
              <p:nvPr/>
            </p:nvSpPr>
            <p:spPr bwMode="auto">
              <a:xfrm flipH="1">
                <a:off x="4416" y="3232"/>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34" name="Line 196"/>
              <p:cNvSpPr>
                <a:spLocks noChangeShapeType="1"/>
              </p:cNvSpPr>
              <p:nvPr/>
            </p:nvSpPr>
            <p:spPr bwMode="auto">
              <a:xfrm flipH="1">
                <a:off x="4240" y="3592"/>
                <a:ext cx="48" cy="96"/>
              </a:xfrm>
              <a:prstGeom prst="line">
                <a:avLst/>
              </a:prstGeom>
              <a:noFill/>
              <a:ln w="9525">
                <a:solidFill>
                  <a:schemeClr val="tx1"/>
                </a:solidFill>
                <a:round/>
                <a:headEnd/>
                <a:tailEnd type="triangle" w="med" len="med"/>
              </a:ln>
            </p:spPr>
            <p:txBody>
              <a:bodyPr wrap="none" anchor="ctr"/>
              <a:lstStyle/>
              <a:p>
                <a:endParaRPr lang="bg-BG"/>
              </a:p>
            </p:txBody>
          </p:sp>
          <p:sp>
            <p:nvSpPr>
              <p:cNvPr id="75835" name="Line 197"/>
              <p:cNvSpPr>
                <a:spLocks noChangeShapeType="1"/>
              </p:cNvSpPr>
              <p:nvPr/>
            </p:nvSpPr>
            <p:spPr bwMode="auto">
              <a:xfrm>
                <a:off x="5232" y="3232"/>
                <a:ext cx="112" cy="120"/>
              </a:xfrm>
              <a:prstGeom prst="line">
                <a:avLst/>
              </a:prstGeom>
              <a:noFill/>
              <a:ln w="9525">
                <a:solidFill>
                  <a:schemeClr val="tx1"/>
                </a:solidFill>
                <a:round/>
                <a:headEnd/>
                <a:tailEnd type="triangle" w="med" len="med"/>
              </a:ln>
            </p:spPr>
            <p:txBody>
              <a:bodyPr wrap="none" anchor="ctr"/>
              <a:lstStyle/>
              <a:p>
                <a:endParaRPr lang="bg-BG"/>
              </a:p>
            </p:txBody>
          </p:sp>
          <p:sp>
            <p:nvSpPr>
              <p:cNvPr id="75836" name="Text Box 198"/>
              <p:cNvSpPr txBox="1">
                <a:spLocks noChangeArrowheads="1"/>
              </p:cNvSpPr>
              <p:nvPr/>
            </p:nvSpPr>
            <p:spPr bwMode="auto">
              <a:xfrm>
                <a:off x="3976" y="2304"/>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2</a:t>
                </a:r>
                <a:r>
                  <a:rPr lang="en-US">
                    <a:solidFill>
                      <a:schemeClr val="bg1"/>
                    </a:solidFill>
                  </a:rPr>
                  <a:t>0</a:t>
                </a:r>
              </a:p>
            </p:txBody>
          </p:sp>
          <p:sp>
            <p:nvSpPr>
              <p:cNvPr id="75837" name="Text Box 199"/>
              <p:cNvSpPr txBox="1">
                <a:spLocks noChangeArrowheads="1"/>
              </p:cNvSpPr>
              <p:nvPr/>
            </p:nvSpPr>
            <p:spPr bwMode="auto">
              <a:xfrm>
                <a:off x="3288" y="2656"/>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1</a:t>
                </a:r>
                <a:r>
                  <a:rPr lang="en-US">
                    <a:solidFill>
                      <a:schemeClr val="bg1"/>
                    </a:solidFill>
                  </a:rPr>
                  <a:t>0</a:t>
                </a:r>
              </a:p>
            </p:txBody>
          </p:sp>
          <p:sp>
            <p:nvSpPr>
              <p:cNvPr id="75838" name="Text Box 200"/>
              <p:cNvSpPr txBox="1">
                <a:spLocks noChangeArrowheads="1"/>
              </p:cNvSpPr>
              <p:nvPr/>
            </p:nvSpPr>
            <p:spPr bwMode="auto">
              <a:xfrm>
                <a:off x="3112" y="2992"/>
                <a:ext cx="408" cy="288"/>
              </a:xfrm>
              <a:prstGeom prst="rect">
                <a:avLst/>
              </a:prstGeom>
              <a:noFill/>
              <a:ln w="9525">
                <a:noFill/>
                <a:miter lim="800000"/>
                <a:headEnd/>
                <a:tailEnd/>
              </a:ln>
            </p:spPr>
            <p:txBody>
              <a:bodyPr>
                <a:spAutoFit/>
              </a:bodyPr>
              <a:lstStyle/>
              <a:p>
                <a:pPr>
                  <a:spcBef>
                    <a:spcPct val="50000"/>
                  </a:spcBef>
                </a:pPr>
                <a:r>
                  <a:rPr lang="en-US">
                    <a:solidFill>
                      <a:schemeClr val="bg1"/>
                    </a:solidFill>
                  </a:rPr>
                  <a:t>8</a:t>
                </a:r>
              </a:p>
            </p:txBody>
          </p:sp>
          <p:sp>
            <p:nvSpPr>
              <p:cNvPr id="75839" name="Text Box 201"/>
              <p:cNvSpPr txBox="1">
                <a:spLocks noChangeArrowheads="1"/>
              </p:cNvSpPr>
              <p:nvPr/>
            </p:nvSpPr>
            <p:spPr bwMode="auto">
              <a:xfrm>
                <a:off x="3344" y="3328"/>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1</a:t>
                </a:r>
                <a:r>
                  <a:rPr lang="en-US">
                    <a:solidFill>
                      <a:schemeClr val="bg1"/>
                    </a:solidFill>
                  </a:rPr>
                  <a:t>2</a:t>
                </a:r>
              </a:p>
            </p:txBody>
          </p:sp>
          <p:sp>
            <p:nvSpPr>
              <p:cNvPr id="75840" name="Text Box 202"/>
              <p:cNvSpPr txBox="1">
                <a:spLocks noChangeArrowheads="1"/>
              </p:cNvSpPr>
              <p:nvPr/>
            </p:nvSpPr>
            <p:spPr bwMode="auto">
              <a:xfrm>
                <a:off x="3744" y="3328"/>
                <a:ext cx="408" cy="288"/>
              </a:xfrm>
              <a:prstGeom prst="rect">
                <a:avLst/>
              </a:prstGeom>
              <a:noFill/>
              <a:ln w="9525">
                <a:noFill/>
                <a:miter lim="800000"/>
                <a:headEnd/>
                <a:tailEnd/>
              </a:ln>
            </p:spPr>
            <p:txBody>
              <a:bodyPr>
                <a:spAutoFit/>
              </a:bodyPr>
              <a:lstStyle/>
              <a:p>
                <a:pPr>
                  <a:spcBef>
                    <a:spcPct val="50000"/>
                  </a:spcBef>
                </a:pPr>
                <a:r>
                  <a:rPr lang="en-US">
                    <a:solidFill>
                      <a:schemeClr val="bg1"/>
                    </a:solidFill>
                  </a:rPr>
                  <a:t>19</a:t>
                </a:r>
              </a:p>
            </p:txBody>
          </p:sp>
          <p:sp>
            <p:nvSpPr>
              <p:cNvPr id="75841" name="Text Box 203"/>
              <p:cNvSpPr txBox="1">
                <a:spLocks noChangeArrowheads="1"/>
              </p:cNvSpPr>
              <p:nvPr/>
            </p:nvSpPr>
            <p:spPr bwMode="auto">
              <a:xfrm>
                <a:off x="3536" y="2992"/>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1</a:t>
                </a:r>
                <a:r>
                  <a:rPr lang="en-US">
                    <a:solidFill>
                      <a:schemeClr val="bg1"/>
                    </a:solidFill>
                  </a:rPr>
                  <a:t>7</a:t>
                </a:r>
              </a:p>
            </p:txBody>
          </p:sp>
          <p:sp>
            <p:nvSpPr>
              <p:cNvPr id="75842" name="Text Box 204"/>
              <p:cNvSpPr txBox="1">
                <a:spLocks noChangeArrowheads="1"/>
              </p:cNvSpPr>
              <p:nvPr/>
            </p:nvSpPr>
            <p:spPr bwMode="auto">
              <a:xfrm>
                <a:off x="4480" y="2992"/>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5</a:t>
                </a:r>
                <a:r>
                  <a:rPr lang="en-US">
                    <a:solidFill>
                      <a:schemeClr val="bg1"/>
                    </a:solidFill>
                  </a:rPr>
                  <a:t>0</a:t>
                </a:r>
              </a:p>
            </p:txBody>
          </p:sp>
          <p:sp>
            <p:nvSpPr>
              <p:cNvPr id="75843" name="Text Box 205"/>
              <p:cNvSpPr txBox="1">
                <a:spLocks noChangeArrowheads="1"/>
              </p:cNvSpPr>
              <p:nvPr/>
            </p:nvSpPr>
            <p:spPr bwMode="auto">
              <a:xfrm>
                <a:off x="4696" y="2656"/>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7</a:t>
                </a:r>
                <a:r>
                  <a:rPr lang="en-US">
                    <a:solidFill>
                      <a:schemeClr val="bg1"/>
                    </a:solidFill>
                  </a:rPr>
                  <a:t>0</a:t>
                </a:r>
              </a:p>
            </p:txBody>
          </p:sp>
          <p:sp>
            <p:nvSpPr>
              <p:cNvPr id="75844" name="Text Box 206"/>
              <p:cNvSpPr txBox="1">
                <a:spLocks noChangeArrowheads="1"/>
              </p:cNvSpPr>
              <p:nvPr/>
            </p:nvSpPr>
            <p:spPr bwMode="auto">
              <a:xfrm>
                <a:off x="4696" y="3320"/>
                <a:ext cx="624" cy="288"/>
              </a:xfrm>
              <a:prstGeom prst="rect">
                <a:avLst/>
              </a:prstGeom>
              <a:noFill/>
              <a:ln w="9525">
                <a:noFill/>
                <a:miter lim="800000"/>
                <a:headEnd/>
                <a:tailEnd/>
              </a:ln>
            </p:spPr>
            <p:txBody>
              <a:bodyPr>
                <a:spAutoFit/>
              </a:bodyPr>
              <a:lstStyle/>
              <a:p>
                <a:pPr>
                  <a:spcBef>
                    <a:spcPct val="50000"/>
                  </a:spcBef>
                </a:pPr>
                <a:r>
                  <a:rPr lang="bg-BG">
                    <a:solidFill>
                      <a:schemeClr val="bg1"/>
                    </a:solidFill>
                  </a:rPr>
                  <a:t>6</a:t>
                </a:r>
                <a:r>
                  <a:rPr lang="en-US">
                    <a:solidFill>
                      <a:schemeClr val="bg1"/>
                    </a:solidFill>
                  </a:rPr>
                  <a:t>0</a:t>
                </a:r>
              </a:p>
            </p:txBody>
          </p:sp>
          <p:sp>
            <p:nvSpPr>
              <p:cNvPr id="75845" name="Text Box 208"/>
              <p:cNvSpPr txBox="1">
                <a:spLocks noChangeArrowheads="1"/>
              </p:cNvSpPr>
              <p:nvPr/>
            </p:nvSpPr>
            <p:spPr bwMode="auto">
              <a:xfrm>
                <a:off x="4208" y="3328"/>
                <a:ext cx="408" cy="288"/>
              </a:xfrm>
              <a:prstGeom prst="rect">
                <a:avLst/>
              </a:prstGeom>
              <a:noFill/>
              <a:ln w="9525">
                <a:noFill/>
                <a:miter lim="800000"/>
                <a:headEnd/>
                <a:tailEnd/>
              </a:ln>
            </p:spPr>
            <p:txBody>
              <a:bodyPr>
                <a:spAutoFit/>
              </a:bodyPr>
              <a:lstStyle/>
              <a:p>
                <a:pPr>
                  <a:spcBef>
                    <a:spcPct val="50000"/>
                  </a:spcBef>
                </a:pPr>
                <a:r>
                  <a:rPr lang="en-US">
                    <a:solidFill>
                      <a:schemeClr val="bg1"/>
                    </a:solidFill>
                  </a:rPr>
                  <a:t>37</a:t>
                </a:r>
              </a:p>
            </p:txBody>
          </p:sp>
          <p:sp>
            <p:nvSpPr>
              <p:cNvPr id="75846" name="Text Box 209"/>
              <p:cNvSpPr txBox="1">
                <a:spLocks noChangeArrowheads="1"/>
              </p:cNvSpPr>
              <p:nvPr/>
            </p:nvSpPr>
            <p:spPr bwMode="auto">
              <a:xfrm>
                <a:off x="4032" y="3664"/>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3</a:t>
                </a:r>
                <a:r>
                  <a:rPr lang="en-US">
                    <a:solidFill>
                      <a:schemeClr val="bg1"/>
                    </a:solidFill>
                  </a:rPr>
                  <a:t>0</a:t>
                </a:r>
              </a:p>
            </p:txBody>
          </p:sp>
          <p:sp>
            <p:nvSpPr>
              <p:cNvPr id="75847" name="Line 210"/>
              <p:cNvSpPr>
                <a:spLocks noChangeShapeType="1"/>
              </p:cNvSpPr>
              <p:nvPr/>
            </p:nvSpPr>
            <p:spPr bwMode="auto">
              <a:xfrm>
                <a:off x="4752" y="3232"/>
                <a:ext cx="96" cy="96"/>
              </a:xfrm>
              <a:prstGeom prst="line">
                <a:avLst/>
              </a:prstGeom>
              <a:noFill/>
              <a:ln w="9525">
                <a:solidFill>
                  <a:schemeClr val="tx1"/>
                </a:solidFill>
                <a:round/>
                <a:headEnd/>
                <a:tailEnd type="triangle" w="med" len="med"/>
              </a:ln>
            </p:spPr>
            <p:txBody>
              <a:bodyPr wrap="none" anchor="ctr"/>
              <a:lstStyle/>
              <a:p>
                <a:endParaRPr lang="bg-BG"/>
              </a:p>
            </p:txBody>
          </p:sp>
          <p:sp>
            <p:nvSpPr>
              <p:cNvPr id="75848" name="Text Box 211"/>
              <p:cNvSpPr txBox="1">
                <a:spLocks noChangeArrowheads="1"/>
              </p:cNvSpPr>
              <p:nvPr/>
            </p:nvSpPr>
            <p:spPr bwMode="auto">
              <a:xfrm>
                <a:off x="5000" y="2976"/>
                <a:ext cx="408" cy="288"/>
              </a:xfrm>
              <a:prstGeom prst="rect">
                <a:avLst/>
              </a:prstGeom>
              <a:noFill/>
              <a:ln w="9525">
                <a:noFill/>
                <a:miter lim="800000"/>
                <a:headEnd/>
                <a:tailEnd/>
              </a:ln>
            </p:spPr>
            <p:txBody>
              <a:bodyPr>
                <a:spAutoFit/>
              </a:bodyPr>
              <a:lstStyle/>
              <a:p>
                <a:pPr>
                  <a:spcBef>
                    <a:spcPct val="50000"/>
                  </a:spcBef>
                </a:pPr>
                <a:r>
                  <a:rPr lang="bg-BG">
                    <a:solidFill>
                      <a:schemeClr val="bg1"/>
                    </a:solidFill>
                  </a:rPr>
                  <a:t>8</a:t>
                </a:r>
                <a:r>
                  <a:rPr lang="en-US">
                    <a:solidFill>
                      <a:schemeClr val="bg1"/>
                    </a:solidFill>
                  </a:rPr>
                  <a:t>0</a:t>
                </a:r>
              </a:p>
            </p:txBody>
          </p:sp>
        </p:grpSp>
        <p:sp>
          <p:nvSpPr>
            <p:cNvPr id="75783" name="Text Box 212"/>
            <p:cNvSpPr txBox="1">
              <a:spLocks noChangeArrowheads="1"/>
            </p:cNvSpPr>
            <p:nvPr/>
          </p:nvSpPr>
          <p:spPr bwMode="auto">
            <a:xfrm>
              <a:off x="8267700" y="5308600"/>
              <a:ext cx="647700" cy="457200"/>
            </a:xfrm>
            <a:prstGeom prst="rect">
              <a:avLst/>
            </a:prstGeom>
            <a:noFill/>
            <a:ln w="9525">
              <a:noFill/>
              <a:miter lim="800000"/>
              <a:headEnd/>
              <a:tailEnd/>
            </a:ln>
          </p:spPr>
          <p:txBody>
            <a:bodyPr>
              <a:spAutoFit/>
            </a:bodyPr>
            <a:lstStyle/>
            <a:p>
              <a:pPr>
                <a:spcBef>
                  <a:spcPct val="50000"/>
                </a:spcBef>
              </a:pPr>
              <a:r>
                <a:rPr lang="bg-BG">
                  <a:solidFill>
                    <a:schemeClr val="bg1"/>
                  </a:solidFill>
                </a:rPr>
                <a:t>9</a:t>
              </a:r>
              <a:r>
                <a:rPr lang="en-US">
                  <a:solidFill>
                    <a:schemeClr val="bg1"/>
                  </a:solidFill>
                </a:rPr>
                <a:t>0</a:t>
              </a:r>
            </a:p>
          </p:txBody>
        </p:sp>
        <p:sp>
          <p:nvSpPr>
            <p:cNvPr id="75784" name="Line 213"/>
            <p:cNvSpPr>
              <a:spLocks noChangeShapeType="1"/>
            </p:cNvSpPr>
            <p:nvPr/>
          </p:nvSpPr>
          <p:spPr bwMode="auto">
            <a:xfrm flipH="1">
              <a:off x="4953000" y="51816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5785" name="Rectangle 214"/>
            <p:cNvSpPr>
              <a:spLocks noChangeArrowheads="1"/>
            </p:cNvSpPr>
            <p:nvPr/>
          </p:nvSpPr>
          <p:spPr bwMode="auto">
            <a:xfrm>
              <a:off x="4838700" y="53340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86" name="Rectangle 215"/>
            <p:cNvSpPr>
              <a:spLocks noChangeArrowheads="1"/>
            </p:cNvSpPr>
            <p:nvPr/>
          </p:nvSpPr>
          <p:spPr bwMode="auto">
            <a:xfrm>
              <a:off x="5105400" y="53340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87" name="Rectangle 216"/>
            <p:cNvSpPr>
              <a:spLocks noChangeArrowheads="1"/>
            </p:cNvSpPr>
            <p:nvPr/>
          </p:nvSpPr>
          <p:spPr bwMode="auto">
            <a:xfrm>
              <a:off x="5867400" y="58166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88" name="Rectangle 217"/>
            <p:cNvSpPr>
              <a:spLocks noChangeArrowheads="1"/>
            </p:cNvSpPr>
            <p:nvPr/>
          </p:nvSpPr>
          <p:spPr bwMode="auto">
            <a:xfrm>
              <a:off x="6705600" y="64008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89" name="Rectangle 218"/>
            <p:cNvSpPr>
              <a:spLocks noChangeArrowheads="1"/>
            </p:cNvSpPr>
            <p:nvPr/>
          </p:nvSpPr>
          <p:spPr bwMode="auto">
            <a:xfrm>
              <a:off x="6324600" y="64008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0" name="Rectangle 219"/>
            <p:cNvSpPr>
              <a:spLocks noChangeArrowheads="1"/>
            </p:cNvSpPr>
            <p:nvPr/>
          </p:nvSpPr>
          <p:spPr bwMode="auto">
            <a:xfrm>
              <a:off x="8229600" y="59055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1" name="Rectangle 220"/>
            <p:cNvSpPr>
              <a:spLocks noChangeArrowheads="1"/>
            </p:cNvSpPr>
            <p:nvPr/>
          </p:nvSpPr>
          <p:spPr bwMode="auto">
            <a:xfrm>
              <a:off x="7010400" y="58293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2" name="Rectangle 221"/>
            <p:cNvSpPr>
              <a:spLocks noChangeArrowheads="1"/>
            </p:cNvSpPr>
            <p:nvPr/>
          </p:nvSpPr>
          <p:spPr bwMode="auto">
            <a:xfrm>
              <a:off x="5562600" y="58166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3" name="Rectangle 222"/>
            <p:cNvSpPr>
              <a:spLocks noChangeArrowheads="1"/>
            </p:cNvSpPr>
            <p:nvPr/>
          </p:nvSpPr>
          <p:spPr bwMode="auto">
            <a:xfrm>
              <a:off x="5270500" y="58166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4" name="Rectangle 223"/>
            <p:cNvSpPr>
              <a:spLocks noChangeArrowheads="1"/>
            </p:cNvSpPr>
            <p:nvPr/>
          </p:nvSpPr>
          <p:spPr bwMode="auto">
            <a:xfrm>
              <a:off x="6197600" y="58166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5" name="Rectangle 224"/>
            <p:cNvSpPr>
              <a:spLocks noChangeArrowheads="1"/>
            </p:cNvSpPr>
            <p:nvPr/>
          </p:nvSpPr>
          <p:spPr bwMode="auto">
            <a:xfrm>
              <a:off x="7467600" y="58293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6" name="Rectangle 225"/>
            <p:cNvSpPr>
              <a:spLocks noChangeArrowheads="1"/>
            </p:cNvSpPr>
            <p:nvPr/>
          </p:nvSpPr>
          <p:spPr bwMode="auto">
            <a:xfrm>
              <a:off x="7772400" y="58293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7" name="Rectangle 226"/>
            <p:cNvSpPr>
              <a:spLocks noChangeArrowheads="1"/>
            </p:cNvSpPr>
            <p:nvPr/>
          </p:nvSpPr>
          <p:spPr bwMode="auto">
            <a:xfrm>
              <a:off x="8610600" y="59055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798" name="Line 227"/>
            <p:cNvSpPr>
              <a:spLocks noChangeShapeType="1"/>
            </p:cNvSpPr>
            <p:nvPr/>
          </p:nvSpPr>
          <p:spPr bwMode="auto">
            <a:xfrm>
              <a:off x="5181600" y="51816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5799" name="Line 228"/>
            <p:cNvSpPr>
              <a:spLocks noChangeShapeType="1"/>
            </p:cNvSpPr>
            <p:nvPr/>
          </p:nvSpPr>
          <p:spPr bwMode="auto">
            <a:xfrm flipH="1">
              <a:off x="5334000" y="5715000"/>
              <a:ext cx="152400" cy="101600"/>
            </a:xfrm>
            <a:prstGeom prst="line">
              <a:avLst/>
            </a:prstGeom>
            <a:noFill/>
            <a:ln w="9525">
              <a:solidFill>
                <a:schemeClr val="tx1"/>
              </a:solidFill>
              <a:round/>
              <a:headEnd/>
              <a:tailEnd type="triangle" w="med" len="med"/>
            </a:ln>
          </p:spPr>
          <p:txBody>
            <a:bodyPr wrap="none" anchor="ctr"/>
            <a:lstStyle/>
            <a:p>
              <a:endParaRPr lang="bg-BG"/>
            </a:p>
          </p:txBody>
        </p:sp>
        <p:sp>
          <p:nvSpPr>
            <p:cNvPr id="75800" name="Line 230"/>
            <p:cNvSpPr>
              <a:spLocks noChangeShapeType="1"/>
            </p:cNvSpPr>
            <p:nvPr/>
          </p:nvSpPr>
          <p:spPr bwMode="auto">
            <a:xfrm flipH="1">
              <a:off x="5943600" y="5651500"/>
              <a:ext cx="76200" cy="228600"/>
            </a:xfrm>
            <a:prstGeom prst="line">
              <a:avLst/>
            </a:prstGeom>
            <a:noFill/>
            <a:ln w="9525">
              <a:solidFill>
                <a:schemeClr val="tx1"/>
              </a:solidFill>
              <a:round/>
              <a:headEnd/>
              <a:tailEnd type="triangle" w="med" len="med"/>
            </a:ln>
          </p:spPr>
          <p:txBody>
            <a:bodyPr wrap="none" anchor="ctr"/>
            <a:lstStyle/>
            <a:p>
              <a:endParaRPr lang="bg-BG"/>
            </a:p>
          </p:txBody>
        </p:sp>
        <p:sp>
          <p:nvSpPr>
            <p:cNvPr id="75801" name="Line 231"/>
            <p:cNvSpPr>
              <a:spLocks noChangeShapeType="1"/>
            </p:cNvSpPr>
            <p:nvPr/>
          </p:nvSpPr>
          <p:spPr bwMode="auto">
            <a:xfrm>
              <a:off x="5638800" y="5753100"/>
              <a:ext cx="76200" cy="76200"/>
            </a:xfrm>
            <a:prstGeom prst="line">
              <a:avLst/>
            </a:prstGeom>
            <a:noFill/>
            <a:ln w="9525">
              <a:solidFill>
                <a:schemeClr val="tx1"/>
              </a:solidFill>
              <a:round/>
              <a:headEnd/>
              <a:tailEnd type="triangle" w="med" len="med"/>
            </a:ln>
          </p:spPr>
          <p:txBody>
            <a:bodyPr wrap="none" anchor="ctr"/>
            <a:lstStyle/>
            <a:p>
              <a:endParaRPr lang="bg-BG"/>
            </a:p>
          </p:txBody>
        </p:sp>
        <p:sp>
          <p:nvSpPr>
            <p:cNvPr id="75802" name="Line 233"/>
            <p:cNvSpPr>
              <a:spLocks noChangeShapeType="1"/>
            </p:cNvSpPr>
            <p:nvPr/>
          </p:nvSpPr>
          <p:spPr bwMode="auto">
            <a:xfrm>
              <a:off x="6248400" y="5676900"/>
              <a:ext cx="1524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3" name="Line 234"/>
            <p:cNvSpPr>
              <a:spLocks noChangeShapeType="1"/>
            </p:cNvSpPr>
            <p:nvPr/>
          </p:nvSpPr>
          <p:spPr bwMode="auto">
            <a:xfrm flipH="1">
              <a:off x="6400800" y="6261100"/>
              <a:ext cx="1524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4" name="Line 235"/>
            <p:cNvSpPr>
              <a:spLocks noChangeShapeType="1"/>
            </p:cNvSpPr>
            <p:nvPr/>
          </p:nvSpPr>
          <p:spPr bwMode="auto">
            <a:xfrm>
              <a:off x="6705600" y="6261100"/>
              <a:ext cx="1524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5" name="Line 236"/>
            <p:cNvSpPr>
              <a:spLocks noChangeShapeType="1"/>
            </p:cNvSpPr>
            <p:nvPr/>
          </p:nvSpPr>
          <p:spPr bwMode="auto">
            <a:xfrm>
              <a:off x="7112000" y="5638800"/>
              <a:ext cx="76200" cy="228600"/>
            </a:xfrm>
            <a:prstGeom prst="line">
              <a:avLst/>
            </a:prstGeom>
            <a:noFill/>
            <a:ln w="9525">
              <a:solidFill>
                <a:schemeClr val="tx1"/>
              </a:solidFill>
              <a:round/>
              <a:headEnd/>
              <a:tailEnd type="triangle" w="med" len="med"/>
            </a:ln>
          </p:spPr>
          <p:txBody>
            <a:bodyPr wrap="none" anchor="ctr"/>
            <a:lstStyle/>
            <a:p>
              <a:endParaRPr lang="bg-BG"/>
            </a:p>
          </p:txBody>
        </p:sp>
        <p:sp>
          <p:nvSpPr>
            <p:cNvPr id="75806" name="Line 237"/>
            <p:cNvSpPr>
              <a:spLocks noChangeShapeType="1"/>
            </p:cNvSpPr>
            <p:nvPr/>
          </p:nvSpPr>
          <p:spPr bwMode="auto">
            <a:xfrm flipH="1">
              <a:off x="7543800" y="57150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7" name="Line 238"/>
            <p:cNvSpPr>
              <a:spLocks noChangeShapeType="1"/>
            </p:cNvSpPr>
            <p:nvPr/>
          </p:nvSpPr>
          <p:spPr bwMode="auto">
            <a:xfrm flipH="1">
              <a:off x="8305800" y="57404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8" name="Line 239"/>
            <p:cNvSpPr>
              <a:spLocks noChangeShapeType="1"/>
            </p:cNvSpPr>
            <p:nvPr/>
          </p:nvSpPr>
          <p:spPr bwMode="auto">
            <a:xfrm>
              <a:off x="8610600" y="5753100"/>
              <a:ext cx="1524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09" name="Line 240"/>
            <p:cNvSpPr>
              <a:spLocks noChangeShapeType="1"/>
            </p:cNvSpPr>
            <p:nvPr/>
          </p:nvSpPr>
          <p:spPr bwMode="auto">
            <a:xfrm>
              <a:off x="7848600" y="5715000"/>
              <a:ext cx="76200" cy="152400"/>
            </a:xfrm>
            <a:prstGeom prst="line">
              <a:avLst/>
            </a:prstGeom>
            <a:noFill/>
            <a:ln w="9525">
              <a:solidFill>
                <a:schemeClr val="tx1"/>
              </a:solidFill>
              <a:round/>
              <a:headEnd/>
              <a:tailEnd type="triangle" w="med" len="med"/>
            </a:ln>
          </p:spPr>
          <p:txBody>
            <a:bodyPr wrap="none" anchor="ctr"/>
            <a:lstStyle/>
            <a:p>
              <a:endParaRPr lang="bg-BG"/>
            </a:p>
          </p:txBody>
        </p:sp>
        <p:sp>
          <p:nvSpPr>
            <p:cNvPr id="75810" name="Rectangle 241"/>
            <p:cNvSpPr>
              <a:spLocks noChangeArrowheads="1"/>
            </p:cNvSpPr>
            <p:nvPr/>
          </p:nvSpPr>
          <p:spPr bwMode="auto">
            <a:xfrm>
              <a:off x="7962900" y="5334000"/>
              <a:ext cx="228600" cy="76200"/>
            </a:xfrm>
            <a:prstGeom prst="rect">
              <a:avLst/>
            </a:prstGeom>
            <a:solidFill>
              <a:schemeClr val="tx1"/>
            </a:solidFill>
            <a:ln w="9525">
              <a:solidFill>
                <a:schemeClr val="tx1"/>
              </a:solidFill>
              <a:miter lim="800000"/>
              <a:headEnd/>
              <a:tailEnd/>
            </a:ln>
          </p:spPr>
          <p:txBody>
            <a:bodyPr wrap="none" anchor="ctr"/>
            <a:lstStyle/>
            <a:p>
              <a:endParaRPr lang="bg-BG"/>
            </a:p>
          </p:txBody>
        </p:sp>
        <p:sp>
          <p:nvSpPr>
            <p:cNvPr id="75811" name="Line 242"/>
            <p:cNvSpPr>
              <a:spLocks noChangeShapeType="1"/>
            </p:cNvSpPr>
            <p:nvPr/>
          </p:nvSpPr>
          <p:spPr bwMode="auto">
            <a:xfrm flipH="1">
              <a:off x="8001000" y="5181600"/>
              <a:ext cx="76200" cy="152400"/>
            </a:xfrm>
            <a:prstGeom prst="line">
              <a:avLst/>
            </a:prstGeom>
            <a:noFill/>
            <a:ln w="9525">
              <a:solidFill>
                <a:schemeClr val="tx1"/>
              </a:solidFill>
              <a:round/>
              <a:headEnd/>
              <a:tailEnd type="triangle" w="med" len="med"/>
            </a:ln>
          </p:spPr>
          <p:txBody>
            <a:bodyPr wrap="none" anchor="ctr"/>
            <a:lstStyle/>
            <a:p>
              <a:endParaRPr lang="bg-BG"/>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3101</TotalTime>
  <Words>1319</Words>
  <Application>Microsoft Office PowerPoint</Application>
  <PresentationFormat>On-screen Show (4:3)</PresentationFormat>
  <Paragraphs>886</Paragraphs>
  <Slides>67</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69" baseType="lpstr">
      <vt:lpstr>Solstice</vt:lpstr>
      <vt:lpstr>Worksheet</vt:lpstr>
      <vt:lpstr> Нелинейни динамични структури от данни    ДЪРВОВИДНИ  СТРУКТУРИ   Съществуват две дефиниции на дървовидна структура или дърво.  Нерекурсивна: Дърво е свързан граф без цикли.  Рекурсивна: Дърво от тип Т е структура, образувана от данна от тип Т, наречена “корен”, и крайно множество (възможно и празно)  елементи - дървета от тип Т, наречени “поддървета”. </vt:lpstr>
      <vt:lpstr>        Всяко дърво се образува от възли и дъги, които ги свързват. Върховете могат да бъдат от два вида:  - родител  - наследник  Върхът без родител се нарича “корен” и всяко дърво има само един такъв връх.</vt:lpstr>
      <vt:lpstr> От всеки връх могат да излизат няколко дъги (техния брой се нарича “степен” на елемента), но влиза само една дъга, т. е. връзката “родител-наследник” е еднопосочна и не позволява цикли:              Оттук се вижда, че структурата едносвързан списък представлява частен случай на дърво или т.н. “изродено” дърво.  Степен на дърво се нарича максималната степен на елемент от тази структура. За горния пример тя е 3.  Върховете без наследници се наричат “листа”.  Височина на дърво е дължината на най-дългия път от корена до листо.  От дефиницията следва, че между два произволни върха в едно дърво съществува единствен път.  </vt:lpstr>
      <vt:lpstr>Например:   Дървото има степен 2      Височината на дървото е 5</vt:lpstr>
      <vt:lpstr> Динамично представяне на структурата дърво (със степен 3):  struct elem    {char key; elem *p1, *p2, *p3;} *root;   В така описаното дърво се съхраняват символни данни.    Коренът на дървото е свързан с указателя root. В контекста посочената в примера дефиниция, представеното по-горе дърво може да се изобрази като:  </vt:lpstr>
      <vt:lpstr>   Терминология:  Връх (vertex) Възел (node) Ребро (edge) Дъга (arc) Път (path)      </vt:lpstr>
      <vt:lpstr>     Най-голямо приложение намира частния случай на дървовидна структура - двоично или бинарно дърво   Двоично дърво е дървовидна структура от степен 2, т.е. всеки възел има не повече от два наследника - ляв и десен:        Динамично представяне на двоично дърво.  struct elem    {char key; elem *left, *right;} *root;  </vt:lpstr>
      <vt:lpstr>Няколко допълнителни дефиниции:  - Дължина на пътищата в дърво е сумата на нивата на неговите възли (за даденото дърво - 28).  - Дължина на вътрешните пътища в бинарно дърво е сумата от нивата на всички негови вътрешни възли (за даденото дърво - 8).  - Дължина на външните пътища в бинарно дърво е сумата от нивата на всички негови външни възли (за даденото дърво - 20).          </vt:lpstr>
      <vt:lpstr>Основни математически свойства на двоичните дървета:  - Двоични дървета с N вътрешни възли има N+1 външни възли.  - Двоично дърво с N вътрешни възли има 2N връзки: N-1 връзки към вътрешни възли и N+1 връзки към външни възли.  - Дължината на външните пътища във всяко двоично дърво с N вътрешни възли е с 2N по-голямо от дължината на вътрешните пътища.  - Височината на бинарно дърво с N вътрешни възли е не по-малка от Log2N и не по-голяма от N - 1. Ако височината е h (за даденото дърво - 3), тогава трябва да имаме:    2h-1  &lt; N +1  &lt;= 2h Неравенството означава, че височината в най-добрия случай е равна на Log2N, закръглено до най-близкото по-голямо цяло число.  - Дължината на вътрешните пътища на двоично дърво с N вътрешни възли е не по-малка от N*Log2 (N/4) и не по-голяма от N*(N-1)/2.    </vt:lpstr>
      <vt:lpstr> Основни операции със структурата дърво  . Инициализиране на дърво . Обхождане на дърво . Добавяне на елемент в дърво . Премахване на елемент от дърво . Търсене на елемент.   Инициализация на двоично дърво    На указателя към корена на дървото се присвоява стойност NULL при дефинирането на структурата:  struct elem    {char key; elem *left, *right;} *root=NULL; </vt:lpstr>
      <vt:lpstr>  Обхождане на двоично дърво  Обхождането означава посещаване на всеки възел по веднъж. Т.к. дървото е нелинейна структура, обхождането му може да става по различни начини. Различават методи за обхождане в ширина и в дълбочина, като последния се извършва по три стандартни начина:    - в прав ред - PREORDER   - във вътрешен ред (или симетрично обхождане) - INORDER   - в обратен ред - POSTORDER  При обхождането в прав ред се възлите се посещават в следната последователност: корен - ляво поддърво - дясно поддърво, което за горния пример на двоично дърво ще даде такава последователност: АBDECF.   Функция за рекурсивно обхождане на двоично дърво в прав ред: void preorder(elem *t) {   if (t)     {      cout&lt;&lt;t-&gt;key&lt;&lt;" ";      preorder(t-&gt;left);      preorder(t-&gt;right);     } }  </vt:lpstr>
      <vt:lpstr>   Обхождането във вътрешен ред се извършва така: ляво поддърво - корен - дясно поддърво, т.е. за горния пример - DBEACF.   Функция за рекурсивно обхождане на двоично дърво във вътрешен ред  void inorder(elem *t) {   if (t)     {      inorder(t-&gt;left);      cout&lt;&lt;t-&gt;key&lt;&lt;" ";      inorder(t-&gt;right);     } }    Обхождането в обратен ред означава следната последователност на посещаваните възли: ляво поддърво - дясно поддърво - корен, за вече споменатия пример тя е DEBFCA.  void postorder(elem *t) {   if (t)     {      postorder(t-&gt;left);      postorder(t-&gt;right);      cout&lt;&lt;t-&gt;key&lt;&lt;" ";     } } </vt:lpstr>
      <vt:lpstr> Още един пример за обхождане на двоично дърво:              Preorder  (КЛД): A B C E I F J D G H K L   Inorder    (ЛКД): E I C F J B G D K H L A   Postorder (ЛДК): I E J F C G K L H D B A</vt:lpstr>
      <vt:lpstr> Останалите три основни операции с дървовидни структури - добавяне, изключване и търсене на елемент - ще разгледаме върху една често използвана разновидност на структурата - двоични дървета за търсене или подредени двоични дървета (или BST - Binary Search Tree).  Едно двоично дърво се нарича двоично дърво за търсене, ако за всеки връх с ключова стойност К е вярно:  - всички елементи в лявото му поддърво имат ключови стойности по-малки от К;  - всички елементи в дясното му поддърво имат ключови стойности по-големи от К;  - ключовите стойности са уникални.  Например:    Симетричното обхождане на двоично дърво  за търсене извежда ключовите стойности на  структурата, подредени в нарастващ ред.  Така за горния пример функция INORDER ще  даде следния резултат: 5 10 15 20 30 35 38</vt:lpstr>
      <vt:lpstr>      Добавяне на елемент в подредено двоично дърво   Нови елементи се добавят в структурата във вид на листа. Разгледаната долу операция за добавяне на нов възел в двоично дърво за търсене е реализирана като рекурсивна функция.   void add(int n, elem* &amp;t) {   if (t==NULL)     {       t=new elem;       t-&gt;key=n;       t-&gt;left=t-&gt;right=NULL;     }       else     {       if (t-&gt;key&lt;n)    add(n,t-&gt;right);  else    add(n,t-&gt;left);     } }</vt:lpstr>
      <vt:lpstr>Търсене на елемент в двоично дърво   Двете примерни функции връщат като резултат указател към търсения елемент. Ако елементът не принадлежи на дървото, върнатата стойност е NULL  Итеративно търсене на елемент в подредено двоично дърво  elem *search_iter(elem *t, int k) {   while ((t!=NULL)&amp;&amp;(t-&gt;key!=k))    if (t-&gt;key&lt;k)        t=t-&gt;right;      else        t=t-&gt;left;   return t; }  Рекурсивно търсене на елемент в подредено двоично дърво:  elem *search_rec(elem *t, int k) {   if (t!=NULL)      if (t-&gt;key&lt;k)  t=search_rec(t-&gt;right, k);    else  if(t-&gt;key&gt;k)    t=search_rec(t-&gt;left, k);   return t; }</vt:lpstr>
      <vt:lpstr>Още един вариант на итеративна функция за търсене в двоично дърво:  elem * &amp;search(int k) // функцията връща адреса на указател {   // към търсения елемент   elem **p=&amp;root;   for (;;)   {     if (*p==NULL) return *p;     if (k&lt;(*p)-&gt;key) p=&amp;(*p)-&gt;left;        else     if (k&gt;(*p)-&gt;key) p=&amp;(*p)-&gt;right;        else    return *p;   } }  </vt:lpstr>
      <vt:lpstr> ПРЕМАХВАНЕ НА ВЪЗЕЛ ОТ ДВОИЧНО ДЪРВО   Операцията премахване на възел от двоично дърво за търсене не трябва да нарушава подредбата на структурата. Възможни са следните варианти:  - Ако премахваният елемент е листо, неговото отстраняване не нарушава структурата;  - Ако премахваният елемент има само един наследник, той замества изтривания възел;  - Ако премахваният елемент има два наследника, то изтриваният възел се замества или с най-десния (най-големия) елемент от лявото му поддърво или с най-левия (най-малкия) елемент от дясното му поддърво. </vt:lpstr>
      <vt:lpstr> Например:        </vt:lpstr>
      <vt:lpstr>PowerPoint Presentation</vt:lpstr>
      <vt:lpstr>Изтриване на възел: struct tree  {   int key;   tree *left,*right;        }; tree *root=NULL,*z; ... int del(int k) {   tree * &amp;p=search(k), *p0=p, **qq, *q; // search(k)- функция, която търси в дървото възел  // с ключова стойност k и връща адреса на указател към него   if (p==NULL) return 0; //Възелът не е намерен   if ((p-&gt;right==NULL))     {      p=p-&gt;left; delete p0;     }       else     if(p-&gt;left==NULL)       {       p=p-&gt;right; delete p0;       }  else    //Възелът е с два наследника       {     qq=&amp;p-&gt;left;     while ((*qq)-&gt;right)     qq=&amp;(*qq)-&gt;right;     p-&gt;key=(*qq)-&gt;key;     q=*qq;     *qq=q-&gt;left;     delete q;       }     return 1; }</vt:lpstr>
      <vt:lpstr>Задача: създаване на двоично дърво, пресмятане на неговата височина и брой възли с последващо изобразяване на дървото. (Елементите на дървото са от символен тип.) //TREE'S PARAMETERS #include &lt;iostream&gt; using namespace std; struct elem    { char key; elem *left, *right;} *root=NULL;  void add(char n, elem* &amp;t);    //prototypes int count(elem *t); int height(elem *t); void printnode(char n, int h); void show (elem *t, int h); void main() {   char c;   cout&lt;&lt;"Enter some characters to be placed in a binary tree (followed by /): \n";   while ((cin&gt;&gt;c)&amp;&amp;(c!='/'))        add(c, root);   cout&lt;&lt;"\nNode's count: "&lt;&lt;count(root);   int h=height(root)+1;         //+1 - for NULL-nodes   cout&lt;&lt;"\nTree's height: "&lt;&lt;h&lt;&lt;'\n';   show(root, h); } </vt:lpstr>
      <vt:lpstr>  void add(char n, elem* &amp;t) {   if (t==NULL)     {       t=new elem;       t-&gt;key=n;       t-&gt;left=t-&gt;right=NULL;     }       else     {       if (t-&gt;key&lt;n)    add(n,t-&gt;right);  else    add(n,t-&gt;left);     } } int count (elem *t) {   if (t==NULL) return 0;   return count(t-&gt;left)+count(t-&gt;right)+1; } </vt:lpstr>
      <vt:lpstr>  int height (elem *t) {   if (t==NULL) return -1;   int u=height(t-&gt;left), v=height(t-&gt;right);   if (u&gt;v) return u+1;      else     return v+1; } void printnode (char n, int h) {   for (int i=0; i&lt;h; i++)      cout&lt;&lt;"   ";   cout&lt;&lt;n&lt;&lt;'\n'; } void show (elem *t, int h) {   if (t==NULL)     {       printnode('*', h);       return;     }   show(t-&gt;right, h+1);   printnode(t-&gt;key, h);   show(t-&gt;left, h+1); }</vt:lpstr>
      <vt:lpstr>      Балансирани двоични дървета   Всяко двоично дърво може да бъде балансирано. Двоично дърво се нарича балансирано или балансирано по височина, ако разликата във височините на поддърветата на всеки негов възел е най-много 1:          Лявото дърво не е балансирано. Дясното е балансирано.     </vt:lpstr>
      <vt:lpstr> Едно двоично дърво се нарича идеално балансирано или с балансирано тегло, ако всеки негов възел има ляво и дясно поддърво, в които броят на възлите се различава най-много с 1:            Очевидно е, че всяко идеално балансирано дърво (с балансирано тегло) също така е дърво с балансирана височина. Обратното твърдение не е вярно.     </vt:lpstr>
      <vt:lpstr> Идеално балансираното дърво може да бъде пълно, ако за всеки възел разликата в броя на възлите в неговите поддървета е нула. Лявото дърво на горната фигура е пълно.  За да бъде двоичното дървото пълно, броят на възлите му трябва да е нечетен. Ако К е броя на нивата в дървото (коренът се брои за 0-во ниво), то броят на вътрешните възлите в пълното двоично дърво N е равен на 2К+1 -1.  Балансът обикновено е важен фактор при работа с двоични дървета за търсене, където е от значение времето за търсене и не трябва да има отделни дълги клони. Балансираните дървета често наричат AVL-дървета в чест на Adelson-Velski и Landis - двамата учени, създали най-много алгоритми за този клас дървовидни структури.   Основните операции с балансираните дървета - добавяне, премахване и търсене на елемент с зададена ключова стойност - имат сложност О(Log2N).  Ако h(N) е височината на балансирано двоично дърво с N вътрешни възела, то  Log2(N+1) &lt;= h(N)&lt;= 1.4404Log2(N+2) - 0.328</vt:lpstr>
      <vt:lpstr>     Динамична променлива, описваща балансирано двоично дърво     Във всеки възел на такава структура необходимо е да се съхранява информация за баланса на съответните поддървета:   struct tree{   int key;   int bal; // 0 - двата клона на възела      // с еднаква дължина     // -1 - левия клон е по-дълъг;     // +1 - десния е по-дълъг    tree *left,*right;       }; tree *root=NULL; </vt:lpstr>
      <vt:lpstr> Всяко двоично дърво може да бъде балансирано.     Има 4 основните операции за балансиране на двоично дърво, наречени ротации.  - Дясна ротация. Тази операция е необходима тогава, когато във вече балансираното двоично дърво се добавя елемент към най-левия клон:        Функция за дясна ротация в двоично дърво за търсене: void R_rot(tree * &amp;p) {  tree *q;  if(p-&gt;bal==-1){   q=p-&gt;left;   if(q-&gt;bal==-1) {    p-&gt;left=q-&gt;right;    q-&gt;right=p;    p-&gt;bal=0;    p=q;    }   } }</vt:lpstr>
      <vt:lpstr>- Лява ротация. Тази операция е необходима тогава, когато във вече балансираното двоично дърво се добавя елемент към най-десния клон:                  Функция, реализираща операцията лява ротация в двоично дърво за търсене: void L_rot(tree * &amp;p) {  tree *q;  if(p-&gt;bal==1){   q=p-&gt;right;   if(q-&gt;bal==1) {    p-&gt;right=q-&gt;left;    q-&gt;left=p;    p-&gt;bal=0;    p=q;    }   } }</vt:lpstr>
      <vt:lpstr>Двойни ротации:          лява ротация                          дясна      на лявото поддърво                  ротация             - ляво-дясна ротация</vt:lpstr>
      <vt:lpstr>- Ляво-дясна ротация. Тази операция е необходима тогава, когато във вече балансираното двоично дърво се добавя елемент към дясното листо на по-високото ляво поддърво, в случая 21 или 24:     Функция за ляво-дясна ротация двоично дърво за търсене:  void L_R_rot(tree * &amp;p) { tree *q,*s; if(p-&gt;bal==-1)   {   q=p-&gt;left;   if(q-&gt;bal==1)     {s=q-&gt;right;     q-&gt;right=s-&gt;left;     s-&gt;left=q;     p-&gt;left=s-&gt;right;     s-&gt;right=p;     if(s-&gt;bal==-1) p-&gt;bal=1;  else p-&gt;bal=0;     if(s-&gt;bal==1) q-&gt;bal=-1;  else q-&gt;bal=0;     p=s;    }  } } </vt:lpstr>
      <vt:lpstr>  Още един пример:                    дясна ротация                                     лява                        на дясното поддърво                          ротация          - дясно-лява ротация</vt:lpstr>
      <vt:lpstr>- Дясно-лява ротация. Тази операция е необходима тогава, когато във вече балансираното двоично дърво се добавя елемент към лявото листо на по-високото дясно поддърво, в случая 6 или 9:  Функция за дясно-лява ротация двоично дърво за търсене   void R_L_rot(tree * &amp;p) { tree *q,*s; if(p-&gt;bal==1)    { q=p-&gt;right;     if(q-&gt;bal==-1)        {  s=q-&gt;left;   q-&gt;left=s-&gt;right;   s-&gt;right=q;   p-&gt;right=s-&gt;left;   s-&gt;left=p;   if(s-&gt;bal==1) p-&gt;bal=1;   else p-&gt;bal=0;   if(s-&gt;bal==-1) q-&gt;bal=1;   else q-&gt;bal=0;   p=s;       }   } } </vt:lpstr>
      <vt:lpstr>Изтриване на възел с последващо балансиране на двоично дърво:   например, възел със стойност 4           </vt:lpstr>
      <vt:lpstr>PowerPoint Presentation</vt:lpstr>
      <vt:lpstr> Например, 6:        </vt:lpstr>
      <vt:lpstr> Примерно, изтриваме 5:            </vt:lpstr>
      <vt:lpstr>Например, 2:        </vt:lpstr>
      <vt:lpstr> Изтриваме 1:        </vt:lpstr>
      <vt:lpstr> Изключваме 7:            </vt:lpstr>
      <vt:lpstr> Статично представяне на дървовидни             структури (двоично дърво)  Ако дървото е пълно (съдържа (2h+1 – 1) елементи, 2i на i-то ниво, h е височина на дървото, започва от 0 ниво), елементите му могат да се запишат в масив:           Arr[i]      0       1       2      3     4     5     6     7     8     9     10    11    12    13     14                    A      B      C      D    E     F     G    H     L    M     N     O     P      R        S     ляв син на Arr[i] -&gt; Arr[2i+1]     десен син на Arr[i] -&gt; Arr[2*(i+1)]                                                  родител на Arr[i]-&gt; Arr[(i-1) /2]    </vt:lpstr>
      <vt:lpstr>За непълни (разредени) дървета:  struct tree        { char v; int left, right; } tab[10]; struct b_tree        { int root; struct tree tab[10];} T;                       T.root=2     T.root=0 - инициализация     </vt:lpstr>
      <vt:lpstr>2-3 - дърво Това са идеално балансирано дърво за претърсване, в което: - всеки вътрешен възел съдържа една ключова стойност и два    указателя или две ключови стойности и три указателя   (наследника); - всяко листо съдържа една или две ключови стойности; - всички пътища от корена до листата имат еднакви дължини.          </vt:lpstr>
      <vt:lpstr> Примерно, добавяме елемент със стойност 1:  </vt:lpstr>
      <vt:lpstr> Примерно, добавяме 0: </vt:lpstr>
      <vt:lpstr> Изтриваме 40:     (замества се или с 30, или с 50) </vt:lpstr>
      <vt:lpstr>PowerPoint Presentation</vt:lpstr>
      <vt:lpstr>PowerPoint Presentation</vt:lpstr>
      <vt:lpstr>PowerPoint Presentation</vt:lpstr>
      <vt:lpstr>PowerPoint Presentation</vt:lpstr>
      <vt:lpstr>PowerPoint Presentation</vt:lpstr>
      <vt:lpstr>PowerPoint Presentation</vt:lpstr>
      <vt:lpstr> При тях, за разлика от идеално-балансирани дървета, всички листа се намират на едно и също ниво.  Нека разгледаме добавянето на нови елементи в В-дърво с порядък 5 (m=5):  Да започнем с празно В-дърво, в което ще вмъкваме четири цели числа - например 60, 20, 80 и 10:                  n=4                p0= p1= p2= p3= p4= NULL               k0=10, k1=20, k2=60, k3=80   Добавяме стойност 15:           </vt:lpstr>
      <vt:lpstr>Добавяме 30:      Добавяме 70:      Добавяме 22:     </vt:lpstr>
      <vt:lpstr>Последователно добавяме 12 и 18:    Добавяме 19: (10 12 15 18 19)      Добавяме 4 и 5:  </vt:lpstr>
      <vt:lpstr>Продължаваме да добавяме стойности в най-левия клон. Например, 6: (4 5 6 10 12)    Добавяме последователно 2 и 3:      Добавяме 1:   (1 2 3 4 5) (3 6 15 20 60)          и т. н.</vt:lpstr>
      <vt:lpstr>PowerPoint Presentation</vt:lpstr>
      <vt:lpstr>PowerPoint Presentation</vt:lpstr>
      <vt:lpstr>PowerPoint Presentation</vt:lpstr>
      <vt:lpstr> В-дървета са идеално балансирани, височината им h е най-много:         h=log[m/2] ((V+1)/2)  което при голямо m гарантира добра височина даже при огромно  V.  (  m - порядъка на В-дървото     V - брой възли в него)</vt:lpstr>
      <vt:lpstr>PowerPoint Presentation</vt:lpstr>
      <vt:lpstr>PowerPoint Presentation</vt:lpstr>
      <vt:lpstr>PowerPoint Presentation</vt:lpstr>
      <vt:lpstr>PowerPoint Presentation</vt:lpstr>
      <vt:lpstr> С елементарна индукция по n може да се докаже, че ако полувисочината на дадено дърво е n, то броят на елементите N в това дърво е поне  2n-1 .    Следователно          n &lt;= log2(N+1) или               височината на дървото &lt;=2 log2(N+1),  т. е. правилното оцветяване гарантира балансираност на дървото.   Подробни описания на алгоритми за работа с R-B-дървета:  1. Робърт Седжуик, Алгоритми на С, том 2, Софтпрес, С., 2002  2. Д. Шишков и др., Структури от  данни и алгоритми, “Интеграл”, Добрич, 1995    R-B-дървета имат и още две основни свойства: 1. Вече разгледаната функция за търсене в BST за тях работи без промени; 2. Те съответстват директно на 2-3-4 дървета, така че  всички алгоритми за последните са приложими и за тях.  </vt:lpstr>
      <vt:lpstr> Защо?  Например имаме следното 2-3-4 - дърво:       Дървото може да бъде преобразувано така:         или   </vt:lpstr>
    </vt:vector>
  </TitlesOfParts>
  <Company>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TU - Varna</dc:creator>
  <cp:lastModifiedBy>Елена Рачева</cp:lastModifiedBy>
  <cp:revision>366</cp:revision>
  <dcterms:created xsi:type="dcterms:W3CDTF">2003-08-28T08:49:01Z</dcterms:created>
  <dcterms:modified xsi:type="dcterms:W3CDTF">2020-02-11T15:53:08Z</dcterms:modified>
</cp:coreProperties>
</file>
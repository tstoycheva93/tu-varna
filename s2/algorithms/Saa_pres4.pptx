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notesMasterIdLst>
    <p:notesMasterId r:id="rId58"/>
  </p:notesMasterIdLst>
  <p:sldIdLst>
    <p:sldId id="328" r:id="rId2"/>
    <p:sldId id="333" r:id="rId3"/>
    <p:sldId id="346" r:id="rId4"/>
    <p:sldId id="347" r:id="rId5"/>
    <p:sldId id="348" r:id="rId6"/>
    <p:sldId id="349" r:id="rId7"/>
    <p:sldId id="350" r:id="rId8"/>
    <p:sldId id="351" r:id="rId9"/>
    <p:sldId id="352" r:id="rId10"/>
    <p:sldId id="353" r:id="rId11"/>
    <p:sldId id="335" r:id="rId12"/>
    <p:sldId id="336" r:id="rId13"/>
    <p:sldId id="334" r:id="rId14"/>
    <p:sldId id="329" r:id="rId15"/>
    <p:sldId id="330" r:id="rId16"/>
    <p:sldId id="300" r:id="rId17"/>
    <p:sldId id="301" r:id="rId18"/>
    <p:sldId id="303" r:id="rId19"/>
    <p:sldId id="304" r:id="rId20"/>
    <p:sldId id="305" r:id="rId21"/>
    <p:sldId id="306" r:id="rId22"/>
    <p:sldId id="354" r:id="rId23"/>
    <p:sldId id="355" r:id="rId24"/>
    <p:sldId id="356" r:id="rId25"/>
    <p:sldId id="359" r:id="rId26"/>
    <p:sldId id="357" r:id="rId27"/>
    <p:sldId id="358" r:id="rId28"/>
    <p:sldId id="308" r:id="rId29"/>
    <p:sldId id="342" r:id="rId30"/>
    <p:sldId id="337" r:id="rId31"/>
    <p:sldId id="338" r:id="rId32"/>
    <p:sldId id="339" r:id="rId33"/>
    <p:sldId id="340" r:id="rId34"/>
    <p:sldId id="341" r:id="rId35"/>
    <p:sldId id="343" r:id="rId36"/>
    <p:sldId id="302" r:id="rId37"/>
    <p:sldId id="309" r:id="rId38"/>
    <p:sldId id="310" r:id="rId39"/>
    <p:sldId id="311" r:id="rId40"/>
    <p:sldId id="312" r:id="rId41"/>
    <p:sldId id="313" r:id="rId42"/>
    <p:sldId id="314" r:id="rId43"/>
    <p:sldId id="315" r:id="rId44"/>
    <p:sldId id="316" r:id="rId45"/>
    <p:sldId id="317" r:id="rId46"/>
    <p:sldId id="345" r:id="rId47"/>
    <p:sldId id="318" r:id="rId48"/>
    <p:sldId id="319" r:id="rId49"/>
    <p:sldId id="320" r:id="rId50"/>
    <p:sldId id="321" r:id="rId51"/>
    <p:sldId id="322" r:id="rId52"/>
    <p:sldId id="323" r:id="rId53"/>
    <p:sldId id="324" r:id="rId54"/>
    <p:sldId id="325" r:id="rId55"/>
    <p:sldId id="326" r:id="rId56"/>
    <p:sldId id="327" r:id="rId5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p:scale>
          <a:sx n="75" d="100"/>
          <a:sy n="75" d="100"/>
        </p:scale>
        <p:origin x="-1709" y="-3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8" d="100"/>
          <a:sy n="58" d="100"/>
        </p:scale>
        <p:origin x="-1446"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54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bg-BG"/>
          </a:p>
        </p:txBody>
      </p:sp>
      <p:sp>
        <p:nvSpPr>
          <p:cNvPr id="1454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bg-BG"/>
          </a:p>
        </p:txBody>
      </p:sp>
      <p:sp>
        <p:nvSpPr>
          <p:cNvPr id="593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454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bg-BG" noProof="0" smtClean="0"/>
              <a:t>Click to edit Master text styles</a:t>
            </a:r>
          </a:p>
          <a:p>
            <a:pPr lvl="1"/>
            <a:r>
              <a:rPr lang="bg-BG" noProof="0" smtClean="0"/>
              <a:t>Second level</a:t>
            </a:r>
          </a:p>
          <a:p>
            <a:pPr lvl="2"/>
            <a:r>
              <a:rPr lang="bg-BG" noProof="0" smtClean="0"/>
              <a:t>Third level</a:t>
            </a:r>
          </a:p>
          <a:p>
            <a:pPr lvl="3"/>
            <a:r>
              <a:rPr lang="bg-BG" noProof="0" smtClean="0"/>
              <a:t>Fourth level</a:t>
            </a:r>
          </a:p>
          <a:p>
            <a:pPr lvl="4"/>
            <a:r>
              <a:rPr lang="bg-BG" noProof="0" smtClean="0"/>
              <a:t>Fifth level</a:t>
            </a:r>
          </a:p>
        </p:txBody>
      </p:sp>
      <p:sp>
        <p:nvSpPr>
          <p:cNvPr id="1454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bg-BG"/>
          </a:p>
        </p:txBody>
      </p:sp>
      <p:sp>
        <p:nvSpPr>
          <p:cNvPr id="1454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8D62766-BCED-40A2-A3E3-C0C1AA6EDD0A}" type="slidenum">
              <a:rPr lang="bg-BG"/>
              <a:pPr>
                <a:defRPr/>
              </a:pPr>
              <a:t>‹#›</a:t>
            </a:fld>
            <a:endParaRPr lang="bg-BG"/>
          </a:p>
        </p:txBody>
      </p:sp>
    </p:spTree>
    <p:extLst>
      <p:ext uri="{BB962C8B-B14F-4D97-AF65-F5344CB8AC3E}">
        <p14:creationId xmlns:p14="http://schemas.microsoft.com/office/powerpoint/2010/main" val="280910429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72843021-0B2A-4D8F-A915-8EFE34E3600B}" type="slidenum">
              <a:rPr lang="bg-BG" smtClean="0"/>
              <a:pPr/>
              <a:t>46</a:t>
            </a:fld>
            <a:endParaRPr lang="bg-BG"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endParaRPr lang="bg-BG"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hangingPunct="1">
              <a:defRPr/>
            </a:pPr>
            <a:endParaRPr lang="en-US"/>
          </a:p>
        </p:txBody>
      </p:sp>
      <p:sp>
        <p:nvSpPr>
          <p:cNvPr id="5" name="Oval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hangingPunct="1">
              <a:defRPr/>
            </a:pPr>
            <a:endParaRPr lang="en-US"/>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smtClean="0"/>
              <a:t>Click to edit Master title style</a:t>
            </a:r>
            <a:endParaRPr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6" name="Date Placeholder 6"/>
          <p:cNvSpPr>
            <a:spLocks noGrp="1"/>
          </p:cNvSpPr>
          <p:nvPr>
            <p:ph type="dt" sz="half" idx="10"/>
          </p:nvPr>
        </p:nvSpPr>
        <p:spPr/>
        <p:txBody>
          <a:bodyPr/>
          <a:lstStyle>
            <a:lvl1pPr>
              <a:defRPr/>
            </a:lvl1pPr>
            <a:extLst/>
          </a:lstStyle>
          <a:p>
            <a:pPr>
              <a:defRPr/>
            </a:pPr>
            <a:endParaRPr lang="en-US"/>
          </a:p>
        </p:txBody>
      </p:sp>
      <p:sp>
        <p:nvSpPr>
          <p:cNvPr id="7" name="Footer Placeholder 19"/>
          <p:cNvSpPr>
            <a:spLocks noGrp="1"/>
          </p:cNvSpPr>
          <p:nvPr>
            <p:ph type="ftr" sz="quarter" idx="11"/>
          </p:nvPr>
        </p:nvSpPr>
        <p:spPr/>
        <p:txBody>
          <a:bodyPr/>
          <a:lstStyle>
            <a:lvl1pPr>
              <a:defRPr/>
            </a:lvl1pPr>
            <a:extLst/>
          </a:lstStyle>
          <a:p>
            <a:pPr>
              <a:defRPr/>
            </a:pPr>
            <a:endParaRPr lang="en-US"/>
          </a:p>
        </p:txBody>
      </p:sp>
      <p:sp>
        <p:nvSpPr>
          <p:cNvPr id="8" name="Slide Number Placeholder 9"/>
          <p:cNvSpPr>
            <a:spLocks noGrp="1"/>
          </p:cNvSpPr>
          <p:nvPr>
            <p:ph type="sldNum" sz="quarter" idx="12"/>
          </p:nvPr>
        </p:nvSpPr>
        <p:spPr/>
        <p:txBody>
          <a:bodyPr/>
          <a:lstStyle>
            <a:lvl1pPr>
              <a:defRPr/>
            </a:lvl1pPr>
            <a:extLst/>
          </a:lstStyle>
          <a:p>
            <a:pPr>
              <a:defRPr/>
            </a:pPr>
            <a:fld id="{055C528E-4E59-4F80-9306-214BDCE72458}"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070186EC-7004-4CA6-BCD2-E40C54FFC4B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6" name="Oval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hangingPunct="1">
              <a:defRPr/>
            </a:pPr>
            <a:endParaRPr lang="en-US"/>
          </a:p>
        </p:txBody>
      </p:sp>
      <p:sp>
        <p:nvSpPr>
          <p:cNvPr id="7" name="Oval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hangingPunct="1">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smtClean="0"/>
              <a:t>Click to edit Master title style</a:t>
            </a:r>
            <a:endParaRPr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8" name="Date Placeholder 3"/>
          <p:cNvSpPr>
            <a:spLocks noGrp="1"/>
          </p:cNvSpPr>
          <p:nvPr>
            <p:ph type="dt" sz="half" idx="10"/>
          </p:nvPr>
        </p:nvSpPr>
        <p:spPr/>
        <p:txBody>
          <a:bodyPr/>
          <a:lstStyle>
            <a:lvl1pPr>
              <a:defRPr/>
            </a:lvl1pPr>
            <a:extLst/>
          </a:lstStyle>
          <a:p>
            <a:pPr>
              <a:defRPr/>
            </a:pPr>
            <a:endParaRPr lang="en-US"/>
          </a:p>
        </p:txBody>
      </p:sp>
      <p:sp>
        <p:nvSpPr>
          <p:cNvPr id="9" name="Footer Placeholder 4"/>
          <p:cNvSpPr>
            <a:spLocks noGrp="1"/>
          </p:cNvSpPr>
          <p:nvPr>
            <p:ph type="ftr" sz="quarter" idx="11"/>
          </p:nvPr>
        </p:nvSpPr>
        <p:spPr/>
        <p:txBody>
          <a:bodyPr/>
          <a:lstStyle>
            <a:lvl1pPr>
              <a:defRPr/>
            </a:lvl1pPr>
            <a:extLst/>
          </a:lstStyle>
          <a:p>
            <a:pPr>
              <a:defRPr/>
            </a:pPr>
            <a:endParaRPr lang="en-US"/>
          </a:p>
        </p:txBody>
      </p:sp>
      <p:sp>
        <p:nvSpPr>
          <p:cNvPr id="10" name="Slide Number Placeholder 5"/>
          <p:cNvSpPr>
            <a:spLocks noGrp="1"/>
          </p:cNvSpPr>
          <p:nvPr>
            <p:ph type="sldNum" sz="quarter" idx="12"/>
          </p:nvPr>
        </p:nvSpPr>
        <p:spPr/>
        <p:txBody>
          <a:bodyPr/>
          <a:lstStyle>
            <a:lvl1pPr>
              <a:defRPr/>
            </a:lvl1pPr>
            <a:extLst/>
          </a:lstStyle>
          <a:p>
            <a:pPr>
              <a:defRPr/>
            </a:pPr>
            <a:fld id="{15472D1C-6C1C-4679-BAF5-8EBA8BF1B1F9}"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3"/>
          <p:cNvSpPr>
            <a:spLocks noGrp="1"/>
          </p:cNvSpPr>
          <p:nvPr>
            <p:ph type="dt" sz="half" idx="10"/>
          </p:nvPr>
        </p:nvSpPr>
        <p:spPr/>
        <p:txBody>
          <a:bodyPr/>
          <a:lstStyle>
            <a:lvl1pPr>
              <a:defRPr/>
            </a:lvl1pPr>
          </a:lstStyle>
          <a:p>
            <a:pPr>
              <a:defRPr/>
            </a:pPr>
            <a:endParaRPr lang="en-US"/>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pPr>
              <a:defRPr/>
            </a:pPr>
            <a:fld id="{1A4B1E7D-CC4A-4E24-8048-DF700DDD851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smtClean="0"/>
              <a:t>Click to edit Master title style</a:t>
            </a:r>
            <a:endParaRPr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FC68E71C-167F-4D52-86E3-0EABC33517B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Date Placeholder 23"/>
          <p:cNvSpPr>
            <a:spLocks noGrp="1"/>
          </p:cNvSpPr>
          <p:nvPr>
            <p:ph type="dt" sz="half" idx="10"/>
          </p:nvPr>
        </p:nvSpPr>
        <p:spPr/>
        <p:txBody>
          <a:bodyPr/>
          <a:lstStyle>
            <a:lvl1pPr>
              <a:defRPr/>
            </a:lvl1pPr>
          </a:lstStyle>
          <a:p>
            <a:pPr>
              <a:defRPr/>
            </a:pPr>
            <a:endParaRPr lang="en-US"/>
          </a:p>
        </p:txBody>
      </p:sp>
      <p:sp>
        <p:nvSpPr>
          <p:cNvPr id="4" name="Footer Placeholder 9"/>
          <p:cNvSpPr>
            <a:spLocks noGrp="1"/>
          </p:cNvSpPr>
          <p:nvPr>
            <p:ph type="ftr" sz="quarter" idx="11"/>
          </p:nvPr>
        </p:nvSpPr>
        <p:spPr/>
        <p:txBody>
          <a:bodyPr/>
          <a:lstStyle>
            <a:lvl1pPr>
              <a:defRPr/>
            </a:lvl1pPr>
          </a:lstStyle>
          <a:p>
            <a:pPr>
              <a:defRPr/>
            </a:pPr>
            <a:endParaRPr lang="en-US"/>
          </a:p>
        </p:txBody>
      </p:sp>
      <p:sp>
        <p:nvSpPr>
          <p:cNvPr id="5" name="Slide Number Placeholder 21"/>
          <p:cNvSpPr>
            <a:spLocks noGrp="1"/>
          </p:cNvSpPr>
          <p:nvPr>
            <p:ph type="sldNum" sz="quarter" idx="12"/>
          </p:nvPr>
        </p:nvSpPr>
        <p:spPr/>
        <p:txBody>
          <a:bodyPr/>
          <a:lstStyle>
            <a:lvl1pPr>
              <a:defRPr/>
            </a:lvl1pPr>
          </a:lstStyle>
          <a:p>
            <a:pPr>
              <a:defRPr/>
            </a:pPr>
            <a:fld id="{ADBD2EDB-82FB-49C3-9282-FE44DD784968}"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3" name="Rectangle 2"/>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4" name="Date Placeholder 1"/>
          <p:cNvSpPr>
            <a:spLocks noGrp="1"/>
          </p:cNvSpPr>
          <p:nvPr>
            <p:ph type="dt" sz="half" idx="10"/>
          </p:nvPr>
        </p:nvSpPr>
        <p:spPr/>
        <p:txBody>
          <a:bodyPr/>
          <a:lstStyle>
            <a:lvl1pPr>
              <a:defRPr/>
            </a:lvl1pPr>
            <a:extLst/>
          </a:lstStyle>
          <a:p>
            <a:pPr>
              <a:defRPr/>
            </a:pPr>
            <a:endParaRPr lang="en-US"/>
          </a:p>
        </p:txBody>
      </p:sp>
      <p:sp>
        <p:nvSpPr>
          <p:cNvPr id="5" name="Footer Placeholder 2"/>
          <p:cNvSpPr>
            <a:spLocks noGrp="1"/>
          </p:cNvSpPr>
          <p:nvPr>
            <p:ph type="ftr" sz="quarter" idx="11"/>
          </p:nvPr>
        </p:nvSpPr>
        <p:spPr/>
        <p:txBody>
          <a:bodyPr/>
          <a:lstStyle>
            <a:lvl1pPr>
              <a:defRPr/>
            </a:lvl1pPr>
            <a:extLst/>
          </a:lstStyle>
          <a:p>
            <a:pPr>
              <a:defRPr/>
            </a:pPr>
            <a:endParaRPr lang="en-US"/>
          </a:p>
        </p:txBody>
      </p:sp>
      <p:sp>
        <p:nvSpPr>
          <p:cNvPr id="6" name="Slide Number Placeholder 3"/>
          <p:cNvSpPr>
            <a:spLocks noGrp="1"/>
          </p:cNvSpPr>
          <p:nvPr>
            <p:ph type="sldNum" sz="quarter" idx="12"/>
          </p:nvPr>
        </p:nvSpPr>
        <p:spPr/>
        <p:txBody>
          <a:bodyPr/>
          <a:lstStyle>
            <a:lvl1pPr>
              <a:defRPr/>
            </a:lvl1pPr>
            <a:extLst/>
          </a:lstStyle>
          <a:p>
            <a:pPr>
              <a:defRPr/>
            </a:pPr>
            <a:fld id="{00EA0161-A3C6-4C7D-8A58-10EB942A901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smtClean="0"/>
              <a:t>Click to edit Master title style</a:t>
            </a:r>
            <a:endParaRPr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F6F5BEAD-E7D5-4F9B-816D-DF6A70ACEB5A}"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extLst/>
          </a:lstStyle>
          <a:p>
            <a:pPr indent="-283464" eaLnBrk="1" hangingPunct="1">
              <a:lnSpc>
                <a:spcPts val="3000"/>
              </a:lnSpc>
              <a:spcBef>
                <a:spcPts val="600"/>
              </a:spcBef>
              <a:buClr>
                <a:schemeClr val="accent1"/>
              </a:buClr>
              <a:buSzPct val="80000"/>
              <a:buFont typeface="Wingdings 2"/>
              <a:buNone/>
              <a:defRPr/>
            </a:pPr>
            <a:endParaRPr lang="en-US" sz="3200">
              <a:latin typeface="+mn-lt"/>
            </a:endParaRPr>
          </a:p>
        </p:txBody>
      </p:sp>
      <p:sp>
        <p:nvSpPr>
          <p:cNvPr id="6" name="Flowchart: Proces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7" name="Flowchart: Proces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smtClean="0"/>
              <a:t>Click to edit Master title style</a:t>
            </a:r>
            <a:endParaRPr lang="en-US"/>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extLst/>
          </a:lstStyle>
          <a:p>
            <a:pPr>
              <a:defRPr/>
            </a:pPr>
            <a:endParaRPr lang="en-US"/>
          </a:p>
        </p:txBody>
      </p:sp>
      <p:sp>
        <p:nvSpPr>
          <p:cNvPr id="9" name="Footer Placeholder 5"/>
          <p:cNvSpPr>
            <a:spLocks noGrp="1"/>
          </p:cNvSpPr>
          <p:nvPr>
            <p:ph type="ftr" sz="quarter" idx="11"/>
          </p:nvPr>
        </p:nvSpPr>
        <p:spPr/>
        <p:txBody>
          <a:bodyPr/>
          <a:lstStyle>
            <a:lvl1pPr>
              <a:defRPr/>
            </a:lvl1pPr>
            <a:extLst/>
          </a:lstStyle>
          <a:p>
            <a:pPr>
              <a:defRPr/>
            </a:pPr>
            <a:endParaRPr lang="en-US"/>
          </a:p>
        </p:txBody>
      </p:sp>
      <p:sp>
        <p:nvSpPr>
          <p:cNvPr id="10" name="Slide Number Placeholder 6"/>
          <p:cNvSpPr>
            <a:spLocks noGrp="1"/>
          </p:cNvSpPr>
          <p:nvPr>
            <p:ph type="sldNum" sz="quarter" idx="12"/>
          </p:nvPr>
        </p:nvSpPr>
        <p:spPr/>
        <p:txBody>
          <a:bodyPr/>
          <a:lstStyle>
            <a:lvl1pPr>
              <a:defRPr/>
            </a:lvl1pPr>
            <a:extLst/>
          </a:lstStyle>
          <a:p>
            <a:pPr>
              <a:defRPr/>
            </a:pPr>
            <a:fld id="{37E3861A-E067-47A9-897D-BAA268DD818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9F4CD911-13E0-4073-A0FD-29B8CB5C6AC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E939E587-F4A5-4033-8CD0-C10E7F68627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extLst/>
          </a:lstStyle>
          <a:p>
            <a:r>
              <a:rPr lang="en-US" smtClean="0"/>
              <a:t>Click to edit Master title style</a:t>
            </a:r>
            <a:endParaRPr lang="en-US"/>
          </a:p>
        </p:txBody>
      </p:sp>
      <p:sp>
        <p:nvSpPr>
          <p:cNvPr id="6153"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pPr>
              <a:defRPr/>
            </a:pPr>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pPr>
              <a:defRPr/>
            </a:pPr>
            <a:endParaRPr lang="en-US"/>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defRPr/>
            </a:pPr>
            <a:fld id="{1D24BF71-A265-40F8-AA91-47DC17E380F2}" type="slidenum">
              <a:rPr lang="en-US"/>
              <a:pPr>
                <a:defRPr/>
              </a:pPr>
              <a:t>‹#›</a:t>
            </a:fld>
            <a:endParaRPr lang="en-US"/>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Tree>
  </p:cSld>
  <p:clrMap bg1="lt1" tx1="dk1" bg2="lt2" tx2="dk2" accent1="accent1" accent2="accent2" accent3="accent3" accent4="accent4" accent5="accent5" accent6="accent6" hlink="hlink" folHlink="folHlink"/>
  <p:sldLayoutIdLst>
    <p:sldLayoutId id="2147483717" r:id="rId1"/>
    <p:sldLayoutId id="2147483712" r:id="rId2"/>
    <p:sldLayoutId id="2147483718" r:id="rId3"/>
    <p:sldLayoutId id="2147483713" r:id="rId4"/>
    <p:sldLayoutId id="2147483719" r:id="rId5"/>
    <p:sldLayoutId id="2147483714" r:id="rId6"/>
    <p:sldLayoutId id="2147483720" r:id="rId7"/>
    <p:sldLayoutId id="2147483721" r:id="rId8"/>
    <p:sldLayoutId id="2147483722" r:id="rId9"/>
    <p:sldLayoutId id="2147483715" r:id="rId10"/>
    <p:sldLayoutId id="2147483716" r:id="rId11"/>
  </p:sldLayoutIdLst>
  <p:hf hdr="0" ftr="0" dt="0"/>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6.wmf"/><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8.wmf"/><Relationship Id="rId5" Type="http://schemas.openxmlformats.org/officeDocument/2006/relationships/oleObject" Target="../embeddings/oleObject8.bin"/><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900113" y="620713"/>
            <a:ext cx="8078787" cy="6019800"/>
          </a:xfrm>
        </p:spPr>
        <p:txBody>
          <a:bodyPr/>
          <a:lstStyle/>
          <a:p>
            <a:pPr eaLnBrk="1" fontAlgn="auto" hangingPunct="1">
              <a:spcAft>
                <a:spcPts val="0"/>
              </a:spcAft>
              <a:defRPr/>
            </a:pPr>
            <a:r>
              <a:rPr lang="en-US" smtClean="0">
                <a:solidFill>
                  <a:schemeClr val="tx2">
                    <a:satMod val="130000"/>
                  </a:schemeClr>
                </a:solidFill>
              </a:rPr>
              <a:t>      </a:t>
            </a:r>
            <a:r>
              <a:rPr lang="bg-BG" smtClean="0">
                <a:solidFill>
                  <a:schemeClr val="tx2">
                    <a:satMod val="130000"/>
                  </a:schemeClr>
                </a:solidFill>
              </a:rPr>
              <a:t>СТРУКТУРИ  </a:t>
            </a:r>
            <a:r>
              <a:rPr lang="bg-BG">
                <a:solidFill>
                  <a:schemeClr val="tx2">
                    <a:satMod val="130000"/>
                  </a:schemeClr>
                </a:solidFill>
              </a:rPr>
              <a:t>ОТ  ДАННИ</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en-US" smtClean="0">
                <a:solidFill>
                  <a:schemeClr val="tx2">
                    <a:satMod val="130000"/>
                  </a:schemeClr>
                </a:solidFill>
              </a:rPr>
              <a:t>  </a:t>
            </a:r>
            <a:r>
              <a:rPr lang="bg-BG" sz="2400" smtClean="0">
                <a:solidFill>
                  <a:schemeClr val="tx2">
                    <a:satMod val="130000"/>
                  </a:schemeClr>
                </a:solidFill>
              </a:rPr>
              <a:t>“</a:t>
            </a:r>
            <a:r>
              <a:rPr lang="bg-BG" sz="2400">
                <a:solidFill>
                  <a:schemeClr val="tx2">
                    <a:satMod val="130000"/>
                  </a:schemeClr>
                </a:solidFill>
              </a:rPr>
              <a:t>АЛГОРИТМИ + СТРУКТУРИ  ОТ  ДАННИ = ПРОГРАМИ”</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Н. УИРТ</a:t>
            </a:r>
            <a:endParaRPr lang="en-US" sz="2400">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3B78DF68-819A-46B0-A546-43D70A906A9B}" type="slidenum">
              <a:rPr lang="en-US" smtClean="0"/>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050"/>
          <p:cNvSpPr>
            <a:spLocks noGrp="1" noChangeArrowheads="1"/>
          </p:cNvSpPr>
          <p:nvPr>
            <p:ph type="title"/>
          </p:nvPr>
        </p:nvSpPr>
        <p:spPr>
          <a:xfrm>
            <a:off x="1435100" y="274638"/>
            <a:ext cx="7499350" cy="1143000"/>
          </a:xfrm>
        </p:spPr>
        <p:txBody>
          <a:bodyPr>
            <a:normAutofit fontScale="90000"/>
          </a:bodyPr>
          <a:lstStyle/>
          <a:p>
            <a:pPr eaLnBrk="1" fontAlgn="auto" hangingPunct="1">
              <a:spcAft>
                <a:spcPts val="0"/>
              </a:spcAft>
              <a:defRPr/>
            </a:pPr>
            <a:r>
              <a:rPr lang="bg-BG">
                <a:solidFill>
                  <a:schemeClr val="tx2">
                    <a:satMod val="130000"/>
                  </a:schemeClr>
                </a:solidFill>
              </a:rPr>
              <a:t>Класификация на данни</a:t>
            </a:r>
            <a:br>
              <a:rPr lang="bg-BG">
                <a:solidFill>
                  <a:schemeClr val="tx2">
                    <a:satMod val="130000"/>
                  </a:schemeClr>
                </a:solidFill>
              </a:rPr>
            </a:br>
            <a:endParaRPr lang="en-US">
              <a:solidFill>
                <a:schemeClr val="tx2">
                  <a:satMod val="130000"/>
                </a:schemeClr>
              </a:solidFill>
            </a:endParaRPr>
          </a:p>
        </p:txBody>
      </p:sp>
      <p:sp>
        <p:nvSpPr>
          <p:cNvPr id="14339" name="Rectangle 2051"/>
          <p:cNvSpPr>
            <a:spLocks noChangeArrowheads="1"/>
          </p:cNvSpPr>
          <p:nvPr/>
        </p:nvSpPr>
        <p:spPr bwMode="auto">
          <a:xfrm>
            <a:off x="3048000" y="1447800"/>
            <a:ext cx="2133600" cy="685800"/>
          </a:xfrm>
          <a:prstGeom prst="rect">
            <a:avLst/>
          </a:prstGeom>
          <a:solidFill>
            <a:schemeClr val="accent1"/>
          </a:solidFill>
          <a:ln w="9525">
            <a:solidFill>
              <a:schemeClr val="tx1"/>
            </a:solidFill>
            <a:miter lim="800000"/>
            <a:headEnd/>
            <a:tailEnd/>
          </a:ln>
        </p:spPr>
        <p:txBody>
          <a:bodyPr wrap="none" anchor="ctr"/>
          <a:lstStyle/>
          <a:p>
            <a:endParaRPr lang="bg-BG"/>
          </a:p>
        </p:txBody>
      </p:sp>
      <p:sp>
        <p:nvSpPr>
          <p:cNvPr id="14340" name="Text Box 2052"/>
          <p:cNvSpPr txBox="1">
            <a:spLocks noChangeArrowheads="1"/>
          </p:cNvSpPr>
          <p:nvPr/>
        </p:nvSpPr>
        <p:spPr bwMode="auto">
          <a:xfrm>
            <a:off x="3124200" y="1524000"/>
            <a:ext cx="1905000" cy="457200"/>
          </a:xfrm>
          <a:prstGeom prst="rect">
            <a:avLst/>
          </a:prstGeom>
          <a:noFill/>
          <a:ln w="9525">
            <a:noFill/>
            <a:miter lim="800000"/>
            <a:headEnd/>
            <a:tailEnd/>
          </a:ln>
        </p:spPr>
        <p:txBody>
          <a:bodyPr>
            <a:spAutoFit/>
          </a:bodyPr>
          <a:lstStyle/>
          <a:p>
            <a:pPr>
              <a:spcBef>
                <a:spcPct val="50000"/>
              </a:spcBef>
            </a:pPr>
            <a:r>
              <a:rPr lang="bg-BG"/>
              <a:t>    ДАННИ</a:t>
            </a:r>
            <a:endParaRPr lang="en-US"/>
          </a:p>
        </p:txBody>
      </p:sp>
      <p:sp>
        <p:nvSpPr>
          <p:cNvPr id="14341" name="Rectangle 2053"/>
          <p:cNvSpPr>
            <a:spLocks noChangeArrowheads="1"/>
          </p:cNvSpPr>
          <p:nvPr/>
        </p:nvSpPr>
        <p:spPr bwMode="auto">
          <a:xfrm>
            <a:off x="1219200" y="2514600"/>
            <a:ext cx="2057400" cy="685800"/>
          </a:xfrm>
          <a:prstGeom prst="rect">
            <a:avLst/>
          </a:prstGeom>
          <a:solidFill>
            <a:schemeClr val="accent1"/>
          </a:solidFill>
          <a:ln w="9525">
            <a:solidFill>
              <a:schemeClr val="tx1"/>
            </a:solidFill>
            <a:miter lim="800000"/>
            <a:headEnd/>
            <a:tailEnd/>
          </a:ln>
        </p:spPr>
        <p:txBody>
          <a:bodyPr wrap="none" anchor="ctr"/>
          <a:lstStyle/>
          <a:p>
            <a:endParaRPr lang="bg-BG"/>
          </a:p>
        </p:txBody>
      </p:sp>
      <p:sp>
        <p:nvSpPr>
          <p:cNvPr id="14342" name="Rectangle 2054"/>
          <p:cNvSpPr>
            <a:spLocks noChangeArrowheads="1"/>
          </p:cNvSpPr>
          <p:nvPr/>
        </p:nvSpPr>
        <p:spPr bwMode="auto">
          <a:xfrm>
            <a:off x="4953000" y="2514600"/>
            <a:ext cx="2514600" cy="838200"/>
          </a:xfrm>
          <a:prstGeom prst="rect">
            <a:avLst/>
          </a:prstGeom>
          <a:solidFill>
            <a:schemeClr val="accent1"/>
          </a:solidFill>
          <a:ln w="9525">
            <a:solidFill>
              <a:schemeClr val="tx1"/>
            </a:solidFill>
            <a:miter lim="800000"/>
            <a:headEnd/>
            <a:tailEnd/>
          </a:ln>
        </p:spPr>
        <p:txBody>
          <a:bodyPr wrap="none" anchor="ctr"/>
          <a:lstStyle/>
          <a:p>
            <a:endParaRPr lang="bg-BG"/>
          </a:p>
        </p:txBody>
      </p:sp>
      <p:sp>
        <p:nvSpPr>
          <p:cNvPr id="14343" name="Text Box 2055"/>
          <p:cNvSpPr txBox="1">
            <a:spLocks noChangeArrowheads="1"/>
          </p:cNvSpPr>
          <p:nvPr/>
        </p:nvSpPr>
        <p:spPr bwMode="auto">
          <a:xfrm>
            <a:off x="1295400" y="2590800"/>
            <a:ext cx="1905000" cy="457200"/>
          </a:xfrm>
          <a:prstGeom prst="rect">
            <a:avLst/>
          </a:prstGeom>
          <a:noFill/>
          <a:ln w="9525">
            <a:noFill/>
            <a:miter lim="800000"/>
            <a:headEnd/>
            <a:tailEnd/>
          </a:ln>
        </p:spPr>
        <p:txBody>
          <a:bodyPr>
            <a:spAutoFit/>
          </a:bodyPr>
          <a:lstStyle/>
          <a:p>
            <a:pPr>
              <a:spcBef>
                <a:spcPct val="50000"/>
              </a:spcBef>
            </a:pPr>
            <a:r>
              <a:rPr lang="bg-BG"/>
              <a:t>  Атомарни</a:t>
            </a:r>
            <a:endParaRPr lang="en-US"/>
          </a:p>
        </p:txBody>
      </p:sp>
      <p:sp>
        <p:nvSpPr>
          <p:cNvPr id="14344" name="Text Box 2056"/>
          <p:cNvSpPr txBox="1">
            <a:spLocks noChangeArrowheads="1"/>
          </p:cNvSpPr>
          <p:nvPr/>
        </p:nvSpPr>
        <p:spPr bwMode="auto">
          <a:xfrm>
            <a:off x="5029200" y="2514600"/>
            <a:ext cx="2362200" cy="822325"/>
          </a:xfrm>
          <a:prstGeom prst="rect">
            <a:avLst/>
          </a:prstGeom>
          <a:noFill/>
          <a:ln w="9525">
            <a:noFill/>
            <a:miter lim="800000"/>
            <a:headEnd/>
            <a:tailEnd/>
          </a:ln>
        </p:spPr>
        <p:txBody>
          <a:bodyPr>
            <a:spAutoFit/>
          </a:bodyPr>
          <a:lstStyle/>
          <a:p>
            <a:pPr algn="ctr">
              <a:spcBef>
                <a:spcPct val="50000"/>
              </a:spcBef>
            </a:pPr>
            <a:r>
              <a:rPr lang="bg-BG"/>
              <a:t>Съставни (структурирани)</a:t>
            </a:r>
            <a:endParaRPr lang="en-US"/>
          </a:p>
        </p:txBody>
      </p:sp>
      <p:sp>
        <p:nvSpPr>
          <p:cNvPr id="14345" name="Rectangle 2057"/>
          <p:cNvSpPr>
            <a:spLocks noChangeArrowheads="1"/>
          </p:cNvSpPr>
          <p:nvPr/>
        </p:nvSpPr>
        <p:spPr bwMode="auto">
          <a:xfrm>
            <a:off x="1371600" y="3581400"/>
            <a:ext cx="1676400" cy="1752600"/>
          </a:xfrm>
          <a:prstGeom prst="rect">
            <a:avLst/>
          </a:prstGeom>
          <a:solidFill>
            <a:schemeClr val="accent1"/>
          </a:solidFill>
          <a:ln w="9525">
            <a:solidFill>
              <a:schemeClr val="tx1"/>
            </a:solidFill>
            <a:miter lim="800000"/>
            <a:headEnd/>
            <a:tailEnd/>
          </a:ln>
        </p:spPr>
        <p:txBody>
          <a:bodyPr wrap="none" anchor="ctr"/>
          <a:lstStyle/>
          <a:p>
            <a:endParaRPr lang="bg-BG"/>
          </a:p>
        </p:txBody>
      </p:sp>
      <p:sp>
        <p:nvSpPr>
          <p:cNvPr id="14346" name="Text Box 2058"/>
          <p:cNvSpPr txBox="1">
            <a:spLocks noChangeArrowheads="1"/>
          </p:cNvSpPr>
          <p:nvPr/>
        </p:nvSpPr>
        <p:spPr bwMode="auto">
          <a:xfrm>
            <a:off x="1346200" y="3581400"/>
            <a:ext cx="1752600" cy="1768475"/>
          </a:xfrm>
          <a:prstGeom prst="rect">
            <a:avLst/>
          </a:prstGeom>
          <a:noFill/>
          <a:ln w="9525">
            <a:noFill/>
            <a:miter lim="800000"/>
            <a:headEnd/>
            <a:tailEnd/>
          </a:ln>
        </p:spPr>
        <p:txBody>
          <a:bodyPr>
            <a:spAutoFit/>
          </a:bodyPr>
          <a:lstStyle/>
          <a:p>
            <a:pPr>
              <a:spcBef>
                <a:spcPct val="50000"/>
              </a:spcBef>
            </a:pPr>
            <a:r>
              <a:rPr lang="bg-BG" sz="2000"/>
              <a:t>- целочислени</a:t>
            </a:r>
          </a:p>
          <a:p>
            <a:pPr>
              <a:spcBef>
                <a:spcPct val="50000"/>
              </a:spcBef>
            </a:pPr>
            <a:r>
              <a:rPr lang="bg-BG" sz="2000"/>
              <a:t>- реални</a:t>
            </a:r>
          </a:p>
          <a:p>
            <a:pPr>
              <a:spcBef>
                <a:spcPct val="50000"/>
              </a:spcBef>
            </a:pPr>
            <a:r>
              <a:rPr lang="bg-BG" sz="2000"/>
              <a:t>- символни</a:t>
            </a:r>
          </a:p>
          <a:p>
            <a:pPr>
              <a:spcBef>
                <a:spcPct val="50000"/>
              </a:spcBef>
            </a:pPr>
            <a:r>
              <a:rPr lang="bg-BG" sz="2000"/>
              <a:t>- логически</a:t>
            </a:r>
            <a:endParaRPr lang="en-US" sz="1800"/>
          </a:p>
        </p:txBody>
      </p:sp>
      <p:sp>
        <p:nvSpPr>
          <p:cNvPr id="14347" name="Rectangle 2059"/>
          <p:cNvSpPr>
            <a:spLocks noChangeArrowheads="1"/>
          </p:cNvSpPr>
          <p:nvPr/>
        </p:nvSpPr>
        <p:spPr bwMode="auto">
          <a:xfrm>
            <a:off x="3810000" y="3581400"/>
            <a:ext cx="1524000" cy="533400"/>
          </a:xfrm>
          <a:prstGeom prst="rect">
            <a:avLst/>
          </a:prstGeom>
          <a:solidFill>
            <a:schemeClr val="accent1"/>
          </a:solidFill>
          <a:ln w="9525">
            <a:solidFill>
              <a:schemeClr val="tx1"/>
            </a:solidFill>
            <a:miter lim="800000"/>
            <a:headEnd/>
            <a:tailEnd/>
          </a:ln>
        </p:spPr>
        <p:txBody>
          <a:bodyPr wrap="none" anchor="ctr"/>
          <a:lstStyle/>
          <a:p>
            <a:endParaRPr lang="bg-BG"/>
          </a:p>
        </p:txBody>
      </p:sp>
      <p:sp>
        <p:nvSpPr>
          <p:cNvPr id="14348" name="Rectangle 2060"/>
          <p:cNvSpPr>
            <a:spLocks noChangeArrowheads="1"/>
          </p:cNvSpPr>
          <p:nvPr/>
        </p:nvSpPr>
        <p:spPr bwMode="auto">
          <a:xfrm>
            <a:off x="6477000" y="3581400"/>
            <a:ext cx="1676400" cy="533400"/>
          </a:xfrm>
          <a:prstGeom prst="rect">
            <a:avLst/>
          </a:prstGeom>
          <a:solidFill>
            <a:schemeClr val="accent1"/>
          </a:solidFill>
          <a:ln w="9525">
            <a:solidFill>
              <a:schemeClr val="tx1"/>
            </a:solidFill>
            <a:miter lim="800000"/>
            <a:headEnd/>
            <a:tailEnd/>
          </a:ln>
        </p:spPr>
        <p:txBody>
          <a:bodyPr wrap="none" anchor="ctr"/>
          <a:lstStyle/>
          <a:p>
            <a:endParaRPr lang="bg-BG"/>
          </a:p>
        </p:txBody>
      </p:sp>
      <p:sp>
        <p:nvSpPr>
          <p:cNvPr id="14349" name="Text Box 2061"/>
          <p:cNvSpPr txBox="1">
            <a:spLocks noChangeArrowheads="1"/>
          </p:cNvSpPr>
          <p:nvPr/>
        </p:nvSpPr>
        <p:spPr bwMode="auto">
          <a:xfrm>
            <a:off x="3886200" y="3581400"/>
            <a:ext cx="1371600" cy="457200"/>
          </a:xfrm>
          <a:prstGeom prst="rect">
            <a:avLst/>
          </a:prstGeom>
          <a:noFill/>
          <a:ln w="9525">
            <a:noFill/>
            <a:miter lim="800000"/>
            <a:headEnd/>
            <a:tailEnd/>
          </a:ln>
        </p:spPr>
        <p:txBody>
          <a:bodyPr>
            <a:spAutoFit/>
          </a:bodyPr>
          <a:lstStyle/>
          <a:p>
            <a:pPr>
              <a:spcBef>
                <a:spcPct val="50000"/>
              </a:spcBef>
            </a:pPr>
            <a:r>
              <a:rPr lang="bg-BG"/>
              <a:t> </a:t>
            </a:r>
            <a:r>
              <a:rPr lang="bg-BG" sz="2200"/>
              <a:t>статични</a:t>
            </a:r>
            <a:endParaRPr lang="en-US"/>
          </a:p>
        </p:txBody>
      </p:sp>
      <p:sp>
        <p:nvSpPr>
          <p:cNvPr id="14350" name="Text Box 2062"/>
          <p:cNvSpPr txBox="1">
            <a:spLocks noChangeArrowheads="1"/>
          </p:cNvSpPr>
          <p:nvPr/>
        </p:nvSpPr>
        <p:spPr bwMode="auto">
          <a:xfrm>
            <a:off x="6477000" y="3581400"/>
            <a:ext cx="1752600" cy="457200"/>
          </a:xfrm>
          <a:prstGeom prst="rect">
            <a:avLst/>
          </a:prstGeom>
          <a:noFill/>
          <a:ln w="9525">
            <a:noFill/>
            <a:miter lim="800000"/>
            <a:headEnd/>
            <a:tailEnd/>
          </a:ln>
        </p:spPr>
        <p:txBody>
          <a:bodyPr>
            <a:spAutoFit/>
          </a:bodyPr>
          <a:lstStyle/>
          <a:p>
            <a:pPr>
              <a:spcBef>
                <a:spcPct val="50000"/>
              </a:spcBef>
            </a:pPr>
            <a:r>
              <a:rPr lang="bg-BG"/>
              <a:t>динамични</a:t>
            </a:r>
            <a:endParaRPr lang="en-US"/>
          </a:p>
        </p:txBody>
      </p:sp>
      <p:sp>
        <p:nvSpPr>
          <p:cNvPr id="14351" name="Rectangle 2063"/>
          <p:cNvSpPr>
            <a:spLocks noChangeArrowheads="1"/>
          </p:cNvSpPr>
          <p:nvPr/>
        </p:nvSpPr>
        <p:spPr bwMode="auto">
          <a:xfrm>
            <a:off x="5943600" y="4343400"/>
            <a:ext cx="1219200" cy="381000"/>
          </a:xfrm>
          <a:prstGeom prst="rect">
            <a:avLst/>
          </a:prstGeom>
          <a:solidFill>
            <a:schemeClr val="accent1"/>
          </a:solidFill>
          <a:ln w="9525">
            <a:solidFill>
              <a:schemeClr val="tx1"/>
            </a:solidFill>
            <a:miter lim="800000"/>
            <a:headEnd/>
            <a:tailEnd/>
          </a:ln>
        </p:spPr>
        <p:txBody>
          <a:bodyPr wrap="none" anchor="ctr"/>
          <a:lstStyle/>
          <a:p>
            <a:endParaRPr lang="bg-BG"/>
          </a:p>
        </p:txBody>
      </p:sp>
      <p:sp>
        <p:nvSpPr>
          <p:cNvPr id="14352" name="Rectangle 2064"/>
          <p:cNvSpPr>
            <a:spLocks noChangeArrowheads="1"/>
          </p:cNvSpPr>
          <p:nvPr/>
        </p:nvSpPr>
        <p:spPr bwMode="auto">
          <a:xfrm>
            <a:off x="7467600" y="4343400"/>
            <a:ext cx="1371600" cy="381000"/>
          </a:xfrm>
          <a:prstGeom prst="rect">
            <a:avLst/>
          </a:prstGeom>
          <a:solidFill>
            <a:schemeClr val="accent1"/>
          </a:solidFill>
          <a:ln w="9525">
            <a:solidFill>
              <a:schemeClr val="tx1"/>
            </a:solidFill>
            <a:miter lim="800000"/>
            <a:headEnd/>
            <a:tailEnd/>
          </a:ln>
        </p:spPr>
        <p:txBody>
          <a:bodyPr wrap="none" anchor="ctr"/>
          <a:lstStyle/>
          <a:p>
            <a:endParaRPr lang="bg-BG"/>
          </a:p>
        </p:txBody>
      </p:sp>
      <p:sp>
        <p:nvSpPr>
          <p:cNvPr id="14353" name="Text Box 2065"/>
          <p:cNvSpPr txBox="1">
            <a:spLocks noChangeArrowheads="1"/>
          </p:cNvSpPr>
          <p:nvPr/>
        </p:nvSpPr>
        <p:spPr bwMode="auto">
          <a:xfrm>
            <a:off x="5943600" y="4343400"/>
            <a:ext cx="1143000" cy="396875"/>
          </a:xfrm>
          <a:prstGeom prst="rect">
            <a:avLst/>
          </a:prstGeom>
          <a:noFill/>
          <a:ln w="9525">
            <a:noFill/>
            <a:miter lim="800000"/>
            <a:headEnd/>
            <a:tailEnd/>
          </a:ln>
        </p:spPr>
        <p:txBody>
          <a:bodyPr>
            <a:spAutoFit/>
          </a:bodyPr>
          <a:lstStyle/>
          <a:p>
            <a:pPr>
              <a:spcBef>
                <a:spcPct val="50000"/>
              </a:spcBef>
            </a:pPr>
            <a:r>
              <a:rPr lang="bg-BG" sz="2000"/>
              <a:t>линейни</a:t>
            </a:r>
            <a:endParaRPr lang="en-US"/>
          </a:p>
        </p:txBody>
      </p:sp>
      <p:sp>
        <p:nvSpPr>
          <p:cNvPr id="14354" name="Text Box 2066"/>
          <p:cNvSpPr txBox="1">
            <a:spLocks noChangeArrowheads="1"/>
          </p:cNvSpPr>
          <p:nvPr/>
        </p:nvSpPr>
        <p:spPr bwMode="auto">
          <a:xfrm>
            <a:off x="7467600" y="4343400"/>
            <a:ext cx="1371600" cy="396875"/>
          </a:xfrm>
          <a:prstGeom prst="rect">
            <a:avLst/>
          </a:prstGeom>
          <a:noFill/>
          <a:ln w="9525">
            <a:noFill/>
            <a:miter lim="800000"/>
            <a:headEnd/>
            <a:tailEnd/>
          </a:ln>
        </p:spPr>
        <p:txBody>
          <a:bodyPr>
            <a:spAutoFit/>
          </a:bodyPr>
          <a:lstStyle/>
          <a:p>
            <a:pPr>
              <a:spcBef>
                <a:spcPct val="50000"/>
              </a:spcBef>
            </a:pPr>
            <a:r>
              <a:rPr lang="bg-BG" sz="2000"/>
              <a:t>нелинейни</a:t>
            </a:r>
            <a:endParaRPr lang="en-US"/>
          </a:p>
        </p:txBody>
      </p:sp>
      <p:sp>
        <p:nvSpPr>
          <p:cNvPr id="14355" name="Rectangle 2067"/>
          <p:cNvSpPr>
            <a:spLocks noChangeArrowheads="1"/>
          </p:cNvSpPr>
          <p:nvPr/>
        </p:nvSpPr>
        <p:spPr bwMode="auto">
          <a:xfrm>
            <a:off x="5943600" y="5105400"/>
            <a:ext cx="1143000" cy="1143000"/>
          </a:xfrm>
          <a:prstGeom prst="rect">
            <a:avLst/>
          </a:prstGeom>
          <a:solidFill>
            <a:schemeClr val="accent1"/>
          </a:solidFill>
          <a:ln w="9525">
            <a:solidFill>
              <a:schemeClr val="tx1"/>
            </a:solidFill>
            <a:miter lim="800000"/>
            <a:headEnd/>
            <a:tailEnd/>
          </a:ln>
        </p:spPr>
        <p:txBody>
          <a:bodyPr wrap="none" anchor="ctr"/>
          <a:lstStyle/>
          <a:p>
            <a:endParaRPr lang="bg-BG"/>
          </a:p>
        </p:txBody>
      </p:sp>
      <p:sp>
        <p:nvSpPr>
          <p:cNvPr id="14356" name="Rectangle 2068"/>
          <p:cNvSpPr>
            <a:spLocks noChangeArrowheads="1"/>
          </p:cNvSpPr>
          <p:nvPr/>
        </p:nvSpPr>
        <p:spPr bwMode="auto">
          <a:xfrm>
            <a:off x="7543800" y="5105400"/>
            <a:ext cx="1143000" cy="1143000"/>
          </a:xfrm>
          <a:prstGeom prst="rect">
            <a:avLst/>
          </a:prstGeom>
          <a:solidFill>
            <a:schemeClr val="accent1"/>
          </a:solidFill>
          <a:ln w="9525">
            <a:solidFill>
              <a:schemeClr val="tx1"/>
            </a:solidFill>
            <a:miter lim="800000"/>
            <a:headEnd/>
            <a:tailEnd/>
          </a:ln>
        </p:spPr>
        <p:txBody>
          <a:bodyPr wrap="none" anchor="ctr"/>
          <a:lstStyle/>
          <a:p>
            <a:endParaRPr lang="bg-BG"/>
          </a:p>
        </p:txBody>
      </p:sp>
      <p:sp>
        <p:nvSpPr>
          <p:cNvPr id="14357" name="Text Box 2069"/>
          <p:cNvSpPr txBox="1">
            <a:spLocks noChangeArrowheads="1"/>
          </p:cNvSpPr>
          <p:nvPr/>
        </p:nvSpPr>
        <p:spPr bwMode="auto">
          <a:xfrm>
            <a:off x="5943600" y="5257800"/>
            <a:ext cx="1524000" cy="917575"/>
          </a:xfrm>
          <a:prstGeom prst="rect">
            <a:avLst/>
          </a:prstGeom>
          <a:noFill/>
          <a:ln w="9525">
            <a:noFill/>
            <a:miter lim="800000"/>
            <a:headEnd/>
            <a:tailEnd/>
          </a:ln>
        </p:spPr>
        <p:txBody>
          <a:bodyPr>
            <a:spAutoFit/>
          </a:bodyPr>
          <a:lstStyle/>
          <a:p>
            <a:pPr>
              <a:lnSpc>
                <a:spcPct val="30000"/>
              </a:lnSpc>
              <a:spcBef>
                <a:spcPct val="50000"/>
              </a:spcBef>
            </a:pPr>
            <a:r>
              <a:rPr lang="bg-BG" sz="2000"/>
              <a:t>- стек</a:t>
            </a:r>
          </a:p>
          <a:p>
            <a:pPr>
              <a:lnSpc>
                <a:spcPct val="30000"/>
              </a:lnSpc>
              <a:spcBef>
                <a:spcPct val="50000"/>
              </a:spcBef>
            </a:pPr>
            <a:r>
              <a:rPr lang="bg-BG" sz="2000"/>
              <a:t>- опашка</a:t>
            </a:r>
          </a:p>
          <a:p>
            <a:pPr>
              <a:lnSpc>
                <a:spcPct val="30000"/>
              </a:lnSpc>
              <a:spcBef>
                <a:spcPct val="50000"/>
              </a:spcBef>
            </a:pPr>
            <a:r>
              <a:rPr lang="bg-BG" sz="2000"/>
              <a:t>- дек</a:t>
            </a:r>
          </a:p>
          <a:p>
            <a:pPr>
              <a:lnSpc>
                <a:spcPct val="30000"/>
              </a:lnSpc>
              <a:spcBef>
                <a:spcPct val="50000"/>
              </a:spcBef>
            </a:pPr>
            <a:r>
              <a:rPr lang="bg-BG" sz="2000"/>
              <a:t>- списък</a:t>
            </a:r>
            <a:endParaRPr lang="en-US"/>
          </a:p>
        </p:txBody>
      </p:sp>
      <p:sp>
        <p:nvSpPr>
          <p:cNvPr id="14358" name="Text Box 2070"/>
          <p:cNvSpPr txBox="1">
            <a:spLocks noChangeArrowheads="1"/>
          </p:cNvSpPr>
          <p:nvPr/>
        </p:nvSpPr>
        <p:spPr bwMode="auto">
          <a:xfrm>
            <a:off x="7620000" y="5334000"/>
            <a:ext cx="1066800" cy="549275"/>
          </a:xfrm>
          <a:prstGeom prst="rect">
            <a:avLst/>
          </a:prstGeom>
          <a:noFill/>
          <a:ln w="9525">
            <a:noFill/>
            <a:miter lim="800000"/>
            <a:headEnd/>
            <a:tailEnd/>
          </a:ln>
        </p:spPr>
        <p:txBody>
          <a:bodyPr>
            <a:spAutoFit/>
          </a:bodyPr>
          <a:lstStyle/>
          <a:p>
            <a:pPr>
              <a:lnSpc>
                <a:spcPct val="50000"/>
              </a:lnSpc>
              <a:spcBef>
                <a:spcPct val="50000"/>
              </a:spcBef>
            </a:pPr>
            <a:r>
              <a:rPr lang="bg-BG" sz="2000"/>
              <a:t>- дърво</a:t>
            </a:r>
          </a:p>
          <a:p>
            <a:pPr>
              <a:lnSpc>
                <a:spcPct val="50000"/>
              </a:lnSpc>
              <a:spcBef>
                <a:spcPct val="50000"/>
              </a:spcBef>
            </a:pPr>
            <a:r>
              <a:rPr lang="bg-BG" sz="2000"/>
              <a:t>- граф</a:t>
            </a:r>
            <a:endParaRPr lang="en-US"/>
          </a:p>
        </p:txBody>
      </p:sp>
      <p:sp>
        <p:nvSpPr>
          <p:cNvPr id="14359" name="Rectangle 2071"/>
          <p:cNvSpPr>
            <a:spLocks noChangeArrowheads="1"/>
          </p:cNvSpPr>
          <p:nvPr/>
        </p:nvSpPr>
        <p:spPr bwMode="auto">
          <a:xfrm>
            <a:off x="3886200" y="4495800"/>
            <a:ext cx="1549400" cy="1752600"/>
          </a:xfrm>
          <a:prstGeom prst="rect">
            <a:avLst/>
          </a:prstGeom>
          <a:solidFill>
            <a:schemeClr val="accent1"/>
          </a:solidFill>
          <a:ln w="9525">
            <a:solidFill>
              <a:schemeClr val="tx1"/>
            </a:solidFill>
            <a:miter lim="800000"/>
            <a:headEnd/>
            <a:tailEnd/>
          </a:ln>
        </p:spPr>
        <p:txBody>
          <a:bodyPr wrap="none" anchor="ctr"/>
          <a:lstStyle/>
          <a:p>
            <a:endParaRPr lang="bg-BG"/>
          </a:p>
        </p:txBody>
      </p:sp>
      <p:sp>
        <p:nvSpPr>
          <p:cNvPr id="14360" name="Text Box 2072"/>
          <p:cNvSpPr txBox="1">
            <a:spLocks noChangeArrowheads="1"/>
          </p:cNvSpPr>
          <p:nvPr/>
        </p:nvSpPr>
        <p:spPr bwMode="auto">
          <a:xfrm>
            <a:off x="3886200" y="4800600"/>
            <a:ext cx="1622425" cy="1169988"/>
          </a:xfrm>
          <a:prstGeom prst="rect">
            <a:avLst/>
          </a:prstGeom>
          <a:noFill/>
          <a:ln w="9525">
            <a:noFill/>
            <a:miter lim="800000"/>
            <a:headEnd/>
            <a:tailEnd/>
          </a:ln>
        </p:spPr>
        <p:txBody>
          <a:bodyPr>
            <a:spAutoFit/>
          </a:bodyPr>
          <a:lstStyle/>
          <a:p>
            <a:pPr>
              <a:lnSpc>
                <a:spcPct val="50000"/>
              </a:lnSpc>
              <a:spcBef>
                <a:spcPct val="50000"/>
              </a:spcBef>
              <a:buFontTx/>
              <a:buChar char="-"/>
            </a:pPr>
            <a:r>
              <a:rPr lang="bg-BG" sz="2000"/>
              <a:t>масив</a:t>
            </a:r>
            <a:endParaRPr lang="en-US" sz="2000"/>
          </a:p>
          <a:p>
            <a:pPr>
              <a:lnSpc>
                <a:spcPct val="50000"/>
              </a:lnSpc>
              <a:spcBef>
                <a:spcPct val="50000"/>
              </a:spcBef>
              <a:buFontTx/>
              <a:buChar char="-"/>
            </a:pPr>
            <a:r>
              <a:rPr lang="en-US" sz="2000"/>
              <a:t> </a:t>
            </a:r>
            <a:r>
              <a:rPr lang="bg-BG" sz="2000"/>
              <a:t>множество</a:t>
            </a:r>
          </a:p>
          <a:p>
            <a:pPr>
              <a:lnSpc>
                <a:spcPct val="50000"/>
              </a:lnSpc>
              <a:spcBef>
                <a:spcPct val="50000"/>
              </a:spcBef>
            </a:pPr>
            <a:r>
              <a:rPr lang="bg-BG" sz="2000"/>
              <a:t>- структура</a:t>
            </a:r>
          </a:p>
          <a:p>
            <a:pPr>
              <a:lnSpc>
                <a:spcPct val="50000"/>
              </a:lnSpc>
              <a:spcBef>
                <a:spcPct val="50000"/>
              </a:spcBef>
            </a:pPr>
            <a:r>
              <a:rPr lang="bg-BG" sz="2000"/>
              <a:t>   и  др.</a:t>
            </a:r>
            <a:endParaRPr lang="en-US" sz="2000"/>
          </a:p>
        </p:txBody>
      </p:sp>
      <p:sp>
        <p:nvSpPr>
          <p:cNvPr id="14361" name="Line 2073"/>
          <p:cNvSpPr>
            <a:spLocks noChangeShapeType="1"/>
          </p:cNvSpPr>
          <p:nvPr/>
        </p:nvSpPr>
        <p:spPr bwMode="auto">
          <a:xfrm flipH="1">
            <a:off x="2819400" y="2133600"/>
            <a:ext cx="1066800" cy="381000"/>
          </a:xfrm>
          <a:prstGeom prst="line">
            <a:avLst/>
          </a:prstGeom>
          <a:noFill/>
          <a:ln w="9525">
            <a:solidFill>
              <a:schemeClr val="tx1"/>
            </a:solidFill>
            <a:round/>
            <a:headEnd/>
            <a:tailEnd type="triangle" w="med" len="med"/>
          </a:ln>
        </p:spPr>
        <p:txBody>
          <a:bodyPr wrap="none" anchor="ctr"/>
          <a:lstStyle/>
          <a:p>
            <a:endParaRPr lang="bg-BG"/>
          </a:p>
        </p:txBody>
      </p:sp>
      <p:sp>
        <p:nvSpPr>
          <p:cNvPr id="14362" name="Line 2074"/>
          <p:cNvSpPr>
            <a:spLocks noChangeShapeType="1"/>
          </p:cNvSpPr>
          <p:nvPr/>
        </p:nvSpPr>
        <p:spPr bwMode="auto">
          <a:xfrm>
            <a:off x="4419600" y="2133600"/>
            <a:ext cx="1143000" cy="381000"/>
          </a:xfrm>
          <a:prstGeom prst="line">
            <a:avLst/>
          </a:prstGeom>
          <a:noFill/>
          <a:ln w="9525">
            <a:solidFill>
              <a:schemeClr val="tx1"/>
            </a:solidFill>
            <a:round/>
            <a:headEnd/>
            <a:tailEnd type="triangle" w="med" len="med"/>
          </a:ln>
        </p:spPr>
        <p:txBody>
          <a:bodyPr wrap="none" anchor="ctr"/>
          <a:lstStyle/>
          <a:p>
            <a:endParaRPr lang="bg-BG"/>
          </a:p>
        </p:txBody>
      </p:sp>
      <p:sp>
        <p:nvSpPr>
          <p:cNvPr id="14363" name="Line 2075"/>
          <p:cNvSpPr>
            <a:spLocks noChangeShapeType="1"/>
          </p:cNvSpPr>
          <p:nvPr/>
        </p:nvSpPr>
        <p:spPr bwMode="auto">
          <a:xfrm>
            <a:off x="2133600" y="3200400"/>
            <a:ext cx="0" cy="381000"/>
          </a:xfrm>
          <a:prstGeom prst="line">
            <a:avLst/>
          </a:prstGeom>
          <a:noFill/>
          <a:ln w="9525">
            <a:solidFill>
              <a:schemeClr val="tx1"/>
            </a:solidFill>
            <a:round/>
            <a:headEnd/>
            <a:tailEnd type="triangle" w="med" len="med"/>
          </a:ln>
        </p:spPr>
        <p:txBody>
          <a:bodyPr wrap="none" anchor="ctr"/>
          <a:lstStyle/>
          <a:p>
            <a:endParaRPr lang="bg-BG"/>
          </a:p>
        </p:txBody>
      </p:sp>
      <p:sp>
        <p:nvSpPr>
          <p:cNvPr id="14364" name="Line 2076"/>
          <p:cNvSpPr>
            <a:spLocks noChangeShapeType="1"/>
          </p:cNvSpPr>
          <p:nvPr/>
        </p:nvSpPr>
        <p:spPr bwMode="auto">
          <a:xfrm flipH="1">
            <a:off x="4648200" y="3352800"/>
            <a:ext cx="1447800" cy="228600"/>
          </a:xfrm>
          <a:prstGeom prst="line">
            <a:avLst/>
          </a:prstGeom>
          <a:noFill/>
          <a:ln w="9525">
            <a:solidFill>
              <a:schemeClr val="tx1"/>
            </a:solidFill>
            <a:round/>
            <a:headEnd/>
            <a:tailEnd type="triangle" w="med" len="med"/>
          </a:ln>
        </p:spPr>
        <p:txBody>
          <a:bodyPr wrap="none" anchor="ctr"/>
          <a:lstStyle/>
          <a:p>
            <a:endParaRPr lang="bg-BG"/>
          </a:p>
        </p:txBody>
      </p:sp>
      <p:sp>
        <p:nvSpPr>
          <p:cNvPr id="14365" name="Line 2077"/>
          <p:cNvSpPr>
            <a:spLocks noChangeShapeType="1"/>
          </p:cNvSpPr>
          <p:nvPr/>
        </p:nvSpPr>
        <p:spPr bwMode="auto">
          <a:xfrm>
            <a:off x="6248400" y="3352800"/>
            <a:ext cx="914400" cy="228600"/>
          </a:xfrm>
          <a:prstGeom prst="line">
            <a:avLst/>
          </a:prstGeom>
          <a:noFill/>
          <a:ln w="9525">
            <a:solidFill>
              <a:schemeClr val="tx1"/>
            </a:solidFill>
            <a:round/>
            <a:headEnd/>
            <a:tailEnd type="triangle" w="med" len="med"/>
          </a:ln>
        </p:spPr>
        <p:txBody>
          <a:bodyPr wrap="none" anchor="ctr"/>
          <a:lstStyle/>
          <a:p>
            <a:endParaRPr lang="bg-BG"/>
          </a:p>
        </p:txBody>
      </p:sp>
      <p:sp>
        <p:nvSpPr>
          <p:cNvPr id="14366" name="Line 2078"/>
          <p:cNvSpPr>
            <a:spLocks noChangeShapeType="1"/>
          </p:cNvSpPr>
          <p:nvPr/>
        </p:nvSpPr>
        <p:spPr bwMode="auto">
          <a:xfrm>
            <a:off x="4495800" y="4114800"/>
            <a:ext cx="0" cy="381000"/>
          </a:xfrm>
          <a:prstGeom prst="line">
            <a:avLst/>
          </a:prstGeom>
          <a:noFill/>
          <a:ln w="9525">
            <a:solidFill>
              <a:schemeClr val="tx1"/>
            </a:solidFill>
            <a:round/>
            <a:headEnd/>
            <a:tailEnd type="triangle" w="med" len="med"/>
          </a:ln>
        </p:spPr>
        <p:txBody>
          <a:bodyPr wrap="none" anchor="ctr"/>
          <a:lstStyle/>
          <a:p>
            <a:endParaRPr lang="bg-BG"/>
          </a:p>
        </p:txBody>
      </p:sp>
      <p:sp>
        <p:nvSpPr>
          <p:cNvPr id="14367" name="Line 2079"/>
          <p:cNvSpPr>
            <a:spLocks noChangeShapeType="1"/>
          </p:cNvSpPr>
          <p:nvPr/>
        </p:nvSpPr>
        <p:spPr bwMode="auto">
          <a:xfrm flipH="1">
            <a:off x="6477000" y="4114800"/>
            <a:ext cx="762000" cy="228600"/>
          </a:xfrm>
          <a:prstGeom prst="line">
            <a:avLst/>
          </a:prstGeom>
          <a:noFill/>
          <a:ln w="9525">
            <a:solidFill>
              <a:schemeClr val="tx1"/>
            </a:solidFill>
            <a:round/>
            <a:headEnd/>
            <a:tailEnd type="triangle" w="med" len="med"/>
          </a:ln>
        </p:spPr>
        <p:txBody>
          <a:bodyPr wrap="none" anchor="ctr"/>
          <a:lstStyle/>
          <a:p>
            <a:endParaRPr lang="bg-BG"/>
          </a:p>
        </p:txBody>
      </p:sp>
      <p:sp>
        <p:nvSpPr>
          <p:cNvPr id="14368" name="Line 2080"/>
          <p:cNvSpPr>
            <a:spLocks noChangeShapeType="1"/>
          </p:cNvSpPr>
          <p:nvPr/>
        </p:nvSpPr>
        <p:spPr bwMode="auto">
          <a:xfrm>
            <a:off x="6477000" y="4724400"/>
            <a:ext cx="0" cy="381000"/>
          </a:xfrm>
          <a:prstGeom prst="line">
            <a:avLst/>
          </a:prstGeom>
          <a:noFill/>
          <a:ln w="9525">
            <a:solidFill>
              <a:schemeClr val="tx1"/>
            </a:solidFill>
            <a:round/>
            <a:headEnd/>
            <a:tailEnd type="triangle" w="med" len="med"/>
          </a:ln>
        </p:spPr>
        <p:txBody>
          <a:bodyPr wrap="none" anchor="ctr"/>
          <a:lstStyle/>
          <a:p>
            <a:endParaRPr lang="bg-BG"/>
          </a:p>
        </p:txBody>
      </p:sp>
      <p:sp>
        <p:nvSpPr>
          <p:cNvPr id="14369" name="Line 2081"/>
          <p:cNvSpPr>
            <a:spLocks noChangeShapeType="1"/>
          </p:cNvSpPr>
          <p:nvPr/>
        </p:nvSpPr>
        <p:spPr bwMode="auto">
          <a:xfrm>
            <a:off x="7543800" y="4114800"/>
            <a:ext cx="533400" cy="228600"/>
          </a:xfrm>
          <a:prstGeom prst="line">
            <a:avLst/>
          </a:prstGeom>
          <a:noFill/>
          <a:ln w="9525">
            <a:solidFill>
              <a:schemeClr val="tx1"/>
            </a:solidFill>
            <a:round/>
            <a:headEnd/>
            <a:tailEnd type="triangle" w="med" len="med"/>
          </a:ln>
        </p:spPr>
        <p:txBody>
          <a:bodyPr wrap="none" anchor="ctr"/>
          <a:lstStyle/>
          <a:p>
            <a:endParaRPr lang="bg-BG"/>
          </a:p>
        </p:txBody>
      </p:sp>
      <p:sp>
        <p:nvSpPr>
          <p:cNvPr id="14370" name="Line 2082"/>
          <p:cNvSpPr>
            <a:spLocks noChangeShapeType="1"/>
          </p:cNvSpPr>
          <p:nvPr/>
        </p:nvSpPr>
        <p:spPr bwMode="auto">
          <a:xfrm>
            <a:off x="8077200" y="4724400"/>
            <a:ext cx="0" cy="381000"/>
          </a:xfrm>
          <a:prstGeom prst="line">
            <a:avLst/>
          </a:prstGeom>
          <a:noFill/>
          <a:ln w="9525">
            <a:solidFill>
              <a:schemeClr val="tx1"/>
            </a:solidFill>
            <a:round/>
            <a:headEnd/>
            <a:tailEnd type="triangle" w="med" len="med"/>
          </a:ln>
        </p:spPr>
        <p:txBody>
          <a:bodyPr wrap="none" anchor="ctr"/>
          <a:lstStyle/>
          <a:p>
            <a:endParaRPr lang="bg-BG"/>
          </a:p>
        </p:txBody>
      </p:sp>
      <p:sp>
        <p:nvSpPr>
          <p:cNvPr id="35" name="Slide Number Placeholder 34"/>
          <p:cNvSpPr>
            <a:spLocks noGrp="1"/>
          </p:cNvSpPr>
          <p:nvPr>
            <p:ph type="sldNum" sz="quarter" idx="12"/>
          </p:nvPr>
        </p:nvSpPr>
        <p:spPr/>
        <p:txBody>
          <a:bodyPr/>
          <a:lstStyle/>
          <a:p>
            <a:pPr>
              <a:defRPr/>
            </a:pPr>
            <a:fld id="{38EA655B-C936-4519-894F-BA79E2299F95}" type="slidenum">
              <a:rPr lang="en-US" smtClean="0"/>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331913" y="2060575"/>
            <a:ext cx="7488237" cy="4321175"/>
          </a:xfrm>
        </p:spPr>
        <p:txBody>
          <a:bodyPr/>
          <a:lstStyle/>
          <a:p>
            <a:pPr eaLnBrk="1" hangingPunct="1">
              <a:defRPr/>
            </a:pPr>
            <a:r>
              <a:rPr lang="bg-BG" sz="2800" smtClean="0"/>
              <a:t>Множествата са колекции, в които няма повтарящи се елементи. </a:t>
            </a:r>
          </a:p>
          <a:p>
            <a:pPr eaLnBrk="1" hangingPunct="1">
              <a:defRPr/>
            </a:pPr>
            <a:r>
              <a:rPr lang="bg-BG" sz="2800" smtClean="0"/>
              <a:t>Освен, че не допуска повтарящи се обекти, друго важно нещо, което отличава множеството от масивите е, че неговите елементи си нямат номер. Елементите на множеството не могат да бъдат достъпвани по някакъв друг ключ, както е при речниците. Самите елементи играят ролята на ключ.</a:t>
            </a:r>
            <a:r>
              <a:rPr lang="en-US" sz="2800" smtClean="0"/>
              <a:t> </a:t>
            </a:r>
          </a:p>
        </p:txBody>
      </p:sp>
      <p:sp>
        <p:nvSpPr>
          <p:cNvPr id="5" name="Rectangle 2"/>
          <p:cNvSpPr>
            <a:spLocks noGrp="1" noChangeArrowheads="1"/>
          </p:cNvSpPr>
          <p:nvPr>
            <p:ph type="ctrTitle"/>
          </p:nvPr>
        </p:nvSpPr>
        <p:spPr>
          <a:xfrm>
            <a:off x="1431925" y="360363"/>
            <a:ext cx="7407275" cy="1471612"/>
          </a:xfrm>
        </p:spPr>
        <p:txBody>
          <a:bodyPr/>
          <a:lstStyle/>
          <a:p>
            <a:pPr eaLnBrk="1" hangingPunct="1">
              <a:defRPr/>
            </a:pPr>
            <a:r>
              <a:rPr lang="bg-BG" smtClean="0"/>
              <a:t>Множество</a:t>
            </a:r>
            <a:endParaRPr lang="en-US" smtClean="0"/>
          </a:p>
        </p:txBody>
      </p:sp>
      <p:sp>
        <p:nvSpPr>
          <p:cNvPr id="6" name="Slide Number Placeholder 5"/>
          <p:cNvSpPr>
            <a:spLocks noGrp="1"/>
          </p:cNvSpPr>
          <p:nvPr>
            <p:ph type="sldNum" sz="quarter" idx="12"/>
          </p:nvPr>
        </p:nvSpPr>
        <p:spPr/>
        <p:txBody>
          <a:bodyPr/>
          <a:lstStyle/>
          <a:p>
            <a:pPr>
              <a:defRPr/>
            </a:pPr>
            <a:fld id="{D9401751-484D-422E-934E-EC3210219095}" type="slidenum">
              <a:rPr lang="en-US" smtClean="0"/>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1435100" y="274638"/>
            <a:ext cx="7499350" cy="6178550"/>
          </a:xfrm>
        </p:spPr>
        <p:txBody>
          <a:bodyPr/>
          <a:lstStyle/>
          <a:p>
            <a:pPr eaLnBrk="1" hangingPunct="1">
              <a:lnSpc>
                <a:spcPct val="130000"/>
              </a:lnSpc>
              <a:defRPr/>
            </a:pPr>
            <a:r>
              <a:rPr lang="bg-BG" sz="3200" smtClean="0"/>
              <a:t>Фактът, че елементът </a:t>
            </a:r>
            <a:r>
              <a:rPr lang="bg-BG" sz="3200" b="1" smtClean="0"/>
              <a:t>а</a:t>
            </a:r>
            <a:r>
              <a:rPr lang="en-US" sz="3200" b="1" baseline="-25000" smtClean="0"/>
              <a:t>i</a:t>
            </a:r>
            <a:r>
              <a:rPr lang="bg-BG" sz="3200" smtClean="0"/>
              <a:t>, </a:t>
            </a:r>
            <a:r>
              <a:rPr lang="en-US" sz="3200" smtClean="0"/>
              <a:t>i =1,2,…, n, </a:t>
            </a:r>
            <a:r>
              <a:rPr lang="bg-BG" sz="3200" smtClean="0"/>
              <a:t>принадлежи на множеството А се обозначава с </a:t>
            </a:r>
            <a:r>
              <a:rPr lang="bg-BG" sz="3200" b="1" smtClean="0"/>
              <a:t>а</a:t>
            </a:r>
            <a:r>
              <a:rPr lang="en-US" sz="3200" b="1" baseline="-25000" smtClean="0"/>
              <a:t>i</a:t>
            </a:r>
            <a:r>
              <a:rPr lang="bg-BG" sz="3200" b="1" baseline="-25000" smtClean="0"/>
              <a:t>      </a:t>
            </a:r>
            <a:r>
              <a:rPr lang="bg-BG" sz="3200" b="1" smtClean="0"/>
              <a:t>А</a:t>
            </a:r>
            <a:r>
              <a:rPr lang="bg-BG" sz="3200" smtClean="0"/>
              <a:t>, а че не принадлежи</a:t>
            </a:r>
            <a:br>
              <a:rPr lang="bg-BG" sz="3200" smtClean="0"/>
            </a:br>
            <a:r>
              <a:rPr lang="bg-BG" sz="3200" smtClean="0"/>
              <a:t> - </a:t>
            </a:r>
            <a:r>
              <a:rPr lang="bg-BG" sz="3200" b="1" smtClean="0"/>
              <a:t>а</a:t>
            </a:r>
            <a:r>
              <a:rPr lang="en-US" sz="3200" b="1" baseline="-25000" smtClean="0"/>
              <a:t>i</a:t>
            </a:r>
            <a:r>
              <a:rPr lang="bg-BG" sz="3200" b="1" baseline="-25000" smtClean="0"/>
              <a:t>     </a:t>
            </a:r>
            <a:r>
              <a:rPr lang="bg-BG" sz="3200" b="1" smtClean="0"/>
              <a:t>А</a:t>
            </a:r>
            <a:r>
              <a:rPr lang="bg-BG" sz="3200" smtClean="0"/>
              <a:t>. </a:t>
            </a:r>
            <a:br>
              <a:rPr lang="bg-BG" sz="3200" smtClean="0"/>
            </a:br>
            <a:r>
              <a:rPr lang="bg-BG" sz="3200" smtClean="0"/>
              <a:t>Броят на елементите на множество се нарича мощност на множеството (</a:t>
            </a:r>
            <a:r>
              <a:rPr lang="en-US" sz="3200" smtClean="0"/>
              <a:t>n)</a:t>
            </a:r>
            <a:r>
              <a:rPr lang="bg-BG" sz="3200" smtClean="0"/>
              <a:t>. </a:t>
            </a:r>
            <a:br>
              <a:rPr lang="bg-BG" sz="3200" smtClean="0"/>
            </a:br>
            <a:r>
              <a:rPr lang="bg-BG" sz="3200" smtClean="0"/>
              <a:t>При </a:t>
            </a:r>
            <a:r>
              <a:rPr lang="en-US" sz="3200" smtClean="0"/>
              <a:t>n=</a:t>
            </a:r>
            <a:r>
              <a:rPr lang="bg-BG" sz="3200" smtClean="0"/>
              <a:t>0 множеството се нарича празно.</a:t>
            </a:r>
            <a:endParaRPr lang="en-US" sz="3200" smtClean="0"/>
          </a:p>
        </p:txBody>
      </p:sp>
      <p:graphicFrame>
        <p:nvGraphicFramePr>
          <p:cNvPr id="1026" name="Object 7"/>
          <p:cNvGraphicFramePr>
            <a:graphicFrameLocks noChangeAspect="1"/>
          </p:cNvGraphicFramePr>
          <p:nvPr/>
        </p:nvGraphicFramePr>
        <p:xfrm>
          <a:off x="4114800" y="2581275"/>
          <a:ext cx="381000" cy="381000"/>
        </p:xfrm>
        <a:graphic>
          <a:graphicData uri="http://schemas.openxmlformats.org/presentationml/2006/ole">
            <mc:AlternateContent xmlns:mc="http://schemas.openxmlformats.org/markup-compatibility/2006">
              <mc:Choice xmlns:v="urn:schemas-microsoft-com:vml" Requires="v">
                <p:oleObj spid="_x0000_s1030" name="Equation" r:id="rId3" imgW="126725" imgH="126725" progId="">
                  <p:embed/>
                </p:oleObj>
              </mc:Choice>
              <mc:Fallback>
                <p:oleObj name="Equation" r:id="rId3" imgW="126725" imgH="126725" progId="">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581275"/>
                        <a:ext cx="381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11"/>
          <p:cNvGraphicFramePr>
            <a:graphicFrameLocks noChangeAspect="1"/>
          </p:cNvGraphicFramePr>
          <p:nvPr/>
        </p:nvGraphicFramePr>
        <p:xfrm>
          <a:off x="2025650" y="3179763"/>
          <a:ext cx="339725" cy="457200"/>
        </p:xfrm>
        <a:graphic>
          <a:graphicData uri="http://schemas.openxmlformats.org/presentationml/2006/ole">
            <mc:AlternateContent xmlns:mc="http://schemas.openxmlformats.org/markup-compatibility/2006">
              <mc:Choice xmlns:v="urn:schemas-microsoft-com:vml" Requires="v">
                <p:oleObj spid="_x0000_s1031" name="Equation" r:id="rId5" imgW="126835" imgH="152202" progId="">
                  <p:embed/>
                </p:oleObj>
              </mc:Choice>
              <mc:Fallback>
                <p:oleObj name="Equation" r:id="rId5" imgW="126835" imgH="152202" progId="">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5650" y="3179763"/>
                        <a:ext cx="3397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Slide Number Placeholder 7"/>
          <p:cNvSpPr>
            <a:spLocks noGrp="1"/>
          </p:cNvSpPr>
          <p:nvPr>
            <p:ph type="sldNum" sz="quarter" idx="12"/>
          </p:nvPr>
        </p:nvSpPr>
        <p:spPr/>
        <p:txBody>
          <a:bodyPr/>
          <a:lstStyle/>
          <a:p>
            <a:pPr>
              <a:defRPr/>
            </a:pPr>
            <a:fld id="{B64534D5-8220-4125-B91F-58AA8982C33D}" type="slidenum">
              <a:rPr lang="en-US" smtClean="0"/>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274638"/>
            <a:ext cx="7499350" cy="6107112"/>
          </a:xfrm>
        </p:spPr>
        <p:txBody>
          <a:bodyPr/>
          <a:lstStyle/>
          <a:p>
            <a:pPr>
              <a:defRPr/>
            </a:pPr>
            <a:r>
              <a:rPr lang="bg-BG" sz="4400" smtClean="0"/>
              <a:t>Диаграма на Вен:</a:t>
            </a:r>
            <a:br>
              <a:rPr lang="bg-BG" sz="4400" smtClean="0"/>
            </a:br>
            <a:r>
              <a:rPr lang="bg-BG" baseline="-25000" smtClean="0"/>
              <a:t/>
            </a:r>
            <a:br>
              <a:rPr lang="bg-BG" baseline="-25000" smtClean="0"/>
            </a:br>
            <a:r>
              <a:rPr lang="bg-BG" smtClean="0"/>
              <a:t/>
            </a:r>
            <a:br>
              <a:rPr lang="bg-BG" smtClean="0"/>
            </a:br>
            <a:r>
              <a:rPr lang="bg-BG" smtClean="0"/>
              <a:t/>
            </a:r>
            <a:br>
              <a:rPr lang="bg-BG" smtClean="0"/>
            </a:br>
            <a:r>
              <a:rPr lang="bg-BG" smtClean="0"/>
              <a:t/>
            </a:r>
            <a:br>
              <a:rPr lang="bg-BG" smtClean="0"/>
            </a:br>
            <a:endParaRPr lang="bg-BG"/>
          </a:p>
        </p:txBody>
      </p:sp>
      <p:grpSp>
        <p:nvGrpSpPr>
          <p:cNvPr id="16387" name="Group 9"/>
          <p:cNvGrpSpPr>
            <a:grpSpLocks/>
          </p:cNvGrpSpPr>
          <p:nvPr/>
        </p:nvGrpSpPr>
        <p:grpSpPr bwMode="auto">
          <a:xfrm>
            <a:off x="3492500" y="2349500"/>
            <a:ext cx="4392613" cy="2438400"/>
            <a:chOff x="3491880" y="2348880"/>
            <a:chExt cx="4392488" cy="2438400"/>
          </a:xfrm>
        </p:grpSpPr>
        <p:sp>
          <p:nvSpPr>
            <p:cNvPr id="16389" name="Oval 5"/>
            <p:cNvSpPr>
              <a:spLocks noChangeArrowheads="1"/>
            </p:cNvSpPr>
            <p:nvPr/>
          </p:nvSpPr>
          <p:spPr bwMode="auto">
            <a:xfrm>
              <a:off x="3491880" y="2348880"/>
              <a:ext cx="2743200" cy="2438400"/>
            </a:xfrm>
            <a:prstGeom prst="ellipse">
              <a:avLst/>
            </a:prstGeom>
            <a:solidFill>
              <a:schemeClr val="accent1"/>
            </a:solidFill>
            <a:ln w="9525">
              <a:solidFill>
                <a:schemeClr val="tx1"/>
              </a:solidFill>
              <a:round/>
              <a:headEnd/>
              <a:tailEnd/>
            </a:ln>
          </p:spPr>
          <p:txBody>
            <a:bodyPr wrap="none" anchor="ctr"/>
            <a:lstStyle/>
            <a:p>
              <a:endParaRPr lang="bg-BG"/>
            </a:p>
          </p:txBody>
        </p:sp>
        <p:sp>
          <p:nvSpPr>
            <p:cNvPr id="16390" name="TextBox 3"/>
            <p:cNvSpPr txBox="1">
              <a:spLocks noChangeArrowheads="1"/>
            </p:cNvSpPr>
            <p:nvPr/>
          </p:nvSpPr>
          <p:spPr bwMode="auto">
            <a:xfrm>
              <a:off x="3995936" y="2852936"/>
              <a:ext cx="720080" cy="461665"/>
            </a:xfrm>
            <a:prstGeom prst="rect">
              <a:avLst/>
            </a:prstGeom>
            <a:noFill/>
            <a:ln w="9525">
              <a:noFill/>
              <a:miter lim="800000"/>
              <a:headEnd/>
              <a:tailEnd/>
            </a:ln>
          </p:spPr>
          <p:txBody>
            <a:bodyPr>
              <a:spAutoFit/>
            </a:bodyPr>
            <a:lstStyle/>
            <a:p>
              <a:r>
                <a:rPr lang="en-US"/>
                <a:t>A</a:t>
              </a:r>
              <a:endParaRPr lang="bg-BG"/>
            </a:p>
          </p:txBody>
        </p:sp>
        <p:sp>
          <p:nvSpPr>
            <p:cNvPr id="16391" name="TextBox 4"/>
            <p:cNvSpPr txBox="1">
              <a:spLocks noChangeArrowheads="1"/>
            </p:cNvSpPr>
            <p:nvPr/>
          </p:nvSpPr>
          <p:spPr bwMode="auto">
            <a:xfrm>
              <a:off x="5292080" y="3356992"/>
              <a:ext cx="504056" cy="461665"/>
            </a:xfrm>
            <a:prstGeom prst="rect">
              <a:avLst/>
            </a:prstGeom>
            <a:noFill/>
            <a:ln w="9525">
              <a:noFill/>
              <a:miter lim="800000"/>
              <a:headEnd/>
              <a:tailEnd/>
            </a:ln>
          </p:spPr>
          <p:txBody>
            <a:bodyPr>
              <a:spAutoFit/>
            </a:bodyPr>
            <a:lstStyle/>
            <a:p>
              <a:r>
                <a:rPr lang="en-US"/>
                <a:t>a</a:t>
              </a:r>
              <a:r>
                <a:rPr lang="en-US" baseline="-25000"/>
                <a:t>1</a:t>
              </a:r>
              <a:endParaRPr lang="bg-BG" baseline="-25000"/>
            </a:p>
          </p:txBody>
        </p:sp>
        <p:sp>
          <p:nvSpPr>
            <p:cNvPr id="16392" name="TextBox 5"/>
            <p:cNvSpPr txBox="1">
              <a:spLocks noChangeArrowheads="1"/>
            </p:cNvSpPr>
            <p:nvPr/>
          </p:nvSpPr>
          <p:spPr bwMode="auto">
            <a:xfrm>
              <a:off x="7236296" y="2708920"/>
              <a:ext cx="648072" cy="830997"/>
            </a:xfrm>
            <a:prstGeom prst="rect">
              <a:avLst/>
            </a:prstGeom>
            <a:noFill/>
            <a:ln w="9525">
              <a:noFill/>
              <a:miter lim="800000"/>
              <a:headEnd/>
              <a:tailEnd/>
            </a:ln>
          </p:spPr>
          <p:txBody>
            <a:bodyPr>
              <a:spAutoFit/>
            </a:bodyPr>
            <a:lstStyle/>
            <a:p>
              <a:r>
                <a:rPr lang="en-US"/>
                <a:t>a</a:t>
              </a:r>
              <a:r>
                <a:rPr lang="en-US" baseline="-25000"/>
                <a:t>n</a:t>
              </a:r>
              <a:endParaRPr lang="bg-BG" baseline="-25000"/>
            </a:p>
            <a:p>
              <a:endParaRPr lang="bg-BG"/>
            </a:p>
          </p:txBody>
        </p:sp>
        <p:sp>
          <p:nvSpPr>
            <p:cNvPr id="8" name="Oval 7"/>
            <p:cNvSpPr/>
            <p:nvPr/>
          </p:nvSpPr>
          <p:spPr>
            <a:xfrm>
              <a:off x="5147596" y="3717305"/>
              <a:ext cx="144458" cy="14446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bg-BG"/>
            </a:p>
          </p:txBody>
        </p:sp>
        <p:sp>
          <p:nvSpPr>
            <p:cNvPr id="9" name="Oval 8"/>
            <p:cNvSpPr/>
            <p:nvPr/>
          </p:nvSpPr>
          <p:spPr>
            <a:xfrm>
              <a:off x="7092228" y="2925143"/>
              <a:ext cx="144459" cy="14446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bg-BG"/>
            </a:p>
          </p:txBody>
        </p:sp>
      </p:grpSp>
      <p:sp>
        <p:nvSpPr>
          <p:cNvPr id="11" name="Slide Number Placeholder 10"/>
          <p:cNvSpPr>
            <a:spLocks noGrp="1"/>
          </p:cNvSpPr>
          <p:nvPr>
            <p:ph type="sldNum" sz="quarter" idx="12"/>
          </p:nvPr>
        </p:nvSpPr>
        <p:spPr/>
        <p:txBody>
          <a:bodyPr/>
          <a:lstStyle/>
          <a:p>
            <a:pPr>
              <a:defRPr/>
            </a:pPr>
            <a:fld id="{300CF93D-3F98-431C-A190-03E3DA2117DA}" type="slidenum">
              <a:rPr lang="en-US" smtClean="0"/>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913" y="549275"/>
            <a:ext cx="7200900" cy="2592388"/>
          </a:xfrm>
        </p:spPr>
        <p:txBody>
          <a:bodyPr>
            <a:normAutofit fontScale="90000"/>
          </a:bodyPr>
          <a:lstStyle/>
          <a:p>
            <a:pPr>
              <a:defRPr/>
            </a:pPr>
            <a:r>
              <a:rPr lang="bg-BG" sz="4400" smtClean="0"/>
              <a:t>Ако всички елементи на дадено множество </a:t>
            </a:r>
            <a:r>
              <a:rPr lang="bg-BG" sz="4400" b="1" smtClean="0"/>
              <a:t>А</a:t>
            </a:r>
            <a:r>
              <a:rPr lang="bg-BG" sz="4400" smtClean="0"/>
              <a:t> са елементи на друго множество </a:t>
            </a:r>
            <a:r>
              <a:rPr lang="bg-BG" sz="4400" b="1" smtClean="0"/>
              <a:t>В</a:t>
            </a:r>
            <a:r>
              <a:rPr lang="bg-BG" sz="4400" smtClean="0"/>
              <a:t>, то </a:t>
            </a:r>
            <a:r>
              <a:rPr lang="bg-BG" sz="4400" b="1" smtClean="0"/>
              <a:t>А</a:t>
            </a:r>
            <a:r>
              <a:rPr lang="bg-BG" sz="4400" smtClean="0"/>
              <a:t> се нарича </a:t>
            </a:r>
            <a:r>
              <a:rPr lang="bg-BG" sz="4400" b="1" i="1" smtClean="0"/>
              <a:t>подмножество</a:t>
            </a:r>
            <a:r>
              <a:rPr lang="bg-BG" sz="4400" smtClean="0"/>
              <a:t> на </a:t>
            </a:r>
            <a:r>
              <a:rPr lang="bg-BG" sz="4400" b="1" smtClean="0"/>
              <a:t>В</a:t>
            </a:r>
            <a:r>
              <a:rPr lang="bg-BG" sz="4400" smtClean="0"/>
              <a:t>:     </a:t>
            </a:r>
            <a:r>
              <a:rPr lang="bg-BG" sz="4400" b="1" smtClean="0"/>
              <a:t>А</a:t>
            </a:r>
            <a:r>
              <a:rPr lang="bg-BG" sz="4400" smtClean="0"/>
              <a:t>     </a:t>
            </a:r>
            <a:r>
              <a:rPr lang="bg-BG" sz="4400" b="1" smtClean="0"/>
              <a:t>В</a:t>
            </a:r>
            <a:endParaRPr lang="bg-BG"/>
          </a:p>
        </p:txBody>
      </p:sp>
      <p:grpSp>
        <p:nvGrpSpPr>
          <p:cNvPr id="2052" name="Group 2"/>
          <p:cNvGrpSpPr>
            <a:grpSpLocks/>
          </p:cNvGrpSpPr>
          <p:nvPr/>
        </p:nvGrpSpPr>
        <p:grpSpPr bwMode="auto">
          <a:xfrm>
            <a:off x="3810000" y="3352800"/>
            <a:ext cx="3276600" cy="2133600"/>
            <a:chOff x="3810000" y="3352800"/>
            <a:chExt cx="3276600" cy="2133600"/>
          </a:xfrm>
        </p:grpSpPr>
        <p:sp>
          <p:nvSpPr>
            <p:cNvPr id="2054" name="Oval 7"/>
            <p:cNvSpPr>
              <a:spLocks noChangeArrowheads="1"/>
            </p:cNvSpPr>
            <p:nvPr/>
          </p:nvSpPr>
          <p:spPr bwMode="auto">
            <a:xfrm>
              <a:off x="3810000" y="3352800"/>
              <a:ext cx="3276600" cy="2133600"/>
            </a:xfrm>
            <a:prstGeom prst="ellipse">
              <a:avLst/>
            </a:prstGeom>
            <a:noFill/>
            <a:ln w="9525">
              <a:solidFill>
                <a:schemeClr val="tx1"/>
              </a:solidFill>
              <a:round/>
              <a:headEnd/>
              <a:tailEnd/>
            </a:ln>
          </p:spPr>
          <p:txBody>
            <a:bodyPr wrap="none" anchor="ctr"/>
            <a:lstStyle/>
            <a:p>
              <a:endParaRPr lang="bg-BG"/>
            </a:p>
          </p:txBody>
        </p:sp>
        <p:sp>
          <p:nvSpPr>
            <p:cNvPr id="2055" name="Oval 8"/>
            <p:cNvSpPr>
              <a:spLocks noChangeArrowheads="1"/>
            </p:cNvSpPr>
            <p:nvPr/>
          </p:nvSpPr>
          <p:spPr bwMode="auto">
            <a:xfrm>
              <a:off x="4876800" y="3810000"/>
              <a:ext cx="1905000" cy="1219200"/>
            </a:xfrm>
            <a:prstGeom prst="ellipse">
              <a:avLst/>
            </a:prstGeom>
            <a:solidFill>
              <a:schemeClr val="accent1"/>
            </a:solidFill>
            <a:ln w="9525">
              <a:solidFill>
                <a:schemeClr val="tx1"/>
              </a:solidFill>
              <a:round/>
              <a:headEnd/>
              <a:tailEnd/>
            </a:ln>
          </p:spPr>
          <p:txBody>
            <a:bodyPr wrap="none" anchor="ctr"/>
            <a:lstStyle/>
            <a:p>
              <a:endParaRPr lang="bg-BG"/>
            </a:p>
          </p:txBody>
        </p:sp>
        <p:sp>
          <p:nvSpPr>
            <p:cNvPr id="2056" name="Text Box 9"/>
            <p:cNvSpPr txBox="1">
              <a:spLocks noChangeArrowheads="1"/>
            </p:cNvSpPr>
            <p:nvPr/>
          </p:nvSpPr>
          <p:spPr bwMode="auto">
            <a:xfrm>
              <a:off x="4267200" y="3657600"/>
              <a:ext cx="533400" cy="519113"/>
            </a:xfrm>
            <a:prstGeom prst="rect">
              <a:avLst/>
            </a:prstGeom>
            <a:noFill/>
            <a:ln w="9525">
              <a:noFill/>
              <a:miter lim="800000"/>
              <a:headEnd/>
              <a:tailEnd/>
            </a:ln>
          </p:spPr>
          <p:txBody>
            <a:bodyPr>
              <a:spAutoFit/>
            </a:bodyPr>
            <a:lstStyle/>
            <a:p>
              <a:pPr>
                <a:spcBef>
                  <a:spcPct val="50000"/>
                </a:spcBef>
              </a:pPr>
              <a:r>
                <a:rPr lang="bg-BG" sz="2800"/>
                <a:t>В</a:t>
              </a:r>
              <a:endParaRPr lang="en-US" sz="2800"/>
            </a:p>
          </p:txBody>
        </p:sp>
        <p:sp>
          <p:nvSpPr>
            <p:cNvPr id="2057" name="Text Box 10"/>
            <p:cNvSpPr txBox="1">
              <a:spLocks noChangeArrowheads="1"/>
            </p:cNvSpPr>
            <p:nvPr/>
          </p:nvSpPr>
          <p:spPr bwMode="auto">
            <a:xfrm>
              <a:off x="6019800" y="4343400"/>
              <a:ext cx="457200" cy="519113"/>
            </a:xfrm>
            <a:prstGeom prst="rect">
              <a:avLst/>
            </a:prstGeom>
            <a:noFill/>
            <a:ln w="9525">
              <a:noFill/>
              <a:miter lim="800000"/>
              <a:headEnd/>
              <a:tailEnd/>
            </a:ln>
          </p:spPr>
          <p:txBody>
            <a:bodyPr>
              <a:spAutoFit/>
            </a:bodyPr>
            <a:lstStyle/>
            <a:p>
              <a:pPr>
                <a:spcBef>
                  <a:spcPct val="50000"/>
                </a:spcBef>
              </a:pPr>
              <a:r>
                <a:rPr lang="bg-BG" sz="2800"/>
                <a:t>А</a:t>
              </a:r>
              <a:endParaRPr lang="en-US" sz="2800"/>
            </a:p>
          </p:txBody>
        </p:sp>
      </p:grpSp>
      <p:graphicFrame>
        <p:nvGraphicFramePr>
          <p:cNvPr id="2050" name="Object 5"/>
          <p:cNvGraphicFramePr>
            <a:graphicFrameLocks noChangeAspect="1"/>
          </p:cNvGraphicFramePr>
          <p:nvPr/>
        </p:nvGraphicFramePr>
        <p:xfrm>
          <a:off x="1763688" y="2852936"/>
          <a:ext cx="431800" cy="431800"/>
        </p:xfrm>
        <a:graphic>
          <a:graphicData uri="http://schemas.openxmlformats.org/presentationml/2006/ole">
            <mc:AlternateContent xmlns:mc="http://schemas.openxmlformats.org/markup-compatibility/2006">
              <mc:Choice xmlns:v="urn:schemas-microsoft-com:vml" Requires="v">
                <p:oleObj spid="_x0000_s2052" name="Equation" r:id="rId3" imgW="152268" imgH="152268" progId="">
                  <p:embed/>
                </p:oleObj>
              </mc:Choice>
              <mc:Fallback>
                <p:oleObj name="Equation" r:id="rId3" imgW="152268" imgH="152268" progId="">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2852936"/>
                        <a:ext cx="4318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2"/>
          </p:nvPr>
        </p:nvSpPr>
        <p:spPr/>
        <p:txBody>
          <a:bodyPr/>
          <a:lstStyle/>
          <a:p>
            <a:pPr>
              <a:defRPr/>
            </a:pPr>
            <a:fld id="{5FD1D373-F126-461F-A485-0EAB47F2B11A}" type="slidenum">
              <a:rPr lang="en-US" smtClean="0"/>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3350" y="404813"/>
            <a:ext cx="7497763" cy="2651125"/>
          </a:xfrm>
        </p:spPr>
        <p:txBody>
          <a:bodyPr>
            <a:noAutofit/>
          </a:bodyPr>
          <a:lstStyle/>
          <a:p>
            <a:pPr>
              <a:defRPr/>
            </a:pPr>
            <a:r>
              <a:rPr lang="bg-BG" sz="3600" smtClean="0"/>
              <a:t>Множеството </a:t>
            </a:r>
            <a:r>
              <a:rPr lang="bg-BG" sz="3600" b="1" smtClean="0"/>
              <a:t>С </a:t>
            </a:r>
            <a:r>
              <a:rPr lang="bg-BG" sz="3600" smtClean="0"/>
              <a:t>се нарича </a:t>
            </a:r>
            <a:r>
              <a:rPr lang="bg-BG" sz="3600" b="1" i="1" smtClean="0"/>
              <a:t>обединение</a:t>
            </a:r>
            <a:r>
              <a:rPr lang="bg-BG" sz="3600" smtClean="0"/>
              <a:t> на множествата </a:t>
            </a:r>
            <a:r>
              <a:rPr lang="bg-BG" sz="3600" b="1" smtClean="0"/>
              <a:t>А</a:t>
            </a:r>
            <a:r>
              <a:rPr lang="bg-BG" sz="3600" smtClean="0"/>
              <a:t> и </a:t>
            </a:r>
            <a:r>
              <a:rPr lang="bg-BG" sz="3600" b="1" smtClean="0"/>
              <a:t>В</a:t>
            </a:r>
            <a:r>
              <a:rPr lang="bg-BG" sz="3600" smtClean="0"/>
              <a:t>, ако се състои от всички елементи </a:t>
            </a:r>
            <a:r>
              <a:rPr lang="bg-BG" sz="3600" b="1" smtClean="0"/>
              <a:t>а</a:t>
            </a:r>
            <a:r>
              <a:rPr lang="bg-BG" sz="3600" smtClean="0"/>
              <a:t> такива, че </a:t>
            </a:r>
            <a:r>
              <a:rPr lang="bg-BG" sz="3600" b="1" smtClean="0"/>
              <a:t>а</a:t>
            </a:r>
            <a:r>
              <a:rPr lang="bg-BG" sz="3600" smtClean="0"/>
              <a:t>       </a:t>
            </a:r>
            <a:r>
              <a:rPr lang="bg-BG" sz="3600" b="1" smtClean="0"/>
              <a:t>А</a:t>
            </a:r>
            <a:r>
              <a:rPr lang="bg-BG" sz="3600" smtClean="0"/>
              <a:t>  и </a:t>
            </a:r>
            <a:r>
              <a:rPr lang="bg-BG" sz="3600" b="1" smtClean="0"/>
              <a:t>а</a:t>
            </a:r>
            <a:r>
              <a:rPr lang="bg-BG" sz="3600" smtClean="0"/>
              <a:t>        </a:t>
            </a:r>
            <a:r>
              <a:rPr lang="bg-BG" sz="3600" b="1" smtClean="0"/>
              <a:t>В</a:t>
            </a:r>
            <a:r>
              <a:rPr lang="bg-BG" sz="3600" smtClean="0"/>
              <a:t>.</a:t>
            </a:r>
            <a:br>
              <a:rPr lang="bg-BG" sz="3600" smtClean="0"/>
            </a:br>
            <a:r>
              <a:rPr lang="bg-BG" sz="3600" smtClean="0"/>
              <a:t> Записва се  </a:t>
            </a:r>
            <a:r>
              <a:rPr lang="bg-BG" sz="3600" b="1" smtClean="0"/>
              <a:t>С = А      В</a:t>
            </a:r>
            <a:endParaRPr lang="bg-BG" sz="3600"/>
          </a:p>
        </p:txBody>
      </p:sp>
      <p:grpSp>
        <p:nvGrpSpPr>
          <p:cNvPr id="3078" name="Group 2"/>
          <p:cNvGrpSpPr>
            <a:grpSpLocks/>
          </p:cNvGrpSpPr>
          <p:nvPr/>
        </p:nvGrpSpPr>
        <p:grpSpPr bwMode="auto">
          <a:xfrm>
            <a:off x="2627313" y="3573463"/>
            <a:ext cx="4446587" cy="2405062"/>
            <a:chOff x="2286000" y="3276600"/>
            <a:chExt cx="4038600" cy="1981200"/>
          </a:xfrm>
        </p:grpSpPr>
        <p:sp>
          <p:nvSpPr>
            <p:cNvPr id="3080" name="Oval 22"/>
            <p:cNvSpPr>
              <a:spLocks noChangeArrowheads="1"/>
            </p:cNvSpPr>
            <p:nvPr/>
          </p:nvSpPr>
          <p:spPr bwMode="auto">
            <a:xfrm>
              <a:off x="4038600" y="3276600"/>
              <a:ext cx="2286000" cy="1905000"/>
            </a:xfrm>
            <a:prstGeom prst="ellipse">
              <a:avLst/>
            </a:prstGeom>
            <a:solidFill>
              <a:schemeClr val="accent1">
                <a:alpha val="54117"/>
              </a:schemeClr>
            </a:solidFill>
            <a:ln w="9525">
              <a:solidFill>
                <a:schemeClr val="tx1"/>
              </a:solidFill>
              <a:round/>
              <a:headEnd/>
              <a:tailEnd/>
            </a:ln>
          </p:spPr>
          <p:txBody>
            <a:bodyPr wrap="none" anchor="ctr"/>
            <a:lstStyle/>
            <a:p>
              <a:endParaRPr lang="bg-BG"/>
            </a:p>
          </p:txBody>
        </p:sp>
        <p:sp>
          <p:nvSpPr>
            <p:cNvPr id="3081" name="Oval 21"/>
            <p:cNvSpPr>
              <a:spLocks noChangeArrowheads="1"/>
            </p:cNvSpPr>
            <p:nvPr/>
          </p:nvSpPr>
          <p:spPr bwMode="auto">
            <a:xfrm>
              <a:off x="2286000" y="3276600"/>
              <a:ext cx="2362200" cy="1981200"/>
            </a:xfrm>
            <a:prstGeom prst="ellipse">
              <a:avLst/>
            </a:prstGeom>
            <a:solidFill>
              <a:schemeClr val="accent1">
                <a:alpha val="61960"/>
              </a:schemeClr>
            </a:solidFill>
            <a:ln w="9525">
              <a:solidFill>
                <a:schemeClr val="tx1"/>
              </a:solidFill>
              <a:round/>
              <a:headEnd/>
              <a:tailEnd/>
            </a:ln>
          </p:spPr>
          <p:txBody>
            <a:bodyPr wrap="none" anchor="ctr"/>
            <a:lstStyle/>
            <a:p>
              <a:endParaRPr lang="bg-BG"/>
            </a:p>
          </p:txBody>
        </p:sp>
        <p:sp>
          <p:nvSpPr>
            <p:cNvPr id="3082" name="Text Box 23"/>
            <p:cNvSpPr txBox="1">
              <a:spLocks noChangeArrowheads="1"/>
            </p:cNvSpPr>
            <p:nvPr/>
          </p:nvSpPr>
          <p:spPr bwMode="auto">
            <a:xfrm>
              <a:off x="2667000" y="3657600"/>
              <a:ext cx="609600" cy="457200"/>
            </a:xfrm>
            <a:prstGeom prst="rect">
              <a:avLst/>
            </a:prstGeom>
            <a:noFill/>
            <a:ln w="9525">
              <a:noFill/>
              <a:miter lim="800000"/>
              <a:headEnd/>
              <a:tailEnd/>
            </a:ln>
          </p:spPr>
          <p:txBody>
            <a:bodyPr>
              <a:spAutoFit/>
            </a:bodyPr>
            <a:lstStyle/>
            <a:p>
              <a:pPr>
                <a:spcBef>
                  <a:spcPct val="50000"/>
                </a:spcBef>
              </a:pPr>
              <a:r>
                <a:rPr lang="bg-BG"/>
                <a:t>А</a:t>
              </a:r>
              <a:endParaRPr lang="en-US"/>
            </a:p>
          </p:txBody>
        </p:sp>
        <p:sp>
          <p:nvSpPr>
            <p:cNvPr id="3083" name="Text Box 24"/>
            <p:cNvSpPr txBox="1">
              <a:spLocks noChangeArrowheads="1"/>
            </p:cNvSpPr>
            <p:nvPr/>
          </p:nvSpPr>
          <p:spPr bwMode="auto">
            <a:xfrm>
              <a:off x="5486400" y="3581400"/>
              <a:ext cx="533400" cy="457200"/>
            </a:xfrm>
            <a:prstGeom prst="rect">
              <a:avLst/>
            </a:prstGeom>
            <a:noFill/>
            <a:ln w="9525">
              <a:noFill/>
              <a:miter lim="800000"/>
              <a:headEnd/>
              <a:tailEnd/>
            </a:ln>
          </p:spPr>
          <p:txBody>
            <a:bodyPr>
              <a:spAutoFit/>
            </a:bodyPr>
            <a:lstStyle/>
            <a:p>
              <a:pPr>
                <a:spcBef>
                  <a:spcPct val="50000"/>
                </a:spcBef>
              </a:pPr>
              <a:r>
                <a:rPr lang="bg-BG"/>
                <a:t>В</a:t>
              </a:r>
              <a:endParaRPr lang="en-US"/>
            </a:p>
          </p:txBody>
        </p:sp>
      </p:grpSp>
      <p:graphicFrame>
        <p:nvGraphicFramePr>
          <p:cNvPr id="3074" name="Object 15"/>
          <p:cNvGraphicFramePr>
            <a:graphicFrameLocks noChangeAspect="1"/>
          </p:cNvGraphicFramePr>
          <p:nvPr/>
        </p:nvGraphicFramePr>
        <p:xfrm>
          <a:off x="3937000" y="2060575"/>
          <a:ext cx="452438" cy="454025"/>
        </p:xfrm>
        <a:graphic>
          <a:graphicData uri="http://schemas.openxmlformats.org/presentationml/2006/ole">
            <mc:AlternateContent xmlns:mc="http://schemas.openxmlformats.org/markup-compatibility/2006">
              <mc:Choice xmlns:v="urn:schemas-microsoft-com:vml" Requires="v">
                <p:oleObj spid="_x0000_s3080" name="Equation" r:id="rId3" imgW="126725" imgH="126725" progId="">
                  <p:embed/>
                </p:oleObj>
              </mc:Choice>
              <mc:Fallback>
                <p:oleObj name="Equation" r:id="rId3" imgW="126725" imgH="1267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7000" y="2060575"/>
                        <a:ext cx="452438"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3"/>
          <p:cNvGraphicFramePr>
            <a:graphicFrameLocks noChangeAspect="1"/>
          </p:cNvGraphicFramePr>
          <p:nvPr/>
        </p:nvGraphicFramePr>
        <p:xfrm>
          <a:off x="5673725" y="2060575"/>
          <a:ext cx="452438" cy="454025"/>
        </p:xfrm>
        <a:graphic>
          <a:graphicData uri="http://schemas.openxmlformats.org/presentationml/2006/ole">
            <mc:AlternateContent xmlns:mc="http://schemas.openxmlformats.org/markup-compatibility/2006">
              <mc:Choice xmlns:v="urn:schemas-microsoft-com:vml" Requires="v">
                <p:oleObj spid="_x0000_s3081" name="Equation" r:id="rId5" imgW="126725" imgH="126725" progId="">
                  <p:embed/>
                </p:oleObj>
              </mc:Choice>
              <mc:Fallback>
                <p:oleObj name="Equation" r:id="rId5" imgW="126725" imgH="126725"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3725" y="2060575"/>
                        <a:ext cx="452438"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19"/>
          <p:cNvGraphicFramePr>
            <a:graphicFrameLocks noChangeAspect="1"/>
          </p:cNvGraphicFramePr>
          <p:nvPr/>
        </p:nvGraphicFramePr>
        <p:xfrm>
          <a:off x="4876800" y="2624138"/>
          <a:ext cx="581025" cy="444500"/>
        </p:xfrm>
        <a:graphic>
          <a:graphicData uri="http://schemas.openxmlformats.org/presentationml/2006/ole">
            <mc:AlternateContent xmlns:mc="http://schemas.openxmlformats.org/markup-compatibility/2006">
              <mc:Choice xmlns:v="urn:schemas-microsoft-com:vml" Requires="v">
                <p:oleObj spid="_x0000_s3082" name="Equation" r:id="rId6" imgW="164814" imgH="126780" progId="">
                  <p:embed/>
                </p:oleObj>
              </mc:Choice>
              <mc:Fallback>
                <p:oleObj name="Equation" r:id="rId6" imgW="164814" imgH="126780" progId="">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6800" y="2624138"/>
                        <a:ext cx="581025"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Slide Number Placeholder 10"/>
          <p:cNvSpPr>
            <a:spLocks noGrp="1"/>
          </p:cNvSpPr>
          <p:nvPr>
            <p:ph type="sldNum" sz="quarter" idx="12"/>
          </p:nvPr>
        </p:nvSpPr>
        <p:spPr/>
        <p:txBody>
          <a:bodyPr/>
          <a:lstStyle/>
          <a:p>
            <a:pPr>
              <a:defRPr/>
            </a:pPr>
            <a:fld id="{9077FD4A-F9E0-4ED3-8B23-1182C489693B}" type="slidenum">
              <a:rPr lang="en-US" smtClean="0"/>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3350" y="765175"/>
            <a:ext cx="7497763" cy="2001838"/>
          </a:xfrm>
        </p:spPr>
        <p:txBody>
          <a:bodyPr>
            <a:noAutofit/>
          </a:bodyPr>
          <a:lstStyle/>
          <a:p>
            <a:pPr>
              <a:defRPr/>
            </a:pPr>
            <a:r>
              <a:rPr lang="bg-BG" sz="3600" b="1" i="1" smtClean="0"/>
              <a:t>Сечение</a:t>
            </a:r>
            <a:r>
              <a:rPr lang="bg-BG" sz="3600" smtClean="0"/>
              <a:t> </a:t>
            </a:r>
            <a:r>
              <a:rPr lang="bg-BG" sz="3600" b="1" smtClean="0"/>
              <a:t>С = А       В</a:t>
            </a:r>
            <a:r>
              <a:rPr lang="bg-BG" sz="3600" smtClean="0"/>
              <a:t> на две множества </a:t>
            </a:r>
            <a:r>
              <a:rPr lang="bg-BG" sz="3600" b="1" smtClean="0"/>
              <a:t>А</a:t>
            </a:r>
            <a:r>
              <a:rPr lang="bg-BG" sz="3600" smtClean="0"/>
              <a:t> и </a:t>
            </a:r>
            <a:r>
              <a:rPr lang="bg-BG" sz="3600" b="1" smtClean="0"/>
              <a:t>В</a:t>
            </a:r>
            <a:r>
              <a:rPr lang="bg-BG" sz="3600" smtClean="0"/>
              <a:t> се нарича множество </a:t>
            </a:r>
            <a:r>
              <a:rPr lang="bg-BG" sz="3600" b="1" smtClean="0"/>
              <a:t>С</a:t>
            </a:r>
            <a:r>
              <a:rPr lang="bg-BG" sz="3600" smtClean="0"/>
              <a:t>, състоящо се от всички елементи, които принадлежат едновременно на </a:t>
            </a:r>
            <a:r>
              <a:rPr lang="bg-BG" sz="3600" b="1" smtClean="0"/>
              <a:t>А</a:t>
            </a:r>
            <a:r>
              <a:rPr lang="bg-BG" sz="3600" smtClean="0"/>
              <a:t> и </a:t>
            </a:r>
            <a:r>
              <a:rPr lang="bg-BG" sz="3600" b="1" smtClean="0"/>
              <a:t>В</a:t>
            </a:r>
            <a:r>
              <a:rPr lang="bg-BG" sz="3600" smtClean="0"/>
              <a:t>.</a:t>
            </a:r>
            <a:endParaRPr lang="bg-BG" sz="3600"/>
          </a:p>
        </p:txBody>
      </p:sp>
      <p:graphicFrame>
        <p:nvGraphicFramePr>
          <p:cNvPr id="4098" name="Object 10"/>
          <p:cNvGraphicFramePr>
            <a:graphicFrameLocks noChangeAspect="1"/>
          </p:cNvGraphicFramePr>
          <p:nvPr/>
        </p:nvGraphicFramePr>
        <p:xfrm>
          <a:off x="2916238" y="3357563"/>
          <a:ext cx="4700587" cy="2689225"/>
        </p:xfrm>
        <a:graphic>
          <a:graphicData uri="http://schemas.openxmlformats.org/presentationml/2006/ole">
            <mc:AlternateContent xmlns:mc="http://schemas.openxmlformats.org/markup-compatibility/2006">
              <mc:Choice xmlns:v="urn:schemas-microsoft-com:vml" Requires="v">
                <p:oleObj spid="_x0000_s4102" name="Visio" r:id="rId3" imgW="4701159" imgH="2689622" progId="Visio.Drawing.11">
                  <p:embed/>
                </p:oleObj>
              </mc:Choice>
              <mc:Fallback>
                <p:oleObj name="Visio" r:id="rId3" imgW="4701159" imgH="2689622" progId="Visio.Drawing.11">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3357563"/>
                        <a:ext cx="4700587" cy="268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9" name="Object 15"/>
          <p:cNvGraphicFramePr>
            <a:graphicFrameLocks noChangeAspect="1"/>
          </p:cNvGraphicFramePr>
          <p:nvPr/>
        </p:nvGraphicFramePr>
        <p:xfrm>
          <a:off x="4186238" y="366713"/>
          <a:ext cx="720725" cy="555625"/>
        </p:xfrm>
        <a:graphic>
          <a:graphicData uri="http://schemas.openxmlformats.org/presentationml/2006/ole">
            <mc:AlternateContent xmlns:mc="http://schemas.openxmlformats.org/markup-compatibility/2006">
              <mc:Choice xmlns:v="urn:schemas-microsoft-com:vml" Requires="v">
                <p:oleObj spid="_x0000_s4103" name="Equation" r:id="rId5" imgW="164814" imgH="126780" progId="">
                  <p:embed/>
                </p:oleObj>
              </mc:Choice>
              <mc:Fallback>
                <p:oleObj name="Equation" r:id="rId5" imgW="164814" imgH="126780" progId="">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6238" y="366713"/>
                        <a:ext cx="720725"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Slide Number Placeholder 4"/>
          <p:cNvSpPr>
            <a:spLocks noGrp="1"/>
          </p:cNvSpPr>
          <p:nvPr>
            <p:ph type="sldNum" sz="quarter" idx="12"/>
          </p:nvPr>
        </p:nvSpPr>
        <p:spPr/>
        <p:txBody>
          <a:bodyPr/>
          <a:lstStyle/>
          <a:p>
            <a:pPr>
              <a:defRPr/>
            </a:pPr>
            <a:fld id="{A23510BE-B27F-4224-9EE4-8020DDB9B326}" type="slidenum">
              <a:rPr lang="en-US" smtClean="0"/>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8888" y="274638"/>
            <a:ext cx="7675562" cy="2722562"/>
          </a:xfrm>
        </p:spPr>
        <p:txBody>
          <a:bodyPr>
            <a:noAutofit/>
          </a:bodyPr>
          <a:lstStyle/>
          <a:p>
            <a:pPr>
              <a:defRPr/>
            </a:pPr>
            <a:r>
              <a:rPr lang="bg-BG" sz="3600" b="1" i="1" smtClean="0"/>
              <a:t>Разлика</a:t>
            </a:r>
            <a:r>
              <a:rPr lang="bg-BG" sz="3600" smtClean="0"/>
              <a:t> </a:t>
            </a:r>
            <a:r>
              <a:rPr lang="bg-BG" sz="3600" b="1" smtClean="0"/>
              <a:t>С=А </a:t>
            </a:r>
            <a:r>
              <a:rPr lang="en-US" sz="3600" b="1" smtClean="0"/>
              <a:t>\</a:t>
            </a:r>
            <a:r>
              <a:rPr lang="bg-BG" sz="3600" b="1" smtClean="0"/>
              <a:t> В</a:t>
            </a:r>
            <a:r>
              <a:rPr lang="bg-BG" sz="3600" smtClean="0"/>
              <a:t> на множествата </a:t>
            </a:r>
            <a:r>
              <a:rPr lang="bg-BG" sz="3600" b="1" smtClean="0"/>
              <a:t>А</a:t>
            </a:r>
            <a:r>
              <a:rPr lang="bg-BG" sz="3600" smtClean="0"/>
              <a:t> и </a:t>
            </a:r>
            <a:r>
              <a:rPr lang="bg-BG" sz="3600" b="1" smtClean="0"/>
              <a:t>В</a:t>
            </a:r>
            <a:r>
              <a:rPr lang="bg-BG" sz="3600" smtClean="0"/>
              <a:t> се нарича множество </a:t>
            </a:r>
            <a:r>
              <a:rPr lang="bg-BG" sz="3600" b="1" smtClean="0"/>
              <a:t>С</a:t>
            </a:r>
            <a:r>
              <a:rPr lang="bg-BG" sz="3600" smtClean="0"/>
              <a:t>, състоящо се от всички елементи, които принадлежат на </a:t>
            </a:r>
            <a:r>
              <a:rPr lang="bg-BG" sz="3600" b="1" smtClean="0"/>
              <a:t>А</a:t>
            </a:r>
            <a:r>
              <a:rPr lang="bg-BG" sz="3600" smtClean="0"/>
              <a:t> и не принадлежат на </a:t>
            </a:r>
            <a:r>
              <a:rPr lang="bg-BG" sz="3600" b="1" smtClean="0"/>
              <a:t>В</a:t>
            </a:r>
            <a:r>
              <a:rPr lang="bg-BG" sz="3600" smtClean="0"/>
              <a:t>.</a:t>
            </a:r>
            <a:endParaRPr lang="bg-BG" sz="3600"/>
          </a:p>
        </p:txBody>
      </p:sp>
      <p:graphicFrame>
        <p:nvGraphicFramePr>
          <p:cNvPr id="5122" name="Object 5"/>
          <p:cNvGraphicFramePr>
            <a:graphicFrameLocks noChangeAspect="1"/>
          </p:cNvGraphicFramePr>
          <p:nvPr/>
        </p:nvGraphicFramePr>
        <p:xfrm>
          <a:off x="2555875" y="3284538"/>
          <a:ext cx="5340350" cy="2963862"/>
        </p:xfrm>
        <a:graphic>
          <a:graphicData uri="http://schemas.openxmlformats.org/presentationml/2006/ole">
            <mc:AlternateContent xmlns:mc="http://schemas.openxmlformats.org/markup-compatibility/2006">
              <mc:Choice xmlns:v="urn:schemas-microsoft-com:vml" Requires="v">
                <p:oleObj spid="_x0000_s5124" name="Visio" r:id="rId3" imgW="5341096" imgH="2963942" progId="Visio.Drawing.11">
                  <p:embed/>
                </p:oleObj>
              </mc:Choice>
              <mc:Fallback>
                <p:oleObj name="Visio" r:id="rId3" imgW="5341096" imgH="2963942"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3284538"/>
                        <a:ext cx="5340350" cy="296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44772766-1E2A-4D0F-9534-637C52DD3C66}" type="slidenum">
              <a:rPr lang="en-US" smtClean="0"/>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6375" y="333375"/>
            <a:ext cx="7497763" cy="6249988"/>
          </a:xfrm>
        </p:spPr>
        <p:txBody>
          <a:bodyPr>
            <a:noAutofit/>
          </a:bodyPr>
          <a:lstStyle/>
          <a:p>
            <a:pPr>
              <a:defRPr/>
            </a:pPr>
            <a:r>
              <a:rPr lang="bg-BG" sz="2400" dirty="0" smtClean="0"/>
              <a:t>Прост пример за използване на множество: Класически алгоритъм </a:t>
            </a:r>
            <a:r>
              <a:rPr lang="bg-BG" sz="2400" b="1" i="1" dirty="0" smtClean="0">
                <a:solidFill>
                  <a:srgbClr val="002060"/>
                </a:solidFill>
              </a:rPr>
              <a:t>сито на </a:t>
            </a:r>
            <a:r>
              <a:rPr lang="bg-BG" sz="2400" b="1" i="1" dirty="0" err="1" smtClean="0">
                <a:solidFill>
                  <a:srgbClr val="002060"/>
                </a:solidFill>
              </a:rPr>
              <a:t>Ератостен</a:t>
            </a:r>
            <a:r>
              <a:rPr lang="bg-BG" sz="2400" b="1" dirty="0" smtClean="0">
                <a:solidFill>
                  <a:srgbClr val="002060"/>
                </a:solidFill>
              </a:rPr>
              <a:t> </a:t>
            </a:r>
            <a:r>
              <a:rPr lang="en-US" sz="2400" dirty="0" smtClean="0"/>
              <a:t>( III</a:t>
            </a:r>
            <a:r>
              <a:rPr lang="bg-BG" sz="2400" dirty="0" smtClean="0"/>
              <a:t> век преди н. е.) за намиране на всички прости числа в интервал от 0 до </a:t>
            </a:r>
            <a:r>
              <a:rPr lang="en-US" sz="2400" b="1" i="1" dirty="0" smtClean="0"/>
              <a:t>n</a:t>
            </a:r>
            <a:r>
              <a:rPr lang="en-US" sz="2400" dirty="0" smtClean="0"/>
              <a:t>:</a:t>
            </a:r>
            <a:r>
              <a:rPr lang="bg-BG" sz="2400" dirty="0" smtClean="0"/>
              <a:t/>
            </a:r>
            <a:br>
              <a:rPr lang="bg-BG" sz="2400" dirty="0" smtClean="0"/>
            </a:br>
            <a:r>
              <a:rPr lang="bg-BG" sz="2400" dirty="0" smtClean="0">
                <a:solidFill>
                  <a:schemeClr val="accent6">
                    <a:lumMod val="75000"/>
                  </a:schemeClr>
                </a:solidFill>
              </a:rPr>
              <a:t>//</a:t>
            </a:r>
            <a:r>
              <a:rPr lang="en-US" sz="2400" dirty="0" smtClean="0">
                <a:solidFill>
                  <a:schemeClr val="accent6">
                    <a:lumMod val="75000"/>
                  </a:schemeClr>
                </a:solidFill>
              </a:rPr>
              <a:t>primes from 1 to n</a:t>
            </a:r>
            <a:br>
              <a:rPr lang="en-US" sz="2400" dirty="0" smtClean="0">
                <a:solidFill>
                  <a:schemeClr val="accent6">
                    <a:lumMod val="75000"/>
                  </a:schemeClr>
                </a:solidFill>
              </a:rPr>
            </a:br>
            <a:r>
              <a:rPr lang="en-US" sz="2400" dirty="0" smtClean="0">
                <a:solidFill>
                  <a:schemeClr val="accent6">
                    <a:lumMod val="75000"/>
                  </a:schemeClr>
                </a:solidFill>
              </a:rPr>
              <a:t>{</a:t>
            </a:r>
            <a:br>
              <a:rPr lang="en-US" sz="2400" dirty="0" smtClean="0">
                <a:solidFill>
                  <a:schemeClr val="accent6">
                    <a:lumMod val="75000"/>
                  </a:schemeClr>
                </a:solidFill>
              </a:rPr>
            </a:br>
            <a:r>
              <a:rPr lang="en-US" sz="2400" dirty="0" smtClean="0">
                <a:solidFill>
                  <a:schemeClr val="accent6">
                    <a:lumMod val="75000"/>
                  </a:schemeClr>
                </a:solidFill>
              </a:rPr>
              <a:t>     F=[ ];</a:t>
            </a:r>
            <a:br>
              <a:rPr lang="en-US" sz="2400" dirty="0" smtClean="0">
                <a:solidFill>
                  <a:schemeClr val="accent6">
                    <a:lumMod val="75000"/>
                  </a:schemeClr>
                </a:solidFill>
              </a:rPr>
            </a:br>
            <a:r>
              <a:rPr lang="en-US" sz="2400" dirty="0" smtClean="0">
                <a:solidFill>
                  <a:schemeClr val="accent6">
                    <a:lumMod val="75000"/>
                  </a:schemeClr>
                </a:solidFill>
              </a:rPr>
              <a:t>     for (</a:t>
            </a:r>
            <a:r>
              <a:rPr lang="en-US" sz="2400" dirty="0" err="1" smtClean="0">
                <a:solidFill>
                  <a:schemeClr val="accent6">
                    <a:lumMod val="75000"/>
                  </a:schemeClr>
                </a:solidFill>
              </a:rPr>
              <a:t>i</a:t>
            </a:r>
            <a:r>
              <a:rPr lang="en-US" sz="2400" dirty="0" smtClean="0">
                <a:solidFill>
                  <a:schemeClr val="accent6">
                    <a:lumMod val="75000"/>
                  </a:schemeClr>
                </a:solidFill>
              </a:rPr>
              <a:t>=2; </a:t>
            </a:r>
            <a:r>
              <a:rPr lang="en-US" sz="2400" dirty="0" err="1" smtClean="0">
                <a:solidFill>
                  <a:schemeClr val="accent6">
                    <a:lumMod val="75000"/>
                  </a:schemeClr>
                </a:solidFill>
              </a:rPr>
              <a:t>i</a:t>
            </a:r>
            <a:r>
              <a:rPr lang="en-US" sz="2400" dirty="0" smtClean="0">
                <a:solidFill>
                  <a:schemeClr val="accent6">
                    <a:lumMod val="75000"/>
                  </a:schemeClr>
                </a:solidFill>
              </a:rPr>
              <a:t>&lt;n; </a:t>
            </a:r>
            <a:r>
              <a:rPr lang="en-US" sz="2400" dirty="0" err="1" smtClean="0">
                <a:solidFill>
                  <a:schemeClr val="accent6">
                    <a:lumMod val="75000"/>
                  </a:schemeClr>
                </a:solidFill>
              </a:rPr>
              <a:t>i</a:t>
            </a:r>
            <a:r>
              <a:rPr lang="en-US" sz="2400" dirty="0" smtClean="0">
                <a:solidFill>
                  <a:schemeClr val="accent6">
                    <a:lumMod val="75000"/>
                  </a:schemeClr>
                </a:solidFill>
              </a:rPr>
              <a:t>++)</a:t>
            </a:r>
            <a:br>
              <a:rPr lang="en-US" sz="2400" dirty="0" smtClean="0">
                <a:solidFill>
                  <a:schemeClr val="accent6">
                    <a:lumMod val="75000"/>
                  </a:schemeClr>
                </a:solidFill>
              </a:rPr>
            </a:br>
            <a:r>
              <a:rPr lang="en-US" sz="2400" dirty="0" smtClean="0">
                <a:solidFill>
                  <a:schemeClr val="accent6">
                    <a:lumMod val="75000"/>
                  </a:schemeClr>
                </a:solidFill>
              </a:rPr>
              <a:t>        F=F+[</a:t>
            </a:r>
            <a:r>
              <a:rPr lang="en-US" sz="2400" dirty="0" err="1" smtClean="0">
                <a:solidFill>
                  <a:schemeClr val="accent6">
                    <a:lumMod val="75000"/>
                  </a:schemeClr>
                </a:solidFill>
              </a:rPr>
              <a:t>i</a:t>
            </a:r>
            <a:r>
              <a:rPr lang="en-US" sz="2400" dirty="0" smtClean="0">
                <a:solidFill>
                  <a:schemeClr val="accent6">
                    <a:lumMod val="75000"/>
                  </a:schemeClr>
                </a:solidFill>
              </a:rPr>
              <a:t>];</a:t>
            </a:r>
            <a:br>
              <a:rPr lang="en-US" sz="2400" dirty="0" smtClean="0">
                <a:solidFill>
                  <a:schemeClr val="accent6">
                    <a:lumMod val="75000"/>
                  </a:schemeClr>
                </a:solidFill>
              </a:rPr>
            </a:br>
            <a:r>
              <a:rPr lang="en-US" sz="2400" dirty="0" smtClean="0">
                <a:solidFill>
                  <a:schemeClr val="accent6">
                    <a:lumMod val="75000"/>
                  </a:schemeClr>
                </a:solidFill>
              </a:rPr>
              <a:t>     for (</a:t>
            </a:r>
            <a:r>
              <a:rPr lang="en-US" sz="2400" dirty="0" err="1" smtClean="0">
                <a:solidFill>
                  <a:schemeClr val="accent6">
                    <a:lumMod val="75000"/>
                  </a:schemeClr>
                </a:solidFill>
              </a:rPr>
              <a:t>i</a:t>
            </a:r>
            <a:r>
              <a:rPr lang="en-US" sz="2400" dirty="0" smtClean="0">
                <a:solidFill>
                  <a:schemeClr val="accent6">
                    <a:lumMod val="75000"/>
                  </a:schemeClr>
                </a:solidFill>
              </a:rPr>
              <a:t>=2; </a:t>
            </a:r>
            <a:r>
              <a:rPr lang="en-US" sz="2400" dirty="0" err="1" smtClean="0">
                <a:solidFill>
                  <a:schemeClr val="accent6">
                    <a:lumMod val="75000"/>
                  </a:schemeClr>
                </a:solidFill>
              </a:rPr>
              <a:t>i</a:t>
            </a:r>
            <a:r>
              <a:rPr lang="en-US" sz="2400" dirty="0" smtClean="0">
                <a:solidFill>
                  <a:schemeClr val="accent6">
                    <a:lumMod val="75000"/>
                  </a:schemeClr>
                </a:solidFill>
              </a:rPr>
              <a:t>&lt;n; </a:t>
            </a:r>
            <a:r>
              <a:rPr lang="en-US" sz="2400" dirty="0" err="1" smtClean="0">
                <a:solidFill>
                  <a:schemeClr val="accent6">
                    <a:lumMod val="75000"/>
                  </a:schemeClr>
                </a:solidFill>
              </a:rPr>
              <a:t>i</a:t>
            </a:r>
            <a:r>
              <a:rPr lang="en-US" sz="2400" dirty="0" smtClean="0">
                <a:solidFill>
                  <a:schemeClr val="accent6">
                    <a:lumMod val="75000"/>
                  </a:schemeClr>
                </a:solidFill>
              </a:rPr>
              <a:t>++)</a:t>
            </a:r>
            <a:br>
              <a:rPr lang="en-US" sz="2400" dirty="0" smtClean="0">
                <a:solidFill>
                  <a:schemeClr val="accent6">
                    <a:lumMod val="75000"/>
                  </a:schemeClr>
                </a:solidFill>
              </a:rPr>
            </a:br>
            <a:r>
              <a:rPr lang="en-US" sz="2400" dirty="0" smtClean="0">
                <a:solidFill>
                  <a:schemeClr val="accent6">
                    <a:lumMod val="75000"/>
                  </a:schemeClr>
                </a:solidFill>
              </a:rPr>
              <a:t>	 if (</a:t>
            </a:r>
            <a:r>
              <a:rPr lang="en-US" sz="2400" dirty="0" err="1" smtClean="0">
                <a:solidFill>
                  <a:schemeClr val="accent6">
                    <a:lumMod val="75000"/>
                  </a:schemeClr>
                </a:solidFill>
              </a:rPr>
              <a:t>i</a:t>
            </a:r>
            <a:r>
              <a:rPr lang="en-US" sz="2400" dirty="0" smtClean="0">
                <a:solidFill>
                  <a:schemeClr val="accent6">
                    <a:lumMod val="75000"/>
                  </a:schemeClr>
                </a:solidFill>
              </a:rPr>
              <a:t> in F)</a:t>
            </a:r>
            <a:br>
              <a:rPr lang="en-US" sz="2400" dirty="0" smtClean="0">
                <a:solidFill>
                  <a:schemeClr val="accent6">
                    <a:lumMod val="75000"/>
                  </a:schemeClr>
                </a:solidFill>
              </a:rPr>
            </a:br>
            <a:r>
              <a:rPr lang="en-US" sz="2400" dirty="0" smtClean="0">
                <a:solidFill>
                  <a:schemeClr val="accent6">
                    <a:lumMod val="75000"/>
                  </a:schemeClr>
                </a:solidFill>
              </a:rPr>
              <a:t>		 for (j=</a:t>
            </a:r>
            <a:r>
              <a:rPr lang="en-US" sz="2400" dirty="0" err="1" smtClean="0">
                <a:solidFill>
                  <a:schemeClr val="accent6">
                    <a:lumMod val="75000"/>
                  </a:schemeClr>
                </a:solidFill>
              </a:rPr>
              <a:t>i</a:t>
            </a:r>
            <a:r>
              <a:rPr lang="en-US" sz="2400" dirty="0" smtClean="0">
                <a:solidFill>
                  <a:schemeClr val="accent6">
                    <a:lumMod val="75000"/>
                  </a:schemeClr>
                </a:solidFill>
              </a:rPr>
              <a:t>; j*</a:t>
            </a:r>
            <a:r>
              <a:rPr lang="en-US" sz="2400" dirty="0" err="1" smtClean="0">
                <a:solidFill>
                  <a:schemeClr val="accent6">
                    <a:lumMod val="75000"/>
                  </a:schemeClr>
                </a:solidFill>
              </a:rPr>
              <a:t>i</a:t>
            </a:r>
            <a:r>
              <a:rPr lang="en-US" sz="2400" dirty="0" smtClean="0">
                <a:solidFill>
                  <a:schemeClr val="accent6">
                    <a:lumMod val="75000"/>
                  </a:schemeClr>
                </a:solidFill>
              </a:rPr>
              <a:t>&lt;n; </a:t>
            </a:r>
            <a:r>
              <a:rPr lang="en-US" sz="2400" dirty="0" err="1" smtClean="0">
                <a:solidFill>
                  <a:schemeClr val="accent6">
                    <a:lumMod val="75000"/>
                  </a:schemeClr>
                </a:solidFill>
              </a:rPr>
              <a:t>j++</a:t>
            </a:r>
            <a:r>
              <a:rPr lang="en-US" sz="2400" dirty="0" smtClean="0">
                <a:solidFill>
                  <a:schemeClr val="accent6">
                    <a:lumMod val="75000"/>
                  </a:schemeClr>
                </a:solidFill>
              </a:rPr>
              <a:t>)</a:t>
            </a:r>
            <a:br>
              <a:rPr lang="en-US" sz="2400" dirty="0" smtClean="0">
                <a:solidFill>
                  <a:schemeClr val="accent6">
                    <a:lumMod val="75000"/>
                  </a:schemeClr>
                </a:solidFill>
              </a:rPr>
            </a:br>
            <a:r>
              <a:rPr lang="en-US" sz="2400" dirty="0" smtClean="0">
                <a:solidFill>
                  <a:schemeClr val="accent6">
                    <a:lumMod val="75000"/>
                  </a:schemeClr>
                </a:solidFill>
              </a:rPr>
              <a:t>			F=F-[</a:t>
            </a:r>
            <a:r>
              <a:rPr lang="en-US" sz="2400" dirty="0" err="1" smtClean="0">
                <a:solidFill>
                  <a:schemeClr val="accent6">
                    <a:lumMod val="75000"/>
                  </a:schemeClr>
                </a:solidFill>
              </a:rPr>
              <a:t>i</a:t>
            </a:r>
            <a:r>
              <a:rPr lang="en-US" sz="2400" dirty="0" smtClean="0">
                <a:solidFill>
                  <a:schemeClr val="accent6">
                    <a:lumMod val="75000"/>
                  </a:schemeClr>
                </a:solidFill>
              </a:rPr>
              <a:t>*j];</a:t>
            </a:r>
            <a:br>
              <a:rPr lang="en-US" sz="2400" dirty="0" smtClean="0">
                <a:solidFill>
                  <a:schemeClr val="accent6">
                    <a:lumMod val="75000"/>
                  </a:schemeClr>
                </a:solidFill>
              </a:rPr>
            </a:br>
            <a:r>
              <a:rPr lang="en-US" sz="2400" dirty="0" smtClean="0">
                <a:solidFill>
                  <a:schemeClr val="accent6">
                    <a:lumMod val="75000"/>
                  </a:schemeClr>
                </a:solidFill>
              </a:rPr>
              <a:t>     for (</a:t>
            </a:r>
            <a:r>
              <a:rPr lang="en-US" sz="2400" dirty="0" err="1" smtClean="0">
                <a:solidFill>
                  <a:schemeClr val="accent6">
                    <a:lumMod val="75000"/>
                  </a:schemeClr>
                </a:solidFill>
              </a:rPr>
              <a:t>i</a:t>
            </a:r>
            <a:r>
              <a:rPr lang="en-US" sz="2400" dirty="0" smtClean="0">
                <a:solidFill>
                  <a:schemeClr val="accent6">
                    <a:lumMod val="75000"/>
                  </a:schemeClr>
                </a:solidFill>
              </a:rPr>
              <a:t>=2; </a:t>
            </a:r>
            <a:r>
              <a:rPr lang="en-US" sz="2400" dirty="0" err="1" smtClean="0">
                <a:solidFill>
                  <a:schemeClr val="accent6">
                    <a:lumMod val="75000"/>
                  </a:schemeClr>
                </a:solidFill>
              </a:rPr>
              <a:t>i</a:t>
            </a:r>
            <a:r>
              <a:rPr lang="en-US" sz="2400" dirty="0" smtClean="0">
                <a:solidFill>
                  <a:schemeClr val="accent6">
                    <a:lumMod val="75000"/>
                  </a:schemeClr>
                </a:solidFill>
              </a:rPr>
              <a:t>&lt;n; </a:t>
            </a:r>
            <a:r>
              <a:rPr lang="en-US" sz="2400" dirty="0" err="1" smtClean="0">
                <a:solidFill>
                  <a:schemeClr val="accent6">
                    <a:lumMod val="75000"/>
                  </a:schemeClr>
                </a:solidFill>
              </a:rPr>
              <a:t>i</a:t>
            </a:r>
            <a:r>
              <a:rPr lang="en-US" sz="2400" dirty="0" smtClean="0">
                <a:solidFill>
                  <a:schemeClr val="accent6">
                    <a:lumMod val="75000"/>
                  </a:schemeClr>
                </a:solidFill>
              </a:rPr>
              <a:t>++)</a:t>
            </a:r>
            <a:br>
              <a:rPr lang="en-US" sz="2400" dirty="0" smtClean="0">
                <a:solidFill>
                  <a:schemeClr val="accent6">
                    <a:lumMod val="75000"/>
                  </a:schemeClr>
                </a:solidFill>
              </a:rPr>
            </a:br>
            <a:r>
              <a:rPr lang="en-US" sz="2400" dirty="0" smtClean="0">
                <a:solidFill>
                  <a:schemeClr val="accent6">
                    <a:lumMod val="75000"/>
                  </a:schemeClr>
                </a:solidFill>
              </a:rPr>
              <a:t>	 if (</a:t>
            </a:r>
            <a:r>
              <a:rPr lang="en-US" sz="2400" dirty="0" err="1" smtClean="0">
                <a:solidFill>
                  <a:schemeClr val="accent6">
                    <a:lumMod val="75000"/>
                  </a:schemeClr>
                </a:solidFill>
              </a:rPr>
              <a:t>i</a:t>
            </a:r>
            <a:r>
              <a:rPr lang="en-US" sz="2400" dirty="0" smtClean="0">
                <a:solidFill>
                  <a:schemeClr val="accent6">
                    <a:lumMod val="75000"/>
                  </a:schemeClr>
                </a:solidFill>
              </a:rPr>
              <a:t> in F)</a:t>
            </a:r>
            <a:br>
              <a:rPr lang="en-US" sz="2400" dirty="0" smtClean="0">
                <a:solidFill>
                  <a:schemeClr val="accent6">
                    <a:lumMod val="75000"/>
                  </a:schemeClr>
                </a:solidFill>
              </a:rPr>
            </a:br>
            <a:r>
              <a:rPr lang="en-US" sz="2400" dirty="0" smtClean="0">
                <a:solidFill>
                  <a:schemeClr val="accent6">
                    <a:lumMod val="75000"/>
                  </a:schemeClr>
                </a:solidFill>
              </a:rPr>
              <a:t>		print </a:t>
            </a:r>
            <a:r>
              <a:rPr lang="en-US" sz="2400" dirty="0" err="1" smtClean="0">
                <a:solidFill>
                  <a:schemeClr val="accent6">
                    <a:lumMod val="75000"/>
                  </a:schemeClr>
                </a:solidFill>
              </a:rPr>
              <a:t>i</a:t>
            </a:r>
            <a:r>
              <a:rPr lang="en-US" sz="2400" dirty="0" smtClean="0">
                <a:solidFill>
                  <a:schemeClr val="accent6">
                    <a:lumMod val="75000"/>
                  </a:schemeClr>
                </a:solidFill>
              </a:rPr>
              <a:t>;</a:t>
            </a:r>
            <a:br>
              <a:rPr lang="en-US" sz="2400" dirty="0" smtClean="0">
                <a:solidFill>
                  <a:schemeClr val="accent6">
                    <a:lumMod val="75000"/>
                  </a:schemeClr>
                </a:solidFill>
              </a:rPr>
            </a:br>
            <a:r>
              <a:rPr lang="en-US" sz="2400" dirty="0" smtClean="0">
                <a:solidFill>
                  <a:schemeClr val="accent6">
                    <a:lumMod val="75000"/>
                  </a:schemeClr>
                </a:solidFill>
              </a:rPr>
              <a:t>}</a:t>
            </a:r>
            <a:endParaRPr lang="bg-BG" sz="2400" dirty="0"/>
          </a:p>
        </p:txBody>
      </p:sp>
      <p:sp>
        <p:nvSpPr>
          <p:cNvPr id="3" name="Slide Number Placeholder 2"/>
          <p:cNvSpPr>
            <a:spLocks noGrp="1"/>
          </p:cNvSpPr>
          <p:nvPr>
            <p:ph type="sldNum" sz="quarter" idx="12"/>
          </p:nvPr>
        </p:nvSpPr>
        <p:spPr/>
        <p:txBody>
          <a:bodyPr/>
          <a:lstStyle/>
          <a:p>
            <a:pPr>
              <a:defRPr/>
            </a:pPr>
            <a:fld id="{16005A2E-CB26-48A2-88C8-32C9AE678448}"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050"/>
          <p:cNvSpPr>
            <a:spLocks noGrp="1" noChangeArrowheads="1"/>
          </p:cNvSpPr>
          <p:nvPr>
            <p:ph type="title"/>
          </p:nvPr>
        </p:nvSpPr>
        <p:spPr>
          <a:xfrm>
            <a:off x="984176" y="533400"/>
            <a:ext cx="8159824" cy="6324600"/>
          </a:xfrm>
        </p:spPr>
        <p:txBody>
          <a:bodyPr>
            <a:normAutofit fontScale="90000"/>
          </a:bodyPr>
          <a:lstStyle/>
          <a:p>
            <a:pPr eaLnBrk="1" fontAlgn="auto" hangingPunct="1">
              <a:spcAft>
                <a:spcPts val="0"/>
              </a:spcAft>
              <a:defRPr/>
            </a:pPr>
            <a:r>
              <a:rPr lang="bg-BG" sz="3600" dirty="0">
                <a:solidFill>
                  <a:schemeClr val="tx2">
                    <a:satMod val="130000"/>
                  </a:schemeClr>
                </a:solidFill>
              </a:rPr>
              <a:t>			 </a:t>
            </a:r>
            <a:r>
              <a:rPr lang="bg-BG" sz="3600" dirty="0" smtClean="0">
                <a:solidFill>
                  <a:schemeClr val="tx2">
                    <a:satMod val="130000"/>
                  </a:schemeClr>
                </a:solidFill>
              </a:rPr>
              <a:t>Масиви</a:t>
            </a:r>
            <a:r>
              <a:rPr lang="bg-BG" sz="3600" dirty="0">
                <a:solidFill>
                  <a:schemeClr val="tx2">
                    <a:satMod val="130000"/>
                  </a:schemeClr>
                </a:solidFill>
              </a:rPr>
              <a:t/>
            </a:r>
            <a:br>
              <a:rPr lang="bg-BG" sz="3600" dirty="0">
                <a:solidFill>
                  <a:schemeClr val="tx2">
                    <a:satMod val="130000"/>
                  </a:schemeClr>
                </a:solidFill>
              </a:rPr>
            </a:br>
            <a:r>
              <a:rPr lang="bg-BG" sz="3600" dirty="0">
                <a:solidFill>
                  <a:schemeClr val="tx2">
                    <a:satMod val="130000"/>
                  </a:schemeClr>
                </a:solidFill>
              </a:rPr>
              <a:t>	</a:t>
            </a:r>
            <a:r>
              <a:rPr lang="bg-BG" sz="2400" dirty="0">
                <a:solidFill>
                  <a:schemeClr val="tx2">
                    <a:satMod val="130000"/>
                  </a:schemeClr>
                </a:solidFill>
              </a:rPr>
              <a:t>Прост пример за използване на масив: Реализация на </a:t>
            </a:r>
            <a:r>
              <a:rPr lang="bg-BG" sz="2400" dirty="0" smtClean="0">
                <a:solidFill>
                  <a:schemeClr val="tx2">
                    <a:satMod val="130000"/>
                  </a:schemeClr>
                </a:solidFill>
              </a:rPr>
              <a:t>алгоритъм</a:t>
            </a:r>
            <a:r>
              <a:rPr lang="en-US" sz="2400" dirty="0" smtClean="0">
                <a:solidFill>
                  <a:schemeClr val="tx2">
                    <a:satMod val="130000"/>
                  </a:schemeClr>
                </a:solidFill>
              </a:rPr>
              <a:t>a </a:t>
            </a:r>
            <a:r>
              <a:rPr lang="bg-BG" sz="2400" b="1" i="1" dirty="0" smtClean="0">
                <a:solidFill>
                  <a:schemeClr val="accent5">
                    <a:lumMod val="75000"/>
                  </a:schemeClr>
                </a:solidFill>
              </a:rPr>
              <a:t>сито </a:t>
            </a:r>
            <a:r>
              <a:rPr lang="bg-BG" sz="2400" b="1" i="1" dirty="0">
                <a:solidFill>
                  <a:schemeClr val="accent5">
                    <a:lumMod val="75000"/>
                  </a:schemeClr>
                </a:solidFill>
              </a:rPr>
              <a:t>на </a:t>
            </a:r>
            <a:r>
              <a:rPr lang="bg-BG" sz="2400" b="1" i="1" dirty="0" err="1">
                <a:solidFill>
                  <a:schemeClr val="accent5">
                    <a:lumMod val="75000"/>
                  </a:schemeClr>
                </a:solidFill>
              </a:rPr>
              <a:t>Ератостен</a:t>
            </a:r>
            <a:r>
              <a:rPr lang="bg-BG" sz="2400" b="1" dirty="0">
                <a:solidFill>
                  <a:schemeClr val="accent5">
                    <a:lumMod val="75000"/>
                  </a:schemeClr>
                </a:solidFill>
              </a:rPr>
              <a:t> </a:t>
            </a:r>
            <a:r>
              <a:rPr lang="bg-BG" sz="2400" dirty="0" smtClean="0">
                <a:solidFill>
                  <a:schemeClr val="tx2">
                    <a:satMod val="130000"/>
                  </a:schemeClr>
                </a:solidFill>
              </a:rPr>
              <a:t>за </a:t>
            </a:r>
            <a:r>
              <a:rPr lang="bg-BG" sz="2400" dirty="0">
                <a:solidFill>
                  <a:schemeClr val="tx2">
                    <a:satMod val="130000"/>
                  </a:schemeClr>
                </a:solidFill>
              </a:rPr>
              <a:t>намиране на всички прости числа в интервал от 0 до </a:t>
            </a:r>
            <a:r>
              <a:rPr lang="en-US" sz="2400" b="1" i="1" dirty="0">
                <a:solidFill>
                  <a:schemeClr val="tx2">
                    <a:satMod val="130000"/>
                  </a:schemeClr>
                </a:solidFill>
              </a:rPr>
              <a:t>n</a:t>
            </a:r>
            <a:r>
              <a:rPr lang="en-US" sz="2400" dirty="0">
                <a:solidFill>
                  <a:schemeClr val="tx2">
                    <a:satMod val="130000"/>
                  </a:schemeClr>
                </a:solidFill>
              </a:rPr>
              <a:t>:</a:t>
            </a:r>
            <a:r>
              <a:rPr lang="bg-BG" sz="2400" dirty="0">
                <a:solidFill>
                  <a:schemeClr val="tx2">
                    <a:satMod val="130000"/>
                  </a:schemeClr>
                </a:solidFill>
              </a:rPr>
              <a:t/>
            </a:r>
            <a:br>
              <a:rPr lang="bg-BG" sz="2400" dirty="0">
                <a:solidFill>
                  <a:schemeClr val="tx2">
                    <a:satMod val="130000"/>
                  </a:schemeClr>
                </a:solidFill>
              </a:rPr>
            </a:br>
            <a:r>
              <a:rPr lang="bg-BG" sz="2400" dirty="0">
                <a:solidFill>
                  <a:schemeClr val="tx2">
                    <a:satMod val="130000"/>
                  </a:schemeClr>
                </a:solidFill>
              </a:rPr>
              <a:t/>
            </a:r>
            <a:br>
              <a:rPr lang="bg-BG" sz="2400" dirty="0">
                <a:solidFill>
                  <a:schemeClr val="tx2">
                    <a:satMod val="130000"/>
                  </a:schemeClr>
                </a:solidFill>
              </a:rPr>
            </a:b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include</a:t>
            </a:r>
            <a:r>
              <a:rPr lang="bg-BG" sz="2000" dirty="0">
                <a:solidFill>
                  <a:schemeClr val="tx2">
                    <a:satMod val="130000"/>
                  </a:schemeClr>
                </a:solidFill>
                <a:latin typeface="Courier New" pitchFamily="49" charset="0"/>
              </a:rPr>
              <a:t> &lt;</a:t>
            </a:r>
            <a:r>
              <a:rPr lang="bg-BG" sz="2000" dirty="0" err="1" smtClean="0">
                <a:solidFill>
                  <a:schemeClr val="tx2">
                    <a:satMod val="130000"/>
                  </a:schemeClr>
                </a:solidFill>
                <a:latin typeface="Courier New" pitchFamily="49" charset="0"/>
              </a:rPr>
              <a:t>iostream</a:t>
            </a:r>
            <a:r>
              <a:rPr lang="bg-BG" sz="2000" dirty="0" smtClean="0">
                <a:solidFill>
                  <a:schemeClr val="tx2">
                    <a:satMod val="130000"/>
                  </a:schemeClr>
                </a:solidFill>
                <a:latin typeface="Courier New" pitchFamily="49" charset="0"/>
              </a:rPr>
              <a:t>&gt;</a:t>
            </a:r>
            <a:r>
              <a:rPr lang="en-US" sz="2000" dirty="0" smtClean="0">
                <a:solidFill>
                  <a:schemeClr val="tx2">
                    <a:satMod val="130000"/>
                  </a:schemeClr>
                </a:solidFill>
                <a:latin typeface="Courier New" pitchFamily="49" charset="0"/>
              </a:rPr>
              <a:t/>
            </a:r>
            <a:br>
              <a:rPr lang="en-US" sz="2000" dirty="0" smtClean="0">
                <a:solidFill>
                  <a:schemeClr val="tx2">
                    <a:satMod val="130000"/>
                  </a:schemeClr>
                </a:solidFill>
                <a:latin typeface="Courier New" pitchFamily="49" charset="0"/>
              </a:rPr>
            </a:br>
            <a:r>
              <a:rPr lang="en-US" sz="2000" dirty="0" smtClean="0">
                <a:solidFill>
                  <a:schemeClr val="tx2">
                    <a:satMod val="130000"/>
                  </a:schemeClr>
                </a:solidFill>
                <a:latin typeface="Courier New" pitchFamily="49" charset="0"/>
              </a:rPr>
              <a:t>using namespace std;</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en-US" sz="2000" dirty="0" smtClean="0">
                <a:solidFill>
                  <a:schemeClr val="tx2">
                    <a:satMod val="130000"/>
                  </a:schemeClr>
                </a:solidFill>
                <a:latin typeface="Courier New" pitchFamily="49" charset="0"/>
              </a:rPr>
              <a:t>const </a:t>
            </a:r>
            <a:r>
              <a:rPr lang="en-US" sz="2000" dirty="0" err="1" smtClean="0">
                <a:solidFill>
                  <a:schemeClr val="tx2">
                    <a:satMod val="130000"/>
                  </a:schemeClr>
                </a:solidFill>
                <a:latin typeface="Courier New" pitchFamily="49" charset="0"/>
              </a:rPr>
              <a:t>int</a:t>
            </a:r>
            <a:r>
              <a:rPr lang="en-US" sz="2000" dirty="0" smtClean="0">
                <a:solidFill>
                  <a:schemeClr val="tx2">
                    <a:satMod val="130000"/>
                  </a:schemeClr>
                </a:solidFill>
                <a:latin typeface="Courier New" pitchFamily="49" charset="0"/>
              </a:rPr>
              <a:t> n=</a:t>
            </a:r>
            <a:r>
              <a:rPr lang="bg-BG" sz="2000" dirty="0" smtClean="0">
                <a:solidFill>
                  <a:schemeClr val="tx2">
                    <a:satMod val="130000"/>
                  </a:schemeClr>
                </a:solidFill>
                <a:latin typeface="Courier New" pitchFamily="49" charset="0"/>
              </a:rPr>
              <a:t>100</a:t>
            </a:r>
            <a:r>
              <a:rPr lang="en-US" sz="2000" dirty="0" smtClean="0">
                <a:solidFill>
                  <a:schemeClr val="tx2">
                    <a:satMod val="130000"/>
                  </a:schemeClr>
                </a:solidFill>
                <a:latin typeface="Courier New" pitchFamily="49" charset="0"/>
              </a:rPr>
              <a:t>;</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en-US" sz="2000" dirty="0" err="1" smtClean="0">
                <a:solidFill>
                  <a:schemeClr val="tx2">
                    <a:satMod val="130000"/>
                  </a:schemeClr>
                </a:solidFill>
                <a:latin typeface="Courier New" pitchFamily="49" charset="0"/>
              </a:rPr>
              <a:t>int</a:t>
            </a:r>
            <a:r>
              <a:rPr lang="en-US"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main</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i, j, a[n];</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for</a:t>
            </a:r>
            <a:r>
              <a:rPr lang="bg-BG" sz="2000" dirty="0">
                <a:solidFill>
                  <a:schemeClr val="tx2">
                    <a:satMod val="130000"/>
                  </a:schemeClr>
                </a:solidFill>
                <a:latin typeface="Courier New" pitchFamily="49" charset="0"/>
              </a:rPr>
              <a:t> (i=2; i&lt;n; </a:t>
            </a:r>
            <a:r>
              <a:rPr lang="bg-BG" sz="2000" dirty="0" err="1">
                <a:solidFill>
                  <a:schemeClr val="tx2">
                    <a:satMod val="130000"/>
                  </a:schemeClr>
                </a:solidFill>
                <a:latin typeface="Courier New" pitchFamily="49" charset="0"/>
              </a:rPr>
              <a:t>i++</a:t>
            </a:r>
            <a:r>
              <a:rPr lang="bg-BG" sz="2000" dirty="0">
                <a:solidFill>
                  <a:schemeClr val="tx2">
                    <a:satMod val="130000"/>
                  </a:schemeClr>
                </a:solidFill>
                <a:latin typeface="Courier New" pitchFamily="49" charset="0"/>
              </a:rPr>
              <a:t>) a[i]=1;</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for</a:t>
            </a:r>
            <a:r>
              <a:rPr lang="bg-BG" sz="2000" dirty="0">
                <a:solidFill>
                  <a:schemeClr val="tx2">
                    <a:satMod val="130000"/>
                  </a:schemeClr>
                </a:solidFill>
                <a:latin typeface="Courier New" pitchFamily="49" charset="0"/>
              </a:rPr>
              <a:t> (i=2; i&lt;n; </a:t>
            </a:r>
            <a:r>
              <a:rPr lang="bg-BG" sz="2000" dirty="0" err="1">
                <a:solidFill>
                  <a:schemeClr val="tx2">
                    <a:satMod val="130000"/>
                  </a:schemeClr>
                </a:solidFill>
                <a:latin typeface="Courier New" pitchFamily="49" charset="0"/>
              </a:rPr>
              <a:t>i++</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if</a:t>
            </a:r>
            <a:r>
              <a:rPr lang="bg-BG" sz="2000" dirty="0">
                <a:solidFill>
                  <a:schemeClr val="tx2">
                    <a:satMod val="130000"/>
                  </a:schemeClr>
                </a:solidFill>
                <a:latin typeface="Courier New" pitchFamily="49" charset="0"/>
              </a:rPr>
              <a:t> (a[i])</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for</a:t>
            </a:r>
            <a:r>
              <a:rPr lang="bg-BG" sz="2000" dirty="0">
                <a:solidFill>
                  <a:schemeClr val="tx2">
                    <a:satMod val="130000"/>
                  </a:schemeClr>
                </a:solidFill>
                <a:latin typeface="Courier New" pitchFamily="49" charset="0"/>
              </a:rPr>
              <a:t> (j=i; </a:t>
            </a:r>
            <a:r>
              <a:rPr lang="bg-BG" sz="2000" dirty="0" err="1">
                <a:solidFill>
                  <a:schemeClr val="tx2">
                    <a:satMod val="130000"/>
                  </a:schemeClr>
                </a:solidFill>
                <a:latin typeface="Courier New" pitchFamily="49" charset="0"/>
              </a:rPr>
              <a:t>i</a:t>
            </a:r>
            <a:r>
              <a:rPr lang="bg-BG" sz="2000" dirty="0">
                <a:solidFill>
                  <a:schemeClr val="tx2">
                    <a:satMod val="130000"/>
                  </a:schemeClr>
                </a:solidFill>
                <a:latin typeface="Courier New" pitchFamily="49" charset="0"/>
              </a:rPr>
              <a:t>*j&lt;n; </a:t>
            </a:r>
            <a:r>
              <a:rPr lang="bg-BG" sz="2000" dirty="0" err="1">
                <a:solidFill>
                  <a:schemeClr val="tx2">
                    <a:satMod val="130000"/>
                  </a:schemeClr>
                </a:solidFill>
                <a:latin typeface="Courier New" pitchFamily="49" charset="0"/>
              </a:rPr>
              <a:t>j++</a:t>
            </a:r>
            <a:r>
              <a:rPr lang="bg-BG" sz="2000" dirty="0">
                <a:solidFill>
                  <a:schemeClr val="tx2">
                    <a:satMod val="130000"/>
                  </a:schemeClr>
                </a:solidFill>
                <a:latin typeface="Courier New" pitchFamily="49" charset="0"/>
              </a:rPr>
              <a:t>)  a[i*j]=0;</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&lt;&lt;"1 ";</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for</a:t>
            </a:r>
            <a:r>
              <a:rPr lang="bg-BG" sz="2000" dirty="0">
                <a:solidFill>
                  <a:schemeClr val="tx2">
                    <a:satMod val="130000"/>
                  </a:schemeClr>
                </a:solidFill>
                <a:latin typeface="Courier New" pitchFamily="49" charset="0"/>
              </a:rPr>
              <a:t> (i=2; i&lt;n; </a:t>
            </a:r>
            <a:r>
              <a:rPr lang="bg-BG" sz="2000" dirty="0" err="1">
                <a:solidFill>
                  <a:schemeClr val="tx2">
                    <a:satMod val="130000"/>
                  </a:schemeClr>
                </a:solidFill>
                <a:latin typeface="Courier New" pitchFamily="49" charset="0"/>
              </a:rPr>
              <a:t>i++</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if</a:t>
            </a:r>
            <a:r>
              <a:rPr lang="bg-BG" sz="2000" dirty="0">
                <a:solidFill>
                  <a:schemeClr val="tx2">
                    <a:satMod val="130000"/>
                  </a:schemeClr>
                </a:solidFill>
                <a:latin typeface="Courier New" pitchFamily="49" charset="0"/>
              </a:rPr>
              <a:t> (a[i])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&lt;&lt;i&lt;&lt;' ';</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return</a:t>
            </a:r>
            <a:r>
              <a:rPr lang="bg-BG" sz="2000" dirty="0">
                <a:solidFill>
                  <a:schemeClr val="tx2">
                    <a:satMod val="130000"/>
                  </a:schemeClr>
                </a:solidFill>
                <a:latin typeface="Courier New" pitchFamily="49" charset="0"/>
              </a:rPr>
              <a:t> 0;</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400" dirty="0">
                <a:solidFill>
                  <a:schemeClr val="tx2">
                    <a:satMod val="130000"/>
                  </a:schemeClr>
                </a:solidFill>
              </a:rPr>
              <a:t> </a:t>
            </a:r>
            <a:r>
              <a:rPr lang="bg-BG" dirty="0">
                <a:solidFill>
                  <a:schemeClr val="tx2">
                    <a:satMod val="130000"/>
                  </a:schemeClr>
                </a:solidFill>
              </a:rPr>
              <a:t/>
            </a:r>
            <a:br>
              <a:rPr lang="bg-BG" dirty="0">
                <a:solidFill>
                  <a:schemeClr val="tx2">
                    <a:satMod val="130000"/>
                  </a:schemeClr>
                </a:solidFill>
              </a:rPr>
            </a:br>
            <a:endParaRPr lang="en-US" dirty="0">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815758D7-148A-4044-9D9E-935F1EFFFF56}" type="slidenum">
              <a:rPr lang="en-US" smtClean="0"/>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050"/>
          <p:cNvSpPr>
            <a:spLocks noGrp="1" noChangeArrowheads="1"/>
          </p:cNvSpPr>
          <p:nvPr>
            <p:ph type="title"/>
          </p:nvPr>
        </p:nvSpPr>
        <p:spPr>
          <a:xfrm>
            <a:off x="1258888" y="333375"/>
            <a:ext cx="7369175" cy="6324600"/>
          </a:xfrm>
        </p:spPr>
        <p:txBody>
          <a:bodyPr>
            <a:normAutofit fontScale="90000"/>
          </a:bodyPr>
          <a:lstStyle/>
          <a:p>
            <a:pPr eaLnBrk="1" fontAlgn="auto" hangingPunct="1">
              <a:lnSpc>
                <a:spcPct val="95000"/>
              </a:lnSpc>
              <a:spcAft>
                <a:spcPts val="0"/>
              </a:spcAft>
              <a:defRPr/>
            </a:pPr>
            <a:r>
              <a:rPr lang="bg-BG" sz="2800" dirty="0">
                <a:solidFill>
                  <a:schemeClr val="tx2">
                    <a:satMod val="130000"/>
                  </a:schemeClr>
                </a:solidFill>
              </a:rPr>
              <a:t>Динамично </a:t>
            </a:r>
            <a:r>
              <a:rPr lang="bg-BG" sz="2800" dirty="0" err="1">
                <a:solidFill>
                  <a:schemeClr val="tx2">
                    <a:satMod val="130000"/>
                  </a:schemeClr>
                </a:solidFill>
              </a:rPr>
              <a:t>заделяне</a:t>
            </a:r>
            <a:r>
              <a:rPr lang="bg-BG" sz="2800" dirty="0">
                <a:solidFill>
                  <a:schemeClr val="tx2">
                    <a:satMod val="130000"/>
                  </a:schemeClr>
                </a:solidFill>
              </a:rPr>
              <a:t> на памет за масив:</a:t>
            </a:r>
            <a:r>
              <a:rPr lang="en-US" sz="2800" dirty="0">
                <a:solidFill>
                  <a:schemeClr val="tx2">
                    <a:satMod val="130000"/>
                  </a:schemeClr>
                </a:solidFill>
              </a:rPr>
              <a:t/>
            </a:r>
            <a:br>
              <a:rPr lang="en-US" sz="2800" dirty="0">
                <a:solidFill>
                  <a:schemeClr val="tx2">
                    <a:satMod val="130000"/>
                  </a:schemeClr>
                </a:solidFill>
              </a:rPr>
            </a:br>
            <a:r>
              <a:rPr lang="en-US" sz="2200" dirty="0">
                <a:solidFill>
                  <a:schemeClr val="tx2">
                    <a:satMod val="130000"/>
                  </a:schemeClr>
                </a:solidFill>
              </a:rPr>
              <a:t>#include &lt;</a:t>
            </a:r>
            <a:r>
              <a:rPr lang="en-US" sz="2200" dirty="0" err="1" smtClean="0">
                <a:solidFill>
                  <a:schemeClr val="tx2">
                    <a:satMod val="130000"/>
                  </a:schemeClr>
                </a:solidFill>
              </a:rPr>
              <a:t>iostream</a:t>
            </a:r>
            <a:r>
              <a:rPr lang="en-US" sz="2200" dirty="0" smtClean="0">
                <a:solidFill>
                  <a:schemeClr val="tx2">
                    <a:satMod val="130000"/>
                  </a:schemeClr>
                </a:solidFill>
              </a:rPr>
              <a:t>&gt;</a:t>
            </a:r>
            <a:br>
              <a:rPr lang="en-US" sz="2200" dirty="0" smtClean="0">
                <a:solidFill>
                  <a:schemeClr val="tx2">
                    <a:satMod val="130000"/>
                  </a:schemeClr>
                </a:solidFill>
              </a:rPr>
            </a:br>
            <a:r>
              <a:rPr lang="en-US" sz="2200" dirty="0" smtClean="0">
                <a:solidFill>
                  <a:schemeClr val="tx2">
                    <a:satMod val="130000"/>
                  </a:schemeClr>
                </a:solidFill>
              </a:rPr>
              <a:t>using namespace std; </a:t>
            </a:r>
            <a:r>
              <a:rPr lang="en-US" sz="2200" dirty="0">
                <a:solidFill>
                  <a:schemeClr val="tx2">
                    <a:satMod val="130000"/>
                  </a:schemeClr>
                </a:solidFill>
              </a:rPr>
              <a:t/>
            </a:r>
            <a:br>
              <a:rPr lang="en-US" sz="2200" dirty="0">
                <a:solidFill>
                  <a:schemeClr val="tx2">
                    <a:satMod val="130000"/>
                  </a:schemeClr>
                </a:solidFill>
              </a:rPr>
            </a:br>
            <a:r>
              <a:rPr lang="en-US" sz="2200" dirty="0" smtClean="0">
                <a:solidFill>
                  <a:schemeClr val="tx2">
                    <a:satMod val="130000"/>
                  </a:schemeClr>
                </a:solidFill>
              </a:rPr>
              <a:t>void main</a:t>
            </a:r>
            <a:r>
              <a:rPr lang="en-US" sz="2200" dirty="0">
                <a:solidFill>
                  <a:schemeClr val="tx2">
                    <a:satMod val="130000"/>
                  </a:schemeClr>
                </a:solidFill>
              </a:rPr>
              <a:t>()</a:t>
            </a:r>
            <a:br>
              <a:rPr lang="en-US" sz="2200" dirty="0">
                <a:solidFill>
                  <a:schemeClr val="tx2">
                    <a:satMod val="130000"/>
                  </a:schemeClr>
                </a:solidFill>
              </a:rPr>
            </a:br>
            <a:r>
              <a:rPr lang="en-US" sz="2200" dirty="0">
                <a:solidFill>
                  <a:schemeClr val="tx2">
                    <a:satMod val="130000"/>
                  </a:schemeClr>
                </a:solidFill>
              </a:rPr>
              <a:t>{</a:t>
            </a:r>
            <a:br>
              <a:rPr lang="en-US" sz="2200" dirty="0">
                <a:solidFill>
                  <a:schemeClr val="tx2">
                    <a:satMod val="130000"/>
                  </a:schemeClr>
                </a:solidFill>
              </a:rPr>
            </a:br>
            <a:r>
              <a:rPr lang="en-US" sz="2200" dirty="0">
                <a:solidFill>
                  <a:schemeClr val="tx2">
                    <a:satMod val="130000"/>
                  </a:schemeClr>
                </a:solidFill>
              </a:rPr>
              <a:t>	</a:t>
            </a:r>
            <a:r>
              <a:rPr lang="en-US" sz="2200" dirty="0" err="1">
                <a:solidFill>
                  <a:schemeClr val="tx2">
                    <a:satMod val="130000"/>
                  </a:schemeClr>
                </a:solidFill>
              </a:rPr>
              <a:t>int</a:t>
            </a:r>
            <a:r>
              <a:rPr lang="en-US" sz="2200" dirty="0">
                <a:solidFill>
                  <a:schemeClr val="tx2">
                    <a:satMod val="130000"/>
                  </a:schemeClr>
                </a:solidFill>
              </a:rPr>
              <a:t> n, </a:t>
            </a:r>
            <a:r>
              <a:rPr lang="en-US" sz="2200" dirty="0" err="1">
                <a:solidFill>
                  <a:schemeClr val="tx2">
                    <a:satMod val="130000"/>
                  </a:schemeClr>
                </a:solidFill>
              </a:rPr>
              <a:t>i</a:t>
            </a:r>
            <a:r>
              <a:rPr lang="en-US" sz="2200" dirty="0">
                <a:solidFill>
                  <a:schemeClr val="tx2">
                    <a:satMod val="130000"/>
                  </a:schemeClr>
                </a:solidFill>
              </a:rPr>
              <a:t>, j;</a:t>
            </a:r>
            <a:br>
              <a:rPr lang="en-US" sz="2200" dirty="0">
                <a:solidFill>
                  <a:schemeClr val="tx2">
                    <a:satMod val="130000"/>
                  </a:schemeClr>
                </a:solidFill>
              </a:rPr>
            </a:br>
            <a:r>
              <a:rPr lang="en-US" sz="2200" dirty="0">
                <a:solidFill>
                  <a:schemeClr val="tx2">
                    <a:satMod val="130000"/>
                  </a:schemeClr>
                </a:solidFill>
              </a:rPr>
              <a:t>	</a:t>
            </a:r>
            <a:r>
              <a:rPr lang="en-US" sz="2200" dirty="0" err="1">
                <a:solidFill>
                  <a:schemeClr val="tx2">
                    <a:satMod val="130000"/>
                  </a:schemeClr>
                </a:solidFill>
              </a:rPr>
              <a:t>cout</a:t>
            </a:r>
            <a:r>
              <a:rPr lang="en-US" sz="2200" dirty="0">
                <a:solidFill>
                  <a:schemeClr val="tx2">
                    <a:satMod val="130000"/>
                  </a:schemeClr>
                </a:solidFill>
              </a:rPr>
              <a:t>&lt;&lt;"Input n:";</a:t>
            </a:r>
            <a:br>
              <a:rPr lang="en-US" sz="2200" dirty="0">
                <a:solidFill>
                  <a:schemeClr val="tx2">
                    <a:satMod val="130000"/>
                  </a:schemeClr>
                </a:solidFill>
              </a:rPr>
            </a:br>
            <a:r>
              <a:rPr lang="en-US" sz="2200" dirty="0">
                <a:solidFill>
                  <a:schemeClr val="tx2">
                    <a:satMod val="130000"/>
                  </a:schemeClr>
                </a:solidFill>
              </a:rPr>
              <a:t>	</a:t>
            </a:r>
            <a:r>
              <a:rPr lang="en-US" sz="2200" dirty="0" err="1">
                <a:solidFill>
                  <a:schemeClr val="tx2">
                    <a:satMod val="130000"/>
                  </a:schemeClr>
                </a:solidFill>
              </a:rPr>
              <a:t>cin</a:t>
            </a:r>
            <a:r>
              <a:rPr lang="en-US" sz="2200" dirty="0">
                <a:solidFill>
                  <a:schemeClr val="tx2">
                    <a:satMod val="130000"/>
                  </a:schemeClr>
                </a:solidFill>
              </a:rPr>
              <a:t>&gt;&gt;n;</a:t>
            </a:r>
            <a:br>
              <a:rPr lang="en-US" sz="2200" dirty="0">
                <a:solidFill>
                  <a:schemeClr val="tx2">
                    <a:satMod val="130000"/>
                  </a:schemeClr>
                </a:solidFill>
              </a:rPr>
            </a:br>
            <a:r>
              <a:rPr lang="en-US" sz="2200" dirty="0">
                <a:solidFill>
                  <a:schemeClr val="tx2">
                    <a:satMod val="130000"/>
                  </a:schemeClr>
                </a:solidFill>
              </a:rPr>
              <a:t>	</a:t>
            </a:r>
            <a:r>
              <a:rPr lang="en-US" sz="2200" dirty="0" err="1">
                <a:solidFill>
                  <a:schemeClr val="tx2">
                    <a:satMod val="130000"/>
                  </a:schemeClr>
                </a:solidFill>
              </a:rPr>
              <a:t>int</a:t>
            </a:r>
            <a:r>
              <a:rPr lang="en-US" sz="2200" dirty="0">
                <a:solidFill>
                  <a:schemeClr val="tx2">
                    <a:satMod val="130000"/>
                  </a:schemeClr>
                </a:solidFill>
              </a:rPr>
              <a:t> *a=new </a:t>
            </a:r>
            <a:r>
              <a:rPr lang="en-US" sz="2200" dirty="0" err="1">
                <a:solidFill>
                  <a:schemeClr val="tx2">
                    <a:satMod val="130000"/>
                  </a:schemeClr>
                </a:solidFill>
              </a:rPr>
              <a:t>int</a:t>
            </a:r>
            <a:r>
              <a:rPr lang="en-US" sz="2200" dirty="0">
                <a:solidFill>
                  <a:schemeClr val="tx2">
                    <a:satMod val="130000"/>
                  </a:schemeClr>
                </a:solidFill>
              </a:rPr>
              <a:t> [n];</a:t>
            </a:r>
            <a:br>
              <a:rPr lang="en-US" sz="2200" dirty="0">
                <a:solidFill>
                  <a:schemeClr val="tx2">
                    <a:satMod val="130000"/>
                  </a:schemeClr>
                </a:solidFill>
              </a:rPr>
            </a:br>
            <a:r>
              <a:rPr lang="en-US" sz="2200" dirty="0">
                <a:solidFill>
                  <a:schemeClr val="tx2">
                    <a:satMod val="130000"/>
                  </a:schemeClr>
                </a:solidFill>
              </a:rPr>
              <a:t>	if (a==NULL)</a:t>
            </a:r>
            <a:br>
              <a:rPr lang="en-US" sz="2200" dirty="0">
                <a:solidFill>
                  <a:schemeClr val="tx2">
                    <a:satMod val="130000"/>
                  </a:schemeClr>
                </a:solidFill>
              </a:rPr>
            </a:br>
            <a:r>
              <a:rPr lang="en-US" sz="2200" dirty="0">
                <a:solidFill>
                  <a:schemeClr val="tx2">
                    <a:satMod val="130000"/>
                  </a:schemeClr>
                </a:solidFill>
              </a:rPr>
              <a:t>	{</a:t>
            </a:r>
            <a:r>
              <a:rPr lang="en-US" sz="2200" dirty="0" err="1">
                <a:solidFill>
                  <a:schemeClr val="tx2">
                    <a:satMod val="130000"/>
                  </a:schemeClr>
                </a:solidFill>
              </a:rPr>
              <a:t>cout</a:t>
            </a:r>
            <a:r>
              <a:rPr lang="en-US" sz="2200" dirty="0">
                <a:solidFill>
                  <a:schemeClr val="tx2">
                    <a:satMod val="130000"/>
                  </a:schemeClr>
                </a:solidFill>
              </a:rPr>
              <a:t>&lt;&lt;"</a:t>
            </a:r>
            <a:r>
              <a:rPr lang="en-US" sz="2200" dirty="0" err="1">
                <a:solidFill>
                  <a:schemeClr val="tx2">
                    <a:satMod val="130000"/>
                  </a:schemeClr>
                </a:solidFill>
              </a:rPr>
              <a:t>Недостиг</a:t>
            </a:r>
            <a:r>
              <a:rPr lang="en-US" sz="2200" dirty="0">
                <a:solidFill>
                  <a:schemeClr val="tx2">
                    <a:satMod val="130000"/>
                  </a:schemeClr>
                </a:solidFill>
              </a:rPr>
              <a:t> </a:t>
            </a:r>
            <a:r>
              <a:rPr lang="en-US" sz="2200" dirty="0" err="1">
                <a:solidFill>
                  <a:schemeClr val="tx2">
                    <a:satMod val="130000"/>
                  </a:schemeClr>
                </a:solidFill>
              </a:rPr>
              <a:t>на</a:t>
            </a:r>
            <a:r>
              <a:rPr lang="en-US" sz="2200" dirty="0">
                <a:solidFill>
                  <a:schemeClr val="tx2">
                    <a:satMod val="130000"/>
                  </a:schemeClr>
                </a:solidFill>
              </a:rPr>
              <a:t> </a:t>
            </a:r>
            <a:r>
              <a:rPr lang="en-US" sz="2200" dirty="0" err="1">
                <a:solidFill>
                  <a:schemeClr val="tx2">
                    <a:satMod val="130000"/>
                  </a:schemeClr>
                </a:solidFill>
              </a:rPr>
              <a:t>памет</a:t>
            </a:r>
            <a:r>
              <a:rPr lang="en-US" sz="2200" dirty="0">
                <a:solidFill>
                  <a:schemeClr val="tx2">
                    <a:satMod val="130000"/>
                  </a:schemeClr>
                </a:solidFill>
              </a:rPr>
              <a:t>!";}</a:t>
            </a:r>
            <a:br>
              <a:rPr lang="en-US" sz="2200" dirty="0">
                <a:solidFill>
                  <a:schemeClr val="tx2">
                    <a:satMod val="130000"/>
                  </a:schemeClr>
                </a:solidFill>
              </a:rPr>
            </a:br>
            <a:r>
              <a:rPr lang="en-US" sz="2200" dirty="0">
                <a:solidFill>
                  <a:schemeClr val="tx2">
                    <a:satMod val="130000"/>
                  </a:schemeClr>
                </a:solidFill>
              </a:rPr>
              <a:t>	else</a:t>
            </a:r>
            <a:br>
              <a:rPr lang="en-US" sz="2200" dirty="0">
                <a:solidFill>
                  <a:schemeClr val="tx2">
                    <a:satMod val="130000"/>
                  </a:schemeClr>
                </a:solidFill>
              </a:rPr>
            </a:br>
            <a:r>
              <a:rPr lang="en-US" sz="2200" dirty="0">
                <a:solidFill>
                  <a:schemeClr val="tx2">
                    <a:satMod val="130000"/>
                  </a:schemeClr>
                </a:solidFill>
              </a:rPr>
              <a:t>	   {	for (</a:t>
            </a:r>
            <a:r>
              <a:rPr lang="en-US" sz="2200" dirty="0" err="1">
                <a:solidFill>
                  <a:schemeClr val="tx2">
                    <a:satMod val="130000"/>
                  </a:schemeClr>
                </a:solidFill>
              </a:rPr>
              <a:t>i</a:t>
            </a:r>
            <a:r>
              <a:rPr lang="en-US" sz="2200" dirty="0">
                <a:solidFill>
                  <a:schemeClr val="tx2">
                    <a:satMod val="130000"/>
                  </a:schemeClr>
                </a:solidFill>
              </a:rPr>
              <a:t>=2; </a:t>
            </a:r>
            <a:r>
              <a:rPr lang="en-US" sz="2200" dirty="0" err="1">
                <a:solidFill>
                  <a:schemeClr val="tx2">
                    <a:satMod val="130000"/>
                  </a:schemeClr>
                </a:solidFill>
              </a:rPr>
              <a:t>i</a:t>
            </a:r>
            <a:r>
              <a:rPr lang="en-US" sz="2200" dirty="0">
                <a:solidFill>
                  <a:schemeClr val="tx2">
                    <a:satMod val="130000"/>
                  </a:schemeClr>
                </a:solidFill>
              </a:rPr>
              <a:t>&lt;n; </a:t>
            </a:r>
            <a:r>
              <a:rPr lang="en-US" sz="2200" dirty="0" err="1">
                <a:solidFill>
                  <a:schemeClr val="tx2">
                    <a:satMod val="130000"/>
                  </a:schemeClr>
                </a:solidFill>
              </a:rPr>
              <a:t>i</a:t>
            </a:r>
            <a:r>
              <a:rPr lang="en-US" sz="2200" dirty="0">
                <a:solidFill>
                  <a:schemeClr val="tx2">
                    <a:satMod val="130000"/>
                  </a:schemeClr>
                </a:solidFill>
              </a:rPr>
              <a:t>++)    *(</a:t>
            </a:r>
            <a:r>
              <a:rPr lang="en-US" sz="2200" dirty="0" err="1">
                <a:solidFill>
                  <a:schemeClr val="tx2">
                    <a:satMod val="130000"/>
                  </a:schemeClr>
                </a:solidFill>
              </a:rPr>
              <a:t>a+i</a:t>
            </a:r>
            <a:r>
              <a:rPr lang="en-US" sz="2200" dirty="0">
                <a:solidFill>
                  <a:schemeClr val="tx2">
                    <a:satMod val="130000"/>
                  </a:schemeClr>
                </a:solidFill>
              </a:rPr>
              <a:t>)=1;</a:t>
            </a:r>
            <a:br>
              <a:rPr lang="en-US" sz="2200" dirty="0">
                <a:solidFill>
                  <a:schemeClr val="tx2">
                    <a:satMod val="130000"/>
                  </a:schemeClr>
                </a:solidFill>
              </a:rPr>
            </a:br>
            <a:r>
              <a:rPr lang="en-US" sz="2200" dirty="0">
                <a:solidFill>
                  <a:schemeClr val="tx2">
                    <a:satMod val="130000"/>
                  </a:schemeClr>
                </a:solidFill>
              </a:rPr>
              <a:t>		for (</a:t>
            </a:r>
            <a:r>
              <a:rPr lang="en-US" sz="2200" dirty="0" err="1">
                <a:solidFill>
                  <a:schemeClr val="tx2">
                    <a:satMod val="130000"/>
                  </a:schemeClr>
                </a:solidFill>
              </a:rPr>
              <a:t>i</a:t>
            </a:r>
            <a:r>
              <a:rPr lang="en-US" sz="2200" dirty="0">
                <a:solidFill>
                  <a:schemeClr val="tx2">
                    <a:satMod val="130000"/>
                  </a:schemeClr>
                </a:solidFill>
              </a:rPr>
              <a:t>=2; </a:t>
            </a:r>
            <a:r>
              <a:rPr lang="en-US" sz="2200" dirty="0" err="1">
                <a:solidFill>
                  <a:schemeClr val="tx2">
                    <a:satMod val="130000"/>
                  </a:schemeClr>
                </a:solidFill>
              </a:rPr>
              <a:t>i</a:t>
            </a:r>
            <a:r>
              <a:rPr lang="en-US" sz="2200" dirty="0">
                <a:solidFill>
                  <a:schemeClr val="tx2">
                    <a:satMod val="130000"/>
                  </a:schemeClr>
                </a:solidFill>
              </a:rPr>
              <a:t>&lt;n; </a:t>
            </a:r>
            <a:r>
              <a:rPr lang="en-US" sz="2200" dirty="0" err="1">
                <a:solidFill>
                  <a:schemeClr val="tx2">
                    <a:satMod val="130000"/>
                  </a:schemeClr>
                </a:solidFill>
              </a:rPr>
              <a:t>i</a:t>
            </a:r>
            <a:r>
              <a:rPr lang="en-US" sz="2200" dirty="0">
                <a:solidFill>
                  <a:schemeClr val="tx2">
                    <a:satMod val="130000"/>
                  </a:schemeClr>
                </a:solidFill>
              </a:rPr>
              <a:t>++)</a:t>
            </a:r>
            <a:br>
              <a:rPr lang="en-US" sz="2200" dirty="0">
                <a:solidFill>
                  <a:schemeClr val="tx2">
                    <a:satMod val="130000"/>
                  </a:schemeClr>
                </a:solidFill>
              </a:rPr>
            </a:br>
            <a:r>
              <a:rPr lang="en-US" sz="2200" dirty="0">
                <a:solidFill>
                  <a:schemeClr val="tx2">
                    <a:satMod val="130000"/>
                  </a:schemeClr>
                </a:solidFill>
              </a:rPr>
              <a:t>			if (*(</a:t>
            </a:r>
            <a:r>
              <a:rPr lang="en-US" sz="2200" dirty="0" err="1">
                <a:solidFill>
                  <a:schemeClr val="tx2">
                    <a:satMod val="130000"/>
                  </a:schemeClr>
                </a:solidFill>
              </a:rPr>
              <a:t>a+i</a:t>
            </a:r>
            <a:r>
              <a:rPr lang="en-US" sz="2200" dirty="0">
                <a:solidFill>
                  <a:schemeClr val="tx2">
                    <a:satMod val="130000"/>
                  </a:schemeClr>
                </a:solidFill>
              </a:rPr>
              <a:t>))</a:t>
            </a:r>
            <a:br>
              <a:rPr lang="en-US" sz="2200" dirty="0">
                <a:solidFill>
                  <a:schemeClr val="tx2">
                    <a:satMod val="130000"/>
                  </a:schemeClr>
                </a:solidFill>
              </a:rPr>
            </a:br>
            <a:r>
              <a:rPr lang="en-US" sz="2200" dirty="0">
                <a:solidFill>
                  <a:schemeClr val="tx2">
                    <a:satMod val="130000"/>
                  </a:schemeClr>
                </a:solidFill>
              </a:rPr>
              <a:t>				for (j=</a:t>
            </a:r>
            <a:r>
              <a:rPr lang="en-US" sz="2200" dirty="0" err="1">
                <a:solidFill>
                  <a:schemeClr val="tx2">
                    <a:satMod val="130000"/>
                  </a:schemeClr>
                </a:solidFill>
              </a:rPr>
              <a:t>i</a:t>
            </a:r>
            <a:r>
              <a:rPr lang="en-US" sz="2200" dirty="0">
                <a:solidFill>
                  <a:schemeClr val="tx2">
                    <a:satMod val="130000"/>
                  </a:schemeClr>
                </a:solidFill>
              </a:rPr>
              <a:t>; </a:t>
            </a:r>
            <a:r>
              <a:rPr lang="en-US" sz="2200" dirty="0" err="1">
                <a:solidFill>
                  <a:schemeClr val="tx2">
                    <a:satMod val="130000"/>
                  </a:schemeClr>
                </a:solidFill>
              </a:rPr>
              <a:t>i</a:t>
            </a:r>
            <a:r>
              <a:rPr lang="en-US" sz="2200" dirty="0">
                <a:solidFill>
                  <a:schemeClr val="tx2">
                    <a:satMod val="130000"/>
                  </a:schemeClr>
                </a:solidFill>
              </a:rPr>
              <a:t>*j&lt;n; j++)     *(</a:t>
            </a:r>
            <a:r>
              <a:rPr lang="en-US" sz="2200" dirty="0" err="1">
                <a:solidFill>
                  <a:schemeClr val="tx2">
                    <a:satMod val="130000"/>
                  </a:schemeClr>
                </a:solidFill>
              </a:rPr>
              <a:t>a+i</a:t>
            </a:r>
            <a:r>
              <a:rPr lang="en-US" sz="2200" dirty="0">
                <a:solidFill>
                  <a:schemeClr val="tx2">
                    <a:satMod val="130000"/>
                  </a:schemeClr>
                </a:solidFill>
              </a:rPr>
              <a:t>*j)=0;</a:t>
            </a:r>
            <a:br>
              <a:rPr lang="en-US" sz="2200" dirty="0">
                <a:solidFill>
                  <a:schemeClr val="tx2">
                    <a:satMod val="130000"/>
                  </a:schemeClr>
                </a:solidFill>
              </a:rPr>
            </a:br>
            <a:r>
              <a:rPr lang="en-US" sz="2200" dirty="0">
                <a:solidFill>
                  <a:schemeClr val="tx2">
                    <a:satMod val="130000"/>
                  </a:schemeClr>
                </a:solidFill>
              </a:rPr>
              <a:t>		</a:t>
            </a:r>
            <a:r>
              <a:rPr lang="en-US" sz="2200" dirty="0" err="1">
                <a:solidFill>
                  <a:schemeClr val="tx2">
                    <a:satMod val="130000"/>
                  </a:schemeClr>
                </a:solidFill>
              </a:rPr>
              <a:t>cout</a:t>
            </a:r>
            <a:r>
              <a:rPr lang="en-US" sz="2200" dirty="0">
                <a:solidFill>
                  <a:schemeClr val="tx2">
                    <a:satMod val="130000"/>
                  </a:schemeClr>
                </a:solidFill>
              </a:rPr>
              <a:t>&lt;&lt;"1 ";</a:t>
            </a:r>
            <a:br>
              <a:rPr lang="en-US" sz="2200" dirty="0">
                <a:solidFill>
                  <a:schemeClr val="tx2">
                    <a:satMod val="130000"/>
                  </a:schemeClr>
                </a:solidFill>
              </a:rPr>
            </a:br>
            <a:r>
              <a:rPr lang="en-US" sz="2200" dirty="0">
                <a:solidFill>
                  <a:schemeClr val="tx2">
                    <a:satMod val="130000"/>
                  </a:schemeClr>
                </a:solidFill>
              </a:rPr>
              <a:t>		for (</a:t>
            </a:r>
            <a:r>
              <a:rPr lang="en-US" sz="2200" dirty="0" err="1">
                <a:solidFill>
                  <a:schemeClr val="tx2">
                    <a:satMod val="130000"/>
                  </a:schemeClr>
                </a:solidFill>
              </a:rPr>
              <a:t>i</a:t>
            </a:r>
            <a:r>
              <a:rPr lang="en-US" sz="2200" dirty="0">
                <a:solidFill>
                  <a:schemeClr val="tx2">
                    <a:satMod val="130000"/>
                  </a:schemeClr>
                </a:solidFill>
              </a:rPr>
              <a:t>=2; </a:t>
            </a:r>
            <a:r>
              <a:rPr lang="en-US" sz="2200" dirty="0" err="1">
                <a:solidFill>
                  <a:schemeClr val="tx2">
                    <a:satMod val="130000"/>
                  </a:schemeClr>
                </a:solidFill>
              </a:rPr>
              <a:t>i</a:t>
            </a:r>
            <a:r>
              <a:rPr lang="en-US" sz="2200" dirty="0">
                <a:solidFill>
                  <a:schemeClr val="tx2">
                    <a:satMod val="130000"/>
                  </a:schemeClr>
                </a:solidFill>
              </a:rPr>
              <a:t>&lt;n; </a:t>
            </a:r>
            <a:r>
              <a:rPr lang="en-US" sz="2200" dirty="0" err="1">
                <a:solidFill>
                  <a:schemeClr val="tx2">
                    <a:satMod val="130000"/>
                  </a:schemeClr>
                </a:solidFill>
              </a:rPr>
              <a:t>i</a:t>
            </a:r>
            <a:r>
              <a:rPr lang="en-US" sz="2200" dirty="0">
                <a:solidFill>
                  <a:schemeClr val="tx2">
                    <a:satMod val="130000"/>
                  </a:schemeClr>
                </a:solidFill>
              </a:rPr>
              <a:t>++)</a:t>
            </a:r>
            <a:br>
              <a:rPr lang="en-US" sz="2200" dirty="0">
                <a:solidFill>
                  <a:schemeClr val="tx2">
                    <a:satMod val="130000"/>
                  </a:schemeClr>
                </a:solidFill>
              </a:rPr>
            </a:br>
            <a:r>
              <a:rPr lang="en-US" sz="2200" dirty="0">
                <a:solidFill>
                  <a:schemeClr val="tx2">
                    <a:satMod val="130000"/>
                  </a:schemeClr>
                </a:solidFill>
              </a:rPr>
              <a:t>		if (*(</a:t>
            </a:r>
            <a:r>
              <a:rPr lang="en-US" sz="2200" dirty="0" err="1">
                <a:solidFill>
                  <a:schemeClr val="tx2">
                    <a:satMod val="130000"/>
                  </a:schemeClr>
                </a:solidFill>
              </a:rPr>
              <a:t>a+i</a:t>
            </a:r>
            <a:r>
              <a:rPr lang="en-US" sz="2200" dirty="0">
                <a:solidFill>
                  <a:schemeClr val="tx2">
                    <a:satMod val="130000"/>
                  </a:schemeClr>
                </a:solidFill>
              </a:rPr>
              <a:t>))    </a:t>
            </a:r>
            <a:r>
              <a:rPr lang="en-US" sz="2200" dirty="0" err="1">
                <a:solidFill>
                  <a:schemeClr val="tx2">
                    <a:satMod val="130000"/>
                  </a:schemeClr>
                </a:solidFill>
              </a:rPr>
              <a:t>cout</a:t>
            </a:r>
            <a:r>
              <a:rPr lang="en-US" sz="2200" dirty="0">
                <a:solidFill>
                  <a:schemeClr val="tx2">
                    <a:satMod val="130000"/>
                  </a:schemeClr>
                </a:solidFill>
              </a:rPr>
              <a:t>&lt;&lt;</a:t>
            </a:r>
            <a:r>
              <a:rPr lang="en-US" sz="2200" dirty="0" err="1">
                <a:solidFill>
                  <a:schemeClr val="tx2">
                    <a:satMod val="130000"/>
                  </a:schemeClr>
                </a:solidFill>
              </a:rPr>
              <a:t>i</a:t>
            </a:r>
            <a:r>
              <a:rPr lang="en-US" sz="2200" dirty="0">
                <a:solidFill>
                  <a:schemeClr val="tx2">
                    <a:satMod val="130000"/>
                  </a:schemeClr>
                </a:solidFill>
              </a:rPr>
              <a:t>&lt;&lt;' ';</a:t>
            </a:r>
            <a:br>
              <a:rPr lang="en-US" sz="2200" dirty="0">
                <a:solidFill>
                  <a:schemeClr val="tx2">
                    <a:satMod val="130000"/>
                  </a:schemeClr>
                </a:solidFill>
              </a:rPr>
            </a:br>
            <a:r>
              <a:rPr lang="en-US" sz="2200" dirty="0">
                <a:solidFill>
                  <a:schemeClr val="tx2">
                    <a:satMod val="130000"/>
                  </a:schemeClr>
                </a:solidFill>
              </a:rPr>
              <a:t>	   }</a:t>
            </a:r>
            <a:br>
              <a:rPr lang="en-US" sz="2200" dirty="0">
                <a:solidFill>
                  <a:schemeClr val="tx2">
                    <a:satMod val="130000"/>
                  </a:schemeClr>
                </a:solidFill>
              </a:rPr>
            </a:br>
            <a:r>
              <a:rPr lang="en-US" sz="2200" dirty="0">
                <a:solidFill>
                  <a:schemeClr val="tx2">
                    <a:satMod val="130000"/>
                  </a:schemeClr>
                </a:solidFill>
              </a:rPr>
              <a:t>	delete  []a</a:t>
            </a:r>
            <a:r>
              <a:rPr lang="en-US" sz="2200" dirty="0" smtClean="0">
                <a:solidFill>
                  <a:schemeClr val="tx2">
                    <a:satMod val="130000"/>
                  </a:schemeClr>
                </a:solidFill>
              </a:rPr>
              <a:t>;</a:t>
            </a:r>
            <a:r>
              <a:rPr lang="en-US" sz="2200" dirty="0">
                <a:solidFill>
                  <a:schemeClr val="tx2">
                    <a:satMod val="130000"/>
                  </a:schemeClr>
                </a:solidFill>
              </a:rPr>
              <a:t>	</a:t>
            </a:r>
            <a:br>
              <a:rPr lang="en-US" sz="2200" dirty="0">
                <a:solidFill>
                  <a:schemeClr val="tx2">
                    <a:satMod val="130000"/>
                  </a:schemeClr>
                </a:solidFill>
              </a:rPr>
            </a:br>
            <a:r>
              <a:rPr lang="en-US" sz="2200" dirty="0">
                <a:solidFill>
                  <a:schemeClr val="tx2">
                    <a:satMod val="130000"/>
                  </a:schemeClr>
                </a:solidFill>
              </a:rPr>
              <a:t>}</a:t>
            </a:r>
          </a:p>
        </p:txBody>
      </p:sp>
      <p:sp>
        <p:nvSpPr>
          <p:cNvPr id="3" name="Slide Number Placeholder 2"/>
          <p:cNvSpPr>
            <a:spLocks noGrp="1"/>
          </p:cNvSpPr>
          <p:nvPr>
            <p:ph type="sldNum" sz="quarter" idx="12"/>
          </p:nvPr>
        </p:nvSpPr>
        <p:spPr/>
        <p:txBody>
          <a:bodyPr/>
          <a:lstStyle/>
          <a:p>
            <a:pPr>
              <a:defRPr/>
            </a:pPr>
            <a:fld id="{AE170A44-D37A-4670-8BE0-BD923F056B0E}" type="slidenum">
              <a:rPr lang="en-US" smtClean="0"/>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1187450" y="549275"/>
            <a:ext cx="7705725" cy="5903913"/>
          </a:xfrm>
        </p:spPr>
        <p:txBody>
          <a:bodyPr>
            <a:normAutofit fontScale="90000"/>
          </a:bodyPr>
          <a:lstStyle/>
          <a:p>
            <a:pPr eaLnBrk="1" fontAlgn="auto" hangingPunct="1">
              <a:spcAft>
                <a:spcPts val="0"/>
              </a:spcAft>
              <a:defRPr/>
            </a:pPr>
            <a:r>
              <a:rPr lang="bg-BG" sz="3200">
                <a:solidFill>
                  <a:schemeClr val="tx2">
                    <a:satMod val="130000"/>
                  </a:schemeClr>
                </a:solidFill>
              </a:rPr>
              <a:t>Недостатъци на </a:t>
            </a:r>
            <a:r>
              <a:rPr lang="bg-BG" sz="3200" u="sng">
                <a:solidFill>
                  <a:schemeClr val="tx2">
                    <a:satMod val="130000"/>
                  </a:schemeClr>
                </a:solidFill>
              </a:rPr>
              <a:t>статичните структури от данни</a:t>
            </a:r>
            <a:r>
              <a:rPr lang="bg-BG" sz="3200">
                <a:solidFill>
                  <a:schemeClr val="tx2">
                    <a:satMod val="130000"/>
                  </a:schemeClr>
                </a:solidFill>
              </a:rPr>
              <a:t>:</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2800">
                <a:solidFill>
                  <a:schemeClr val="tx2">
                    <a:satMod val="130000"/>
                  </a:schemeClr>
                </a:solidFill>
              </a:rPr>
              <a:t>1.</a:t>
            </a:r>
            <a:r>
              <a:rPr lang="bg-BG" sz="3200">
                <a:solidFill>
                  <a:schemeClr val="tx2">
                    <a:satMod val="130000"/>
                  </a:schemeClr>
                </a:solidFill>
              </a:rPr>
              <a:t> </a:t>
            </a:r>
            <a:r>
              <a:rPr lang="bg-BG" sz="2800">
                <a:solidFill>
                  <a:schemeClr val="tx2">
                    <a:satMod val="130000"/>
                  </a:schemeClr>
                </a:solidFill>
              </a:rPr>
              <a:t>Почти всички</a:t>
            </a:r>
            <a:r>
              <a:rPr lang="bg-BG" sz="3200">
                <a:solidFill>
                  <a:schemeClr val="tx2">
                    <a:satMod val="130000"/>
                  </a:schemeClr>
                </a:solidFill>
              </a:rPr>
              <a:t> </a:t>
            </a:r>
            <a:r>
              <a:rPr lang="bg-BG" sz="2800">
                <a:solidFill>
                  <a:schemeClr val="tx2">
                    <a:satMod val="130000"/>
                  </a:schemeClr>
                </a:solidFill>
              </a:rPr>
              <a:t>структури имат фиксиран брой </a:t>
            </a:r>
            <a:br>
              <a:rPr lang="bg-BG" sz="2800">
                <a:solidFill>
                  <a:schemeClr val="tx2">
                    <a:satMod val="130000"/>
                  </a:schemeClr>
                </a:solidFill>
              </a:rPr>
            </a:br>
            <a:r>
              <a:rPr lang="bg-BG" sz="2800">
                <a:solidFill>
                  <a:schemeClr val="tx2">
                    <a:satMod val="130000"/>
                  </a:schemeClr>
                </a:solidFill>
              </a:rPr>
              <a:t>    елементи;</a:t>
            </a:r>
            <a:br>
              <a:rPr lang="bg-BG" sz="2800">
                <a:solidFill>
                  <a:schemeClr val="tx2">
                    <a:satMod val="130000"/>
                  </a:schemeClr>
                </a:solidFill>
              </a:rPr>
            </a:br>
            <a:r>
              <a:rPr lang="bg-BG" sz="2800">
                <a:solidFill>
                  <a:schemeClr val="tx2">
                    <a:satMod val="130000"/>
                  </a:schemeClr>
                </a:solidFill>
              </a:rPr>
              <a:t>2. Структурите трудно се обновяват (добавяне и </a:t>
            </a:r>
            <a:br>
              <a:rPr lang="bg-BG" sz="2800">
                <a:solidFill>
                  <a:schemeClr val="tx2">
                    <a:satMod val="130000"/>
                  </a:schemeClr>
                </a:solidFill>
              </a:rPr>
            </a:br>
            <a:r>
              <a:rPr lang="bg-BG" sz="2800">
                <a:solidFill>
                  <a:schemeClr val="tx2">
                    <a:satMod val="130000"/>
                  </a:schemeClr>
                </a:solidFill>
              </a:rPr>
              <a:t>    премахване на елементи);</a:t>
            </a:r>
            <a:br>
              <a:rPr lang="bg-BG" sz="2800">
                <a:solidFill>
                  <a:schemeClr val="tx2">
                    <a:satMod val="130000"/>
                  </a:schemeClr>
                </a:solidFill>
              </a:rPr>
            </a:br>
            <a:r>
              <a:rPr lang="bg-BG" sz="2800">
                <a:solidFill>
                  <a:schemeClr val="tx2">
                    <a:satMod val="130000"/>
                  </a:schemeClr>
                </a:solidFill>
              </a:rPr>
              <a:t>3. Всички статични структури използват фиксиран </a:t>
            </a:r>
            <a:br>
              <a:rPr lang="bg-BG" sz="2800">
                <a:solidFill>
                  <a:schemeClr val="tx2">
                    <a:satMod val="130000"/>
                  </a:schemeClr>
                </a:solidFill>
              </a:rPr>
            </a:br>
            <a:r>
              <a:rPr lang="bg-BG" sz="2800">
                <a:solidFill>
                  <a:schemeClr val="tx2">
                    <a:satMod val="130000"/>
                  </a:schemeClr>
                </a:solidFill>
              </a:rPr>
              <a:t>    обем оперативна памет, която не винаги се използва </a:t>
            </a:r>
            <a:br>
              <a:rPr lang="bg-BG" sz="2800">
                <a:solidFill>
                  <a:schemeClr val="tx2">
                    <a:satMod val="130000"/>
                  </a:schemeClr>
                </a:solidFill>
              </a:rPr>
            </a:br>
            <a:r>
              <a:rPr lang="bg-BG" sz="2800">
                <a:solidFill>
                  <a:schemeClr val="tx2">
                    <a:satMod val="130000"/>
                  </a:schemeClr>
                </a:solidFill>
              </a:rPr>
              <a:t>    ефективно.</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3200" u="sng">
                <a:solidFill>
                  <a:schemeClr val="tx2">
                    <a:satMod val="130000"/>
                  </a:schemeClr>
                </a:solidFill>
              </a:rPr>
              <a:t>Динамичните структури от данни</a:t>
            </a:r>
            <a:r>
              <a:rPr lang="bg-BG" sz="2800">
                <a:solidFill>
                  <a:schemeClr val="tx2">
                    <a:satMod val="130000"/>
                  </a:schemeClr>
                </a:solidFill>
              </a:rPr>
              <a:t> не се описват, а се създават (и унищожават) по време на изпълнение на програмата.</a:t>
            </a:r>
            <a:endParaRPr lang="en-US" sz="2800">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A4A4FE5A-A282-4369-B2A1-D7300F14E4C3}"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1116013" y="981075"/>
            <a:ext cx="7848600" cy="5543550"/>
          </a:xfrm>
        </p:spPr>
        <p:txBody>
          <a:bodyPr>
            <a:normAutofit fontScale="90000"/>
          </a:bodyPr>
          <a:lstStyle/>
          <a:p>
            <a:pPr eaLnBrk="1" fontAlgn="auto" hangingPunct="1">
              <a:spcAft>
                <a:spcPts val="0"/>
              </a:spcAft>
              <a:defRPr/>
            </a:pP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t>
            </a:r>
            <a:r>
              <a:rPr lang="en-US" sz="3200" b="1">
                <a:solidFill>
                  <a:schemeClr val="tx2">
                    <a:satMod val="130000"/>
                  </a:schemeClr>
                </a:solidFill>
              </a:rPr>
              <a:t>-</a:t>
            </a:r>
            <a:r>
              <a:rPr lang="bg-BG" sz="3200" b="1">
                <a:solidFill>
                  <a:schemeClr val="tx2">
                    <a:satMod val="130000"/>
                  </a:schemeClr>
                </a:solidFill>
              </a:rPr>
              <a:t>Абстрактни типове (структури) данни</a:t>
            </a: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	</a:t>
            </a:r>
            <a:r>
              <a:rPr lang="bg-BG" sz="2800">
                <a:solidFill>
                  <a:schemeClr val="tx2">
                    <a:satMod val="130000"/>
                  </a:schemeClr>
                </a:solidFill>
              </a:rPr>
              <a:t>При работа с типове (структури) данни  съществуват два подхода:</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t>
            </a:r>
            <a:r>
              <a:rPr lang="bg-BG" sz="2800" b="1">
                <a:solidFill>
                  <a:schemeClr val="tx2">
                    <a:satMod val="130000"/>
                  </a:schemeClr>
                </a:solidFill>
              </a:rPr>
              <a:t>стандартен</a:t>
            </a:r>
            <a:r>
              <a:rPr lang="bg-BG" sz="2800">
                <a:solidFill>
                  <a:schemeClr val="tx2">
                    <a:satMod val="130000"/>
                  </a:schemeClr>
                </a:solidFill>
              </a:rPr>
              <a:t> (конвенционален) , при който един</a:t>
            </a:r>
            <a:br>
              <a:rPr lang="bg-BG" sz="2800">
                <a:solidFill>
                  <a:schemeClr val="tx2">
                    <a:satMod val="130000"/>
                  </a:schemeClr>
                </a:solidFill>
              </a:rPr>
            </a:br>
            <a:r>
              <a:rPr lang="bg-BG" sz="2800">
                <a:solidFill>
                  <a:schemeClr val="tx2">
                    <a:satMod val="130000"/>
                  </a:schemeClr>
                </a:solidFill>
              </a:rPr>
              <a:t>  тип данни се определя чрез начина на </a:t>
            </a:r>
            <a:br>
              <a:rPr lang="bg-BG" sz="2800">
                <a:solidFill>
                  <a:schemeClr val="tx2">
                    <a:satMod val="130000"/>
                  </a:schemeClr>
                </a:solidFill>
              </a:rPr>
            </a:br>
            <a:r>
              <a:rPr lang="bg-BG" sz="2800">
                <a:solidFill>
                  <a:schemeClr val="tx2">
                    <a:satMod val="130000"/>
                  </a:schemeClr>
                </a:solidFill>
              </a:rPr>
              <a:t>  представянето му в паметта на компютъра;</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t>
            </a:r>
            <a:r>
              <a:rPr lang="bg-BG" sz="2800" b="1">
                <a:solidFill>
                  <a:schemeClr val="tx2">
                    <a:satMod val="130000"/>
                  </a:schemeClr>
                </a:solidFill>
              </a:rPr>
              <a:t>абстрактен</a:t>
            </a:r>
            <a:r>
              <a:rPr lang="bg-BG" sz="2800">
                <a:solidFill>
                  <a:schemeClr val="tx2">
                    <a:satMod val="130000"/>
                  </a:schemeClr>
                </a:solidFill>
              </a:rPr>
              <a:t>, при който един тип данни се </a:t>
            </a:r>
            <a:br>
              <a:rPr lang="bg-BG" sz="2800">
                <a:solidFill>
                  <a:schemeClr val="tx2">
                    <a:satMod val="130000"/>
                  </a:schemeClr>
                </a:solidFill>
              </a:rPr>
            </a:br>
            <a:r>
              <a:rPr lang="bg-BG" sz="2800">
                <a:solidFill>
                  <a:schemeClr val="tx2">
                    <a:satMod val="130000"/>
                  </a:schemeClr>
                </a:solidFill>
              </a:rPr>
              <a:t>  дефинира чрез операции, които могат да се </a:t>
            </a:r>
            <a:br>
              <a:rPr lang="bg-BG" sz="2800">
                <a:solidFill>
                  <a:schemeClr val="tx2">
                    <a:satMod val="130000"/>
                  </a:schemeClr>
                </a:solidFill>
              </a:rPr>
            </a:br>
            <a:r>
              <a:rPr lang="bg-BG" sz="2800">
                <a:solidFill>
                  <a:schemeClr val="tx2">
                    <a:satMod val="130000"/>
                  </a:schemeClr>
                </a:solidFill>
              </a:rPr>
              <a:t>  извършват с обекти от този тип, без да се отчита, </a:t>
            </a:r>
            <a:br>
              <a:rPr lang="bg-BG" sz="2800">
                <a:solidFill>
                  <a:schemeClr val="tx2">
                    <a:satMod val="130000"/>
                  </a:schemeClr>
                </a:solidFill>
              </a:rPr>
            </a:br>
            <a:r>
              <a:rPr lang="bg-BG" sz="2800">
                <a:solidFill>
                  <a:schemeClr val="tx2">
                    <a:satMod val="130000"/>
                  </a:schemeClr>
                </a:solidFill>
              </a:rPr>
              <a:t>  как те се представят в паметта </a:t>
            </a:r>
            <a:br>
              <a:rPr lang="bg-BG" sz="2800">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endParaRPr lang="en-US">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FF74F1AD-0791-42F2-981B-504D9BA8FB89}"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1042988" y="609600"/>
            <a:ext cx="7796212" cy="6019800"/>
          </a:xfrm>
        </p:spPr>
        <p:txBody>
          <a:bodyPr/>
          <a:lstStyle/>
          <a:p>
            <a:pPr eaLnBrk="1" fontAlgn="auto" hangingPunct="1">
              <a:lnSpc>
                <a:spcPct val="110000"/>
              </a:lnSpc>
              <a:spcAft>
                <a:spcPts val="0"/>
              </a:spcAft>
              <a:defRPr/>
            </a:pPr>
            <a:r>
              <a:rPr lang="bg-BG" sz="3200">
                <a:solidFill>
                  <a:schemeClr val="tx2">
                    <a:satMod val="130000"/>
                  </a:schemeClr>
                </a:solidFill>
              </a:rPr>
              <a:t>При този подход всеки тип (структура) се представя като тройка множества:</a:t>
            </a:r>
            <a:br>
              <a:rPr lang="bg-BG" sz="3200">
                <a:solidFill>
                  <a:schemeClr val="tx2">
                    <a:satMod val="130000"/>
                  </a:schemeClr>
                </a:solidFill>
              </a:rPr>
            </a:br>
            <a:r>
              <a:rPr lang="en-US" sz="3200">
                <a:solidFill>
                  <a:schemeClr val="tx2">
                    <a:satMod val="130000"/>
                  </a:schemeClr>
                </a:solidFill>
              </a:rPr>
              <a:t/>
            </a:r>
            <a:br>
              <a:rPr lang="en-US" sz="3200">
                <a:solidFill>
                  <a:schemeClr val="tx2">
                    <a:satMod val="130000"/>
                  </a:schemeClr>
                </a:solidFill>
              </a:rPr>
            </a:br>
            <a:r>
              <a:rPr lang="bg-BG" sz="3200">
                <a:solidFill>
                  <a:schemeClr val="tx2">
                    <a:satMod val="130000"/>
                  </a:schemeClr>
                </a:solidFill>
              </a:rPr>
              <a:t>	</a:t>
            </a:r>
            <a:r>
              <a:rPr lang="en-US" sz="3200">
                <a:solidFill>
                  <a:schemeClr val="tx2">
                    <a:satMod val="130000"/>
                  </a:schemeClr>
                </a:solidFill>
              </a:rPr>
              <a:t>		{D, F, A}</a:t>
            </a:r>
            <a:br>
              <a:rPr lang="en-US" sz="3200">
                <a:solidFill>
                  <a:schemeClr val="tx2">
                    <a:satMod val="130000"/>
                  </a:schemeClr>
                </a:solidFill>
              </a:rPr>
            </a:br>
            <a:r>
              <a:rPr lang="en-US" sz="3200">
                <a:solidFill>
                  <a:schemeClr val="tx2">
                    <a:satMod val="130000"/>
                  </a:schemeClr>
                </a:solidFill>
              </a:rPr>
              <a:t/>
            </a:r>
            <a:br>
              <a:rPr lang="en-US" sz="3200">
                <a:solidFill>
                  <a:schemeClr val="tx2">
                    <a:satMod val="130000"/>
                  </a:schemeClr>
                </a:solidFill>
              </a:rPr>
            </a:br>
            <a:r>
              <a:rPr lang="en-US" sz="3200">
                <a:solidFill>
                  <a:schemeClr val="tx2">
                    <a:satMod val="130000"/>
                  </a:schemeClr>
                </a:solidFill>
              </a:rPr>
              <a:t>D </a:t>
            </a:r>
            <a:r>
              <a:rPr lang="bg-BG" sz="3200" smtClean="0">
                <a:solidFill>
                  <a:schemeClr val="tx2">
                    <a:satMod val="130000"/>
                  </a:schemeClr>
                </a:solidFill>
              </a:rPr>
              <a:t>– области</a:t>
            </a:r>
            <a:r>
              <a:rPr lang="en-US" sz="3200" smtClean="0">
                <a:solidFill>
                  <a:schemeClr val="tx2">
                    <a:satMod val="130000"/>
                  </a:schemeClr>
                </a:solidFill>
              </a:rPr>
              <a:t>;</a:t>
            </a:r>
            <a:r>
              <a:rPr lang="en-US" sz="3200">
                <a:solidFill>
                  <a:schemeClr val="tx2">
                    <a:satMod val="130000"/>
                  </a:schemeClr>
                </a:solidFill>
              </a:rPr>
              <a:t/>
            </a:r>
            <a:br>
              <a:rPr lang="en-US" sz="3200">
                <a:solidFill>
                  <a:schemeClr val="tx2">
                    <a:satMod val="130000"/>
                  </a:schemeClr>
                </a:solidFill>
              </a:rPr>
            </a:br>
            <a:r>
              <a:rPr lang="en-US" sz="3200">
                <a:solidFill>
                  <a:schemeClr val="tx2">
                    <a:satMod val="130000"/>
                  </a:schemeClr>
                </a:solidFill>
              </a:rPr>
              <a:t>F </a:t>
            </a:r>
            <a:r>
              <a:rPr lang="bg-BG" sz="3200">
                <a:solidFill>
                  <a:schemeClr val="tx2">
                    <a:satMod val="130000"/>
                  </a:schemeClr>
                </a:solidFill>
              </a:rPr>
              <a:t>- функции, които съществуват и се </a:t>
            </a:r>
            <a:r>
              <a:rPr lang="bg-BG" sz="3200" smtClean="0">
                <a:solidFill>
                  <a:schemeClr val="tx2">
                    <a:satMod val="130000"/>
                  </a:schemeClr>
                </a:solidFill>
              </a:rPr>
              <a:t>променят </a:t>
            </a:r>
            <a:r>
              <a:rPr lang="bg-BG" sz="3200">
                <a:solidFill>
                  <a:schemeClr val="tx2">
                    <a:satMod val="130000"/>
                  </a:schemeClr>
                </a:solidFill>
              </a:rPr>
              <a:t>в </a:t>
            </a:r>
            <a:r>
              <a:rPr lang="en-US" sz="3200" smtClean="0">
                <a:solidFill>
                  <a:schemeClr val="tx2">
                    <a:satMod val="130000"/>
                  </a:schemeClr>
                </a:solidFill>
              </a:rPr>
              <a:t>D;</a:t>
            </a:r>
            <a:r>
              <a:rPr lang="en-US" sz="3200">
                <a:solidFill>
                  <a:schemeClr val="tx2">
                    <a:satMod val="130000"/>
                  </a:schemeClr>
                </a:solidFill>
              </a:rPr>
              <a:t/>
            </a:r>
            <a:br>
              <a:rPr lang="en-US" sz="3200">
                <a:solidFill>
                  <a:schemeClr val="tx2">
                    <a:satMod val="130000"/>
                  </a:schemeClr>
                </a:solidFill>
              </a:rPr>
            </a:br>
            <a:r>
              <a:rPr lang="bg-BG" sz="3200">
                <a:solidFill>
                  <a:schemeClr val="tx2">
                    <a:satMod val="130000"/>
                  </a:schemeClr>
                </a:solidFill>
              </a:rPr>
              <a:t> </a:t>
            </a:r>
            <a:r>
              <a:rPr lang="en-US" sz="3200">
                <a:solidFill>
                  <a:schemeClr val="tx2">
                    <a:satMod val="130000"/>
                  </a:schemeClr>
                </a:solidFill>
              </a:rPr>
              <a:t>A - </a:t>
            </a:r>
            <a:r>
              <a:rPr lang="bg-BG" sz="3200">
                <a:solidFill>
                  <a:schemeClr val="tx2">
                    <a:satMod val="130000"/>
                  </a:schemeClr>
                </a:solidFill>
              </a:rPr>
              <a:t>аксиоми, определящи свойствата на </a:t>
            </a:r>
            <a:r>
              <a:rPr lang="bg-BG" sz="3200" smtClean="0">
                <a:solidFill>
                  <a:schemeClr val="tx2">
                    <a:satMod val="130000"/>
                  </a:schemeClr>
                </a:solidFill>
              </a:rPr>
              <a:t>F</a:t>
            </a:r>
            <a:r>
              <a:rPr lang="en-US" sz="3200" smtClean="0">
                <a:solidFill>
                  <a:schemeClr val="tx2">
                    <a:satMod val="130000"/>
                  </a:schemeClr>
                </a:solidFill>
              </a:rPr>
              <a:t>.</a:t>
            </a:r>
            <a:endParaRPr lang="en-US" sz="3200">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AFBABF26-B0EB-4752-B77C-B972767FB410}" type="slidenum">
              <a:rPr lang="en-US" smtClean="0"/>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116013" y="476250"/>
            <a:ext cx="7772400" cy="5867400"/>
          </a:xfrm>
        </p:spPr>
        <p:txBody>
          <a:bodyPr>
            <a:normAutofit fontScale="90000"/>
          </a:bodyPr>
          <a:lstStyle/>
          <a:p>
            <a:pPr eaLnBrk="1" fontAlgn="auto" hangingPunct="1">
              <a:spcAft>
                <a:spcPts val="0"/>
              </a:spcAft>
              <a:defRPr/>
            </a:pPr>
            <a:r>
              <a:rPr lang="en-US" dirty="0">
                <a:solidFill>
                  <a:schemeClr val="tx2">
                    <a:satMod val="130000"/>
                  </a:schemeClr>
                </a:solidFill>
              </a:rPr>
              <a:t>			С</a:t>
            </a:r>
            <a:r>
              <a:rPr lang="bg-BG" dirty="0" err="1">
                <a:solidFill>
                  <a:schemeClr val="tx2">
                    <a:satMod val="130000"/>
                  </a:schemeClr>
                </a:solidFill>
              </a:rPr>
              <a:t>тек</a:t>
            </a:r>
            <a:r>
              <a:rPr lang="bg-BG" dirty="0">
                <a:solidFill>
                  <a:schemeClr val="tx2">
                    <a:satMod val="130000"/>
                  </a:schemeClr>
                </a:solidFill>
              </a:rPr>
              <a:t> (</a:t>
            </a:r>
            <a:r>
              <a:rPr lang="en-US" dirty="0">
                <a:solidFill>
                  <a:schemeClr val="tx2">
                    <a:satMod val="130000"/>
                  </a:schemeClr>
                </a:solidFill>
              </a:rPr>
              <a:t>stack)</a:t>
            </a:r>
            <a:r>
              <a:rPr lang="bg-BG" dirty="0">
                <a:solidFill>
                  <a:schemeClr val="tx2">
                    <a:satMod val="130000"/>
                  </a:schemeClr>
                </a:solidFill>
              </a:rPr>
              <a:t/>
            </a:r>
            <a:br>
              <a:rPr lang="bg-BG" dirty="0">
                <a:solidFill>
                  <a:schemeClr val="tx2">
                    <a:satMod val="130000"/>
                  </a:schemeClr>
                </a:solidFill>
              </a:rPr>
            </a:br>
            <a:r>
              <a:rPr lang="en-US" dirty="0">
                <a:solidFill>
                  <a:schemeClr val="tx2">
                    <a:satMod val="130000"/>
                  </a:schemeClr>
                </a:solidFill>
              </a:rPr>
              <a:t>	</a:t>
            </a:r>
            <a:r>
              <a:rPr lang="bg-BG" sz="2400" dirty="0">
                <a:solidFill>
                  <a:schemeClr val="tx1"/>
                </a:solidFill>
              </a:rPr>
              <a:t>Стекът е подредена последователност от еднотипни елементи с определена дисциплина за тяхно добавяне и извличане. Дисциплината се нарича </a:t>
            </a:r>
            <a:r>
              <a:rPr lang="bg-BG" sz="2400" b="1" dirty="0">
                <a:solidFill>
                  <a:schemeClr val="tx1"/>
                </a:solidFill>
              </a:rPr>
              <a:t>LIFO</a:t>
            </a:r>
            <a:r>
              <a:rPr lang="bg-BG" sz="2400" dirty="0">
                <a:solidFill>
                  <a:schemeClr val="tx1"/>
                </a:solidFill>
              </a:rPr>
              <a:t> (</a:t>
            </a:r>
            <a:r>
              <a:rPr lang="bg-BG" sz="2400" b="1" dirty="0" err="1">
                <a:solidFill>
                  <a:schemeClr val="tx1"/>
                </a:solidFill>
              </a:rPr>
              <a:t>L</a:t>
            </a:r>
            <a:r>
              <a:rPr lang="bg-BG" sz="2400" dirty="0" err="1">
                <a:solidFill>
                  <a:schemeClr val="tx1"/>
                </a:solidFill>
              </a:rPr>
              <a:t>ast</a:t>
            </a:r>
            <a:r>
              <a:rPr lang="bg-BG" sz="2400" dirty="0">
                <a:solidFill>
                  <a:schemeClr val="tx1"/>
                </a:solidFill>
              </a:rPr>
              <a:t> </a:t>
            </a:r>
            <a:r>
              <a:rPr lang="bg-BG" sz="2400" b="1" dirty="0" err="1">
                <a:solidFill>
                  <a:schemeClr val="tx1"/>
                </a:solidFill>
              </a:rPr>
              <a:t>I</a:t>
            </a:r>
            <a:r>
              <a:rPr lang="bg-BG" sz="2400" dirty="0" err="1">
                <a:solidFill>
                  <a:schemeClr val="tx1"/>
                </a:solidFill>
              </a:rPr>
              <a:t>n</a:t>
            </a:r>
            <a:r>
              <a:rPr lang="bg-BG" sz="2400" dirty="0">
                <a:solidFill>
                  <a:schemeClr val="tx1"/>
                </a:solidFill>
              </a:rPr>
              <a:t> </a:t>
            </a:r>
            <a:r>
              <a:rPr lang="bg-BG" sz="2400" b="1" dirty="0" err="1">
                <a:solidFill>
                  <a:schemeClr val="tx1"/>
                </a:solidFill>
              </a:rPr>
              <a:t>F</a:t>
            </a:r>
            <a:r>
              <a:rPr lang="bg-BG" sz="2400" dirty="0" err="1">
                <a:solidFill>
                  <a:schemeClr val="tx1"/>
                </a:solidFill>
              </a:rPr>
              <a:t>irst</a:t>
            </a:r>
            <a:r>
              <a:rPr lang="bg-BG" sz="2400" dirty="0">
                <a:solidFill>
                  <a:schemeClr val="tx1"/>
                </a:solidFill>
              </a:rPr>
              <a:t> </a:t>
            </a:r>
            <a:r>
              <a:rPr lang="bg-BG" sz="2400" b="1" dirty="0" err="1">
                <a:solidFill>
                  <a:schemeClr val="tx1"/>
                </a:solidFill>
              </a:rPr>
              <a:t>O</a:t>
            </a:r>
            <a:r>
              <a:rPr lang="bg-BG" sz="2400" dirty="0" err="1">
                <a:solidFill>
                  <a:schemeClr val="tx1"/>
                </a:solidFill>
              </a:rPr>
              <a:t>ut</a:t>
            </a:r>
            <a:r>
              <a:rPr lang="bg-BG" sz="2400" dirty="0">
                <a:solidFill>
                  <a:schemeClr val="tx1"/>
                </a:solidFill>
              </a:rPr>
              <a:t> - последен влязъл- първи излязъл). Включването и изключването на елементи се извършва от единия край на структурата, свързан с указател </a:t>
            </a:r>
            <a:r>
              <a:rPr lang="bg-BG" sz="2400" b="1" i="1" dirty="0" err="1">
                <a:solidFill>
                  <a:schemeClr val="accent5">
                    <a:lumMod val="75000"/>
                  </a:schemeClr>
                </a:solidFill>
                <a:latin typeface="Courier New" pitchFamily="49" charset="0"/>
              </a:rPr>
              <a:t>start</a:t>
            </a:r>
            <a:r>
              <a:rPr lang="bg-BG" sz="2400" dirty="0">
                <a:solidFill>
                  <a:schemeClr val="tx1"/>
                </a:solidFill>
              </a:rPr>
              <a:t>, наричан “връх” на стека.</a:t>
            </a:r>
            <a:br>
              <a:rPr lang="bg-BG" sz="2400" dirty="0">
                <a:solidFill>
                  <a:schemeClr val="tx1"/>
                </a:solidFill>
              </a:rPr>
            </a:br>
            <a:r>
              <a:rPr lang="bg-BG" sz="2400" dirty="0">
                <a:solidFill>
                  <a:schemeClr val="tx1"/>
                </a:solidFill>
              </a:rPr>
              <a:t/>
            </a:r>
            <a:br>
              <a:rPr lang="bg-BG" sz="2400" dirty="0">
                <a:solidFill>
                  <a:schemeClr val="tx1"/>
                </a:solidFill>
              </a:rPr>
            </a:br>
            <a:r>
              <a:rPr lang="en-US" sz="2400" dirty="0">
                <a:solidFill>
                  <a:schemeClr val="tx1"/>
                </a:solidFill>
              </a:rPr>
              <a:t/>
            </a:r>
            <a:br>
              <a:rPr lang="en-US" sz="2400" dirty="0">
                <a:solidFill>
                  <a:schemeClr val="tx1"/>
                </a:solidFill>
              </a:rPr>
            </a:br>
            <a:r>
              <a:rPr lang="en-US" sz="2400" dirty="0">
                <a:solidFill>
                  <a:schemeClr val="tx1"/>
                </a:solidFill>
              </a:rPr>
              <a:t/>
            </a:r>
            <a:br>
              <a:rPr lang="en-US" sz="2400" dirty="0">
                <a:solidFill>
                  <a:schemeClr val="tx1"/>
                </a:solidFill>
              </a:rPr>
            </a:br>
            <a:r>
              <a:rPr lang="en-US" sz="2400" dirty="0">
                <a:solidFill>
                  <a:schemeClr val="tx1"/>
                </a:solidFill>
              </a:rPr>
              <a:t/>
            </a:r>
            <a:br>
              <a:rPr lang="en-US" sz="2400" dirty="0">
                <a:solidFill>
                  <a:schemeClr val="tx1"/>
                </a:solidFill>
              </a:rPr>
            </a:br>
            <a:r>
              <a:rPr lang="en-US" sz="2400" dirty="0">
                <a:solidFill>
                  <a:schemeClr val="tx1"/>
                </a:solidFill>
              </a:rPr>
              <a:t/>
            </a:r>
            <a:br>
              <a:rPr lang="en-US" sz="2400" dirty="0">
                <a:solidFill>
                  <a:schemeClr val="tx1"/>
                </a:solidFill>
              </a:rPr>
            </a:br>
            <a:endParaRPr lang="en-US" dirty="0">
              <a:solidFill>
                <a:schemeClr val="tx1"/>
              </a:solidFill>
            </a:endParaRPr>
          </a:p>
        </p:txBody>
      </p:sp>
      <p:grpSp>
        <p:nvGrpSpPr>
          <p:cNvPr id="23555" name="Group 3"/>
          <p:cNvGrpSpPr>
            <a:grpSpLocks/>
          </p:cNvGrpSpPr>
          <p:nvPr/>
        </p:nvGrpSpPr>
        <p:grpSpPr bwMode="auto">
          <a:xfrm>
            <a:off x="2971800" y="3644900"/>
            <a:ext cx="2133600" cy="2590800"/>
            <a:chOff x="2601" y="1721"/>
            <a:chExt cx="1467" cy="1980"/>
          </a:xfrm>
        </p:grpSpPr>
        <p:sp>
          <p:nvSpPr>
            <p:cNvPr id="23557" name="Line 4"/>
            <p:cNvSpPr>
              <a:spLocks noChangeShapeType="1"/>
            </p:cNvSpPr>
            <p:nvPr/>
          </p:nvSpPr>
          <p:spPr bwMode="auto">
            <a:xfrm>
              <a:off x="3576" y="1946"/>
              <a:ext cx="211" cy="1"/>
            </a:xfrm>
            <a:prstGeom prst="line">
              <a:avLst/>
            </a:prstGeom>
            <a:noFill/>
            <a:ln w="12700">
              <a:solidFill>
                <a:srgbClr val="000000"/>
              </a:solidFill>
              <a:round/>
              <a:headEnd type="none" w="sm" len="sm"/>
              <a:tailEnd type="none" w="sm" len="sm"/>
            </a:ln>
          </p:spPr>
          <p:txBody>
            <a:bodyPr/>
            <a:lstStyle/>
            <a:p>
              <a:endParaRPr lang="bg-BG"/>
            </a:p>
          </p:txBody>
        </p:sp>
        <p:sp>
          <p:nvSpPr>
            <p:cNvPr id="23558" name="Line 5"/>
            <p:cNvSpPr>
              <a:spLocks noChangeShapeType="1"/>
            </p:cNvSpPr>
            <p:nvPr/>
          </p:nvSpPr>
          <p:spPr bwMode="auto">
            <a:xfrm>
              <a:off x="3790" y="1948"/>
              <a:ext cx="1" cy="379"/>
            </a:xfrm>
            <a:prstGeom prst="line">
              <a:avLst/>
            </a:prstGeom>
            <a:noFill/>
            <a:ln w="12700">
              <a:solidFill>
                <a:srgbClr val="000000"/>
              </a:solidFill>
              <a:round/>
              <a:headEnd type="none" w="sm" len="sm"/>
              <a:tailEnd type="triangle" w="sm" len="sm"/>
            </a:ln>
          </p:spPr>
          <p:txBody>
            <a:bodyPr/>
            <a:lstStyle/>
            <a:p>
              <a:endParaRPr lang="bg-BG"/>
            </a:p>
          </p:txBody>
        </p:sp>
        <p:sp>
          <p:nvSpPr>
            <p:cNvPr id="23559" name="Rectangle 6"/>
            <p:cNvSpPr>
              <a:spLocks noChangeArrowheads="1"/>
            </p:cNvSpPr>
            <p:nvPr/>
          </p:nvSpPr>
          <p:spPr bwMode="auto">
            <a:xfrm>
              <a:off x="3501" y="2338"/>
              <a:ext cx="567" cy="283"/>
            </a:xfrm>
            <a:prstGeom prst="rect">
              <a:avLst/>
            </a:prstGeom>
            <a:solidFill>
              <a:srgbClr val="FFFFFF"/>
            </a:solidFill>
            <a:ln w="12700">
              <a:solidFill>
                <a:srgbClr val="000000"/>
              </a:solidFill>
              <a:miter lim="800000"/>
              <a:headEnd/>
              <a:tailEnd/>
            </a:ln>
          </p:spPr>
          <p:txBody>
            <a:bodyPr/>
            <a:lstStyle/>
            <a:p>
              <a:endParaRPr lang="bg-BG"/>
            </a:p>
          </p:txBody>
        </p:sp>
        <p:sp>
          <p:nvSpPr>
            <p:cNvPr id="23560" name="Rectangle 7"/>
            <p:cNvSpPr>
              <a:spLocks noChangeArrowheads="1"/>
            </p:cNvSpPr>
            <p:nvPr/>
          </p:nvSpPr>
          <p:spPr bwMode="auto">
            <a:xfrm>
              <a:off x="3501" y="2621"/>
              <a:ext cx="567" cy="283"/>
            </a:xfrm>
            <a:prstGeom prst="rect">
              <a:avLst/>
            </a:prstGeom>
            <a:solidFill>
              <a:srgbClr val="FFFFFF"/>
            </a:solidFill>
            <a:ln w="12700">
              <a:solidFill>
                <a:srgbClr val="000000"/>
              </a:solidFill>
              <a:miter lim="800000"/>
              <a:headEnd/>
              <a:tailEnd/>
            </a:ln>
          </p:spPr>
          <p:txBody>
            <a:bodyPr/>
            <a:lstStyle/>
            <a:p>
              <a:endParaRPr lang="bg-BG"/>
            </a:p>
          </p:txBody>
        </p:sp>
        <p:sp>
          <p:nvSpPr>
            <p:cNvPr id="23561" name="Rectangle 8"/>
            <p:cNvSpPr>
              <a:spLocks noChangeArrowheads="1"/>
            </p:cNvSpPr>
            <p:nvPr/>
          </p:nvSpPr>
          <p:spPr bwMode="auto">
            <a:xfrm>
              <a:off x="3501" y="2878"/>
              <a:ext cx="567" cy="283"/>
            </a:xfrm>
            <a:prstGeom prst="rect">
              <a:avLst/>
            </a:prstGeom>
            <a:solidFill>
              <a:srgbClr val="FFFFFF"/>
            </a:solidFill>
            <a:ln w="12700">
              <a:solidFill>
                <a:srgbClr val="000000"/>
              </a:solidFill>
              <a:miter lim="800000"/>
              <a:headEnd/>
              <a:tailEnd/>
            </a:ln>
          </p:spPr>
          <p:txBody>
            <a:bodyPr/>
            <a:lstStyle/>
            <a:p>
              <a:endParaRPr lang="bg-BG"/>
            </a:p>
          </p:txBody>
        </p:sp>
        <p:sp>
          <p:nvSpPr>
            <p:cNvPr id="23562" name="Rectangle 9"/>
            <p:cNvSpPr>
              <a:spLocks noChangeArrowheads="1"/>
            </p:cNvSpPr>
            <p:nvPr/>
          </p:nvSpPr>
          <p:spPr bwMode="auto">
            <a:xfrm>
              <a:off x="3501" y="3161"/>
              <a:ext cx="567" cy="283"/>
            </a:xfrm>
            <a:prstGeom prst="rect">
              <a:avLst/>
            </a:prstGeom>
            <a:solidFill>
              <a:srgbClr val="FFFFFF"/>
            </a:solidFill>
            <a:ln w="12700">
              <a:solidFill>
                <a:srgbClr val="000000"/>
              </a:solidFill>
              <a:miter lim="800000"/>
              <a:headEnd/>
              <a:tailEnd/>
            </a:ln>
          </p:spPr>
          <p:txBody>
            <a:bodyPr/>
            <a:lstStyle/>
            <a:p>
              <a:endParaRPr lang="bg-BG"/>
            </a:p>
          </p:txBody>
        </p:sp>
        <p:sp>
          <p:nvSpPr>
            <p:cNvPr id="23563" name="Rectangle 10"/>
            <p:cNvSpPr>
              <a:spLocks noChangeArrowheads="1"/>
            </p:cNvSpPr>
            <p:nvPr/>
          </p:nvSpPr>
          <p:spPr bwMode="auto">
            <a:xfrm>
              <a:off x="3501" y="3418"/>
              <a:ext cx="567" cy="283"/>
            </a:xfrm>
            <a:prstGeom prst="rect">
              <a:avLst/>
            </a:prstGeom>
            <a:solidFill>
              <a:srgbClr val="FFFFFF"/>
            </a:solidFill>
            <a:ln w="12700">
              <a:solidFill>
                <a:srgbClr val="000000"/>
              </a:solidFill>
              <a:miter lim="800000"/>
              <a:headEnd/>
              <a:tailEnd/>
            </a:ln>
          </p:spPr>
          <p:txBody>
            <a:bodyPr/>
            <a:lstStyle/>
            <a:p>
              <a:endParaRPr lang="bg-BG"/>
            </a:p>
          </p:txBody>
        </p:sp>
        <p:sp>
          <p:nvSpPr>
            <p:cNvPr id="23564" name="Text Box 11"/>
            <p:cNvSpPr txBox="1">
              <a:spLocks noChangeArrowheads="1"/>
            </p:cNvSpPr>
            <p:nvPr/>
          </p:nvSpPr>
          <p:spPr bwMode="auto">
            <a:xfrm>
              <a:off x="2601" y="1721"/>
              <a:ext cx="900" cy="360"/>
            </a:xfrm>
            <a:prstGeom prst="rect">
              <a:avLst/>
            </a:prstGeom>
            <a:noFill/>
            <a:ln w="9525">
              <a:noFill/>
              <a:miter lim="800000"/>
              <a:headEnd/>
              <a:tailEnd/>
            </a:ln>
          </p:spPr>
          <p:txBody>
            <a:bodyPr/>
            <a:lstStyle/>
            <a:p>
              <a:r>
                <a:rPr lang="en-US" sz="1000" dirty="0">
                  <a:latin typeface="Courier New" pitchFamily="49" charset="0"/>
                </a:rPr>
                <a:t>     </a:t>
              </a:r>
            </a:p>
            <a:p>
              <a:r>
                <a:rPr lang="en-US" sz="1000" dirty="0">
                  <a:latin typeface="Courier New" pitchFamily="49" charset="0"/>
                </a:rPr>
                <a:t>   </a:t>
              </a:r>
              <a:r>
                <a:rPr lang="bg-BG" sz="2000" b="1" i="1" dirty="0" err="1">
                  <a:solidFill>
                    <a:schemeClr val="accent5">
                      <a:lumMod val="75000"/>
                    </a:schemeClr>
                  </a:solidFill>
                  <a:latin typeface="Courier New" pitchFamily="49" charset="0"/>
                </a:rPr>
                <a:t>start</a:t>
              </a:r>
              <a:endParaRPr lang="en-US" sz="2000" b="1" i="1" dirty="0">
                <a:solidFill>
                  <a:schemeClr val="accent5">
                    <a:lumMod val="75000"/>
                  </a:schemeClr>
                </a:solidFill>
                <a:latin typeface="Courier New" pitchFamily="49" charset="0"/>
              </a:endParaRPr>
            </a:p>
          </p:txBody>
        </p:sp>
      </p:grpSp>
      <p:sp>
        <p:nvSpPr>
          <p:cNvPr id="12" name="Slide Number Placeholder 11"/>
          <p:cNvSpPr>
            <a:spLocks noGrp="1"/>
          </p:cNvSpPr>
          <p:nvPr>
            <p:ph type="sldNum" sz="quarter" idx="12"/>
          </p:nvPr>
        </p:nvSpPr>
        <p:spPr/>
        <p:txBody>
          <a:bodyPr/>
          <a:lstStyle/>
          <a:p>
            <a:pPr>
              <a:defRPr/>
            </a:pPr>
            <a:fld id="{CB94C463-E61D-4A3D-AB5B-4B93866D7747}"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042988" y="620713"/>
            <a:ext cx="7772400" cy="5715000"/>
          </a:xfrm>
        </p:spPr>
        <p:txBody>
          <a:bodyPr/>
          <a:lstStyle/>
          <a:p>
            <a:pPr eaLnBrk="1" fontAlgn="auto" hangingPunct="1">
              <a:spcAft>
                <a:spcPts val="0"/>
              </a:spcAft>
              <a:defRPr/>
            </a:pPr>
            <a:r>
              <a:rPr lang="bg-BG" sz="4000">
                <a:solidFill>
                  <a:schemeClr val="tx2">
                    <a:satMod val="130000"/>
                  </a:schemeClr>
                </a:solidFill>
              </a:rPr>
              <a:t>		Основни операции</a:t>
            </a:r>
            <a:br>
              <a:rPr lang="bg-BG" sz="4000">
                <a:solidFill>
                  <a:schemeClr val="tx2">
                    <a:satMod val="130000"/>
                  </a:schemeClr>
                </a:solidFill>
              </a:rPr>
            </a:br>
            <a:r>
              <a:rPr lang="bg-BG" sz="2800">
                <a:solidFill>
                  <a:schemeClr val="tx2">
                    <a:satMod val="130000"/>
                  </a:schemeClr>
                </a:solidFill>
              </a:rPr>
              <a:t>-</a:t>
            </a:r>
            <a:r>
              <a:rPr lang="bg-BG">
                <a:solidFill>
                  <a:schemeClr val="tx2">
                    <a:satMod val="130000"/>
                  </a:schemeClr>
                </a:solidFill>
              </a:rPr>
              <a:t> </a:t>
            </a:r>
            <a:r>
              <a:rPr lang="bg-BG" sz="2800">
                <a:solidFill>
                  <a:schemeClr val="tx1"/>
                </a:solidFill>
              </a:rPr>
              <a:t>Инициализиране на стека</a:t>
            </a:r>
            <a:r>
              <a:rPr lang="bg-BG" sz="2800">
                <a:solidFill>
                  <a:schemeClr val="tx1"/>
                </a:solidFill>
                <a:latin typeface="Arial" charset="0"/>
              </a:rPr>
              <a:t> (</a:t>
            </a:r>
            <a:r>
              <a:rPr lang="bg-BG" sz="2800">
                <a:solidFill>
                  <a:schemeClr val="tx1"/>
                </a:solidFill>
                <a:latin typeface="Courier New" pitchFamily="49" charset="0"/>
              </a:rPr>
              <a:t>init</a:t>
            </a:r>
            <a:r>
              <a:rPr lang="bg-BG" sz="2800">
                <a:solidFill>
                  <a:schemeClr val="tx1"/>
                </a:solidFill>
                <a:latin typeface="Arial" charset="0"/>
              </a:rPr>
              <a:t>)</a:t>
            </a:r>
            <a:br>
              <a:rPr lang="bg-BG" sz="2800">
                <a:solidFill>
                  <a:schemeClr val="tx1"/>
                </a:solidFill>
                <a:latin typeface="Arial" charset="0"/>
              </a:rPr>
            </a:br>
            <a:r>
              <a:rPr lang="bg-BG" sz="2800">
                <a:solidFill>
                  <a:schemeClr val="tx2">
                    <a:satMod val="130000"/>
                  </a:schemeClr>
                </a:solidFill>
              </a:rPr>
              <a:t>-  </a:t>
            </a:r>
            <a:r>
              <a:rPr lang="bg-BG" sz="2800">
                <a:solidFill>
                  <a:schemeClr val="tx1"/>
                </a:solidFill>
              </a:rPr>
              <a:t>Добавяне на елемент в стека</a:t>
            </a:r>
            <a:r>
              <a:rPr lang="bg-BG" sz="2800">
                <a:solidFill>
                  <a:schemeClr val="tx1"/>
                </a:solidFill>
                <a:latin typeface="Arial" charset="0"/>
              </a:rPr>
              <a:t> (</a:t>
            </a:r>
            <a:r>
              <a:rPr lang="bg-BG" sz="2800">
                <a:solidFill>
                  <a:schemeClr val="tx1"/>
                </a:solidFill>
                <a:latin typeface="Courier New" pitchFamily="49" charset="0"/>
              </a:rPr>
              <a:t>push</a:t>
            </a:r>
            <a:r>
              <a:rPr lang="bg-BG" sz="2800">
                <a:solidFill>
                  <a:schemeClr val="tx1"/>
                </a:solidFill>
                <a:latin typeface="Arial" charset="0"/>
              </a:rPr>
              <a:t>) </a:t>
            </a:r>
            <a:br>
              <a:rPr lang="bg-BG" sz="2800">
                <a:solidFill>
                  <a:schemeClr val="tx1"/>
                </a:solidFill>
                <a:latin typeface="Arial" charset="0"/>
              </a:rPr>
            </a:br>
            <a:r>
              <a:rPr lang="bg-BG" sz="2800">
                <a:solidFill>
                  <a:schemeClr val="tx2">
                    <a:satMod val="130000"/>
                  </a:schemeClr>
                </a:solidFill>
              </a:rPr>
              <a:t>-  </a:t>
            </a:r>
            <a:r>
              <a:rPr lang="bg-BG" sz="2800">
                <a:solidFill>
                  <a:schemeClr val="tx1"/>
                </a:solidFill>
              </a:rPr>
              <a:t>Извличане на елемент от стека </a:t>
            </a:r>
            <a:r>
              <a:rPr lang="bg-BG" sz="2800">
                <a:solidFill>
                  <a:schemeClr val="tx1"/>
                </a:solidFill>
                <a:latin typeface="Arial" charset="0"/>
              </a:rPr>
              <a:t>(</a:t>
            </a:r>
            <a:r>
              <a:rPr lang="bg-BG" sz="2800">
                <a:solidFill>
                  <a:schemeClr val="tx1"/>
                </a:solidFill>
                <a:latin typeface="Courier New" pitchFamily="49" charset="0"/>
              </a:rPr>
              <a:t>pop</a:t>
            </a:r>
            <a:r>
              <a:rPr lang="bg-BG" sz="2800">
                <a:solidFill>
                  <a:schemeClr val="tx1"/>
                </a:solidFill>
                <a:latin typeface="Arial" charset="0"/>
              </a:rPr>
              <a:t>)</a:t>
            </a:r>
            <a:br>
              <a:rPr lang="bg-BG" sz="2800">
                <a:solidFill>
                  <a:schemeClr val="tx1"/>
                </a:solidFill>
                <a:latin typeface="Arial" charset="0"/>
              </a:rPr>
            </a:br>
            <a:r>
              <a:rPr lang="bg-BG" sz="2800">
                <a:solidFill>
                  <a:schemeClr val="tx1"/>
                </a:solidFill>
                <a:latin typeface="Arial" charset="0"/>
              </a:rPr>
              <a:t/>
            </a:r>
            <a:br>
              <a:rPr lang="bg-BG" sz="2800">
                <a:solidFill>
                  <a:schemeClr val="tx1"/>
                </a:solidFill>
                <a:latin typeface="Arial" charset="0"/>
              </a:rPr>
            </a:br>
            <a:r>
              <a:rPr lang="bg-BG">
                <a:solidFill>
                  <a:schemeClr val="tx1"/>
                </a:solidFill>
                <a:latin typeface="Arial" charset="0"/>
              </a:rPr>
              <a:t> </a:t>
            </a:r>
            <a:br>
              <a:rPr lang="bg-BG">
                <a:solidFill>
                  <a:schemeClr val="tx1"/>
                </a:solidFill>
                <a:latin typeface="Arial" charset="0"/>
              </a:rPr>
            </a:br>
            <a:r>
              <a:rPr lang="bg-BG">
                <a:solidFill>
                  <a:schemeClr val="tx1"/>
                </a:solidFill>
                <a:latin typeface="Arial" charset="0"/>
              </a:rPr>
              <a:t/>
            </a:r>
            <a:br>
              <a:rPr lang="bg-BG">
                <a:solidFill>
                  <a:schemeClr val="tx1"/>
                </a:solidFill>
                <a:latin typeface="Arial" charset="0"/>
              </a:rPr>
            </a:br>
            <a:r>
              <a:rPr lang="bg-BG" sz="4000">
                <a:solidFill>
                  <a:schemeClr val="tx2">
                    <a:satMod val="130000"/>
                  </a:schemeClr>
                </a:solidFill>
              </a:rPr>
              <a:t/>
            </a:r>
            <a:br>
              <a:rPr lang="bg-BG" sz="4000">
                <a:solidFill>
                  <a:schemeClr val="tx2">
                    <a:satMod val="130000"/>
                  </a:schemeClr>
                </a:solidFill>
              </a:rPr>
            </a:br>
            <a:endParaRPr lang="en-US" sz="4000">
              <a:solidFill>
                <a:schemeClr val="tx2">
                  <a:satMod val="130000"/>
                </a:schemeClr>
              </a:solidFill>
            </a:endParaRPr>
          </a:p>
        </p:txBody>
      </p:sp>
      <p:grpSp>
        <p:nvGrpSpPr>
          <p:cNvPr id="24579" name="Group 3"/>
          <p:cNvGrpSpPr>
            <a:grpSpLocks/>
          </p:cNvGrpSpPr>
          <p:nvPr/>
        </p:nvGrpSpPr>
        <p:grpSpPr bwMode="auto">
          <a:xfrm>
            <a:off x="533400" y="2819400"/>
            <a:ext cx="2971800" cy="3581400"/>
            <a:chOff x="2601" y="1721"/>
            <a:chExt cx="1467" cy="1980"/>
          </a:xfrm>
        </p:grpSpPr>
        <p:sp>
          <p:nvSpPr>
            <p:cNvPr id="24587" name="Line 4"/>
            <p:cNvSpPr>
              <a:spLocks noChangeShapeType="1"/>
            </p:cNvSpPr>
            <p:nvPr/>
          </p:nvSpPr>
          <p:spPr bwMode="auto">
            <a:xfrm>
              <a:off x="3576" y="1946"/>
              <a:ext cx="211" cy="1"/>
            </a:xfrm>
            <a:prstGeom prst="line">
              <a:avLst/>
            </a:prstGeom>
            <a:noFill/>
            <a:ln w="12700">
              <a:solidFill>
                <a:srgbClr val="000000"/>
              </a:solidFill>
              <a:round/>
              <a:headEnd type="none" w="sm" len="sm"/>
              <a:tailEnd type="none" w="sm" len="sm"/>
            </a:ln>
          </p:spPr>
          <p:txBody>
            <a:bodyPr/>
            <a:lstStyle/>
            <a:p>
              <a:endParaRPr lang="bg-BG"/>
            </a:p>
          </p:txBody>
        </p:sp>
        <p:sp>
          <p:nvSpPr>
            <p:cNvPr id="24588" name="Line 5"/>
            <p:cNvSpPr>
              <a:spLocks noChangeShapeType="1"/>
            </p:cNvSpPr>
            <p:nvPr/>
          </p:nvSpPr>
          <p:spPr bwMode="auto">
            <a:xfrm>
              <a:off x="3790" y="1948"/>
              <a:ext cx="1" cy="379"/>
            </a:xfrm>
            <a:prstGeom prst="line">
              <a:avLst/>
            </a:prstGeom>
            <a:noFill/>
            <a:ln w="12700">
              <a:solidFill>
                <a:srgbClr val="000000"/>
              </a:solidFill>
              <a:round/>
              <a:headEnd type="none" w="sm" len="sm"/>
              <a:tailEnd type="triangle" w="sm" len="sm"/>
            </a:ln>
          </p:spPr>
          <p:txBody>
            <a:bodyPr/>
            <a:lstStyle/>
            <a:p>
              <a:endParaRPr lang="bg-BG"/>
            </a:p>
          </p:txBody>
        </p:sp>
        <p:sp>
          <p:nvSpPr>
            <p:cNvPr id="24589" name="Rectangle 6"/>
            <p:cNvSpPr>
              <a:spLocks noChangeArrowheads="1"/>
            </p:cNvSpPr>
            <p:nvPr/>
          </p:nvSpPr>
          <p:spPr bwMode="auto">
            <a:xfrm>
              <a:off x="3501" y="2338"/>
              <a:ext cx="567" cy="283"/>
            </a:xfrm>
            <a:prstGeom prst="rect">
              <a:avLst/>
            </a:prstGeom>
            <a:solidFill>
              <a:srgbClr val="FFFFFF"/>
            </a:solidFill>
            <a:ln w="12700">
              <a:solidFill>
                <a:srgbClr val="000000"/>
              </a:solidFill>
              <a:miter lim="800000"/>
              <a:headEnd/>
              <a:tailEnd/>
            </a:ln>
          </p:spPr>
          <p:txBody>
            <a:bodyPr/>
            <a:lstStyle/>
            <a:p>
              <a:endParaRPr lang="bg-BG"/>
            </a:p>
          </p:txBody>
        </p:sp>
        <p:sp>
          <p:nvSpPr>
            <p:cNvPr id="24590" name="Rectangle 7"/>
            <p:cNvSpPr>
              <a:spLocks noChangeArrowheads="1"/>
            </p:cNvSpPr>
            <p:nvPr/>
          </p:nvSpPr>
          <p:spPr bwMode="auto">
            <a:xfrm>
              <a:off x="3501" y="2621"/>
              <a:ext cx="567" cy="283"/>
            </a:xfrm>
            <a:prstGeom prst="rect">
              <a:avLst/>
            </a:prstGeom>
            <a:solidFill>
              <a:srgbClr val="FFFFFF"/>
            </a:solidFill>
            <a:ln w="12700">
              <a:solidFill>
                <a:srgbClr val="000000"/>
              </a:solidFill>
              <a:miter lim="800000"/>
              <a:headEnd/>
              <a:tailEnd/>
            </a:ln>
          </p:spPr>
          <p:txBody>
            <a:bodyPr/>
            <a:lstStyle/>
            <a:p>
              <a:endParaRPr lang="bg-BG"/>
            </a:p>
          </p:txBody>
        </p:sp>
        <p:sp>
          <p:nvSpPr>
            <p:cNvPr id="24591" name="Rectangle 8"/>
            <p:cNvSpPr>
              <a:spLocks noChangeArrowheads="1"/>
            </p:cNvSpPr>
            <p:nvPr/>
          </p:nvSpPr>
          <p:spPr bwMode="auto">
            <a:xfrm>
              <a:off x="3501" y="2878"/>
              <a:ext cx="567" cy="283"/>
            </a:xfrm>
            <a:prstGeom prst="rect">
              <a:avLst/>
            </a:prstGeom>
            <a:solidFill>
              <a:srgbClr val="FFFFFF"/>
            </a:solidFill>
            <a:ln w="12700">
              <a:solidFill>
                <a:srgbClr val="000000"/>
              </a:solidFill>
              <a:miter lim="800000"/>
              <a:headEnd/>
              <a:tailEnd/>
            </a:ln>
          </p:spPr>
          <p:txBody>
            <a:bodyPr/>
            <a:lstStyle/>
            <a:p>
              <a:endParaRPr lang="bg-BG"/>
            </a:p>
          </p:txBody>
        </p:sp>
        <p:sp>
          <p:nvSpPr>
            <p:cNvPr id="24592" name="Rectangle 9"/>
            <p:cNvSpPr>
              <a:spLocks noChangeArrowheads="1"/>
            </p:cNvSpPr>
            <p:nvPr/>
          </p:nvSpPr>
          <p:spPr bwMode="auto">
            <a:xfrm>
              <a:off x="3501" y="3161"/>
              <a:ext cx="567" cy="283"/>
            </a:xfrm>
            <a:prstGeom prst="rect">
              <a:avLst/>
            </a:prstGeom>
            <a:solidFill>
              <a:srgbClr val="FFFFFF"/>
            </a:solidFill>
            <a:ln w="12700">
              <a:solidFill>
                <a:srgbClr val="000000"/>
              </a:solidFill>
              <a:miter lim="800000"/>
              <a:headEnd/>
              <a:tailEnd/>
            </a:ln>
          </p:spPr>
          <p:txBody>
            <a:bodyPr/>
            <a:lstStyle/>
            <a:p>
              <a:endParaRPr lang="bg-BG"/>
            </a:p>
          </p:txBody>
        </p:sp>
        <p:sp>
          <p:nvSpPr>
            <p:cNvPr id="24593" name="Rectangle 10"/>
            <p:cNvSpPr>
              <a:spLocks noChangeArrowheads="1"/>
            </p:cNvSpPr>
            <p:nvPr/>
          </p:nvSpPr>
          <p:spPr bwMode="auto">
            <a:xfrm>
              <a:off x="3501" y="3418"/>
              <a:ext cx="567" cy="283"/>
            </a:xfrm>
            <a:prstGeom prst="rect">
              <a:avLst/>
            </a:prstGeom>
            <a:solidFill>
              <a:srgbClr val="FFFFFF"/>
            </a:solidFill>
            <a:ln w="12700">
              <a:solidFill>
                <a:srgbClr val="000000"/>
              </a:solidFill>
              <a:miter lim="800000"/>
              <a:headEnd/>
              <a:tailEnd/>
            </a:ln>
          </p:spPr>
          <p:txBody>
            <a:bodyPr/>
            <a:lstStyle/>
            <a:p>
              <a:endParaRPr lang="bg-BG"/>
            </a:p>
          </p:txBody>
        </p:sp>
        <p:sp>
          <p:nvSpPr>
            <p:cNvPr id="24594" name="Text Box 11"/>
            <p:cNvSpPr txBox="1">
              <a:spLocks noChangeArrowheads="1"/>
            </p:cNvSpPr>
            <p:nvPr/>
          </p:nvSpPr>
          <p:spPr bwMode="auto">
            <a:xfrm>
              <a:off x="2601" y="1721"/>
              <a:ext cx="900" cy="360"/>
            </a:xfrm>
            <a:prstGeom prst="rect">
              <a:avLst/>
            </a:prstGeom>
            <a:noFill/>
            <a:ln w="9525">
              <a:noFill/>
              <a:miter lim="800000"/>
              <a:headEnd/>
              <a:tailEnd/>
            </a:ln>
          </p:spPr>
          <p:txBody>
            <a:bodyPr/>
            <a:lstStyle/>
            <a:p>
              <a:r>
                <a:rPr lang="en-US" sz="1000">
                  <a:latin typeface="Courier New" pitchFamily="49" charset="0"/>
                </a:rPr>
                <a:t>     </a:t>
              </a:r>
            </a:p>
            <a:p>
              <a:r>
                <a:rPr lang="en-US" sz="1000">
                  <a:latin typeface="Courier New" pitchFamily="49" charset="0"/>
                </a:rPr>
                <a:t>   </a:t>
              </a:r>
              <a:r>
                <a:rPr lang="bg-BG" sz="1000">
                  <a:latin typeface="Courier New" pitchFamily="49" charset="0"/>
                </a:rPr>
                <a:t>        </a:t>
              </a:r>
              <a:r>
                <a:rPr lang="bg-BG" sz="2000" b="1">
                  <a:latin typeface="Courier New" pitchFamily="49" charset="0"/>
                </a:rPr>
                <a:t>start</a:t>
              </a:r>
              <a:endParaRPr lang="en-US" sz="2000">
                <a:latin typeface="Courier New" pitchFamily="49" charset="0"/>
              </a:endParaRPr>
            </a:p>
          </p:txBody>
        </p:sp>
      </p:grpSp>
      <p:grpSp>
        <p:nvGrpSpPr>
          <p:cNvPr id="24580" name="Group 12"/>
          <p:cNvGrpSpPr>
            <a:grpSpLocks/>
          </p:cNvGrpSpPr>
          <p:nvPr/>
        </p:nvGrpSpPr>
        <p:grpSpPr bwMode="auto">
          <a:xfrm>
            <a:off x="4953000" y="3657600"/>
            <a:ext cx="1447800" cy="1143000"/>
            <a:chOff x="2754" y="1844"/>
            <a:chExt cx="1190" cy="606"/>
          </a:xfrm>
        </p:grpSpPr>
        <p:sp>
          <p:nvSpPr>
            <p:cNvPr id="24584" name="Line 13"/>
            <p:cNvSpPr>
              <a:spLocks noChangeShapeType="1"/>
            </p:cNvSpPr>
            <p:nvPr/>
          </p:nvSpPr>
          <p:spPr bwMode="auto">
            <a:xfrm>
              <a:off x="3729" y="2069"/>
              <a:ext cx="211" cy="1"/>
            </a:xfrm>
            <a:prstGeom prst="line">
              <a:avLst/>
            </a:prstGeom>
            <a:noFill/>
            <a:ln w="12700">
              <a:solidFill>
                <a:srgbClr val="000000"/>
              </a:solidFill>
              <a:round/>
              <a:headEnd type="none" w="sm" len="sm"/>
              <a:tailEnd type="none" w="sm" len="sm"/>
            </a:ln>
          </p:spPr>
          <p:txBody>
            <a:bodyPr/>
            <a:lstStyle/>
            <a:p>
              <a:endParaRPr lang="bg-BG"/>
            </a:p>
          </p:txBody>
        </p:sp>
        <p:sp>
          <p:nvSpPr>
            <p:cNvPr id="24585" name="Line 14"/>
            <p:cNvSpPr>
              <a:spLocks noChangeShapeType="1"/>
            </p:cNvSpPr>
            <p:nvPr/>
          </p:nvSpPr>
          <p:spPr bwMode="auto">
            <a:xfrm>
              <a:off x="3943" y="2071"/>
              <a:ext cx="1" cy="379"/>
            </a:xfrm>
            <a:prstGeom prst="line">
              <a:avLst/>
            </a:prstGeom>
            <a:noFill/>
            <a:ln w="12700">
              <a:solidFill>
                <a:srgbClr val="000000"/>
              </a:solidFill>
              <a:round/>
              <a:headEnd type="none" w="sm" len="sm"/>
              <a:tailEnd type="triangle" w="sm" len="sm"/>
            </a:ln>
          </p:spPr>
          <p:txBody>
            <a:bodyPr/>
            <a:lstStyle/>
            <a:p>
              <a:endParaRPr lang="bg-BG"/>
            </a:p>
          </p:txBody>
        </p:sp>
        <p:sp>
          <p:nvSpPr>
            <p:cNvPr id="24586" name="Text Box 15"/>
            <p:cNvSpPr txBox="1">
              <a:spLocks noChangeArrowheads="1"/>
            </p:cNvSpPr>
            <p:nvPr/>
          </p:nvSpPr>
          <p:spPr bwMode="auto">
            <a:xfrm>
              <a:off x="2754" y="1844"/>
              <a:ext cx="900" cy="360"/>
            </a:xfrm>
            <a:prstGeom prst="rect">
              <a:avLst/>
            </a:prstGeom>
            <a:noFill/>
            <a:ln w="9525">
              <a:noFill/>
              <a:miter lim="800000"/>
              <a:headEnd/>
              <a:tailEnd/>
            </a:ln>
          </p:spPr>
          <p:txBody>
            <a:bodyPr/>
            <a:lstStyle/>
            <a:p>
              <a:r>
                <a:rPr lang="en-US" sz="2000" b="1">
                  <a:latin typeface="Courier New" pitchFamily="49" charset="0"/>
                </a:rPr>
                <a:t> </a:t>
              </a:r>
              <a:r>
                <a:rPr lang="bg-BG" sz="2000" b="1">
                  <a:latin typeface="Courier New" pitchFamily="49" charset="0"/>
                </a:rPr>
                <a:t>start</a:t>
              </a:r>
              <a:endParaRPr lang="en-US" sz="2000" b="1">
                <a:latin typeface="Courier New" pitchFamily="49" charset="0"/>
              </a:endParaRPr>
            </a:p>
          </p:txBody>
        </p:sp>
      </p:grpSp>
      <p:sp>
        <p:nvSpPr>
          <p:cNvPr id="24581" name="Line 16"/>
          <p:cNvSpPr>
            <a:spLocks noChangeShapeType="1"/>
          </p:cNvSpPr>
          <p:nvPr/>
        </p:nvSpPr>
        <p:spPr bwMode="auto">
          <a:xfrm>
            <a:off x="5943600" y="4800600"/>
            <a:ext cx="838200" cy="0"/>
          </a:xfrm>
          <a:prstGeom prst="line">
            <a:avLst/>
          </a:prstGeom>
          <a:noFill/>
          <a:ln w="9525">
            <a:solidFill>
              <a:schemeClr val="tx1"/>
            </a:solidFill>
            <a:round/>
            <a:headEnd/>
            <a:tailEnd/>
          </a:ln>
        </p:spPr>
        <p:txBody>
          <a:bodyPr wrap="none" anchor="ctr"/>
          <a:lstStyle/>
          <a:p>
            <a:endParaRPr lang="bg-BG"/>
          </a:p>
        </p:txBody>
      </p:sp>
      <p:sp>
        <p:nvSpPr>
          <p:cNvPr id="24582" name="Text Box 17"/>
          <p:cNvSpPr txBox="1">
            <a:spLocks noChangeArrowheads="1"/>
          </p:cNvSpPr>
          <p:nvPr/>
        </p:nvSpPr>
        <p:spPr bwMode="auto">
          <a:xfrm>
            <a:off x="5943600" y="4953000"/>
            <a:ext cx="1143000" cy="457200"/>
          </a:xfrm>
          <a:prstGeom prst="rect">
            <a:avLst/>
          </a:prstGeom>
          <a:noFill/>
          <a:ln w="9525">
            <a:noFill/>
            <a:miter lim="800000"/>
            <a:headEnd/>
            <a:tailEnd/>
          </a:ln>
        </p:spPr>
        <p:txBody>
          <a:bodyPr>
            <a:spAutoFit/>
          </a:bodyPr>
          <a:lstStyle/>
          <a:p>
            <a:pPr>
              <a:spcBef>
                <a:spcPct val="50000"/>
              </a:spcBef>
            </a:pPr>
            <a:r>
              <a:rPr lang="en-US"/>
              <a:t>NULL</a:t>
            </a:r>
          </a:p>
        </p:txBody>
      </p:sp>
      <p:sp>
        <p:nvSpPr>
          <p:cNvPr id="18" name="Slide Number Placeholder 17"/>
          <p:cNvSpPr>
            <a:spLocks noGrp="1"/>
          </p:cNvSpPr>
          <p:nvPr>
            <p:ph type="sldNum" sz="quarter" idx="12"/>
          </p:nvPr>
        </p:nvSpPr>
        <p:spPr/>
        <p:txBody>
          <a:bodyPr/>
          <a:lstStyle/>
          <a:p>
            <a:pPr>
              <a:defRPr/>
            </a:pPr>
            <a:fld id="{300C38C8-6914-4EF9-B8D4-65D631468634}" type="slidenum">
              <a:rPr lang="en-US" smtClean="0"/>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042988" y="1125538"/>
            <a:ext cx="7772400" cy="5029200"/>
          </a:xfrm>
        </p:spPr>
        <p:txBody>
          <a:bodyPr>
            <a:normAutofit fontScale="90000"/>
          </a:bodyPr>
          <a:lstStyle/>
          <a:p>
            <a:pPr eaLnBrk="1" fontAlgn="auto" hangingPunct="1">
              <a:spcAft>
                <a:spcPts val="0"/>
              </a:spcAft>
              <a:defRPr/>
            </a:pPr>
            <a:r>
              <a:rPr lang="bg-BG" sz="3200">
                <a:solidFill>
                  <a:schemeClr val="tx1"/>
                </a:solidFill>
              </a:rPr>
              <a:t/>
            </a:r>
            <a:br>
              <a:rPr lang="bg-BG" sz="3200">
                <a:solidFill>
                  <a:schemeClr val="tx1"/>
                </a:solidFill>
              </a:rPr>
            </a:br>
            <a:r>
              <a:rPr lang="bg-BG" sz="3200">
                <a:solidFill>
                  <a:schemeClr val="tx1"/>
                </a:solidFill>
              </a:rPr>
              <a:t/>
            </a:r>
            <a:br>
              <a:rPr lang="bg-BG" sz="3200">
                <a:solidFill>
                  <a:schemeClr val="tx1"/>
                </a:solidFill>
              </a:rPr>
            </a:br>
            <a:r>
              <a:rPr lang="bg-BG" sz="3200">
                <a:solidFill>
                  <a:schemeClr val="tx1"/>
                </a:solidFill>
              </a:rPr>
              <a:t/>
            </a:r>
            <a:br>
              <a:rPr lang="bg-BG" sz="3200">
                <a:solidFill>
                  <a:schemeClr val="tx1"/>
                </a:solidFill>
              </a:rPr>
            </a:br>
            <a:r>
              <a:rPr lang="bg-BG" sz="3200">
                <a:solidFill>
                  <a:schemeClr val="tx1"/>
                </a:solidFill>
              </a:rPr>
              <a:t/>
            </a:r>
            <a:br>
              <a:rPr lang="bg-BG" sz="3200">
                <a:solidFill>
                  <a:schemeClr val="tx1"/>
                </a:solidFill>
              </a:rPr>
            </a:br>
            <a:r>
              <a:rPr lang="bg-BG" sz="3200">
                <a:solidFill>
                  <a:schemeClr val="tx1"/>
                </a:solidFill>
              </a:rPr>
              <a:t>Примерна дефиниция на структурата стек (динамична реализация):</a:t>
            </a:r>
            <a:br>
              <a:rPr lang="bg-BG" sz="3200">
                <a:solidFill>
                  <a:schemeClr val="tx1"/>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sz="3200">
                <a:solidFill>
                  <a:schemeClr val="tx1"/>
                </a:solidFill>
                <a:latin typeface="Courier New" pitchFamily="49" charset="0"/>
              </a:rPr>
              <a:t>struct elem</a:t>
            </a:r>
            <a:r>
              <a:rPr lang="en-US" sz="3200">
                <a:solidFill>
                  <a:schemeClr val="tx1"/>
                </a:solidFill>
                <a:latin typeface="Courier New" pitchFamily="49" charset="0"/>
              </a:rPr>
              <a:t/>
            </a:r>
            <a:br>
              <a:rPr lang="en-US" sz="3200">
                <a:solidFill>
                  <a:schemeClr val="tx1"/>
                </a:solidFill>
                <a:latin typeface="Courier New" pitchFamily="49" charset="0"/>
              </a:rPr>
            </a:br>
            <a:r>
              <a:rPr lang="bg-BG" sz="3200">
                <a:solidFill>
                  <a:schemeClr val="tx1"/>
                </a:solidFill>
                <a:latin typeface="Courier New" pitchFamily="49" charset="0"/>
              </a:rPr>
              <a:t>   { int key; elem *next;} 				*start=NULL;</a:t>
            </a:r>
            <a:r>
              <a:rPr lang="bg-BG">
                <a:solidFill>
                  <a:schemeClr val="tx1"/>
                </a:solidFill>
                <a:latin typeface="Courier New" pitchFamily="49" charset="0"/>
              </a:rPr>
              <a:t/>
            </a:r>
            <a:br>
              <a:rPr lang="bg-BG">
                <a:solidFill>
                  <a:schemeClr val="tx1"/>
                </a:solidFill>
                <a:latin typeface="Courier New" pitchFamily="49" charset="0"/>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endParaRPr lang="en-US">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2BB55BAA-CEDE-4AAB-84A9-0C401A9EF429}" type="slidenum">
              <a:rPr lang="en-US" smtClean="0"/>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900113" y="620713"/>
            <a:ext cx="8064500" cy="5562600"/>
          </a:xfrm>
        </p:spPr>
        <p:txBody>
          <a:bodyPr>
            <a:normAutofit fontScale="90000"/>
          </a:bodyPr>
          <a:lstStyle/>
          <a:p>
            <a:pPr eaLnBrk="1" fontAlgn="auto" hangingPunct="1">
              <a:spcAft>
                <a:spcPts val="0"/>
              </a:spcAft>
              <a:defRPr/>
            </a:pPr>
            <a:r>
              <a:rPr lang="bg-BG" sz="3200" dirty="0" err="1">
                <a:solidFill>
                  <a:schemeClr val="tx1"/>
                </a:solidFill>
                <a:latin typeface="Courier New" pitchFamily="49" charset="0"/>
              </a:rPr>
              <a:t>void</a:t>
            </a:r>
            <a:r>
              <a:rPr lang="bg-BG" sz="3200" dirty="0">
                <a:solidFill>
                  <a:schemeClr val="tx1"/>
                </a:solidFill>
                <a:latin typeface="Courier New" pitchFamily="49" charset="0"/>
              </a:rPr>
              <a:t> </a:t>
            </a:r>
            <a:r>
              <a:rPr lang="bg-BG" sz="3200" dirty="0" err="1">
                <a:solidFill>
                  <a:schemeClr val="tx1"/>
                </a:solidFill>
                <a:latin typeface="Courier New" pitchFamily="49" charset="0"/>
              </a:rPr>
              <a:t>push</a:t>
            </a:r>
            <a:r>
              <a:rPr lang="bg-BG" sz="3200" dirty="0">
                <a:solidFill>
                  <a:schemeClr val="tx1"/>
                </a:solidFill>
                <a:latin typeface="Courier New" pitchFamily="49" charset="0"/>
              </a:rPr>
              <a:t>(</a:t>
            </a:r>
            <a:r>
              <a:rPr lang="bg-BG" sz="3200" dirty="0" err="1">
                <a:solidFill>
                  <a:schemeClr val="tx1"/>
                </a:solidFill>
                <a:latin typeface="Courier New" pitchFamily="49" charset="0"/>
              </a:rPr>
              <a:t>int</a:t>
            </a:r>
            <a:r>
              <a:rPr lang="bg-BG" sz="3200" dirty="0">
                <a:solidFill>
                  <a:schemeClr val="tx1"/>
                </a:solidFill>
                <a:latin typeface="Courier New" pitchFamily="49" charset="0"/>
              </a:rPr>
              <a:t> n)	</a:t>
            </a:r>
            <a:r>
              <a:rPr lang="bg-BG" sz="3200" dirty="0" smtClean="0">
                <a:solidFill>
                  <a:schemeClr val="tx1"/>
                </a:solidFill>
                <a:latin typeface="Courier New" pitchFamily="49" charset="0"/>
              </a:rPr>
              <a:t>//</a:t>
            </a:r>
            <a:r>
              <a:rPr lang="bg-BG" sz="3200" dirty="0">
                <a:solidFill>
                  <a:schemeClr val="tx1"/>
                </a:solidFill>
                <a:latin typeface="Courier New" pitchFamily="49" charset="0"/>
              </a:rPr>
              <a:t>добавяне </a:t>
            </a:r>
            <a:r>
              <a:rPr lang="bg-BG" sz="3200" dirty="0" smtClean="0">
                <a:solidFill>
                  <a:schemeClr val="tx1"/>
                </a:solidFill>
                <a:latin typeface="Courier New" pitchFamily="49" charset="0"/>
              </a:rPr>
              <a:t>на</a:t>
            </a:r>
            <a:br>
              <a:rPr lang="bg-BG" sz="3200" dirty="0" smtClean="0">
                <a:solidFill>
                  <a:schemeClr val="tx1"/>
                </a:solidFill>
                <a:latin typeface="Courier New" pitchFamily="49" charset="0"/>
              </a:rPr>
            </a:br>
            <a:r>
              <a:rPr lang="bg-BG" sz="3200" dirty="0" smtClean="0">
                <a:solidFill>
                  <a:schemeClr val="tx1"/>
                </a:solidFill>
                <a:latin typeface="Courier New" pitchFamily="49" charset="0"/>
              </a:rPr>
              <a:t>				//елемент </a:t>
            </a:r>
            <a:r>
              <a:rPr lang="bg-BG" sz="3200" dirty="0">
                <a:solidFill>
                  <a:schemeClr val="tx1"/>
                </a:solidFill>
                <a:latin typeface="Courier New" pitchFamily="49" charset="0"/>
              </a:rPr>
              <a:t>в стека</a:t>
            </a:r>
            <a:br>
              <a:rPr lang="bg-BG" sz="3200" dirty="0">
                <a:solidFill>
                  <a:schemeClr val="tx1"/>
                </a:solidFill>
                <a:latin typeface="Courier New" pitchFamily="49" charset="0"/>
              </a:rPr>
            </a:br>
            <a:r>
              <a:rPr lang="bg-BG" sz="3200" dirty="0">
                <a:solidFill>
                  <a:schemeClr val="tx1"/>
                </a:solidFill>
                <a:latin typeface="Courier New" pitchFamily="49" charset="0"/>
              </a:rPr>
              <a:t>{</a:t>
            </a:r>
            <a:r>
              <a:rPr lang="en-US" sz="3200" dirty="0">
                <a:solidFill>
                  <a:schemeClr val="tx1"/>
                </a:solidFill>
                <a:latin typeface="Courier New" pitchFamily="49" charset="0"/>
              </a:rPr>
              <a:t/>
            </a:r>
            <a:br>
              <a:rPr lang="en-US" sz="3200" dirty="0">
                <a:solidFill>
                  <a:schemeClr val="tx1"/>
                </a:solidFill>
                <a:latin typeface="Courier New" pitchFamily="49" charset="0"/>
              </a:rPr>
            </a:br>
            <a:r>
              <a:rPr lang="bg-BG" sz="3200" dirty="0">
                <a:solidFill>
                  <a:schemeClr val="tx1"/>
                </a:solidFill>
                <a:latin typeface="Courier New" pitchFamily="49" charset="0"/>
              </a:rPr>
              <a:t>  </a:t>
            </a:r>
            <a:r>
              <a:rPr lang="en-US" sz="3200" dirty="0" err="1">
                <a:solidFill>
                  <a:schemeClr val="tx1"/>
                </a:solidFill>
                <a:latin typeface="Courier New" pitchFamily="49" charset="0"/>
              </a:rPr>
              <a:t>elem</a:t>
            </a:r>
            <a:r>
              <a:rPr lang="en-US" sz="3200" dirty="0">
                <a:solidFill>
                  <a:schemeClr val="tx1"/>
                </a:solidFill>
                <a:latin typeface="Courier New" pitchFamily="49" charset="0"/>
              </a:rPr>
              <a:t> *</a:t>
            </a:r>
            <a:r>
              <a:rPr lang="bg-BG" sz="3200" dirty="0">
                <a:solidFill>
                  <a:schemeClr val="tx1"/>
                </a:solidFill>
                <a:latin typeface="Courier New" pitchFamily="49" charset="0"/>
              </a:rPr>
              <a:t>p=</a:t>
            </a:r>
            <a:r>
              <a:rPr lang="bg-BG" sz="3200" dirty="0" err="1">
                <a:solidFill>
                  <a:schemeClr val="tx1"/>
                </a:solidFill>
                <a:latin typeface="Courier New" pitchFamily="49" charset="0"/>
              </a:rPr>
              <a:t>start</a:t>
            </a:r>
            <a:r>
              <a:rPr lang="bg-BG" sz="3200" dirty="0">
                <a:solidFill>
                  <a:schemeClr val="tx1"/>
                </a:solidFill>
                <a:latin typeface="Courier New" pitchFamily="49" charset="0"/>
              </a:rPr>
              <a:t>;</a:t>
            </a:r>
            <a:r>
              <a:rPr lang="en-US" sz="3200" dirty="0">
                <a:solidFill>
                  <a:schemeClr val="tx1"/>
                </a:solidFill>
                <a:latin typeface="Courier New" pitchFamily="49" charset="0"/>
              </a:rPr>
              <a:t/>
            </a:r>
            <a:br>
              <a:rPr lang="en-US" sz="3200" dirty="0">
                <a:solidFill>
                  <a:schemeClr val="tx1"/>
                </a:solidFill>
                <a:latin typeface="Courier New" pitchFamily="49" charset="0"/>
              </a:rPr>
            </a:br>
            <a:r>
              <a:rPr lang="bg-BG" sz="3200" dirty="0">
                <a:solidFill>
                  <a:schemeClr val="tx1"/>
                </a:solidFill>
                <a:latin typeface="Courier New" pitchFamily="49" charset="0"/>
              </a:rPr>
              <a:t>  </a:t>
            </a:r>
            <a:r>
              <a:rPr lang="bg-BG" sz="3200" dirty="0" err="1">
                <a:solidFill>
                  <a:schemeClr val="tx1"/>
                </a:solidFill>
                <a:latin typeface="Courier New" pitchFamily="49" charset="0"/>
              </a:rPr>
              <a:t>start</a:t>
            </a:r>
            <a:r>
              <a:rPr lang="bg-BG" sz="3200" dirty="0">
                <a:solidFill>
                  <a:schemeClr val="tx1"/>
                </a:solidFill>
                <a:latin typeface="Courier New" pitchFamily="49" charset="0"/>
              </a:rPr>
              <a:t>=</a:t>
            </a:r>
            <a:r>
              <a:rPr lang="bg-BG" sz="3200" dirty="0" err="1">
                <a:solidFill>
                  <a:schemeClr val="tx1"/>
                </a:solidFill>
                <a:latin typeface="Courier New" pitchFamily="49" charset="0"/>
              </a:rPr>
              <a:t>new</a:t>
            </a:r>
            <a:r>
              <a:rPr lang="bg-BG" sz="3200" dirty="0">
                <a:solidFill>
                  <a:schemeClr val="tx1"/>
                </a:solidFill>
                <a:latin typeface="Courier New" pitchFamily="49" charset="0"/>
              </a:rPr>
              <a:t> </a:t>
            </a:r>
            <a:r>
              <a:rPr lang="bg-BG" sz="3200" dirty="0" err="1">
                <a:solidFill>
                  <a:schemeClr val="tx1"/>
                </a:solidFill>
                <a:latin typeface="Courier New" pitchFamily="49" charset="0"/>
              </a:rPr>
              <a:t>elem</a:t>
            </a:r>
            <a:r>
              <a:rPr lang="bg-BG" sz="3200" dirty="0" smtClean="0">
                <a:solidFill>
                  <a:schemeClr val="tx1"/>
                </a:solidFill>
                <a:latin typeface="Courier New" pitchFamily="49" charset="0"/>
              </a:rPr>
              <a:t>;</a:t>
            </a:r>
            <a:br>
              <a:rPr lang="bg-BG" sz="3200" dirty="0" smtClean="0">
                <a:solidFill>
                  <a:schemeClr val="tx1"/>
                </a:solidFill>
                <a:latin typeface="Courier New" pitchFamily="49" charset="0"/>
              </a:rPr>
            </a:br>
            <a:r>
              <a:rPr lang="bg-BG" sz="3200" dirty="0">
                <a:solidFill>
                  <a:schemeClr val="tx1"/>
                </a:solidFill>
                <a:latin typeface="Courier New" pitchFamily="49" charset="0"/>
              </a:rPr>
              <a:t>		</a:t>
            </a:r>
            <a:r>
              <a:rPr lang="bg-BG" sz="3200" dirty="0" smtClean="0">
                <a:solidFill>
                  <a:schemeClr val="tx1"/>
                </a:solidFill>
                <a:latin typeface="Courier New" pitchFamily="49" charset="0"/>
              </a:rPr>
              <a:t>    //</a:t>
            </a:r>
            <a:r>
              <a:rPr lang="bg-BG" sz="3200" dirty="0">
                <a:solidFill>
                  <a:schemeClr val="tx1"/>
                </a:solidFill>
                <a:latin typeface="Courier New" pitchFamily="49" charset="0"/>
              </a:rPr>
              <a:t>създаване на елемент</a:t>
            </a:r>
            <a:br>
              <a:rPr lang="bg-BG" sz="3200" dirty="0">
                <a:solidFill>
                  <a:schemeClr val="tx1"/>
                </a:solidFill>
                <a:latin typeface="Courier New" pitchFamily="49" charset="0"/>
              </a:rPr>
            </a:br>
            <a:r>
              <a:rPr lang="bg-BG" sz="3200" dirty="0">
                <a:solidFill>
                  <a:schemeClr val="tx1"/>
                </a:solidFill>
                <a:latin typeface="Courier New" pitchFamily="49" charset="0"/>
              </a:rPr>
              <a:t>  </a:t>
            </a:r>
            <a:r>
              <a:rPr lang="bg-BG" sz="3200" dirty="0" err="1">
                <a:solidFill>
                  <a:schemeClr val="tx1"/>
                </a:solidFill>
                <a:latin typeface="Courier New" pitchFamily="49" charset="0"/>
              </a:rPr>
              <a:t>start-</a:t>
            </a:r>
            <a:r>
              <a:rPr lang="bg-BG" sz="3200" dirty="0">
                <a:solidFill>
                  <a:schemeClr val="tx1"/>
                </a:solidFill>
                <a:latin typeface="Courier New" pitchFamily="49" charset="0"/>
              </a:rPr>
              <a:t>&gt;</a:t>
            </a:r>
            <a:r>
              <a:rPr lang="bg-BG" sz="3200" dirty="0" err="1">
                <a:solidFill>
                  <a:schemeClr val="tx1"/>
                </a:solidFill>
                <a:latin typeface="Courier New" pitchFamily="49" charset="0"/>
              </a:rPr>
              <a:t>key</a:t>
            </a:r>
            <a:r>
              <a:rPr lang="bg-BG" sz="3200" dirty="0">
                <a:solidFill>
                  <a:schemeClr val="tx1"/>
                </a:solidFill>
                <a:latin typeface="Courier New" pitchFamily="49" charset="0"/>
              </a:rPr>
              <a:t>=n;</a:t>
            </a:r>
            <a:r>
              <a:rPr lang="en-US" sz="3200" dirty="0">
                <a:solidFill>
                  <a:schemeClr val="tx1"/>
                </a:solidFill>
                <a:latin typeface="Courier New" pitchFamily="49" charset="0"/>
              </a:rPr>
              <a:t/>
            </a:r>
            <a:br>
              <a:rPr lang="en-US" sz="3200" dirty="0">
                <a:solidFill>
                  <a:schemeClr val="tx1"/>
                </a:solidFill>
                <a:latin typeface="Courier New" pitchFamily="49" charset="0"/>
              </a:rPr>
            </a:br>
            <a:r>
              <a:rPr lang="bg-BG" sz="3200" dirty="0">
                <a:solidFill>
                  <a:schemeClr val="tx1"/>
                </a:solidFill>
                <a:latin typeface="Courier New" pitchFamily="49" charset="0"/>
              </a:rPr>
              <a:t>  </a:t>
            </a:r>
            <a:r>
              <a:rPr lang="bg-BG" sz="3200" dirty="0" err="1">
                <a:solidFill>
                  <a:schemeClr val="tx1"/>
                </a:solidFill>
                <a:latin typeface="Courier New" pitchFamily="49" charset="0"/>
              </a:rPr>
              <a:t>start-</a:t>
            </a:r>
            <a:r>
              <a:rPr lang="bg-BG" sz="3200" dirty="0">
                <a:solidFill>
                  <a:schemeClr val="tx1"/>
                </a:solidFill>
                <a:latin typeface="Courier New" pitchFamily="49" charset="0"/>
              </a:rPr>
              <a:t>&gt;</a:t>
            </a:r>
            <a:r>
              <a:rPr lang="bg-BG" sz="3200" dirty="0" err="1">
                <a:solidFill>
                  <a:schemeClr val="tx1"/>
                </a:solidFill>
                <a:latin typeface="Courier New" pitchFamily="49" charset="0"/>
              </a:rPr>
              <a:t>next</a:t>
            </a:r>
            <a:r>
              <a:rPr lang="bg-BG" sz="3200" dirty="0">
                <a:solidFill>
                  <a:schemeClr val="tx1"/>
                </a:solidFill>
                <a:latin typeface="Courier New" pitchFamily="49" charset="0"/>
              </a:rPr>
              <a:t>=p;	</a:t>
            </a:r>
            <a:r>
              <a:rPr lang="bg-BG" sz="3200" dirty="0" smtClean="0">
                <a:solidFill>
                  <a:schemeClr val="tx1"/>
                </a:solidFill>
                <a:latin typeface="Courier New" pitchFamily="49" charset="0"/>
              </a:rPr>
              <a:t>// установяване</a:t>
            </a:r>
            <a:br>
              <a:rPr lang="bg-BG" sz="3200" dirty="0" smtClean="0">
                <a:solidFill>
                  <a:schemeClr val="tx1"/>
                </a:solidFill>
                <a:latin typeface="Courier New" pitchFamily="49" charset="0"/>
              </a:rPr>
            </a:br>
            <a:r>
              <a:rPr lang="bg-BG" sz="3200" dirty="0" smtClean="0">
                <a:solidFill>
                  <a:schemeClr val="tx1"/>
                </a:solidFill>
                <a:latin typeface="Courier New" pitchFamily="49" charset="0"/>
              </a:rPr>
              <a:t>				// на </a:t>
            </a:r>
            <a:r>
              <a:rPr lang="bg-BG" sz="3200" dirty="0">
                <a:solidFill>
                  <a:schemeClr val="tx1"/>
                </a:solidFill>
                <a:latin typeface="Courier New" pitchFamily="49" charset="0"/>
              </a:rPr>
              <a:t>нов връх</a:t>
            </a:r>
            <a:br>
              <a:rPr lang="bg-BG" sz="3200" dirty="0">
                <a:solidFill>
                  <a:schemeClr val="tx1"/>
                </a:solidFill>
                <a:latin typeface="Courier New" pitchFamily="49" charset="0"/>
              </a:rPr>
            </a:br>
            <a:r>
              <a:rPr lang="bg-BG" sz="3200" dirty="0">
                <a:solidFill>
                  <a:schemeClr val="tx1"/>
                </a:solidFill>
                <a:latin typeface="Courier New" pitchFamily="49" charset="0"/>
              </a:rPr>
              <a:t>}</a:t>
            </a:r>
            <a:r>
              <a:rPr lang="en-US" sz="3200" dirty="0">
                <a:solidFill>
                  <a:schemeClr val="tx1"/>
                </a:solidFill>
                <a:latin typeface="Courier New" pitchFamily="49" charset="0"/>
              </a:rPr>
              <a:t/>
            </a:r>
            <a:br>
              <a:rPr lang="en-US" sz="3200" dirty="0">
                <a:solidFill>
                  <a:schemeClr val="tx1"/>
                </a:solidFill>
                <a:latin typeface="Courier New" pitchFamily="49" charset="0"/>
              </a:rPr>
            </a:br>
            <a:endParaRPr lang="en-US" dirty="0">
              <a:solidFill>
                <a:schemeClr val="tx1"/>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26F61028-01AC-4089-8314-5A77CC34C76E}"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26"/>
          <p:cNvSpPr>
            <a:spLocks noGrp="1" noChangeArrowheads="1"/>
          </p:cNvSpPr>
          <p:nvPr>
            <p:ph type="title"/>
          </p:nvPr>
        </p:nvSpPr>
        <p:spPr>
          <a:xfrm>
            <a:off x="1116013" y="620713"/>
            <a:ext cx="7772400" cy="5791200"/>
          </a:xfrm>
        </p:spPr>
        <p:txBody>
          <a:bodyPr>
            <a:normAutofit fontScale="90000"/>
          </a:bodyPr>
          <a:lstStyle/>
          <a:p>
            <a:pPr eaLnBrk="1" fontAlgn="auto" hangingPunct="1">
              <a:spcAft>
                <a:spcPts val="0"/>
              </a:spcAft>
              <a:defRPr/>
            </a:pPr>
            <a:r>
              <a:rPr lang="bg-BG" sz="2400" dirty="0">
                <a:solidFill>
                  <a:schemeClr val="tx1"/>
                </a:solidFill>
                <a:latin typeface="Courier New" pitchFamily="49" charset="0"/>
              </a:rPr>
              <a:t/>
            </a:r>
            <a:br>
              <a:rPr lang="bg-BG" sz="2400" dirty="0">
                <a:solidFill>
                  <a:schemeClr val="tx1"/>
                </a:solidFill>
                <a:latin typeface="Courier New" pitchFamily="49" charset="0"/>
              </a:rPr>
            </a:br>
            <a:r>
              <a:rPr lang="bg-BG" sz="2400" dirty="0">
                <a:solidFill>
                  <a:schemeClr val="tx1"/>
                </a:solidFill>
                <a:latin typeface="Courier New" pitchFamily="49" charset="0"/>
              </a:rPr>
              <a:t/>
            </a:r>
            <a:br>
              <a:rPr lang="bg-BG" sz="2400" dirty="0">
                <a:solidFill>
                  <a:schemeClr val="tx1"/>
                </a:solidFill>
                <a:latin typeface="Courier New" pitchFamily="49" charset="0"/>
              </a:rPr>
            </a:br>
            <a:r>
              <a:rPr lang="bg-BG" sz="2400" dirty="0" err="1">
                <a:solidFill>
                  <a:schemeClr val="tx1"/>
                </a:solidFill>
                <a:latin typeface="Courier New" pitchFamily="49" charset="0"/>
              </a:rPr>
              <a:t>int</a:t>
            </a:r>
            <a:r>
              <a:rPr lang="bg-BG" sz="2400" dirty="0">
                <a:solidFill>
                  <a:schemeClr val="tx1"/>
                </a:solidFill>
                <a:latin typeface="Courier New" pitchFamily="49" charset="0"/>
              </a:rPr>
              <a:t> </a:t>
            </a:r>
            <a:r>
              <a:rPr lang="bg-BG" sz="2400" dirty="0" err="1">
                <a:solidFill>
                  <a:schemeClr val="tx1"/>
                </a:solidFill>
                <a:latin typeface="Courier New" pitchFamily="49" charset="0"/>
              </a:rPr>
              <a:t>pop</a:t>
            </a:r>
            <a:r>
              <a:rPr lang="bg-BG" sz="2400" dirty="0">
                <a:solidFill>
                  <a:schemeClr val="tx1"/>
                </a:solidFill>
                <a:latin typeface="Courier New" pitchFamily="49" charset="0"/>
              </a:rPr>
              <a:t>(</a:t>
            </a:r>
            <a:r>
              <a:rPr lang="bg-BG" sz="2400" dirty="0" err="1">
                <a:solidFill>
                  <a:schemeClr val="tx1"/>
                </a:solidFill>
                <a:latin typeface="Courier New" pitchFamily="49" charset="0"/>
              </a:rPr>
              <a:t>int</a:t>
            </a:r>
            <a:r>
              <a:rPr lang="bg-BG" sz="2400" dirty="0">
                <a:solidFill>
                  <a:schemeClr val="tx1"/>
                </a:solidFill>
                <a:latin typeface="Courier New" pitchFamily="49" charset="0"/>
              </a:rPr>
              <a:t> &amp;n)	     </a:t>
            </a:r>
            <a:r>
              <a:rPr lang="bg-BG" sz="2400" dirty="0" smtClean="0">
                <a:solidFill>
                  <a:schemeClr val="tx1"/>
                </a:solidFill>
                <a:latin typeface="Courier New" pitchFamily="49" charset="0"/>
              </a:rPr>
              <a:t>// извличане на</a:t>
            </a:r>
            <a:br>
              <a:rPr lang="bg-BG" sz="2400" dirty="0" smtClean="0">
                <a:solidFill>
                  <a:schemeClr val="tx1"/>
                </a:solidFill>
                <a:latin typeface="Courier New" pitchFamily="49" charset="0"/>
              </a:rPr>
            </a:br>
            <a:r>
              <a:rPr lang="bg-BG" sz="2400" dirty="0">
                <a:solidFill>
                  <a:schemeClr val="tx1"/>
                </a:solidFill>
                <a:latin typeface="Courier New" pitchFamily="49" charset="0"/>
              </a:rPr>
              <a:t>			</a:t>
            </a:r>
            <a:r>
              <a:rPr lang="bg-BG" sz="2400" dirty="0" smtClean="0">
                <a:solidFill>
                  <a:schemeClr val="tx1"/>
                </a:solidFill>
                <a:latin typeface="Courier New" pitchFamily="49" charset="0"/>
              </a:rPr>
              <a:t>     // елемент </a:t>
            </a:r>
            <a:r>
              <a:rPr lang="bg-BG" sz="2400" dirty="0">
                <a:solidFill>
                  <a:schemeClr val="tx1"/>
                </a:solidFill>
                <a:latin typeface="Courier New" pitchFamily="49" charset="0"/>
              </a:rPr>
              <a:t>от стека</a:t>
            </a:r>
            <a:r>
              <a:rPr lang="en-US" sz="2400" dirty="0">
                <a:solidFill>
                  <a:schemeClr val="tx1"/>
                </a:solidFill>
                <a:latin typeface="Courier New" pitchFamily="49" charset="0"/>
              </a:rPr>
              <a:t/>
            </a:r>
            <a:br>
              <a:rPr lang="en-US" sz="2400" dirty="0">
                <a:solidFill>
                  <a:schemeClr val="tx1"/>
                </a:solidFill>
                <a:latin typeface="Courier New" pitchFamily="49" charset="0"/>
              </a:rPr>
            </a:br>
            <a:r>
              <a:rPr lang="bg-BG" sz="2400" dirty="0">
                <a:solidFill>
                  <a:schemeClr val="tx1"/>
                </a:solidFill>
                <a:latin typeface="Courier New" pitchFamily="49" charset="0"/>
              </a:rPr>
              <a:t>{				</a:t>
            </a:r>
            <a:br>
              <a:rPr lang="bg-BG" sz="2400" dirty="0">
                <a:solidFill>
                  <a:schemeClr val="tx1"/>
                </a:solidFill>
                <a:latin typeface="Courier New" pitchFamily="49" charset="0"/>
              </a:rPr>
            </a:br>
            <a:r>
              <a:rPr lang="bg-BG" sz="2400" dirty="0">
                <a:solidFill>
                  <a:schemeClr val="tx2">
                    <a:satMod val="130000"/>
                  </a:schemeClr>
                </a:solidFill>
                <a:latin typeface="Courier New" pitchFamily="49" charset="0"/>
              </a:rPr>
              <a:t>  </a:t>
            </a:r>
            <a:r>
              <a:rPr lang="bg-BG" sz="2400" dirty="0" err="1">
                <a:solidFill>
                  <a:schemeClr val="tx1"/>
                </a:solidFill>
                <a:latin typeface="Courier New" pitchFamily="49" charset="0"/>
              </a:rPr>
              <a:t>if</a:t>
            </a:r>
            <a:r>
              <a:rPr lang="bg-BG" sz="2400" dirty="0">
                <a:solidFill>
                  <a:schemeClr val="tx1"/>
                </a:solidFill>
                <a:latin typeface="Courier New" pitchFamily="49" charset="0"/>
              </a:rPr>
              <a:t> (</a:t>
            </a:r>
            <a:r>
              <a:rPr lang="bg-BG" sz="2400" dirty="0" err="1">
                <a:solidFill>
                  <a:schemeClr val="tx1"/>
                </a:solidFill>
                <a:latin typeface="Courier New" pitchFamily="49" charset="0"/>
              </a:rPr>
              <a:t>start</a:t>
            </a:r>
            <a:r>
              <a:rPr lang="bg-BG" sz="2400" dirty="0">
                <a:solidFill>
                  <a:schemeClr val="tx1"/>
                </a:solidFill>
                <a:latin typeface="Courier New" pitchFamily="49" charset="0"/>
              </a:rPr>
              <a:t>)</a:t>
            </a:r>
            <a:r>
              <a:rPr lang="bg-BG" sz="2400" dirty="0">
                <a:solidFill>
                  <a:schemeClr val="tx2">
                    <a:satMod val="130000"/>
                  </a:schemeClr>
                </a:solidFill>
                <a:latin typeface="Courier New" pitchFamily="49" charset="0"/>
              </a:rPr>
              <a:t>		</a:t>
            </a:r>
            <a:r>
              <a:rPr lang="bg-BG" sz="2400" dirty="0" smtClean="0">
                <a:solidFill>
                  <a:schemeClr val="tx1"/>
                </a:solidFill>
                <a:latin typeface="Courier New" pitchFamily="49" charset="0"/>
              </a:rPr>
              <a:t>// проверка </a:t>
            </a:r>
            <a:r>
              <a:rPr lang="bg-BG" sz="2400" dirty="0">
                <a:solidFill>
                  <a:schemeClr val="tx1"/>
                </a:solidFill>
                <a:latin typeface="Courier New" pitchFamily="49" charset="0"/>
              </a:rPr>
              <a:t>за 						</a:t>
            </a:r>
            <a:r>
              <a:rPr lang="bg-BG" sz="2400" dirty="0" smtClean="0">
                <a:solidFill>
                  <a:schemeClr val="tx1"/>
                </a:solidFill>
                <a:latin typeface="Courier New" pitchFamily="49" charset="0"/>
              </a:rPr>
              <a:t>// непразен </a:t>
            </a:r>
            <a:r>
              <a:rPr lang="bg-BG" sz="2400" dirty="0">
                <a:solidFill>
                  <a:schemeClr val="tx1"/>
                </a:solidFill>
                <a:latin typeface="Courier New" pitchFamily="49" charset="0"/>
              </a:rPr>
              <a:t>стек</a:t>
            </a:r>
            <a:r>
              <a:rPr lang="bg-BG" sz="2400" dirty="0">
                <a:solidFill>
                  <a:schemeClr val="tx2">
                    <a:satMod val="130000"/>
                  </a:schemeClr>
                </a:solidFill>
                <a:latin typeface="Courier New" pitchFamily="49" charset="0"/>
              </a:rPr>
              <a:t/>
            </a:r>
            <a:br>
              <a:rPr lang="bg-BG" sz="2400" dirty="0">
                <a:solidFill>
                  <a:schemeClr val="tx2">
                    <a:satMod val="130000"/>
                  </a:schemeClr>
                </a:solidFill>
                <a:latin typeface="Courier New" pitchFamily="49" charset="0"/>
              </a:rPr>
            </a:br>
            <a:r>
              <a:rPr lang="bg-BG" sz="2400" dirty="0">
                <a:solidFill>
                  <a:schemeClr val="tx1"/>
                </a:solidFill>
                <a:latin typeface="Courier New" pitchFamily="49" charset="0"/>
              </a:rPr>
              <a:t>    {</a:t>
            </a:r>
            <a:r>
              <a:rPr lang="en-US" sz="2400" dirty="0">
                <a:solidFill>
                  <a:schemeClr val="tx1"/>
                </a:solidFill>
                <a:latin typeface="Courier New" pitchFamily="49" charset="0"/>
              </a:rPr>
              <a:t/>
            </a:r>
            <a:br>
              <a:rPr lang="en-US" sz="2400" dirty="0">
                <a:solidFill>
                  <a:schemeClr val="tx1"/>
                </a:solidFill>
                <a:latin typeface="Courier New" pitchFamily="49" charset="0"/>
              </a:rPr>
            </a:br>
            <a:r>
              <a:rPr lang="bg-BG" sz="2400" dirty="0">
                <a:solidFill>
                  <a:schemeClr val="tx1"/>
                </a:solidFill>
                <a:latin typeface="Courier New" pitchFamily="49" charset="0"/>
              </a:rPr>
              <a:t>      n=</a:t>
            </a:r>
            <a:r>
              <a:rPr lang="bg-BG" sz="2400" dirty="0" err="1">
                <a:solidFill>
                  <a:schemeClr val="tx1"/>
                </a:solidFill>
                <a:latin typeface="Courier New" pitchFamily="49" charset="0"/>
              </a:rPr>
              <a:t>start-</a:t>
            </a:r>
            <a:r>
              <a:rPr lang="bg-BG" sz="2400" dirty="0">
                <a:solidFill>
                  <a:schemeClr val="tx1"/>
                </a:solidFill>
                <a:latin typeface="Courier New" pitchFamily="49" charset="0"/>
              </a:rPr>
              <a:t>&gt;</a:t>
            </a:r>
            <a:r>
              <a:rPr lang="bg-BG" sz="2400" dirty="0" err="1">
                <a:solidFill>
                  <a:schemeClr val="tx1"/>
                </a:solidFill>
                <a:latin typeface="Courier New" pitchFamily="49" charset="0"/>
              </a:rPr>
              <a:t>key</a:t>
            </a:r>
            <a:r>
              <a:rPr lang="bg-BG" sz="2400" dirty="0">
                <a:solidFill>
                  <a:schemeClr val="tx1"/>
                </a:solidFill>
                <a:latin typeface="Courier New" pitchFamily="49" charset="0"/>
              </a:rPr>
              <a:t>;</a:t>
            </a:r>
            <a:br>
              <a:rPr lang="bg-BG" sz="2400" dirty="0">
                <a:solidFill>
                  <a:schemeClr val="tx1"/>
                </a:solidFill>
                <a:latin typeface="Courier New" pitchFamily="49" charset="0"/>
              </a:rPr>
            </a:br>
            <a:r>
              <a:rPr lang="bg-BG" sz="2400" dirty="0">
                <a:solidFill>
                  <a:schemeClr val="tx1"/>
                </a:solidFill>
                <a:latin typeface="Courier New" pitchFamily="49" charset="0"/>
              </a:rPr>
              <a:t>      </a:t>
            </a:r>
            <a:r>
              <a:rPr lang="en-US" sz="2400" dirty="0" err="1">
                <a:solidFill>
                  <a:schemeClr val="tx1"/>
                </a:solidFill>
                <a:latin typeface="Courier New" pitchFamily="49" charset="0"/>
              </a:rPr>
              <a:t>elem</a:t>
            </a:r>
            <a:r>
              <a:rPr lang="en-US" sz="2400" dirty="0">
                <a:solidFill>
                  <a:schemeClr val="tx1"/>
                </a:solidFill>
                <a:latin typeface="Courier New" pitchFamily="49" charset="0"/>
              </a:rPr>
              <a:t> *</a:t>
            </a:r>
            <a:r>
              <a:rPr lang="bg-BG" sz="2400" dirty="0">
                <a:solidFill>
                  <a:schemeClr val="tx1"/>
                </a:solidFill>
                <a:latin typeface="Courier New" pitchFamily="49" charset="0"/>
              </a:rPr>
              <a:t>p=</a:t>
            </a:r>
            <a:r>
              <a:rPr lang="bg-BG" sz="2400" dirty="0" err="1">
                <a:solidFill>
                  <a:schemeClr val="tx1"/>
                </a:solidFill>
                <a:latin typeface="Courier New" pitchFamily="49" charset="0"/>
              </a:rPr>
              <a:t>start</a:t>
            </a:r>
            <a:r>
              <a:rPr lang="bg-BG" sz="2400" dirty="0">
                <a:solidFill>
                  <a:schemeClr val="tx1"/>
                </a:solidFill>
                <a:latin typeface="Courier New" pitchFamily="49" charset="0"/>
              </a:rPr>
              <a:t>;</a:t>
            </a:r>
            <a:r>
              <a:rPr lang="en-US" sz="2400" dirty="0">
                <a:solidFill>
                  <a:schemeClr val="tx1"/>
                </a:solidFill>
                <a:latin typeface="Courier New" pitchFamily="49" charset="0"/>
              </a:rPr>
              <a:t/>
            </a:r>
            <a:br>
              <a:rPr lang="en-US" sz="2400" dirty="0">
                <a:solidFill>
                  <a:schemeClr val="tx1"/>
                </a:solidFill>
                <a:latin typeface="Courier New" pitchFamily="49" charset="0"/>
              </a:rPr>
            </a:br>
            <a:r>
              <a:rPr lang="bg-BG" sz="2400" dirty="0">
                <a:solidFill>
                  <a:schemeClr val="tx1"/>
                </a:solidFill>
                <a:latin typeface="Courier New" pitchFamily="49" charset="0"/>
              </a:rPr>
              <a:t>      </a:t>
            </a:r>
            <a:r>
              <a:rPr lang="bg-BG" sz="2400" dirty="0" err="1">
                <a:solidFill>
                  <a:schemeClr val="tx1"/>
                </a:solidFill>
                <a:latin typeface="Courier New" pitchFamily="49" charset="0"/>
              </a:rPr>
              <a:t>start</a:t>
            </a:r>
            <a:r>
              <a:rPr lang="bg-BG" sz="2400" dirty="0">
                <a:solidFill>
                  <a:schemeClr val="tx1"/>
                </a:solidFill>
                <a:latin typeface="Courier New" pitchFamily="49" charset="0"/>
              </a:rPr>
              <a:t>=</a:t>
            </a:r>
            <a:r>
              <a:rPr lang="bg-BG" sz="2400" dirty="0" err="1">
                <a:solidFill>
                  <a:schemeClr val="tx1"/>
                </a:solidFill>
                <a:latin typeface="Courier New" pitchFamily="49" charset="0"/>
              </a:rPr>
              <a:t>start-</a:t>
            </a:r>
            <a:r>
              <a:rPr lang="bg-BG" sz="2400" dirty="0">
                <a:solidFill>
                  <a:schemeClr val="tx1"/>
                </a:solidFill>
                <a:latin typeface="Courier New" pitchFamily="49" charset="0"/>
              </a:rPr>
              <a:t>&gt;</a:t>
            </a:r>
            <a:r>
              <a:rPr lang="bg-BG" sz="2400" dirty="0" err="1">
                <a:solidFill>
                  <a:schemeClr val="tx1"/>
                </a:solidFill>
                <a:latin typeface="Courier New" pitchFamily="49" charset="0"/>
              </a:rPr>
              <a:t>next</a:t>
            </a:r>
            <a:r>
              <a:rPr lang="bg-BG" sz="2400" dirty="0">
                <a:solidFill>
                  <a:schemeClr val="tx1"/>
                </a:solidFill>
                <a:latin typeface="Courier New" pitchFamily="49" charset="0"/>
              </a:rPr>
              <a:t>;</a:t>
            </a:r>
            <a:br>
              <a:rPr lang="bg-BG" sz="2400" dirty="0">
                <a:solidFill>
                  <a:schemeClr val="tx1"/>
                </a:solidFill>
                <a:latin typeface="Courier New" pitchFamily="49" charset="0"/>
              </a:rPr>
            </a:br>
            <a:r>
              <a:rPr lang="bg-BG" sz="2400" dirty="0">
                <a:solidFill>
                  <a:schemeClr val="tx1"/>
                </a:solidFill>
                <a:latin typeface="Courier New" pitchFamily="49" charset="0"/>
              </a:rPr>
              <a:t>      </a:t>
            </a:r>
            <a:r>
              <a:rPr lang="bg-BG" sz="2400" dirty="0" err="1">
                <a:solidFill>
                  <a:schemeClr val="tx1"/>
                </a:solidFill>
                <a:latin typeface="Courier New" pitchFamily="49" charset="0"/>
              </a:rPr>
              <a:t>delete</a:t>
            </a:r>
            <a:r>
              <a:rPr lang="bg-BG" sz="2400" dirty="0">
                <a:solidFill>
                  <a:schemeClr val="tx1"/>
                </a:solidFill>
                <a:latin typeface="Courier New" pitchFamily="49" charset="0"/>
              </a:rPr>
              <a:t> p;	    </a:t>
            </a:r>
            <a:r>
              <a:rPr lang="bg-BG" sz="2400" dirty="0" smtClean="0">
                <a:solidFill>
                  <a:schemeClr val="tx1"/>
                </a:solidFill>
                <a:latin typeface="Courier New" pitchFamily="49" charset="0"/>
              </a:rPr>
              <a:t> //  изтриване </a:t>
            </a:r>
            <a:r>
              <a:rPr lang="bg-BG" sz="2400" dirty="0">
                <a:solidFill>
                  <a:schemeClr val="tx1"/>
                </a:solidFill>
                <a:latin typeface="Courier New" pitchFamily="49" charset="0"/>
              </a:rPr>
              <a:t>на 				</a:t>
            </a:r>
            <a:r>
              <a:rPr lang="bg-BG" sz="2400" dirty="0" smtClean="0">
                <a:solidFill>
                  <a:schemeClr val="tx1"/>
                </a:solidFill>
                <a:latin typeface="Courier New" pitchFamily="49" charset="0"/>
              </a:rPr>
              <a:t>     //  достъпния </a:t>
            </a:r>
            <a:r>
              <a:rPr lang="bg-BG" sz="2400" dirty="0">
                <a:solidFill>
                  <a:schemeClr val="tx1"/>
                </a:solidFill>
                <a:latin typeface="Courier New" pitchFamily="49" charset="0"/>
              </a:rPr>
              <a:t>елемент</a:t>
            </a:r>
            <a:r>
              <a:rPr lang="en-US" sz="2400" dirty="0">
                <a:solidFill>
                  <a:schemeClr val="tx1"/>
                </a:solidFill>
                <a:latin typeface="Courier New" pitchFamily="49" charset="0"/>
              </a:rPr>
              <a:t/>
            </a:r>
            <a:br>
              <a:rPr lang="en-US" sz="2400" dirty="0">
                <a:solidFill>
                  <a:schemeClr val="tx1"/>
                </a:solidFill>
                <a:latin typeface="Courier New" pitchFamily="49" charset="0"/>
              </a:rPr>
            </a:br>
            <a:r>
              <a:rPr lang="bg-BG" sz="2400" dirty="0">
                <a:solidFill>
                  <a:schemeClr val="tx1"/>
                </a:solidFill>
                <a:latin typeface="Courier New" pitchFamily="49" charset="0"/>
              </a:rPr>
              <a:t>      </a:t>
            </a:r>
            <a:r>
              <a:rPr lang="bg-BG" sz="2400" dirty="0" err="1">
                <a:solidFill>
                  <a:schemeClr val="tx1"/>
                </a:solidFill>
                <a:latin typeface="Courier New" pitchFamily="49" charset="0"/>
              </a:rPr>
              <a:t>return</a:t>
            </a:r>
            <a:r>
              <a:rPr lang="bg-BG" sz="2400" dirty="0">
                <a:solidFill>
                  <a:schemeClr val="tx1"/>
                </a:solidFill>
                <a:latin typeface="Courier New" pitchFamily="49" charset="0"/>
              </a:rPr>
              <a:t> 1;</a:t>
            </a:r>
            <a:r>
              <a:rPr lang="en-US" sz="2400" dirty="0">
                <a:solidFill>
                  <a:schemeClr val="tx1"/>
                </a:solidFill>
                <a:latin typeface="Courier New" pitchFamily="49" charset="0"/>
              </a:rPr>
              <a:t/>
            </a:r>
            <a:br>
              <a:rPr lang="en-US" sz="2400" dirty="0">
                <a:solidFill>
                  <a:schemeClr val="tx1"/>
                </a:solidFill>
                <a:latin typeface="Courier New" pitchFamily="49" charset="0"/>
              </a:rPr>
            </a:br>
            <a:r>
              <a:rPr lang="bg-BG" sz="2400" dirty="0">
                <a:solidFill>
                  <a:schemeClr val="tx1"/>
                </a:solidFill>
                <a:latin typeface="Courier New" pitchFamily="49" charset="0"/>
              </a:rPr>
              <a:t>    }</a:t>
            </a:r>
            <a:r>
              <a:rPr lang="en-US" sz="2400" dirty="0">
                <a:solidFill>
                  <a:schemeClr val="tx1"/>
                </a:solidFill>
                <a:latin typeface="Courier New" pitchFamily="49" charset="0"/>
              </a:rPr>
              <a:t/>
            </a:r>
            <a:br>
              <a:rPr lang="en-US" sz="2400" dirty="0">
                <a:solidFill>
                  <a:schemeClr val="tx1"/>
                </a:solidFill>
                <a:latin typeface="Courier New" pitchFamily="49" charset="0"/>
              </a:rPr>
            </a:br>
            <a:r>
              <a:rPr lang="bg-BG" sz="2400" dirty="0">
                <a:solidFill>
                  <a:schemeClr val="tx1"/>
                </a:solidFill>
                <a:latin typeface="Courier New" pitchFamily="49" charset="0"/>
              </a:rPr>
              <a:t>        </a:t>
            </a:r>
            <a:r>
              <a:rPr lang="bg-BG" sz="2400" dirty="0" err="1">
                <a:solidFill>
                  <a:schemeClr val="tx1"/>
                </a:solidFill>
                <a:latin typeface="Courier New" pitchFamily="49" charset="0"/>
              </a:rPr>
              <a:t>else</a:t>
            </a:r>
            <a:r>
              <a:rPr lang="en-US" sz="2400" dirty="0">
                <a:solidFill>
                  <a:schemeClr val="tx1"/>
                </a:solidFill>
                <a:latin typeface="Courier New" pitchFamily="49" charset="0"/>
              </a:rPr>
              <a:t/>
            </a:r>
            <a:br>
              <a:rPr lang="en-US" sz="2400" dirty="0">
                <a:solidFill>
                  <a:schemeClr val="tx1"/>
                </a:solidFill>
                <a:latin typeface="Courier New" pitchFamily="49" charset="0"/>
              </a:rPr>
            </a:br>
            <a:r>
              <a:rPr lang="bg-BG" sz="2400" dirty="0">
                <a:solidFill>
                  <a:schemeClr val="tx1"/>
                </a:solidFill>
                <a:latin typeface="Courier New" pitchFamily="49" charset="0"/>
              </a:rPr>
              <a:t>	 </a:t>
            </a:r>
            <a:r>
              <a:rPr lang="bg-BG" sz="2400" dirty="0" err="1">
                <a:solidFill>
                  <a:schemeClr val="tx1"/>
                </a:solidFill>
                <a:latin typeface="Courier New" pitchFamily="49" charset="0"/>
              </a:rPr>
              <a:t>return</a:t>
            </a:r>
            <a:r>
              <a:rPr lang="bg-BG" sz="2400" dirty="0">
                <a:solidFill>
                  <a:schemeClr val="tx1"/>
                </a:solidFill>
                <a:latin typeface="Courier New" pitchFamily="49" charset="0"/>
              </a:rPr>
              <a:t> 0;		</a:t>
            </a:r>
            <a:r>
              <a:rPr lang="bg-BG" sz="2400" dirty="0" smtClean="0">
                <a:solidFill>
                  <a:schemeClr val="tx1"/>
                </a:solidFill>
                <a:latin typeface="Courier New" pitchFamily="49" charset="0"/>
              </a:rPr>
              <a:t>//  стекът </a:t>
            </a:r>
            <a:r>
              <a:rPr lang="bg-BG" sz="2400" dirty="0">
                <a:solidFill>
                  <a:schemeClr val="tx1"/>
                </a:solidFill>
                <a:latin typeface="Courier New" pitchFamily="49" charset="0"/>
              </a:rPr>
              <a:t>е празен</a:t>
            </a:r>
            <a:br>
              <a:rPr lang="bg-BG" sz="2400" dirty="0">
                <a:solidFill>
                  <a:schemeClr val="tx1"/>
                </a:solidFill>
                <a:latin typeface="Courier New" pitchFamily="49" charset="0"/>
              </a:rPr>
            </a:br>
            <a:r>
              <a:rPr lang="bg-BG" sz="2400" dirty="0">
                <a:solidFill>
                  <a:schemeClr val="tx1"/>
                </a:solidFill>
                <a:latin typeface="Courier New" pitchFamily="49" charset="0"/>
              </a:rPr>
              <a:t>}</a:t>
            </a:r>
            <a:r>
              <a:rPr lang="en-US" sz="2400" dirty="0">
                <a:solidFill>
                  <a:schemeClr val="tx1"/>
                </a:solidFill>
                <a:latin typeface="Courier New" pitchFamily="49" charset="0"/>
              </a:rPr>
              <a:t/>
            </a:r>
            <a:br>
              <a:rPr lang="en-US" sz="2400" dirty="0">
                <a:solidFill>
                  <a:schemeClr val="tx1"/>
                </a:solidFill>
                <a:latin typeface="Courier New" pitchFamily="49" charset="0"/>
              </a:rPr>
            </a:br>
            <a:endParaRPr lang="en-US" dirty="0">
              <a:solidFill>
                <a:schemeClr val="tx1"/>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6CF415AA-B5BB-433E-9582-8F3912B6CE9D}"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187450" y="836613"/>
            <a:ext cx="7772400" cy="5761037"/>
          </a:xfrm>
        </p:spPr>
        <p:txBody>
          <a:bodyPr>
            <a:normAutofit fontScale="90000"/>
          </a:bodyPr>
          <a:lstStyle/>
          <a:p>
            <a:pPr eaLnBrk="1" fontAlgn="auto" hangingPunct="1">
              <a:spcAft>
                <a:spcPts val="0"/>
              </a:spcAft>
              <a:defRPr/>
            </a:pPr>
            <a:r>
              <a:rPr lang="bg-BG" sz="1600" dirty="0">
                <a:solidFill>
                  <a:schemeClr val="tx1"/>
                </a:solidFill>
              </a:rPr>
              <a:t/>
            </a:r>
            <a:br>
              <a:rPr lang="bg-BG" sz="1600" dirty="0">
                <a:solidFill>
                  <a:schemeClr val="tx1"/>
                </a:solidFill>
              </a:rPr>
            </a:br>
            <a:r>
              <a:rPr lang="bg-BG" sz="1600" dirty="0">
                <a:solidFill>
                  <a:schemeClr val="tx1"/>
                </a:solidFill>
              </a:rPr>
              <a:t/>
            </a:r>
            <a:br>
              <a:rPr lang="bg-BG" sz="1600" dirty="0">
                <a:solidFill>
                  <a:schemeClr val="tx1"/>
                </a:solidFill>
              </a:rPr>
            </a:br>
            <a:r>
              <a:rPr lang="bg-BG" sz="2200" dirty="0">
                <a:solidFill>
                  <a:schemeClr val="tx1"/>
                </a:solidFill>
              </a:rPr>
              <a:t>	Динамична реализация на стек: въвеждане на поредица от цели положителни числа и нейното извеждане върху екрана в обратен ред. За край на поредицата от клавиатурата се въвежда символ, различен от цифра. Поредицата се реализира като стек.</a:t>
            </a:r>
            <a:r>
              <a:rPr lang="en-US" sz="1800" dirty="0">
                <a:solidFill>
                  <a:schemeClr val="tx1"/>
                </a:solidFill>
              </a:rPr>
              <a:t/>
            </a:r>
            <a:br>
              <a:rPr lang="en-US" sz="1800" dirty="0">
                <a:solidFill>
                  <a:schemeClr val="tx1"/>
                </a:solidFill>
              </a:rPr>
            </a:br>
            <a:r>
              <a:rPr lang="bg-BG" sz="1600" dirty="0">
                <a:solidFill>
                  <a:schemeClr val="tx1"/>
                </a:solidFill>
              </a:rPr>
              <a:t/>
            </a:r>
            <a:br>
              <a:rPr lang="bg-BG" sz="1600" dirty="0">
                <a:solidFill>
                  <a:schemeClr val="tx1"/>
                </a:solidFill>
              </a:rPr>
            </a:br>
            <a:r>
              <a:rPr lang="bg-BG" sz="2200" dirty="0">
                <a:solidFill>
                  <a:schemeClr val="tx1"/>
                </a:solidFill>
                <a:latin typeface="Courier New" pitchFamily="49" charset="0"/>
              </a:rPr>
              <a:t>#</a:t>
            </a:r>
            <a:r>
              <a:rPr lang="bg-BG" sz="2200" dirty="0" err="1">
                <a:solidFill>
                  <a:schemeClr val="tx1"/>
                </a:solidFill>
                <a:latin typeface="Courier New" pitchFamily="49" charset="0"/>
              </a:rPr>
              <a:t>include</a:t>
            </a:r>
            <a:r>
              <a:rPr lang="bg-BG" sz="2200" dirty="0">
                <a:solidFill>
                  <a:schemeClr val="tx1"/>
                </a:solidFill>
                <a:latin typeface="Courier New" pitchFamily="49" charset="0"/>
              </a:rPr>
              <a:t> &lt;</a:t>
            </a:r>
            <a:r>
              <a:rPr lang="bg-BG" sz="2200" dirty="0" err="1" smtClean="0">
                <a:solidFill>
                  <a:schemeClr val="tx1"/>
                </a:solidFill>
                <a:latin typeface="Courier New" pitchFamily="49" charset="0"/>
              </a:rPr>
              <a:t>iostream</a:t>
            </a:r>
            <a:r>
              <a:rPr lang="bg-BG" sz="2200" dirty="0" smtClean="0">
                <a:solidFill>
                  <a:schemeClr val="tx1"/>
                </a:solidFill>
                <a:latin typeface="Courier New" pitchFamily="49" charset="0"/>
              </a:rPr>
              <a:t>&gt;</a:t>
            </a:r>
            <a:r>
              <a:rPr lang="bg-BG" sz="2200" dirty="0">
                <a:solidFill>
                  <a:schemeClr val="tx1"/>
                </a:solidFill>
                <a:latin typeface="Courier New" pitchFamily="49" charset="0"/>
              </a:rPr>
              <a:t/>
            </a:r>
            <a:br>
              <a:rPr lang="bg-BG" sz="2200" dirty="0">
                <a:solidFill>
                  <a:schemeClr val="tx1"/>
                </a:solidFill>
                <a:latin typeface="Courier New" pitchFamily="49" charset="0"/>
              </a:rPr>
            </a:br>
            <a:r>
              <a:rPr lang="en-US" sz="2200" dirty="0" smtClean="0">
                <a:solidFill>
                  <a:schemeClr val="tx1"/>
                </a:solidFill>
                <a:latin typeface="Courier New" pitchFamily="49" charset="0"/>
              </a:rPr>
              <a:t>using namespace std; </a:t>
            </a:r>
            <a:r>
              <a:rPr lang="en-US" sz="2200" dirty="0">
                <a:solidFill>
                  <a:schemeClr val="tx1"/>
                </a:solidFill>
                <a:latin typeface="Courier New" pitchFamily="49" charset="0"/>
              </a:rPr>
              <a:t/>
            </a:r>
            <a:br>
              <a:rPr lang="en-US" sz="2200" dirty="0">
                <a:solidFill>
                  <a:schemeClr val="tx1"/>
                </a:solidFill>
                <a:latin typeface="Courier New" pitchFamily="49" charset="0"/>
              </a:rPr>
            </a:br>
            <a:r>
              <a:rPr lang="bg-BG" sz="2200" dirty="0" err="1">
                <a:solidFill>
                  <a:schemeClr val="tx1"/>
                </a:solidFill>
                <a:latin typeface="Courier New" pitchFamily="49" charset="0"/>
              </a:rPr>
              <a:t>void</a:t>
            </a:r>
            <a:r>
              <a:rPr lang="bg-BG" sz="2200" dirty="0">
                <a:solidFill>
                  <a:schemeClr val="tx1"/>
                </a:solidFill>
                <a:latin typeface="Courier New" pitchFamily="49" charset="0"/>
              </a:rPr>
              <a:t> </a:t>
            </a:r>
            <a:r>
              <a:rPr lang="bg-BG" sz="2200" dirty="0" err="1">
                <a:solidFill>
                  <a:schemeClr val="tx1"/>
                </a:solidFill>
                <a:latin typeface="Courier New" pitchFamily="49" charset="0"/>
              </a:rPr>
              <a:t>push</a:t>
            </a:r>
            <a:r>
              <a:rPr lang="bg-BG" sz="2200" dirty="0">
                <a:solidFill>
                  <a:schemeClr val="tx1"/>
                </a:solidFill>
                <a:latin typeface="Courier New" pitchFamily="49" charset="0"/>
              </a:rPr>
              <a:t>(</a:t>
            </a:r>
            <a:r>
              <a:rPr lang="bg-BG" sz="2200" dirty="0" err="1">
                <a:solidFill>
                  <a:schemeClr val="tx1"/>
                </a:solidFill>
                <a:latin typeface="Courier New" pitchFamily="49" charset="0"/>
              </a:rPr>
              <a:t>int</a:t>
            </a:r>
            <a:r>
              <a:rPr lang="bg-BG" sz="2200" dirty="0">
                <a:solidFill>
                  <a:schemeClr val="tx1"/>
                </a:solidFill>
                <a:latin typeface="Courier New" pitchFamily="49" charset="0"/>
              </a:rPr>
              <a:t> n);   		//</a:t>
            </a:r>
            <a:r>
              <a:rPr lang="bg-BG" sz="2200" dirty="0" err="1">
                <a:solidFill>
                  <a:schemeClr val="tx1"/>
                </a:solidFill>
                <a:latin typeface="Courier New" pitchFamily="49" charset="0"/>
              </a:rPr>
              <a:t>prototype</a:t>
            </a:r>
            <a:r>
              <a:rPr lang="bg-BG" sz="2200" dirty="0">
                <a:solidFill>
                  <a:schemeClr val="tx1"/>
                </a:solidFill>
                <a:latin typeface="Courier New" pitchFamily="49" charset="0"/>
              </a:rPr>
              <a:t/>
            </a:r>
            <a:br>
              <a:rPr lang="bg-BG" sz="2200" dirty="0">
                <a:solidFill>
                  <a:schemeClr val="tx1"/>
                </a:solidFill>
                <a:latin typeface="Courier New" pitchFamily="49" charset="0"/>
              </a:rPr>
            </a:br>
            <a:r>
              <a:rPr lang="bg-BG" sz="2200" dirty="0" err="1">
                <a:solidFill>
                  <a:schemeClr val="tx1"/>
                </a:solidFill>
                <a:latin typeface="Courier New" pitchFamily="49" charset="0"/>
              </a:rPr>
              <a:t>int</a:t>
            </a:r>
            <a:r>
              <a:rPr lang="bg-BG" sz="2200" dirty="0">
                <a:solidFill>
                  <a:schemeClr val="tx1"/>
                </a:solidFill>
                <a:latin typeface="Courier New" pitchFamily="49" charset="0"/>
              </a:rPr>
              <a:t> </a:t>
            </a:r>
            <a:r>
              <a:rPr lang="bg-BG" sz="2200" dirty="0" err="1">
                <a:solidFill>
                  <a:schemeClr val="tx1"/>
                </a:solidFill>
                <a:latin typeface="Courier New" pitchFamily="49" charset="0"/>
              </a:rPr>
              <a:t>pop</a:t>
            </a:r>
            <a:r>
              <a:rPr lang="bg-BG" sz="2200" dirty="0">
                <a:solidFill>
                  <a:schemeClr val="tx1"/>
                </a:solidFill>
                <a:latin typeface="Courier New" pitchFamily="49" charset="0"/>
              </a:rPr>
              <a:t>(</a:t>
            </a:r>
            <a:r>
              <a:rPr lang="bg-BG" sz="2200" dirty="0" err="1">
                <a:solidFill>
                  <a:schemeClr val="tx1"/>
                </a:solidFill>
                <a:latin typeface="Courier New" pitchFamily="49" charset="0"/>
              </a:rPr>
              <a:t>int</a:t>
            </a:r>
            <a:r>
              <a:rPr lang="bg-BG" sz="2200" dirty="0">
                <a:solidFill>
                  <a:schemeClr val="tx1"/>
                </a:solidFill>
                <a:latin typeface="Courier New" pitchFamily="49" charset="0"/>
              </a:rPr>
              <a:t> &amp;n);    		//</a:t>
            </a:r>
            <a:r>
              <a:rPr lang="bg-BG" sz="2200" dirty="0" err="1">
                <a:solidFill>
                  <a:schemeClr val="tx1"/>
                </a:solidFill>
                <a:latin typeface="Courier New" pitchFamily="49" charset="0"/>
              </a:rPr>
              <a:t>prototype</a:t>
            </a:r>
            <a:r>
              <a:rPr lang="bg-BG" sz="2200" dirty="0">
                <a:solidFill>
                  <a:schemeClr val="tx1"/>
                </a:solidFill>
                <a:latin typeface="Courier New" pitchFamily="49" charset="0"/>
              </a:rPr>
              <a:t/>
            </a:r>
            <a:br>
              <a:rPr lang="bg-BG" sz="2200" dirty="0">
                <a:solidFill>
                  <a:schemeClr val="tx1"/>
                </a:solidFill>
                <a:latin typeface="Courier New" pitchFamily="49" charset="0"/>
              </a:rPr>
            </a:br>
            <a:r>
              <a:rPr lang="bg-BG" sz="2200" dirty="0" err="1" smtClean="0">
                <a:solidFill>
                  <a:schemeClr val="tx1"/>
                </a:solidFill>
                <a:latin typeface="Courier New" pitchFamily="49" charset="0"/>
              </a:rPr>
              <a:t>struct</a:t>
            </a:r>
            <a:r>
              <a:rPr lang="bg-BG" sz="2200" dirty="0" smtClean="0">
                <a:solidFill>
                  <a:schemeClr val="tx1"/>
                </a:solidFill>
                <a:latin typeface="Courier New" pitchFamily="49" charset="0"/>
              </a:rPr>
              <a:t> </a:t>
            </a:r>
            <a:r>
              <a:rPr lang="bg-BG" sz="2200" dirty="0" err="1">
                <a:solidFill>
                  <a:schemeClr val="tx1"/>
                </a:solidFill>
                <a:latin typeface="Courier New" pitchFamily="49" charset="0"/>
              </a:rPr>
              <a:t>elem</a:t>
            </a:r>
            <a:r>
              <a:rPr lang="en-US" sz="2200" dirty="0">
                <a:solidFill>
                  <a:schemeClr val="tx1"/>
                </a:solidFill>
                <a:latin typeface="Courier New" pitchFamily="49" charset="0"/>
              </a:rPr>
              <a:t/>
            </a:r>
            <a:br>
              <a:rPr lang="en-US" sz="2200" dirty="0">
                <a:solidFill>
                  <a:schemeClr val="tx1"/>
                </a:solidFill>
                <a:latin typeface="Courier New" pitchFamily="49" charset="0"/>
              </a:rPr>
            </a:br>
            <a:r>
              <a:rPr lang="bg-BG" sz="2200" dirty="0">
                <a:solidFill>
                  <a:schemeClr val="tx1"/>
                </a:solidFill>
                <a:latin typeface="Courier New" pitchFamily="49" charset="0"/>
              </a:rPr>
              <a:t>   { </a:t>
            </a:r>
            <a:r>
              <a:rPr lang="bg-BG" sz="2200" dirty="0" err="1">
                <a:solidFill>
                  <a:schemeClr val="tx1"/>
                </a:solidFill>
                <a:latin typeface="Courier New" pitchFamily="49" charset="0"/>
              </a:rPr>
              <a:t>int</a:t>
            </a:r>
            <a:r>
              <a:rPr lang="bg-BG" sz="2200" dirty="0">
                <a:solidFill>
                  <a:schemeClr val="tx1"/>
                </a:solidFill>
                <a:latin typeface="Courier New" pitchFamily="49" charset="0"/>
              </a:rPr>
              <a:t> </a:t>
            </a:r>
            <a:r>
              <a:rPr lang="bg-BG" sz="2200" dirty="0" err="1">
                <a:solidFill>
                  <a:schemeClr val="tx1"/>
                </a:solidFill>
                <a:latin typeface="Courier New" pitchFamily="49" charset="0"/>
              </a:rPr>
              <a:t>key</a:t>
            </a:r>
            <a:r>
              <a:rPr lang="bg-BG" sz="2200" dirty="0">
                <a:solidFill>
                  <a:schemeClr val="tx1"/>
                </a:solidFill>
                <a:latin typeface="Courier New" pitchFamily="49" charset="0"/>
              </a:rPr>
              <a:t>; </a:t>
            </a:r>
            <a:r>
              <a:rPr lang="bg-BG" sz="2200" dirty="0" err="1">
                <a:solidFill>
                  <a:schemeClr val="tx1"/>
                </a:solidFill>
                <a:latin typeface="Courier New" pitchFamily="49" charset="0"/>
              </a:rPr>
              <a:t>elem</a:t>
            </a:r>
            <a:r>
              <a:rPr lang="bg-BG" sz="2200" dirty="0">
                <a:solidFill>
                  <a:schemeClr val="tx1"/>
                </a:solidFill>
                <a:latin typeface="Courier New" pitchFamily="49" charset="0"/>
              </a:rPr>
              <a:t> *</a:t>
            </a:r>
            <a:r>
              <a:rPr lang="bg-BG" sz="2200" dirty="0" err="1">
                <a:solidFill>
                  <a:schemeClr val="tx1"/>
                </a:solidFill>
                <a:latin typeface="Courier New" pitchFamily="49" charset="0"/>
              </a:rPr>
              <a:t>next</a:t>
            </a:r>
            <a:r>
              <a:rPr lang="bg-BG" sz="2200" dirty="0">
                <a:solidFill>
                  <a:schemeClr val="tx1"/>
                </a:solidFill>
                <a:latin typeface="Courier New" pitchFamily="49" charset="0"/>
              </a:rPr>
              <a:t>;} *</a:t>
            </a:r>
            <a:r>
              <a:rPr lang="bg-BG" sz="2200" dirty="0" err="1">
                <a:solidFill>
                  <a:schemeClr val="tx1"/>
                </a:solidFill>
                <a:latin typeface="Courier New" pitchFamily="49" charset="0"/>
              </a:rPr>
              <a:t>start</a:t>
            </a:r>
            <a:r>
              <a:rPr lang="bg-BG" sz="2200" dirty="0">
                <a:solidFill>
                  <a:schemeClr val="tx1"/>
                </a:solidFill>
                <a:latin typeface="Courier New" pitchFamily="49" charset="0"/>
              </a:rPr>
              <a:t>=NULL</a:t>
            </a:r>
            <a:r>
              <a:rPr lang="bg-BG" sz="2200" dirty="0" smtClean="0">
                <a:solidFill>
                  <a:schemeClr val="tx1"/>
                </a:solidFill>
                <a:latin typeface="Courier New" pitchFamily="49" charset="0"/>
              </a:rPr>
              <a:t>;</a:t>
            </a:r>
            <a:r>
              <a:rPr lang="bg-BG" sz="2200" dirty="0">
                <a:solidFill>
                  <a:schemeClr val="tx1"/>
                </a:solidFill>
                <a:latin typeface="Courier New" pitchFamily="49" charset="0"/>
              </a:rPr>
              <a:t/>
            </a:r>
            <a:br>
              <a:rPr lang="bg-BG" sz="2200" dirty="0">
                <a:solidFill>
                  <a:schemeClr val="tx1"/>
                </a:solidFill>
                <a:latin typeface="Courier New" pitchFamily="49" charset="0"/>
              </a:rPr>
            </a:br>
            <a:r>
              <a:rPr lang="bg-BG" sz="2200" dirty="0" err="1">
                <a:solidFill>
                  <a:schemeClr val="tx1"/>
                </a:solidFill>
                <a:latin typeface="Courier New" pitchFamily="49" charset="0"/>
              </a:rPr>
              <a:t>void</a:t>
            </a:r>
            <a:r>
              <a:rPr lang="bg-BG" sz="2200" dirty="0">
                <a:solidFill>
                  <a:schemeClr val="tx1"/>
                </a:solidFill>
                <a:latin typeface="Courier New" pitchFamily="49" charset="0"/>
              </a:rPr>
              <a:t> </a:t>
            </a:r>
            <a:r>
              <a:rPr lang="bg-BG" sz="2200" dirty="0" err="1">
                <a:solidFill>
                  <a:schemeClr val="tx1"/>
                </a:solidFill>
                <a:latin typeface="Courier New" pitchFamily="49" charset="0"/>
              </a:rPr>
              <a:t>main</a:t>
            </a:r>
            <a:r>
              <a:rPr lang="bg-BG" sz="2200" dirty="0">
                <a:solidFill>
                  <a:schemeClr val="tx1"/>
                </a:solidFill>
                <a:latin typeface="Courier New" pitchFamily="49" charset="0"/>
              </a:rPr>
              <a:t>()</a:t>
            </a:r>
            <a:r>
              <a:rPr lang="en-US" sz="2200" dirty="0">
                <a:solidFill>
                  <a:schemeClr val="tx1"/>
                </a:solidFill>
                <a:latin typeface="Courier New" pitchFamily="49" charset="0"/>
              </a:rPr>
              <a:t/>
            </a:r>
            <a:br>
              <a:rPr lang="en-US" sz="2200" dirty="0">
                <a:solidFill>
                  <a:schemeClr val="tx1"/>
                </a:solidFill>
                <a:latin typeface="Courier New" pitchFamily="49" charset="0"/>
              </a:rPr>
            </a:br>
            <a:r>
              <a:rPr lang="bg-BG" sz="2200" dirty="0">
                <a:solidFill>
                  <a:schemeClr val="tx1"/>
                </a:solidFill>
                <a:latin typeface="Courier New" pitchFamily="49" charset="0"/>
              </a:rPr>
              <a:t>{</a:t>
            </a:r>
            <a:r>
              <a:rPr lang="en-US" sz="2200" dirty="0">
                <a:solidFill>
                  <a:schemeClr val="tx1"/>
                </a:solidFill>
                <a:latin typeface="Courier New" pitchFamily="49" charset="0"/>
              </a:rPr>
              <a:t/>
            </a:r>
            <a:br>
              <a:rPr lang="en-US" sz="2200" dirty="0">
                <a:solidFill>
                  <a:schemeClr val="tx1"/>
                </a:solidFill>
                <a:latin typeface="Courier New" pitchFamily="49" charset="0"/>
              </a:rPr>
            </a:br>
            <a:r>
              <a:rPr lang="bg-BG" sz="2200" dirty="0">
                <a:solidFill>
                  <a:schemeClr val="tx1"/>
                </a:solidFill>
                <a:latin typeface="Courier New" pitchFamily="49" charset="0"/>
              </a:rPr>
              <a:t>  </a:t>
            </a:r>
            <a:r>
              <a:rPr lang="bg-BG" sz="2200" dirty="0" err="1">
                <a:solidFill>
                  <a:schemeClr val="tx1"/>
                </a:solidFill>
                <a:latin typeface="Courier New" pitchFamily="49" charset="0"/>
              </a:rPr>
              <a:t>int</a:t>
            </a:r>
            <a:r>
              <a:rPr lang="bg-BG" sz="2200" dirty="0">
                <a:solidFill>
                  <a:schemeClr val="tx1"/>
                </a:solidFill>
                <a:latin typeface="Courier New" pitchFamily="49" charset="0"/>
              </a:rPr>
              <a:t> </a:t>
            </a:r>
            <a:r>
              <a:rPr lang="bg-BG" sz="2200" dirty="0" err="1">
                <a:solidFill>
                  <a:schemeClr val="tx1"/>
                </a:solidFill>
                <a:latin typeface="Courier New" pitchFamily="49" charset="0"/>
              </a:rPr>
              <a:t>num</a:t>
            </a:r>
            <a:r>
              <a:rPr lang="bg-BG" sz="2200" dirty="0">
                <a:solidFill>
                  <a:schemeClr val="tx1"/>
                </a:solidFill>
                <a:latin typeface="Courier New" pitchFamily="49" charset="0"/>
              </a:rPr>
              <a:t>;</a:t>
            </a:r>
            <a:r>
              <a:rPr lang="en-US" sz="2200" dirty="0">
                <a:solidFill>
                  <a:schemeClr val="tx1"/>
                </a:solidFill>
                <a:latin typeface="Courier New" pitchFamily="49" charset="0"/>
              </a:rPr>
              <a:t/>
            </a:r>
            <a:br>
              <a:rPr lang="en-US" sz="2200" dirty="0">
                <a:solidFill>
                  <a:schemeClr val="tx1"/>
                </a:solidFill>
                <a:latin typeface="Courier New" pitchFamily="49" charset="0"/>
              </a:rPr>
            </a:br>
            <a:r>
              <a:rPr lang="bg-BG" sz="2200" dirty="0">
                <a:solidFill>
                  <a:schemeClr val="tx1"/>
                </a:solidFill>
                <a:latin typeface="Courier New" pitchFamily="49" charset="0"/>
              </a:rPr>
              <a:t>  </a:t>
            </a:r>
            <a:r>
              <a:rPr lang="bg-BG" sz="2200" dirty="0" err="1">
                <a:solidFill>
                  <a:schemeClr val="tx1"/>
                </a:solidFill>
                <a:latin typeface="Courier New" pitchFamily="49" charset="0"/>
              </a:rPr>
              <a:t>cout</a:t>
            </a:r>
            <a:r>
              <a:rPr lang="bg-BG" sz="2200" dirty="0">
                <a:solidFill>
                  <a:schemeClr val="tx1"/>
                </a:solidFill>
                <a:latin typeface="Courier New" pitchFamily="49" charset="0"/>
              </a:rPr>
              <a:t>&lt;&lt;"Въведете число:\n";</a:t>
            </a:r>
            <a:br>
              <a:rPr lang="bg-BG" sz="2200" dirty="0">
                <a:solidFill>
                  <a:schemeClr val="tx1"/>
                </a:solidFill>
                <a:latin typeface="Courier New" pitchFamily="49" charset="0"/>
              </a:rPr>
            </a:br>
            <a:r>
              <a:rPr lang="bg-BG" sz="2200" dirty="0">
                <a:solidFill>
                  <a:schemeClr val="tx1"/>
                </a:solidFill>
                <a:latin typeface="Courier New" pitchFamily="49" charset="0"/>
              </a:rPr>
              <a:t>  </a:t>
            </a:r>
            <a:r>
              <a:rPr lang="bg-BG" sz="2200" dirty="0" err="1">
                <a:solidFill>
                  <a:schemeClr val="tx1"/>
                </a:solidFill>
                <a:latin typeface="Courier New" pitchFamily="49" charset="0"/>
              </a:rPr>
              <a:t>while</a:t>
            </a:r>
            <a:r>
              <a:rPr lang="bg-BG" sz="2200" dirty="0">
                <a:solidFill>
                  <a:schemeClr val="tx1"/>
                </a:solidFill>
                <a:latin typeface="Courier New" pitchFamily="49" charset="0"/>
              </a:rPr>
              <a:t> (</a:t>
            </a:r>
            <a:r>
              <a:rPr lang="bg-BG" sz="2200" dirty="0" err="1">
                <a:solidFill>
                  <a:schemeClr val="tx1"/>
                </a:solidFill>
                <a:latin typeface="Courier New" pitchFamily="49" charset="0"/>
              </a:rPr>
              <a:t>cin</a:t>
            </a:r>
            <a:r>
              <a:rPr lang="bg-BG" sz="2200" dirty="0">
                <a:solidFill>
                  <a:schemeClr val="tx1"/>
                </a:solidFill>
                <a:latin typeface="Courier New" pitchFamily="49" charset="0"/>
              </a:rPr>
              <a:t>&gt;&gt;</a:t>
            </a:r>
            <a:r>
              <a:rPr lang="bg-BG" sz="2200" dirty="0" err="1">
                <a:solidFill>
                  <a:schemeClr val="tx1"/>
                </a:solidFill>
                <a:latin typeface="Courier New" pitchFamily="49" charset="0"/>
              </a:rPr>
              <a:t>num</a:t>
            </a:r>
            <a:r>
              <a:rPr lang="bg-BG" sz="2200" dirty="0" smtClean="0">
                <a:solidFill>
                  <a:schemeClr val="tx1"/>
                </a:solidFill>
                <a:latin typeface="Courier New" pitchFamily="49" charset="0"/>
              </a:rPr>
              <a:t>)</a:t>
            </a:r>
            <a:r>
              <a:rPr lang="en-US" sz="2200" dirty="0" smtClean="0">
                <a:solidFill>
                  <a:schemeClr val="tx1"/>
                </a:solidFill>
                <a:latin typeface="Courier New" pitchFamily="49" charset="0"/>
              </a:rPr>
              <a:t>	</a:t>
            </a:r>
            <a:r>
              <a:rPr lang="en-US" sz="2200" dirty="0">
                <a:solidFill>
                  <a:schemeClr val="tx1"/>
                </a:solidFill>
                <a:latin typeface="Courier New" pitchFamily="49" charset="0"/>
              </a:rPr>
              <a:t/>
            </a:r>
            <a:br>
              <a:rPr lang="en-US" sz="2200" dirty="0">
                <a:solidFill>
                  <a:schemeClr val="tx1"/>
                </a:solidFill>
                <a:latin typeface="Courier New" pitchFamily="49" charset="0"/>
              </a:rPr>
            </a:br>
            <a:r>
              <a:rPr lang="bg-BG" sz="2200" dirty="0">
                <a:solidFill>
                  <a:schemeClr val="tx1"/>
                </a:solidFill>
                <a:latin typeface="Courier New" pitchFamily="49" charset="0"/>
              </a:rPr>
              <a:t>     {</a:t>
            </a:r>
            <a:r>
              <a:rPr lang="bg-BG" sz="2200" dirty="0" err="1">
                <a:solidFill>
                  <a:schemeClr val="tx1"/>
                </a:solidFill>
                <a:latin typeface="Courier New" pitchFamily="49" charset="0"/>
              </a:rPr>
              <a:t>push</a:t>
            </a:r>
            <a:r>
              <a:rPr lang="bg-BG" sz="2200" dirty="0">
                <a:solidFill>
                  <a:schemeClr val="tx1"/>
                </a:solidFill>
                <a:latin typeface="Courier New" pitchFamily="49" charset="0"/>
              </a:rPr>
              <a:t>(</a:t>
            </a:r>
            <a:r>
              <a:rPr lang="bg-BG" sz="2200" dirty="0" err="1">
                <a:solidFill>
                  <a:schemeClr val="tx1"/>
                </a:solidFill>
                <a:latin typeface="Courier New" pitchFamily="49" charset="0"/>
              </a:rPr>
              <a:t>num</a:t>
            </a:r>
            <a:r>
              <a:rPr lang="bg-BG" sz="2200" dirty="0">
                <a:solidFill>
                  <a:schemeClr val="tx1"/>
                </a:solidFill>
                <a:latin typeface="Courier New" pitchFamily="49" charset="0"/>
              </a:rPr>
              <a:t>);}</a:t>
            </a:r>
            <a:r>
              <a:rPr lang="en-US" sz="2200" dirty="0">
                <a:solidFill>
                  <a:schemeClr val="tx1"/>
                </a:solidFill>
                <a:latin typeface="Courier New" pitchFamily="49" charset="0"/>
              </a:rPr>
              <a:t/>
            </a:r>
            <a:br>
              <a:rPr lang="en-US" sz="2200" dirty="0">
                <a:solidFill>
                  <a:schemeClr val="tx1"/>
                </a:solidFill>
                <a:latin typeface="Courier New" pitchFamily="49" charset="0"/>
              </a:rPr>
            </a:br>
            <a:r>
              <a:rPr lang="bg-BG" sz="2200" dirty="0">
                <a:solidFill>
                  <a:schemeClr val="tx1"/>
                </a:solidFill>
                <a:latin typeface="Courier New" pitchFamily="49" charset="0"/>
              </a:rPr>
              <a:t>  </a:t>
            </a:r>
            <a:r>
              <a:rPr lang="bg-BG" sz="2200" dirty="0" err="1">
                <a:solidFill>
                  <a:schemeClr val="tx1"/>
                </a:solidFill>
                <a:latin typeface="Courier New" pitchFamily="49" charset="0"/>
              </a:rPr>
              <a:t>cout</a:t>
            </a:r>
            <a:r>
              <a:rPr lang="bg-BG" sz="2200" dirty="0">
                <a:solidFill>
                  <a:schemeClr val="tx1"/>
                </a:solidFill>
                <a:latin typeface="Courier New" pitchFamily="49" charset="0"/>
              </a:rPr>
              <a:t>&lt;&lt;"\</a:t>
            </a:r>
            <a:r>
              <a:rPr lang="bg-BG" sz="2200" dirty="0" err="1">
                <a:solidFill>
                  <a:schemeClr val="tx1"/>
                </a:solidFill>
                <a:latin typeface="Courier New" pitchFamily="49" charset="0"/>
              </a:rPr>
              <a:t>nСтек</a:t>
            </a:r>
            <a:r>
              <a:rPr lang="bg-BG" sz="2200" dirty="0">
                <a:solidFill>
                  <a:schemeClr val="tx1"/>
                </a:solidFill>
                <a:latin typeface="Courier New" pitchFamily="49" charset="0"/>
              </a:rPr>
              <a:t>:  ";</a:t>
            </a:r>
            <a:br>
              <a:rPr lang="bg-BG" sz="2200" dirty="0">
                <a:solidFill>
                  <a:schemeClr val="tx1"/>
                </a:solidFill>
                <a:latin typeface="Courier New" pitchFamily="49" charset="0"/>
              </a:rPr>
            </a:br>
            <a:r>
              <a:rPr lang="bg-BG" sz="2200" dirty="0">
                <a:solidFill>
                  <a:schemeClr val="tx1"/>
                </a:solidFill>
                <a:latin typeface="Courier New" pitchFamily="49" charset="0"/>
              </a:rPr>
              <a:t>  </a:t>
            </a:r>
            <a:r>
              <a:rPr lang="bg-BG" sz="2200" dirty="0" err="1">
                <a:solidFill>
                  <a:schemeClr val="tx1"/>
                </a:solidFill>
                <a:latin typeface="Courier New" pitchFamily="49" charset="0"/>
              </a:rPr>
              <a:t>while</a:t>
            </a:r>
            <a:r>
              <a:rPr lang="bg-BG" sz="2200" dirty="0">
                <a:solidFill>
                  <a:schemeClr val="tx1"/>
                </a:solidFill>
                <a:latin typeface="Courier New" pitchFamily="49" charset="0"/>
              </a:rPr>
              <a:t> (</a:t>
            </a:r>
            <a:r>
              <a:rPr lang="bg-BG" sz="2200" dirty="0" err="1">
                <a:solidFill>
                  <a:schemeClr val="tx1"/>
                </a:solidFill>
                <a:latin typeface="Courier New" pitchFamily="49" charset="0"/>
              </a:rPr>
              <a:t>pop</a:t>
            </a:r>
            <a:r>
              <a:rPr lang="bg-BG" sz="2200" dirty="0">
                <a:solidFill>
                  <a:schemeClr val="tx1"/>
                </a:solidFill>
                <a:latin typeface="Courier New" pitchFamily="49" charset="0"/>
              </a:rPr>
              <a:t>(</a:t>
            </a:r>
            <a:r>
              <a:rPr lang="bg-BG" sz="2200" dirty="0" err="1">
                <a:solidFill>
                  <a:schemeClr val="tx1"/>
                </a:solidFill>
                <a:latin typeface="Courier New" pitchFamily="49" charset="0"/>
              </a:rPr>
              <a:t>num</a:t>
            </a:r>
            <a:r>
              <a:rPr lang="bg-BG" sz="2200" dirty="0">
                <a:solidFill>
                  <a:schemeClr val="tx1"/>
                </a:solidFill>
                <a:latin typeface="Courier New" pitchFamily="49" charset="0"/>
              </a:rPr>
              <a:t>))</a:t>
            </a:r>
            <a:r>
              <a:rPr lang="en-US" sz="2200" dirty="0">
                <a:solidFill>
                  <a:schemeClr val="tx1"/>
                </a:solidFill>
                <a:latin typeface="Courier New" pitchFamily="49" charset="0"/>
              </a:rPr>
              <a:t/>
            </a:r>
            <a:br>
              <a:rPr lang="en-US" sz="2200" dirty="0">
                <a:solidFill>
                  <a:schemeClr val="tx1"/>
                </a:solidFill>
                <a:latin typeface="Courier New" pitchFamily="49" charset="0"/>
              </a:rPr>
            </a:br>
            <a:r>
              <a:rPr lang="bg-BG" sz="2200" dirty="0">
                <a:solidFill>
                  <a:schemeClr val="tx1"/>
                </a:solidFill>
                <a:latin typeface="Courier New" pitchFamily="49" charset="0"/>
              </a:rPr>
              <a:t>     {</a:t>
            </a:r>
            <a:r>
              <a:rPr lang="bg-BG" sz="2200" dirty="0" err="1">
                <a:solidFill>
                  <a:schemeClr val="tx1"/>
                </a:solidFill>
                <a:latin typeface="Courier New" pitchFamily="49" charset="0"/>
              </a:rPr>
              <a:t>cout</a:t>
            </a:r>
            <a:r>
              <a:rPr lang="bg-BG" sz="2200" dirty="0">
                <a:solidFill>
                  <a:schemeClr val="tx1"/>
                </a:solidFill>
                <a:latin typeface="Courier New" pitchFamily="49" charset="0"/>
              </a:rPr>
              <a:t>&lt;&lt;</a:t>
            </a:r>
            <a:r>
              <a:rPr lang="bg-BG" sz="2200" dirty="0" err="1">
                <a:solidFill>
                  <a:schemeClr val="tx1"/>
                </a:solidFill>
                <a:latin typeface="Courier New" pitchFamily="49" charset="0"/>
              </a:rPr>
              <a:t>num</a:t>
            </a:r>
            <a:r>
              <a:rPr lang="bg-BG" sz="2200" dirty="0">
                <a:solidFill>
                  <a:schemeClr val="tx1"/>
                </a:solidFill>
                <a:latin typeface="Courier New" pitchFamily="49" charset="0"/>
              </a:rPr>
              <a:t>&lt;&lt;"  </a:t>
            </a:r>
            <a:r>
              <a:rPr lang="bg-BG" sz="2200" dirty="0" smtClean="0">
                <a:solidFill>
                  <a:schemeClr val="tx1"/>
                </a:solidFill>
                <a:latin typeface="Courier New" pitchFamily="49" charset="0"/>
              </a:rPr>
              <a:t>";}</a:t>
            </a:r>
            <a:r>
              <a:rPr lang="en-US" sz="2200" dirty="0" smtClean="0">
                <a:solidFill>
                  <a:srgbClr val="FF0000"/>
                </a:solidFill>
                <a:latin typeface="Courier New" pitchFamily="49" charset="0"/>
              </a:rPr>
              <a:t>    //</a:t>
            </a:r>
            <a:r>
              <a:rPr lang="en-US" sz="2200" dirty="0" smtClean="0">
                <a:solidFill>
                  <a:srgbClr val="FF0000"/>
                </a:solidFill>
              </a:rPr>
              <a:t> </a:t>
            </a:r>
            <a:r>
              <a:rPr lang="en-US" sz="2200" dirty="0" err="1" smtClean="0">
                <a:solidFill>
                  <a:srgbClr val="FF0000"/>
                </a:solidFill>
              </a:rPr>
              <a:t>cin.clear</a:t>
            </a:r>
            <a:r>
              <a:rPr lang="en-US" sz="2200" dirty="0" smtClean="0">
                <a:solidFill>
                  <a:srgbClr val="FF0000"/>
                </a:solidFill>
              </a:rPr>
              <a:t>(); </a:t>
            </a:r>
            <a:r>
              <a:rPr lang="en-US" sz="2200" dirty="0" err="1" smtClean="0">
                <a:solidFill>
                  <a:srgbClr val="FF0000"/>
                </a:solidFill>
              </a:rPr>
              <a:t>cin.sync</a:t>
            </a:r>
            <a:r>
              <a:rPr lang="en-US" sz="2200" dirty="0" smtClean="0">
                <a:solidFill>
                  <a:srgbClr val="FF0000"/>
                </a:solidFill>
              </a:rPr>
              <a:t>();</a:t>
            </a:r>
            <a:r>
              <a:rPr lang="bg-BG" sz="2200" i="1" dirty="0">
                <a:solidFill>
                  <a:schemeClr val="tx1"/>
                </a:solidFill>
                <a:latin typeface="Courier New" pitchFamily="49" charset="0"/>
              </a:rPr>
              <a:t/>
            </a:r>
            <a:br>
              <a:rPr lang="bg-BG" sz="2200" i="1" dirty="0">
                <a:solidFill>
                  <a:schemeClr val="tx1"/>
                </a:solidFill>
                <a:latin typeface="Courier New" pitchFamily="49" charset="0"/>
              </a:rPr>
            </a:br>
            <a:r>
              <a:rPr lang="bg-BG" sz="2200" i="1" dirty="0">
                <a:solidFill>
                  <a:schemeClr val="tx1"/>
                </a:solidFill>
                <a:latin typeface="Courier New" pitchFamily="49" charset="0"/>
              </a:rPr>
              <a:t>}</a:t>
            </a:r>
            <a:r>
              <a:rPr lang="en-US" sz="1600" dirty="0">
                <a:solidFill>
                  <a:schemeClr val="tx1"/>
                </a:solidFill>
                <a:latin typeface="Courier New" pitchFamily="49" charset="0"/>
              </a:rPr>
              <a:t/>
            </a:r>
            <a:br>
              <a:rPr lang="en-US" sz="1600" dirty="0">
                <a:solidFill>
                  <a:schemeClr val="tx1"/>
                </a:solidFill>
                <a:latin typeface="Courier New" pitchFamily="49" charset="0"/>
              </a:rPr>
            </a:br>
            <a:endParaRPr lang="en-US" dirty="0">
              <a:solidFill>
                <a:schemeClr val="tx1"/>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55A1ED4D-C14A-4E5A-84CF-627D93895F37}"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403648" y="404664"/>
            <a:ext cx="7560840" cy="2304256"/>
          </a:xfrm>
        </p:spPr>
        <p:txBody>
          <a:bodyPr>
            <a:normAutofit fontScale="90000"/>
          </a:bodyPr>
          <a:lstStyle/>
          <a:p>
            <a:r>
              <a:rPr lang="en-US" sz="2700" b="1" dirty="0" smtClean="0"/>
              <a:t/>
            </a:r>
            <a:br>
              <a:rPr lang="en-US" sz="2700" b="1" dirty="0" smtClean="0"/>
            </a:br>
            <a:r>
              <a:rPr lang="en-US" sz="2700" b="1" dirty="0" smtClean="0"/>
              <a:t/>
            </a:r>
            <a:br>
              <a:rPr lang="en-US" sz="2700" b="1" dirty="0" smtClean="0"/>
            </a:br>
            <a:r>
              <a:rPr lang="bg-BG" sz="2700" b="1" dirty="0" smtClean="0"/>
              <a:t>Пример.</a:t>
            </a:r>
            <a:r>
              <a:rPr lang="bg-BG" sz="2700" dirty="0" smtClean="0"/>
              <a:t> Програмно да се реализира динамичен стек </a:t>
            </a:r>
            <a:r>
              <a:rPr lang="bg-BG" sz="2700" b="1" dirty="0" smtClean="0"/>
              <a:t>S</a:t>
            </a:r>
            <a:r>
              <a:rPr lang="bg-BG" sz="2700" dirty="0" smtClean="0"/>
              <a:t> от цели положителни числа, който да се преобразува в два други стека – </a:t>
            </a:r>
            <a:r>
              <a:rPr lang="bg-BG" sz="2700" b="1" dirty="0" smtClean="0"/>
              <a:t>P</a:t>
            </a:r>
            <a:r>
              <a:rPr lang="bg-BG" sz="2700" dirty="0" smtClean="0"/>
              <a:t> и </a:t>
            </a:r>
            <a:r>
              <a:rPr lang="en-US" sz="2700" b="1" dirty="0" smtClean="0"/>
              <a:t>Q</a:t>
            </a:r>
            <a:r>
              <a:rPr lang="ru-RU" sz="2700" dirty="0" smtClean="0"/>
              <a:t>, </a:t>
            </a:r>
            <a:r>
              <a:rPr lang="bg-BG" sz="2700" dirty="0" smtClean="0"/>
              <a:t>съответно с четните </a:t>
            </a:r>
            <a:r>
              <a:rPr lang="bg-BG" sz="2700" dirty="0" smtClean="0"/>
              <a:t>и нечетните стойности на </a:t>
            </a:r>
            <a:r>
              <a:rPr lang="bg-BG" sz="2700" b="1" dirty="0" smtClean="0"/>
              <a:t>S</a:t>
            </a:r>
            <a:r>
              <a:rPr lang="bg-BG" sz="2700" dirty="0" smtClean="0"/>
              <a:t>. Съдържанието на двата стека да се изведе на екрана.</a:t>
            </a:r>
            <a:r>
              <a:rPr lang="en-US" dirty="0" smtClean="0"/>
              <a:t/>
            </a:r>
            <a:br>
              <a:rPr lang="en-US" dirty="0" smtClean="0"/>
            </a:br>
            <a:endParaRPr lang="en-US" dirty="0"/>
          </a:p>
        </p:txBody>
      </p:sp>
      <p:sp>
        <p:nvSpPr>
          <p:cNvPr id="5" name="Subtitle 4"/>
          <p:cNvSpPr>
            <a:spLocks noGrp="1"/>
          </p:cNvSpPr>
          <p:nvPr>
            <p:ph type="subTitle" idx="1"/>
          </p:nvPr>
        </p:nvSpPr>
        <p:spPr>
          <a:xfrm>
            <a:off x="1432560" y="2636912"/>
            <a:ext cx="7406640" cy="3888432"/>
          </a:xfrm>
        </p:spPr>
        <p:txBody>
          <a:bodyPr/>
          <a:lstStyle/>
          <a:p>
            <a:r>
              <a:rPr lang="bg-BG" dirty="0" smtClean="0"/>
              <a:t>#</a:t>
            </a:r>
            <a:r>
              <a:rPr lang="bg-BG" dirty="0" err="1" smtClean="0"/>
              <a:t>include</a:t>
            </a:r>
            <a:r>
              <a:rPr lang="bg-BG" dirty="0" smtClean="0"/>
              <a:t> &lt;</a:t>
            </a:r>
            <a:r>
              <a:rPr lang="bg-BG" dirty="0" err="1" smtClean="0"/>
              <a:t>iostream</a:t>
            </a:r>
            <a:r>
              <a:rPr lang="bg-BG" dirty="0" smtClean="0"/>
              <a:t>.h&gt;</a:t>
            </a:r>
            <a:endParaRPr lang="en-US" dirty="0" smtClean="0"/>
          </a:p>
          <a:p>
            <a:r>
              <a:rPr lang="bg-BG" dirty="0" smtClean="0"/>
              <a:t>#</a:t>
            </a:r>
            <a:r>
              <a:rPr lang="bg-BG" dirty="0" err="1" smtClean="0"/>
              <a:t>include</a:t>
            </a:r>
            <a:r>
              <a:rPr lang="bg-BG" dirty="0" smtClean="0"/>
              <a:t> &lt;</a:t>
            </a:r>
            <a:r>
              <a:rPr lang="bg-BG" dirty="0" err="1" smtClean="0"/>
              <a:t>conio</a:t>
            </a:r>
            <a:r>
              <a:rPr lang="bg-BG" dirty="0" smtClean="0"/>
              <a:t>.h&gt;</a:t>
            </a:r>
            <a:endParaRPr lang="en-US" dirty="0" smtClean="0"/>
          </a:p>
          <a:p>
            <a:r>
              <a:rPr lang="bg-BG" dirty="0" err="1" smtClean="0"/>
              <a:t>struct</a:t>
            </a:r>
            <a:r>
              <a:rPr lang="bg-BG" dirty="0" smtClean="0"/>
              <a:t> </a:t>
            </a:r>
            <a:r>
              <a:rPr lang="bg-BG" dirty="0" err="1" smtClean="0"/>
              <a:t>elem</a:t>
            </a:r>
            <a:endParaRPr lang="en-US" dirty="0" smtClean="0"/>
          </a:p>
          <a:p>
            <a:r>
              <a:rPr lang="bg-BG" dirty="0" smtClean="0"/>
              <a:t>   { </a:t>
            </a:r>
            <a:r>
              <a:rPr lang="bg-BG" dirty="0" err="1" smtClean="0"/>
              <a:t>int</a:t>
            </a:r>
            <a:r>
              <a:rPr lang="bg-BG" dirty="0" smtClean="0"/>
              <a:t> </a:t>
            </a:r>
            <a:r>
              <a:rPr lang="bg-BG" dirty="0" err="1" smtClean="0"/>
              <a:t>key</a:t>
            </a:r>
            <a:r>
              <a:rPr lang="bg-BG" dirty="0" smtClean="0"/>
              <a:t>; </a:t>
            </a:r>
            <a:r>
              <a:rPr lang="bg-BG" dirty="0" err="1" smtClean="0"/>
              <a:t>elem</a:t>
            </a:r>
            <a:r>
              <a:rPr lang="bg-BG" dirty="0" smtClean="0"/>
              <a:t> *</a:t>
            </a:r>
            <a:r>
              <a:rPr lang="bg-BG" dirty="0" err="1" smtClean="0"/>
              <a:t>next</a:t>
            </a:r>
            <a:r>
              <a:rPr lang="bg-BG" dirty="0" smtClean="0"/>
              <a:t>;}*</a:t>
            </a:r>
            <a:r>
              <a:rPr lang="bg-BG" dirty="0" err="1" smtClean="0"/>
              <a:t>start</a:t>
            </a:r>
            <a:r>
              <a:rPr lang="bg-BG" dirty="0" smtClean="0"/>
              <a:t>,*</a:t>
            </a:r>
            <a:r>
              <a:rPr lang="bg-BG" dirty="0" err="1" smtClean="0"/>
              <a:t>pst</a:t>
            </a:r>
            <a:r>
              <a:rPr lang="bg-BG" dirty="0" smtClean="0"/>
              <a:t>, *</a:t>
            </a:r>
            <a:r>
              <a:rPr lang="bg-BG" dirty="0" err="1" smtClean="0"/>
              <a:t>qst</a:t>
            </a:r>
            <a:r>
              <a:rPr lang="bg-BG" dirty="0" smtClean="0"/>
              <a:t>;</a:t>
            </a:r>
            <a:endParaRPr lang="en-US" dirty="0" smtClean="0"/>
          </a:p>
          <a:p>
            <a:r>
              <a:rPr lang="bg-BG" dirty="0" err="1" smtClean="0"/>
              <a:t>elem</a:t>
            </a:r>
            <a:r>
              <a:rPr lang="bg-BG" dirty="0" smtClean="0"/>
              <a:t> *</a:t>
            </a:r>
            <a:r>
              <a:rPr lang="bg-BG" dirty="0" err="1" smtClean="0"/>
              <a:t>push</a:t>
            </a:r>
            <a:r>
              <a:rPr lang="bg-BG" dirty="0" smtClean="0"/>
              <a:t>(</a:t>
            </a:r>
            <a:r>
              <a:rPr lang="bg-BG" dirty="0" err="1" smtClean="0"/>
              <a:t>elem</a:t>
            </a:r>
            <a:r>
              <a:rPr lang="bg-BG" dirty="0" smtClean="0"/>
              <a:t> *</a:t>
            </a:r>
            <a:r>
              <a:rPr lang="bg-BG" dirty="0" err="1" smtClean="0"/>
              <a:t>st</a:t>
            </a:r>
            <a:r>
              <a:rPr lang="bg-BG" dirty="0" smtClean="0"/>
              <a:t>, </a:t>
            </a:r>
            <a:r>
              <a:rPr lang="bg-BG" dirty="0" err="1" smtClean="0"/>
              <a:t>int</a:t>
            </a:r>
            <a:r>
              <a:rPr lang="bg-BG" dirty="0" smtClean="0"/>
              <a:t> n);   </a:t>
            </a:r>
            <a:r>
              <a:rPr lang="en-US" dirty="0" smtClean="0"/>
              <a:t> </a:t>
            </a:r>
            <a:r>
              <a:rPr lang="bg-BG" dirty="0" smtClean="0"/>
              <a:t>//</a:t>
            </a:r>
            <a:r>
              <a:rPr lang="bg-BG" dirty="0" err="1" smtClean="0"/>
              <a:t>prototype</a:t>
            </a:r>
            <a:endParaRPr lang="en-US" dirty="0" smtClean="0"/>
          </a:p>
          <a:p>
            <a:r>
              <a:rPr lang="bg-BG" dirty="0" err="1" smtClean="0"/>
              <a:t>elem</a:t>
            </a:r>
            <a:r>
              <a:rPr lang="bg-BG" dirty="0" smtClean="0"/>
              <a:t> *</a:t>
            </a:r>
            <a:r>
              <a:rPr lang="bg-BG" dirty="0" err="1" smtClean="0"/>
              <a:t>pop</a:t>
            </a:r>
            <a:r>
              <a:rPr lang="bg-BG" dirty="0" smtClean="0"/>
              <a:t>(</a:t>
            </a:r>
            <a:r>
              <a:rPr lang="bg-BG" dirty="0" err="1" smtClean="0"/>
              <a:t>elem</a:t>
            </a:r>
            <a:r>
              <a:rPr lang="bg-BG" dirty="0" smtClean="0"/>
              <a:t> *</a:t>
            </a:r>
            <a:r>
              <a:rPr lang="bg-BG" dirty="0" err="1" smtClean="0"/>
              <a:t>st</a:t>
            </a:r>
            <a:r>
              <a:rPr lang="bg-BG" dirty="0" smtClean="0"/>
              <a:t>, </a:t>
            </a:r>
            <a:r>
              <a:rPr lang="bg-BG" dirty="0" err="1" smtClean="0"/>
              <a:t>int</a:t>
            </a:r>
            <a:r>
              <a:rPr lang="bg-BG" dirty="0" smtClean="0"/>
              <a:t> &amp;n);   //</a:t>
            </a:r>
            <a:r>
              <a:rPr lang="bg-BG" dirty="0" err="1" smtClean="0"/>
              <a:t>prototype</a:t>
            </a:r>
            <a:endParaRPr lang="en-US" dirty="0" smtClean="0"/>
          </a:p>
          <a:p>
            <a:r>
              <a:rPr lang="bg-BG" dirty="0" err="1" smtClean="0"/>
              <a:t>void</a:t>
            </a:r>
            <a:r>
              <a:rPr lang="bg-BG" dirty="0" smtClean="0"/>
              <a:t> </a:t>
            </a:r>
            <a:r>
              <a:rPr lang="bg-BG" dirty="0" err="1" smtClean="0"/>
              <a:t>init</a:t>
            </a:r>
            <a:r>
              <a:rPr lang="bg-BG" dirty="0" smtClean="0"/>
              <a:t>(</a:t>
            </a:r>
            <a:r>
              <a:rPr lang="bg-BG" dirty="0" err="1" smtClean="0"/>
              <a:t>elem</a:t>
            </a:r>
            <a:r>
              <a:rPr lang="bg-BG" dirty="0" smtClean="0"/>
              <a:t> *</a:t>
            </a:r>
            <a:r>
              <a:rPr lang="bg-BG" dirty="0" err="1" smtClean="0"/>
              <a:t>st</a:t>
            </a:r>
            <a:r>
              <a:rPr lang="bg-BG" dirty="0" smtClean="0"/>
              <a:t>);         </a:t>
            </a:r>
            <a:r>
              <a:rPr lang="en-US" dirty="0" smtClean="0"/>
              <a:t>       </a:t>
            </a:r>
            <a:r>
              <a:rPr lang="bg-BG" dirty="0" smtClean="0"/>
              <a:t> </a:t>
            </a:r>
            <a:r>
              <a:rPr lang="en-US" dirty="0" smtClean="0"/>
              <a:t> </a:t>
            </a:r>
            <a:r>
              <a:rPr lang="bg-BG" dirty="0" smtClean="0"/>
              <a:t> //</a:t>
            </a:r>
            <a:r>
              <a:rPr lang="bg-BG" dirty="0" err="1" smtClean="0"/>
              <a:t>prototype</a:t>
            </a:r>
            <a:endParaRPr lang="en-US" dirty="0" smtClean="0"/>
          </a:p>
          <a:p>
            <a:r>
              <a:rPr lang="bg-BG" dirty="0" err="1" smtClean="0"/>
              <a:t>int</a:t>
            </a:r>
            <a:r>
              <a:rPr lang="bg-BG" dirty="0" smtClean="0"/>
              <a:t> </a:t>
            </a:r>
            <a:r>
              <a:rPr lang="bg-BG" dirty="0" err="1" smtClean="0"/>
              <a:t>empty</a:t>
            </a:r>
            <a:r>
              <a:rPr lang="bg-BG" dirty="0" smtClean="0"/>
              <a:t>(</a:t>
            </a:r>
            <a:r>
              <a:rPr lang="bg-BG" dirty="0" err="1" smtClean="0"/>
              <a:t>elem</a:t>
            </a:r>
            <a:r>
              <a:rPr lang="bg-BG" dirty="0" smtClean="0"/>
              <a:t> *</a:t>
            </a:r>
            <a:r>
              <a:rPr lang="bg-BG" dirty="0" err="1" smtClean="0"/>
              <a:t>st</a:t>
            </a:r>
            <a:r>
              <a:rPr lang="bg-BG" dirty="0" smtClean="0"/>
              <a:t>);         </a:t>
            </a:r>
            <a:r>
              <a:rPr lang="en-US" dirty="0" smtClean="0"/>
              <a:t>     </a:t>
            </a:r>
            <a:r>
              <a:rPr lang="bg-BG" dirty="0" smtClean="0"/>
              <a:t>  //</a:t>
            </a:r>
            <a:r>
              <a:rPr lang="bg-BG" dirty="0" err="1" smtClean="0"/>
              <a:t>prototype</a:t>
            </a:r>
            <a:endParaRPr lang="en-US" dirty="0" smtClean="0"/>
          </a:p>
          <a:p>
            <a:endParaRPr lang="en-US" dirty="0"/>
          </a:p>
        </p:txBody>
      </p:sp>
      <p:sp>
        <p:nvSpPr>
          <p:cNvPr id="3" name="Slide Number Placeholder 2"/>
          <p:cNvSpPr>
            <a:spLocks noGrp="1"/>
          </p:cNvSpPr>
          <p:nvPr>
            <p:ph type="sldNum" sz="quarter" idx="12"/>
          </p:nvPr>
        </p:nvSpPr>
        <p:spPr/>
        <p:txBody>
          <a:bodyPr/>
          <a:lstStyle/>
          <a:p>
            <a:pPr>
              <a:defRPr/>
            </a:pPr>
            <a:fld id="{ADBD2EDB-82FB-49C3-9282-FE44DD784968}" type="slidenum">
              <a:rPr lang="en-US" smtClean="0"/>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03648" y="678984"/>
            <a:ext cx="7498080" cy="6179016"/>
          </a:xfrm>
        </p:spPr>
        <p:txBody>
          <a:bodyPr>
            <a:normAutofit fontScale="90000"/>
          </a:bodyPr>
          <a:lstStyle/>
          <a:p>
            <a:r>
              <a:rPr lang="bg-BG" sz="2700" dirty="0" err="1" smtClean="0">
                <a:solidFill>
                  <a:schemeClr val="tx1"/>
                </a:solidFill>
                <a:latin typeface="+mn-lt"/>
              </a:rPr>
              <a:t>void</a:t>
            </a:r>
            <a:r>
              <a:rPr lang="bg-BG" sz="2700" dirty="0" smtClean="0">
                <a:solidFill>
                  <a:schemeClr val="tx1"/>
                </a:solidFill>
                <a:latin typeface="+mn-lt"/>
              </a:rPr>
              <a:t> </a:t>
            </a:r>
            <a:r>
              <a:rPr lang="bg-BG" sz="2700" dirty="0" err="1" smtClean="0">
                <a:solidFill>
                  <a:schemeClr val="tx1"/>
                </a:solidFill>
                <a:latin typeface="+mn-lt"/>
              </a:rPr>
              <a:t>main</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en-AU" sz="2700" dirty="0" smtClean="0">
                <a:solidFill>
                  <a:schemeClr val="tx1"/>
                </a:solidFill>
                <a:latin typeface="+mn-lt"/>
              </a:rPr>
              <a:t>  </a:t>
            </a:r>
            <a:r>
              <a:rPr lang="bg-BG" sz="2700" dirty="0" err="1" smtClean="0">
                <a:solidFill>
                  <a:schemeClr val="tx1"/>
                </a:solidFill>
                <a:latin typeface="+mn-lt"/>
              </a:rPr>
              <a:t>init</a:t>
            </a:r>
            <a:r>
              <a:rPr lang="bg-BG" sz="2700" dirty="0" smtClean="0">
                <a:solidFill>
                  <a:schemeClr val="tx1"/>
                </a:solidFill>
                <a:latin typeface="+mn-lt"/>
              </a:rPr>
              <a:t>(</a:t>
            </a:r>
            <a:r>
              <a:rPr lang="bg-BG" sz="2700" dirty="0" err="1" smtClean="0">
                <a:solidFill>
                  <a:schemeClr val="tx1"/>
                </a:solidFill>
                <a:latin typeface="+mn-lt"/>
              </a:rPr>
              <a:t>start</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sz="2700" dirty="0" smtClean="0">
                <a:solidFill>
                  <a:schemeClr val="tx1"/>
                </a:solidFill>
                <a:latin typeface="+mn-lt"/>
              </a:rPr>
              <a:t> </a:t>
            </a:r>
            <a:r>
              <a:rPr lang="bg-BG" sz="2700" dirty="0" err="1" smtClean="0">
                <a:solidFill>
                  <a:schemeClr val="tx1"/>
                </a:solidFill>
                <a:latin typeface="+mn-lt"/>
              </a:rPr>
              <a:t>int</a:t>
            </a:r>
            <a:r>
              <a:rPr lang="bg-BG" sz="2700" dirty="0" smtClean="0">
                <a:solidFill>
                  <a:schemeClr val="tx1"/>
                </a:solidFill>
                <a:latin typeface="+mn-lt"/>
              </a:rPr>
              <a:t> </a:t>
            </a:r>
            <a:r>
              <a:rPr lang="bg-BG" sz="2700" dirty="0" err="1" smtClean="0">
                <a:solidFill>
                  <a:schemeClr val="tx1"/>
                </a:solidFill>
                <a:latin typeface="+mn-lt"/>
              </a:rPr>
              <a:t>num</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sz="2700" dirty="0" smtClean="0">
                <a:solidFill>
                  <a:schemeClr val="tx1"/>
                </a:solidFill>
                <a:latin typeface="+mn-lt"/>
              </a:rPr>
              <a:t> </a:t>
            </a:r>
            <a:r>
              <a:rPr lang="bg-BG" sz="2700" dirty="0" err="1" smtClean="0">
                <a:solidFill>
                  <a:schemeClr val="tx1"/>
                </a:solidFill>
                <a:latin typeface="+mn-lt"/>
              </a:rPr>
              <a:t>cout</a:t>
            </a:r>
            <a:r>
              <a:rPr lang="bg-BG" sz="2700" dirty="0" smtClean="0">
                <a:solidFill>
                  <a:schemeClr val="tx1"/>
                </a:solidFill>
                <a:latin typeface="+mn-lt"/>
              </a:rPr>
              <a:t>&lt;&lt;"Въведете стойност:\n";</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sz="2700" dirty="0" smtClean="0">
                <a:solidFill>
                  <a:schemeClr val="tx1"/>
                </a:solidFill>
                <a:latin typeface="+mn-lt"/>
              </a:rPr>
              <a:t> </a:t>
            </a:r>
            <a:r>
              <a:rPr lang="bg-BG" sz="2700" dirty="0" smtClean="0">
                <a:solidFill>
                  <a:schemeClr val="tx1"/>
                </a:solidFill>
                <a:latin typeface="+mn-lt"/>
              </a:rPr>
              <a:t> </a:t>
            </a:r>
            <a:r>
              <a:rPr lang="bg-BG" sz="2700" dirty="0" err="1" smtClean="0">
                <a:solidFill>
                  <a:schemeClr val="tx1"/>
                </a:solidFill>
                <a:latin typeface="+mn-lt"/>
              </a:rPr>
              <a:t>while</a:t>
            </a:r>
            <a:r>
              <a:rPr lang="bg-BG" sz="2700" dirty="0" smtClean="0">
                <a:solidFill>
                  <a:schemeClr val="tx1"/>
                </a:solidFill>
                <a:latin typeface="+mn-lt"/>
              </a:rPr>
              <a:t> (</a:t>
            </a:r>
            <a:r>
              <a:rPr lang="bg-BG" sz="2700" dirty="0" err="1" smtClean="0">
                <a:solidFill>
                  <a:schemeClr val="tx1"/>
                </a:solidFill>
                <a:latin typeface="+mn-lt"/>
              </a:rPr>
              <a:t>cin</a:t>
            </a:r>
            <a:r>
              <a:rPr lang="bg-BG" sz="2700" dirty="0" smtClean="0">
                <a:solidFill>
                  <a:schemeClr val="tx1"/>
                </a:solidFill>
                <a:latin typeface="+mn-lt"/>
              </a:rPr>
              <a:t>&gt;&gt;</a:t>
            </a:r>
            <a:r>
              <a:rPr lang="bg-BG" sz="2700" dirty="0" err="1" smtClean="0">
                <a:solidFill>
                  <a:schemeClr val="tx1"/>
                </a:solidFill>
                <a:latin typeface="+mn-lt"/>
              </a:rPr>
              <a:t>num</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start</a:t>
            </a:r>
            <a:r>
              <a:rPr lang="bg-BG" sz="2700" dirty="0" smtClean="0">
                <a:solidFill>
                  <a:schemeClr val="tx1"/>
                </a:solidFill>
                <a:latin typeface="+mn-lt"/>
              </a:rPr>
              <a:t>=</a:t>
            </a:r>
            <a:r>
              <a:rPr lang="bg-BG" sz="2700" dirty="0" err="1" smtClean="0">
                <a:solidFill>
                  <a:schemeClr val="tx1"/>
                </a:solidFill>
                <a:latin typeface="+mn-lt"/>
              </a:rPr>
              <a:t>push</a:t>
            </a:r>
            <a:r>
              <a:rPr lang="bg-BG" sz="2700" dirty="0" smtClean="0">
                <a:solidFill>
                  <a:schemeClr val="tx1"/>
                </a:solidFill>
                <a:latin typeface="+mn-lt"/>
              </a:rPr>
              <a:t>(</a:t>
            </a:r>
            <a:r>
              <a:rPr lang="bg-BG" sz="2700" dirty="0" err="1" smtClean="0">
                <a:solidFill>
                  <a:schemeClr val="tx1"/>
                </a:solidFill>
                <a:latin typeface="+mn-lt"/>
              </a:rPr>
              <a:t>start</a:t>
            </a:r>
            <a:r>
              <a:rPr lang="bg-BG" sz="2700" dirty="0" smtClean="0">
                <a:solidFill>
                  <a:schemeClr val="tx1"/>
                </a:solidFill>
                <a:latin typeface="+mn-lt"/>
              </a:rPr>
              <a:t>, </a:t>
            </a:r>
            <a:r>
              <a:rPr lang="bg-BG" sz="2700" dirty="0" err="1" smtClean="0">
                <a:solidFill>
                  <a:schemeClr val="tx1"/>
                </a:solidFill>
                <a:latin typeface="+mn-lt"/>
              </a:rPr>
              <a:t>num</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sz="2700" dirty="0" smtClean="0">
                <a:solidFill>
                  <a:schemeClr val="tx1"/>
                </a:solidFill>
                <a:latin typeface="+mn-lt"/>
              </a:rPr>
              <a:t> </a:t>
            </a:r>
            <a:r>
              <a:rPr lang="bg-BG" sz="2700" dirty="0" err="1" smtClean="0">
                <a:solidFill>
                  <a:schemeClr val="tx1"/>
                </a:solidFill>
                <a:latin typeface="+mn-lt"/>
              </a:rPr>
              <a:t>init</a:t>
            </a:r>
            <a:r>
              <a:rPr lang="bg-BG" sz="2700" dirty="0" smtClean="0">
                <a:solidFill>
                  <a:schemeClr val="tx1"/>
                </a:solidFill>
                <a:latin typeface="+mn-lt"/>
              </a:rPr>
              <a:t>(</a:t>
            </a:r>
            <a:r>
              <a:rPr lang="bg-BG" sz="2700" dirty="0" err="1" smtClean="0">
                <a:solidFill>
                  <a:schemeClr val="tx1"/>
                </a:solidFill>
                <a:latin typeface="+mn-lt"/>
              </a:rPr>
              <a:t>pst</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sz="2700" dirty="0" smtClean="0">
                <a:solidFill>
                  <a:schemeClr val="tx1"/>
                </a:solidFill>
                <a:latin typeface="+mn-lt"/>
              </a:rPr>
              <a:t> </a:t>
            </a:r>
            <a:r>
              <a:rPr lang="bg-BG" sz="2700" dirty="0" err="1" smtClean="0">
                <a:solidFill>
                  <a:schemeClr val="tx1"/>
                </a:solidFill>
                <a:latin typeface="+mn-lt"/>
              </a:rPr>
              <a:t>init</a:t>
            </a:r>
            <a:r>
              <a:rPr lang="bg-BG" sz="2700" dirty="0" smtClean="0">
                <a:solidFill>
                  <a:schemeClr val="tx1"/>
                </a:solidFill>
                <a:latin typeface="+mn-lt"/>
              </a:rPr>
              <a:t>(</a:t>
            </a:r>
            <a:r>
              <a:rPr lang="bg-BG" sz="2700" dirty="0" err="1" smtClean="0">
                <a:solidFill>
                  <a:schemeClr val="tx1"/>
                </a:solidFill>
                <a:latin typeface="+mn-lt"/>
              </a:rPr>
              <a:t>qst</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sz="2700" dirty="0" smtClean="0">
                <a:solidFill>
                  <a:schemeClr val="tx1"/>
                </a:solidFill>
                <a:latin typeface="+mn-lt"/>
              </a:rPr>
              <a:t> </a:t>
            </a:r>
            <a:r>
              <a:rPr lang="bg-BG" sz="2700" dirty="0" err="1" smtClean="0">
                <a:solidFill>
                  <a:schemeClr val="tx1"/>
                </a:solidFill>
                <a:latin typeface="+mn-lt"/>
              </a:rPr>
              <a:t>while</a:t>
            </a:r>
            <a:r>
              <a:rPr lang="bg-BG" sz="2700" dirty="0" smtClean="0">
                <a:solidFill>
                  <a:schemeClr val="tx1"/>
                </a:solidFill>
                <a:latin typeface="+mn-lt"/>
              </a:rPr>
              <a:t> (!</a:t>
            </a:r>
            <a:r>
              <a:rPr lang="bg-BG" sz="2700" dirty="0" err="1" smtClean="0">
                <a:solidFill>
                  <a:schemeClr val="tx1"/>
                </a:solidFill>
                <a:latin typeface="+mn-lt"/>
              </a:rPr>
              <a:t>empty</a:t>
            </a:r>
            <a:r>
              <a:rPr lang="bg-BG" sz="2700" dirty="0" smtClean="0">
                <a:solidFill>
                  <a:schemeClr val="tx1"/>
                </a:solidFill>
                <a:latin typeface="+mn-lt"/>
              </a:rPr>
              <a:t>(</a:t>
            </a:r>
            <a:r>
              <a:rPr lang="bg-BG" sz="2700" dirty="0" err="1" smtClean="0">
                <a:solidFill>
                  <a:schemeClr val="tx1"/>
                </a:solidFill>
                <a:latin typeface="+mn-lt"/>
              </a:rPr>
              <a:t>start</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start</a:t>
            </a:r>
            <a:r>
              <a:rPr lang="bg-BG" sz="2700" dirty="0" smtClean="0">
                <a:solidFill>
                  <a:schemeClr val="tx1"/>
                </a:solidFill>
                <a:latin typeface="+mn-lt"/>
              </a:rPr>
              <a:t>=</a:t>
            </a:r>
            <a:r>
              <a:rPr lang="bg-BG" sz="2700" dirty="0" err="1" smtClean="0">
                <a:solidFill>
                  <a:schemeClr val="tx1"/>
                </a:solidFill>
                <a:latin typeface="+mn-lt"/>
              </a:rPr>
              <a:t>pop</a:t>
            </a:r>
            <a:r>
              <a:rPr lang="bg-BG" sz="2700" dirty="0" smtClean="0">
                <a:solidFill>
                  <a:schemeClr val="tx1"/>
                </a:solidFill>
                <a:latin typeface="+mn-lt"/>
              </a:rPr>
              <a:t>(</a:t>
            </a:r>
            <a:r>
              <a:rPr lang="bg-BG" sz="2700" dirty="0" err="1" smtClean="0">
                <a:solidFill>
                  <a:schemeClr val="tx1"/>
                </a:solidFill>
                <a:latin typeface="+mn-lt"/>
              </a:rPr>
              <a:t>start</a:t>
            </a:r>
            <a:r>
              <a:rPr lang="bg-BG" sz="2700" dirty="0" smtClean="0">
                <a:solidFill>
                  <a:schemeClr val="tx1"/>
                </a:solidFill>
                <a:latin typeface="+mn-lt"/>
              </a:rPr>
              <a:t>, </a:t>
            </a:r>
            <a:r>
              <a:rPr lang="bg-BG" sz="2700" dirty="0" err="1" smtClean="0">
                <a:solidFill>
                  <a:schemeClr val="tx1"/>
                </a:solidFill>
                <a:latin typeface="+mn-lt"/>
              </a:rPr>
              <a:t>num</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if</a:t>
            </a:r>
            <a:r>
              <a:rPr lang="bg-BG" sz="2700" dirty="0" smtClean="0">
                <a:solidFill>
                  <a:schemeClr val="tx1"/>
                </a:solidFill>
                <a:latin typeface="+mn-lt"/>
              </a:rPr>
              <a:t> (num%2)		     //проверка за </a:t>
            </a:r>
            <a:r>
              <a:rPr lang="bg-BG" sz="2700" dirty="0" err="1" smtClean="0">
                <a:solidFill>
                  <a:schemeClr val="tx1"/>
                </a:solidFill>
                <a:latin typeface="+mn-lt"/>
              </a:rPr>
              <a:t>четност</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qst</a:t>
            </a:r>
            <a:r>
              <a:rPr lang="bg-BG" sz="2700" dirty="0" smtClean="0">
                <a:solidFill>
                  <a:schemeClr val="tx1"/>
                </a:solidFill>
                <a:latin typeface="+mn-lt"/>
              </a:rPr>
              <a:t>=</a:t>
            </a:r>
            <a:r>
              <a:rPr lang="bg-BG" sz="2700" dirty="0" err="1" smtClean="0">
                <a:solidFill>
                  <a:schemeClr val="tx1"/>
                </a:solidFill>
                <a:latin typeface="+mn-lt"/>
              </a:rPr>
              <a:t>push</a:t>
            </a:r>
            <a:r>
              <a:rPr lang="bg-BG" sz="2700" dirty="0" smtClean="0">
                <a:solidFill>
                  <a:schemeClr val="tx1"/>
                </a:solidFill>
                <a:latin typeface="+mn-lt"/>
              </a:rPr>
              <a:t>(</a:t>
            </a:r>
            <a:r>
              <a:rPr lang="bg-BG" sz="2700" dirty="0" err="1" smtClean="0">
                <a:solidFill>
                  <a:schemeClr val="tx1"/>
                </a:solidFill>
                <a:latin typeface="+mn-lt"/>
              </a:rPr>
              <a:t>qst</a:t>
            </a:r>
            <a:r>
              <a:rPr lang="bg-BG" sz="2700" dirty="0" smtClean="0">
                <a:solidFill>
                  <a:schemeClr val="tx1"/>
                </a:solidFill>
                <a:latin typeface="+mn-lt"/>
              </a:rPr>
              <a:t>,</a:t>
            </a:r>
            <a:r>
              <a:rPr lang="bg-BG" sz="2700" dirty="0" err="1" smtClean="0">
                <a:solidFill>
                  <a:schemeClr val="tx1"/>
                </a:solidFill>
                <a:latin typeface="+mn-lt"/>
              </a:rPr>
              <a:t>num</a:t>
            </a:r>
            <a:r>
              <a:rPr lang="bg-BG" sz="2700" dirty="0" smtClean="0">
                <a:solidFill>
                  <a:schemeClr val="tx1"/>
                </a:solidFill>
                <a:latin typeface="+mn-lt"/>
              </a:rPr>
              <a:t>);     //добавяне на елемент в Q</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else</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pst</a:t>
            </a:r>
            <a:r>
              <a:rPr lang="bg-BG" sz="2700" dirty="0" smtClean="0">
                <a:solidFill>
                  <a:schemeClr val="tx1"/>
                </a:solidFill>
                <a:latin typeface="+mn-lt"/>
              </a:rPr>
              <a:t>=</a:t>
            </a:r>
            <a:r>
              <a:rPr lang="bg-BG" sz="2700" dirty="0" err="1" smtClean="0">
                <a:solidFill>
                  <a:schemeClr val="tx1"/>
                </a:solidFill>
                <a:latin typeface="+mn-lt"/>
              </a:rPr>
              <a:t>push</a:t>
            </a:r>
            <a:r>
              <a:rPr lang="bg-BG" sz="2700" dirty="0" smtClean="0">
                <a:solidFill>
                  <a:schemeClr val="tx1"/>
                </a:solidFill>
                <a:latin typeface="+mn-lt"/>
              </a:rPr>
              <a:t>(</a:t>
            </a:r>
            <a:r>
              <a:rPr lang="bg-BG" sz="2700" dirty="0" err="1" smtClean="0">
                <a:solidFill>
                  <a:schemeClr val="tx1"/>
                </a:solidFill>
                <a:latin typeface="+mn-lt"/>
              </a:rPr>
              <a:t>pst</a:t>
            </a:r>
            <a:r>
              <a:rPr lang="bg-BG" sz="2700" dirty="0" smtClean="0">
                <a:solidFill>
                  <a:schemeClr val="tx1"/>
                </a:solidFill>
                <a:latin typeface="+mn-lt"/>
              </a:rPr>
              <a:t>,</a:t>
            </a:r>
            <a:r>
              <a:rPr lang="bg-BG" sz="2700" dirty="0" err="1" smtClean="0">
                <a:solidFill>
                  <a:schemeClr val="tx1"/>
                </a:solidFill>
                <a:latin typeface="+mn-lt"/>
              </a:rPr>
              <a:t>num</a:t>
            </a:r>
            <a:r>
              <a:rPr lang="bg-BG" sz="2700" dirty="0" smtClean="0">
                <a:solidFill>
                  <a:schemeClr val="tx1"/>
                </a:solidFill>
                <a:latin typeface="+mn-lt"/>
              </a:rPr>
              <a:t>);     //добавяне на елемент в P</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dirty="0" smtClean="0"/>
              <a:t/>
            </a:r>
            <a:br>
              <a:rPr lang="en-US" dirty="0" smtClean="0"/>
            </a:br>
            <a:endParaRPr lang="en-US" dirty="0"/>
          </a:p>
        </p:txBody>
      </p:sp>
      <p:sp>
        <p:nvSpPr>
          <p:cNvPr id="4" name="Slide Number Placeholder 3"/>
          <p:cNvSpPr>
            <a:spLocks noGrp="1"/>
          </p:cNvSpPr>
          <p:nvPr>
            <p:ph type="sldNum" sz="quarter" idx="12"/>
          </p:nvPr>
        </p:nvSpPr>
        <p:spPr/>
        <p:txBody>
          <a:bodyPr/>
          <a:lstStyle/>
          <a:p>
            <a:pPr>
              <a:defRPr/>
            </a:pPr>
            <a:fld id="{070186EC-7004-4CA6-BCD2-E40C54FFC4BA}" type="slidenum">
              <a:rPr lang="en-US" smtClean="0"/>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6179016"/>
          </a:xfrm>
        </p:spPr>
        <p:txBody>
          <a:bodyPr>
            <a:normAutofit fontScale="90000"/>
          </a:bodyPr>
          <a:lstStyle/>
          <a:p>
            <a:r>
              <a:rPr lang="bg-BG" sz="2700" dirty="0" smtClean="0">
                <a:solidFill>
                  <a:schemeClr val="tx1"/>
                </a:solidFill>
                <a:latin typeface="+mn-lt"/>
              </a:rPr>
              <a:t> </a:t>
            </a:r>
            <a:r>
              <a:rPr lang="bg-BG" sz="2700" dirty="0" err="1" smtClean="0">
                <a:solidFill>
                  <a:schemeClr val="tx1"/>
                </a:solidFill>
                <a:latin typeface="+mn-lt"/>
              </a:rPr>
              <a:t>cout</a:t>
            </a:r>
            <a:r>
              <a:rPr lang="bg-BG" sz="2700" dirty="0" smtClean="0">
                <a:solidFill>
                  <a:schemeClr val="tx1"/>
                </a:solidFill>
                <a:latin typeface="+mn-lt"/>
              </a:rPr>
              <a:t>&lt;&lt;"\Новите стекове са:  ";</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cout</a:t>
            </a:r>
            <a:r>
              <a:rPr lang="bg-BG" sz="2700" dirty="0" smtClean="0">
                <a:solidFill>
                  <a:schemeClr val="tx1"/>
                </a:solidFill>
                <a:latin typeface="+mn-lt"/>
              </a:rPr>
              <a:t>&lt;&lt;"\</a:t>
            </a:r>
            <a:r>
              <a:rPr lang="bg-BG" sz="2700" dirty="0" err="1" smtClean="0">
                <a:solidFill>
                  <a:schemeClr val="tx1"/>
                </a:solidFill>
                <a:latin typeface="+mn-lt"/>
              </a:rPr>
              <a:t>nP</a:t>
            </a:r>
            <a:r>
              <a:rPr lang="bg-BG" sz="2700" dirty="0" smtClean="0">
                <a:solidFill>
                  <a:schemeClr val="tx1"/>
                </a:solidFill>
                <a:latin typeface="+mn-lt"/>
              </a:rPr>
              <a:t>:  ";</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while</a:t>
            </a:r>
            <a:r>
              <a:rPr lang="bg-BG" sz="2700" dirty="0" smtClean="0">
                <a:solidFill>
                  <a:schemeClr val="tx1"/>
                </a:solidFill>
                <a:latin typeface="+mn-lt"/>
              </a:rPr>
              <a:t> (!</a:t>
            </a:r>
            <a:r>
              <a:rPr lang="bg-BG" sz="2700" dirty="0" err="1" smtClean="0">
                <a:solidFill>
                  <a:schemeClr val="tx1"/>
                </a:solidFill>
                <a:latin typeface="+mn-lt"/>
              </a:rPr>
              <a:t>empty</a:t>
            </a:r>
            <a:r>
              <a:rPr lang="bg-BG" sz="2700" dirty="0" smtClean="0">
                <a:solidFill>
                  <a:schemeClr val="tx1"/>
                </a:solidFill>
                <a:latin typeface="+mn-lt"/>
              </a:rPr>
              <a:t>(</a:t>
            </a:r>
            <a:r>
              <a:rPr lang="bg-BG" sz="2700" dirty="0" err="1" smtClean="0">
                <a:solidFill>
                  <a:schemeClr val="tx1"/>
                </a:solidFill>
                <a:latin typeface="+mn-lt"/>
              </a:rPr>
              <a:t>pst</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pst</a:t>
            </a:r>
            <a:r>
              <a:rPr lang="bg-BG" sz="2700" dirty="0" smtClean="0">
                <a:solidFill>
                  <a:schemeClr val="tx1"/>
                </a:solidFill>
                <a:latin typeface="+mn-lt"/>
              </a:rPr>
              <a:t>=</a:t>
            </a:r>
            <a:r>
              <a:rPr lang="bg-BG" sz="2700" dirty="0" err="1" smtClean="0">
                <a:solidFill>
                  <a:schemeClr val="tx1"/>
                </a:solidFill>
                <a:latin typeface="+mn-lt"/>
              </a:rPr>
              <a:t>pop</a:t>
            </a:r>
            <a:r>
              <a:rPr lang="bg-BG" sz="2700" dirty="0" smtClean="0">
                <a:solidFill>
                  <a:schemeClr val="tx1"/>
                </a:solidFill>
                <a:latin typeface="+mn-lt"/>
              </a:rPr>
              <a:t>(</a:t>
            </a:r>
            <a:r>
              <a:rPr lang="bg-BG" sz="2700" dirty="0" err="1" smtClean="0">
                <a:solidFill>
                  <a:schemeClr val="tx1"/>
                </a:solidFill>
                <a:latin typeface="+mn-lt"/>
              </a:rPr>
              <a:t>pst</a:t>
            </a:r>
            <a:r>
              <a:rPr lang="bg-BG" sz="2700" dirty="0" smtClean="0">
                <a:solidFill>
                  <a:schemeClr val="tx1"/>
                </a:solidFill>
                <a:latin typeface="+mn-lt"/>
              </a:rPr>
              <a:t>,</a:t>
            </a:r>
            <a:r>
              <a:rPr lang="bg-BG" sz="2700" dirty="0" err="1" smtClean="0">
                <a:solidFill>
                  <a:schemeClr val="tx1"/>
                </a:solidFill>
                <a:latin typeface="+mn-lt"/>
              </a:rPr>
              <a:t>num</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cout</a:t>
            </a:r>
            <a:r>
              <a:rPr lang="bg-BG" sz="2700" dirty="0" smtClean="0">
                <a:solidFill>
                  <a:schemeClr val="tx1"/>
                </a:solidFill>
                <a:latin typeface="+mn-lt"/>
              </a:rPr>
              <a:t>&lt;&lt;</a:t>
            </a:r>
            <a:r>
              <a:rPr lang="bg-BG" sz="2700" dirty="0" err="1" smtClean="0">
                <a:solidFill>
                  <a:schemeClr val="tx1"/>
                </a:solidFill>
                <a:latin typeface="+mn-lt"/>
              </a:rPr>
              <a:t>num</a:t>
            </a:r>
            <a:r>
              <a:rPr lang="bg-BG" sz="2700" dirty="0" smtClean="0">
                <a:solidFill>
                  <a:schemeClr val="tx1"/>
                </a:solidFill>
                <a:latin typeface="+mn-lt"/>
              </a:rPr>
              <a:t>&lt;&lt;' ';</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cout</a:t>
            </a:r>
            <a:r>
              <a:rPr lang="bg-BG" sz="2700" dirty="0" smtClean="0">
                <a:solidFill>
                  <a:schemeClr val="tx1"/>
                </a:solidFill>
                <a:latin typeface="+mn-lt"/>
              </a:rPr>
              <a:t>&lt;&lt;"\</a:t>
            </a:r>
            <a:r>
              <a:rPr lang="bg-BG" sz="2700" dirty="0" err="1" smtClean="0">
                <a:solidFill>
                  <a:schemeClr val="tx1"/>
                </a:solidFill>
                <a:latin typeface="+mn-lt"/>
              </a:rPr>
              <a:t>nQ</a:t>
            </a:r>
            <a:r>
              <a:rPr lang="bg-BG" sz="2700" dirty="0" smtClean="0">
                <a:solidFill>
                  <a:schemeClr val="tx1"/>
                </a:solidFill>
                <a:latin typeface="+mn-lt"/>
              </a:rPr>
              <a:t>:  ";</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while</a:t>
            </a:r>
            <a:r>
              <a:rPr lang="bg-BG" sz="2700" dirty="0" smtClean="0">
                <a:solidFill>
                  <a:schemeClr val="tx1"/>
                </a:solidFill>
                <a:latin typeface="+mn-lt"/>
              </a:rPr>
              <a:t> (!</a:t>
            </a:r>
            <a:r>
              <a:rPr lang="bg-BG" sz="2700" dirty="0" err="1" smtClean="0">
                <a:solidFill>
                  <a:schemeClr val="tx1"/>
                </a:solidFill>
                <a:latin typeface="+mn-lt"/>
              </a:rPr>
              <a:t>empty</a:t>
            </a:r>
            <a:r>
              <a:rPr lang="bg-BG" sz="2700" dirty="0" smtClean="0">
                <a:solidFill>
                  <a:schemeClr val="tx1"/>
                </a:solidFill>
                <a:latin typeface="+mn-lt"/>
              </a:rPr>
              <a:t>(</a:t>
            </a:r>
            <a:r>
              <a:rPr lang="bg-BG" sz="2700" dirty="0" err="1" smtClean="0">
                <a:solidFill>
                  <a:schemeClr val="tx1"/>
                </a:solidFill>
                <a:latin typeface="+mn-lt"/>
              </a:rPr>
              <a:t>qst</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qst</a:t>
            </a:r>
            <a:r>
              <a:rPr lang="bg-BG" sz="2700" dirty="0" smtClean="0">
                <a:solidFill>
                  <a:schemeClr val="tx1"/>
                </a:solidFill>
                <a:latin typeface="+mn-lt"/>
              </a:rPr>
              <a:t>=</a:t>
            </a:r>
            <a:r>
              <a:rPr lang="bg-BG" sz="2700" dirty="0" err="1" smtClean="0">
                <a:solidFill>
                  <a:schemeClr val="tx1"/>
                </a:solidFill>
                <a:latin typeface="+mn-lt"/>
              </a:rPr>
              <a:t>pop</a:t>
            </a:r>
            <a:r>
              <a:rPr lang="bg-BG" sz="2700" dirty="0" smtClean="0">
                <a:solidFill>
                  <a:schemeClr val="tx1"/>
                </a:solidFill>
                <a:latin typeface="+mn-lt"/>
              </a:rPr>
              <a:t>(</a:t>
            </a:r>
            <a:r>
              <a:rPr lang="bg-BG" sz="2700" dirty="0" err="1" smtClean="0">
                <a:solidFill>
                  <a:schemeClr val="tx1"/>
                </a:solidFill>
                <a:latin typeface="+mn-lt"/>
              </a:rPr>
              <a:t>qst</a:t>
            </a:r>
            <a:r>
              <a:rPr lang="bg-BG" sz="2700" dirty="0" smtClean="0">
                <a:solidFill>
                  <a:schemeClr val="tx1"/>
                </a:solidFill>
                <a:latin typeface="+mn-lt"/>
              </a:rPr>
              <a:t>,</a:t>
            </a:r>
            <a:r>
              <a:rPr lang="bg-BG" sz="2700" dirty="0" err="1" smtClean="0">
                <a:solidFill>
                  <a:schemeClr val="tx1"/>
                </a:solidFill>
                <a:latin typeface="+mn-lt"/>
              </a:rPr>
              <a:t>num</a:t>
            </a:r>
            <a:r>
              <a:rPr lang="bg-BG" sz="2700" dirty="0" smtClean="0">
                <a:solidFill>
                  <a:schemeClr val="tx1"/>
                </a:solidFill>
                <a:latin typeface="+mn-lt"/>
              </a:rPr>
              <a:t>);</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cout</a:t>
            </a:r>
            <a:r>
              <a:rPr lang="bg-BG" sz="2700" dirty="0" smtClean="0">
                <a:solidFill>
                  <a:schemeClr val="tx1"/>
                </a:solidFill>
                <a:latin typeface="+mn-lt"/>
              </a:rPr>
              <a:t>&lt;&lt;</a:t>
            </a:r>
            <a:r>
              <a:rPr lang="bg-BG" sz="2700" dirty="0" err="1" smtClean="0">
                <a:solidFill>
                  <a:schemeClr val="tx1"/>
                </a:solidFill>
                <a:latin typeface="+mn-lt"/>
              </a:rPr>
              <a:t>num</a:t>
            </a:r>
            <a:r>
              <a:rPr lang="bg-BG" sz="2700" dirty="0" smtClean="0">
                <a:solidFill>
                  <a:schemeClr val="tx1"/>
                </a:solidFill>
                <a:latin typeface="+mn-lt"/>
              </a:rPr>
              <a:t>&lt;&lt;' ';</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bg-BG" sz="2700" dirty="0" err="1" smtClean="0">
                <a:solidFill>
                  <a:schemeClr val="tx1"/>
                </a:solidFill>
                <a:latin typeface="+mn-lt"/>
              </a:rPr>
              <a:t>cout</a:t>
            </a:r>
            <a:r>
              <a:rPr lang="bg-BG" sz="2700" dirty="0" smtClean="0">
                <a:solidFill>
                  <a:schemeClr val="tx1"/>
                </a:solidFill>
                <a:latin typeface="+mn-lt"/>
              </a:rPr>
              <a:t>&lt;&lt;"\n";</a:t>
            </a:r>
            <a:r>
              <a:rPr lang="en-US" sz="2700" dirty="0" smtClean="0">
                <a:solidFill>
                  <a:schemeClr val="tx1"/>
                </a:solidFill>
                <a:latin typeface="+mn-lt"/>
              </a:rPr>
              <a:t/>
            </a:r>
            <a:br>
              <a:rPr lang="en-US" sz="2700" dirty="0" smtClean="0">
                <a:solidFill>
                  <a:schemeClr val="tx1"/>
                </a:solidFill>
                <a:latin typeface="+mn-lt"/>
              </a:rPr>
            </a:br>
            <a:r>
              <a:rPr lang="bg-BG" sz="2700" dirty="0" smtClean="0">
                <a:solidFill>
                  <a:schemeClr val="tx1"/>
                </a:solidFill>
                <a:latin typeface="+mn-lt"/>
              </a:rPr>
              <a:t>  </a:t>
            </a:r>
            <a:r>
              <a:rPr lang="en-US" sz="2700" dirty="0" smtClean="0">
                <a:solidFill>
                  <a:schemeClr val="tx1"/>
                </a:solidFill>
                <a:latin typeface="+mn-lt"/>
              </a:rPr>
              <a:t>system</a:t>
            </a:r>
            <a:r>
              <a:rPr lang="bg-BG" sz="2700" dirty="0" smtClean="0">
                <a:solidFill>
                  <a:schemeClr val="tx1"/>
                </a:solidFill>
                <a:latin typeface="+mn-lt"/>
              </a:rPr>
              <a:t>(</a:t>
            </a:r>
            <a:r>
              <a:rPr lang="en-US" sz="2700" dirty="0" smtClean="0">
                <a:solidFill>
                  <a:schemeClr val="tx1"/>
                </a:solidFill>
                <a:latin typeface="+mn-lt"/>
              </a:rPr>
              <a:t>“pause”</a:t>
            </a:r>
            <a:r>
              <a:rPr lang="bg-BG" sz="2700" dirty="0" smtClean="0">
                <a:solidFill>
                  <a:schemeClr val="tx1"/>
                </a:solidFill>
                <a:latin typeface="+mn-lt"/>
              </a:rPr>
              <a:t>);</a:t>
            </a:r>
            <a:r>
              <a:rPr lang="en-US" dirty="0" smtClean="0"/>
              <a:t/>
            </a:r>
            <a:br>
              <a:rPr lang="en-US" dirty="0" smtClean="0"/>
            </a:br>
            <a:r>
              <a:rPr lang="bg-BG" sz="2700" dirty="0" smtClean="0"/>
              <a:t>}</a:t>
            </a:r>
            <a:endParaRPr lang="en-US" sz="2700" dirty="0"/>
          </a:p>
        </p:txBody>
      </p:sp>
      <p:sp>
        <p:nvSpPr>
          <p:cNvPr id="3" name="Slide Number Placeholder 2"/>
          <p:cNvSpPr>
            <a:spLocks noGrp="1"/>
          </p:cNvSpPr>
          <p:nvPr>
            <p:ph type="sldNum" sz="quarter" idx="12"/>
          </p:nvPr>
        </p:nvSpPr>
        <p:spPr/>
        <p:txBody>
          <a:bodyPr/>
          <a:lstStyle/>
          <a:p>
            <a:pPr>
              <a:defRPr/>
            </a:pPr>
            <a:fld id="{ADBD2EDB-82FB-49C3-9282-FE44DD784968}" type="slidenum">
              <a:rPr lang="en-US" smtClean="0"/>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6251024"/>
          </a:xfrm>
        </p:spPr>
        <p:txBody>
          <a:bodyPr>
            <a:normAutofit/>
          </a:bodyPr>
          <a:lstStyle/>
          <a:p>
            <a:r>
              <a:rPr lang="bg-BG" sz="2600" dirty="0" err="1" smtClean="0">
                <a:solidFill>
                  <a:schemeClr val="tx1"/>
                </a:solidFill>
                <a:latin typeface="+mn-lt"/>
              </a:rPr>
              <a:t>void</a:t>
            </a:r>
            <a:r>
              <a:rPr lang="bg-BG" sz="2600" dirty="0" smtClean="0">
                <a:solidFill>
                  <a:schemeClr val="tx1"/>
                </a:solidFill>
                <a:latin typeface="+mn-lt"/>
              </a:rPr>
              <a:t> </a:t>
            </a:r>
            <a:r>
              <a:rPr lang="bg-BG" sz="2600" dirty="0" err="1" smtClean="0">
                <a:solidFill>
                  <a:schemeClr val="tx1"/>
                </a:solidFill>
                <a:latin typeface="+mn-lt"/>
              </a:rPr>
              <a:t>init</a:t>
            </a:r>
            <a:r>
              <a:rPr lang="bg-BG" sz="2600" dirty="0" smtClean="0">
                <a:solidFill>
                  <a:schemeClr val="tx1"/>
                </a:solidFill>
                <a:latin typeface="+mn-lt"/>
              </a:rPr>
              <a:t> (</a:t>
            </a:r>
            <a:r>
              <a:rPr lang="bg-BG" sz="2600" dirty="0" err="1" smtClean="0">
                <a:solidFill>
                  <a:schemeClr val="tx1"/>
                </a:solidFill>
                <a:latin typeface="+mn-lt"/>
              </a:rPr>
              <a:t>elem</a:t>
            </a:r>
            <a:r>
              <a:rPr lang="bg-BG" sz="2600" dirty="0" smtClean="0">
                <a:solidFill>
                  <a:schemeClr val="tx1"/>
                </a:solidFill>
                <a:latin typeface="+mn-lt"/>
              </a:rPr>
              <a:t> *</a:t>
            </a:r>
            <a:r>
              <a:rPr lang="bg-BG" sz="2600" dirty="0" err="1" smtClean="0">
                <a:solidFill>
                  <a:schemeClr val="tx1"/>
                </a:solidFill>
                <a:latin typeface="+mn-lt"/>
              </a:rPr>
              <a:t>st</a:t>
            </a:r>
            <a:r>
              <a:rPr lang="bg-BG" sz="2600" dirty="0" smtClean="0">
                <a:solidFill>
                  <a:schemeClr val="tx1"/>
                </a:solidFill>
                <a:latin typeface="+mn-lt"/>
              </a:rPr>
              <a:t>)		//инициализация на стек</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a:t>
            </a:r>
            <a:r>
              <a:rPr lang="bg-BG" sz="2600" dirty="0" err="1" smtClean="0">
                <a:solidFill>
                  <a:schemeClr val="tx1"/>
                </a:solidFill>
                <a:latin typeface="+mn-lt"/>
              </a:rPr>
              <a:t>st</a:t>
            </a:r>
            <a:r>
              <a:rPr lang="bg-BG" sz="2600" dirty="0" smtClean="0">
                <a:solidFill>
                  <a:schemeClr val="tx1"/>
                </a:solidFill>
                <a:latin typeface="+mn-lt"/>
              </a:rPr>
              <a:t>=NULL;</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a:t>
            </a:r>
            <a:r>
              <a:rPr lang="en-US" sz="2600" dirty="0" smtClean="0">
                <a:solidFill>
                  <a:schemeClr val="tx1"/>
                </a:solidFill>
                <a:latin typeface="+mn-lt"/>
              </a:rPr>
              <a:t/>
            </a:r>
            <a:br>
              <a:rPr lang="en-US" sz="2600" dirty="0" smtClean="0">
                <a:solidFill>
                  <a:schemeClr val="tx1"/>
                </a:solidFill>
                <a:latin typeface="+mn-lt"/>
              </a:rPr>
            </a:br>
            <a:r>
              <a:rPr lang="en-US" sz="2600" dirty="0" smtClean="0">
                <a:solidFill>
                  <a:schemeClr val="tx1"/>
                </a:solidFill>
                <a:latin typeface="+mn-lt"/>
              </a:rPr>
              <a:t/>
            </a:r>
            <a:br>
              <a:rPr lang="en-US" sz="2600" dirty="0" smtClean="0">
                <a:solidFill>
                  <a:schemeClr val="tx1"/>
                </a:solidFill>
                <a:latin typeface="+mn-lt"/>
              </a:rPr>
            </a:br>
            <a:r>
              <a:rPr lang="bg-BG" sz="2600" dirty="0" err="1" smtClean="0">
                <a:solidFill>
                  <a:schemeClr val="tx1"/>
                </a:solidFill>
                <a:latin typeface="+mn-lt"/>
              </a:rPr>
              <a:t>int</a:t>
            </a:r>
            <a:r>
              <a:rPr lang="bg-BG" sz="2600" dirty="0" smtClean="0">
                <a:solidFill>
                  <a:schemeClr val="tx1"/>
                </a:solidFill>
                <a:latin typeface="+mn-lt"/>
              </a:rPr>
              <a:t> </a:t>
            </a:r>
            <a:r>
              <a:rPr lang="bg-BG" sz="2600" dirty="0" err="1" smtClean="0">
                <a:solidFill>
                  <a:schemeClr val="tx1"/>
                </a:solidFill>
                <a:latin typeface="+mn-lt"/>
              </a:rPr>
              <a:t>empty</a:t>
            </a:r>
            <a:r>
              <a:rPr lang="bg-BG" sz="2600" dirty="0" smtClean="0">
                <a:solidFill>
                  <a:schemeClr val="tx1"/>
                </a:solidFill>
                <a:latin typeface="+mn-lt"/>
              </a:rPr>
              <a:t>(</a:t>
            </a:r>
            <a:r>
              <a:rPr lang="bg-BG" sz="2600" dirty="0" err="1" smtClean="0">
                <a:solidFill>
                  <a:schemeClr val="tx1"/>
                </a:solidFill>
                <a:latin typeface="+mn-lt"/>
              </a:rPr>
              <a:t>elem</a:t>
            </a:r>
            <a:r>
              <a:rPr lang="bg-BG" sz="2600" dirty="0" smtClean="0">
                <a:solidFill>
                  <a:schemeClr val="tx1"/>
                </a:solidFill>
                <a:latin typeface="+mn-lt"/>
              </a:rPr>
              <a:t> *</a:t>
            </a:r>
            <a:r>
              <a:rPr lang="bg-BG" sz="2600" dirty="0" err="1" smtClean="0">
                <a:solidFill>
                  <a:schemeClr val="tx1"/>
                </a:solidFill>
                <a:latin typeface="+mn-lt"/>
              </a:rPr>
              <a:t>st</a:t>
            </a:r>
            <a:r>
              <a:rPr lang="bg-BG" sz="2600" dirty="0" smtClean="0">
                <a:solidFill>
                  <a:schemeClr val="tx1"/>
                </a:solidFill>
                <a:latin typeface="+mn-lt"/>
              </a:rPr>
              <a:t>)	     </a:t>
            </a:r>
            <a:r>
              <a:rPr lang="en-US" sz="2600" dirty="0" smtClean="0">
                <a:solidFill>
                  <a:schemeClr val="tx1"/>
                </a:solidFill>
                <a:latin typeface="+mn-lt"/>
              </a:rPr>
              <a:t>     </a:t>
            </a:r>
            <a:r>
              <a:rPr lang="bg-BG" sz="2600" dirty="0" smtClean="0">
                <a:solidFill>
                  <a:schemeClr val="tx1"/>
                </a:solidFill>
                <a:latin typeface="+mn-lt"/>
              </a:rPr>
              <a:t>//проверка за празен стек</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a:t>
            </a:r>
            <a:r>
              <a:rPr lang="bg-BG" sz="2600" dirty="0" err="1" smtClean="0">
                <a:solidFill>
                  <a:schemeClr val="tx1"/>
                </a:solidFill>
                <a:latin typeface="+mn-lt"/>
              </a:rPr>
              <a:t>if</a:t>
            </a:r>
            <a:r>
              <a:rPr lang="bg-BG" sz="2600" dirty="0" smtClean="0">
                <a:solidFill>
                  <a:schemeClr val="tx1"/>
                </a:solidFill>
                <a:latin typeface="+mn-lt"/>
              </a:rPr>
              <a:t> (</a:t>
            </a:r>
            <a:r>
              <a:rPr lang="bg-BG" sz="2600" dirty="0" err="1" smtClean="0">
                <a:solidFill>
                  <a:schemeClr val="tx1"/>
                </a:solidFill>
                <a:latin typeface="+mn-lt"/>
              </a:rPr>
              <a:t>st</a:t>
            </a:r>
            <a:r>
              <a:rPr lang="bg-BG" sz="2600" dirty="0" smtClean="0">
                <a:solidFill>
                  <a:schemeClr val="tx1"/>
                </a:solidFill>
                <a:latin typeface="+mn-lt"/>
              </a:rPr>
              <a:t>==NULL)</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a:t>
            </a:r>
            <a:r>
              <a:rPr lang="bg-BG" sz="2600" dirty="0" err="1" smtClean="0">
                <a:solidFill>
                  <a:schemeClr val="tx1"/>
                </a:solidFill>
                <a:latin typeface="+mn-lt"/>
              </a:rPr>
              <a:t>return</a:t>
            </a:r>
            <a:r>
              <a:rPr lang="bg-BG" sz="2600" dirty="0" smtClean="0">
                <a:solidFill>
                  <a:schemeClr val="tx1"/>
                </a:solidFill>
                <a:latin typeface="+mn-lt"/>
              </a:rPr>
              <a:t> 1;</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a:t>
            </a:r>
            <a:r>
              <a:rPr lang="bg-BG" sz="2600" dirty="0" err="1" smtClean="0">
                <a:solidFill>
                  <a:schemeClr val="tx1"/>
                </a:solidFill>
                <a:latin typeface="+mn-lt"/>
              </a:rPr>
              <a:t>else</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a:t>
            </a:r>
            <a:r>
              <a:rPr lang="bg-BG" sz="2600" dirty="0" err="1" smtClean="0">
                <a:solidFill>
                  <a:schemeClr val="tx1"/>
                </a:solidFill>
                <a:latin typeface="+mn-lt"/>
              </a:rPr>
              <a:t>return</a:t>
            </a:r>
            <a:r>
              <a:rPr lang="bg-BG" sz="2600" dirty="0" smtClean="0">
                <a:solidFill>
                  <a:schemeClr val="tx1"/>
                </a:solidFill>
                <a:latin typeface="+mn-lt"/>
              </a:rPr>
              <a:t> 0;</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a:t>
            </a:r>
            <a:endParaRPr lang="en-US" sz="2600" dirty="0">
              <a:latin typeface="+mn-lt"/>
            </a:endParaRPr>
          </a:p>
        </p:txBody>
      </p:sp>
      <p:sp>
        <p:nvSpPr>
          <p:cNvPr id="3" name="Slide Number Placeholder 2"/>
          <p:cNvSpPr>
            <a:spLocks noGrp="1"/>
          </p:cNvSpPr>
          <p:nvPr>
            <p:ph type="sldNum" sz="quarter" idx="12"/>
          </p:nvPr>
        </p:nvSpPr>
        <p:spPr/>
        <p:txBody>
          <a:bodyPr/>
          <a:lstStyle/>
          <a:p>
            <a:pPr>
              <a:defRPr/>
            </a:pPr>
            <a:fld id="{ADBD2EDB-82FB-49C3-9282-FE44DD784968}" type="slidenum">
              <a:rPr lang="en-US" smtClean="0"/>
              <a:pPr>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476672"/>
            <a:ext cx="7642096" cy="5962992"/>
          </a:xfrm>
        </p:spPr>
        <p:txBody>
          <a:bodyPr>
            <a:normAutofit/>
          </a:bodyPr>
          <a:lstStyle/>
          <a:p>
            <a:r>
              <a:rPr lang="bg-BG" sz="2600" dirty="0" err="1" smtClean="0">
                <a:solidFill>
                  <a:schemeClr val="tx1"/>
                </a:solidFill>
                <a:latin typeface="+mn-lt"/>
              </a:rPr>
              <a:t>elem</a:t>
            </a:r>
            <a:r>
              <a:rPr lang="bg-BG" sz="2600" dirty="0" smtClean="0">
                <a:solidFill>
                  <a:schemeClr val="tx1"/>
                </a:solidFill>
                <a:latin typeface="+mn-lt"/>
              </a:rPr>
              <a:t> *</a:t>
            </a:r>
            <a:r>
              <a:rPr lang="bg-BG" sz="2600" dirty="0" err="1" smtClean="0">
                <a:solidFill>
                  <a:schemeClr val="tx1"/>
                </a:solidFill>
                <a:latin typeface="+mn-lt"/>
              </a:rPr>
              <a:t>push</a:t>
            </a:r>
            <a:r>
              <a:rPr lang="bg-BG" sz="2600" dirty="0" smtClean="0">
                <a:solidFill>
                  <a:schemeClr val="tx1"/>
                </a:solidFill>
                <a:latin typeface="+mn-lt"/>
              </a:rPr>
              <a:t>(</a:t>
            </a:r>
            <a:r>
              <a:rPr lang="bg-BG" sz="2600" dirty="0" err="1" smtClean="0">
                <a:solidFill>
                  <a:schemeClr val="tx1"/>
                </a:solidFill>
                <a:latin typeface="+mn-lt"/>
              </a:rPr>
              <a:t>elem</a:t>
            </a:r>
            <a:r>
              <a:rPr lang="bg-BG" sz="2600" dirty="0" smtClean="0">
                <a:solidFill>
                  <a:schemeClr val="tx1"/>
                </a:solidFill>
                <a:latin typeface="+mn-lt"/>
              </a:rPr>
              <a:t> *</a:t>
            </a:r>
            <a:r>
              <a:rPr lang="bg-BG" sz="2600" dirty="0" err="1" smtClean="0">
                <a:solidFill>
                  <a:schemeClr val="tx1"/>
                </a:solidFill>
                <a:latin typeface="+mn-lt"/>
              </a:rPr>
              <a:t>st</a:t>
            </a:r>
            <a:r>
              <a:rPr lang="bg-BG" sz="2600" dirty="0" smtClean="0">
                <a:solidFill>
                  <a:schemeClr val="tx1"/>
                </a:solidFill>
                <a:latin typeface="+mn-lt"/>
              </a:rPr>
              <a:t>, </a:t>
            </a:r>
            <a:r>
              <a:rPr lang="bg-BG" sz="2600" dirty="0" err="1" smtClean="0">
                <a:solidFill>
                  <a:schemeClr val="tx1"/>
                </a:solidFill>
                <a:latin typeface="+mn-lt"/>
              </a:rPr>
              <a:t>int</a:t>
            </a:r>
            <a:r>
              <a:rPr lang="bg-BG" sz="2600" dirty="0" smtClean="0">
                <a:solidFill>
                  <a:schemeClr val="tx1"/>
                </a:solidFill>
                <a:latin typeface="+mn-lt"/>
              </a:rPr>
              <a:t> n)</a:t>
            </a:r>
            <a:r>
              <a:rPr lang="en-US" sz="2600" dirty="0" smtClean="0">
                <a:solidFill>
                  <a:schemeClr val="tx1"/>
                </a:solidFill>
                <a:latin typeface="+mn-lt"/>
              </a:rPr>
              <a:t>   </a:t>
            </a:r>
            <a:r>
              <a:rPr lang="bg-BG" sz="2600" dirty="0" smtClean="0">
                <a:solidFill>
                  <a:schemeClr val="tx1"/>
                </a:solidFill>
                <a:latin typeface="+mn-lt"/>
              </a:rPr>
              <a:t>//добавяне на елемент</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a:t>
            </a:r>
            <a:r>
              <a:rPr lang="bg-BG" sz="2600" dirty="0" err="1" smtClean="0">
                <a:solidFill>
                  <a:schemeClr val="tx1"/>
                </a:solidFill>
                <a:latin typeface="+mn-lt"/>
              </a:rPr>
              <a:t>elem</a:t>
            </a:r>
            <a:r>
              <a:rPr lang="bg-BG" sz="2600" dirty="0" smtClean="0">
                <a:solidFill>
                  <a:schemeClr val="tx1"/>
                </a:solidFill>
                <a:latin typeface="+mn-lt"/>
              </a:rPr>
              <a:t> *p;</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p=</a:t>
            </a:r>
            <a:r>
              <a:rPr lang="bg-BG" sz="2600" dirty="0" err="1" smtClean="0">
                <a:solidFill>
                  <a:schemeClr val="tx1"/>
                </a:solidFill>
                <a:latin typeface="+mn-lt"/>
              </a:rPr>
              <a:t>new</a:t>
            </a:r>
            <a:r>
              <a:rPr lang="bg-BG" sz="2600" dirty="0" smtClean="0">
                <a:solidFill>
                  <a:schemeClr val="tx1"/>
                </a:solidFill>
                <a:latin typeface="+mn-lt"/>
              </a:rPr>
              <a:t> </a:t>
            </a:r>
            <a:r>
              <a:rPr lang="bg-BG" sz="2600" dirty="0" err="1" smtClean="0">
                <a:solidFill>
                  <a:schemeClr val="tx1"/>
                </a:solidFill>
                <a:latin typeface="+mn-lt"/>
              </a:rPr>
              <a:t>elem</a:t>
            </a:r>
            <a:r>
              <a:rPr lang="bg-BG" sz="2600" dirty="0" smtClean="0">
                <a:solidFill>
                  <a:schemeClr val="tx1"/>
                </a:solidFill>
                <a:latin typeface="+mn-lt"/>
              </a:rPr>
              <a:t>;</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p-&gt;</a:t>
            </a:r>
            <a:r>
              <a:rPr lang="bg-BG" sz="2600" dirty="0" err="1" smtClean="0">
                <a:solidFill>
                  <a:schemeClr val="tx1"/>
                </a:solidFill>
                <a:latin typeface="+mn-lt"/>
              </a:rPr>
              <a:t>key</a:t>
            </a:r>
            <a:r>
              <a:rPr lang="bg-BG" sz="2600" dirty="0" smtClean="0">
                <a:solidFill>
                  <a:schemeClr val="tx1"/>
                </a:solidFill>
                <a:latin typeface="+mn-lt"/>
              </a:rPr>
              <a:t>=n;</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p-&gt;</a:t>
            </a:r>
            <a:r>
              <a:rPr lang="bg-BG" sz="2600" dirty="0" err="1" smtClean="0">
                <a:solidFill>
                  <a:schemeClr val="tx1"/>
                </a:solidFill>
                <a:latin typeface="+mn-lt"/>
              </a:rPr>
              <a:t>next</a:t>
            </a:r>
            <a:r>
              <a:rPr lang="bg-BG" sz="2600" dirty="0" smtClean="0">
                <a:solidFill>
                  <a:schemeClr val="tx1"/>
                </a:solidFill>
                <a:latin typeface="+mn-lt"/>
              </a:rPr>
              <a:t>=</a:t>
            </a:r>
            <a:r>
              <a:rPr lang="bg-BG" sz="2600" dirty="0" err="1" smtClean="0">
                <a:solidFill>
                  <a:schemeClr val="tx1"/>
                </a:solidFill>
                <a:latin typeface="+mn-lt"/>
              </a:rPr>
              <a:t>st</a:t>
            </a:r>
            <a:r>
              <a:rPr lang="bg-BG" sz="2600" dirty="0" smtClean="0">
                <a:solidFill>
                  <a:schemeClr val="tx1"/>
                </a:solidFill>
                <a:latin typeface="+mn-lt"/>
              </a:rPr>
              <a:t>;</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a:t>
            </a:r>
            <a:r>
              <a:rPr lang="bg-BG" sz="2600" dirty="0" err="1" smtClean="0">
                <a:solidFill>
                  <a:schemeClr val="tx1"/>
                </a:solidFill>
                <a:latin typeface="+mn-lt"/>
              </a:rPr>
              <a:t>st</a:t>
            </a:r>
            <a:r>
              <a:rPr lang="bg-BG" sz="2600" dirty="0" smtClean="0">
                <a:solidFill>
                  <a:schemeClr val="tx1"/>
                </a:solidFill>
                <a:latin typeface="+mn-lt"/>
              </a:rPr>
              <a:t>=p;</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a:t>
            </a:r>
            <a:r>
              <a:rPr lang="bg-BG" sz="2600" dirty="0" err="1" smtClean="0">
                <a:solidFill>
                  <a:schemeClr val="tx1"/>
                </a:solidFill>
                <a:latin typeface="+mn-lt"/>
              </a:rPr>
              <a:t>return</a:t>
            </a:r>
            <a:r>
              <a:rPr lang="bg-BG" sz="2600" dirty="0" smtClean="0">
                <a:solidFill>
                  <a:schemeClr val="tx1"/>
                </a:solidFill>
                <a:latin typeface="+mn-lt"/>
              </a:rPr>
              <a:t> p;</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a:t>
            </a:r>
            <a:endParaRPr lang="en-US" sz="2600" dirty="0">
              <a:solidFill>
                <a:schemeClr val="tx1"/>
              </a:solidFill>
              <a:latin typeface="+mn-lt"/>
            </a:endParaRPr>
          </a:p>
        </p:txBody>
      </p:sp>
      <p:sp>
        <p:nvSpPr>
          <p:cNvPr id="3" name="Slide Number Placeholder 2"/>
          <p:cNvSpPr>
            <a:spLocks noGrp="1"/>
          </p:cNvSpPr>
          <p:nvPr>
            <p:ph type="sldNum" sz="quarter" idx="12"/>
          </p:nvPr>
        </p:nvSpPr>
        <p:spPr/>
        <p:txBody>
          <a:bodyPr/>
          <a:lstStyle/>
          <a:p>
            <a:pPr>
              <a:defRPr/>
            </a:pPr>
            <a:fld id="{ADBD2EDB-82FB-49C3-9282-FE44DD784968}" type="slidenum">
              <a:rPr lang="en-US" smtClean="0"/>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274320"/>
            <a:ext cx="7746064" cy="6323032"/>
          </a:xfrm>
        </p:spPr>
        <p:txBody>
          <a:bodyPr>
            <a:normAutofit/>
          </a:bodyPr>
          <a:lstStyle/>
          <a:p>
            <a:r>
              <a:rPr lang="bg-BG" sz="2600" dirty="0" err="1" smtClean="0">
                <a:solidFill>
                  <a:schemeClr val="tx1"/>
                </a:solidFill>
                <a:latin typeface="+mn-lt"/>
              </a:rPr>
              <a:t>elem</a:t>
            </a:r>
            <a:r>
              <a:rPr lang="bg-BG" sz="2600" dirty="0" smtClean="0">
                <a:solidFill>
                  <a:schemeClr val="tx1"/>
                </a:solidFill>
                <a:latin typeface="+mn-lt"/>
              </a:rPr>
              <a:t> *</a:t>
            </a:r>
            <a:r>
              <a:rPr lang="bg-BG" sz="2600" dirty="0" err="1" smtClean="0">
                <a:solidFill>
                  <a:schemeClr val="tx1"/>
                </a:solidFill>
                <a:latin typeface="+mn-lt"/>
              </a:rPr>
              <a:t>pop</a:t>
            </a:r>
            <a:r>
              <a:rPr lang="bg-BG" sz="2600" dirty="0" smtClean="0">
                <a:solidFill>
                  <a:schemeClr val="tx1"/>
                </a:solidFill>
                <a:latin typeface="+mn-lt"/>
              </a:rPr>
              <a:t>(</a:t>
            </a:r>
            <a:r>
              <a:rPr lang="bg-BG" sz="2600" dirty="0" err="1" smtClean="0">
                <a:solidFill>
                  <a:schemeClr val="tx1"/>
                </a:solidFill>
                <a:latin typeface="+mn-lt"/>
              </a:rPr>
              <a:t>elem</a:t>
            </a:r>
            <a:r>
              <a:rPr lang="bg-BG" sz="2600" dirty="0" smtClean="0">
                <a:solidFill>
                  <a:schemeClr val="tx1"/>
                </a:solidFill>
                <a:latin typeface="+mn-lt"/>
              </a:rPr>
              <a:t> *</a:t>
            </a:r>
            <a:r>
              <a:rPr lang="bg-BG" sz="2600" dirty="0" err="1" smtClean="0">
                <a:solidFill>
                  <a:schemeClr val="tx1"/>
                </a:solidFill>
                <a:latin typeface="+mn-lt"/>
              </a:rPr>
              <a:t>st</a:t>
            </a:r>
            <a:r>
              <a:rPr lang="bg-BG" sz="2600" dirty="0" smtClean="0">
                <a:solidFill>
                  <a:schemeClr val="tx1"/>
                </a:solidFill>
                <a:latin typeface="+mn-lt"/>
              </a:rPr>
              <a:t>, </a:t>
            </a:r>
            <a:r>
              <a:rPr lang="bg-BG" sz="2600" dirty="0" err="1" smtClean="0">
                <a:solidFill>
                  <a:schemeClr val="tx1"/>
                </a:solidFill>
                <a:latin typeface="+mn-lt"/>
              </a:rPr>
              <a:t>int</a:t>
            </a:r>
            <a:r>
              <a:rPr lang="bg-BG" sz="2600" dirty="0" smtClean="0">
                <a:solidFill>
                  <a:schemeClr val="tx1"/>
                </a:solidFill>
                <a:latin typeface="+mn-lt"/>
              </a:rPr>
              <a:t> &amp;n)</a:t>
            </a:r>
            <a:r>
              <a:rPr lang="en-US" sz="2600" dirty="0" smtClean="0">
                <a:solidFill>
                  <a:schemeClr val="tx1"/>
                </a:solidFill>
                <a:latin typeface="+mn-lt"/>
              </a:rPr>
              <a:t>    </a:t>
            </a:r>
            <a:r>
              <a:rPr lang="bg-BG" sz="2600" dirty="0" smtClean="0">
                <a:solidFill>
                  <a:schemeClr val="tx1"/>
                </a:solidFill>
                <a:latin typeface="+mn-lt"/>
              </a:rPr>
              <a:t>//извличане на елемент</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a:t>
            </a:r>
            <a:r>
              <a:rPr lang="bg-BG" sz="2600" dirty="0" err="1" smtClean="0">
                <a:solidFill>
                  <a:schemeClr val="tx1"/>
                </a:solidFill>
                <a:latin typeface="+mn-lt"/>
              </a:rPr>
              <a:t>elem</a:t>
            </a:r>
            <a:r>
              <a:rPr lang="bg-BG" sz="2600" dirty="0" smtClean="0">
                <a:solidFill>
                  <a:schemeClr val="tx1"/>
                </a:solidFill>
                <a:latin typeface="+mn-lt"/>
              </a:rPr>
              <a:t> *p;</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n=</a:t>
            </a:r>
            <a:r>
              <a:rPr lang="bg-BG" sz="2600" dirty="0" err="1" smtClean="0">
                <a:solidFill>
                  <a:schemeClr val="tx1"/>
                </a:solidFill>
                <a:latin typeface="+mn-lt"/>
              </a:rPr>
              <a:t>st-</a:t>
            </a:r>
            <a:r>
              <a:rPr lang="bg-BG" sz="2600" dirty="0" smtClean="0">
                <a:solidFill>
                  <a:schemeClr val="tx1"/>
                </a:solidFill>
                <a:latin typeface="+mn-lt"/>
              </a:rPr>
              <a:t>&gt;</a:t>
            </a:r>
            <a:r>
              <a:rPr lang="bg-BG" sz="2600" dirty="0" err="1" smtClean="0">
                <a:solidFill>
                  <a:schemeClr val="tx1"/>
                </a:solidFill>
                <a:latin typeface="+mn-lt"/>
              </a:rPr>
              <a:t>key</a:t>
            </a:r>
            <a:r>
              <a:rPr lang="bg-BG" sz="2600" dirty="0" smtClean="0">
                <a:solidFill>
                  <a:schemeClr val="tx1"/>
                </a:solidFill>
                <a:latin typeface="+mn-lt"/>
              </a:rPr>
              <a:t>;</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p=</a:t>
            </a:r>
            <a:r>
              <a:rPr lang="bg-BG" sz="2600" dirty="0" err="1" smtClean="0">
                <a:solidFill>
                  <a:schemeClr val="tx1"/>
                </a:solidFill>
                <a:latin typeface="+mn-lt"/>
              </a:rPr>
              <a:t>st</a:t>
            </a:r>
            <a:r>
              <a:rPr lang="bg-BG" sz="2600" dirty="0" smtClean="0">
                <a:solidFill>
                  <a:schemeClr val="tx1"/>
                </a:solidFill>
                <a:latin typeface="+mn-lt"/>
              </a:rPr>
              <a:t>;</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a:t>
            </a:r>
            <a:r>
              <a:rPr lang="bg-BG" sz="2600" dirty="0" err="1" smtClean="0">
                <a:solidFill>
                  <a:schemeClr val="tx1"/>
                </a:solidFill>
                <a:latin typeface="+mn-lt"/>
              </a:rPr>
              <a:t>st</a:t>
            </a:r>
            <a:r>
              <a:rPr lang="bg-BG" sz="2600" dirty="0" smtClean="0">
                <a:solidFill>
                  <a:schemeClr val="tx1"/>
                </a:solidFill>
                <a:latin typeface="+mn-lt"/>
              </a:rPr>
              <a:t>=</a:t>
            </a:r>
            <a:r>
              <a:rPr lang="bg-BG" sz="2600" dirty="0" err="1" smtClean="0">
                <a:solidFill>
                  <a:schemeClr val="tx1"/>
                </a:solidFill>
                <a:latin typeface="+mn-lt"/>
              </a:rPr>
              <a:t>st-</a:t>
            </a:r>
            <a:r>
              <a:rPr lang="bg-BG" sz="2600" dirty="0" smtClean="0">
                <a:solidFill>
                  <a:schemeClr val="tx1"/>
                </a:solidFill>
                <a:latin typeface="+mn-lt"/>
              </a:rPr>
              <a:t>&gt;</a:t>
            </a:r>
            <a:r>
              <a:rPr lang="bg-BG" sz="2600" dirty="0" err="1" smtClean="0">
                <a:solidFill>
                  <a:schemeClr val="tx1"/>
                </a:solidFill>
                <a:latin typeface="+mn-lt"/>
              </a:rPr>
              <a:t>next</a:t>
            </a:r>
            <a:r>
              <a:rPr lang="bg-BG" sz="2600" dirty="0" smtClean="0">
                <a:solidFill>
                  <a:schemeClr val="tx1"/>
                </a:solidFill>
                <a:latin typeface="+mn-lt"/>
              </a:rPr>
              <a:t>;</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a:t>
            </a:r>
            <a:r>
              <a:rPr lang="bg-BG" sz="2600" dirty="0" err="1" smtClean="0">
                <a:solidFill>
                  <a:schemeClr val="tx1"/>
                </a:solidFill>
                <a:latin typeface="+mn-lt"/>
              </a:rPr>
              <a:t>delete</a:t>
            </a:r>
            <a:r>
              <a:rPr lang="bg-BG" sz="2600" dirty="0" smtClean="0">
                <a:solidFill>
                  <a:schemeClr val="tx1"/>
                </a:solidFill>
                <a:latin typeface="+mn-lt"/>
              </a:rPr>
              <a:t> p;</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      </a:t>
            </a:r>
            <a:r>
              <a:rPr lang="bg-BG" sz="2600" dirty="0" err="1" smtClean="0">
                <a:solidFill>
                  <a:schemeClr val="tx1"/>
                </a:solidFill>
                <a:latin typeface="+mn-lt"/>
              </a:rPr>
              <a:t>return</a:t>
            </a:r>
            <a:r>
              <a:rPr lang="bg-BG" sz="2600" dirty="0" smtClean="0">
                <a:solidFill>
                  <a:schemeClr val="tx1"/>
                </a:solidFill>
                <a:latin typeface="+mn-lt"/>
              </a:rPr>
              <a:t> </a:t>
            </a:r>
            <a:r>
              <a:rPr lang="bg-BG" sz="2600" dirty="0" err="1" smtClean="0">
                <a:solidFill>
                  <a:schemeClr val="tx1"/>
                </a:solidFill>
                <a:latin typeface="+mn-lt"/>
              </a:rPr>
              <a:t>st</a:t>
            </a:r>
            <a:r>
              <a:rPr lang="bg-BG" sz="2600" dirty="0" smtClean="0">
                <a:solidFill>
                  <a:schemeClr val="tx1"/>
                </a:solidFill>
                <a:latin typeface="+mn-lt"/>
              </a:rPr>
              <a:t>;</a:t>
            </a:r>
            <a:r>
              <a:rPr lang="en-US" sz="2600" dirty="0" smtClean="0">
                <a:solidFill>
                  <a:schemeClr val="tx1"/>
                </a:solidFill>
                <a:latin typeface="+mn-lt"/>
              </a:rPr>
              <a:t/>
            </a:r>
            <a:br>
              <a:rPr lang="en-US" sz="2600" dirty="0" smtClean="0">
                <a:solidFill>
                  <a:schemeClr val="tx1"/>
                </a:solidFill>
                <a:latin typeface="+mn-lt"/>
              </a:rPr>
            </a:br>
            <a:r>
              <a:rPr lang="bg-BG" sz="2600" dirty="0" smtClean="0">
                <a:solidFill>
                  <a:schemeClr val="tx1"/>
                </a:solidFill>
                <a:latin typeface="+mn-lt"/>
              </a:rPr>
              <a:t>}</a:t>
            </a:r>
            <a:r>
              <a:rPr lang="en-US" dirty="0" smtClean="0"/>
              <a:t/>
            </a:r>
            <a:br>
              <a:rPr lang="en-US" dirty="0" smtClean="0"/>
            </a:br>
            <a:endParaRPr lang="en-US" dirty="0"/>
          </a:p>
        </p:txBody>
      </p:sp>
      <p:sp>
        <p:nvSpPr>
          <p:cNvPr id="3" name="Slide Number Placeholder 2"/>
          <p:cNvSpPr>
            <a:spLocks noGrp="1"/>
          </p:cNvSpPr>
          <p:nvPr>
            <p:ph type="sldNum" sz="quarter" idx="12"/>
          </p:nvPr>
        </p:nvSpPr>
        <p:spPr/>
        <p:txBody>
          <a:bodyPr/>
          <a:lstStyle/>
          <a:p>
            <a:pPr>
              <a:defRPr/>
            </a:pPr>
            <a:fld id="{ADBD2EDB-82FB-49C3-9282-FE44DD784968}" type="slidenum">
              <a:rPr lang="en-US" smtClean="0"/>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042988" y="549275"/>
            <a:ext cx="7772400" cy="5791200"/>
          </a:xfrm>
        </p:spPr>
        <p:txBody>
          <a:bodyPr/>
          <a:lstStyle/>
          <a:p>
            <a:pPr eaLnBrk="1" fontAlgn="auto" hangingPunct="1">
              <a:spcAft>
                <a:spcPts val="0"/>
              </a:spcAft>
              <a:defRPr/>
            </a:pPr>
            <a:r>
              <a:rPr lang="bg-BG" sz="2000" dirty="0">
                <a:solidFill>
                  <a:schemeClr val="tx1"/>
                </a:solidFill>
              </a:rPr>
              <a:t>	</a:t>
            </a:r>
            <a:r>
              <a:rPr lang="bg-BG" sz="2400" dirty="0">
                <a:solidFill>
                  <a:schemeClr val="tx1"/>
                </a:solidFill>
              </a:rPr>
              <a:t>Статична реализация на стек: от клавиатурата се въвеждат цели стойности. Въвеждането се прекратява при натискане на клавиш, различен от цифра, или при надхвърлянето на зададения размер на масива. </a:t>
            </a:r>
            <a:r>
              <a:rPr lang="bg-BG" sz="2000" dirty="0">
                <a:solidFill>
                  <a:schemeClr val="tx1"/>
                </a:solidFill>
              </a:rPr>
              <a:t/>
            </a:r>
            <a:br>
              <a:rPr lang="bg-BG" sz="2000" dirty="0">
                <a:solidFill>
                  <a:schemeClr val="tx1"/>
                </a:solidFill>
              </a:rPr>
            </a:br>
            <a:r>
              <a:rPr lang="bg-BG" sz="2000" dirty="0">
                <a:solidFill>
                  <a:schemeClr val="tx1"/>
                </a:solidFill>
              </a:rPr>
              <a:t/>
            </a:r>
            <a:br>
              <a:rPr lang="bg-BG" sz="2000" dirty="0">
                <a:solidFill>
                  <a:schemeClr val="tx1"/>
                </a:solidFill>
              </a:rPr>
            </a:br>
            <a:r>
              <a:rPr lang="bg-BG" sz="2000" dirty="0">
                <a:solidFill>
                  <a:schemeClr val="tx1"/>
                </a:solidFill>
              </a:rPr>
              <a:t/>
            </a:r>
            <a:br>
              <a:rPr lang="bg-BG" sz="2000" dirty="0">
                <a:solidFill>
                  <a:schemeClr val="tx1"/>
                </a:solidFill>
              </a:rPr>
            </a:br>
            <a:r>
              <a:rPr lang="bg-BG" sz="2000" dirty="0" smtClean="0">
                <a:solidFill>
                  <a:schemeClr val="tx1"/>
                </a:solidFill>
                <a:latin typeface="Courier New" pitchFamily="49" charset="0"/>
              </a:rPr>
              <a:t>#</a:t>
            </a:r>
            <a:r>
              <a:rPr lang="bg-BG" sz="2000" dirty="0" err="1" smtClean="0">
                <a:solidFill>
                  <a:schemeClr val="tx1"/>
                </a:solidFill>
                <a:latin typeface="Courier New" pitchFamily="49" charset="0"/>
              </a:rPr>
              <a:t>include</a:t>
            </a:r>
            <a:r>
              <a:rPr lang="bg-BG" sz="2000" dirty="0" smtClean="0">
                <a:solidFill>
                  <a:schemeClr val="tx1"/>
                </a:solidFill>
                <a:latin typeface="Courier New" pitchFamily="49" charset="0"/>
              </a:rPr>
              <a:t> &lt;</a:t>
            </a:r>
            <a:r>
              <a:rPr lang="bg-BG" sz="2000" dirty="0" err="1" smtClean="0">
                <a:solidFill>
                  <a:schemeClr val="tx1"/>
                </a:solidFill>
                <a:latin typeface="Courier New" pitchFamily="49" charset="0"/>
              </a:rPr>
              <a:t>iostream</a:t>
            </a:r>
            <a:r>
              <a:rPr lang="bg-BG" sz="2000" dirty="0" smtClean="0">
                <a:solidFill>
                  <a:schemeClr val="tx1"/>
                </a:solidFill>
                <a:latin typeface="Courier New" pitchFamily="49" charset="0"/>
              </a:rPr>
              <a:t>&gt;</a:t>
            </a:r>
            <a:br>
              <a:rPr lang="bg-BG" sz="2000" dirty="0" smtClean="0">
                <a:solidFill>
                  <a:schemeClr val="tx1"/>
                </a:solidFill>
                <a:latin typeface="Courier New" pitchFamily="49" charset="0"/>
              </a:rPr>
            </a:br>
            <a:r>
              <a:rPr lang="en-US" sz="2000" dirty="0" smtClean="0">
                <a:solidFill>
                  <a:schemeClr val="tx1"/>
                </a:solidFill>
                <a:latin typeface="Courier New" pitchFamily="49" charset="0"/>
              </a:rPr>
              <a:t>using namespace std; </a:t>
            </a:r>
            <a:r>
              <a:rPr lang="en-US" sz="2000" dirty="0">
                <a:solidFill>
                  <a:schemeClr val="tx1"/>
                </a:solidFill>
                <a:latin typeface="Courier New" pitchFamily="49" charset="0"/>
              </a:rPr>
              <a:t/>
            </a:r>
            <a:br>
              <a:rPr lang="en-US" sz="2000" dirty="0">
                <a:solidFill>
                  <a:schemeClr val="tx1"/>
                </a:solidFill>
                <a:latin typeface="Courier New" pitchFamily="49" charset="0"/>
              </a:rPr>
            </a:br>
            <a:r>
              <a:rPr lang="bg-BG" sz="2000" dirty="0">
                <a:solidFill>
                  <a:schemeClr val="tx1"/>
                </a:solidFill>
                <a:latin typeface="Courier New" pitchFamily="49" charset="0"/>
              </a:rPr>
              <a:t/>
            </a:r>
            <a:br>
              <a:rPr lang="bg-BG" sz="2000" dirty="0">
                <a:solidFill>
                  <a:schemeClr val="tx1"/>
                </a:solidFill>
                <a:latin typeface="Courier New" pitchFamily="49" charset="0"/>
              </a:rPr>
            </a:br>
            <a:r>
              <a:rPr lang="bg-BG" sz="2000" dirty="0" err="1">
                <a:solidFill>
                  <a:schemeClr val="tx1"/>
                </a:solidFill>
                <a:latin typeface="Courier New" pitchFamily="49" charset="0"/>
              </a:rPr>
              <a:t>void</a:t>
            </a:r>
            <a:r>
              <a:rPr lang="bg-BG" sz="2000" dirty="0">
                <a:solidFill>
                  <a:schemeClr val="tx1"/>
                </a:solidFill>
                <a:latin typeface="Courier New" pitchFamily="49" charset="0"/>
              </a:rPr>
              <a:t> </a:t>
            </a:r>
            <a:r>
              <a:rPr lang="bg-BG" sz="2000" dirty="0" err="1">
                <a:solidFill>
                  <a:schemeClr val="tx1"/>
                </a:solidFill>
                <a:latin typeface="Courier New" pitchFamily="49" charset="0"/>
              </a:rPr>
              <a:t>push</a:t>
            </a:r>
            <a:r>
              <a:rPr lang="bg-BG" sz="2000" dirty="0">
                <a:solidFill>
                  <a:schemeClr val="tx1"/>
                </a:solidFill>
                <a:latin typeface="Courier New" pitchFamily="49" charset="0"/>
              </a:rPr>
              <a:t>(</a:t>
            </a:r>
            <a:r>
              <a:rPr lang="bg-BG" sz="2000" dirty="0" err="1">
                <a:solidFill>
                  <a:schemeClr val="tx1"/>
                </a:solidFill>
                <a:latin typeface="Courier New" pitchFamily="49" charset="0"/>
              </a:rPr>
              <a:t>int</a:t>
            </a:r>
            <a:r>
              <a:rPr lang="bg-BG" sz="2000" dirty="0">
                <a:solidFill>
                  <a:schemeClr val="tx1"/>
                </a:solidFill>
                <a:latin typeface="Courier New" pitchFamily="49" charset="0"/>
              </a:rPr>
              <a:t> n);   	//</a:t>
            </a:r>
            <a:r>
              <a:rPr lang="bg-BG" sz="2000" dirty="0" err="1">
                <a:solidFill>
                  <a:schemeClr val="tx1"/>
                </a:solidFill>
                <a:latin typeface="Courier New" pitchFamily="49" charset="0"/>
              </a:rPr>
              <a:t>prototype</a:t>
            </a:r>
            <a:r>
              <a:rPr lang="bg-BG" sz="2000" dirty="0">
                <a:solidFill>
                  <a:schemeClr val="tx1"/>
                </a:solidFill>
                <a:latin typeface="Courier New" pitchFamily="49" charset="0"/>
              </a:rPr>
              <a:t/>
            </a:r>
            <a:br>
              <a:rPr lang="bg-BG" sz="2000" dirty="0">
                <a:solidFill>
                  <a:schemeClr val="tx1"/>
                </a:solidFill>
                <a:latin typeface="Courier New" pitchFamily="49" charset="0"/>
              </a:rPr>
            </a:br>
            <a:r>
              <a:rPr lang="bg-BG" sz="2000" dirty="0" err="1">
                <a:solidFill>
                  <a:schemeClr val="tx1"/>
                </a:solidFill>
                <a:latin typeface="Courier New" pitchFamily="49" charset="0"/>
              </a:rPr>
              <a:t>int</a:t>
            </a:r>
            <a:r>
              <a:rPr lang="bg-BG" sz="2000" dirty="0">
                <a:solidFill>
                  <a:schemeClr val="tx1"/>
                </a:solidFill>
                <a:latin typeface="Courier New" pitchFamily="49" charset="0"/>
              </a:rPr>
              <a:t> </a:t>
            </a:r>
            <a:r>
              <a:rPr lang="bg-BG" sz="2000" dirty="0" err="1">
                <a:solidFill>
                  <a:schemeClr val="tx1"/>
                </a:solidFill>
                <a:latin typeface="Courier New" pitchFamily="49" charset="0"/>
              </a:rPr>
              <a:t>pop</a:t>
            </a:r>
            <a:r>
              <a:rPr lang="bg-BG" sz="2000" dirty="0">
                <a:solidFill>
                  <a:schemeClr val="tx1"/>
                </a:solidFill>
                <a:latin typeface="Courier New" pitchFamily="49" charset="0"/>
              </a:rPr>
              <a:t>(</a:t>
            </a:r>
            <a:r>
              <a:rPr lang="bg-BG" sz="2000" dirty="0" err="1">
                <a:solidFill>
                  <a:schemeClr val="tx1"/>
                </a:solidFill>
                <a:latin typeface="Courier New" pitchFamily="49" charset="0"/>
              </a:rPr>
              <a:t>int</a:t>
            </a:r>
            <a:r>
              <a:rPr lang="bg-BG" sz="2000" dirty="0">
                <a:solidFill>
                  <a:schemeClr val="tx1"/>
                </a:solidFill>
                <a:latin typeface="Courier New" pitchFamily="49" charset="0"/>
              </a:rPr>
              <a:t> n);     	//</a:t>
            </a:r>
            <a:r>
              <a:rPr lang="bg-BG" sz="2000" dirty="0" err="1">
                <a:solidFill>
                  <a:schemeClr val="tx1"/>
                </a:solidFill>
                <a:latin typeface="Courier New" pitchFamily="49" charset="0"/>
              </a:rPr>
              <a:t>prototype</a:t>
            </a:r>
            <a:r>
              <a:rPr lang="bg-BG" sz="2000" dirty="0">
                <a:solidFill>
                  <a:schemeClr val="tx1"/>
                </a:solidFill>
                <a:latin typeface="Courier New" pitchFamily="49" charset="0"/>
              </a:rPr>
              <a:t/>
            </a:r>
            <a:br>
              <a:rPr lang="bg-BG" sz="2000" dirty="0">
                <a:solidFill>
                  <a:schemeClr val="tx1"/>
                </a:solidFill>
                <a:latin typeface="Courier New" pitchFamily="49" charset="0"/>
              </a:rPr>
            </a:br>
            <a:r>
              <a:rPr lang="bg-BG" sz="2000" dirty="0">
                <a:solidFill>
                  <a:schemeClr val="tx1"/>
                </a:solidFill>
                <a:latin typeface="Courier New" pitchFamily="49" charset="0"/>
              </a:rPr>
              <a:t/>
            </a:r>
            <a:br>
              <a:rPr lang="bg-BG" sz="2000" dirty="0">
                <a:solidFill>
                  <a:schemeClr val="tx1"/>
                </a:solidFill>
                <a:latin typeface="Courier New" pitchFamily="49" charset="0"/>
              </a:rPr>
            </a:br>
            <a:r>
              <a:rPr lang="bg-BG" sz="2000" dirty="0" err="1">
                <a:solidFill>
                  <a:schemeClr val="tx1"/>
                </a:solidFill>
                <a:latin typeface="Courier New" pitchFamily="49" charset="0"/>
              </a:rPr>
              <a:t>const</a:t>
            </a:r>
            <a:r>
              <a:rPr lang="bg-BG" sz="2000" dirty="0">
                <a:solidFill>
                  <a:schemeClr val="tx1"/>
                </a:solidFill>
                <a:latin typeface="Courier New" pitchFamily="49" charset="0"/>
              </a:rPr>
              <a:t> </a:t>
            </a:r>
            <a:r>
              <a:rPr lang="en-US" sz="2000" dirty="0" err="1" smtClean="0">
                <a:solidFill>
                  <a:schemeClr val="tx1"/>
                </a:solidFill>
                <a:latin typeface="Courier New" pitchFamily="49" charset="0"/>
              </a:rPr>
              <a:t>int</a:t>
            </a:r>
            <a:r>
              <a:rPr lang="en-US" sz="2000" dirty="0" smtClean="0">
                <a:solidFill>
                  <a:schemeClr val="tx1"/>
                </a:solidFill>
                <a:latin typeface="Courier New" pitchFamily="49" charset="0"/>
              </a:rPr>
              <a:t> </a:t>
            </a:r>
            <a:r>
              <a:rPr lang="bg-BG" sz="2000" dirty="0" err="1" smtClean="0">
                <a:solidFill>
                  <a:schemeClr val="tx1"/>
                </a:solidFill>
                <a:latin typeface="Courier New" pitchFamily="49" charset="0"/>
              </a:rPr>
              <a:t>s_size</a:t>
            </a:r>
            <a:r>
              <a:rPr lang="bg-BG" sz="2000" dirty="0" smtClean="0">
                <a:solidFill>
                  <a:schemeClr val="tx1"/>
                </a:solidFill>
                <a:latin typeface="Courier New" pitchFamily="49" charset="0"/>
              </a:rPr>
              <a:t>=10</a:t>
            </a:r>
            <a:r>
              <a:rPr lang="bg-BG" sz="2000" dirty="0">
                <a:solidFill>
                  <a:schemeClr val="tx1"/>
                </a:solidFill>
                <a:latin typeface="Courier New" pitchFamily="49" charset="0"/>
              </a:rPr>
              <a:t>;	</a:t>
            </a:r>
            <a:r>
              <a:rPr lang="bg-BG" sz="2000" dirty="0" smtClean="0">
                <a:solidFill>
                  <a:schemeClr val="tx1"/>
                </a:solidFill>
                <a:latin typeface="Courier New" pitchFamily="49" charset="0"/>
              </a:rPr>
              <a:t>//</a:t>
            </a:r>
            <a:r>
              <a:rPr lang="bg-BG" sz="2000" dirty="0">
                <a:solidFill>
                  <a:schemeClr val="tx1"/>
                </a:solidFill>
                <a:latin typeface="Courier New" pitchFamily="49" charset="0"/>
              </a:rPr>
              <a:t>размер на стека</a:t>
            </a:r>
            <a:br>
              <a:rPr lang="bg-BG" sz="2000" dirty="0">
                <a:solidFill>
                  <a:schemeClr val="tx1"/>
                </a:solidFill>
                <a:latin typeface="Courier New" pitchFamily="49" charset="0"/>
              </a:rPr>
            </a:br>
            <a:r>
              <a:rPr lang="bg-BG" sz="2000" dirty="0" err="1">
                <a:solidFill>
                  <a:schemeClr val="tx1"/>
                </a:solidFill>
                <a:latin typeface="Courier New" pitchFamily="49" charset="0"/>
              </a:rPr>
              <a:t>int</a:t>
            </a:r>
            <a:r>
              <a:rPr lang="bg-BG" sz="2000" dirty="0">
                <a:solidFill>
                  <a:schemeClr val="tx1"/>
                </a:solidFill>
                <a:latin typeface="Courier New" pitchFamily="49" charset="0"/>
              </a:rPr>
              <a:t> </a:t>
            </a:r>
            <a:r>
              <a:rPr lang="bg-BG" sz="2000" dirty="0" err="1">
                <a:solidFill>
                  <a:schemeClr val="tx1"/>
                </a:solidFill>
                <a:latin typeface="Courier New" pitchFamily="49" charset="0"/>
              </a:rPr>
              <a:t>st</a:t>
            </a:r>
            <a:r>
              <a:rPr lang="bg-BG" sz="2000" dirty="0">
                <a:solidFill>
                  <a:schemeClr val="tx1"/>
                </a:solidFill>
                <a:latin typeface="Courier New" pitchFamily="49" charset="0"/>
              </a:rPr>
              <a:t>[</a:t>
            </a:r>
            <a:r>
              <a:rPr lang="bg-BG" sz="2000" dirty="0" err="1">
                <a:solidFill>
                  <a:schemeClr val="tx1"/>
                </a:solidFill>
                <a:latin typeface="Courier New" pitchFamily="49" charset="0"/>
              </a:rPr>
              <a:t>s_size</a:t>
            </a:r>
            <a:r>
              <a:rPr lang="bg-BG" sz="2000" dirty="0">
                <a:solidFill>
                  <a:schemeClr val="tx1"/>
                </a:solidFill>
                <a:latin typeface="Courier New" pitchFamily="49" charset="0"/>
              </a:rPr>
              <a:t>];		//масив-стек</a:t>
            </a:r>
            <a:br>
              <a:rPr lang="bg-BG" sz="2000" dirty="0">
                <a:solidFill>
                  <a:schemeClr val="tx1"/>
                </a:solidFill>
                <a:latin typeface="Courier New" pitchFamily="49" charset="0"/>
              </a:rPr>
            </a:br>
            <a:r>
              <a:rPr lang="bg-BG" sz="2000" dirty="0" err="1">
                <a:solidFill>
                  <a:schemeClr val="tx1"/>
                </a:solidFill>
                <a:latin typeface="Courier New" pitchFamily="49" charset="0"/>
              </a:rPr>
              <a:t>int</a:t>
            </a:r>
            <a:r>
              <a:rPr lang="bg-BG" sz="2000" dirty="0">
                <a:solidFill>
                  <a:schemeClr val="tx1"/>
                </a:solidFill>
                <a:latin typeface="Courier New" pitchFamily="49" charset="0"/>
              </a:rPr>
              <a:t> i=0;			//индекс</a:t>
            </a:r>
            <a:r>
              <a:rPr lang="bg-BG" dirty="0">
                <a:solidFill>
                  <a:schemeClr val="tx1"/>
                </a:solidFill>
                <a:latin typeface="Courier New" pitchFamily="49" charset="0"/>
              </a:rPr>
              <a:t/>
            </a:r>
            <a:br>
              <a:rPr lang="bg-BG" dirty="0">
                <a:solidFill>
                  <a:schemeClr val="tx1"/>
                </a:solidFill>
                <a:latin typeface="Courier New" pitchFamily="49" charset="0"/>
              </a:rPr>
            </a:br>
            <a:endParaRPr lang="en-US" dirty="0">
              <a:solidFill>
                <a:schemeClr val="tx1"/>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0F0661CD-8D50-409C-8B23-05A1B7B6C0A3}" type="slidenum">
              <a:rPr lang="en-US" smtClean="0"/>
              <a:pPr>
                <a:defRPr/>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1187450" y="260350"/>
            <a:ext cx="7632700" cy="6400800"/>
          </a:xfrm>
        </p:spPr>
        <p:txBody>
          <a:bodyPr>
            <a:noAutofit/>
          </a:bodyPr>
          <a:lstStyle/>
          <a:p>
            <a:pPr eaLnBrk="1" fontAlgn="auto" hangingPunct="1">
              <a:spcAft>
                <a:spcPts val="0"/>
              </a:spcAft>
              <a:defRPr/>
            </a:pPr>
            <a:r>
              <a:rPr lang="bg-BG" sz="2200">
                <a:solidFill>
                  <a:schemeClr val="tx1"/>
                </a:solidFill>
                <a:latin typeface="Courier New" pitchFamily="49" charset="0"/>
              </a:rPr>
              <a:t/>
            </a:r>
            <a:br>
              <a:rPr lang="bg-BG" sz="2200">
                <a:solidFill>
                  <a:schemeClr val="tx1"/>
                </a:solidFill>
                <a:latin typeface="Courier New" pitchFamily="49" charset="0"/>
              </a:rPr>
            </a:br>
            <a:r>
              <a:rPr lang="bg-BG" sz="2200">
                <a:solidFill>
                  <a:schemeClr val="tx1"/>
                </a:solidFill>
                <a:latin typeface="Courier New" pitchFamily="49" charset="0"/>
              </a:rPr>
              <a:t/>
            </a:r>
            <a:br>
              <a:rPr lang="bg-BG" sz="2200">
                <a:solidFill>
                  <a:schemeClr val="tx1"/>
                </a:solidFill>
                <a:latin typeface="Courier New" pitchFamily="49" charset="0"/>
              </a:rPr>
            </a:br>
            <a:r>
              <a:rPr lang="bg-BG" sz="2200">
                <a:solidFill>
                  <a:schemeClr val="tx1"/>
                </a:solidFill>
                <a:latin typeface="Courier New" pitchFamily="49" charset="0"/>
              </a:rPr>
              <a:t>void main()</a:t>
            </a:r>
            <a:r>
              <a:rPr lang="en-US" sz="2200">
                <a:solidFill>
                  <a:schemeClr val="tx1"/>
                </a:solidFill>
                <a:latin typeface="Courier New" pitchFamily="49" charset="0"/>
              </a:rPr>
              <a:t/>
            </a:r>
            <a:br>
              <a:rPr lang="en-US" sz="2200">
                <a:solidFill>
                  <a:schemeClr val="tx1"/>
                </a:solidFill>
                <a:latin typeface="Courier New" pitchFamily="49" charset="0"/>
              </a:rPr>
            </a:br>
            <a:r>
              <a:rPr lang="bg-BG" sz="2200">
                <a:solidFill>
                  <a:schemeClr val="tx1"/>
                </a:solidFill>
                <a:latin typeface="Courier New" pitchFamily="49" charset="0"/>
              </a:rPr>
              <a:t>{</a:t>
            </a:r>
            <a:r>
              <a:rPr lang="en-US" sz="2200">
                <a:solidFill>
                  <a:schemeClr val="tx1"/>
                </a:solidFill>
                <a:latin typeface="Courier New" pitchFamily="49" charset="0"/>
              </a:rPr>
              <a:t/>
            </a:r>
            <a:br>
              <a:rPr lang="en-US" sz="2200">
                <a:solidFill>
                  <a:schemeClr val="tx1"/>
                </a:solidFill>
                <a:latin typeface="Courier New" pitchFamily="49" charset="0"/>
              </a:rPr>
            </a:br>
            <a:r>
              <a:rPr lang="en-AU" sz="2200">
                <a:solidFill>
                  <a:schemeClr val="tx1"/>
                </a:solidFill>
                <a:latin typeface="Courier New" pitchFamily="49" charset="0"/>
              </a:rPr>
              <a:t>  </a:t>
            </a:r>
            <a:r>
              <a:rPr lang="bg-BG" sz="2200">
                <a:solidFill>
                  <a:schemeClr val="tx1"/>
                </a:solidFill>
                <a:latin typeface="Courier New" pitchFamily="49" charset="0"/>
              </a:rPr>
              <a:t>int num;</a:t>
            </a:r>
            <a:r>
              <a:rPr lang="en-US" sz="2200">
                <a:solidFill>
                  <a:schemeClr val="tx1"/>
                </a:solidFill>
                <a:latin typeface="Courier New" pitchFamily="49" charset="0"/>
              </a:rPr>
              <a:t/>
            </a:r>
            <a:br>
              <a:rPr lang="en-US" sz="2200">
                <a:solidFill>
                  <a:schemeClr val="tx1"/>
                </a:solidFill>
                <a:latin typeface="Courier New" pitchFamily="49" charset="0"/>
              </a:rPr>
            </a:br>
            <a:r>
              <a:rPr lang="bg-BG" sz="2200">
                <a:solidFill>
                  <a:schemeClr val="tx1"/>
                </a:solidFill>
                <a:latin typeface="Courier New" pitchFamily="49" charset="0"/>
              </a:rPr>
              <a:t>  cout&lt;&lt;"Въведете число:\n";</a:t>
            </a:r>
            <a:br>
              <a:rPr lang="bg-BG" sz="2200">
                <a:solidFill>
                  <a:schemeClr val="tx1"/>
                </a:solidFill>
                <a:latin typeface="Courier New" pitchFamily="49" charset="0"/>
              </a:rPr>
            </a:br>
            <a:r>
              <a:rPr lang="bg-BG" sz="2200">
                <a:solidFill>
                  <a:schemeClr val="tx1"/>
                </a:solidFill>
                <a:latin typeface="Courier New" pitchFamily="49" charset="0"/>
              </a:rPr>
              <a:t>  while((i&lt;s_size)&amp;&amp;(cin&gt;&gt;num))</a:t>
            </a:r>
            <a:br>
              <a:rPr lang="bg-BG" sz="2200">
                <a:solidFill>
                  <a:schemeClr val="tx1"/>
                </a:solidFill>
                <a:latin typeface="Courier New" pitchFamily="49" charset="0"/>
              </a:rPr>
            </a:br>
            <a:r>
              <a:rPr lang="bg-BG" sz="2200">
                <a:solidFill>
                  <a:schemeClr val="tx1"/>
                </a:solidFill>
                <a:latin typeface="Courier New" pitchFamily="49" charset="0"/>
              </a:rPr>
              <a:t>     {push(num);}</a:t>
            </a:r>
            <a:r>
              <a:rPr lang="en-US" sz="2200">
                <a:solidFill>
                  <a:schemeClr val="tx1"/>
                </a:solidFill>
                <a:latin typeface="Courier New" pitchFamily="49" charset="0"/>
              </a:rPr>
              <a:t/>
            </a:r>
            <a:br>
              <a:rPr lang="en-US" sz="2200">
                <a:solidFill>
                  <a:schemeClr val="tx1"/>
                </a:solidFill>
                <a:latin typeface="Courier New" pitchFamily="49" charset="0"/>
              </a:rPr>
            </a:br>
            <a:r>
              <a:rPr lang="bg-BG" sz="2200">
                <a:solidFill>
                  <a:schemeClr val="tx1"/>
                </a:solidFill>
                <a:latin typeface="Courier New" pitchFamily="49" charset="0"/>
              </a:rPr>
              <a:t>  cout&lt;&lt;"\nСтек: ";</a:t>
            </a:r>
            <a:r>
              <a:rPr lang="en-US" sz="2200">
                <a:solidFill>
                  <a:schemeClr val="tx1"/>
                </a:solidFill>
                <a:latin typeface="Courier New" pitchFamily="49" charset="0"/>
              </a:rPr>
              <a:t/>
            </a:r>
            <a:br>
              <a:rPr lang="en-US" sz="2200">
                <a:solidFill>
                  <a:schemeClr val="tx1"/>
                </a:solidFill>
                <a:latin typeface="Courier New" pitchFamily="49" charset="0"/>
              </a:rPr>
            </a:br>
            <a:r>
              <a:rPr lang="bg-BG" sz="2200">
                <a:solidFill>
                  <a:schemeClr val="tx1"/>
                </a:solidFill>
                <a:latin typeface="Courier New" pitchFamily="49" charset="0"/>
              </a:rPr>
              <a:t>  while (i&gt;0)</a:t>
            </a:r>
            <a:r>
              <a:rPr lang="en-US" sz="2200">
                <a:solidFill>
                  <a:schemeClr val="tx1"/>
                </a:solidFill>
                <a:latin typeface="Courier New" pitchFamily="49" charset="0"/>
              </a:rPr>
              <a:t/>
            </a:r>
            <a:br>
              <a:rPr lang="en-US" sz="2200">
                <a:solidFill>
                  <a:schemeClr val="tx1"/>
                </a:solidFill>
                <a:latin typeface="Courier New" pitchFamily="49" charset="0"/>
              </a:rPr>
            </a:br>
            <a:r>
              <a:rPr lang="bg-BG" sz="2200">
                <a:solidFill>
                  <a:schemeClr val="tx1"/>
                </a:solidFill>
                <a:latin typeface="Courier New" pitchFamily="49" charset="0"/>
              </a:rPr>
              <a:t>     {cout&lt;&lt;pop(num)&lt;&lt;"  ";}</a:t>
            </a:r>
            <a:br>
              <a:rPr lang="bg-BG" sz="2200">
                <a:solidFill>
                  <a:schemeClr val="tx1"/>
                </a:solidFill>
                <a:latin typeface="Courier New" pitchFamily="49" charset="0"/>
              </a:rPr>
            </a:br>
            <a:r>
              <a:rPr lang="bg-BG" sz="2200">
                <a:solidFill>
                  <a:schemeClr val="tx1"/>
                </a:solidFill>
                <a:latin typeface="Courier New" pitchFamily="49" charset="0"/>
              </a:rPr>
              <a:t>  }</a:t>
            </a:r>
            <a:r>
              <a:rPr lang="en-US" sz="2200">
                <a:solidFill>
                  <a:schemeClr val="tx1"/>
                </a:solidFill>
                <a:latin typeface="Courier New" pitchFamily="49" charset="0"/>
              </a:rPr>
              <a:t/>
            </a:r>
            <a:br>
              <a:rPr lang="en-US" sz="2200">
                <a:solidFill>
                  <a:schemeClr val="tx1"/>
                </a:solidFill>
                <a:latin typeface="Courier New" pitchFamily="49" charset="0"/>
              </a:rPr>
            </a:br>
            <a:r>
              <a:rPr lang="bg-BG" sz="2200">
                <a:solidFill>
                  <a:schemeClr val="tx1"/>
                </a:solidFill>
                <a:latin typeface="Courier New" pitchFamily="49" charset="0"/>
              </a:rPr>
              <a:t>void push(int n)	</a:t>
            </a:r>
            <a:r>
              <a:rPr lang="en-US" sz="2200" smtClean="0">
                <a:solidFill>
                  <a:schemeClr val="tx1"/>
                </a:solidFill>
                <a:latin typeface="Courier New" pitchFamily="49" charset="0"/>
              </a:rPr>
              <a:t>   </a:t>
            </a:r>
            <a:r>
              <a:rPr lang="bg-BG" sz="2200" smtClean="0">
                <a:solidFill>
                  <a:schemeClr val="tx1"/>
                </a:solidFill>
                <a:latin typeface="Courier New" pitchFamily="49" charset="0"/>
              </a:rPr>
              <a:t>//</a:t>
            </a:r>
            <a:r>
              <a:rPr lang="bg-BG" sz="2200">
                <a:solidFill>
                  <a:schemeClr val="tx1"/>
                </a:solidFill>
                <a:latin typeface="Courier New" pitchFamily="49" charset="0"/>
              </a:rPr>
              <a:t>включване на елемент</a:t>
            </a:r>
            <a:br>
              <a:rPr lang="bg-BG" sz="2200">
                <a:solidFill>
                  <a:schemeClr val="tx1"/>
                </a:solidFill>
                <a:latin typeface="Courier New" pitchFamily="49" charset="0"/>
              </a:rPr>
            </a:br>
            <a:r>
              <a:rPr lang="bg-BG" sz="2200">
                <a:solidFill>
                  <a:schemeClr val="tx1"/>
                </a:solidFill>
                <a:latin typeface="Courier New" pitchFamily="49" charset="0"/>
              </a:rPr>
              <a:t>{</a:t>
            </a:r>
            <a:r>
              <a:rPr lang="en-US" sz="2200">
                <a:solidFill>
                  <a:schemeClr val="tx1"/>
                </a:solidFill>
                <a:latin typeface="Courier New" pitchFamily="49" charset="0"/>
              </a:rPr>
              <a:t/>
            </a:r>
            <a:br>
              <a:rPr lang="en-US" sz="2200">
                <a:solidFill>
                  <a:schemeClr val="tx1"/>
                </a:solidFill>
                <a:latin typeface="Courier New" pitchFamily="49" charset="0"/>
              </a:rPr>
            </a:br>
            <a:r>
              <a:rPr lang="bg-BG" sz="2200">
                <a:solidFill>
                  <a:schemeClr val="tx1"/>
                </a:solidFill>
                <a:latin typeface="Courier New" pitchFamily="49" charset="0"/>
              </a:rPr>
              <a:t> st[i++]=n;</a:t>
            </a:r>
            <a:r>
              <a:rPr lang="en-US" sz="2200">
                <a:solidFill>
                  <a:schemeClr val="tx1"/>
                </a:solidFill>
                <a:latin typeface="Courier New" pitchFamily="49" charset="0"/>
              </a:rPr>
              <a:t/>
            </a:r>
            <a:br>
              <a:rPr lang="en-US" sz="2200">
                <a:solidFill>
                  <a:schemeClr val="tx1"/>
                </a:solidFill>
                <a:latin typeface="Courier New" pitchFamily="49" charset="0"/>
              </a:rPr>
            </a:br>
            <a:r>
              <a:rPr lang="bg-BG" sz="2200">
                <a:solidFill>
                  <a:schemeClr val="tx1"/>
                </a:solidFill>
                <a:latin typeface="Courier New" pitchFamily="49" charset="0"/>
              </a:rPr>
              <a:t>}</a:t>
            </a:r>
            <a:r>
              <a:rPr lang="en-US" sz="2200">
                <a:solidFill>
                  <a:schemeClr val="tx1"/>
                </a:solidFill>
                <a:latin typeface="Courier New" pitchFamily="49" charset="0"/>
              </a:rPr>
              <a:t/>
            </a:r>
            <a:br>
              <a:rPr lang="en-US" sz="2200">
                <a:solidFill>
                  <a:schemeClr val="tx1"/>
                </a:solidFill>
                <a:latin typeface="Courier New" pitchFamily="49" charset="0"/>
              </a:rPr>
            </a:br>
            <a:r>
              <a:rPr lang="bg-BG" sz="2200">
                <a:solidFill>
                  <a:schemeClr val="tx1"/>
                </a:solidFill>
                <a:latin typeface="Courier New" pitchFamily="49" charset="0"/>
              </a:rPr>
              <a:t>int pop(int n)	</a:t>
            </a:r>
            <a:r>
              <a:rPr lang="en-US" sz="2200" smtClean="0">
                <a:solidFill>
                  <a:schemeClr val="tx1"/>
                </a:solidFill>
                <a:latin typeface="Courier New" pitchFamily="49" charset="0"/>
              </a:rPr>
              <a:t>   </a:t>
            </a:r>
            <a:r>
              <a:rPr lang="bg-BG" sz="2200" smtClean="0">
                <a:solidFill>
                  <a:schemeClr val="tx1"/>
                </a:solidFill>
                <a:latin typeface="Courier New" pitchFamily="49" charset="0"/>
              </a:rPr>
              <a:t>//</a:t>
            </a:r>
            <a:r>
              <a:rPr lang="bg-BG" sz="2200">
                <a:solidFill>
                  <a:schemeClr val="tx1"/>
                </a:solidFill>
                <a:latin typeface="Courier New" pitchFamily="49" charset="0"/>
              </a:rPr>
              <a:t>изключване на елемент</a:t>
            </a:r>
            <a:br>
              <a:rPr lang="bg-BG" sz="2200">
                <a:solidFill>
                  <a:schemeClr val="tx1"/>
                </a:solidFill>
                <a:latin typeface="Courier New" pitchFamily="49" charset="0"/>
              </a:rPr>
            </a:br>
            <a:r>
              <a:rPr lang="bg-BG" sz="2200">
                <a:solidFill>
                  <a:schemeClr val="tx1"/>
                </a:solidFill>
                <a:latin typeface="Courier New" pitchFamily="49" charset="0"/>
              </a:rPr>
              <a:t>{</a:t>
            </a:r>
            <a:r>
              <a:rPr lang="en-US" sz="2200">
                <a:solidFill>
                  <a:schemeClr val="tx1"/>
                </a:solidFill>
                <a:latin typeface="Courier New" pitchFamily="49" charset="0"/>
              </a:rPr>
              <a:t/>
            </a:r>
            <a:br>
              <a:rPr lang="en-US" sz="2200">
                <a:solidFill>
                  <a:schemeClr val="tx1"/>
                </a:solidFill>
                <a:latin typeface="Courier New" pitchFamily="49" charset="0"/>
              </a:rPr>
            </a:br>
            <a:r>
              <a:rPr lang="bg-BG" sz="2200">
                <a:solidFill>
                  <a:schemeClr val="tx1"/>
                </a:solidFill>
                <a:latin typeface="Courier New" pitchFamily="49" charset="0"/>
              </a:rPr>
              <a:t>     n=st[--i];</a:t>
            </a:r>
            <a:r>
              <a:rPr lang="en-US" sz="2200">
                <a:solidFill>
                  <a:schemeClr val="tx1"/>
                </a:solidFill>
                <a:latin typeface="Courier New" pitchFamily="49" charset="0"/>
              </a:rPr>
              <a:t/>
            </a:r>
            <a:br>
              <a:rPr lang="en-US" sz="2200">
                <a:solidFill>
                  <a:schemeClr val="tx1"/>
                </a:solidFill>
                <a:latin typeface="Courier New" pitchFamily="49" charset="0"/>
              </a:rPr>
            </a:br>
            <a:r>
              <a:rPr lang="bg-BG" sz="2200">
                <a:solidFill>
                  <a:schemeClr val="tx1"/>
                </a:solidFill>
                <a:latin typeface="Courier New" pitchFamily="49" charset="0"/>
              </a:rPr>
              <a:t>     return n;</a:t>
            </a:r>
            <a:r>
              <a:rPr lang="en-US" sz="2200">
                <a:solidFill>
                  <a:schemeClr val="tx1"/>
                </a:solidFill>
                <a:latin typeface="Courier New" pitchFamily="49" charset="0"/>
              </a:rPr>
              <a:t/>
            </a:r>
            <a:br>
              <a:rPr lang="en-US" sz="2200">
                <a:solidFill>
                  <a:schemeClr val="tx1"/>
                </a:solidFill>
                <a:latin typeface="Courier New" pitchFamily="49" charset="0"/>
              </a:rPr>
            </a:br>
            <a:r>
              <a:rPr lang="bg-BG" sz="2200">
                <a:solidFill>
                  <a:schemeClr val="tx1"/>
                </a:solidFill>
                <a:latin typeface="Courier New" pitchFamily="49" charset="0"/>
              </a:rPr>
              <a:t>}</a:t>
            </a:r>
            <a:r>
              <a:rPr lang="en-US" sz="2200">
                <a:solidFill>
                  <a:schemeClr val="tx1"/>
                </a:solidFill>
                <a:latin typeface="Courier New" pitchFamily="49" charset="0"/>
              </a:rPr>
              <a:t/>
            </a:r>
            <a:br>
              <a:rPr lang="en-US" sz="2200">
                <a:solidFill>
                  <a:schemeClr val="tx1"/>
                </a:solidFill>
                <a:latin typeface="Courier New" pitchFamily="49" charset="0"/>
              </a:rPr>
            </a:br>
            <a:endParaRPr lang="en-US" sz="2200">
              <a:solidFill>
                <a:schemeClr val="tx1"/>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CA829380-3277-423B-86EB-5A446CAD4D64}"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026"/>
          <p:cNvSpPr>
            <a:spLocks noGrp="1" noChangeArrowheads="1"/>
          </p:cNvSpPr>
          <p:nvPr>
            <p:ph type="title"/>
          </p:nvPr>
        </p:nvSpPr>
        <p:spPr>
          <a:xfrm>
            <a:off x="1079500" y="333375"/>
            <a:ext cx="8064500" cy="6400800"/>
          </a:xfrm>
        </p:spPr>
        <p:txBody>
          <a:bodyPr>
            <a:normAutofit fontScale="90000"/>
          </a:bodyPr>
          <a:lstStyle/>
          <a:p>
            <a:pPr eaLnBrk="1" fontAlgn="auto" hangingPunct="1">
              <a:lnSpc>
                <a:spcPct val="110000"/>
              </a:lnSpc>
              <a:spcAft>
                <a:spcPts val="0"/>
              </a:spcAft>
              <a:defRPr/>
            </a:pPr>
            <a:r>
              <a:rPr lang="bg-BG" sz="2800">
                <a:solidFill>
                  <a:schemeClr val="tx2">
                    <a:satMod val="130000"/>
                  </a:schemeClr>
                </a:solidFill>
              </a:rPr>
              <a:t>Пример</a:t>
            </a:r>
            <a:r>
              <a:rPr lang="bg-BG" sz="1800">
                <a:solidFill>
                  <a:schemeClr val="tx2">
                    <a:satMod val="130000"/>
                  </a:schemeClr>
                </a:solidFill>
              </a:rPr>
              <a:t>:</a:t>
            </a:r>
            <a:r>
              <a:rPr lang="en-US" sz="1800">
                <a:solidFill>
                  <a:schemeClr val="tx2">
                    <a:satMod val="130000"/>
                  </a:schemeClr>
                </a:solidFill>
              </a:rPr>
              <a:t/>
            </a:r>
            <a:br>
              <a:rPr lang="en-US" sz="1800">
                <a:solidFill>
                  <a:schemeClr val="tx2">
                    <a:satMod val="130000"/>
                  </a:schemeClr>
                </a:solidFill>
              </a:rPr>
            </a:br>
            <a:r>
              <a:rPr lang="en-US" sz="1800">
                <a:solidFill>
                  <a:schemeClr val="tx2">
                    <a:lumMod val="75000"/>
                  </a:schemeClr>
                </a:solidFill>
              </a:rPr>
              <a:t>//Пример за СТЕК</a:t>
            </a:r>
            <a:br>
              <a:rPr lang="en-US" sz="1800">
                <a:solidFill>
                  <a:schemeClr val="tx2">
                    <a:lumMod val="75000"/>
                  </a:schemeClr>
                </a:solidFill>
              </a:rPr>
            </a:br>
            <a:r>
              <a:rPr lang="en-US" sz="1800">
                <a:solidFill>
                  <a:schemeClr val="tx2">
                    <a:lumMod val="75000"/>
                  </a:schemeClr>
                </a:solidFill>
              </a:rPr>
              <a:t>//Изчисляване на прост аритметичен израз, включващ операции + и *</a:t>
            </a:r>
            <a:br>
              <a:rPr lang="en-US" sz="1800">
                <a:solidFill>
                  <a:schemeClr val="tx2">
                    <a:lumMod val="75000"/>
                  </a:schemeClr>
                </a:solidFill>
              </a:rPr>
            </a:br>
            <a:r>
              <a:rPr lang="en-US" sz="1800">
                <a:solidFill>
                  <a:schemeClr val="tx2">
                    <a:lumMod val="75000"/>
                  </a:schemeClr>
                </a:solidFill>
              </a:rPr>
              <a:t>//върху цели числа &lt;10:</a:t>
            </a:r>
            <a:br>
              <a:rPr lang="en-US" sz="1800">
                <a:solidFill>
                  <a:schemeClr val="tx2">
                    <a:lumMod val="75000"/>
                  </a:schemeClr>
                </a:solidFill>
              </a:rPr>
            </a:br>
            <a:r>
              <a:rPr lang="en-US" sz="1800">
                <a:solidFill>
                  <a:schemeClr val="tx2">
                    <a:lumMod val="75000"/>
                  </a:schemeClr>
                </a:solidFill>
              </a:rPr>
              <a:t>//Например: (5*(((2+3)*(1*2))+7))</a:t>
            </a:r>
            <a:br>
              <a:rPr lang="en-US" sz="1800">
                <a:solidFill>
                  <a:schemeClr val="tx2">
                    <a:lumMod val="75000"/>
                  </a:schemeClr>
                </a:solidFill>
              </a:rPr>
            </a:br>
            <a:r>
              <a:rPr lang="en-US" sz="1800">
                <a:solidFill>
                  <a:schemeClr val="tx2">
                    <a:satMod val="130000"/>
                  </a:schemeClr>
                </a:solidFill>
              </a:rPr>
              <a:t/>
            </a:r>
            <a:br>
              <a:rPr lang="en-US" sz="1800">
                <a:solidFill>
                  <a:schemeClr val="tx2">
                    <a:satMod val="130000"/>
                  </a:schemeClr>
                </a:solidFill>
              </a:rPr>
            </a:br>
            <a:r>
              <a:rPr lang="en-US" sz="2200" smtClean="0">
                <a:solidFill>
                  <a:schemeClr val="tx2">
                    <a:satMod val="130000"/>
                  </a:schemeClr>
                </a:solidFill>
              </a:rPr>
              <a:t>#include &lt;iostream&gt;</a:t>
            </a:r>
            <a:br>
              <a:rPr lang="en-US" sz="2200" smtClean="0">
                <a:solidFill>
                  <a:schemeClr val="tx2">
                    <a:satMod val="130000"/>
                  </a:schemeClr>
                </a:solidFill>
              </a:rPr>
            </a:br>
            <a:r>
              <a:rPr lang="en-US" sz="2200" smtClean="0">
                <a:solidFill>
                  <a:schemeClr val="tx2">
                    <a:lumMod val="75000"/>
                  </a:schemeClr>
                </a:solidFill>
                <a:effectLst/>
              </a:rPr>
              <a:t>using namespace std; </a:t>
            </a:r>
            <a:r>
              <a:rPr lang="en-US" sz="2200">
                <a:solidFill>
                  <a:schemeClr val="tx2">
                    <a:satMod val="130000"/>
                  </a:schemeClr>
                </a:solidFill>
              </a:rPr>
              <a:t/>
            </a:r>
            <a:br>
              <a:rPr lang="en-US" sz="2200">
                <a:solidFill>
                  <a:schemeClr val="tx2">
                    <a:satMod val="130000"/>
                  </a:schemeClr>
                </a:solidFill>
              </a:rPr>
            </a:br>
            <a:r>
              <a:rPr lang="en-US" sz="2200">
                <a:solidFill>
                  <a:schemeClr val="tx2">
                    <a:satMod val="130000"/>
                  </a:schemeClr>
                </a:solidFill>
              </a:rPr>
              <a:t>#include &lt;string.h&gt;</a:t>
            </a:r>
            <a:br>
              <a:rPr lang="en-US" sz="2200">
                <a:solidFill>
                  <a:schemeClr val="tx2">
                    <a:satMod val="130000"/>
                  </a:schemeClr>
                </a:solidFill>
              </a:rPr>
            </a:br>
            <a:r>
              <a:rPr lang="en-US" sz="2200">
                <a:solidFill>
                  <a:schemeClr val="tx2">
                    <a:satMod val="130000"/>
                  </a:schemeClr>
                </a:solidFill>
              </a:rPr>
              <a:t>#include &lt;stdlib.h&gt;</a:t>
            </a:r>
            <a:br>
              <a:rPr lang="en-US" sz="2200">
                <a:solidFill>
                  <a:schemeClr val="tx2">
                    <a:satMod val="130000"/>
                  </a:schemeClr>
                </a:solidFill>
              </a:rPr>
            </a:br>
            <a:r>
              <a:rPr lang="en-US" sz="2200">
                <a:solidFill>
                  <a:schemeClr val="tx2">
                    <a:satMod val="130000"/>
                  </a:schemeClr>
                </a:solidFill>
              </a:rPr>
              <a:t>void push(char n);   //prototype</a:t>
            </a:r>
            <a:br>
              <a:rPr lang="en-US" sz="2200">
                <a:solidFill>
                  <a:schemeClr val="tx2">
                    <a:satMod val="130000"/>
                  </a:schemeClr>
                </a:solidFill>
              </a:rPr>
            </a:br>
            <a:r>
              <a:rPr lang="en-US" sz="2200">
                <a:solidFill>
                  <a:schemeClr val="tx2">
                    <a:satMod val="130000"/>
                  </a:schemeClr>
                </a:solidFill>
              </a:rPr>
              <a:t>char pop();</a:t>
            </a:r>
            <a:br>
              <a:rPr lang="en-US" sz="2200">
                <a:solidFill>
                  <a:schemeClr val="tx2">
                    <a:satMod val="130000"/>
                  </a:schemeClr>
                </a:solidFill>
              </a:rPr>
            </a:br>
            <a:r>
              <a:rPr lang="en-US" sz="2200">
                <a:solidFill>
                  <a:schemeClr val="tx2">
                    <a:satMod val="130000"/>
                  </a:schemeClr>
                </a:solidFill>
              </a:rPr>
              <a:t>struct elem</a:t>
            </a:r>
            <a:br>
              <a:rPr lang="en-US" sz="2200">
                <a:solidFill>
                  <a:schemeClr val="tx2">
                    <a:satMod val="130000"/>
                  </a:schemeClr>
                </a:solidFill>
              </a:rPr>
            </a:br>
            <a:r>
              <a:rPr lang="en-US" sz="2200">
                <a:solidFill>
                  <a:schemeClr val="tx2">
                    <a:satMod val="130000"/>
                  </a:schemeClr>
                </a:solidFill>
              </a:rPr>
              <a:t>   </a:t>
            </a:r>
            <a:r>
              <a:rPr lang="bg-BG" sz="2200">
                <a:solidFill>
                  <a:schemeClr val="tx2">
                    <a:satMod val="130000"/>
                  </a:schemeClr>
                </a:solidFill>
              </a:rPr>
              <a:t>     </a:t>
            </a:r>
            <a:r>
              <a:rPr lang="en-US" sz="2200">
                <a:solidFill>
                  <a:schemeClr val="tx2">
                    <a:satMod val="130000"/>
                  </a:schemeClr>
                </a:solidFill>
              </a:rPr>
              <a:t>{ char key; elem *next;} *start, *p;</a:t>
            </a:r>
            <a:br>
              <a:rPr lang="en-US" sz="2200">
                <a:solidFill>
                  <a:schemeClr val="tx2">
                    <a:satMod val="130000"/>
                  </a:schemeClr>
                </a:solidFill>
              </a:rPr>
            </a:br>
            <a:r>
              <a:rPr lang="en-US" sz="2200">
                <a:solidFill>
                  <a:schemeClr val="tx2">
                    <a:satMod val="130000"/>
                  </a:schemeClr>
                </a:solidFill>
              </a:rPr>
              <a:t>char in[30], </a:t>
            </a:r>
            <a:r>
              <a:rPr lang="bg-BG" sz="2200">
                <a:solidFill>
                  <a:schemeClr val="tx2">
                    <a:satMod val="130000"/>
                  </a:schemeClr>
                </a:solidFill>
              </a:rPr>
              <a:t>  </a:t>
            </a:r>
            <a:r>
              <a:rPr lang="en-US" sz="2200">
                <a:solidFill>
                  <a:schemeClr val="tx2">
                    <a:satMod val="130000"/>
                  </a:schemeClr>
                </a:solidFill>
              </a:rPr>
              <a:t>post[30];</a:t>
            </a:r>
            <a:br>
              <a:rPr lang="en-US" sz="2200">
                <a:solidFill>
                  <a:schemeClr val="tx2">
                    <a:satMod val="130000"/>
                  </a:schemeClr>
                </a:solidFill>
              </a:rPr>
            </a:br>
            <a:r>
              <a:rPr lang="en-US" sz="2200">
                <a:solidFill>
                  <a:schemeClr val="tx2">
                    <a:satMod val="130000"/>
                  </a:schemeClr>
                </a:solidFill>
              </a:rPr>
              <a:t>char c, </a:t>
            </a:r>
            <a:r>
              <a:rPr lang="bg-BG" sz="2200">
                <a:solidFill>
                  <a:schemeClr val="tx2">
                    <a:satMod val="130000"/>
                  </a:schemeClr>
                </a:solidFill>
              </a:rPr>
              <a:t> </a:t>
            </a:r>
            <a:r>
              <a:rPr lang="en-US" sz="2200">
                <a:solidFill>
                  <a:schemeClr val="tx2">
                    <a:satMod val="130000"/>
                  </a:schemeClr>
                </a:solidFill>
              </a:rPr>
              <a:t>cc;</a:t>
            </a:r>
            <a:br>
              <a:rPr lang="en-US" sz="2200">
                <a:solidFill>
                  <a:schemeClr val="tx2">
                    <a:satMod val="130000"/>
                  </a:schemeClr>
                </a:solidFill>
              </a:rPr>
            </a:br>
            <a:r>
              <a:rPr lang="en-US" sz="2200">
                <a:solidFill>
                  <a:schemeClr val="tx2">
                    <a:satMod val="130000"/>
                  </a:schemeClr>
                </a:solidFill>
              </a:rPr>
              <a:t>int k;</a:t>
            </a:r>
            <a:br>
              <a:rPr lang="en-US" sz="2200">
                <a:solidFill>
                  <a:schemeClr val="tx2">
                    <a:satMod val="130000"/>
                  </a:schemeClr>
                </a:solidFill>
              </a:rPr>
            </a:br>
            <a:r>
              <a:rPr lang="en-US" sz="2200">
                <a:solidFill>
                  <a:schemeClr val="tx2">
                    <a:satMod val="130000"/>
                  </a:schemeClr>
                </a:solidFill>
              </a:rPr>
              <a:t>void init();   //prototype</a:t>
            </a:r>
            <a:br>
              <a:rPr lang="en-US" sz="2200">
                <a:solidFill>
                  <a:schemeClr val="tx2">
                    <a:satMod val="130000"/>
                  </a:schemeClr>
                </a:solidFill>
              </a:rPr>
            </a:br>
            <a:r>
              <a:rPr lang="en-US" sz="2200">
                <a:solidFill>
                  <a:schemeClr val="tx2">
                    <a:satMod val="130000"/>
                  </a:schemeClr>
                </a:solidFill>
              </a:rPr>
              <a:t>int empty(elem *st);</a:t>
            </a:r>
            <a:br>
              <a:rPr lang="en-US" sz="2200">
                <a:solidFill>
                  <a:schemeClr val="tx2">
                    <a:satMod val="130000"/>
                  </a:schemeClr>
                </a:solidFill>
              </a:rPr>
            </a:br>
            <a:r>
              <a:rPr lang="en-US" sz="2200">
                <a:solidFill>
                  <a:schemeClr val="tx2">
                    <a:satMod val="130000"/>
                  </a:schemeClr>
                </a:solidFill>
              </a:rPr>
              <a:t>void in_post(char in[30], int l);</a:t>
            </a:r>
            <a:br>
              <a:rPr lang="en-US" sz="2200">
                <a:solidFill>
                  <a:schemeClr val="tx2">
                    <a:satMod val="130000"/>
                  </a:schemeClr>
                </a:solidFill>
              </a:rPr>
            </a:br>
            <a:r>
              <a:rPr lang="en-US" sz="2200">
                <a:solidFill>
                  <a:schemeClr val="tx2">
                    <a:satMod val="130000"/>
                  </a:schemeClr>
                </a:solidFill>
              </a:rPr>
              <a:t>void calc(char post[30]);</a:t>
            </a:r>
            <a:br>
              <a:rPr lang="en-US" sz="2200">
                <a:solidFill>
                  <a:schemeClr val="tx2">
                    <a:satMod val="130000"/>
                  </a:schemeClr>
                </a:solidFill>
              </a:rPr>
            </a:br>
            <a:endParaRPr lang="en-US" sz="2200">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F140304D-C495-46C9-AEE5-35311F4E34DB}" type="slidenum">
              <a:rPr lang="en-US" smtClean="0"/>
              <a:pPr>
                <a:defRPr/>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1026"/>
          <p:cNvSpPr>
            <a:spLocks noGrp="1" noChangeArrowheads="1"/>
          </p:cNvSpPr>
          <p:nvPr>
            <p:ph type="title"/>
          </p:nvPr>
        </p:nvSpPr>
        <p:spPr>
          <a:xfrm>
            <a:off x="1547813" y="333375"/>
            <a:ext cx="6696075" cy="6159500"/>
          </a:xfrm>
        </p:spPr>
        <p:txBody>
          <a:bodyPr>
            <a:normAutofit fontScale="90000"/>
          </a:bodyPr>
          <a:lstStyle/>
          <a:p>
            <a:pPr eaLnBrk="1" fontAlgn="auto" hangingPunct="1">
              <a:spcAft>
                <a:spcPts val="0"/>
              </a:spcAft>
              <a:defRPr/>
            </a:pPr>
            <a:r>
              <a:rPr lang="en-US" sz="2200">
                <a:solidFill>
                  <a:schemeClr val="tx2">
                    <a:satMod val="130000"/>
                  </a:schemeClr>
                </a:solidFill>
              </a:rPr>
              <a:t>void main()</a:t>
            </a:r>
            <a:br>
              <a:rPr lang="en-US" sz="2200">
                <a:solidFill>
                  <a:schemeClr val="tx2">
                    <a:satMod val="130000"/>
                  </a:schemeClr>
                </a:solidFill>
              </a:rPr>
            </a:br>
            <a:r>
              <a:rPr lang="en-US" sz="2200">
                <a:solidFill>
                  <a:schemeClr val="tx2">
                    <a:satMod val="130000"/>
                  </a:schemeClr>
                </a:solidFill>
              </a:rPr>
              <a:t>{</a:t>
            </a:r>
            <a:br>
              <a:rPr lang="en-US" sz="2200">
                <a:solidFill>
                  <a:schemeClr val="tx2">
                    <a:satMod val="130000"/>
                  </a:schemeClr>
                </a:solidFill>
              </a:rPr>
            </a:br>
            <a:r>
              <a:rPr lang="en-US" sz="2200">
                <a:solidFill>
                  <a:schemeClr val="tx2">
                    <a:satMod val="130000"/>
                  </a:schemeClr>
                </a:solidFill>
              </a:rPr>
              <a:t>  cout&lt;&lt;"\nInput expression: ";</a:t>
            </a:r>
            <a:br>
              <a:rPr lang="en-US" sz="2200">
                <a:solidFill>
                  <a:schemeClr val="tx2">
                    <a:satMod val="130000"/>
                  </a:schemeClr>
                </a:solidFill>
              </a:rPr>
            </a:br>
            <a:r>
              <a:rPr lang="en-US" sz="2200">
                <a:solidFill>
                  <a:schemeClr val="tx2">
                    <a:satMod val="130000"/>
                  </a:schemeClr>
                </a:solidFill>
              </a:rPr>
              <a:t>  cin&gt;&gt;in;</a:t>
            </a:r>
            <a:br>
              <a:rPr lang="en-US" sz="2200">
                <a:solidFill>
                  <a:schemeClr val="tx2">
                    <a:satMod val="130000"/>
                  </a:schemeClr>
                </a:solidFill>
              </a:rPr>
            </a:br>
            <a:r>
              <a:rPr lang="en-US" sz="2200">
                <a:solidFill>
                  <a:schemeClr val="tx2">
                    <a:satMod val="130000"/>
                  </a:schemeClr>
                </a:solidFill>
              </a:rPr>
              <a:t>  k=strlen(in);</a:t>
            </a:r>
            <a:br>
              <a:rPr lang="en-US" sz="2200">
                <a:solidFill>
                  <a:schemeClr val="tx2">
                    <a:satMod val="130000"/>
                  </a:schemeClr>
                </a:solidFill>
              </a:rPr>
            </a:br>
            <a:r>
              <a:rPr lang="en-US" sz="2200">
                <a:solidFill>
                  <a:schemeClr val="tx2">
                    <a:satMod val="130000"/>
                  </a:schemeClr>
                </a:solidFill>
              </a:rPr>
              <a:t>  in_post(in, k);</a:t>
            </a:r>
            <a:br>
              <a:rPr lang="en-US" sz="2200">
                <a:solidFill>
                  <a:schemeClr val="tx2">
                    <a:satMod val="130000"/>
                  </a:schemeClr>
                </a:solidFill>
              </a:rPr>
            </a:br>
            <a:r>
              <a:rPr lang="en-US" sz="2200">
                <a:solidFill>
                  <a:schemeClr val="tx2">
                    <a:satMod val="130000"/>
                  </a:schemeClr>
                </a:solidFill>
              </a:rPr>
              <a:t>  cout&lt;&lt;"Postfix form: "&lt;&lt;post;</a:t>
            </a:r>
            <a:br>
              <a:rPr lang="en-US" sz="2200">
                <a:solidFill>
                  <a:schemeClr val="tx2">
                    <a:satMod val="130000"/>
                  </a:schemeClr>
                </a:solidFill>
              </a:rPr>
            </a:br>
            <a:r>
              <a:rPr lang="en-US" sz="2200">
                <a:solidFill>
                  <a:schemeClr val="tx2">
                    <a:satMod val="130000"/>
                  </a:schemeClr>
                </a:solidFill>
              </a:rPr>
              <a:t>  calc(post);</a:t>
            </a:r>
            <a:br>
              <a:rPr lang="en-US" sz="2200">
                <a:solidFill>
                  <a:schemeClr val="tx2">
                    <a:satMod val="130000"/>
                  </a:schemeClr>
                </a:solidFill>
              </a:rPr>
            </a:br>
            <a:r>
              <a:rPr lang="en-US" sz="2200">
                <a:solidFill>
                  <a:schemeClr val="tx2">
                    <a:satMod val="130000"/>
                  </a:schemeClr>
                </a:solidFill>
              </a:rPr>
              <a:t>}</a:t>
            </a:r>
            <a:br>
              <a:rPr lang="en-US" sz="2200">
                <a:solidFill>
                  <a:schemeClr val="tx2">
                    <a:satMod val="130000"/>
                  </a:schemeClr>
                </a:solidFill>
              </a:rPr>
            </a:br>
            <a:r>
              <a:rPr lang="en-US" sz="2200">
                <a:solidFill>
                  <a:schemeClr val="tx2">
                    <a:satMod val="130000"/>
                  </a:schemeClr>
                </a:solidFill>
              </a:rPr>
              <a:t>void init()</a:t>
            </a:r>
            <a:br>
              <a:rPr lang="en-US" sz="2200">
                <a:solidFill>
                  <a:schemeClr val="tx2">
                    <a:satMod val="130000"/>
                  </a:schemeClr>
                </a:solidFill>
              </a:rPr>
            </a:br>
            <a:r>
              <a:rPr lang="en-US" sz="2200">
                <a:solidFill>
                  <a:schemeClr val="tx2">
                    <a:satMod val="130000"/>
                  </a:schemeClr>
                </a:solidFill>
              </a:rPr>
              <a:t>{</a:t>
            </a:r>
            <a:br>
              <a:rPr lang="en-US" sz="2200">
                <a:solidFill>
                  <a:schemeClr val="tx2">
                    <a:satMod val="130000"/>
                  </a:schemeClr>
                </a:solidFill>
              </a:rPr>
            </a:br>
            <a:r>
              <a:rPr lang="en-US" sz="2200">
                <a:solidFill>
                  <a:schemeClr val="tx2">
                    <a:satMod val="130000"/>
                  </a:schemeClr>
                </a:solidFill>
              </a:rPr>
              <a:t>  start=NULL;</a:t>
            </a:r>
            <a:br>
              <a:rPr lang="en-US" sz="2200">
                <a:solidFill>
                  <a:schemeClr val="tx2">
                    <a:satMod val="130000"/>
                  </a:schemeClr>
                </a:solidFill>
              </a:rPr>
            </a:br>
            <a:r>
              <a:rPr lang="en-US" sz="2200">
                <a:solidFill>
                  <a:schemeClr val="tx2">
                    <a:satMod val="130000"/>
                  </a:schemeClr>
                </a:solidFill>
              </a:rPr>
              <a:t>}</a:t>
            </a:r>
            <a:br>
              <a:rPr lang="en-US" sz="2200">
                <a:solidFill>
                  <a:schemeClr val="tx2">
                    <a:satMod val="130000"/>
                  </a:schemeClr>
                </a:solidFill>
              </a:rPr>
            </a:br>
            <a:r>
              <a:rPr lang="en-US" sz="2200">
                <a:solidFill>
                  <a:schemeClr val="tx2">
                    <a:satMod val="130000"/>
                  </a:schemeClr>
                </a:solidFill>
              </a:rPr>
              <a:t>int empty(elem *st)</a:t>
            </a:r>
            <a:br>
              <a:rPr lang="en-US" sz="2200">
                <a:solidFill>
                  <a:schemeClr val="tx2">
                    <a:satMod val="130000"/>
                  </a:schemeClr>
                </a:solidFill>
              </a:rPr>
            </a:br>
            <a:r>
              <a:rPr lang="en-US" sz="2200">
                <a:solidFill>
                  <a:schemeClr val="tx2">
                    <a:satMod val="130000"/>
                  </a:schemeClr>
                </a:solidFill>
              </a:rPr>
              <a:t>{</a:t>
            </a:r>
            <a:br>
              <a:rPr lang="en-US" sz="2200">
                <a:solidFill>
                  <a:schemeClr val="tx2">
                    <a:satMod val="130000"/>
                  </a:schemeClr>
                </a:solidFill>
              </a:rPr>
            </a:br>
            <a:r>
              <a:rPr lang="en-US" sz="2200">
                <a:solidFill>
                  <a:schemeClr val="tx2">
                    <a:satMod val="130000"/>
                  </a:schemeClr>
                </a:solidFill>
              </a:rPr>
              <a:t>  if (st==NULL)</a:t>
            </a:r>
            <a:br>
              <a:rPr lang="en-US" sz="2200">
                <a:solidFill>
                  <a:schemeClr val="tx2">
                    <a:satMod val="130000"/>
                  </a:schemeClr>
                </a:solidFill>
              </a:rPr>
            </a:br>
            <a:r>
              <a:rPr lang="en-US" sz="2200">
                <a:solidFill>
                  <a:schemeClr val="tx2">
                    <a:satMod val="130000"/>
                  </a:schemeClr>
                </a:solidFill>
              </a:rPr>
              <a:t>    return 1;</a:t>
            </a:r>
            <a:br>
              <a:rPr lang="en-US" sz="2200">
                <a:solidFill>
                  <a:schemeClr val="tx2">
                    <a:satMod val="130000"/>
                  </a:schemeClr>
                </a:solidFill>
              </a:rPr>
            </a:br>
            <a:r>
              <a:rPr lang="en-US" sz="2200">
                <a:solidFill>
                  <a:schemeClr val="tx2">
                    <a:satMod val="130000"/>
                  </a:schemeClr>
                </a:solidFill>
              </a:rPr>
              <a:t>       else</a:t>
            </a:r>
            <a:br>
              <a:rPr lang="en-US" sz="2200">
                <a:solidFill>
                  <a:schemeClr val="tx2">
                    <a:satMod val="130000"/>
                  </a:schemeClr>
                </a:solidFill>
              </a:rPr>
            </a:br>
            <a:r>
              <a:rPr lang="en-US" sz="2200">
                <a:solidFill>
                  <a:schemeClr val="tx2">
                    <a:satMod val="130000"/>
                  </a:schemeClr>
                </a:solidFill>
              </a:rPr>
              <a:t>    return 0;</a:t>
            </a:r>
            <a:br>
              <a:rPr lang="en-US" sz="2200">
                <a:solidFill>
                  <a:schemeClr val="tx2">
                    <a:satMod val="130000"/>
                  </a:schemeClr>
                </a:solidFill>
              </a:rPr>
            </a:br>
            <a:r>
              <a:rPr lang="en-US" sz="2200">
                <a:solidFill>
                  <a:schemeClr val="tx2">
                    <a:satMod val="130000"/>
                  </a:schemeClr>
                </a:solidFill>
              </a:rPr>
              <a:t>}</a:t>
            </a:r>
            <a:r>
              <a:rPr lang="en-US" sz="1800">
                <a:solidFill>
                  <a:schemeClr val="tx2">
                    <a:satMod val="130000"/>
                  </a:schemeClr>
                </a:solidFill>
              </a:rPr>
              <a:t/>
            </a:r>
            <a:br>
              <a:rPr lang="en-US" sz="1800">
                <a:solidFill>
                  <a:schemeClr val="tx2">
                    <a:satMod val="130000"/>
                  </a:schemeClr>
                </a:solidFill>
              </a:rPr>
            </a:br>
            <a:endParaRPr lang="en-US" sz="1800">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791B10FD-C615-482F-AB30-C112AA2A19B6}"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1547813" y="533400"/>
            <a:ext cx="6430962" cy="6324600"/>
          </a:xfrm>
        </p:spPr>
        <p:txBody>
          <a:bodyPr>
            <a:normAutofit fontScale="90000"/>
          </a:bodyPr>
          <a:lstStyle/>
          <a:p>
            <a:pPr eaLnBrk="1" fontAlgn="auto" hangingPunct="1">
              <a:spcAft>
                <a:spcPts val="0"/>
              </a:spcAft>
              <a:defRPr/>
            </a:pPr>
            <a:r>
              <a:rPr lang="en-US" sz="2200">
                <a:solidFill>
                  <a:schemeClr val="tx2">
                    <a:satMod val="130000"/>
                  </a:schemeClr>
                </a:solidFill>
              </a:rPr>
              <a:t>void push(char n)</a:t>
            </a:r>
            <a:br>
              <a:rPr lang="en-US" sz="2200">
                <a:solidFill>
                  <a:schemeClr val="tx2">
                    <a:satMod val="130000"/>
                  </a:schemeClr>
                </a:solidFill>
              </a:rPr>
            </a:br>
            <a:r>
              <a:rPr lang="en-US" sz="2200">
                <a:solidFill>
                  <a:schemeClr val="tx2">
                    <a:satMod val="130000"/>
                  </a:schemeClr>
                </a:solidFill>
              </a:rPr>
              <a:t>{</a:t>
            </a:r>
            <a:br>
              <a:rPr lang="en-US" sz="2200">
                <a:solidFill>
                  <a:schemeClr val="tx2">
                    <a:satMod val="130000"/>
                  </a:schemeClr>
                </a:solidFill>
              </a:rPr>
            </a:br>
            <a:r>
              <a:rPr lang="en-US" sz="2200">
                <a:solidFill>
                  <a:schemeClr val="tx2">
                    <a:satMod val="130000"/>
                  </a:schemeClr>
                </a:solidFill>
              </a:rPr>
              <a:t> </a:t>
            </a:r>
            <a:r>
              <a:rPr lang="bg-BG" sz="2200">
                <a:solidFill>
                  <a:schemeClr val="tx2">
                    <a:satMod val="130000"/>
                  </a:schemeClr>
                </a:solidFill>
              </a:rPr>
              <a:t>    </a:t>
            </a:r>
            <a:r>
              <a:rPr lang="en-US" sz="2200">
                <a:solidFill>
                  <a:schemeClr val="tx2">
                    <a:satMod val="130000"/>
                  </a:schemeClr>
                </a:solidFill>
              </a:rPr>
              <a:t> p=start;</a:t>
            </a:r>
            <a:br>
              <a:rPr lang="en-US" sz="2200">
                <a:solidFill>
                  <a:schemeClr val="tx2">
                    <a:satMod val="130000"/>
                  </a:schemeClr>
                </a:solidFill>
              </a:rPr>
            </a:br>
            <a:r>
              <a:rPr lang="en-US" sz="2200">
                <a:solidFill>
                  <a:schemeClr val="tx2">
                    <a:satMod val="130000"/>
                  </a:schemeClr>
                </a:solidFill>
              </a:rPr>
              <a:t>  </a:t>
            </a:r>
            <a:r>
              <a:rPr lang="bg-BG" sz="2200">
                <a:solidFill>
                  <a:schemeClr val="tx2">
                    <a:satMod val="130000"/>
                  </a:schemeClr>
                </a:solidFill>
              </a:rPr>
              <a:t>    </a:t>
            </a:r>
            <a:r>
              <a:rPr lang="en-US" sz="2200">
                <a:solidFill>
                  <a:schemeClr val="tx2">
                    <a:satMod val="130000"/>
                  </a:schemeClr>
                </a:solidFill>
              </a:rPr>
              <a:t>start=new elem;</a:t>
            </a:r>
            <a:br>
              <a:rPr lang="en-US" sz="2200">
                <a:solidFill>
                  <a:schemeClr val="tx2">
                    <a:satMod val="130000"/>
                  </a:schemeClr>
                </a:solidFill>
              </a:rPr>
            </a:br>
            <a:r>
              <a:rPr lang="en-US" sz="2200">
                <a:solidFill>
                  <a:schemeClr val="tx2">
                    <a:satMod val="130000"/>
                  </a:schemeClr>
                </a:solidFill>
              </a:rPr>
              <a:t>  </a:t>
            </a:r>
            <a:r>
              <a:rPr lang="bg-BG" sz="2200">
                <a:solidFill>
                  <a:schemeClr val="tx2">
                    <a:satMod val="130000"/>
                  </a:schemeClr>
                </a:solidFill>
              </a:rPr>
              <a:t>    </a:t>
            </a:r>
            <a:r>
              <a:rPr lang="en-US" sz="2200">
                <a:solidFill>
                  <a:schemeClr val="tx2">
                    <a:satMod val="130000"/>
                  </a:schemeClr>
                </a:solidFill>
              </a:rPr>
              <a:t>start-&gt;key=n;</a:t>
            </a:r>
            <a:br>
              <a:rPr lang="en-US" sz="2200">
                <a:solidFill>
                  <a:schemeClr val="tx2">
                    <a:satMod val="130000"/>
                  </a:schemeClr>
                </a:solidFill>
              </a:rPr>
            </a:br>
            <a:r>
              <a:rPr lang="en-US" sz="2200">
                <a:solidFill>
                  <a:schemeClr val="tx2">
                    <a:satMod val="130000"/>
                  </a:schemeClr>
                </a:solidFill>
              </a:rPr>
              <a:t> </a:t>
            </a:r>
            <a:r>
              <a:rPr lang="bg-BG" sz="2200">
                <a:solidFill>
                  <a:schemeClr val="tx2">
                    <a:satMod val="130000"/>
                  </a:schemeClr>
                </a:solidFill>
              </a:rPr>
              <a:t>    </a:t>
            </a:r>
            <a:r>
              <a:rPr lang="en-US" sz="2200">
                <a:solidFill>
                  <a:schemeClr val="tx2">
                    <a:satMod val="130000"/>
                  </a:schemeClr>
                </a:solidFill>
              </a:rPr>
              <a:t> start-&gt;next=p;</a:t>
            </a:r>
            <a:br>
              <a:rPr lang="en-US" sz="2200">
                <a:solidFill>
                  <a:schemeClr val="tx2">
                    <a:satMod val="130000"/>
                  </a:schemeClr>
                </a:solidFill>
              </a:rPr>
            </a:br>
            <a:r>
              <a:rPr lang="en-US" sz="2200">
                <a:solidFill>
                  <a:schemeClr val="tx2">
                    <a:satMod val="130000"/>
                  </a:schemeClr>
                </a:solidFill>
              </a:rPr>
              <a:t>}</a:t>
            </a:r>
            <a:br>
              <a:rPr lang="en-US" sz="2200">
                <a:solidFill>
                  <a:schemeClr val="tx2">
                    <a:satMod val="130000"/>
                  </a:schemeClr>
                </a:solidFill>
              </a:rPr>
            </a:br>
            <a:r>
              <a:rPr lang="en-US" sz="2200">
                <a:solidFill>
                  <a:schemeClr val="tx2">
                    <a:satMod val="130000"/>
                  </a:schemeClr>
                </a:solidFill>
              </a:rPr>
              <a:t>char pop()</a:t>
            </a:r>
            <a:br>
              <a:rPr lang="en-US" sz="2200">
                <a:solidFill>
                  <a:schemeClr val="tx2">
                    <a:satMod val="130000"/>
                  </a:schemeClr>
                </a:solidFill>
              </a:rPr>
            </a:br>
            <a:r>
              <a:rPr lang="en-US" sz="2200">
                <a:solidFill>
                  <a:schemeClr val="tx2">
                    <a:satMod val="130000"/>
                  </a:schemeClr>
                </a:solidFill>
              </a:rPr>
              <a:t>{</a:t>
            </a:r>
            <a:br>
              <a:rPr lang="en-US" sz="2200">
                <a:solidFill>
                  <a:schemeClr val="tx2">
                    <a:satMod val="130000"/>
                  </a:schemeClr>
                </a:solidFill>
              </a:rPr>
            </a:br>
            <a:r>
              <a:rPr lang="en-US" sz="2200">
                <a:solidFill>
                  <a:schemeClr val="tx2">
                    <a:satMod val="130000"/>
                  </a:schemeClr>
                </a:solidFill>
              </a:rPr>
              <a:t> </a:t>
            </a:r>
            <a:r>
              <a:rPr lang="bg-BG" sz="2200">
                <a:solidFill>
                  <a:schemeClr val="tx2">
                    <a:satMod val="130000"/>
                  </a:schemeClr>
                </a:solidFill>
              </a:rPr>
              <a:t>      </a:t>
            </a:r>
            <a:r>
              <a:rPr lang="en-US" sz="2200">
                <a:solidFill>
                  <a:schemeClr val="tx2">
                    <a:satMod val="130000"/>
                  </a:schemeClr>
                </a:solidFill>
              </a:rPr>
              <a:t> char t;</a:t>
            </a:r>
            <a:br>
              <a:rPr lang="en-US" sz="2200">
                <a:solidFill>
                  <a:schemeClr val="tx2">
                    <a:satMod val="130000"/>
                  </a:schemeClr>
                </a:solidFill>
              </a:rPr>
            </a:br>
            <a:r>
              <a:rPr lang="en-US" sz="2200">
                <a:solidFill>
                  <a:schemeClr val="tx2">
                    <a:satMod val="130000"/>
                  </a:schemeClr>
                </a:solidFill>
              </a:rPr>
              <a:t>  </a:t>
            </a:r>
            <a:r>
              <a:rPr lang="bg-BG" sz="2200">
                <a:solidFill>
                  <a:schemeClr val="tx2">
                    <a:satMod val="130000"/>
                  </a:schemeClr>
                </a:solidFill>
              </a:rPr>
              <a:t>      </a:t>
            </a:r>
            <a:r>
              <a:rPr lang="en-US" sz="2200">
                <a:solidFill>
                  <a:schemeClr val="tx2">
                    <a:satMod val="130000"/>
                  </a:schemeClr>
                </a:solidFill>
              </a:rPr>
              <a:t>if (start)</a:t>
            </a:r>
            <a:br>
              <a:rPr lang="en-US" sz="2200">
                <a:solidFill>
                  <a:schemeClr val="tx2">
                    <a:satMod val="130000"/>
                  </a:schemeClr>
                </a:solidFill>
              </a:rPr>
            </a:br>
            <a:r>
              <a:rPr lang="en-US" sz="2200">
                <a:solidFill>
                  <a:schemeClr val="tx2">
                    <a:satMod val="130000"/>
                  </a:schemeClr>
                </a:solidFill>
              </a:rPr>
              <a:t>   </a:t>
            </a:r>
            <a:r>
              <a:rPr lang="bg-BG" sz="2200">
                <a:solidFill>
                  <a:schemeClr val="tx2">
                    <a:satMod val="130000"/>
                  </a:schemeClr>
                </a:solidFill>
              </a:rPr>
              <a:t>        </a:t>
            </a:r>
            <a:r>
              <a:rPr lang="en-US" sz="2200">
                <a:solidFill>
                  <a:schemeClr val="tx2">
                    <a:satMod val="130000"/>
                  </a:schemeClr>
                </a:solidFill>
              </a:rPr>
              <a:t>{</a:t>
            </a:r>
            <a:r>
              <a:rPr lang="bg-BG" sz="2200">
                <a:solidFill>
                  <a:schemeClr val="tx2">
                    <a:satMod val="130000"/>
                  </a:schemeClr>
                </a:solidFill>
              </a:rPr>
              <a:t/>
            </a:r>
            <a:br>
              <a:rPr lang="bg-BG" sz="2200">
                <a:solidFill>
                  <a:schemeClr val="tx2">
                    <a:satMod val="130000"/>
                  </a:schemeClr>
                </a:solidFill>
              </a:rPr>
            </a:br>
            <a:r>
              <a:rPr lang="bg-BG" sz="2200">
                <a:solidFill>
                  <a:schemeClr val="tx2">
                    <a:satMod val="130000"/>
                  </a:schemeClr>
                </a:solidFill>
              </a:rPr>
              <a:t>                </a:t>
            </a:r>
            <a:r>
              <a:rPr lang="en-US" sz="2200">
                <a:solidFill>
                  <a:schemeClr val="tx2">
                    <a:satMod val="130000"/>
                  </a:schemeClr>
                </a:solidFill>
              </a:rPr>
              <a:t>t=start-&gt;key;</a:t>
            </a:r>
            <a:br>
              <a:rPr lang="en-US" sz="2200">
                <a:solidFill>
                  <a:schemeClr val="tx2">
                    <a:satMod val="130000"/>
                  </a:schemeClr>
                </a:solidFill>
              </a:rPr>
            </a:br>
            <a:r>
              <a:rPr lang="en-US" sz="2200">
                <a:solidFill>
                  <a:schemeClr val="tx2">
                    <a:satMod val="130000"/>
                  </a:schemeClr>
                </a:solidFill>
              </a:rPr>
              <a:t>    </a:t>
            </a:r>
            <a:r>
              <a:rPr lang="bg-BG" sz="2200">
                <a:solidFill>
                  <a:schemeClr val="tx2">
                    <a:satMod val="130000"/>
                  </a:schemeClr>
                </a:solidFill>
              </a:rPr>
              <a:t>            </a:t>
            </a:r>
            <a:r>
              <a:rPr lang="en-US" sz="2200">
                <a:solidFill>
                  <a:schemeClr val="tx2">
                    <a:satMod val="130000"/>
                  </a:schemeClr>
                </a:solidFill>
              </a:rPr>
              <a:t>p=start;</a:t>
            </a:r>
            <a:br>
              <a:rPr lang="en-US" sz="2200">
                <a:solidFill>
                  <a:schemeClr val="tx2">
                    <a:satMod val="130000"/>
                  </a:schemeClr>
                </a:solidFill>
              </a:rPr>
            </a:br>
            <a:r>
              <a:rPr lang="en-US" sz="2200">
                <a:solidFill>
                  <a:schemeClr val="tx2">
                    <a:satMod val="130000"/>
                  </a:schemeClr>
                </a:solidFill>
              </a:rPr>
              <a:t>    </a:t>
            </a:r>
            <a:r>
              <a:rPr lang="bg-BG" sz="2200">
                <a:solidFill>
                  <a:schemeClr val="tx2">
                    <a:satMod val="130000"/>
                  </a:schemeClr>
                </a:solidFill>
              </a:rPr>
              <a:t>            </a:t>
            </a:r>
            <a:r>
              <a:rPr lang="en-US" sz="2200">
                <a:solidFill>
                  <a:schemeClr val="tx2">
                    <a:satMod val="130000"/>
                  </a:schemeClr>
                </a:solidFill>
              </a:rPr>
              <a:t>start=start-&gt;next;</a:t>
            </a:r>
            <a:br>
              <a:rPr lang="en-US" sz="2200">
                <a:solidFill>
                  <a:schemeClr val="tx2">
                    <a:satMod val="130000"/>
                  </a:schemeClr>
                </a:solidFill>
              </a:rPr>
            </a:br>
            <a:r>
              <a:rPr lang="en-US" sz="2200">
                <a:solidFill>
                  <a:schemeClr val="tx2">
                    <a:satMod val="130000"/>
                  </a:schemeClr>
                </a:solidFill>
              </a:rPr>
              <a:t>   </a:t>
            </a:r>
            <a:r>
              <a:rPr lang="bg-BG" sz="2200">
                <a:solidFill>
                  <a:schemeClr val="tx2">
                    <a:satMod val="130000"/>
                  </a:schemeClr>
                </a:solidFill>
              </a:rPr>
              <a:t>            </a:t>
            </a:r>
            <a:r>
              <a:rPr lang="en-US" sz="2200">
                <a:solidFill>
                  <a:schemeClr val="tx2">
                    <a:satMod val="130000"/>
                  </a:schemeClr>
                </a:solidFill>
              </a:rPr>
              <a:t> delete p;</a:t>
            </a:r>
            <a:br>
              <a:rPr lang="en-US" sz="2200">
                <a:solidFill>
                  <a:schemeClr val="tx2">
                    <a:satMod val="130000"/>
                  </a:schemeClr>
                </a:solidFill>
              </a:rPr>
            </a:br>
            <a:r>
              <a:rPr lang="en-US" sz="2200">
                <a:solidFill>
                  <a:schemeClr val="tx2">
                    <a:satMod val="130000"/>
                  </a:schemeClr>
                </a:solidFill>
              </a:rPr>
              <a:t>    </a:t>
            </a:r>
            <a:r>
              <a:rPr lang="bg-BG" sz="2200">
                <a:solidFill>
                  <a:schemeClr val="tx2">
                    <a:satMod val="130000"/>
                  </a:schemeClr>
                </a:solidFill>
              </a:rPr>
              <a:t>            </a:t>
            </a:r>
            <a:r>
              <a:rPr lang="en-US" sz="2200">
                <a:solidFill>
                  <a:schemeClr val="tx2">
                    <a:satMod val="130000"/>
                  </a:schemeClr>
                </a:solidFill>
              </a:rPr>
              <a:t>return t;</a:t>
            </a:r>
            <a:r>
              <a:rPr lang="bg-BG" sz="2200">
                <a:solidFill>
                  <a:schemeClr val="tx2">
                    <a:satMod val="130000"/>
                  </a:schemeClr>
                </a:solidFill>
              </a:rPr>
              <a:t/>
            </a:r>
            <a:br>
              <a:rPr lang="bg-BG" sz="2200">
                <a:solidFill>
                  <a:schemeClr val="tx2">
                    <a:satMod val="130000"/>
                  </a:schemeClr>
                </a:solidFill>
              </a:rPr>
            </a:br>
            <a:r>
              <a:rPr lang="bg-BG" sz="2200">
                <a:solidFill>
                  <a:schemeClr val="tx2">
                    <a:satMod val="130000"/>
                  </a:schemeClr>
                </a:solidFill>
              </a:rPr>
              <a:t>            </a:t>
            </a:r>
            <a:r>
              <a:rPr lang="en-US" sz="2200">
                <a:solidFill>
                  <a:schemeClr val="tx2">
                    <a:satMod val="130000"/>
                  </a:schemeClr>
                </a:solidFill>
              </a:rPr>
              <a:t>}</a:t>
            </a:r>
            <a:br>
              <a:rPr lang="en-US" sz="2200">
                <a:solidFill>
                  <a:schemeClr val="tx2">
                    <a:satMod val="130000"/>
                  </a:schemeClr>
                </a:solidFill>
              </a:rPr>
            </a:br>
            <a:r>
              <a:rPr lang="en-US" sz="2200">
                <a:solidFill>
                  <a:schemeClr val="tx2">
                    <a:satMod val="130000"/>
                  </a:schemeClr>
                </a:solidFill>
              </a:rPr>
              <a:t>   else</a:t>
            </a:r>
            <a:br>
              <a:rPr lang="en-US" sz="2200">
                <a:solidFill>
                  <a:schemeClr val="tx2">
                    <a:satMod val="130000"/>
                  </a:schemeClr>
                </a:solidFill>
              </a:rPr>
            </a:br>
            <a:r>
              <a:rPr lang="en-US" sz="2200">
                <a:solidFill>
                  <a:schemeClr val="tx2">
                    <a:satMod val="130000"/>
                  </a:schemeClr>
                </a:solidFill>
              </a:rPr>
              <a:t>    return 0;</a:t>
            </a:r>
            <a:br>
              <a:rPr lang="en-US" sz="2200">
                <a:solidFill>
                  <a:schemeClr val="tx2">
                    <a:satMod val="130000"/>
                  </a:schemeClr>
                </a:solidFill>
              </a:rPr>
            </a:br>
            <a:r>
              <a:rPr lang="en-US" sz="2200" smtClean="0">
                <a:solidFill>
                  <a:schemeClr val="tx2">
                    <a:satMod val="130000"/>
                  </a:schemeClr>
                </a:solidFill>
              </a:rPr>
              <a:t>}</a:t>
            </a:r>
            <a:r>
              <a:rPr lang="bg-BG" sz="2200">
                <a:solidFill>
                  <a:schemeClr val="tx2">
                    <a:satMod val="130000"/>
                  </a:schemeClr>
                </a:solidFill>
              </a:rPr>
              <a:t/>
            </a:r>
            <a:br>
              <a:rPr lang="bg-BG" sz="2200">
                <a:solidFill>
                  <a:schemeClr val="tx2">
                    <a:satMod val="130000"/>
                  </a:schemeClr>
                </a:solidFill>
              </a:rPr>
            </a:br>
            <a:r>
              <a:rPr lang="bg-BG" sz="1800">
                <a:solidFill>
                  <a:schemeClr val="tx2">
                    <a:satMod val="130000"/>
                  </a:schemeClr>
                </a:solidFill>
              </a:rPr>
              <a:t/>
            </a:r>
            <a:br>
              <a:rPr lang="bg-BG" sz="1800">
                <a:solidFill>
                  <a:schemeClr val="tx2">
                    <a:satMod val="130000"/>
                  </a:schemeClr>
                </a:solidFill>
              </a:rPr>
            </a:br>
            <a:endParaRPr lang="en-US" sz="1800">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B701EFFB-53EB-453C-940C-66827D2CD103}" type="slidenum">
              <a:rPr lang="en-US" smtClean="0"/>
              <a:pPr>
                <a:defRPr/>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1258888" y="260350"/>
            <a:ext cx="5834062" cy="6400800"/>
          </a:xfrm>
        </p:spPr>
        <p:txBody>
          <a:bodyPr/>
          <a:lstStyle/>
          <a:p>
            <a:pPr eaLnBrk="1" fontAlgn="auto" hangingPunct="1">
              <a:lnSpc>
                <a:spcPct val="130000"/>
              </a:lnSpc>
              <a:spcAft>
                <a:spcPts val="0"/>
              </a:spcAft>
              <a:defRPr/>
            </a:pPr>
            <a:r>
              <a:rPr lang="en-US" sz="2000">
                <a:solidFill>
                  <a:schemeClr val="tx2">
                    <a:satMod val="130000"/>
                  </a:schemeClr>
                </a:solidFill>
              </a:rPr>
              <a:t>void in_post(char in[30], int l)</a:t>
            </a:r>
            <a:br>
              <a:rPr lang="en-US" sz="2000">
                <a:solidFill>
                  <a:schemeClr val="tx2">
                    <a:satMod val="130000"/>
                  </a:schemeClr>
                </a:solidFill>
              </a:rPr>
            </a:br>
            <a:r>
              <a:rPr lang="en-US" sz="2000">
                <a:solidFill>
                  <a:schemeClr val="tx2">
                    <a:satMod val="130000"/>
                  </a:schemeClr>
                </a:solidFill>
              </a:rPr>
              <a:t>{</a:t>
            </a:r>
            <a:br>
              <a:rPr lang="en-US" sz="2000">
                <a:solidFill>
                  <a:schemeClr val="tx2">
                    <a:satMod val="130000"/>
                  </a:schemeClr>
                </a:solidFill>
              </a:rPr>
            </a:br>
            <a:r>
              <a:rPr lang="en-US" sz="2000">
                <a:solidFill>
                  <a:schemeClr val="tx2">
                    <a:satMod val="130000"/>
                  </a:schemeClr>
                </a:solidFill>
              </a:rPr>
              <a:t>  init();</a:t>
            </a:r>
            <a:br>
              <a:rPr lang="en-US" sz="2000">
                <a:solidFill>
                  <a:schemeClr val="tx2">
                    <a:satMod val="130000"/>
                  </a:schemeClr>
                </a:solidFill>
              </a:rPr>
            </a:br>
            <a:r>
              <a:rPr lang="en-US" sz="2000">
                <a:solidFill>
                  <a:schemeClr val="tx2">
                    <a:satMod val="130000"/>
                  </a:schemeClr>
                </a:solidFill>
              </a:rPr>
              <a:t>  int j=0;</a:t>
            </a:r>
            <a:br>
              <a:rPr lang="en-US" sz="2000">
                <a:solidFill>
                  <a:schemeClr val="tx2">
                    <a:satMod val="130000"/>
                  </a:schemeClr>
                </a:solidFill>
              </a:rPr>
            </a:br>
            <a:r>
              <a:rPr lang="en-US" sz="2000">
                <a:solidFill>
                  <a:schemeClr val="tx2">
                    <a:satMod val="130000"/>
                  </a:schemeClr>
                </a:solidFill>
              </a:rPr>
              <a:t>  for (int i=0;</a:t>
            </a:r>
            <a:r>
              <a:rPr lang="bg-BG" sz="2000">
                <a:solidFill>
                  <a:schemeClr val="tx2">
                    <a:satMod val="130000"/>
                  </a:schemeClr>
                </a:solidFill>
              </a:rPr>
              <a:t>  </a:t>
            </a:r>
            <a:r>
              <a:rPr lang="en-US" sz="2000">
                <a:solidFill>
                  <a:schemeClr val="tx2">
                    <a:satMod val="130000"/>
                  </a:schemeClr>
                </a:solidFill>
              </a:rPr>
              <a:t>i&lt;l;</a:t>
            </a:r>
            <a:r>
              <a:rPr lang="bg-BG" sz="2000">
                <a:solidFill>
                  <a:schemeClr val="tx2">
                    <a:satMod val="130000"/>
                  </a:schemeClr>
                </a:solidFill>
              </a:rPr>
              <a:t>  </a:t>
            </a:r>
            <a:r>
              <a:rPr lang="en-US" sz="2000">
                <a:solidFill>
                  <a:schemeClr val="tx2">
                    <a:satMod val="130000"/>
                  </a:schemeClr>
                </a:solidFill>
              </a:rPr>
              <a:t>i++)</a:t>
            </a:r>
            <a:br>
              <a:rPr lang="en-US" sz="2000">
                <a:solidFill>
                  <a:schemeClr val="tx2">
                    <a:satMod val="130000"/>
                  </a:schemeClr>
                </a:solidFill>
              </a:rPr>
            </a:br>
            <a:r>
              <a:rPr lang="en-US" sz="2000">
                <a:solidFill>
                  <a:schemeClr val="tx2">
                    <a:satMod val="130000"/>
                  </a:schemeClr>
                </a:solidFill>
              </a:rPr>
              <a:t>   {</a:t>
            </a:r>
            <a:br>
              <a:rPr lang="en-US" sz="2000">
                <a:solidFill>
                  <a:schemeClr val="tx2">
                    <a:satMod val="130000"/>
                  </a:schemeClr>
                </a:solidFill>
              </a:rPr>
            </a:br>
            <a:r>
              <a:rPr lang="en-US" sz="2000">
                <a:solidFill>
                  <a:schemeClr val="tx2">
                    <a:satMod val="130000"/>
                  </a:schemeClr>
                </a:solidFill>
              </a:rPr>
              <a:t>     </a:t>
            </a:r>
            <a:r>
              <a:rPr lang="bg-BG" sz="2000">
                <a:solidFill>
                  <a:schemeClr val="tx2">
                    <a:satMod val="130000"/>
                  </a:schemeClr>
                </a:solidFill>
              </a:rPr>
              <a:t>      </a:t>
            </a:r>
            <a:r>
              <a:rPr lang="en-US" sz="2000">
                <a:solidFill>
                  <a:schemeClr val="tx2">
                    <a:satMod val="130000"/>
                  </a:schemeClr>
                </a:solidFill>
              </a:rPr>
              <a:t>if (in[i]==')')</a:t>
            </a:r>
            <a:br>
              <a:rPr lang="en-US" sz="2000">
                <a:solidFill>
                  <a:schemeClr val="tx2">
                    <a:satMod val="130000"/>
                  </a:schemeClr>
                </a:solidFill>
              </a:rPr>
            </a:br>
            <a:r>
              <a:rPr lang="en-US" sz="2000">
                <a:solidFill>
                  <a:schemeClr val="tx2">
                    <a:satMod val="130000"/>
                  </a:schemeClr>
                </a:solidFill>
              </a:rPr>
              <a:t>	  {post[j]=pop(); j++;}</a:t>
            </a:r>
            <a:br>
              <a:rPr lang="en-US" sz="2000">
                <a:solidFill>
                  <a:schemeClr val="tx2">
                    <a:satMod val="130000"/>
                  </a:schemeClr>
                </a:solidFill>
              </a:rPr>
            </a:br>
            <a:r>
              <a:rPr lang="en-US" sz="2000">
                <a:solidFill>
                  <a:schemeClr val="tx2">
                    <a:satMod val="130000"/>
                  </a:schemeClr>
                </a:solidFill>
              </a:rPr>
              <a:t>     </a:t>
            </a:r>
            <a:r>
              <a:rPr lang="bg-BG" sz="2000">
                <a:solidFill>
                  <a:schemeClr val="tx2">
                    <a:satMod val="130000"/>
                  </a:schemeClr>
                </a:solidFill>
              </a:rPr>
              <a:t>      </a:t>
            </a:r>
            <a:r>
              <a:rPr lang="en-US" sz="2000">
                <a:solidFill>
                  <a:schemeClr val="tx2">
                    <a:satMod val="130000"/>
                  </a:schemeClr>
                </a:solidFill>
              </a:rPr>
              <a:t>if ((in[i]=='+')||(in[i]=='*'))</a:t>
            </a:r>
            <a:br>
              <a:rPr lang="en-US" sz="2000">
                <a:solidFill>
                  <a:schemeClr val="tx2">
                    <a:satMod val="130000"/>
                  </a:schemeClr>
                </a:solidFill>
              </a:rPr>
            </a:br>
            <a:r>
              <a:rPr lang="en-US" sz="2000">
                <a:solidFill>
                  <a:schemeClr val="tx2">
                    <a:satMod val="130000"/>
                  </a:schemeClr>
                </a:solidFill>
              </a:rPr>
              <a:t>	   push(in[i]);</a:t>
            </a:r>
            <a:br>
              <a:rPr lang="en-US" sz="2000">
                <a:solidFill>
                  <a:schemeClr val="tx2">
                    <a:satMod val="130000"/>
                  </a:schemeClr>
                </a:solidFill>
              </a:rPr>
            </a:br>
            <a:r>
              <a:rPr lang="en-US" sz="2000">
                <a:solidFill>
                  <a:schemeClr val="tx2">
                    <a:satMod val="130000"/>
                  </a:schemeClr>
                </a:solidFill>
              </a:rPr>
              <a:t>     </a:t>
            </a:r>
            <a:r>
              <a:rPr lang="bg-BG" sz="2000">
                <a:solidFill>
                  <a:schemeClr val="tx2">
                    <a:satMod val="130000"/>
                  </a:schemeClr>
                </a:solidFill>
              </a:rPr>
              <a:t>      </a:t>
            </a:r>
            <a:r>
              <a:rPr lang="en-US" sz="2000">
                <a:solidFill>
                  <a:schemeClr val="tx2">
                    <a:satMod val="130000"/>
                  </a:schemeClr>
                </a:solidFill>
              </a:rPr>
              <a:t>if ((in[i]&gt;='0')&amp;&amp;(in[i]&lt;='9'))</a:t>
            </a:r>
            <a:br>
              <a:rPr lang="en-US" sz="2000">
                <a:solidFill>
                  <a:schemeClr val="tx2">
                    <a:satMod val="130000"/>
                  </a:schemeClr>
                </a:solidFill>
              </a:rPr>
            </a:br>
            <a:r>
              <a:rPr lang="en-US" sz="2000">
                <a:solidFill>
                  <a:schemeClr val="tx2">
                    <a:satMod val="130000"/>
                  </a:schemeClr>
                </a:solidFill>
              </a:rPr>
              <a:t>	  {post[j]=in[i]; j++;}</a:t>
            </a:r>
            <a:br>
              <a:rPr lang="en-US" sz="2000">
                <a:solidFill>
                  <a:schemeClr val="tx2">
                    <a:satMod val="130000"/>
                  </a:schemeClr>
                </a:solidFill>
              </a:rPr>
            </a:br>
            <a:r>
              <a:rPr lang="en-US" sz="2000">
                <a:solidFill>
                  <a:schemeClr val="tx2">
                    <a:satMod val="130000"/>
                  </a:schemeClr>
                </a:solidFill>
              </a:rPr>
              <a:t>   }</a:t>
            </a:r>
            <a:br>
              <a:rPr lang="en-US" sz="2000">
                <a:solidFill>
                  <a:schemeClr val="tx2">
                    <a:satMod val="130000"/>
                  </a:schemeClr>
                </a:solidFill>
              </a:rPr>
            </a:br>
            <a:r>
              <a:rPr lang="en-US" sz="2000">
                <a:solidFill>
                  <a:schemeClr val="tx2">
                    <a:satMod val="130000"/>
                  </a:schemeClr>
                </a:solidFill>
              </a:rPr>
              <a:t>}</a:t>
            </a:r>
            <a:r>
              <a:rPr lang="en-US" sz="1800">
                <a:solidFill>
                  <a:schemeClr val="tx2">
                    <a:satMod val="130000"/>
                  </a:schemeClr>
                </a:solidFill>
              </a:rPr>
              <a:t/>
            </a:r>
            <a:br>
              <a:rPr lang="en-US" sz="1800">
                <a:solidFill>
                  <a:schemeClr val="tx2">
                    <a:satMod val="130000"/>
                  </a:schemeClr>
                </a:solidFill>
              </a:rPr>
            </a:br>
            <a:endParaRPr lang="en-US" sz="1800">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7B9471C4-9E9E-4995-9C6E-B56C25971EE4}" type="slidenum">
              <a:rPr lang="en-US" smtClean="0"/>
              <a:pPr>
                <a:defRPr/>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1042988" y="260350"/>
            <a:ext cx="7850187" cy="6400800"/>
          </a:xfrm>
        </p:spPr>
        <p:txBody>
          <a:bodyPr>
            <a:noAutofit/>
          </a:bodyPr>
          <a:lstStyle/>
          <a:p>
            <a:pPr eaLnBrk="1" fontAlgn="auto" hangingPunct="1">
              <a:lnSpc>
                <a:spcPct val="90000"/>
              </a:lnSpc>
              <a:spcAft>
                <a:spcPts val="0"/>
              </a:spcAft>
              <a:defRPr/>
            </a:pPr>
            <a:r>
              <a:rPr lang="en-US" sz="2000">
                <a:solidFill>
                  <a:schemeClr val="tx2">
                    <a:satMod val="130000"/>
                  </a:schemeClr>
                </a:solidFill>
              </a:rPr>
              <a:t>void calc(char post[30])</a:t>
            </a:r>
            <a:br>
              <a:rPr lang="en-US" sz="2000">
                <a:solidFill>
                  <a:schemeClr val="tx2">
                    <a:satMod val="130000"/>
                  </a:schemeClr>
                </a:solidFill>
              </a:rPr>
            </a:br>
            <a:r>
              <a:rPr lang="en-US" sz="2000">
                <a:solidFill>
                  <a:schemeClr val="tx2">
                    <a:satMod val="130000"/>
                  </a:schemeClr>
                </a:solidFill>
              </a:rPr>
              <a:t>{</a:t>
            </a:r>
            <a:br>
              <a:rPr lang="en-US" sz="2000">
                <a:solidFill>
                  <a:schemeClr val="tx2">
                    <a:satMod val="130000"/>
                  </a:schemeClr>
                </a:solidFill>
              </a:rPr>
            </a:br>
            <a:r>
              <a:rPr lang="en-US" sz="2000">
                <a:solidFill>
                  <a:schemeClr val="tx2">
                    <a:satMod val="130000"/>
                  </a:schemeClr>
                </a:solidFill>
              </a:rPr>
              <a:t>  char p[40]; int j=0;</a:t>
            </a:r>
            <a:br>
              <a:rPr lang="en-US" sz="2000">
                <a:solidFill>
                  <a:schemeClr val="tx2">
                    <a:satMod val="130000"/>
                  </a:schemeClr>
                </a:solidFill>
              </a:rPr>
            </a:br>
            <a:r>
              <a:rPr lang="en-US" sz="2000">
                <a:solidFill>
                  <a:schemeClr val="tx2">
                    <a:satMod val="130000"/>
                  </a:schemeClr>
                </a:solidFill>
              </a:rPr>
              <a:t>  int k=strlen(post);</a:t>
            </a:r>
            <a:br>
              <a:rPr lang="en-US" sz="2000">
                <a:solidFill>
                  <a:schemeClr val="tx2">
                    <a:satMod val="130000"/>
                  </a:schemeClr>
                </a:solidFill>
              </a:rPr>
            </a:br>
            <a:r>
              <a:rPr lang="en-US" sz="2000">
                <a:solidFill>
                  <a:schemeClr val="tx2">
                    <a:satMod val="130000"/>
                  </a:schemeClr>
                </a:solidFill>
              </a:rPr>
              <a:t>  for (int i=0; i&lt;k; i++)</a:t>
            </a:r>
            <a:br>
              <a:rPr lang="en-US" sz="2000">
                <a:solidFill>
                  <a:schemeClr val="tx2">
                    <a:satMod val="130000"/>
                  </a:schemeClr>
                </a:solidFill>
              </a:rPr>
            </a:br>
            <a:r>
              <a:rPr lang="en-US" sz="2000">
                <a:solidFill>
                  <a:schemeClr val="tx2">
                    <a:satMod val="130000"/>
                  </a:schemeClr>
                </a:solidFill>
              </a:rPr>
              <a:t>    {p[j]=post[i]; p[++j]=' ';j++;}  </a:t>
            </a:r>
            <a:r>
              <a:rPr lang="en-US" sz="1600">
                <a:solidFill>
                  <a:schemeClr val="tx2">
                    <a:satMod val="130000"/>
                  </a:schemeClr>
                </a:solidFill>
              </a:rPr>
              <a:t>// разделяне на цифри и знаци с интервал</a:t>
            </a:r>
            <a:r>
              <a:rPr lang="en-US" sz="2000">
                <a:solidFill>
                  <a:schemeClr val="tx2">
                    <a:satMod val="130000"/>
                  </a:schemeClr>
                </a:solidFill>
              </a:rPr>
              <a:t/>
            </a:r>
            <a:br>
              <a:rPr lang="en-US" sz="2000">
                <a:solidFill>
                  <a:schemeClr val="tx2">
                    <a:satMod val="130000"/>
                  </a:schemeClr>
                </a:solidFill>
              </a:rPr>
            </a:br>
            <a:r>
              <a:rPr lang="en-US" sz="2000">
                <a:solidFill>
                  <a:schemeClr val="tx2">
                    <a:satMod val="130000"/>
                  </a:schemeClr>
                </a:solidFill>
              </a:rPr>
              <a:t>  </a:t>
            </a:r>
            <a:r>
              <a:rPr lang="en-US" sz="2000" smtClean="0">
                <a:solidFill>
                  <a:schemeClr val="tx2">
                    <a:satMod val="130000"/>
                  </a:schemeClr>
                </a:solidFill>
              </a:rPr>
              <a:t>p[j</a:t>
            </a:r>
            <a:r>
              <a:rPr lang="en-US" sz="2000">
                <a:solidFill>
                  <a:schemeClr val="tx2">
                    <a:satMod val="130000"/>
                  </a:schemeClr>
                </a:solidFill>
              </a:rPr>
              <a:t>]='\0';</a:t>
            </a:r>
            <a:br>
              <a:rPr lang="en-US" sz="2000">
                <a:solidFill>
                  <a:schemeClr val="tx2">
                    <a:satMod val="130000"/>
                  </a:schemeClr>
                </a:solidFill>
              </a:rPr>
            </a:br>
            <a:r>
              <a:rPr lang="en-US" sz="2000">
                <a:solidFill>
                  <a:schemeClr val="tx2">
                    <a:satMod val="130000"/>
                  </a:schemeClr>
                </a:solidFill>
              </a:rPr>
              <a:t>  cout&lt;&lt;"\nNew expression:"&lt;&lt;p;</a:t>
            </a:r>
            <a:br>
              <a:rPr lang="en-US" sz="2000">
                <a:solidFill>
                  <a:schemeClr val="tx2">
                    <a:satMod val="130000"/>
                  </a:schemeClr>
                </a:solidFill>
              </a:rPr>
            </a:br>
            <a:r>
              <a:rPr lang="en-US" sz="2000">
                <a:solidFill>
                  <a:schemeClr val="tx2">
                    <a:satMod val="130000"/>
                  </a:schemeClr>
                </a:solidFill>
              </a:rPr>
              <a:t>  k=strlen(p);</a:t>
            </a:r>
            <a:br>
              <a:rPr lang="en-US" sz="2000">
                <a:solidFill>
                  <a:schemeClr val="tx2">
                    <a:satMod val="130000"/>
                  </a:schemeClr>
                </a:solidFill>
              </a:rPr>
            </a:br>
            <a:r>
              <a:rPr lang="en-US" sz="2000">
                <a:solidFill>
                  <a:schemeClr val="tx2">
                    <a:satMod val="130000"/>
                  </a:schemeClr>
                </a:solidFill>
              </a:rPr>
              <a:t>  init();</a:t>
            </a:r>
            <a:br>
              <a:rPr lang="en-US" sz="2000">
                <a:solidFill>
                  <a:schemeClr val="tx2">
                    <a:satMod val="130000"/>
                  </a:schemeClr>
                </a:solidFill>
              </a:rPr>
            </a:br>
            <a:r>
              <a:rPr lang="en-US" sz="2000">
                <a:solidFill>
                  <a:schemeClr val="tx2">
                    <a:satMod val="130000"/>
                  </a:schemeClr>
                </a:solidFill>
              </a:rPr>
              <a:t>  for (i=0; i&lt;k; i++)</a:t>
            </a:r>
            <a:br>
              <a:rPr lang="en-US" sz="2000">
                <a:solidFill>
                  <a:schemeClr val="tx2">
                    <a:satMod val="130000"/>
                  </a:schemeClr>
                </a:solidFill>
              </a:rPr>
            </a:br>
            <a:r>
              <a:rPr lang="en-US" sz="2000">
                <a:solidFill>
                  <a:schemeClr val="tx2">
                    <a:satMod val="130000"/>
                  </a:schemeClr>
                </a:solidFill>
              </a:rPr>
              <a:t>    {</a:t>
            </a:r>
            <a:br>
              <a:rPr lang="en-US" sz="2000">
                <a:solidFill>
                  <a:schemeClr val="tx2">
                    <a:satMod val="130000"/>
                  </a:schemeClr>
                </a:solidFill>
              </a:rPr>
            </a:br>
            <a:r>
              <a:rPr lang="en-US" sz="2000">
                <a:solidFill>
                  <a:schemeClr val="tx2">
                    <a:satMod val="130000"/>
                  </a:schemeClr>
                </a:solidFill>
              </a:rPr>
              <a:t>     if (p[i]=='+')</a:t>
            </a:r>
            <a:br>
              <a:rPr lang="en-US" sz="2000">
                <a:solidFill>
                  <a:schemeClr val="tx2">
                    <a:satMod val="130000"/>
                  </a:schemeClr>
                </a:solidFill>
              </a:rPr>
            </a:br>
            <a:r>
              <a:rPr lang="en-US" sz="2000">
                <a:solidFill>
                  <a:schemeClr val="tx2">
                    <a:satMod val="130000"/>
                  </a:schemeClr>
                </a:solidFill>
              </a:rPr>
              <a:t>	push(pop()+pop());</a:t>
            </a:r>
            <a:br>
              <a:rPr lang="en-US" sz="2000">
                <a:solidFill>
                  <a:schemeClr val="tx2">
                    <a:satMod val="130000"/>
                  </a:schemeClr>
                </a:solidFill>
              </a:rPr>
            </a:br>
            <a:r>
              <a:rPr lang="en-US" sz="2000">
                <a:solidFill>
                  <a:schemeClr val="tx2">
                    <a:satMod val="130000"/>
                  </a:schemeClr>
                </a:solidFill>
              </a:rPr>
              <a:t>     if (p[i]=='*')</a:t>
            </a:r>
            <a:br>
              <a:rPr lang="en-US" sz="2000">
                <a:solidFill>
                  <a:schemeClr val="tx2">
                    <a:satMod val="130000"/>
                  </a:schemeClr>
                </a:solidFill>
              </a:rPr>
            </a:br>
            <a:r>
              <a:rPr lang="en-US" sz="2000">
                <a:solidFill>
                  <a:schemeClr val="tx2">
                    <a:satMod val="130000"/>
                  </a:schemeClr>
                </a:solidFill>
              </a:rPr>
              <a:t>	push(pop()*pop());</a:t>
            </a:r>
            <a:br>
              <a:rPr lang="en-US" sz="2000">
                <a:solidFill>
                  <a:schemeClr val="tx2">
                    <a:satMod val="130000"/>
                  </a:schemeClr>
                </a:solidFill>
              </a:rPr>
            </a:br>
            <a:r>
              <a:rPr lang="en-US" sz="2000">
                <a:solidFill>
                  <a:schemeClr val="tx2">
                    <a:satMod val="130000"/>
                  </a:schemeClr>
                </a:solidFill>
              </a:rPr>
              <a:t>     if ((p[i]&gt;='0')&amp;&amp;(p[i]&lt;='9'))</a:t>
            </a:r>
            <a:br>
              <a:rPr lang="en-US" sz="2000">
                <a:solidFill>
                  <a:schemeClr val="tx2">
                    <a:satMod val="130000"/>
                  </a:schemeClr>
                </a:solidFill>
              </a:rPr>
            </a:br>
            <a:r>
              <a:rPr lang="en-US" sz="2000">
                <a:solidFill>
                  <a:schemeClr val="tx2">
                    <a:satMod val="130000"/>
                  </a:schemeClr>
                </a:solidFill>
              </a:rPr>
              <a:t>	  push(0);</a:t>
            </a:r>
            <a:br>
              <a:rPr lang="en-US" sz="2000">
                <a:solidFill>
                  <a:schemeClr val="tx2">
                    <a:satMod val="130000"/>
                  </a:schemeClr>
                </a:solidFill>
              </a:rPr>
            </a:br>
            <a:r>
              <a:rPr lang="en-US" sz="2000">
                <a:solidFill>
                  <a:schemeClr val="tx2">
                    <a:satMod val="130000"/>
                  </a:schemeClr>
                </a:solidFill>
              </a:rPr>
              <a:t>     while ((p[i]&gt;='0')&amp;&amp;(p[i]&lt;='9'))</a:t>
            </a:r>
            <a:br>
              <a:rPr lang="en-US" sz="2000">
                <a:solidFill>
                  <a:schemeClr val="tx2">
                    <a:satMod val="130000"/>
                  </a:schemeClr>
                </a:solidFill>
              </a:rPr>
            </a:br>
            <a:r>
              <a:rPr lang="en-US" sz="2000">
                <a:solidFill>
                  <a:schemeClr val="tx2">
                    <a:satMod val="130000"/>
                  </a:schemeClr>
                </a:solidFill>
              </a:rPr>
              <a:t>	push(10*pop()+(p[i++]-'0'));</a:t>
            </a:r>
            <a:br>
              <a:rPr lang="en-US" sz="2000">
                <a:solidFill>
                  <a:schemeClr val="tx2">
                    <a:satMod val="130000"/>
                  </a:schemeClr>
                </a:solidFill>
              </a:rPr>
            </a:br>
            <a:r>
              <a:rPr lang="en-US" sz="2000">
                <a:solidFill>
                  <a:schemeClr val="tx2">
                    <a:satMod val="130000"/>
                  </a:schemeClr>
                </a:solidFill>
              </a:rPr>
              <a:t>    }</a:t>
            </a:r>
            <a:br>
              <a:rPr lang="en-US" sz="2000">
                <a:solidFill>
                  <a:schemeClr val="tx2">
                    <a:satMod val="130000"/>
                  </a:schemeClr>
                </a:solidFill>
              </a:rPr>
            </a:br>
            <a:r>
              <a:rPr lang="en-US" sz="2000">
                <a:solidFill>
                  <a:schemeClr val="tx2">
                    <a:satMod val="130000"/>
                  </a:schemeClr>
                </a:solidFill>
              </a:rPr>
              <a:t>  cout&lt;&lt;"\nResult: "&lt;&lt;unsigned(pop())&lt;&lt;'\n';</a:t>
            </a:r>
            <a:br>
              <a:rPr lang="en-US" sz="2000">
                <a:solidFill>
                  <a:schemeClr val="tx2">
                    <a:satMod val="130000"/>
                  </a:schemeClr>
                </a:solidFill>
              </a:rPr>
            </a:br>
            <a:r>
              <a:rPr lang="en-US" sz="2000" smtClean="0">
                <a:solidFill>
                  <a:schemeClr val="tx2">
                    <a:satMod val="130000"/>
                  </a:schemeClr>
                </a:solidFill>
              </a:rPr>
              <a:t>}</a:t>
            </a:r>
            <a:endParaRPr lang="en-US" sz="2000">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BDB9A08B-B8AE-4E47-B4B7-AEBABC8EBAE7}"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1042988" y="1196975"/>
            <a:ext cx="7772400" cy="5257800"/>
          </a:xfrm>
        </p:spPr>
        <p:txBody>
          <a:bodyPr>
            <a:normAutofit fontScale="90000"/>
          </a:bodyPr>
          <a:lstStyle/>
          <a:p>
            <a:pPr eaLnBrk="1" fontAlgn="auto" hangingPunct="1">
              <a:lnSpc>
                <a:spcPct val="110000"/>
              </a:lnSpc>
              <a:spcAft>
                <a:spcPts val="0"/>
              </a:spcAft>
              <a:defRPr/>
            </a:pPr>
            <a:r>
              <a:rPr lang="en-US" sz="3600">
                <a:solidFill>
                  <a:schemeClr val="tx2">
                    <a:satMod val="130000"/>
                  </a:schemeClr>
                </a:solidFill>
              </a:rPr>
              <a:t>Input expression: ((6+4)*7)</a:t>
            </a:r>
            <a:br>
              <a:rPr lang="en-US" sz="3600">
                <a:solidFill>
                  <a:schemeClr val="tx2">
                    <a:satMod val="130000"/>
                  </a:schemeClr>
                </a:solidFill>
              </a:rPr>
            </a:br>
            <a:r>
              <a:rPr lang="en-US" sz="3600">
                <a:solidFill>
                  <a:schemeClr val="tx2">
                    <a:satMod val="130000"/>
                  </a:schemeClr>
                </a:solidFill>
              </a:rPr>
              <a:t>Postfix form: 64+7*</a:t>
            </a:r>
            <a:br>
              <a:rPr lang="en-US" sz="3600">
                <a:solidFill>
                  <a:schemeClr val="tx2">
                    <a:satMod val="130000"/>
                  </a:schemeClr>
                </a:solidFill>
              </a:rPr>
            </a:br>
            <a:r>
              <a:rPr lang="en-US" sz="3600">
                <a:solidFill>
                  <a:schemeClr val="tx2">
                    <a:satMod val="130000"/>
                  </a:schemeClr>
                </a:solidFill>
              </a:rPr>
              <a:t>New expression: 6 4 + 7 *</a:t>
            </a:r>
            <a:br>
              <a:rPr lang="en-US" sz="3600">
                <a:solidFill>
                  <a:schemeClr val="tx2">
                    <a:satMod val="130000"/>
                  </a:schemeClr>
                </a:solidFill>
              </a:rPr>
            </a:br>
            <a:r>
              <a:rPr lang="en-US" sz="3600">
                <a:solidFill>
                  <a:schemeClr val="tx2">
                    <a:satMod val="130000"/>
                  </a:schemeClr>
                </a:solidFill>
              </a:rPr>
              <a:t>Result: 70</a:t>
            </a:r>
            <a:r>
              <a:rPr lang="bg-BG" sz="3600">
                <a:solidFill>
                  <a:schemeClr val="tx2">
                    <a:satMod val="130000"/>
                  </a:schemeClr>
                </a:solidFill>
              </a:rPr>
              <a:t/>
            </a:r>
            <a:br>
              <a:rPr lang="bg-BG" sz="3600">
                <a:solidFill>
                  <a:schemeClr val="tx2">
                    <a:satMod val="130000"/>
                  </a:schemeClr>
                </a:solidFill>
              </a:rPr>
            </a:br>
            <a:r>
              <a:rPr lang="en-US" sz="1200">
                <a:solidFill>
                  <a:schemeClr val="tx2">
                    <a:satMod val="130000"/>
                  </a:schemeClr>
                </a:solidFill>
              </a:rPr>
              <a:t/>
            </a:r>
            <a:br>
              <a:rPr lang="en-US" sz="1200">
                <a:solidFill>
                  <a:schemeClr val="tx2">
                    <a:satMod val="130000"/>
                  </a:schemeClr>
                </a:solidFill>
              </a:rPr>
            </a:br>
            <a:r>
              <a:rPr lang="bg-BG" sz="3600">
                <a:solidFill>
                  <a:schemeClr val="tx2">
                    <a:satMod val="130000"/>
                  </a:schemeClr>
                </a:solidFill>
              </a:rPr>
              <a:t>или</a:t>
            </a:r>
            <a:br>
              <a:rPr lang="bg-BG" sz="3600">
                <a:solidFill>
                  <a:schemeClr val="tx2">
                    <a:satMod val="130000"/>
                  </a:schemeClr>
                </a:solidFill>
              </a:rPr>
            </a:br>
            <a:r>
              <a:rPr lang="bg-BG" sz="800">
                <a:solidFill>
                  <a:schemeClr val="tx2">
                    <a:satMod val="130000"/>
                  </a:schemeClr>
                </a:solidFill>
              </a:rPr>
              <a:t/>
            </a:r>
            <a:br>
              <a:rPr lang="bg-BG" sz="800">
                <a:solidFill>
                  <a:schemeClr val="tx2">
                    <a:satMod val="130000"/>
                  </a:schemeClr>
                </a:solidFill>
              </a:rPr>
            </a:br>
            <a:r>
              <a:rPr lang="en-US" sz="3600">
                <a:solidFill>
                  <a:schemeClr val="tx2">
                    <a:satMod val="130000"/>
                  </a:schemeClr>
                </a:solidFill>
              </a:rPr>
              <a:t>Input expression: </a:t>
            </a:r>
            <a:r>
              <a:rPr lang="en-US" sz="3600" smtClean="0">
                <a:solidFill>
                  <a:schemeClr val="tx2">
                    <a:satMod val="130000"/>
                  </a:schemeClr>
                </a:solidFill>
              </a:rPr>
              <a:t> (5*(((2+3)*(1*2)+7)) </a:t>
            </a:r>
            <a:r>
              <a:rPr lang="en-US" sz="3600">
                <a:solidFill>
                  <a:schemeClr val="tx2">
                    <a:satMod val="130000"/>
                  </a:schemeClr>
                </a:solidFill>
              </a:rPr>
              <a:t/>
            </a:r>
            <a:br>
              <a:rPr lang="en-US" sz="3600">
                <a:solidFill>
                  <a:schemeClr val="tx2">
                    <a:satMod val="130000"/>
                  </a:schemeClr>
                </a:solidFill>
              </a:rPr>
            </a:br>
            <a:r>
              <a:rPr lang="en-US" sz="3600">
                <a:solidFill>
                  <a:schemeClr val="tx2">
                    <a:satMod val="130000"/>
                  </a:schemeClr>
                </a:solidFill>
              </a:rPr>
              <a:t>Postfix form: </a:t>
            </a:r>
            <a:r>
              <a:rPr lang="en-US" sz="3600" smtClean="0">
                <a:solidFill>
                  <a:schemeClr val="tx2">
                    <a:satMod val="130000"/>
                  </a:schemeClr>
                </a:solidFill>
              </a:rPr>
              <a:t>523+ 12**7+*</a:t>
            </a:r>
            <a:br>
              <a:rPr lang="en-US" sz="3600" smtClean="0">
                <a:solidFill>
                  <a:schemeClr val="tx2">
                    <a:satMod val="130000"/>
                  </a:schemeClr>
                </a:solidFill>
              </a:rPr>
            </a:br>
            <a:r>
              <a:rPr lang="en-US" sz="3600" smtClean="0">
                <a:solidFill>
                  <a:schemeClr val="tx2">
                    <a:satMod val="130000"/>
                  </a:schemeClr>
                </a:solidFill>
              </a:rPr>
              <a:t>New </a:t>
            </a:r>
            <a:r>
              <a:rPr lang="en-US" sz="3600">
                <a:solidFill>
                  <a:schemeClr val="tx2">
                    <a:satMod val="130000"/>
                  </a:schemeClr>
                </a:solidFill>
              </a:rPr>
              <a:t>expression: </a:t>
            </a:r>
            <a:r>
              <a:rPr lang="en-US" sz="3600" smtClean="0">
                <a:solidFill>
                  <a:schemeClr val="tx2">
                    <a:satMod val="130000"/>
                  </a:schemeClr>
                </a:solidFill>
              </a:rPr>
              <a:t>5 2 3 + 1 2 * * 7 + * </a:t>
            </a:r>
            <a:r>
              <a:rPr lang="en-US" sz="3600">
                <a:solidFill>
                  <a:schemeClr val="tx2">
                    <a:satMod val="130000"/>
                  </a:schemeClr>
                </a:solidFill>
              </a:rPr>
              <a:t/>
            </a:r>
            <a:br>
              <a:rPr lang="en-US" sz="3600">
                <a:solidFill>
                  <a:schemeClr val="tx2">
                    <a:satMod val="130000"/>
                  </a:schemeClr>
                </a:solidFill>
              </a:rPr>
            </a:br>
            <a:r>
              <a:rPr lang="en-US" sz="3600">
                <a:solidFill>
                  <a:schemeClr val="tx2">
                    <a:satMod val="130000"/>
                  </a:schemeClr>
                </a:solidFill>
              </a:rPr>
              <a:t>Result</a:t>
            </a:r>
            <a:r>
              <a:rPr lang="en-US" sz="3600" smtClean="0">
                <a:solidFill>
                  <a:schemeClr val="tx2">
                    <a:satMod val="130000"/>
                  </a:schemeClr>
                </a:solidFill>
              </a:rPr>
              <a:t>: 85</a:t>
            </a:r>
            <a:r>
              <a:rPr lang="en-US" sz="3600">
                <a:solidFill>
                  <a:schemeClr val="tx2">
                    <a:satMod val="130000"/>
                  </a:schemeClr>
                </a:solidFill>
              </a:rPr>
              <a:t/>
            </a:r>
            <a:br>
              <a:rPr lang="en-US" sz="3600">
                <a:solidFill>
                  <a:schemeClr val="tx2">
                    <a:satMod val="130000"/>
                  </a:schemeClr>
                </a:solidFill>
              </a:rPr>
            </a:br>
            <a:r>
              <a:rPr lang="bg-BG" sz="3600">
                <a:solidFill>
                  <a:schemeClr val="tx2">
                    <a:satMod val="130000"/>
                  </a:schemeClr>
                </a:solidFill>
              </a:rPr>
              <a:t/>
            </a:r>
            <a:br>
              <a:rPr lang="bg-BG" sz="3600">
                <a:solidFill>
                  <a:schemeClr val="tx2">
                    <a:satMod val="130000"/>
                  </a:schemeClr>
                </a:solidFill>
              </a:rPr>
            </a:br>
            <a:endParaRPr lang="en-US" sz="3600">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A0B7FB9B-FD29-4517-ABAD-A2C0D0D37341}" type="slidenum">
              <a:rPr lang="en-US" smtClean="0"/>
              <a:pPr>
                <a:defRPr/>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042988" y="620713"/>
            <a:ext cx="7772400" cy="5562600"/>
          </a:xfrm>
        </p:spPr>
        <p:txBody>
          <a:bodyPr>
            <a:normAutofit fontScale="90000"/>
          </a:bodyPr>
          <a:lstStyle/>
          <a:p>
            <a:pPr eaLnBrk="1" fontAlgn="auto" hangingPunct="1">
              <a:spcAft>
                <a:spcPts val="0"/>
              </a:spcAft>
              <a:defRPr/>
            </a:pPr>
            <a:r>
              <a:rPr lang="bg-BG">
                <a:solidFill>
                  <a:schemeClr val="tx2">
                    <a:satMod val="130000"/>
                  </a:schemeClr>
                </a:solidFill>
              </a:rPr>
              <a:t>		Опашка </a:t>
            </a:r>
            <a:r>
              <a:rPr lang="en-US">
                <a:solidFill>
                  <a:schemeClr val="tx2">
                    <a:satMod val="130000"/>
                  </a:schemeClr>
                </a:solidFill>
              </a:rPr>
              <a:t>(Queue)</a:t>
            </a:r>
            <a:r>
              <a:rPr lang="bg-BG">
                <a:solidFill>
                  <a:schemeClr val="tx2">
                    <a:satMod val="130000"/>
                  </a:schemeClr>
                </a:solidFill>
              </a:rPr>
              <a:t/>
            </a:r>
            <a:br>
              <a:rPr lang="bg-BG">
                <a:solidFill>
                  <a:schemeClr val="tx2">
                    <a:satMod val="130000"/>
                  </a:schemeClr>
                </a:solidFill>
              </a:rPr>
            </a:br>
            <a:r>
              <a:rPr lang="en-US">
                <a:solidFill>
                  <a:schemeClr val="tx2">
                    <a:satMod val="130000"/>
                  </a:schemeClr>
                </a:solidFill>
              </a:rPr>
              <a:t>	</a:t>
            </a:r>
            <a:r>
              <a:rPr lang="bg-BG" sz="2700">
                <a:solidFill>
                  <a:schemeClr val="tx1"/>
                </a:solidFill>
              </a:rPr>
              <a:t>Опашката е подредена последователност от еднотипни елементи с определена дисциплина за тяхното добавяне и извличане. Дисциплината се нарича </a:t>
            </a:r>
            <a:r>
              <a:rPr lang="bg-BG" sz="2700" b="1">
                <a:solidFill>
                  <a:schemeClr val="tx1"/>
                </a:solidFill>
              </a:rPr>
              <a:t>FIFO</a:t>
            </a:r>
            <a:r>
              <a:rPr lang="bg-BG" sz="2700">
                <a:solidFill>
                  <a:schemeClr val="tx1"/>
                </a:solidFill>
              </a:rPr>
              <a:t> (</a:t>
            </a:r>
            <a:r>
              <a:rPr lang="bg-BG" sz="2700" b="1">
                <a:solidFill>
                  <a:schemeClr val="tx1"/>
                </a:solidFill>
              </a:rPr>
              <a:t>F</a:t>
            </a:r>
            <a:r>
              <a:rPr lang="bg-BG" sz="2700">
                <a:solidFill>
                  <a:schemeClr val="tx1"/>
                </a:solidFill>
              </a:rPr>
              <a:t>irst </a:t>
            </a:r>
            <a:r>
              <a:rPr lang="bg-BG" sz="2700" b="1">
                <a:solidFill>
                  <a:schemeClr val="tx1"/>
                </a:solidFill>
              </a:rPr>
              <a:t>I</a:t>
            </a:r>
            <a:r>
              <a:rPr lang="bg-BG" sz="2700">
                <a:solidFill>
                  <a:schemeClr val="tx1"/>
                </a:solidFill>
              </a:rPr>
              <a:t>n </a:t>
            </a:r>
            <a:r>
              <a:rPr lang="bg-BG" sz="2700" b="1">
                <a:solidFill>
                  <a:schemeClr val="tx1"/>
                </a:solidFill>
              </a:rPr>
              <a:t>F</a:t>
            </a:r>
            <a:r>
              <a:rPr lang="bg-BG" sz="2700">
                <a:solidFill>
                  <a:schemeClr val="tx1"/>
                </a:solidFill>
              </a:rPr>
              <a:t>irst </a:t>
            </a:r>
            <a:r>
              <a:rPr lang="bg-BG" sz="2700" b="1">
                <a:solidFill>
                  <a:schemeClr val="tx1"/>
                </a:solidFill>
              </a:rPr>
              <a:t>O</a:t>
            </a:r>
            <a:r>
              <a:rPr lang="bg-BG" sz="2700">
                <a:solidFill>
                  <a:schemeClr val="tx1"/>
                </a:solidFill>
              </a:rPr>
              <a:t>ut - първи влязъл - първи излязъл). Структурата опашка се задава с два указателя - </a:t>
            </a:r>
            <a:r>
              <a:rPr lang="bg-BG" sz="2700" b="1">
                <a:solidFill>
                  <a:schemeClr val="tx1"/>
                </a:solidFill>
              </a:rPr>
              <a:t>Fi</a:t>
            </a:r>
            <a:r>
              <a:rPr lang="en-US" sz="2700" b="1">
                <a:solidFill>
                  <a:schemeClr val="tx1"/>
                </a:solidFill>
              </a:rPr>
              <a:t>rst</a:t>
            </a:r>
            <a:r>
              <a:rPr lang="bg-BG" sz="2700">
                <a:solidFill>
                  <a:schemeClr val="tx1"/>
                </a:solidFill>
              </a:rPr>
              <a:t> и </a:t>
            </a:r>
            <a:r>
              <a:rPr lang="bg-BG" sz="2700" b="1">
                <a:solidFill>
                  <a:schemeClr val="tx1"/>
                </a:solidFill>
              </a:rPr>
              <a:t>La</a:t>
            </a:r>
            <a:r>
              <a:rPr lang="en-US" sz="2700" b="1">
                <a:solidFill>
                  <a:schemeClr val="tx1"/>
                </a:solidFill>
              </a:rPr>
              <a:t>st</a:t>
            </a:r>
            <a:r>
              <a:rPr lang="bg-BG" sz="2700">
                <a:solidFill>
                  <a:schemeClr val="tx1"/>
                </a:solidFill>
              </a:rPr>
              <a:t> за нейните начало и край. Включването се извършва от края на опашката (</a:t>
            </a:r>
            <a:r>
              <a:rPr lang="bg-BG" sz="2700" b="1">
                <a:solidFill>
                  <a:schemeClr val="tx1"/>
                </a:solidFill>
              </a:rPr>
              <a:t>La</a:t>
            </a:r>
            <a:r>
              <a:rPr lang="en-US" sz="2700" b="1">
                <a:solidFill>
                  <a:schemeClr val="tx1"/>
                </a:solidFill>
              </a:rPr>
              <a:t>st</a:t>
            </a:r>
            <a:r>
              <a:rPr lang="bg-BG" sz="2700">
                <a:solidFill>
                  <a:schemeClr val="tx1"/>
                </a:solidFill>
              </a:rPr>
              <a:t>), а изключването на елементи - от нейното начало (</a:t>
            </a:r>
            <a:r>
              <a:rPr lang="bg-BG" sz="2700" b="1">
                <a:solidFill>
                  <a:schemeClr val="tx1"/>
                </a:solidFill>
              </a:rPr>
              <a:t>Fi</a:t>
            </a:r>
            <a:r>
              <a:rPr lang="en-US" sz="2700" b="1">
                <a:solidFill>
                  <a:schemeClr val="tx1"/>
                </a:solidFill>
              </a:rPr>
              <a:t>rst</a:t>
            </a:r>
            <a:r>
              <a:rPr lang="bg-BG" sz="2700">
                <a:solidFill>
                  <a:schemeClr val="tx1"/>
                </a:solidFill>
              </a:rPr>
              <a:t>):</a:t>
            </a:r>
            <a:r>
              <a:rPr lang="bg-BG" sz="2700">
                <a:solidFill>
                  <a:schemeClr val="tx1"/>
                </a:solidFill>
                <a:latin typeface="Arial" charset="0"/>
              </a:rPr>
              <a:t/>
            </a:r>
            <a:br>
              <a:rPr lang="bg-BG" sz="2700">
                <a:solidFill>
                  <a:schemeClr val="tx1"/>
                </a:solidFill>
                <a:latin typeface="Arial" charset="0"/>
              </a:rPr>
            </a:br>
            <a:r>
              <a:rPr lang="bg-BG" sz="2400">
                <a:solidFill>
                  <a:schemeClr val="tx1"/>
                </a:solidFill>
                <a:latin typeface="Arial" charset="0"/>
              </a:rPr>
              <a:t/>
            </a:r>
            <a:br>
              <a:rPr lang="bg-BG" sz="2400">
                <a:solidFill>
                  <a:schemeClr val="tx1"/>
                </a:solidFill>
                <a:latin typeface="Arial" charset="0"/>
              </a:rPr>
            </a:br>
            <a:r>
              <a:rPr lang="bg-BG" sz="2400">
                <a:solidFill>
                  <a:schemeClr val="tx1"/>
                </a:solidFill>
                <a:latin typeface="Arial" charset="0"/>
              </a:rPr>
              <a:t/>
            </a:r>
            <a:br>
              <a:rPr lang="bg-BG" sz="2400">
                <a:solidFill>
                  <a:schemeClr val="tx1"/>
                </a:solidFill>
                <a:latin typeface="Arial" charset="0"/>
              </a:rPr>
            </a:br>
            <a:r>
              <a:rPr lang="bg-BG" sz="2400">
                <a:solidFill>
                  <a:schemeClr val="tx1"/>
                </a:solidFill>
                <a:latin typeface="Arial" charset="0"/>
              </a:rPr>
              <a:t/>
            </a:r>
            <a:br>
              <a:rPr lang="bg-BG" sz="2400">
                <a:solidFill>
                  <a:schemeClr val="tx1"/>
                </a:solidFill>
                <a:latin typeface="Arial" charset="0"/>
              </a:rPr>
            </a:br>
            <a:r>
              <a:rPr lang="bg-BG" sz="2400">
                <a:solidFill>
                  <a:schemeClr val="tx1"/>
                </a:solidFill>
                <a:latin typeface="Arial" charset="0"/>
              </a:rPr>
              <a:t/>
            </a:r>
            <a:br>
              <a:rPr lang="bg-BG" sz="2400">
                <a:solidFill>
                  <a:schemeClr val="tx1"/>
                </a:solidFill>
                <a:latin typeface="Arial" charset="0"/>
              </a:rPr>
            </a:br>
            <a:endParaRPr lang="en-US">
              <a:solidFill>
                <a:schemeClr val="tx1"/>
              </a:solidFill>
              <a:latin typeface="Arial" charset="0"/>
            </a:endParaRPr>
          </a:p>
        </p:txBody>
      </p:sp>
      <p:sp>
        <p:nvSpPr>
          <p:cNvPr id="37891" name="Line 4"/>
          <p:cNvSpPr>
            <a:spLocks noChangeShapeType="1"/>
          </p:cNvSpPr>
          <p:nvPr/>
        </p:nvSpPr>
        <p:spPr bwMode="auto">
          <a:xfrm>
            <a:off x="2895600" y="4724400"/>
            <a:ext cx="533400" cy="0"/>
          </a:xfrm>
          <a:prstGeom prst="line">
            <a:avLst/>
          </a:prstGeom>
          <a:noFill/>
          <a:ln w="12700">
            <a:solidFill>
              <a:srgbClr val="000000"/>
            </a:solidFill>
            <a:round/>
            <a:headEnd type="none" w="sm" len="sm"/>
            <a:tailEnd type="none" w="sm" len="sm"/>
          </a:ln>
        </p:spPr>
        <p:txBody>
          <a:bodyPr/>
          <a:lstStyle/>
          <a:p>
            <a:endParaRPr lang="bg-BG"/>
          </a:p>
        </p:txBody>
      </p:sp>
      <p:sp>
        <p:nvSpPr>
          <p:cNvPr id="37892" name="Text Box 6"/>
          <p:cNvSpPr txBox="1">
            <a:spLocks noChangeArrowheads="1"/>
          </p:cNvSpPr>
          <p:nvPr/>
        </p:nvSpPr>
        <p:spPr bwMode="auto">
          <a:xfrm>
            <a:off x="2057400" y="4495800"/>
            <a:ext cx="968375" cy="431800"/>
          </a:xfrm>
          <a:prstGeom prst="rect">
            <a:avLst/>
          </a:prstGeom>
          <a:noFill/>
          <a:ln w="9525">
            <a:noFill/>
            <a:miter lim="800000"/>
            <a:headEnd/>
            <a:tailEnd/>
          </a:ln>
        </p:spPr>
        <p:txBody>
          <a:bodyPr/>
          <a:lstStyle/>
          <a:p>
            <a:r>
              <a:rPr lang="en-US" sz="2000" b="1">
                <a:latin typeface="Courier New" pitchFamily="49" charset="0"/>
              </a:rPr>
              <a:t>First</a:t>
            </a:r>
            <a:endParaRPr lang="en-US" sz="1000">
              <a:latin typeface="Courier New" pitchFamily="49" charset="0"/>
            </a:endParaRPr>
          </a:p>
        </p:txBody>
      </p:sp>
      <p:sp>
        <p:nvSpPr>
          <p:cNvPr id="37893" name="Text Box 7"/>
          <p:cNvSpPr txBox="1">
            <a:spLocks noChangeArrowheads="1"/>
          </p:cNvSpPr>
          <p:nvPr/>
        </p:nvSpPr>
        <p:spPr bwMode="auto">
          <a:xfrm>
            <a:off x="5737225" y="4495800"/>
            <a:ext cx="968375" cy="431800"/>
          </a:xfrm>
          <a:prstGeom prst="rect">
            <a:avLst/>
          </a:prstGeom>
          <a:noFill/>
          <a:ln w="9525">
            <a:noFill/>
            <a:miter lim="800000"/>
            <a:headEnd/>
            <a:tailEnd/>
          </a:ln>
        </p:spPr>
        <p:txBody>
          <a:bodyPr/>
          <a:lstStyle/>
          <a:p>
            <a:r>
              <a:rPr lang="en-US" sz="2000" b="1">
                <a:latin typeface="Courier New" pitchFamily="49" charset="0"/>
              </a:rPr>
              <a:t>Last</a:t>
            </a:r>
            <a:endParaRPr lang="en-US" sz="1000" b="1">
              <a:latin typeface="Courier New" pitchFamily="49" charset="0"/>
            </a:endParaRPr>
          </a:p>
        </p:txBody>
      </p:sp>
      <p:sp>
        <p:nvSpPr>
          <p:cNvPr id="37894" name="Rectangle 8"/>
          <p:cNvSpPr>
            <a:spLocks noChangeArrowheads="1"/>
          </p:cNvSpPr>
          <p:nvPr/>
        </p:nvSpPr>
        <p:spPr bwMode="auto">
          <a:xfrm>
            <a:off x="3606800" y="5143500"/>
            <a:ext cx="387350" cy="647700"/>
          </a:xfrm>
          <a:prstGeom prst="rect">
            <a:avLst/>
          </a:prstGeom>
          <a:solidFill>
            <a:srgbClr val="FFFFFF"/>
          </a:solidFill>
          <a:ln w="12700">
            <a:solidFill>
              <a:srgbClr val="000000"/>
            </a:solidFill>
            <a:miter lim="800000"/>
            <a:headEnd/>
            <a:tailEnd/>
          </a:ln>
        </p:spPr>
        <p:txBody>
          <a:bodyPr/>
          <a:lstStyle/>
          <a:p>
            <a:endParaRPr lang="bg-BG"/>
          </a:p>
        </p:txBody>
      </p:sp>
      <p:sp>
        <p:nvSpPr>
          <p:cNvPr id="37895" name="Rectangle 9"/>
          <p:cNvSpPr>
            <a:spLocks noChangeArrowheads="1"/>
          </p:cNvSpPr>
          <p:nvPr/>
        </p:nvSpPr>
        <p:spPr bwMode="auto">
          <a:xfrm>
            <a:off x="3994150" y="5143500"/>
            <a:ext cx="387350" cy="647700"/>
          </a:xfrm>
          <a:prstGeom prst="rect">
            <a:avLst/>
          </a:prstGeom>
          <a:solidFill>
            <a:srgbClr val="FFFFFF"/>
          </a:solidFill>
          <a:ln w="12700">
            <a:solidFill>
              <a:srgbClr val="000000"/>
            </a:solidFill>
            <a:miter lim="800000"/>
            <a:headEnd/>
            <a:tailEnd/>
          </a:ln>
        </p:spPr>
        <p:txBody>
          <a:bodyPr/>
          <a:lstStyle/>
          <a:p>
            <a:endParaRPr lang="bg-BG"/>
          </a:p>
        </p:txBody>
      </p:sp>
      <p:sp>
        <p:nvSpPr>
          <p:cNvPr id="37896" name="Rectangle 10"/>
          <p:cNvSpPr>
            <a:spLocks noChangeArrowheads="1"/>
          </p:cNvSpPr>
          <p:nvPr/>
        </p:nvSpPr>
        <p:spPr bwMode="auto">
          <a:xfrm>
            <a:off x="4381500" y="5143500"/>
            <a:ext cx="387350" cy="647700"/>
          </a:xfrm>
          <a:prstGeom prst="rect">
            <a:avLst/>
          </a:prstGeom>
          <a:solidFill>
            <a:srgbClr val="FFFFFF"/>
          </a:solidFill>
          <a:ln w="12700">
            <a:solidFill>
              <a:srgbClr val="000000"/>
            </a:solidFill>
            <a:miter lim="800000"/>
            <a:headEnd/>
            <a:tailEnd/>
          </a:ln>
        </p:spPr>
        <p:txBody>
          <a:bodyPr/>
          <a:lstStyle/>
          <a:p>
            <a:endParaRPr lang="bg-BG"/>
          </a:p>
        </p:txBody>
      </p:sp>
      <p:sp>
        <p:nvSpPr>
          <p:cNvPr id="37897" name="Rectangle 11"/>
          <p:cNvSpPr>
            <a:spLocks noChangeArrowheads="1"/>
          </p:cNvSpPr>
          <p:nvPr/>
        </p:nvSpPr>
        <p:spPr bwMode="auto">
          <a:xfrm>
            <a:off x="3219450" y="5143500"/>
            <a:ext cx="387350" cy="647700"/>
          </a:xfrm>
          <a:prstGeom prst="rect">
            <a:avLst/>
          </a:prstGeom>
          <a:solidFill>
            <a:srgbClr val="FFFFFF"/>
          </a:solidFill>
          <a:ln w="12700">
            <a:solidFill>
              <a:srgbClr val="000000"/>
            </a:solidFill>
            <a:miter lim="800000"/>
            <a:headEnd/>
            <a:tailEnd/>
          </a:ln>
        </p:spPr>
        <p:txBody>
          <a:bodyPr/>
          <a:lstStyle/>
          <a:p>
            <a:endParaRPr lang="bg-BG"/>
          </a:p>
        </p:txBody>
      </p:sp>
      <p:sp>
        <p:nvSpPr>
          <p:cNvPr id="37898" name="Rectangle 12"/>
          <p:cNvSpPr>
            <a:spLocks noChangeArrowheads="1"/>
          </p:cNvSpPr>
          <p:nvPr/>
        </p:nvSpPr>
        <p:spPr bwMode="auto">
          <a:xfrm>
            <a:off x="4768850" y="5143500"/>
            <a:ext cx="387350" cy="647700"/>
          </a:xfrm>
          <a:prstGeom prst="rect">
            <a:avLst/>
          </a:prstGeom>
          <a:solidFill>
            <a:srgbClr val="FFFFFF"/>
          </a:solidFill>
          <a:ln w="12700">
            <a:solidFill>
              <a:srgbClr val="000000"/>
            </a:solidFill>
            <a:miter lim="800000"/>
            <a:headEnd/>
            <a:tailEnd/>
          </a:ln>
        </p:spPr>
        <p:txBody>
          <a:bodyPr/>
          <a:lstStyle/>
          <a:p>
            <a:endParaRPr lang="bg-BG"/>
          </a:p>
        </p:txBody>
      </p:sp>
      <p:sp>
        <p:nvSpPr>
          <p:cNvPr id="37899" name="Line 13"/>
          <p:cNvSpPr>
            <a:spLocks noChangeShapeType="1"/>
          </p:cNvSpPr>
          <p:nvPr/>
        </p:nvSpPr>
        <p:spPr bwMode="auto">
          <a:xfrm flipV="1">
            <a:off x="4962525" y="4711700"/>
            <a:ext cx="0" cy="431800"/>
          </a:xfrm>
          <a:prstGeom prst="line">
            <a:avLst/>
          </a:prstGeom>
          <a:noFill/>
          <a:ln w="12700">
            <a:solidFill>
              <a:srgbClr val="000000"/>
            </a:solidFill>
            <a:round/>
            <a:headEnd type="triangle" w="sm" len="med"/>
            <a:tailEnd/>
          </a:ln>
        </p:spPr>
        <p:txBody>
          <a:bodyPr/>
          <a:lstStyle/>
          <a:p>
            <a:endParaRPr lang="bg-BG"/>
          </a:p>
        </p:txBody>
      </p:sp>
      <p:sp>
        <p:nvSpPr>
          <p:cNvPr id="37900" name="Line 14"/>
          <p:cNvSpPr>
            <a:spLocks noChangeShapeType="1"/>
          </p:cNvSpPr>
          <p:nvPr/>
        </p:nvSpPr>
        <p:spPr bwMode="auto">
          <a:xfrm>
            <a:off x="4962525" y="4711700"/>
            <a:ext cx="774700" cy="0"/>
          </a:xfrm>
          <a:prstGeom prst="line">
            <a:avLst/>
          </a:prstGeom>
          <a:noFill/>
          <a:ln w="12700">
            <a:solidFill>
              <a:srgbClr val="000000"/>
            </a:solidFill>
            <a:round/>
            <a:headEnd/>
            <a:tailEnd type="none" w="sm" len="med"/>
          </a:ln>
        </p:spPr>
        <p:txBody>
          <a:bodyPr/>
          <a:lstStyle/>
          <a:p>
            <a:endParaRPr lang="bg-BG"/>
          </a:p>
        </p:txBody>
      </p:sp>
      <p:sp>
        <p:nvSpPr>
          <p:cNvPr id="37901" name="Line 15"/>
          <p:cNvSpPr>
            <a:spLocks noChangeShapeType="1"/>
          </p:cNvSpPr>
          <p:nvPr/>
        </p:nvSpPr>
        <p:spPr bwMode="auto">
          <a:xfrm flipV="1">
            <a:off x="3448050" y="4705350"/>
            <a:ext cx="0" cy="431800"/>
          </a:xfrm>
          <a:prstGeom prst="line">
            <a:avLst/>
          </a:prstGeom>
          <a:noFill/>
          <a:ln w="12700">
            <a:solidFill>
              <a:srgbClr val="000000"/>
            </a:solidFill>
            <a:round/>
            <a:headEnd type="triangle" w="sm" len="med"/>
            <a:tailEnd/>
          </a:ln>
        </p:spPr>
        <p:txBody>
          <a:bodyPr/>
          <a:lstStyle/>
          <a:p>
            <a:endParaRPr lang="bg-BG"/>
          </a:p>
        </p:txBody>
      </p:sp>
      <p:sp>
        <p:nvSpPr>
          <p:cNvPr id="14" name="Slide Number Placeholder 13"/>
          <p:cNvSpPr>
            <a:spLocks noGrp="1"/>
          </p:cNvSpPr>
          <p:nvPr>
            <p:ph type="sldNum" sz="quarter" idx="12"/>
          </p:nvPr>
        </p:nvSpPr>
        <p:spPr/>
        <p:txBody>
          <a:bodyPr/>
          <a:lstStyle/>
          <a:p>
            <a:pPr>
              <a:defRPr/>
            </a:pPr>
            <a:fld id="{19835B40-819B-49BA-AFAE-72451BDC3CE8}" type="slidenum">
              <a:rPr lang="en-US" smtClean="0"/>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116013" y="2205038"/>
            <a:ext cx="7696200" cy="3962400"/>
          </a:xfrm>
        </p:spPr>
        <p:txBody>
          <a:bodyPr>
            <a:normAutofit fontScale="90000"/>
          </a:bodyPr>
          <a:lstStyle/>
          <a:p>
            <a:pPr eaLnBrk="1" fontAlgn="auto" hangingPunct="1">
              <a:spcAft>
                <a:spcPts val="0"/>
              </a:spcAft>
              <a:defRPr/>
            </a:pPr>
            <a:r>
              <a:rPr lang="en-US" sz="3600">
                <a:solidFill>
                  <a:schemeClr val="tx1"/>
                </a:solidFill>
              </a:rPr>
              <a:t>  </a:t>
            </a:r>
            <a:r>
              <a:rPr lang="bg-BG" sz="3600">
                <a:solidFill>
                  <a:schemeClr val="tx1"/>
                </a:solidFill>
              </a:rPr>
              <a:t>Основни операции със структурата</a:t>
            </a:r>
            <a:r>
              <a:rPr lang="en-US" sz="3600">
                <a:solidFill>
                  <a:schemeClr val="tx1"/>
                </a:solidFill>
              </a:rPr>
              <a:t> </a:t>
            </a:r>
            <a:br>
              <a:rPr lang="en-US" sz="3600">
                <a:solidFill>
                  <a:schemeClr val="tx1"/>
                </a:solidFill>
              </a:rPr>
            </a:br>
            <a:r>
              <a:rPr lang="en-US" sz="3600">
                <a:solidFill>
                  <a:schemeClr val="tx1"/>
                </a:solidFill>
              </a:rPr>
              <a:t> </a:t>
            </a:r>
            <a:r>
              <a:rPr lang="en-US" sz="3200">
                <a:solidFill>
                  <a:schemeClr val="tx1"/>
                </a:solidFill>
              </a:rPr>
              <a:t/>
            </a:r>
            <a:br>
              <a:rPr lang="en-US" sz="3200">
                <a:solidFill>
                  <a:schemeClr val="tx1"/>
                </a:solidFill>
              </a:rPr>
            </a:br>
            <a:r>
              <a:rPr lang="bg-BG" sz="3200">
                <a:solidFill>
                  <a:schemeClr val="tx1"/>
                </a:solidFill>
                <a:cs typeface="Times New Roman" pitchFamily="18" charset="0"/>
              </a:rPr>
              <a:t>1. 	</a:t>
            </a:r>
            <a:r>
              <a:rPr lang="bg-BG" sz="3200">
                <a:solidFill>
                  <a:schemeClr val="tx1"/>
                </a:solidFill>
              </a:rPr>
              <a:t>Инициализиране на опашката </a:t>
            </a:r>
            <a:r>
              <a:rPr lang="en-US" sz="3200">
                <a:solidFill>
                  <a:schemeClr val="tx1"/>
                </a:solidFill>
              </a:rPr>
              <a:t/>
            </a:r>
            <a:br>
              <a:rPr lang="en-US" sz="3200">
                <a:solidFill>
                  <a:schemeClr val="tx1"/>
                </a:solidFill>
              </a:rPr>
            </a:br>
            <a:r>
              <a:rPr lang="en-US" sz="3200">
                <a:solidFill>
                  <a:schemeClr val="tx1"/>
                </a:solidFill>
              </a:rPr>
              <a:t>	</a:t>
            </a:r>
            <a:r>
              <a:rPr lang="bg-BG" sz="3200">
                <a:solidFill>
                  <a:schemeClr val="tx1"/>
                </a:solidFill>
              </a:rPr>
              <a:t>(</a:t>
            </a:r>
            <a:r>
              <a:rPr lang="bg-BG" sz="3200">
                <a:solidFill>
                  <a:schemeClr val="tx1"/>
                </a:solidFill>
                <a:latin typeface="Courier New" pitchFamily="49" charset="0"/>
              </a:rPr>
              <a:t>init</a:t>
            </a:r>
            <a:r>
              <a:rPr lang="bg-BG" sz="3200">
                <a:solidFill>
                  <a:schemeClr val="tx1"/>
                </a:solidFill>
              </a:rPr>
              <a:t>).</a:t>
            </a:r>
            <a:br>
              <a:rPr lang="bg-BG" sz="3200">
                <a:solidFill>
                  <a:schemeClr val="tx1"/>
                </a:solidFill>
              </a:rPr>
            </a:br>
            <a:r>
              <a:rPr lang="bg-BG" sz="3200">
                <a:solidFill>
                  <a:schemeClr val="tx1"/>
                </a:solidFill>
                <a:cs typeface="Times New Roman" pitchFamily="18" charset="0"/>
              </a:rPr>
              <a:t>2. 	</a:t>
            </a:r>
            <a:r>
              <a:rPr lang="bg-BG" sz="3200">
                <a:solidFill>
                  <a:schemeClr val="tx1"/>
                </a:solidFill>
              </a:rPr>
              <a:t>Добавяне на елемент  в края на</a:t>
            </a:r>
            <a:r>
              <a:rPr lang="en-US" sz="3200">
                <a:solidFill>
                  <a:schemeClr val="tx1"/>
                </a:solidFill>
              </a:rPr>
              <a:t/>
            </a:r>
            <a:br>
              <a:rPr lang="en-US" sz="3200">
                <a:solidFill>
                  <a:schemeClr val="tx1"/>
                </a:solidFill>
              </a:rPr>
            </a:br>
            <a:r>
              <a:rPr lang="en-US" sz="3200">
                <a:solidFill>
                  <a:schemeClr val="tx1"/>
                </a:solidFill>
              </a:rPr>
              <a:t>    </a:t>
            </a:r>
            <a:r>
              <a:rPr lang="bg-BG" sz="3200">
                <a:solidFill>
                  <a:schemeClr val="tx1"/>
                </a:solidFill>
              </a:rPr>
              <a:t> </a:t>
            </a:r>
            <a:r>
              <a:rPr lang="en-US" sz="3200">
                <a:solidFill>
                  <a:schemeClr val="tx1"/>
                </a:solidFill>
              </a:rPr>
              <a:t>    </a:t>
            </a:r>
            <a:r>
              <a:rPr lang="bg-BG" sz="3200">
                <a:solidFill>
                  <a:schemeClr val="tx1"/>
                </a:solidFill>
              </a:rPr>
              <a:t>опашката (</a:t>
            </a:r>
            <a:r>
              <a:rPr lang="bg-BG" sz="3200">
                <a:solidFill>
                  <a:schemeClr val="tx1"/>
                </a:solidFill>
                <a:latin typeface="Courier New" pitchFamily="49" charset="0"/>
              </a:rPr>
              <a:t>push</a:t>
            </a:r>
            <a:r>
              <a:rPr lang="bg-BG" sz="3200">
                <a:solidFill>
                  <a:schemeClr val="tx1"/>
                </a:solidFill>
              </a:rPr>
              <a:t>).</a:t>
            </a:r>
            <a:br>
              <a:rPr lang="bg-BG" sz="3200">
                <a:solidFill>
                  <a:schemeClr val="tx1"/>
                </a:solidFill>
              </a:rPr>
            </a:br>
            <a:r>
              <a:rPr lang="bg-BG" sz="3200">
                <a:solidFill>
                  <a:schemeClr val="tx1"/>
                </a:solidFill>
                <a:cs typeface="Times New Roman" pitchFamily="18" charset="0"/>
              </a:rPr>
              <a:t>3. 	</a:t>
            </a:r>
            <a:r>
              <a:rPr lang="bg-BG" sz="3200">
                <a:solidFill>
                  <a:schemeClr val="tx1"/>
                </a:solidFill>
              </a:rPr>
              <a:t>Извличане на елемент от началото на</a:t>
            </a:r>
            <a:r>
              <a:rPr lang="en-US" sz="3200">
                <a:solidFill>
                  <a:schemeClr val="tx1"/>
                </a:solidFill>
              </a:rPr>
              <a:t/>
            </a:r>
            <a:br>
              <a:rPr lang="en-US" sz="3200">
                <a:solidFill>
                  <a:schemeClr val="tx1"/>
                </a:solidFill>
              </a:rPr>
            </a:br>
            <a:r>
              <a:rPr lang="en-US" sz="3200">
                <a:solidFill>
                  <a:schemeClr val="tx1"/>
                </a:solidFill>
              </a:rPr>
              <a:t>        </a:t>
            </a:r>
            <a:r>
              <a:rPr lang="bg-BG" sz="3200">
                <a:solidFill>
                  <a:schemeClr val="tx1"/>
                </a:solidFill>
              </a:rPr>
              <a:t> опашката (</a:t>
            </a:r>
            <a:r>
              <a:rPr lang="bg-BG" sz="3200">
                <a:solidFill>
                  <a:schemeClr val="tx1"/>
                </a:solidFill>
                <a:latin typeface="Courier New" pitchFamily="49" charset="0"/>
              </a:rPr>
              <a:t>pop</a:t>
            </a:r>
            <a:r>
              <a:rPr lang="bg-BG" sz="3200">
                <a:solidFill>
                  <a:schemeClr val="tx1"/>
                </a:solidFill>
              </a:rPr>
              <a:t>).</a:t>
            </a:r>
            <a:r>
              <a:rPr lang="en-US" sz="3200">
                <a:solidFill>
                  <a:schemeClr val="tx1"/>
                </a:solidFill>
              </a:rPr>
              <a:t/>
            </a:r>
            <a:br>
              <a:rPr lang="en-US" sz="3200">
                <a:solidFill>
                  <a:schemeClr val="tx1"/>
                </a:solidFill>
              </a:rPr>
            </a:br>
            <a:r>
              <a:rPr lang="en-US" sz="3200">
                <a:solidFill>
                  <a:schemeClr val="tx1"/>
                </a:solidFill>
              </a:rPr>
              <a:t/>
            </a:r>
            <a:br>
              <a:rPr lang="en-US" sz="3200">
                <a:solidFill>
                  <a:schemeClr val="tx1"/>
                </a:solidFill>
              </a:rPr>
            </a:br>
            <a:r>
              <a:rPr lang="en-US" sz="3200">
                <a:solidFill>
                  <a:schemeClr val="tx1"/>
                </a:solidFill>
              </a:rPr>
              <a:t/>
            </a:r>
            <a:br>
              <a:rPr lang="en-US" sz="3200">
                <a:solidFill>
                  <a:schemeClr val="tx1"/>
                </a:solidFill>
              </a:rPr>
            </a:br>
            <a:r>
              <a:rPr lang="en-US" sz="3200">
                <a:solidFill>
                  <a:schemeClr val="tx1"/>
                </a:solidFill>
              </a:rPr>
              <a:t/>
            </a:r>
            <a:br>
              <a:rPr lang="en-US" sz="3200">
                <a:solidFill>
                  <a:schemeClr val="tx1"/>
                </a:solidFill>
              </a:rPr>
            </a:br>
            <a:r>
              <a:rPr lang="en-US" sz="3200">
                <a:solidFill>
                  <a:schemeClr val="tx1"/>
                </a:solidFill>
              </a:rPr>
              <a:t>	</a:t>
            </a:r>
            <a:br>
              <a:rPr lang="en-US" sz="3200">
                <a:solidFill>
                  <a:schemeClr val="tx1"/>
                </a:solidFill>
              </a:rPr>
            </a:br>
            <a:r>
              <a:rPr lang="en-US" sz="3200">
                <a:solidFill>
                  <a:schemeClr val="tx1"/>
                </a:solidFill>
              </a:rPr>
              <a:t/>
            </a:r>
            <a:br>
              <a:rPr lang="en-US" sz="3200">
                <a:solidFill>
                  <a:schemeClr val="tx1"/>
                </a:solidFill>
              </a:rPr>
            </a:br>
            <a:r>
              <a:rPr lang="en-US" sz="3200">
                <a:solidFill>
                  <a:schemeClr val="tx1"/>
                </a:solidFill>
              </a:rPr>
              <a:t/>
            </a:r>
            <a:br>
              <a:rPr lang="en-US" sz="3200">
                <a:solidFill>
                  <a:schemeClr val="tx1"/>
                </a:solidFill>
              </a:rPr>
            </a:br>
            <a:r>
              <a:rPr lang="bg-BG" sz="3200">
                <a:solidFill>
                  <a:schemeClr val="tx1"/>
                </a:solidFill>
              </a:rPr>
              <a:t/>
            </a:r>
            <a:br>
              <a:rPr lang="bg-BG" sz="3200">
                <a:solidFill>
                  <a:schemeClr val="tx1"/>
                </a:solidFill>
              </a:rPr>
            </a:br>
            <a:endParaRPr lang="en-US">
              <a:solidFill>
                <a:schemeClr val="tx1"/>
              </a:solidFill>
            </a:endParaRPr>
          </a:p>
        </p:txBody>
      </p:sp>
      <p:grpSp>
        <p:nvGrpSpPr>
          <p:cNvPr id="38915" name="Group 3"/>
          <p:cNvGrpSpPr>
            <a:grpSpLocks/>
          </p:cNvGrpSpPr>
          <p:nvPr/>
        </p:nvGrpSpPr>
        <p:grpSpPr bwMode="auto">
          <a:xfrm>
            <a:off x="971550" y="4149725"/>
            <a:ext cx="5778500" cy="1601788"/>
            <a:chOff x="1701" y="1197"/>
            <a:chExt cx="4320" cy="1080"/>
          </a:xfrm>
        </p:grpSpPr>
        <p:sp>
          <p:nvSpPr>
            <p:cNvPr id="38927" name="Line 4"/>
            <p:cNvSpPr>
              <a:spLocks noChangeShapeType="1"/>
            </p:cNvSpPr>
            <p:nvPr/>
          </p:nvSpPr>
          <p:spPr bwMode="auto">
            <a:xfrm>
              <a:off x="2484" y="1377"/>
              <a:ext cx="477" cy="1"/>
            </a:xfrm>
            <a:prstGeom prst="line">
              <a:avLst/>
            </a:prstGeom>
            <a:noFill/>
            <a:ln w="12700">
              <a:solidFill>
                <a:srgbClr val="000000"/>
              </a:solidFill>
              <a:round/>
              <a:headEnd type="none" w="sm" len="sm"/>
              <a:tailEnd type="none" w="sm" len="sm"/>
            </a:ln>
          </p:spPr>
          <p:txBody>
            <a:bodyPr/>
            <a:lstStyle/>
            <a:p>
              <a:endParaRPr lang="bg-BG"/>
            </a:p>
          </p:txBody>
        </p:sp>
        <p:sp>
          <p:nvSpPr>
            <p:cNvPr id="38928" name="Line 5"/>
            <p:cNvSpPr>
              <a:spLocks noChangeShapeType="1"/>
            </p:cNvSpPr>
            <p:nvPr/>
          </p:nvSpPr>
          <p:spPr bwMode="auto">
            <a:xfrm>
              <a:off x="2960" y="1377"/>
              <a:ext cx="1" cy="363"/>
            </a:xfrm>
            <a:prstGeom prst="line">
              <a:avLst/>
            </a:prstGeom>
            <a:noFill/>
            <a:ln w="12700">
              <a:solidFill>
                <a:srgbClr val="000000"/>
              </a:solidFill>
              <a:round/>
              <a:headEnd type="none" w="sm" len="sm"/>
              <a:tailEnd type="triangle" w="sm" len="med"/>
            </a:ln>
          </p:spPr>
          <p:txBody>
            <a:bodyPr/>
            <a:lstStyle/>
            <a:p>
              <a:endParaRPr lang="bg-BG"/>
            </a:p>
          </p:txBody>
        </p:sp>
        <p:sp>
          <p:nvSpPr>
            <p:cNvPr id="38929" name="Text Box 6"/>
            <p:cNvSpPr txBox="1">
              <a:spLocks noChangeArrowheads="1"/>
            </p:cNvSpPr>
            <p:nvPr/>
          </p:nvSpPr>
          <p:spPr bwMode="auto">
            <a:xfrm>
              <a:off x="1701" y="1197"/>
              <a:ext cx="900" cy="360"/>
            </a:xfrm>
            <a:prstGeom prst="rect">
              <a:avLst/>
            </a:prstGeom>
            <a:noFill/>
            <a:ln w="9525">
              <a:noFill/>
              <a:miter lim="800000"/>
              <a:headEnd/>
              <a:tailEnd/>
            </a:ln>
          </p:spPr>
          <p:txBody>
            <a:bodyPr/>
            <a:lstStyle/>
            <a:p>
              <a:r>
                <a:rPr lang="en-US" sz="2000" b="1">
                  <a:latin typeface="Courier New" pitchFamily="49" charset="0"/>
                </a:rPr>
                <a:t>First</a:t>
              </a:r>
              <a:endParaRPr lang="en-US" sz="1000">
                <a:latin typeface="Courier New" pitchFamily="49" charset="0"/>
              </a:endParaRPr>
            </a:p>
          </p:txBody>
        </p:sp>
        <p:sp>
          <p:nvSpPr>
            <p:cNvPr id="38930" name="Text Box 7"/>
            <p:cNvSpPr txBox="1">
              <a:spLocks noChangeArrowheads="1"/>
            </p:cNvSpPr>
            <p:nvPr/>
          </p:nvSpPr>
          <p:spPr bwMode="auto">
            <a:xfrm>
              <a:off x="5121" y="1197"/>
              <a:ext cx="900" cy="360"/>
            </a:xfrm>
            <a:prstGeom prst="rect">
              <a:avLst/>
            </a:prstGeom>
            <a:noFill/>
            <a:ln w="9525">
              <a:noFill/>
              <a:miter lim="800000"/>
              <a:headEnd/>
              <a:tailEnd/>
            </a:ln>
          </p:spPr>
          <p:txBody>
            <a:bodyPr/>
            <a:lstStyle/>
            <a:p>
              <a:r>
                <a:rPr lang="en-US" sz="2000" b="1">
                  <a:latin typeface="Courier New" pitchFamily="49" charset="0"/>
                </a:rPr>
                <a:t>Last</a:t>
              </a:r>
            </a:p>
          </p:txBody>
        </p:sp>
        <p:sp>
          <p:nvSpPr>
            <p:cNvPr id="38931" name="Rectangle 8"/>
            <p:cNvSpPr>
              <a:spLocks noChangeArrowheads="1"/>
            </p:cNvSpPr>
            <p:nvPr/>
          </p:nvSpPr>
          <p:spPr bwMode="auto">
            <a:xfrm>
              <a:off x="3141" y="1737"/>
              <a:ext cx="360" cy="540"/>
            </a:xfrm>
            <a:prstGeom prst="rect">
              <a:avLst/>
            </a:prstGeom>
            <a:solidFill>
              <a:srgbClr val="FFFFFF"/>
            </a:solidFill>
            <a:ln w="12700">
              <a:solidFill>
                <a:srgbClr val="000000"/>
              </a:solidFill>
              <a:miter lim="800000"/>
              <a:headEnd/>
              <a:tailEnd/>
            </a:ln>
          </p:spPr>
          <p:txBody>
            <a:bodyPr/>
            <a:lstStyle/>
            <a:p>
              <a:endParaRPr lang="bg-BG"/>
            </a:p>
          </p:txBody>
        </p:sp>
        <p:sp>
          <p:nvSpPr>
            <p:cNvPr id="38932" name="Rectangle 9"/>
            <p:cNvSpPr>
              <a:spLocks noChangeArrowheads="1"/>
            </p:cNvSpPr>
            <p:nvPr/>
          </p:nvSpPr>
          <p:spPr bwMode="auto">
            <a:xfrm>
              <a:off x="3501" y="1737"/>
              <a:ext cx="360" cy="540"/>
            </a:xfrm>
            <a:prstGeom prst="rect">
              <a:avLst/>
            </a:prstGeom>
            <a:solidFill>
              <a:srgbClr val="FFFFFF"/>
            </a:solidFill>
            <a:ln w="12700">
              <a:solidFill>
                <a:srgbClr val="000000"/>
              </a:solidFill>
              <a:miter lim="800000"/>
              <a:headEnd/>
              <a:tailEnd/>
            </a:ln>
          </p:spPr>
          <p:txBody>
            <a:bodyPr/>
            <a:lstStyle/>
            <a:p>
              <a:endParaRPr lang="bg-BG"/>
            </a:p>
          </p:txBody>
        </p:sp>
        <p:sp>
          <p:nvSpPr>
            <p:cNvPr id="38933" name="Rectangle 10"/>
            <p:cNvSpPr>
              <a:spLocks noChangeArrowheads="1"/>
            </p:cNvSpPr>
            <p:nvPr/>
          </p:nvSpPr>
          <p:spPr bwMode="auto">
            <a:xfrm>
              <a:off x="3861" y="1737"/>
              <a:ext cx="360" cy="540"/>
            </a:xfrm>
            <a:prstGeom prst="rect">
              <a:avLst/>
            </a:prstGeom>
            <a:solidFill>
              <a:srgbClr val="FFFFFF"/>
            </a:solidFill>
            <a:ln w="12700">
              <a:solidFill>
                <a:srgbClr val="000000"/>
              </a:solidFill>
              <a:miter lim="800000"/>
              <a:headEnd/>
              <a:tailEnd/>
            </a:ln>
          </p:spPr>
          <p:txBody>
            <a:bodyPr/>
            <a:lstStyle/>
            <a:p>
              <a:endParaRPr lang="bg-BG"/>
            </a:p>
          </p:txBody>
        </p:sp>
        <p:sp>
          <p:nvSpPr>
            <p:cNvPr id="38934" name="Rectangle 11"/>
            <p:cNvSpPr>
              <a:spLocks noChangeArrowheads="1"/>
            </p:cNvSpPr>
            <p:nvPr/>
          </p:nvSpPr>
          <p:spPr bwMode="auto">
            <a:xfrm>
              <a:off x="2781" y="1737"/>
              <a:ext cx="360" cy="540"/>
            </a:xfrm>
            <a:prstGeom prst="rect">
              <a:avLst/>
            </a:prstGeom>
            <a:solidFill>
              <a:srgbClr val="FFFFFF"/>
            </a:solidFill>
            <a:ln w="12700">
              <a:solidFill>
                <a:srgbClr val="000000"/>
              </a:solidFill>
              <a:miter lim="800000"/>
              <a:headEnd/>
              <a:tailEnd/>
            </a:ln>
          </p:spPr>
          <p:txBody>
            <a:bodyPr/>
            <a:lstStyle/>
            <a:p>
              <a:endParaRPr lang="bg-BG"/>
            </a:p>
          </p:txBody>
        </p:sp>
        <p:sp>
          <p:nvSpPr>
            <p:cNvPr id="38935" name="Rectangle 12"/>
            <p:cNvSpPr>
              <a:spLocks noChangeArrowheads="1"/>
            </p:cNvSpPr>
            <p:nvPr/>
          </p:nvSpPr>
          <p:spPr bwMode="auto">
            <a:xfrm>
              <a:off x="4221" y="1737"/>
              <a:ext cx="360" cy="540"/>
            </a:xfrm>
            <a:prstGeom prst="rect">
              <a:avLst/>
            </a:prstGeom>
            <a:solidFill>
              <a:srgbClr val="FFFFFF"/>
            </a:solidFill>
            <a:ln w="12700">
              <a:solidFill>
                <a:srgbClr val="000000"/>
              </a:solidFill>
              <a:miter lim="800000"/>
              <a:headEnd/>
              <a:tailEnd/>
            </a:ln>
          </p:spPr>
          <p:txBody>
            <a:bodyPr/>
            <a:lstStyle/>
            <a:p>
              <a:endParaRPr lang="bg-BG"/>
            </a:p>
          </p:txBody>
        </p:sp>
        <p:sp>
          <p:nvSpPr>
            <p:cNvPr id="38936" name="Line 13"/>
            <p:cNvSpPr>
              <a:spLocks noChangeShapeType="1"/>
            </p:cNvSpPr>
            <p:nvPr/>
          </p:nvSpPr>
          <p:spPr bwMode="auto">
            <a:xfrm flipV="1">
              <a:off x="4401" y="1377"/>
              <a:ext cx="0" cy="360"/>
            </a:xfrm>
            <a:prstGeom prst="line">
              <a:avLst/>
            </a:prstGeom>
            <a:noFill/>
            <a:ln w="12700">
              <a:solidFill>
                <a:srgbClr val="000000"/>
              </a:solidFill>
              <a:round/>
              <a:headEnd type="triangle" w="sm" len="med"/>
              <a:tailEnd/>
            </a:ln>
          </p:spPr>
          <p:txBody>
            <a:bodyPr/>
            <a:lstStyle/>
            <a:p>
              <a:endParaRPr lang="bg-BG"/>
            </a:p>
          </p:txBody>
        </p:sp>
        <p:sp>
          <p:nvSpPr>
            <p:cNvPr id="38937" name="Line 14"/>
            <p:cNvSpPr>
              <a:spLocks noChangeShapeType="1"/>
            </p:cNvSpPr>
            <p:nvPr/>
          </p:nvSpPr>
          <p:spPr bwMode="auto">
            <a:xfrm>
              <a:off x="4401" y="1377"/>
              <a:ext cx="720" cy="0"/>
            </a:xfrm>
            <a:prstGeom prst="line">
              <a:avLst/>
            </a:prstGeom>
            <a:noFill/>
            <a:ln w="12700">
              <a:solidFill>
                <a:srgbClr val="000000"/>
              </a:solidFill>
              <a:round/>
              <a:headEnd/>
              <a:tailEnd type="none" w="sm" len="med"/>
            </a:ln>
          </p:spPr>
          <p:txBody>
            <a:bodyPr/>
            <a:lstStyle/>
            <a:p>
              <a:endParaRPr lang="bg-BG"/>
            </a:p>
          </p:txBody>
        </p:sp>
      </p:grpSp>
      <p:sp>
        <p:nvSpPr>
          <p:cNvPr id="38916" name="Line 15"/>
          <p:cNvSpPr>
            <a:spLocks noChangeShapeType="1"/>
          </p:cNvSpPr>
          <p:nvPr/>
        </p:nvSpPr>
        <p:spPr bwMode="auto">
          <a:xfrm>
            <a:off x="6858000" y="5638800"/>
            <a:ext cx="762000" cy="0"/>
          </a:xfrm>
          <a:prstGeom prst="line">
            <a:avLst/>
          </a:prstGeom>
          <a:noFill/>
          <a:ln w="9525">
            <a:solidFill>
              <a:schemeClr val="tx1"/>
            </a:solidFill>
            <a:round/>
            <a:headEnd/>
            <a:tailEnd/>
          </a:ln>
        </p:spPr>
        <p:txBody>
          <a:bodyPr wrap="none" anchor="ctr"/>
          <a:lstStyle/>
          <a:p>
            <a:endParaRPr lang="bg-BG"/>
          </a:p>
        </p:txBody>
      </p:sp>
      <p:grpSp>
        <p:nvGrpSpPr>
          <p:cNvPr id="38917" name="Group 20"/>
          <p:cNvGrpSpPr>
            <a:grpSpLocks/>
          </p:cNvGrpSpPr>
          <p:nvPr/>
        </p:nvGrpSpPr>
        <p:grpSpPr bwMode="auto">
          <a:xfrm>
            <a:off x="5638800" y="4800600"/>
            <a:ext cx="1447800" cy="838200"/>
            <a:chOff x="1701" y="1197"/>
            <a:chExt cx="1260" cy="543"/>
          </a:xfrm>
        </p:grpSpPr>
        <p:sp>
          <p:nvSpPr>
            <p:cNvPr id="38924" name="Line 21"/>
            <p:cNvSpPr>
              <a:spLocks noChangeShapeType="1"/>
            </p:cNvSpPr>
            <p:nvPr/>
          </p:nvSpPr>
          <p:spPr bwMode="auto">
            <a:xfrm>
              <a:off x="2484" y="1377"/>
              <a:ext cx="477" cy="1"/>
            </a:xfrm>
            <a:prstGeom prst="line">
              <a:avLst/>
            </a:prstGeom>
            <a:noFill/>
            <a:ln w="12700">
              <a:solidFill>
                <a:srgbClr val="000000"/>
              </a:solidFill>
              <a:round/>
              <a:headEnd type="none" w="sm" len="sm"/>
              <a:tailEnd type="none" w="sm" len="sm"/>
            </a:ln>
          </p:spPr>
          <p:txBody>
            <a:bodyPr/>
            <a:lstStyle/>
            <a:p>
              <a:endParaRPr lang="bg-BG"/>
            </a:p>
          </p:txBody>
        </p:sp>
        <p:sp>
          <p:nvSpPr>
            <p:cNvPr id="38925" name="Line 22"/>
            <p:cNvSpPr>
              <a:spLocks noChangeShapeType="1"/>
            </p:cNvSpPr>
            <p:nvPr/>
          </p:nvSpPr>
          <p:spPr bwMode="auto">
            <a:xfrm>
              <a:off x="2960" y="1377"/>
              <a:ext cx="1" cy="363"/>
            </a:xfrm>
            <a:prstGeom prst="line">
              <a:avLst/>
            </a:prstGeom>
            <a:noFill/>
            <a:ln w="12700">
              <a:solidFill>
                <a:srgbClr val="000000"/>
              </a:solidFill>
              <a:round/>
              <a:headEnd type="none" w="sm" len="sm"/>
              <a:tailEnd type="triangle" w="sm" len="med"/>
            </a:ln>
          </p:spPr>
          <p:txBody>
            <a:bodyPr/>
            <a:lstStyle/>
            <a:p>
              <a:endParaRPr lang="bg-BG"/>
            </a:p>
          </p:txBody>
        </p:sp>
        <p:sp>
          <p:nvSpPr>
            <p:cNvPr id="38926" name="Text Box 23"/>
            <p:cNvSpPr txBox="1">
              <a:spLocks noChangeArrowheads="1"/>
            </p:cNvSpPr>
            <p:nvPr/>
          </p:nvSpPr>
          <p:spPr bwMode="auto">
            <a:xfrm>
              <a:off x="1701" y="1197"/>
              <a:ext cx="900" cy="360"/>
            </a:xfrm>
            <a:prstGeom prst="rect">
              <a:avLst/>
            </a:prstGeom>
            <a:noFill/>
            <a:ln w="9525">
              <a:noFill/>
              <a:miter lim="800000"/>
              <a:headEnd/>
              <a:tailEnd/>
            </a:ln>
          </p:spPr>
          <p:txBody>
            <a:bodyPr/>
            <a:lstStyle/>
            <a:p>
              <a:r>
                <a:rPr lang="en-US" sz="2000" b="1">
                  <a:latin typeface="Courier New" pitchFamily="49" charset="0"/>
                </a:rPr>
                <a:t>First</a:t>
              </a:r>
              <a:endParaRPr lang="en-US" sz="1000">
                <a:latin typeface="Courier New" pitchFamily="49" charset="0"/>
              </a:endParaRPr>
            </a:p>
          </p:txBody>
        </p:sp>
      </p:grpSp>
      <p:grpSp>
        <p:nvGrpSpPr>
          <p:cNvPr id="38918" name="Group 24"/>
          <p:cNvGrpSpPr>
            <a:grpSpLocks/>
          </p:cNvGrpSpPr>
          <p:nvPr/>
        </p:nvGrpSpPr>
        <p:grpSpPr bwMode="auto">
          <a:xfrm>
            <a:off x="7391400" y="4800600"/>
            <a:ext cx="1524000" cy="838200"/>
            <a:chOff x="4401" y="1197"/>
            <a:chExt cx="1620" cy="540"/>
          </a:xfrm>
        </p:grpSpPr>
        <p:sp>
          <p:nvSpPr>
            <p:cNvPr id="38921" name="Text Box 25"/>
            <p:cNvSpPr txBox="1">
              <a:spLocks noChangeArrowheads="1"/>
            </p:cNvSpPr>
            <p:nvPr/>
          </p:nvSpPr>
          <p:spPr bwMode="auto">
            <a:xfrm>
              <a:off x="5121" y="1197"/>
              <a:ext cx="900" cy="360"/>
            </a:xfrm>
            <a:prstGeom prst="rect">
              <a:avLst/>
            </a:prstGeom>
            <a:noFill/>
            <a:ln w="9525">
              <a:noFill/>
              <a:miter lim="800000"/>
              <a:headEnd/>
              <a:tailEnd/>
            </a:ln>
          </p:spPr>
          <p:txBody>
            <a:bodyPr/>
            <a:lstStyle/>
            <a:p>
              <a:r>
                <a:rPr lang="en-US" sz="2000" b="1">
                  <a:latin typeface="Courier New" pitchFamily="49" charset="0"/>
                </a:rPr>
                <a:t>Last</a:t>
              </a:r>
              <a:endParaRPr lang="en-US" sz="1000">
                <a:latin typeface="Courier New" pitchFamily="49" charset="0"/>
              </a:endParaRPr>
            </a:p>
          </p:txBody>
        </p:sp>
        <p:sp>
          <p:nvSpPr>
            <p:cNvPr id="38922" name="Line 26"/>
            <p:cNvSpPr>
              <a:spLocks noChangeShapeType="1"/>
            </p:cNvSpPr>
            <p:nvPr/>
          </p:nvSpPr>
          <p:spPr bwMode="auto">
            <a:xfrm flipV="1">
              <a:off x="4401" y="1377"/>
              <a:ext cx="0" cy="360"/>
            </a:xfrm>
            <a:prstGeom prst="line">
              <a:avLst/>
            </a:prstGeom>
            <a:noFill/>
            <a:ln w="12700">
              <a:solidFill>
                <a:srgbClr val="000000"/>
              </a:solidFill>
              <a:round/>
              <a:headEnd type="triangle" w="sm" len="med"/>
              <a:tailEnd/>
            </a:ln>
          </p:spPr>
          <p:txBody>
            <a:bodyPr/>
            <a:lstStyle/>
            <a:p>
              <a:endParaRPr lang="bg-BG"/>
            </a:p>
          </p:txBody>
        </p:sp>
        <p:sp>
          <p:nvSpPr>
            <p:cNvPr id="38923" name="Line 27"/>
            <p:cNvSpPr>
              <a:spLocks noChangeShapeType="1"/>
            </p:cNvSpPr>
            <p:nvPr/>
          </p:nvSpPr>
          <p:spPr bwMode="auto">
            <a:xfrm>
              <a:off x="4401" y="1377"/>
              <a:ext cx="720" cy="0"/>
            </a:xfrm>
            <a:prstGeom prst="line">
              <a:avLst/>
            </a:prstGeom>
            <a:noFill/>
            <a:ln w="12700">
              <a:solidFill>
                <a:srgbClr val="000000"/>
              </a:solidFill>
              <a:round/>
              <a:headEnd/>
              <a:tailEnd type="none" w="sm" len="med"/>
            </a:ln>
          </p:spPr>
          <p:txBody>
            <a:bodyPr/>
            <a:lstStyle/>
            <a:p>
              <a:endParaRPr lang="bg-BG"/>
            </a:p>
          </p:txBody>
        </p:sp>
      </p:grpSp>
      <p:sp>
        <p:nvSpPr>
          <p:cNvPr id="38919" name="Text Box 28"/>
          <p:cNvSpPr txBox="1">
            <a:spLocks noChangeArrowheads="1"/>
          </p:cNvSpPr>
          <p:nvPr/>
        </p:nvSpPr>
        <p:spPr bwMode="auto">
          <a:xfrm>
            <a:off x="6858000" y="5715000"/>
            <a:ext cx="990600" cy="396875"/>
          </a:xfrm>
          <a:prstGeom prst="rect">
            <a:avLst/>
          </a:prstGeom>
          <a:noFill/>
          <a:ln w="9525">
            <a:noFill/>
            <a:miter lim="800000"/>
            <a:headEnd/>
            <a:tailEnd/>
          </a:ln>
        </p:spPr>
        <p:txBody>
          <a:bodyPr>
            <a:spAutoFit/>
          </a:bodyPr>
          <a:lstStyle/>
          <a:p>
            <a:pPr>
              <a:spcBef>
                <a:spcPct val="50000"/>
              </a:spcBef>
            </a:pPr>
            <a:r>
              <a:rPr lang="en-US" sz="2000"/>
              <a:t>NULL</a:t>
            </a:r>
            <a:endParaRPr lang="en-US"/>
          </a:p>
        </p:txBody>
      </p:sp>
      <p:sp>
        <p:nvSpPr>
          <p:cNvPr id="25" name="Slide Number Placeholder 24"/>
          <p:cNvSpPr>
            <a:spLocks noGrp="1"/>
          </p:cNvSpPr>
          <p:nvPr>
            <p:ph type="sldNum" sz="quarter" idx="12"/>
          </p:nvPr>
        </p:nvSpPr>
        <p:spPr/>
        <p:txBody>
          <a:bodyPr/>
          <a:lstStyle/>
          <a:p>
            <a:pPr>
              <a:defRPr/>
            </a:pPr>
            <a:fld id="{7C669B54-0615-427B-A978-596DF73C2122}" type="slidenum">
              <a:rPr lang="en-US" smtClean="0"/>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title"/>
          </p:nvPr>
        </p:nvSpPr>
        <p:spPr>
          <a:xfrm>
            <a:off x="1116013" y="404813"/>
            <a:ext cx="7772400" cy="5791200"/>
          </a:xfrm>
        </p:spPr>
        <p:txBody>
          <a:bodyPr>
            <a:normAutofit fontScale="90000"/>
          </a:bodyPr>
          <a:lstStyle/>
          <a:p>
            <a:pPr eaLnBrk="1" fontAlgn="auto" hangingPunct="1">
              <a:spcAft>
                <a:spcPts val="0"/>
              </a:spcAft>
              <a:defRPr/>
            </a:pP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Опашката подобно на стека може да има както динамична, така и статична реализация</a:t>
            </a:r>
            <a:r>
              <a:rPr lang="bg-BG">
                <a:solidFill>
                  <a:schemeClr val="tx2">
                    <a:satMod val="130000"/>
                  </a:schemeClr>
                </a:solidFill>
              </a:rPr>
              <a:t>.</a:t>
            </a:r>
            <a:r>
              <a:rPr lang="en-US">
                <a:solidFill>
                  <a:schemeClr val="tx2">
                    <a:satMod val="130000"/>
                  </a:schemeClr>
                </a:solidFill>
              </a:rPr>
              <a:t/>
            </a:r>
            <a:br>
              <a:rPr lang="en-US">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sz="3200">
                <a:solidFill>
                  <a:schemeClr val="tx1"/>
                </a:solidFill>
              </a:rPr>
              <a:t>Примерна дефиниция на структурата опашка (динамична реализация):</a:t>
            </a:r>
            <a:br>
              <a:rPr lang="bg-BG" sz="3200">
                <a:solidFill>
                  <a:schemeClr val="tx1"/>
                </a:solidFill>
              </a:rPr>
            </a:br>
            <a:r>
              <a:rPr lang="bg-BG" sz="3200">
                <a:solidFill>
                  <a:schemeClr val="tx1"/>
                </a:solidFill>
              </a:rPr>
              <a:t/>
            </a:r>
            <a:br>
              <a:rPr lang="bg-BG" sz="3200">
                <a:solidFill>
                  <a:schemeClr val="tx1"/>
                </a:solidFill>
              </a:rPr>
            </a:br>
            <a:r>
              <a:rPr lang="bg-BG" sz="3200">
                <a:solidFill>
                  <a:schemeClr val="tx1"/>
                </a:solidFill>
                <a:latin typeface="Courier New" pitchFamily="49" charset="0"/>
              </a:rPr>
              <a:t>struct elem   </a:t>
            </a:r>
            <a:br>
              <a:rPr lang="bg-BG" sz="3200">
                <a:solidFill>
                  <a:schemeClr val="tx1"/>
                </a:solidFill>
                <a:latin typeface="Courier New" pitchFamily="49" charset="0"/>
              </a:rPr>
            </a:br>
            <a:r>
              <a:rPr lang="bg-BG" sz="3200">
                <a:solidFill>
                  <a:schemeClr val="tx1"/>
                </a:solidFill>
                <a:latin typeface="Courier New" pitchFamily="49" charset="0"/>
              </a:rPr>
              <a:t>{ int key; elem *next;} </a:t>
            </a:r>
            <a:br>
              <a:rPr lang="bg-BG" sz="3200">
                <a:solidFill>
                  <a:schemeClr val="tx1"/>
                </a:solidFill>
                <a:latin typeface="Courier New" pitchFamily="49" charset="0"/>
              </a:rPr>
            </a:br>
            <a:r>
              <a:rPr lang="bg-BG" sz="3200">
                <a:solidFill>
                  <a:schemeClr val="tx1"/>
                </a:solidFill>
                <a:latin typeface="Courier New" pitchFamily="49" charset="0"/>
              </a:rPr>
              <a:t>   *first, *last</a:t>
            </a:r>
            <a:r>
              <a:rPr lang="en-AU" sz="3200">
                <a:solidFill>
                  <a:schemeClr val="tx1"/>
                </a:solidFill>
                <a:latin typeface="Courier New" pitchFamily="49" charset="0"/>
              </a:rPr>
              <a:t>;</a:t>
            </a:r>
            <a:r>
              <a:rPr lang="bg-BG" sz="3200">
                <a:solidFill>
                  <a:schemeClr val="tx1"/>
                </a:solidFill>
                <a:latin typeface="Courier New" pitchFamily="49" charset="0"/>
              </a:rPr>
              <a:t/>
            </a:r>
            <a:br>
              <a:rPr lang="bg-BG" sz="3200">
                <a:solidFill>
                  <a:schemeClr val="tx1"/>
                </a:solidFill>
                <a:latin typeface="Courier New" pitchFamily="49" charset="0"/>
              </a:rPr>
            </a:br>
            <a:r>
              <a:rPr lang="bg-BG">
                <a:solidFill>
                  <a:schemeClr val="tx2">
                    <a:satMod val="130000"/>
                  </a:schemeClr>
                </a:solidFill>
              </a:rPr>
              <a:t/>
            </a:r>
            <a:br>
              <a:rPr lang="bg-BG">
                <a:solidFill>
                  <a:schemeClr val="tx2">
                    <a:satMod val="130000"/>
                  </a:schemeClr>
                </a:solidFill>
              </a:rPr>
            </a:br>
            <a:endParaRPr lang="en-US">
              <a:solidFill>
                <a:schemeClr val="tx2">
                  <a:satMod val="130000"/>
                </a:schemeClr>
              </a:solidFill>
            </a:endParaRPr>
          </a:p>
        </p:txBody>
      </p:sp>
      <p:sp>
        <p:nvSpPr>
          <p:cNvPr id="3" name="Slide Number Placeholder 2"/>
          <p:cNvSpPr>
            <a:spLocks noGrp="1"/>
          </p:cNvSpPr>
          <p:nvPr>
            <p:ph type="sldNum" sz="quarter" idx="12"/>
          </p:nvPr>
        </p:nvSpPr>
        <p:spPr/>
        <p:txBody>
          <a:bodyPr/>
          <a:lstStyle/>
          <a:p>
            <a:pPr>
              <a:defRPr/>
            </a:pPr>
            <a:fld id="{747D387B-11A3-4EB8-BC64-41E2A25D5CBC}" type="slidenum">
              <a:rPr lang="en-US" smtClean="0"/>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042988" y="449263"/>
            <a:ext cx="7847012" cy="6408737"/>
          </a:xfrm>
        </p:spPr>
        <p:txBody>
          <a:bodyPr>
            <a:normAutofit fontScale="90000"/>
          </a:bodyPr>
          <a:lstStyle/>
          <a:p>
            <a:pPr eaLnBrk="1" fontAlgn="auto" hangingPunct="1">
              <a:lnSpc>
                <a:spcPct val="150000"/>
              </a:lnSpc>
              <a:spcAft>
                <a:spcPts val="0"/>
              </a:spcAft>
              <a:defRPr/>
            </a:pPr>
            <a:r>
              <a:rPr lang="bg-BG" sz="2400">
                <a:solidFill>
                  <a:schemeClr val="tx2">
                    <a:satMod val="130000"/>
                  </a:schemeClr>
                </a:solidFill>
                <a:latin typeface="Courier New" pitchFamily="49" charset="0"/>
              </a:rPr>
              <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r>
            <a:br>
              <a:rPr lang="bg-BG" sz="2400">
                <a:solidFill>
                  <a:schemeClr val="tx2">
                    <a:satMod val="130000"/>
                  </a:schemeClr>
                </a:solidFill>
                <a:latin typeface="Courier New" pitchFamily="49" charset="0"/>
              </a:rPr>
            </a:br>
            <a:r>
              <a:rPr lang="bg-BG" sz="2400" smtClean="0">
                <a:solidFill>
                  <a:schemeClr val="tx2">
                    <a:satMod val="130000"/>
                  </a:schemeClr>
                </a:solidFill>
                <a:latin typeface="Courier New" pitchFamily="49" charset="0"/>
              </a:rPr>
              <a:t>void </a:t>
            </a:r>
            <a:r>
              <a:rPr lang="bg-BG" sz="2400">
                <a:solidFill>
                  <a:schemeClr val="tx2">
                    <a:satMod val="130000"/>
                  </a:schemeClr>
                </a:solidFill>
                <a:latin typeface="Courier New" pitchFamily="49" charset="0"/>
              </a:rPr>
              <a:t>push(int n)		</a:t>
            </a:r>
            <a:r>
              <a:rPr lang="bg-BG" sz="2400" smtClean="0">
                <a:solidFill>
                  <a:schemeClr val="tx2">
                    <a:satMod val="130000"/>
                  </a:schemeClr>
                </a:solidFill>
                <a:latin typeface="Courier New" pitchFamily="49" charset="0"/>
              </a:rPr>
              <a:t>//</a:t>
            </a:r>
            <a:r>
              <a:rPr lang="en-US" sz="2400" smtClean="0">
                <a:solidFill>
                  <a:schemeClr val="tx2">
                    <a:satMod val="130000"/>
                  </a:schemeClr>
                </a:solidFill>
                <a:latin typeface="Courier New" pitchFamily="49" charset="0"/>
              </a:rPr>
              <a:t> </a:t>
            </a:r>
            <a:r>
              <a:rPr lang="bg-BG" sz="2400" smtClean="0">
                <a:solidFill>
                  <a:schemeClr val="tx2">
                    <a:satMod val="130000"/>
                  </a:schemeClr>
                </a:solidFill>
                <a:latin typeface="Courier New" pitchFamily="49" charset="0"/>
              </a:rPr>
              <a:t>добавяне </a:t>
            </a:r>
            <a:r>
              <a:rPr lang="bg-BG" sz="2400">
                <a:solidFill>
                  <a:schemeClr val="tx2">
                    <a:satMod val="130000"/>
                  </a:schemeClr>
                </a:solidFill>
                <a:latin typeface="Courier New" pitchFamily="49" charset="0"/>
              </a:rPr>
              <a:t>на елемент</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r>
              <a:rPr lang="en-US" sz="2400">
                <a:solidFill>
                  <a:schemeClr val="tx2">
                    <a:satMod val="130000"/>
                  </a:schemeClr>
                </a:solidFill>
                <a:latin typeface="Courier New" pitchFamily="49" charset="0"/>
              </a:rPr>
              <a:t>elem *</a:t>
            </a:r>
            <a:r>
              <a:rPr lang="bg-BG" sz="2400">
                <a:solidFill>
                  <a:schemeClr val="tx2">
                    <a:satMod val="130000"/>
                  </a:schemeClr>
                </a:solidFill>
                <a:latin typeface="Courier New" pitchFamily="49" charset="0"/>
              </a:rPr>
              <a:t>p=last;</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last=new elem;</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last-&gt;key=n;</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last-&gt;next=NULL;</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if(p!=NULL) p-&gt;next=last;</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if (first==NULL)	 </a:t>
            </a:r>
            <a:r>
              <a:rPr lang="bg-BG" sz="2400" smtClean="0">
                <a:solidFill>
                  <a:schemeClr val="tx2">
                    <a:satMod val="130000"/>
                  </a:schemeClr>
                </a:solidFill>
                <a:latin typeface="Courier New" pitchFamily="49" charset="0"/>
              </a:rPr>
              <a:t>//</a:t>
            </a:r>
            <a:r>
              <a:rPr lang="en-US" sz="2400" smtClean="0">
                <a:solidFill>
                  <a:schemeClr val="tx2">
                    <a:satMod val="130000"/>
                  </a:schemeClr>
                </a:solidFill>
                <a:latin typeface="Courier New" pitchFamily="49" charset="0"/>
              </a:rPr>
              <a:t> </a:t>
            </a:r>
            <a:r>
              <a:rPr lang="bg-BG" sz="2400" smtClean="0">
                <a:solidFill>
                  <a:schemeClr val="tx2">
                    <a:satMod val="130000"/>
                  </a:schemeClr>
                </a:solidFill>
                <a:latin typeface="Courier New" pitchFamily="49" charset="0"/>
              </a:rPr>
              <a:t>добавяне </a:t>
            </a:r>
            <a:r>
              <a:rPr lang="bg-BG" sz="2400">
                <a:solidFill>
                  <a:schemeClr val="tx2">
                    <a:satMod val="130000"/>
                  </a:schemeClr>
                </a:solidFill>
                <a:latin typeface="Courier New" pitchFamily="49" charset="0"/>
              </a:rPr>
              <a:t>на </a:t>
            </a:r>
            <a:r>
              <a:rPr lang="bg-BG" sz="2400" smtClean="0">
                <a:solidFill>
                  <a:schemeClr val="tx2">
                    <a:satMod val="130000"/>
                  </a:schemeClr>
                </a:solidFill>
                <a:latin typeface="Courier New" pitchFamily="49" charset="0"/>
              </a:rPr>
              <a:t>първ</a:t>
            </a:r>
            <a:r>
              <a:rPr lang="en-US" sz="2400" smtClean="0">
                <a:solidFill>
                  <a:schemeClr val="tx2">
                    <a:satMod val="130000"/>
                  </a:schemeClr>
                </a:solidFill>
                <a:latin typeface="Courier New" pitchFamily="49" charset="0"/>
              </a:rPr>
              <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				 // </a:t>
            </a:r>
            <a:r>
              <a:rPr lang="bg-BG" sz="2400" smtClean="0">
                <a:solidFill>
                  <a:schemeClr val="tx2">
                    <a:satMod val="130000"/>
                  </a:schemeClr>
                </a:solidFill>
                <a:latin typeface="Courier New" pitchFamily="49" charset="0"/>
              </a:rPr>
              <a:t>елемент</a:t>
            </a:r>
            <a:r>
              <a:rPr lang="bg-BG" sz="2400">
                <a:solidFill>
                  <a:schemeClr val="tx2">
                    <a:satMod val="130000"/>
                  </a:schemeClr>
                </a:solidFill>
                <a:latin typeface="Courier New" pitchFamily="49" charset="0"/>
              </a:rPr>
              <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{first=last;}</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a:t>
            </a:r>
            <a:r>
              <a:rPr lang="en-US">
                <a:solidFill>
                  <a:schemeClr val="tx2">
                    <a:satMod val="130000"/>
                  </a:schemeClr>
                </a:solidFill>
                <a:latin typeface="Courier New" pitchFamily="49" charset="0"/>
              </a:rPr>
              <a:t/>
            </a:r>
            <a:br>
              <a:rPr lang="en-US">
                <a:solidFill>
                  <a:schemeClr val="tx2">
                    <a:satMod val="130000"/>
                  </a:schemeClr>
                </a:solidFill>
                <a:latin typeface="Courier New" pitchFamily="49" charset="0"/>
              </a:rPr>
            </a:br>
            <a:endParaRPr lang="en-US">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30764309-1E53-414B-9F3D-5424ECE855A7}" type="slidenum">
              <a:rPr lang="en-US" smtClean="0"/>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042988" y="549275"/>
            <a:ext cx="7931150" cy="5715000"/>
          </a:xfrm>
        </p:spPr>
        <p:txBody>
          <a:bodyPr>
            <a:normAutofit fontScale="90000"/>
          </a:bodyPr>
          <a:lstStyle/>
          <a:p>
            <a:pPr eaLnBrk="1" fontAlgn="auto" hangingPunct="1">
              <a:spcAft>
                <a:spcPts val="0"/>
              </a:spcAft>
              <a:defRPr/>
            </a:pPr>
            <a:r>
              <a:rPr lang="bg-BG" sz="2400">
                <a:solidFill>
                  <a:schemeClr val="tx2">
                    <a:satMod val="130000"/>
                  </a:schemeClr>
                </a:solidFill>
                <a:latin typeface="Courier New" pitchFamily="49" charset="0"/>
              </a:rPr>
              <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int pop(int &amp;n)		</a:t>
            </a:r>
            <a:r>
              <a:rPr lang="bg-BG" sz="2400" smtClean="0">
                <a:solidFill>
                  <a:schemeClr val="tx2">
                    <a:satMod val="130000"/>
                  </a:schemeClr>
                </a:solidFill>
                <a:latin typeface="Courier New" pitchFamily="49" charset="0"/>
              </a:rPr>
              <a:t>//</a:t>
            </a:r>
            <a:r>
              <a:rPr lang="en-US" sz="2400" smtClean="0">
                <a:solidFill>
                  <a:schemeClr val="tx2">
                    <a:satMod val="130000"/>
                  </a:schemeClr>
                </a:solidFill>
                <a:latin typeface="Courier New" pitchFamily="49" charset="0"/>
              </a:rPr>
              <a:t> </a:t>
            </a:r>
            <a:r>
              <a:rPr lang="bg-BG" sz="2400" smtClean="0">
                <a:solidFill>
                  <a:schemeClr val="tx2">
                    <a:satMod val="130000"/>
                  </a:schemeClr>
                </a:solidFill>
                <a:latin typeface="Courier New" pitchFamily="49" charset="0"/>
              </a:rPr>
              <a:t>извличане </a:t>
            </a:r>
            <a:r>
              <a:rPr lang="bg-BG" sz="2400">
                <a:solidFill>
                  <a:schemeClr val="tx2">
                    <a:satMod val="130000"/>
                  </a:schemeClr>
                </a:solidFill>
                <a:latin typeface="Courier New" pitchFamily="49" charset="0"/>
              </a:rPr>
              <a:t>на елемент</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if (first)		</a:t>
            </a:r>
            <a:r>
              <a:rPr lang="bg-BG" sz="2400" smtClean="0">
                <a:solidFill>
                  <a:schemeClr val="tx2">
                    <a:satMod val="130000"/>
                  </a:schemeClr>
                </a:solidFill>
                <a:latin typeface="Courier New" pitchFamily="49" charset="0"/>
              </a:rPr>
              <a:t>//</a:t>
            </a:r>
            <a:r>
              <a:rPr lang="en-US" sz="2400" smtClean="0">
                <a:solidFill>
                  <a:schemeClr val="tx2">
                    <a:satMod val="130000"/>
                  </a:schemeClr>
                </a:solidFill>
                <a:latin typeface="Courier New" pitchFamily="49" charset="0"/>
              </a:rPr>
              <a:t> </a:t>
            </a:r>
            <a:r>
              <a:rPr lang="bg-BG" sz="2400" smtClean="0">
                <a:solidFill>
                  <a:schemeClr val="tx2">
                    <a:satMod val="130000"/>
                  </a:schemeClr>
                </a:solidFill>
                <a:latin typeface="Courier New" pitchFamily="49" charset="0"/>
              </a:rPr>
              <a:t>проверка </a:t>
            </a:r>
            <a:r>
              <a:rPr lang="bg-BG" sz="2400">
                <a:solidFill>
                  <a:schemeClr val="tx2">
                    <a:satMod val="130000"/>
                  </a:schemeClr>
                </a:solidFill>
                <a:latin typeface="Courier New" pitchFamily="49" charset="0"/>
              </a:rPr>
              <a:t>за непразна				</a:t>
            </a:r>
            <a:r>
              <a:rPr lang="en-US" sz="2400" smtClean="0">
                <a:solidFill>
                  <a:schemeClr val="tx2">
                    <a:satMod val="130000"/>
                  </a:schemeClr>
                </a:solidFill>
                <a:latin typeface="Courier New" pitchFamily="49" charset="0"/>
              </a:rPr>
              <a:t>// </a:t>
            </a:r>
            <a:r>
              <a:rPr lang="bg-BG" sz="2400" smtClean="0">
                <a:solidFill>
                  <a:schemeClr val="tx2">
                    <a:satMod val="130000"/>
                  </a:schemeClr>
                </a:solidFill>
                <a:latin typeface="Courier New" pitchFamily="49" charset="0"/>
              </a:rPr>
              <a:t>опашка</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n=first-&gt;key;</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r>
              <a:rPr lang="en-US" sz="2400">
                <a:solidFill>
                  <a:schemeClr val="tx2">
                    <a:satMod val="130000"/>
                  </a:schemeClr>
                </a:solidFill>
                <a:latin typeface="Courier New" pitchFamily="49" charset="0"/>
              </a:rPr>
              <a:t>elem *</a:t>
            </a:r>
            <a:r>
              <a:rPr lang="bg-BG" sz="2400">
                <a:solidFill>
                  <a:schemeClr val="tx2">
                    <a:satMod val="130000"/>
                  </a:schemeClr>
                </a:solidFill>
                <a:latin typeface="Courier New" pitchFamily="49" charset="0"/>
              </a:rPr>
              <a:t>p=first;</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first=first-&gt;next;</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delete p;		</a:t>
            </a:r>
            <a:r>
              <a:rPr lang="bg-BG" sz="2400" smtClean="0">
                <a:solidFill>
                  <a:schemeClr val="tx2">
                    <a:satMod val="130000"/>
                  </a:schemeClr>
                </a:solidFill>
                <a:latin typeface="Courier New" pitchFamily="49" charset="0"/>
              </a:rPr>
              <a:t>//премахване </a:t>
            </a:r>
            <a:r>
              <a:rPr lang="bg-BG" sz="2400">
                <a:solidFill>
                  <a:schemeClr val="tx2">
                    <a:satMod val="130000"/>
                  </a:schemeClr>
                </a:solidFill>
                <a:latin typeface="Courier New" pitchFamily="49" charset="0"/>
              </a:rPr>
              <a:t>на елемента</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return 1;</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else</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return 0;		//опашката е празна</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endParaRPr lang="en-US">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FB273CF1-015E-4662-A09C-F5EEC398A444}" type="slidenum">
              <a:rPr lang="en-US" smtClean="0"/>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116013" y="620713"/>
            <a:ext cx="7848600" cy="5943600"/>
          </a:xfrm>
        </p:spPr>
        <p:txBody>
          <a:bodyPr>
            <a:normAutofit fontScale="90000"/>
          </a:bodyPr>
          <a:lstStyle/>
          <a:p>
            <a:pPr eaLnBrk="1" fontAlgn="auto" hangingPunct="1">
              <a:spcAft>
                <a:spcPts val="0"/>
              </a:spcAft>
              <a:defRPr/>
            </a:pPr>
            <a:r>
              <a:rPr lang="bg-BG" sz="2800" dirty="0">
                <a:solidFill>
                  <a:schemeClr val="tx1"/>
                </a:solidFill>
              </a:rPr>
              <a:t>      </a:t>
            </a:r>
            <a:br>
              <a:rPr lang="bg-BG" sz="2800" dirty="0">
                <a:solidFill>
                  <a:schemeClr val="tx1"/>
                </a:solidFill>
              </a:rPr>
            </a:br>
            <a:r>
              <a:rPr lang="bg-BG" sz="2800" dirty="0">
                <a:solidFill>
                  <a:schemeClr val="tx1"/>
                </a:solidFill>
              </a:rPr>
              <a:t/>
            </a:r>
            <a:br>
              <a:rPr lang="bg-BG" sz="2800" dirty="0">
                <a:solidFill>
                  <a:schemeClr val="tx1"/>
                </a:solidFill>
              </a:rPr>
            </a:br>
            <a:r>
              <a:rPr lang="bg-BG" sz="2800" dirty="0">
                <a:solidFill>
                  <a:schemeClr val="tx1"/>
                </a:solidFill>
              </a:rPr>
              <a:t/>
            </a:r>
            <a:br>
              <a:rPr lang="bg-BG" sz="2800" dirty="0">
                <a:solidFill>
                  <a:schemeClr val="tx1"/>
                </a:solidFill>
              </a:rPr>
            </a:br>
            <a:r>
              <a:rPr lang="bg-BG" sz="2800" dirty="0">
                <a:solidFill>
                  <a:schemeClr val="tx1"/>
                </a:solidFill>
              </a:rPr>
              <a:t> 	Динамична реализация на опашка, в която се съхраняват цели числа, задавани от потребителя:</a:t>
            </a:r>
            <a:br>
              <a:rPr lang="bg-BG" sz="2800" dirty="0">
                <a:solidFill>
                  <a:schemeClr val="tx1"/>
                </a:solidFill>
              </a:rPr>
            </a:br>
            <a:r>
              <a:rPr lang="bg-BG" sz="2800" dirty="0">
                <a:solidFill>
                  <a:schemeClr val="tx1"/>
                </a:solidFill>
              </a:rPr>
              <a:t/>
            </a:r>
            <a:br>
              <a:rPr lang="bg-BG" sz="2800" dirty="0">
                <a:solidFill>
                  <a:schemeClr val="tx1"/>
                </a:solidFill>
              </a:rPr>
            </a:b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include</a:t>
            </a:r>
            <a:r>
              <a:rPr lang="bg-BG" sz="2000" dirty="0">
                <a:solidFill>
                  <a:schemeClr val="tx2">
                    <a:satMod val="130000"/>
                  </a:schemeClr>
                </a:solidFill>
                <a:latin typeface="Courier New" pitchFamily="49" charset="0"/>
              </a:rPr>
              <a:t> &lt;</a:t>
            </a:r>
            <a:r>
              <a:rPr lang="bg-BG" sz="2000" dirty="0" err="1" smtClean="0">
                <a:solidFill>
                  <a:schemeClr val="tx2">
                    <a:satMod val="130000"/>
                  </a:schemeClr>
                </a:solidFill>
                <a:latin typeface="Courier New" pitchFamily="49" charset="0"/>
              </a:rPr>
              <a:t>iostream</a:t>
            </a:r>
            <a:r>
              <a:rPr lang="bg-BG" sz="2000" dirty="0" smtClean="0">
                <a:solidFill>
                  <a:schemeClr val="tx2">
                    <a:satMod val="130000"/>
                  </a:schemeClr>
                </a:solidFill>
                <a:latin typeface="Courier New" pitchFamily="49" charset="0"/>
              </a:rPr>
              <a:t>&gt;</a:t>
            </a:r>
            <a:r>
              <a:rPr lang="en-US" sz="2000" dirty="0" smtClean="0">
                <a:solidFill>
                  <a:schemeClr val="tx2">
                    <a:satMod val="130000"/>
                  </a:schemeClr>
                </a:solidFill>
                <a:latin typeface="Courier New" pitchFamily="49" charset="0"/>
              </a:rPr>
              <a:t/>
            </a:r>
            <a:br>
              <a:rPr lang="en-US" sz="2000" dirty="0" smtClean="0">
                <a:solidFill>
                  <a:schemeClr val="tx2">
                    <a:satMod val="130000"/>
                  </a:schemeClr>
                </a:solidFill>
                <a:latin typeface="Courier New" pitchFamily="49" charset="0"/>
              </a:rPr>
            </a:br>
            <a:r>
              <a:rPr lang="en-US" sz="2000" dirty="0" smtClean="0">
                <a:solidFill>
                  <a:schemeClr val="tx2">
                    <a:satMod val="130000"/>
                  </a:schemeClr>
                </a:solidFill>
                <a:latin typeface="Courier New" pitchFamily="49" charset="0"/>
              </a:rPr>
              <a:t>using namespace std;</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void</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push</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n);   //</a:t>
            </a:r>
            <a:r>
              <a:rPr lang="bg-BG" sz="2000" dirty="0" err="1">
                <a:solidFill>
                  <a:schemeClr val="tx2">
                    <a:satMod val="130000"/>
                  </a:schemeClr>
                </a:solidFill>
                <a:latin typeface="Courier New" pitchFamily="49" charset="0"/>
              </a:rPr>
              <a:t>prototype</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bg-BG" sz="2000" dirty="0" err="1" smtClean="0">
                <a:solidFill>
                  <a:schemeClr val="tx2">
                    <a:satMod val="130000"/>
                  </a:schemeClr>
                </a:solidFill>
                <a:latin typeface="Courier New" pitchFamily="49" charset="0"/>
              </a:rPr>
              <a:t>int</a:t>
            </a:r>
            <a:r>
              <a:rPr lang="bg-BG" sz="2000" dirty="0" smtClean="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pop</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&amp;n);  //</a:t>
            </a:r>
            <a:r>
              <a:rPr lang="bg-BG" sz="2000" dirty="0" err="1">
                <a:solidFill>
                  <a:schemeClr val="tx2">
                    <a:satMod val="130000"/>
                  </a:schemeClr>
                </a:solidFill>
                <a:latin typeface="Courier New" pitchFamily="49" charset="0"/>
              </a:rPr>
              <a:t>prototype</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struct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elem</a:t>
            </a:r>
            <a:r>
              <a:rPr lang="bg-BG" sz="2000" dirty="0">
                <a:solidFill>
                  <a:schemeClr val="tx2">
                    <a:satMod val="130000"/>
                  </a:schemeClr>
                </a:solidFill>
                <a:latin typeface="Courier New" pitchFamily="49" charset="0"/>
              </a:rPr>
              <a:t>	  //дефиниране и инициализация на </a:t>
            </a:r>
            <a:r>
              <a:rPr lang="bg-BG" sz="2000" dirty="0" smtClean="0">
                <a:solidFill>
                  <a:schemeClr val="tx2">
                    <a:satMod val="130000"/>
                  </a:schemeClr>
                </a:solidFill>
                <a:latin typeface="Courier New" pitchFamily="49" charset="0"/>
              </a:rPr>
              <a:t>опашка</a:t>
            </a:r>
            <a:r>
              <a:rPr lang="en-US" sz="2000" dirty="0" smtClean="0">
                <a:solidFill>
                  <a:schemeClr val="tx2">
                    <a:satMod val="130000"/>
                  </a:schemeClr>
                </a:solidFill>
                <a:latin typeface="Courier New" pitchFamily="49" charset="0"/>
              </a:rPr>
              <a:t/>
            </a:r>
            <a:br>
              <a:rPr lang="en-US" sz="2000" dirty="0" smtClean="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   </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key</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elem</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next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first</a:t>
            </a:r>
            <a:r>
              <a:rPr lang="bg-BG" sz="2000" dirty="0">
                <a:solidFill>
                  <a:schemeClr val="tx2">
                    <a:satMod val="130000"/>
                  </a:schemeClr>
                </a:solidFill>
                <a:latin typeface="Courier New" pitchFamily="49" charset="0"/>
              </a:rPr>
              <a:t>=NULL, *</a:t>
            </a:r>
            <a:r>
              <a:rPr lang="bg-BG" sz="2000" dirty="0" err="1">
                <a:solidFill>
                  <a:schemeClr val="tx2">
                    <a:satMod val="130000"/>
                  </a:schemeClr>
                </a:solidFill>
                <a:latin typeface="Courier New" pitchFamily="49" charset="0"/>
              </a:rPr>
              <a:t>last</a:t>
            </a:r>
            <a:r>
              <a:rPr lang="bg-BG" sz="2000" dirty="0">
                <a:solidFill>
                  <a:schemeClr val="tx2">
                    <a:satMod val="130000"/>
                  </a:schemeClr>
                </a:solidFill>
                <a:latin typeface="Courier New" pitchFamily="49" charset="0"/>
              </a:rPr>
              <a:t>=NULL;</a:t>
            </a:r>
            <a:br>
              <a:rPr lang="bg-BG" sz="2000" dirty="0">
                <a:solidFill>
                  <a:schemeClr val="tx2">
                    <a:satMod val="130000"/>
                  </a:schemeClr>
                </a:solidFill>
                <a:latin typeface="Courier New" pitchFamily="49" charset="0"/>
              </a:rPr>
            </a:br>
            <a:r>
              <a:rPr lang="bg-BG" sz="800" dirty="0">
                <a:solidFill>
                  <a:schemeClr val="tx2">
                    <a:satMod val="130000"/>
                  </a:schemeClr>
                </a:solidFill>
                <a:latin typeface="Courier New" pitchFamily="49" charset="0"/>
              </a:rPr>
              <a:t/>
            </a:r>
            <a:br>
              <a:rPr lang="bg-BG" sz="8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void</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main</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num</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&lt;&lt;"\n Въведете число:";      </a:t>
            </a:r>
            <a:r>
              <a:rPr lang="bg-BG" sz="2000" dirty="0" smtClean="0">
                <a:solidFill>
                  <a:schemeClr val="tx2">
                    <a:satMod val="130000"/>
                  </a:schemeClr>
                </a:solidFill>
                <a:latin typeface="Courier New" pitchFamily="49" charset="0"/>
              </a:rPr>
              <a:t>//  '/' </a:t>
            </a:r>
            <a:r>
              <a:rPr lang="bg-BG" sz="2000" dirty="0">
                <a:solidFill>
                  <a:schemeClr val="tx2">
                    <a:satMod val="130000"/>
                  </a:schemeClr>
                </a:solidFill>
                <a:latin typeface="Courier New" pitchFamily="49" charset="0"/>
              </a:rPr>
              <a:t>за край на 						</a:t>
            </a:r>
            <a:r>
              <a:rPr lang="bg-BG" sz="2000" dirty="0" smtClean="0">
                <a:solidFill>
                  <a:schemeClr val="tx2">
                    <a:satMod val="130000"/>
                  </a:schemeClr>
                </a:solidFill>
                <a:latin typeface="Courier New" pitchFamily="49" charset="0"/>
              </a:rPr>
              <a:t>въвеждане</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while</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cin</a:t>
            </a:r>
            <a:r>
              <a:rPr lang="bg-BG" sz="2000" dirty="0">
                <a:solidFill>
                  <a:schemeClr val="tx2">
                    <a:satMod val="130000"/>
                  </a:schemeClr>
                </a:solidFill>
                <a:latin typeface="Courier New" pitchFamily="49" charset="0"/>
              </a:rPr>
              <a:t>&gt;&gt;</a:t>
            </a:r>
            <a:r>
              <a:rPr lang="bg-BG" sz="2000" dirty="0" err="1">
                <a:solidFill>
                  <a:schemeClr val="tx2">
                    <a:satMod val="130000"/>
                  </a:schemeClr>
                </a:solidFill>
                <a:latin typeface="Courier New" pitchFamily="49" charset="0"/>
              </a:rPr>
              <a:t>num</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push</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num</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a:t>
            </a:r>
            <a:r>
              <a:rPr lang="bg-BG" sz="2000" dirty="0" err="1">
                <a:solidFill>
                  <a:schemeClr val="tx2">
                    <a:satMod val="130000"/>
                  </a:schemeClr>
                </a:solidFill>
                <a:latin typeface="Courier New" pitchFamily="49" charset="0"/>
              </a:rPr>
              <a:t>nБуферирани</a:t>
            </a:r>
            <a:r>
              <a:rPr lang="bg-BG" sz="2000" dirty="0">
                <a:solidFill>
                  <a:schemeClr val="tx2">
                    <a:satMod val="130000"/>
                  </a:schemeClr>
                </a:solidFill>
                <a:latin typeface="Courier New" pitchFamily="49" charset="0"/>
              </a:rPr>
              <a:t> данни:  ";</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while</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pop</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num</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a:t>
            </a:r>
            <a:r>
              <a:rPr lang="bg-BG" sz="2000" dirty="0" err="1">
                <a:solidFill>
                  <a:schemeClr val="tx2">
                    <a:satMod val="130000"/>
                  </a:schemeClr>
                </a:solidFill>
                <a:latin typeface="Courier New" pitchFamily="49" charset="0"/>
              </a:rPr>
              <a:t>num</a:t>
            </a:r>
            <a:r>
              <a:rPr lang="bg-BG" sz="2000" dirty="0">
                <a:solidFill>
                  <a:schemeClr val="tx2">
                    <a:satMod val="130000"/>
                  </a:schemeClr>
                </a:solidFill>
                <a:latin typeface="Courier New" pitchFamily="49" charset="0"/>
              </a:rPr>
              <a:t>&lt;&lt;"  ";}</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&lt;&lt;"\n";</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800" dirty="0">
                <a:solidFill>
                  <a:schemeClr val="tx1"/>
                </a:solidFill>
              </a:rPr>
              <a:t/>
            </a:r>
            <a:br>
              <a:rPr lang="bg-BG" sz="2800" dirty="0">
                <a:solidFill>
                  <a:schemeClr val="tx1"/>
                </a:solidFill>
              </a:rPr>
            </a:br>
            <a:r>
              <a:rPr lang="en-US" sz="2800" dirty="0">
                <a:solidFill>
                  <a:schemeClr val="tx1"/>
                </a:solidFill>
              </a:rPr>
              <a:t/>
            </a:r>
            <a:br>
              <a:rPr lang="en-US" sz="2800" dirty="0">
                <a:solidFill>
                  <a:schemeClr val="tx1"/>
                </a:solidFill>
              </a:rPr>
            </a:br>
            <a:endParaRPr lang="en-US" sz="2800" dirty="0">
              <a:solidFill>
                <a:schemeClr val="tx1"/>
              </a:solidFill>
            </a:endParaRPr>
          </a:p>
        </p:txBody>
      </p:sp>
      <p:sp>
        <p:nvSpPr>
          <p:cNvPr id="3" name="Slide Number Placeholder 2"/>
          <p:cNvSpPr>
            <a:spLocks noGrp="1"/>
          </p:cNvSpPr>
          <p:nvPr>
            <p:ph type="sldNum" sz="quarter" idx="12"/>
          </p:nvPr>
        </p:nvSpPr>
        <p:spPr/>
        <p:txBody>
          <a:bodyPr/>
          <a:lstStyle/>
          <a:p>
            <a:pPr>
              <a:defRPr/>
            </a:pPr>
            <a:fld id="{05561F21-D50E-4616-85E0-22CB58143FFF}" type="slidenum">
              <a:rPr lang="en-US" smtClean="0"/>
              <a:pPr>
                <a:defRPr/>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081088" y="620713"/>
            <a:ext cx="8062912" cy="5943600"/>
          </a:xfrm>
        </p:spPr>
        <p:txBody>
          <a:bodyPr>
            <a:normAutofit fontScale="90000"/>
          </a:bodyPr>
          <a:lstStyle/>
          <a:p>
            <a:pPr eaLnBrk="1" fontAlgn="auto" hangingPunct="1">
              <a:spcAft>
                <a:spcPts val="0"/>
              </a:spcAft>
              <a:defRPr/>
            </a:pPr>
            <a:r>
              <a:rPr lang="bg-BG" sz="3200" dirty="0">
                <a:solidFill>
                  <a:schemeClr val="tx1"/>
                </a:solidFill>
              </a:rPr>
              <a:t>Статична реализация на опашка чрез масив:</a:t>
            </a:r>
            <a:br>
              <a:rPr lang="bg-BG" sz="3200" dirty="0">
                <a:solidFill>
                  <a:schemeClr val="tx1"/>
                </a:solidFill>
              </a:rPr>
            </a:br>
            <a:r>
              <a:rPr lang="bg-BG" sz="2000" dirty="0" smtClean="0">
                <a:solidFill>
                  <a:schemeClr val="tx2">
                    <a:satMod val="130000"/>
                  </a:schemeClr>
                </a:solidFill>
                <a:latin typeface="Courier New" pitchFamily="49" charset="0"/>
              </a:rPr>
              <a:t>#</a:t>
            </a:r>
            <a:r>
              <a:rPr lang="bg-BG" sz="2000" dirty="0" err="1" smtClean="0">
                <a:solidFill>
                  <a:schemeClr val="tx2">
                    <a:satMod val="130000"/>
                  </a:schemeClr>
                </a:solidFill>
                <a:latin typeface="Courier New" pitchFamily="49" charset="0"/>
              </a:rPr>
              <a:t>include</a:t>
            </a:r>
            <a:r>
              <a:rPr lang="bg-BG" sz="2000" dirty="0" smtClean="0">
                <a:solidFill>
                  <a:schemeClr val="tx2">
                    <a:satMod val="130000"/>
                  </a:schemeClr>
                </a:solidFill>
                <a:latin typeface="Courier New" pitchFamily="49" charset="0"/>
              </a:rPr>
              <a:t> &lt;</a:t>
            </a:r>
            <a:r>
              <a:rPr lang="bg-BG" sz="2000" dirty="0" err="1" smtClean="0">
                <a:solidFill>
                  <a:schemeClr val="tx2">
                    <a:satMod val="130000"/>
                  </a:schemeClr>
                </a:solidFill>
                <a:latin typeface="Courier New" pitchFamily="49" charset="0"/>
              </a:rPr>
              <a:t>iostream</a:t>
            </a:r>
            <a:r>
              <a:rPr lang="bg-BG" sz="2000" dirty="0" smtClean="0">
                <a:solidFill>
                  <a:schemeClr val="tx2">
                    <a:satMod val="130000"/>
                  </a:schemeClr>
                </a:solidFill>
                <a:latin typeface="Courier New" pitchFamily="49" charset="0"/>
              </a:rPr>
              <a:t>&gt;</a:t>
            </a:r>
            <a:r>
              <a:rPr lang="en-US" sz="2000" dirty="0" smtClean="0">
                <a:solidFill>
                  <a:schemeClr val="tx2">
                    <a:satMod val="130000"/>
                  </a:schemeClr>
                </a:solidFill>
                <a:latin typeface="Courier New" pitchFamily="49" charset="0"/>
              </a:rPr>
              <a:t/>
            </a:r>
            <a:br>
              <a:rPr lang="en-US" sz="2000" dirty="0" smtClean="0">
                <a:solidFill>
                  <a:schemeClr val="tx2">
                    <a:satMod val="130000"/>
                  </a:schemeClr>
                </a:solidFill>
                <a:latin typeface="Courier New" pitchFamily="49" charset="0"/>
              </a:rPr>
            </a:br>
            <a:r>
              <a:rPr lang="en-US" sz="2000" dirty="0" smtClean="0">
                <a:solidFill>
                  <a:schemeClr val="tx2">
                    <a:satMod val="130000"/>
                  </a:schemeClr>
                </a:solidFill>
                <a:latin typeface="Courier New" pitchFamily="49" charset="0"/>
              </a:rPr>
              <a:t>using namespace std; </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void</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push</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n);   </a:t>
            </a:r>
            <a:r>
              <a:rPr lang="en-US" sz="2000" dirty="0" smtClean="0">
                <a:solidFill>
                  <a:schemeClr val="tx2">
                    <a:satMod val="130000"/>
                  </a:schemeClr>
                </a:solidFill>
                <a:latin typeface="Courier New" pitchFamily="49" charset="0"/>
              </a:rPr>
              <a:t>			</a:t>
            </a:r>
            <a:r>
              <a:rPr lang="bg-BG" sz="2000" dirty="0" smtClean="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prototype</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pop</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n);     </a:t>
            </a:r>
            <a:r>
              <a:rPr lang="en-US" sz="2000" dirty="0" smtClean="0">
                <a:solidFill>
                  <a:schemeClr val="tx2">
                    <a:satMod val="130000"/>
                  </a:schemeClr>
                </a:solidFill>
                <a:latin typeface="Courier New" pitchFamily="49" charset="0"/>
              </a:rPr>
              <a:t>			</a:t>
            </a:r>
            <a:r>
              <a:rPr lang="bg-BG" sz="2000" dirty="0" smtClean="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prototype</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const</a:t>
            </a:r>
            <a:r>
              <a:rPr lang="bg-BG" sz="2000" dirty="0">
                <a:solidFill>
                  <a:schemeClr val="tx2">
                    <a:satMod val="130000"/>
                  </a:schemeClr>
                </a:solidFill>
                <a:latin typeface="Courier New" pitchFamily="49" charset="0"/>
              </a:rPr>
              <a:t> </a:t>
            </a:r>
            <a:r>
              <a:rPr lang="en-US" sz="2000" dirty="0" err="1" smtClean="0">
                <a:solidFill>
                  <a:schemeClr val="tx2">
                    <a:satMod val="130000"/>
                  </a:schemeClr>
                </a:solidFill>
                <a:latin typeface="Courier New" pitchFamily="49" charset="0"/>
              </a:rPr>
              <a:t>int</a:t>
            </a:r>
            <a:r>
              <a:rPr lang="en-US"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q_size</a:t>
            </a:r>
            <a:r>
              <a:rPr lang="bg-BG" sz="2000" dirty="0" smtClean="0">
                <a:solidFill>
                  <a:schemeClr val="tx2">
                    <a:satMod val="130000"/>
                  </a:schemeClr>
                </a:solidFill>
                <a:latin typeface="Courier New" pitchFamily="49" charset="0"/>
              </a:rPr>
              <a:t>=10</a:t>
            </a:r>
            <a:r>
              <a:rPr lang="bg-BG" sz="2000" dirty="0">
                <a:solidFill>
                  <a:schemeClr val="tx2">
                    <a:satMod val="130000"/>
                  </a:schemeClr>
                </a:solidFill>
                <a:latin typeface="Courier New" pitchFamily="49" charset="0"/>
              </a:rPr>
              <a:t>;	  </a:t>
            </a:r>
            <a:r>
              <a:rPr lang="en-US" sz="2000" dirty="0" smtClean="0">
                <a:solidFill>
                  <a:schemeClr val="tx2">
                    <a:satMod val="130000"/>
                  </a:schemeClr>
                </a:solidFill>
                <a:latin typeface="Courier New" pitchFamily="49" charset="0"/>
              </a:rPr>
              <a:t>		</a:t>
            </a:r>
            <a:r>
              <a:rPr lang="bg-BG" sz="2000" dirty="0" smtClean="0">
                <a:solidFill>
                  <a:schemeClr val="tx2">
                    <a:satMod val="130000"/>
                  </a:schemeClr>
                </a:solidFill>
                <a:latin typeface="Courier New" pitchFamily="49" charset="0"/>
              </a:rPr>
              <a:t>//</a:t>
            </a:r>
            <a:r>
              <a:rPr lang="bg-BG" sz="2000" dirty="0">
                <a:solidFill>
                  <a:schemeClr val="tx2">
                    <a:satMod val="130000"/>
                  </a:schemeClr>
                </a:solidFill>
                <a:latin typeface="Courier New" pitchFamily="49" charset="0"/>
              </a:rPr>
              <a:t>размер на опашката</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que</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q_size</a:t>
            </a:r>
            <a:r>
              <a:rPr lang="bg-BG" sz="2000" dirty="0">
                <a:solidFill>
                  <a:schemeClr val="tx2">
                    <a:satMod val="130000"/>
                  </a:schemeClr>
                </a:solidFill>
                <a:latin typeface="Courier New" pitchFamily="49" charset="0"/>
              </a:rPr>
              <a:t>];	  </a:t>
            </a:r>
            <a:r>
              <a:rPr lang="en-US" sz="2000" dirty="0" smtClean="0">
                <a:solidFill>
                  <a:schemeClr val="tx2">
                    <a:satMod val="130000"/>
                  </a:schemeClr>
                </a:solidFill>
                <a:latin typeface="Courier New" pitchFamily="49" charset="0"/>
              </a:rPr>
              <a:t>		</a:t>
            </a:r>
            <a:r>
              <a:rPr lang="bg-BG" sz="2000" dirty="0" smtClean="0">
                <a:solidFill>
                  <a:schemeClr val="tx2">
                    <a:satMod val="130000"/>
                  </a:schemeClr>
                </a:solidFill>
                <a:latin typeface="Courier New" pitchFamily="49" charset="0"/>
              </a:rPr>
              <a:t>//</a:t>
            </a:r>
            <a:r>
              <a:rPr lang="bg-BG" sz="2000" dirty="0">
                <a:solidFill>
                  <a:schemeClr val="tx2">
                    <a:satMod val="130000"/>
                  </a:schemeClr>
                </a:solidFill>
                <a:latin typeface="Courier New" pitchFamily="49" charset="0"/>
              </a:rPr>
              <a:t>масив-опашка</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first</a:t>
            </a:r>
            <a:r>
              <a:rPr lang="bg-BG" sz="2000" dirty="0">
                <a:solidFill>
                  <a:schemeClr val="tx2">
                    <a:satMod val="130000"/>
                  </a:schemeClr>
                </a:solidFill>
                <a:latin typeface="Courier New" pitchFamily="49" charset="0"/>
              </a:rPr>
              <a:t>=0, </a:t>
            </a:r>
            <a:r>
              <a:rPr lang="bg-BG" sz="2000" dirty="0" err="1">
                <a:solidFill>
                  <a:schemeClr val="tx2">
                    <a:satMod val="130000"/>
                  </a:schemeClr>
                </a:solidFill>
                <a:latin typeface="Courier New" pitchFamily="49" charset="0"/>
              </a:rPr>
              <a:t>last</a:t>
            </a:r>
            <a:r>
              <a:rPr lang="bg-BG" sz="2000" dirty="0">
                <a:solidFill>
                  <a:schemeClr val="tx2">
                    <a:satMod val="130000"/>
                  </a:schemeClr>
                </a:solidFill>
                <a:latin typeface="Courier New" pitchFamily="49" charset="0"/>
              </a:rPr>
              <a:t>=0</a:t>
            </a:r>
            <a:r>
              <a:rPr lang="bg-BG" sz="2000" dirty="0" smtClean="0">
                <a:solidFill>
                  <a:schemeClr val="tx2">
                    <a:satMod val="130000"/>
                  </a:schemeClr>
                </a:solidFill>
                <a:latin typeface="Courier New" pitchFamily="49" charset="0"/>
              </a:rPr>
              <a:t>;</a:t>
            </a:r>
            <a:r>
              <a:rPr lang="en-US" sz="2000" dirty="0" smtClean="0">
                <a:solidFill>
                  <a:schemeClr val="tx2">
                    <a:satMod val="130000"/>
                  </a:schemeClr>
                </a:solidFill>
                <a:latin typeface="Courier New" pitchFamily="49" charset="0"/>
              </a:rPr>
              <a:t>   </a:t>
            </a:r>
            <a:r>
              <a:rPr lang="bg-BG" sz="2000" dirty="0" smtClean="0">
                <a:solidFill>
                  <a:schemeClr val="tx2">
                    <a:satMod val="130000"/>
                  </a:schemeClr>
                </a:solidFill>
                <a:latin typeface="Courier New" pitchFamily="49" charset="0"/>
              </a:rPr>
              <a:t>//</a:t>
            </a:r>
            <a:r>
              <a:rPr lang="bg-BG" sz="2000" dirty="0">
                <a:solidFill>
                  <a:schemeClr val="tx2">
                    <a:satMod val="130000"/>
                  </a:schemeClr>
                </a:solidFill>
                <a:latin typeface="Courier New" pitchFamily="49" charset="0"/>
              </a:rPr>
              <a:t>индекси на първия и </a:t>
            </a:r>
            <a:r>
              <a:rPr lang="bg-BG" sz="2000" dirty="0" err="1">
                <a:solidFill>
                  <a:schemeClr val="tx2">
                    <a:satMod val="130000"/>
                  </a:schemeClr>
                </a:solidFill>
                <a:latin typeface="Courier New" pitchFamily="49" charset="0"/>
              </a:rPr>
              <a:t>посл</a:t>
            </a:r>
            <a:r>
              <a:rPr lang="bg-BG" sz="2000" dirty="0">
                <a:solidFill>
                  <a:schemeClr val="tx2">
                    <a:satMod val="130000"/>
                  </a:schemeClr>
                </a:solidFill>
                <a:latin typeface="Courier New" pitchFamily="49" charset="0"/>
              </a:rPr>
              <a:t>.ел-ти</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void</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main</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num</a:t>
            </a:r>
            <a:r>
              <a:rPr lang="bg-BG" sz="2000" dirty="0">
                <a:solidFill>
                  <a:schemeClr val="tx2">
                    <a:satMod val="130000"/>
                  </a:schemeClr>
                </a:solidFill>
                <a:latin typeface="Courier New" pitchFamily="49" charset="0"/>
              </a:rPr>
              <a:t>;  </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&lt;&lt;"Въведете число:\n";</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while</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last</a:t>
            </a:r>
            <a:r>
              <a:rPr lang="bg-BG" sz="2000" dirty="0">
                <a:solidFill>
                  <a:schemeClr val="tx2">
                    <a:satMod val="130000"/>
                  </a:schemeClr>
                </a:solidFill>
                <a:latin typeface="Courier New" pitchFamily="49" charset="0"/>
              </a:rPr>
              <a:t>&lt;</a:t>
            </a:r>
            <a:r>
              <a:rPr lang="bg-BG" sz="2000" dirty="0" err="1">
                <a:solidFill>
                  <a:schemeClr val="tx2">
                    <a:satMod val="130000"/>
                  </a:schemeClr>
                </a:solidFill>
                <a:latin typeface="Courier New" pitchFamily="49" charset="0"/>
              </a:rPr>
              <a:t>q_size</a:t>
            </a:r>
            <a:r>
              <a:rPr lang="bg-BG" sz="2000" dirty="0">
                <a:solidFill>
                  <a:schemeClr val="tx2">
                    <a:satMod val="130000"/>
                  </a:schemeClr>
                </a:solidFill>
                <a:latin typeface="Courier New" pitchFamily="49" charset="0"/>
              </a:rPr>
              <a:t>)&amp;&amp;(</a:t>
            </a:r>
            <a:r>
              <a:rPr lang="bg-BG" sz="2000" dirty="0" err="1">
                <a:solidFill>
                  <a:schemeClr val="tx2">
                    <a:satMod val="130000"/>
                  </a:schemeClr>
                </a:solidFill>
                <a:latin typeface="Courier New" pitchFamily="49" charset="0"/>
              </a:rPr>
              <a:t>cin</a:t>
            </a:r>
            <a:r>
              <a:rPr lang="bg-BG" sz="2000" dirty="0">
                <a:solidFill>
                  <a:schemeClr val="tx2">
                    <a:satMod val="130000"/>
                  </a:schemeClr>
                </a:solidFill>
                <a:latin typeface="Courier New" pitchFamily="49" charset="0"/>
              </a:rPr>
              <a:t>&gt;&gt;</a:t>
            </a:r>
            <a:r>
              <a:rPr lang="bg-BG" sz="2000" dirty="0" err="1">
                <a:solidFill>
                  <a:schemeClr val="tx2">
                    <a:satMod val="130000"/>
                  </a:schemeClr>
                </a:solidFill>
                <a:latin typeface="Courier New" pitchFamily="49" charset="0"/>
              </a:rPr>
              <a:t>num</a:t>
            </a:r>
            <a:r>
              <a:rPr lang="bg-BG" sz="2000" dirty="0" smtClean="0">
                <a:solidFill>
                  <a:schemeClr val="tx2">
                    <a:satMod val="130000"/>
                  </a:schemeClr>
                </a:solidFill>
                <a:latin typeface="Courier New" pitchFamily="49" charset="0"/>
              </a:rPr>
              <a:t>))</a:t>
            </a:r>
            <a:r>
              <a:rPr lang="en-US" sz="2000" dirty="0" smtClean="0">
                <a:solidFill>
                  <a:schemeClr val="tx2">
                    <a:satMod val="130000"/>
                  </a:schemeClr>
                </a:solidFill>
                <a:latin typeface="Courier New" pitchFamily="49" charset="0"/>
              </a:rPr>
              <a:t> </a:t>
            </a:r>
            <a:r>
              <a:rPr lang="bg-BG" sz="2000" dirty="0" smtClean="0">
                <a:solidFill>
                  <a:schemeClr val="tx2">
                    <a:satMod val="130000"/>
                  </a:schemeClr>
                </a:solidFill>
                <a:latin typeface="Courier New" pitchFamily="49" charset="0"/>
              </a:rPr>
              <a:t>//</a:t>
            </a:r>
            <a:r>
              <a:rPr lang="bg-BG" sz="2000" dirty="0">
                <a:solidFill>
                  <a:schemeClr val="tx2">
                    <a:satMod val="130000"/>
                  </a:schemeClr>
                </a:solidFill>
                <a:latin typeface="Courier New" pitchFamily="49" charset="0"/>
              </a:rPr>
              <a:t>за край-</a:t>
            </a:r>
            <a:r>
              <a:rPr lang="en-US" sz="2000" dirty="0">
                <a:solidFill>
                  <a:schemeClr val="tx2">
                    <a:satMod val="130000"/>
                  </a:schemeClr>
                </a:solidFill>
                <a:latin typeface="Courier New" pitchFamily="49" charset="0"/>
              </a:rPr>
              <a:t/>
            </a:r>
            <a:br>
              <a:rPr lang="en-US"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push</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num</a:t>
            </a:r>
            <a:r>
              <a:rPr lang="bg-BG" sz="2000" dirty="0">
                <a:solidFill>
                  <a:schemeClr val="tx2">
                    <a:satMod val="130000"/>
                  </a:schemeClr>
                </a:solidFill>
                <a:latin typeface="Courier New" pitchFamily="49" charset="0"/>
              </a:rPr>
              <a:t>);} 			</a:t>
            </a:r>
            <a:r>
              <a:rPr lang="en-US" sz="2000" dirty="0" smtClean="0">
                <a:solidFill>
                  <a:schemeClr val="tx2">
                    <a:satMod val="130000"/>
                  </a:schemeClr>
                </a:solidFill>
                <a:latin typeface="Courier New" pitchFamily="49" charset="0"/>
              </a:rPr>
              <a:t>   //</a:t>
            </a:r>
            <a:r>
              <a:rPr lang="bg-BG" sz="2000" dirty="0" smtClean="0">
                <a:solidFill>
                  <a:schemeClr val="tx2">
                    <a:satMod val="130000"/>
                  </a:schemeClr>
                </a:solidFill>
                <a:latin typeface="Courier New" pitchFamily="49" charset="0"/>
              </a:rPr>
              <a:t>произволен символ</a:t>
            </a:r>
            <a:r>
              <a:rPr lang="en-US" sz="2000" dirty="0">
                <a:solidFill>
                  <a:schemeClr val="tx2">
                    <a:satMod val="130000"/>
                  </a:schemeClr>
                </a:solidFill>
                <a:latin typeface="Courier New" pitchFamily="49" charset="0"/>
              </a:rPr>
              <a:t/>
            </a:r>
            <a:br>
              <a:rPr lang="en-US"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a:t>
            </a:r>
            <a:r>
              <a:rPr lang="bg-BG" sz="2000" dirty="0" err="1">
                <a:solidFill>
                  <a:schemeClr val="tx2">
                    <a:satMod val="130000"/>
                  </a:schemeClr>
                </a:solidFill>
                <a:latin typeface="Courier New" pitchFamily="49" charset="0"/>
              </a:rPr>
              <a:t>nБуферирани</a:t>
            </a:r>
            <a:r>
              <a:rPr lang="bg-BG" sz="2000" dirty="0">
                <a:solidFill>
                  <a:schemeClr val="tx2">
                    <a:satMod val="130000"/>
                  </a:schemeClr>
                </a:solidFill>
                <a:latin typeface="Courier New" pitchFamily="49" charset="0"/>
              </a:rPr>
              <a:t> данни: ";</a:t>
            </a:r>
            <a:r>
              <a:rPr lang="en-US" sz="2000" dirty="0">
                <a:solidFill>
                  <a:schemeClr val="tx2">
                    <a:satMod val="130000"/>
                  </a:schemeClr>
                </a:solidFill>
                <a:latin typeface="Courier New" pitchFamily="49" charset="0"/>
              </a:rPr>
              <a:t/>
            </a:r>
            <a:br>
              <a:rPr lang="en-US"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while</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first</a:t>
            </a:r>
            <a:r>
              <a:rPr lang="bg-BG" sz="2000" dirty="0">
                <a:solidFill>
                  <a:schemeClr val="tx2">
                    <a:satMod val="130000"/>
                  </a:schemeClr>
                </a:solidFill>
                <a:latin typeface="Courier New" pitchFamily="49" charset="0"/>
              </a:rPr>
              <a:t>&lt;</a:t>
            </a:r>
            <a:r>
              <a:rPr lang="bg-BG" sz="2000" dirty="0" err="1">
                <a:solidFill>
                  <a:schemeClr val="tx2">
                    <a:satMod val="130000"/>
                  </a:schemeClr>
                </a:solidFill>
                <a:latin typeface="Courier New" pitchFamily="49" charset="0"/>
              </a:rPr>
              <a:t>last</a:t>
            </a:r>
            <a:r>
              <a:rPr lang="bg-BG" sz="2000" dirty="0">
                <a:solidFill>
                  <a:schemeClr val="tx2">
                    <a:satMod val="130000"/>
                  </a:schemeClr>
                </a:solidFill>
                <a:latin typeface="Courier New" pitchFamily="49" charset="0"/>
              </a:rPr>
              <a:t>)</a:t>
            </a:r>
            <a:r>
              <a:rPr lang="en-US" sz="2000" dirty="0">
                <a:solidFill>
                  <a:schemeClr val="tx2">
                    <a:satMod val="130000"/>
                  </a:schemeClr>
                </a:solidFill>
                <a:latin typeface="Courier New" pitchFamily="49" charset="0"/>
              </a:rPr>
              <a:t/>
            </a:r>
            <a:br>
              <a:rPr lang="en-US"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a:t>
            </a:r>
            <a:r>
              <a:rPr lang="bg-BG" sz="2000" dirty="0" err="1">
                <a:solidFill>
                  <a:schemeClr val="tx2">
                    <a:satMod val="130000"/>
                  </a:schemeClr>
                </a:solidFill>
                <a:latin typeface="Courier New" pitchFamily="49" charset="0"/>
              </a:rPr>
              <a:t>pop</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num</a:t>
            </a:r>
            <a:r>
              <a:rPr lang="bg-BG" sz="2000" dirty="0">
                <a:solidFill>
                  <a:schemeClr val="tx2">
                    <a:satMod val="130000"/>
                  </a:schemeClr>
                </a:solidFill>
                <a:latin typeface="Courier New" pitchFamily="49" charset="0"/>
              </a:rPr>
              <a:t>)&lt;&lt;"  ";}</a:t>
            </a:r>
            <a:r>
              <a:rPr lang="en-US" sz="2000" dirty="0">
                <a:solidFill>
                  <a:schemeClr val="tx2">
                    <a:satMod val="130000"/>
                  </a:schemeClr>
                </a:solidFill>
                <a:latin typeface="Courier New" pitchFamily="49" charset="0"/>
              </a:rPr>
              <a:t/>
            </a:r>
            <a:br>
              <a:rPr lang="en-US"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&lt;&lt;"\n";</a:t>
            </a:r>
            <a:r>
              <a:rPr lang="en-US" sz="2000" dirty="0">
                <a:solidFill>
                  <a:schemeClr val="tx2">
                    <a:satMod val="130000"/>
                  </a:schemeClr>
                </a:solidFill>
                <a:latin typeface="Courier New" pitchFamily="49" charset="0"/>
              </a:rPr>
              <a:t/>
            </a:r>
            <a:br>
              <a:rPr lang="en-US"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a:t>
            </a:r>
            <a:r>
              <a:rPr lang="en-US" sz="2000" dirty="0">
                <a:solidFill>
                  <a:schemeClr val="tx2">
                    <a:satMod val="130000"/>
                  </a:schemeClr>
                </a:solidFill>
                <a:latin typeface="Courier New" pitchFamily="49" charset="0"/>
              </a:rPr>
              <a:t/>
            </a:r>
            <a:br>
              <a:rPr lang="en-US"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void</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push</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n)		</a:t>
            </a:r>
            <a:r>
              <a:rPr lang="bg-BG" sz="2000" dirty="0" smtClean="0">
                <a:solidFill>
                  <a:schemeClr val="tx2">
                    <a:satMod val="130000"/>
                  </a:schemeClr>
                </a:solidFill>
                <a:latin typeface="Courier New" pitchFamily="49" charset="0"/>
              </a:rPr>
              <a:t>	//</a:t>
            </a:r>
            <a:r>
              <a:rPr lang="bg-BG" sz="2000" dirty="0">
                <a:solidFill>
                  <a:schemeClr val="tx2">
                    <a:satMod val="130000"/>
                  </a:schemeClr>
                </a:solidFill>
                <a:latin typeface="Courier New" pitchFamily="49" charset="0"/>
              </a:rPr>
              <a:t>добавяне на елемент</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que</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last++</a:t>
            </a:r>
            <a:r>
              <a:rPr lang="bg-BG" sz="2000" dirty="0">
                <a:solidFill>
                  <a:schemeClr val="tx2">
                    <a:satMod val="130000"/>
                  </a:schemeClr>
                </a:solidFill>
                <a:latin typeface="Courier New" pitchFamily="49" charset="0"/>
              </a:rPr>
              <a:t>]=n;}</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pop</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n)     </a:t>
            </a:r>
            <a:r>
              <a:rPr lang="bg-BG" sz="2000" dirty="0" smtClean="0">
                <a:solidFill>
                  <a:schemeClr val="tx2">
                    <a:satMod val="130000"/>
                  </a:schemeClr>
                </a:solidFill>
                <a:latin typeface="Courier New" pitchFamily="49" charset="0"/>
              </a:rPr>
              <a:t>	//</a:t>
            </a:r>
            <a:r>
              <a:rPr lang="bg-BG" sz="2000" dirty="0">
                <a:solidFill>
                  <a:schemeClr val="tx2">
                    <a:satMod val="130000"/>
                  </a:schemeClr>
                </a:solidFill>
                <a:latin typeface="Courier New" pitchFamily="49" charset="0"/>
              </a:rPr>
              <a:t>извличане на достъпния елемент</a:t>
            </a:r>
            <a:r>
              <a:rPr lang="en-US" sz="2000" dirty="0">
                <a:solidFill>
                  <a:schemeClr val="tx2">
                    <a:satMod val="130000"/>
                  </a:schemeClr>
                </a:solidFill>
                <a:latin typeface="Courier New" pitchFamily="49" charset="0"/>
              </a:rPr>
              <a:t/>
            </a:r>
            <a:br>
              <a:rPr lang="en-US"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{n=</a:t>
            </a:r>
            <a:r>
              <a:rPr lang="bg-BG" sz="2000" dirty="0" err="1">
                <a:solidFill>
                  <a:schemeClr val="tx2">
                    <a:satMod val="130000"/>
                  </a:schemeClr>
                </a:solidFill>
                <a:latin typeface="Courier New" pitchFamily="49" charset="0"/>
              </a:rPr>
              <a:t>que</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first++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return</a:t>
            </a:r>
            <a:r>
              <a:rPr lang="bg-BG" sz="2000" dirty="0">
                <a:solidFill>
                  <a:schemeClr val="tx2">
                    <a:satMod val="130000"/>
                  </a:schemeClr>
                </a:solidFill>
                <a:latin typeface="Courier New" pitchFamily="49" charset="0"/>
              </a:rPr>
              <a:t> n;}</a:t>
            </a:r>
            <a:r>
              <a:rPr lang="en-US" sz="2000" dirty="0">
                <a:solidFill>
                  <a:schemeClr val="tx2">
                    <a:satMod val="130000"/>
                  </a:schemeClr>
                </a:solidFill>
                <a:latin typeface="Courier New" pitchFamily="49" charset="0"/>
              </a:rPr>
              <a:t/>
            </a:r>
            <a:br>
              <a:rPr lang="en-US" sz="2000" dirty="0">
                <a:solidFill>
                  <a:schemeClr val="tx2">
                    <a:satMod val="130000"/>
                  </a:schemeClr>
                </a:solidFill>
                <a:latin typeface="Courier New" pitchFamily="49" charset="0"/>
              </a:rPr>
            </a:br>
            <a:endParaRPr lang="en-US" sz="2000" dirty="0">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E9D4EDD3-598E-4BF6-BE93-A716D84C892F}" type="slidenum">
              <a:rPr lang="en-US" smtClean="0"/>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685800" y="304800"/>
            <a:ext cx="7772400" cy="6172200"/>
          </a:xfrm>
        </p:spPr>
        <p:txBody>
          <a:bodyPr/>
          <a:lstStyle/>
          <a:p>
            <a:pPr eaLnBrk="1" fontAlgn="auto" hangingPunct="1">
              <a:spcAft>
                <a:spcPts val="0"/>
              </a:spcAft>
              <a:defRPr/>
            </a:pPr>
            <a:r>
              <a:rPr lang="bg-BG" sz="2800">
                <a:solidFill>
                  <a:schemeClr val="tx1"/>
                </a:solidFill>
              </a:rPr>
              <a:t>	Статичната реализация на опашка чрез използване на кръгов масив (масив, който имитира затворен кръг). Подобен подход позволява многократно добавяне и извличане на елементи от опашката. Буферът се препълва само при брой елементи, по-голям от n - размера на масива</a:t>
            </a:r>
            <a:r>
              <a:rPr lang="bg-BG" sz="2800">
                <a:solidFill>
                  <a:schemeClr val="tx1"/>
                </a:solidFill>
                <a:latin typeface="Arial" charset="0"/>
              </a:rPr>
              <a:t>.</a:t>
            </a:r>
            <a:br>
              <a:rPr lang="bg-BG" sz="2800">
                <a:solidFill>
                  <a:schemeClr val="tx1"/>
                </a:solidFill>
                <a:latin typeface="Arial" charset="0"/>
              </a:rPr>
            </a:br>
            <a:r>
              <a:rPr lang="bg-BG" sz="2800">
                <a:solidFill>
                  <a:schemeClr val="tx1"/>
                </a:solidFill>
                <a:latin typeface="Arial" charset="0"/>
              </a:rPr>
              <a:t/>
            </a:r>
            <a:br>
              <a:rPr lang="bg-BG" sz="2800">
                <a:solidFill>
                  <a:schemeClr val="tx1"/>
                </a:solidFill>
                <a:latin typeface="Arial" charset="0"/>
              </a:rPr>
            </a:br>
            <a:r>
              <a:rPr lang="bg-BG" sz="2800">
                <a:solidFill>
                  <a:schemeClr val="tx1"/>
                </a:solidFill>
                <a:latin typeface="Arial" charset="0"/>
              </a:rPr>
              <a:t/>
            </a:r>
            <a:br>
              <a:rPr lang="bg-BG" sz="2800">
                <a:solidFill>
                  <a:schemeClr val="tx1"/>
                </a:solidFill>
                <a:latin typeface="Arial" charset="0"/>
              </a:rPr>
            </a:br>
            <a:r>
              <a:rPr lang="bg-BG" sz="2800">
                <a:solidFill>
                  <a:schemeClr val="tx1"/>
                </a:solidFill>
                <a:latin typeface="Arial" charset="0"/>
              </a:rPr>
              <a:t/>
            </a:r>
            <a:br>
              <a:rPr lang="bg-BG" sz="2800">
                <a:solidFill>
                  <a:schemeClr val="tx1"/>
                </a:solidFill>
                <a:latin typeface="Arial" charset="0"/>
              </a:rPr>
            </a:br>
            <a:r>
              <a:rPr lang="bg-BG" sz="2800">
                <a:solidFill>
                  <a:schemeClr val="tx1"/>
                </a:solidFill>
                <a:latin typeface="Arial" charset="0"/>
              </a:rPr>
              <a:t/>
            </a:r>
            <a:br>
              <a:rPr lang="bg-BG" sz="2800">
                <a:solidFill>
                  <a:schemeClr val="tx1"/>
                </a:solidFill>
                <a:latin typeface="Arial" charset="0"/>
              </a:rPr>
            </a:br>
            <a:r>
              <a:rPr lang="en-US" sz="2800">
                <a:solidFill>
                  <a:schemeClr val="tx1"/>
                </a:solidFill>
                <a:latin typeface="Arial" charset="0"/>
              </a:rPr>
              <a:t/>
            </a:r>
            <a:br>
              <a:rPr lang="en-US" sz="2800">
                <a:solidFill>
                  <a:schemeClr val="tx1"/>
                </a:solidFill>
                <a:latin typeface="Arial" charset="0"/>
              </a:rPr>
            </a:br>
            <a:endParaRPr lang="en-US">
              <a:solidFill>
                <a:schemeClr val="tx1"/>
              </a:solidFill>
              <a:latin typeface="Arial" charset="0"/>
            </a:endParaRPr>
          </a:p>
        </p:txBody>
      </p:sp>
      <p:grpSp>
        <p:nvGrpSpPr>
          <p:cNvPr id="45059" name="Group 3"/>
          <p:cNvGrpSpPr>
            <a:grpSpLocks/>
          </p:cNvGrpSpPr>
          <p:nvPr/>
        </p:nvGrpSpPr>
        <p:grpSpPr bwMode="auto">
          <a:xfrm>
            <a:off x="2514600" y="3048000"/>
            <a:ext cx="4572000" cy="3657600"/>
            <a:chOff x="3304" y="7863"/>
            <a:chExt cx="4174" cy="3121"/>
          </a:xfrm>
        </p:grpSpPr>
        <p:grpSp>
          <p:nvGrpSpPr>
            <p:cNvPr id="45061" name="Group 4"/>
            <p:cNvGrpSpPr>
              <a:grpSpLocks/>
            </p:cNvGrpSpPr>
            <p:nvPr/>
          </p:nvGrpSpPr>
          <p:grpSpPr bwMode="auto">
            <a:xfrm>
              <a:off x="4041" y="8198"/>
              <a:ext cx="2500" cy="2414"/>
              <a:chOff x="5065" y="3975"/>
              <a:chExt cx="2500" cy="2414"/>
            </a:xfrm>
          </p:grpSpPr>
          <p:sp>
            <p:nvSpPr>
              <p:cNvPr id="45072" name="Oval 5"/>
              <p:cNvSpPr>
                <a:spLocks noChangeArrowheads="1"/>
              </p:cNvSpPr>
              <p:nvPr/>
            </p:nvSpPr>
            <p:spPr bwMode="auto">
              <a:xfrm>
                <a:off x="5065" y="3980"/>
                <a:ext cx="2479" cy="2409"/>
              </a:xfrm>
              <a:prstGeom prst="ellipse">
                <a:avLst/>
              </a:prstGeom>
              <a:noFill/>
              <a:ln w="25400">
                <a:solidFill>
                  <a:srgbClr val="000000"/>
                </a:solidFill>
                <a:round/>
                <a:headEnd/>
                <a:tailEnd/>
              </a:ln>
            </p:spPr>
            <p:txBody>
              <a:bodyPr/>
              <a:lstStyle/>
              <a:p>
                <a:endParaRPr lang="bg-BG"/>
              </a:p>
            </p:txBody>
          </p:sp>
          <p:sp>
            <p:nvSpPr>
              <p:cNvPr id="45073" name="Oval 6"/>
              <p:cNvSpPr>
                <a:spLocks noChangeArrowheads="1"/>
              </p:cNvSpPr>
              <p:nvPr/>
            </p:nvSpPr>
            <p:spPr bwMode="auto">
              <a:xfrm>
                <a:off x="5555" y="4491"/>
                <a:ext cx="1513" cy="1411"/>
              </a:xfrm>
              <a:prstGeom prst="ellipse">
                <a:avLst/>
              </a:prstGeom>
              <a:noFill/>
              <a:ln w="25400">
                <a:solidFill>
                  <a:srgbClr val="000000"/>
                </a:solidFill>
                <a:round/>
                <a:headEnd/>
                <a:tailEnd/>
              </a:ln>
            </p:spPr>
            <p:txBody>
              <a:bodyPr/>
              <a:lstStyle/>
              <a:p>
                <a:endParaRPr lang="bg-BG"/>
              </a:p>
            </p:txBody>
          </p:sp>
          <p:sp>
            <p:nvSpPr>
              <p:cNvPr id="45074" name="Line 7"/>
              <p:cNvSpPr>
                <a:spLocks noChangeShapeType="1"/>
              </p:cNvSpPr>
              <p:nvPr/>
            </p:nvSpPr>
            <p:spPr bwMode="auto">
              <a:xfrm>
                <a:off x="6226" y="3975"/>
                <a:ext cx="0" cy="487"/>
              </a:xfrm>
              <a:prstGeom prst="line">
                <a:avLst/>
              </a:prstGeom>
              <a:noFill/>
              <a:ln w="9525">
                <a:solidFill>
                  <a:srgbClr val="000000"/>
                </a:solidFill>
                <a:round/>
                <a:headEnd/>
                <a:tailEnd/>
              </a:ln>
            </p:spPr>
            <p:txBody>
              <a:bodyPr/>
              <a:lstStyle/>
              <a:p>
                <a:endParaRPr lang="bg-BG"/>
              </a:p>
            </p:txBody>
          </p:sp>
          <p:sp>
            <p:nvSpPr>
              <p:cNvPr id="45075" name="Line 8"/>
              <p:cNvSpPr>
                <a:spLocks noChangeShapeType="1"/>
              </p:cNvSpPr>
              <p:nvPr/>
            </p:nvSpPr>
            <p:spPr bwMode="auto">
              <a:xfrm>
                <a:off x="6287" y="5901"/>
                <a:ext cx="0" cy="487"/>
              </a:xfrm>
              <a:prstGeom prst="line">
                <a:avLst/>
              </a:prstGeom>
              <a:noFill/>
              <a:ln w="9525">
                <a:solidFill>
                  <a:srgbClr val="000000"/>
                </a:solidFill>
                <a:round/>
                <a:headEnd/>
                <a:tailEnd/>
              </a:ln>
            </p:spPr>
            <p:txBody>
              <a:bodyPr/>
              <a:lstStyle/>
              <a:p>
                <a:endParaRPr lang="bg-BG"/>
              </a:p>
            </p:txBody>
          </p:sp>
          <p:sp>
            <p:nvSpPr>
              <p:cNvPr id="45076" name="Line 9"/>
              <p:cNvSpPr>
                <a:spLocks noChangeShapeType="1"/>
              </p:cNvSpPr>
              <p:nvPr/>
            </p:nvSpPr>
            <p:spPr bwMode="auto">
              <a:xfrm>
                <a:off x="5111" y="5192"/>
                <a:ext cx="446" cy="0"/>
              </a:xfrm>
              <a:prstGeom prst="line">
                <a:avLst/>
              </a:prstGeom>
              <a:noFill/>
              <a:ln w="9525">
                <a:solidFill>
                  <a:srgbClr val="000000"/>
                </a:solidFill>
                <a:round/>
                <a:headEnd/>
                <a:tailEnd/>
              </a:ln>
            </p:spPr>
            <p:txBody>
              <a:bodyPr/>
              <a:lstStyle/>
              <a:p>
                <a:endParaRPr lang="bg-BG"/>
              </a:p>
            </p:txBody>
          </p:sp>
          <p:sp>
            <p:nvSpPr>
              <p:cNvPr id="45077" name="Line 10"/>
              <p:cNvSpPr>
                <a:spLocks noChangeShapeType="1"/>
              </p:cNvSpPr>
              <p:nvPr/>
            </p:nvSpPr>
            <p:spPr bwMode="auto">
              <a:xfrm>
                <a:off x="7078" y="5192"/>
                <a:ext cx="487" cy="0"/>
              </a:xfrm>
              <a:prstGeom prst="line">
                <a:avLst/>
              </a:prstGeom>
              <a:noFill/>
              <a:ln w="9525">
                <a:solidFill>
                  <a:srgbClr val="000000"/>
                </a:solidFill>
                <a:round/>
                <a:headEnd/>
                <a:tailEnd/>
              </a:ln>
            </p:spPr>
            <p:txBody>
              <a:bodyPr/>
              <a:lstStyle/>
              <a:p>
                <a:endParaRPr lang="bg-BG"/>
              </a:p>
            </p:txBody>
          </p:sp>
          <p:sp>
            <p:nvSpPr>
              <p:cNvPr id="45078" name="Line 11"/>
              <p:cNvSpPr>
                <a:spLocks noChangeShapeType="1"/>
              </p:cNvSpPr>
              <p:nvPr/>
            </p:nvSpPr>
            <p:spPr bwMode="auto">
              <a:xfrm flipH="1">
                <a:off x="6673" y="4097"/>
                <a:ext cx="202" cy="466"/>
              </a:xfrm>
              <a:prstGeom prst="line">
                <a:avLst/>
              </a:prstGeom>
              <a:noFill/>
              <a:ln w="9525">
                <a:solidFill>
                  <a:srgbClr val="000000"/>
                </a:solidFill>
                <a:round/>
                <a:headEnd/>
                <a:tailEnd/>
              </a:ln>
            </p:spPr>
            <p:txBody>
              <a:bodyPr/>
              <a:lstStyle/>
              <a:p>
                <a:endParaRPr lang="bg-BG"/>
              </a:p>
            </p:txBody>
          </p:sp>
          <p:sp>
            <p:nvSpPr>
              <p:cNvPr id="45079" name="Line 12"/>
              <p:cNvSpPr>
                <a:spLocks noChangeShapeType="1"/>
              </p:cNvSpPr>
              <p:nvPr/>
            </p:nvSpPr>
            <p:spPr bwMode="auto">
              <a:xfrm flipH="1">
                <a:off x="5740" y="5861"/>
                <a:ext cx="203" cy="365"/>
              </a:xfrm>
              <a:prstGeom prst="line">
                <a:avLst/>
              </a:prstGeom>
              <a:noFill/>
              <a:ln w="9525">
                <a:solidFill>
                  <a:srgbClr val="000000"/>
                </a:solidFill>
                <a:round/>
                <a:headEnd/>
                <a:tailEnd/>
              </a:ln>
            </p:spPr>
            <p:txBody>
              <a:bodyPr/>
              <a:lstStyle/>
              <a:p>
                <a:endParaRPr lang="bg-BG"/>
              </a:p>
            </p:txBody>
          </p:sp>
          <p:sp>
            <p:nvSpPr>
              <p:cNvPr id="45080" name="Line 13"/>
              <p:cNvSpPr>
                <a:spLocks noChangeShapeType="1"/>
              </p:cNvSpPr>
              <p:nvPr/>
            </p:nvSpPr>
            <p:spPr bwMode="auto">
              <a:xfrm flipH="1">
                <a:off x="6936" y="4523"/>
                <a:ext cx="406" cy="304"/>
              </a:xfrm>
              <a:prstGeom prst="line">
                <a:avLst/>
              </a:prstGeom>
              <a:noFill/>
              <a:ln w="9525">
                <a:solidFill>
                  <a:srgbClr val="000000"/>
                </a:solidFill>
                <a:round/>
                <a:headEnd/>
                <a:tailEnd/>
              </a:ln>
            </p:spPr>
            <p:txBody>
              <a:bodyPr/>
              <a:lstStyle/>
              <a:p>
                <a:endParaRPr lang="bg-BG"/>
              </a:p>
            </p:txBody>
          </p:sp>
          <p:sp>
            <p:nvSpPr>
              <p:cNvPr id="45081" name="Line 14"/>
              <p:cNvSpPr>
                <a:spLocks noChangeShapeType="1"/>
              </p:cNvSpPr>
              <p:nvPr/>
            </p:nvSpPr>
            <p:spPr bwMode="auto">
              <a:xfrm flipH="1">
                <a:off x="5233" y="5557"/>
                <a:ext cx="405" cy="284"/>
              </a:xfrm>
              <a:prstGeom prst="line">
                <a:avLst/>
              </a:prstGeom>
              <a:noFill/>
              <a:ln w="9525">
                <a:solidFill>
                  <a:srgbClr val="000000"/>
                </a:solidFill>
                <a:round/>
                <a:headEnd/>
                <a:tailEnd/>
              </a:ln>
            </p:spPr>
            <p:txBody>
              <a:bodyPr/>
              <a:lstStyle/>
              <a:p>
                <a:endParaRPr lang="bg-BG"/>
              </a:p>
            </p:txBody>
          </p:sp>
          <p:sp>
            <p:nvSpPr>
              <p:cNvPr id="45082" name="Line 15"/>
              <p:cNvSpPr>
                <a:spLocks noChangeShapeType="1"/>
              </p:cNvSpPr>
              <p:nvPr/>
            </p:nvSpPr>
            <p:spPr bwMode="auto">
              <a:xfrm>
                <a:off x="5638" y="4178"/>
                <a:ext cx="305" cy="386"/>
              </a:xfrm>
              <a:prstGeom prst="line">
                <a:avLst/>
              </a:prstGeom>
              <a:noFill/>
              <a:ln w="9525">
                <a:solidFill>
                  <a:srgbClr val="000000"/>
                </a:solidFill>
                <a:round/>
                <a:headEnd/>
                <a:tailEnd/>
              </a:ln>
            </p:spPr>
            <p:txBody>
              <a:bodyPr/>
              <a:lstStyle/>
              <a:p>
                <a:endParaRPr lang="bg-BG"/>
              </a:p>
            </p:txBody>
          </p:sp>
          <p:sp>
            <p:nvSpPr>
              <p:cNvPr id="45083" name="Line 16"/>
              <p:cNvSpPr>
                <a:spLocks noChangeShapeType="1"/>
              </p:cNvSpPr>
              <p:nvPr/>
            </p:nvSpPr>
            <p:spPr bwMode="auto">
              <a:xfrm>
                <a:off x="5212" y="4604"/>
                <a:ext cx="426" cy="243"/>
              </a:xfrm>
              <a:prstGeom prst="line">
                <a:avLst/>
              </a:prstGeom>
              <a:noFill/>
              <a:ln w="9525">
                <a:solidFill>
                  <a:srgbClr val="000000"/>
                </a:solidFill>
                <a:round/>
                <a:headEnd/>
                <a:tailEnd/>
              </a:ln>
            </p:spPr>
            <p:txBody>
              <a:bodyPr/>
              <a:lstStyle/>
              <a:p>
                <a:endParaRPr lang="bg-BG"/>
              </a:p>
            </p:txBody>
          </p:sp>
          <p:sp>
            <p:nvSpPr>
              <p:cNvPr id="45084" name="Line 17"/>
              <p:cNvSpPr>
                <a:spLocks noChangeShapeType="1"/>
              </p:cNvSpPr>
              <p:nvPr/>
            </p:nvSpPr>
            <p:spPr bwMode="auto">
              <a:xfrm>
                <a:off x="6957" y="5557"/>
                <a:ext cx="405" cy="304"/>
              </a:xfrm>
              <a:prstGeom prst="line">
                <a:avLst/>
              </a:prstGeom>
              <a:noFill/>
              <a:ln w="9525">
                <a:solidFill>
                  <a:srgbClr val="000000"/>
                </a:solidFill>
                <a:round/>
                <a:headEnd/>
                <a:tailEnd/>
              </a:ln>
            </p:spPr>
            <p:txBody>
              <a:bodyPr/>
              <a:lstStyle/>
              <a:p>
                <a:endParaRPr lang="bg-BG"/>
              </a:p>
            </p:txBody>
          </p:sp>
          <p:sp>
            <p:nvSpPr>
              <p:cNvPr id="45085" name="Line 18"/>
              <p:cNvSpPr>
                <a:spLocks noChangeShapeType="1"/>
              </p:cNvSpPr>
              <p:nvPr/>
            </p:nvSpPr>
            <p:spPr bwMode="auto">
              <a:xfrm>
                <a:off x="6652" y="5821"/>
                <a:ext cx="244" cy="426"/>
              </a:xfrm>
              <a:prstGeom prst="line">
                <a:avLst/>
              </a:prstGeom>
              <a:noFill/>
              <a:ln w="9525">
                <a:solidFill>
                  <a:srgbClr val="000000"/>
                </a:solidFill>
                <a:round/>
                <a:headEnd/>
                <a:tailEnd/>
              </a:ln>
            </p:spPr>
            <p:txBody>
              <a:bodyPr/>
              <a:lstStyle/>
              <a:p>
                <a:endParaRPr lang="bg-BG"/>
              </a:p>
            </p:txBody>
          </p:sp>
        </p:grpSp>
        <p:sp>
          <p:nvSpPr>
            <p:cNvPr id="45062" name="Text Box 19"/>
            <p:cNvSpPr txBox="1">
              <a:spLocks noChangeArrowheads="1"/>
            </p:cNvSpPr>
            <p:nvPr/>
          </p:nvSpPr>
          <p:spPr bwMode="auto">
            <a:xfrm>
              <a:off x="4401" y="7863"/>
              <a:ext cx="1097" cy="421"/>
            </a:xfrm>
            <a:prstGeom prst="rect">
              <a:avLst/>
            </a:prstGeom>
            <a:noFill/>
            <a:ln w="9525">
              <a:noFill/>
              <a:miter lim="800000"/>
              <a:headEnd/>
              <a:tailEnd/>
            </a:ln>
          </p:spPr>
          <p:txBody>
            <a:bodyPr/>
            <a:lstStyle/>
            <a:p>
              <a:r>
                <a:rPr lang="bg-BG" sz="2000" b="1">
                  <a:latin typeface="Courier New" pitchFamily="49" charset="0"/>
                </a:rPr>
                <a:t>A[n-2]</a:t>
              </a:r>
              <a:endParaRPr lang="en-AU" sz="2000" b="1">
                <a:latin typeface="Courier New" pitchFamily="49" charset="0"/>
              </a:endParaRPr>
            </a:p>
          </p:txBody>
        </p:sp>
        <p:sp>
          <p:nvSpPr>
            <p:cNvPr id="45063" name="Text Box 20"/>
            <p:cNvSpPr txBox="1">
              <a:spLocks noChangeArrowheads="1"/>
            </p:cNvSpPr>
            <p:nvPr/>
          </p:nvSpPr>
          <p:spPr bwMode="auto">
            <a:xfrm>
              <a:off x="3501" y="8223"/>
              <a:ext cx="1097" cy="421"/>
            </a:xfrm>
            <a:prstGeom prst="rect">
              <a:avLst/>
            </a:prstGeom>
            <a:noFill/>
            <a:ln w="9525">
              <a:noFill/>
              <a:miter lim="800000"/>
              <a:headEnd/>
              <a:tailEnd/>
            </a:ln>
          </p:spPr>
          <p:txBody>
            <a:bodyPr/>
            <a:lstStyle/>
            <a:p>
              <a:r>
                <a:rPr lang="bg-BG" sz="2000" b="1">
                  <a:latin typeface="Courier New" pitchFamily="49" charset="0"/>
                </a:rPr>
                <a:t>A[n-</a:t>
              </a:r>
              <a:r>
                <a:rPr lang="en-US" sz="2000" b="1">
                  <a:latin typeface="Courier New" pitchFamily="49" charset="0"/>
                </a:rPr>
                <a:t>1</a:t>
              </a:r>
              <a:r>
                <a:rPr lang="bg-BG" sz="2000" b="1">
                  <a:latin typeface="Courier New" pitchFamily="49" charset="0"/>
                </a:rPr>
                <a:t>]</a:t>
              </a:r>
              <a:endParaRPr lang="en-AU" sz="1000">
                <a:latin typeface="Courier New" pitchFamily="49" charset="0"/>
              </a:endParaRPr>
            </a:p>
          </p:txBody>
        </p:sp>
        <p:sp>
          <p:nvSpPr>
            <p:cNvPr id="45064" name="Text Box 21"/>
            <p:cNvSpPr txBox="1">
              <a:spLocks noChangeArrowheads="1"/>
            </p:cNvSpPr>
            <p:nvPr/>
          </p:nvSpPr>
          <p:spPr bwMode="auto">
            <a:xfrm>
              <a:off x="3304" y="9062"/>
              <a:ext cx="1097" cy="421"/>
            </a:xfrm>
            <a:prstGeom prst="rect">
              <a:avLst/>
            </a:prstGeom>
            <a:noFill/>
            <a:ln w="9525">
              <a:noFill/>
              <a:miter lim="800000"/>
              <a:headEnd/>
              <a:tailEnd/>
            </a:ln>
          </p:spPr>
          <p:txBody>
            <a:bodyPr/>
            <a:lstStyle/>
            <a:p>
              <a:r>
                <a:rPr lang="bg-BG" sz="2000" b="1">
                  <a:latin typeface="Courier New" pitchFamily="49" charset="0"/>
                </a:rPr>
                <a:t>A[</a:t>
              </a:r>
              <a:r>
                <a:rPr lang="en-US" sz="2000" b="1">
                  <a:latin typeface="Courier New" pitchFamily="49" charset="0"/>
                </a:rPr>
                <a:t>0</a:t>
              </a:r>
              <a:r>
                <a:rPr lang="bg-BG" sz="2000" b="1">
                  <a:latin typeface="Courier New" pitchFamily="49" charset="0"/>
                </a:rPr>
                <a:t>]</a:t>
              </a:r>
              <a:endParaRPr lang="en-AU" sz="1000">
                <a:latin typeface="Courier New" pitchFamily="49" charset="0"/>
              </a:endParaRPr>
            </a:p>
          </p:txBody>
        </p:sp>
        <p:sp>
          <p:nvSpPr>
            <p:cNvPr id="45065" name="Text Box 22"/>
            <p:cNvSpPr txBox="1">
              <a:spLocks noChangeArrowheads="1"/>
            </p:cNvSpPr>
            <p:nvPr/>
          </p:nvSpPr>
          <p:spPr bwMode="auto">
            <a:xfrm>
              <a:off x="6381" y="8824"/>
              <a:ext cx="1097" cy="421"/>
            </a:xfrm>
            <a:prstGeom prst="rect">
              <a:avLst/>
            </a:prstGeom>
            <a:noFill/>
            <a:ln w="9525">
              <a:noFill/>
              <a:miter lim="800000"/>
              <a:headEnd/>
              <a:tailEnd/>
            </a:ln>
          </p:spPr>
          <p:txBody>
            <a:bodyPr/>
            <a:lstStyle/>
            <a:p>
              <a:r>
                <a:rPr lang="bg-BG" sz="2000" b="1">
                  <a:latin typeface="Courier New" pitchFamily="49" charset="0"/>
                </a:rPr>
                <a:t>A[</a:t>
              </a:r>
              <a:r>
                <a:rPr lang="en-US" sz="2000" b="1">
                  <a:latin typeface="Courier New" pitchFamily="49" charset="0"/>
                </a:rPr>
                <a:t>m+1</a:t>
              </a:r>
              <a:r>
                <a:rPr lang="bg-BG" sz="1000">
                  <a:latin typeface="Courier New" pitchFamily="49" charset="0"/>
                </a:rPr>
                <a:t>]</a:t>
              </a:r>
              <a:endParaRPr lang="en-AU" sz="1000">
                <a:latin typeface="Courier New" pitchFamily="49" charset="0"/>
              </a:endParaRPr>
            </a:p>
          </p:txBody>
        </p:sp>
        <p:sp>
          <p:nvSpPr>
            <p:cNvPr id="45066" name="Text Box 23"/>
            <p:cNvSpPr txBox="1">
              <a:spLocks noChangeArrowheads="1"/>
            </p:cNvSpPr>
            <p:nvPr/>
          </p:nvSpPr>
          <p:spPr bwMode="auto">
            <a:xfrm>
              <a:off x="6184" y="8223"/>
              <a:ext cx="1097" cy="421"/>
            </a:xfrm>
            <a:prstGeom prst="rect">
              <a:avLst/>
            </a:prstGeom>
            <a:noFill/>
            <a:ln w="9525">
              <a:noFill/>
              <a:miter lim="800000"/>
              <a:headEnd/>
              <a:tailEnd/>
            </a:ln>
          </p:spPr>
          <p:txBody>
            <a:bodyPr/>
            <a:lstStyle/>
            <a:p>
              <a:r>
                <a:rPr lang="en-US" sz="1000">
                  <a:latin typeface="Courier New" pitchFamily="49" charset="0"/>
                </a:rPr>
                <a:t>…</a:t>
              </a:r>
              <a:endParaRPr lang="bg-BG" sz="1000">
                <a:latin typeface="Courier New" pitchFamily="49" charset="0"/>
              </a:endParaRPr>
            </a:p>
          </p:txBody>
        </p:sp>
        <p:sp>
          <p:nvSpPr>
            <p:cNvPr id="45067" name="Text Box 24"/>
            <p:cNvSpPr txBox="1">
              <a:spLocks noChangeArrowheads="1"/>
            </p:cNvSpPr>
            <p:nvPr/>
          </p:nvSpPr>
          <p:spPr bwMode="auto">
            <a:xfrm>
              <a:off x="6381" y="9544"/>
              <a:ext cx="1097" cy="421"/>
            </a:xfrm>
            <a:prstGeom prst="rect">
              <a:avLst/>
            </a:prstGeom>
            <a:noFill/>
            <a:ln w="9525">
              <a:noFill/>
              <a:miter lim="800000"/>
              <a:headEnd/>
              <a:tailEnd/>
            </a:ln>
          </p:spPr>
          <p:txBody>
            <a:bodyPr/>
            <a:lstStyle/>
            <a:p>
              <a:r>
                <a:rPr lang="bg-BG" sz="1000">
                  <a:latin typeface="Courier New" pitchFamily="49" charset="0"/>
                </a:rPr>
                <a:t> </a:t>
              </a:r>
              <a:r>
                <a:rPr lang="bg-BG" sz="2000" b="1">
                  <a:latin typeface="Courier New" pitchFamily="49" charset="0"/>
                </a:rPr>
                <a:t>A[</a:t>
              </a:r>
              <a:r>
                <a:rPr lang="en-US" sz="2000" b="1">
                  <a:latin typeface="Courier New" pitchFamily="49" charset="0"/>
                </a:rPr>
                <a:t>m</a:t>
              </a:r>
              <a:r>
                <a:rPr lang="bg-BG" sz="2000" b="1">
                  <a:latin typeface="Courier New" pitchFamily="49" charset="0"/>
                </a:rPr>
                <a:t>]</a:t>
              </a:r>
              <a:endParaRPr lang="en-US" sz="2000" b="1">
                <a:latin typeface="Courier New" pitchFamily="49" charset="0"/>
              </a:endParaRPr>
            </a:p>
          </p:txBody>
        </p:sp>
        <p:sp>
          <p:nvSpPr>
            <p:cNvPr id="45068" name="Text Box 25"/>
            <p:cNvSpPr txBox="1">
              <a:spLocks noChangeArrowheads="1"/>
            </p:cNvSpPr>
            <p:nvPr/>
          </p:nvSpPr>
          <p:spPr bwMode="auto">
            <a:xfrm>
              <a:off x="3304" y="9663"/>
              <a:ext cx="1097" cy="421"/>
            </a:xfrm>
            <a:prstGeom prst="rect">
              <a:avLst/>
            </a:prstGeom>
            <a:noFill/>
            <a:ln w="9525">
              <a:noFill/>
              <a:miter lim="800000"/>
              <a:headEnd/>
              <a:tailEnd/>
            </a:ln>
          </p:spPr>
          <p:txBody>
            <a:bodyPr/>
            <a:lstStyle/>
            <a:p>
              <a:r>
                <a:rPr lang="bg-BG" sz="2000" b="1">
                  <a:latin typeface="Courier New" pitchFamily="49" charset="0"/>
                </a:rPr>
                <a:t>A[</a:t>
              </a:r>
              <a:r>
                <a:rPr lang="en-US" sz="2000" b="1">
                  <a:latin typeface="Courier New" pitchFamily="49" charset="0"/>
                </a:rPr>
                <a:t>1</a:t>
              </a:r>
              <a:r>
                <a:rPr lang="bg-BG" sz="2000" b="1">
                  <a:latin typeface="Courier New" pitchFamily="49" charset="0"/>
                </a:rPr>
                <a:t>]</a:t>
              </a:r>
              <a:endParaRPr lang="en-AU" sz="1000">
                <a:latin typeface="Courier New" pitchFamily="49" charset="0"/>
              </a:endParaRPr>
            </a:p>
          </p:txBody>
        </p:sp>
        <p:sp>
          <p:nvSpPr>
            <p:cNvPr id="45069" name="Text Box 26"/>
            <p:cNvSpPr txBox="1">
              <a:spLocks noChangeArrowheads="1"/>
            </p:cNvSpPr>
            <p:nvPr/>
          </p:nvSpPr>
          <p:spPr bwMode="auto">
            <a:xfrm>
              <a:off x="3844" y="10203"/>
              <a:ext cx="1097" cy="421"/>
            </a:xfrm>
            <a:prstGeom prst="rect">
              <a:avLst/>
            </a:prstGeom>
            <a:noFill/>
            <a:ln w="9525">
              <a:noFill/>
              <a:miter lim="800000"/>
              <a:headEnd/>
              <a:tailEnd/>
            </a:ln>
          </p:spPr>
          <p:txBody>
            <a:bodyPr/>
            <a:lstStyle/>
            <a:p>
              <a:r>
                <a:rPr lang="bg-BG" sz="2000" b="1">
                  <a:latin typeface="Courier New" pitchFamily="49" charset="0"/>
                </a:rPr>
                <a:t>A[</a:t>
              </a:r>
              <a:r>
                <a:rPr lang="en-US" sz="2000" b="1">
                  <a:latin typeface="Courier New" pitchFamily="49" charset="0"/>
                </a:rPr>
                <a:t>2</a:t>
              </a:r>
              <a:r>
                <a:rPr lang="bg-BG" sz="2000" b="1">
                  <a:latin typeface="Courier New" pitchFamily="49" charset="0"/>
                </a:rPr>
                <a:t>]</a:t>
              </a:r>
              <a:endParaRPr lang="en-AU" sz="1000">
                <a:latin typeface="Courier New" pitchFamily="49" charset="0"/>
              </a:endParaRPr>
            </a:p>
          </p:txBody>
        </p:sp>
        <p:sp>
          <p:nvSpPr>
            <p:cNvPr id="45070" name="Text Box 27"/>
            <p:cNvSpPr txBox="1">
              <a:spLocks noChangeArrowheads="1"/>
            </p:cNvSpPr>
            <p:nvPr/>
          </p:nvSpPr>
          <p:spPr bwMode="auto">
            <a:xfrm>
              <a:off x="6021" y="10264"/>
              <a:ext cx="1097" cy="421"/>
            </a:xfrm>
            <a:prstGeom prst="rect">
              <a:avLst/>
            </a:prstGeom>
            <a:noFill/>
            <a:ln w="9525">
              <a:noFill/>
              <a:miter lim="800000"/>
              <a:headEnd/>
              <a:tailEnd/>
            </a:ln>
          </p:spPr>
          <p:txBody>
            <a:bodyPr/>
            <a:lstStyle/>
            <a:p>
              <a:r>
                <a:rPr lang="bg-BG" sz="2000" b="1">
                  <a:latin typeface="Courier New" pitchFamily="49" charset="0"/>
                </a:rPr>
                <a:t>A[</a:t>
              </a:r>
              <a:r>
                <a:rPr lang="en-US" sz="2000" b="1">
                  <a:latin typeface="Courier New" pitchFamily="49" charset="0"/>
                </a:rPr>
                <a:t>m-1</a:t>
              </a:r>
              <a:r>
                <a:rPr lang="bg-BG" sz="2000" b="1">
                  <a:latin typeface="Courier New" pitchFamily="49" charset="0"/>
                </a:rPr>
                <a:t>]</a:t>
              </a:r>
              <a:endParaRPr lang="en-AU" sz="1000">
                <a:latin typeface="Courier New" pitchFamily="49" charset="0"/>
              </a:endParaRPr>
            </a:p>
          </p:txBody>
        </p:sp>
        <p:sp>
          <p:nvSpPr>
            <p:cNvPr id="45071" name="Text Box 28"/>
            <p:cNvSpPr txBox="1">
              <a:spLocks noChangeArrowheads="1"/>
            </p:cNvSpPr>
            <p:nvPr/>
          </p:nvSpPr>
          <p:spPr bwMode="auto">
            <a:xfrm>
              <a:off x="5121" y="10624"/>
              <a:ext cx="540" cy="360"/>
            </a:xfrm>
            <a:prstGeom prst="rect">
              <a:avLst/>
            </a:prstGeom>
            <a:noFill/>
            <a:ln w="9525">
              <a:noFill/>
              <a:miter lim="800000"/>
              <a:headEnd/>
              <a:tailEnd/>
            </a:ln>
          </p:spPr>
          <p:txBody>
            <a:bodyPr/>
            <a:lstStyle/>
            <a:p>
              <a:r>
                <a:rPr lang="en-US" b="1">
                  <a:latin typeface="Courier New" pitchFamily="49" charset="0"/>
                </a:rPr>
                <a:t>…</a:t>
              </a:r>
              <a:endParaRPr lang="en-US" sz="1000">
                <a:latin typeface="Courier New" pitchFamily="49" charset="0"/>
              </a:endParaRPr>
            </a:p>
          </p:txBody>
        </p:sp>
      </p:grpSp>
      <p:sp>
        <p:nvSpPr>
          <p:cNvPr id="29" name="Slide Number Placeholder 28"/>
          <p:cNvSpPr>
            <a:spLocks noGrp="1"/>
          </p:cNvSpPr>
          <p:nvPr>
            <p:ph type="sldNum" sz="quarter" idx="12"/>
          </p:nvPr>
        </p:nvSpPr>
        <p:spPr/>
        <p:txBody>
          <a:bodyPr/>
          <a:lstStyle/>
          <a:p>
            <a:pPr>
              <a:defRPr/>
            </a:pPr>
            <a:fld id="{E57E492B-9A84-4FA9-BABF-9949B8EEB4D7}" type="slidenum">
              <a:rPr lang="en-US" smtClean="0"/>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116013" y="549275"/>
            <a:ext cx="7772400" cy="5943600"/>
          </a:xfrm>
        </p:spPr>
        <p:txBody>
          <a:bodyPr>
            <a:normAutofit fontScale="90000"/>
          </a:bodyPr>
          <a:lstStyle/>
          <a:p>
            <a:pPr eaLnBrk="1" fontAlgn="auto" hangingPunct="1">
              <a:lnSpc>
                <a:spcPct val="95000"/>
              </a:lnSpc>
              <a:spcAft>
                <a:spcPts val="0"/>
              </a:spcAft>
              <a:defRPr/>
            </a:pPr>
            <a:r>
              <a:rPr lang="bg-BG" sz="1800" dirty="0">
                <a:solidFill>
                  <a:schemeClr val="tx2">
                    <a:satMod val="130000"/>
                  </a:schemeClr>
                </a:solidFill>
                <a:latin typeface="Courier New" pitchFamily="49" charset="0"/>
              </a:rPr>
              <a:t/>
            </a:r>
            <a:br>
              <a:rPr lang="bg-BG" sz="1800" dirty="0">
                <a:solidFill>
                  <a:schemeClr val="tx2">
                    <a:satMod val="130000"/>
                  </a:schemeClr>
                </a:solidFill>
                <a:latin typeface="Courier New" pitchFamily="49" charset="0"/>
              </a:rPr>
            </a:br>
            <a:r>
              <a:rPr lang="bg-BG" sz="2000" dirty="0" smtClean="0">
                <a:solidFill>
                  <a:schemeClr val="tx2">
                    <a:satMod val="130000"/>
                  </a:schemeClr>
                </a:solidFill>
                <a:latin typeface="Courier New" pitchFamily="49" charset="0"/>
              </a:rPr>
              <a:t>#</a:t>
            </a:r>
            <a:r>
              <a:rPr lang="bg-BG" sz="2000" dirty="0" err="1" smtClean="0">
                <a:solidFill>
                  <a:schemeClr val="tx2">
                    <a:satMod val="130000"/>
                  </a:schemeClr>
                </a:solidFill>
                <a:latin typeface="Courier New" pitchFamily="49" charset="0"/>
              </a:rPr>
              <a:t>include</a:t>
            </a:r>
            <a:r>
              <a:rPr lang="bg-BG" sz="2000" dirty="0" smtClean="0">
                <a:solidFill>
                  <a:schemeClr val="tx2">
                    <a:satMod val="130000"/>
                  </a:schemeClr>
                </a:solidFill>
                <a:latin typeface="Courier New" pitchFamily="49" charset="0"/>
              </a:rPr>
              <a:t> &lt;</a:t>
            </a:r>
            <a:r>
              <a:rPr lang="bg-BG" sz="2000" dirty="0" err="1" smtClean="0">
                <a:solidFill>
                  <a:schemeClr val="tx2">
                    <a:satMod val="130000"/>
                  </a:schemeClr>
                </a:solidFill>
                <a:latin typeface="Courier New" pitchFamily="49" charset="0"/>
              </a:rPr>
              <a:t>iostream</a:t>
            </a:r>
            <a:r>
              <a:rPr lang="bg-BG" sz="2000" dirty="0" smtClean="0">
                <a:solidFill>
                  <a:schemeClr val="tx2">
                    <a:satMod val="130000"/>
                  </a:schemeClr>
                </a:solidFill>
                <a:latin typeface="Courier New" pitchFamily="49" charset="0"/>
              </a:rPr>
              <a:t>&gt;</a:t>
            </a:r>
            <a:r>
              <a:rPr lang="en-US" sz="2000" dirty="0" smtClean="0">
                <a:solidFill>
                  <a:schemeClr val="tx2">
                    <a:satMod val="130000"/>
                  </a:schemeClr>
                </a:solidFill>
                <a:latin typeface="Courier New" pitchFamily="49" charset="0"/>
              </a:rPr>
              <a:t/>
            </a:r>
            <a:br>
              <a:rPr lang="en-US" sz="2000" dirty="0" smtClean="0">
                <a:solidFill>
                  <a:schemeClr val="tx2">
                    <a:satMod val="130000"/>
                  </a:schemeClr>
                </a:solidFill>
                <a:latin typeface="Courier New" pitchFamily="49" charset="0"/>
              </a:rPr>
            </a:br>
            <a:r>
              <a:rPr lang="en-US" sz="2000" dirty="0" smtClean="0">
                <a:solidFill>
                  <a:schemeClr val="tx2">
                    <a:satMod val="130000"/>
                  </a:schemeClr>
                </a:solidFill>
                <a:latin typeface="Courier New" pitchFamily="49" charset="0"/>
              </a:rPr>
              <a:t>using namespace std; </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void</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push</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n);  </a:t>
            </a:r>
            <a:r>
              <a:rPr lang="en-US" sz="2000" dirty="0">
                <a:solidFill>
                  <a:schemeClr val="tx2">
                    <a:satMod val="130000"/>
                  </a:schemeClr>
                </a:solidFill>
                <a:latin typeface="Courier New" pitchFamily="49" charset="0"/>
              </a:rPr>
              <a:t>	</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prototype</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pop</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n);     </a:t>
            </a:r>
            <a:r>
              <a:rPr lang="en-US" sz="2000" dirty="0">
                <a:solidFill>
                  <a:schemeClr val="tx2">
                    <a:satMod val="130000"/>
                  </a:schemeClr>
                </a:solidFill>
                <a:latin typeface="Courier New" pitchFamily="49" charset="0"/>
              </a:rPr>
              <a:t>	</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prototype</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void</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init</a:t>
            </a:r>
            <a:r>
              <a:rPr lang="bg-BG" sz="2000" dirty="0">
                <a:solidFill>
                  <a:schemeClr val="tx2">
                    <a:satMod val="130000"/>
                  </a:schemeClr>
                </a:solidFill>
                <a:latin typeface="Courier New" pitchFamily="49" charset="0"/>
              </a:rPr>
              <a:t>();        	</a:t>
            </a:r>
            <a:r>
              <a:rPr lang="en-US" sz="2000" dirty="0">
                <a:solidFill>
                  <a:schemeClr val="tx2">
                    <a:satMod val="130000"/>
                  </a:schemeClr>
                </a:solidFill>
                <a:latin typeface="Courier New" pitchFamily="49" charset="0"/>
              </a:rPr>
              <a:t>	</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prototype</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const</a:t>
            </a:r>
            <a:r>
              <a:rPr lang="bg-BG" sz="2000" dirty="0">
                <a:solidFill>
                  <a:schemeClr val="tx2">
                    <a:satMod val="130000"/>
                  </a:schemeClr>
                </a:solidFill>
                <a:latin typeface="Courier New" pitchFamily="49" charset="0"/>
              </a:rPr>
              <a:t> </a:t>
            </a:r>
            <a:r>
              <a:rPr lang="en-US" sz="2000" dirty="0" err="1" smtClean="0">
                <a:solidFill>
                  <a:schemeClr val="tx2">
                    <a:satMod val="130000"/>
                  </a:schemeClr>
                </a:solidFill>
                <a:latin typeface="Courier New" pitchFamily="49" charset="0"/>
              </a:rPr>
              <a:t>int</a:t>
            </a:r>
            <a:r>
              <a:rPr lang="en-US"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q_size</a:t>
            </a:r>
            <a:r>
              <a:rPr lang="bg-BG" sz="2000" dirty="0" smtClean="0">
                <a:solidFill>
                  <a:schemeClr val="tx2">
                    <a:satMod val="130000"/>
                  </a:schemeClr>
                </a:solidFill>
                <a:latin typeface="Courier New" pitchFamily="49" charset="0"/>
              </a:rPr>
              <a:t>=15</a:t>
            </a:r>
            <a:r>
              <a:rPr lang="bg-BG" sz="2000" dirty="0">
                <a:solidFill>
                  <a:schemeClr val="tx2">
                    <a:satMod val="130000"/>
                  </a:schemeClr>
                </a:solidFill>
                <a:latin typeface="Courier New" pitchFamily="49" charset="0"/>
              </a:rPr>
              <a:t>;</a:t>
            </a:r>
            <a:r>
              <a:rPr lang="en-US" sz="2000" dirty="0">
                <a:solidFill>
                  <a:schemeClr val="tx2">
                    <a:satMod val="130000"/>
                  </a:schemeClr>
                </a:solidFill>
                <a:latin typeface="Courier New" pitchFamily="49" charset="0"/>
              </a:rPr>
              <a:t>		</a:t>
            </a:r>
            <a:r>
              <a:rPr lang="bg-BG" sz="2000" dirty="0" smtClean="0">
                <a:solidFill>
                  <a:schemeClr val="tx2">
                    <a:satMod val="130000"/>
                  </a:schemeClr>
                </a:solidFill>
                <a:latin typeface="Courier New" pitchFamily="49" charset="0"/>
              </a:rPr>
              <a:t>//Размер </a:t>
            </a:r>
            <a:r>
              <a:rPr lang="bg-BG" sz="2000" dirty="0">
                <a:solidFill>
                  <a:schemeClr val="tx2">
                    <a:satMod val="130000"/>
                  </a:schemeClr>
                </a:solidFill>
                <a:latin typeface="Courier New" pitchFamily="49" charset="0"/>
              </a:rPr>
              <a:t>на буфера</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a:t>
            </a:r>
            <a:r>
              <a:rPr lang="bg-BG" sz="2000" dirty="0" smtClean="0">
                <a:solidFill>
                  <a:schemeClr val="tx2">
                    <a:satMod val="130000"/>
                  </a:schemeClr>
                </a:solidFill>
                <a:latin typeface="Courier New" pitchFamily="49" charset="0"/>
              </a:rPr>
              <a:t>q[</a:t>
            </a:r>
            <a:r>
              <a:rPr lang="bg-BG" sz="2000" dirty="0" err="1" smtClean="0">
                <a:solidFill>
                  <a:schemeClr val="tx2">
                    <a:satMod val="130000"/>
                  </a:schemeClr>
                </a:solidFill>
                <a:latin typeface="Courier New" pitchFamily="49" charset="0"/>
              </a:rPr>
              <a:t>q_size</a:t>
            </a:r>
            <a:r>
              <a:rPr lang="bg-BG" sz="2000" dirty="0" smtClean="0">
                <a:solidFill>
                  <a:schemeClr val="tx2">
                    <a:satMod val="130000"/>
                  </a:schemeClr>
                </a:solidFill>
                <a:latin typeface="Courier New" pitchFamily="49" charset="0"/>
              </a:rPr>
              <a:t>]</a:t>
            </a:r>
            <a:r>
              <a:rPr lang="en-US" sz="2000" dirty="0" smtClean="0">
                <a:solidFill>
                  <a:schemeClr val="tx2">
                    <a:satMod val="130000"/>
                  </a:schemeClr>
                </a:solidFill>
                <a:latin typeface="Courier New" pitchFamily="49" charset="0"/>
              </a:rPr>
              <a:t>, </a:t>
            </a:r>
            <a:r>
              <a:rPr lang="bg-BG" sz="2000" dirty="0" err="1" smtClean="0">
                <a:solidFill>
                  <a:schemeClr val="tx2">
                    <a:satMod val="130000"/>
                  </a:schemeClr>
                </a:solidFill>
                <a:latin typeface="Courier New" pitchFamily="49" charset="0"/>
              </a:rPr>
              <a:t>first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last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counter</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err="1">
                <a:solidFill>
                  <a:schemeClr val="tx2">
                    <a:satMod val="130000"/>
                  </a:schemeClr>
                </a:solidFill>
                <a:latin typeface="Courier New" pitchFamily="49" charset="0"/>
              </a:rPr>
              <a:t>void</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main</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a:t>
            </a:r>
            <a:r>
              <a:rPr lang="en-US" sz="2000" dirty="0">
                <a:solidFill>
                  <a:schemeClr val="tx2">
                    <a:satMod val="130000"/>
                  </a:schemeClr>
                </a:solidFill>
                <a:latin typeface="Courier New" pitchFamily="49" charset="0"/>
              </a:rPr>
              <a:t/>
            </a:r>
            <a:br>
              <a:rPr lang="en-US"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init</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int</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num</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rep</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do</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&lt;&lt;"1 - Добавяне на стойност\n";</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&lt;&lt;"2 - Извеждане на стойност\n";</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&lt;&lt;"3 - Край на работа\n";</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&lt;&lt;"Изберете:";</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cin</a:t>
            </a:r>
            <a:r>
              <a:rPr lang="bg-BG" sz="2000" dirty="0">
                <a:solidFill>
                  <a:schemeClr val="tx2">
                    <a:satMod val="130000"/>
                  </a:schemeClr>
                </a:solidFill>
                <a:latin typeface="Courier New" pitchFamily="49" charset="0"/>
              </a:rPr>
              <a:t>&gt;&gt;</a:t>
            </a:r>
            <a:r>
              <a:rPr lang="bg-BG" sz="2000" dirty="0" err="1">
                <a:solidFill>
                  <a:schemeClr val="tx2">
                    <a:satMod val="130000"/>
                  </a:schemeClr>
                </a:solidFill>
                <a:latin typeface="Courier New" pitchFamily="49" charset="0"/>
              </a:rPr>
              <a:t>rep</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switch</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rep</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 </a:t>
            </a:r>
            <a:r>
              <a:rPr lang="bg-BG" sz="2000" dirty="0" err="1">
                <a:solidFill>
                  <a:schemeClr val="tx2">
                    <a:satMod val="130000"/>
                  </a:schemeClr>
                </a:solidFill>
                <a:latin typeface="Courier New" pitchFamily="49" charset="0"/>
              </a:rPr>
              <a:t>case</a:t>
            </a:r>
            <a:r>
              <a:rPr lang="bg-BG" sz="2000" dirty="0">
                <a:solidFill>
                  <a:schemeClr val="tx2">
                    <a:satMod val="130000"/>
                  </a:schemeClr>
                </a:solidFill>
                <a:latin typeface="Courier New" pitchFamily="49" charset="0"/>
              </a:rPr>
              <a:t>(1):</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if</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counter</a:t>
            </a:r>
            <a:r>
              <a:rPr lang="bg-BG" sz="2000" dirty="0">
                <a:solidFill>
                  <a:schemeClr val="tx2">
                    <a:satMod val="130000"/>
                  </a:schemeClr>
                </a:solidFill>
                <a:latin typeface="Courier New" pitchFamily="49" charset="0"/>
              </a:rPr>
              <a:t>&lt;</a:t>
            </a:r>
            <a:r>
              <a:rPr lang="bg-BG" sz="2000" dirty="0" err="1">
                <a:solidFill>
                  <a:schemeClr val="tx2">
                    <a:satMod val="130000"/>
                  </a:schemeClr>
                </a:solidFill>
                <a:latin typeface="Courier New" pitchFamily="49" charset="0"/>
              </a:rPr>
              <a:t>q_size</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&lt;&lt;"Въведете число:";</a:t>
            </a:r>
            <a:r>
              <a:rPr lang="bg-BG" sz="2000" dirty="0" err="1">
                <a:solidFill>
                  <a:schemeClr val="tx2">
                    <a:satMod val="130000"/>
                  </a:schemeClr>
                </a:solidFill>
                <a:latin typeface="Courier New" pitchFamily="49" charset="0"/>
              </a:rPr>
              <a:t>cin</a:t>
            </a:r>
            <a:r>
              <a:rPr lang="bg-BG" sz="2000" dirty="0">
                <a:solidFill>
                  <a:schemeClr val="tx2">
                    <a:satMod val="130000"/>
                  </a:schemeClr>
                </a:solidFill>
                <a:latin typeface="Courier New" pitchFamily="49" charset="0"/>
              </a:rPr>
              <a:t>&gt;&gt;</a:t>
            </a:r>
            <a:r>
              <a:rPr lang="bg-BG" sz="2000" dirty="0" err="1">
                <a:solidFill>
                  <a:schemeClr val="tx2">
                    <a:satMod val="130000"/>
                  </a:schemeClr>
                </a:solidFill>
                <a:latin typeface="Courier New" pitchFamily="49" charset="0"/>
              </a:rPr>
              <a:t>num</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push</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num</a:t>
            </a:r>
            <a:r>
              <a:rPr lang="bg-BG" sz="2000" dirty="0">
                <a:solidFill>
                  <a:schemeClr val="tx2">
                    <a:satMod val="130000"/>
                  </a:schemeClr>
                </a:solidFill>
                <a:latin typeface="Courier New" pitchFamily="49" charset="0"/>
              </a:rPr>
              <a:t>);</a:t>
            </a:r>
            <a:r>
              <a:rPr lang="bg-BG" sz="2000" dirty="0" err="1">
                <a:solidFill>
                  <a:schemeClr val="tx2">
                    <a:satMod val="130000"/>
                  </a:schemeClr>
                </a:solidFill>
                <a:latin typeface="Courier New" pitchFamily="49" charset="0"/>
              </a:rPr>
              <a:t>counter++</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break</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else</a:t>
            </a:r>
            <a:r>
              <a:rPr lang="bg-BG" sz="2000" dirty="0">
                <a:solidFill>
                  <a:schemeClr val="tx2">
                    <a:satMod val="130000"/>
                  </a:schemeClr>
                </a:solidFill>
                <a:latin typeface="Courier New" pitchFamily="49" charset="0"/>
              </a:rPr>
              <a:t> </a:t>
            </a:r>
            <a:r>
              <a:rPr lang="bg-BG" sz="2000" dirty="0" err="1">
                <a:solidFill>
                  <a:schemeClr val="tx2">
                    <a:satMod val="130000"/>
                  </a:schemeClr>
                </a:solidFill>
                <a:latin typeface="Courier New" pitchFamily="49" charset="0"/>
              </a:rPr>
              <a:t>cout</a:t>
            </a:r>
            <a:r>
              <a:rPr lang="bg-BG" sz="2000" dirty="0">
                <a:solidFill>
                  <a:schemeClr val="tx2">
                    <a:satMod val="130000"/>
                  </a:schemeClr>
                </a:solidFill>
                <a:latin typeface="Courier New" pitchFamily="49" charset="0"/>
              </a:rPr>
              <a:t>&lt;&lt;"</a:t>
            </a:r>
            <a:r>
              <a:rPr lang="bg-BG" sz="2000" dirty="0" smtClean="0">
                <a:solidFill>
                  <a:schemeClr val="tx2">
                    <a:satMod val="130000"/>
                  </a:schemeClr>
                </a:solidFill>
                <a:latin typeface="Courier New" pitchFamily="49" charset="0"/>
              </a:rPr>
              <a:t>Буферът е </a:t>
            </a:r>
            <a:r>
              <a:rPr lang="bg-BG" sz="2000" dirty="0">
                <a:solidFill>
                  <a:schemeClr val="tx2">
                    <a:satMod val="130000"/>
                  </a:schemeClr>
                </a:solidFill>
                <a:latin typeface="Courier New" pitchFamily="49" charset="0"/>
              </a:rPr>
              <a:t>препълнен!\n";</a:t>
            </a:r>
            <a:r>
              <a:rPr lang="bg-BG" sz="2000" dirty="0" err="1">
                <a:solidFill>
                  <a:schemeClr val="tx2">
                    <a:satMod val="130000"/>
                  </a:schemeClr>
                </a:solidFill>
                <a:latin typeface="Courier New" pitchFamily="49" charset="0"/>
              </a:rPr>
              <a:t>break</a:t>
            </a:r>
            <a:r>
              <a:rPr lang="bg-BG" sz="2000" dirty="0">
                <a:solidFill>
                  <a:schemeClr val="tx2">
                    <a:satMod val="130000"/>
                  </a:schemeClr>
                </a:solidFill>
                <a:latin typeface="Courier New" pitchFamily="49" charset="0"/>
              </a:rPr>
              <a:t>;</a:t>
            </a:r>
            <a:br>
              <a:rPr lang="bg-BG" sz="2000" dirty="0">
                <a:solidFill>
                  <a:schemeClr val="tx2">
                    <a:satMod val="130000"/>
                  </a:schemeClr>
                </a:solidFill>
                <a:latin typeface="Courier New" pitchFamily="49" charset="0"/>
              </a:rPr>
            </a:br>
            <a:r>
              <a:rPr lang="bg-BG" sz="2000" dirty="0">
                <a:solidFill>
                  <a:schemeClr val="tx2">
                    <a:satMod val="130000"/>
                  </a:schemeClr>
                </a:solidFill>
                <a:latin typeface="Courier New" pitchFamily="49" charset="0"/>
              </a:rPr>
              <a:t>       }</a:t>
            </a:r>
            <a:r>
              <a:rPr lang="en-US" sz="2000" dirty="0">
                <a:solidFill>
                  <a:schemeClr val="tx2">
                    <a:satMod val="130000"/>
                  </a:schemeClr>
                </a:solidFill>
                <a:latin typeface="Courier New" pitchFamily="49" charset="0"/>
              </a:rPr>
              <a:t/>
            </a:r>
            <a:br>
              <a:rPr lang="en-US" sz="2000" dirty="0">
                <a:solidFill>
                  <a:schemeClr val="tx2">
                    <a:satMod val="130000"/>
                  </a:schemeClr>
                </a:solidFill>
                <a:latin typeface="Courier New" pitchFamily="49" charset="0"/>
              </a:rPr>
            </a:br>
            <a:endParaRPr lang="en-US" sz="2000" dirty="0">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4BF044B2-1C36-409A-8C19-7EBC1C1791C9}"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042988" y="620713"/>
            <a:ext cx="7772400" cy="5715000"/>
          </a:xfrm>
        </p:spPr>
        <p:txBody>
          <a:bodyPr>
            <a:normAutofit fontScale="90000"/>
          </a:bodyPr>
          <a:lstStyle/>
          <a:p>
            <a:pPr eaLnBrk="1" fontAlgn="auto" hangingPunct="1">
              <a:spcAft>
                <a:spcPts val="0"/>
              </a:spcAft>
              <a:defRPr/>
            </a:pPr>
            <a:r>
              <a:rPr lang="bg-BG" sz="1800">
                <a:solidFill>
                  <a:schemeClr val="tx2">
                    <a:satMod val="130000"/>
                  </a:schemeClr>
                </a:solidFill>
                <a:latin typeface="Courier New" pitchFamily="49" charset="0"/>
              </a:rPr>
              <a:t/>
            </a:r>
            <a:br>
              <a:rPr lang="bg-BG" sz="1800">
                <a:solidFill>
                  <a:schemeClr val="tx2">
                    <a:satMod val="130000"/>
                  </a:schemeClr>
                </a:solidFill>
                <a:latin typeface="Courier New" pitchFamily="49" charset="0"/>
              </a:rPr>
            </a:br>
            <a:r>
              <a:rPr lang="bg-BG" sz="1800">
                <a:solidFill>
                  <a:schemeClr val="tx2">
                    <a:satMod val="130000"/>
                  </a:schemeClr>
                </a:solidFill>
                <a:latin typeface="Courier New" pitchFamily="49" charset="0"/>
              </a:rPr>
              <a:t/>
            </a:r>
            <a:br>
              <a:rPr lang="bg-BG" sz="18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case(2):</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	   { if (counter)</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	     {cout&lt;&lt;"num="&lt;&lt;pop(num)&lt;&lt;'\n';counter--;}</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		  else cout&lt;&lt;"Буферът е празен!\n";}</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   }</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 }</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 while (rep!=3);</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   cout&lt;&lt;"\n";</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void push(int n)</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 q[last]=n; last=(last+1)%q_size;</a:t>
            </a: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int pop(int n)</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     n=q[first]; first=(first+1)%q_size;</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     return n;</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a:t>
            </a: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void init()</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 first=last=0;</a:t>
            </a:r>
            <a:br>
              <a:rPr lang="bg-BG" sz="2000">
                <a:solidFill>
                  <a:schemeClr val="tx2">
                    <a:satMod val="130000"/>
                  </a:schemeClr>
                </a:solidFill>
                <a:latin typeface="Courier New" pitchFamily="49" charset="0"/>
              </a:rPr>
            </a:br>
            <a:r>
              <a:rPr lang="bg-BG" sz="2000">
                <a:solidFill>
                  <a:schemeClr val="tx2">
                    <a:satMod val="130000"/>
                  </a:schemeClr>
                </a:solidFill>
                <a:latin typeface="Courier New" pitchFamily="49" charset="0"/>
              </a:rPr>
              <a:t>}</a:t>
            </a:r>
            <a:r>
              <a:rPr lang="bg-BG" sz="1800">
                <a:solidFill>
                  <a:schemeClr val="tx2">
                    <a:satMod val="130000"/>
                  </a:schemeClr>
                </a:solidFill>
                <a:latin typeface="Courier New" pitchFamily="49" charset="0"/>
              </a:rPr>
              <a:t/>
            </a:r>
            <a:br>
              <a:rPr lang="bg-BG" sz="1800">
                <a:solidFill>
                  <a:schemeClr val="tx2">
                    <a:satMod val="130000"/>
                  </a:schemeClr>
                </a:solidFill>
                <a:latin typeface="Courier New" pitchFamily="49" charset="0"/>
              </a:rPr>
            </a:br>
            <a:endParaRPr lang="en-US">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B887757A-8910-47C0-9795-1D678BE08375}" type="slidenum">
              <a:rPr lang="en-US" smtClean="0"/>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ChangeArrowheads="1"/>
          </p:cNvSpPr>
          <p:nvPr/>
        </p:nvSpPr>
        <p:spPr bwMode="auto">
          <a:xfrm>
            <a:off x="685800" y="609600"/>
            <a:ext cx="7772400" cy="1143000"/>
          </a:xfrm>
          <a:prstGeom prst="rect">
            <a:avLst/>
          </a:prstGeom>
          <a:noFill/>
          <a:ln w="9525">
            <a:noFill/>
            <a:miter lim="800000"/>
            <a:headEnd/>
            <a:tailEnd/>
          </a:ln>
        </p:spPr>
        <p:txBody>
          <a:bodyPr anchor="ctr"/>
          <a:lstStyle/>
          <a:p>
            <a:pPr algn="ctr"/>
            <a:r>
              <a:rPr lang="en-US" sz="4400">
                <a:solidFill>
                  <a:schemeClr val="tx2"/>
                </a:solidFill>
              </a:rPr>
              <a:t>В</a:t>
            </a:r>
            <a:r>
              <a:rPr lang="bg-BG" sz="4400">
                <a:solidFill>
                  <a:schemeClr val="tx2"/>
                </a:solidFill>
              </a:rPr>
              <a:t>идове  опашки</a:t>
            </a:r>
            <a:endParaRPr lang="en-US" sz="4400">
              <a:solidFill>
                <a:schemeClr val="tx2"/>
              </a:solidFill>
            </a:endParaRPr>
          </a:p>
        </p:txBody>
      </p:sp>
      <p:sp>
        <p:nvSpPr>
          <p:cNvPr id="48131" name="Rectangle 5"/>
          <p:cNvSpPr>
            <a:spLocks noChangeArrowheads="1"/>
          </p:cNvSpPr>
          <p:nvPr/>
        </p:nvSpPr>
        <p:spPr bwMode="auto">
          <a:xfrm>
            <a:off x="1116013" y="1989138"/>
            <a:ext cx="7772400" cy="4114800"/>
          </a:xfrm>
          <a:prstGeom prst="rect">
            <a:avLst/>
          </a:prstGeom>
          <a:noFill/>
          <a:ln w="9525">
            <a:noFill/>
            <a:miter lim="800000"/>
            <a:headEnd/>
            <a:tailEnd/>
          </a:ln>
        </p:spPr>
        <p:txBody>
          <a:bodyPr/>
          <a:lstStyle/>
          <a:p>
            <a:pPr marL="342900" indent="-342900">
              <a:spcBef>
                <a:spcPct val="20000"/>
              </a:spcBef>
              <a:buFontTx/>
              <a:buChar char="•"/>
            </a:pPr>
            <a:r>
              <a:rPr lang="en-US" sz="3200"/>
              <a:t>FIFO</a:t>
            </a:r>
            <a:r>
              <a:rPr lang="bg-BG" sz="3200"/>
              <a:t> - опашка (класическа)</a:t>
            </a:r>
          </a:p>
          <a:p>
            <a:pPr marL="342900" indent="-342900">
              <a:spcBef>
                <a:spcPct val="20000"/>
              </a:spcBef>
              <a:buFontTx/>
              <a:buChar char="•"/>
            </a:pPr>
            <a:r>
              <a:rPr lang="bg-BG" sz="3200"/>
              <a:t>приоритетна опашка</a:t>
            </a:r>
          </a:p>
          <a:p>
            <a:pPr marL="342900" indent="-342900">
              <a:spcBef>
                <a:spcPct val="20000"/>
              </a:spcBef>
              <a:buFontTx/>
              <a:buChar char="•"/>
            </a:pPr>
            <a:r>
              <a:rPr lang="bg-BG" sz="3200"/>
              <a:t>отборна опашка</a:t>
            </a:r>
          </a:p>
          <a:p>
            <a:pPr marL="342900" indent="-342900">
              <a:spcBef>
                <a:spcPct val="20000"/>
              </a:spcBef>
              <a:buFontTx/>
              <a:buChar char="•"/>
            </a:pPr>
            <a:r>
              <a:rPr lang="bg-BG" sz="3200"/>
              <a:t>случайна опашка</a:t>
            </a:r>
          </a:p>
          <a:p>
            <a:pPr marL="342900" indent="-342900">
              <a:spcBef>
                <a:spcPct val="20000"/>
              </a:spcBef>
              <a:buFontTx/>
              <a:buChar char="•"/>
            </a:pPr>
            <a:endParaRPr lang="en-US" sz="3200"/>
          </a:p>
        </p:txBody>
      </p:sp>
      <p:sp>
        <p:nvSpPr>
          <p:cNvPr id="4" name="Slide Number Placeholder 3"/>
          <p:cNvSpPr>
            <a:spLocks noGrp="1"/>
          </p:cNvSpPr>
          <p:nvPr>
            <p:ph type="sldNum" sz="quarter" idx="12"/>
          </p:nvPr>
        </p:nvSpPr>
        <p:spPr/>
        <p:txBody>
          <a:bodyPr/>
          <a:lstStyle/>
          <a:p>
            <a:pPr>
              <a:defRPr/>
            </a:pPr>
            <a:fld id="{EE9B743A-3FB9-4854-8496-E6D3D0165867}"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1042988" y="620713"/>
            <a:ext cx="7772400" cy="5867400"/>
          </a:xfrm>
        </p:spPr>
        <p:txBody>
          <a:bodyPr/>
          <a:lstStyle/>
          <a:p>
            <a:pPr eaLnBrk="1" fontAlgn="auto" hangingPunct="1">
              <a:spcAft>
                <a:spcPts val="0"/>
              </a:spcAft>
              <a:defRPr/>
            </a:pPr>
            <a:r>
              <a:rPr lang="en-US" sz="2800" b="1">
                <a:solidFill>
                  <a:schemeClr val="tx2">
                    <a:satMod val="130000"/>
                  </a:schemeClr>
                </a:solidFill>
              </a:rPr>
              <a:t>			</a:t>
            </a:r>
            <a:r>
              <a:rPr lang="bg-BG" sz="2800" b="1">
                <a:solidFill>
                  <a:schemeClr val="tx2">
                    <a:satMod val="130000"/>
                  </a:schemeClr>
                </a:solidFill>
              </a:rPr>
              <a:t>ДЕК</a:t>
            </a:r>
            <a:r>
              <a:rPr lang="en-US" sz="2800" b="1">
                <a:solidFill>
                  <a:schemeClr val="tx2">
                    <a:satMod val="130000"/>
                  </a:schemeClr>
                </a:solidFill>
              </a:rPr>
              <a:t> (Deque</a:t>
            </a:r>
            <a:r>
              <a:rPr lang="en-US" sz="2800">
                <a:solidFill>
                  <a:schemeClr val="tx1"/>
                </a:solidFill>
              </a:rPr>
              <a:t>)</a:t>
            </a:r>
            <a:br>
              <a:rPr lang="en-US" sz="2800">
                <a:solidFill>
                  <a:schemeClr val="tx1"/>
                </a:solidFill>
              </a:rPr>
            </a:br>
            <a:r>
              <a:rPr lang="en-US" sz="2800">
                <a:solidFill>
                  <a:schemeClr val="tx1"/>
                </a:solidFill>
              </a:rPr>
              <a:t>	</a:t>
            </a:r>
            <a:r>
              <a:rPr lang="bg-BG" sz="2800">
                <a:solidFill>
                  <a:schemeClr val="tx1"/>
                </a:solidFill>
              </a:rPr>
              <a:t>Декът е подредена последователност от еднотипни елементи с възможност за добавяне на нови и извличане на съществуващи от двата края на структура. Възможен е частен случай - ограничен дек, при който в единия му край се допуска добавяне и извличане, а в другия - само една от операциите</a:t>
            </a:r>
            <a:r>
              <a:rPr lang="en-US" sz="2800">
                <a:solidFill>
                  <a:schemeClr val="tx1"/>
                </a:solidFill>
              </a:rPr>
              <a:t>:</a:t>
            </a:r>
            <a:br>
              <a:rPr lang="en-US" sz="2800">
                <a:solidFill>
                  <a:schemeClr val="tx1"/>
                </a:solidFill>
              </a:rPr>
            </a:br>
            <a:r>
              <a:rPr lang="en-US" sz="2800">
                <a:solidFill>
                  <a:schemeClr val="tx1"/>
                </a:solidFill>
              </a:rPr>
              <a:t/>
            </a:r>
            <a:br>
              <a:rPr lang="en-US" sz="2800">
                <a:solidFill>
                  <a:schemeClr val="tx1"/>
                </a:solidFill>
              </a:rPr>
            </a:br>
            <a:r>
              <a:rPr lang="en-US" sz="2800">
                <a:solidFill>
                  <a:schemeClr val="tx1"/>
                </a:solidFill>
              </a:rPr>
              <a:t/>
            </a:r>
            <a:br>
              <a:rPr lang="en-US" sz="2800">
                <a:solidFill>
                  <a:schemeClr val="tx1"/>
                </a:solidFill>
              </a:rPr>
            </a:br>
            <a:r>
              <a:rPr lang="en-US" sz="2800">
                <a:solidFill>
                  <a:schemeClr val="tx1"/>
                </a:solidFill>
              </a:rPr>
              <a:t/>
            </a:r>
            <a:br>
              <a:rPr lang="en-US" sz="2800">
                <a:solidFill>
                  <a:schemeClr val="tx1"/>
                </a:solidFill>
              </a:rPr>
            </a:br>
            <a:r>
              <a:rPr lang="bg-BG" sz="2800">
                <a:solidFill>
                  <a:schemeClr val="tx1"/>
                </a:solidFill>
              </a:rPr>
              <a:t/>
            </a:r>
            <a:br>
              <a:rPr lang="bg-BG" sz="2800">
                <a:solidFill>
                  <a:schemeClr val="tx1"/>
                </a:solidFill>
              </a:rPr>
            </a:br>
            <a:endParaRPr lang="en-US" sz="2800">
              <a:solidFill>
                <a:schemeClr val="tx1"/>
              </a:solidFill>
            </a:endParaRPr>
          </a:p>
        </p:txBody>
      </p:sp>
      <p:grpSp>
        <p:nvGrpSpPr>
          <p:cNvPr id="49155" name="Group 3"/>
          <p:cNvGrpSpPr>
            <a:grpSpLocks/>
          </p:cNvGrpSpPr>
          <p:nvPr/>
        </p:nvGrpSpPr>
        <p:grpSpPr bwMode="auto">
          <a:xfrm>
            <a:off x="990600" y="4648200"/>
            <a:ext cx="7239000" cy="1295400"/>
            <a:chOff x="1341" y="6484"/>
            <a:chExt cx="5580" cy="720"/>
          </a:xfrm>
        </p:grpSpPr>
        <p:sp>
          <p:nvSpPr>
            <p:cNvPr id="49159" name="Text Box 4"/>
            <p:cNvSpPr txBox="1">
              <a:spLocks noChangeArrowheads="1"/>
            </p:cNvSpPr>
            <p:nvPr/>
          </p:nvSpPr>
          <p:spPr bwMode="auto">
            <a:xfrm>
              <a:off x="1701" y="6496"/>
              <a:ext cx="540" cy="360"/>
            </a:xfrm>
            <a:prstGeom prst="rect">
              <a:avLst/>
            </a:prstGeom>
            <a:noFill/>
            <a:ln w="9525">
              <a:noFill/>
              <a:miter lim="800000"/>
              <a:headEnd/>
              <a:tailEnd/>
            </a:ln>
          </p:spPr>
          <p:txBody>
            <a:bodyPr/>
            <a:lstStyle/>
            <a:p>
              <a:endParaRPr lang="bg-BG" sz="1000"/>
            </a:p>
          </p:txBody>
        </p:sp>
        <p:sp>
          <p:nvSpPr>
            <p:cNvPr id="49160" name="Text Box 5"/>
            <p:cNvSpPr txBox="1">
              <a:spLocks noChangeArrowheads="1"/>
            </p:cNvSpPr>
            <p:nvPr/>
          </p:nvSpPr>
          <p:spPr bwMode="auto">
            <a:xfrm>
              <a:off x="6024" y="6496"/>
              <a:ext cx="540" cy="360"/>
            </a:xfrm>
            <a:prstGeom prst="rect">
              <a:avLst/>
            </a:prstGeom>
            <a:noFill/>
            <a:ln w="9525">
              <a:noFill/>
              <a:miter lim="800000"/>
              <a:headEnd/>
              <a:tailEnd/>
            </a:ln>
          </p:spPr>
          <p:txBody>
            <a:bodyPr/>
            <a:lstStyle/>
            <a:p>
              <a:endParaRPr lang="bg-BG" sz="1000"/>
            </a:p>
          </p:txBody>
        </p:sp>
        <p:sp>
          <p:nvSpPr>
            <p:cNvPr id="49161" name="Rectangle 6"/>
            <p:cNvSpPr>
              <a:spLocks noChangeArrowheads="1"/>
            </p:cNvSpPr>
            <p:nvPr/>
          </p:nvSpPr>
          <p:spPr bwMode="auto">
            <a:xfrm>
              <a:off x="2241" y="6484"/>
              <a:ext cx="3780" cy="540"/>
            </a:xfrm>
            <a:prstGeom prst="rect">
              <a:avLst/>
            </a:prstGeom>
            <a:noFill/>
            <a:ln w="15875">
              <a:solidFill>
                <a:srgbClr val="000000"/>
              </a:solidFill>
              <a:miter lim="800000"/>
              <a:headEnd/>
              <a:tailEnd/>
            </a:ln>
          </p:spPr>
          <p:txBody>
            <a:bodyPr/>
            <a:lstStyle/>
            <a:p>
              <a:endParaRPr lang="bg-BG"/>
            </a:p>
          </p:txBody>
        </p:sp>
        <p:sp>
          <p:nvSpPr>
            <p:cNvPr id="49162" name="Rectangle 7"/>
            <p:cNvSpPr>
              <a:spLocks noChangeArrowheads="1"/>
            </p:cNvSpPr>
            <p:nvPr/>
          </p:nvSpPr>
          <p:spPr bwMode="auto">
            <a:xfrm>
              <a:off x="2964" y="6484"/>
              <a:ext cx="360" cy="540"/>
            </a:xfrm>
            <a:prstGeom prst="rect">
              <a:avLst/>
            </a:prstGeom>
            <a:noFill/>
            <a:ln w="15875">
              <a:solidFill>
                <a:srgbClr val="000000"/>
              </a:solidFill>
              <a:miter lim="800000"/>
              <a:headEnd/>
              <a:tailEnd/>
            </a:ln>
          </p:spPr>
          <p:txBody>
            <a:bodyPr/>
            <a:lstStyle/>
            <a:p>
              <a:endParaRPr lang="bg-BG"/>
            </a:p>
          </p:txBody>
        </p:sp>
        <p:sp>
          <p:nvSpPr>
            <p:cNvPr id="49163" name="Rectangle 8"/>
            <p:cNvSpPr>
              <a:spLocks noChangeArrowheads="1"/>
            </p:cNvSpPr>
            <p:nvPr/>
          </p:nvSpPr>
          <p:spPr bwMode="auto">
            <a:xfrm>
              <a:off x="5664" y="6484"/>
              <a:ext cx="360" cy="540"/>
            </a:xfrm>
            <a:prstGeom prst="rect">
              <a:avLst/>
            </a:prstGeom>
            <a:noFill/>
            <a:ln w="15875">
              <a:solidFill>
                <a:srgbClr val="000000"/>
              </a:solidFill>
              <a:miter lim="800000"/>
              <a:headEnd/>
              <a:tailEnd/>
            </a:ln>
          </p:spPr>
          <p:txBody>
            <a:bodyPr/>
            <a:lstStyle/>
            <a:p>
              <a:endParaRPr lang="bg-BG"/>
            </a:p>
          </p:txBody>
        </p:sp>
        <p:sp>
          <p:nvSpPr>
            <p:cNvPr id="49164" name="Rectangle 9"/>
            <p:cNvSpPr>
              <a:spLocks noChangeArrowheads="1"/>
            </p:cNvSpPr>
            <p:nvPr/>
          </p:nvSpPr>
          <p:spPr bwMode="auto">
            <a:xfrm>
              <a:off x="5304" y="6484"/>
              <a:ext cx="360" cy="540"/>
            </a:xfrm>
            <a:prstGeom prst="rect">
              <a:avLst/>
            </a:prstGeom>
            <a:noFill/>
            <a:ln w="15875">
              <a:solidFill>
                <a:srgbClr val="000000"/>
              </a:solidFill>
              <a:miter lim="800000"/>
              <a:headEnd/>
              <a:tailEnd/>
            </a:ln>
          </p:spPr>
          <p:txBody>
            <a:bodyPr/>
            <a:lstStyle/>
            <a:p>
              <a:endParaRPr lang="bg-BG"/>
            </a:p>
          </p:txBody>
        </p:sp>
        <p:sp>
          <p:nvSpPr>
            <p:cNvPr id="49165" name="Rectangle 10"/>
            <p:cNvSpPr>
              <a:spLocks noChangeArrowheads="1"/>
            </p:cNvSpPr>
            <p:nvPr/>
          </p:nvSpPr>
          <p:spPr bwMode="auto">
            <a:xfrm>
              <a:off x="4944" y="6484"/>
              <a:ext cx="360" cy="540"/>
            </a:xfrm>
            <a:prstGeom prst="rect">
              <a:avLst/>
            </a:prstGeom>
            <a:noFill/>
            <a:ln w="15875">
              <a:solidFill>
                <a:srgbClr val="000000"/>
              </a:solidFill>
              <a:miter lim="800000"/>
              <a:headEnd/>
              <a:tailEnd/>
            </a:ln>
          </p:spPr>
          <p:txBody>
            <a:bodyPr/>
            <a:lstStyle/>
            <a:p>
              <a:endParaRPr lang="bg-BG"/>
            </a:p>
          </p:txBody>
        </p:sp>
        <p:sp>
          <p:nvSpPr>
            <p:cNvPr id="49166" name="Rectangle 11"/>
            <p:cNvSpPr>
              <a:spLocks noChangeArrowheads="1"/>
            </p:cNvSpPr>
            <p:nvPr/>
          </p:nvSpPr>
          <p:spPr bwMode="auto">
            <a:xfrm>
              <a:off x="2244" y="6484"/>
              <a:ext cx="360" cy="540"/>
            </a:xfrm>
            <a:prstGeom prst="rect">
              <a:avLst/>
            </a:prstGeom>
            <a:noFill/>
            <a:ln w="15875">
              <a:solidFill>
                <a:srgbClr val="000000"/>
              </a:solidFill>
              <a:miter lim="800000"/>
              <a:headEnd/>
              <a:tailEnd/>
            </a:ln>
          </p:spPr>
          <p:txBody>
            <a:bodyPr/>
            <a:lstStyle/>
            <a:p>
              <a:endParaRPr lang="bg-BG"/>
            </a:p>
          </p:txBody>
        </p:sp>
        <p:sp>
          <p:nvSpPr>
            <p:cNvPr id="49167" name="Rectangle 12"/>
            <p:cNvSpPr>
              <a:spLocks noChangeArrowheads="1"/>
            </p:cNvSpPr>
            <p:nvPr/>
          </p:nvSpPr>
          <p:spPr bwMode="auto">
            <a:xfrm>
              <a:off x="2604" y="6484"/>
              <a:ext cx="360" cy="540"/>
            </a:xfrm>
            <a:prstGeom prst="rect">
              <a:avLst/>
            </a:prstGeom>
            <a:noFill/>
            <a:ln w="15875">
              <a:solidFill>
                <a:srgbClr val="000000"/>
              </a:solidFill>
              <a:miter lim="800000"/>
              <a:headEnd/>
              <a:tailEnd/>
            </a:ln>
          </p:spPr>
          <p:txBody>
            <a:bodyPr/>
            <a:lstStyle/>
            <a:p>
              <a:endParaRPr lang="bg-BG"/>
            </a:p>
          </p:txBody>
        </p:sp>
        <p:sp>
          <p:nvSpPr>
            <p:cNvPr id="49168" name="Text Box 13"/>
            <p:cNvSpPr txBox="1">
              <a:spLocks noChangeArrowheads="1"/>
            </p:cNvSpPr>
            <p:nvPr/>
          </p:nvSpPr>
          <p:spPr bwMode="auto">
            <a:xfrm>
              <a:off x="1341" y="6844"/>
              <a:ext cx="900" cy="360"/>
            </a:xfrm>
            <a:prstGeom prst="rect">
              <a:avLst/>
            </a:prstGeom>
            <a:noFill/>
            <a:ln w="9525">
              <a:noFill/>
              <a:miter lim="800000"/>
              <a:headEnd/>
              <a:tailEnd/>
            </a:ln>
          </p:spPr>
          <p:txBody>
            <a:bodyPr/>
            <a:lstStyle/>
            <a:p>
              <a:r>
                <a:rPr lang="en-US" sz="2000" b="1">
                  <a:latin typeface="Courier New" pitchFamily="49" charset="0"/>
                </a:rPr>
                <a:t>left</a:t>
              </a:r>
              <a:endParaRPr lang="en-US" sz="1000">
                <a:latin typeface="Courier New" pitchFamily="49" charset="0"/>
              </a:endParaRPr>
            </a:p>
          </p:txBody>
        </p:sp>
        <p:sp>
          <p:nvSpPr>
            <p:cNvPr id="49169" name="Text Box 14"/>
            <p:cNvSpPr txBox="1">
              <a:spLocks noChangeArrowheads="1"/>
            </p:cNvSpPr>
            <p:nvPr/>
          </p:nvSpPr>
          <p:spPr bwMode="auto">
            <a:xfrm>
              <a:off x="6021" y="6844"/>
              <a:ext cx="900" cy="360"/>
            </a:xfrm>
            <a:prstGeom prst="rect">
              <a:avLst/>
            </a:prstGeom>
            <a:noFill/>
            <a:ln w="9525">
              <a:noFill/>
              <a:miter lim="800000"/>
              <a:headEnd/>
              <a:tailEnd/>
            </a:ln>
          </p:spPr>
          <p:txBody>
            <a:bodyPr/>
            <a:lstStyle/>
            <a:p>
              <a:r>
                <a:rPr lang="en-US" sz="2000" b="1">
                  <a:latin typeface="Courier New" pitchFamily="49" charset="0"/>
                </a:rPr>
                <a:t>right</a:t>
              </a:r>
            </a:p>
          </p:txBody>
        </p:sp>
      </p:grpSp>
      <p:sp>
        <p:nvSpPr>
          <p:cNvPr id="49156" name="Line 15"/>
          <p:cNvSpPr>
            <a:spLocks noChangeShapeType="1"/>
          </p:cNvSpPr>
          <p:nvPr/>
        </p:nvSpPr>
        <p:spPr bwMode="auto">
          <a:xfrm>
            <a:off x="1495425" y="5119688"/>
            <a:ext cx="685800" cy="0"/>
          </a:xfrm>
          <a:prstGeom prst="line">
            <a:avLst/>
          </a:prstGeom>
          <a:noFill/>
          <a:ln w="9525">
            <a:solidFill>
              <a:schemeClr val="tx1"/>
            </a:solidFill>
            <a:round/>
            <a:headEnd type="triangle" w="med" len="med"/>
            <a:tailEnd type="triangle" w="med" len="med"/>
          </a:ln>
        </p:spPr>
        <p:txBody>
          <a:bodyPr wrap="none" anchor="ctr"/>
          <a:lstStyle/>
          <a:p>
            <a:endParaRPr lang="bg-BG"/>
          </a:p>
        </p:txBody>
      </p:sp>
      <p:sp>
        <p:nvSpPr>
          <p:cNvPr id="49157" name="Line 16"/>
          <p:cNvSpPr>
            <a:spLocks noChangeShapeType="1"/>
          </p:cNvSpPr>
          <p:nvPr/>
        </p:nvSpPr>
        <p:spPr bwMode="auto">
          <a:xfrm>
            <a:off x="7086600" y="5105400"/>
            <a:ext cx="685800" cy="0"/>
          </a:xfrm>
          <a:prstGeom prst="line">
            <a:avLst/>
          </a:prstGeom>
          <a:noFill/>
          <a:ln w="9525">
            <a:solidFill>
              <a:schemeClr val="tx1"/>
            </a:solidFill>
            <a:round/>
            <a:headEnd type="triangle" w="med" len="med"/>
            <a:tailEnd type="triangle" w="med" len="med"/>
          </a:ln>
        </p:spPr>
        <p:txBody>
          <a:bodyPr wrap="none" anchor="ctr"/>
          <a:lstStyle/>
          <a:p>
            <a:endParaRPr lang="bg-BG"/>
          </a:p>
        </p:txBody>
      </p:sp>
      <p:sp>
        <p:nvSpPr>
          <p:cNvPr id="17" name="Slide Number Placeholder 16"/>
          <p:cNvSpPr>
            <a:spLocks noGrp="1"/>
          </p:cNvSpPr>
          <p:nvPr>
            <p:ph type="sldNum" sz="quarter" idx="12"/>
          </p:nvPr>
        </p:nvSpPr>
        <p:spPr/>
        <p:txBody>
          <a:bodyPr/>
          <a:lstStyle/>
          <a:p>
            <a:pPr>
              <a:defRPr/>
            </a:pPr>
            <a:fld id="{171923BD-0950-46CC-9F26-2ACCB97C83CE}" type="slidenum">
              <a:rPr lang="en-US" smtClean="0"/>
              <a:pPr>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228600" y="609600"/>
            <a:ext cx="8686800" cy="5715000"/>
          </a:xfrm>
        </p:spPr>
        <p:txBody>
          <a:bodyPr/>
          <a:lstStyle/>
          <a:p>
            <a:pPr eaLnBrk="1" fontAlgn="auto" hangingPunct="1">
              <a:spcAft>
                <a:spcPts val="0"/>
              </a:spcAft>
              <a:defRPr/>
            </a:pPr>
            <a:r>
              <a:rPr lang="en-US" sz="2400">
                <a:solidFill>
                  <a:schemeClr val="tx1"/>
                </a:solidFill>
              </a:rPr>
              <a:t>	</a:t>
            </a:r>
            <a:r>
              <a:rPr lang="bg-BG" sz="2400">
                <a:solidFill>
                  <a:schemeClr val="tx1"/>
                </a:solidFill>
              </a:rPr>
              <a:t>Стекът и опашката със своите дисциплини за достъп </a:t>
            </a:r>
            <a:r>
              <a:rPr lang="bg-BG" sz="2400" b="1">
                <a:solidFill>
                  <a:schemeClr val="tx1"/>
                </a:solidFill>
              </a:rPr>
              <a:t>FIFO</a:t>
            </a:r>
            <a:r>
              <a:rPr lang="bg-BG" sz="2400">
                <a:solidFill>
                  <a:schemeClr val="tx1"/>
                </a:solidFill>
              </a:rPr>
              <a:t> и </a:t>
            </a:r>
            <a:r>
              <a:rPr lang="bg-BG" sz="2400" b="1">
                <a:solidFill>
                  <a:schemeClr val="tx1"/>
                </a:solidFill>
              </a:rPr>
              <a:t>LIFO</a:t>
            </a:r>
            <a:r>
              <a:rPr lang="bg-BG" sz="2400">
                <a:solidFill>
                  <a:schemeClr val="tx1"/>
                </a:solidFill>
              </a:rPr>
              <a:t> могат да се разглеждат като частен случай на дек.</a:t>
            </a:r>
            <a:r>
              <a:rPr lang="en-US" sz="2400">
                <a:solidFill>
                  <a:schemeClr val="tx1"/>
                </a:solidFill>
              </a:rPr>
              <a:t/>
            </a:r>
            <a:br>
              <a:rPr lang="en-US" sz="2400">
                <a:solidFill>
                  <a:schemeClr val="tx1"/>
                </a:solidFill>
              </a:rPr>
            </a:br>
            <a:r>
              <a:rPr lang="bg-BG" sz="2400">
                <a:solidFill>
                  <a:schemeClr val="tx1"/>
                </a:solidFill>
              </a:rPr>
              <a:t/>
            </a:r>
            <a:br>
              <a:rPr lang="bg-BG" sz="2400">
                <a:solidFill>
                  <a:schemeClr val="tx1"/>
                </a:solidFill>
              </a:rPr>
            </a:br>
            <a:r>
              <a:rPr lang="en-US" sz="2400">
                <a:solidFill>
                  <a:schemeClr val="tx1"/>
                </a:solidFill>
              </a:rPr>
              <a:t>	</a:t>
            </a:r>
            <a:r>
              <a:rPr lang="bg-BG" sz="2400">
                <a:solidFill>
                  <a:schemeClr val="tx1"/>
                </a:solidFill>
              </a:rPr>
              <a:t>Основните операции със структурата са:</a:t>
            </a:r>
            <a:br>
              <a:rPr lang="bg-BG" sz="2400">
                <a:solidFill>
                  <a:schemeClr val="tx1"/>
                </a:solidFill>
              </a:rPr>
            </a:br>
            <a:r>
              <a:rPr lang="en-US" sz="2400">
                <a:solidFill>
                  <a:schemeClr val="tx1"/>
                </a:solidFill>
              </a:rPr>
              <a:t>  - </a:t>
            </a:r>
            <a:r>
              <a:rPr lang="bg-BG" sz="2400">
                <a:solidFill>
                  <a:schemeClr val="tx1"/>
                </a:solidFill>
              </a:rPr>
              <a:t>Инициализиране на дек (</a:t>
            </a:r>
            <a:r>
              <a:rPr lang="bg-BG" sz="2400" b="1">
                <a:solidFill>
                  <a:schemeClr val="tx1"/>
                </a:solidFill>
                <a:latin typeface="Courier New" pitchFamily="49" charset="0"/>
              </a:rPr>
              <a:t>init</a:t>
            </a:r>
            <a:r>
              <a:rPr lang="bg-BG" sz="2400">
                <a:solidFill>
                  <a:schemeClr val="tx1"/>
                </a:solidFill>
              </a:rPr>
              <a:t>).</a:t>
            </a:r>
            <a:br>
              <a:rPr lang="bg-BG" sz="2400">
                <a:solidFill>
                  <a:schemeClr val="tx1"/>
                </a:solidFill>
              </a:rPr>
            </a:br>
            <a:r>
              <a:rPr lang="en-US" sz="2400">
                <a:solidFill>
                  <a:schemeClr val="tx1"/>
                </a:solidFill>
              </a:rPr>
              <a:t>  - </a:t>
            </a:r>
            <a:r>
              <a:rPr lang="bg-BG" sz="2400">
                <a:solidFill>
                  <a:schemeClr val="tx1"/>
                </a:solidFill>
              </a:rPr>
              <a:t>Добавяне на елемент в единия от двата края на дека (</a:t>
            </a:r>
            <a:r>
              <a:rPr lang="bg-BG" sz="2400" b="1">
                <a:solidFill>
                  <a:schemeClr val="tx1"/>
                </a:solidFill>
                <a:latin typeface="Courier New" pitchFamily="49" charset="0"/>
              </a:rPr>
              <a:t>push</a:t>
            </a:r>
            <a:r>
              <a:rPr lang="bg-BG" sz="2400">
                <a:solidFill>
                  <a:schemeClr val="tx1"/>
                </a:solidFill>
              </a:rPr>
              <a:t>).</a:t>
            </a:r>
            <a:br>
              <a:rPr lang="bg-BG" sz="2400">
                <a:solidFill>
                  <a:schemeClr val="tx1"/>
                </a:solidFill>
              </a:rPr>
            </a:br>
            <a:r>
              <a:rPr lang="en-US" sz="2400">
                <a:solidFill>
                  <a:schemeClr val="tx1"/>
                </a:solidFill>
              </a:rPr>
              <a:t>  - </a:t>
            </a:r>
            <a:r>
              <a:rPr lang="bg-BG" sz="2400">
                <a:solidFill>
                  <a:schemeClr val="tx1"/>
                </a:solidFill>
              </a:rPr>
              <a:t>Извличане на елемент от единия от двата края на дека (</a:t>
            </a:r>
            <a:r>
              <a:rPr lang="bg-BG" sz="2400" b="1">
                <a:solidFill>
                  <a:schemeClr val="tx1"/>
                </a:solidFill>
                <a:latin typeface="Courier New" pitchFamily="49" charset="0"/>
              </a:rPr>
              <a:t>pop</a:t>
            </a:r>
            <a:r>
              <a:rPr lang="bg-BG" sz="2400">
                <a:solidFill>
                  <a:schemeClr val="tx1"/>
                </a:solidFill>
              </a:rPr>
              <a:t>).</a:t>
            </a:r>
            <a:r>
              <a:rPr lang="en-US" sz="2400">
                <a:solidFill>
                  <a:schemeClr val="tx1"/>
                </a:solidFill>
              </a:rPr>
              <a:t/>
            </a:r>
            <a:br>
              <a:rPr lang="en-US" sz="2400">
                <a:solidFill>
                  <a:schemeClr val="tx1"/>
                </a:solidFill>
              </a:rPr>
            </a:br>
            <a:r>
              <a:rPr lang="en-US" sz="2400">
                <a:solidFill>
                  <a:schemeClr val="tx1"/>
                </a:solidFill>
              </a:rPr>
              <a:t/>
            </a:r>
            <a:br>
              <a:rPr lang="en-US" sz="2400">
                <a:solidFill>
                  <a:schemeClr val="tx1"/>
                </a:solidFill>
              </a:rPr>
            </a:br>
            <a:r>
              <a:rPr lang="en-US" sz="2400">
                <a:solidFill>
                  <a:schemeClr val="tx1"/>
                </a:solidFill>
              </a:rPr>
              <a:t/>
            </a:r>
            <a:br>
              <a:rPr lang="en-US" sz="2400">
                <a:solidFill>
                  <a:schemeClr val="tx1"/>
                </a:solidFill>
              </a:rPr>
            </a:br>
            <a:r>
              <a:rPr lang="en-US" sz="2400">
                <a:solidFill>
                  <a:schemeClr val="tx1"/>
                </a:solidFill>
              </a:rPr>
              <a:t/>
            </a:r>
            <a:br>
              <a:rPr lang="en-US" sz="2400">
                <a:solidFill>
                  <a:schemeClr val="tx1"/>
                </a:solidFill>
              </a:rPr>
            </a:br>
            <a:r>
              <a:rPr lang="en-US" sz="2400">
                <a:solidFill>
                  <a:schemeClr val="tx1"/>
                </a:solidFill>
              </a:rPr>
              <a:t/>
            </a:r>
            <a:br>
              <a:rPr lang="en-US" sz="2400">
                <a:solidFill>
                  <a:schemeClr val="tx1"/>
                </a:solidFill>
              </a:rPr>
            </a:br>
            <a:endParaRPr lang="en-US">
              <a:solidFill>
                <a:schemeClr val="tx1"/>
              </a:solidFill>
            </a:endParaRPr>
          </a:p>
        </p:txBody>
      </p:sp>
      <p:grpSp>
        <p:nvGrpSpPr>
          <p:cNvPr id="50179" name="Group 3"/>
          <p:cNvGrpSpPr>
            <a:grpSpLocks/>
          </p:cNvGrpSpPr>
          <p:nvPr/>
        </p:nvGrpSpPr>
        <p:grpSpPr bwMode="auto">
          <a:xfrm>
            <a:off x="838200" y="3886200"/>
            <a:ext cx="7239000" cy="1295400"/>
            <a:chOff x="1341" y="6484"/>
            <a:chExt cx="5580" cy="720"/>
          </a:xfrm>
        </p:grpSpPr>
        <p:sp>
          <p:nvSpPr>
            <p:cNvPr id="50193" name="Text Box 4"/>
            <p:cNvSpPr txBox="1">
              <a:spLocks noChangeArrowheads="1"/>
            </p:cNvSpPr>
            <p:nvPr/>
          </p:nvSpPr>
          <p:spPr bwMode="auto">
            <a:xfrm>
              <a:off x="1701" y="6496"/>
              <a:ext cx="540" cy="360"/>
            </a:xfrm>
            <a:prstGeom prst="rect">
              <a:avLst/>
            </a:prstGeom>
            <a:noFill/>
            <a:ln w="9525">
              <a:noFill/>
              <a:miter lim="800000"/>
              <a:headEnd/>
              <a:tailEnd/>
            </a:ln>
          </p:spPr>
          <p:txBody>
            <a:bodyPr/>
            <a:lstStyle/>
            <a:p>
              <a:endParaRPr lang="bg-BG" sz="1000"/>
            </a:p>
          </p:txBody>
        </p:sp>
        <p:sp>
          <p:nvSpPr>
            <p:cNvPr id="50194" name="Text Box 5"/>
            <p:cNvSpPr txBox="1">
              <a:spLocks noChangeArrowheads="1"/>
            </p:cNvSpPr>
            <p:nvPr/>
          </p:nvSpPr>
          <p:spPr bwMode="auto">
            <a:xfrm>
              <a:off x="6024" y="6496"/>
              <a:ext cx="540" cy="360"/>
            </a:xfrm>
            <a:prstGeom prst="rect">
              <a:avLst/>
            </a:prstGeom>
            <a:noFill/>
            <a:ln w="9525">
              <a:noFill/>
              <a:miter lim="800000"/>
              <a:headEnd/>
              <a:tailEnd/>
            </a:ln>
          </p:spPr>
          <p:txBody>
            <a:bodyPr/>
            <a:lstStyle/>
            <a:p>
              <a:endParaRPr lang="bg-BG" sz="1000"/>
            </a:p>
          </p:txBody>
        </p:sp>
        <p:sp>
          <p:nvSpPr>
            <p:cNvPr id="50195" name="Rectangle 6"/>
            <p:cNvSpPr>
              <a:spLocks noChangeArrowheads="1"/>
            </p:cNvSpPr>
            <p:nvPr/>
          </p:nvSpPr>
          <p:spPr bwMode="auto">
            <a:xfrm>
              <a:off x="2241" y="6484"/>
              <a:ext cx="3780" cy="540"/>
            </a:xfrm>
            <a:prstGeom prst="rect">
              <a:avLst/>
            </a:prstGeom>
            <a:noFill/>
            <a:ln w="15875">
              <a:solidFill>
                <a:srgbClr val="000000"/>
              </a:solidFill>
              <a:miter lim="800000"/>
              <a:headEnd/>
              <a:tailEnd/>
            </a:ln>
          </p:spPr>
          <p:txBody>
            <a:bodyPr/>
            <a:lstStyle/>
            <a:p>
              <a:endParaRPr lang="bg-BG"/>
            </a:p>
          </p:txBody>
        </p:sp>
        <p:sp>
          <p:nvSpPr>
            <p:cNvPr id="50196" name="Rectangle 7"/>
            <p:cNvSpPr>
              <a:spLocks noChangeArrowheads="1"/>
            </p:cNvSpPr>
            <p:nvPr/>
          </p:nvSpPr>
          <p:spPr bwMode="auto">
            <a:xfrm>
              <a:off x="2964" y="6484"/>
              <a:ext cx="360" cy="540"/>
            </a:xfrm>
            <a:prstGeom prst="rect">
              <a:avLst/>
            </a:prstGeom>
            <a:noFill/>
            <a:ln w="15875">
              <a:solidFill>
                <a:srgbClr val="000000"/>
              </a:solidFill>
              <a:miter lim="800000"/>
              <a:headEnd/>
              <a:tailEnd/>
            </a:ln>
          </p:spPr>
          <p:txBody>
            <a:bodyPr/>
            <a:lstStyle/>
            <a:p>
              <a:endParaRPr lang="bg-BG"/>
            </a:p>
          </p:txBody>
        </p:sp>
        <p:sp>
          <p:nvSpPr>
            <p:cNvPr id="50197" name="Rectangle 8"/>
            <p:cNvSpPr>
              <a:spLocks noChangeArrowheads="1"/>
            </p:cNvSpPr>
            <p:nvPr/>
          </p:nvSpPr>
          <p:spPr bwMode="auto">
            <a:xfrm>
              <a:off x="5664" y="6484"/>
              <a:ext cx="360" cy="540"/>
            </a:xfrm>
            <a:prstGeom prst="rect">
              <a:avLst/>
            </a:prstGeom>
            <a:noFill/>
            <a:ln w="15875">
              <a:solidFill>
                <a:srgbClr val="000000"/>
              </a:solidFill>
              <a:miter lim="800000"/>
              <a:headEnd/>
              <a:tailEnd/>
            </a:ln>
          </p:spPr>
          <p:txBody>
            <a:bodyPr/>
            <a:lstStyle/>
            <a:p>
              <a:endParaRPr lang="bg-BG"/>
            </a:p>
          </p:txBody>
        </p:sp>
        <p:sp>
          <p:nvSpPr>
            <p:cNvPr id="50198" name="Rectangle 9"/>
            <p:cNvSpPr>
              <a:spLocks noChangeArrowheads="1"/>
            </p:cNvSpPr>
            <p:nvPr/>
          </p:nvSpPr>
          <p:spPr bwMode="auto">
            <a:xfrm>
              <a:off x="5304" y="6484"/>
              <a:ext cx="360" cy="540"/>
            </a:xfrm>
            <a:prstGeom prst="rect">
              <a:avLst/>
            </a:prstGeom>
            <a:noFill/>
            <a:ln w="15875">
              <a:solidFill>
                <a:srgbClr val="000000"/>
              </a:solidFill>
              <a:miter lim="800000"/>
              <a:headEnd/>
              <a:tailEnd/>
            </a:ln>
          </p:spPr>
          <p:txBody>
            <a:bodyPr/>
            <a:lstStyle/>
            <a:p>
              <a:endParaRPr lang="bg-BG"/>
            </a:p>
          </p:txBody>
        </p:sp>
        <p:sp>
          <p:nvSpPr>
            <p:cNvPr id="50199" name="Rectangle 10"/>
            <p:cNvSpPr>
              <a:spLocks noChangeArrowheads="1"/>
            </p:cNvSpPr>
            <p:nvPr/>
          </p:nvSpPr>
          <p:spPr bwMode="auto">
            <a:xfrm>
              <a:off x="4944" y="6484"/>
              <a:ext cx="360" cy="540"/>
            </a:xfrm>
            <a:prstGeom prst="rect">
              <a:avLst/>
            </a:prstGeom>
            <a:noFill/>
            <a:ln w="15875">
              <a:solidFill>
                <a:srgbClr val="000000"/>
              </a:solidFill>
              <a:miter lim="800000"/>
              <a:headEnd/>
              <a:tailEnd/>
            </a:ln>
          </p:spPr>
          <p:txBody>
            <a:bodyPr/>
            <a:lstStyle/>
            <a:p>
              <a:endParaRPr lang="bg-BG"/>
            </a:p>
          </p:txBody>
        </p:sp>
        <p:sp>
          <p:nvSpPr>
            <p:cNvPr id="50200" name="Rectangle 11"/>
            <p:cNvSpPr>
              <a:spLocks noChangeArrowheads="1"/>
            </p:cNvSpPr>
            <p:nvPr/>
          </p:nvSpPr>
          <p:spPr bwMode="auto">
            <a:xfrm>
              <a:off x="2244" y="6484"/>
              <a:ext cx="360" cy="540"/>
            </a:xfrm>
            <a:prstGeom prst="rect">
              <a:avLst/>
            </a:prstGeom>
            <a:noFill/>
            <a:ln w="15875">
              <a:solidFill>
                <a:srgbClr val="000000"/>
              </a:solidFill>
              <a:miter lim="800000"/>
              <a:headEnd/>
              <a:tailEnd/>
            </a:ln>
          </p:spPr>
          <p:txBody>
            <a:bodyPr/>
            <a:lstStyle/>
            <a:p>
              <a:endParaRPr lang="bg-BG"/>
            </a:p>
          </p:txBody>
        </p:sp>
        <p:sp>
          <p:nvSpPr>
            <p:cNvPr id="50201" name="Rectangle 12"/>
            <p:cNvSpPr>
              <a:spLocks noChangeArrowheads="1"/>
            </p:cNvSpPr>
            <p:nvPr/>
          </p:nvSpPr>
          <p:spPr bwMode="auto">
            <a:xfrm>
              <a:off x="2604" y="6484"/>
              <a:ext cx="360" cy="540"/>
            </a:xfrm>
            <a:prstGeom prst="rect">
              <a:avLst/>
            </a:prstGeom>
            <a:noFill/>
            <a:ln w="15875">
              <a:solidFill>
                <a:srgbClr val="000000"/>
              </a:solidFill>
              <a:miter lim="800000"/>
              <a:headEnd/>
              <a:tailEnd/>
            </a:ln>
          </p:spPr>
          <p:txBody>
            <a:bodyPr/>
            <a:lstStyle/>
            <a:p>
              <a:endParaRPr lang="bg-BG"/>
            </a:p>
          </p:txBody>
        </p:sp>
        <p:sp>
          <p:nvSpPr>
            <p:cNvPr id="50202" name="Text Box 13"/>
            <p:cNvSpPr txBox="1">
              <a:spLocks noChangeArrowheads="1"/>
            </p:cNvSpPr>
            <p:nvPr/>
          </p:nvSpPr>
          <p:spPr bwMode="auto">
            <a:xfrm>
              <a:off x="1341" y="6844"/>
              <a:ext cx="900" cy="360"/>
            </a:xfrm>
            <a:prstGeom prst="rect">
              <a:avLst/>
            </a:prstGeom>
            <a:noFill/>
            <a:ln w="9525">
              <a:noFill/>
              <a:miter lim="800000"/>
              <a:headEnd/>
              <a:tailEnd/>
            </a:ln>
          </p:spPr>
          <p:txBody>
            <a:bodyPr/>
            <a:lstStyle/>
            <a:p>
              <a:r>
                <a:rPr lang="en-US" sz="2000" b="1">
                  <a:latin typeface="Courier New" pitchFamily="49" charset="0"/>
                </a:rPr>
                <a:t>left</a:t>
              </a:r>
              <a:endParaRPr lang="en-US" sz="1000">
                <a:latin typeface="Courier New" pitchFamily="49" charset="0"/>
              </a:endParaRPr>
            </a:p>
          </p:txBody>
        </p:sp>
        <p:sp>
          <p:nvSpPr>
            <p:cNvPr id="50203" name="Text Box 14"/>
            <p:cNvSpPr txBox="1">
              <a:spLocks noChangeArrowheads="1"/>
            </p:cNvSpPr>
            <p:nvPr/>
          </p:nvSpPr>
          <p:spPr bwMode="auto">
            <a:xfrm>
              <a:off x="6021" y="6844"/>
              <a:ext cx="900" cy="360"/>
            </a:xfrm>
            <a:prstGeom prst="rect">
              <a:avLst/>
            </a:prstGeom>
            <a:noFill/>
            <a:ln w="9525">
              <a:noFill/>
              <a:miter lim="800000"/>
              <a:headEnd/>
              <a:tailEnd/>
            </a:ln>
          </p:spPr>
          <p:txBody>
            <a:bodyPr/>
            <a:lstStyle/>
            <a:p>
              <a:r>
                <a:rPr lang="en-US" sz="2000" b="1">
                  <a:latin typeface="Courier New" pitchFamily="49" charset="0"/>
                </a:rPr>
                <a:t>right</a:t>
              </a:r>
            </a:p>
          </p:txBody>
        </p:sp>
      </p:grpSp>
      <p:sp>
        <p:nvSpPr>
          <p:cNvPr id="50180" name="Line 15"/>
          <p:cNvSpPr>
            <a:spLocks noChangeShapeType="1"/>
          </p:cNvSpPr>
          <p:nvPr/>
        </p:nvSpPr>
        <p:spPr bwMode="auto">
          <a:xfrm>
            <a:off x="1328738" y="4357688"/>
            <a:ext cx="685800" cy="0"/>
          </a:xfrm>
          <a:prstGeom prst="line">
            <a:avLst/>
          </a:prstGeom>
          <a:noFill/>
          <a:ln w="9525">
            <a:solidFill>
              <a:schemeClr val="tx1"/>
            </a:solidFill>
            <a:round/>
            <a:headEnd type="triangle" w="med" len="med"/>
            <a:tailEnd type="triangle" w="med" len="med"/>
          </a:ln>
        </p:spPr>
        <p:txBody>
          <a:bodyPr wrap="none" anchor="ctr"/>
          <a:lstStyle/>
          <a:p>
            <a:endParaRPr lang="bg-BG"/>
          </a:p>
        </p:txBody>
      </p:sp>
      <p:sp>
        <p:nvSpPr>
          <p:cNvPr id="50181" name="Line 16"/>
          <p:cNvSpPr>
            <a:spLocks noChangeShapeType="1"/>
          </p:cNvSpPr>
          <p:nvPr/>
        </p:nvSpPr>
        <p:spPr bwMode="auto">
          <a:xfrm>
            <a:off x="6919913" y="4371975"/>
            <a:ext cx="685800" cy="0"/>
          </a:xfrm>
          <a:prstGeom prst="line">
            <a:avLst/>
          </a:prstGeom>
          <a:noFill/>
          <a:ln w="9525">
            <a:solidFill>
              <a:schemeClr val="tx1"/>
            </a:solidFill>
            <a:round/>
            <a:headEnd type="triangle" w="med" len="med"/>
            <a:tailEnd type="triangle" w="med" len="med"/>
          </a:ln>
        </p:spPr>
        <p:txBody>
          <a:bodyPr wrap="none" anchor="ctr"/>
          <a:lstStyle/>
          <a:p>
            <a:endParaRPr lang="bg-BG"/>
          </a:p>
        </p:txBody>
      </p:sp>
      <p:grpSp>
        <p:nvGrpSpPr>
          <p:cNvPr id="50182" name="Group 17"/>
          <p:cNvGrpSpPr>
            <a:grpSpLocks/>
          </p:cNvGrpSpPr>
          <p:nvPr/>
        </p:nvGrpSpPr>
        <p:grpSpPr bwMode="auto">
          <a:xfrm>
            <a:off x="4724400" y="5029200"/>
            <a:ext cx="1828800" cy="838200"/>
            <a:chOff x="4401" y="1197"/>
            <a:chExt cx="1620" cy="540"/>
          </a:xfrm>
        </p:grpSpPr>
        <p:sp>
          <p:nvSpPr>
            <p:cNvPr id="50190" name="Text Box 18"/>
            <p:cNvSpPr txBox="1">
              <a:spLocks noChangeArrowheads="1"/>
            </p:cNvSpPr>
            <p:nvPr/>
          </p:nvSpPr>
          <p:spPr bwMode="auto">
            <a:xfrm>
              <a:off x="5121" y="1197"/>
              <a:ext cx="900" cy="360"/>
            </a:xfrm>
            <a:prstGeom prst="rect">
              <a:avLst/>
            </a:prstGeom>
            <a:noFill/>
            <a:ln w="9525">
              <a:noFill/>
              <a:miter lim="800000"/>
              <a:headEnd/>
              <a:tailEnd/>
            </a:ln>
          </p:spPr>
          <p:txBody>
            <a:bodyPr/>
            <a:lstStyle/>
            <a:p>
              <a:r>
                <a:rPr lang="en-US" sz="2000" b="1">
                  <a:latin typeface="Courier New" pitchFamily="49" charset="0"/>
                </a:rPr>
                <a:t>right</a:t>
              </a:r>
              <a:endParaRPr lang="en-US" sz="1000">
                <a:latin typeface="Courier New" pitchFamily="49" charset="0"/>
              </a:endParaRPr>
            </a:p>
          </p:txBody>
        </p:sp>
        <p:sp>
          <p:nvSpPr>
            <p:cNvPr id="50191" name="Line 19"/>
            <p:cNvSpPr>
              <a:spLocks noChangeShapeType="1"/>
            </p:cNvSpPr>
            <p:nvPr/>
          </p:nvSpPr>
          <p:spPr bwMode="auto">
            <a:xfrm flipV="1">
              <a:off x="4401" y="1377"/>
              <a:ext cx="0" cy="360"/>
            </a:xfrm>
            <a:prstGeom prst="line">
              <a:avLst/>
            </a:prstGeom>
            <a:noFill/>
            <a:ln w="12700">
              <a:solidFill>
                <a:srgbClr val="000000"/>
              </a:solidFill>
              <a:round/>
              <a:headEnd type="triangle" w="sm" len="med"/>
              <a:tailEnd/>
            </a:ln>
          </p:spPr>
          <p:txBody>
            <a:bodyPr/>
            <a:lstStyle/>
            <a:p>
              <a:endParaRPr lang="bg-BG"/>
            </a:p>
          </p:txBody>
        </p:sp>
        <p:sp>
          <p:nvSpPr>
            <p:cNvPr id="50192" name="Line 20"/>
            <p:cNvSpPr>
              <a:spLocks noChangeShapeType="1"/>
            </p:cNvSpPr>
            <p:nvPr/>
          </p:nvSpPr>
          <p:spPr bwMode="auto">
            <a:xfrm>
              <a:off x="4401" y="1377"/>
              <a:ext cx="720" cy="0"/>
            </a:xfrm>
            <a:prstGeom prst="line">
              <a:avLst/>
            </a:prstGeom>
            <a:noFill/>
            <a:ln w="12700">
              <a:solidFill>
                <a:srgbClr val="000000"/>
              </a:solidFill>
              <a:round/>
              <a:headEnd/>
              <a:tailEnd type="none" w="sm" len="med"/>
            </a:ln>
          </p:spPr>
          <p:txBody>
            <a:bodyPr/>
            <a:lstStyle/>
            <a:p>
              <a:endParaRPr lang="bg-BG"/>
            </a:p>
          </p:txBody>
        </p:sp>
      </p:grpSp>
      <p:grpSp>
        <p:nvGrpSpPr>
          <p:cNvPr id="50183" name="Group 21"/>
          <p:cNvGrpSpPr>
            <a:grpSpLocks/>
          </p:cNvGrpSpPr>
          <p:nvPr/>
        </p:nvGrpSpPr>
        <p:grpSpPr bwMode="auto">
          <a:xfrm>
            <a:off x="2895600" y="5029200"/>
            <a:ext cx="1447800" cy="838200"/>
            <a:chOff x="1701" y="1197"/>
            <a:chExt cx="1260" cy="543"/>
          </a:xfrm>
        </p:grpSpPr>
        <p:sp>
          <p:nvSpPr>
            <p:cNvPr id="50187" name="Line 22"/>
            <p:cNvSpPr>
              <a:spLocks noChangeShapeType="1"/>
            </p:cNvSpPr>
            <p:nvPr/>
          </p:nvSpPr>
          <p:spPr bwMode="auto">
            <a:xfrm>
              <a:off x="2484" y="1377"/>
              <a:ext cx="477" cy="1"/>
            </a:xfrm>
            <a:prstGeom prst="line">
              <a:avLst/>
            </a:prstGeom>
            <a:noFill/>
            <a:ln w="12700">
              <a:solidFill>
                <a:srgbClr val="000000"/>
              </a:solidFill>
              <a:round/>
              <a:headEnd type="none" w="sm" len="sm"/>
              <a:tailEnd type="none" w="sm" len="sm"/>
            </a:ln>
          </p:spPr>
          <p:txBody>
            <a:bodyPr/>
            <a:lstStyle/>
            <a:p>
              <a:endParaRPr lang="bg-BG"/>
            </a:p>
          </p:txBody>
        </p:sp>
        <p:sp>
          <p:nvSpPr>
            <p:cNvPr id="50188" name="Line 23"/>
            <p:cNvSpPr>
              <a:spLocks noChangeShapeType="1"/>
            </p:cNvSpPr>
            <p:nvPr/>
          </p:nvSpPr>
          <p:spPr bwMode="auto">
            <a:xfrm>
              <a:off x="2960" y="1377"/>
              <a:ext cx="1" cy="363"/>
            </a:xfrm>
            <a:prstGeom prst="line">
              <a:avLst/>
            </a:prstGeom>
            <a:noFill/>
            <a:ln w="12700">
              <a:solidFill>
                <a:srgbClr val="000000"/>
              </a:solidFill>
              <a:round/>
              <a:headEnd type="none" w="sm" len="sm"/>
              <a:tailEnd type="triangle" w="sm" len="med"/>
            </a:ln>
          </p:spPr>
          <p:txBody>
            <a:bodyPr/>
            <a:lstStyle/>
            <a:p>
              <a:endParaRPr lang="bg-BG"/>
            </a:p>
          </p:txBody>
        </p:sp>
        <p:sp>
          <p:nvSpPr>
            <p:cNvPr id="50189" name="Text Box 24"/>
            <p:cNvSpPr txBox="1">
              <a:spLocks noChangeArrowheads="1"/>
            </p:cNvSpPr>
            <p:nvPr/>
          </p:nvSpPr>
          <p:spPr bwMode="auto">
            <a:xfrm>
              <a:off x="1701" y="1197"/>
              <a:ext cx="900" cy="360"/>
            </a:xfrm>
            <a:prstGeom prst="rect">
              <a:avLst/>
            </a:prstGeom>
            <a:noFill/>
            <a:ln w="9525">
              <a:noFill/>
              <a:miter lim="800000"/>
              <a:headEnd/>
              <a:tailEnd/>
            </a:ln>
          </p:spPr>
          <p:txBody>
            <a:bodyPr/>
            <a:lstStyle/>
            <a:p>
              <a:r>
                <a:rPr lang="en-US" sz="2000" b="1">
                  <a:latin typeface="Courier New" pitchFamily="49" charset="0"/>
                </a:rPr>
                <a:t>left</a:t>
              </a:r>
              <a:endParaRPr lang="en-US" sz="1000">
                <a:latin typeface="Courier New" pitchFamily="49" charset="0"/>
              </a:endParaRPr>
            </a:p>
          </p:txBody>
        </p:sp>
      </p:grpSp>
      <p:sp>
        <p:nvSpPr>
          <p:cNvPr id="50184" name="Line 25"/>
          <p:cNvSpPr>
            <a:spLocks noChangeShapeType="1"/>
          </p:cNvSpPr>
          <p:nvPr/>
        </p:nvSpPr>
        <p:spPr bwMode="auto">
          <a:xfrm>
            <a:off x="4071938" y="5867400"/>
            <a:ext cx="914400" cy="0"/>
          </a:xfrm>
          <a:prstGeom prst="line">
            <a:avLst/>
          </a:prstGeom>
          <a:noFill/>
          <a:ln w="9525">
            <a:solidFill>
              <a:schemeClr val="tx1"/>
            </a:solidFill>
            <a:round/>
            <a:headEnd/>
            <a:tailEnd/>
          </a:ln>
        </p:spPr>
        <p:txBody>
          <a:bodyPr wrap="none" anchor="ctr"/>
          <a:lstStyle/>
          <a:p>
            <a:endParaRPr lang="bg-BG"/>
          </a:p>
        </p:txBody>
      </p:sp>
      <p:sp>
        <p:nvSpPr>
          <p:cNvPr id="50185" name="Text Box 26"/>
          <p:cNvSpPr txBox="1">
            <a:spLocks noChangeArrowheads="1"/>
          </p:cNvSpPr>
          <p:nvPr/>
        </p:nvSpPr>
        <p:spPr bwMode="auto">
          <a:xfrm>
            <a:off x="4095750" y="5867400"/>
            <a:ext cx="1066800" cy="396875"/>
          </a:xfrm>
          <a:prstGeom prst="rect">
            <a:avLst/>
          </a:prstGeom>
          <a:noFill/>
          <a:ln w="9525">
            <a:noFill/>
            <a:miter lim="800000"/>
            <a:headEnd/>
            <a:tailEnd/>
          </a:ln>
        </p:spPr>
        <p:txBody>
          <a:bodyPr>
            <a:spAutoFit/>
          </a:bodyPr>
          <a:lstStyle/>
          <a:p>
            <a:pPr>
              <a:spcBef>
                <a:spcPct val="50000"/>
              </a:spcBef>
            </a:pPr>
            <a:r>
              <a:rPr lang="en-US" sz="2000"/>
              <a:t>NULL</a:t>
            </a:r>
          </a:p>
        </p:txBody>
      </p:sp>
      <p:sp>
        <p:nvSpPr>
          <p:cNvPr id="27" name="Slide Number Placeholder 26"/>
          <p:cNvSpPr>
            <a:spLocks noGrp="1"/>
          </p:cNvSpPr>
          <p:nvPr>
            <p:ph type="sldNum" sz="quarter" idx="12"/>
          </p:nvPr>
        </p:nvSpPr>
        <p:spPr/>
        <p:txBody>
          <a:bodyPr/>
          <a:lstStyle/>
          <a:p>
            <a:pPr>
              <a:defRPr/>
            </a:pPr>
            <a:fld id="{73F08425-5233-473A-A6CC-03FFFB6B6FF9}" type="slidenum">
              <a:rPr lang="en-US" smtClean="0"/>
              <a:pPr>
                <a:defRPr/>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990600" y="620713"/>
            <a:ext cx="8153400" cy="5715000"/>
          </a:xfrm>
        </p:spPr>
        <p:txBody>
          <a:bodyPr>
            <a:normAutofit fontScale="90000"/>
          </a:bodyPr>
          <a:lstStyle/>
          <a:p>
            <a:pPr eaLnBrk="1" fontAlgn="auto" hangingPunct="1">
              <a:spcAft>
                <a:spcPts val="0"/>
              </a:spcAft>
              <a:defRPr/>
            </a:pP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	Примерна дефиниция и инициализация на структурата дек</a:t>
            </a:r>
            <a:r>
              <a:rPr lang="en-US" sz="3200">
                <a:solidFill>
                  <a:schemeClr val="tx2">
                    <a:satMod val="130000"/>
                  </a:schemeClr>
                </a:solidFill>
              </a:rPr>
              <a:t>:</a:t>
            </a:r>
            <a:r>
              <a:rPr lang="bg-BG">
                <a:solidFill>
                  <a:schemeClr val="tx2">
                    <a:satMod val="130000"/>
                  </a:schemeClr>
                </a:solidFill>
              </a:rPr>
              <a:t/>
            </a:r>
            <a:br>
              <a:rPr lang="bg-BG">
                <a:solidFill>
                  <a:schemeClr val="tx2">
                    <a:satMod val="130000"/>
                  </a:schemeClr>
                </a:solidFill>
              </a:rPr>
            </a:br>
            <a:r>
              <a:rPr lang="bg-BG" sz="2800">
                <a:solidFill>
                  <a:schemeClr val="tx2">
                    <a:satMod val="130000"/>
                  </a:schemeClr>
                </a:solidFill>
                <a:latin typeface="Courier New" pitchFamily="49" charset="0"/>
              </a:rPr>
              <a:t>struct elem</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 int key; elem *next;} *left=NULL, *right=NULL;</a:t>
            </a:r>
            <a:br>
              <a:rPr lang="bg-BG" sz="2800">
                <a:solidFill>
                  <a:schemeClr val="tx2">
                    <a:satMod val="130000"/>
                  </a:schemeClr>
                </a:solidFill>
                <a:latin typeface="Courier New" pitchFamily="49" charset="0"/>
              </a:rPr>
            </a:b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en-US" sz="2800">
                <a:solidFill>
                  <a:schemeClr val="tx2">
                    <a:satMod val="130000"/>
                  </a:schemeClr>
                </a:solidFill>
                <a:latin typeface="Courier New" pitchFamily="49" charset="0"/>
              </a:rPr>
              <a:t> </a:t>
            </a:r>
            <a:r>
              <a:rPr lang="bg-BG" sz="2800">
                <a:solidFill>
                  <a:schemeClr val="tx2">
                    <a:satMod val="130000"/>
                  </a:schemeClr>
                </a:solidFill>
                <a:latin typeface="Courier New" pitchFamily="49" charset="0"/>
              </a:rPr>
              <a:t>	</a:t>
            </a:r>
            <a:r>
              <a:rPr lang="bg-BG" sz="3200">
                <a:solidFill>
                  <a:schemeClr val="tx2">
                    <a:satMod val="130000"/>
                  </a:schemeClr>
                </a:solidFill>
              </a:rPr>
              <a:t>Добавяне на нов елемент отляво:</a:t>
            </a:r>
            <a:r>
              <a:rPr lang="en-US" sz="2800">
                <a:solidFill>
                  <a:schemeClr val="tx2">
                    <a:satMod val="130000"/>
                  </a:schemeClr>
                </a:solidFill>
                <a:latin typeface="Courier New" pitchFamily="49" charset="0"/>
              </a:rPr>
              <a:t>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void push_l(int n)//добавяне отляво</a:t>
            </a:r>
            <a:br>
              <a:rPr lang="bg-BG"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elem *p=left;</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left=new elem;</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left-&gt;key=n;</a:t>
            </a:r>
            <a:r>
              <a:rPr lang="en-US" sz="2800">
                <a:solidFill>
                  <a:schemeClr val="tx2">
                    <a:satMod val="130000"/>
                  </a:schemeClr>
                </a:solidFill>
                <a:latin typeface="Courier New" pitchFamily="49" charset="0"/>
              </a:rPr>
              <a:t> </a:t>
            </a:r>
            <a:r>
              <a:rPr lang="bg-BG" sz="2800">
                <a:solidFill>
                  <a:schemeClr val="tx2">
                    <a:satMod val="130000"/>
                  </a:schemeClr>
                </a:solidFill>
                <a:latin typeface="Courier New" pitchFamily="49" charset="0"/>
              </a:rPr>
              <a:t>left-&gt;next=p;</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if (right==NULL) {right=left;}</a:t>
            </a:r>
            <a:br>
              <a:rPr lang="bg-BG"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endParaRPr lang="en-US" sz="2800">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1D6DAE7D-A5F6-453D-93CC-FD7D6276CF3E}" type="slidenum">
              <a:rPr lang="en-US" smtClean="0"/>
              <a:pPr>
                <a:defRPr/>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971550" y="549275"/>
            <a:ext cx="7915275" cy="5943600"/>
          </a:xfrm>
        </p:spPr>
        <p:txBody>
          <a:bodyPr>
            <a:normAutofit fontScale="90000"/>
          </a:bodyPr>
          <a:lstStyle/>
          <a:p>
            <a:pPr eaLnBrk="1" fontAlgn="auto" hangingPunct="1">
              <a:spcAft>
                <a:spcPts val="0"/>
              </a:spcAft>
              <a:defRPr/>
            </a:pP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en-US" sz="2800">
                <a:solidFill>
                  <a:schemeClr val="tx2">
                    <a:satMod val="130000"/>
                  </a:schemeClr>
                </a:solidFill>
                <a:latin typeface="Courier New" pitchFamily="49" charset="0"/>
              </a:rPr>
              <a:t> </a:t>
            </a:r>
            <a:r>
              <a:rPr lang="bg-BG" sz="3200">
                <a:solidFill>
                  <a:schemeClr val="tx2">
                    <a:satMod val="130000"/>
                  </a:schemeClr>
                </a:solidFill>
              </a:rPr>
              <a:t>Добавяне на нов елемент отдясно:</a:t>
            </a:r>
            <a:r>
              <a:rPr lang="en-US" sz="2800">
                <a:solidFill>
                  <a:schemeClr val="tx2">
                    <a:satMod val="130000"/>
                  </a:schemeClr>
                </a:solidFill>
                <a:latin typeface="Courier New" pitchFamily="49" charset="0"/>
              </a:rPr>
              <a:t> </a:t>
            </a:r>
            <a:r>
              <a:rPr lang="bg-BG" sz="2800">
                <a:solidFill>
                  <a:schemeClr val="tx2">
                    <a:satMod val="130000"/>
                  </a:schemeClr>
                </a:solidFill>
                <a:latin typeface="Courier New" pitchFamily="49" charset="0"/>
              </a:rPr>
              <a:t/>
            </a:r>
            <a:br>
              <a:rPr lang="bg-BG"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a:r>
            <a:br>
              <a:rPr lang="bg-BG"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void push_r(int n)  </a:t>
            </a:r>
            <a:r>
              <a:rPr lang="en-US" sz="2800">
                <a:solidFill>
                  <a:schemeClr val="tx2">
                    <a:satMod val="130000"/>
                  </a:schemeClr>
                </a:solidFill>
                <a:latin typeface="Courier New" pitchFamily="49" charset="0"/>
              </a:rPr>
              <a:t>/</a:t>
            </a:r>
            <a:r>
              <a:rPr lang="bg-BG" sz="2800">
                <a:solidFill>
                  <a:schemeClr val="tx2">
                    <a:satMod val="130000"/>
                  </a:schemeClr>
                </a:solidFill>
                <a:latin typeface="Courier New" pitchFamily="49" charset="0"/>
              </a:rPr>
              <a:t>/добавяне отдясно</a:t>
            </a:r>
            <a:br>
              <a:rPr lang="bg-BG"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elem *p;</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p=right;</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right=new elem;</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right-&gt;key=n;</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right-&gt;next=NULL;</a:t>
            </a:r>
            <a:br>
              <a:rPr lang="bg-BG"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if (left==NULL)</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left=right;</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else</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      p-&gt;next=right;</a:t>
            </a:r>
            <a:br>
              <a:rPr lang="bg-BG" sz="2800">
                <a:solidFill>
                  <a:schemeClr val="tx2">
                    <a:satMod val="130000"/>
                  </a:schemeClr>
                </a:solidFill>
                <a:latin typeface="Courier New" pitchFamily="49" charset="0"/>
              </a:rPr>
            </a:br>
            <a:r>
              <a:rPr lang="bg-BG" sz="2800">
                <a:solidFill>
                  <a:schemeClr val="tx2">
                    <a:satMod val="130000"/>
                  </a:schemeClr>
                </a:solidFill>
                <a:latin typeface="Courier New" pitchFamily="49" charset="0"/>
              </a:rPr>
              <a:t>}</a:t>
            </a:r>
            <a:r>
              <a:rPr lang="en-US" sz="2800">
                <a:solidFill>
                  <a:schemeClr val="tx2">
                    <a:satMod val="130000"/>
                  </a:schemeClr>
                </a:solidFill>
                <a:latin typeface="Courier New" pitchFamily="49" charset="0"/>
              </a:rPr>
              <a:t/>
            </a:r>
            <a:br>
              <a:rPr lang="en-US" sz="2800">
                <a:solidFill>
                  <a:schemeClr val="tx2">
                    <a:satMod val="130000"/>
                  </a:schemeClr>
                </a:solidFill>
                <a:latin typeface="Courier New" pitchFamily="49" charset="0"/>
              </a:rPr>
            </a:br>
            <a:endParaRPr lang="en-US" sz="2800">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E5BC5BA7-D7DD-4156-B932-33EDF55B2481}" type="slidenum">
              <a:rPr lang="en-US" smtClean="0"/>
              <a:pPr>
                <a:defRPr/>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1116013" y="765175"/>
            <a:ext cx="7772400" cy="5638800"/>
          </a:xfrm>
        </p:spPr>
        <p:txBody>
          <a:bodyPr>
            <a:normAutofit fontScale="90000"/>
          </a:bodyPr>
          <a:lstStyle/>
          <a:p>
            <a:pPr eaLnBrk="1" fontAlgn="auto" hangingPunct="1">
              <a:spcAft>
                <a:spcPts val="0"/>
              </a:spcAft>
              <a:defRPr/>
            </a:pP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Премахване на елемент отляво:</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2400">
                <a:solidFill>
                  <a:schemeClr val="tx2">
                    <a:satMod val="130000"/>
                  </a:schemeClr>
                </a:solidFill>
                <a:latin typeface="Courier New" pitchFamily="49" charset="0"/>
              </a:rPr>
              <a:t>int pop_l(int &amp;n)	//премахване отляво</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elem *p;</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if (left)</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n=left-&gt;key;</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p=left;</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left=left-&gt;next;</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if (left==NULL)</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right=NULL;</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delete p;</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return 1;</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else</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return 0;</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a:t>
            </a:r>
            <a:br>
              <a:rPr lang="bg-BG" sz="2400">
                <a:solidFill>
                  <a:schemeClr val="tx2">
                    <a:satMod val="130000"/>
                  </a:schemeClr>
                </a:solidFill>
                <a:latin typeface="Courier New" pitchFamily="49" charset="0"/>
              </a:rPr>
            </a:br>
            <a:endParaRPr lang="en-US">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84C224F4-2B5B-49D4-8DEE-A8B6ABF1DAED}" type="slidenum">
              <a:rPr lang="en-US" smtClean="0"/>
              <a:pPr>
                <a:defRPr/>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187450" y="692150"/>
            <a:ext cx="7772400" cy="5791200"/>
          </a:xfrm>
        </p:spPr>
        <p:txBody>
          <a:bodyPr>
            <a:normAutofit fontScale="90000"/>
          </a:bodyPr>
          <a:lstStyle/>
          <a:p>
            <a:pPr eaLnBrk="1" fontAlgn="auto" hangingPunct="1">
              <a:spcAft>
                <a:spcPts val="0"/>
              </a:spcAft>
              <a:defRPr/>
            </a:pPr>
            <a:r>
              <a:rPr lang="bg-BG" sz="3200" dirty="0">
                <a:solidFill>
                  <a:schemeClr val="tx2">
                    <a:satMod val="130000"/>
                  </a:schemeClr>
                </a:solidFill>
              </a:rPr>
              <a:t>Премахване на елемент отдясно:</a:t>
            </a:r>
            <a:br>
              <a:rPr lang="bg-BG" sz="3200" dirty="0">
                <a:solidFill>
                  <a:schemeClr val="tx2">
                    <a:satMod val="130000"/>
                  </a:schemeClr>
                </a:solidFill>
              </a:rPr>
            </a:br>
            <a:r>
              <a:rPr lang="bg-BG" sz="2200" dirty="0" err="1">
                <a:solidFill>
                  <a:schemeClr val="tx2">
                    <a:satMod val="130000"/>
                  </a:schemeClr>
                </a:solidFill>
                <a:latin typeface="Courier New" pitchFamily="49" charset="0"/>
              </a:rPr>
              <a:t>int</a:t>
            </a: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pop_r</a:t>
            </a:r>
            <a:r>
              <a:rPr lang="bg-BG" sz="2200" dirty="0">
                <a:solidFill>
                  <a:schemeClr val="tx2">
                    <a:satMod val="130000"/>
                  </a:schemeClr>
                </a:solidFill>
                <a:latin typeface="Courier New" pitchFamily="49" charset="0"/>
              </a:rPr>
              <a:t>(</a:t>
            </a:r>
            <a:r>
              <a:rPr lang="bg-BG" sz="2200" dirty="0" err="1">
                <a:solidFill>
                  <a:schemeClr val="tx2">
                    <a:satMod val="130000"/>
                  </a:schemeClr>
                </a:solidFill>
                <a:latin typeface="Courier New" pitchFamily="49" charset="0"/>
              </a:rPr>
              <a:t>int</a:t>
            </a:r>
            <a:r>
              <a:rPr lang="bg-BG" sz="2200" dirty="0">
                <a:solidFill>
                  <a:schemeClr val="tx2">
                    <a:satMod val="130000"/>
                  </a:schemeClr>
                </a:solidFill>
                <a:latin typeface="Courier New" pitchFamily="49" charset="0"/>
              </a:rPr>
              <a:t> &amp;n)		//премахване отдясно</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elem</a:t>
            </a:r>
            <a:r>
              <a:rPr lang="bg-BG" sz="2200" dirty="0">
                <a:solidFill>
                  <a:schemeClr val="tx2">
                    <a:satMod val="130000"/>
                  </a:schemeClr>
                </a:solidFill>
                <a:latin typeface="Courier New" pitchFamily="49" charset="0"/>
              </a:rPr>
              <a:t> *p;</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if</a:t>
            </a: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right</a:t>
            </a:r>
            <a:r>
              <a:rPr lang="bg-BG" sz="2200" dirty="0">
                <a:solidFill>
                  <a:schemeClr val="tx2">
                    <a:satMod val="130000"/>
                  </a:schemeClr>
                </a:solidFill>
                <a:latin typeface="Courier New" pitchFamily="49" charset="0"/>
              </a:rPr>
              <a:t>)</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 n=</a:t>
            </a:r>
            <a:r>
              <a:rPr lang="bg-BG" sz="2200" dirty="0" err="1">
                <a:solidFill>
                  <a:schemeClr val="tx2">
                    <a:satMod val="130000"/>
                  </a:schemeClr>
                </a:solidFill>
                <a:latin typeface="Courier New" pitchFamily="49" charset="0"/>
              </a:rPr>
              <a:t>right-</a:t>
            </a:r>
            <a:r>
              <a:rPr lang="bg-BG" sz="2200" dirty="0">
                <a:solidFill>
                  <a:schemeClr val="tx2">
                    <a:satMod val="130000"/>
                  </a:schemeClr>
                </a:solidFill>
                <a:latin typeface="Courier New" pitchFamily="49" charset="0"/>
              </a:rPr>
              <a:t>&gt;</a:t>
            </a:r>
            <a:r>
              <a:rPr lang="bg-BG" sz="2200" dirty="0" err="1">
                <a:solidFill>
                  <a:schemeClr val="tx2">
                    <a:satMod val="130000"/>
                  </a:schemeClr>
                </a:solidFill>
                <a:latin typeface="Courier New" pitchFamily="49" charset="0"/>
              </a:rPr>
              <a:t>key</a:t>
            </a:r>
            <a:r>
              <a:rPr lang="bg-BG" sz="2200" dirty="0">
                <a:solidFill>
                  <a:schemeClr val="tx2">
                    <a:satMod val="130000"/>
                  </a:schemeClr>
                </a:solidFill>
                <a:latin typeface="Courier New" pitchFamily="49" charset="0"/>
              </a:rPr>
              <a:t>;</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if</a:t>
            </a: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left</a:t>
            </a:r>
            <a:r>
              <a:rPr lang="bg-BG" sz="2200" dirty="0">
                <a:solidFill>
                  <a:schemeClr val="tx2">
                    <a:satMod val="130000"/>
                  </a:schemeClr>
                </a:solidFill>
                <a:latin typeface="Courier New" pitchFamily="49" charset="0"/>
              </a:rPr>
              <a:t>==</a:t>
            </a:r>
            <a:r>
              <a:rPr lang="bg-BG" sz="2200" dirty="0" err="1">
                <a:solidFill>
                  <a:schemeClr val="tx2">
                    <a:satMod val="130000"/>
                  </a:schemeClr>
                </a:solidFill>
                <a:latin typeface="Courier New" pitchFamily="49" charset="0"/>
              </a:rPr>
              <a:t>right</a:t>
            </a:r>
            <a:r>
              <a:rPr lang="bg-BG" sz="2200" dirty="0">
                <a:solidFill>
                  <a:schemeClr val="tx2">
                    <a:satMod val="130000"/>
                  </a:schemeClr>
                </a:solidFill>
                <a:latin typeface="Courier New" pitchFamily="49" charset="0"/>
              </a:rPr>
              <a:t>)</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 </a:t>
            </a:r>
            <a:r>
              <a:rPr lang="bg-BG" sz="2200" dirty="0" err="1">
                <a:solidFill>
                  <a:schemeClr val="tx2">
                    <a:satMod val="130000"/>
                  </a:schemeClr>
                </a:solidFill>
                <a:latin typeface="Courier New" pitchFamily="49" charset="0"/>
              </a:rPr>
              <a:t>delete</a:t>
            </a: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right</a:t>
            </a:r>
            <a:r>
              <a:rPr lang="bg-BG" sz="2200" dirty="0">
                <a:solidFill>
                  <a:schemeClr val="tx2">
                    <a:satMod val="130000"/>
                  </a:schemeClr>
                </a:solidFill>
                <a:latin typeface="Courier New" pitchFamily="49" charset="0"/>
              </a:rPr>
              <a:t>;</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left</a:t>
            </a:r>
            <a:r>
              <a:rPr lang="bg-BG" sz="2200" dirty="0">
                <a:solidFill>
                  <a:schemeClr val="tx2">
                    <a:satMod val="130000"/>
                  </a:schemeClr>
                </a:solidFill>
                <a:latin typeface="Courier New" pitchFamily="49" charset="0"/>
              </a:rPr>
              <a:t>=</a:t>
            </a:r>
            <a:r>
              <a:rPr lang="bg-BG" sz="2200" dirty="0" err="1">
                <a:solidFill>
                  <a:schemeClr val="tx2">
                    <a:satMod val="130000"/>
                  </a:schemeClr>
                </a:solidFill>
                <a:latin typeface="Courier New" pitchFamily="49" charset="0"/>
              </a:rPr>
              <a:t>right</a:t>
            </a:r>
            <a:r>
              <a:rPr lang="bg-BG" sz="2200" dirty="0">
                <a:solidFill>
                  <a:schemeClr val="tx2">
                    <a:satMod val="130000"/>
                  </a:schemeClr>
                </a:solidFill>
                <a:latin typeface="Courier New" pitchFamily="49" charset="0"/>
              </a:rPr>
              <a:t>=NULL;</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else</a:t>
            </a:r>
            <a:r>
              <a:rPr lang="bg-BG" sz="2200" dirty="0">
                <a:solidFill>
                  <a:schemeClr val="tx2">
                    <a:satMod val="130000"/>
                  </a:schemeClr>
                </a:solidFill>
                <a:latin typeface="Courier New" pitchFamily="49" charset="0"/>
              </a:rPr>
              <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 p=</a:t>
            </a:r>
            <a:r>
              <a:rPr lang="bg-BG" sz="2200" dirty="0" err="1">
                <a:solidFill>
                  <a:schemeClr val="tx2">
                    <a:satMod val="130000"/>
                  </a:schemeClr>
                </a:solidFill>
                <a:latin typeface="Courier New" pitchFamily="49" charset="0"/>
              </a:rPr>
              <a:t>left</a:t>
            </a:r>
            <a:r>
              <a:rPr lang="bg-BG" sz="2200" dirty="0">
                <a:solidFill>
                  <a:schemeClr val="tx2">
                    <a:satMod val="130000"/>
                  </a:schemeClr>
                </a:solidFill>
                <a:latin typeface="Courier New" pitchFamily="49" charset="0"/>
              </a:rPr>
              <a:t>;</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while</a:t>
            </a:r>
            <a:r>
              <a:rPr lang="bg-BG" sz="2200" dirty="0">
                <a:solidFill>
                  <a:schemeClr val="tx2">
                    <a:satMod val="130000"/>
                  </a:schemeClr>
                </a:solidFill>
                <a:latin typeface="Courier New" pitchFamily="49" charset="0"/>
              </a:rPr>
              <a:t> (p-&gt;</a:t>
            </a:r>
            <a:r>
              <a:rPr lang="bg-BG" sz="2200" dirty="0" err="1">
                <a:solidFill>
                  <a:schemeClr val="tx2">
                    <a:satMod val="130000"/>
                  </a:schemeClr>
                </a:solidFill>
                <a:latin typeface="Courier New" pitchFamily="49" charset="0"/>
              </a:rPr>
              <a:t>next</a:t>
            </a:r>
            <a:r>
              <a:rPr lang="bg-BG" sz="2200" dirty="0">
                <a:solidFill>
                  <a:schemeClr val="tx2">
                    <a:satMod val="130000"/>
                  </a:schemeClr>
                </a:solidFill>
                <a:latin typeface="Courier New" pitchFamily="49" charset="0"/>
              </a:rPr>
              <a:t>!=</a:t>
            </a:r>
            <a:r>
              <a:rPr lang="bg-BG" sz="2200" dirty="0" err="1">
                <a:solidFill>
                  <a:schemeClr val="tx2">
                    <a:satMod val="130000"/>
                  </a:schemeClr>
                </a:solidFill>
                <a:latin typeface="Courier New" pitchFamily="49" charset="0"/>
              </a:rPr>
              <a:t>right</a:t>
            </a:r>
            <a:r>
              <a:rPr lang="bg-BG" sz="2200" dirty="0">
                <a:solidFill>
                  <a:schemeClr val="tx2">
                    <a:satMod val="130000"/>
                  </a:schemeClr>
                </a:solidFill>
                <a:latin typeface="Courier New" pitchFamily="49" charset="0"/>
              </a:rPr>
              <a:t>)</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r>
              <a:rPr lang="en-US"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p++</a:t>
            </a:r>
            <a:r>
              <a:rPr lang="bg-BG" sz="2200" dirty="0">
                <a:solidFill>
                  <a:schemeClr val="tx2">
                    <a:satMod val="130000"/>
                  </a:schemeClr>
                </a:solidFill>
                <a:latin typeface="Courier New" pitchFamily="49" charset="0"/>
              </a:rPr>
              <a:t>;</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r>
              <a:rPr lang="en-US" sz="2200" dirty="0">
                <a:solidFill>
                  <a:schemeClr val="tx2">
                    <a:satMod val="130000"/>
                  </a:schemeClr>
                </a:solidFill>
                <a:latin typeface="Courier New" pitchFamily="49" charset="0"/>
              </a:rPr>
              <a:t>	   </a:t>
            </a:r>
            <a:r>
              <a:rPr lang="bg-BG" sz="2200" dirty="0">
                <a:solidFill>
                  <a:schemeClr val="tx2">
                    <a:satMod val="130000"/>
                  </a:schemeClr>
                </a:solidFill>
                <a:latin typeface="Courier New" pitchFamily="49" charset="0"/>
              </a:rPr>
              <a:t>p-&gt;</a:t>
            </a:r>
            <a:r>
              <a:rPr lang="bg-BG" sz="2200" dirty="0" err="1">
                <a:solidFill>
                  <a:schemeClr val="tx2">
                    <a:satMod val="130000"/>
                  </a:schemeClr>
                </a:solidFill>
                <a:latin typeface="Courier New" pitchFamily="49" charset="0"/>
              </a:rPr>
              <a:t>next</a:t>
            </a:r>
            <a:r>
              <a:rPr lang="bg-BG" sz="2200" dirty="0">
                <a:solidFill>
                  <a:schemeClr val="tx2">
                    <a:satMod val="130000"/>
                  </a:schemeClr>
                </a:solidFill>
                <a:latin typeface="Courier New" pitchFamily="49" charset="0"/>
              </a:rPr>
              <a:t>=NULL;</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delete</a:t>
            </a: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right</a:t>
            </a:r>
            <a:r>
              <a:rPr lang="bg-BG" sz="2200" dirty="0">
                <a:solidFill>
                  <a:schemeClr val="tx2">
                    <a:satMod val="130000"/>
                  </a:schemeClr>
                </a:solidFill>
                <a:latin typeface="Courier New" pitchFamily="49" charset="0"/>
              </a:rPr>
              <a:t>;</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right</a:t>
            </a:r>
            <a:r>
              <a:rPr lang="bg-BG" sz="2200" dirty="0">
                <a:solidFill>
                  <a:schemeClr val="tx2">
                    <a:satMod val="130000"/>
                  </a:schemeClr>
                </a:solidFill>
                <a:latin typeface="Courier New" pitchFamily="49" charset="0"/>
              </a:rPr>
              <a:t>=p;</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r>
              <a:rPr lang="bg-BG" sz="2200" dirty="0" smtClean="0">
                <a:solidFill>
                  <a:schemeClr val="tx2">
                    <a:satMod val="130000"/>
                  </a:schemeClr>
                </a:solidFill>
                <a:latin typeface="Courier New" pitchFamily="49" charset="0"/>
              </a:rPr>
              <a:t>}</a:t>
            </a:r>
            <a:r>
              <a:rPr lang="bg-BG" sz="2200" dirty="0">
                <a:solidFill>
                  <a:schemeClr val="tx2">
                    <a:satMod val="130000"/>
                  </a:schemeClr>
                </a:solidFill>
                <a:latin typeface="Courier New" pitchFamily="49" charset="0"/>
              </a:rPr>
              <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a:t>
            </a:r>
            <a:r>
              <a:rPr lang="en-US" sz="2200" smtClean="0">
                <a:solidFill>
                  <a:schemeClr val="tx2">
                    <a:satMod val="130000"/>
                  </a:schemeClr>
                </a:solidFill>
                <a:latin typeface="Courier New" pitchFamily="49" charset="0"/>
              </a:rPr>
              <a:t>	 </a:t>
            </a:r>
            <a:r>
              <a:rPr lang="bg-BG" sz="2200" smtClean="0">
                <a:solidFill>
                  <a:schemeClr val="tx2">
                    <a:satMod val="130000"/>
                  </a:schemeClr>
                </a:solidFill>
                <a:latin typeface="Courier New" pitchFamily="49" charset="0"/>
              </a:rPr>
              <a:t>return</a:t>
            </a:r>
            <a:r>
              <a:rPr lang="bg-BG" sz="2200" dirty="0" smtClean="0">
                <a:solidFill>
                  <a:schemeClr val="tx2">
                    <a:satMod val="130000"/>
                  </a:schemeClr>
                </a:solidFill>
                <a:latin typeface="Courier New" pitchFamily="49" charset="0"/>
              </a:rPr>
              <a:t> 1;</a:t>
            </a:r>
            <a:r>
              <a:rPr lang="bg-BG" sz="2200" dirty="0">
                <a:solidFill>
                  <a:schemeClr val="tx2">
                    <a:satMod val="130000"/>
                  </a:schemeClr>
                </a:solidFill>
                <a:latin typeface="Courier New" pitchFamily="49" charset="0"/>
              </a:rPr>
              <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    }     </a:t>
            </a:r>
            <a:r>
              <a:rPr lang="bg-BG" sz="2200" dirty="0" err="1">
                <a:solidFill>
                  <a:schemeClr val="tx2">
                    <a:satMod val="130000"/>
                  </a:schemeClr>
                </a:solidFill>
                <a:latin typeface="Courier New" pitchFamily="49" charset="0"/>
              </a:rPr>
              <a:t>else</a:t>
            </a:r>
            <a:r>
              <a:rPr lang="bg-BG" sz="2200" dirty="0">
                <a:solidFill>
                  <a:schemeClr val="tx2">
                    <a:satMod val="130000"/>
                  </a:schemeClr>
                </a:solidFill>
                <a:latin typeface="Courier New" pitchFamily="49" charset="0"/>
              </a:rPr>
              <a:t>  </a:t>
            </a:r>
            <a:r>
              <a:rPr lang="bg-BG" sz="2200" dirty="0" err="1">
                <a:solidFill>
                  <a:schemeClr val="tx2">
                    <a:satMod val="130000"/>
                  </a:schemeClr>
                </a:solidFill>
                <a:latin typeface="Courier New" pitchFamily="49" charset="0"/>
              </a:rPr>
              <a:t>return</a:t>
            </a:r>
            <a:r>
              <a:rPr lang="bg-BG" sz="2200" dirty="0">
                <a:solidFill>
                  <a:schemeClr val="tx2">
                    <a:satMod val="130000"/>
                  </a:schemeClr>
                </a:solidFill>
                <a:latin typeface="Courier New" pitchFamily="49" charset="0"/>
              </a:rPr>
              <a:t> 0;</a:t>
            </a:r>
            <a:br>
              <a:rPr lang="bg-BG" sz="2200" dirty="0">
                <a:solidFill>
                  <a:schemeClr val="tx2">
                    <a:satMod val="130000"/>
                  </a:schemeClr>
                </a:solidFill>
                <a:latin typeface="Courier New" pitchFamily="49" charset="0"/>
              </a:rPr>
            </a:br>
            <a:r>
              <a:rPr lang="bg-BG" sz="2200" dirty="0">
                <a:solidFill>
                  <a:schemeClr val="tx2">
                    <a:satMod val="130000"/>
                  </a:schemeClr>
                </a:solidFill>
                <a:latin typeface="Courier New" pitchFamily="49" charset="0"/>
              </a:rPr>
              <a:t>}</a:t>
            </a:r>
            <a:r>
              <a:rPr lang="bg-BG" sz="2000" dirty="0">
                <a:solidFill>
                  <a:schemeClr val="tx2">
                    <a:satMod val="130000"/>
                  </a:schemeClr>
                </a:solidFill>
                <a:latin typeface="Courier New" pitchFamily="49" charset="0"/>
              </a:rPr>
              <a:t/>
            </a:r>
            <a:br>
              <a:rPr lang="bg-BG" sz="2000" dirty="0">
                <a:solidFill>
                  <a:schemeClr val="tx2">
                    <a:satMod val="130000"/>
                  </a:schemeClr>
                </a:solidFill>
                <a:latin typeface="Courier New" pitchFamily="49" charset="0"/>
              </a:rPr>
            </a:br>
            <a:endParaRPr lang="en-US" sz="2000" dirty="0">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957F5D0F-07A8-4395-B695-25BAF147EF74}" type="slidenum">
              <a:rPr lang="en-US" smtClean="0"/>
              <a:pPr>
                <a:defRPr/>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042988" y="609600"/>
            <a:ext cx="7848600" cy="6248400"/>
          </a:xfrm>
        </p:spPr>
        <p:txBody>
          <a:bodyPr>
            <a:normAutofit fontScale="90000"/>
          </a:bodyPr>
          <a:lstStyle/>
          <a:p>
            <a:pPr eaLnBrk="1" fontAlgn="auto" hangingPunct="1">
              <a:spcAft>
                <a:spcPts val="0"/>
              </a:spcAft>
              <a:defRPr/>
            </a:pPr>
            <a:r>
              <a:rPr lang="bg-BG" sz="3200">
                <a:solidFill>
                  <a:schemeClr val="tx1"/>
                </a:solidFill>
              </a:rPr>
              <a:t/>
            </a:r>
            <a:br>
              <a:rPr lang="bg-BG" sz="3200">
                <a:solidFill>
                  <a:schemeClr val="tx1"/>
                </a:solidFill>
              </a:rPr>
            </a:br>
            <a:r>
              <a:rPr lang="bg-BG" sz="3200">
                <a:solidFill>
                  <a:schemeClr val="tx1"/>
                </a:solidFill>
              </a:rPr>
              <a:t>Примерна програма за р</a:t>
            </a:r>
            <a:r>
              <a:rPr lang="bg-BG" sz="3200">
                <a:solidFill>
                  <a:schemeClr val="tx2">
                    <a:satMod val="130000"/>
                  </a:schemeClr>
                </a:solidFill>
              </a:rPr>
              <a:t>абота с дек</a:t>
            </a:r>
            <a:r>
              <a:rPr lang="bg-BG" sz="3200">
                <a:solidFill>
                  <a:schemeClr val="tx1"/>
                </a:solidFill>
              </a:rPr>
              <a:t>, съдържащ цели числа. </a:t>
            </a:r>
            <a:r>
              <a:rPr lang="bg-BG" sz="3200">
                <a:solidFill>
                  <a:schemeClr val="tx2">
                    <a:lumMod val="75000"/>
                  </a:schemeClr>
                </a:solidFill>
              </a:rPr>
              <a:t>На потребителя се предоставя възможност да избира операция за изпълнение.</a:t>
            </a: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sz="2400" smtClean="0">
                <a:solidFill>
                  <a:schemeClr val="tx2">
                    <a:satMod val="130000"/>
                  </a:schemeClr>
                </a:solidFill>
                <a:latin typeface="Courier New" pitchFamily="49" charset="0"/>
              </a:rPr>
              <a:t>#include &lt;iostream&gt;</a:t>
            </a:r>
            <a:r>
              <a:rPr lang="en-US" sz="2400" smtClean="0">
                <a:solidFill>
                  <a:schemeClr val="tx2">
                    <a:satMod val="130000"/>
                  </a:schemeClr>
                </a:solidFill>
                <a:latin typeface="Courier New" pitchFamily="49" charset="0"/>
              </a:rPr>
              <a:t/>
            </a:r>
            <a:br>
              <a:rPr lang="en-US" sz="2400" smtClean="0">
                <a:solidFill>
                  <a:schemeClr val="tx2">
                    <a:satMod val="130000"/>
                  </a:schemeClr>
                </a:solidFill>
                <a:latin typeface="Courier New" pitchFamily="49" charset="0"/>
              </a:rPr>
            </a:br>
            <a:r>
              <a:rPr lang="en-US" sz="2400" smtClean="0">
                <a:solidFill>
                  <a:schemeClr val="tx2">
                    <a:satMod val="130000"/>
                  </a:schemeClr>
                </a:solidFill>
                <a:latin typeface="Courier New" pitchFamily="49" charset="0"/>
              </a:rPr>
              <a:t>using namespace std; </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void push_l(int n);   //prototype</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void push_r(int n);   //prototype</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int pop_l(int &amp;n);    //prototype</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int pop_r(int &amp;n);    //prototype</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struct elem</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 int key; elem *next;} *left=NULL</a:t>
            </a:r>
            <a:r>
              <a:rPr lang="bg-BG" sz="2400" smtClean="0">
                <a:solidFill>
                  <a:schemeClr val="tx2">
                    <a:satMod val="130000"/>
                  </a:schemeClr>
                </a:solidFill>
                <a:latin typeface="Courier New" pitchFamily="49" charset="0"/>
              </a:rPr>
              <a:t>, 						*</a:t>
            </a:r>
            <a:r>
              <a:rPr lang="bg-BG" sz="2400">
                <a:solidFill>
                  <a:schemeClr val="tx2">
                    <a:satMod val="130000"/>
                  </a:schemeClr>
                </a:solidFill>
                <a:latin typeface="Courier New" pitchFamily="49" charset="0"/>
              </a:rPr>
              <a:t>right=NULL;</a:t>
            </a:r>
            <a:br>
              <a:rPr lang="bg-BG" sz="2400">
                <a:solidFill>
                  <a:schemeClr val="tx2">
                    <a:satMod val="130000"/>
                  </a:schemeClr>
                </a:solidFill>
                <a:latin typeface="Courier New" pitchFamily="49" charset="0"/>
              </a:rPr>
            </a:br>
            <a:r>
              <a:rPr lang="bg-BG">
                <a:solidFill>
                  <a:schemeClr val="tx2">
                    <a:satMod val="130000"/>
                  </a:schemeClr>
                </a:solidFill>
                <a:latin typeface="Courier New" pitchFamily="49" charset="0"/>
              </a:rPr>
              <a:t/>
            </a:r>
            <a:br>
              <a:rPr lang="bg-BG">
                <a:solidFill>
                  <a:schemeClr val="tx2">
                    <a:satMod val="130000"/>
                  </a:schemeClr>
                </a:solidFill>
                <a:latin typeface="Courier New" pitchFamily="49" charset="0"/>
              </a:rPr>
            </a:br>
            <a:endParaRPr lang="en-US">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912A3428-D10E-41AE-99A1-804F48C4D94D}" type="slidenum">
              <a:rPr lang="en-US" smtClean="0"/>
              <a:pPr>
                <a:defRPr/>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1187450" y="620713"/>
            <a:ext cx="7772400" cy="5715000"/>
          </a:xfrm>
        </p:spPr>
        <p:txBody>
          <a:bodyPr>
            <a:normAutofit fontScale="90000"/>
          </a:bodyPr>
          <a:lstStyle/>
          <a:p>
            <a:pPr eaLnBrk="1" fontAlgn="auto" hangingPunct="1">
              <a:spcAft>
                <a:spcPts val="0"/>
              </a:spcAft>
              <a:defRPr/>
            </a:pPr>
            <a:r>
              <a:rPr lang="bg-BG" sz="2400">
                <a:solidFill>
                  <a:schemeClr val="tx2">
                    <a:satMod val="130000"/>
                  </a:schemeClr>
                </a:solidFill>
                <a:latin typeface="Courier New" pitchFamily="49" charset="0"/>
              </a:rPr>
              <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void main()</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int ch;</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do</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int num;</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cout&lt;&lt;"        Меню:\n";</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cout&lt;&lt;"1 - Добавяне отляво\n";</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cout&lt;&lt;"2 - Добавяне отдясно\n";</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cout&lt;&lt;"3 - Извличане отляво\n";</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cout&lt;&lt;"4 - Извличане отдясно\n";</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cout&lt;&lt;"5 - Край на работа\n";</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cout&lt;&lt;"Избор: ";</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cin&gt;&gt;ch;</a:t>
            </a:r>
            <a:r>
              <a:rPr lang="en-US">
                <a:solidFill>
                  <a:schemeClr val="tx2">
                    <a:satMod val="130000"/>
                  </a:schemeClr>
                </a:solidFill>
                <a:latin typeface="Courier New" pitchFamily="49" charset="0"/>
              </a:rPr>
              <a:t/>
            </a:r>
            <a:br>
              <a:rPr lang="en-US">
                <a:solidFill>
                  <a:schemeClr val="tx2">
                    <a:satMod val="130000"/>
                  </a:schemeClr>
                </a:solidFill>
                <a:latin typeface="Courier New" pitchFamily="49" charset="0"/>
              </a:rPr>
            </a:br>
            <a:endParaRPr lang="en-US">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8D438195-372D-4C61-9E1B-D82A94699BA2}" type="slidenum">
              <a:rPr lang="en-US" smtClean="0"/>
              <a:pPr>
                <a:defRPr/>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476375" y="836613"/>
            <a:ext cx="7342188" cy="5835650"/>
          </a:xfrm>
        </p:spPr>
        <p:txBody>
          <a:bodyPr>
            <a:normAutofit fontScale="90000"/>
          </a:bodyPr>
          <a:lstStyle/>
          <a:p>
            <a:pPr eaLnBrk="1" fontAlgn="auto" hangingPunct="1">
              <a:spcAft>
                <a:spcPts val="0"/>
              </a:spcAft>
              <a:defRPr/>
            </a:pPr>
            <a:r>
              <a:rPr lang="bg-BG" sz="2200">
                <a:solidFill>
                  <a:schemeClr val="tx2">
                    <a:satMod val="130000"/>
                  </a:schemeClr>
                </a:solidFill>
                <a:latin typeface="Courier New" pitchFamily="49" charset="0"/>
              </a:rPr>
              <a:t>switch (ch)</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case (1):</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case (2):</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cout&lt;&lt;"\Въведете число: ";</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cin&gt;&gt;num;</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if (ch==1)</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push_l(num);</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else</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push_r(num);</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break;</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case (3):</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if (pop_l(num))</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cout&lt;&lt;num&lt;&lt;"\n";</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else</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 cout&lt;&lt;"Празна структура!\n";}</a:t>
            </a:r>
            <a:br>
              <a:rPr lang="bg-BG"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break;</a:t>
            </a:r>
            <a:r>
              <a:rPr lang="en-US" sz="2200">
                <a:solidFill>
                  <a:schemeClr val="tx2">
                    <a:satMod val="130000"/>
                  </a:schemeClr>
                </a:solidFill>
                <a:latin typeface="Courier New" pitchFamily="49" charset="0"/>
              </a:rPr>
              <a:t/>
            </a:r>
            <a:br>
              <a:rPr lang="en-US" sz="2200">
                <a:solidFill>
                  <a:schemeClr val="tx2">
                    <a:satMod val="130000"/>
                  </a:schemeClr>
                </a:solidFill>
                <a:latin typeface="Courier New" pitchFamily="49" charset="0"/>
              </a:rPr>
            </a:br>
            <a:r>
              <a:rPr lang="bg-BG" sz="2200">
                <a:solidFill>
                  <a:schemeClr val="tx2">
                    <a:satMod val="130000"/>
                  </a:schemeClr>
                </a:solidFill>
                <a:latin typeface="Courier New" pitchFamily="49" charset="0"/>
              </a:rPr>
              <a:t>     }</a:t>
            </a: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endParaRPr lang="en-US">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806A7561-CDF0-45B9-B9C4-5E015EB32640}" type="slidenum">
              <a:rPr lang="en-US" smtClean="0"/>
              <a:pPr>
                <a:defRPr/>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1116013" y="549275"/>
            <a:ext cx="7772400" cy="6019800"/>
          </a:xfrm>
        </p:spPr>
        <p:txBody>
          <a:bodyPr/>
          <a:lstStyle/>
          <a:p>
            <a:pPr eaLnBrk="1" fontAlgn="auto" hangingPunct="1">
              <a:spcAft>
                <a:spcPts val="0"/>
              </a:spcAft>
              <a:defRPr/>
            </a:pPr>
            <a:r>
              <a:rPr lang="bg-BG" sz="2400">
                <a:solidFill>
                  <a:schemeClr val="tx2">
                    <a:satMod val="130000"/>
                  </a:schemeClr>
                </a:solidFill>
                <a:latin typeface="Courier New" pitchFamily="49" charset="0"/>
              </a:rPr>
              <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case (4):</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 if(pop_r(num))</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cout&lt;&lt;num&lt;&lt;"\n";</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else</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{cout&lt;&lt;"Празна структура!"; </a:t>
            </a:r>
            <a:r>
              <a:rPr lang="en-US" sz="2400">
                <a:solidFill>
                  <a:schemeClr val="tx2">
                    <a:satMod val="130000"/>
                  </a:schemeClr>
                </a:solidFill>
                <a:latin typeface="Courier New" pitchFamily="49" charset="0"/>
              </a:rPr>
              <a:t>}</a:t>
            </a:r>
            <a:r>
              <a:rPr lang="bg-BG" sz="2400">
                <a:solidFill>
                  <a:schemeClr val="tx2">
                    <a:satMod val="130000"/>
                  </a:schemeClr>
                </a:solidFill>
                <a:latin typeface="Courier New" pitchFamily="49" charset="0"/>
              </a:rPr>
              <a:t/>
            </a:r>
            <a:br>
              <a:rPr lang="bg-BG"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 while (ch!=5);</a:t>
            </a:r>
            <a:r>
              <a:rPr lang="en-US" sz="2400">
                <a:solidFill>
                  <a:schemeClr val="tx2">
                    <a:satMod val="130000"/>
                  </a:schemeClr>
                </a:solidFill>
                <a:latin typeface="Courier New" pitchFamily="49" charset="0"/>
              </a:rPr>
              <a:t/>
            </a:r>
            <a:br>
              <a:rPr lang="en-US" sz="2400">
                <a:solidFill>
                  <a:schemeClr val="tx2">
                    <a:satMod val="130000"/>
                  </a:schemeClr>
                </a:solidFill>
                <a:latin typeface="Courier New" pitchFamily="49" charset="0"/>
              </a:rPr>
            </a:br>
            <a:r>
              <a:rPr lang="bg-BG" sz="2400">
                <a:solidFill>
                  <a:schemeClr val="tx2">
                    <a:satMod val="130000"/>
                  </a:schemeClr>
                </a:solidFill>
                <a:latin typeface="Courier New" pitchFamily="49" charset="0"/>
              </a:rPr>
              <a:t>}</a:t>
            </a:r>
            <a:r>
              <a:rPr lang="en-US">
                <a:solidFill>
                  <a:schemeClr val="tx2">
                    <a:satMod val="130000"/>
                  </a:schemeClr>
                </a:solidFill>
                <a:latin typeface="Courier New" pitchFamily="49" charset="0"/>
              </a:rPr>
              <a:t/>
            </a:r>
            <a:br>
              <a:rPr lang="en-US">
                <a:solidFill>
                  <a:schemeClr val="tx2">
                    <a:satMod val="130000"/>
                  </a:schemeClr>
                </a:solidFill>
                <a:latin typeface="Courier New" pitchFamily="49" charset="0"/>
              </a:rPr>
            </a:br>
            <a:endParaRPr lang="en-US">
              <a:solidFill>
                <a:schemeClr val="tx2">
                  <a:satMod val="130000"/>
                </a:schemeClr>
              </a:solidFill>
              <a:latin typeface="Courier New" pitchFamily="49" charset="0"/>
            </a:endParaRPr>
          </a:p>
        </p:txBody>
      </p:sp>
      <p:sp>
        <p:nvSpPr>
          <p:cNvPr id="3" name="Slide Number Placeholder 2"/>
          <p:cNvSpPr>
            <a:spLocks noGrp="1"/>
          </p:cNvSpPr>
          <p:nvPr>
            <p:ph type="sldNum" sz="quarter" idx="12"/>
          </p:nvPr>
        </p:nvSpPr>
        <p:spPr/>
        <p:txBody>
          <a:bodyPr/>
          <a:lstStyle/>
          <a:p>
            <a:pPr>
              <a:defRPr/>
            </a:pPr>
            <a:fld id="{599AEE07-67F3-4B20-BD74-EE682AAE55CF}" type="slidenum">
              <a:rPr lang="en-US" smtClean="0"/>
              <a:pPr>
                <a:defRPr/>
              </a:pPr>
              <a:t>56</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2175</TotalTime>
  <Words>609</Words>
  <Application>Microsoft Office PowerPoint</Application>
  <PresentationFormat>On-screen Show (4:3)</PresentationFormat>
  <Paragraphs>185</Paragraphs>
  <Slides>56</Slides>
  <Notes>1</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56</vt:i4>
      </vt:variant>
    </vt:vector>
  </HeadingPairs>
  <TitlesOfParts>
    <vt:vector size="59" baseType="lpstr">
      <vt:lpstr>Solstice</vt:lpstr>
      <vt:lpstr>Equation</vt:lpstr>
      <vt:lpstr>Visio</vt:lpstr>
      <vt:lpstr>      СТРУКТУРИ  ОТ  ДАННИ     “АЛГОРИТМИ + СТРУКТУРИ  ОТ  ДАННИ = ПРОГРАМИ”       Н. УИРТ</vt:lpstr>
      <vt:lpstr>Класификация на данни </vt:lpstr>
      <vt:lpstr>Множество</vt:lpstr>
      <vt:lpstr>Фактът, че елементът аi, i =1,2,…, n, принадлежи на множеството А се обозначава с аi      А, а че не принадлежи  - аi     А.  Броят на елементите на множество се нарича мощност на множеството (n).  При n=0 множеството се нарича празно.</vt:lpstr>
      <vt:lpstr>Диаграма на Вен:     </vt:lpstr>
      <vt:lpstr>Ако всички елементи на дадено множество А са елементи на друго множество В, то А се нарича подмножество на В:     А     В</vt:lpstr>
      <vt:lpstr>Множеството С се нарича обединение на множествата А и В, ако се състои от всички елементи а такива, че а       А  и а        В.  Записва се  С = А      В</vt:lpstr>
      <vt:lpstr>Сечение С = А       В на две множества А и В се нарича множество С, състоящо се от всички елементи, които принадлежат едновременно на А и В.</vt:lpstr>
      <vt:lpstr>Разлика С=А \ В на множествата А и В се нарича множество С, състоящо се от всички елементи, които принадлежат на А и не принадлежат на В.</vt:lpstr>
      <vt:lpstr>Прост пример за използване на множество: Класически алгоритъм сито на Ератостен ( III век преди н. е.) за намиране на всички прости числа в интервал от 0 до n: //primes from 1 to n {      F=[ ];      for (i=2; i&lt;n; i++)         F=F+[i];      for (i=2; i&lt;n; i++)   if (i in F)    for (j=i; j*i&lt;n; j++)    F=F-[i*j];      for (i=2; i&lt;n; i++)   if (i in F)   print i; }</vt:lpstr>
      <vt:lpstr>    Масиви  Прост пример за използване на масив: Реализация на алгоритъмa сито на Ератостен за намиране на всички прости числа в интервал от 0 до n:  #include &lt;iostream&gt; using namespace std; const int n=100; int main() {  int i, j, a[n];  for (i=2; i&lt;n; i++) a[i]=1;  for (i=2; i&lt;n; i++)   if (a[i])    for (j=i; i*j&lt;n; j++)  a[i*j]=0;  cout&lt;&lt;"1 ";  for (i=2; i&lt;n; i++)   if (a[i]) cout&lt;&lt;i&lt;&lt;' ';  return 0; }   </vt:lpstr>
      <vt:lpstr>Динамично заделяне на памет за масив: #include &lt;iostream&gt; using namespace std;  void main() {  int n, i, j;  cout&lt;&lt;"Input n:";  cin&gt;&gt;n;  int *a=new int [n];  if (a==NULL)  {cout&lt;&lt;"Недостиг на памет!";}  else     { for (i=2; i&lt;n; i++)    *(a+i)=1;   for (i=2; i&lt;n; i++)    if (*(a+i))     for (j=i; i*j&lt;n; j++)     *(a+i*j)=0;   cout&lt;&lt;"1 ";   for (i=2; i&lt;n; i++)   if (*(a+i))    cout&lt;&lt;i&lt;&lt;' ';     }  delete  []a;  }</vt:lpstr>
      <vt:lpstr>Недостатъци на статичните структури от данни:  1. Почти всички структури имат фиксиран брой      елементи; 2. Структурите трудно се обновяват (добавяне и      премахване на елементи); 3. Всички статични структури използват фиксиран      обем оперативна памет, която не винаги се използва      ефективно.  Динамичните структури от данни не се описват, а се създават (и унищожават) по време на изпълнение на програмата.</vt:lpstr>
      <vt:lpstr>   -Абстрактни типове (структури) данни   При работа с типове (структури) данни  съществуват два подхода:  - стандартен (конвенционален) , при който един   тип данни се определя чрез начина на    представянето му в паметта на компютъра;  - абстрактен, при който един тип данни се    дефинира чрез операции, които могат да се    извършват с обекти от този тип, без да се отчита,    как те се представят в паметта      </vt:lpstr>
      <vt:lpstr>При този подход всеки тип (структура) се представя като тройка множества:     {D, F, A}  D – области; F - функции, които съществуват и се променят в D;  A - аксиоми, определящи свойствата на F.</vt:lpstr>
      <vt:lpstr>   Стек (stack)  Стекът е подредена последователност от еднотипни елементи с определена дисциплина за тяхно добавяне и извличане. Дисциплината се нарича LIFO (Last In First Out - последен влязъл- първи излязъл). Включването и изключването на елементи се извършва от единия край на структурата, свързан с указател start, наричан “връх” на стека.      </vt:lpstr>
      <vt:lpstr>  Основни операции - Инициализиране на стека (init) -  Добавяне на елемент в стека (push)  -  Извличане на елемент от стека (pop)      </vt:lpstr>
      <vt:lpstr>    Примерна дефиниция на структурата стек (динамична реализация):   struct elem    { int key; elem *next;}     *start=NULL;    </vt:lpstr>
      <vt:lpstr>void push(int n) //добавяне на     //елемент в стека {   elem *p=start;   start=new elem;       //създаване на елемент   start-&gt;key=n;   start-&gt;next=p; // установяване     // на нов връх } </vt:lpstr>
      <vt:lpstr>  int pop(int &amp;n)      // извличане на         // елемент от стека {       if (start)  // проверка за       // непразен стек     {       n=start-&gt;key;       elem *p=start;       start=start-&gt;next;       delete p;      //  изтриване на          //  достъпния елемент       return 1;     }         else   return 0;  //  стекът е празен } </vt:lpstr>
      <vt:lpstr>   Динамична реализация на стек: въвеждане на поредица от цели положителни числа и нейното извеждане върху екрана в обратен ред. За край на поредицата от клавиатурата се въвежда символ, различен от цифра. Поредицата се реализира като стек.  #include &lt;iostream&gt; using namespace std;  void push(int n);     //prototype int pop(int &amp;n);      //prototype struct elem    { int key; elem *next;} *start=NULL; void main() {   int num;   cout&lt;&lt;"Въведете число:\n";   while (cin&gt;&gt;num)       {push(num);}   cout&lt;&lt;"\nСтек:  ";   while (pop(num))      {cout&lt;&lt;num&lt;&lt;"  ";}    // cin.clear(); cin.sync(); } </vt:lpstr>
      <vt:lpstr>  Пример. Програмно да се реализира динамичен стек S от цели положителни числа, който да се преобразува в два други стека – P и Q, съответно с четните и нечетните стойности на S. Съдържанието на двата стека да се изведе на екрана. </vt:lpstr>
      <vt:lpstr>void main() {   init(start);    int num;    cout&lt;&lt;"Въведете стойност:\n";    while (cin&gt;&gt;num)       start=push(start, num);    init(pst);    init(qst);    while (!empty(start))      {       start=pop(start, num);       if (num%2)       //проверка за четност       qst=push(qst,num);     //добавяне на елемент в Q  else       pst=push(pst,num);     //добавяне на елемент в P      } </vt:lpstr>
      <vt:lpstr> cout&lt;&lt;"\Новите стекове са:  ";   cout&lt;&lt;"\nP:  ";   while (!empty(pst))      {        pst=pop(pst,num);        cout&lt;&lt;num&lt;&lt;' ';      }   cout&lt;&lt;"\nQ:  ";   while (!empty(qst))      {        qst=pop(qst,num);        cout&lt;&lt;num&lt;&lt;' ';      }   cout&lt;&lt;"\n";   system(“pause”); }</vt:lpstr>
      <vt:lpstr>void init (elem *st)  //инициализация на стек {   st=NULL; }  int empty(elem *st)           //проверка за празен стек {   if (st==NULL)     return 1;        else     return 0; }</vt:lpstr>
      <vt:lpstr>elem *push(elem *st, int n)   //добавяне на елемент {   elem *p;   p=new elem;   p-&gt;key=n;   p-&gt;next=st;   st=p;   return p; }</vt:lpstr>
      <vt:lpstr>elem *pop(elem *st, int &amp;n)    //извличане на елемент {       elem *p;       n=st-&gt;key;       p=st;       st=st-&gt;next;       delete p;       return st; } </vt:lpstr>
      <vt:lpstr> Статична реализация на стек: от клавиатурата се въвеждат цели стойности. Въвеждането се прекратява при натискане на клавиш, различен от цифра, или при надхвърлянето на зададения размер на масива.    #include &lt;iostream&gt; using namespace std;   void push(int n);    //prototype int pop(int n);      //prototype  const int s_size=10; //размер на стека int st[s_size];  //масив-стек int i=0;   //индекс </vt:lpstr>
      <vt:lpstr>  void main() {   int num;   cout&lt;&lt;"Въведете число:\n";   while((i&lt;s_size)&amp;&amp;(cin&gt;&gt;num))      {push(num);}   cout&lt;&lt;"\nСтек: ";   while (i&gt;0)      {cout&lt;&lt;pop(num)&lt;&lt;"  ";}   } void push(int n)    //включване на елемент {  st[i++]=n; } int pop(int n)    //изключване на елемент {      n=st[--i];      return n; } </vt:lpstr>
      <vt:lpstr>Пример: //Пример за СТЕК //Изчисляване на прост аритметичен израз, включващ операции + и * //върху цели числа &lt;10: //Например: (5*(((2+3)*(1*2))+7))  #include &lt;iostream&gt; using namespace std;  #include &lt;string.h&gt; #include &lt;stdlib.h&gt; void push(char n);   //prototype char pop(); struct elem         { char key; elem *next;} *start, *p; char in[30],   post[30]; char c,  cc; int k; void init();   //prototype int empty(elem *st); void in_post(char in[30], int l); void calc(char post[30]); </vt:lpstr>
      <vt:lpstr>void main() {   cout&lt;&lt;"\nInput expression: ";   cin&gt;&gt;in;   k=strlen(in);   in_post(in, k);   cout&lt;&lt;"Postfix form: "&lt;&lt;post;   calc(post); } void init() {   start=NULL; } int empty(elem *st) {   if (st==NULL)     return 1;        else     return 0; } </vt:lpstr>
      <vt:lpstr>void push(char n) {       p=start;       start=new elem;       start-&gt;key=n;       start-&gt;next=p; } char pop() {         char t;         if (start)            {                 t=start-&gt;key;                 p=start;                 start=start-&gt;next;                 delete p;                 return t;             }    else     return 0; }  </vt:lpstr>
      <vt:lpstr>void in_post(char in[30], int l) {   init();   int j=0;   for (int i=0;  i&lt;l;  i++)    {            if (in[i]==')')    {post[j]=pop(); j++;}            if ((in[i]=='+')||(in[i]=='*'))     push(in[i]);            if ((in[i]&gt;='0')&amp;&amp;(in[i]&lt;='9'))    {post[j]=in[i]; j++;}    } } </vt:lpstr>
      <vt:lpstr>void calc(char post[30]) {   char p[40]; int j=0;   int k=strlen(post);   for (int i=0; i&lt;k; i++)     {p[j]=post[i]; p[++j]=' ';j++;}  // разделяне на цифри и знаци с интервал   p[j]='\0';   cout&lt;&lt;"\nNew expression:"&lt;&lt;p;   k=strlen(p);   init();   for (i=0; i&lt;k; i++)     {      if (p[i]=='+')  push(pop()+pop());      if (p[i]=='*')  push(pop()*pop());      if ((p[i]&gt;='0')&amp;&amp;(p[i]&lt;='9'))    push(0);      while ((p[i]&gt;='0')&amp;&amp;(p[i]&lt;='9'))  push(10*pop()+(p[i++]-'0'));     }   cout&lt;&lt;"\nResult: "&lt;&lt;unsigned(pop())&lt;&lt;'\n'; }</vt:lpstr>
      <vt:lpstr>Input expression: ((6+4)*7) Postfix form: 64+7* New expression: 6 4 + 7 * Result: 70  или  Input expression:  (5*(((2+3)*(1*2)+7))  Postfix form: 523+ 12**7+* New expression: 5 2 3 + 1 2 * * 7 + *  Result: 85  </vt:lpstr>
      <vt:lpstr>  Опашка (Queue)  Опашката е подредена последователност от еднотипни елементи с определена дисциплина за тяхното добавяне и извличане. Дисциплината се нарича FIFO (First In First Out - първи влязъл - първи излязъл). Структурата опашка се задава с два указателя - First и Last за нейните начало и край. Включването се извършва от края на опашката (Last), а изключването на елементи - от нейното начало (First):     </vt:lpstr>
      <vt:lpstr>  Основни операции със структурата    1.  Инициализиране на опашката   (init). 2.  Добавяне на елемент  в края на          опашката (push). 3.  Извличане на елемент от началото на          опашката (pop).         </vt:lpstr>
      <vt:lpstr>   Опашката подобно на стека може да има както динамична, така и статична реализация.  Примерна дефиниция на структурата опашка (динамична реализация):  struct elem    { int key; elem *next;}     *first, *last;  </vt:lpstr>
      <vt:lpstr>  void push(int n)  // добавяне на елемент {   elem *p=last;   last=new elem;   last-&gt;key=n;   last-&gt;next=NULL;   if(p!=NULL) p-&gt;next=last;   if (first==NULL)  // добавяне на първ      // елемент                  {first=last;} } </vt:lpstr>
      <vt:lpstr>  int pop(int &amp;n)  // извличане на елемент {   if (first)  // проверка за непразна    // опашка     {       n=first-&gt;key;       elem *p=first;       first=first-&gt;next;       delete p;  //премахване на елемента       return 1;     }       else   return 0;  //опашката е празна } </vt:lpstr>
      <vt:lpstr>           Динамична реализация на опашка, в която се съхраняват цели числа, задавани от потребителя:  #include &lt;iostream&gt; using namespace std; void push(int n);   //prototype int pop(int &amp;n);  //prototype struct elem   //дефиниране и инициализация на опашка    { int key; elem *next;} *first=NULL, *last=NULL;  void main() {   int num;   cout&lt;&lt;"\n Въведете число:";      //  '/' за край на       въвеждане   while (cin&gt;&gt;num)      push(num);   cout&lt;&lt;"\nБуферирани данни:  ";   while (pop(num))      {cout&lt;&lt;num&lt;&lt;"  ";}   cout&lt;&lt;"\n"; }   </vt:lpstr>
      <vt:lpstr>Статична реализация на опашка чрез масив: #include &lt;iostream&gt; using namespace std;  void push(int n);      //prototype int pop(int n);        //prototype const int q_size=10;     //размер на опашката int que[q_size];     //масив-опашка int first=0, last=0;   //индекси на първия и посл.ел-ти void main() {  int num;      cout&lt;&lt;"Въведете число:\n";    while((last&lt;q_size)&amp;&amp;(cin&gt;&gt;num)) //за край-  {push(num);}       //произволен символ    cout&lt;&lt;"\nБуферирани данни: ";    while (first&lt;last)       {cout&lt;&lt;pop(num)&lt;&lt;"  ";}   cout&lt;&lt;"\n"; } void push(int n)   //добавяне на елемент  {que[last++]=n;} int pop(int n)      //извличане на достъпния елемент       {n=que[first++]; return n;} </vt:lpstr>
      <vt:lpstr> Статичната реализация на опашка чрез използване на кръгов масив (масив, който имитира затворен кръг). Подобен подход позволява многократно добавяне и извличане на елементи от опашката. Буферът се препълва само при брой елементи, по-голям от n - размера на масива.      </vt:lpstr>
      <vt:lpstr> #include &lt;iostream&gt; using namespace std;  void push(int n);     //prototype int pop(int n);       //prototype void init();          //prototype const int q_size=15;  //Размер на буфера int q[q_size], first, last, counter; void main() {   init();   int num, rep;   do   {cout&lt;&lt;"1 - Добавяне на стойност\n";    cout&lt;&lt;"2 - Извеждане на стойност\n";    cout&lt;&lt;"3 - Край на работа\n";    cout&lt;&lt;"Изберете:";    cin&gt;&gt;rep;    switch (rep)      { case(1):  {    if(counter&lt;q_size)      {cout&lt;&lt;"Въведете число:";cin&gt;&gt;num;       push(num);counter++; break;}   else cout&lt;&lt;"Буферът е препълнен!\n";break;        } </vt:lpstr>
      <vt:lpstr>  case(2):     { if (counter)       {cout&lt;&lt;"num="&lt;&lt;pop(num)&lt;&lt;'\n';counter--;}     else cout&lt;&lt;"Буферът е празен!\n";}    }  }  while (rep!=3);    cout&lt;&lt;"\n"; } void push(int n) {  q[last]=n; last=(last+1)%q_size; } int pop(int n) {      n=q[first]; first=(first+1)%q_size;      return n; } void init() {  first=last=0; } </vt:lpstr>
      <vt:lpstr>PowerPoint Presentation</vt:lpstr>
      <vt:lpstr>   ДЕК (Deque)  Декът е подредена последователност от еднотипни елементи с възможност за добавяне на нови и извличане на съществуващи от двата края на структура. Възможен е частен случай - ограничен дек, при който в единия му край се допуска добавяне и извличане, а в другия - само една от операциите:     </vt:lpstr>
      <vt:lpstr> Стекът и опашката със своите дисциплини за достъп FIFO и LIFO могат да се разглеждат като частен случай на дек.   Основните операции със структурата са:   - Инициализиране на дек (init).   - Добавяне на елемент в единия от двата края на дека (push).   - Извличане на елемент от единия от двата края на дека (pop).     </vt:lpstr>
      <vt:lpstr>  Примерна дефиниция и инициализация на структурата дек: struct elem    { int key; elem *next;} *left=NULL, *right=NULL;    Добавяне на нов елемент отляво:  void push_l(int n)//добавяне отляво {   elem *p=left;   left=new elem;   left-&gt;key=n; left-&gt;next=p;   if (right==NULL) {right=left;} } </vt:lpstr>
      <vt:lpstr>  Добавяне на нов елемент отдясно:   void push_r(int n)  //добавяне отдясно {   elem *p;   p=right;   right=new elem;   right-&gt;key=n;   right-&gt;next=NULL;   if (left==NULL)       left=right;     else       p-&gt;next=right; } </vt:lpstr>
      <vt:lpstr> Премахване на елемент отляво:  int pop_l(int &amp;n) //премахване отляво { elem *p;   if (left)     {       n=left-&gt;key;       p=left;       left=left-&gt;next;       if (left==NULL)    right=NULL;       delete p;       return 1;     }       else   return 0; } </vt:lpstr>
      <vt:lpstr>Премахване на елемент отдясно: int pop_r(int &amp;n)  //премахване отдясно { elem *p;   if (right)     { n=right-&gt;key;       if (left==right)   { delete right;     left=right=NULL;   }        else         { p=left;          while (p-&gt;next!=right)       p++;      p-&gt;next=NULL;          delete right;          right=p;         }    return 1;     }     else  return 0; } </vt:lpstr>
      <vt:lpstr> Примерна програма за работа с дек, съдържащ цели числа. На потребителя се предоставя възможност да избира операция за изпълнение.  #include &lt;iostream&gt; using namespace std;  void push_l(int n);   //prototype void push_r(int n);   //prototype int pop_l(int &amp;n);    //prototype int pop_r(int &amp;n);    //prototype  struct elem  { int key; elem *next;} *left=NULL,       *right=NULL;  </vt:lpstr>
      <vt:lpstr> void main() {   int ch;   do  {   int num;   cout&lt;&lt;"        Меню:\n";   cout&lt;&lt;"1 - Добавяне отляво\n";   cout&lt;&lt;"2 - Добавяне отдясно\n";   cout&lt;&lt;"3 - Извличане отляво\n";   cout&lt;&lt;"4 - Извличане отдясно\n";   cout&lt;&lt;"5 - Край на работа\n";   cout&lt;&lt;"Избор: ";   cin&gt;&gt;ch; </vt:lpstr>
      <vt:lpstr>switch (ch)   {    case (1):    case (2):     cout&lt;&lt;"\Въведете число: ";     cin&gt;&gt;num;     if (ch==1)  push_l(num);       else  push_r(num);     break;    case (3):      {       if (pop_l(num))   {    cout&lt;&lt;num&lt;&lt;"\n";     }     else  { cout&lt;&lt;"Празна структура!\n";}   break;      } </vt:lpstr>
      <vt:lpstr> case (4):      { if(pop_r(num))   {    cout&lt;&lt;num&lt;&lt;"\n";   }     else   {cout&lt;&lt;"Празна структура!"; }      }   }  }  while (ch!=5); }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home computer</dc:creator>
  <cp:lastModifiedBy>Елена Рачева</cp:lastModifiedBy>
  <cp:revision>267</cp:revision>
  <dcterms:created xsi:type="dcterms:W3CDTF">2003-08-24T14:55:47Z</dcterms:created>
  <dcterms:modified xsi:type="dcterms:W3CDTF">2020-02-11T08:30:12Z</dcterms:modified>
</cp:coreProperties>
</file>